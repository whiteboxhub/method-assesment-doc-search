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embeddings/oleObject1.xlsx" ContentType="application/vnd.openxmlformats-officedocument.spreadsheetml.sheet"/>
  <Override PartName="/ppt/media/image1.jpeg" ContentType="image/jpeg"/>
  <Override PartName="/ppt/media/image2.wmf" ContentType="image/x-wmf"/>
  <Override PartName="/ppt/media/image3.jpeg" ContentType="image/jpeg"/>
  <Override PartName="/ppt/media/image4.wmf" ContentType="image/x-wmf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0288588" cy="6858000"/>
  <p:notesSz cx="6858000" cy="91805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71120" y="609120"/>
            <a:ext cx="87440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771120" y="1981080"/>
            <a:ext cx="8744040" cy="373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71120" y="609120"/>
            <a:ext cx="87440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771120" y="1981080"/>
            <a:ext cx="8744040" cy="373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71120" y="609120"/>
            <a:ext cx="87440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71120" y="609120"/>
            <a:ext cx="87440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771120" y="1981080"/>
            <a:ext cx="8744040" cy="373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71120" y="609120"/>
            <a:ext cx="87440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71120" y="1981080"/>
            <a:ext cx="8744040" cy="373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799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" name="" descr=""/>
          <p:cNvPicPr/>
          <p:nvPr/>
        </p:nvPicPr>
        <p:blipFill>
          <a:blip r:embed="rId2"/>
          <a:stretch/>
        </p:blipFill>
        <p:spPr>
          <a:xfrm>
            <a:off x="9067680" y="5969160"/>
            <a:ext cx="1051200" cy="6966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4.wmf"/><Relationship Id="rId3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90440" y="380520"/>
            <a:ext cx="10096560" cy="266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CDC’s Framework for Program Evaluation in</a:t>
            </a:r>
            <a:br>
              <a:rPr sz="3200"/>
            </a:br>
            <a:r>
              <a:rPr b="1" lang="en-IN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Public Health</a:t>
            </a:r>
            <a:r>
              <a:rPr b="1" lang="en-IN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Step 4.  Gather Credible Evidence</a:t>
            </a:r>
            <a:br>
              <a:rPr sz="2800"/>
            </a:br>
            <a:r>
              <a:rPr b="1" lang="en-IN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1" lang="en-IN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Using surveillance data in your evaluation</a:t>
            </a:r>
            <a:endParaRPr b="1" lang="en-IN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19040" y="2895120"/>
            <a:ext cx="9601200" cy="29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ff9900"/>
                </a:solidFill>
                <a:effectLst/>
                <a:uFillTx/>
                <a:latin typeface="Technical"/>
              </a:rPr>
              <a:t>Linda Leary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Field Services Evaluation Branch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ff9900"/>
                </a:solidFill>
                <a:effectLst/>
                <a:uFillTx/>
                <a:latin typeface="Technical"/>
              </a:rPr>
              <a:t>Lori Armstrong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Surveillance, Epidemiology, and Outbreak Investigations Branch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Surveillance Team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228600" y="5867280"/>
            <a:ext cx="838080" cy="838440"/>
          </a:xfrm>
          <a:prstGeom prst="rect">
            <a:avLst/>
          </a:prstGeom>
          <a:noFill/>
          <a:ln w="0">
            <a:noFill/>
          </a:ln>
          <a:effectLst>
            <a:outerShdw dist="17819" dir="8100000" blurRad="0" rotWithShape="0">
              <a:srgbClr val="292929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00280" y="0"/>
            <a:ext cx="874368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Evaluation is an Essential Organizational Practice</a:t>
            </a: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190080" y="1523880"/>
            <a:ext cx="9906120" cy="510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Program evaluation is not practiced consistently across program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areas, nor is it well-integrated into the day-to-day management of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most programs.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Program evaluation is necessary to fulfill CDC’s operating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principles for public health, which include: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Using science as a basis for decision-making and action;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Expanding the quest for social equity;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Performing effectively as a service agency;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Making efforts outcome-oriented; and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Being accountable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71120" y="228600"/>
            <a:ext cx="874404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Framework for program evaluation in public health</a:t>
            </a: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16" name="" descr="Framework for Program Evaluation"/>
          <p:cNvPicPr/>
          <p:nvPr/>
        </p:nvPicPr>
        <p:blipFill>
          <a:blip r:embed="rId1"/>
          <a:stretch/>
        </p:blipFill>
        <p:spPr>
          <a:xfrm>
            <a:off x="2247840" y="1828800"/>
            <a:ext cx="5486400" cy="37339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7" name=""/>
          <p:cNvGraphicFramePr/>
          <p:nvPr/>
        </p:nvGraphicFramePr>
        <p:xfrm>
          <a:off x="647640" y="5791320"/>
          <a:ext cx="8229600" cy="127296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134784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2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http://www.cdc.gov/eval/framework.htm</a:t>
                      </a:r>
                      <a:endParaRPr b="0" lang="en-IN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71120" y="228600"/>
            <a:ext cx="874404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Six Steps in Program Evaluation</a:t>
            </a: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42720" y="1447560"/>
            <a:ext cx="967716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Engage stakeholders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Describe the program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Focus the evaluation design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9900"/>
                </a:solidFill>
                <a:effectLst/>
                <a:uFillTx/>
                <a:latin typeface="Arial"/>
              </a:rPr>
              <a:t>Gather credible evidence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Justify conclusions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Ensure use and share lessons learned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webinar site: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-609480" algn="ctr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http://www.cdc.gov/nchstp/tb/Program_Evaluation/default.htm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71120" y="-360"/>
            <a:ext cx="8744040" cy="76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Overview</a:t>
            </a:r>
            <a:endParaRPr b="1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800280" y="914040"/>
            <a:ext cx="874368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Define surveillance data and their use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Using surveillance data to determine evaluation focus and develop evaluation questions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Using surveillance data as a source of credible evidence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Issues and concerns on data quality and completeness, and what you can do about it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90440" y="152280"/>
            <a:ext cx="10096560" cy="10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can a local TB program use surveillance data to conduct evaluations?</a:t>
            </a:r>
            <a:endParaRPr b="1" lang="en-IN" sz="3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981080"/>
            <a:ext cx="9524880" cy="502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609480" indent="-609480">
              <a:spcBef>
                <a:spcPts val="799"/>
              </a:spcBef>
              <a:buClr>
                <a:srgbClr val="ffff00"/>
              </a:buClr>
              <a:buSzPct val="150000"/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The national TB program requires each grantee to write an evaluation plan by Dec. 16, 2005.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1066680" indent="-60948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Surveillance data can help ensure the right evaluation questions are identified, and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1066680" indent="0">
              <a:spcBef>
                <a:spcPts val="799"/>
              </a:spcBef>
              <a:buNone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1066680" indent="-60948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Surveillance data can be used to set meaningful benchmarks for progress.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-360" y="0"/>
            <a:ext cx="102870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can a local TB program use surveillance data to conduct evaluations?</a:t>
            </a:r>
            <a:endParaRPr b="1" lang="en-IN" sz="3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-360" y="1828440"/>
            <a:ext cx="10287000" cy="434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609480" indent="-609480">
              <a:spcBef>
                <a:spcPts val="799"/>
              </a:spcBef>
              <a:buClr>
                <a:srgbClr val="ffff00"/>
              </a:buClr>
              <a:buSzPct val="150000"/>
              <a:buFont typeface="Arial"/>
              <a:buAutoNum type="arabicPeriod" startAt="2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TB surveillance data can also be used as one source of credible evidence to compare: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1066680" indent="-6094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Local objectives against national objectives;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1066680" indent="-6094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Local  area objectives within a state; and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1066680" indent="-6094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Look at the trend of data over a period of time.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-60948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71120" y="609120"/>
            <a:ext cx="87440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Surveillance Definition</a:t>
            </a:r>
            <a:endParaRPr b="1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771120" y="1981080"/>
            <a:ext cx="8744040" cy="373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Ongoing systematic collection, analysis, and interpretation of outcome-specific data.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For use in planning, implementation, and evaluation of public health practice.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71120" y="-360"/>
            <a:ext cx="874404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Uses of Surveillance Data</a:t>
            </a: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90080" y="914400"/>
            <a:ext cx="990612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Public health surveillance is an important part of the information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feedback loop that links the public, health care providers, and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health care agencies.  These data can be useful in posing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questions for your evaluation design, such as: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How to </a:t>
            </a:r>
            <a:r>
              <a:rPr b="1" lang="en-IN" sz="2400" strike="noStrike" u="none">
                <a:solidFill>
                  <a:srgbClr val="ff9900"/>
                </a:solidFill>
                <a:effectLst/>
                <a:uFillTx/>
                <a:latin typeface="Arial"/>
              </a:rPr>
              <a:t>identify people and groups</a:t>
            </a: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of people at risk for disease?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How to </a:t>
            </a:r>
            <a:r>
              <a:rPr b="1" lang="en-IN" sz="2400" strike="noStrike" u="none">
                <a:solidFill>
                  <a:srgbClr val="ff9900"/>
                </a:solidFill>
                <a:effectLst/>
                <a:uFillTx/>
                <a:latin typeface="Arial"/>
              </a:rPr>
              <a:t>prioritize health needs</a:t>
            </a: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in persons at higher risk for disease exposure or infection accompanied by a plan for follow-up?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How to incorporate surveillance data as a source of information for </a:t>
            </a:r>
            <a:r>
              <a:rPr b="1" lang="en-IN" sz="2400" strike="noStrike" u="none">
                <a:solidFill>
                  <a:srgbClr val="ff9900"/>
                </a:solidFill>
                <a:effectLst/>
                <a:uFillTx/>
                <a:latin typeface="Arial"/>
              </a:rPr>
              <a:t>program planning and evaluation</a:t>
            </a: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How to use </a:t>
            </a:r>
            <a:r>
              <a:rPr b="1" lang="en-IN" sz="2400" strike="noStrike" u="none">
                <a:solidFill>
                  <a:srgbClr val="ff9900"/>
                </a:solidFill>
                <a:effectLst/>
                <a:uFillTx/>
                <a:latin typeface="Arial"/>
              </a:rPr>
              <a:t>indicators</a:t>
            </a:r>
            <a:r>
              <a:rPr b="1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to determine if a condition exists or certain results have been achieved?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71120" y="0"/>
            <a:ext cx="874404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Indicators</a:t>
            </a:r>
            <a:endParaRPr b="1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190080" y="1066320"/>
            <a:ext cx="990612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Indicators are at the heart of a performance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monitoring system.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They provide a basis for collecting credible evidence that is valid and reliable for evaluation.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Describes progress in achieving its objectives.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Tells us what to measure to determine whether the objective has been achieved.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"/>
          <p:cNvGraphicFramePr/>
          <p:nvPr/>
        </p:nvGraphicFramePr>
        <p:xfrm>
          <a:off x="419040" y="152280"/>
          <a:ext cx="9525240" cy="6620040"/>
        </p:xfrm>
        <a:graphic>
          <a:graphicData uri="http://schemas.openxmlformats.org/drawingml/2006/table">
            <a:tbl>
              <a:tblPr/>
              <a:tblGrid>
                <a:gridCol w="5257800"/>
                <a:gridCol w="4267440"/>
              </a:tblGrid>
              <a:tr h="88668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National TB Program Objectives</a:t>
                      </a:r>
                      <a:endParaRPr b="0" lang="en-IN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National TB Program Indicators</a:t>
                      </a:r>
                      <a:endParaRPr b="0" lang="en-IN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59828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buClr>
                          <a:srgbClr val="ffff00"/>
                        </a:buClr>
                        <a:buSzPct val="150000"/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Increase % of TB pts who    complete TB treatment within 12 mos.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buClr>
                          <a:srgbClr val="ffff00"/>
                        </a:buClr>
                        <a:buSzPct val="150000"/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buClr>
                          <a:srgbClr val="ffff00"/>
                        </a:buClr>
                        <a:buSzPct val="150000"/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Increase % of TB pts with initial positive cultures who also are tested and receive drug susceptibility results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buClr>
                          <a:srgbClr val="ffff00"/>
                        </a:buClr>
                        <a:buSzPct val="150000"/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buClr>
                          <a:srgbClr val="ffff00"/>
                        </a:buClr>
                        <a:buSzPct val="150000"/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9900"/>
                          </a:solidFill>
                          <a:effectLst/>
                          <a:uFillTx/>
                          <a:latin typeface="Arial"/>
                        </a:rPr>
                        <a:t>Decrease the TB case rate in reporting areas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buClr>
                          <a:srgbClr val="ffff00"/>
                        </a:buClr>
                        <a:buSzPct val="150000"/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buClr>
                          <a:srgbClr val="ffff00"/>
                        </a:buClr>
                        <a:buSzPct val="150000"/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At least 90% of core RVCT data are complete.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buClr>
                          <a:srgbClr val="ffff00"/>
                        </a:buClr>
                        <a:buSzPct val="150000"/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Completion of therapy rates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buClr>
                          <a:srgbClr val="ffff00"/>
                        </a:buClr>
                        <a:buSzPct val="150000"/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buClr>
                          <a:srgbClr val="ffff00"/>
                        </a:buClr>
                        <a:buSzPct val="150000"/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buClr>
                          <a:srgbClr val="ffff00"/>
                        </a:buClr>
                        <a:buSzPct val="150000"/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Percent of cultured confirmed drug cases with susceptibility results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buClr>
                          <a:srgbClr val="ffff00"/>
                        </a:buClr>
                        <a:buSzPct val="150000"/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buClr>
                          <a:srgbClr val="ffff00"/>
                        </a:buClr>
                        <a:buSzPct val="150000"/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buClr>
                          <a:srgbClr val="ffff00"/>
                        </a:buClr>
                        <a:buSzPct val="150000"/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9900"/>
                          </a:solidFill>
                          <a:effectLst/>
                          <a:uFillTx/>
                          <a:latin typeface="Arial"/>
                        </a:rPr>
                        <a:t>TB case rate 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buClr>
                          <a:srgbClr val="ffff00"/>
                        </a:buClr>
                        <a:buSzPct val="150000"/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buClr>
                          <a:srgbClr val="ffff00"/>
                        </a:buClr>
                        <a:buSzPct val="150000"/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Completeness of RVCT reporting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"/>
          <p:cNvGraphicFramePr/>
          <p:nvPr/>
        </p:nvGraphicFramePr>
        <p:xfrm>
          <a:off x="647640" y="457200"/>
          <a:ext cx="8991720" cy="55627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34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647640" y="457200"/>
                    <a:ext cx="8991720" cy="55627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"/>
          <p:cNvGraphicFramePr/>
          <p:nvPr/>
        </p:nvGraphicFramePr>
        <p:xfrm>
          <a:off x="-38160" y="1266840"/>
          <a:ext cx="10325160" cy="5896080"/>
        </p:xfrm>
        <a:graphic>
          <a:graphicData uri="http://schemas.openxmlformats.org/drawingml/2006/table">
            <a:tbl>
              <a:tblPr/>
              <a:tblGrid>
                <a:gridCol w="4114800"/>
                <a:gridCol w="1219320"/>
                <a:gridCol w="1143000"/>
                <a:gridCol w="1219320"/>
                <a:gridCol w="1143000"/>
                <a:gridCol w="1485720"/>
              </a:tblGrid>
              <a:tr h="5313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9900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   State A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9900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 State B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968760">
                <a:tc>
                  <a:txBody>
                    <a:bodyPr lIns="90000" rIns="90000" tIns="46800" bIns="468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800" strike="noStrike" u="none">
                          <a:solidFill>
                            <a:srgbClr val="00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 </a:t>
                      </a:r>
                      <a:endParaRPr b="0" lang="en-IN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No. Cases 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Charter Bd BT"/>
                        </a:rPr>
                        <a:t>Rate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No. Cases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Charter Bd BT"/>
                        </a:rPr>
                        <a:t>Rate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US   Rate**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Hispanic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  2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 2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 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16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9900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23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10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459720">
                <a:tc>
                  <a:txBody>
                    <a:bodyPr lIns="90000" rIns="90000" tIns="46800" bIns="468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Black, Non-Hispanic (NH)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  1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 4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16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5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13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1191240">
                <a:tc>
                  <a:txBody>
                    <a:bodyPr lIns="90000" rIns="90000" tIns="46800" bIns="468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Asian, Pacific Islander, Native 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    Hawaiian, NH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9900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137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9900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22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 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14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9900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39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9900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28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459720">
                <a:tc>
                  <a:txBody>
                    <a:bodyPr lIns="90000" rIns="90000" tIns="46800" bIns="468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White, NH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  6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 2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9900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100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</a:t>
                      </a:r>
                      <a:r>
                        <a:rPr b="1" lang="en-IN" sz="2000" strike="noStrike" u="none">
                          <a:solidFill>
                            <a:srgbClr val="ff9900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3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 2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459720">
                <a:tc>
                  <a:txBody>
                    <a:bodyPr lIns="90000" rIns="90000" tIns="46800" bIns="468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Other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  2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  0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459720">
                <a:tc>
                  <a:txBody>
                    <a:bodyPr lIns="90000" rIns="90000" tIns="46800" bIns="468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Total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148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</a:rPr>
                        <a:t>   11.9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146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</a:rPr>
                        <a:t>   3.6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</a:rPr>
                        <a:t>     </a:t>
                      </a:r>
                      <a:r>
                        <a:rPr b="1" lang="en-IN" sz="2000" strike="noStrike" u="none">
                          <a:solidFill>
                            <a:srgbClr val="ff9900"/>
                          </a:solidFill>
                          <a:effectLst/>
                          <a:uFillTx/>
                          <a:latin typeface="Charter Bd BT"/>
                        </a:rPr>
                        <a:t>5.2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1191240">
                <a:tc gridSpan="3">
                  <a:txBody>
                    <a:bodyPr lIns="90000" rIns="90000" tIns="46800" bIns="468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harter Bd BT"/>
                          <a:ea typeface="Arial"/>
                        </a:rPr>
                        <a:t> * Rate per 100,000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b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6" name=""/>
          <p:cNvSpPr/>
          <p:nvPr/>
        </p:nvSpPr>
        <p:spPr>
          <a:xfrm>
            <a:off x="3695760" y="152280"/>
            <a:ext cx="307980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4784760" y="220680"/>
            <a:ext cx="256860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3695760" y="152280"/>
            <a:ext cx="59436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Race/Ethnicity – Year 2002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771120" y="228600"/>
            <a:ext cx="874404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do you calculate the </a:t>
            </a:r>
            <a:br>
              <a:rPr sz="4000"/>
            </a:b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TB Case Rate?</a:t>
            </a: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342720" y="1828800"/>
            <a:ext cx="9753480" cy="502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RVCT variable item #6 – month year counted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Data is obtained from the RVCT.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[The health department is responsible for:  counting TB case by month year, verifying the case as TB, and including it in the official case count.]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The national annual surveillance report publishes the total number of TB cases by state.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Population estimates from the US Census Bureau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http://www.census.gov/popest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71120" y="609120"/>
            <a:ext cx="87440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Calculation of TB Case Rate</a:t>
            </a:r>
            <a:br>
              <a:rPr sz="4000"/>
            </a:b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Year 2000 – State X</a:t>
            </a: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771120" y="2361960"/>
            <a:ext cx="8744040" cy="335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Population of </a:t>
            </a: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State X</a:t>
            </a: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= 554,817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# of TB Cases for Year 2000 </a:t>
            </a: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State X</a:t>
            </a: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= 42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42 / 554,817 x 100,000 = 7.6 per 100,000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71120" y="228600"/>
            <a:ext cx="874404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do you calculate the </a:t>
            </a:r>
            <a:br>
              <a:rPr sz="4000"/>
            </a:b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TB Case Rate?</a:t>
            </a: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342720" y="1828800"/>
            <a:ext cx="9753480" cy="502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RVCT variable item #6 – month year counted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Data is obtained from the RVCT.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[The health department is responsible for:  counting TB case by month year, verifying the case as TB, and including it in the official case count.]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The national annual surveillance report publishes the total number of TB cases by state.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Population estimates from the US Census Bureau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http://www.census.gov/popest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04560" y="609120"/>
            <a:ext cx="975348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Guidance documents in</a:t>
            </a:r>
            <a:br>
              <a:rPr sz="4000"/>
            </a:b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measuring  outcomes</a:t>
            </a: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342720" y="1981080"/>
            <a:ext cx="9172440" cy="373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Using the RVCT as an Evaluation Tool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Exercises from the Program Manager’s Course.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Request copies of draft documents:  </a:t>
            </a:r>
            <a:r>
              <a:rPr b="1" lang="en-IN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lsl1@cdc.gov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71120" y="380880"/>
            <a:ext cx="8744040" cy="47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5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is OTIS?</a:t>
            </a:r>
            <a:endParaRPr b="1" lang="en-IN" sz="5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71120" y="228600"/>
            <a:ext cx="874404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</a:t>
            </a:r>
            <a:r>
              <a:rPr b="1" lang="en-IN" sz="4000" strike="noStrike" u="sng">
                <a:solidFill>
                  <a:srgbClr val="ff9900"/>
                </a:solidFill>
                <a:effectLst/>
                <a:uFillTx/>
                <a:latin typeface="Arial"/>
              </a:rPr>
              <a:t>O</a:t>
            </a: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nline </a:t>
            </a:r>
            <a:r>
              <a:rPr b="1" lang="en-IN" sz="4000" strike="noStrike" u="sng">
                <a:solidFill>
                  <a:srgbClr val="ff9900"/>
                </a:solidFill>
                <a:effectLst/>
                <a:uFillTx/>
                <a:latin typeface="Arial"/>
              </a:rPr>
              <a:t>T</a:t>
            </a: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 </a:t>
            </a:r>
            <a:r>
              <a:rPr b="1" lang="en-IN" sz="4000" strike="noStrike" u="sng">
                <a:solidFill>
                  <a:srgbClr val="ff9900"/>
                </a:solidFill>
                <a:effectLst/>
                <a:uFillTx/>
                <a:latin typeface="Arial"/>
              </a:rPr>
              <a:t>I</a:t>
            </a: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nformation </a:t>
            </a:r>
            <a:r>
              <a:rPr b="1" lang="en-IN" sz="4000" strike="noStrike" u="sng">
                <a:solidFill>
                  <a:srgbClr val="ff9900"/>
                </a:solidFill>
                <a:effectLst/>
                <a:uFillTx/>
                <a:latin typeface="Arial"/>
              </a:rPr>
              <a:t>S</a:t>
            </a: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ystem</a:t>
            </a:r>
            <a:br>
              <a:rPr sz="4000"/>
            </a:br>
            <a:r>
              <a:rPr b="1" lang="en-IN" sz="4000" strike="noStrike" u="none">
                <a:solidFill>
                  <a:srgbClr val="ff9900"/>
                </a:solidFill>
                <a:effectLst/>
                <a:uFillTx/>
                <a:latin typeface="Arial"/>
              </a:rPr>
              <a:t>(OTIS)</a:t>
            </a: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95360" y="1676520"/>
            <a:ext cx="9020160" cy="487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query-based public use data set of national TB surveillance data from 1993 through 2003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It includes the 50 states, District of Columbia, and Puerto Rico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Maintains confidentiality by de-identifying, aggregating, or suppressing data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Performs queries and </a:t>
            </a: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 hoc</a:t>
            </a: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cross-tabulations on 22 variables from the RVCT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Supplements annual surveillance report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“Housed” on WONDER server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http://wonder.cdc.gov/tb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876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71120" y="304920"/>
            <a:ext cx="8744040" cy="121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9900"/>
                </a:solidFill>
                <a:effectLst/>
                <a:uFillTx/>
                <a:latin typeface="Arial"/>
              </a:rPr>
              <a:t>OTIS:</a:t>
            </a:r>
            <a:r>
              <a:rPr b="1" lang="en-IN" sz="4000" strike="noStrike" u="none">
                <a:solidFill>
                  <a:srgbClr val="ff66ff"/>
                </a:solidFill>
                <a:effectLst/>
                <a:uFillTx/>
                <a:latin typeface="Arial"/>
              </a:rPr>
              <a:t> </a:t>
            </a: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current status</a:t>
            </a: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771120" y="1981080"/>
            <a:ext cx="8744040" cy="373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Each state signed a data release agreement form to accept or refuse participation in OTIS. 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States reviewed OTIS for several months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Data were checked and changes made based on your suggestions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Release date:  November 2005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Anticipate 2004 data will be available March 2006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723960" y="304920"/>
            <a:ext cx="8991720" cy="640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685800" y="152280"/>
            <a:ext cx="8839080" cy="670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1828800" y="3733920"/>
            <a:ext cx="485640" cy="533160"/>
          </a:xfrm>
          <a:prstGeom prst="upArrow">
            <a:avLst>
              <a:gd name="adj1" fmla="val 50000"/>
              <a:gd name="adj2" fmla="val 27446"/>
            </a:avLst>
          </a:prstGeom>
          <a:solidFill>
            <a:srgbClr val="ff9900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752480" y="4800600"/>
            <a:ext cx="486000" cy="4572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9900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7010280" y="2666880"/>
            <a:ext cx="609840" cy="79056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9900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" descr=""/>
          <p:cNvPicPr/>
          <p:nvPr/>
        </p:nvPicPr>
        <p:blipFill>
          <a:blip r:embed="rId1"/>
          <a:stretch/>
        </p:blipFill>
        <p:spPr>
          <a:xfrm>
            <a:off x="762120" y="0"/>
            <a:ext cx="8839080" cy="647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"/>
          <p:cNvSpPr/>
          <p:nvPr/>
        </p:nvSpPr>
        <p:spPr>
          <a:xfrm>
            <a:off x="1295280" y="2057400"/>
            <a:ext cx="609840" cy="4572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9900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647640" y="228600"/>
            <a:ext cx="9220320" cy="662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"/>
          <p:cNvSpPr/>
          <p:nvPr/>
        </p:nvSpPr>
        <p:spPr>
          <a:xfrm>
            <a:off x="2057400" y="2362320"/>
            <a:ext cx="762120" cy="53316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9900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571680" y="152280"/>
            <a:ext cx="9219960" cy="647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"/>
          <p:cNvSpPr/>
          <p:nvPr/>
        </p:nvSpPr>
        <p:spPr>
          <a:xfrm>
            <a:off x="1676520" y="1828800"/>
            <a:ext cx="685800" cy="60948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9900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23600" y="609480"/>
            <a:ext cx="8791560" cy="457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Issues of Data Completeness</a:t>
            </a:r>
            <a:br>
              <a:rPr sz="4000"/>
            </a:b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and Quality </a:t>
            </a:r>
            <a:br>
              <a:rPr sz="4000"/>
            </a:b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71120" y="228600"/>
            <a:ext cx="874404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Data Completeness</a:t>
            </a:r>
            <a:endParaRPr b="1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266400" y="1294920"/>
            <a:ext cx="98298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TIMS data are evaluated for overall completeness each month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The goal for percent completeness of each RVCT (TIMS) variable is based on GPRA goals or on tradition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Each RVCT variable has a completeness goal, usually 95% to 99%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Missing and Unknown Reports (MUNK)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MUNK Reports provide information on RVCT (TIMS) variables that are below the completeness goal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MUNK reports are sent to each TB program or recording area 1 to 3 times/year and to the FSEB Consultant for that area.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"/>
          <p:cNvGraphicFramePr/>
          <p:nvPr/>
        </p:nvGraphicFramePr>
        <p:xfrm>
          <a:off x="419040" y="1687680"/>
          <a:ext cx="9677520" cy="5159160"/>
        </p:xfrm>
        <a:graphic>
          <a:graphicData uri="http://schemas.openxmlformats.org/drawingml/2006/table">
            <a:tbl>
              <a:tblPr/>
              <a:tblGrid>
                <a:gridCol w="4191120"/>
                <a:gridCol w="2314440"/>
                <a:gridCol w="3171960"/>
              </a:tblGrid>
              <a:tr h="11318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RVCT Variable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Completeness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Goal (%)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Average % completeness among all reporting areas (%)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6080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TB skin test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95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93.1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60480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Year of previous TB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99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98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6062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9900"/>
                          </a:solidFill>
                          <a:effectLst/>
                          <a:uFillTx/>
                          <a:latin typeface="Arial"/>
                        </a:rPr>
                        <a:t>Month/year arrived in US (FB)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9900"/>
                          </a:solidFill>
                          <a:effectLst/>
                          <a:uFillTx/>
                          <a:latin typeface="Arial"/>
                        </a:rPr>
                        <a:t>95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9900"/>
                          </a:solidFill>
                          <a:effectLst/>
                          <a:uFillTx/>
                          <a:latin typeface="Arial"/>
                        </a:rPr>
                        <a:t>86.3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6080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Excess alcohol use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99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96.6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53820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injecting drug use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99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96.5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5396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non-injecting drug use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99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96.1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5223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7" name=""/>
          <p:cNvSpPr/>
          <p:nvPr/>
        </p:nvSpPr>
        <p:spPr>
          <a:xfrm>
            <a:off x="1790640" y="0"/>
            <a:ext cx="7696440" cy="13237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Missing and Unknown Variables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2004 RVCT Data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3314880" y="2819520"/>
            <a:ext cx="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142640" y="380520"/>
            <a:ext cx="845820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Data Quality</a:t>
            </a:r>
            <a:br>
              <a:rPr sz="4000"/>
            </a:br>
            <a:endParaRPr b="1" lang="en-IN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-360" y="761760"/>
            <a:ext cx="10287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High quality RVCT data are essential for proper interpretation of data for TB control programs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Inconsistent or inaccurate data can lead to inappropriate associations and unrecognized biases in research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Examples of miscoded information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People from India were coded as American Indian - </a:t>
            </a:r>
            <a:r>
              <a:rPr b="1" lang="en-US" sz="2400" strike="noStrike" u="none">
                <a:solidFill>
                  <a:srgbClr val="ff9900"/>
                </a:solidFill>
                <a:effectLst/>
                <a:uFillTx/>
                <a:latin typeface="Arial"/>
              </a:rPr>
              <a:t>(reclassified to Native American/Alaskan Native in 2003)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Young children were coded as alcoholics or IDUs -  </a:t>
            </a:r>
            <a:r>
              <a:rPr b="1" lang="en-US" sz="2400" strike="noStrike" u="none">
                <a:solidFill>
                  <a:srgbClr val="ff9900"/>
                </a:solidFill>
                <a:effectLst/>
                <a:uFillTx/>
                <a:latin typeface="Arial"/>
              </a:rPr>
              <a:t>(Children born to IDUs and alcoholics are not drug abusers or alcoholics)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People born in the Philippines or Japan were coded as “Native Hawaiian and Other Pacific Islander”                                  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-360" y="228240"/>
            <a:ext cx="10287000" cy="152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Native Hawaiian and Other Pacific Islander</a:t>
            </a:r>
            <a:br>
              <a:rPr sz="3600"/>
            </a:br>
            <a:r>
              <a:rPr b="1" lang="en-IN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Miscoded information</a:t>
            </a:r>
            <a:endParaRPr b="1" lang="en-IN" sz="3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342720" y="1828440"/>
            <a:ext cx="9677160" cy="480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In preparation for the 2005 World TB Day MMWR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article, we found 37 foreign-born TB cases who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were incorrectly coded as “Native Hawaiian and Other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Pacific Islander”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Incorrect NH/OPI cases were coded in TIMS as foreign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born and from other countries such as Philippines,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Japan, Laos, Vietnam, India, Somalia, Iran, Ecuador,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Brazil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" name=""/>
          <p:cNvGraphicFramePr/>
          <p:nvPr/>
        </p:nvGraphicFramePr>
        <p:xfrm>
          <a:off x="723960" y="2057400"/>
          <a:ext cx="8839080" cy="2833560"/>
        </p:xfrm>
        <a:graphic>
          <a:graphicData uri="http://schemas.openxmlformats.org/drawingml/2006/table">
            <a:tbl>
              <a:tblPr/>
              <a:tblGrid>
                <a:gridCol w="2362320"/>
                <a:gridCol w="1233360"/>
                <a:gridCol w="2097000"/>
                <a:gridCol w="1198440"/>
                <a:gridCol w="1947960"/>
              </a:tblGrid>
              <a:tr h="459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Uncorrected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66ff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Corrected*</a:t>
                      </a:r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66ff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6069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Race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66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66ff"/>
                      </a:solidFill>
                      <a:prstDash val="solid"/>
                    </a:lnT>
                    <a:lnB w="13680">
                      <a:solidFill>
                        <a:srgbClr val="ff66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Rate/100,000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66ff"/>
                      </a:solidFill>
                      <a:prstDash val="solid"/>
                    </a:lnT>
                    <a:lnB w="13680">
                      <a:solidFill>
                        <a:srgbClr val="ff66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66ff"/>
                      </a:solidFill>
                      <a:prstDash val="solid"/>
                    </a:lnT>
                    <a:lnB w="13680">
                      <a:solidFill>
                        <a:srgbClr val="ff66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Rate/100,000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66ff"/>
                      </a:solidFill>
                      <a:prstDash val="solid"/>
                    </a:lnT>
                    <a:lnB w="13680">
                      <a:solidFill>
                        <a:srgbClr val="ff66ff"/>
                      </a:solidFill>
                      <a:prstDash val="solid"/>
                    </a:lnB>
                    <a:noFill/>
                  </a:tcPr>
                </a:tc>
              </a:tr>
              <a:tr h="75852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Asian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66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3,222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66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26.7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66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3,235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66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26.9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66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1008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Native Hawaiian and Other Pacific Islander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103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25.9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66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16.6</a:t>
                      </a:r>
                      <a:endParaRPr b="0" lang="en-IN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4" name=""/>
          <p:cNvSpPr/>
          <p:nvPr/>
        </p:nvSpPr>
        <p:spPr>
          <a:xfrm>
            <a:off x="723960" y="152280"/>
            <a:ext cx="956304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TB cases by Asian, NH/OPI race, United States, 2004 (provisional data)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952560" y="5029200"/>
            <a:ext cx="8915400" cy="19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Native Hawaiian and Other Pacific Islander rate was not reported in the World TB Day MMWR.  The count was included in the category “Other/Unknown”</a:t>
            </a: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771120" y="228600"/>
            <a:ext cx="8744040" cy="129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Native Hawaiian and Other Pacific Islander:  Correct Definition</a:t>
            </a:r>
            <a:endParaRPr b="1" lang="en-IN" sz="3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343080" y="1904760"/>
            <a:ext cx="9943920" cy="472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First introduced as a race code in 2003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TIMS Race and Ethnicity Classification (9/4/2002) lists all the islands classified as Other Pacific Islands and countries that are considered Asian.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Examples 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99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9900"/>
                </a:solidFill>
                <a:effectLst/>
                <a:uFillTx/>
                <a:latin typeface="Arial"/>
              </a:rPr>
              <a:t>NH/OPI</a:t>
            </a:r>
            <a:r>
              <a:rPr b="0" lang="en-US" sz="2800" strike="noStrike" u="none">
                <a:solidFill>
                  <a:srgbClr val="ff66ff"/>
                </a:solidFill>
                <a:effectLst/>
                <a:uFillTx/>
                <a:latin typeface="Arial"/>
              </a:rPr>
              <a:t>:</a:t>
            </a: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Carolinian, Chamorro, Fijian, Guamanian, Kiribati, Papua New Guinean, Polynesian, Saipanese, Samoan, Solomon Islander, Hawaiian Islands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99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9900"/>
                </a:solidFill>
                <a:effectLst/>
                <a:uFillTx/>
                <a:latin typeface="Arial"/>
              </a:rPr>
              <a:t>Asian</a:t>
            </a:r>
            <a:r>
              <a:rPr b="0" lang="en-US" sz="2800" strike="noStrike" u="none">
                <a:solidFill>
                  <a:srgbClr val="ff9900"/>
                </a:solidFill>
                <a:effectLst/>
                <a:uFillTx/>
                <a:latin typeface="Arial"/>
              </a:rPr>
              <a:t>:</a:t>
            </a: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Filipino, Bhutanese, Asian Indian, Singaporean, Taiwanese, Okinawan, Nepalese, Hmong, Iwo Jiman 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00280" y="-360"/>
            <a:ext cx="874368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Summary </a:t>
            </a:r>
            <a:endParaRPr b="1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266400" y="1447560"/>
            <a:ext cx="982980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Follow the six steps in the CDC Framework in conducting your evaluation. 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0">
              <a:lnSpc>
                <a:spcPct val="8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Use surveillance data as one source of credible evidence to use in evaluation.  Also, consider using OTIS as another source of gathering information.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0">
              <a:lnSpc>
                <a:spcPct val="8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Strive for data quality.  Quality refers to the appropriateness and integrity of information used</a:t>
            </a: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Good decisions are based on accurate data.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771120" y="609120"/>
            <a:ext cx="87440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Contacts</a:t>
            </a:r>
            <a:endParaRPr b="1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266760" y="1981080"/>
            <a:ext cx="9677520" cy="365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Linda Leary</a:t>
            </a: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404.639.8342</a:t>
            </a: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lsl1@cdc.gov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Lori Armstrong</a:t>
            </a: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404.639.8860</a:t>
            </a: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lra0@cdc.gov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771120" y="2130120"/>
            <a:ext cx="874404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QUESTIONS</a:t>
            </a:r>
            <a:endParaRPr b="1" lang="en-IN" sz="4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542600" y="3886200"/>
            <a:ext cx="720108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 ? ? ? ? ? ? ? ?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2800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2005-11-18T11:49:07Z</dcterms:created>
  <dc:creator>lsl1</dc:creator>
  <dc:description/>
  <dc:language>en-IN</dc:language>
  <cp:lastModifiedBy>lsl1</cp:lastModifiedBy>
  <dcterms:modified xsi:type="dcterms:W3CDTF">2005-12-13T13:26:13Z</dcterms:modified>
  <cp:revision>183</cp:revision>
  <dc:subject/>
  <dc:title>Step 4.  Gather Credible Evidence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r8>-340627616</vt:r8>
  </property>
  <property fmtid="{D5CDD505-2E9C-101B-9397-08002B2CF9AE}" pid="3" name="_AuthorEmail">
    <vt:lpwstr>lsl1@cdc.gov</vt:lpwstr>
  </property>
  <property fmtid="{D5CDD505-2E9C-101B-9397-08002B2CF9AE}" pid="4" name="_AuthorEmailDisplayName">
    <vt:lpwstr>Leary, Linda</vt:lpwstr>
  </property>
  <property fmtid="{D5CDD505-2E9C-101B-9397-08002B2CF9AE}" pid="5" name="_EmailSubject">
    <vt:lpwstr>Webinar info</vt:lpwstr>
  </property>
</Properties>
</file>