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embeddings/oleObject1.xlsx" ContentType="application/vnd.openxmlformats-officedocument.spreadsheetml.shee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media/image1.png" ContentType="image/png"/>
  <Override PartName="/ppt/media/image2.png" ContentType="image/png"/>
  <Override PartName="/ppt/media/image3.wmf" ContentType="image/x-wmf"/>
  <Override PartName="/ppt/media/image4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<Relationship Id="rId8" Type="http://schemas.openxmlformats.org/officeDocument/2006/relationships/image" Target="../media/image1.png"/><Relationship Id="rId9" Type="http://schemas.openxmlformats.org/officeDocument/2006/relationships/image" Target="../media/image1.png"/><Relationship Id="rId10" Type="http://schemas.openxmlformats.org/officeDocument/2006/relationships/image" Target="../media/image1.png"/><Relationship Id="rId11" Type="http://schemas.openxmlformats.org/officeDocument/2006/relationships/image" Target="../media/image2.png"/><Relationship Id="rId1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8686800" cy="6858000"/>
            <a:chOff x="0" y="0"/>
            <a:chExt cx="8686800" cy="6858000"/>
          </a:xfrm>
        </p:grpSpPr>
        <p:grpSp>
          <p:nvGrpSpPr>
            <p:cNvPr id="1" name=""/>
            <p:cNvGrpSpPr/>
            <p:nvPr/>
          </p:nvGrpSpPr>
          <p:grpSpPr>
            <a:xfrm>
              <a:off x="0" y="0"/>
              <a:ext cx="380880" cy="6858000"/>
              <a:chOff x="0" y="0"/>
              <a:chExt cx="380880" cy="6858000"/>
            </a:xfrm>
          </p:grpSpPr>
          <p:sp>
            <p:nvSpPr>
              <p:cNvPr id="2" name=""/>
              <p:cNvSpPr/>
              <p:nvPr/>
            </p:nvSpPr>
            <p:spPr>
              <a:xfrm>
                <a:off x="0" y="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0" y="380880"/>
                <a:ext cx="380880" cy="381240"/>
              </a:xfrm>
              <a:prstGeom prst="rect">
                <a:avLst/>
              </a:prstGeom>
              <a:blipFill rotWithShape="0">
                <a:blip r:embed="rId2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0" y="762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0" y="1143000"/>
                <a:ext cx="380880" cy="380880"/>
              </a:xfrm>
              <a:prstGeom prst="rect">
                <a:avLst/>
              </a:prstGeom>
              <a:blipFill rotWithShape="0">
                <a:blip r:embed="rId3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0" y="1523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0" y="1905120"/>
                <a:ext cx="380880" cy="380880"/>
              </a:xfrm>
              <a:prstGeom prst="rect">
                <a:avLst/>
              </a:prstGeom>
              <a:blipFill rotWithShape="0">
                <a:blip r:embed="rId4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0" y="228600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0" y="2666880"/>
                <a:ext cx="380880" cy="381240"/>
              </a:xfrm>
              <a:prstGeom prst="rect">
                <a:avLst/>
              </a:prstGeom>
              <a:blipFill rotWithShape="0">
                <a:blip r:embed="rId5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0" y="3048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0" y="3429000"/>
                <a:ext cx="380880" cy="380880"/>
              </a:xfrm>
              <a:prstGeom prst="rect">
                <a:avLst/>
              </a:prstGeom>
              <a:blipFill rotWithShape="0">
                <a:blip r:embed="rId6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0" y="3809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0" y="4191120"/>
                <a:ext cx="380880" cy="380880"/>
              </a:xfrm>
              <a:prstGeom prst="rect">
                <a:avLst/>
              </a:prstGeom>
              <a:blipFill rotWithShape="0">
                <a:blip r:embed="rId7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457200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0" y="4952880"/>
                <a:ext cx="380880" cy="381240"/>
              </a:xfrm>
              <a:prstGeom prst="rect">
                <a:avLst/>
              </a:prstGeom>
              <a:blipFill rotWithShape="0">
                <a:blip r:embed="rId8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0" y="5334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0" y="5715000"/>
                <a:ext cx="380880" cy="380880"/>
              </a:xfrm>
              <a:prstGeom prst="rect">
                <a:avLst/>
              </a:prstGeom>
              <a:blipFill rotWithShape="0">
                <a:blip r:embed="rId9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0" y="6095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0" y="6477120"/>
                <a:ext cx="380880" cy="380880"/>
              </a:xfrm>
              <a:prstGeom prst="rect">
                <a:avLst/>
              </a:prstGeom>
              <a:blipFill rotWithShape="0">
                <a:blip r:embed="rId10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20" name=""/>
            <p:cNvSpPr/>
            <p:nvPr/>
          </p:nvSpPr>
          <p:spPr>
            <a:xfrm>
              <a:off x="228600" y="380880"/>
              <a:ext cx="8458200" cy="0"/>
            </a:xfrm>
            <a:prstGeom prst="line">
              <a:avLst/>
            </a:prstGeom>
            <a:ln w="572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21" name=""/>
            <p:cNvGrpSpPr/>
            <p:nvPr/>
          </p:nvGrpSpPr>
          <p:grpSpPr>
            <a:xfrm>
              <a:off x="228600" y="990720"/>
              <a:ext cx="304560" cy="304560"/>
              <a:chOff x="228600" y="990720"/>
              <a:chExt cx="304560" cy="304560"/>
            </a:xfrm>
          </p:grpSpPr>
          <p:sp>
            <p:nvSpPr>
              <p:cNvPr id="22" name=""/>
              <p:cNvSpPr/>
              <p:nvPr/>
            </p:nvSpPr>
            <p:spPr>
              <a:xfrm>
                <a:off x="228600" y="990720"/>
                <a:ext cx="152280" cy="152280"/>
              </a:xfrm>
              <a:prstGeom prst="rect">
                <a:avLst/>
              </a:prstGeom>
              <a:solidFill>
                <a:srgbClr val="0099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380880" y="1143000"/>
                <a:ext cx="152280" cy="152280"/>
              </a:xfrm>
              <a:prstGeom prst="rect">
                <a:avLst/>
              </a:prstGeom>
              <a:solidFill>
                <a:srgbClr val="0099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380880" y="990720"/>
                <a:ext cx="152280" cy="1522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228600" y="1143000"/>
                <a:ext cx="152280" cy="1522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26" name=""/>
            <p:cNvGrpSpPr/>
            <p:nvPr/>
          </p:nvGrpSpPr>
          <p:grpSpPr>
            <a:xfrm>
              <a:off x="228600" y="1905120"/>
              <a:ext cx="8381880" cy="0"/>
              <a:chOff x="228600" y="1905120"/>
              <a:chExt cx="8381880" cy="0"/>
            </a:xfrm>
          </p:grpSpPr>
          <p:sp>
            <p:nvSpPr>
              <p:cNvPr id="27" name=""/>
              <p:cNvSpPr/>
              <p:nvPr/>
            </p:nvSpPr>
            <p:spPr>
              <a:xfrm>
                <a:off x="228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990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609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1752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371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2514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2133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3276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>
                <a:off x="2895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4038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3657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4800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4419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5562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5181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6324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5943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7086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6705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>
                <a:off x="7848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7467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8229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c0c0c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1"/>
          </p:nvPr>
        </p:nvSpPr>
        <p:spPr>
          <a:xfrm>
            <a:off x="685800" y="63244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"/>
          </p:nvPr>
        </p:nvSpPr>
        <p:spPr>
          <a:xfrm>
            <a:off x="3124080" y="632448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"/>
          </p:nvPr>
        </p:nvSpPr>
        <p:spPr>
          <a:xfrm>
            <a:off x="6553080" y="63244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19A91D-967C-452B-B16F-9982C4DCA80D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chart" preserve="1">
  <p:cSld name="Default"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"/>
          <p:cNvGrpSpPr/>
          <p:nvPr/>
        </p:nvGrpSpPr>
        <p:grpSpPr>
          <a:xfrm>
            <a:off x="0" y="0"/>
            <a:ext cx="8686800" cy="6858000"/>
            <a:chOff x="0" y="0"/>
            <a:chExt cx="8686800" cy="6858000"/>
          </a:xfrm>
        </p:grpSpPr>
        <p:grpSp>
          <p:nvGrpSpPr>
            <p:cNvPr id="55" name=""/>
            <p:cNvGrpSpPr/>
            <p:nvPr/>
          </p:nvGrpSpPr>
          <p:grpSpPr>
            <a:xfrm>
              <a:off x="0" y="0"/>
              <a:ext cx="380880" cy="6858000"/>
              <a:chOff x="0" y="0"/>
              <a:chExt cx="380880" cy="6858000"/>
            </a:xfrm>
          </p:grpSpPr>
          <p:sp>
            <p:nvSpPr>
              <p:cNvPr id="2" name=""/>
              <p:cNvSpPr/>
              <p:nvPr/>
            </p:nvSpPr>
            <p:spPr>
              <a:xfrm>
                <a:off x="0" y="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0" y="380880"/>
                <a:ext cx="380880" cy="381240"/>
              </a:xfrm>
              <a:prstGeom prst="rect">
                <a:avLst/>
              </a:prstGeom>
              <a:blipFill rotWithShape="0">
                <a:blip r:embed="rId2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0" y="762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0" y="1143000"/>
                <a:ext cx="380880" cy="380880"/>
              </a:xfrm>
              <a:prstGeom prst="rect">
                <a:avLst/>
              </a:prstGeom>
              <a:blipFill rotWithShape="0">
                <a:blip r:embed="rId3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0" y="1523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0" y="1905120"/>
                <a:ext cx="380880" cy="380880"/>
              </a:xfrm>
              <a:prstGeom prst="rect">
                <a:avLst/>
              </a:prstGeom>
              <a:blipFill rotWithShape="0">
                <a:blip r:embed="rId4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0" y="228600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0" y="2666880"/>
                <a:ext cx="380880" cy="381240"/>
              </a:xfrm>
              <a:prstGeom prst="rect">
                <a:avLst/>
              </a:prstGeom>
              <a:blipFill rotWithShape="0">
                <a:blip r:embed="rId5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0" y="3048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0" y="3429000"/>
                <a:ext cx="380880" cy="380880"/>
              </a:xfrm>
              <a:prstGeom prst="rect">
                <a:avLst/>
              </a:prstGeom>
              <a:blipFill rotWithShape="0">
                <a:blip r:embed="rId6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0" y="3809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0" y="4191120"/>
                <a:ext cx="380880" cy="380880"/>
              </a:xfrm>
              <a:prstGeom prst="rect">
                <a:avLst/>
              </a:prstGeom>
              <a:blipFill rotWithShape="0">
                <a:blip r:embed="rId7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457200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0" y="4952880"/>
                <a:ext cx="380880" cy="381240"/>
              </a:xfrm>
              <a:prstGeom prst="rect">
                <a:avLst/>
              </a:prstGeom>
              <a:blipFill rotWithShape="0">
                <a:blip r:embed="rId8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0" y="5334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0" y="5715000"/>
                <a:ext cx="380880" cy="380880"/>
              </a:xfrm>
              <a:prstGeom prst="rect">
                <a:avLst/>
              </a:prstGeom>
              <a:blipFill rotWithShape="0">
                <a:blip r:embed="rId9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0" y="6095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0" y="6477120"/>
                <a:ext cx="380880" cy="380880"/>
              </a:xfrm>
              <a:prstGeom prst="rect">
                <a:avLst/>
              </a:prstGeom>
              <a:blipFill rotWithShape="0">
                <a:blip r:embed="rId10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56" name=""/>
            <p:cNvSpPr/>
            <p:nvPr/>
          </p:nvSpPr>
          <p:spPr>
            <a:xfrm>
              <a:off x="228600" y="380880"/>
              <a:ext cx="8458200" cy="0"/>
            </a:xfrm>
            <a:prstGeom prst="line">
              <a:avLst/>
            </a:prstGeom>
            <a:ln w="572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57" name=""/>
            <p:cNvGrpSpPr/>
            <p:nvPr/>
          </p:nvGrpSpPr>
          <p:grpSpPr>
            <a:xfrm>
              <a:off x="228600" y="990720"/>
              <a:ext cx="304560" cy="304560"/>
              <a:chOff x="228600" y="990720"/>
              <a:chExt cx="304560" cy="304560"/>
            </a:xfrm>
          </p:grpSpPr>
          <p:sp>
            <p:nvSpPr>
              <p:cNvPr id="22" name=""/>
              <p:cNvSpPr/>
              <p:nvPr/>
            </p:nvSpPr>
            <p:spPr>
              <a:xfrm>
                <a:off x="228600" y="990720"/>
                <a:ext cx="152280" cy="152280"/>
              </a:xfrm>
              <a:prstGeom prst="rect">
                <a:avLst/>
              </a:prstGeom>
              <a:solidFill>
                <a:srgbClr val="0099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380880" y="1143000"/>
                <a:ext cx="152280" cy="152280"/>
              </a:xfrm>
              <a:prstGeom prst="rect">
                <a:avLst/>
              </a:prstGeom>
              <a:solidFill>
                <a:srgbClr val="0099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380880" y="990720"/>
                <a:ext cx="152280" cy="1522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228600" y="1143000"/>
                <a:ext cx="152280" cy="1522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58" name=""/>
            <p:cNvGrpSpPr/>
            <p:nvPr/>
          </p:nvGrpSpPr>
          <p:grpSpPr>
            <a:xfrm>
              <a:off x="228600" y="1905120"/>
              <a:ext cx="8381880" cy="0"/>
              <a:chOff x="228600" y="1905120"/>
              <a:chExt cx="8381880" cy="0"/>
            </a:xfrm>
          </p:grpSpPr>
          <p:sp>
            <p:nvSpPr>
              <p:cNvPr id="59" name=""/>
              <p:cNvSpPr/>
              <p:nvPr/>
            </p:nvSpPr>
            <p:spPr>
              <a:xfrm>
                <a:off x="228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990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609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>
                <a:off x="1752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1371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2514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>
                <a:off x="2133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>
                <a:off x="3276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2895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4038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3657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>
                <a:off x="4800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>
                <a:off x="4419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>
                <a:off x="5562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5181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6324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5943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7086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6705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7848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467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8229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c0c0c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4"/>
          </p:nvPr>
        </p:nvSpPr>
        <p:spPr>
          <a:xfrm>
            <a:off x="685800" y="63244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ftr" idx="5"/>
          </p:nvPr>
        </p:nvSpPr>
        <p:spPr>
          <a:xfrm>
            <a:off x="3124080" y="632448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sldNum" idx="6"/>
          </p:nvPr>
        </p:nvSpPr>
        <p:spPr>
          <a:xfrm>
            <a:off x="6553080" y="63244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2A0406-0A97-4189-8393-5B23231BF4F1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"/>
          <p:cNvGrpSpPr/>
          <p:nvPr/>
        </p:nvGrpSpPr>
        <p:grpSpPr>
          <a:xfrm>
            <a:off x="0" y="0"/>
            <a:ext cx="8686800" cy="6858000"/>
            <a:chOff x="0" y="0"/>
            <a:chExt cx="8686800" cy="6858000"/>
          </a:xfrm>
        </p:grpSpPr>
        <p:grpSp>
          <p:nvGrpSpPr>
            <p:cNvPr id="87" name=""/>
            <p:cNvGrpSpPr/>
            <p:nvPr/>
          </p:nvGrpSpPr>
          <p:grpSpPr>
            <a:xfrm>
              <a:off x="0" y="0"/>
              <a:ext cx="380880" cy="6858000"/>
              <a:chOff x="0" y="0"/>
              <a:chExt cx="380880" cy="6858000"/>
            </a:xfrm>
          </p:grpSpPr>
          <p:sp>
            <p:nvSpPr>
              <p:cNvPr id="2" name=""/>
              <p:cNvSpPr/>
              <p:nvPr/>
            </p:nvSpPr>
            <p:spPr>
              <a:xfrm>
                <a:off x="0" y="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0" y="380880"/>
                <a:ext cx="380880" cy="381240"/>
              </a:xfrm>
              <a:prstGeom prst="rect">
                <a:avLst/>
              </a:prstGeom>
              <a:blipFill rotWithShape="0">
                <a:blip r:embed="rId2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0" y="762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0" y="1143000"/>
                <a:ext cx="380880" cy="380880"/>
              </a:xfrm>
              <a:prstGeom prst="rect">
                <a:avLst/>
              </a:prstGeom>
              <a:blipFill rotWithShape="0">
                <a:blip r:embed="rId3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0" y="1523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0" y="1905120"/>
                <a:ext cx="380880" cy="380880"/>
              </a:xfrm>
              <a:prstGeom prst="rect">
                <a:avLst/>
              </a:prstGeom>
              <a:blipFill rotWithShape="0">
                <a:blip r:embed="rId4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0" y="228600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0" y="2666880"/>
                <a:ext cx="380880" cy="381240"/>
              </a:xfrm>
              <a:prstGeom prst="rect">
                <a:avLst/>
              </a:prstGeom>
              <a:blipFill rotWithShape="0">
                <a:blip r:embed="rId5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0" y="3048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0" y="3429000"/>
                <a:ext cx="380880" cy="380880"/>
              </a:xfrm>
              <a:prstGeom prst="rect">
                <a:avLst/>
              </a:prstGeom>
              <a:blipFill rotWithShape="0">
                <a:blip r:embed="rId6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0" y="3809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0" y="4191120"/>
                <a:ext cx="380880" cy="380880"/>
              </a:xfrm>
              <a:prstGeom prst="rect">
                <a:avLst/>
              </a:prstGeom>
              <a:blipFill rotWithShape="0">
                <a:blip r:embed="rId7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457200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0" y="4952880"/>
                <a:ext cx="380880" cy="381240"/>
              </a:xfrm>
              <a:prstGeom prst="rect">
                <a:avLst/>
              </a:prstGeom>
              <a:blipFill rotWithShape="0">
                <a:blip r:embed="rId8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0" y="5334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0" y="5715000"/>
                <a:ext cx="380880" cy="380880"/>
              </a:xfrm>
              <a:prstGeom prst="rect">
                <a:avLst/>
              </a:prstGeom>
              <a:blipFill rotWithShape="0">
                <a:blip r:embed="rId9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0" y="6095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0" y="6477120"/>
                <a:ext cx="380880" cy="380880"/>
              </a:xfrm>
              <a:prstGeom prst="rect">
                <a:avLst/>
              </a:prstGeom>
              <a:blipFill rotWithShape="0">
                <a:blip r:embed="rId10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88" name=""/>
            <p:cNvSpPr/>
            <p:nvPr/>
          </p:nvSpPr>
          <p:spPr>
            <a:xfrm>
              <a:off x="228600" y="380880"/>
              <a:ext cx="8458200" cy="0"/>
            </a:xfrm>
            <a:prstGeom prst="line">
              <a:avLst/>
            </a:prstGeom>
            <a:ln w="572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89" name=""/>
            <p:cNvGrpSpPr/>
            <p:nvPr/>
          </p:nvGrpSpPr>
          <p:grpSpPr>
            <a:xfrm>
              <a:off x="228600" y="990720"/>
              <a:ext cx="304560" cy="304560"/>
              <a:chOff x="228600" y="990720"/>
              <a:chExt cx="304560" cy="304560"/>
            </a:xfrm>
          </p:grpSpPr>
          <p:sp>
            <p:nvSpPr>
              <p:cNvPr id="22" name=""/>
              <p:cNvSpPr/>
              <p:nvPr/>
            </p:nvSpPr>
            <p:spPr>
              <a:xfrm>
                <a:off x="228600" y="990720"/>
                <a:ext cx="152280" cy="152280"/>
              </a:xfrm>
              <a:prstGeom prst="rect">
                <a:avLst/>
              </a:prstGeom>
              <a:solidFill>
                <a:srgbClr val="0099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380880" y="1143000"/>
                <a:ext cx="152280" cy="152280"/>
              </a:xfrm>
              <a:prstGeom prst="rect">
                <a:avLst/>
              </a:prstGeom>
              <a:solidFill>
                <a:srgbClr val="0099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380880" y="990720"/>
                <a:ext cx="152280" cy="1522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228600" y="1143000"/>
                <a:ext cx="152280" cy="1522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90" name=""/>
            <p:cNvGrpSpPr/>
            <p:nvPr/>
          </p:nvGrpSpPr>
          <p:grpSpPr>
            <a:xfrm>
              <a:off x="228600" y="1905120"/>
              <a:ext cx="8381880" cy="0"/>
              <a:chOff x="228600" y="1905120"/>
              <a:chExt cx="8381880" cy="0"/>
            </a:xfrm>
          </p:grpSpPr>
          <p:sp>
            <p:nvSpPr>
              <p:cNvPr id="91" name=""/>
              <p:cNvSpPr/>
              <p:nvPr/>
            </p:nvSpPr>
            <p:spPr>
              <a:xfrm>
                <a:off x="228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990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609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1752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1371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2514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2133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>
                <a:off x="3276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2895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4038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3657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4800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4419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>
                <a:off x="5562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5181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632448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5943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708660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67057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78487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746748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822960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</p:grp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c0c0c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7"/>
          </p:nvPr>
        </p:nvSpPr>
        <p:spPr>
          <a:xfrm>
            <a:off x="685800" y="63244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ftr" idx="8"/>
          </p:nvPr>
        </p:nvSpPr>
        <p:spPr>
          <a:xfrm>
            <a:off x="3124080" y="632448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244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64F993-89FF-415B-B796-A67E3A5D7DB8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"/>
          <p:cNvGrpSpPr/>
          <p:nvPr/>
        </p:nvGrpSpPr>
        <p:grpSpPr>
          <a:xfrm>
            <a:off x="0" y="0"/>
            <a:ext cx="8915400" cy="6858000"/>
            <a:chOff x="0" y="0"/>
            <a:chExt cx="8915400" cy="6858000"/>
          </a:xfrm>
        </p:grpSpPr>
        <p:grpSp>
          <p:nvGrpSpPr>
            <p:cNvPr id="119" name=""/>
            <p:cNvGrpSpPr/>
            <p:nvPr/>
          </p:nvGrpSpPr>
          <p:grpSpPr>
            <a:xfrm>
              <a:off x="0" y="0"/>
              <a:ext cx="380880" cy="6858000"/>
              <a:chOff x="0" y="0"/>
              <a:chExt cx="380880" cy="6858000"/>
            </a:xfrm>
          </p:grpSpPr>
          <p:sp>
            <p:nvSpPr>
              <p:cNvPr id="120" name=""/>
              <p:cNvSpPr/>
              <p:nvPr/>
            </p:nvSpPr>
            <p:spPr>
              <a:xfrm>
                <a:off x="0" y="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>
                <a:off x="0" y="380880"/>
                <a:ext cx="380880" cy="381240"/>
              </a:xfrm>
              <a:prstGeom prst="rect">
                <a:avLst/>
              </a:prstGeom>
              <a:blipFill rotWithShape="0">
                <a:blip r:embed="rId2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>
                <a:off x="0" y="762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0" y="1143000"/>
                <a:ext cx="380880" cy="380880"/>
              </a:xfrm>
              <a:prstGeom prst="rect">
                <a:avLst/>
              </a:prstGeom>
              <a:blipFill rotWithShape="0">
                <a:blip r:embed="rId3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0" y="1523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0" y="1905120"/>
                <a:ext cx="380880" cy="380880"/>
              </a:xfrm>
              <a:prstGeom prst="rect">
                <a:avLst/>
              </a:prstGeom>
              <a:blipFill rotWithShape="0">
                <a:blip r:embed="rId4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0" y="228600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0" y="2666880"/>
                <a:ext cx="380880" cy="381240"/>
              </a:xfrm>
              <a:prstGeom prst="rect">
                <a:avLst/>
              </a:prstGeom>
              <a:blipFill rotWithShape="0">
                <a:blip r:embed="rId5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0" y="3048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0" y="3429000"/>
                <a:ext cx="380880" cy="380880"/>
              </a:xfrm>
              <a:prstGeom prst="rect">
                <a:avLst/>
              </a:prstGeom>
              <a:blipFill rotWithShape="0">
                <a:blip r:embed="rId6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0" y="3809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0" y="4191120"/>
                <a:ext cx="380880" cy="380880"/>
              </a:xfrm>
              <a:prstGeom prst="rect">
                <a:avLst/>
              </a:prstGeom>
              <a:blipFill rotWithShape="0">
                <a:blip r:embed="rId7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0" y="457200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>
                <a:off x="0" y="4952880"/>
                <a:ext cx="380880" cy="381240"/>
              </a:xfrm>
              <a:prstGeom prst="rect">
                <a:avLst/>
              </a:prstGeom>
              <a:blipFill rotWithShape="0">
                <a:blip r:embed="rId8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0" y="5334120"/>
                <a:ext cx="380880" cy="38088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>
                <a:off x="0" y="5715000"/>
                <a:ext cx="380880" cy="380880"/>
              </a:xfrm>
              <a:prstGeom prst="rect">
                <a:avLst/>
              </a:prstGeom>
              <a:blipFill rotWithShape="0">
                <a:blip r:embed="rId9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0" y="6095880"/>
                <a:ext cx="380880" cy="381240"/>
              </a:xfrm>
              <a:prstGeom prst="rect">
                <a:avLst/>
              </a:prstGeom>
              <a:solidFill>
                <a:srgbClr val="c0c0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0" y="6477120"/>
                <a:ext cx="380880" cy="380880"/>
              </a:xfrm>
              <a:prstGeom prst="rect">
                <a:avLst/>
              </a:prstGeom>
              <a:blipFill rotWithShape="0">
                <a:blip r:embed="rId10"/>
                <a:srcRect/>
                <a:tile tx="0" ty="0" sx="100000" sy="100000" algn="ctr"/>
              </a:blip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38" name=""/>
            <p:cNvSpPr/>
            <p:nvPr/>
          </p:nvSpPr>
          <p:spPr>
            <a:xfrm>
              <a:off x="533520" y="1981080"/>
              <a:ext cx="8381880" cy="228600"/>
            </a:xfrm>
            <a:prstGeom prst="rect">
              <a:avLst/>
            </a:prstGeom>
            <a:blipFill rotWithShape="0">
              <a:blip r:embed="rId11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139" name=""/>
            <p:cNvGrpSpPr/>
            <p:nvPr/>
          </p:nvGrpSpPr>
          <p:grpSpPr>
            <a:xfrm>
              <a:off x="533520" y="1905120"/>
              <a:ext cx="8381880" cy="0"/>
              <a:chOff x="533520" y="1905120"/>
              <a:chExt cx="8381880" cy="0"/>
            </a:xfrm>
          </p:grpSpPr>
          <p:sp>
            <p:nvSpPr>
              <p:cNvPr id="140" name=""/>
              <p:cNvSpPr/>
              <p:nvPr/>
            </p:nvSpPr>
            <p:spPr>
              <a:xfrm>
                <a:off x="5335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29564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91440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205740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6765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28195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243864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358164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320040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434340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>
                <a:off x="39625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1" name=""/>
              <p:cNvSpPr/>
              <p:nvPr/>
            </p:nvSpPr>
            <p:spPr>
              <a:xfrm>
                <a:off x="51055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472464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586764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4" name=""/>
              <p:cNvSpPr/>
              <p:nvPr/>
            </p:nvSpPr>
            <p:spPr>
              <a:xfrm>
                <a:off x="548640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5" name=""/>
              <p:cNvSpPr/>
              <p:nvPr/>
            </p:nvSpPr>
            <p:spPr>
              <a:xfrm>
                <a:off x="6629400" y="190512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6" name=""/>
              <p:cNvSpPr/>
              <p:nvPr/>
            </p:nvSpPr>
            <p:spPr>
              <a:xfrm>
                <a:off x="62485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7" name=""/>
              <p:cNvSpPr/>
              <p:nvPr/>
            </p:nvSpPr>
            <p:spPr>
              <a:xfrm>
                <a:off x="739152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8" name=""/>
              <p:cNvSpPr/>
              <p:nvPr/>
            </p:nvSpPr>
            <p:spPr>
              <a:xfrm>
                <a:off x="701064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8153640" y="190512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7772400" y="190512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8534520" y="190512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62" name=""/>
            <p:cNvGrpSpPr/>
            <p:nvPr/>
          </p:nvGrpSpPr>
          <p:grpSpPr>
            <a:xfrm>
              <a:off x="685800" y="2743200"/>
              <a:ext cx="304920" cy="304920"/>
              <a:chOff x="685800" y="2743200"/>
              <a:chExt cx="304920" cy="304920"/>
            </a:xfrm>
          </p:grpSpPr>
          <p:sp>
            <p:nvSpPr>
              <p:cNvPr id="163" name=""/>
              <p:cNvSpPr/>
              <p:nvPr/>
            </p:nvSpPr>
            <p:spPr>
              <a:xfrm>
                <a:off x="685800" y="2743200"/>
                <a:ext cx="152280" cy="15228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4" name=""/>
              <p:cNvSpPr/>
              <p:nvPr/>
            </p:nvSpPr>
            <p:spPr>
              <a:xfrm>
                <a:off x="838080" y="2895480"/>
                <a:ext cx="152640" cy="15264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5" name=""/>
              <p:cNvSpPr/>
              <p:nvPr/>
            </p:nvSpPr>
            <p:spPr>
              <a:xfrm>
                <a:off x="838080" y="2743200"/>
                <a:ext cx="152640" cy="15228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6" name=""/>
              <p:cNvSpPr/>
              <p:nvPr/>
            </p:nvSpPr>
            <p:spPr>
              <a:xfrm>
                <a:off x="685800" y="2895480"/>
                <a:ext cx="152280" cy="152640"/>
              </a:xfrm>
              <a:prstGeom prst="rect">
                <a:avLst/>
              </a:pr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167" name=""/>
            <p:cNvGrpSpPr/>
            <p:nvPr/>
          </p:nvGrpSpPr>
          <p:grpSpPr>
            <a:xfrm>
              <a:off x="533520" y="3809880"/>
              <a:ext cx="8381880" cy="0"/>
              <a:chOff x="533520" y="3809880"/>
              <a:chExt cx="8381880" cy="0"/>
            </a:xfrm>
          </p:grpSpPr>
          <p:sp>
            <p:nvSpPr>
              <p:cNvPr id="168" name=""/>
              <p:cNvSpPr/>
              <p:nvPr/>
            </p:nvSpPr>
            <p:spPr>
              <a:xfrm>
                <a:off x="533520" y="380988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1295640" y="380988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914400" y="380988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1" name=""/>
              <p:cNvSpPr/>
              <p:nvPr/>
            </p:nvSpPr>
            <p:spPr>
              <a:xfrm>
                <a:off x="2057400" y="380988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2" name=""/>
              <p:cNvSpPr/>
              <p:nvPr/>
            </p:nvSpPr>
            <p:spPr>
              <a:xfrm>
                <a:off x="1676520" y="380988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3" name=""/>
              <p:cNvSpPr/>
              <p:nvPr/>
            </p:nvSpPr>
            <p:spPr>
              <a:xfrm>
                <a:off x="2819520" y="380988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4" name=""/>
              <p:cNvSpPr/>
              <p:nvPr/>
            </p:nvSpPr>
            <p:spPr>
              <a:xfrm>
                <a:off x="2438640" y="380988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5" name=""/>
              <p:cNvSpPr/>
              <p:nvPr/>
            </p:nvSpPr>
            <p:spPr>
              <a:xfrm>
                <a:off x="3581640" y="380988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6" name=""/>
              <p:cNvSpPr/>
              <p:nvPr/>
            </p:nvSpPr>
            <p:spPr>
              <a:xfrm>
                <a:off x="3200400" y="380988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7" name=""/>
              <p:cNvSpPr/>
              <p:nvPr/>
            </p:nvSpPr>
            <p:spPr>
              <a:xfrm>
                <a:off x="4343400" y="380988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8" name=""/>
              <p:cNvSpPr/>
              <p:nvPr/>
            </p:nvSpPr>
            <p:spPr>
              <a:xfrm>
                <a:off x="3962520" y="380988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9" name=""/>
              <p:cNvSpPr/>
              <p:nvPr/>
            </p:nvSpPr>
            <p:spPr>
              <a:xfrm>
                <a:off x="5105520" y="380988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0" name=""/>
              <p:cNvSpPr/>
              <p:nvPr/>
            </p:nvSpPr>
            <p:spPr>
              <a:xfrm>
                <a:off x="4724640" y="380988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1" name=""/>
              <p:cNvSpPr/>
              <p:nvPr/>
            </p:nvSpPr>
            <p:spPr>
              <a:xfrm>
                <a:off x="5867640" y="380988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2" name=""/>
              <p:cNvSpPr/>
              <p:nvPr/>
            </p:nvSpPr>
            <p:spPr>
              <a:xfrm>
                <a:off x="5486400" y="380988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>
                <a:off x="6629400" y="3809880"/>
                <a:ext cx="38124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4" name=""/>
              <p:cNvSpPr/>
              <p:nvPr/>
            </p:nvSpPr>
            <p:spPr>
              <a:xfrm>
                <a:off x="6248520" y="380988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5" name=""/>
              <p:cNvSpPr/>
              <p:nvPr/>
            </p:nvSpPr>
            <p:spPr>
              <a:xfrm>
                <a:off x="7391520" y="380988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>
                <a:off x="7010640" y="380988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>
                <a:off x="8153640" y="3809880"/>
                <a:ext cx="380880" cy="0"/>
              </a:xfrm>
              <a:prstGeom prst="line">
                <a:avLst/>
              </a:prstGeom>
              <a:ln w="5724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>
                <a:off x="7772400" y="3809880"/>
                <a:ext cx="38124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9" name=""/>
              <p:cNvSpPr/>
              <p:nvPr/>
            </p:nvSpPr>
            <p:spPr>
              <a:xfrm>
                <a:off x="8534520" y="3809880"/>
                <a:ext cx="380880" cy="0"/>
              </a:xfrm>
              <a:prstGeom prst="line">
                <a:avLst/>
              </a:prstGeom>
              <a:ln w="57240">
                <a:solidFill>
                  <a:srgbClr val="009999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ctr">
                <a:noAutofit/>
              </a:bodyPr>
              <a:p>
                <a:endParaRPr b="0" lang="en-IN" sz="24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90" name=""/>
            <p:cNvSpPr/>
            <p:nvPr/>
          </p:nvSpPr>
          <p:spPr>
            <a:xfrm>
              <a:off x="533520" y="3505320"/>
              <a:ext cx="8381880" cy="228600"/>
            </a:xfrm>
            <a:prstGeom prst="rect">
              <a:avLst/>
            </a:prstGeom>
            <a:blipFill rotWithShape="0">
              <a:blip r:embed="rId12"/>
              <a:srcRect/>
              <a:tile tx="0" ty="0" sx="100000" sy="100000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06668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dt" idx="10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ftr" idx="11"/>
          </p:nvPr>
        </p:nvSpPr>
        <p:spPr>
          <a:xfrm>
            <a:off x="33526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12"/>
          </p:nvPr>
        </p:nvSpPr>
        <p:spPr>
          <a:xfrm>
            <a:off x="6933960" y="624852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8A642A-450D-4CE5-B048-6D1EBF7F96B5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914400" algn="ctr">
              <a:spcBef>
                <a:spcPts val="60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71600" algn="ctr">
              <a:spcBef>
                <a:spcPts val="4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828800" algn="ctr">
              <a:spcBef>
                <a:spcPts val="499"/>
              </a:spcBef>
              <a:buClr>
                <a:srgbClr val="c0c0c0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www.state.ia.us/educate/fis/pre/eddata/ied05/index.html" TargetMode="External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mailto:janell.brandhorst@iowa.gov" TargetMode="External"/><Relationship Id="rId2" Type="http://schemas.openxmlformats.org/officeDocument/2006/relationships/hyperlink" Target="mailto:janell.brandhorst@iowa.gov" TargetMode="External"/><Relationship Id="rId3" Type="http://schemas.openxmlformats.org/officeDocument/2006/relationships/hyperlink" Target="mailto:mary.sullivan@iowa.gov" TargetMode="External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&amp;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Project EASIER Data Conference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April 12, 2006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Overview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Data Elements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Common Errors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Previous Results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Safe and Drug Free Schools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Special Education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Data Elements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Removal Type – type of removal from the classroom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100000"/>
              </a:lnSpc>
              <a:spcBef>
                <a:spcPts val="4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Out of School Suspension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100000"/>
              </a:lnSpc>
              <a:spcBef>
                <a:spcPts val="4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Expulsion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100000"/>
              </a:lnSpc>
              <a:spcBef>
                <a:spcPts val="4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Removal to an Interim Educational Setting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Data Elements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Reason for Removal – primary reason the student was removed from the classroom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5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Drug related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5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Alcohol related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5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Both drug and alcohol related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5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Weapons related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5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Administrative law judge, court action, or hearing officer determination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5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Physical fighting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5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Non-drug and non-weapon related, other than those already listed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 algn="ctr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Data Elements</a:t>
            </a:r>
            <a:endParaRPr b="0" lang="en-IN" sz="3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 algn="ctr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Violence-Related Indicator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51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student was determined by the local school board to have physically injured or threatened to injure another student at school or at a school-sponsored activity in one of the following crimes;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Forcible felony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Physical assault with injury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Sexual assault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Extortion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Use of bomb/explosive device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Gang activity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9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Carrying or using weapon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Data Elements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Length of removal – full school days removed from the classroom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Date of removal – date the removal began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lvl="1" marL="743040" indent="-285840" algn="ctr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Common Errors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 algn="ct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Data elements missing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100000"/>
              </a:lnSpc>
              <a:spcBef>
                <a:spcPts val="249"/>
              </a:spcBef>
              <a:buNone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Length of removal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100000"/>
              </a:lnSpc>
              <a:spcBef>
                <a:spcPts val="4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Use of partial days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½ day suspension = 1 day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Must round up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100000"/>
              </a:lnSpc>
              <a:spcBef>
                <a:spcPts val="4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Use of days other than school days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Do not count weekends, other school breaks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100000"/>
              </a:lnSpc>
              <a:spcBef>
                <a:spcPts val="4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Use of more days than in one school year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Maximum length is equal to number of days in one school year according to the district’s school calendar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Common Errors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How to handle suspension then expulsion for the same incident?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Previous Results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03-04 and 04-05 school year aggregate results available in Condition of Education Report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04-05 school year available by district on DE web-site: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5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	</a:t>
            </a:r>
            <a:r>
              <a:rPr b="0" lang="en-IN" sz="1500" strike="noStrike" u="sng">
                <a:solidFill>
                  <a:srgbClr val="ffffff"/>
                </a:solidFill>
                <a:effectLst/>
                <a:uFillTx/>
                <a:latin typeface="Tahoma"/>
                <a:hlinkClick r:id="rId1"/>
              </a:rPr>
              <a:t>http://www.state.ia.us/educate/fis/pre/eddata/ied05/index.html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Previous Results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04-05 suspensions + expulsions </a:t>
            </a:r>
            <a:r>
              <a:rPr b="1" i="1" lang="en-IN" sz="2400" strike="noStrike" u="sng">
                <a:solidFill>
                  <a:srgbClr val="000000"/>
                </a:solidFill>
                <a:effectLst/>
                <a:uFillTx/>
                <a:latin typeface="Tahoma"/>
              </a:rPr>
              <a:t>by incident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16" name=""/>
          <p:cNvGraphicFramePr/>
          <p:nvPr/>
        </p:nvGraphicFramePr>
        <p:xfrm>
          <a:off x="1523880" y="3657600"/>
          <a:ext cx="6096240" cy="1819440"/>
        </p:xfrm>
        <a:graphic>
          <a:graphicData uri="http://schemas.openxmlformats.org/drawingml/2006/table">
            <a:tbl>
              <a:tblPr/>
              <a:tblGrid>
                <a:gridCol w="2032200"/>
                <a:gridCol w="2031840"/>
                <a:gridCol w="2032200"/>
              </a:tblGrid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Incident Type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Total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Per 100 Students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Physical Fighting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9,354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1.98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Weapons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649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0.14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Alcohol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558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0.12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Drugs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824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0.17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Total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11,385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2.41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Previous Results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550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04-05 suspensions + expulsions </a:t>
            </a:r>
            <a:r>
              <a:rPr b="1" i="1" lang="en-IN" sz="2200" strike="noStrike" u="sng">
                <a:solidFill>
                  <a:srgbClr val="000000"/>
                </a:solidFill>
                <a:effectLst/>
                <a:uFillTx/>
                <a:latin typeface="Tahoma"/>
              </a:rPr>
              <a:t>by school level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19" name=""/>
          <p:cNvGraphicFramePr/>
          <p:nvPr/>
        </p:nvGraphicFramePr>
        <p:xfrm>
          <a:off x="1523880" y="3657600"/>
          <a:ext cx="6096240" cy="2122560"/>
        </p:xfrm>
        <a:graphic>
          <a:graphicData uri="http://schemas.openxmlformats.org/drawingml/2006/table">
            <a:tbl>
              <a:tblPr/>
              <a:tblGrid>
                <a:gridCol w="2032200"/>
                <a:gridCol w="2031840"/>
                <a:gridCol w="2032200"/>
              </a:tblGrid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School Level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Total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Per 100 Students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High School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4,803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3.07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Junior High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457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3.53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Middle School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3,964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4.76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Elementary School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1,854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0.87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Other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307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4.00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Total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11,385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2.41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Previous Results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476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9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04-05 suspensions + expulsions </a:t>
            </a:r>
            <a:r>
              <a:rPr b="1" i="1" lang="en-IN" sz="1900" strike="noStrike" u="sng">
                <a:solidFill>
                  <a:srgbClr val="000000"/>
                </a:solidFill>
                <a:effectLst/>
                <a:uFillTx/>
                <a:latin typeface="Tahoma"/>
              </a:rPr>
              <a:t>by enrollment category</a:t>
            </a:r>
            <a:endParaRPr b="0" lang="en-IN" sz="1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2" name=""/>
          <p:cNvGraphicFramePr/>
          <p:nvPr/>
        </p:nvGraphicFramePr>
        <p:xfrm>
          <a:off x="1523880" y="3657600"/>
          <a:ext cx="6096240" cy="2728800"/>
        </p:xfrm>
        <a:graphic>
          <a:graphicData uri="http://schemas.openxmlformats.org/drawingml/2006/table">
            <a:tbl>
              <a:tblPr/>
              <a:tblGrid>
                <a:gridCol w="2032200"/>
                <a:gridCol w="2031840"/>
                <a:gridCol w="2032200"/>
              </a:tblGrid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Enrollment Category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Total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Per 100 Students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&lt;250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47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0.87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250-399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207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1.19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400-599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319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0.87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600-999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809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1.14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1,000-2,499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1,647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1.36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2,500-7,499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1,858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0.19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7,500 +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6,498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5.15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Total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11,385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ahoma"/>
                        </a:rPr>
                        <a:t>2.41</a:t>
                      </a:r>
                      <a:endParaRPr b="0" lang="en-IN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Suspensions and Expulsions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Safe and Drug Free Schools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requirement to gather and report this information to the federal government under NCLB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In the future we will gather more detailed information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Data should also be helpful with CSIP, SDFSC budgets and annual reports, and drug and violence prevention planning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Talking  Points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1599840" y="2133720"/>
            <a:ext cx="754380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SPP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Suspension and Expulsion Specifics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Priority (Essential Question)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cfd1e7"/>
              </a:buClr>
              <a:buSzPct val="60000"/>
              <a:buFont typeface="Wingdings" charset="2"/>
              <a:buChar char="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Indicator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Measurement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Overview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Baseline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Target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Improvement Activities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Future Data Collection Activities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wipe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IDEA 2004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Must develop a State Performance Plan (SPP).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Focus on improving educational results and functional outcomes—e.g., “results.”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Are still required to meeting compliance requirements, particularly those most closely related to results.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06668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95000"/>
              </a:lnSpc>
              <a:spcAft>
                <a:spcPts val="75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Suspension</a:t>
            </a:r>
            <a:r>
              <a:rPr b="0" lang="en-IN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and</a:t>
            </a:r>
            <a:r>
              <a:rPr b="0" lang="en-IN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Expulsion</a:t>
            </a:r>
            <a:r>
              <a:rPr b="0" lang="en-IN" sz="4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0" lang="en-IN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Specifics</a:t>
            </a:r>
            <a:endParaRPr b="0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Indicators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Percent of districts identified by the State as having a significant discrepancy in the rates of suspensions and expulsions of children with disabilities for greater than 10 days in a school year; and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Percent of districts identified by the State as having a significant discrepancy in the rates of suspensions and expulsions of greater than 10 days in a school year of children with disabilities by race and ethnicity. [New Indicator]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Measurement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Percent = # of districts identified by the State as having significant discrepancies in the rates of suspensions and expulsions of children with disabilities for greater than 10 days in a school year divided by # of districts in the State times 100.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9999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Percent = # of districts identified by the State as having significant discrepancies in the rates of suspensions and expulsions for greater than 10 days in a school year of children with disabilities by race ethnicity divided by # of districts in the State times 100. Include State’s definition of “significant discrepancy.”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Overview of Issue/Description of System or Process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Prior Data Collection Efforts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Past Methodology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Past Analysis and Results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Methodology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37" name=""/>
          <p:cNvGrpSpPr/>
          <p:nvPr/>
        </p:nvGrpSpPr>
        <p:grpSpPr>
          <a:xfrm>
            <a:off x="1536840" y="1976400"/>
            <a:ext cx="6070320" cy="2905200"/>
            <a:chOff x="1536840" y="1976400"/>
            <a:chExt cx="6070320" cy="2905200"/>
          </a:xfrm>
        </p:grpSpPr>
        <p:grpSp>
          <p:nvGrpSpPr>
            <p:cNvPr id="238" name=""/>
            <p:cNvGrpSpPr/>
            <p:nvPr/>
          </p:nvGrpSpPr>
          <p:grpSpPr>
            <a:xfrm>
              <a:off x="1541160" y="1981080"/>
              <a:ext cx="6060240" cy="2895480"/>
              <a:chOff x="1541160" y="1981080"/>
              <a:chExt cx="6060240" cy="2895480"/>
            </a:xfrm>
          </p:grpSpPr>
          <p:grpSp>
            <p:nvGrpSpPr>
              <p:cNvPr id="239" name=""/>
              <p:cNvGrpSpPr/>
              <p:nvPr/>
            </p:nvGrpSpPr>
            <p:grpSpPr>
              <a:xfrm>
                <a:off x="1541160" y="1981080"/>
                <a:ext cx="3060360" cy="1066680"/>
                <a:chOff x="1541160" y="1981080"/>
                <a:chExt cx="3060360" cy="1066680"/>
              </a:xfrm>
            </p:grpSpPr>
            <p:sp>
              <p:nvSpPr>
                <p:cNvPr id="240" name=""/>
                <p:cNvSpPr/>
                <p:nvPr/>
              </p:nvSpPr>
              <p:spPr>
                <a:xfrm>
                  <a:off x="1609200" y="1981080"/>
                  <a:ext cx="2923560" cy="1066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ctr" pos="1371600"/>
                      <a:tab algn="l" pos="22860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 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>
                    <a:lnSpc>
                      <a:spcPct val="100000"/>
                    </a:lnSpc>
                    <a:tabLst>
                      <a:tab algn="l" pos="0"/>
                      <a:tab algn="ctr" pos="1371600"/>
                      <a:tab algn="l" pos="22860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	</a:t>
                  </a: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(a) rate of suspensions &gt; 10 days  for</a:t>
                  </a: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	</a:t>
                  </a: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=</a:t>
                  </a:r>
                  <a:br>
                    <a:rPr sz="1000"/>
                  </a:b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	</a:t>
                  </a: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students with disabilities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>
                    <a:lnSpc>
                      <a:spcPct val="100000"/>
                    </a:lnSpc>
                    <a:tabLst>
                      <a:tab algn="l" pos="0"/>
                      <a:tab algn="ctr" pos="1371600"/>
                      <a:tab algn="l" pos="22860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41" name=""/>
                <p:cNvSpPr/>
                <p:nvPr/>
              </p:nvSpPr>
              <p:spPr>
                <a:xfrm>
                  <a:off x="1541160" y="1981080"/>
                  <a:ext cx="3060360" cy="106668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42" name=""/>
              <p:cNvGrpSpPr/>
              <p:nvPr/>
            </p:nvGrpSpPr>
            <p:grpSpPr>
              <a:xfrm>
                <a:off x="4601520" y="1981080"/>
                <a:ext cx="2999880" cy="1066680"/>
                <a:chOff x="4601520" y="1981080"/>
                <a:chExt cx="2999880" cy="1066680"/>
              </a:xfrm>
            </p:grpSpPr>
            <p:sp>
              <p:nvSpPr>
                <p:cNvPr id="243" name=""/>
                <p:cNvSpPr/>
                <p:nvPr/>
              </p:nvSpPr>
              <p:spPr>
                <a:xfrm>
                  <a:off x="4669560" y="1981080"/>
                  <a:ext cx="2863440" cy="10666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# of students with disabilities suspended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i="1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divided by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# of students with disabilities enrolled in school year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44" name=""/>
                <p:cNvSpPr/>
                <p:nvPr/>
              </p:nvSpPr>
              <p:spPr>
                <a:xfrm>
                  <a:off x="4601520" y="1981080"/>
                  <a:ext cx="2999880" cy="106668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45" name=""/>
              <p:cNvGrpSpPr/>
              <p:nvPr/>
            </p:nvGrpSpPr>
            <p:grpSpPr>
              <a:xfrm>
                <a:off x="1541160" y="3047760"/>
                <a:ext cx="3060360" cy="914400"/>
                <a:chOff x="1541160" y="3047760"/>
                <a:chExt cx="3060360" cy="914400"/>
              </a:xfrm>
            </p:grpSpPr>
            <p:sp>
              <p:nvSpPr>
                <p:cNvPr id="246" name=""/>
                <p:cNvSpPr/>
                <p:nvPr/>
              </p:nvSpPr>
              <p:spPr>
                <a:xfrm>
                  <a:off x="1609200" y="3047760"/>
                  <a:ext cx="2923560" cy="914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ctr" pos="1371600"/>
                      <a:tab algn="l" pos="22860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 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>
                    <a:lnSpc>
                      <a:spcPct val="100000"/>
                    </a:lnSpc>
                    <a:tabLst>
                      <a:tab algn="l" pos="0"/>
                      <a:tab algn="ctr" pos="1371600"/>
                      <a:tab algn="l" pos="22860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	</a:t>
                  </a: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(b) rate of suspensions &gt; 10 days  for</a:t>
                  </a: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	</a:t>
                  </a: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=</a:t>
                  </a:r>
                  <a:br>
                    <a:rPr sz="1000"/>
                  </a:b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	</a:t>
                  </a: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students without disabilities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>
                    <a:lnSpc>
                      <a:spcPct val="100000"/>
                    </a:lnSpc>
                    <a:tabLst>
                      <a:tab algn="l" pos="0"/>
                      <a:tab algn="ctr" pos="1371600"/>
                      <a:tab algn="l" pos="22860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47" name=""/>
                <p:cNvSpPr/>
                <p:nvPr/>
              </p:nvSpPr>
              <p:spPr>
                <a:xfrm>
                  <a:off x="1541160" y="3047760"/>
                  <a:ext cx="3060360" cy="91440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48" name=""/>
              <p:cNvGrpSpPr/>
              <p:nvPr/>
            </p:nvGrpSpPr>
            <p:grpSpPr>
              <a:xfrm>
                <a:off x="4601520" y="3047760"/>
                <a:ext cx="2999880" cy="914400"/>
                <a:chOff x="4601520" y="3047760"/>
                <a:chExt cx="2999880" cy="914400"/>
              </a:xfrm>
            </p:grpSpPr>
            <p:sp>
              <p:nvSpPr>
                <p:cNvPr id="249" name=""/>
                <p:cNvSpPr/>
                <p:nvPr/>
              </p:nvSpPr>
              <p:spPr>
                <a:xfrm>
                  <a:off x="4669560" y="3047760"/>
                  <a:ext cx="2863440" cy="914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# of students without disabilities suspended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i="1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divided by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# of students without enrolled in school year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50" name=""/>
                <p:cNvSpPr/>
                <p:nvPr/>
              </p:nvSpPr>
              <p:spPr>
                <a:xfrm>
                  <a:off x="4601520" y="3047760"/>
                  <a:ext cx="2999880" cy="91440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51" name=""/>
              <p:cNvGrpSpPr/>
              <p:nvPr/>
            </p:nvGrpSpPr>
            <p:grpSpPr>
              <a:xfrm>
                <a:off x="1541160" y="3962160"/>
                <a:ext cx="3060360" cy="914400"/>
                <a:chOff x="1541160" y="3962160"/>
                <a:chExt cx="3060360" cy="914400"/>
              </a:xfrm>
            </p:grpSpPr>
            <p:sp>
              <p:nvSpPr>
                <p:cNvPr id="252" name=""/>
                <p:cNvSpPr/>
                <p:nvPr/>
              </p:nvSpPr>
              <p:spPr>
                <a:xfrm>
                  <a:off x="1609200" y="3962160"/>
                  <a:ext cx="2923560" cy="914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1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 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Difference in the rates of suspension   =</a:t>
                  </a:r>
                  <a:br>
                    <a:rPr sz="1000"/>
                  </a:b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between (a) and (b)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53" name=""/>
                <p:cNvSpPr/>
                <p:nvPr/>
              </p:nvSpPr>
              <p:spPr>
                <a:xfrm>
                  <a:off x="1541160" y="3962160"/>
                  <a:ext cx="3060360" cy="91440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  <p:grpSp>
            <p:nvGrpSpPr>
              <p:cNvPr id="254" name=""/>
              <p:cNvGrpSpPr/>
              <p:nvPr/>
            </p:nvGrpSpPr>
            <p:grpSpPr>
              <a:xfrm>
                <a:off x="4601520" y="3962160"/>
                <a:ext cx="2999880" cy="914400"/>
                <a:chOff x="4601520" y="3962160"/>
                <a:chExt cx="2999880" cy="914400"/>
              </a:xfrm>
            </p:grpSpPr>
            <p:sp>
              <p:nvSpPr>
                <p:cNvPr id="255" name=""/>
                <p:cNvSpPr/>
                <p:nvPr/>
              </p:nvSpPr>
              <p:spPr>
                <a:xfrm>
                  <a:off x="4669560" y="3962160"/>
                  <a:ext cx="2863440" cy="9144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en-IN" sz="10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Arial"/>
                    </a:rPr>
                    <a:t>(a) – (b)</a:t>
                  </a: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IN" sz="10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56" name=""/>
                <p:cNvSpPr/>
                <p:nvPr/>
              </p:nvSpPr>
              <p:spPr>
                <a:xfrm>
                  <a:off x="4601520" y="3962160"/>
                  <a:ext cx="2999880" cy="91440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noAutofit/>
                </a:bodyPr>
                <a:p>
                  <a:endParaRPr b="0" lang="en-IN" sz="2400" strike="noStrike" u="non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</p:grpSp>
        <p:sp>
          <p:nvSpPr>
            <p:cNvPr id="257" name=""/>
            <p:cNvSpPr/>
            <p:nvPr/>
          </p:nvSpPr>
          <p:spPr>
            <a:xfrm>
              <a:off x="1536840" y="1976400"/>
              <a:ext cx="6070320" cy="2905200"/>
            </a:xfrm>
            <a:prstGeom prst="rect">
              <a:avLst/>
            </a:prstGeom>
            <a:noFill/>
            <a:ln w="9360">
              <a:solidFill>
                <a:srgbClr val="a0a0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Baseline Data for FFY 2004 (2004-05)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Five</a:t>
            </a: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districts, or 1.36% of Iowa’s districts, were identified as having a significant discrepancy of 2% above the State average of .56% in the rates of suspensions and expulsions of children with disabilities for greater than 10 days in a school year.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Measurable and Rigorous Targets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For the 2005-06 School Year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A.  1.5% or less of districts are identified as having a significant discrepancy of 2% above the State average in the rates of suspensions and expulsions of children with disabilities for greater than 10 days in a school year.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B.  To be provided in the February 2007 APR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"/>
          <p:cNvGraphicFramePr/>
          <p:nvPr/>
        </p:nvGraphicFramePr>
        <p:xfrm>
          <a:off x="533520" y="2039760"/>
          <a:ext cx="8610480" cy="384516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263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33520" y="2039760"/>
                    <a:ext cx="8610480" cy="38451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Improvement Activities and Timelines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65" name=""/>
          <p:cNvGraphicFramePr/>
          <p:nvPr/>
        </p:nvGraphicFramePr>
        <p:xfrm>
          <a:off x="457200" y="2209680"/>
          <a:ext cx="8458200" cy="31608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266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57200" y="2209680"/>
                    <a:ext cx="8458200" cy="3160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Resources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Special Education Advisory Panel, SEA Staff (Special Education), University of Iowa Child Psychiatry, Iowa Behavioral Alliance, and Area Education Agencies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Part B Funding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ESEA Funding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SIG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Future Data Collection Activities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85800" y="205740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Federal Changes in Definitions and Requirements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In-School Suspension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Summer Project EASIER Training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eee8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Timelines and Compliance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3c1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/>
          </p:nvPr>
        </p:nvSpPr>
        <p:spPr>
          <a:xfrm>
            <a:off x="685440" y="2133720"/>
            <a:ext cx="7543800" cy="39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Iowa Department of Education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Janell Brandhorst, Project EASIER Consultant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515-281-5288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trike="noStrike" u="sng">
                <a:solidFill>
                  <a:srgbClr val="ffffff"/>
                </a:solidFill>
                <a:effectLst/>
                <a:uFillTx/>
                <a:latin typeface="Tahoma"/>
                <a:hlinkClick r:id="rId1"/>
              </a:rPr>
              <a:t>janell.brandhorst@iowa.</a:t>
            </a:r>
            <a:r>
              <a:rPr b="0" lang="en-US" sz="2600" strike="noStrike" u="sng">
                <a:solidFill>
                  <a:srgbClr val="ffffff"/>
                </a:solidFill>
                <a:effectLst/>
                <a:uFillTx/>
                <a:latin typeface="Tahoma"/>
                <a:hlinkClick r:id="rId2"/>
              </a:rPr>
              <a:t>gov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Mary Sullivan, Consultant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515-281-5471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600" strike="noStrike" u="sng">
                <a:solidFill>
                  <a:srgbClr val="ffffff"/>
                </a:solidFill>
                <a:effectLst/>
                <a:uFillTx/>
                <a:latin typeface="Tahoma"/>
                <a:hlinkClick r:id="rId3"/>
              </a:rPr>
              <a:t>mary.sullivan@iowa.gov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Contact Information</a:t>
            </a:r>
            <a:endParaRPr b="0" lang="en-IN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2006-03-30T06:38:59Z</dcterms:created>
  <dc:creator>Janell Brandhorst</dc:creator>
  <dc:description/>
  <dc:language>en-IN</dc:language>
  <cp:lastModifiedBy>JBRANDH</cp:lastModifiedBy>
  <dcterms:modified xsi:type="dcterms:W3CDTF">2006-04-12T09:29:49Z</dcterms:modified>
  <cp:revision>5</cp:revision>
  <dc:subject/>
  <dc:title>Suspensions and Expulsions</dc:title>
</cp:coreProperties>
</file>