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media/image1.png" ContentType="image/png"/>
  <Override PartName="/ppt/media/image2.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Lst>
  <p:sldSz cx="9144000" cy="6858000"/>
  <p:notesSz cx="6997700" cy="92694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1BEA6F05-09F4-445D-BF84-2AB17F60608D}"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sp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4400" strike="noStrike" u="none">
              <a:solidFill>
                <a:srgbClr val="000000"/>
              </a:solidFill>
              <a:effectLst/>
              <a:uFillTx/>
              <a:latin typeface="Arial"/>
            </a:endParaRPr>
          </a:p>
        </p:txBody>
      </p:sp>
      <p:sp>
        <p:nvSpPr>
          <p:cNvPr id="12" name="PlaceHolder 2"/>
          <p:cNvSpPr>
            <a:spLocks noGrp="1"/>
          </p:cNvSpPr>
          <p:nvPr>
            <p:ph/>
          </p:nvPr>
        </p:nvSpPr>
        <p:spPr>
          <a:xfrm>
            <a:off x="457200" y="1600200"/>
            <a:ext cx="8229600" cy="4525920"/>
          </a:xfrm>
          <a:prstGeom prst="rect">
            <a:avLst/>
          </a:prstGeom>
          <a:noFill/>
          <a:ln w="0">
            <a:noFill/>
          </a:ln>
        </p:spPr>
        <p:txBody>
          <a:bodyPr lIns="90000" rIns="90000" tIns="46800" bIns="46800" anchor="t">
            <a:normAutofit/>
          </a:bodyPr>
          <a:p>
            <a:pPr indent="0">
              <a:spcBef>
                <a:spcPts val="7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0D42D511-F6E2-4984-ADB4-9332C46EAC70}" type="slidenum">
              <a:t>&lt;#&gt;</a:t>
            </a:fld>
          </a:p>
        </p:txBody>
      </p:sp>
      <p:sp>
        <p:nvSpPr>
          <p:cNvPr id="6" name="PlaceHolder 5"/>
          <p:cNvSpPr>
            <a:spLocks noGrp="1"/>
          </p:cNvSpPr>
          <p:nvPr>
            <p:ph type="dt" idx="1"/>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Relationship Id="rId5"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Arial"/>
              </a:rPr>
              <a:t>Click to edit the title text format</a:t>
            </a:r>
            <a:endParaRPr b="0" lang="en-IN" sz="4400" strike="noStrike" u="none">
              <a:solidFill>
                <a:srgbClr val="000000"/>
              </a:solidFill>
              <a:effectLst/>
              <a:uFillTx/>
              <a:latin typeface="Arial"/>
            </a:endParaRPr>
          </a:p>
        </p:txBody>
      </p:sp>
      <p:sp>
        <p:nvSpPr>
          <p:cNvPr id="1" name="PlaceHolder 2"/>
          <p:cNvSpPr>
            <a:spLocks noGrp="1"/>
          </p:cNvSpPr>
          <p:nvPr>
            <p:ph type="body"/>
          </p:nvPr>
        </p:nvSpPr>
        <p:spPr>
          <a:xfrm>
            <a:off x="457200" y="1600200"/>
            <a:ext cx="8229600" cy="4525920"/>
          </a:xfrm>
          <a:prstGeom prst="rect">
            <a:avLst/>
          </a:prstGeom>
          <a:noFill/>
          <a:ln w="0">
            <a:noFill/>
          </a:ln>
        </p:spPr>
        <p:txBody>
          <a:bodyPr lIns="90000" rIns="90000" tIns="46800" bIns="46800" anchor="t">
            <a:normAutofit/>
          </a:bodyPr>
          <a:p>
            <a:pPr marL="343080" indent="-34308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Click to edit the outline text format</a:t>
            </a:r>
            <a:endParaRPr b="0" lang="en-IN" sz="3200" strike="noStrike" u="none">
              <a:solidFill>
                <a:srgbClr val="000000"/>
              </a:solidFill>
              <a:effectLst/>
              <a:uFillTx/>
              <a:latin typeface="Arial"/>
            </a:endParaRPr>
          </a:p>
          <a:p>
            <a:pPr lvl="1" marL="743040" indent="-28584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Second Outline Level</a:t>
            </a:r>
            <a:endParaRPr b="0" lang="en-IN" sz="3200" strike="noStrike" u="none">
              <a:solidFill>
                <a:srgbClr val="000000"/>
              </a:solidFill>
              <a:effectLst/>
              <a:uFillTx/>
              <a:latin typeface="Arial"/>
            </a:endParaRPr>
          </a:p>
          <a:p>
            <a:pPr lvl="2" marL="11430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Third Outline Level</a:t>
            </a:r>
            <a:endParaRPr b="0" lang="en-IN" sz="3200" strike="noStrike" u="none">
              <a:solidFill>
                <a:srgbClr val="000000"/>
              </a:solidFill>
              <a:effectLst/>
              <a:uFillTx/>
              <a:latin typeface="Arial"/>
            </a:endParaRPr>
          </a:p>
          <a:p>
            <a:pPr lvl="3" marL="16002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Fourth Outline Level</a:t>
            </a:r>
            <a:endParaRPr b="0" lang="en-IN" sz="3200" strike="noStrike" u="none">
              <a:solidFill>
                <a:srgbClr val="000000"/>
              </a:solidFill>
              <a:effectLst/>
              <a:uFillTx/>
              <a:latin typeface="Arial"/>
            </a:endParaRPr>
          </a:p>
          <a:p>
            <a:pPr lvl="4"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Fifth Outline Level</a:t>
            </a:r>
            <a:endParaRPr b="0" lang="en-IN" sz="3200" strike="noStrike" u="none">
              <a:solidFill>
                <a:srgbClr val="000000"/>
              </a:solidFill>
              <a:effectLst/>
              <a:uFillTx/>
              <a:latin typeface="Arial"/>
            </a:endParaRPr>
          </a:p>
          <a:p>
            <a:pPr lvl="5"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Sixth Outline Level</a:t>
            </a:r>
            <a:endParaRPr b="0" lang="en-IN" sz="3200" strike="noStrike" u="none">
              <a:solidFill>
                <a:srgbClr val="000000"/>
              </a:solidFill>
              <a:effectLst/>
              <a:uFillTx/>
              <a:latin typeface="Arial"/>
            </a:endParaRPr>
          </a:p>
          <a:p>
            <a:pPr lvl="6" marL="2057400" indent="-228600">
              <a:spcBef>
                <a:spcPts val="7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000000"/>
                </a:solidFill>
                <a:effectLst/>
                <a:uFillTx/>
                <a:latin typeface="Arial"/>
              </a:rPr>
              <a:t>Seventh Outline Level</a:t>
            </a:r>
            <a:endParaRPr b="0" lang="en-IN" sz="3200" strike="noStrike" u="none">
              <a:solidFill>
                <a:srgbClr val="000000"/>
              </a:solidFill>
              <a:effectLst/>
              <a:uFillTx/>
              <a:latin typeface="Arial"/>
            </a:endParaRPr>
          </a:p>
        </p:txBody>
      </p:sp>
      <p:sp>
        <p:nvSpPr>
          <p:cNvPr id="2" name="PlaceHolder 3"/>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Arial"/>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&lt;date/time&gt;</a:t>
            </a:r>
            <a:endParaRPr b="0" lang="en-IN" sz="1400" strike="noStrike" u="none">
              <a:solidFill>
                <a:srgbClr val="000000"/>
              </a:solidFill>
              <a:effectLst/>
              <a:uFillTx/>
              <a:latin typeface="Arial"/>
            </a:endParaRPr>
          </a:p>
        </p:txBody>
      </p:sp>
      <p:sp>
        <p:nvSpPr>
          <p:cNvPr id="3" name="PlaceHolder 4"/>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lstStyle>
            <a:lvl1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Arial"/>
              </a:defRPr>
            </a:lvl1pPr>
          </a:lstStyle>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&lt;footer&gt;</a:t>
            </a:r>
            <a:endParaRPr b="0" lang="en-IN" sz="1400" strike="noStrike" u="none">
              <a:solidFill>
                <a:srgbClr val="000000"/>
              </a:solidFill>
              <a:effectLst/>
              <a:uFillTx/>
              <a:latin typeface="Arial"/>
            </a:endParaRPr>
          </a:p>
        </p:txBody>
      </p:sp>
      <p:sp>
        <p:nvSpPr>
          <p:cNvPr id="4" name="PlaceHolder 5"/>
          <p:cNvSpPr>
            <a:spLocks noGrp="1"/>
          </p:cNvSpPr>
          <p:nvPr>
            <p:ph type="sldNum" idx="3"/>
          </p:nvPr>
        </p:nvSpPr>
        <p:spPr>
          <a:xfrm>
            <a:off x="6552720" y="6244920"/>
            <a:ext cx="2133720" cy="476280"/>
          </a:xfrm>
          <a:prstGeom prst="rect">
            <a:avLst/>
          </a:prstGeom>
          <a:noFill/>
          <a:ln w="0">
            <a:noFill/>
          </a:ln>
        </p:spPr>
        <p:txBody>
          <a:bodyPr lIns="90000" rIns="90000" tIns="46800" bIns="46800" anchor="t">
            <a:noAutofit/>
          </a:bodyPr>
          <a:lstStyle>
            <a:lvl1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400" strike="noStrike" u="none">
                <a:solidFill>
                  <a:srgbClr val="000000"/>
                </a:solidFill>
                <a:effectLst/>
                <a:uFillTx/>
                <a:latin typeface="Arial"/>
              </a:defRPr>
            </a:lvl1pPr>
          </a:lstStyle>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9D72725-13C3-4976-A5A3-058B3B433D4D}" type="slidenum">
              <a:rPr b="0" lang="en-US" sz="1400" strike="noStrike" u="none">
                <a:solidFill>
                  <a:srgbClr val="000000"/>
                </a:solidFill>
                <a:effectLst/>
                <a:uFillTx/>
                <a:latin typeface="Arial"/>
              </a:rPr>
              <a:t>&lt;number&gt;</a:t>
            </a:fld>
            <a:endParaRPr b="0" lang="en-IN" sz="1400" strike="noStrike" u="none">
              <a:solidFill>
                <a:srgbClr val="000000"/>
              </a:solidFill>
              <a:effectLst/>
              <a:uFillTx/>
              <a:latin typeface="Arial"/>
            </a:endParaRPr>
          </a:p>
        </p:txBody>
      </p:sp>
      <p:sp>
        <p:nvSpPr>
          <p:cNvPr id="5" name=""/>
          <p:cNvSpPr/>
          <p:nvPr/>
        </p:nvSpPr>
        <p:spPr>
          <a:xfrm>
            <a:off x="0" y="6400800"/>
            <a:ext cx="1905120" cy="457200"/>
          </a:xfrm>
          <a:prstGeom prst="rect">
            <a:avLst/>
          </a:prstGeom>
          <a:noFill/>
          <a:ln w="0">
            <a:noFill/>
          </a:ln>
        </p:spPr>
        <p:style>
          <a:lnRef idx="0"/>
          <a:fillRef idx="0"/>
          <a:effectRef idx="0"/>
          <a:fontRef idx="minor"/>
        </p:style>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&lt;date/time&gt;</a:t>
            </a:r>
            <a:endParaRPr b="0" lang="en-IN" sz="800" strike="noStrike" u="none">
              <a:solidFill>
                <a:srgbClr val="000000"/>
              </a:solidFill>
              <a:effectLst/>
              <a:uFillTx/>
              <a:latin typeface="Arial"/>
            </a:endParaRPr>
          </a:p>
        </p:txBody>
      </p:sp>
      <p:sp>
        <p:nvSpPr>
          <p:cNvPr id="6" name=""/>
          <p:cNvSpPr/>
          <p:nvPr/>
        </p:nvSpPr>
        <p:spPr>
          <a:xfrm>
            <a:off x="3124080" y="6248520"/>
            <a:ext cx="2895840" cy="457200"/>
          </a:xfrm>
          <a:prstGeom prst="rect">
            <a:avLst/>
          </a:prstGeom>
          <a:noFill/>
          <a:ln w="0">
            <a:noFill/>
          </a:ln>
        </p:spPr>
        <p:style>
          <a:lnRef idx="0"/>
          <a:fillRef idx="0"/>
          <a:effectRef idx="0"/>
          <a:fontRef idx="minor"/>
        </p:style>
        <p:txBody>
          <a:bodyPr lIns="90000" rIns="90000" tIns="46800" bIns="46800" anchor="t">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000000"/>
                </a:solidFill>
                <a:effectLst/>
                <a:uFillTx/>
                <a:latin typeface="Arial"/>
              </a:rPr>
              <a:t>&lt;footer&gt;</a:t>
            </a:r>
            <a:endParaRPr b="0" lang="en-IN" sz="1400" strike="noStrike" u="none">
              <a:solidFill>
                <a:srgbClr val="000000"/>
              </a:solidFill>
              <a:effectLst/>
              <a:uFillTx/>
              <a:latin typeface="Arial"/>
            </a:endParaRPr>
          </a:p>
        </p:txBody>
      </p:sp>
      <p:sp>
        <p:nvSpPr>
          <p:cNvPr id="7" name=""/>
          <p:cNvSpPr/>
          <p:nvPr/>
        </p:nvSpPr>
        <p:spPr>
          <a:xfrm>
            <a:off x="7162920" y="6477120"/>
            <a:ext cx="1904760" cy="457200"/>
          </a:xfrm>
          <a:prstGeom prst="rect">
            <a:avLst/>
          </a:prstGeom>
          <a:noFill/>
          <a:ln w="0">
            <a:noFill/>
          </a:ln>
        </p:spPr>
        <p:style>
          <a:lnRef idx="0"/>
          <a:fillRef idx="0"/>
          <a:effectRef idx="0"/>
          <a:fontRef idx="minor"/>
        </p:style>
        <p:txBody>
          <a:bodyPr lIns="90000" rIns="90000" tIns="46800" bIns="46800" anchor="t">
            <a:noAutofit/>
          </a:bodyPr>
          <a:p>
            <a:pPr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A57B809-D1AC-4134-B32D-AC6DF36E0F16}" type="slidenum">
              <a:rPr b="0" lang="en-US" sz="800" strike="noStrike" u="none">
                <a:solidFill>
                  <a:srgbClr val="000000"/>
                </a:solidFill>
                <a:effectLst/>
                <a:uFillTx/>
                <a:latin typeface="Arial"/>
              </a:rPr>
              <a:t>&lt;number&gt;</a:t>
            </a:fld>
            <a:endParaRPr b="0" lang="en-IN" sz="800" strike="noStrike" u="none">
              <a:solidFill>
                <a:srgbClr val="000000"/>
              </a:solidFill>
              <a:effectLst/>
              <a:uFillTx/>
              <a:latin typeface="Arial"/>
            </a:endParaRPr>
          </a:p>
        </p:txBody>
      </p:sp>
      <p:sp>
        <p:nvSpPr>
          <p:cNvPr id="8" name=""/>
          <p:cNvSpPr/>
          <p:nvPr/>
        </p:nvSpPr>
        <p:spPr>
          <a:xfrm>
            <a:off x="304920" y="1447920"/>
            <a:ext cx="8686800" cy="0"/>
          </a:xfrm>
          <a:prstGeom prst="line">
            <a:avLst/>
          </a:prstGeom>
          <a:ln w="57240">
            <a:solidFill>
              <a:srgbClr val="333399"/>
            </a:solidFill>
            <a:miter/>
          </a:ln>
        </p:spPr>
        <p:style>
          <a:lnRef idx="0"/>
          <a:fillRef idx="0"/>
          <a:effectRef idx="0"/>
          <a:fontRef idx="minor"/>
        </p:style>
        <p:txBody>
          <a:bodyPr lIns="90000" rIns="90000" tIns="-46800" bIns="-46800" anchor="t">
            <a:noAutofit/>
          </a:bodyPr>
          <a:p>
            <a:endParaRPr b="0" lang="en-IN" sz="1800" strike="noStrike" u="none">
              <a:solidFill>
                <a:srgbClr val="000000"/>
              </a:solidFill>
              <a:effectLst/>
              <a:uFillTx/>
              <a:latin typeface="Arial"/>
            </a:endParaRPr>
          </a:p>
        </p:txBody>
      </p:sp>
      <p:pic>
        <p:nvPicPr>
          <p:cNvPr id="9" name="" descr=""/>
          <p:cNvPicPr/>
          <p:nvPr/>
        </p:nvPicPr>
        <p:blipFill>
          <a:blip r:embed="rId2"/>
          <a:stretch/>
        </p:blipFill>
        <p:spPr>
          <a:xfrm>
            <a:off x="228600" y="228600"/>
            <a:ext cx="988920" cy="990720"/>
          </a:xfrm>
          <a:prstGeom prst="rect">
            <a:avLst/>
          </a:prstGeom>
          <a:noFill/>
          <a:ln w="0">
            <a:noFill/>
          </a:ln>
        </p:spPr>
      </p:pic>
      <p:pic>
        <p:nvPicPr>
          <p:cNvPr id="10" name="" descr=""/>
          <p:cNvPicPr/>
          <p:nvPr/>
        </p:nvPicPr>
        <p:blipFill>
          <a:blip r:embed="rId3"/>
          <a:stretch/>
        </p:blipFill>
        <p:spPr>
          <a:xfrm>
            <a:off x="7924680" y="228600"/>
            <a:ext cx="990720" cy="985680"/>
          </a:xfrm>
          <a:prstGeom prst="rect">
            <a:avLst/>
          </a:prstGeom>
          <a:noFill/>
          <a:ln w="0">
            <a:noFill/>
          </a:ln>
        </p:spPr>
      </p:pic>
    </p:spTree>
  </p:cSld>
  <p:clrMap bg1="lt1" tx1="dk1" bg2="lt2" tx2="dk2" accent1="accent1" accent2="accent2" accent3="accent3" accent4="accent4" accent5="accent5" accent6="accent6" hlink="hlink" folHlink="folHlink"/>
  <p:sldLayoutIdLst>
    <p:sldLayoutId id="2147483649" r:id="rId4"/>
    <p:sldLayoutId id="2147483650" r:id="rId5"/>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
          <p:cNvSpPr/>
          <p:nvPr/>
        </p:nvSpPr>
        <p:spPr>
          <a:xfrm>
            <a:off x="152280" y="2133720"/>
            <a:ext cx="8991720" cy="1469880"/>
          </a:xfrm>
          <a:prstGeom prst="rect">
            <a:avLst/>
          </a:prstGeom>
          <a:noFill/>
          <a:ln w="0">
            <a:noFill/>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3200" strike="noStrike" u="none">
                <a:solidFill>
                  <a:srgbClr val="333399"/>
                </a:solidFill>
                <a:effectLst/>
                <a:uFillTx/>
                <a:latin typeface="Arial"/>
              </a:rPr>
              <a:t>Creation of a NOAA Standing Data Archiving and Access Requirements SAB Working Group </a:t>
            </a:r>
            <a:br>
              <a:rPr sz="3200"/>
            </a:br>
            <a:endParaRPr b="0" lang="en-IN" sz="3200" strike="noStrike" u="none">
              <a:solidFill>
                <a:srgbClr val="000000"/>
              </a:solidFill>
              <a:effectLst/>
              <a:uFillTx/>
              <a:latin typeface="Arial"/>
            </a:endParaRPr>
          </a:p>
        </p:txBody>
      </p:sp>
      <p:sp>
        <p:nvSpPr>
          <p:cNvPr id="14" name=""/>
          <p:cNvSpPr/>
          <p:nvPr/>
        </p:nvSpPr>
        <p:spPr>
          <a:xfrm>
            <a:off x="685800" y="3276720"/>
            <a:ext cx="7696080" cy="1523880"/>
          </a:xfrm>
          <a:prstGeom prst="rect">
            <a:avLst/>
          </a:prstGeom>
          <a:noFill/>
          <a:ln w="0">
            <a:noFill/>
          </a:ln>
        </p:spPr>
        <p:style>
          <a:lnRef idx="0"/>
          <a:fillRef idx="0"/>
          <a:effectRef idx="0"/>
          <a:fontRef idx="minor"/>
        </p:style>
        <p:txBody>
          <a:bodyPr lIns="90000" rIns="90000" tIns="46800" bIns="46800" anchor="t">
            <a:noAutofit/>
          </a:bodyPr>
          <a:p>
            <a:pPr marL="343080" indent="-343080" algn="ctr">
              <a:spcBef>
                <a:spcPts val="7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3200" strike="noStrike" u="none">
              <a:solidFill>
                <a:srgbClr val="000000"/>
              </a:solidFill>
              <a:effectLst/>
              <a:uFillTx/>
              <a:latin typeface="Arial"/>
            </a:endParaRPr>
          </a:p>
          <a:p>
            <a:pPr marL="343080" indent="-343080" algn="ctr">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ff0000"/>
                </a:solidFill>
                <a:effectLst/>
                <a:uFillTx/>
                <a:latin typeface="Arial"/>
              </a:rPr>
              <a:t>A Proposal for: NOAA’s Science Advisory Board</a:t>
            </a:r>
            <a:endParaRPr b="0" lang="en-IN" sz="2400" strike="noStrike" u="none">
              <a:solidFill>
                <a:srgbClr val="000000"/>
              </a:solidFill>
              <a:effectLst/>
              <a:uFillTx/>
              <a:latin typeface="Arial"/>
            </a:endParaRPr>
          </a:p>
          <a:p>
            <a:pPr marL="343080" indent="-343080" algn="ctr">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333399"/>
                </a:solidFill>
                <a:effectLst/>
                <a:uFillTx/>
                <a:latin typeface="Arial"/>
              </a:rPr>
              <a:t>November, 8 2005</a:t>
            </a:r>
            <a:endParaRPr b="0" lang="en-IN" sz="2400" strike="noStrike" u="none">
              <a:solidFill>
                <a:srgbClr val="000000"/>
              </a:solidFill>
              <a:effectLst/>
              <a:uFillTx/>
              <a:latin typeface="Arial"/>
            </a:endParaRPr>
          </a:p>
          <a:p>
            <a:pPr marL="343080" indent="-343080" algn="ctr">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marL="343080" indent="-343080" algn="ctr">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333399"/>
                </a:solidFill>
                <a:effectLst/>
                <a:uFillTx/>
                <a:latin typeface="Arial"/>
              </a:rPr>
              <a:t>Presented by: Dr. Thomas Karl</a:t>
            </a:r>
            <a:endParaRPr b="0" lang="en-IN" sz="2400" strike="noStrike" u="none">
              <a:solidFill>
                <a:srgbClr val="000000"/>
              </a:solidFill>
              <a:effectLst/>
              <a:uFillTx/>
              <a:latin typeface="Arial"/>
            </a:endParaRPr>
          </a:p>
          <a:p>
            <a:pPr marL="343080" indent="-343080" algn="ctr">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333399"/>
                </a:solidFill>
                <a:effectLst/>
                <a:uFillTx/>
                <a:latin typeface="Arial"/>
              </a:rPr>
              <a:t>NOAA – Satellite &amp; Information Services</a:t>
            </a:r>
            <a:endParaRPr b="0" lang="en-IN" sz="2400" strike="noStrike" u="none">
              <a:solidFill>
                <a:srgbClr val="000000"/>
              </a:solidFill>
              <a:effectLst/>
              <a:uFillTx/>
              <a:latin typeface="Arial"/>
            </a:endParaRPr>
          </a:p>
          <a:p>
            <a:pPr marL="343080" indent="-343080" algn="ctr">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333399"/>
                </a:solidFill>
                <a:effectLst/>
                <a:uFillTx/>
                <a:latin typeface="Arial"/>
              </a:rPr>
              <a:t>Co-Chair, NOAA’s Data Management Committee</a:t>
            </a:r>
            <a:endParaRPr b="0" lang="en-IN" sz="2400" strike="noStrike" u="none">
              <a:solidFill>
                <a:srgbClr val="000000"/>
              </a:solidFill>
              <a:effectLst/>
              <a:uFillTx/>
              <a:latin typeface="Arial"/>
            </a:endParaRPr>
          </a:p>
          <a:p>
            <a:pPr marL="343080" indent="-343080" algn="ctr">
              <a:spcBef>
                <a:spcPts val="6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trike="noStrike" u="none">
                <a:solidFill>
                  <a:srgbClr val="333399"/>
                </a:solidFill>
                <a:effectLst/>
                <a:uFillTx/>
                <a:latin typeface="Arial"/>
              </a:rPr>
              <a:t>Director, National Climatic Data Center</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 name=""/>
          <p:cNvSpPr/>
          <p:nvPr/>
        </p:nvSpPr>
        <p:spPr>
          <a:xfrm>
            <a:off x="457200" y="228600"/>
            <a:ext cx="8229600" cy="1143000"/>
          </a:xfrm>
          <a:prstGeom prst="rect">
            <a:avLst/>
          </a:prstGeom>
          <a:noFill/>
          <a:ln w="0">
            <a:noFill/>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000" strike="noStrike" u="none">
                <a:solidFill>
                  <a:srgbClr val="333399"/>
                </a:solidFill>
                <a:effectLst/>
                <a:uFillTx/>
                <a:latin typeface="Arial"/>
              </a:rPr>
              <a:t>Outline</a:t>
            </a:r>
            <a:endParaRPr b="0" lang="en-IN" sz="4000" strike="noStrike" u="none">
              <a:solidFill>
                <a:srgbClr val="000000"/>
              </a:solidFill>
              <a:effectLst/>
              <a:uFillTx/>
              <a:latin typeface="Arial"/>
            </a:endParaRPr>
          </a:p>
        </p:txBody>
      </p:sp>
      <p:sp>
        <p:nvSpPr>
          <p:cNvPr id="16" name=""/>
          <p:cNvSpPr/>
          <p:nvPr/>
        </p:nvSpPr>
        <p:spPr>
          <a:xfrm>
            <a:off x="457200" y="1828800"/>
            <a:ext cx="8229600" cy="2895480"/>
          </a:xfrm>
          <a:prstGeom prst="rect">
            <a:avLst/>
          </a:prstGeom>
          <a:noFill/>
          <a:ln w="0">
            <a:noFill/>
          </a:ln>
        </p:spPr>
        <p:style>
          <a:lnRef idx="0"/>
          <a:fillRef idx="0"/>
          <a:effectRef idx="0"/>
          <a:fontRef idx="minor"/>
        </p:style>
        <p:txBody>
          <a:bodyPr lIns="90000" rIns="90000" tIns="46800" bIns="46800" anchor="t">
            <a:normAutofit fontScale="25000" lnSpcReduction="19999"/>
          </a:bodyPr>
          <a:p>
            <a:pPr marL="343080" indent="-343080">
              <a:spcBef>
                <a:spcPts val="700"/>
              </a:spcBef>
              <a:buClr>
                <a:srgbClr val="333399"/>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333399"/>
                </a:solidFill>
                <a:effectLst/>
                <a:uFillTx/>
                <a:latin typeface="Arial"/>
              </a:rPr>
              <a:t>Purpose of Working Group</a:t>
            </a:r>
            <a:endParaRPr b="0" lang="en-IN" sz="2800" strike="noStrike" u="none">
              <a:solidFill>
                <a:srgbClr val="000000"/>
              </a:solidFill>
              <a:effectLst/>
              <a:uFillTx/>
              <a:latin typeface="Arial"/>
            </a:endParaRPr>
          </a:p>
          <a:p>
            <a:pPr marL="343080" indent="-343080">
              <a:spcBef>
                <a:spcPts val="700"/>
              </a:spcBef>
              <a:buClr>
                <a:srgbClr val="333399"/>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a:p>
            <a:pPr marL="343080" indent="-343080">
              <a:spcBef>
                <a:spcPts val="700"/>
              </a:spcBef>
              <a:buClr>
                <a:srgbClr val="333399"/>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333399"/>
                </a:solidFill>
                <a:effectLst/>
                <a:uFillTx/>
                <a:latin typeface="Arial"/>
              </a:rPr>
              <a:t>Rationale</a:t>
            </a:r>
            <a:endParaRPr b="0" lang="en-IN" sz="2800" strike="noStrike" u="none">
              <a:solidFill>
                <a:srgbClr val="000000"/>
              </a:solidFill>
              <a:effectLst/>
              <a:uFillTx/>
              <a:latin typeface="Arial"/>
            </a:endParaRPr>
          </a:p>
          <a:p>
            <a:pPr marL="343080" indent="-343080">
              <a:spcBef>
                <a:spcPts val="700"/>
              </a:spcBef>
              <a:buClr>
                <a:srgbClr val="333399"/>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a:p>
            <a:pPr marL="343080" indent="-343080">
              <a:spcBef>
                <a:spcPts val="700"/>
              </a:spcBef>
              <a:buClr>
                <a:srgbClr val="333399"/>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333399"/>
                </a:solidFill>
                <a:effectLst/>
                <a:uFillTx/>
                <a:latin typeface="Arial"/>
              </a:rPr>
              <a:t>Immediate issues to address</a:t>
            </a:r>
            <a:endParaRPr b="0" lang="en-IN" sz="2800" strike="noStrike" u="none">
              <a:solidFill>
                <a:srgbClr val="000000"/>
              </a:solidFill>
              <a:effectLst/>
              <a:uFillTx/>
              <a:latin typeface="Arial"/>
            </a:endParaRPr>
          </a:p>
          <a:p>
            <a:pPr marL="343080" indent="-343080">
              <a:spcBef>
                <a:spcPts val="700"/>
              </a:spcBef>
              <a:buClr>
                <a:srgbClr val="333399"/>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a:p>
            <a:pPr marL="343080" indent="-343080">
              <a:spcBef>
                <a:spcPts val="700"/>
              </a:spcBef>
              <a:buClr>
                <a:srgbClr val="333399"/>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333399"/>
                </a:solidFill>
                <a:effectLst/>
                <a:uFillTx/>
                <a:latin typeface="Arial"/>
              </a:rPr>
              <a:t>Working group member qualifications</a:t>
            </a:r>
            <a:endParaRPr b="0" lang="en-IN" sz="2800" strike="noStrike" u="none">
              <a:solidFill>
                <a:srgbClr val="000000"/>
              </a:solidFill>
              <a:effectLst/>
              <a:uFillTx/>
              <a:latin typeface="Arial"/>
            </a:endParaRPr>
          </a:p>
          <a:p>
            <a:pPr marL="343080" indent="-343080">
              <a:spcBef>
                <a:spcPts val="700"/>
              </a:spcBef>
              <a:buClr>
                <a:srgbClr val="333399"/>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a:p>
            <a:pPr marL="343080" indent="-343080">
              <a:spcBef>
                <a:spcPts val="700"/>
              </a:spcBef>
              <a:buClr>
                <a:srgbClr val="333399"/>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333399"/>
                </a:solidFill>
                <a:effectLst/>
                <a:uFillTx/>
                <a:latin typeface="Arial"/>
              </a:rPr>
              <a:t>FY06 Priorities</a:t>
            </a:r>
            <a:endParaRPr b="0" lang="en-IN" sz="2800" strike="noStrike" u="none">
              <a:solidFill>
                <a:srgbClr val="000000"/>
              </a:solidFill>
              <a:effectLst/>
              <a:uFillTx/>
              <a:latin typeface="Arial"/>
            </a:endParaRPr>
          </a:p>
          <a:p>
            <a:pPr marL="343080" indent="-343080">
              <a:spcBef>
                <a:spcPts val="700"/>
              </a:spcBef>
              <a:buClr>
                <a:srgbClr val="333399"/>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1219320" y="151920"/>
            <a:ext cx="670536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333399"/>
                </a:solidFill>
                <a:effectLst/>
                <a:uFillTx/>
                <a:latin typeface="Arial"/>
              </a:rPr>
              <a:t>NOAA Standing Data Archiving and Access Requirements Working Group</a:t>
            </a:r>
            <a:br>
              <a:rPr sz="2800"/>
            </a:br>
            <a:r>
              <a:rPr b="0" i="1" lang="en-IN" sz="2400" strike="noStrike" u="none">
                <a:solidFill>
                  <a:srgbClr val="333399"/>
                </a:solidFill>
                <a:effectLst/>
                <a:uFillTx/>
                <a:latin typeface="Arial"/>
              </a:rPr>
              <a:t>Purpose</a:t>
            </a:r>
            <a:endParaRPr b="0" lang="en-IN" sz="2400" strike="noStrike" u="none">
              <a:solidFill>
                <a:srgbClr val="000000"/>
              </a:solidFill>
              <a:effectLst/>
              <a:uFillTx/>
              <a:latin typeface="Arial"/>
            </a:endParaRPr>
          </a:p>
        </p:txBody>
      </p:sp>
      <p:sp>
        <p:nvSpPr>
          <p:cNvPr id="18" name="PlaceHolder 2"/>
          <p:cNvSpPr>
            <a:spLocks noGrp="1"/>
          </p:cNvSpPr>
          <p:nvPr>
            <p:ph/>
          </p:nvPr>
        </p:nvSpPr>
        <p:spPr>
          <a:xfrm>
            <a:off x="228240" y="1600200"/>
            <a:ext cx="8915400" cy="5105520"/>
          </a:xfrm>
          <a:prstGeom prst="rect">
            <a:avLst/>
          </a:prstGeom>
          <a:noFill/>
          <a:ln w="0">
            <a:noFill/>
          </a:ln>
        </p:spPr>
        <p:txBody>
          <a:bodyPr lIns="90000" rIns="90000" tIns="46800" bIns="46800" anchor="t">
            <a:normAutofit/>
          </a:bodyPr>
          <a:p>
            <a:pPr marL="609480" indent="-609480">
              <a:spcBef>
                <a:spcPts val="700"/>
              </a:spcBef>
              <a:buClr>
                <a:srgbClr val="333399"/>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333399"/>
                </a:solidFill>
                <a:effectLst/>
                <a:uFillTx/>
                <a:latin typeface="Arial"/>
              </a:rPr>
              <a:t>Purpose:</a:t>
            </a:r>
            <a:r>
              <a:rPr b="1" lang="en-IN" sz="2800" strike="noStrike" u="none">
                <a:solidFill>
                  <a:srgbClr val="000000"/>
                </a:solidFill>
                <a:effectLst/>
                <a:uFillTx/>
                <a:latin typeface="Arial"/>
              </a:rPr>
              <a:t>  </a:t>
            </a:r>
            <a:r>
              <a:rPr b="0" lang="en-IN" sz="2800" strike="noStrike" u="none">
                <a:solidFill>
                  <a:srgbClr val="000000"/>
                </a:solidFill>
                <a:effectLst/>
                <a:uFillTx/>
                <a:latin typeface="Arial"/>
              </a:rPr>
              <a:t>Provide recommendations to NOAA: </a:t>
            </a:r>
            <a:endParaRPr b="0" lang="en-IN" sz="2800" strike="noStrike" u="none">
              <a:solidFill>
                <a:srgbClr val="000000"/>
              </a:solidFill>
              <a:effectLst/>
              <a:uFillTx/>
              <a:latin typeface="Arial"/>
            </a:endParaRPr>
          </a:p>
          <a:p>
            <a:pPr lvl="2" marL="1371600" indent="-457200">
              <a:spcBef>
                <a:spcPts val="499"/>
              </a:spcBef>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Help prioritize specific data sets &amp; products that NOAA should archive and;</a:t>
            </a:r>
            <a:endParaRPr b="0" lang="en-IN" sz="2000" strike="noStrike" u="none">
              <a:solidFill>
                <a:srgbClr val="000000"/>
              </a:solidFill>
              <a:effectLst/>
              <a:uFillTx/>
              <a:latin typeface="Arial"/>
            </a:endParaRPr>
          </a:p>
          <a:p>
            <a:pPr lvl="2" marL="1371600" indent="-457200">
              <a:spcBef>
                <a:spcPts val="499"/>
              </a:spcBef>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Make specific recommendations with respect to data access consistent with established principles and guidelines, e.g., see below.</a:t>
            </a:r>
            <a:endParaRPr b="0" lang="en-IN" sz="2000" strike="noStrike" u="none">
              <a:solidFill>
                <a:srgbClr val="000000"/>
              </a:solidFill>
              <a:effectLst/>
              <a:uFillTx/>
              <a:latin typeface="Arial"/>
            </a:endParaRPr>
          </a:p>
          <a:p>
            <a:pPr lvl="2" marL="1371600" indent="0">
              <a:spcBef>
                <a:spcPts val="499"/>
              </a:spcBef>
              <a:buNone/>
              <a:tabLst>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marL="609480" indent="-609480">
              <a:spcBef>
                <a:spcPts val="700"/>
              </a:spcBef>
              <a:buClr>
                <a:srgbClr val="333399"/>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333399"/>
                </a:solidFill>
                <a:effectLst/>
                <a:uFillTx/>
                <a:latin typeface="Arial"/>
              </a:rPr>
              <a:t>SAB Working Group other reports</a:t>
            </a:r>
            <a:endParaRPr b="0" lang="en-IN" sz="2800" strike="noStrike" u="none">
              <a:solidFill>
                <a:srgbClr val="000000"/>
              </a:solidFill>
              <a:effectLst/>
              <a:uFillTx/>
              <a:latin typeface="Arial"/>
            </a:endParaRPr>
          </a:p>
          <a:p>
            <a:pPr lvl="2" marL="1371600" indent="-457200">
              <a:spcBef>
                <a:spcPts val="499"/>
              </a:spcBef>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NRC letter report to outline principles and guidelines as to what NOAA should archive (due May 2006)</a:t>
            </a:r>
            <a:endParaRPr b="0" lang="en-IN" sz="2000" strike="noStrike" u="none">
              <a:solidFill>
                <a:srgbClr val="000000"/>
              </a:solidFill>
              <a:effectLst/>
              <a:uFillTx/>
              <a:latin typeface="Arial"/>
            </a:endParaRPr>
          </a:p>
          <a:p>
            <a:pPr lvl="2" marL="1371600" indent="-457200">
              <a:spcBef>
                <a:spcPts val="499"/>
              </a:spcBef>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Longer NRC report completed in FY07 would include principles and guidelines regarding data &amp; information access</a:t>
            </a:r>
            <a:endParaRPr b="0" lang="en-IN" sz="2000" strike="noStrike" u="none">
              <a:solidFill>
                <a:srgbClr val="000000"/>
              </a:solidFill>
              <a:effectLst/>
              <a:uFillTx/>
              <a:latin typeface="Arial"/>
            </a:endParaRPr>
          </a:p>
          <a:p>
            <a:pPr lvl="2" marL="1371600" indent="-457200">
              <a:spcBef>
                <a:spcPts val="499"/>
              </a:spcBef>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Government Internal Review of CLASS (May 2006)</a:t>
            </a:r>
            <a:endParaRPr b="0" lang="en-IN" sz="2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1143000" y="274320"/>
            <a:ext cx="68580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333399"/>
                </a:solidFill>
                <a:effectLst/>
                <a:uFillTx/>
                <a:latin typeface="Arial"/>
              </a:rPr>
              <a:t>NOAA Standing Data Archiving and Access Requirements Working Group</a:t>
            </a:r>
            <a:br>
              <a:rPr sz="2800"/>
            </a:br>
            <a:r>
              <a:rPr b="0" i="1" lang="en-IN" sz="2400" strike="noStrike" u="none">
                <a:solidFill>
                  <a:srgbClr val="333399"/>
                </a:solidFill>
                <a:effectLst/>
                <a:uFillTx/>
                <a:latin typeface="Arial"/>
              </a:rPr>
              <a:t>Rationale</a:t>
            </a:r>
            <a:endParaRPr b="0" lang="en-IN" sz="2400" strike="noStrike" u="none">
              <a:solidFill>
                <a:srgbClr val="000000"/>
              </a:solidFill>
              <a:effectLst/>
              <a:uFillTx/>
              <a:latin typeface="Arial"/>
            </a:endParaRPr>
          </a:p>
        </p:txBody>
      </p:sp>
      <p:sp>
        <p:nvSpPr>
          <p:cNvPr id="20" name="PlaceHolder 2"/>
          <p:cNvSpPr>
            <a:spLocks noGrp="1"/>
          </p:cNvSpPr>
          <p:nvPr>
            <p:ph/>
          </p:nvPr>
        </p:nvSpPr>
        <p:spPr>
          <a:xfrm>
            <a:off x="457200" y="1600200"/>
            <a:ext cx="8686800" cy="4525920"/>
          </a:xfrm>
          <a:prstGeom prst="rect">
            <a:avLst/>
          </a:prstGeom>
          <a:noFill/>
          <a:ln w="0">
            <a:noFill/>
          </a:ln>
        </p:spPr>
        <p:txBody>
          <a:bodyPr lIns="90000" rIns="90000" tIns="46800" bIns="46800" anchor="t">
            <a:normAutofit/>
          </a:bodyPr>
          <a:p>
            <a:pPr marL="343080" indent="-343080">
              <a:lnSpc>
                <a:spcPct val="90000"/>
              </a:lnSpc>
              <a:spcBef>
                <a:spcPts val="700"/>
              </a:spcBef>
              <a:buClr>
                <a:srgbClr val="333399"/>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333399"/>
                </a:solidFill>
                <a:effectLst/>
                <a:uFillTx/>
                <a:latin typeface="Arial"/>
              </a:rPr>
              <a:t>Dept. of Commerce directive</a:t>
            </a:r>
            <a:r>
              <a:rPr b="0" lang="en-IN" sz="2800" strike="noStrike" u="none">
                <a:solidFill>
                  <a:srgbClr val="000000"/>
                </a:solidFill>
                <a:effectLst/>
                <a:uFillTx/>
                <a:latin typeface="Arial"/>
              </a:rPr>
              <a:t>:</a:t>
            </a:r>
            <a:endParaRPr b="0" lang="en-IN" sz="2800" strike="noStrike" u="none">
              <a:solidFill>
                <a:srgbClr val="000000"/>
              </a:solidFill>
              <a:effectLst/>
              <a:uFillTx/>
              <a:latin typeface="Arial"/>
            </a:endParaRPr>
          </a:p>
          <a:p>
            <a:pPr lvl="1" marL="743040" indent="-28584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NOAA to complete study on data archive requirements with focus on Comprehensive Large Array Data Stewardship System (CLASS)</a:t>
            </a:r>
            <a:endParaRPr b="0" lang="en-IN" sz="2400" strike="noStrike" u="none">
              <a:solidFill>
                <a:srgbClr val="000000"/>
              </a:solidFill>
              <a:effectLst/>
              <a:uFillTx/>
              <a:latin typeface="Arial"/>
            </a:endParaRPr>
          </a:p>
          <a:p>
            <a:pPr lvl="1" marL="743040" indent="0">
              <a:lnSpc>
                <a:spcPct val="9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marL="343080" indent="-343080">
              <a:lnSpc>
                <a:spcPct val="90000"/>
              </a:lnSpc>
              <a:spcBef>
                <a:spcPts val="700"/>
              </a:spcBef>
              <a:buClr>
                <a:srgbClr val="333399"/>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333399"/>
                </a:solidFill>
                <a:effectLst/>
                <a:uFillTx/>
                <a:latin typeface="Arial"/>
              </a:rPr>
              <a:t>Exponential growth</a:t>
            </a:r>
            <a:r>
              <a:rPr b="0" lang="en-IN" sz="2800" strike="noStrike" u="none">
                <a:solidFill>
                  <a:srgbClr val="000000"/>
                </a:solidFill>
                <a:effectLst/>
                <a:uFillTx/>
                <a:latin typeface="Arial"/>
              </a:rPr>
              <a:t> in data volume projected:</a:t>
            </a:r>
            <a:endParaRPr b="0" lang="en-IN" sz="2800" strike="noStrike" u="none">
              <a:solidFill>
                <a:srgbClr val="000000"/>
              </a:solidFill>
              <a:effectLst/>
              <a:uFillTx/>
              <a:latin typeface="Arial"/>
            </a:endParaRPr>
          </a:p>
          <a:p>
            <a:pPr lvl="1" marL="743040" indent="-28584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Current and planned observing systems</a:t>
            </a:r>
            <a:endParaRPr b="0" lang="en-IN" sz="2400" strike="noStrike" u="none">
              <a:solidFill>
                <a:srgbClr val="000000"/>
              </a:solidFill>
              <a:effectLst/>
              <a:uFillTx/>
              <a:latin typeface="Arial"/>
            </a:endParaRPr>
          </a:p>
          <a:p>
            <a:pPr lvl="1" marL="743040" indent="-28584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NOAA and partners ability to generate new data products</a:t>
            </a:r>
            <a:endParaRPr b="0" lang="en-IN" sz="2400" strike="noStrike" u="none">
              <a:solidFill>
                <a:srgbClr val="000000"/>
              </a:solidFill>
              <a:effectLst/>
              <a:uFillTx/>
              <a:latin typeface="Arial"/>
            </a:endParaRPr>
          </a:p>
          <a:p>
            <a:pPr lvl="1" marL="743040" indent="0">
              <a:lnSpc>
                <a:spcPct val="9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marL="343080" indent="-343080">
              <a:lnSpc>
                <a:spcPct val="90000"/>
              </a:lnSpc>
              <a:spcBef>
                <a:spcPts val="700"/>
              </a:spcBef>
              <a:buClr>
                <a:srgbClr val="333399"/>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IN" sz="2800" strike="noStrike" u="none">
                <a:solidFill>
                  <a:srgbClr val="333399"/>
                </a:solidFill>
                <a:effectLst/>
                <a:uFillTx/>
                <a:latin typeface="Arial"/>
              </a:rPr>
              <a:t>Value of ongoing advice</a:t>
            </a:r>
            <a:r>
              <a:rPr b="0" lang="en-IN" sz="2800" strike="noStrike" u="none">
                <a:solidFill>
                  <a:srgbClr val="000000"/>
                </a:solidFill>
                <a:effectLst/>
                <a:uFillTx/>
                <a:latin typeface="Arial"/>
              </a:rPr>
              <a:t> from SAB group of external users and experts</a:t>
            </a:r>
            <a:endParaRPr b="0" lang="en-IN"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1143000" y="274320"/>
            <a:ext cx="678168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333399"/>
                </a:solidFill>
                <a:effectLst/>
                <a:uFillTx/>
                <a:latin typeface="Arial"/>
              </a:rPr>
              <a:t>NOAA Standing Data Archiving and Access Requirements Working Group</a:t>
            </a:r>
            <a:br>
              <a:rPr sz="2800"/>
            </a:br>
            <a:r>
              <a:rPr b="0" i="1" lang="en-IN" sz="2400" strike="noStrike" u="none">
                <a:solidFill>
                  <a:srgbClr val="333399"/>
                </a:solidFill>
                <a:effectLst/>
                <a:uFillTx/>
                <a:latin typeface="Arial"/>
              </a:rPr>
              <a:t>Immediate Issue for Working Group</a:t>
            </a:r>
            <a:endParaRPr b="0" lang="en-IN" sz="2400" strike="noStrike" u="none">
              <a:solidFill>
                <a:srgbClr val="000000"/>
              </a:solidFill>
              <a:effectLst/>
              <a:uFillTx/>
              <a:latin typeface="Arial"/>
            </a:endParaRPr>
          </a:p>
        </p:txBody>
      </p:sp>
      <p:sp>
        <p:nvSpPr>
          <p:cNvPr id="22" name="PlaceHolder 2"/>
          <p:cNvSpPr>
            <a:spLocks noGrp="1"/>
          </p:cNvSpPr>
          <p:nvPr>
            <p:ph/>
          </p:nvPr>
        </p:nvSpPr>
        <p:spPr>
          <a:xfrm>
            <a:off x="0" y="1752480"/>
            <a:ext cx="9144000" cy="4525920"/>
          </a:xfrm>
          <a:prstGeom prst="rect">
            <a:avLst/>
          </a:prstGeom>
          <a:noFill/>
          <a:ln w="0">
            <a:noFill/>
          </a:ln>
        </p:spPr>
        <p:txBody>
          <a:bodyPr lIns="90000" rIns="90000" tIns="46800" bIns="46800" anchor="t">
            <a:normAutofit/>
          </a:bodyPr>
          <a:p>
            <a:pPr marL="343080" indent="-343080">
              <a:lnSpc>
                <a:spcPct val="90000"/>
              </a:lnSpc>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trike="noStrike" u="none">
                <a:solidFill>
                  <a:srgbClr val="000000"/>
                </a:solidFill>
                <a:effectLst/>
                <a:uFillTx/>
                <a:latin typeface="Arial"/>
              </a:rPr>
              <a:t>    </a:t>
            </a:r>
            <a:r>
              <a:rPr b="1" lang="en-US" sz="2000" strike="noStrike" u="none">
                <a:solidFill>
                  <a:srgbClr val="333399"/>
                </a:solidFill>
                <a:effectLst/>
                <a:uFillTx/>
                <a:latin typeface="Arial"/>
              </a:rPr>
              <a:t>Evaluate: CLASS data archive/access requirements (Comprehensive Large Array Stewardship System)</a:t>
            </a:r>
            <a:endParaRPr b="0" lang="en-IN" sz="2000" strike="noStrike" u="none">
              <a:solidFill>
                <a:srgbClr val="000000"/>
              </a:solidFill>
              <a:effectLst/>
              <a:uFillTx/>
              <a:latin typeface="Arial"/>
            </a:endParaRPr>
          </a:p>
          <a:p>
            <a:pPr lvl="1" marL="743040" indent="-285840">
              <a:lnSpc>
                <a:spcPct val="9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CLASS is expected to be evolve into the preferred architecture for all NOAA data archive and access systems </a:t>
            </a:r>
            <a:endParaRPr b="0" lang="en-IN" sz="1600" strike="noStrike" u="none">
              <a:solidFill>
                <a:srgbClr val="000000"/>
              </a:solidFill>
              <a:effectLst/>
              <a:uFillTx/>
              <a:latin typeface="Arial"/>
            </a:endParaRPr>
          </a:p>
          <a:p>
            <a:pPr lvl="1" marL="743040" indent="-285840">
              <a:lnSpc>
                <a:spcPct val="9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All NOAA Goals rely on data that will be within the CLASS data environment </a:t>
            </a:r>
            <a:endParaRPr b="0" lang="en-IN" sz="1600" strike="noStrike" u="none">
              <a:solidFill>
                <a:srgbClr val="000000"/>
              </a:solidFill>
              <a:effectLst/>
              <a:uFillTx/>
              <a:latin typeface="Arial"/>
            </a:endParaRPr>
          </a:p>
          <a:p>
            <a:pPr lvl="1" marL="743040" indent="0">
              <a:lnSpc>
                <a:spcPct val="90000"/>
              </a:lnSpc>
              <a:spcBef>
                <a:spcPts val="4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a:p>
            <a:pPr marL="343080" indent="-343080">
              <a:lnSpc>
                <a:spcPct val="90000"/>
              </a:lnSpc>
              <a:spcBef>
                <a:spcPts val="451"/>
              </a:spcBef>
              <a:buClr>
                <a:srgbClr val="333399"/>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trike="noStrike" u="none">
                <a:solidFill>
                  <a:srgbClr val="333399"/>
                </a:solidFill>
                <a:effectLst/>
                <a:uFillTx/>
                <a:latin typeface="Arial"/>
              </a:rPr>
              <a:t>CLASS will provide the storage, archive, and access to large-array data sets:</a:t>
            </a:r>
            <a:endParaRPr b="0" lang="en-IN" sz="1800" strike="noStrike" u="none">
              <a:solidFill>
                <a:srgbClr val="000000"/>
              </a:solidFill>
              <a:effectLst/>
              <a:uFillTx/>
              <a:latin typeface="Arial"/>
            </a:endParaRPr>
          </a:p>
          <a:p>
            <a:pPr lvl="1" marL="743040" indent="-285840">
              <a:lnSpc>
                <a:spcPct val="9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Satellite (POES, DMSP, GOES, EOS-MODIS, NPOESS, NPP, Metop)</a:t>
            </a:r>
            <a:endParaRPr b="0" lang="en-IN" sz="1600" strike="noStrike" u="none">
              <a:solidFill>
                <a:srgbClr val="000000"/>
              </a:solidFill>
              <a:effectLst/>
              <a:uFillTx/>
              <a:latin typeface="Arial"/>
            </a:endParaRPr>
          </a:p>
          <a:p>
            <a:pPr lvl="1" marL="743040" indent="-285840">
              <a:lnSpc>
                <a:spcPct val="9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Radar (NEXRAD and future dual polarized and phased-array radars)</a:t>
            </a:r>
            <a:endParaRPr b="0" lang="en-IN" sz="1600" strike="noStrike" u="none">
              <a:solidFill>
                <a:srgbClr val="000000"/>
              </a:solidFill>
              <a:effectLst/>
              <a:uFillTx/>
              <a:latin typeface="Arial"/>
            </a:endParaRPr>
          </a:p>
          <a:p>
            <a:pPr lvl="1" marL="743040" indent="-285840">
              <a:lnSpc>
                <a:spcPct val="9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Model Data Sets (Weather and Climate) </a:t>
            </a:r>
            <a:endParaRPr b="0" lang="en-IN" sz="1600" strike="noStrike" u="none">
              <a:solidFill>
                <a:srgbClr val="000000"/>
              </a:solidFill>
              <a:effectLst/>
              <a:uFillTx/>
              <a:latin typeface="Arial"/>
            </a:endParaRPr>
          </a:p>
          <a:p>
            <a:pPr lvl="1" marL="743040" indent="-285840">
              <a:lnSpc>
                <a:spcPct val="9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Provide access to smaller scale ancillary data sets that are essential for these large array data sets</a:t>
            </a:r>
            <a:endParaRPr b="0" lang="en-IN" sz="1600" strike="noStrike" u="none">
              <a:solidFill>
                <a:srgbClr val="000000"/>
              </a:solidFill>
              <a:effectLst/>
              <a:uFillTx/>
              <a:latin typeface="Arial"/>
            </a:endParaRPr>
          </a:p>
          <a:p>
            <a:pPr lvl="1" marL="743040" indent="-285840">
              <a:lnSpc>
                <a:spcPct val="90000"/>
              </a:lnSpc>
              <a:spcBef>
                <a:spcPts val="400"/>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000000"/>
                </a:solidFill>
                <a:effectLst/>
                <a:uFillTx/>
                <a:latin typeface="Arial"/>
              </a:rPr>
              <a:t>Build upon systems already in place and to coordinate with those being planned that contribute to an integrated GEO data environment </a:t>
            </a:r>
            <a:endParaRPr b="0" lang="en-IN" sz="1600" strike="noStrike" u="none">
              <a:solidFill>
                <a:srgbClr val="000000"/>
              </a:solidFill>
              <a:effectLst/>
              <a:uFillTx/>
              <a:latin typeface="Arial"/>
            </a:endParaRPr>
          </a:p>
          <a:p>
            <a:pPr lvl="1" marL="743040" indent="0">
              <a:lnSpc>
                <a:spcPct val="90000"/>
              </a:lnSpc>
              <a:spcBef>
                <a:spcPts val="400"/>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1143000" y="274320"/>
            <a:ext cx="678168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333399"/>
                </a:solidFill>
                <a:effectLst/>
                <a:uFillTx/>
                <a:latin typeface="Arial"/>
              </a:rPr>
              <a:t>NOAA Standing Data Archiving and Access Requirements Working Group</a:t>
            </a:r>
            <a:br>
              <a:rPr sz="2800"/>
            </a:br>
            <a:r>
              <a:rPr b="0" i="1" lang="en-IN" sz="2400" strike="noStrike" u="none">
                <a:solidFill>
                  <a:srgbClr val="333399"/>
                </a:solidFill>
                <a:effectLst/>
                <a:uFillTx/>
                <a:latin typeface="Arial"/>
              </a:rPr>
              <a:t>Membership Qualifications</a:t>
            </a:r>
            <a:endParaRPr b="0" lang="en-IN" sz="2400" strike="noStrike" u="none">
              <a:solidFill>
                <a:srgbClr val="000000"/>
              </a:solidFill>
              <a:effectLst/>
              <a:uFillTx/>
              <a:latin typeface="Arial"/>
            </a:endParaRPr>
          </a:p>
        </p:txBody>
      </p:sp>
      <p:sp>
        <p:nvSpPr>
          <p:cNvPr id="24" name="PlaceHolder 2"/>
          <p:cNvSpPr>
            <a:spLocks noGrp="1"/>
          </p:cNvSpPr>
          <p:nvPr>
            <p:ph/>
          </p:nvPr>
        </p:nvSpPr>
        <p:spPr>
          <a:xfrm>
            <a:off x="152280" y="1981080"/>
            <a:ext cx="4572000" cy="4525920"/>
          </a:xfrm>
          <a:prstGeom prst="rect">
            <a:avLst/>
          </a:prstGeom>
          <a:noFill/>
          <a:ln w="0">
            <a:noFill/>
          </a:ln>
        </p:spPr>
        <p:txBody>
          <a:bodyPr lIns="90000" rIns="90000" tIns="46800" bIns="46800" anchor="t">
            <a:normAutofit/>
          </a:bodyPr>
          <a:p>
            <a:pPr marL="343080" indent="-343080">
              <a:spcBef>
                <a:spcPts val="601"/>
              </a:spcBef>
              <a:buClr>
                <a:srgbClr val="333399"/>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333399"/>
                </a:solidFill>
                <a:effectLst/>
                <a:uFillTx/>
                <a:latin typeface="Arial"/>
              </a:rPr>
              <a:t>Working Group Membership Qualifications</a:t>
            </a:r>
            <a:endParaRPr b="0" lang="en-IN" sz="2400" strike="noStrike" u="none">
              <a:solidFill>
                <a:srgbClr val="000000"/>
              </a:solidFill>
              <a:effectLst/>
              <a:uFillTx/>
              <a:latin typeface="Arial"/>
            </a:endParaRPr>
          </a:p>
          <a:p>
            <a:pPr marL="343080" indent="0">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Representation from the many science disciplines across NOAA</a:t>
            </a:r>
            <a:endParaRPr b="0" lang="en-IN" sz="2000" strike="noStrike" u="none">
              <a:solidFill>
                <a:srgbClr val="000000"/>
              </a:solidFill>
              <a:effectLst/>
              <a:uFillTx/>
              <a:latin typeface="Arial"/>
            </a:endParaRPr>
          </a:p>
          <a:p>
            <a:pPr lvl="1" marL="743040" indent="0">
              <a:spcBef>
                <a:spcPts val="499"/>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000" strike="noStrike" u="none">
              <a:solidFill>
                <a:srgbClr val="000000"/>
              </a:solidFill>
              <a:effectLst/>
              <a:uFillTx/>
              <a:latin typeface="Arial"/>
            </a:endParaRPr>
          </a:p>
          <a:p>
            <a:pPr lvl="1" marL="743040" indent="-285840">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000" strike="noStrike" u="none">
                <a:solidFill>
                  <a:srgbClr val="000000"/>
                </a:solidFill>
                <a:effectLst/>
                <a:uFillTx/>
                <a:latin typeface="Arial"/>
              </a:rPr>
              <a:t>Knowledge of data management principles</a:t>
            </a:r>
            <a:endParaRPr b="0" lang="en-IN" sz="2000" strike="noStrike" u="none">
              <a:solidFill>
                <a:srgbClr val="000000"/>
              </a:solidFill>
              <a:effectLst/>
              <a:uFillTx/>
              <a:latin typeface="Arial"/>
            </a:endParaRPr>
          </a:p>
        </p:txBody>
      </p:sp>
      <p:sp>
        <p:nvSpPr>
          <p:cNvPr id="25" name=""/>
          <p:cNvSpPr/>
          <p:nvPr/>
        </p:nvSpPr>
        <p:spPr>
          <a:xfrm>
            <a:off x="4952880" y="1905120"/>
            <a:ext cx="3962520" cy="4057920"/>
          </a:xfrm>
          <a:prstGeom prst="rect">
            <a:avLst/>
          </a:prstGeom>
          <a:noFill/>
          <a:ln w="9360">
            <a:solidFill>
              <a:srgbClr val="333399"/>
            </a:solidFill>
            <a:miter/>
          </a:ln>
        </p:spPr>
        <p:style>
          <a:lnRef idx="0"/>
          <a:fillRef idx="0"/>
          <a:effectRef idx="0"/>
          <a:fontRef idx="minor"/>
        </p:style>
        <p:txBody>
          <a:bodyPr lIns="90000" rIns="90000" tIns="46800" bIns="4680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2000" strike="noStrike" u="none">
                <a:solidFill>
                  <a:srgbClr val="333399"/>
                </a:solidFill>
                <a:effectLst/>
                <a:uFillTx/>
                <a:latin typeface="Times New Roman"/>
              </a:rPr>
              <a:t>Data Management</a:t>
            </a:r>
            <a:r>
              <a:rPr b="0" i="1" lang="en-IN" sz="2000" strike="noStrike" u="none">
                <a:solidFill>
                  <a:srgbClr val="333399"/>
                </a:solidFill>
                <a:effectLst/>
                <a:uFillTx/>
                <a:latin typeface="Times New Roman"/>
              </a:rPr>
              <a:t> consists of two major activities conducted in coordination: data management services and data stewardship.  They constitute a comprehensive end-to-end process including movement of data and information from the observing system sensors to the data user.  This process includes the acquisition, quality control, metadata cataloging, validation, reprocessing, storage, retrieval, dissemination, and archival of data.</a:t>
            </a:r>
            <a:endParaRPr b="0" lang="en-IN" sz="2000" strike="noStrike" u="none">
              <a:solidFill>
                <a:srgbClr val="000000"/>
              </a:solidFill>
              <a:effectLst/>
              <a:uFillTx/>
              <a:latin typeface="Arial"/>
            </a:endParaRPr>
          </a:p>
        </p:txBody>
      </p:sp>
      <p:sp>
        <p:nvSpPr>
          <p:cNvPr id="26" name=""/>
          <p:cNvSpPr/>
          <p:nvPr/>
        </p:nvSpPr>
        <p:spPr>
          <a:xfrm>
            <a:off x="5465160" y="6019920"/>
            <a:ext cx="3024360" cy="520920"/>
          </a:xfrm>
          <a:prstGeom prst="rect">
            <a:avLst/>
          </a:prstGeom>
          <a:noFill/>
          <a:ln w="0">
            <a:noFill/>
          </a:ln>
        </p:spPr>
        <p:style>
          <a:lnRef idx="0"/>
          <a:fillRef idx="0"/>
          <a:effectRef idx="0"/>
          <a:fontRef idx="minor"/>
        </p:style>
        <p:txBody>
          <a:bodyPr wrap="none"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400" strike="noStrike" u="none">
                <a:solidFill>
                  <a:srgbClr val="333399"/>
                </a:solidFill>
                <a:effectLst/>
                <a:uFillTx/>
                <a:latin typeface="Arial"/>
              </a:rPr>
              <a:t>NOAA Observing System Council</a:t>
            </a:r>
            <a:endParaRPr b="0" lang="en-IN" sz="1400" strike="noStrike" u="none">
              <a:solidFill>
                <a:srgbClr val="000000"/>
              </a:solidFill>
              <a:effectLst/>
              <a:uFillTx/>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i="1" lang="en-IN" sz="1400" strike="noStrike" u="none">
                <a:solidFill>
                  <a:srgbClr val="333399"/>
                </a:solidFill>
                <a:effectLst/>
                <a:uFillTx/>
                <a:latin typeface="Arial"/>
              </a:rPr>
              <a:t>Approved Definition</a:t>
            </a:r>
            <a:endParaRPr b="0" lang="en-IN"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1066680" y="274320"/>
            <a:ext cx="701064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2800" strike="noStrike" u="none">
                <a:solidFill>
                  <a:srgbClr val="333399"/>
                </a:solidFill>
                <a:effectLst/>
                <a:uFillTx/>
                <a:latin typeface="Arial"/>
              </a:rPr>
              <a:t>NOAA Standing Data Archiving and Access Requirements Working Group</a:t>
            </a:r>
            <a:br>
              <a:rPr sz="2800"/>
            </a:br>
            <a:r>
              <a:rPr b="0" i="1" lang="en-IN" sz="2400" strike="noStrike" u="none">
                <a:solidFill>
                  <a:srgbClr val="333399"/>
                </a:solidFill>
                <a:effectLst/>
                <a:uFillTx/>
                <a:latin typeface="Arial"/>
              </a:rPr>
              <a:t>FY06 Priorities</a:t>
            </a:r>
            <a:endParaRPr b="0" lang="en-IN" sz="2400" strike="noStrike" u="none">
              <a:solidFill>
                <a:srgbClr val="000000"/>
              </a:solidFill>
              <a:effectLst/>
              <a:uFillTx/>
              <a:latin typeface="Arial"/>
            </a:endParaRPr>
          </a:p>
        </p:txBody>
      </p:sp>
      <p:sp>
        <p:nvSpPr>
          <p:cNvPr id="28" name="PlaceHolder 2"/>
          <p:cNvSpPr>
            <a:spLocks noGrp="1"/>
          </p:cNvSpPr>
          <p:nvPr>
            <p:ph/>
          </p:nvPr>
        </p:nvSpPr>
        <p:spPr>
          <a:xfrm>
            <a:off x="380520" y="2209320"/>
            <a:ext cx="8458200" cy="3505320"/>
          </a:xfrm>
          <a:prstGeom prst="rect">
            <a:avLst/>
          </a:prstGeom>
          <a:noFill/>
          <a:ln w="0">
            <a:noFill/>
          </a:ln>
        </p:spPr>
        <p:txBody>
          <a:bodyPr lIns="90000" rIns="90000" tIns="46800" bIns="46800" anchor="t">
            <a:normAutofit/>
          </a:bodyPr>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Form SAB working group by April 2006 to coincide with May 2006 NRC report on archive principles and guidelines</a:t>
            </a:r>
            <a:endParaRPr b="0" lang="en-IN" sz="2400" strike="noStrike" u="none">
              <a:solidFill>
                <a:srgbClr val="000000"/>
              </a:solidFill>
              <a:effectLst/>
              <a:uFillTx/>
              <a:latin typeface="Arial"/>
            </a:endParaRPr>
          </a:p>
          <a:p>
            <a:pPr marL="343080" indent="0">
              <a:lnSpc>
                <a:spcPct val="9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Address CLASS data requirements as first task</a:t>
            </a:r>
            <a:endParaRPr b="0" lang="en-IN" sz="2400" strike="noStrike" u="none">
              <a:solidFill>
                <a:srgbClr val="000000"/>
              </a:solidFill>
              <a:effectLst/>
              <a:uFillTx/>
              <a:latin typeface="Arial"/>
            </a:endParaRPr>
          </a:p>
          <a:p>
            <a:pPr marL="343080" indent="0">
              <a:lnSpc>
                <a:spcPct val="90000"/>
              </a:lnSpc>
              <a:spcBef>
                <a:spcPts val="601"/>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24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2400" strike="noStrike" u="none">
                <a:solidFill>
                  <a:srgbClr val="000000"/>
                </a:solidFill>
                <a:effectLst/>
                <a:uFillTx/>
                <a:latin typeface="Arial"/>
              </a:rPr>
              <a:t>Issue preliminary recommendations on CLASS by Fall 2006</a:t>
            </a:r>
            <a:endParaRPr b="0" lang="en-IN"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4320"/>
            <a:ext cx="8229600" cy="1143000"/>
          </a:xfrm>
          <a:prstGeom prst="rect">
            <a:avLst/>
          </a:prstGeom>
          <a:noFill/>
          <a:ln w="0">
            <a:noFill/>
          </a:ln>
        </p:spPr>
        <p:txBody>
          <a:bodyPr lIns="90000" rIns="90000" tIns="46800" bIns="46800" anchor="ctr">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4400" strike="noStrike" u="none">
                <a:solidFill>
                  <a:srgbClr val="000000"/>
                </a:solidFill>
                <a:effectLst/>
                <a:uFillTx/>
                <a:latin typeface="Arial"/>
              </a:rPr>
              <a:t>The End</a:t>
            </a:r>
            <a:endParaRPr b="0" lang="en-IN" sz="4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1940</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2004-10-13T06:28:12Z</dcterms:created>
  <dc:creator>david.mcguirk</dc:creator>
  <dc:description/>
  <dc:language>en-IN</dc:language>
  <cp:lastModifiedBy>Laura</cp:lastModifiedBy>
  <dcterms:modified xsi:type="dcterms:W3CDTF">2005-11-08T04:40:13Z</dcterms:modified>
  <cp:revision>63</cp:revision>
  <dc:subject/>
  <dc:title>NOAA Integrated DM - FY05 actions</dc:title>
</cp:coreProperties>
</file>