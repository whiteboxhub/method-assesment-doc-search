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_rels/slideMaster1.xml.rels" ContentType="application/vnd.openxmlformats-package.relationships+xml"/>
  <Override PartName="/ppt/notesMasters/notesMaster1.xml" ContentType="application/vnd.openxmlformats-officedocument.presentationml.notesMaster+xml"/>
  <Override PartName="/ppt/notesMasters/_rels/notesMaster1.xml.rels" ContentType="application/vnd.openxmlformats-package.relationships+xml"/>
  <Override PartName="/ppt/theme/theme1.xml" ContentType="application/vnd.openxmlformats-officedocument.theme+xml"/>
  <Override PartName="/ppt/theme/theme2.xml" ContentType="application/vnd.openxmlformats-officedocument.theme+xml"/>
  <Override PartName="/ppt/notesSlides/notesSlide4.xml" ContentType="application/vnd.openxmlformats-officedocument.presentationml.notesSlide+xml"/>
  <Override PartName="/ppt/notesSlides/notesSlide12.xml" ContentType="application/vnd.openxmlformats-officedocument.presentationml.notesSlide+xml"/>
  <Override PartName="/ppt/notesSlides/notesSlide5.xml" ContentType="application/vnd.openxmlformats-officedocument.presentationml.notesSlide+xml"/>
  <Override PartName="/ppt/notesSlides/notesSlide13.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9.xml" ContentType="application/vnd.openxmlformats-officedocument.presentationml.notesSlide+xml"/>
  <Override PartName="/ppt/notesSlides/_rels/notesSlide12.xml.rels" ContentType="application/vnd.openxmlformats-package.relationships+xml"/>
  <Override PartName="/ppt/notesSlides/_rels/notesSlide8.xml.rels" ContentType="application/vnd.openxmlformats-package.relationships+xml"/>
  <Override PartName="/ppt/notesSlides/_rels/notesSlide4.xml.rels" ContentType="application/vnd.openxmlformats-package.relationships+xml"/>
  <Override PartName="/ppt/notesSlides/_rels/notesSlide13.xml.rels" ContentType="application/vnd.openxmlformats-package.relationships+xml"/>
  <Override PartName="/ppt/notesSlides/_rels/notesSlide9.xml.rels" ContentType="application/vnd.openxmlformats-package.relationships+xml"/>
  <Override PartName="/ppt/notesSlides/_rels/notesSlide5.xml.rels" ContentType="application/vnd.openxmlformats-package.relationships+xml"/>
  <Override PartName="/ppt/notesSlides/_rels/notesSlide10.xml.rels" ContentType="application/vnd.openxmlformats-package.relationships+xml"/>
  <Override PartName="/ppt/notesSlides/_rels/notesSlide14.xml.rels" ContentType="application/vnd.openxmlformats-package.relationships+xml"/>
  <Override PartName="/ppt/notesSlides/_rels/notesSlide15.xml.rels" ContentType="application/vnd.openxmlformats-package.relationships+xml"/>
  <Override PartName="/ppt/notesSlides/_rels/notesSlide29.xml.rels" ContentType="application/vnd.openxmlformats-package.relationships+xml"/>
  <Override PartName="/ppt/embeddings/oleObject1.docx" ContentType="application/vnd.openxmlformats-officedocument.wordprocessingml.document"/>
  <Override PartName="/ppt/embeddings/oleObject1.xlsx" ContentType="application/vnd.openxmlformats-officedocument.spreadsheetml.sheet"/>
  <Override PartName="/ppt/media/image1.wmf" ContentType="image/x-wmf"/>
  <Override PartName="/ppt/media/image2.png" ContentType="image/png"/>
  <Override PartName="/ppt/media/image3.wmf" ContentType="image/x-wmf"/>
  <Override PartName="/ppt/media/image4.wmf" ContentType="image/x-wmf"/>
  <Override PartName="/ppt/media/image5.png" ContentType="image/png"/>
  <Override PartName="/ppt/media/image6.png" ContentType="image/png"/>
  <Override PartName="/ppt/media/image7.wmf" ContentType="image/x-wmf"/>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_rels/slideLayout1.xml.rels" ContentType="application/vnd.openxmlformats-package.relationships+xml"/>
  <Override PartName="/ppt/slideLayouts/_rels/slideLayout2.xml.rels" ContentType="application/vnd.openxmlformats-package.relationships+xml"/>
  <Override PartName="/ppt/slideLayouts/_rels/slideLayout3.xml.rels" ContentType="application/vnd.openxmlformats-package.relationships+xml"/>
  <Override PartName="/ppt/slideLayouts/_rels/slideLayout4.xml.rels" ContentType="application/vnd.openxmlformats-package.relationships+xml"/>
  <Override PartName="/ppt/slideLayouts/_rels/slideLayout5.xml.rels" ContentType="application/vnd.openxmlformats-package.relationships+xml"/>
  <Override PartName="/ppt/slideLayouts/_rels/slideLayout6.xml.rels" ContentType="application/vnd.openxmlformats-package.relationships+xml"/>
  <Override PartName="/ppt/slides/slide1.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21.xml" ContentType="application/vnd.openxmlformats-officedocument.presentationml.slide+xml"/>
  <Override PartName="/ppt/slides/slide4.xml" ContentType="application/vnd.openxmlformats-officedocument.presentationml.slide+xml"/>
  <Override PartName="/ppt/slides/slide2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23.xml" ContentType="application/vnd.openxmlformats-officedocument.presentationml.slide+xml"/>
  <Override PartName="/ppt/slides/slide7.xml" ContentType="application/vnd.openxmlformats-officedocument.presentationml.slide+xml"/>
  <Override PartName="/ppt/slides/slide24.xml" ContentType="application/vnd.openxmlformats-officedocument.presentationml.slide+xml"/>
  <Override PartName="/ppt/slides/slide8.xml" ContentType="application/vnd.openxmlformats-officedocument.presentationml.slide+xml"/>
  <Override PartName="/ppt/slides/slide25.xml" ContentType="application/vnd.openxmlformats-officedocument.presentationml.slide+xml"/>
  <Override PartName="/ppt/slides/slide9.xml" ContentType="application/vnd.openxmlformats-officedocument.presentationml.slide+xml"/>
  <Override PartName="/ppt/slides/slide26.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_rels/slide1.xml.rels" ContentType="application/vnd.openxmlformats-package.relationships+xml"/>
  <Override PartName="/ppt/slides/_rels/slide22.xml.rels" ContentType="application/vnd.openxmlformats-package.relationships+xml"/>
  <Override PartName="/ppt/slides/_rels/slide2.xml.rels" ContentType="application/vnd.openxmlformats-package.relationships+xml"/>
  <Override PartName="/ppt/slides/_rels/slide20.xml.rels" ContentType="application/vnd.openxmlformats-package.relationships+xml"/>
  <Override PartName="/ppt/slides/_rels/slide3.xml.rels" ContentType="application/vnd.openxmlformats-package.relationships+xml"/>
  <Override PartName="/ppt/slides/_rels/slide21.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23.xml.rels" ContentType="application/vnd.openxmlformats-package.relationships+xml"/>
  <Override PartName="/ppt/slides/_rels/slide6.xml.rels" ContentType="application/vnd.openxmlformats-package.relationships+xml"/>
  <Override PartName="/ppt/slides/_rels/slide24.xml.rels" ContentType="application/vnd.openxmlformats-package.relationships+xml"/>
  <Override PartName="/ppt/slides/_rels/slide7.xml.rels" ContentType="application/vnd.openxmlformats-package.relationships+xml"/>
  <Override PartName="/ppt/slides/_rels/slide25.xml.rels" ContentType="application/vnd.openxmlformats-package.relationships+xml"/>
  <Override PartName="/ppt/slides/_rels/slide8.xml.rels" ContentType="application/vnd.openxmlformats-package.relationships+xml"/>
  <Override PartName="/ppt/slides/_rels/slide26.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6.xml.rels" ContentType="application/vnd.openxmlformats-package.relationships+xml"/>
  <Override PartName="/ppt/slides/_rels/slide17.xml.rels" ContentType="application/vnd.openxmlformats-package.relationships+xml"/>
  <Override PartName="/ppt/slides/_rels/slide18.xml.rels" ContentType="application/vnd.openxmlformats-package.relationships+xml"/>
  <Override PartName="/ppt/slides/_rels/slide19.xml.rels" ContentType="application/vnd.openxmlformats-package.relationships+xml"/>
  <Override PartName="/ppt/slides/_rels/slide27.xml.rels" ContentType="application/vnd.openxmlformats-package.relationships+xml"/>
  <Override PartName="/ppt/slides/_rels/slide28.xml.rels" ContentType="application/vnd.openxmlformats-package.relationships+xml"/>
  <Override PartName="/ppt/slides/_rels/slide29.xml.rels" ContentType="application/vnd.openxmlformats-package.relationships+xml"/>
  <Override PartName="/ppt/presProps.xml" ContentType="application/vnd.openxmlformats-officedocument.presentationml.presProps+xml"/>
  <Override PartName="/ppt/_rels/presentation.xml.rels" ContentType="application/vnd.openxmlformats-package.relationships+xml"/>
</Types>
</file>

<file path=_rels/.rels><?xml version="1.0" encoding="UTF-8"?>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Lst>
  <p:sldSz cx="9144000" cy="6858000"/>
  <p:notesSz cx="7008813" cy="9294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 name=""/>
          <p:cNvSpPr/>
          <p:nvPr/>
        </p:nvSpPr>
        <p:spPr>
          <a:xfrm>
            <a:off x="0" y="0"/>
            <a:ext cx="7009200" cy="9295200"/>
          </a:xfrm>
          <a:prstGeom prst="rect">
            <a:avLst/>
          </a:prstGeom>
          <a:solidFill>
            <a:srgbClr val="ffffff"/>
          </a:solidFill>
          <a:ln w="0">
            <a:noFill/>
          </a:ln>
        </p:spPr>
        <p:txBody>
          <a:bodyPr lIns="90000" rIns="90000" tIns="45000" bIns="45000" anchor="ctr" anchorCtr="1">
            <a:noAutofit/>
          </a:bodyPr>
          <a:p>
            <a:endParaRPr b="0" lang="en-IN" sz="2400" strike="noStrike" u="none">
              <a:solidFill>
                <a:srgbClr val="ffffff"/>
              </a:solidFill>
              <a:effectLst/>
              <a:uFillTx/>
              <a:latin typeface="Times New Roman"/>
            </a:endParaRPr>
          </a:p>
        </p:txBody>
      </p:sp>
      <p:sp>
        <p:nvSpPr>
          <p:cNvPr id="26" name="PlaceHolder 1"/>
          <p:cNvSpPr>
            <a:spLocks noGrp="1"/>
          </p:cNvSpPr>
          <p:nvPr>
            <p:ph type="hdr"/>
          </p:nvPr>
        </p:nvSpPr>
        <p:spPr>
          <a:xfrm>
            <a:off x="0" y="0"/>
            <a:ext cx="3038400" cy="465120"/>
          </a:xfrm>
          <a:prstGeom prst="rect">
            <a:avLst/>
          </a:prstGeom>
          <a:noFill/>
          <a:ln w="0">
            <a:noFill/>
          </a:ln>
        </p:spPr>
        <p:txBody>
          <a:bodyPr lIns="19440" rIns="19440" tIns="0" bIns="0" anchor="t">
            <a:noAutofit/>
          </a:bodyPr>
          <a:p>
            <a:pPr indent="0">
              <a:buNone/>
              <a:tabLst>
                <a:tab algn="l" pos="0"/>
                <a:tab algn="l" pos="932040"/>
                <a:tab algn="l" pos="1863720"/>
                <a:tab algn="l" pos="2795760"/>
                <a:tab algn="l" pos="3727440"/>
                <a:tab algn="l" pos="4659480"/>
                <a:tab algn="l" pos="5591160"/>
                <a:tab algn="l" pos="6523200"/>
                <a:tab algn="l" pos="7454880"/>
                <a:tab algn="l" pos="8386920"/>
                <a:tab algn="l" pos="9318600"/>
                <a:tab algn="l" pos="10250640"/>
              </a:tabLst>
            </a:pPr>
            <a:r>
              <a:rPr b="0" i="1" lang="en-IN" sz="1000" strike="noStrike" u="none">
                <a:solidFill>
                  <a:srgbClr val="000000"/>
                </a:solidFill>
                <a:effectLst/>
                <a:uFillTx/>
                <a:latin typeface="Times New Roman"/>
              </a:rPr>
              <a:t>&lt;header&gt;</a:t>
            </a:r>
            <a:endParaRPr b="0" lang="en-IN" sz="1000" strike="noStrike" u="none">
              <a:solidFill>
                <a:srgbClr val="000000"/>
              </a:solidFill>
              <a:effectLst/>
              <a:uFillTx/>
              <a:latin typeface="Times New Roman"/>
            </a:endParaRPr>
          </a:p>
        </p:txBody>
      </p:sp>
      <p:sp>
        <p:nvSpPr>
          <p:cNvPr id="27" name="PlaceHolder 2"/>
          <p:cNvSpPr>
            <a:spLocks noGrp="1"/>
          </p:cNvSpPr>
          <p:nvPr>
            <p:ph type="dt" idx="4"/>
          </p:nvPr>
        </p:nvSpPr>
        <p:spPr>
          <a:xfrm>
            <a:off x="3971880" y="0"/>
            <a:ext cx="3038400" cy="465120"/>
          </a:xfrm>
          <a:prstGeom prst="rect">
            <a:avLst/>
          </a:prstGeom>
          <a:noFill/>
          <a:ln w="0">
            <a:noFill/>
          </a:ln>
        </p:spPr>
        <p:txBody>
          <a:bodyPr lIns="19440" rIns="19440" tIns="0" bIns="0" anchor="t">
            <a:noAutofit/>
          </a:bodyPr>
          <a:lstStyle>
            <a:lvl1pPr indent="0" algn="r">
              <a:buNone/>
              <a:tabLst>
                <a:tab algn="l" pos="0"/>
                <a:tab algn="l" pos="932040"/>
                <a:tab algn="l" pos="1863720"/>
                <a:tab algn="l" pos="2795760"/>
                <a:tab algn="l" pos="3727440"/>
                <a:tab algn="l" pos="4659480"/>
                <a:tab algn="l" pos="5591160"/>
                <a:tab algn="l" pos="6523200"/>
                <a:tab algn="l" pos="7454880"/>
                <a:tab algn="l" pos="8386920"/>
                <a:tab algn="l" pos="9318600"/>
                <a:tab algn="l" pos="10250640"/>
              </a:tabLst>
              <a:defRPr b="0" i="1" lang="en-IN" sz="1000" strike="noStrike" u="none">
                <a:solidFill>
                  <a:srgbClr val="000000"/>
                </a:solidFill>
                <a:effectLst/>
                <a:uFillTx/>
                <a:latin typeface="Times New Roman"/>
              </a:defRPr>
            </a:lvl1pPr>
          </a:lstStyle>
          <a:p>
            <a:pPr indent="0" algn="r">
              <a:buNone/>
              <a:tabLst>
                <a:tab algn="l" pos="0"/>
                <a:tab algn="l" pos="932040"/>
                <a:tab algn="l" pos="1863720"/>
                <a:tab algn="l" pos="2795760"/>
                <a:tab algn="l" pos="3727440"/>
                <a:tab algn="l" pos="4659480"/>
                <a:tab algn="l" pos="5591160"/>
                <a:tab algn="l" pos="6523200"/>
                <a:tab algn="l" pos="7454880"/>
                <a:tab algn="l" pos="8386920"/>
                <a:tab algn="l" pos="9318600"/>
                <a:tab algn="l" pos="10250640"/>
              </a:tabLst>
            </a:pPr>
            <a:r>
              <a:rPr b="0" i="1" lang="en-IN" sz="1000" strike="noStrike" u="none">
                <a:solidFill>
                  <a:srgbClr val="000000"/>
                </a:solidFill>
                <a:effectLst/>
                <a:uFillTx/>
                <a:latin typeface="Times New Roman"/>
              </a:rPr>
              <a:t>&lt;date/time&gt;</a:t>
            </a:r>
            <a:endParaRPr b="0" lang="en-IN" sz="1000" strike="noStrike" u="none">
              <a:solidFill>
                <a:srgbClr val="000000"/>
              </a:solidFill>
              <a:effectLst/>
              <a:uFillTx/>
              <a:latin typeface="Times New Roman"/>
            </a:endParaRPr>
          </a:p>
        </p:txBody>
      </p:sp>
      <p:sp>
        <p:nvSpPr>
          <p:cNvPr id="28" name="PlaceHolder 3"/>
          <p:cNvSpPr>
            <a:spLocks noGrp="1"/>
          </p:cNvSpPr>
          <p:nvPr>
            <p:ph type="ftr" idx="5"/>
          </p:nvPr>
        </p:nvSpPr>
        <p:spPr>
          <a:xfrm>
            <a:off x="0" y="8831160"/>
            <a:ext cx="3038400" cy="465120"/>
          </a:xfrm>
          <a:prstGeom prst="rect">
            <a:avLst/>
          </a:prstGeom>
          <a:noFill/>
          <a:ln w="0">
            <a:noFill/>
          </a:ln>
        </p:spPr>
        <p:txBody>
          <a:bodyPr lIns="19440" rIns="19440" tIns="0" bIns="0" anchor="b">
            <a:noAutofit/>
          </a:bodyPr>
          <a:lstStyle>
            <a:lvl1pPr indent="0">
              <a:buNone/>
              <a:tabLst>
                <a:tab algn="l" pos="0"/>
                <a:tab algn="l" pos="932040"/>
                <a:tab algn="l" pos="1863720"/>
                <a:tab algn="l" pos="2795760"/>
                <a:tab algn="l" pos="3727440"/>
                <a:tab algn="l" pos="4659480"/>
                <a:tab algn="l" pos="5591160"/>
                <a:tab algn="l" pos="6523200"/>
                <a:tab algn="l" pos="7454880"/>
                <a:tab algn="l" pos="8386920"/>
                <a:tab algn="l" pos="9318600"/>
                <a:tab algn="l" pos="10250640"/>
              </a:tabLst>
              <a:defRPr b="0" i="1" lang="en-IN" sz="1000" strike="noStrike" u="none">
                <a:solidFill>
                  <a:srgbClr val="000000"/>
                </a:solidFill>
                <a:effectLst/>
                <a:uFillTx/>
                <a:latin typeface="Times New Roman"/>
              </a:defRPr>
            </a:lvl1pPr>
          </a:lstStyle>
          <a:p>
            <a:pPr indent="0">
              <a:buNone/>
              <a:tabLst>
                <a:tab algn="l" pos="0"/>
                <a:tab algn="l" pos="932040"/>
                <a:tab algn="l" pos="1863720"/>
                <a:tab algn="l" pos="2795760"/>
                <a:tab algn="l" pos="3727440"/>
                <a:tab algn="l" pos="4659480"/>
                <a:tab algn="l" pos="5591160"/>
                <a:tab algn="l" pos="6523200"/>
                <a:tab algn="l" pos="7454880"/>
                <a:tab algn="l" pos="8386920"/>
                <a:tab algn="l" pos="9318600"/>
                <a:tab algn="l" pos="10250640"/>
              </a:tabLst>
            </a:pPr>
            <a:r>
              <a:rPr b="0" i="1" lang="en-IN" sz="1000" strike="noStrike" u="none">
                <a:solidFill>
                  <a:srgbClr val="000000"/>
                </a:solidFill>
                <a:effectLst/>
                <a:uFillTx/>
                <a:latin typeface="Times New Roman"/>
              </a:rPr>
              <a:t>&lt;footer&gt;</a:t>
            </a:r>
            <a:endParaRPr b="0" lang="en-IN" sz="1000" strike="noStrike" u="none">
              <a:solidFill>
                <a:srgbClr val="000000"/>
              </a:solidFill>
              <a:effectLst/>
              <a:uFillTx/>
              <a:latin typeface="Times New Roman"/>
            </a:endParaRPr>
          </a:p>
        </p:txBody>
      </p:sp>
      <p:sp>
        <p:nvSpPr>
          <p:cNvPr id="29" name="PlaceHolder 4"/>
          <p:cNvSpPr>
            <a:spLocks noGrp="1"/>
          </p:cNvSpPr>
          <p:nvPr>
            <p:ph type="sldNum" idx="6"/>
          </p:nvPr>
        </p:nvSpPr>
        <p:spPr>
          <a:xfrm>
            <a:off x="3971880" y="8831160"/>
            <a:ext cx="3038400" cy="465120"/>
          </a:xfrm>
          <a:prstGeom prst="rect">
            <a:avLst/>
          </a:prstGeom>
          <a:noFill/>
          <a:ln w="0">
            <a:noFill/>
          </a:ln>
        </p:spPr>
        <p:txBody>
          <a:bodyPr lIns="19440" rIns="19440" tIns="0" bIns="0" anchor="b">
            <a:noAutofit/>
          </a:bodyPr>
          <a:lstStyle>
            <a:lvl1pPr indent="0" algn="r">
              <a:buNone/>
              <a:tabLst>
                <a:tab algn="l" pos="0"/>
                <a:tab algn="l" pos="932040"/>
                <a:tab algn="l" pos="1863720"/>
                <a:tab algn="l" pos="2795760"/>
                <a:tab algn="l" pos="3727440"/>
                <a:tab algn="l" pos="4659480"/>
                <a:tab algn="l" pos="5591160"/>
                <a:tab algn="l" pos="6523200"/>
                <a:tab algn="l" pos="7454880"/>
                <a:tab algn="l" pos="8386920"/>
                <a:tab algn="l" pos="9318600"/>
                <a:tab algn="l" pos="10250640"/>
              </a:tabLst>
              <a:defRPr b="0" i="1" lang="en-IN" sz="1000" strike="noStrike" u="none">
                <a:solidFill>
                  <a:srgbClr val="000000"/>
                </a:solidFill>
                <a:effectLst/>
                <a:uFillTx/>
                <a:latin typeface="Times New Roman"/>
              </a:defRPr>
            </a:lvl1pPr>
          </a:lstStyle>
          <a:p>
            <a:pPr indent="0" algn="r">
              <a:buNone/>
              <a:tabLst>
                <a:tab algn="l" pos="0"/>
                <a:tab algn="l" pos="932040"/>
                <a:tab algn="l" pos="1863720"/>
                <a:tab algn="l" pos="2795760"/>
                <a:tab algn="l" pos="3727440"/>
                <a:tab algn="l" pos="4659480"/>
                <a:tab algn="l" pos="5591160"/>
                <a:tab algn="l" pos="6523200"/>
                <a:tab algn="l" pos="7454880"/>
                <a:tab algn="l" pos="8386920"/>
                <a:tab algn="l" pos="9318600"/>
                <a:tab algn="l" pos="10250640"/>
              </a:tabLst>
            </a:pPr>
            <a:fld id="{21C21AEF-F818-4DD6-A972-6707544639E6}" type="slidenum">
              <a:rPr b="0" i="1" lang="en-IN" sz="1000" strike="noStrike" u="none">
                <a:solidFill>
                  <a:srgbClr val="000000"/>
                </a:solidFill>
                <a:effectLst/>
                <a:uFillTx/>
                <a:latin typeface="Times New Roman"/>
              </a:rPr>
              <a:t>&lt;number&gt;</a:t>
            </a:fld>
            <a:endParaRPr b="0" lang="en-IN" sz="1000" strike="noStrike" u="none">
              <a:solidFill>
                <a:srgbClr val="000000"/>
              </a:solidFill>
              <a:effectLst/>
              <a:uFillTx/>
              <a:latin typeface="Times New Roman"/>
            </a:endParaRPr>
          </a:p>
        </p:txBody>
      </p:sp>
      <p:sp>
        <p:nvSpPr>
          <p:cNvPr id="30" name="PlaceHolder 5"/>
          <p:cNvSpPr>
            <a:spLocks noGrp="1"/>
          </p:cNvSpPr>
          <p:nvPr>
            <p:ph type="body"/>
          </p:nvPr>
        </p:nvSpPr>
        <p:spPr>
          <a:xfrm>
            <a:off x="934560" y="4416120"/>
            <a:ext cx="5140440" cy="4182840"/>
          </a:xfrm>
          <a:prstGeom prst="rect">
            <a:avLst/>
          </a:prstGeom>
          <a:noFill/>
          <a:ln w="0">
            <a:noFill/>
          </a:ln>
        </p:spPr>
        <p:txBody>
          <a:bodyPr lIns="93960" rIns="93960" tIns="46800" bIns="4680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Times New Roman"/>
              </a:rPr>
              <a:t>Click to edit the notes format</a:t>
            </a:r>
            <a:endParaRPr b="0" lang="en-IN" sz="1200" strike="noStrike" u="none">
              <a:solidFill>
                <a:srgbClr val="000000"/>
              </a:solidFill>
              <a:effectLst/>
              <a:uFillTx/>
              <a:latin typeface="Times New Roman"/>
            </a:endParaRPr>
          </a:p>
        </p:txBody>
      </p:sp>
      <p:sp>
        <p:nvSpPr>
          <p:cNvPr id="31" name="PlaceHolder 6"/>
          <p:cNvSpPr>
            <a:spLocks noGrp="1"/>
          </p:cNvSpPr>
          <p:nvPr>
            <p:ph type="sldImg"/>
          </p:nvPr>
        </p:nvSpPr>
        <p:spPr>
          <a:xfrm>
            <a:off x="1190160" y="703440"/>
            <a:ext cx="4630680" cy="3473280"/>
          </a:xfrm>
          <a:prstGeom prst="rect">
            <a:avLst/>
          </a:prstGeom>
          <a:noFill/>
          <a:ln w="12600">
            <a:solidFill>
              <a:srgbClr val="000000"/>
            </a:solidFill>
            <a:miter/>
          </a:ln>
        </p:spPr>
        <p:txBody>
          <a:bodyPr lIns="90000" rIns="90000" tIns="46800" bIns="46800" anchor="ctr">
            <a:noAutofit/>
          </a:bodyPr>
          <a:p>
            <a:pPr indent="0">
              <a:lnSpc>
                <a:spcPct val="85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IN" sz="2800" strike="noStrike" u="none">
                <a:solidFill>
                  <a:srgbClr val="fafd00"/>
                </a:solidFill>
                <a:effectLst/>
                <a:uFillTx/>
                <a:latin typeface="Arial"/>
              </a:rPr>
              <a:t>Click to move the slide</a:t>
            </a:r>
            <a:endParaRPr b="1" i="1" lang="en-IN" sz="2800" strike="noStrike" u="none">
              <a:solidFill>
                <a:srgbClr val="fafd00"/>
              </a:solidFill>
              <a:effectLst/>
              <a:uFillTx/>
              <a:latin typeface="Arial"/>
            </a:endParaRPr>
          </a:p>
        </p:txBody>
      </p:sp>
    </p:spTree>
  </p:cSld>
  <p:clrMap bg1="lt1" bg2="lt2" tx1="dk1" tx2="dk2" accent1="accent1" accent2="accent2" accent3="accent3" accent4="accent4" accent5="accent5" accent6="accent6" hlink="hlink" folHlink="folHlink"/>
</p:notesMaster>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29.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
</Relationship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0" name="PlaceHolder 1"/>
          <p:cNvSpPr>
            <a:spLocks noGrp="1"/>
          </p:cNvSpPr>
          <p:nvPr>
            <p:ph type="sldImg"/>
          </p:nvPr>
        </p:nvSpPr>
        <p:spPr>
          <a:xfrm>
            <a:off x="1190520" y="703440"/>
            <a:ext cx="4630680" cy="3473280"/>
          </a:xfrm>
          <a:prstGeom prst="rect">
            <a:avLst/>
          </a:prstGeom>
          <a:ln w="0">
            <a:noFill/>
          </a:ln>
        </p:spPr>
      </p:sp>
      <p:sp>
        <p:nvSpPr>
          <p:cNvPr id="391" name="PlaceHolder 2"/>
          <p:cNvSpPr>
            <a:spLocks noGrp="1"/>
          </p:cNvSpPr>
          <p:nvPr>
            <p:ph type="body"/>
          </p:nvPr>
        </p:nvSpPr>
        <p:spPr>
          <a:xfrm>
            <a:off x="934560" y="4416120"/>
            <a:ext cx="5140440" cy="4182840"/>
          </a:xfrm>
          <a:prstGeom prst="rect">
            <a:avLst/>
          </a:prstGeom>
          <a:noFill/>
          <a:ln w="0">
            <a:noFill/>
          </a:ln>
        </p:spPr>
        <p:txBody>
          <a:bodyPr lIns="93960" rIns="93960" tIns="46800" bIns="46800" anchor="t">
            <a:noAutofit/>
          </a:bodyPr>
          <a:p>
            <a:pPr marL="228600" indent="-228600">
              <a:spcBef>
                <a:spcPts val="451"/>
              </a:spcBef>
              <a:buClr>
                <a:srgbClr val="000000"/>
              </a:buClr>
              <a:buFont typeface="Times New Roman"/>
              <a:buAutoNum type="arabicPeriod"/>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Times New Roman"/>
              </a:rPr>
              <a:t>There is very little discretionary money left.  On the highway side, many of the freight hot spots are same as passenger.  An important part of the process is identifying the overlap in order to impact priorities.</a:t>
            </a:r>
            <a:endParaRPr b="0" lang="en-IN" sz="1200" strike="noStrike" u="none">
              <a:solidFill>
                <a:srgbClr val="000000"/>
              </a:solidFill>
              <a:effectLst/>
              <a:uFillTx/>
              <a:latin typeface="Times New Roman"/>
            </a:endParaRPr>
          </a:p>
          <a:p>
            <a:pPr marL="228600" indent="-228600">
              <a:spcBef>
                <a:spcPts val="451"/>
              </a:spcBef>
              <a:buClr>
                <a:srgbClr val="000000"/>
              </a:buClr>
              <a:buFont typeface="Times New Roman"/>
              <a:buAutoNum type="arabicPeriod"/>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Times New Roman"/>
              </a:rPr>
              <a:t>Many people look to freight as a source of new revenue for improvements.  Need to develop B/C techniques in order to examine the real opportunities (e.g., the truck lane example in Southern California)</a:t>
            </a:r>
            <a:endParaRPr b="0" lang="en-IN" sz="1200" strike="noStrike" u="none">
              <a:solidFill>
                <a:srgbClr val="000000"/>
              </a:solidFill>
              <a:effectLst/>
              <a:uFillTx/>
              <a:latin typeface="Times New Roman"/>
            </a:endParaRPr>
          </a:p>
          <a:p>
            <a:pPr marL="228600" indent="-228600">
              <a:spcBef>
                <a:spcPts val="451"/>
              </a:spcBef>
              <a:buClr>
                <a:srgbClr val="000000"/>
              </a:buClr>
              <a:buFont typeface="Times New Roman"/>
              <a:buAutoNum type="arabicPeriod"/>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Times New Roman"/>
              </a:rPr>
              <a:t>RTP emphasize operations.  There are some significant operations problems in and around major freight centers.  The private sector is already doing a lot. There are ITS option and innovative multi-modal solutions</a:t>
            </a:r>
            <a:endParaRPr b="0" lang="en-IN" sz="1200" strike="noStrike" u="none">
              <a:solidFill>
                <a:srgbClr val="000000"/>
              </a:solidFill>
              <a:effectLst/>
              <a:uFillTx/>
              <a:latin typeface="Times New Roman"/>
            </a:endParaRPr>
          </a:p>
          <a:p>
            <a:pPr marL="228600" indent="-228600">
              <a:spcBef>
                <a:spcPts val="451"/>
              </a:spcBef>
              <a:buClr>
                <a:srgbClr val="000000"/>
              </a:buClr>
              <a:buFont typeface="Times New Roman"/>
              <a:buAutoNum type="arabicPeriod"/>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Times New Roman"/>
              </a:rPr>
              <a:t>Need to describe the different segments of the freight industry and point out that there choice of routes, time of day, types of equipment are customer driven.  Some of the solutions that people think about don’t mesh well with the customer drivers.</a:t>
            </a:r>
            <a:endParaRPr b="0" lang="en-IN" sz="1200" strike="noStrike" u="non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2" name="PlaceHolder 1"/>
          <p:cNvSpPr>
            <a:spLocks noGrp="1"/>
          </p:cNvSpPr>
          <p:nvPr>
            <p:ph type="sldImg"/>
          </p:nvPr>
        </p:nvSpPr>
        <p:spPr>
          <a:xfrm>
            <a:off x="1190520" y="703440"/>
            <a:ext cx="4630680" cy="3473280"/>
          </a:xfrm>
          <a:prstGeom prst="rect">
            <a:avLst/>
          </a:prstGeom>
          <a:ln w="0">
            <a:noFill/>
          </a:ln>
        </p:spPr>
      </p:sp>
      <p:sp>
        <p:nvSpPr>
          <p:cNvPr id="393" name="PlaceHolder 2"/>
          <p:cNvSpPr>
            <a:spLocks noGrp="1"/>
          </p:cNvSpPr>
          <p:nvPr>
            <p:ph type="body"/>
          </p:nvPr>
        </p:nvSpPr>
        <p:spPr>
          <a:xfrm>
            <a:off x="934560" y="4416120"/>
            <a:ext cx="5140440" cy="4182840"/>
          </a:xfrm>
          <a:prstGeom prst="rect">
            <a:avLst/>
          </a:prstGeom>
          <a:noFill/>
          <a:ln w="0">
            <a:noFill/>
          </a:ln>
        </p:spPr>
        <p:txBody>
          <a:bodyPr lIns="93960" rIns="93960" tIns="46800" bIns="4680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Times New Roman"/>
              </a:rPr>
              <a:t>This slide summarizes just a few of the key issues coming up at the federal and state level.  Emphasize our roles in reauthorization (both public and private sector)</a:t>
            </a:r>
            <a:endParaRPr b="0" lang="en-IN" sz="1200" strike="noStrike" u="non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4" name="PlaceHolder 1"/>
          <p:cNvSpPr>
            <a:spLocks noGrp="1"/>
          </p:cNvSpPr>
          <p:nvPr>
            <p:ph type="sldImg"/>
          </p:nvPr>
        </p:nvSpPr>
        <p:spPr>
          <a:xfrm>
            <a:off x="1190520" y="703440"/>
            <a:ext cx="4630680" cy="3473280"/>
          </a:xfrm>
          <a:prstGeom prst="rect">
            <a:avLst/>
          </a:prstGeom>
          <a:ln w="0">
            <a:noFill/>
          </a:ln>
        </p:spPr>
      </p:sp>
      <p:sp>
        <p:nvSpPr>
          <p:cNvPr id="395" name="PlaceHolder 2"/>
          <p:cNvSpPr>
            <a:spLocks noGrp="1"/>
          </p:cNvSpPr>
          <p:nvPr>
            <p:ph type="body"/>
          </p:nvPr>
        </p:nvSpPr>
        <p:spPr>
          <a:xfrm>
            <a:off x="934560" y="4416120"/>
            <a:ext cx="5140440" cy="4182840"/>
          </a:xfrm>
          <a:prstGeom prst="rect">
            <a:avLst/>
          </a:prstGeom>
          <a:noFill/>
          <a:ln w="0">
            <a:noFill/>
          </a:ln>
        </p:spPr>
        <p:txBody>
          <a:bodyPr lIns="93960" rIns="93960" tIns="46800" bIns="4680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200" strike="noStrike" u="none">
                <a:solidFill>
                  <a:srgbClr val="000000"/>
                </a:solidFill>
                <a:effectLst/>
                <a:uFillTx/>
                <a:latin typeface="Times New Roman"/>
              </a:rPr>
              <a:t>Economic Structure</a:t>
            </a:r>
            <a:r>
              <a:rPr b="0" lang="en-IN" sz="1200" strike="noStrike" u="none">
                <a:solidFill>
                  <a:srgbClr val="000000"/>
                </a:solidFill>
                <a:effectLst/>
                <a:uFillTx/>
                <a:latin typeface="Times New Roman"/>
              </a:rPr>
              <a:t> – Key trade relationships.  Both their economic and geographic dimension.  What are the local, national, and international economic factors that will drive demand for goods movement.</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200" strike="noStrike" u="none">
                <a:solidFill>
                  <a:srgbClr val="000000"/>
                </a:solidFill>
                <a:effectLst/>
                <a:uFillTx/>
                <a:latin typeface="Times New Roman"/>
              </a:rPr>
              <a:t>Industry Logistics Patterns –</a:t>
            </a:r>
            <a:r>
              <a:rPr b="0" lang="en-IN" sz="1200" strike="noStrike" u="none">
                <a:solidFill>
                  <a:srgbClr val="000000"/>
                </a:solidFill>
                <a:effectLst/>
                <a:uFillTx/>
                <a:latin typeface="Times New Roman"/>
              </a:rPr>
              <a:t>How do supply chains and distribution patterns work for the key industries.  How do they create customer requirements that drive decisions.  Factors such as location of DCs, order rates and time sensitivity, transport/inventory cost tradeoffs.  What are the key technology trends.</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200" strike="noStrike" u="none">
                <a:solidFill>
                  <a:srgbClr val="000000"/>
                </a:solidFill>
                <a:effectLst/>
                <a:uFillTx/>
                <a:latin typeface="Times New Roman"/>
              </a:rPr>
              <a:t>Goods Movement Infrastructure </a:t>
            </a:r>
            <a:r>
              <a:rPr b="0" lang="en-IN" sz="1200" strike="noStrike" u="none">
                <a:solidFill>
                  <a:srgbClr val="000000"/>
                </a:solidFill>
                <a:effectLst/>
                <a:uFillTx/>
                <a:latin typeface="Times New Roman"/>
              </a:rPr>
              <a:t> -- Gather the maps and data on all the key elements and those characteristics that affect service.</a:t>
            </a:r>
            <a:endParaRPr b="0" lang="en-IN" sz="1200" strike="noStrike" u="none">
              <a:solidFill>
                <a:srgbClr val="000000"/>
              </a:solidFill>
              <a:effectLst/>
              <a:uFillTx/>
              <a:latin typeface="Times New Roman"/>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200" strike="noStrike" u="none">
                <a:solidFill>
                  <a:srgbClr val="000000"/>
                </a:solidFill>
                <a:effectLst/>
                <a:uFillTx/>
                <a:latin typeface="Times New Roman"/>
              </a:rPr>
              <a:t>Traffic Flows</a:t>
            </a:r>
            <a:r>
              <a:rPr b="0" lang="en-IN" sz="1200" strike="noStrike" u="none">
                <a:solidFill>
                  <a:srgbClr val="000000"/>
                </a:solidFill>
                <a:effectLst/>
                <a:uFillTx/>
                <a:latin typeface="Times New Roman"/>
              </a:rPr>
              <a:t> – Commodity data, traffic data, trips</a:t>
            </a:r>
            <a:endParaRPr b="0" lang="en-IN" sz="1200" strike="noStrike" u="non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6" name="PlaceHolder 1"/>
          <p:cNvSpPr>
            <a:spLocks noGrp="1"/>
          </p:cNvSpPr>
          <p:nvPr>
            <p:ph type="sldImg"/>
          </p:nvPr>
        </p:nvSpPr>
        <p:spPr>
          <a:xfrm>
            <a:off x="1190520" y="703440"/>
            <a:ext cx="4630680" cy="3473280"/>
          </a:xfrm>
          <a:prstGeom prst="rect">
            <a:avLst/>
          </a:prstGeom>
          <a:ln w="0">
            <a:noFill/>
          </a:ln>
        </p:spPr>
      </p:sp>
      <p:sp>
        <p:nvSpPr>
          <p:cNvPr id="397" name="PlaceHolder 2"/>
          <p:cNvSpPr>
            <a:spLocks noGrp="1"/>
          </p:cNvSpPr>
          <p:nvPr>
            <p:ph type="body"/>
          </p:nvPr>
        </p:nvSpPr>
        <p:spPr>
          <a:xfrm>
            <a:off x="934560" y="4416120"/>
            <a:ext cx="5140440" cy="4182840"/>
          </a:xfrm>
          <a:prstGeom prst="rect">
            <a:avLst/>
          </a:prstGeom>
          <a:noFill/>
          <a:ln w="0">
            <a:noFill/>
          </a:ln>
        </p:spPr>
        <p:txBody>
          <a:bodyPr lIns="93960" rIns="93960" tIns="46800" bIns="4680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Times New Roman"/>
              </a:rPr>
              <a:t>I want to try to describe the types of industries and sub-regional importance of the goods movement cluster.  I’d also like to describe our overall approach to cluster analysis since it may not have been clear in the prop.</a:t>
            </a:r>
            <a:endParaRPr b="0" lang="en-IN" sz="1200" strike="noStrike" u="non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8" name="PlaceHolder 1"/>
          <p:cNvSpPr>
            <a:spLocks noGrp="1"/>
          </p:cNvSpPr>
          <p:nvPr>
            <p:ph type="sldImg"/>
          </p:nvPr>
        </p:nvSpPr>
        <p:spPr>
          <a:xfrm>
            <a:off x="1190520" y="703440"/>
            <a:ext cx="4630680" cy="3473280"/>
          </a:xfrm>
          <a:prstGeom prst="rect">
            <a:avLst/>
          </a:prstGeom>
          <a:ln w="0">
            <a:noFill/>
          </a:ln>
        </p:spPr>
      </p:sp>
      <p:sp>
        <p:nvSpPr>
          <p:cNvPr id="399" name="PlaceHolder 2"/>
          <p:cNvSpPr>
            <a:spLocks noGrp="1"/>
          </p:cNvSpPr>
          <p:nvPr>
            <p:ph type="body"/>
          </p:nvPr>
        </p:nvSpPr>
        <p:spPr>
          <a:xfrm>
            <a:off x="934560" y="4416120"/>
            <a:ext cx="5140440" cy="4182840"/>
          </a:xfrm>
          <a:prstGeom prst="rect">
            <a:avLst/>
          </a:prstGeom>
          <a:noFill/>
          <a:ln w="0">
            <a:noFill/>
          </a:ln>
        </p:spPr>
        <p:txBody>
          <a:bodyPr lIns="93240" rIns="93240" tIns="46440" bIns="4644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Times New Roman"/>
              </a:rPr>
              <a:t>Here I want to introduce the idea that we are going to screen for economically significant industries that use a lot of transportation.  Again, need to flesh out our approach.</a:t>
            </a:r>
            <a:endParaRPr b="0" lang="en-IN" sz="1200" strike="noStrike" u="non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0" name="PlaceHolder 1"/>
          <p:cNvSpPr>
            <a:spLocks noGrp="1"/>
          </p:cNvSpPr>
          <p:nvPr>
            <p:ph type="sldImg"/>
          </p:nvPr>
        </p:nvSpPr>
        <p:spPr>
          <a:xfrm>
            <a:off x="1190520" y="703440"/>
            <a:ext cx="4630680" cy="3473280"/>
          </a:xfrm>
          <a:prstGeom prst="rect">
            <a:avLst/>
          </a:prstGeom>
          <a:ln w="0">
            <a:noFill/>
          </a:ln>
        </p:spPr>
      </p:sp>
      <p:sp>
        <p:nvSpPr>
          <p:cNvPr id="401" name="PlaceHolder 2"/>
          <p:cNvSpPr>
            <a:spLocks noGrp="1"/>
          </p:cNvSpPr>
          <p:nvPr>
            <p:ph type="body"/>
          </p:nvPr>
        </p:nvSpPr>
        <p:spPr>
          <a:xfrm>
            <a:off x="934560" y="4416120"/>
            <a:ext cx="5140440" cy="4182840"/>
          </a:xfrm>
          <a:prstGeom prst="rect">
            <a:avLst/>
          </a:prstGeom>
          <a:noFill/>
          <a:ln w="0">
            <a:noFill/>
          </a:ln>
        </p:spPr>
        <p:txBody>
          <a:bodyPr lIns="93240" rIns="93240" tIns="46440" bIns="4644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Times New Roman"/>
              </a:rPr>
              <a:t>I want to try to describe the types of industries and sub-regional importance of the goods movement cluster.  I’d also like to describe our overall approach to cluster analysis since it may not have been clear in the prop.</a:t>
            </a:r>
            <a:endParaRPr b="0" lang="en-IN" sz="1200" strike="noStrike" u="non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2" name="PlaceHolder 1"/>
          <p:cNvSpPr>
            <a:spLocks noGrp="1"/>
          </p:cNvSpPr>
          <p:nvPr>
            <p:ph type="sldImg"/>
          </p:nvPr>
        </p:nvSpPr>
        <p:spPr>
          <a:xfrm>
            <a:off x="1190520" y="703440"/>
            <a:ext cx="4630680" cy="3473280"/>
          </a:xfrm>
          <a:prstGeom prst="rect">
            <a:avLst/>
          </a:prstGeom>
          <a:ln w="0">
            <a:noFill/>
          </a:ln>
        </p:spPr>
      </p:sp>
      <p:sp>
        <p:nvSpPr>
          <p:cNvPr id="403" name="PlaceHolder 2"/>
          <p:cNvSpPr>
            <a:spLocks noGrp="1"/>
          </p:cNvSpPr>
          <p:nvPr>
            <p:ph type="body"/>
          </p:nvPr>
        </p:nvSpPr>
        <p:spPr>
          <a:xfrm>
            <a:off x="934560" y="4416120"/>
            <a:ext cx="5140440" cy="4182840"/>
          </a:xfrm>
          <a:prstGeom prst="rect">
            <a:avLst/>
          </a:prstGeom>
          <a:noFill/>
          <a:ln w="0">
            <a:noFill/>
          </a:ln>
        </p:spPr>
        <p:txBody>
          <a:bodyPr lIns="93960" rIns="93960" tIns="46800" bIns="4680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Times New Roman"/>
              </a:rPr>
              <a:t>Just want to describe a few of the key issues that have already emerged in other studies.  Some anecdotes from the Port Services Location Study would be helpful</a:t>
            </a:r>
            <a:endParaRPr b="0" lang="en-IN" sz="1200" strike="noStrike" u="non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4" name="PlaceHolder 1"/>
          <p:cNvSpPr>
            <a:spLocks noGrp="1"/>
          </p:cNvSpPr>
          <p:nvPr>
            <p:ph type="sldImg"/>
          </p:nvPr>
        </p:nvSpPr>
        <p:spPr>
          <a:xfrm>
            <a:off x="1190520" y="703440"/>
            <a:ext cx="4630680" cy="3473280"/>
          </a:xfrm>
          <a:prstGeom prst="rect">
            <a:avLst/>
          </a:prstGeom>
          <a:ln w="0">
            <a:noFill/>
          </a:ln>
        </p:spPr>
      </p:sp>
      <p:sp>
        <p:nvSpPr>
          <p:cNvPr id="405" name="PlaceHolder 2"/>
          <p:cNvSpPr>
            <a:spLocks noGrp="1"/>
          </p:cNvSpPr>
          <p:nvPr>
            <p:ph type="body"/>
          </p:nvPr>
        </p:nvSpPr>
        <p:spPr>
          <a:xfrm>
            <a:off x="934560" y="4416120"/>
            <a:ext cx="5140440" cy="4182840"/>
          </a:xfrm>
          <a:prstGeom prst="rect">
            <a:avLst/>
          </a:prstGeom>
          <a:noFill/>
          <a:ln w="0">
            <a:noFill/>
          </a:ln>
        </p:spPr>
        <p:txBody>
          <a:bodyPr lIns="93960" rIns="93960" tIns="46800" bIns="4680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Times New Roman"/>
              </a:rPr>
              <a:t>The main point I want to make here is that we know the stakeholders and can engage them and that we have a good idea of what some of the key issues are.  This would be a good place to put in some technical nuggets about operational problems in specific Bay Area corridors.  Ideas from anyone on the team will be helpful.</a:t>
            </a:r>
            <a:endParaRPr b="0" lang="en-IN" sz="1200" strike="noStrike" u="non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6" name="PlaceHolder 1"/>
          <p:cNvSpPr>
            <a:spLocks noGrp="1"/>
          </p:cNvSpPr>
          <p:nvPr>
            <p:ph type="sldImg"/>
          </p:nvPr>
        </p:nvSpPr>
        <p:spPr>
          <a:xfrm>
            <a:off x="1190520" y="703440"/>
            <a:ext cx="4630680" cy="3473280"/>
          </a:xfrm>
          <a:prstGeom prst="rect">
            <a:avLst/>
          </a:prstGeom>
          <a:ln w="0">
            <a:noFill/>
          </a:ln>
        </p:spPr>
      </p:sp>
      <p:sp>
        <p:nvSpPr>
          <p:cNvPr id="407" name="PlaceHolder 2"/>
          <p:cNvSpPr>
            <a:spLocks noGrp="1"/>
          </p:cNvSpPr>
          <p:nvPr>
            <p:ph type="body"/>
          </p:nvPr>
        </p:nvSpPr>
        <p:spPr>
          <a:xfrm>
            <a:off x="934560" y="4416120"/>
            <a:ext cx="5140440" cy="4182840"/>
          </a:xfrm>
          <a:prstGeom prst="rect">
            <a:avLst/>
          </a:prstGeom>
          <a:noFill/>
          <a:ln w="0">
            <a:noFill/>
          </a:ln>
        </p:spPr>
        <p:txBody>
          <a:bodyPr lIns="93960" rIns="93960" tIns="46800" bIns="4680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Times New Roman"/>
              </a:rPr>
              <a:t>I’d like to describe the method and show how we used it effectively in Puget Sound Region.  I’d also like to use this slide to emphasize that many of the critical roadway capacity issues are well documented and the solutions are already in the TIP.</a:t>
            </a:r>
            <a:endParaRPr b="0" lang="en-IN" sz="1200" strike="noStrike" u="none">
              <a:solidFill>
                <a:srgbClr val="000000"/>
              </a:solidFill>
              <a:effectLst/>
              <a:uFillTx/>
              <a:latin typeface="Times New Roman"/>
            </a:endParaRPr>
          </a:p>
          <a:p>
            <a:pPr>
              <a:spcBef>
                <a:spcPts val="451"/>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Times New Roman"/>
              </a:rPr>
              <a:t>This study can maybe bring the national implications of some of these to the forefront for use in reauthorization lobbying.</a:t>
            </a:r>
            <a:endParaRPr b="0" lang="en-IN" sz="1200" strike="noStrike" u="none">
              <a:solidFill>
                <a:srgbClr val="000000"/>
              </a:solidFill>
              <a:effectLst/>
              <a:uFillTx/>
              <a:latin typeface="Times New Roman"/>
            </a:endParaRPr>
          </a:p>
          <a:p>
            <a:pPr>
              <a:spcBef>
                <a:spcPts val="451"/>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Times New Roman"/>
              </a:rPr>
              <a:t>Start focusing on some non-traditional strategies that are multi-modal</a:t>
            </a:r>
            <a:endParaRPr b="0" lang="en-IN" sz="1200" strike="noStrike" u="none">
              <a:solidFill>
                <a:srgbClr val="000000"/>
              </a:solidFill>
              <a:effectLst/>
              <a:uFillTx/>
              <a:latin typeface="Times New Roman"/>
            </a:endParaRPr>
          </a:p>
        </p:txBody>
      </p:sp>
    </p:spTree>
  </p:cSld>
</p:notes>
</file>

<file path=ppt/notesSlides/notesSlide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8" name=""/>
          <p:cNvSpPr txBox="1"/>
          <p:nvPr/>
        </p:nvSpPr>
        <p:spPr>
          <a:xfrm>
            <a:off x="3971880" y="8831160"/>
            <a:ext cx="3038400" cy="465120"/>
          </a:xfrm>
          <a:prstGeom prst="rect">
            <a:avLst/>
          </a:prstGeom>
          <a:noFill/>
          <a:ln w="0">
            <a:noFill/>
          </a:ln>
        </p:spPr>
        <p:txBody>
          <a:bodyPr lIns="19440" rIns="19440" tIns="0" bIns="0" anchor="b">
            <a:noAutofit/>
          </a:bodyPr>
          <a:p>
            <a:pPr algn="r">
              <a:tabLst>
                <a:tab algn="l" pos="0"/>
                <a:tab algn="l" pos="932040"/>
                <a:tab algn="l" pos="1863720"/>
                <a:tab algn="l" pos="2795760"/>
                <a:tab algn="l" pos="3727440"/>
                <a:tab algn="l" pos="4659480"/>
                <a:tab algn="l" pos="5591160"/>
                <a:tab algn="l" pos="6523200"/>
                <a:tab algn="l" pos="7454880"/>
                <a:tab algn="l" pos="8386920"/>
                <a:tab algn="l" pos="9318600"/>
                <a:tab algn="l" pos="10250640"/>
              </a:tabLst>
            </a:pPr>
            <a:fld id="{84A94879-3A50-47C5-944C-01114B6F8ED6}" type="slidenum">
              <a:rPr b="0" i="1" lang="en-IN" sz="1000" strike="noStrike" u="none">
                <a:solidFill>
                  <a:srgbClr val="000000"/>
                </a:solidFill>
                <a:effectLst/>
                <a:uFillTx/>
                <a:latin typeface="Times New Roman"/>
              </a:rPr>
              <a:t>&lt;number&gt;</a:t>
            </a:fld>
            <a:endParaRPr b="0" lang="en-IN" sz="1000" strike="noStrike" u="none">
              <a:solidFill>
                <a:srgbClr val="000000"/>
              </a:solidFill>
              <a:effectLst/>
              <a:uFillTx/>
              <a:latin typeface="Times New Roman"/>
            </a:endParaRPr>
          </a:p>
        </p:txBody>
      </p:sp>
      <p:sp>
        <p:nvSpPr>
          <p:cNvPr id="409" name=""/>
          <p:cNvSpPr txBox="1"/>
          <p:nvPr/>
        </p:nvSpPr>
        <p:spPr>
          <a:xfrm>
            <a:off x="0" y="8831160"/>
            <a:ext cx="3038400" cy="465120"/>
          </a:xfrm>
          <a:prstGeom prst="rect">
            <a:avLst/>
          </a:prstGeom>
          <a:noFill/>
          <a:ln w="0">
            <a:noFill/>
          </a:ln>
        </p:spPr>
        <p:txBody>
          <a:bodyPr lIns="19440" rIns="19440" tIns="0" bIns="0" anchor="b">
            <a:noAutofit/>
          </a:bodyPr>
          <a:p>
            <a:pPr>
              <a:tabLst>
                <a:tab algn="l" pos="0"/>
                <a:tab algn="l" pos="932040"/>
                <a:tab algn="l" pos="1863720"/>
                <a:tab algn="l" pos="2795760"/>
                <a:tab algn="l" pos="3727440"/>
                <a:tab algn="l" pos="4659480"/>
                <a:tab algn="l" pos="5591160"/>
                <a:tab algn="l" pos="6523200"/>
                <a:tab algn="l" pos="7454880"/>
                <a:tab algn="l" pos="8386920"/>
                <a:tab algn="l" pos="9318600"/>
                <a:tab algn="l" pos="10250640"/>
              </a:tabLst>
            </a:pPr>
            <a:r>
              <a:rPr b="0" i="1" lang="en-IN" sz="1000" strike="noStrike" u="none">
                <a:solidFill>
                  <a:srgbClr val="000000"/>
                </a:solidFill>
                <a:effectLst/>
                <a:uFillTx/>
                <a:latin typeface="Times New Roman"/>
              </a:rPr>
              <a:t>&lt;footer&gt;</a:t>
            </a:r>
            <a:endParaRPr b="0" lang="en-IN" sz="1000" strike="noStrike" u="none">
              <a:solidFill>
                <a:srgbClr val="000000"/>
              </a:solidFill>
              <a:effectLst/>
              <a:uFillTx/>
              <a:latin typeface="Times New Roman"/>
            </a:endParaRPr>
          </a:p>
        </p:txBody>
      </p:sp>
      <p:sp>
        <p:nvSpPr>
          <p:cNvPr id="410" name=""/>
          <p:cNvSpPr txBox="1"/>
          <p:nvPr/>
        </p:nvSpPr>
        <p:spPr>
          <a:xfrm>
            <a:off x="0" y="0"/>
            <a:ext cx="3038400" cy="465120"/>
          </a:xfrm>
          <a:prstGeom prst="rect">
            <a:avLst/>
          </a:prstGeom>
          <a:noFill/>
          <a:ln w="0">
            <a:noFill/>
          </a:ln>
        </p:spPr>
        <p:txBody>
          <a:bodyPr lIns="19440" rIns="19440" tIns="0" bIns="0" anchor="t">
            <a:noAutofit/>
          </a:bodyPr>
          <a:p>
            <a:pPr>
              <a:tabLst>
                <a:tab algn="l" pos="0"/>
                <a:tab algn="l" pos="932040"/>
                <a:tab algn="l" pos="1863720"/>
                <a:tab algn="l" pos="2795760"/>
                <a:tab algn="l" pos="3727440"/>
                <a:tab algn="l" pos="4659480"/>
                <a:tab algn="l" pos="5591160"/>
                <a:tab algn="l" pos="6523200"/>
                <a:tab algn="l" pos="7454880"/>
                <a:tab algn="l" pos="8386920"/>
                <a:tab algn="l" pos="9318600"/>
                <a:tab algn="l" pos="10250640"/>
              </a:tabLst>
            </a:pPr>
            <a:r>
              <a:rPr b="0" i="1" lang="en-IN" sz="1000" strike="noStrike" u="none">
                <a:solidFill>
                  <a:srgbClr val="000000"/>
                </a:solidFill>
                <a:effectLst/>
                <a:uFillTx/>
                <a:latin typeface="Times New Roman"/>
              </a:rPr>
              <a:t>&lt;header&gt;</a:t>
            </a:r>
            <a:endParaRPr b="0" lang="en-IN" sz="1000" strike="noStrike" u="none">
              <a:solidFill>
                <a:srgbClr val="000000"/>
              </a:solidFill>
              <a:effectLst/>
              <a:uFillTx/>
              <a:latin typeface="Times New Roman"/>
            </a:endParaRPr>
          </a:p>
        </p:txBody>
      </p:sp>
      <p:sp>
        <p:nvSpPr>
          <p:cNvPr id="411" name=""/>
          <p:cNvSpPr txBox="1"/>
          <p:nvPr/>
        </p:nvSpPr>
        <p:spPr>
          <a:xfrm>
            <a:off x="3971880" y="0"/>
            <a:ext cx="3038400" cy="465120"/>
          </a:xfrm>
          <a:prstGeom prst="rect">
            <a:avLst/>
          </a:prstGeom>
          <a:noFill/>
          <a:ln w="0">
            <a:noFill/>
          </a:ln>
        </p:spPr>
        <p:txBody>
          <a:bodyPr lIns="19440" rIns="19440" tIns="0" bIns="0" anchor="t">
            <a:noAutofit/>
          </a:bodyPr>
          <a:p>
            <a:pPr algn="r">
              <a:tabLst>
                <a:tab algn="l" pos="0"/>
                <a:tab algn="l" pos="932040"/>
                <a:tab algn="l" pos="1863720"/>
                <a:tab algn="l" pos="2795760"/>
                <a:tab algn="l" pos="3727440"/>
                <a:tab algn="l" pos="4659480"/>
                <a:tab algn="l" pos="5591160"/>
                <a:tab algn="l" pos="6523200"/>
                <a:tab algn="l" pos="7454880"/>
                <a:tab algn="l" pos="8386920"/>
                <a:tab algn="l" pos="9318600"/>
                <a:tab algn="l" pos="10250640"/>
              </a:tabLst>
            </a:pPr>
            <a:r>
              <a:rPr b="0" i="1" lang="en-IN" sz="1000" strike="noStrike" u="none">
                <a:solidFill>
                  <a:srgbClr val="000000"/>
                </a:solidFill>
                <a:effectLst/>
                <a:uFillTx/>
                <a:latin typeface="Times New Roman"/>
              </a:rPr>
              <a:t>&lt;date/time&gt;</a:t>
            </a:r>
            <a:endParaRPr b="0" lang="en-IN" sz="1000" strike="noStrike" u="none">
              <a:solidFill>
                <a:srgbClr val="000000"/>
              </a:solidFill>
              <a:effectLst/>
              <a:uFillTx/>
              <a:latin typeface="Times New Roman"/>
            </a:endParaRPr>
          </a:p>
        </p:txBody>
      </p:sp>
      <p:sp>
        <p:nvSpPr>
          <p:cNvPr id="412" name="PlaceHolder 1"/>
          <p:cNvSpPr>
            <a:spLocks noGrp="1"/>
          </p:cNvSpPr>
          <p:nvPr>
            <p:ph type="sldImg"/>
          </p:nvPr>
        </p:nvSpPr>
        <p:spPr>
          <a:xfrm>
            <a:off x="1181160" y="698400"/>
            <a:ext cx="4648320" cy="3486240"/>
          </a:xfrm>
          <a:prstGeom prst="rect">
            <a:avLst/>
          </a:prstGeom>
          <a:ln w="0">
            <a:noFill/>
          </a:ln>
        </p:spPr>
      </p:sp>
      <p:sp>
        <p:nvSpPr>
          <p:cNvPr id="413" name="PlaceHolder 2"/>
          <p:cNvSpPr>
            <a:spLocks noGrp="1"/>
          </p:cNvSpPr>
          <p:nvPr>
            <p:ph type="body"/>
          </p:nvPr>
        </p:nvSpPr>
        <p:spPr>
          <a:xfrm>
            <a:off x="934560" y="4416120"/>
            <a:ext cx="5140440" cy="4181400"/>
          </a:xfrm>
          <a:prstGeom prst="rect">
            <a:avLst/>
          </a:prstGeom>
          <a:noFill/>
          <a:ln w="0">
            <a:noFill/>
          </a:ln>
        </p:spPr>
        <p:txBody>
          <a:bodyPr lIns="93960" rIns="93960" tIns="46800" bIns="46800" anchor="t">
            <a:noAutofit/>
          </a:bodyPr>
          <a:p>
            <a:pPr indent="0">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Times New Roman"/>
              </a:rPr>
              <a:t>As the results from our conferences become available, here is a summary of the Freight Finance meeting.  </a:t>
            </a:r>
            <a:endParaRPr b="0" lang="en-IN" sz="1600" strike="noStrike" u="none">
              <a:solidFill>
                <a:srgbClr val="000000"/>
              </a:solidFill>
              <a:effectLst/>
              <a:uFillTx/>
              <a:latin typeface="Times New Roman"/>
            </a:endParaRPr>
          </a:p>
          <a:p>
            <a:pPr indent="0">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600" strike="noStrike" u="none">
              <a:solidFill>
                <a:srgbClr val="000000"/>
              </a:solidFill>
              <a:effectLst/>
              <a:uFillTx/>
              <a:latin typeface="Times New Roman"/>
            </a:endParaRPr>
          </a:p>
          <a:p>
            <a:pPr indent="0">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Times New Roman"/>
              </a:rPr>
              <a:t>Freight Finance is a large challenge.  The first DOT freight outreach conference was conducted in St. Louis Apr. 29-May 1 resulted in a number of recommendations for possible funding mechanisms for freight projects in the future.  They include both changes in eligibility of existing programs and new programs or revenue sources.</a:t>
            </a:r>
            <a:endParaRPr b="0" lang="en-IN" sz="1600" strike="noStrike" u="none">
              <a:solidFill>
                <a:srgbClr val="000000"/>
              </a:solidFill>
              <a:effectLst/>
              <a:uFillTx/>
              <a:latin typeface="Times New Roman"/>
            </a:endParaRPr>
          </a:p>
          <a:p>
            <a:pPr indent="0">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600" strike="noStrike" u="none">
              <a:solidFill>
                <a:srgbClr val="000000"/>
              </a:solidFill>
              <a:effectLst/>
              <a:uFillTx/>
              <a:latin typeface="Times New Roman"/>
            </a:endParaRPr>
          </a:p>
          <a:p>
            <a:pPr indent="0">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Times New Roman"/>
              </a:rPr>
              <a:t>The conference materials are being posted to our website.</a:t>
            </a:r>
            <a:endParaRPr b="0" lang="en-IN" sz="1600" strike="noStrike" u="non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p:spTree>
      <p:nvGrpSpPr>
        <p:cNvPr id="1" name=""/>
        <p:cNvGrpSpPr/>
        <p:nvPr/>
      </p:nvGrpSpPr>
      <p:grpSpPr>
        <a:xfrm>
          <a:off x="0" y="0"/>
          <a:ext cx="0" cy="0"/>
          <a:chOff x="0" y="0"/>
          <a:chExt cx="0" cy="0"/>
        </a:xfrm>
      </p:grpSpPr>
      <p:sp>
        <p:nvSpPr>
          <p:cNvPr id="11" name="PlaceHolder 1"/>
          <p:cNvSpPr>
            <a:spLocks noGrp="1"/>
          </p:cNvSpPr>
          <p:nvPr>
            <p:ph type="title"/>
          </p:nvPr>
        </p:nvSpPr>
        <p:spPr>
          <a:xfrm>
            <a:off x="380880" y="609480"/>
            <a:ext cx="7772400" cy="609840"/>
          </a:xfrm>
          <a:prstGeom prst="rect">
            <a:avLst/>
          </a:prstGeom>
          <a:noFill/>
          <a:ln w="0">
            <a:noFill/>
          </a:ln>
        </p:spPr>
        <p:txBody>
          <a:bodyPr lIns="92160" rIns="92160" tIns="46080" bIns="46080" anchor="t">
            <a:spAutoFit/>
          </a:bodyPr>
          <a:p>
            <a:pPr indent="0">
              <a:lnSpc>
                <a:spcPct val="85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i="1" lang="en-IN" sz="2800" strike="noStrike" u="none">
              <a:solidFill>
                <a:srgbClr val="fafd00"/>
              </a:solidFill>
              <a:effectLst/>
              <a:uFillTx/>
              <a:latin typeface="Arial"/>
            </a:endParaRPr>
          </a:p>
        </p:txBody>
      </p:sp>
      <p:sp>
        <p:nvSpPr>
          <p:cNvPr id="12" name="PlaceHolder 2"/>
          <p:cNvSpPr>
            <a:spLocks noGrp="1"/>
          </p:cNvSpPr>
          <p:nvPr>
            <p:ph/>
          </p:nvPr>
        </p:nvSpPr>
        <p:spPr>
          <a:xfrm>
            <a:off x="380880" y="1447920"/>
            <a:ext cx="7772400" cy="4114800"/>
          </a:xfrm>
          <a:prstGeom prst="rect">
            <a:avLst/>
          </a:prstGeom>
          <a:noFill/>
          <a:ln w="0">
            <a:noFill/>
          </a:ln>
        </p:spPr>
        <p:txBody>
          <a:bodyPr lIns="92160" rIns="92160" tIns="46080" bIns="46080" anchor="t">
            <a:normAutofit/>
          </a:bodyPr>
          <a:p>
            <a:pPr indent="0">
              <a:lnSpc>
                <a:spcPct val="95000"/>
              </a:lnSpc>
              <a:spcBef>
                <a:spcPts val="3124"/>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1" lang="en-IN" sz="2000" strike="noStrike" u="none">
              <a:solidFill>
                <a:srgbClr val="ffffff"/>
              </a:solidFill>
              <a:effectLst/>
              <a:uFillTx/>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4191321D-36B6-492F-BD68-3B22538CFF0A}" type="slidenum">
              <a:t>&lt;#&gt;</a:t>
            </a:fld>
          </a:p>
        </p:txBody>
      </p:sp>
      <p:sp>
        <p:nvSpPr>
          <p:cNvPr id="6" name="PlaceHolder 5"/>
          <p:cNvSpPr>
            <a:spLocks noGrp="1"/>
          </p:cNvSpPr>
          <p:nvPr>
            <p:ph type="dt" idx="1"/>
          </p:nvPr>
        </p:nvSpPr>
        <p:spPr/>
        <p:txBody>
          <a:bodyPr/>
          <a:p>
            <a:r>
              <a:rPr lang="en-IN"/>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AndMedia" preserve="1">
  <p:cSld name="Default">
    <p:spTree>
      <p:nvGrpSpPr>
        <p:cNvPr id="1" name=""/>
        <p:cNvGrpSpPr/>
        <p:nvPr/>
      </p:nvGrpSpPr>
      <p:grpSpPr>
        <a:xfrm>
          <a:off x="0" y="0"/>
          <a:ext cx="0" cy="0"/>
          <a:chOff x="0" y="0"/>
          <a:chExt cx="0" cy="0"/>
        </a:xfrm>
      </p:grpSpPr>
      <p:sp>
        <p:nvSpPr>
          <p:cNvPr id="13" name="PlaceHolder 1"/>
          <p:cNvSpPr>
            <a:spLocks noGrp="1"/>
          </p:cNvSpPr>
          <p:nvPr>
            <p:ph type="title"/>
          </p:nvPr>
        </p:nvSpPr>
        <p:spPr>
          <a:xfrm>
            <a:off x="380880" y="609480"/>
            <a:ext cx="7772400" cy="609840"/>
          </a:xfrm>
          <a:prstGeom prst="rect">
            <a:avLst/>
          </a:prstGeom>
          <a:noFill/>
          <a:ln w="0">
            <a:noFill/>
          </a:ln>
        </p:spPr>
        <p:txBody>
          <a:bodyPr lIns="92160" rIns="92160" tIns="46080" bIns="46080" anchor="t">
            <a:spAutoFit/>
          </a:bodyPr>
          <a:p>
            <a:pPr indent="0">
              <a:lnSpc>
                <a:spcPct val="85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i="1" lang="en-IN" sz="2800" strike="noStrike" u="none">
              <a:solidFill>
                <a:srgbClr val="fafd00"/>
              </a:solidFill>
              <a:effectLst/>
              <a:uFillTx/>
              <a:latin typeface="Arial"/>
            </a:endParaRPr>
          </a:p>
        </p:txBody>
      </p:sp>
      <p:sp>
        <p:nvSpPr>
          <p:cNvPr id="14" name="PlaceHolder 2"/>
          <p:cNvSpPr>
            <a:spLocks noGrp="1"/>
          </p:cNvSpPr>
          <p:nvPr>
            <p:ph/>
          </p:nvPr>
        </p:nvSpPr>
        <p:spPr>
          <a:xfrm>
            <a:off x="380880" y="1447920"/>
            <a:ext cx="7772400" cy="4114800"/>
          </a:xfrm>
          <a:prstGeom prst="rect">
            <a:avLst/>
          </a:prstGeom>
          <a:noFill/>
          <a:ln w="0">
            <a:noFill/>
          </a:ln>
        </p:spPr>
        <p:txBody>
          <a:bodyPr lIns="92160" rIns="92160" tIns="46080" bIns="46080" anchor="t">
            <a:normAutofit/>
          </a:bodyPr>
          <a:p>
            <a:pPr indent="0">
              <a:lnSpc>
                <a:spcPct val="95000"/>
              </a:lnSpc>
              <a:spcBef>
                <a:spcPts val="3124"/>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1" lang="en-IN" sz="2000" strike="noStrike" u="none">
              <a:solidFill>
                <a:srgbClr val="ffffff"/>
              </a:solidFill>
              <a:effectLst/>
              <a:uFillTx/>
              <a:latin typeface="Arial"/>
            </a:endParaRPr>
          </a:p>
        </p:txBody>
      </p:sp>
      <p:sp>
        <p:nvSpPr>
          <p:cNvPr id="15" name="PlaceHolder 3"/>
          <p:cNvSpPr>
            <a:spLocks noGrp="1"/>
          </p:cNvSpPr>
          <p:nvPr>
            <p:ph/>
          </p:nvPr>
        </p:nvSpPr>
        <p:spPr>
          <a:xfrm>
            <a:off x="380880" y="1447920"/>
            <a:ext cx="7772400" cy="4114800"/>
          </a:xfrm>
          <a:prstGeom prst="rect">
            <a:avLst/>
          </a:prstGeom>
          <a:noFill/>
          <a:ln w="0">
            <a:noFill/>
          </a:ln>
        </p:spPr>
        <p:txBody>
          <a:bodyPr lIns="92160" rIns="92160" tIns="46080" bIns="46080" anchor="t">
            <a:normAutofit/>
          </a:bodyPr>
          <a:p>
            <a:pPr indent="0">
              <a:lnSpc>
                <a:spcPct val="95000"/>
              </a:lnSpc>
              <a:spcBef>
                <a:spcPts val="3124"/>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1" lang="en-IN" sz="2000" strike="noStrike" u="none">
              <a:solidFill>
                <a:srgbClr val="ffffff"/>
              </a:solidFill>
              <a:effectLst/>
              <a:uFillTx/>
              <a:latin typeface="Arial"/>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32DB07FB-F152-45AC-AF06-7F0A3E1644F9}" type="slidenum">
              <a:t>&lt;#&gt;</a:t>
            </a:fld>
          </a:p>
        </p:txBody>
      </p:sp>
      <p:sp>
        <p:nvSpPr>
          <p:cNvPr id="7" name="PlaceHolder 6"/>
          <p:cNvSpPr>
            <a:spLocks noGrp="1"/>
          </p:cNvSpPr>
          <p:nvPr>
            <p:ph type="dt" idx="1"/>
          </p:nvPr>
        </p:nvSpPr>
        <p:spPr/>
        <p:txBody>
          <a:bodyPr/>
          <a:p>
            <a:r>
              <a:rPr lang="en-IN"/>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Default">
    <p:spTree>
      <p:nvGrpSpPr>
        <p:cNvPr id="1" name=""/>
        <p:cNvGrpSpPr/>
        <p:nvPr/>
      </p:nvGrpSpPr>
      <p:grpSpPr>
        <a:xfrm>
          <a:off x="0" y="0"/>
          <a:ext cx="0" cy="0"/>
          <a:chOff x="0" y="0"/>
          <a:chExt cx="0" cy="0"/>
        </a:xfrm>
      </p:grpSpPr>
      <p:sp>
        <p:nvSpPr>
          <p:cNvPr id="16" name="PlaceHolder 1"/>
          <p:cNvSpPr>
            <a:spLocks noGrp="1"/>
          </p:cNvSpPr>
          <p:nvPr>
            <p:ph type="title"/>
          </p:nvPr>
        </p:nvSpPr>
        <p:spPr>
          <a:xfrm>
            <a:off x="380880" y="609480"/>
            <a:ext cx="7772400" cy="609840"/>
          </a:xfrm>
          <a:prstGeom prst="rect">
            <a:avLst/>
          </a:prstGeom>
          <a:noFill/>
          <a:ln w="0">
            <a:noFill/>
          </a:ln>
        </p:spPr>
        <p:txBody>
          <a:bodyPr lIns="92160" rIns="92160" tIns="46080" bIns="46080" anchor="t">
            <a:spAutoFit/>
          </a:bodyPr>
          <a:p>
            <a:pPr indent="0">
              <a:lnSpc>
                <a:spcPct val="85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i="1" lang="en-IN" sz="2800" strike="noStrike" u="none">
              <a:solidFill>
                <a:srgbClr val="fafd00"/>
              </a:solidFill>
              <a:effectLst/>
              <a:uFillTx/>
              <a:latin typeface="Arial"/>
            </a:endParaRPr>
          </a:p>
        </p:txBody>
      </p:sp>
      <p:sp>
        <p:nvSpPr>
          <p:cNvPr id="17" name="PlaceHolder 2"/>
          <p:cNvSpPr>
            <a:spLocks noGrp="1"/>
          </p:cNvSpPr>
          <p:nvPr>
            <p:ph/>
          </p:nvPr>
        </p:nvSpPr>
        <p:spPr>
          <a:xfrm>
            <a:off x="380880" y="1447920"/>
            <a:ext cx="3792600" cy="4114800"/>
          </a:xfrm>
          <a:prstGeom prst="rect">
            <a:avLst/>
          </a:prstGeom>
          <a:noFill/>
          <a:ln w="0">
            <a:noFill/>
          </a:ln>
        </p:spPr>
        <p:txBody>
          <a:bodyPr lIns="92160" rIns="92160" tIns="46080" bIns="46080" anchor="t">
            <a:normAutofit/>
          </a:bodyPr>
          <a:p>
            <a:pPr indent="0">
              <a:lnSpc>
                <a:spcPct val="95000"/>
              </a:lnSpc>
              <a:spcBef>
                <a:spcPts val="3124"/>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1" lang="en-IN" sz="2000" strike="noStrike" u="none">
              <a:solidFill>
                <a:srgbClr val="ffffff"/>
              </a:solidFill>
              <a:effectLst/>
              <a:uFillTx/>
              <a:latin typeface="Arial"/>
            </a:endParaRPr>
          </a:p>
        </p:txBody>
      </p:sp>
      <p:sp>
        <p:nvSpPr>
          <p:cNvPr id="18" name="PlaceHolder 3"/>
          <p:cNvSpPr>
            <a:spLocks noGrp="1"/>
          </p:cNvSpPr>
          <p:nvPr>
            <p:ph/>
          </p:nvPr>
        </p:nvSpPr>
        <p:spPr>
          <a:xfrm>
            <a:off x="4363560" y="1447920"/>
            <a:ext cx="3792600" cy="4114800"/>
          </a:xfrm>
          <a:prstGeom prst="rect">
            <a:avLst/>
          </a:prstGeom>
          <a:noFill/>
          <a:ln w="0">
            <a:noFill/>
          </a:ln>
        </p:spPr>
        <p:txBody>
          <a:bodyPr lIns="92160" rIns="92160" tIns="46080" bIns="46080" anchor="t">
            <a:normAutofit/>
          </a:bodyPr>
          <a:p>
            <a:pPr indent="0">
              <a:lnSpc>
                <a:spcPct val="95000"/>
              </a:lnSpc>
              <a:spcBef>
                <a:spcPts val="3124"/>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1" lang="en-IN" sz="2000" strike="noStrike" u="none">
              <a:solidFill>
                <a:srgbClr val="ffffff"/>
              </a:solidFill>
              <a:effectLst/>
              <a:uFillTx/>
              <a:latin typeface="Arial"/>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E11401B3-E4B9-4B11-B8F1-516807AD3E18}" type="slidenum">
              <a:t>&lt;#&gt;</a:t>
            </a:fld>
          </a:p>
        </p:txBody>
      </p:sp>
      <p:sp>
        <p:nvSpPr>
          <p:cNvPr id="7" name="PlaceHolder 6"/>
          <p:cNvSpPr>
            <a:spLocks noGrp="1"/>
          </p:cNvSpPr>
          <p:nvPr>
            <p:ph type="dt" idx="1"/>
          </p:nvPr>
        </p:nvSpPr>
        <p:spPr/>
        <p:txBody>
          <a:bodyPr/>
          <a:p>
            <a:r>
              <a:rPr lang="en-IN"/>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p:spTree>
      <p:nvGrpSpPr>
        <p:cNvPr id="1" name=""/>
        <p:cNvGrpSpPr/>
        <p:nvPr/>
      </p:nvGrpSpPr>
      <p:grpSpPr>
        <a:xfrm>
          <a:off x="0" y="0"/>
          <a:ext cx="0" cy="0"/>
          <a:chOff x="0" y="0"/>
          <a:chExt cx="0" cy="0"/>
        </a:xfrm>
      </p:grpSpPr>
      <p:sp>
        <p:nvSpPr>
          <p:cNvPr id="19" name="PlaceHolder 1"/>
          <p:cNvSpPr>
            <a:spLocks noGrp="1"/>
          </p:cNvSpPr>
          <p:nvPr>
            <p:ph type="title"/>
          </p:nvPr>
        </p:nvSpPr>
        <p:spPr>
          <a:xfrm>
            <a:off x="380880" y="609480"/>
            <a:ext cx="7772400" cy="609840"/>
          </a:xfrm>
          <a:prstGeom prst="rect">
            <a:avLst/>
          </a:prstGeom>
          <a:noFill/>
          <a:ln w="0">
            <a:noFill/>
          </a:ln>
        </p:spPr>
        <p:txBody>
          <a:bodyPr lIns="92160" rIns="92160" tIns="46080" bIns="46080" anchor="t">
            <a:spAutoFit/>
          </a:bodyPr>
          <a:p>
            <a:pPr indent="0">
              <a:lnSpc>
                <a:spcPct val="85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i="1" lang="en-IN" sz="2800" strike="noStrike" u="none">
              <a:solidFill>
                <a:srgbClr val="fafd00"/>
              </a:solidFill>
              <a:effectLst/>
              <a:uFillTx/>
              <a:latin typeface="Arial"/>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96B53FCF-73C4-4F4B-AA8E-89D3120FFF27}" type="slidenum">
              <a:t>&lt;#&gt;</a:t>
            </a:fld>
          </a:p>
        </p:txBody>
      </p:sp>
      <p:sp>
        <p:nvSpPr>
          <p:cNvPr id="5" name="PlaceHolder 4"/>
          <p:cNvSpPr>
            <a:spLocks noGrp="1"/>
          </p:cNvSpPr>
          <p:nvPr>
            <p:ph type="dt" idx="1"/>
          </p:nvPr>
        </p:nvSpPr>
        <p:spPr/>
        <p:txBody>
          <a:bodyPr/>
          <a:p>
            <a:r>
              <a:rPr lang="en-IN"/>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AndChart" preserve="1">
  <p:cSld name="Default">
    <p:spTree>
      <p:nvGrpSpPr>
        <p:cNvPr id="1" name=""/>
        <p:cNvGrpSpPr/>
        <p:nvPr/>
      </p:nvGrpSpPr>
      <p:grpSpPr>
        <a:xfrm>
          <a:off x="0" y="0"/>
          <a:ext cx="0" cy="0"/>
          <a:chOff x="0" y="0"/>
          <a:chExt cx="0" cy="0"/>
        </a:xfrm>
      </p:grpSpPr>
      <p:sp>
        <p:nvSpPr>
          <p:cNvPr id="20" name="PlaceHolder 1"/>
          <p:cNvSpPr>
            <a:spLocks noGrp="1"/>
          </p:cNvSpPr>
          <p:nvPr>
            <p:ph type="title"/>
          </p:nvPr>
        </p:nvSpPr>
        <p:spPr>
          <a:xfrm>
            <a:off x="380880" y="609480"/>
            <a:ext cx="7772400" cy="609840"/>
          </a:xfrm>
          <a:prstGeom prst="rect">
            <a:avLst/>
          </a:prstGeom>
          <a:noFill/>
          <a:ln w="0">
            <a:noFill/>
          </a:ln>
        </p:spPr>
        <p:txBody>
          <a:bodyPr lIns="92160" rIns="92160" tIns="46080" bIns="46080" anchor="t">
            <a:spAutoFit/>
          </a:bodyPr>
          <a:p>
            <a:pPr indent="0">
              <a:lnSpc>
                <a:spcPct val="85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i="1" lang="en-IN" sz="2800" strike="noStrike" u="none">
              <a:solidFill>
                <a:srgbClr val="fafd00"/>
              </a:solidFill>
              <a:effectLst/>
              <a:uFillTx/>
              <a:latin typeface="Arial"/>
            </a:endParaRPr>
          </a:p>
        </p:txBody>
      </p:sp>
      <p:sp>
        <p:nvSpPr>
          <p:cNvPr id="21" name="PlaceHolder 2"/>
          <p:cNvSpPr>
            <a:spLocks noGrp="1"/>
          </p:cNvSpPr>
          <p:nvPr>
            <p:ph/>
          </p:nvPr>
        </p:nvSpPr>
        <p:spPr>
          <a:xfrm>
            <a:off x="380880" y="1447920"/>
            <a:ext cx="7772400" cy="4114800"/>
          </a:xfrm>
          <a:prstGeom prst="rect">
            <a:avLst/>
          </a:prstGeom>
          <a:noFill/>
          <a:ln w="0">
            <a:noFill/>
          </a:ln>
        </p:spPr>
        <p:txBody>
          <a:bodyPr lIns="92160" rIns="92160" tIns="46080" bIns="46080" anchor="t">
            <a:normAutofit/>
          </a:bodyPr>
          <a:p>
            <a:pPr indent="0">
              <a:lnSpc>
                <a:spcPct val="95000"/>
              </a:lnSpc>
              <a:spcBef>
                <a:spcPts val="3124"/>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1" lang="en-IN" sz="2000" strike="noStrike" u="none">
              <a:solidFill>
                <a:srgbClr val="ffffff"/>
              </a:solidFill>
              <a:effectLst/>
              <a:uFillTx/>
              <a:latin typeface="Arial"/>
            </a:endParaRPr>
          </a:p>
        </p:txBody>
      </p:sp>
      <p:sp>
        <p:nvSpPr>
          <p:cNvPr id="22" name="PlaceHolder 3"/>
          <p:cNvSpPr>
            <a:spLocks noGrp="1"/>
          </p:cNvSpPr>
          <p:nvPr>
            <p:ph/>
          </p:nvPr>
        </p:nvSpPr>
        <p:spPr>
          <a:xfrm>
            <a:off x="380880" y="1447920"/>
            <a:ext cx="7772400" cy="4114800"/>
          </a:xfrm>
          <a:prstGeom prst="rect">
            <a:avLst/>
          </a:prstGeom>
          <a:noFill/>
          <a:ln w="0">
            <a:noFill/>
          </a:ln>
        </p:spPr>
        <p:txBody>
          <a:bodyPr lIns="92160" rIns="92160" tIns="46080" bIns="46080" anchor="t">
            <a:normAutofit/>
          </a:bodyPr>
          <a:p>
            <a:pPr indent="0">
              <a:lnSpc>
                <a:spcPct val="95000"/>
              </a:lnSpc>
              <a:spcBef>
                <a:spcPts val="3124"/>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1" lang="en-IN" sz="2000" strike="noStrike" u="none">
              <a:solidFill>
                <a:srgbClr val="ffffff"/>
              </a:solidFill>
              <a:effectLst/>
              <a:uFillTx/>
              <a:latin typeface="Arial"/>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80C5B5E1-FA82-4B66-A0FE-67AC6CBD3FD5}" type="slidenum">
              <a:t>&lt;#&gt;</a:t>
            </a:fld>
          </a:p>
        </p:txBody>
      </p:sp>
      <p:sp>
        <p:nvSpPr>
          <p:cNvPr id="7" name="PlaceHolder 6"/>
          <p:cNvSpPr>
            <a:spLocks noGrp="1"/>
          </p:cNvSpPr>
          <p:nvPr>
            <p:ph type="dt" idx="1"/>
          </p:nvPr>
        </p:nvSpPr>
        <p:spPr/>
        <p:txBody>
          <a:bodyPr/>
          <a:p>
            <a:r>
              <a:rPr lang="en-IN"/>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p:spTree>
      <p:nvGrpSpPr>
        <p:cNvPr id="1" name=""/>
        <p:cNvGrpSpPr/>
        <p:nvPr/>
      </p:nvGrpSpPr>
      <p:grpSpPr>
        <a:xfrm>
          <a:off x="0" y="0"/>
          <a:ext cx="0" cy="0"/>
          <a:chOff x="0" y="0"/>
          <a:chExt cx="0" cy="0"/>
        </a:xfrm>
      </p:grpSpPr>
      <p:sp>
        <p:nvSpPr>
          <p:cNvPr id="23" name="PlaceHolder 1"/>
          <p:cNvSpPr>
            <a:spLocks noGrp="1"/>
          </p:cNvSpPr>
          <p:nvPr>
            <p:ph type="title"/>
          </p:nvPr>
        </p:nvSpPr>
        <p:spPr>
          <a:xfrm>
            <a:off x="380880" y="609480"/>
            <a:ext cx="7772400" cy="609840"/>
          </a:xfrm>
          <a:prstGeom prst="rect">
            <a:avLst/>
          </a:prstGeom>
          <a:noFill/>
          <a:ln w="0">
            <a:noFill/>
          </a:ln>
        </p:spPr>
        <p:txBody>
          <a:bodyPr lIns="92160" rIns="92160" tIns="46080" bIns="46080" anchor="t">
            <a:spAutoFit/>
          </a:bodyPr>
          <a:p>
            <a:pPr indent="0">
              <a:lnSpc>
                <a:spcPct val="85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i="1" lang="en-IN" sz="2800" strike="noStrike" u="none">
              <a:solidFill>
                <a:srgbClr val="fafd00"/>
              </a:solidFill>
              <a:effectLst/>
              <a:uFillTx/>
              <a:latin typeface="Arial"/>
            </a:endParaRPr>
          </a:p>
        </p:txBody>
      </p:sp>
      <p:sp>
        <p:nvSpPr>
          <p:cNvPr id="24" name="PlaceHolder 2"/>
          <p:cNvSpPr>
            <a:spLocks noGrp="1"/>
          </p:cNvSpPr>
          <p:nvPr>
            <p:ph type="subTitle"/>
          </p:nvPr>
        </p:nvSpPr>
        <p:spPr>
          <a:xfrm>
            <a:off x="380880" y="1447920"/>
            <a:ext cx="7772400" cy="4114800"/>
          </a:xfrm>
          <a:prstGeom prst="rect">
            <a:avLst/>
          </a:prstGeom>
          <a:noFill/>
          <a:ln w="0">
            <a:noFill/>
          </a:ln>
        </p:spPr>
        <p:txBody>
          <a:bodyPr lIns="0" rIns="0" tIns="0" bIns="0" anchor="ctr">
            <a:spAutoFit/>
          </a:bodyPr>
          <a:p>
            <a:pPr indent="0" algn="ctr">
              <a:lnSpc>
                <a:spcPct val="95000"/>
              </a:lnSpc>
              <a:spcBef>
                <a:spcPts val="3124"/>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IN" sz="2000" strike="noStrike" u="none">
              <a:solidFill>
                <a:srgbClr val="ffffff"/>
              </a:solidFill>
              <a:effectLst/>
              <a:uFillTx/>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02BCAEF8-2F89-4E5F-B25E-9F7A4B86E71C}" type="slidenum">
              <a:t>&lt;#&gt;</a:t>
            </a:fld>
          </a:p>
        </p:txBody>
      </p:sp>
      <p:sp>
        <p:nvSpPr>
          <p:cNvPr id="6" name="PlaceHolder 5"/>
          <p:cNvSpPr>
            <a:spLocks noGrp="1"/>
          </p:cNvSpPr>
          <p:nvPr>
            <p:ph type="dt" idx="1"/>
          </p:nvPr>
        </p:nvSpPr>
        <p:spPr/>
        <p:txBody>
          <a:bodyPr/>
          <a:p>
            <a:r>
              <a:rPr lang="en-IN"/>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wmf"/><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14f3"/>
        </a:solidFill>
      </p:bgPr>
    </p:bg>
    <p:spTree>
      <p:nvGrpSpPr>
        <p:cNvPr id="1" name=""/>
        <p:cNvGrpSpPr/>
        <p:nvPr/>
      </p:nvGrpSpPr>
      <p:grpSpPr>
        <a:xfrm>
          <a:off x="0" y="0"/>
          <a:ext cx="0" cy="0"/>
          <a:chOff x="0" y="0"/>
          <a:chExt cx="0" cy="0"/>
        </a:xfrm>
      </p:grpSpPr>
      <p:sp>
        <p:nvSpPr>
          <p:cNvPr id="0" name="PlaceHolder 1"/>
          <p:cNvSpPr>
            <a:spLocks noGrp="1"/>
          </p:cNvSpPr>
          <p:nvPr>
            <p:ph type="dt" idx="1"/>
          </p:nvPr>
        </p:nvSpPr>
        <p:spPr>
          <a:xfrm>
            <a:off x="685800" y="6248520"/>
            <a:ext cx="1905120" cy="457200"/>
          </a:xfrm>
          <a:prstGeom prst="rect">
            <a:avLst/>
          </a:prstGeom>
          <a:noFill/>
          <a:ln w="0">
            <a:noFill/>
          </a:ln>
        </p:spPr>
        <p:txBody>
          <a:bodyPr lIns="92160" rIns="92160" tIns="46080" bIns="46080" anchor="ctr">
            <a:noAutofit/>
          </a:bodyPr>
          <a:lstStyle>
            <a:lvl1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IN" sz="1400" strike="noStrike" u="none">
                <a:solidFill>
                  <a:srgbClr val="ffffff"/>
                </a:solidFill>
                <a:effectLst/>
                <a:uFillTx/>
                <a:latin typeface="Times New Roman"/>
              </a:defRPr>
            </a:lvl1pPr>
          </a:lstStyle>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ffffff"/>
                </a:solidFill>
                <a:effectLst/>
                <a:uFillTx/>
                <a:latin typeface="Times New Roman"/>
              </a:rPr>
              <a:t>&lt;date/time&gt;</a:t>
            </a:r>
            <a:endParaRPr b="0" lang="en-IN" sz="1400" strike="noStrike" u="none">
              <a:solidFill>
                <a:srgbClr val="000000"/>
              </a:solidFill>
              <a:effectLst/>
              <a:uFillTx/>
              <a:latin typeface="Times New Roman"/>
            </a:endParaRPr>
          </a:p>
        </p:txBody>
      </p:sp>
      <p:sp>
        <p:nvSpPr>
          <p:cNvPr id="1" name="PlaceHolder 2"/>
          <p:cNvSpPr>
            <a:spLocks noGrp="1"/>
          </p:cNvSpPr>
          <p:nvPr>
            <p:ph type="ftr" idx="2"/>
          </p:nvPr>
        </p:nvSpPr>
        <p:spPr>
          <a:xfrm>
            <a:off x="3124080" y="6248520"/>
            <a:ext cx="2895840" cy="457200"/>
          </a:xfrm>
          <a:prstGeom prst="rect">
            <a:avLst/>
          </a:prstGeom>
          <a:noFill/>
          <a:ln w="0">
            <a:noFill/>
          </a:ln>
        </p:spPr>
        <p:txBody>
          <a:bodyPr lIns="92160" rIns="92160" tIns="46080" bIns="46080" anchor="ctr">
            <a:noAutofit/>
          </a:bodyPr>
          <a:lstStyle>
            <a:lvl1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IN" sz="1400" strike="noStrike" u="none">
                <a:solidFill>
                  <a:srgbClr val="ffffff"/>
                </a:solidFill>
                <a:effectLst/>
                <a:uFillTx/>
                <a:latin typeface="Times New Roman"/>
              </a:defRPr>
            </a:lvl1pPr>
          </a:lstStyle>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ffffff"/>
                </a:solidFill>
                <a:effectLst/>
                <a:uFillTx/>
                <a:latin typeface="Times New Roman"/>
              </a:rPr>
              <a:t>&lt;footer&gt;</a:t>
            </a:r>
            <a:endParaRPr b="0" lang="en-IN" sz="1400" strike="noStrike" u="none">
              <a:solidFill>
                <a:srgbClr val="000000"/>
              </a:solidFill>
              <a:effectLst/>
              <a:uFillTx/>
              <a:latin typeface="Times New Roman"/>
            </a:endParaRPr>
          </a:p>
        </p:txBody>
      </p:sp>
      <p:sp>
        <p:nvSpPr>
          <p:cNvPr id="2" name="PlaceHolder 3"/>
          <p:cNvSpPr>
            <a:spLocks noGrp="1"/>
          </p:cNvSpPr>
          <p:nvPr>
            <p:ph type="sldNum" idx="3"/>
          </p:nvPr>
        </p:nvSpPr>
        <p:spPr>
          <a:xfrm>
            <a:off x="6553080" y="6248520"/>
            <a:ext cx="1905120" cy="457200"/>
          </a:xfrm>
          <a:prstGeom prst="rect">
            <a:avLst/>
          </a:prstGeom>
          <a:noFill/>
          <a:ln w="0">
            <a:noFill/>
          </a:ln>
        </p:spPr>
        <p:txBody>
          <a:bodyPr lIns="92160" rIns="92160" tIns="46080" bIns="46080" anchor="ctr">
            <a:noAutofit/>
          </a:bodyPr>
          <a:lstStyle>
            <a:lvl1pPr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IN" sz="1400" strike="noStrike" u="none">
                <a:solidFill>
                  <a:srgbClr val="ffffff"/>
                </a:solidFill>
                <a:effectLst/>
                <a:uFillTx/>
                <a:latin typeface="Times New Roman"/>
              </a:defRPr>
            </a:lvl1pPr>
          </a:lstStyle>
          <a:p>
            <a:pPr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6145B6CF-EFB2-4EC6-95D2-646AB9CAEFDD}" type="slidenum">
              <a:rPr b="0" lang="en-IN" sz="1400" strike="noStrike" u="none">
                <a:solidFill>
                  <a:srgbClr val="ffffff"/>
                </a:solidFill>
                <a:effectLst/>
                <a:uFillTx/>
                <a:latin typeface="Times New Roman"/>
              </a:rPr>
              <a:t>&lt;number&gt;</a:t>
            </a:fld>
            <a:endParaRPr b="0" lang="en-IN" sz="1400" strike="noStrike" u="none">
              <a:solidFill>
                <a:srgbClr val="000000"/>
              </a:solidFill>
              <a:effectLst/>
              <a:uFillTx/>
              <a:latin typeface="Times New Roman"/>
            </a:endParaRPr>
          </a:p>
        </p:txBody>
      </p:sp>
      <p:sp>
        <p:nvSpPr>
          <p:cNvPr id="3" name="PlaceHolder 4"/>
          <p:cNvSpPr>
            <a:spLocks noGrp="1"/>
          </p:cNvSpPr>
          <p:nvPr>
            <p:ph type="title"/>
          </p:nvPr>
        </p:nvSpPr>
        <p:spPr>
          <a:xfrm>
            <a:off x="380880" y="609480"/>
            <a:ext cx="7772400" cy="609840"/>
          </a:xfrm>
          <a:prstGeom prst="rect">
            <a:avLst/>
          </a:prstGeom>
          <a:noFill/>
          <a:ln w="0">
            <a:noFill/>
          </a:ln>
        </p:spPr>
        <p:txBody>
          <a:bodyPr lIns="92160" rIns="92160" tIns="46080" bIns="46080" anchor="t">
            <a:noAutofit/>
          </a:bodyPr>
          <a:p>
            <a:pPr indent="0">
              <a:lnSpc>
                <a:spcPct val="85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IN" sz="2800" strike="noStrike" u="none">
                <a:solidFill>
                  <a:srgbClr val="fafd00"/>
                </a:solidFill>
                <a:effectLst/>
                <a:uFillTx/>
                <a:latin typeface="Arial"/>
              </a:rPr>
              <a:t>Click to edit the title text format</a:t>
            </a:r>
            <a:endParaRPr b="1" i="1" lang="en-IN" sz="2800" strike="noStrike" u="none">
              <a:solidFill>
                <a:srgbClr val="fafd00"/>
              </a:solidFill>
              <a:effectLst/>
              <a:uFillTx/>
              <a:latin typeface="Arial"/>
            </a:endParaRPr>
          </a:p>
        </p:txBody>
      </p:sp>
      <p:sp>
        <p:nvSpPr>
          <p:cNvPr id="4" name="PlaceHolder 5"/>
          <p:cNvSpPr>
            <a:spLocks noGrp="1"/>
          </p:cNvSpPr>
          <p:nvPr>
            <p:ph type="body"/>
          </p:nvPr>
        </p:nvSpPr>
        <p:spPr>
          <a:xfrm>
            <a:off x="380880" y="1447920"/>
            <a:ext cx="7772400" cy="4114800"/>
          </a:xfrm>
          <a:prstGeom prst="rect">
            <a:avLst/>
          </a:prstGeom>
          <a:noFill/>
          <a:ln w="0">
            <a:noFill/>
          </a:ln>
        </p:spPr>
        <p:txBody>
          <a:bodyPr lIns="92160" rIns="92160" tIns="46080" bIns="46080" anchor="t">
            <a:normAutofit lnSpcReduction="9999"/>
          </a:bodyPr>
          <a:p>
            <a:pPr marL="343080" indent="-343080">
              <a:lnSpc>
                <a:spcPct val="95000"/>
              </a:lnSpc>
              <a:spcBef>
                <a:spcPts val="3124"/>
              </a:spcBef>
              <a:buClr>
                <a:srgbClr val="fe9b03"/>
              </a:buClr>
              <a:buSzPct val="65000"/>
              <a:buFont typeface="Monotype Sort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ffffff"/>
                </a:solidFill>
                <a:effectLst/>
                <a:uFillTx/>
                <a:latin typeface="Arial"/>
              </a:rPr>
              <a:t>Click to edit the outline text format</a:t>
            </a:r>
            <a:endParaRPr b="1" lang="en-IN" sz="2000" strike="noStrike" u="none">
              <a:solidFill>
                <a:srgbClr val="ffffff"/>
              </a:solidFill>
              <a:effectLst/>
              <a:uFillTx/>
              <a:latin typeface="Arial"/>
            </a:endParaRPr>
          </a:p>
          <a:p>
            <a:pPr lvl="1" marL="743040" indent="-285840">
              <a:lnSpc>
                <a:spcPct val="95000"/>
              </a:lnSpc>
              <a:spcBef>
                <a:spcPts val="3124"/>
              </a:spcBef>
              <a:buClr>
                <a:srgbClr val="00c297"/>
              </a:buClr>
              <a:buSzPct val="120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ffffff"/>
                </a:solidFill>
                <a:effectLst/>
                <a:uFillTx/>
                <a:latin typeface="Arial"/>
              </a:rPr>
              <a:t>Second Outline Level</a:t>
            </a:r>
            <a:endParaRPr b="1" lang="en-IN" sz="2000" strike="noStrike" u="none">
              <a:solidFill>
                <a:srgbClr val="ffffff"/>
              </a:solidFill>
              <a:effectLst/>
              <a:uFillTx/>
              <a:latin typeface="Arial"/>
            </a:endParaRPr>
          </a:p>
          <a:p>
            <a:pPr lvl="2" marL="1143000" indent="-228600">
              <a:lnSpc>
                <a:spcPct val="95000"/>
              </a:lnSpc>
              <a:spcBef>
                <a:spcPts val="3124"/>
              </a:spcBef>
              <a:buClr>
                <a:srgbClr val="fafd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ffffff"/>
                </a:solidFill>
                <a:effectLst/>
                <a:uFillTx/>
                <a:latin typeface="Arial"/>
              </a:rPr>
              <a:t>Third Outline Level</a:t>
            </a:r>
            <a:endParaRPr b="1" lang="en-IN" sz="2000" strike="noStrike" u="none">
              <a:solidFill>
                <a:srgbClr val="ffffff"/>
              </a:solidFill>
              <a:effectLst/>
              <a:uFillTx/>
              <a:latin typeface="Arial"/>
            </a:endParaRPr>
          </a:p>
          <a:p>
            <a:pPr lvl="3" marL="1600200" indent="-228600">
              <a:lnSpc>
                <a:spcPct val="95000"/>
              </a:lnSpc>
              <a:spcBef>
                <a:spcPts val="3124"/>
              </a:spcBef>
              <a:buClr>
                <a:srgbClr val="ffffff"/>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ffffff"/>
                </a:solidFill>
                <a:effectLst/>
                <a:uFillTx/>
                <a:latin typeface="Arial"/>
              </a:rPr>
              <a:t>Fourth Outline Level</a:t>
            </a:r>
            <a:endParaRPr b="1" lang="en-IN" sz="2000" strike="noStrike" u="none">
              <a:solidFill>
                <a:srgbClr val="ffffff"/>
              </a:solidFill>
              <a:effectLst/>
              <a:uFillTx/>
              <a:latin typeface="Arial"/>
            </a:endParaRPr>
          </a:p>
          <a:p>
            <a:pPr lvl="4" marL="2057400" indent="-228600">
              <a:lnSpc>
                <a:spcPct val="95000"/>
              </a:lnSpc>
              <a:spcBef>
                <a:spcPts val="3124"/>
              </a:spcBef>
              <a:buClr>
                <a:srgbClr val="ffffff"/>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ffffff"/>
                </a:solidFill>
                <a:effectLst/>
                <a:uFillTx/>
                <a:latin typeface="Arial"/>
              </a:rPr>
              <a:t>Fifth Outline Level</a:t>
            </a:r>
            <a:endParaRPr b="1" lang="en-IN" sz="2000" strike="noStrike" u="none">
              <a:solidFill>
                <a:srgbClr val="ffffff"/>
              </a:solidFill>
              <a:effectLst/>
              <a:uFillTx/>
              <a:latin typeface="Arial"/>
            </a:endParaRPr>
          </a:p>
          <a:p>
            <a:pPr lvl="5" marL="2057400" indent="-228600">
              <a:lnSpc>
                <a:spcPct val="95000"/>
              </a:lnSpc>
              <a:spcBef>
                <a:spcPts val="3124"/>
              </a:spcBef>
              <a:buClr>
                <a:srgbClr val="ffffff"/>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ffffff"/>
                </a:solidFill>
                <a:effectLst/>
                <a:uFillTx/>
                <a:latin typeface="Arial"/>
              </a:rPr>
              <a:t>Sixth Outline Level</a:t>
            </a:r>
            <a:endParaRPr b="1" lang="en-IN" sz="2000" strike="noStrike" u="none">
              <a:solidFill>
                <a:srgbClr val="ffffff"/>
              </a:solidFill>
              <a:effectLst/>
              <a:uFillTx/>
              <a:latin typeface="Arial"/>
            </a:endParaRPr>
          </a:p>
          <a:p>
            <a:pPr lvl="6" marL="2057400" indent="-228600">
              <a:lnSpc>
                <a:spcPct val="95000"/>
              </a:lnSpc>
              <a:spcBef>
                <a:spcPts val="3124"/>
              </a:spcBef>
              <a:buClr>
                <a:srgbClr val="ffffff"/>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ffffff"/>
                </a:solidFill>
                <a:effectLst/>
                <a:uFillTx/>
                <a:latin typeface="Arial"/>
              </a:rPr>
              <a:t>Seventh Outline Level</a:t>
            </a:r>
            <a:endParaRPr b="1" lang="en-IN" sz="2000" strike="noStrike" u="none">
              <a:solidFill>
                <a:srgbClr val="ffffff"/>
              </a:solidFill>
              <a:effectLst/>
              <a:uFillTx/>
              <a:latin typeface="Arial"/>
            </a:endParaRPr>
          </a:p>
        </p:txBody>
      </p:sp>
      <p:sp>
        <p:nvSpPr>
          <p:cNvPr id="5" name=""/>
          <p:cNvSpPr/>
          <p:nvPr/>
        </p:nvSpPr>
        <p:spPr>
          <a:xfrm>
            <a:off x="8039160" y="249120"/>
            <a:ext cx="127080" cy="0"/>
          </a:xfrm>
          <a:prstGeom prst="line">
            <a:avLst/>
          </a:prstGeom>
          <a:ln w="101520">
            <a:solidFill>
              <a:srgbClr val="00c297"/>
            </a:solidFill>
            <a:miter/>
          </a:ln>
        </p:spPr>
        <p:style>
          <a:lnRef idx="0"/>
          <a:fillRef idx="0"/>
          <a:effectRef idx="0"/>
          <a:fontRef idx="minor"/>
        </p:style>
        <p:txBody>
          <a:bodyPr lIns="90000" rIns="90000" tIns="-46800" bIns="-46800" anchor="ctr">
            <a:noAutofit/>
          </a:bodyPr>
          <a:p>
            <a:endParaRPr b="0" lang="en-IN" sz="2400" strike="noStrike" u="none">
              <a:solidFill>
                <a:srgbClr val="ffffff"/>
              </a:solidFill>
              <a:effectLst/>
              <a:uFillTx/>
              <a:latin typeface="Times New Roman"/>
            </a:endParaRPr>
          </a:p>
        </p:txBody>
      </p:sp>
      <p:sp>
        <p:nvSpPr>
          <p:cNvPr id="6" name=""/>
          <p:cNvSpPr/>
          <p:nvPr/>
        </p:nvSpPr>
        <p:spPr>
          <a:xfrm>
            <a:off x="8286840" y="249120"/>
            <a:ext cx="127080" cy="0"/>
          </a:xfrm>
          <a:prstGeom prst="line">
            <a:avLst/>
          </a:prstGeom>
          <a:ln w="101520">
            <a:solidFill>
              <a:srgbClr val="00c297"/>
            </a:solidFill>
            <a:miter/>
          </a:ln>
        </p:spPr>
        <p:style>
          <a:lnRef idx="0"/>
          <a:fillRef idx="0"/>
          <a:effectRef idx="0"/>
          <a:fontRef idx="minor"/>
        </p:style>
        <p:txBody>
          <a:bodyPr lIns="90000" rIns="90000" tIns="-46800" bIns="-46800" anchor="ctr">
            <a:noAutofit/>
          </a:bodyPr>
          <a:p>
            <a:endParaRPr b="0" lang="en-IN" sz="2400" strike="noStrike" u="none">
              <a:solidFill>
                <a:srgbClr val="ffffff"/>
              </a:solidFill>
              <a:effectLst/>
              <a:uFillTx/>
              <a:latin typeface="Times New Roman"/>
            </a:endParaRPr>
          </a:p>
        </p:txBody>
      </p:sp>
      <p:sp>
        <p:nvSpPr>
          <p:cNvPr id="7" name=""/>
          <p:cNvSpPr/>
          <p:nvPr/>
        </p:nvSpPr>
        <p:spPr>
          <a:xfrm>
            <a:off x="8534520" y="249120"/>
            <a:ext cx="126720" cy="0"/>
          </a:xfrm>
          <a:prstGeom prst="line">
            <a:avLst/>
          </a:prstGeom>
          <a:ln w="101520">
            <a:solidFill>
              <a:srgbClr val="00c297"/>
            </a:solidFill>
            <a:miter/>
          </a:ln>
        </p:spPr>
        <p:style>
          <a:lnRef idx="0"/>
          <a:fillRef idx="0"/>
          <a:effectRef idx="0"/>
          <a:fontRef idx="minor"/>
        </p:style>
        <p:txBody>
          <a:bodyPr lIns="90000" rIns="90000" tIns="-46800" bIns="-46800" anchor="ctr">
            <a:noAutofit/>
          </a:bodyPr>
          <a:p>
            <a:endParaRPr b="0" lang="en-IN" sz="2400" strike="noStrike" u="none">
              <a:solidFill>
                <a:srgbClr val="ffffff"/>
              </a:solidFill>
              <a:effectLst/>
              <a:uFillTx/>
              <a:latin typeface="Times New Roman"/>
            </a:endParaRPr>
          </a:p>
        </p:txBody>
      </p:sp>
      <p:sp>
        <p:nvSpPr>
          <p:cNvPr id="8" name=""/>
          <p:cNvSpPr/>
          <p:nvPr/>
        </p:nvSpPr>
        <p:spPr>
          <a:xfrm>
            <a:off x="457200" y="249120"/>
            <a:ext cx="7448400" cy="0"/>
          </a:xfrm>
          <a:prstGeom prst="line">
            <a:avLst/>
          </a:prstGeom>
          <a:ln w="101520">
            <a:solidFill>
              <a:srgbClr val="00c297"/>
            </a:solidFill>
            <a:miter/>
          </a:ln>
        </p:spPr>
        <p:style>
          <a:lnRef idx="0"/>
          <a:fillRef idx="0"/>
          <a:effectRef idx="0"/>
          <a:fontRef idx="minor"/>
        </p:style>
        <p:txBody>
          <a:bodyPr lIns="90000" rIns="90000" tIns="-46800" bIns="-46800" anchor="ctr">
            <a:noAutofit/>
          </a:bodyPr>
          <a:p>
            <a:endParaRPr b="0" lang="en-IN" sz="2400" strike="noStrike" u="none">
              <a:solidFill>
                <a:srgbClr val="ffffff"/>
              </a:solidFill>
              <a:effectLst/>
              <a:uFillTx/>
              <a:latin typeface="Times New Roman"/>
            </a:endParaRPr>
          </a:p>
        </p:txBody>
      </p:sp>
      <p:sp>
        <p:nvSpPr>
          <p:cNvPr id="9" name=""/>
          <p:cNvSpPr/>
          <p:nvPr/>
        </p:nvSpPr>
        <p:spPr>
          <a:xfrm>
            <a:off x="457200" y="6321600"/>
            <a:ext cx="8163000" cy="0"/>
          </a:xfrm>
          <a:prstGeom prst="line">
            <a:avLst/>
          </a:prstGeom>
          <a:ln w="25560">
            <a:solidFill>
              <a:srgbClr val="00c297"/>
            </a:solidFill>
            <a:miter/>
          </a:ln>
        </p:spPr>
        <p:style>
          <a:lnRef idx="0"/>
          <a:fillRef idx="0"/>
          <a:effectRef idx="0"/>
          <a:fontRef idx="minor"/>
        </p:style>
        <p:txBody>
          <a:bodyPr lIns="90000" rIns="90000" tIns="-46800" bIns="-46800" anchor="ctr">
            <a:noAutofit/>
          </a:bodyPr>
          <a:p>
            <a:endParaRPr b="0" lang="en-IN" sz="2400" strike="noStrike" u="none">
              <a:solidFill>
                <a:srgbClr val="ffffff"/>
              </a:solidFill>
              <a:effectLst/>
              <a:uFillTx/>
              <a:latin typeface="Times New Roman"/>
            </a:endParaRPr>
          </a:p>
        </p:txBody>
      </p:sp>
      <p:pic>
        <p:nvPicPr>
          <p:cNvPr id="10" name="" descr=""/>
          <p:cNvPicPr/>
          <p:nvPr/>
        </p:nvPicPr>
        <p:blipFill>
          <a:blip r:embed="rId2"/>
          <a:srcRect l="1759" t="0" r="4504" b="0"/>
          <a:stretch/>
        </p:blipFill>
        <p:spPr>
          <a:xfrm>
            <a:off x="7381800" y="6377040"/>
            <a:ext cx="1257480" cy="350640"/>
          </a:xfrm>
          <a:prstGeom prst="rect">
            <a:avLst/>
          </a:prstGeom>
          <a:noFill/>
          <a:ln w="0">
            <a:noFill/>
          </a:ln>
        </p:spPr>
      </p:pic>
    </p:spTree>
  </p:cSld>
  <p:clrMap bg1="lt1" tx1="dk1" bg2="lt2" tx2="dk2" accent1="accent1" accent2="accent2" accent3="accent3" accent4="accent4" accent5="accent5" accent6="accent6" hlink="hlink" folHlink="folHlink"/>
  <p:sldLayoutIdLst>
    <p:sldLayoutId id="2147483649" r:id="rId3"/>
    <p:sldLayoutId id="2147483650" r:id="rId4"/>
    <p:sldLayoutId id="2147483651" r:id="rId5"/>
    <p:sldLayoutId id="2147483652" r:id="rId6"/>
    <p:sldLayoutId id="2147483653" r:id="rId7"/>
    <p:sldLayoutId id="2147483654" r:id="rId8"/>
  </p:sldLayoutIdLst>
</p:sldMaster>
</file>

<file path=ppt/slides/_rels/slide1.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package" Target="../embeddings/oleObject1.docx"/><Relationship Id="rId2" Type="http://schemas.openxmlformats.org/officeDocument/2006/relationships/image" Target="../media/image3.wmf"/><Relationship Id="rId3" Type="http://schemas.openxmlformats.org/officeDocument/2006/relationships/slideLayout" Target="../slideLayouts/slideLayout2.xml"/>
</Relationships>
</file>

<file path=ppt/slides/_rels/slide3.xml.rels><?xml version="1.0" encoding="UTF-8"?>
<Relationships xmlns="http://schemas.openxmlformats.org/package/2006/relationships"><Relationship Id="rId1" Type="http://schemas.openxmlformats.org/officeDocument/2006/relationships/package" Target="../embeddings/oleObject1.docx"/><Relationship Id="rId2" Type="http://schemas.openxmlformats.org/officeDocument/2006/relationships/image" Target="../media/image4.wmf"/><Relationship Id="rId3" Type="http://schemas.openxmlformats.org/officeDocument/2006/relationships/slideLayout" Target="../slideLayouts/slideLayout2.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2.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6.png"/><Relationship Id="rId3" Type="http://schemas.openxmlformats.org/officeDocument/2006/relationships/slideLayout" Target="../slideLayouts/slideLayout4.xml"/><Relationship Id="rId4"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package" Target="../embeddings/oleObject1.xlsx"/><Relationship Id="rId2" Type="http://schemas.openxmlformats.org/officeDocument/2006/relationships/image" Target="../media/image7.wmf"/><Relationship Id="rId3" Type="http://schemas.openxmlformats.org/officeDocument/2006/relationships/slideLayout" Target="../slideLayouts/slideLayout5.xml"/><Relationship Id="rId4"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14f3"/>
        </a:solidFill>
      </p:bgPr>
    </p:bg>
    <p:spTree>
      <p:nvGrpSpPr>
        <p:cNvPr id="1" name=""/>
        <p:cNvGrpSpPr/>
        <p:nvPr/>
      </p:nvGrpSpPr>
      <p:grpSpPr>
        <a:xfrm>
          <a:off x="0" y="0"/>
          <a:ext cx="0" cy="0"/>
          <a:chOff x="0" y="0"/>
          <a:chExt cx="0" cy="0"/>
        </a:xfrm>
      </p:grpSpPr>
      <p:sp>
        <p:nvSpPr>
          <p:cNvPr id="32" name="PlaceHolder 1"/>
          <p:cNvSpPr>
            <a:spLocks noGrp="1"/>
          </p:cNvSpPr>
          <p:nvPr>
            <p:ph type="title"/>
          </p:nvPr>
        </p:nvSpPr>
        <p:spPr>
          <a:xfrm>
            <a:off x="482400" y="533160"/>
            <a:ext cx="6730920" cy="1523880"/>
          </a:xfrm>
          <a:prstGeom prst="rect">
            <a:avLst/>
          </a:prstGeom>
          <a:noFill/>
          <a:ln w="0">
            <a:noFill/>
          </a:ln>
        </p:spPr>
        <p:txBody>
          <a:bodyPr lIns="92160" rIns="92160" tIns="46080" bIns="46080" anchor="t">
            <a:noAutofit/>
          </a:bodyPr>
          <a:p>
            <a:pPr indent="0">
              <a:lnSpc>
                <a:spcPct val="85000"/>
              </a:lnSpc>
              <a:spcBef>
                <a:spcPts val="674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IN" sz="3600" strike="noStrike" u="none">
                <a:solidFill>
                  <a:srgbClr val="fafd00"/>
                </a:solidFill>
                <a:effectLst/>
                <a:uFillTx/>
                <a:latin typeface="Arial"/>
              </a:rPr>
              <a:t>Regional Goods Movement Study for the San Francisco Bay Area</a:t>
            </a:r>
            <a:br>
              <a:rPr sz="3600"/>
            </a:br>
            <a:endParaRPr b="1" i="1" lang="en-IN" sz="3600" strike="noStrike" u="none">
              <a:solidFill>
                <a:srgbClr val="fafd00"/>
              </a:solidFill>
              <a:effectLst/>
              <a:uFillTx/>
              <a:latin typeface="Arial"/>
            </a:endParaRPr>
          </a:p>
        </p:txBody>
      </p:sp>
      <p:sp>
        <p:nvSpPr>
          <p:cNvPr id="33" name=""/>
          <p:cNvSpPr/>
          <p:nvPr/>
        </p:nvSpPr>
        <p:spPr>
          <a:xfrm>
            <a:off x="54720" y="3225960"/>
            <a:ext cx="4107600" cy="2861640"/>
          </a:xfrm>
          <a:prstGeom prst="rect">
            <a:avLst/>
          </a:prstGeom>
          <a:noFill/>
          <a:ln w="0">
            <a:noFill/>
          </a:ln>
        </p:spPr>
        <p:style>
          <a:lnRef idx="0"/>
          <a:fillRef idx="0"/>
          <a:effectRef idx="0"/>
          <a:fontRef idx="minor"/>
        </p:style>
        <p:txBody>
          <a:bodyPr wrap="none" lIns="92160" rIns="92160" tIns="46080" bIns="46080" anchor="t">
            <a:spAutoFit/>
          </a:bodyPr>
          <a:p>
            <a:pPr lvl="1" marL="457200">
              <a:lnSpc>
                <a:spcPct val="95000"/>
              </a:lnSpc>
              <a:spcAft>
                <a:spcPts val="1749"/>
              </a:spcAft>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IN" sz="1400" strike="noStrike" u="none">
                <a:solidFill>
                  <a:srgbClr val="fafd00"/>
                </a:solidFill>
                <a:effectLst/>
                <a:uFillTx/>
                <a:latin typeface="Arial"/>
              </a:rPr>
              <a:t>presented by</a:t>
            </a:r>
            <a:endParaRPr b="0" lang="en-IN" sz="1400" strike="noStrike" u="none">
              <a:solidFill>
                <a:srgbClr val="ffffff"/>
              </a:solidFill>
              <a:effectLst/>
              <a:uFillTx/>
              <a:latin typeface="Times New Roman"/>
            </a:endParaRPr>
          </a:p>
          <a:p>
            <a:pPr lvl="1" marL="457200">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IN" sz="2000" strike="noStrike" u="none">
                <a:solidFill>
                  <a:srgbClr val="ffffff"/>
                </a:solidFill>
                <a:effectLst/>
                <a:uFillTx/>
                <a:latin typeface="Arial"/>
              </a:rPr>
              <a:t>Cambridge Systematics, Inc.</a:t>
            </a:r>
            <a:endParaRPr b="0" lang="en-IN" sz="2000" strike="noStrike" u="none">
              <a:solidFill>
                <a:srgbClr val="ffffff"/>
              </a:solidFill>
              <a:effectLst/>
              <a:uFillTx/>
              <a:latin typeface="Times New Roman"/>
            </a:endParaRPr>
          </a:p>
          <a:p>
            <a:pPr lvl="1" marL="457200">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600" strike="noStrike" u="none">
              <a:solidFill>
                <a:srgbClr val="ffffff"/>
              </a:solidFill>
              <a:effectLst/>
              <a:uFillTx/>
              <a:latin typeface="Times New Roman"/>
            </a:endParaRPr>
          </a:p>
          <a:p>
            <a:pPr lvl="1" marL="457200">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IN" sz="1600" strike="noStrike" u="none">
                <a:solidFill>
                  <a:srgbClr val="fafd00"/>
                </a:solidFill>
                <a:effectLst/>
                <a:uFillTx/>
                <a:latin typeface="Arial"/>
              </a:rPr>
              <a:t>with</a:t>
            </a:r>
            <a:endParaRPr b="0" lang="en-IN" sz="1600" strike="noStrike" u="none">
              <a:solidFill>
                <a:srgbClr val="ffffff"/>
              </a:solidFill>
              <a:effectLst/>
              <a:uFillTx/>
              <a:latin typeface="Times New Roman"/>
            </a:endParaRPr>
          </a:p>
          <a:p>
            <a:pPr lvl="1" marL="457200">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600" strike="noStrike" u="none">
              <a:solidFill>
                <a:srgbClr val="ffffff"/>
              </a:solidFill>
              <a:effectLst/>
              <a:uFillTx/>
              <a:latin typeface="Times New Roman"/>
            </a:endParaRPr>
          </a:p>
          <a:p>
            <a:pPr lvl="1" marL="457200">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IN" sz="1600" strike="noStrike" u="none">
                <a:solidFill>
                  <a:srgbClr val="ffffff"/>
                </a:solidFill>
                <a:effectLst/>
                <a:uFillTx/>
                <a:latin typeface="Arial"/>
              </a:rPr>
              <a:t>Hausrath Economics Group</a:t>
            </a:r>
            <a:endParaRPr b="0" lang="en-IN" sz="1600" strike="noStrike" u="none">
              <a:solidFill>
                <a:srgbClr val="ffffff"/>
              </a:solidFill>
              <a:effectLst/>
              <a:uFillTx/>
              <a:latin typeface="Times New Roman"/>
            </a:endParaRPr>
          </a:p>
          <a:p>
            <a:pPr lvl="1" marL="457200">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IN" sz="1600" strike="noStrike" u="none">
                <a:solidFill>
                  <a:srgbClr val="ffffff"/>
                </a:solidFill>
                <a:effectLst/>
                <a:uFillTx/>
                <a:latin typeface="Arial"/>
              </a:rPr>
              <a:t>The Tioga Group</a:t>
            </a:r>
            <a:endParaRPr b="0" lang="en-IN" sz="1600" strike="noStrike" u="none">
              <a:solidFill>
                <a:srgbClr val="ffffff"/>
              </a:solidFill>
              <a:effectLst/>
              <a:uFillTx/>
              <a:latin typeface="Times New Roman"/>
            </a:endParaRPr>
          </a:p>
          <a:p>
            <a:pPr lvl="1" marL="457200">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IN" sz="1600" strike="noStrike" u="none">
                <a:solidFill>
                  <a:srgbClr val="ffffff"/>
                </a:solidFill>
                <a:effectLst/>
                <a:uFillTx/>
                <a:latin typeface="Arial"/>
              </a:rPr>
              <a:t>Dowling Associates</a:t>
            </a:r>
            <a:endParaRPr b="0" lang="en-IN" sz="1600" strike="noStrike" u="none">
              <a:solidFill>
                <a:srgbClr val="ffffff"/>
              </a:solidFill>
              <a:effectLst/>
              <a:uFillTx/>
              <a:latin typeface="Times New Roman"/>
            </a:endParaRPr>
          </a:p>
          <a:p>
            <a:pPr lvl="1" marL="457200">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600" strike="noStrike" u="none">
              <a:solidFill>
                <a:srgbClr val="ffffff"/>
              </a:solidFill>
              <a:effectLst/>
              <a:uFillTx/>
              <a:latin typeface="Times New Roman"/>
            </a:endParaRPr>
          </a:p>
          <a:p>
            <a:pPr lvl="1" marL="457200">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600" strike="noStrike" u="none">
              <a:solidFill>
                <a:srgbClr val="ffffff"/>
              </a:solidFill>
              <a:effectLst/>
              <a:uFillTx/>
              <a:latin typeface="Times New Roman"/>
            </a:endParaRPr>
          </a:p>
          <a:p>
            <a:pPr lvl="1" marL="457200">
              <a:lnSpc>
                <a:spcPct val="95000"/>
              </a:lnSpc>
              <a:spcAft>
                <a:spcPts val="1225"/>
              </a:spcAft>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IN" sz="1400" strike="noStrike" u="none">
                <a:solidFill>
                  <a:srgbClr val="ffffff"/>
                </a:solidFill>
                <a:effectLst/>
                <a:uFillTx/>
                <a:latin typeface="Arial"/>
              </a:rPr>
              <a:t>February 25, 2003</a:t>
            </a:r>
            <a:endParaRPr b="0" lang="en-IN" sz="1400" strike="noStrike" u="none">
              <a:solidFill>
                <a:srgbClr val="ffffff"/>
              </a:solidFill>
              <a:effectLst/>
              <a:uFillTx/>
              <a:latin typeface="Times New Roman"/>
            </a:endParaRPr>
          </a:p>
        </p:txBody>
      </p:sp>
      <p:sp>
        <p:nvSpPr>
          <p:cNvPr id="34" name=""/>
          <p:cNvSpPr/>
          <p:nvPr/>
        </p:nvSpPr>
        <p:spPr>
          <a:xfrm>
            <a:off x="609480" y="2120760"/>
            <a:ext cx="7810560" cy="0"/>
          </a:xfrm>
          <a:prstGeom prst="line">
            <a:avLst/>
          </a:prstGeom>
          <a:ln w="25560">
            <a:solidFill>
              <a:srgbClr val="fc0128"/>
            </a:solidFill>
            <a:miter/>
          </a:ln>
        </p:spPr>
        <p:style>
          <a:lnRef idx="0"/>
          <a:fillRef idx="0"/>
          <a:effectRef idx="0"/>
          <a:fontRef idx="minor"/>
        </p:style>
        <p:txBody>
          <a:bodyPr lIns="90000" rIns="90000" tIns="-46800" bIns="-46800" anchor="ctr">
            <a:noAutofit/>
          </a:bodyPr>
          <a:p>
            <a:endParaRPr b="0" lang="en-IN" sz="2400" strike="noStrike" u="none">
              <a:solidFill>
                <a:srgbClr val="ffffff"/>
              </a:solidFill>
              <a:effectLst/>
              <a:uFillTx/>
              <a:latin typeface="Times New Roman"/>
            </a:endParaRPr>
          </a:p>
        </p:txBody>
      </p:sp>
      <p:pic>
        <p:nvPicPr>
          <p:cNvPr id="35" name="" descr=""/>
          <p:cNvPicPr/>
          <p:nvPr/>
        </p:nvPicPr>
        <p:blipFill>
          <a:blip r:embed="rId1"/>
          <a:srcRect l="0" t="12406" r="0" b="-3302"/>
          <a:stretch/>
        </p:blipFill>
        <p:spPr>
          <a:xfrm>
            <a:off x="7496280" y="203040"/>
            <a:ext cx="1177920" cy="6235920"/>
          </a:xfrm>
          <a:prstGeom prst="rect">
            <a:avLst/>
          </a:prstGeom>
          <a:noFill/>
          <a:ln w="0">
            <a:noFill/>
          </a:ln>
        </p:spPr>
      </p:pic>
    </p:spTree>
  </p:cSld>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14f3"/>
        </a:solidFill>
      </p:bgPr>
    </p:bg>
    <p:spTree>
      <p:nvGrpSpPr>
        <p:cNvPr id="1" name=""/>
        <p:cNvGrpSpPr/>
        <p:nvPr/>
      </p:nvGrpSpPr>
      <p:grpSpPr>
        <a:xfrm>
          <a:off x="0" y="0"/>
          <a:ext cx="0" cy="0"/>
          <a:chOff x="0" y="0"/>
          <a:chExt cx="0" cy="0"/>
        </a:xfrm>
      </p:grpSpPr>
      <p:sp>
        <p:nvSpPr>
          <p:cNvPr id="36" name="PlaceHolder 1"/>
          <p:cNvSpPr>
            <a:spLocks noGrp="1"/>
          </p:cNvSpPr>
          <p:nvPr>
            <p:ph type="title"/>
          </p:nvPr>
        </p:nvSpPr>
        <p:spPr>
          <a:xfrm>
            <a:off x="380880" y="609480"/>
            <a:ext cx="8763120" cy="609840"/>
          </a:xfrm>
          <a:prstGeom prst="rect">
            <a:avLst/>
          </a:prstGeom>
          <a:noFill/>
          <a:ln w="0">
            <a:noFill/>
          </a:ln>
        </p:spPr>
        <p:txBody>
          <a:bodyPr lIns="92160" rIns="92160" tIns="46080" bIns="46080" anchor="t">
            <a:noAutofit/>
          </a:bodyPr>
          <a:p>
            <a:pPr indent="0">
              <a:lnSpc>
                <a:spcPct val="85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IN" sz="2800" strike="noStrike" u="none">
                <a:solidFill>
                  <a:srgbClr val="fafd00"/>
                </a:solidFill>
                <a:effectLst/>
                <a:uFillTx/>
                <a:latin typeface="Arial"/>
              </a:rPr>
              <a:t>All Businesses/Consumers Rely on Goods Movement, But What are Economic Hot Buttons?</a:t>
            </a:r>
            <a:endParaRPr b="1" i="1" lang="en-IN" sz="2800" strike="noStrike" u="none">
              <a:solidFill>
                <a:srgbClr val="fafd00"/>
              </a:solidFill>
              <a:effectLst/>
              <a:uFillTx/>
              <a:latin typeface="Arial"/>
            </a:endParaRPr>
          </a:p>
        </p:txBody>
      </p:sp>
      <p:sp>
        <p:nvSpPr>
          <p:cNvPr id="37" name="PlaceHolder 2"/>
          <p:cNvSpPr>
            <a:spLocks noGrp="1"/>
          </p:cNvSpPr>
          <p:nvPr>
            <p:ph/>
          </p:nvPr>
        </p:nvSpPr>
        <p:spPr>
          <a:xfrm>
            <a:off x="380880" y="1900080"/>
            <a:ext cx="4376880" cy="4114800"/>
          </a:xfrm>
          <a:prstGeom prst="rect">
            <a:avLst/>
          </a:prstGeom>
          <a:noFill/>
          <a:ln w="0">
            <a:noFill/>
          </a:ln>
        </p:spPr>
        <p:txBody>
          <a:bodyPr lIns="92160" rIns="92160" tIns="46080" bIns="46080" anchor="t">
            <a:normAutofit/>
          </a:bodyPr>
          <a:p>
            <a:pPr marL="228600" indent="-228600">
              <a:lnSpc>
                <a:spcPct val="95000"/>
              </a:lnSpc>
              <a:spcBef>
                <a:spcPts val="2812"/>
              </a:spcBef>
              <a:buClr>
                <a:srgbClr val="fe9b03"/>
              </a:buClr>
              <a:buSzPct val="65000"/>
              <a:buFont typeface="Monotype Sort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ffffff"/>
                </a:solidFill>
                <a:effectLst/>
                <a:uFillTx/>
                <a:latin typeface="Arial"/>
              </a:rPr>
              <a:t>Goods movement businesses (carriers, warehouse/DC, logistics services)</a:t>
            </a:r>
            <a:endParaRPr b="1" lang="en-IN" sz="1800" strike="noStrike" u="none">
              <a:solidFill>
                <a:srgbClr val="ffffff"/>
              </a:solidFill>
              <a:effectLst/>
              <a:uFillTx/>
              <a:latin typeface="Arial"/>
            </a:endParaRPr>
          </a:p>
          <a:p>
            <a:pPr lvl="1" marL="520560" indent="-177480">
              <a:lnSpc>
                <a:spcPct val="95000"/>
              </a:lnSpc>
              <a:spcBef>
                <a:spcPts val="1687"/>
              </a:spcBef>
              <a:buClr>
                <a:srgbClr val="00c297"/>
              </a:buClr>
              <a:buSzPct val="120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ffffff"/>
                </a:solidFill>
                <a:effectLst/>
                <a:uFillTx/>
                <a:latin typeface="Arial"/>
              </a:rPr>
              <a:t>Jobs/communities impacted </a:t>
            </a:r>
            <a:br>
              <a:rPr sz="1800"/>
            </a:br>
            <a:r>
              <a:rPr b="1" lang="en-IN" sz="1800" strike="noStrike" u="none">
                <a:solidFill>
                  <a:srgbClr val="ffffff"/>
                </a:solidFill>
                <a:effectLst/>
                <a:uFillTx/>
                <a:latin typeface="Arial"/>
              </a:rPr>
              <a:t>(880 corridor, South SF)</a:t>
            </a:r>
            <a:endParaRPr b="1" lang="en-IN" sz="1800" strike="noStrike" u="none">
              <a:solidFill>
                <a:srgbClr val="ffffff"/>
              </a:solidFill>
              <a:effectLst/>
              <a:uFillTx/>
              <a:latin typeface="Arial"/>
            </a:endParaRPr>
          </a:p>
          <a:p>
            <a:pPr lvl="1" marL="520560" indent="-177480">
              <a:lnSpc>
                <a:spcPct val="95000"/>
              </a:lnSpc>
              <a:spcBef>
                <a:spcPts val="1687"/>
              </a:spcBef>
              <a:buClr>
                <a:srgbClr val="00c297"/>
              </a:buClr>
              <a:buSzPct val="120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ffffff"/>
                </a:solidFill>
                <a:effectLst/>
                <a:uFillTx/>
                <a:latin typeface="Arial"/>
              </a:rPr>
              <a:t>Trends affecting location (Safeway example)</a:t>
            </a:r>
            <a:endParaRPr b="1" lang="en-IN" sz="1800" strike="noStrike" u="none">
              <a:solidFill>
                <a:srgbClr val="ffffff"/>
              </a:solidFill>
              <a:effectLst/>
              <a:uFillTx/>
              <a:latin typeface="Arial"/>
            </a:endParaRPr>
          </a:p>
          <a:p>
            <a:pPr lvl="1" marL="520560" indent="-177480">
              <a:lnSpc>
                <a:spcPct val="95000"/>
              </a:lnSpc>
              <a:spcBef>
                <a:spcPts val="1687"/>
              </a:spcBef>
              <a:buClr>
                <a:srgbClr val="00c297"/>
              </a:buClr>
              <a:buSzPct val="120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ffffff"/>
                </a:solidFill>
                <a:effectLst/>
                <a:uFillTx/>
                <a:latin typeface="Arial"/>
              </a:rPr>
              <a:t>Opportunities for value and job growth (value-added distribution)</a:t>
            </a:r>
            <a:endParaRPr b="1" lang="en-IN" sz="1800" strike="noStrike" u="none">
              <a:solidFill>
                <a:srgbClr val="ffffff"/>
              </a:solidFill>
              <a:effectLst/>
              <a:uFillTx/>
              <a:latin typeface="Arial"/>
            </a:endParaRPr>
          </a:p>
          <a:p>
            <a:pPr marL="228600" indent="-228600">
              <a:lnSpc>
                <a:spcPct val="95000"/>
              </a:lnSpc>
              <a:spcBef>
                <a:spcPts val="2812"/>
              </a:spcBef>
              <a:buClr>
                <a:srgbClr val="fe9b03"/>
              </a:buClr>
              <a:buSzPct val="65000"/>
              <a:buFont typeface="Monotype Sort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ffffff"/>
                </a:solidFill>
                <a:effectLst/>
                <a:uFillTx/>
                <a:latin typeface="Arial"/>
              </a:rPr>
              <a:t>Significant industries where transportation affects location</a:t>
            </a:r>
            <a:endParaRPr b="1" lang="en-IN" sz="1800" strike="noStrike" u="none">
              <a:solidFill>
                <a:srgbClr val="ffffff"/>
              </a:solidFill>
              <a:effectLst/>
              <a:uFillTx/>
              <a:latin typeface="Arial"/>
            </a:endParaRPr>
          </a:p>
        </p:txBody>
      </p:sp>
      <p:graphicFrame>
        <p:nvGraphicFramePr>
          <p:cNvPr id="38" name=""/>
          <p:cNvGraphicFramePr/>
          <p:nvPr/>
        </p:nvGraphicFramePr>
        <p:xfrm>
          <a:off x="4737240" y="1498680"/>
          <a:ext cx="3811320" cy="4719600"/>
        </p:xfrm>
        <a:graphic>
          <a:graphicData uri="http://schemas.openxmlformats.org/presentationml/2006/ole">
            <p:oleObj progId="Word.Document.12" r:id="rId1" spid="">
              <p:embed/>
              <p:pic>
                <p:nvPicPr>
                  <p:cNvPr id="39" name="" descr=""/>
                  <p:cNvPicPr/>
                  <p:nvPr/>
                </p:nvPicPr>
                <p:blipFill>
                  <a:blip r:embed="rId2"/>
                  <a:stretch/>
                </p:blipFill>
                <p:spPr>
                  <a:xfrm>
                    <a:off x="4737240" y="1498680"/>
                    <a:ext cx="3811320" cy="4719600"/>
                  </a:xfrm>
                  <a:prstGeom prst="rect">
                    <a:avLst/>
                  </a:prstGeom>
                  <a:noFill/>
                  <a:ln w="12600">
                    <a:solidFill>
                      <a:srgbClr val="000000"/>
                    </a:solidFill>
                    <a:miter/>
                  </a:ln>
                </p:spPr>
              </p:pic>
            </p:oleObj>
          </a:graphicData>
        </a:graphic>
      </p:graphicFrame>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14f3"/>
        </a:solidFill>
      </p:bgPr>
    </p:bg>
    <p:spTree>
      <p:nvGrpSpPr>
        <p:cNvPr id="1" name=""/>
        <p:cNvGrpSpPr/>
        <p:nvPr/>
      </p:nvGrpSpPr>
      <p:grpSpPr>
        <a:xfrm>
          <a:off x="0" y="0"/>
          <a:ext cx="0" cy="0"/>
          <a:chOff x="0" y="0"/>
          <a:chExt cx="0" cy="0"/>
        </a:xfrm>
      </p:grpSpPr>
      <p:sp>
        <p:nvSpPr>
          <p:cNvPr id="40" name="PlaceHolder 1"/>
          <p:cNvSpPr>
            <a:spLocks noGrp="1"/>
          </p:cNvSpPr>
          <p:nvPr>
            <p:ph type="title"/>
          </p:nvPr>
        </p:nvSpPr>
        <p:spPr>
          <a:xfrm>
            <a:off x="380880" y="609480"/>
            <a:ext cx="8763120" cy="609840"/>
          </a:xfrm>
          <a:prstGeom prst="rect">
            <a:avLst/>
          </a:prstGeom>
          <a:noFill/>
          <a:ln w="0">
            <a:noFill/>
          </a:ln>
        </p:spPr>
        <p:txBody>
          <a:bodyPr lIns="92160" rIns="92160" tIns="46080" bIns="46080" anchor="t">
            <a:noAutofit/>
          </a:bodyPr>
          <a:p>
            <a:pPr indent="0">
              <a:lnSpc>
                <a:spcPct val="85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IN" sz="2800" strike="noStrike" u="none">
                <a:solidFill>
                  <a:srgbClr val="fafd00"/>
                </a:solidFill>
                <a:effectLst/>
                <a:uFillTx/>
                <a:latin typeface="Arial"/>
              </a:rPr>
              <a:t>All Businesses/Consumers Rely on Goods Movement, But What are Economic Hot Buttons?</a:t>
            </a:r>
            <a:endParaRPr b="1" i="1" lang="en-IN" sz="2800" strike="noStrike" u="none">
              <a:solidFill>
                <a:srgbClr val="fafd00"/>
              </a:solidFill>
              <a:effectLst/>
              <a:uFillTx/>
              <a:latin typeface="Arial"/>
            </a:endParaRPr>
          </a:p>
        </p:txBody>
      </p:sp>
      <p:sp>
        <p:nvSpPr>
          <p:cNvPr id="41" name="PlaceHolder 2"/>
          <p:cNvSpPr>
            <a:spLocks noGrp="1"/>
          </p:cNvSpPr>
          <p:nvPr>
            <p:ph/>
          </p:nvPr>
        </p:nvSpPr>
        <p:spPr>
          <a:xfrm>
            <a:off x="380520" y="1900080"/>
            <a:ext cx="3581640" cy="4114800"/>
          </a:xfrm>
          <a:prstGeom prst="rect">
            <a:avLst/>
          </a:prstGeom>
          <a:noFill/>
          <a:ln w="0">
            <a:noFill/>
          </a:ln>
        </p:spPr>
        <p:txBody>
          <a:bodyPr lIns="92160" rIns="92160" tIns="46080" bIns="46080" anchor="t">
            <a:normAutofit/>
          </a:bodyPr>
          <a:p>
            <a:pPr marL="343080" indent="-343080">
              <a:lnSpc>
                <a:spcPct val="95000"/>
              </a:lnSpc>
              <a:spcBef>
                <a:spcPts val="2812"/>
              </a:spcBef>
              <a:buClr>
                <a:srgbClr val="fe9b03"/>
              </a:buClr>
              <a:buSzPct val="65000"/>
              <a:buFont typeface="Monotype Sort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ffffff"/>
                </a:solidFill>
                <a:effectLst/>
                <a:uFillTx/>
                <a:latin typeface="Arial"/>
              </a:rPr>
              <a:t>Trade</a:t>
            </a:r>
            <a:endParaRPr b="1" lang="en-IN" sz="1800" strike="noStrike" u="none">
              <a:solidFill>
                <a:srgbClr val="ffffff"/>
              </a:solidFill>
              <a:effectLst/>
              <a:uFillTx/>
              <a:latin typeface="Arial"/>
            </a:endParaRPr>
          </a:p>
          <a:p>
            <a:pPr lvl="1" marL="743040" indent="-285840">
              <a:lnSpc>
                <a:spcPct val="95000"/>
              </a:lnSpc>
              <a:spcBef>
                <a:spcPts val="2251"/>
              </a:spcBef>
              <a:buClr>
                <a:srgbClr val="00c297"/>
              </a:buClr>
              <a:buSzPct val="120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ffffff"/>
                </a:solidFill>
                <a:effectLst/>
                <a:uFillTx/>
                <a:latin typeface="Arial"/>
              </a:rPr>
              <a:t>Unique features of Bay Area Ports </a:t>
            </a:r>
            <a:endParaRPr b="1" lang="en-IN" sz="1800" strike="noStrike" u="none">
              <a:solidFill>
                <a:srgbClr val="ffffff"/>
              </a:solidFill>
              <a:effectLst/>
              <a:uFillTx/>
              <a:latin typeface="Arial"/>
            </a:endParaRPr>
          </a:p>
          <a:p>
            <a:pPr lvl="1" marL="743040" indent="-285840">
              <a:lnSpc>
                <a:spcPct val="95000"/>
              </a:lnSpc>
              <a:spcBef>
                <a:spcPts val="2251"/>
              </a:spcBef>
              <a:buClr>
                <a:srgbClr val="00c297"/>
              </a:buClr>
              <a:buSzPct val="120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ffffff"/>
                </a:solidFill>
                <a:effectLst/>
                <a:uFillTx/>
                <a:latin typeface="Arial"/>
              </a:rPr>
              <a:t>Competitive issues </a:t>
            </a:r>
            <a:endParaRPr b="1" lang="en-IN" sz="1800" strike="noStrike" u="none">
              <a:solidFill>
                <a:srgbClr val="ffffff"/>
              </a:solidFill>
              <a:effectLst/>
              <a:uFillTx/>
              <a:latin typeface="Arial"/>
            </a:endParaRPr>
          </a:p>
          <a:p>
            <a:pPr lvl="1" marL="743040" indent="-285840">
              <a:lnSpc>
                <a:spcPct val="95000"/>
              </a:lnSpc>
              <a:spcBef>
                <a:spcPts val="2251"/>
              </a:spcBef>
              <a:buClr>
                <a:srgbClr val="00c297"/>
              </a:buClr>
              <a:buSzPct val="120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ffffff"/>
                </a:solidFill>
                <a:effectLst/>
                <a:uFillTx/>
                <a:latin typeface="Arial"/>
              </a:rPr>
              <a:t>Growth in air cargo</a:t>
            </a:r>
            <a:endParaRPr b="1" lang="en-IN" sz="1800" strike="noStrike" u="none">
              <a:solidFill>
                <a:srgbClr val="ffffff"/>
              </a:solidFill>
              <a:effectLst/>
              <a:uFillTx/>
              <a:latin typeface="Arial"/>
            </a:endParaRPr>
          </a:p>
        </p:txBody>
      </p:sp>
      <p:graphicFrame>
        <p:nvGraphicFramePr>
          <p:cNvPr id="42" name=""/>
          <p:cNvGraphicFramePr/>
          <p:nvPr/>
        </p:nvGraphicFramePr>
        <p:xfrm>
          <a:off x="4116240" y="1900080"/>
          <a:ext cx="4570560" cy="3810240"/>
        </p:xfrm>
        <a:graphic>
          <a:graphicData uri="http://schemas.openxmlformats.org/presentationml/2006/ole">
            <p:oleObj progId="Word.Document.12" r:id="rId1" spid="">
              <p:embed/>
              <p:pic>
                <p:nvPicPr>
                  <p:cNvPr id="43" name="" descr=""/>
                  <p:cNvPicPr/>
                  <p:nvPr/>
                </p:nvPicPr>
                <p:blipFill>
                  <a:blip r:embed="rId2"/>
                  <a:stretch/>
                </p:blipFill>
                <p:spPr>
                  <a:xfrm>
                    <a:off x="4116240" y="1900080"/>
                    <a:ext cx="4570560" cy="3810240"/>
                  </a:xfrm>
                  <a:prstGeom prst="rect">
                    <a:avLst/>
                  </a:prstGeom>
                  <a:noFill/>
                  <a:ln w="12600">
                    <a:solidFill>
                      <a:srgbClr val="000000"/>
                    </a:solidFill>
                    <a:miter/>
                  </a:ln>
                </p:spPr>
              </p:pic>
            </p:oleObj>
          </a:graphicData>
        </a:graphic>
      </p:graphicFrame>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14f3"/>
        </a:solidFill>
      </p:bgPr>
    </p:bg>
    <p:spTree>
      <p:nvGrpSpPr>
        <p:cNvPr id="1" name=""/>
        <p:cNvGrpSpPr/>
        <p:nvPr/>
      </p:nvGrpSpPr>
      <p:grpSpPr>
        <a:xfrm>
          <a:off x="0" y="0"/>
          <a:ext cx="0" cy="0"/>
          <a:chOff x="0" y="0"/>
          <a:chExt cx="0" cy="0"/>
        </a:xfrm>
      </p:grpSpPr>
      <p:sp>
        <p:nvSpPr>
          <p:cNvPr id="44" name="PlaceHolder 1"/>
          <p:cNvSpPr>
            <a:spLocks noGrp="1"/>
          </p:cNvSpPr>
          <p:nvPr>
            <p:ph type="title"/>
          </p:nvPr>
        </p:nvSpPr>
        <p:spPr>
          <a:xfrm>
            <a:off x="380880" y="609480"/>
            <a:ext cx="7772400" cy="609840"/>
          </a:xfrm>
          <a:prstGeom prst="rect">
            <a:avLst/>
          </a:prstGeom>
          <a:noFill/>
          <a:ln w="0">
            <a:noFill/>
          </a:ln>
        </p:spPr>
        <p:txBody>
          <a:bodyPr lIns="92160" rIns="92160" tIns="46080" bIns="46080" anchor="t">
            <a:noAutofit/>
          </a:bodyPr>
          <a:p>
            <a:pPr indent="0">
              <a:lnSpc>
                <a:spcPct val="85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IN" sz="2800" strike="noStrike" u="none">
                <a:solidFill>
                  <a:srgbClr val="fafd00"/>
                </a:solidFill>
                <a:effectLst/>
                <a:uFillTx/>
                <a:latin typeface="Arial"/>
              </a:rPr>
              <a:t>How Should MTC Allocate Funds to Goods Movement?</a:t>
            </a:r>
            <a:endParaRPr b="1" i="1" lang="en-IN" sz="2800" strike="noStrike" u="none">
              <a:solidFill>
                <a:srgbClr val="fafd00"/>
              </a:solidFill>
              <a:effectLst/>
              <a:uFillTx/>
              <a:latin typeface="Arial"/>
            </a:endParaRPr>
          </a:p>
        </p:txBody>
      </p:sp>
      <p:sp>
        <p:nvSpPr>
          <p:cNvPr id="45" name="PlaceHolder 2"/>
          <p:cNvSpPr>
            <a:spLocks noGrp="1"/>
          </p:cNvSpPr>
          <p:nvPr>
            <p:ph/>
          </p:nvPr>
        </p:nvSpPr>
        <p:spPr>
          <a:xfrm>
            <a:off x="380880" y="1736280"/>
            <a:ext cx="7772400" cy="4483080"/>
          </a:xfrm>
          <a:prstGeom prst="rect">
            <a:avLst/>
          </a:prstGeom>
          <a:noFill/>
          <a:ln w="0">
            <a:noFill/>
          </a:ln>
        </p:spPr>
        <p:txBody>
          <a:bodyPr lIns="92160" rIns="92160" tIns="46080" bIns="46080" anchor="t">
            <a:normAutofit lnSpcReduction="9999"/>
          </a:bodyPr>
          <a:p>
            <a:pPr marL="343080" indent="-343080">
              <a:lnSpc>
                <a:spcPct val="95000"/>
              </a:lnSpc>
              <a:spcBef>
                <a:spcPts val="3124"/>
              </a:spcBef>
              <a:buClr>
                <a:srgbClr val="fe9b03"/>
              </a:buClr>
              <a:buSzPct val="65000"/>
              <a:buFont typeface="Monotype Sort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ffffff"/>
                </a:solidFill>
                <a:effectLst/>
                <a:uFillTx/>
                <a:latin typeface="Arial"/>
              </a:rPr>
              <a:t>Most RTP funds are already planned or programmed</a:t>
            </a:r>
            <a:endParaRPr b="1" lang="en-IN" sz="2000" strike="noStrike" u="none">
              <a:solidFill>
                <a:srgbClr val="ffffff"/>
              </a:solidFill>
              <a:effectLst/>
              <a:uFillTx/>
              <a:latin typeface="Arial"/>
            </a:endParaRPr>
          </a:p>
          <a:p>
            <a:pPr lvl="1" marL="743040" indent="-285840">
              <a:lnSpc>
                <a:spcPct val="95000"/>
              </a:lnSpc>
              <a:spcBef>
                <a:spcPts val="374"/>
              </a:spcBef>
              <a:buClr>
                <a:srgbClr val="00c297"/>
              </a:buClr>
              <a:buSzPct val="120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ffffff"/>
                </a:solidFill>
                <a:effectLst/>
                <a:uFillTx/>
                <a:latin typeface="Arial"/>
              </a:rPr>
              <a:t>How do freight needs overlap with passenger needs?</a:t>
            </a:r>
            <a:endParaRPr b="1" lang="en-IN" sz="2000" strike="noStrike" u="none">
              <a:solidFill>
                <a:srgbClr val="ffffff"/>
              </a:solidFill>
              <a:effectLst/>
              <a:uFillTx/>
              <a:latin typeface="Arial"/>
            </a:endParaRPr>
          </a:p>
          <a:p>
            <a:pPr lvl="1" marL="743040" indent="-285840">
              <a:lnSpc>
                <a:spcPct val="95000"/>
              </a:lnSpc>
              <a:spcBef>
                <a:spcPts val="374"/>
              </a:spcBef>
              <a:buClr>
                <a:srgbClr val="00c297"/>
              </a:buClr>
              <a:buSzPct val="120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ffffff"/>
                </a:solidFill>
                <a:effectLst/>
                <a:uFillTx/>
                <a:latin typeface="Arial"/>
              </a:rPr>
              <a:t>New revenue opportunities</a:t>
            </a:r>
            <a:endParaRPr b="1" lang="en-IN" sz="2000" strike="noStrike" u="none">
              <a:solidFill>
                <a:srgbClr val="ffffff"/>
              </a:solidFill>
              <a:effectLst/>
              <a:uFillTx/>
              <a:latin typeface="Arial"/>
            </a:endParaRPr>
          </a:p>
          <a:p>
            <a:pPr marL="343080" indent="-343080">
              <a:lnSpc>
                <a:spcPct val="95000"/>
              </a:lnSpc>
              <a:spcBef>
                <a:spcPts val="2126"/>
              </a:spcBef>
              <a:buClr>
                <a:srgbClr val="fe9b03"/>
              </a:buClr>
              <a:buSzPct val="65000"/>
              <a:buFont typeface="Monotype Sort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ffffff"/>
                </a:solidFill>
                <a:effectLst/>
                <a:uFillTx/>
                <a:latin typeface="Arial"/>
              </a:rPr>
              <a:t>RTP emphasizes maintenance and operations</a:t>
            </a:r>
            <a:endParaRPr b="1" lang="en-IN" sz="2000" strike="noStrike" u="none">
              <a:solidFill>
                <a:srgbClr val="ffffff"/>
              </a:solidFill>
              <a:effectLst/>
              <a:uFillTx/>
              <a:latin typeface="Arial"/>
            </a:endParaRPr>
          </a:p>
          <a:p>
            <a:pPr lvl="1" marL="743040" indent="-285840">
              <a:lnSpc>
                <a:spcPct val="95000"/>
              </a:lnSpc>
              <a:spcBef>
                <a:spcPts val="374"/>
              </a:spcBef>
              <a:buClr>
                <a:srgbClr val="00c297"/>
              </a:buClr>
              <a:buSzPct val="120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ffffff"/>
                </a:solidFill>
                <a:effectLst/>
                <a:uFillTx/>
                <a:latin typeface="Arial"/>
              </a:rPr>
              <a:t>Traffic operations for freight (I-880 Corridor example)</a:t>
            </a:r>
            <a:endParaRPr b="1" lang="en-IN" sz="2000" strike="noStrike" u="none">
              <a:solidFill>
                <a:srgbClr val="ffffff"/>
              </a:solidFill>
              <a:effectLst/>
              <a:uFillTx/>
              <a:latin typeface="Arial"/>
            </a:endParaRPr>
          </a:p>
          <a:p>
            <a:pPr lvl="1" marL="743040" indent="-285840">
              <a:lnSpc>
                <a:spcPct val="95000"/>
              </a:lnSpc>
              <a:spcBef>
                <a:spcPts val="374"/>
              </a:spcBef>
              <a:buClr>
                <a:srgbClr val="00c297"/>
              </a:buClr>
              <a:buSzPct val="120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ffffff"/>
                </a:solidFill>
                <a:effectLst/>
                <a:uFillTx/>
                <a:latin typeface="Arial"/>
              </a:rPr>
              <a:t>Private sector solutions (FedEx staging in South SF)</a:t>
            </a:r>
            <a:endParaRPr b="1" lang="en-IN" sz="2000" strike="noStrike" u="none">
              <a:solidFill>
                <a:srgbClr val="ffffff"/>
              </a:solidFill>
              <a:effectLst/>
              <a:uFillTx/>
              <a:latin typeface="Arial"/>
            </a:endParaRPr>
          </a:p>
          <a:p>
            <a:pPr lvl="1" marL="743040" indent="-285840">
              <a:lnSpc>
                <a:spcPct val="95000"/>
              </a:lnSpc>
              <a:spcBef>
                <a:spcPts val="374"/>
              </a:spcBef>
              <a:buClr>
                <a:srgbClr val="00c297"/>
              </a:buClr>
              <a:buSzPct val="120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ffffff"/>
                </a:solidFill>
                <a:effectLst/>
                <a:uFillTx/>
                <a:latin typeface="Arial"/>
              </a:rPr>
              <a:t>Public/private ITS solutions (Synchro Met example)</a:t>
            </a:r>
            <a:endParaRPr b="1" lang="en-IN" sz="2000" strike="noStrike" u="none">
              <a:solidFill>
                <a:srgbClr val="ffffff"/>
              </a:solidFill>
              <a:effectLst/>
              <a:uFillTx/>
              <a:latin typeface="Arial"/>
            </a:endParaRPr>
          </a:p>
          <a:p>
            <a:pPr lvl="1" marL="743040" indent="-285840">
              <a:lnSpc>
                <a:spcPct val="95000"/>
              </a:lnSpc>
              <a:spcBef>
                <a:spcPts val="374"/>
              </a:spcBef>
              <a:buClr>
                <a:srgbClr val="00c297"/>
              </a:buClr>
              <a:buSzPct val="120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ffffff"/>
                </a:solidFill>
                <a:effectLst/>
                <a:uFillTx/>
                <a:latin typeface="Arial"/>
              </a:rPr>
              <a:t>Innovative modal services (CIRIS, Napa/Solano rail)</a:t>
            </a:r>
            <a:endParaRPr b="1" lang="en-IN" sz="2000" strike="noStrike" u="none">
              <a:solidFill>
                <a:srgbClr val="ffffff"/>
              </a:solidFill>
              <a:effectLst/>
              <a:uFillTx/>
              <a:latin typeface="Arial"/>
            </a:endParaRPr>
          </a:p>
          <a:p>
            <a:pPr marL="343080" indent="-343080">
              <a:lnSpc>
                <a:spcPct val="95000"/>
              </a:lnSpc>
              <a:spcBef>
                <a:spcPts val="2126"/>
              </a:spcBef>
              <a:buClr>
                <a:srgbClr val="fe9b03"/>
              </a:buClr>
              <a:buSzPct val="65000"/>
              <a:buFont typeface="Monotype Sort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ffffff"/>
                </a:solidFill>
                <a:effectLst/>
                <a:uFillTx/>
                <a:latin typeface="Arial"/>
              </a:rPr>
              <a:t>Look at goods movement system through eyes of the users</a:t>
            </a:r>
            <a:endParaRPr b="1" lang="en-IN" sz="2000" strike="noStrike" u="none">
              <a:solidFill>
                <a:srgbClr val="ffffff"/>
              </a:solidFill>
              <a:effectLst/>
              <a:uFillTx/>
              <a:latin typeface="Arial"/>
            </a:endParaRPr>
          </a:p>
          <a:p>
            <a:pPr lvl="1" marL="743040" indent="-285840">
              <a:lnSpc>
                <a:spcPct val="95000"/>
              </a:lnSpc>
              <a:spcBef>
                <a:spcPts val="374"/>
              </a:spcBef>
              <a:buClr>
                <a:srgbClr val="00c297"/>
              </a:buClr>
              <a:buSzPct val="120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ffffff"/>
                </a:solidFill>
                <a:effectLst/>
                <a:uFillTx/>
                <a:latin typeface="Arial"/>
              </a:rPr>
              <a:t>Market segments (long haul, parcel, construction, drayage, etc.)</a:t>
            </a:r>
            <a:endParaRPr b="1" lang="en-IN" sz="2000" strike="noStrike" u="none">
              <a:solidFill>
                <a:srgbClr val="ffffff"/>
              </a:solidFill>
              <a:effectLst/>
              <a:uFillTx/>
              <a:latin typeface="Arial"/>
            </a:endParaRPr>
          </a:p>
          <a:p>
            <a:pPr lvl="1" marL="743040" indent="-285840">
              <a:lnSpc>
                <a:spcPct val="95000"/>
              </a:lnSpc>
              <a:spcBef>
                <a:spcPts val="374"/>
              </a:spcBef>
              <a:buClr>
                <a:srgbClr val="00c297"/>
              </a:buClr>
              <a:buSzPct val="120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ffffff"/>
                </a:solidFill>
                <a:effectLst/>
                <a:uFillTx/>
                <a:latin typeface="Arial"/>
              </a:rPr>
              <a:t>Customer requirements (timing, equipment choices)</a:t>
            </a:r>
            <a:endParaRPr b="1" lang="en-IN" sz="20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14f3"/>
        </a:solidFill>
      </p:bgPr>
    </p:bg>
    <p:spTree>
      <p:nvGrpSpPr>
        <p:cNvPr id="1" name=""/>
        <p:cNvGrpSpPr/>
        <p:nvPr/>
      </p:nvGrpSpPr>
      <p:grpSpPr>
        <a:xfrm>
          <a:off x="0" y="0"/>
          <a:ext cx="0" cy="0"/>
          <a:chOff x="0" y="0"/>
          <a:chExt cx="0" cy="0"/>
        </a:xfrm>
      </p:grpSpPr>
      <p:sp>
        <p:nvSpPr>
          <p:cNvPr id="46" name="PlaceHolder 1"/>
          <p:cNvSpPr>
            <a:spLocks noGrp="1"/>
          </p:cNvSpPr>
          <p:nvPr>
            <p:ph type="title"/>
          </p:nvPr>
        </p:nvSpPr>
        <p:spPr>
          <a:xfrm>
            <a:off x="380880" y="609480"/>
            <a:ext cx="7772400" cy="609840"/>
          </a:xfrm>
          <a:prstGeom prst="rect">
            <a:avLst/>
          </a:prstGeom>
          <a:noFill/>
          <a:ln w="0">
            <a:noFill/>
          </a:ln>
        </p:spPr>
        <p:txBody>
          <a:bodyPr lIns="92160" rIns="92160" tIns="46080" bIns="46080" anchor="t">
            <a:noAutofit/>
          </a:bodyPr>
          <a:p>
            <a:pPr indent="0">
              <a:lnSpc>
                <a:spcPct val="85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IN" sz="2800" strike="noStrike" u="none">
                <a:solidFill>
                  <a:srgbClr val="fafd00"/>
                </a:solidFill>
                <a:effectLst/>
                <a:uFillTx/>
                <a:latin typeface="Arial"/>
              </a:rPr>
              <a:t>Reauthorization and Statewide Policy Issues</a:t>
            </a:r>
            <a:endParaRPr b="1" i="1" lang="en-IN" sz="2800" strike="noStrike" u="none">
              <a:solidFill>
                <a:srgbClr val="fafd00"/>
              </a:solidFill>
              <a:effectLst/>
              <a:uFillTx/>
              <a:latin typeface="Arial"/>
            </a:endParaRPr>
          </a:p>
        </p:txBody>
      </p:sp>
      <p:sp>
        <p:nvSpPr>
          <p:cNvPr id="47" name="PlaceHolder 2"/>
          <p:cNvSpPr>
            <a:spLocks noGrp="1"/>
          </p:cNvSpPr>
          <p:nvPr>
            <p:ph/>
          </p:nvPr>
        </p:nvSpPr>
        <p:spPr>
          <a:xfrm>
            <a:off x="380880" y="1447920"/>
            <a:ext cx="7772400" cy="4114800"/>
          </a:xfrm>
          <a:prstGeom prst="rect">
            <a:avLst/>
          </a:prstGeom>
          <a:noFill/>
          <a:ln w="0">
            <a:noFill/>
          </a:ln>
        </p:spPr>
        <p:txBody>
          <a:bodyPr lIns="92160" rIns="92160" tIns="46080" bIns="46080" anchor="t">
            <a:normAutofit/>
          </a:bodyPr>
          <a:p>
            <a:pPr marL="343080" indent="-343080">
              <a:lnSpc>
                <a:spcPct val="95000"/>
              </a:lnSpc>
              <a:spcBef>
                <a:spcPts val="3124"/>
              </a:spcBef>
              <a:buClr>
                <a:srgbClr val="fe9b03"/>
              </a:buClr>
              <a:buSzPct val="65000"/>
              <a:buFont typeface="Monotype Sort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ffffff"/>
                </a:solidFill>
                <a:effectLst/>
                <a:uFillTx/>
                <a:latin typeface="Arial"/>
              </a:rPr>
              <a:t>Freight funding</a:t>
            </a:r>
            <a:endParaRPr b="1" lang="en-IN" sz="2000" strike="noStrike" u="none">
              <a:solidFill>
                <a:srgbClr val="ffffff"/>
              </a:solidFill>
              <a:effectLst/>
              <a:uFillTx/>
              <a:latin typeface="Arial"/>
            </a:endParaRPr>
          </a:p>
          <a:p>
            <a:pPr lvl="1" marL="743040" indent="-285840">
              <a:lnSpc>
                <a:spcPct val="95000"/>
              </a:lnSpc>
              <a:spcBef>
                <a:spcPts val="1250"/>
              </a:spcBef>
              <a:buClr>
                <a:srgbClr val="00c297"/>
              </a:buClr>
              <a:buSzPct val="120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ffffff"/>
                </a:solidFill>
                <a:effectLst/>
                <a:uFillTx/>
                <a:latin typeface="Arial"/>
              </a:rPr>
              <a:t>User fees </a:t>
            </a:r>
            <a:endParaRPr b="1" lang="en-IN" sz="2000" strike="noStrike" u="none">
              <a:solidFill>
                <a:srgbClr val="ffffff"/>
              </a:solidFill>
              <a:effectLst/>
              <a:uFillTx/>
              <a:latin typeface="Arial"/>
            </a:endParaRPr>
          </a:p>
          <a:p>
            <a:pPr lvl="1" marL="743040" indent="-285840">
              <a:lnSpc>
                <a:spcPct val="95000"/>
              </a:lnSpc>
              <a:spcBef>
                <a:spcPts val="1250"/>
              </a:spcBef>
              <a:buClr>
                <a:srgbClr val="00c297"/>
              </a:buClr>
              <a:buSzPct val="120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ffffff"/>
                </a:solidFill>
                <a:effectLst/>
                <a:uFillTx/>
                <a:latin typeface="Arial"/>
              </a:rPr>
              <a:t>Gateway funding</a:t>
            </a:r>
            <a:endParaRPr b="1" lang="en-IN" sz="2000" strike="noStrike" u="none">
              <a:solidFill>
                <a:srgbClr val="ffffff"/>
              </a:solidFill>
              <a:effectLst/>
              <a:uFillTx/>
              <a:latin typeface="Arial"/>
            </a:endParaRPr>
          </a:p>
          <a:p>
            <a:pPr marL="343080" indent="-343080">
              <a:lnSpc>
                <a:spcPct val="95000"/>
              </a:lnSpc>
              <a:spcBef>
                <a:spcPts val="3124"/>
              </a:spcBef>
              <a:buClr>
                <a:srgbClr val="fe9b03"/>
              </a:buClr>
              <a:buSzPct val="65000"/>
              <a:buFont typeface="Monotype Sort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ffffff"/>
                </a:solidFill>
                <a:effectLst/>
                <a:uFillTx/>
                <a:latin typeface="Arial"/>
              </a:rPr>
              <a:t>Funding for rail investments (e.g., rail shuttle projects, public-private)</a:t>
            </a:r>
            <a:endParaRPr b="1" lang="en-IN" sz="2000" strike="noStrike" u="none">
              <a:solidFill>
                <a:srgbClr val="ffffff"/>
              </a:solidFill>
              <a:effectLst/>
              <a:uFillTx/>
              <a:latin typeface="Arial"/>
            </a:endParaRPr>
          </a:p>
          <a:p>
            <a:pPr lvl="1" marL="743040" indent="-285840">
              <a:lnSpc>
                <a:spcPct val="95000"/>
              </a:lnSpc>
              <a:spcBef>
                <a:spcPts val="1250"/>
              </a:spcBef>
              <a:buClr>
                <a:srgbClr val="00c297"/>
              </a:buClr>
              <a:buSzPct val="120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ffffff"/>
                </a:solidFill>
                <a:effectLst/>
                <a:uFillTx/>
                <a:latin typeface="Arial"/>
              </a:rPr>
              <a:t>AASHTO Rail Freight Bottom Line, Mid-Atlantic Rail</a:t>
            </a:r>
            <a:endParaRPr b="1" lang="en-IN" sz="2000" strike="noStrike" u="none">
              <a:solidFill>
                <a:srgbClr val="ffffff"/>
              </a:solidFill>
              <a:effectLst/>
              <a:uFillTx/>
              <a:latin typeface="Arial"/>
            </a:endParaRPr>
          </a:p>
          <a:p>
            <a:pPr marL="343080" indent="-343080">
              <a:lnSpc>
                <a:spcPct val="95000"/>
              </a:lnSpc>
              <a:spcBef>
                <a:spcPts val="3124"/>
              </a:spcBef>
              <a:buClr>
                <a:srgbClr val="fe9b03"/>
              </a:buClr>
              <a:buSzPct val="65000"/>
              <a:buFont typeface="Monotype Sort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ffffff"/>
                </a:solidFill>
                <a:effectLst/>
                <a:uFillTx/>
                <a:latin typeface="Arial"/>
              </a:rPr>
              <a:t>Project earmarking – Where is the competition?</a:t>
            </a:r>
            <a:endParaRPr b="1" lang="en-IN" sz="2000" strike="noStrike" u="none">
              <a:solidFill>
                <a:srgbClr val="ffffff"/>
              </a:solidFill>
              <a:effectLst/>
              <a:uFillTx/>
              <a:latin typeface="Arial"/>
            </a:endParaRPr>
          </a:p>
          <a:p>
            <a:pPr marL="343080" indent="-343080">
              <a:lnSpc>
                <a:spcPct val="95000"/>
              </a:lnSpc>
              <a:spcBef>
                <a:spcPts val="3124"/>
              </a:spcBef>
              <a:buClr>
                <a:srgbClr val="fe9b03"/>
              </a:buClr>
              <a:buSzPct val="65000"/>
              <a:buFont typeface="Monotype Sort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ffffff"/>
                </a:solidFill>
                <a:effectLst/>
                <a:uFillTx/>
                <a:latin typeface="Arial"/>
              </a:rPr>
              <a:t>Global Gateways and ITIP Funding</a:t>
            </a:r>
            <a:endParaRPr b="1" lang="en-IN" sz="20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14f3"/>
        </a:solidFill>
      </p:bgPr>
    </p:bg>
    <p:spTree>
      <p:nvGrpSpPr>
        <p:cNvPr id="1" name=""/>
        <p:cNvGrpSpPr/>
        <p:nvPr/>
      </p:nvGrpSpPr>
      <p:grpSpPr>
        <a:xfrm>
          <a:off x="0" y="0"/>
          <a:ext cx="0" cy="0"/>
          <a:chOff x="0" y="0"/>
          <a:chExt cx="0" cy="0"/>
        </a:xfrm>
      </p:grpSpPr>
      <p:sp>
        <p:nvSpPr>
          <p:cNvPr id="48" name="PlaceHolder 1"/>
          <p:cNvSpPr>
            <a:spLocks noGrp="1"/>
          </p:cNvSpPr>
          <p:nvPr>
            <p:ph type="title"/>
          </p:nvPr>
        </p:nvSpPr>
        <p:spPr>
          <a:xfrm>
            <a:off x="380880" y="609480"/>
            <a:ext cx="7772400" cy="609840"/>
          </a:xfrm>
          <a:prstGeom prst="rect">
            <a:avLst/>
          </a:prstGeom>
          <a:noFill/>
          <a:ln w="0">
            <a:noFill/>
          </a:ln>
        </p:spPr>
        <p:txBody>
          <a:bodyPr lIns="92160" rIns="92160" tIns="46080" bIns="46080" anchor="t">
            <a:noAutofit/>
          </a:bodyPr>
          <a:p>
            <a:pPr indent="0">
              <a:lnSpc>
                <a:spcPct val="85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IN" sz="2800" strike="noStrike" u="none">
                <a:solidFill>
                  <a:srgbClr val="fafd00"/>
                </a:solidFill>
                <a:effectLst/>
                <a:uFillTx/>
                <a:latin typeface="Arial"/>
              </a:rPr>
              <a:t>Overview of the Team</a:t>
            </a:r>
            <a:endParaRPr b="1" i="1" lang="en-IN" sz="2800" strike="noStrike" u="none">
              <a:solidFill>
                <a:srgbClr val="fafd00"/>
              </a:solidFill>
              <a:effectLst/>
              <a:uFillTx/>
              <a:latin typeface="Arial"/>
            </a:endParaRPr>
          </a:p>
        </p:txBody>
      </p:sp>
      <p:sp>
        <p:nvSpPr>
          <p:cNvPr id="49" name=""/>
          <p:cNvSpPr/>
          <p:nvPr/>
        </p:nvSpPr>
        <p:spPr>
          <a:xfrm>
            <a:off x="1701720" y="3889440"/>
            <a:ext cx="0" cy="593640"/>
          </a:xfrm>
          <a:prstGeom prst="line">
            <a:avLst/>
          </a:prstGeom>
          <a:ln w="3240">
            <a:solidFill>
              <a:srgbClr val="fafd00"/>
            </a:solidFill>
            <a:miter/>
          </a:ln>
        </p:spPr>
        <p:style>
          <a:lnRef idx="0"/>
          <a:fillRef idx="0"/>
          <a:effectRef idx="0"/>
          <a:fontRef idx="minor"/>
        </p:style>
        <p:txBody>
          <a:bodyPr lIns="90000" rIns="90000" tIns="46800" bIns="46800" anchor="ctr">
            <a:noAutofit/>
          </a:bodyPr>
          <a:p>
            <a:endParaRPr b="0" lang="en-IN" sz="2400" strike="noStrike" u="none">
              <a:solidFill>
                <a:srgbClr val="ffffff"/>
              </a:solidFill>
              <a:effectLst/>
              <a:uFillTx/>
              <a:latin typeface="Times New Roman"/>
            </a:endParaRPr>
          </a:p>
        </p:txBody>
      </p:sp>
      <p:sp>
        <p:nvSpPr>
          <p:cNvPr id="50" name=""/>
          <p:cNvSpPr/>
          <p:nvPr/>
        </p:nvSpPr>
        <p:spPr>
          <a:xfrm>
            <a:off x="7353360" y="3889440"/>
            <a:ext cx="0" cy="593640"/>
          </a:xfrm>
          <a:prstGeom prst="line">
            <a:avLst/>
          </a:prstGeom>
          <a:ln w="3240">
            <a:solidFill>
              <a:srgbClr val="fafd00"/>
            </a:solidFill>
            <a:miter/>
          </a:ln>
        </p:spPr>
        <p:style>
          <a:lnRef idx="0"/>
          <a:fillRef idx="0"/>
          <a:effectRef idx="0"/>
          <a:fontRef idx="minor"/>
        </p:style>
        <p:txBody>
          <a:bodyPr lIns="90000" rIns="90000" tIns="46800" bIns="46800" anchor="ctr">
            <a:noAutofit/>
          </a:bodyPr>
          <a:p>
            <a:endParaRPr b="0" lang="en-IN" sz="2400" strike="noStrike" u="none">
              <a:solidFill>
                <a:srgbClr val="ffffff"/>
              </a:solidFill>
              <a:effectLst/>
              <a:uFillTx/>
              <a:latin typeface="Times New Roman"/>
            </a:endParaRPr>
          </a:p>
        </p:txBody>
      </p:sp>
      <p:sp>
        <p:nvSpPr>
          <p:cNvPr id="51" name=""/>
          <p:cNvSpPr/>
          <p:nvPr/>
        </p:nvSpPr>
        <p:spPr>
          <a:xfrm>
            <a:off x="4495680" y="3295800"/>
            <a:ext cx="0" cy="593640"/>
          </a:xfrm>
          <a:prstGeom prst="line">
            <a:avLst/>
          </a:prstGeom>
          <a:ln w="3240">
            <a:solidFill>
              <a:srgbClr val="fafd00"/>
            </a:solidFill>
            <a:miter/>
          </a:ln>
        </p:spPr>
        <p:style>
          <a:lnRef idx="0"/>
          <a:fillRef idx="0"/>
          <a:effectRef idx="0"/>
          <a:fontRef idx="minor"/>
        </p:style>
        <p:txBody>
          <a:bodyPr lIns="90000" rIns="90000" tIns="46800" bIns="46800" anchor="ctr">
            <a:noAutofit/>
          </a:bodyPr>
          <a:p>
            <a:endParaRPr b="0" lang="en-IN" sz="2400" strike="noStrike" u="none">
              <a:solidFill>
                <a:srgbClr val="ffffff"/>
              </a:solidFill>
              <a:effectLst/>
              <a:uFillTx/>
              <a:latin typeface="Times New Roman"/>
            </a:endParaRPr>
          </a:p>
        </p:txBody>
      </p:sp>
      <p:sp>
        <p:nvSpPr>
          <p:cNvPr id="52" name=""/>
          <p:cNvSpPr/>
          <p:nvPr/>
        </p:nvSpPr>
        <p:spPr>
          <a:xfrm>
            <a:off x="2793960" y="1442880"/>
            <a:ext cx="3390840" cy="2119320"/>
          </a:xfrm>
          <a:prstGeom prst="rect">
            <a:avLst/>
          </a:prstGeom>
          <a:solidFill>
            <a:srgbClr val="008080"/>
          </a:solidFill>
          <a:ln w="0">
            <a:noFill/>
          </a:ln>
          <a:effectLst>
            <a:outerShdw dist="17819" dir="2700000" blurRad="0" rotWithShape="0">
              <a:srgbClr val="919191"/>
            </a:outerShdw>
          </a:effectLst>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53" name=""/>
          <p:cNvSpPr/>
          <p:nvPr/>
        </p:nvSpPr>
        <p:spPr>
          <a:xfrm>
            <a:off x="2793960" y="1442880"/>
            <a:ext cx="3390840" cy="446400"/>
          </a:xfrm>
          <a:prstGeom prst="rect">
            <a:avLst/>
          </a:prstGeom>
          <a:solidFill>
            <a:srgbClr val="000080"/>
          </a:solidFill>
          <a:ln w="0">
            <a:noFill/>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54" name=""/>
          <p:cNvSpPr/>
          <p:nvPr/>
        </p:nvSpPr>
        <p:spPr>
          <a:xfrm>
            <a:off x="2793960" y="1530360"/>
            <a:ext cx="3390840" cy="304920"/>
          </a:xfrm>
          <a:prstGeom prst="rect">
            <a:avLst/>
          </a:prstGeom>
          <a:noFill/>
          <a:ln w="0">
            <a:noFill/>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ffffff"/>
                </a:solidFill>
                <a:effectLst/>
                <a:uFillTx/>
                <a:latin typeface="Arial"/>
              </a:rPr>
              <a:t>Cambridge Systematics, Inc.</a:t>
            </a:r>
            <a:endParaRPr b="0" lang="en-IN" sz="1400" strike="noStrike" u="none">
              <a:solidFill>
                <a:srgbClr val="ffffff"/>
              </a:solidFill>
              <a:effectLst/>
              <a:uFillTx/>
              <a:latin typeface="Times New Roman"/>
            </a:endParaRPr>
          </a:p>
        </p:txBody>
      </p:sp>
      <p:sp>
        <p:nvSpPr>
          <p:cNvPr id="55" name=""/>
          <p:cNvSpPr/>
          <p:nvPr/>
        </p:nvSpPr>
        <p:spPr>
          <a:xfrm>
            <a:off x="2793960" y="1943280"/>
            <a:ext cx="3390840" cy="822240"/>
          </a:xfrm>
          <a:prstGeom prst="rect">
            <a:avLst/>
          </a:prstGeom>
          <a:noFill/>
          <a:ln w="0">
            <a:noFill/>
          </a:ln>
        </p:spPr>
        <p:style>
          <a:lnRef idx="0"/>
          <a:fillRef idx="0"/>
          <a:effectRef idx="0"/>
          <a:fontRef idx="minor"/>
        </p:style>
        <p:txBody>
          <a:bodyPr lIns="90000" rIns="90000" tIns="46800" bIns="46800" anchor="ctr">
            <a:noAutofit/>
          </a:bodyPr>
          <a:p>
            <a:pPr marL="169920" indent="-169920">
              <a:lnSpc>
                <a:spcPct val="100000"/>
              </a:lnSpc>
              <a:buClr>
                <a:srgbClr val="fafd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1200" strike="noStrike" u="none">
                <a:solidFill>
                  <a:srgbClr val="ffffff"/>
                </a:solidFill>
                <a:effectLst/>
                <a:uFillTx/>
                <a:latin typeface="Arial"/>
              </a:rPr>
              <a:t>Project Management</a:t>
            </a:r>
            <a:endParaRPr b="0" lang="en-IN" sz="1200" strike="noStrike" u="none">
              <a:solidFill>
                <a:srgbClr val="ffffff"/>
              </a:solidFill>
              <a:effectLst/>
              <a:uFillTx/>
              <a:latin typeface="Times New Roman"/>
            </a:endParaRPr>
          </a:p>
          <a:p>
            <a:pPr marL="169920" indent="-169920">
              <a:lnSpc>
                <a:spcPct val="100000"/>
              </a:lnSpc>
              <a:buClr>
                <a:srgbClr val="fafd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1200" strike="noStrike" u="none">
                <a:solidFill>
                  <a:srgbClr val="ffffff"/>
                </a:solidFill>
                <a:effectLst/>
                <a:uFillTx/>
                <a:latin typeface="Arial"/>
              </a:rPr>
              <a:t>Freight Data</a:t>
            </a:r>
            <a:endParaRPr b="0" lang="en-IN" sz="1200" strike="noStrike" u="none">
              <a:solidFill>
                <a:srgbClr val="ffffff"/>
              </a:solidFill>
              <a:effectLst/>
              <a:uFillTx/>
              <a:latin typeface="Times New Roman"/>
            </a:endParaRPr>
          </a:p>
          <a:p>
            <a:pPr marL="169920" indent="-169920">
              <a:lnSpc>
                <a:spcPct val="100000"/>
              </a:lnSpc>
              <a:buClr>
                <a:srgbClr val="fafd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1200" strike="noStrike" u="none">
                <a:solidFill>
                  <a:srgbClr val="ffffff"/>
                </a:solidFill>
                <a:effectLst/>
                <a:uFillTx/>
                <a:latin typeface="Arial"/>
              </a:rPr>
              <a:t>Freight and Economic Development</a:t>
            </a:r>
            <a:endParaRPr b="0" lang="en-IN" sz="1200" strike="noStrike" u="none">
              <a:solidFill>
                <a:srgbClr val="ffffff"/>
              </a:solidFill>
              <a:effectLst/>
              <a:uFillTx/>
              <a:latin typeface="Times New Roman"/>
            </a:endParaRPr>
          </a:p>
          <a:p>
            <a:pPr marL="169920" indent="-169920">
              <a:lnSpc>
                <a:spcPct val="100000"/>
              </a:lnSpc>
              <a:buClr>
                <a:srgbClr val="fafd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1200" strike="noStrike" u="none">
                <a:solidFill>
                  <a:srgbClr val="ffffff"/>
                </a:solidFill>
                <a:effectLst/>
                <a:uFillTx/>
                <a:latin typeface="Arial"/>
              </a:rPr>
              <a:t>Freight Policy</a:t>
            </a:r>
            <a:endParaRPr b="0" lang="en-IN" sz="1200" strike="noStrike" u="none">
              <a:solidFill>
                <a:srgbClr val="ffffff"/>
              </a:solidFill>
              <a:effectLst/>
              <a:uFillTx/>
              <a:latin typeface="Times New Roman"/>
            </a:endParaRPr>
          </a:p>
        </p:txBody>
      </p:sp>
      <p:sp>
        <p:nvSpPr>
          <p:cNvPr id="56" name=""/>
          <p:cNvSpPr/>
          <p:nvPr/>
        </p:nvSpPr>
        <p:spPr>
          <a:xfrm>
            <a:off x="2793960" y="2832120"/>
            <a:ext cx="3390840" cy="639720"/>
          </a:xfrm>
          <a:prstGeom prst="rect">
            <a:avLst/>
          </a:prstGeom>
          <a:noFill/>
          <a:ln w="0">
            <a:noFill/>
          </a:ln>
        </p:spPr>
        <p:style>
          <a:lnRef idx="0"/>
          <a:fillRef idx="0"/>
          <a:effectRef idx="0"/>
          <a:fontRef idx="minor"/>
        </p:style>
        <p:txBody>
          <a:bodyPr lIns="90000" rIns="90000" tIns="46800" bIns="46800" anchor="ctr">
            <a:noAutofit/>
          </a:bodyPr>
          <a:p>
            <a:pPr marL="749160" indent="-749160">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200" strike="noStrike" u="none">
                <a:solidFill>
                  <a:srgbClr val="fafd00"/>
                </a:solidFill>
                <a:effectLst/>
                <a:uFillTx/>
                <a:latin typeface="Arial"/>
              </a:rPr>
              <a:t>Key Staff: </a:t>
            </a:r>
            <a:r>
              <a:rPr b="1" lang="en-IN" sz="1200" strike="noStrike" u="none">
                <a:solidFill>
                  <a:srgbClr val="ffffff"/>
                </a:solidFill>
                <a:effectLst/>
                <a:uFillTx/>
                <a:latin typeface="Arial"/>
              </a:rPr>
              <a:t>Michael Fischer, Project Manager</a:t>
            </a:r>
            <a:endParaRPr b="0" lang="en-IN" sz="1200" strike="noStrike" u="none">
              <a:solidFill>
                <a:srgbClr val="ffffff"/>
              </a:solidFill>
              <a:effectLst/>
              <a:uFillTx/>
              <a:latin typeface="Times New Roman"/>
            </a:endParaRPr>
          </a:p>
          <a:p>
            <a:pPr marL="749160" indent="-749160">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200" strike="noStrike" u="none">
                <a:solidFill>
                  <a:srgbClr val="ffffff"/>
                </a:solidFill>
                <a:effectLst/>
                <a:uFillTx/>
                <a:latin typeface="Arial"/>
              </a:rPr>
              <a:t>	</a:t>
            </a:r>
            <a:r>
              <a:rPr b="1" lang="en-IN" sz="1200" strike="noStrike" u="none">
                <a:solidFill>
                  <a:srgbClr val="ffffff"/>
                </a:solidFill>
                <a:effectLst/>
                <a:uFillTx/>
                <a:latin typeface="Arial"/>
              </a:rPr>
              <a:t>Christopher Wornum, Principal-in-Charge</a:t>
            </a:r>
            <a:endParaRPr b="0" lang="en-IN" sz="1200" strike="noStrike" u="none">
              <a:solidFill>
                <a:srgbClr val="ffffff"/>
              </a:solidFill>
              <a:effectLst/>
              <a:uFillTx/>
              <a:latin typeface="Times New Roman"/>
            </a:endParaRPr>
          </a:p>
        </p:txBody>
      </p:sp>
      <p:sp>
        <p:nvSpPr>
          <p:cNvPr id="57" name=""/>
          <p:cNvSpPr/>
          <p:nvPr/>
        </p:nvSpPr>
        <p:spPr>
          <a:xfrm>
            <a:off x="444600" y="4200480"/>
            <a:ext cx="2514600" cy="1765440"/>
          </a:xfrm>
          <a:prstGeom prst="rect">
            <a:avLst/>
          </a:prstGeom>
          <a:solidFill>
            <a:srgbClr val="008080"/>
          </a:solidFill>
          <a:ln w="0">
            <a:noFill/>
          </a:ln>
          <a:effectLst>
            <a:outerShdw dist="17819" dir="2700000" blurRad="0" rotWithShape="0">
              <a:srgbClr val="919191"/>
            </a:outerShdw>
          </a:effectLst>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58" name=""/>
          <p:cNvSpPr/>
          <p:nvPr/>
        </p:nvSpPr>
        <p:spPr>
          <a:xfrm>
            <a:off x="444600" y="4200480"/>
            <a:ext cx="2514600" cy="446040"/>
          </a:xfrm>
          <a:prstGeom prst="rect">
            <a:avLst/>
          </a:prstGeom>
          <a:solidFill>
            <a:srgbClr val="000080"/>
          </a:solidFill>
          <a:ln w="0">
            <a:noFill/>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59" name=""/>
          <p:cNvSpPr/>
          <p:nvPr/>
        </p:nvSpPr>
        <p:spPr>
          <a:xfrm>
            <a:off x="444600" y="4287960"/>
            <a:ext cx="2514600" cy="304560"/>
          </a:xfrm>
          <a:prstGeom prst="rect">
            <a:avLst/>
          </a:prstGeom>
          <a:noFill/>
          <a:ln w="0">
            <a:noFill/>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ffffff"/>
                </a:solidFill>
                <a:effectLst/>
                <a:uFillTx/>
                <a:latin typeface="Arial"/>
              </a:rPr>
              <a:t>The Tioga Group</a:t>
            </a:r>
            <a:endParaRPr b="0" lang="en-IN" sz="1400" strike="noStrike" u="none">
              <a:solidFill>
                <a:srgbClr val="ffffff"/>
              </a:solidFill>
              <a:effectLst/>
              <a:uFillTx/>
              <a:latin typeface="Times New Roman"/>
            </a:endParaRPr>
          </a:p>
        </p:txBody>
      </p:sp>
      <p:sp>
        <p:nvSpPr>
          <p:cNvPr id="60" name=""/>
          <p:cNvSpPr/>
          <p:nvPr/>
        </p:nvSpPr>
        <p:spPr>
          <a:xfrm>
            <a:off x="444600" y="4713120"/>
            <a:ext cx="2514600" cy="831960"/>
          </a:xfrm>
          <a:prstGeom prst="rect">
            <a:avLst/>
          </a:prstGeom>
          <a:noFill/>
          <a:ln w="0">
            <a:noFill/>
          </a:ln>
        </p:spPr>
        <p:style>
          <a:lnRef idx="0"/>
          <a:fillRef idx="0"/>
          <a:effectRef idx="0"/>
          <a:fontRef idx="minor"/>
        </p:style>
        <p:txBody>
          <a:bodyPr lIns="90000" rIns="90000" tIns="46800" bIns="46800" anchor="t">
            <a:noAutofit/>
          </a:bodyPr>
          <a:p>
            <a:pPr marL="169920" indent="-169920">
              <a:lnSpc>
                <a:spcPct val="100000"/>
              </a:lnSpc>
              <a:buClr>
                <a:srgbClr val="fafd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1200" strike="noStrike" u="none">
                <a:solidFill>
                  <a:srgbClr val="ffffff"/>
                </a:solidFill>
                <a:effectLst/>
                <a:uFillTx/>
                <a:latin typeface="Arial"/>
              </a:rPr>
              <a:t>Industry Knowledge</a:t>
            </a:r>
            <a:endParaRPr b="0" lang="en-IN" sz="1200" strike="noStrike" u="none">
              <a:solidFill>
                <a:srgbClr val="ffffff"/>
              </a:solidFill>
              <a:effectLst/>
              <a:uFillTx/>
              <a:latin typeface="Times New Roman"/>
            </a:endParaRPr>
          </a:p>
          <a:p>
            <a:pPr marL="169920" indent="-169920">
              <a:lnSpc>
                <a:spcPct val="100000"/>
              </a:lnSpc>
              <a:buClr>
                <a:srgbClr val="fafd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1200" strike="noStrike" u="none">
                <a:solidFill>
                  <a:srgbClr val="ffffff"/>
                </a:solidFill>
                <a:effectLst/>
                <a:uFillTx/>
                <a:latin typeface="Arial"/>
              </a:rPr>
              <a:t>Trucking, Ports and Rail</a:t>
            </a:r>
            <a:endParaRPr b="0" lang="en-IN" sz="1200" strike="noStrike" u="none">
              <a:solidFill>
                <a:srgbClr val="ffffff"/>
              </a:solidFill>
              <a:effectLst/>
              <a:uFillTx/>
              <a:latin typeface="Times New Roman"/>
            </a:endParaRPr>
          </a:p>
          <a:p>
            <a:pPr marL="169920" indent="-169920">
              <a:lnSpc>
                <a:spcPct val="100000"/>
              </a:lnSpc>
              <a:buClr>
                <a:srgbClr val="fafd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1200" strike="noStrike" u="none">
                <a:solidFill>
                  <a:srgbClr val="ffffff"/>
                </a:solidFill>
                <a:effectLst/>
                <a:uFillTx/>
                <a:latin typeface="Arial"/>
              </a:rPr>
              <a:t>Logistics Trends</a:t>
            </a:r>
            <a:endParaRPr b="0" lang="en-IN" sz="1200" strike="noStrike" u="none">
              <a:solidFill>
                <a:srgbClr val="ffffff"/>
              </a:solidFill>
              <a:effectLst/>
              <a:uFillTx/>
              <a:latin typeface="Times New Roman"/>
            </a:endParaRPr>
          </a:p>
        </p:txBody>
      </p:sp>
      <p:sp>
        <p:nvSpPr>
          <p:cNvPr id="61" name=""/>
          <p:cNvSpPr/>
          <p:nvPr/>
        </p:nvSpPr>
        <p:spPr>
          <a:xfrm>
            <a:off x="444600" y="5432400"/>
            <a:ext cx="2514600" cy="434880"/>
          </a:xfrm>
          <a:prstGeom prst="rect">
            <a:avLst/>
          </a:prstGeom>
          <a:noFill/>
          <a:ln w="0">
            <a:noFill/>
          </a:ln>
        </p:spPr>
        <p:style>
          <a:lnRef idx="0"/>
          <a:fillRef idx="0"/>
          <a:effectRef idx="0"/>
          <a:fontRef idx="minor"/>
        </p:style>
        <p:txBody>
          <a:bodyPr lIns="90000" rIns="90000" tIns="46800" bIns="46800" anchor="t">
            <a:noAutofit/>
          </a:bodyPr>
          <a:p>
            <a:pPr marL="800280" indent="-800280">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200" strike="noStrike" u="none">
                <a:solidFill>
                  <a:srgbClr val="fafd00"/>
                </a:solidFill>
                <a:effectLst/>
                <a:uFillTx/>
                <a:latin typeface="Arial"/>
              </a:rPr>
              <a:t>Key Staff:</a:t>
            </a:r>
            <a:r>
              <a:rPr b="1" lang="en-IN" sz="1200" strike="noStrike" u="none">
                <a:solidFill>
                  <a:srgbClr val="ffffff"/>
                </a:solidFill>
                <a:effectLst/>
                <a:uFillTx/>
                <a:latin typeface="Arial"/>
              </a:rPr>
              <a:t>	</a:t>
            </a:r>
            <a:r>
              <a:rPr b="1" lang="en-IN" sz="1200" strike="noStrike" u="none">
                <a:solidFill>
                  <a:srgbClr val="ffffff"/>
                </a:solidFill>
                <a:effectLst/>
                <a:uFillTx/>
                <a:latin typeface="Arial"/>
              </a:rPr>
              <a:t>Dan Smith, </a:t>
            </a:r>
            <a:br>
              <a:rPr sz="1200"/>
            </a:br>
            <a:r>
              <a:rPr b="1" lang="en-IN" sz="1200" strike="noStrike" u="none">
                <a:solidFill>
                  <a:srgbClr val="ffffff"/>
                </a:solidFill>
                <a:effectLst/>
                <a:uFillTx/>
                <a:latin typeface="Arial"/>
              </a:rPr>
              <a:t>Steve Nieman</a:t>
            </a:r>
            <a:endParaRPr b="0" lang="en-IN" sz="1200" strike="noStrike" u="none">
              <a:solidFill>
                <a:srgbClr val="ffffff"/>
              </a:solidFill>
              <a:effectLst/>
              <a:uFillTx/>
              <a:latin typeface="Times New Roman"/>
            </a:endParaRPr>
          </a:p>
        </p:txBody>
      </p:sp>
      <p:sp>
        <p:nvSpPr>
          <p:cNvPr id="62" name=""/>
          <p:cNvSpPr/>
          <p:nvPr/>
        </p:nvSpPr>
        <p:spPr>
          <a:xfrm>
            <a:off x="3270240" y="4200480"/>
            <a:ext cx="2514600" cy="1587600"/>
          </a:xfrm>
          <a:prstGeom prst="rect">
            <a:avLst/>
          </a:prstGeom>
          <a:solidFill>
            <a:srgbClr val="008080"/>
          </a:solidFill>
          <a:ln w="0">
            <a:noFill/>
          </a:ln>
          <a:effectLst>
            <a:outerShdw dist="17819" dir="2700000" blurRad="0" rotWithShape="0">
              <a:srgbClr val="919191"/>
            </a:outerShdw>
          </a:effectLst>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63" name=""/>
          <p:cNvSpPr/>
          <p:nvPr/>
        </p:nvSpPr>
        <p:spPr>
          <a:xfrm>
            <a:off x="3270240" y="4200480"/>
            <a:ext cx="2514600" cy="446040"/>
          </a:xfrm>
          <a:prstGeom prst="rect">
            <a:avLst/>
          </a:prstGeom>
          <a:solidFill>
            <a:srgbClr val="000080"/>
          </a:solidFill>
          <a:ln w="0">
            <a:noFill/>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64" name=""/>
          <p:cNvSpPr/>
          <p:nvPr/>
        </p:nvSpPr>
        <p:spPr>
          <a:xfrm>
            <a:off x="3181320" y="4287960"/>
            <a:ext cx="2705040" cy="304560"/>
          </a:xfrm>
          <a:prstGeom prst="rect">
            <a:avLst/>
          </a:prstGeom>
          <a:noFill/>
          <a:ln w="0">
            <a:noFill/>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ffffff"/>
                </a:solidFill>
                <a:effectLst/>
                <a:uFillTx/>
                <a:latin typeface="Arial"/>
              </a:rPr>
              <a:t>Hausrath Economics Group</a:t>
            </a:r>
            <a:endParaRPr b="0" lang="en-IN" sz="1400" strike="noStrike" u="none">
              <a:solidFill>
                <a:srgbClr val="ffffff"/>
              </a:solidFill>
              <a:effectLst/>
              <a:uFillTx/>
              <a:latin typeface="Times New Roman"/>
            </a:endParaRPr>
          </a:p>
        </p:txBody>
      </p:sp>
      <p:sp>
        <p:nvSpPr>
          <p:cNvPr id="65" name=""/>
          <p:cNvSpPr/>
          <p:nvPr/>
        </p:nvSpPr>
        <p:spPr>
          <a:xfrm>
            <a:off x="3270240" y="4713120"/>
            <a:ext cx="2514600" cy="831960"/>
          </a:xfrm>
          <a:prstGeom prst="rect">
            <a:avLst/>
          </a:prstGeom>
          <a:noFill/>
          <a:ln w="0">
            <a:noFill/>
          </a:ln>
        </p:spPr>
        <p:style>
          <a:lnRef idx="0"/>
          <a:fillRef idx="0"/>
          <a:effectRef idx="0"/>
          <a:fontRef idx="minor"/>
        </p:style>
        <p:txBody>
          <a:bodyPr lIns="90000" rIns="90000" tIns="46800" bIns="46800" anchor="t">
            <a:noAutofit/>
          </a:bodyPr>
          <a:p>
            <a:pPr marL="169920" indent="-169920">
              <a:lnSpc>
                <a:spcPct val="100000"/>
              </a:lnSpc>
              <a:buClr>
                <a:srgbClr val="fafd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1200" strike="noStrike" u="none">
                <a:solidFill>
                  <a:srgbClr val="ffffff"/>
                </a:solidFill>
                <a:effectLst/>
                <a:uFillTx/>
                <a:latin typeface="Arial"/>
              </a:rPr>
              <a:t>Land Use</a:t>
            </a:r>
            <a:endParaRPr b="0" lang="en-IN" sz="1200" strike="noStrike" u="none">
              <a:solidFill>
                <a:srgbClr val="ffffff"/>
              </a:solidFill>
              <a:effectLst/>
              <a:uFillTx/>
              <a:latin typeface="Times New Roman"/>
            </a:endParaRPr>
          </a:p>
          <a:p>
            <a:pPr marL="169920" indent="-169920">
              <a:lnSpc>
                <a:spcPct val="100000"/>
              </a:lnSpc>
              <a:buClr>
                <a:srgbClr val="fafd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1200" strike="noStrike" u="none">
                <a:solidFill>
                  <a:srgbClr val="ffffff"/>
                </a:solidFill>
                <a:effectLst/>
                <a:uFillTx/>
                <a:latin typeface="Arial"/>
              </a:rPr>
              <a:t>Economic and Community Development</a:t>
            </a:r>
            <a:endParaRPr b="0" lang="en-IN" sz="1200" strike="noStrike" u="none">
              <a:solidFill>
                <a:srgbClr val="ffffff"/>
              </a:solidFill>
              <a:effectLst/>
              <a:uFillTx/>
              <a:latin typeface="Times New Roman"/>
            </a:endParaRPr>
          </a:p>
        </p:txBody>
      </p:sp>
      <p:sp>
        <p:nvSpPr>
          <p:cNvPr id="66" name=""/>
          <p:cNvSpPr/>
          <p:nvPr/>
        </p:nvSpPr>
        <p:spPr>
          <a:xfrm>
            <a:off x="3270240" y="5432400"/>
            <a:ext cx="2514600" cy="434880"/>
          </a:xfrm>
          <a:prstGeom prst="rect">
            <a:avLst/>
          </a:prstGeom>
          <a:noFill/>
          <a:ln w="0">
            <a:noFill/>
          </a:ln>
        </p:spPr>
        <p:style>
          <a:lnRef idx="0"/>
          <a:fillRef idx="0"/>
          <a:effectRef idx="0"/>
          <a:fontRef idx="minor"/>
        </p:style>
        <p:txBody>
          <a:bodyPr lIns="90000" rIns="90000" tIns="46800" bIns="46800" anchor="t">
            <a:noAutofit/>
          </a:bodyPr>
          <a:p>
            <a:pPr marL="800280" indent="-800280">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200" strike="noStrike" u="none">
                <a:solidFill>
                  <a:srgbClr val="fafd00"/>
                </a:solidFill>
                <a:effectLst/>
                <a:uFillTx/>
                <a:latin typeface="Arial"/>
              </a:rPr>
              <a:t>Key Staff:  </a:t>
            </a:r>
            <a:r>
              <a:rPr b="1" lang="en-IN" sz="1200" strike="noStrike" u="none">
                <a:solidFill>
                  <a:srgbClr val="ffffff"/>
                </a:solidFill>
                <a:effectLst/>
                <a:uFillTx/>
                <a:latin typeface="Arial"/>
              </a:rPr>
              <a:t>Linda Hausrath</a:t>
            </a:r>
            <a:endParaRPr b="0" lang="en-IN" sz="1200" strike="noStrike" u="none">
              <a:solidFill>
                <a:srgbClr val="ffffff"/>
              </a:solidFill>
              <a:effectLst/>
              <a:uFillTx/>
              <a:latin typeface="Times New Roman"/>
            </a:endParaRPr>
          </a:p>
        </p:txBody>
      </p:sp>
      <p:sp>
        <p:nvSpPr>
          <p:cNvPr id="67" name=""/>
          <p:cNvSpPr/>
          <p:nvPr/>
        </p:nvSpPr>
        <p:spPr>
          <a:xfrm>
            <a:off x="6095880" y="4200480"/>
            <a:ext cx="2514600" cy="1590840"/>
          </a:xfrm>
          <a:prstGeom prst="rect">
            <a:avLst/>
          </a:prstGeom>
          <a:solidFill>
            <a:srgbClr val="008080"/>
          </a:solidFill>
          <a:ln w="0">
            <a:noFill/>
          </a:ln>
          <a:effectLst>
            <a:outerShdw dist="17819" dir="2700000" blurRad="0" rotWithShape="0">
              <a:srgbClr val="919191"/>
            </a:outerShdw>
          </a:effectLst>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68" name=""/>
          <p:cNvSpPr/>
          <p:nvPr/>
        </p:nvSpPr>
        <p:spPr>
          <a:xfrm>
            <a:off x="6095880" y="4200480"/>
            <a:ext cx="2514600" cy="446040"/>
          </a:xfrm>
          <a:prstGeom prst="rect">
            <a:avLst/>
          </a:prstGeom>
          <a:solidFill>
            <a:srgbClr val="000080"/>
          </a:solidFill>
          <a:ln w="0">
            <a:noFill/>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69" name=""/>
          <p:cNvSpPr/>
          <p:nvPr/>
        </p:nvSpPr>
        <p:spPr>
          <a:xfrm>
            <a:off x="6095880" y="4287960"/>
            <a:ext cx="2514600" cy="304560"/>
          </a:xfrm>
          <a:prstGeom prst="rect">
            <a:avLst/>
          </a:prstGeom>
          <a:noFill/>
          <a:ln w="0">
            <a:noFill/>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ffffff"/>
                </a:solidFill>
                <a:effectLst/>
                <a:uFillTx/>
                <a:latin typeface="Arial"/>
              </a:rPr>
              <a:t>Dowling Associates</a:t>
            </a:r>
            <a:endParaRPr b="0" lang="en-IN" sz="1400" strike="noStrike" u="none">
              <a:solidFill>
                <a:srgbClr val="ffffff"/>
              </a:solidFill>
              <a:effectLst/>
              <a:uFillTx/>
              <a:latin typeface="Times New Roman"/>
            </a:endParaRPr>
          </a:p>
        </p:txBody>
      </p:sp>
      <p:sp>
        <p:nvSpPr>
          <p:cNvPr id="70" name=""/>
          <p:cNvSpPr/>
          <p:nvPr/>
        </p:nvSpPr>
        <p:spPr>
          <a:xfrm>
            <a:off x="6095880" y="4713120"/>
            <a:ext cx="2514600" cy="831960"/>
          </a:xfrm>
          <a:prstGeom prst="rect">
            <a:avLst/>
          </a:prstGeom>
          <a:noFill/>
          <a:ln w="0">
            <a:noFill/>
          </a:ln>
        </p:spPr>
        <p:style>
          <a:lnRef idx="0"/>
          <a:fillRef idx="0"/>
          <a:effectRef idx="0"/>
          <a:fontRef idx="minor"/>
        </p:style>
        <p:txBody>
          <a:bodyPr lIns="90000" rIns="90000" tIns="46800" bIns="46800" anchor="t">
            <a:noAutofit/>
          </a:bodyPr>
          <a:p>
            <a:pPr marL="169920" indent="-169920">
              <a:lnSpc>
                <a:spcPct val="100000"/>
              </a:lnSpc>
              <a:buClr>
                <a:srgbClr val="fafd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1200" strike="noStrike" u="none">
                <a:solidFill>
                  <a:srgbClr val="ffffff"/>
                </a:solidFill>
                <a:effectLst/>
                <a:uFillTx/>
                <a:latin typeface="Arial"/>
              </a:rPr>
              <a:t>Traffic Operations</a:t>
            </a:r>
            <a:endParaRPr b="0" lang="en-IN" sz="1200" strike="noStrike" u="none">
              <a:solidFill>
                <a:srgbClr val="ffffff"/>
              </a:solidFill>
              <a:effectLst/>
              <a:uFillTx/>
              <a:latin typeface="Times New Roman"/>
            </a:endParaRPr>
          </a:p>
          <a:p>
            <a:pPr marL="169920" indent="-169920">
              <a:lnSpc>
                <a:spcPct val="100000"/>
              </a:lnSpc>
              <a:buClr>
                <a:srgbClr val="fafd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1200" strike="noStrike" u="none">
                <a:solidFill>
                  <a:srgbClr val="ffffff"/>
                </a:solidFill>
                <a:effectLst/>
                <a:uFillTx/>
                <a:latin typeface="Arial"/>
              </a:rPr>
              <a:t>Transportation Engineering</a:t>
            </a:r>
            <a:endParaRPr b="0" lang="en-IN" sz="1200" strike="noStrike" u="none">
              <a:solidFill>
                <a:srgbClr val="ffffff"/>
              </a:solidFill>
              <a:effectLst/>
              <a:uFillTx/>
              <a:latin typeface="Times New Roman"/>
            </a:endParaRPr>
          </a:p>
        </p:txBody>
      </p:sp>
      <p:sp>
        <p:nvSpPr>
          <p:cNvPr id="71" name=""/>
          <p:cNvSpPr/>
          <p:nvPr/>
        </p:nvSpPr>
        <p:spPr>
          <a:xfrm>
            <a:off x="6095880" y="5299200"/>
            <a:ext cx="2514600" cy="434880"/>
          </a:xfrm>
          <a:prstGeom prst="rect">
            <a:avLst/>
          </a:prstGeom>
          <a:noFill/>
          <a:ln w="0">
            <a:noFill/>
          </a:ln>
        </p:spPr>
        <p:style>
          <a:lnRef idx="0"/>
          <a:fillRef idx="0"/>
          <a:effectRef idx="0"/>
          <a:fontRef idx="minor"/>
        </p:style>
        <p:txBody>
          <a:bodyPr lIns="90000" rIns="90000" tIns="46800" bIns="4680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200" strike="noStrike" u="none">
                <a:solidFill>
                  <a:srgbClr val="fafd00"/>
                </a:solidFill>
                <a:effectLst/>
                <a:uFillTx/>
                <a:latin typeface="Arial"/>
              </a:rPr>
              <a:t>Key Staff:  </a:t>
            </a:r>
            <a:r>
              <a:rPr b="1" lang="en-IN" sz="1200" strike="noStrike" u="none">
                <a:solidFill>
                  <a:srgbClr val="ffffff"/>
                </a:solidFill>
                <a:effectLst/>
                <a:uFillTx/>
                <a:latin typeface="Arial"/>
              </a:rPr>
              <a:t>Mark Bowman</a:t>
            </a:r>
            <a:endParaRPr b="0" lang="en-IN" sz="1200" strike="noStrike" u="none">
              <a:solidFill>
                <a:srgbClr val="ffffff"/>
              </a:solidFill>
              <a:effectLst/>
              <a:uFillTx/>
              <a:latin typeface="Times New Roman"/>
            </a:endParaRPr>
          </a:p>
        </p:txBody>
      </p:sp>
      <p:sp>
        <p:nvSpPr>
          <p:cNvPr id="72" name=""/>
          <p:cNvSpPr/>
          <p:nvPr/>
        </p:nvSpPr>
        <p:spPr>
          <a:xfrm>
            <a:off x="1701720" y="3889440"/>
            <a:ext cx="5649840" cy="0"/>
          </a:xfrm>
          <a:prstGeom prst="line">
            <a:avLst/>
          </a:prstGeom>
          <a:ln w="3240">
            <a:solidFill>
              <a:srgbClr val="fafd00"/>
            </a:solidFill>
            <a:miter/>
          </a:ln>
        </p:spPr>
        <p:style>
          <a:lnRef idx="0"/>
          <a:fillRef idx="0"/>
          <a:effectRef idx="0"/>
          <a:fontRef idx="minor"/>
        </p:style>
        <p:txBody>
          <a:bodyPr lIns="90000" rIns="90000" tIns="-46800" bIns="-46800" anchor="ctr">
            <a:noAutofit/>
          </a:bodyPr>
          <a:p>
            <a:endParaRPr b="0" lang="en-IN" sz="2400" strike="noStrike" u="none">
              <a:solidFill>
                <a:srgbClr val="ffffff"/>
              </a:solidFill>
              <a:effectLst/>
              <a:uFillTx/>
              <a:latin typeface="Times New Roman"/>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14f3"/>
        </a:solidFill>
      </p:bgPr>
    </p:bg>
    <p:spTree>
      <p:nvGrpSpPr>
        <p:cNvPr id="1" name=""/>
        <p:cNvGrpSpPr/>
        <p:nvPr/>
      </p:nvGrpSpPr>
      <p:grpSpPr>
        <a:xfrm>
          <a:off x="0" y="0"/>
          <a:ext cx="0" cy="0"/>
          <a:chOff x="0" y="0"/>
          <a:chExt cx="0" cy="0"/>
        </a:xfrm>
      </p:grpSpPr>
      <p:sp>
        <p:nvSpPr>
          <p:cNvPr id="73" name=""/>
          <p:cNvSpPr/>
          <p:nvPr/>
        </p:nvSpPr>
        <p:spPr>
          <a:xfrm>
            <a:off x="5867280" y="2900520"/>
            <a:ext cx="1067040" cy="533160"/>
          </a:xfrm>
          <a:prstGeom prst="rightArrow">
            <a:avLst>
              <a:gd name="adj1" fmla="val 50000"/>
              <a:gd name="adj2" fmla="val 50034"/>
            </a:avLst>
          </a:prstGeom>
          <a:solidFill>
            <a:srgbClr val="fafd00"/>
          </a:solidFill>
          <a:ln w="0">
            <a:noFill/>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74" name=""/>
          <p:cNvSpPr/>
          <p:nvPr/>
        </p:nvSpPr>
        <p:spPr>
          <a:xfrm>
            <a:off x="6946920" y="1147680"/>
            <a:ext cx="1981080" cy="4022640"/>
          </a:xfrm>
          <a:prstGeom prst="rect">
            <a:avLst/>
          </a:prstGeom>
          <a:solidFill>
            <a:srgbClr val="000080"/>
          </a:solidFill>
          <a:ln w="0">
            <a:noFill/>
          </a:ln>
          <a:effectLst>
            <a:outerShdw dist="17819" dir="2700000" blurRad="0" rotWithShape="0">
              <a:srgbClr val="919191"/>
            </a:outerShdw>
          </a:effectLst>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75" name=""/>
          <p:cNvSpPr/>
          <p:nvPr/>
        </p:nvSpPr>
        <p:spPr>
          <a:xfrm>
            <a:off x="7924680" y="2697120"/>
            <a:ext cx="0" cy="304920"/>
          </a:xfrm>
          <a:prstGeom prst="line">
            <a:avLst/>
          </a:prstGeom>
          <a:ln w="3240">
            <a:solidFill>
              <a:srgbClr val="fafd00"/>
            </a:solidFill>
            <a:miter/>
            <a:tailEnd len="lg" type="stealth" w="lg"/>
          </a:ln>
        </p:spPr>
        <p:style>
          <a:lnRef idx="0"/>
          <a:fillRef idx="0"/>
          <a:effectRef idx="0"/>
          <a:fontRef idx="minor"/>
        </p:style>
        <p:txBody>
          <a:bodyPr lIns="90000" rIns="90000" tIns="46800" bIns="46800" anchor="ctr">
            <a:noAutofit/>
          </a:bodyPr>
          <a:p>
            <a:endParaRPr b="0" lang="en-IN" sz="2400" strike="noStrike" u="none">
              <a:solidFill>
                <a:srgbClr val="ffffff"/>
              </a:solidFill>
              <a:effectLst/>
              <a:uFillTx/>
              <a:latin typeface="Times New Roman"/>
            </a:endParaRPr>
          </a:p>
        </p:txBody>
      </p:sp>
      <p:sp>
        <p:nvSpPr>
          <p:cNvPr id="76" name=""/>
          <p:cNvSpPr/>
          <p:nvPr/>
        </p:nvSpPr>
        <p:spPr>
          <a:xfrm>
            <a:off x="7924680" y="3738600"/>
            <a:ext cx="0" cy="304920"/>
          </a:xfrm>
          <a:prstGeom prst="line">
            <a:avLst/>
          </a:prstGeom>
          <a:ln w="3240">
            <a:solidFill>
              <a:srgbClr val="fafd00"/>
            </a:solidFill>
            <a:miter/>
            <a:tailEnd len="lg" type="stealth" w="lg"/>
          </a:ln>
        </p:spPr>
        <p:style>
          <a:lnRef idx="0"/>
          <a:fillRef idx="0"/>
          <a:effectRef idx="0"/>
          <a:fontRef idx="minor"/>
        </p:style>
        <p:txBody>
          <a:bodyPr lIns="90000" rIns="90000" tIns="46800" bIns="46800" anchor="ctr">
            <a:noAutofit/>
          </a:bodyPr>
          <a:p>
            <a:endParaRPr b="0" lang="en-IN" sz="2400" strike="noStrike" u="none">
              <a:solidFill>
                <a:srgbClr val="ffffff"/>
              </a:solidFill>
              <a:effectLst/>
              <a:uFillTx/>
              <a:latin typeface="Times New Roman"/>
            </a:endParaRPr>
          </a:p>
        </p:txBody>
      </p:sp>
      <p:sp>
        <p:nvSpPr>
          <p:cNvPr id="77" name=""/>
          <p:cNvSpPr/>
          <p:nvPr/>
        </p:nvSpPr>
        <p:spPr>
          <a:xfrm>
            <a:off x="177840" y="1143000"/>
            <a:ext cx="6213600" cy="4022640"/>
          </a:xfrm>
          <a:prstGeom prst="rect">
            <a:avLst/>
          </a:prstGeom>
          <a:solidFill>
            <a:srgbClr val="000080"/>
          </a:solidFill>
          <a:ln w="0">
            <a:noFill/>
          </a:ln>
          <a:effectLst>
            <a:outerShdw dist="17819" dir="2700000" blurRad="0" rotWithShape="0">
              <a:srgbClr val="919191"/>
            </a:outerShdw>
          </a:effectLst>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78" name="PlaceHolder 1"/>
          <p:cNvSpPr>
            <a:spLocks noGrp="1"/>
          </p:cNvSpPr>
          <p:nvPr>
            <p:ph type="title"/>
          </p:nvPr>
        </p:nvSpPr>
        <p:spPr>
          <a:xfrm>
            <a:off x="380880" y="533160"/>
            <a:ext cx="7772400" cy="609480"/>
          </a:xfrm>
          <a:prstGeom prst="rect">
            <a:avLst/>
          </a:prstGeom>
          <a:noFill/>
          <a:ln w="0">
            <a:noFill/>
          </a:ln>
        </p:spPr>
        <p:txBody>
          <a:bodyPr lIns="92160" rIns="92160" tIns="46080" bIns="46080" anchor="t">
            <a:noAutofit/>
          </a:bodyPr>
          <a:p>
            <a:pPr indent="0">
              <a:lnSpc>
                <a:spcPct val="85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IN" sz="2800" strike="noStrike" u="none">
                <a:solidFill>
                  <a:srgbClr val="fafd00"/>
                </a:solidFill>
                <a:effectLst/>
                <a:uFillTx/>
                <a:latin typeface="Arial"/>
              </a:rPr>
              <a:t>Overview of Approach</a:t>
            </a:r>
            <a:endParaRPr b="1" i="1" lang="en-IN" sz="2800" strike="noStrike" u="none">
              <a:solidFill>
                <a:srgbClr val="fafd00"/>
              </a:solidFill>
              <a:effectLst/>
              <a:uFillTx/>
              <a:latin typeface="Arial"/>
            </a:endParaRPr>
          </a:p>
        </p:txBody>
      </p:sp>
      <p:grpSp>
        <p:nvGrpSpPr>
          <p:cNvPr id="79" name=""/>
          <p:cNvGrpSpPr/>
          <p:nvPr/>
        </p:nvGrpSpPr>
        <p:grpSpPr>
          <a:xfrm>
            <a:off x="7010280" y="3014640"/>
            <a:ext cx="1828800" cy="762120"/>
            <a:chOff x="7010280" y="3014640"/>
            <a:chExt cx="1828800" cy="762120"/>
          </a:xfrm>
        </p:grpSpPr>
        <p:sp>
          <p:nvSpPr>
            <p:cNvPr id="80" name=""/>
            <p:cNvSpPr/>
            <p:nvPr/>
          </p:nvSpPr>
          <p:spPr>
            <a:xfrm>
              <a:off x="7124760" y="3014640"/>
              <a:ext cx="1600200" cy="762120"/>
            </a:xfrm>
            <a:prstGeom prst="rect">
              <a:avLst/>
            </a:prstGeom>
            <a:solidFill>
              <a:srgbClr val="008080"/>
            </a:solidFill>
            <a:ln w="0">
              <a:noFill/>
            </a:ln>
            <a:effectLst>
              <a:outerShdw dist="17819" dir="2700000" blurRad="0" rotWithShape="0">
                <a:srgbClr val="919191"/>
              </a:outerShdw>
            </a:effectLst>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81" name=""/>
            <p:cNvSpPr/>
            <p:nvPr/>
          </p:nvSpPr>
          <p:spPr>
            <a:xfrm>
              <a:off x="7010280" y="3030840"/>
              <a:ext cx="1828800" cy="731520"/>
            </a:xfrm>
            <a:prstGeom prst="rect">
              <a:avLst/>
            </a:prstGeom>
            <a:noFill/>
            <a:ln w="0">
              <a:noFill/>
            </a:ln>
          </p:spPr>
          <p:style>
            <a:lnRef idx="0"/>
            <a:fillRef idx="0"/>
            <a:effectRef idx="0"/>
            <a:fontRef idx="minor"/>
          </p:style>
          <p:txBody>
            <a:bodyPr lIns="90000" rIns="90000" tIns="46800" bIns="46800" anchor="ctr">
              <a:noAutofit/>
            </a:bodyPr>
            <a:p>
              <a:pPr algn="ctr">
                <a:lnSpc>
                  <a:spcPct val="100000"/>
                </a:lnSpc>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IN" sz="1200" strike="noStrike" u="none">
                  <a:solidFill>
                    <a:srgbClr val="fafd00"/>
                  </a:solidFill>
                  <a:effectLst/>
                  <a:uFillTx/>
                  <a:latin typeface="Arial"/>
                </a:rPr>
                <a:t>Task 2.  </a:t>
              </a:r>
              <a:r>
                <a:rPr b="1" lang="en-IN" sz="1200" strike="noStrike" u="none">
                  <a:solidFill>
                    <a:srgbClr val="ffffff"/>
                  </a:solidFill>
                  <a:effectLst/>
                  <a:uFillTx/>
                  <a:latin typeface="Arial"/>
                </a:rPr>
                <a:t>Assessment of Issues and Strategies</a:t>
              </a:r>
              <a:endParaRPr b="0" lang="en-IN" sz="1200" strike="noStrike" u="none">
                <a:solidFill>
                  <a:srgbClr val="ffffff"/>
                </a:solidFill>
                <a:effectLst/>
                <a:uFillTx/>
                <a:latin typeface="Times New Roman"/>
              </a:endParaRPr>
            </a:p>
          </p:txBody>
        </p:sp>
      </p:grpSp>
      <p:grpSp>
        <p:nvGrpSpPr>
          <p:cNvPr id="82" name=""/>
          <p:cNvGrpSpPr/>
          <p:nvPr/>
        </p:nvGrpSpPr>
        <p:grpSpPr>
          <a:xfrm>
            <a:off x="7010280" y="4043520"/>
            <a:ext cx="1828800" cy="761760"/>
            <a:chOff x="7010280" y="4043520"/>
            <a:chExt cx="1828800" cy="761760"/>
          </a:xfrm>
        </p:grpSpPr>
        <p:sp>
          <p:nvSpPr>
            <p:cNvPr id="83" name=""/>
            <p:cNvSpPr/>
            <p:nvPr/>
          </p:nvSpPr>
          <p:spPr>
            <a:xfrm>
              <a:off x="7124760" y="4043520"/>
              <a:ext cx="1600200" cy="761760"/>
            </a:xfrm>
            <a:prstGeom prst="rect">
              <a:avLst/>
            </a:prstGeom>
            <a:solidFill>
              <a:srgbClr val="008080"/>
            </a:solidFill>
            <a:ln w="0">
              <a:noFill/>
            </a:ln>
            <a:effectLst>
              <a:outerShdw dist="17819" dir="2700000" blurRad="0" rotWithShape="0">
                <a:srgbClr val="919191"/>
              </a:outerShdw>
            </a:effectLst>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84" name=""/>
            <p:cNvSpPr/>
            <p:nvPr/>
          </p:nvSpPr>
          <p:spPr>
            <a:xfrm>
              <a:off x="7010280" y="4149720"/>
              <a:ext cx="1828800" cy="549360"/>
            </a:xfrm>
            <a:prstGeom prst="rect">
              <a:avLst/>
            </a:prstGeom>
            <a:noFill/>
            <a:ln w="0">
              <a:noFill/>
            </a:ln>
          </p:spPr>
          <p:style>
            <a:lnRef idx="0"/>
            <a:fillRef idx="0"/>
            <a:effectRef idx="0"/>
            <a:fontRef idx="minor"/>
          </p:style>
          <p:txBody>
            <a:bodyPr lIns="90000" rIns="90000" tIns="46800" bIns="46800" anchor="ctr">
              <a:noAutofit/>
            </a:bodyPr>
            <a:p>
              <a:pPr algn="ctr">
                <a:lnSpc>
                  <a:spcPct val="100000"/>
                </a:lnSpc>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IN" sz="1200" strike="noStrike" u="none">
                  <a:solidFill>
                    <a:srgbClr val="fafd00"/>
                  </a:solidFill>
                  <a:effectLst/>
                  <a:uFillTx/>
                  <a:latin typeface="Arial"/>
                </a:rPr>
                <a:t>Task 3.</a:t>
              </a:r>
              <a:r>
                <a:rPr b="1" lang="en-IN" sz="1200" strike="noStrike" u="none">
                  <a:solidFill>
                    <a:srgbClr val="ffffff"/>
                  </a:solidFill>
                  <a:effectLst/>
                  <a:uFillTx/>
                  <a:latin typeface="Arial"/>
                </a:rPr>
                <a:t>  </a:t>
              </a:r>
              <a:br>
                <a:rPr sz="1200"/>
              </a:br>
              <a:r>
                <a:rPr b="1" lang="en-IN" sz="1200" strike="noStrike" u="none">
                  <a:solidFill>
                    <a:srgbClr val="ffffff"/>
                  </a:solidFill>
                  <a:effectLst/>
                  <a:uFillTx/>
                  <a:latin typeface="Arial"/>
                </a:rPr>
                <a:t>Final Report</a:t>
              </a:r>
              <a:endParaRPr b="0" lang="en-IN" sz="1200" strike="noStrike" u="none">
                <a:solidFill>
                  <a:srgbClr val="ffffff"/>
                </a:solidFill>
                <a:effectLst/>
                <a:uFillTx/>
                <a:latin typeface="Times New Roman"/>
              </a:endParaRPr>
            </a:p>
          </p:txBody>
        </p:sp>
      </p:grpSp>
      <p:grpSp>
        <p:nvGrpSpPr>
          <p:cNvPr id="85" name=""/>
          <p:cNvGrpSpPr/>
          <p:nvPr/>
        </p:nvGrpSpPr>
        <p:grpSpPr>
          <a:xfrm>
            <a:off x="7010280" y="1986120"/>
            <a:ext cx="1828800" cy="761760"/>
            <a:chOff x="7010280" y="1986120"/>
            <a:chExt cx="1828800" cy="761760"/>
          </a:xfrm>
        </p:grpSpPr>
        <p:sp>
          <p:nvSpPr>
            <p:cNvPr id="86" name=""/>
            <p:cNvSpPr/>
            <p:nvPr/>
          </p:nvSpPr>
          <p:spPr>
            <a:xfrm>
              <a:off x="7124760" y="1986120"/>
              <a:ext cx="1600200" cy="761760"/>
            </a:xfrm>
            <a:prstGeom prst="rect">
              <a:avLst/>
            </a:prstGeom>
            <a:solidFill>
              <a:srgbClr val="008080"/>
            </a:solidFill>
            <a:ln w="0">
              <a:noFill/>
            </a:ln>
            <a:effectLst>
              <a:outerShdw dist="17819" dir="2700000" blurRad="0" rotWithShape="0">
                <a:srgbClr val="919191"/>
              </a:outerShdw>
            </a:effectLst>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87" name=""/>
            <p:cNvSpPr/>
            <p:nvPr/>
          </p:nvSpPr>
          <p:spPr>
            <a:xfrm>
              <a:off x="7010280" y="2054160"/>
              <a:ext cx="1828800" cy="627120"/>
            </a:xfrm>
            <a:prstGeom prst="rect">
              <a:avLst/>
            </a:prstGeom>
            <a:noFill/>
            <a:ln w="0">
              <a:noFill/>
            </a:ln>
          </p:spPr>
          <p:style>
            <a:lnRef idx="0"/>
            <a:fillRef idx="0"/>
            <a:effectRef idx="0"/>
            <a:fontRef idx="minor"/>
          </p:style>
          <p:txBody>
            <a:bodyPr lIns="90000" rIns="90000" tIns="46800" bIns="46800" anchor="ctr">
              <a:noAutofit/>
            </a:bodyPr>
            <a:p>
              <a:pPr algn="ctr">
                <a:lnSpc>
                  <a:spcPct val="100000"/>
                </a:lnSpc>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IN" sz="1200" strike="noStrike" u="none">
                  <a:solidFill>
                    <a:srgbClr val="fafd00"/>
                  </a:solidFill>
                  <a:effectLst/>
                  <a:uFillTx/>
                  <a:latin typeface="Arial"/>
                </a:rPr>
                <a:t>Task 1.  </a:t>
              </a:r>
              <a:r>
                <a:rPr b="1" lang="en-IN" sz="1200" strike="noStrike" u="none">
                  <a:solidFill>
                    <a:srgbClr val="ffffff"/>
                  </a:solidFill>
                  <a:effectLst/>
                  <a:uFillTx/>
                  <a:latin typeface="Arial"/>
                </a:rPr>
                <a:t>Stakeholder Interviews and Issue Identification</a:t>
              </a:r>
              <a:endParaRPr b="0" lang="en-IN" sz="1200" strike="noStrike" u="none">
                <a:solidFill>
                  <a:srgbClr val="ffffff"/>
                </a:solidFill>
                <a:effectLst/>
                <a:uFillTx/>
                <a:latin typeface="Times New Roman"/>
              </a:endParaRPr>
            </a:p>
          </p:txBody>
        </p:sp>
      </p:grpSp>
      <p:sp>
        <p:nvSpPr>
          <p:cNvPr id="88" name=""/>
          <p:cNvSpPr/>
          <p:nvPr/>
        </p:nvSpPr>
        <p:spPr>
          <a:xfrm>
            <a:off x="2751120" y="1133640"/>
            <a:ext cx="1248120" cy="45972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fafd00"/>
                </a:solidFill>
                <a:effectLst/>
                <a:uFillTx/>
                <a:latin typeface="Arial"/>
              </a:rPr>
              <a:t>Phase I</a:t>
            </a:r>
            <a:endParaRPr b="0" lang="en-IN" sz="2400" strike="noStrike" u="none">
              <a:solidFill>
                <a:srgbClr val="ffffff"/>
              </a:solidFill>
              <a:effectLst/>
              <a:uFillTx/>
              <a:latin typeface="Times New Roman"/>
            </a:endParaRPr>
          </a:p>
        </p:txBody>
      </p:sp>
      <p:sp>
        <p:nvSpPr>
          <p:cNvPr id="89" name=""/>
          <p:cNvSpPr/>
          <p:nvPr/>
        </p:nvSpPr>
        <p:spPr>
          <a:xfrm>
            <a:off x="7272000" y="1171440"/>
            <a:ext cx="1332720" cy="45972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fafd00"/>
                </a:solidFill>
                <a:effectLst/>
                <a:uFillTx/>
                <a:latin typeface="Arial"/>
              </a:rPr>
              <a:t>Phase II</a:t>
            </a:r>
            <a:endParaRPr b="0" lang="en-IN" sz="2400" strike="noStrike" u="none">
              <a:solidFill>
                <a:srgbClr val="ffffff"/>
              </a:solidFill>
              <a:effectLst/>
              <a:uFillTx/>
              <a:latin typeface="Times New Roman"/>
            </a:endParaRPr>
          </a:p>
        </p:txBody>
      </p:sp>
      <p:grpSp>
        <p:nvGrpSpPr>
          <p:cNvPr id="90" name=""/>
          <p:cNvGrpSpPr/>
          <p:nvPr/>
        </p:nvGrpSpPr>
        <p:grpSpPr>
          <a:xfrm>
            <a:off x="289080" y="1630440"/>
            <a:ext cx="5978520" cy="3340080"/>
            <a:chOff x="289080" y="1630440"/>
            <a:chExt cx="5978520" cy="3340080"/>
          </a:xfrm>
        </p:grpSpPr>
        <p:sp>
          <p:nvSpPr>
            <p:cNvPr id="91" name=""/>
            <p:cNvSpPr/>
            <p:nvPr/>
          </p:nvSpPr>
          <p:spPr>
            <a:xfrm>
              <a:off x="2464200" y="2214720"/>
              <a:ext cx="1600200" cy="761760"/>
            </a:xfrm>
            <a:prstGeom prst="rect">
              <a:avLst/>
            </a:prstGeom>
            <a:solidFill>
              <a:srgbClr val="008080"/>
            </a:solidFill>
            <a:ln w="0">
              <a:noFill/>
            </a:ln>
            <a:effectLst>
              <a:outerShdw dist="17819" dir="2700000" blurRad="0" rotWithShape="0">
                <a:srgbClr val="919191"/>
              </a:outerShdw>
            </a:effectLst>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92" name=""/>
            <p:cNvSpPr/>
            <p:nvPr/>
          </p:nvSpPr>
          <p:spPr>
            <a:xfrm>
              <a:off x="2464200" y="2230560"/>
              <a:ext cx="1600200" cy="731880"/>
            </a:xfrm>
            <a:prstGeom prst="rect">
              <a:avLst/>
            </a:prstGeom>
            <a:noFill/>
            <a:ln w="0">
              <a:noFill/>
            </a:ln>
          </p:spPr>
          <p:style>
            <a:lnRef idx="0"/>
            <a:fillRef idx="0"/>
            <a:effectRef idx="0"/>
            <a:fontRef idx="minor"/>
          </p:style>
          <p:txBody>
            <a:bodyPr lIns="90000" rIns="90000" tIns="46800" bIns="46800" anchor="ctr">
              <a:noAutofit/>
            </a:bodyPr>
            <a:p>
              <a:pPr algn="ctr">
                <a:lnSpc>
                  <a:spcPct val="100000"/>
                </a:lnSpc>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IN" sz="1200" strike="noStrike" u="none">
                  <a:solidFill>
                    <a:srgbClr val="fafd00"/>
                  </a:solidFill>
                  <a:effectLst/>
                  <a:uFillTx/>
                  <a:latin typeface="Arial"/>
                </a:rPr>
                <a:t>Task 3.  </a:t>
              </a:r>
              <a:r>
                <a:rPr b="1" lang="en-IN" sz="1200" strike="noStrike" u="none">
                  <a:solidFill>
                    <a:srgbClr val="ffffff"/>
                  </a:solidFill>
                  <a:effectLst/>
                  <a:uFillTx/>
                  <a:latin typeface="Arial"/>
                </a:rPr>
                <a:t>Cluster and </a:t>
              </a:r>
              <a:br>
                <a:rPr sz="1200"/>
              </a:br>
              <a:r>
                <a:rPr b="1" lang="en-IN" sz="1200" strike="noStrike" u="none">
                  <a:solidFill>
                    <a:srgbClr val="ffffff"/>
                  </a:solidFill>
                  <a:effectLst/>
                  <a:uFillTx/>
                  <a:latin typeface="Arial"/>
                </a:rPr>
                <a:t>Economic Impact Analysis</a:t>
              </a:r>
              <a:endParaRPr b="0" lang="en-IN" sz="1200" strike="noStrike" u="none">
                <a:solidFill>
                  <a:srgbClr val="ffffff"/>
                </a:solidFill>
                <a:effectLst/>
                <a:uFillTx/>
                <a:latin typeface="Times New Roman"/>
              </a:endParaRPr>
            </a:p>
          </p:txBody>
        </p:sp>
        <p:sp>
          <p:nvSpPr>
            <p:cNvPr id="93" name=""/>
            <p:cNvSpPr/>
            <p:nvPr/>
          </p:nvSpPr>
          <p:spPr>
            <a:xfrm>
              <a:off x="2464200" y="3211560"/>
              <a:ext cx="1600200" cy="762120"/>
            </a:xfrm>
            <a:prstGeom prst="rect">
              <a:avLst/>
            </a:prstGeom>
            <a:solidFill>
              <a:srgbClr val="008080"/>
            </a:solidFill>
            <a:ln w="0">
              <a:noFill/>
            </a:ln>
            <a:effectLst>
              <a:outerShdw dist="17819" dir="2700000" blurRad="0" rotWithShape="0">
                <a:srgbClr val="919191"/>
              </a:outerShdw>
            </a:effectLst>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94" name=""/>
            <p:cNvSpPr/>
            <p:nvPr/>
          </p:nvSpPr>
          <p:spPr>
            <a:xfrm>
              <a:off x="2464200" y="3219480"/>
              <a:ext cx="1600200" cy="731880"/>
            </a:xfrm>
            <a:prstGeom prst="rect">
              <a:avLst/>
            </a:prstGeom>
            <a:noFill/>
            <a:ln w="0">
              <a:noFill/>
            </a:ln>
          </p:spPr>
          <p:style>
            <a:lnRef idx="0"/>
            <a:fillRef idx="0"/>
            <a:effectRef idx="0"/>
            <a:fontRef idx="minor"/>
          </p:style>
          <p:txBody>
            <a:bodyPr lIns="90000" rIns="90000" tIns="46800" bIns="46800" anchor="ctr">
              <a:noAutofit/>
            </a:bodyPr>
            <a:p>
              <a:pPr algn="ctr">
                <a:lnSpc>
                  <a:spcPct val="100000"/>
                </a:lnSpc>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IN" sz="1200" strike="noStrike" u="none">
                  <a:solidFill>
                    <a:srgbClr val="fafd00"/>
                  </a:solidFill>
                  <a:effectLst/>
                  <a:uFillTx/>
                  <a:latin typeface="Arial"/>
                </a:rPr>
                <a:t>Task 4.  </a:t>
              </a:r>
              <a:r>
                <a:rPr b="1" lang="en-IN" sz="1200" strike="noStrike" u="none">
                  <a:solidFill>
                    <a:srgbClr val="ffffff"/>
                  </a:solidFill>
                  <a:effectLst/>
                  <a:uFillTx/>
                  <a:latin typeface="Arial"/>
                </a:rPr>
                <a:t>Land Use </a:t>
              </a:r>
              <a:br>
                <a:rPr sz="1200"/>
              </a:br>
              <a:r>
                <a:rPr b="1" lang="en-IN" sz="1200" strike="noStrike" u="none">
                  <a:solidFill>
                    <a:srgbClr val="ffffff"/>
                  </a:solidFill>
                  <a:effectLst/>
                  <a:uFillTx/>
                  <a:latin typeface="Arial"/>
                </a:rPr>
                <a:t>and Community Impact Analysis</a:t>
              </a:r>
              <a:endParaRPr b="0" lang="en-IN" sz="1200" strike="noStrike" u="none">
                <a:solidFill>
                  <a:srgbClr val="ffffff"/>
                </a:solidFill>
                <a:effectLst/>
                <a:uFillTx/>
                <a:latin typeface="Times New Roman"/>
              </a:endParaRPr>
            </a:p>
          </p:txBody>
        </p:sp>
        <p:sp>
          <p:nvSpPr>
            <p:cNvPr id="95" name=""/>
            <p:cNvSpPr/>
            <p:nvPr/>
          </p:nvSpPr>
          <p:spPr>
            <a:xfrm>
              <a:off x="1105200" y="2395440"/>
              <a:ext cx="0" cy="301680"/>
            </a:xfrm>
            <a:prstGeom prst="line">
              <a:avLst/>
            </a:prstGeom>
            <a:ln w="3240">
              <a:solidFill>
                <a:srgbClr val="fafd00"/>
              </a:solidFill>
              <a:miter/>
              <a:tailEnd len="lg" type="stealth" w="lg"/>
            </a:ln>
          </p:spPr>
          <p:style>
            <a:lnRef idx="0"/>
            <a:fillRef idx="0"/>
            <a:effectRef idx="0"/>
            <a:fontRef idx="minor"/>
          </p:style>
          <p:txBody>
            <a:bodyPr lIns="90000" rIns="90000" tIns="46800" bIns="46800" anchor="ctr">
              <a:noAutofit/>
            </a:bodyPr>
            <a:p>
              <a:endParaRPr b="0" lang="en-IN" sz="2400" strike="noStrike" u="none">
                <a:solidFill>
                  <a:srgbClr val="ffffff"/>
                </a:solidFill>
                <a:effectLst/>
                <a:uFillTx/>
                <a:latin typeface="Times New Roman"/>
              </a:endParaRPr>
            </a:p>
          </p:txBody>
        </p:sp>
        <p:grpSp>
          <p:nvGrpSpPr>
            <p:cNvPr id="96" name=""/>
            <p:cNvGrpSpPr/>
            <p:nvPr/>
          </p:nvGrpSpPr>
          <p:grpSpPr>
            <a:xfrm>
              <a:off x="289080" y="1630440"/>
              <a:ext cx="1600200" cy="762120"/>
              <a:chOff x="289080" y="1630440"/>
              <a:chExt cx="1600200" cy="762120"/>
            </a:xfrm>
          </p:grpSpPr>
          <p:sp>
            <p:nvSpPr>
              <p:cNvPr id="97" name=""/>
              <p:cNvSpPr/>
              <p:nvPr/>
            </p:nvSpPr>
            <p:spPr>
              <a:xfrm>
                <a:off x="289080" y="1630440"/>
                <a:ext cx="1600200" cy="762120"/>
              </a:xfrm>
              <a:prstGeom prst="rect">
                <a:avLst/>
              </a:prstGeom>
              <a:solidFill>
                <a:srgbClr val="008080"/>
              </a:solidFill>
              <a:ln w="0">
                <a:noFill/>
              </a:ln>
              <a:effectLst>
                <a:outerShdw dist="17819" dir="2700000" blurRad="0" rotWithShape="0">
                  <a:srgbClr val="919191"/>
                </a:outerShdw>
              </a:effectLst>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98" name=""/>
              <p:cNvSpPr/>
              <p:nvPr/>
            </p:nvSpPr>
            <p:spPr>
              <a:xfrm>
                <a:off x="301680" y="1692360"/>
                <a:ext cx="1573200" cy="640080"/>
              </a:xfrm>
              <a:prstGeom prst="rect">
                <a:avLst/>
              </a:prstGeom>
              <a:noFill/>
              <a:ln w="0">
                <a:noFill/>
              </a:ln>
            </p:spPr>
            <p:style>
              <a:lnRef idx="0"/>
              <a:fillRef idx="0"/>
              <a:effectRef idx="0"/>
              <a:fontRef idx="minor"/>
            </p:style>
            <p:txBody>
              <a:bodyPr lIns="90000" rIns="90000" tIns="46800" bIns="46800" anchor="ctr">
                <a:noAutofit/>
              </a:bodyPr>
              <a:p>
                <a:pPr algn="ctr">
                  <a:lnSpc>
                    <a:spcPct val="100000"/>
                  </a:lnSpc>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IN" sz="1200" strike="noStrike" u="none">
                    <a:solidFill>
                      <a:srgbClr val="fafd00"/>
                    </a:solidFill>
                    <a:effectLst/>
                    <a:uFillTx/>
                    <a:latin typeface="Arial"/>
                  </a:rPr>
                  <a:t>Task 1.  </a:t>
                </a:r>
                <a:r>
                  <a:rPr b="1" lang="en-IN" sz="1200" strike="noStrike" u="none">
                    <a:solidFill>
                      <a:srgbClr val="ffffff"/>
                    </a:solidFill>
                    <a:effectLst/>
                    <a:uFillTx/>
                    <a:latin typeface="Arial"/>
                  </a:rPr>
                  <a:t>Develop Detailed Work Plan</a:t>
                </a:r>
                <a:endParaRPr b="0" lang="en-IN" sz="1200" strike="noStrike" u="none">
                  <a:solidFill>
                    <a:srgbClr val="ffffff"/>
                  </a:solidFill>
                  <a:effectLst/>
                  <a:uFillTx/>
                  <a:latin typeface="Times New Roman"/>
                </a:endParaRPr>
              </a:p>
            </p:txBody>
          </p:sp>
        </p:grpSp>
        <p:sp>
          <p:nvSpPr>
            <p:cNvPr id="99" name=""/>
            <p:cNvSpPr/>
            <p:nvPr/>
          </p:nvSpPr>
          <p:spPr>
            <a:xfrm>
              <a:off x="1892520" y="3089160"/>
              <a:ext cx="284040" cy="0"/>
            </a:xfrm>
            <a:prstGeom prst="line">
              <a:avLst/>
            </a:prstGeom>
            <a:ln w="3240">
              <a:solidFill>
                <a:srgbClr val="fafd00"/>
              </a:solidFill>
              <a:miter/>
            </a:ln>
          </p:spPr>
          <p:style>
            <a:lnRef idx="0"/>
            <a:fillRef idx="0"/>
            <a:effectRef idx="0"/>
            <a:fontRef idx="minor"/>
          </p:style>
          <p:txBody>
            <a:bodyPr lIns="90000" rIns="90000" tIns="-46800" bIns="-46800" anchor="ctr">
              <a:noAutofit/>
            </a:bodyPr>
            <a:p>
              <a:endParaRPr b="0" lang="en-IN" sz="2400" strike="noStrike" u="none">
                <a:solidFill>
                  <a:srgbClr val="ffffff"/>
                </a:solidFill>
                <a:effectLst/>
                <a:uFillTx/>
                <a:latin typeface="Times New Roman"/>
              </a:endParaRPr>
            </a:p>
          </p:txBody>
        </p:sp>
        <p:grpSp>
          <p:nvGrpSpPr>
            <p:cNvPr id="100" name=""/>
            <p:cNvGrpSpPr/>
            <p:nvPr/>
          </p:nvGrpSpPr>
          <p:grpSpPr>
            <a:xfrm>
              <a:off x="289080" y="2691000"/>
              <a:ext cx="1600200" cy="796680"/>
              <a:chOff x="289080" y="2691000"/>
              <a:chExt cx="1600200" cy="796680"/>
            </a:xfrm>
          </p:grpSpPr>
          <p:sp>
            <p:nvSpPr>
              <p:cNvPr id="101" name=""/>
              <p:cNvSpPr/>
              <p:nvPr/>
            </p:nvSpPr>
            <p:spPr>
              <a:xfrm>
                <a:off x="289080" y="2708280"/>
                <a:ext cx="1600200" cy="761400"/>
              </a:xfrm>
              <a:prstGeom prst="rect">
                <a:avLst/>
              </a:prstGeom>
              <a:solidFill>
                <a:srgbClr val="008080"/>
              </a:solidFill>
              <a:ln w="0">
                <a:noFill/>
              </a:ln>
              <a:effectLst>
                <a:outerShdw dist="17819" dir="2700000" blurRad="0" rotWithShape="0">
                  <a:srgbClr val="919191"/>
                </a:outerShdw>
              </a:effectLst>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102" name=""/>
              <p:cNvSpPr/>
              <p:nvPr/>
            </p:nvSpPr>
            <p:spPr>
              <a:xfrm>
                <a:off x="289080" y="2691000"/>
                <a:ext cx="1600200" cy="796680"/>
              </a:xfrm>
              <a:prstGeom prst="rect">
                <a:avLst/>
              </a:prstGeom>
              <a:noFill/>
              <a:ln w="0">
                <a:noFill/>
              </a:ln>
            </p:spPr>
            <p:style>
              <a:lnRef idx="0"/>
              <a:fillRef idx="0"/>
              <a:effectRef idx="0"/>
              <a:fontRef idx="minor"/>
            </p:style>
            <p:txBody>
              <a:bodyPr lIns="90000" rIns="90000" tIns="46800" bIns="46800" anchor="ctr">
                <a:noAutofit/>
              </a:bodyPr>
              <a:p>
                <a:pPr algn="ctr">
                  <a:lnSpc>
                    <a:spcPct val="100000"/>
                  </a:lnSpc>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IN" sz="1200" strike="noStrike" u="none">
                    <a:solidFill>
                      <a:srgbClr val="fafd00"/>
                    </a:solidFill>
                    <a:effectLst/>
                    <a:uFillTx/>
                    <a:latin typeface="Arial"/>
                  </a:rPr>
                  <a:t>Task 2.  </a:t>
                </a:r>
                <a:r>
                  <a:rPr b="1" lang="en-IN" sz="1200" strike="noStrike" u="none">
                    <a:solidFill>
                      <a:srgbClr val="ffffff"/>
                    </a:solidFill>
                    <a:effectLst/>
                    <a:uFillTx/>
                    <a:latin typeface="Arial"/>
                  </a:rPr>
                  <a:t>Data </a:t>
                </a:r>
                <a:br>
                  <a:rPr sz="1200"/>
                </a:br>
                <a:r>
                  <a:rPr b="1" lang="en-IN" sz="1200" strike="noStrike" u="none">
                    <a:solidFill>
                      <a:srgbClr val="ffffff"/>
                    </a:solidFill>
                    <a:effectLst/>
                    <a:uFillTx/>
                    <a:latin typeface="Arial"/>
                  </a:rPr>
                  <a:t>Reconnaissance </a:t>
                </a:r>
                <a:br>
                  <a:rPr sz="1200"/>
                </a:br>
                <a:r>
                  <a:rPr b="1" lang="en-IN" sz="1200" strike="noStrike" u="none">
                    <a:solidFill>
                      <a:srgbClr val="ffffff"/>
                    </a:solidFill>
                    <a:effectLst/>
                    <a:uFillTx/>
                    <a:latin typeface="Arial"/>
                  </a:rPr>
                  <a:t>and Trend Analysis</a:t>
                </a:r>
                <a:endParaRPr b="0" lang="en-IN" sz="1200" strike="noStrike" u="none">
                  <a:solidFill>
                    <a:srgbClr val="ffffff"/>
                  </a:solidFill>
                  <a:effectLst/>
                  <a:uFillTx/>
                  <a:latin typeface="Times New Roman"/>
                </a:endParaRPr>
              </a:p>
            </p:txBody>
          </p:sp>
        </p:grpSp>
        <p:sp>
          <p:nvSpPr>
            <p:cNvPr id="103" name=""/>
            <p:cNvSpPr/>
            <p:nvPr/>
          </p:nvSpPr>
          <p:spPr>
            <a:xfrm>
              <a:off x="2171880" y="2595600"/>
              <a:ext cx="0" cy="1004760"/>
            </a:xfrm>
            <a:prstGeom prst="line">
              <a:avLst/>
            </a:prstGeom>
            <a:ln w="3240">
              <a:solidFill>
                <a:srgbClr val="fafd00"/>
              </a:solidFill>
              <a:miter/>
            </a:ln>
          </p:spPr>
          <p:style>
            <a:lnRef idx="0"/>
            <a:fillRef idx="0"/>
            <a:effectRef idx="0"/>
            <a:fontRef idx="minor"/>
          </p:style>
          <p:txBody>
            <a:bodyPr lIns="90000" rIns="90000" tIns="46800" bIns="46800" anchor="ctr">
              <a:noAutofit/>
            </a:bodyPr>
            <a:p>
              <a:endParaRPr b="0" lang="en-IN" sz="2400" strike="noStrike" u="none">
                <a:solidFill>
                  <a:srgbClr val="ffffff"/>
                </a:solidFill>
                <a:effectLst/>
                <a:uFillTx/>
                <a:latin typeface="Times New Roman"/>
              </a:endParaRPr>
            </a:p>
          </p:txBody>
        </p:sp>
        <p:sp>
          <p:nvSpPr>
            <p:cNvPr id="104" name=""/>
            <p:cNvSpPr/>
            <p:nvPr/>
          </p:nvSpPr>
          <p:spPr>
            <a:xfrm>
              <a:off x="2171880" y="3598920"/>
              <a:ext cx="284400" cy="0"/>
            </a:xfrm>
            <a:prstGeom prst="line">
              <a:avLst/>
            </a:prstGeom>
            <a:ln w="3240">
              <a:solidFill>
                <a:srgbClr val="fafd00"/>
              </a:solidFill>
              <a:miter/>
              <a:tailEnd len="lg" type="stealth" w="lg"/>
            </a:ln>
          </p:spPr>
          <p:style>
            <a:lnRef idx="0"/>
            <a:fillRef idx="0"/>
            <a:effectRef idx="0"/>
            <a:fontRef idx="minor"/>
          </p:style>
          <p:txBody>
            <a:bodyPr lIns="90000" rIns="90000" tIns="-46800" bIns="-46800" anchor="ctr">
              <a:noAutofit/>
            </a:bodyPr>
            <a:p>
              <a:endParaRPr b="0" lang="en-IN" sz="2400" strike="noStrike" u="none">
                <a:solidFill>
                  <a:srgbClr val="ffffff"/>
                </a:solidFill>
                <a:effectLst/>
                <a:uFillTx/>
                <a:latin typeface="Times New Roman"/>
              </a:endParaRPr>
            </a:p>
          </p:txBody>
        </p:sp>
        <p:sp>
          <p:nvSpPr>
            <p:cNvPr id="105" name=""/>
            <p:cNvSpPr/>
            <p:nvPr/>
          </p:nvSpPr>
          <p:spPr>
            <a:xfrm>
              <a:off x="2171880" y="2595600"/>
              <a:ext cx="284400" cy="0"/>
            </a:xfrm>
            <a:prstGeom prst="line">
              <a:avLst/>
            </a:prstGeom>
            <a:ln w="3240">
              <a:solidFill>
                <a:srgbClr val="fafd00"/>
              </a:solidFill>
              <a:miter/>
              <a:tailEnd len="lg" type="stealth" w="lg"/>
            </a:ln>
          </p:spPr>
          <p:style>
            <a:lnRef idx="0"/>
            <a:fillRef idx="0"/>
            <a:effectRef idx="0"/>
            <a:fontRef idx="minor"/>
          </p:style>
          <p:txBody>
            <a:bodyPr lIns="90000" rIns="90000" tIns="-46800" bIns="-46800" anchor="ctr">
              <a:noAutofit/>
            </a:bodyPr>
            <a:p>
              <a:endParaRPr b="0" lang="en-IN" sz="2400" strike="noStrike" u="none">
                <a:solidFill>
                  <a:srgbClr val="ffffff"/>
                </a:solidFill>
                <a:effectLst/>
                <a:uFillTx/>
                <a:latin typeface="Times New Roman"/>
              </a:endParaRPr>
            </a:p>
          </p:txBody>
        </p:sp>
        <p:sp>
          <p:nvSpPr>
            <p:cNvPr id="106" name=""/>
            <p:cNvSpPr/>
            <p:nvPr/>
          </p:nvSpPr>
          <p:spPr>
            <a:xfrm>
              <a:off x="4356360" y="2595600"/>
              <a:ext cx="0" cy="1004760"/>
            </a:xfrm>
            <a:prstGeom prst="line">
              <a:avLst/>
            </a:prstGeom>
            <a:ln w="3240">
              <a:solidFill>
                <a:srgbClr val="fafd00"/>
              </a:solidFill>
              <a:miter/>
            </a:ln>
          </p:spPr>
          <p:style>
            <a:lnRef idx="0"/>
            <a:fillRef idx="0"/>
            <a:effectRef idx="0"/>
            <a:fontRef idx="minor"/>
          </p:style>
          <p:txBody>
            <a:bodyPr lIns="90000" rIns="90000" tIns="46800" bIns="46800" anchor="ctr">
              <a:noAutofit/>
            </a:bodyPr>
            <a:p>
              <a:endParaRPr b="0" lang="en-IN" sz="2400" strike="noStrike" u="none">
                <a:solidFill>
                  <a:srgbClr val="ffffff"/>
                </a:solidFill>
                <a:effectLst/>
                <a:uFillTx/>
                <a:latin typeface="Times New Roman"/>
              </a:endParaRPr>
            </a:p>
          </p:txBody>
        </p:sp>
        <p:sp>
          <p:nvSpPr>
            <p:cNvPr id="107" name=""/>
            <p:cNvSpPr/>
            <p:nvPr/>
          </p:nvSpPr>
          <p:spPr>
            <a:xfrm>
              <a:off x="4077000" y="3598920"/>
              <a:ext cx="284040" cy="0"/>
            </a:xfrm>
            <a:prstGeom prst="line">
              <a:avLst/>
            </a:prstGeom>
            <a:ln w="3240">
              <a:solidFill>
                <a:srgbClr val="fafd00"/>
              </a:solidFill>
              <a:miter/>
            </a:ln>
          </p:spPr>
          <p:style>
            <a:lnRef idx="0"/>
            <a:fillRef idx="0"/>
            <a:effectRef idx="0"/>
            <a:fontRef idx="minor"/>
          </p:style>
          <p:txBody>
            <a:bodyPr lIns="90000" rIns="90000" tIns="-46800" bIns="-46800" anchor="ctr">
              <a:noAutofit/>
            </a:bodyPr>
            <a:p>
              <a:endParaRPr b="0" lang="en-IN" sz="2400" strike="noStrike" u="none">
                <a:solidFill>
                  <a:srgbClr val="ffffff"/>
                </a:solidFill>
                <a:effectLst/>
                <a:uFillTx/>
                <a:latin typeface="Times New Roman"/>
              </a:endParaRPr>
            </a:p>
          </p:txBody>
        </p:sp>
        <p:sp>
          <p:nvSpPr>
            <p:cNvPr id="108" name=""/>
            <p:cNvSpPr/>
            <p:nvPr/>
          </p:nvSpPr>
          <p:spPr>
            <a:xfrm>
              <a:off x="4077000" y="2595600"/>
              <a:ext cx="284040" cy="0"/>
            </a:xfrm>
            <a:prstGeom prst="line">
              <a:avLst/>
            </a:prstGeom>
            <a:ln w="3240">
              <a:solidFill>
                <a:srgbClr val="fafd00"/>
              </a:solidFill>
              <a:miter/>
            </a:ln>
          </p:spPr>
          <p:style>
            <a:lnRef idx="0"/>
            <a:fillRef idx="0"/>
            <a:effectRef idx="0"/>
            <a:fontRef idx="minor"/>
          </p:style>
          <p:txBody>
            <a:bodyPr lIns="90000" rIns="90000" tIns="-46800" bIns="-46800" anchor="ctr">
              <a:noAutofit/>
            </a:bodyPr>
            <a:p>
              <a:endParaRPr b="0" lang="en-IN" sz="2400" strike="noStrike" u="none">
                <a:solidFill>
                  <a:srgbClr val="ffffff"/>
                </a:solidFill>
                <a:effectLst/>
                <a:uFillTx/>
                <a:latin typeface="Times New Roman"/>
              </a:endParaRPr>
            </a:p>
          </p:txBody>
        </p:sp>
        <p:sp>
          <p:nvSpPr>
            <p:cNvPr id="109" name=""/>
            <p:cNvSpPr/>
            <p:nvPr/>
          </p:nvSpPr>
          <p:spPr>
            <a:xfrm>
              <a:off x="4356360" y="3089160"/>
              <a:ext cx="284040" cy="0"/>
            </a:xfrm>
            <a:prstGeom prst="line">
              <a:avLst/>
            </a:prstGeom>
            <a:ln w="3240">
              <a:solidFill>
                <a:srgbClr val="fafd00"/>
              </a:solidFill>
              <a:miter/>
              <a:tailEnd len="lg" type="stealth" w="lg"/>
            </a:ln>
          </p:spPr>
          <p:style>
            <a:lnRef idx="0"/>
            <a:fillRef idx="0"/>
            <a:effectRef idx="0"/>
            <a:fontRef idx="minor"/>
          </p:style>
          <p:txBody>
            <a:bodyPr lIns="90000" rIns="90000" tIns="-46800" bIns="-46800" anchor="ctr">
              <a:noAutofit/>
            </a:bodyPr>
            <a:p>
              <a:endParaRPr b="0" lang="en-IN" sz="2400" strike="noStrike" u="none">
                <a:solidFill>
                  <a:srgbClr val="ffffff"/>
                </a:solidFill>
                <a:effectLst/>
                <a:uFillTx/>
                <a:latin typeface="Times New Roman"/>
              </a:endParaRPr>
            </a:p>
          </p:txBody>
        </p:sp>
        <p:sp>
          <p:nvSpPr>
            <p:cNvPr id="110" name=""/>
            <p:cNvSpPr/>
            <p:nvPr/>
          </p:nvSpPr>
          <p:spPr>
            <a:xfrm>
              <a:off x="5467680" y="3167280"/>
              <a:ext cx="0" cy="1014120"/>
            </a:xfrm>
            <a:prstGeom prst="line">
              <a:avLst/>
            </a:prstGeom>
            <a:ln w="3240">
              <a:solidFill>
                <a:srgbClr val="fafd00"/>
              </a:solidFill>
              <a:miter/>
              <a:tailEnd len="lg" type="stealth" w="lg"/>
            </a:ln>
          </p:spPr>
          <p:style>
            <a:lnRef idx="0"/>
            <a:fillRef idx="0"/>
            <a:effectRef idx="0"/>
            <a:fontRef idx="minor"/>
          </p:style>
          <p:txBody>
            <a:bodyPr lIns="90000" rIns="90000" tIns="46800" bIns="46800" anchor="ctr">
              <a:noAutofit/>
            </a:bodyPr>
            <a:p>
              <a:endParaRPr b="0" lang="en-IN" sz="2400" strike="noStrike" u="none">
                <a:solidFill>
                  <a:srgbClr val="ffffff"/>
                </a:solidFill>
                <a:effectLst/>
                <a:uFillTx/>
                <a:latin typeface="Times New Roman"/>
              </a:endParaRPr>
            </a:p>
          </p:txBody>
        </p:sp>
        <p:grpSp>
          <p:nvGrpSpPr>
            <p:cNvPr id="111" name=""/>
            <p:cNvGrpSpPr/>
            <p:nvPr/>
          </p:nvGrpSpPr>
          <p:grpSpPr>
            <a:xfrm>
              <a:off x="4667400" y="2691000"/>
              <a:ext cx="1600200" cy="761760"/>
              <a:chOff x="4667400" y="2691000"/>
              <a:chExt cx="1600200" cy="761760"/>
            </a:xfrm>
          </p:grpSpPr>
          <p:sp>
            <p:nvSpPr>
              <p:cNvPr id="112" name=""/>
              <p:cNvSpPr/>
              <p:nvPr/>
            </p:nvSpPr>
            <p:spPr>
              <a:xfrm>
                <a:off x="4667400" y="2691000"/>
                <a:ext cx="1600200" cy="761760"/>
              </a:xfrm>
              <a:prstGeom prst="rect">
                <a:avLst/>
              </a:prstGeom>
              <a:solidFill>
                <a:srgbClr val="008080"/>
              </a:solidFill>
              <a:ln w="0">
                <a:noFill/>
              </a:ln>
              <a:effectLst>
                <a:outerShdw dist="17819" dir="2700000" blurRad="0" rotWithShape="0">
                  <a:srgbClr val="919191"/>
                </a:outerShdw>
              </a:effectLst>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113" name=""/>
              <p:cNvSpPr/>
              <p:nvPr/>
            </p:nvSpPr>
            <p:spPr>
              <a:xfrm>
                <a:off x="4667400" y="2797200"/>
                <a:ext cx="1600200" cy="549000"/>
              </a:xfrm>
              <a:prstGeom prst="rect">
                <a:avLst/>
              </a:prstGeom>
              <a:noFill/>
              <a:ln w="0">
                <a:noFill/>
              </a:ln>
            </p:spPr>
            <p:style>
              <a:lnRef idx="0"/>
              <a:fillRef idx="0"/>
              <a:effectRef idx="0"/>
              <a:fontRef idx="minor"/>
            </p:style>
            <p:txBody>
              <a:bodyPr lIns="90000" rIns="90000" tIns="46800" bIns="46800" anchor="ctr">
                <a:noAutofit/>
              </a:bodyPr>
              <a:p>
                <a:pPr algn="ctr">
                  <a:lnSpc>
                    <a:spcPct val="100000"/>
                  </a:lnSpc>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IN" sz="1200" strike="noStrike" u="none">
                    <a:solidFill>
                      <a:srgbClr val="fafd00"/>
                    </a:solidFill>
                    <a:effectLst/>
                    <a:uFillTx/>
                    <a:latin typeface="Arial"/>
                  </a:rPr>
                  <a:t>Task 6.  </a:t>
                </a:r>
                <a:r>
                  <a:rPr b="1" lang="en-IN" sz="1200" strike="noStrike" u="none">
                    <a:solidFill>
                      <a:srgbClr val="ffffff"/>
                    </a:solidFill>
                    <a:effectLst/>
                    <a:uFillTx/>
                    <a:latin typeface="Arial"/>
                  </a:rPr>
                  <a:t>Initial Stakeholder Interviews</a:t>
                </a:r>
                <a:endParaRPr b="0" lang="en-IN" sz="1200" strike="noStrike" u="none">
                  <a:solidFill>
                    <a:srgbClr val="ffffff"/>
                  </a:solidFill>
                  <a:effectLst/>
                  <a:uFillTx/>
                  <a:latin typeface="Times New Roman"/>
                </a:endParaRPr>
              </a:p>
            </p:txBody>
          </p:sp>
        </p:grpSp>
        <p:grpSp>
          <p:nvGrpSpPr>
            <p:cNvPr id="114" name=""/>
            <p:cNvGrpSpPr/>
            <p:nvPr/>
          </p:nvGrpSpPr>
          <p:grpSpPr>
            <a:xfrm>
              <a:off x="4654800" y="4208400"/>
              <a:ext cx="1600200" cy="762120"/>
              <a:chOff x="4654800" y="4208400"/>
              <a:chExt cx="1600200" cy="762120"/>
            </a:xfrm>
          </p:grpSpPr>
          <p:sp>
            <p:nvSpPr>
              <p:cNvPr id="115" name=""/>
              <p:cNvSpPr/>
              <p:nvPr/>
            </p:nvSpPr>
            <p:spPr>
              <a:xfrm>
                <a:off x="4654800" y="4208400"/>
                <a:ext cx="1600200" cy="762120"/>
              </a:xfrm>
              <a:prstGeom prst="rect">
                <a:avLst/>
              </a:prstGeom>
              <a:solidFill>
                <a:srgbClr val="008080"/>
              </a:solidFill>
              <a:ln w="0">
                <a:noFill/>
              </a:ln>
              <a:effectLst>
                <a:outerShdw dist="17819" dir="2700000" blurRad="0" rotWithShape="0">
                  <a:srgbClr val="919191"/>
                </a:outerShdw>
              </a:effectLst>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116" name=""/>
              <p:cNvSpPr/>
              <p:nvPr/>
            </p:nvSpPr>
            <p:spPr>
              <a:xfrm>
                <a:off x="4654800" y="4314600"/>
                <a:ext cx="1600200" cy="549360"/>
              </a:xfrm>
              <a:prstGeom prst="rect">
                <a:avLst/>
              </a:prstGeom>
              <a:noFill/>
              <a:ln w="0">
                <a:noFill/>
              </a:ln>
            </p:spPr>
            <p:style>
              <a:lnRef idx="0"/>
              <a:fillRef idx="0"/>
              <a:effectRef idx="0"/>
              <a:fontRef idx="minor"/>
            </p:style>
            <p:txBody>
              <a:bodyPr lIns="90000" rIns="90000" tIns="46800" bIns="46800" anchor="ctr">
                <a:noAutofit/>
              </a:bodyPr>
              <a:p>
                <a:pPr algn="ctr">
                  <a:lnSpc>
                    <a:spcPct val="100000"/>
                  </a:lnSpc>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IN" sz="1200" strike="noStrike" u="none">
                    <a:solidFill>
                      <a:srgbClr val="fafd00"/>
                    </a:solidFill>
                    <a:effectLst/>
                    <a:uFillTx/>
                    <a:latin typeface="Arial"/>
                  </a:rPr>
                  <a:t>Task 7.  </a:t>
                </a:r>
                <a:r>
                  <a:rPr b="1" lang="en-IN" sz="1200" strike="noStrike" u="none">
                    <a:solidFill>
                      <a:srgbClr val="ffffff"/>
                    </a:solidFill>
                    <a:effectLst/>
                    <a:uFillTx/>
                    <a:latin typeface="Arial"/>
                  </a:rPr>
                  <a:t>Phase 1 </a:t>
                </a:r>
                <a:br>
                  <a:rPr sz="1200"/>
                </a:br>
                <a:r>
                  <a:rPr b="1" lang="en-IN" sz="1200" strike="noStrike" u="none">
                    <a:solidFill>
                      <a:srgbClr val="ffffff"/>
                    </a:solidFill>
                    <a:effectLst/>
                    <a:uFillTx/>
                    <a:latin typeface="Arial"/>
                  </a:rPr>
                  <a:t>Report</a:t>
                </a:r>
                <a:endParaRPr b="0" lang="en-IN" sz="1200" strike="noStrike" u="none">
                  <a:solidFill>
                    <a:srgbClr val="ffffff"/>
                  </a:solidFill>
                  <a:effectLst/>
                  <a:uFillTx/>
                  <a:latin typeface="Times New Roman"/>
                </a:endParaRPr>
              </a:p>
            </p:txBody>
          </p:sp>
        </p:grpSp>
        <p:sp>
          <p:nvSpPr>
            <p:cNvPr id="117" name=""/>
            <p:cNvSpPr/>
            <p:nvPr/>
          </p:nvSpPr>
          <p:spPr>
            <a:xfrm>
              <a:off x="4073760" y="4589640"/>
              <a:ext cx="566640" cy="0"/>
            </a:xfrm>
            <a:prstGeom prst="line">
              <a:avLst/>
            </a:prstGeom>
            <a:ln w="3240">
              <a:solidFill>
                <a:srgbClr val="fafd00"/>
              </a:solidFill>
              <a:miter/>
              <a:tailEnd len="lg" type="stealth" w="lg"/>
            </a:ln>
          </p:spPr>
          <p:style>
            <a:lnRef idx="0"/>
            <a:fillRef idx="0"/>
            <a:effectRef idx="0"/>
            <a:fontRef idx="minor"/>
          </p:style>
          <p:txBody>
            <a:bodyPr lIns="90000" rIns="90000" tIns="-46800" bIns="-46800" anchor="ctr">
              <a:noAutofit/>
            </a:bodyPr>
            <a:p>
              <a:endParaRPr b="0" lang="en-IN" sz="2400" strike="noStrike" u="none">
                <a:solidFill>
                  <a:srgbClr val="ffffff"/>
                </a:solidFill>
                <a:effectLst/>
                <a:uFillTx/>
                <a:latin typeface="Times New Roman"/>
              </a:endParaRPr>
            </a:p>
          </p:txBody>
        </p:sp>
        <p:grpSp>
          <p:nvGrpSpPr>
            <p:cNvPr id="118" name=""/>
            <p:cNvGrpSpPr/>
            <p:nvPr/>
          </p:nvGrpSpPr>
          <p:grpSpPr>
            <a:xfrm>
              <a:off x="2464200" y="4208400"/>
              <a:ext cx="1600200" cy="761760"/>
              <a:chOff x="2464200" y="4208400"/>
              <a:chExt cx="1600200" cy="761760"/>
            </a:xfrm>
          </p:grpSpPr>
          <p:sp>
            <p:nvSpPr>
              <p:cNvPr id="119" name=""/>
              <p:cNvSpPr/>
              <p:nvPr/>
            </p:nvSpPr>
            <p:spPr>
              <a:xfrm>
                <a:off x="2464200" y="4208400"/>
                <a:ext cx="1600200" cy="761760"/>
              </a:xfrm>
              <a:prstGeom prst="rect">
                <a:avLst/>
              </a:prstGeom>
              <a:solidFill>
                <a:srgbClr val="008080"/>
              </a:solidFill>
              <a:ln w="0">
                <a:noFill/>
              </a:ln>
              <a:effectLst>
                <a:outerShdw dist="17819" dir="2700000" blurRad="0" rotWithShape="0">
                  <a:srgbClr val="919191"/>
                </a:outerShdw>
              </a:effectLst>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120" name=""/>
              <p:cNvSpPr/>
              <p:nvPr/>
            </p:nvSpPr>
            <p:spPr>
              <a:xfrm>
                <a:off x="2464200" y="4222440"/>
                <a:ext cx="1600200" cy="731880"/>
              </a:xfrm>
              <a:prstGeom prst="rect">
                <a:avLst/>
              </a:prstGeom>
              <a:noFill/>
              <a:ln w="0">
                <a:noFill/>
              </a:ln>
            </p:spPr>
            <p:style>
              <a:lnRef idx="0"/>
              <a:fillRef idx="0"/>
              <a:effectRef idx="0"/>
              <a:fontRef idx="minor"/>
            </p:style>
            <p:txBody>
              <a:bodyPr lIns="90000" rIns="90000" tIns="46800" bIns="46800" anchor="ctr">
                <a:noAutofit/>
              </a:bodyPr>
              <a:p>
                <a:pPr algn="ctr">
                  <a:lnSpc>
                    <a:spcPct val="100000"/>
                  </a:lnSpc>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IN" sz="1200" strike="noStrike" u="none">
                    <a:solidFill>
                      <a:srgbClr val="fafd00"/>
                    </a:solidFill>
                    <a:effectLst/>
                    <a:uFillTx/>
                    <a:latin typeface="Arial"/>
                  </a:rPr>
                  <a:t>Task 5.  </a:t>
                </a:r>
                <a:r>
                  <a:rPr b="1" lang="en-IN" sz="1200" strike="noStrike" u="none">
                    <a:solidFill>
                      <a:srgbClr val="ffffff"/>
                    </a:solidFill>
                    <a:effectLst/>
                    <a:uFillTx/>
                    <a:latin typeface="Arial"/>
                  </a:rPr>
                  <a:t>TEA-21 Reauthorization</a:t>
                </a:r>
                <a:endParaRPr b="0" lang="en-IN" sz="1200" strike="noStrike" u="none">
                  <a:solidFill>
                    <a:srgbClr val="ffffff"/>
                  </a:solidFill>
                  <a:effectLst/>
                  <a:uFillTx/>
                  <a:latin typeface="Times New Roman"/>
                </a:endParaRPr>
              </a:p>
            </p:txBody>
          </p:sp>
        </p:grpSp>
      </p:grpSp>
    </p:spTree>
  </p:cSld>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14f3"/>
        </a:solidFill>
      </p:bgPr>
    </p:bg>
    <p:spTree>
      <p:nvGrpSpPr>
        <p:cNvPr id="1" name=""/>
        <p:cNvGrpSpPr/>
        <p:nvPr/>
      </p:nvGrpSpPr>
      <p:grpSpPr>
        <a:xfrm>
          <a:off x="0" y="0"/>
          <a:ext cx="0" cy="0"/>
          <a:chOff x="0" y="0"/>
          <a:chExt cx="0" cy="0"/>
        </a:xfrm>
      </p:grpSpPr>
      <p:sp>
        <p:nvSpPr>
          <p:cNvPr id="121" name="PlaceHolder 1"/>
          <p:cNvSpPr>
            <a:spLocks noGrp="1"/>
          </p:cNvSpPr>
          <p:nvPr>
            <p:ph type="title"/>
          </p:nvPr>
        </p:nvSpPr>
        <p:spPr>
          <a:xfrm>
            <a:off x="380880" y="609480"/>
            <a:ext cx="7772400" cy="609840"/>
          </a:xfrm>
          <a:prstGeom prst="rect">
            <a:avLst/>
          </a:prstGeom>
          <a:noFill/>
          <a:ln w="0">
            <a:noFill/>
          </a:ln>
        </p:spPr>
        <p:txBody>
          <a:bodyPr lIns="92160" rIns="92160" tIns="46080" bIns="46080" anchor="t">
            <a:noAutofit/>
          </a:bodyPr>
          <a:p>
            <a:pPr indent="0">
              <a:lnSpc>
                <a:spcPct val="85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IN" sz="2800" strike="noStrike" u="none">
                <a:solidFill>
                  <a:srgbClr val="fafd00"/>
                </a:solidFill>
                <a:effectLst/>
                <a:uFillTx/>
                <a:latin typeface="Arial"/>
              </a:rPr>
              <a:t>Freight Transportation System Data and Trends </a:t>
            </a:r>
            <a:endParaRPr b="1" i="1" lang="en-IN" sz="2800" strike="noStrike" u="none">
              <a:solidFill>
                <a:srgbClr val="fafd00"/>
              </a:solidFill>
              <a:effectLst/>
              <a:uFillTx/>
              <a:latin typeface="Arial"/>
            </a:endParaRPr>
          </a:p>
        </p:txBody>
      </p:sp>
      <p:grpSp>
        <p:nvGrpSpPr>
          <p:cNvPr id="122" name=""/>
          <p:cNvGrpSpPr/>
          <p:nvPr/>
        </p:nvGrpSpPr>
        <p:grpSpPr>
          <a:xfrm>
            <a:off x="1836720" y="1736640"/>
            <a:ext cx="5859360" cy="4114800"/>
            <a:chOff x="1836720" y="1736640"/>
            <a:chExt cx="5859360" cy="4114800"/>
          </a:xfrm>
        </p:grpSpPr>
        <p:sp>
          <p:nvSpPr>
            <p:cNvPr id="123" name=""/>
            <p:cNvSpPr/>
            <p:nvPr/>
          </p:nvSpPr>
          <p:spPr>
            <a:xfrm>
              <a:off x="1836720" y="1736640"/>
              <a:ext cx="5859360" cy="4114800"/>
            </a:xfrm>
            <a:prstGeom prst="rect">
              <a:avLst/>
            </a:prstGeom>
            <a:solidFill>
              <a:srgbClr val="000080"/>
            </a:solidFill>
            <a:ln w="0">
              <a:noFill/>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grpSp>
          <p:nvGrpSpPr>
            <p:cNvPr id="124" name=""/>
            <p:cNvGrpSpPr/>
            <p:nvPr/>
          </p:nvGrpSpPr>
          <p:grpSpPr>
            <a:xfrm>
              <a:off x="1960560" y="4848120"/>
              <a:ext cx="4519440" cy="858600"/>
              <a:chOff x="1960560" y="4848120"/>
              <a:chExt cx="4519440" cy="858600"/>
            </a:xfrm>
          </p:grpSpPr>
          <p:sp>
            <p:nvSpPr>
              <p:cNvPr id="125" name=""/>
              <p:cNvSpPr/>
              <p:nvPr/>
            </p:nvSpPr>
            <p:spPr>
              <a:xfrm>
                <a:off x="2008080" y="4887720"/>
                <a:ext cx="4471920" cy="819000"/>
              </a:xfrm>
              <a:prstGeom prst="rect">
                <a:avLst/>
              </a:prstGeom>
              <a:solidFill>
                <a:srgbClr val="919191"/>
              </a:solidFill>
              <a:ln w="12600">
                <a:solidFill>
                  <a:srgbClr val="919191"/>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grpSp>
            <p:nvGrpSpPr>
              <p:cNvPr id="126" name=""/>
              <p:cNvGrpSpPr/>
              <p:nvPr/>
            </p:nvGrpSpPr>
            <p:grpSpPr>
              <a:xfrm>
                <a:off x="1960560" y="4848120"/>
                <a:ext cx="4485600" cy="826920"/>
                <a:chOff x="1960560" y="4848120"/>
                <a:chExt cx="4485600" cy="826920"/>
              </a:xfrm>
            </p:grpSpPr>
            <p:sp>
              <p:nvSpPr>
                <p:cNvPr id="127" name=""/>
                <p:cNvSpPr/>
                <p:nvPr/>
              </p:nvSpPr>
              <p:spPr>
                <a:xfrm>
                  <a:off x="1960560" y="4848120"/>
                  <a:ext cx="4483080" cy="826920"/>
                </a:xfrm>
                <a:prstGeom prst="rect">
                  <a:avLst/>
                </a:prstGeom>
                <a:solidFill>
                  <a:srgbClr val="008080"/>
                </a:solidFill>
                <a:ln w="0">
                  <a:noFill/>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grpSp>
              <p:nvGrpSpPr>
                <p:cNvPr id="128" name=""/>
                <p:cNvGrpSpPr/>
                <p:nvPr/>
              </p:nvGrpSpPr>
              <p:grpSpPr>
                <a:xfrm>
                  <a:off x="2014920" y="4951080"/>
                  <a:ext cx="4431240" cy="605160"/>
                  <a:chOff x="2014920" y="4951080"/>
                  <a:chExt cx="4431240" cy="605160"/>
                </a:xfrm>
              </p:grpSpPr>
              <p:sp>
                <p:nvSpPr>
                  <p:cNvPr id="129" name=""/>
                  <p:cNvSpPr/>
                  <p:nvPr/>
                </p:nvSpPr>
                <p:spPr>
                  <a:xfrm>
                    <a:off x="3146040" y="4951080"/>
                    <a:ext cx="2167200" cy="309600"/>
                  </a:xfrm>
                  <a:prstGeom prst="rect">
                    <a:avLst/>
                  </a:prstGeom>
                  <a:noFill/>
                  <a:ln w="0">
                    <a:noFill/>
                  </a:ln>
                </p:spPr>
                <p:style>
                  <a:lnRef idx="0"/>
                  <a:fillRef idx="0"/>
                  <a:effectRef idx="0"/>
                  <a:fontRef idx="minor"/>
                </p:style>
                <p:txBody>
                  <a:bodyPr wrap="none" lIns="92160" rIns="92160" tIns="46080" bIns="46080" anchor="t">
                    <a:spAutoFit/>
                  </a:bodyPr>
                  <a:p>
                    <a:pPr>
                      <a:lnSpc>
                        <a:spcPct val="89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600" strike="noStrike" u="none">
                        <a:solidFill>
                          <a:srgbClr val="fafd00"/>
                        </a:solidFill>
                        <a:effectLst/>
                        <a:uFillTx/>
                        <a:latin typeface="Arial"/>
                      </a:rPr>
                      <a:t>Economic Structure </a:t>
                    </a:r>
                    <a:endParaRPr b="0" lang="en-IN" sz="1600" strike="noStrike" u="none">
                      <a:solidFill>
                        <a:srgbClr val="ffffff"/>
                      </a:solidFill>
                      <a:effectLst/>
                      <a:uFillTx/>
                      <a:latin typeface="Times New Roman"/>
                    </a:endParaRPr>
                  </a:p>
                </p:txBody>
              </p:sp>
              <p:sp>
                <p:nvSpPr>
                  <p:cNvPr id="130" name=""/>
                  <p:cNvSpPr/>
                  <p:nvPr/>
                </p:nvSpPr>
                <p:spPr>
                  <a:xfrm>
                    <a:off x="2014920" y="5246640"/>
                    <a:ext cx="4431240" cy="309600"/>
                  </a:xfrm>
                  <a:prstGeom prst="rect">
                    <a:avLst/>
                  </a:prstGeom>
                  <a:noFill/>
                  <a:ln w="0">
                    <a:noFill/>
                  </a:ln>
                </p:spPr>
                <p:style>
                  <a:lnRef idx="0"/>
                  <a:fillRef idx="0"/>
                  <a:effectRef idx="0"/>
                  <a:fontRef idx="minor"/>
                </p:style>
                <p:txBody>
                  <a:bodyPr wrap="none" lIns="92160" rIns="92160" tIns="46080" bIns="46080" anchor="t">
                    <a:spAutoFit/>
                  </a:bodyPr>
                  <a:p>
                    <a:pPr>
                      <a:lnSpc>
                        <a:spcPct val="89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IN" sz="1600" strike="noStrike" u="none">
                        <a:solidFill>
                          <a:srgbClr val="ffffff"/>
                        </a:solidFill>
                        <a:effectLst/>
                        <a:uFillTx/>
                        <a:latin typeface="Arial"/>
                      </a:rPr>
                      <a:t>Type of Businesses, Number of Households</a:t>
                    </a:r>
                    <a:endParaRPr b="0" lang="en-IN" sz="1600" strike="noStrike" u="none">
                      <a:solidFill>
                        <a:srgbClr val="ffffff"/>
                      </a:solidFill>
                      <a:effectLst/>
                      <a:uFillTx/>
                      <a:latin typeface="Times New Roman"/>
                    </a:endParaRPr>
                  </a:p>
                </p:txBody>
              </p:sp>
            </p:grpSp>
          </p:grpSp>
        </p:grpSp>
        <p:grpSp>
          <p:nvGrpSpPr>
            <p:cNvPr id="131" name=""/>
            <p:cNvGrpSpPr/>
            <p:nvPr/>
          </p:nvGrpSpPr>
          <p:grpSpPr>
            <a:xfrm>
              <a:off x="1960560" y="3857400"/>
              <a:ext cx="4519440" cy="857160"/>
              <a:chOff x="1960560" y="3857400"/>
              <a:chExt cx="4519440" cy="857160"/>
            </a:xfrm>
          </p:grpSpPr>
          <p:sp>
            <p:nvSpPr>
              <p:cNvPr id="132" name=""/>
              <p:cNvSpPr/>
              <p:nvPr/>
            </p:nvSpPr>
            <p:spPr>
              <a:xfrm>
                <a:off x="2008080" y="3898800"/>
                <a:ext cx="4471920" cy="815760"/>
              </a:xfrm>
              <a:prstGeom prst="rect">
                <a:avLst/>
              </a:prstGeom>
              <a:solidFill>
                <a:srgbClr val="919191"/>
              </a:solidFill>
              <a:ln w="12600">
                <a:solidFill>
                  <a:srgbClr val="919191"/>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grpSp>
            <p:nvGrpSpPr>
              <p:cNvPr id="133" name=""/>
              <p:cNvGrpSpPr/>
              <p:nvPr/>
            </p:nvGrpSpPr>
            <p:grpSpPr>
              <a:xfrm>
                <a:off x="1960560" y="3857400"/>
                <a:ext cx="4483080" cy="828720"/>
                <a:chOff x="1960560" y="3857400"/>
                <a:chExt cx="4483080" cy="828720"/>
              </a:xfrm>
            </p:grpSpPr>
            <p:sp>
              <p:nvSpPr>
                <p:cNvPr id="134" name=""/>
                <p:cNvSpPr/>
                <p:nvPr/>
              </p:nvSpPr>
              <p:spPr>
                <a:xfrm>
                  <a:off x="1960560" y="3857400"/>
                  <a:ext cx="4483080" cy="828720"/>
                </a:xfrm>
                <a:prstGeom prst="rect">
                  <a:avLst/>
                </a:prstGeom>
                <a:solidFill>
                  <a:srgbClr val="008080"/>
                </a:solidFill>
                <a:ln w="0">
                  <a:noFill/>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grpSp>
              <p:nvGrpSpPr>
                <p:cNvPr id="135" name=""/>
                <p:cNvGrpSpPr/>
                <p:nvPr/>
              </p:nvGrpSpPr>
              <p:grpSpPr>
                <a:xfrm>
                  <a:off x="2324160" y="3954240"/>
                  <a:ext cx="3811320" cy="622440"/>
                  <a:chOff x="2324160" y="3954240"/>
                  <a:chExt cx="3811320" cy="622440"/>
                </a:xfrm>
              </p:grpSpPr>
              <p:sp>
                <p:nvSpPr>
                  <p:cNvPr id="136" name=""/>
                  <p:cNvSpPr/>
                  <p:nvPr/>
                </p:nvSpPr>
                <p:spPr>
                  <a:xfrm>
                    <a:off x="2755800" y="3954240"/>
                    <a:ext cx="2948040" cy="309600"/>
                  </a:xfrm>
                  <a:prstGeom prst="rect">
                    <a:avLst/>
                  </a:prstGeom>
                  <a:noFill/>
                  <a:ln w="0">
                    <a:noFill/>
                  </a:ln>
                </p:spPr>
                <p:style>
                  <a:lnRef idx="0"/>
                  <a:fillRef idx="0"/>
                  <a:effectRef idx="0"/>
                  <a:fontRef idx="minor"/>
                </p:style>
                <p:txBody>
                  <a:bodyPr lIns="92160" rIns="92160" tIns="46080" bIns="46080" anchor="t">
                    <a:spAutoFit/>
                  </a:bodyPr>
                  <a:p>
                    <a:pPr>
                      <a:lnSpc>
                        <a:spcPct val="89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600" strike="noStrike" u="none">
                        <a:solidFill>
                          <a:srgbClr val="fafd00"/>
                        </a:solidFill>
                        <a:effectLst/>
                        <a:uFillTx/>
                        <a:latin typeface="Arial"/>
                      </a:rPr>
                      <a:t>Industry Logistics Patterns</a:t>
                    </a:r>
                    <a:endParaRPr b="0" lang="en-IN" sz="1600" strike="noStrike" u="none">
                      <a:solidFill>
                        <a:srgbClr val="ffffff"/>
                      </a:solidFill>
                      <a:effectLst/>
                      <a:uFillTx/>
                      <a:latin typeface="Times New Roman"/>
                    </a:endParaRPr>
                  </a:p>
                </p:txBody>
              </p:sp>
              <p:sp>
                <p:nvSpPr>
                  <p:cNvPr id="137" name=""/>
                  <p:cNvSpPr/>
                  <p:nvPr/>
                </p:nvSpPr>
                <p:spPr>
                  <a:xfrm>
                    <a:off x="2324160" y="4267080"/>
                    <a:ext cx="3811320" cy="309600"/>
                  </a:xfrm>
                  <a:prstGeom prst="rect">
                    <a:avLst/>
                  </a:prstGeom>
                  <a:noFill/>
                  <a:ln w="0">
                    <a:noFill/>
                  </a:ln>
                </p:spPr>
                <p:style>
                  <a:lnRef idx="0"/>
                  <a:fillRef idx="0"/>
                  <a:effectRef idx="0"/>
                  <a:fontRef idx="minor"/>
                </p:style>
                <p:txBody>
                  <a:bodyPr wrap="none" lIns="92160" rIns="92160" tIns="46080" bIns="46080" anchor="t">
                    <a:spAutoFit/>
                  </a:bodyPr>
                  <a:p>
                    <a:pPr>
                      <a:lnSpc>
                        <a:spcPct val="89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IN" sz="1600" strike="noStrike" u="none">
                        <a:solidFill>
                          <a:srgbClr val="ffffff"/>
                        </a:solidFill>
                        <a:effectLst/>
                        <a:uFillTx/>
                        <a:latin typeface="Arial"/>
                      </a:rPr>
                      <a:t>Supply Chains, Distribution Networks</a:t>
                    </a:r>
                    <a:endParaRPr b="0" lang="en-IN" sz="1600" strike="noStrike" u="none">
                      <a:solidFill>
                        <a:srgbClr val="ffffff"/>
                      </a:solidFill>
                      <a:effectLst/>
                      <a:uFillTx/>
                      <a:latin typeface="Times New Roman"/>
                    </a:endParaRPr>
                  </a:p>
                </p:txBody>
              </p:sp>
            </p:grpSp>
          </p:grpSp>
        </p:grpSp>
        <p:grpSp>
          <p:nvGrpSpPr>
            <p:cNvPr id="138" name=""/>
            <p:cNvGrpSpPr/>
            <p:nvPr/>
          </p:nvGrpSpPr>
          <p:grpSpPr>
            <a:xfrm>
              <a:off x="1895400" y="2868480"/>
              <a:ext cx="4668480" cy="857160"/>
              <a:chOff x="1895400" y="2868480"/>
              <a:chExt cx="4668480" cy="857160"/>
            </a:xfrm>
          </p:grpSpPr>
          <p:sp>
            <p:nvSpPr>
              <p:cNvPr id="139" name=""/>
              <p:cNvSpPr/>
              <p:nvPr/>
            </p:nvSpPr>
            <p:spPr>
              <a:xfrm>
                <a:off x="2008080" y="2909520"/>
                <a:ext cx="4471920" cy="816120"/>
              </a:xfrm>
              <a:prstGeom prst="rect">
                <a:avLst/>
              </a:prstGeom>
              <a:solidFill>
                <a:srgbClr val="919191"/>
              </a:solidFill>
              <a:ln w="12600">
                <a:solidFill>
                  <a:srgbClr val="919191"/>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grpSp>
            <p:nvGrpSpPr>
              <p:cNvPr id="140" name=""/>
              <p:cNvGrpSpPr/>
              <p:nvPr/>
            </p:nvGrpSpPr>
            <p:grpSpPr>
              <a:xfrm>
                <a:off x="1895400" y="2868480"/>
                <a:ext cx="4668480" cy="828720"/>
                <a:chOff x="1895400" y="2868480"/>
                <a:chExt cx="4668480" cy="828720"/>
              </a:xfrm>
            </p:grpSpPr>
            <p:sp>
              <p:nvSpPr>
                <p:cNvPr id="141" name=""/>
                <p:cNvSpPr/>
                <p:nvPr/>
              </p:nvSpPr>
              <p:spPr>
                <a:xfrm>
                  <a:off x="1971720" y="2868480"/>
                  <a:ext cx="4483080" cy="828720"/>
                </a:xfrm>
                <a:prstGeom prst="rect">
                  <a:avLst/>
                </a:prstGeom>
                <a:solidFill>
                  <a:srgbClr val="008080"/>
                </a:solidFill>
                <a:ln w="0">
                  <a:noFill/>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grpSp>
              <p:nvGrpSpPr>
                <p:cNvPr id="142" name=""/>
                <p:cNvGrpSpPr/>
                <p:nvPr/>
              </p:nvGrpSpPr>
              <p:grpSpPr>
                <a:xfrm>
                  <a:off x="1895400" y="2968560"/>
                  <a:ext cx="4668480" cy="610920"/>
                  <a:chOff x="1895400" y="2968560"/>
                  <a:chExt cx="4668480" cy="610920"/>
                </a:xfrm>
              </p:grpSpPr>
              <p:sp>
                <p:nvSpPr>
                  <p:cNvPr id="143" name=""/>
                  <p:cNvSpPr/>
                  <p:nvPr/>
                </p:nvSpPr>
                <p:spPr>
                  <a:xfrm>
                    <a:off x="3071880" y="2968560"/>
                    <a:ext cx="2314440" cy="309600"/>
                  </a:xfrm>
                  <a:prstGeom prst="rect">
                    <a:avLst/>
                  </a:prstGeom>
                  <a:noFill/>
                  <a:ln w="0">
                    <a:noFill/>
                  </a:ln>
                </p:spPr>
                <p:style>
                  <a:lnRef idx="0"/>
                  <a:fillRef idx="0"/>
                  <a:effectRef idx="0"/>
                  <a:fontRef idx="minor"/>
                </p:style>
                <p:txBody>
                  <a:bodyPr lIns="92160" rIns="92160" tIns="46080" bIns="46080" anchor="t">
                    <a:spAutoFit/>
                  </a:bodyPr>
                  <a:p>
                    <a:pPr>
                      <a:lnSpc>
                        <a:spcPct val="89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600" strike="noStrike" u="none">
                        <a:solidFill>
                          <a:srgbClr val="fafd00"/>
                        </a:solidFill>
                        <a:effectLst/>
                        <a:uFillTx/>
                        <a:latin typeface="Arial"/>
                      </a:rPr>
                      <a:t>Freight Infrastructure</a:t>
                    </a:r>
                    <a:endParaRPr b="0" lang="en-IN" sz="1600" strike="noStrike" u="none">
                      <a:solidFill>
                        <a:srgbClr val="ffffff"/>
                      </a:solidFill>
                      <a:effectLst/>
                      <a:uFillTx/>
                      <a:latin typeface="Times New Roman"/>
                    </a:endParaRPr>
                  </a:p>
                </p:txBody>
              </p:sp>
              <p:sp>
                <p:nvSpPr>
                  <p:cNvPr id="144" name=""/>
                  <p:cNvSpPr/>
                  <p:nvPr/>
                </p:nvSpPr>
                <p:spPr>
                  <a:xfrm>
                    <a:off x="1895400" y="3269880"/>
                    <a:ext cx="4668480" cy="309600"/>
                  </a:xfrm>
                  <a:prstGeom prst="rect">
                    <a:avLst/>
                  </a:prstGeom>
                  <a:noFill/>
                  <a:ln w="0">
                    <a:noFill/>
                  </a:ln>
                </p:spPr>
                <p:style>
                  <a:lnRef idx="0"/>
                  <a:fillRef idx="0"/>
                  <a:effectRef idx="0"/>
                  <a:fontRef idx="minor"/>
                </p:style>
                <p:txBody>
                  <a:bodyPr wrap="none" lIns="92160" rIns="92160" tIns="46080" bIns="46080" anchor="t">
                    <a:spAutoFit/>
                  </a:bodyPr>
                  <a:p>
                    <a:pPr>
                      <a:lnSpc>
                        <a:spcPct val="89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IN" sz="1600" strike="noStrike" u="none">
                        <a:solidFill>
                          <a:srgbClr val="ffffff"/>
                        </a:solidFill>
                        <a:effectLst/>
                        <a:uFillTx/>
                        <a:latin typeface="Arial"/>
                      </a:rPr>
                      <a:t>Highways, Rail Lines, Ports, Access Roads . . .</a:t>
                    </a:r>
                    <a:endParaRPr b="0" lang="en-IN" sz="1600" strike="noStrike" u="none">
                      <a:solidFill>
                        <a:srgbClr val="ffffff"/>
                      </a:solidFill>
                      <a:effectLst/>
                      <a:uFillTx/>
                      <a:latin typeface="Times New Roman"/>
                    </a:endParaRPr>
                  </a:p>
                </p:txBody>
              </p:sp>
            </p:grpSp>
          </p:grpSp>
        </p:grpSp>
        <p:grpSp>
          <p:nvGrpSpPr>
            <p:cNvPr id="145" name=""/>
            <p:cNvGrpSpPr/>
            <p:nvPr/>
          </p:nvGrpSpPr>
          <p:grpSpPr>
            <a:xfrm>
              <a:off x="1971720" y="1892160"/>
              <a:ext cx="4508280" cy="855720"/>
              <a:chOff x="1971720" y="1892160"/>
              <a:chExt cx="4508280" cy="855720"/>
            </a:xfrm>
          </p:grpSpPr>
          <p:sp>
            <p:nvSpPr>
              <p:cNvPr id="146" name=""/>
              <p:cNvSpPr/>
              <p:nvPr/>
            </p:nvSpPr>
            <p:spPr>
              <a:xfrm>
                <a:off x="2008080" y="1930320"/>
                <a:ext cx="4471920" cy="817560"/>
              </a:xfrm>
              <a:prstGeom prst="rect">
                <a:avLst/>
              </a:prstGeom>
              <a:solidFill>
                <a:srgbClr val="919191"/>
              </a:solidFill>
              <a:ln w="12600">
                <a:solidFill>
                  <a:srgbClr val="919191"/>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grpSp>
            <p:nvGrpSpPr>
              <p:cNvPr id="147" name=""/>
              <p:cNvGrpSpPr/>
              <p:nvPr/>
            </p:nvGrpSpPr>
            <p:grpSpPr>
              <a:xfrm>
                <a:off x="1971720" y="1892160"/>
                <a:ext cx="4483080" cy="826920"/>
                <a:chOff x="1971720" y="1892160"/>
                <a:chExt cx="4483080" cy="826920"/>
              </a:xfrm>
            </p:grpSpPr>
            <p:sp>
              <p:nvSpPr>
                <p:cNvPr id="148" name=""/>
                <p:cNvSpPr/>
                <p:nvPr/>
              </p:nvSpPr>
              <p:spPr>
                <a:xfrm>
                  <a:off x="1971720" y="1892160"/>
                  <a:ext cx="4483080" cy="826920"/>
                </a:xfrm>
                <a:prstGeom prst="rect">
                  <a:avLst/>
                </a:prstGeom>
                <a:solidFill>
                  <a:srgbClr val="008080"/>
                </a:solidFill>
                <a:ln w="0">
                  <a:noFill/>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grpSp>
              <p:nvGrpSpPr>
                <p:cNvPr id="149" name=""/>
                <p:cNvGrpSpPr/>
                <p:nvPr/>
              </p:nvGrpSpPr>
              <p:grpSpPr>
                <a:xfrm>
                  <a:off x="2756520" y="2003400"/>
                  <a:ext cx="2945160" cy="588960"/>
                  <a:chOff x="2756520" y="2003400"/>
                  <a:chExt cx="2945160" cy="588960"/>
                </a:xfrm>
              </p:grpSpPr>
              <p:sp>
                <p:nvSpPr>
                  <p:cNvPr id="150" name=""/>
                  <p:cNvSpPr/>
                  <p:nvPr/>
                </p:nvSpPr>
                <p:spPr>
                  <a:xfrm>
                    <a:off x="3512520" y="2003400"/>
                    <a:ext cx="1434960" cy="309600"/>
                  </a:xfrm>
                  <a:prstGeom prst="rect">
                    <a:avLst/>
                  </a:prstGeom>
                  <a:noFill/>
                  <a:ln w="0">
                    <a:noFill/>
                  </a:ln>
                </p:spPr>
                <p:style>
                  <a:lnRef idx="0"/>
                  <a:fillRef idx="0"/>
                  <a:effectRef idx="0"/>
                  <a:fontRef idx="minor"/>
                </p:style>
                <p:txBody>
                  <a:bodyPr wrap="none" lIns="92160" rIns="92160" tIns="46080" bIns="46080" anchor="t">
                    <a:spAutoFit/>
                  </a:bodyPr>
                  <a:p>
                    <a:pPr>
                      <a:lnSpc>
                        <a:spcPct val="89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600" strike="noStrike" u="none">
                        <a:solidFill>
                          <a:srgbClr val="fafd00"/>
                        </a:solidFill>
                        <a:effectLst/>
                        <a:uFillTx/>
                        <a:latin typeface="Arial"/>
                      </a:rPr>
                      <a:t>Traffic Flows</a:t>
                    </a:r>
                    <a:endParaRPr b="0" lang="en-IN" sz="1600" strike="noStrike" u="none">
                      <a:solidFill>
                        <a:srgbClr val="ffffff"/>
                      </a:solidFill>
                      <a:effectLst/>
                      <a:uFillTx/>
                      <a:latin typeface="Times New Roman"/>
                    </a:endParaRPr>
                  </a:p>
                </p:txBody>
              </p:sp>
              <p:sp>
                <p:nvSpPr>
                  <p:cNvPr id="151" name=""/>
                  <p:cNvSpPr/>
                  <p:nvPr/>
                </p:nvSpPr>
                <p:spPr>
                  <a:xfrm>
                    <a:off x="2756520" y="2282760"/>
                    <a:ext cx="2945160" cy="309600"/>
                  </a:xfrm>
                  <a:prstGeom prst="rect">
                    <a:avLst/>
                  </a:prstGeom>
                  <a:noFill/>
                  <a:ln w="0">
                    <a:noFill/>
                  </a:ln>
                </p:spPr>
                <p:style>
                  <a:lnRef idx="0"/>
                  <a:fillRef idx="0"/>
                  <a:effectRef idx="0"/>
                  <a:fontRef idx="minor"/>
                </p:style>
                <p:txBody>
                  <a:bodyPr wrap="none" lIns="92160" rIns="92160" tIns="46080" bIns="46080" anchor="t">
                    <a:spAutoFit/>
                  </a:bodyPr>
                  <a:p>
                    <a:pPr>
                      <a:lnSpc>
                        <a:spcPct val="89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IN" sz="1600" strike="noStrike" u="none">
                        <a:solidFill>
                          <a:srgbClr val="ffffff"/>
                        </a:solidFill>
                        <a:effectLst/>
                        <a:uFillTx/>
                        <a:latin typeface="Arial"/>
                      </a:rPr>
                      <a:t>Trucks, Planes, Rail Cars . . .</a:t>
                    </a:r>
                    <a:endParaRPr b="0" lang="en-IN" sz="1600" strike="noStrike" u="none">
                      <a:solidFill>
                        <a:srgbClr val="ffffff"/>
                      </a:solidFill>
                      <a:effectLst/>
                      <a:uFillTx/>
                      <a:latin typeface="Times New Roman"/>
                    </a:endParaRPr>
                  </a:p>
                </p:txBody>
              </p:sp>
            </p:grpSp>
          </p:grpSp>
        </p:grpSp>
        <p:grpSp>
          <p:nvGrpSpPr>
            <p:cNvPr id="152" name=""/>
            <p:cNvGrpSpPr/>
            <p:nvPr/>
          </p:nvGrpSpPr>
          <p:grpSpPr>
            <a:xfrm>
              <a:off x="6716880" y="1895400"/>
              <a:ext cx="844560" cy="3814560"/>
              <a:chOff x="6716880" y="1895400"/>
              <a:chExt cx="844560" cy="3814560"/>
            </a:xfrm>
          </p:grpSpPr>
          <p:sp>
            <p:nvSpPr>
              <p:cNvPr id="153" name=""/>
              <p:cNvSpPr/>
              <p:nvPr/>
            </p:nvSpPr>
            <p:spPr>
              <a:xfrm>
                <a:off x="6753240" y="1895400"/>
                <a:ext cx="808200" cy="3776400"/>
              </a:xfrm>
              <a:prstGeom prst="rect">
                <a:avLst/>
              </a:prstGeom>
              <a:solidFill>
                <a:srgbClr val="919191"/>
              </a:solidFill>
              <a:ln w="12600">
                <a:solidFill>
                  <a:srgbClr val="919191"/>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grpSp>
            <p:nvGrpSpPr>
              <p:cNvPr id="154" name=""/>
              <p:cNvGrpSpPr/>
              <p:nvPr/>
            </p:nvGrpSpPr>
            <p:grpSpPr>
              <a:xfrm>
                <a:off x="6716880" y="1910880"/>
                <a:ext cx="817560" cy="3799080"/>
                <a:chOff x="6716880" y="1910880"/>
                <a:chExt cx="817560" cy="3799080"/>
              </a:xfrm>
            </p:grpSpPr>
            <p:sp>
              <p:nvSpPr>
                <p:cNvPr id="155" name=""/>
                <p:cNvSpPr/>
                <p:nvPr/>
              </p:nvSpPr>
              <p:spPr>
                <a:xfrm>
                  <a:off x="6716880" y="1927080"/>
                  <a:ext cx="817560" cy="3782880"/>
                </a:xfrm>
                <a:prstGeom prst="rect">
                  <a:avLst/>
                </a:prstGeom>
                <a:solidFill>
                  <a:srgbClr val="008080"/>
                </a:solidFill>
                <a:ln w="0">
                  <a:noFill/>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grpSp>
              <p:nvGrpSpPr>
                <p:cNvPr id="156" name=""/>
                <p:cNvGrpSpPr/>
                <p:nvPr/>
              </p:nvGrpSpPr>
              <p:grpSpPr>
                <a:xfrm>
                  <a:off x="6845400" y="1910880"/>
                  <a:ext cx="566280" cy="3529800"/>
                  <a:chOff x="6845400" y="1910880"/>
                  <a:chExt cx="566280" cy="3529800"/>
                </a:xfrm>
              </p:grpSpPr>
              <p:sp>
                <p:nvSpPr>
                  <p:cNvPr id="157" name=""/>
                  <p:cNvSpPr/>
                  <p:nvPr/>
                </p:nvSpPr>
                <p:spPr>
                  <a:xfrm rot="16200000">
                    <a:off x="5420880" y="3587040"/>
                    <a:ext cx="3158280" cy="309600"/>
                  </a:xfrm>
                  <a:prstGeom prst="rect">
                    <a:avLst/>
                  </a:prstGeom>
                  <a:noFill/>
                  <a:ln w="0">
                    <a:noFill/>
                  </a:ln>
                </p:spPr>
                <p:style>
                  <a:lnRef idx="0"/>
                  <a:fillRef idx="0"/>
                  <a:effectRef idx="0"/>
                  <a:fontRef idx="minor"/>
                </p:style>
                <p:txBody>
                  <a:bodyPr wrap="none" lIns="92160" rIns="92160" tIns="46080" bIns="46080" anchor="t">
                    <a:spAutoFit/>
                  </a:bodyPr>
                  <a:p>
                    <a:pPr>
                      <a:lnSpc>
                        <a:spcPct val="89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600" strike="noStrike" u="none">
                        <a:solidFill>
                          <a:srgbClr val="fafd00"/>
                        </a:solidFill>
                        <a:effectLst/>
                        <a:uFillTx/>
                        <a:latin typeface="Arial"/>
                      </a:rPr>
                      <a:t>Organization and Public Policy</a:t>
                    </a:r>
                    <a:endParaRPr b="0" lang="en-IN" sz="1600" strike="noStrike" u="none">
                      <a:solidFill>
                        <a:srgbClr val="ffffff"/>
                      </a:solidFill>
                      <a:effectLst/>
                      <a:uFillTx/>
                      <a:latin typeface="Times New Roman"/>
                    </a:endParaRPr>
                  </a:p>
                </p:txBody>
              </p:sp>
              <p:sp>
                <p:nvSpPr>
                  <p:cNvPr id="158" name=""/>
                  <p:cNvSpPr/>
                  <p:nvPr/>
                </p:nvSpPr>
                <p:spPr>
                  <a:xfrm rot="16200000">
                    <a:off x="5491800" y="3520800"/>
                    <a:ext cx="3529800" cy="309600"/>
                  </a:xfrm>
                  <a:prstGeom prst="rect">
                    <a:avLst/>
                  </a:prstGeom>
                  <a:noFill/>
                  <a:ln w="0">
                    <a:noFill/>
                  </a:ln>
                </p:spPr>
                <p:style>
                  <a:lnRef idx="0"/>
                  <a:fillRef idx="0"/>
                  <a:effectRef idx="0"/>
                  <a:fontRef idx="minor"/>
                </p:style>
                <p:txBody>
                  <a:bodyPr wrap="none" lIns="92160" rIns="92160" tIns="46080" bIns="46080" anchor="t">
                    <a:spAutoFit/>
                  </a:bodyPr>
                  <a:p>
                    <a:pPr>
                      <a:lnSpc>
                        <a:spcPct val="89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IN" sz="1600" strike="noStrike" u="none">
                        <a:solidFill>
                          <a:srgbClr val="ffffff"/>
                        </a:solidFill>
                        <a:effectLst/>
                        <a:uFillTx/>
                        <a:latin typeface="Arial"/>
                      </a:rPr>
                      <a:t>Ownership, Regulation, Pricing . . .</a:t>
                    </a:r>
                    <a:endParaRPr b="0" lang="en-IN" sz="1600" strike="noStrike" u="none">
                      <a:solidFill>
                        <a:srgbClr val="ffffff"/>
                      </a:solidFill>
                      <a:effectLst/>
                      <a:uFillTx/>
                      <a:latin typeface="Times New Roman"/>
                    </a:endParaRPr>
                  </a:p>
                </p:txBody>
              </p:sp>
            </p:grpSp>
          </p:grpSp>
        </p:grpSp>
      </p:gr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14f3"/>
        </a:solidFill>
      </p:bgPr>
    </p:bg>
    <p:spTree>
      <p:nvGrpSpPr>
        <p:cNvPr id="1" name=""/>
        <p:cNvGrpSpPr/>
        <p:nvPr/>
      </p:nvGrpSpPr>
      <p:grpSpPr>
        <a:xfrm>
          <a:off x="0" y="0"/>
          <a:ext cx="0" cy="0"/>
          <a:chOff x="0" y="0"/>
          <a:chExt cx="0" cy="0"/>
        </a:xfrm>
      </p:grpSpPr>
      <p:sp>
        <p:nvSpPr>
          <p:cNvPr id="159" name="PlaceHolder 1"/>
          <p:cNvSpPr>
            <a:spLocks noGrp="1"/>
          </p:cNvSpPr>
          <p:nvPr>
            <p:ph type="title"/>
          </p:nvPr>
        </p:nvSpPr>
        <p:spPr>
          <a:xfrm>
            <a:off x="380880" y="583920"/>
            <a:ext cx="8305920" cy="787320"/>
          </a:xfrm>
          <a:prstGeom prst="rect">
            <a:avLst/>
          </a:prstGeom>
          <a:noFill/>
          <a:ln w="0">
            <a:noFill/>
          </a:ln>
        </p:spPr>
        <p:txBody>
          <a:bodyPr lIns="92160" rIns="92160" tIns="46080" bIns="46080" anchor="t">
            <a:noAutofit/>
          </a:bodyPr>
          <a:p>
            <a:pPr indent="0">
              <a:lnSpc>
                <a:spcPct val="85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IN" sz="2800" strike="noStrike" u="none">
                <a:solidFill>
                  <a:srgbClr val="fafd00"/>
                </a:solidFill>
                <a:effectLst/>
                <a:uFillTx/>
                <a:latin typeface="Arial"/>
              </a:rPr>
              <a:t>The Goods Movement Industry</a:t>
            </a:r>
            <a:br>
              <a:rPr sz="2800"/>
            </a:br>
            <a:r>
              <a:rPr b="1" i="1" lang="en-IN" sz="2400" strike="noStrike" u="none">
                <a:solidFill>
                  <a:srgbClr val="ffffff"/>
                </a:solidFill>
                <a:effectLst/>
                <a:uFillTx/>
                <a:latin typeface="Arial"/>
              </a:rPr>
              <a:t>Highway Infrastructure and Truck Operations</a:t>
            </a:r>
            <a:endParaRPr b="1" i="1" lang="en-IN" sz="2400" strike="noStrike" u="none">
              <a:solidFill>
                <a:srgbClr val="fafd00"/>
              </a:solidFill>
              <a:effectLst/>
              <a:uFillTx/>
              <a:latin typeface="Arial"/>
            </a:endParaRPr>
          </a:p>
        </p:txBody>
      </p:sp>
      <p:grpSp>
        <p:nvGrpSpPr>
          <p:cNvPr id="160" name=""/>
          <p:cNvGrpSpPr/>
          <p:nvPr/>
        </p:nvGrpSpPr>
        <p:grpSpPr>
          <a:xfrm>
            <a:off x="1676520" y="1736640"/>
            <a:ext cx="5713200" cy="3652920"/>
            <a:chOff x="1676520" y="1736640"/>
            <a:chExt cx="5713200" cy="3652920"/>
          </a:xfrm>
        </p:grpSpPr>
        <p:grpSp>
          <p:nvGrpSpPr>
            <p:cNvPr id="161" name=""/>
            <p:cNvGrpSpPr/>
            <p:nvPr/>
          </p:nvGrpSpPr>
          <p:grpSpPr>
            <a:xfrm>
              <a:off x="1676520" y="2998800"/>
              <a:ext cx="2646360" cy="1071720"/>
              <a:chOff x="1676520" y="2998800"/>
              <a:chExt cx="2646360" cy="1071720"/>
            </a:xfrm>
          </p:grpSpPr>
          <p:sp>
            <p:nvSpPr>
              <p:cNvPr id="162" name=""/>
              <p:cNvSpPr/>
              <p:nvPr/>
            </p:nvSpPr>
            <p:spPr>
              <a:xfrm>
                <a:off x="1676520" y="2998800"/>
                <a:ext cx="2646360" cy="1071720"/>
              </a:xfrm>
              <a:prstGeom prst="rect">
                <a:avLst/>
              </a:prstGeom>
              <a:solidFill>
                <a:srgbClr val="66ffcc"/>
              </a:solidFill>
              <a:ln w="9360">
                <a:solidFill>
                  <a:srgbClr val="000000"/>
                </a:solidFill>
                <a:miter/>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63" name=""/>
              <p:cNvSpPr/>
              <p:nvPr/>
            </p:nvSpPr>
            <p:spPr>
              <a:xfrm>
                <a:off x="2481480" y="3425760"/>
                <a:ext cx="1050480" cy="183240"/>
              </a:xfrm>
              <a:prstGeom prst="rect">
                <a:avLst/>
              </a:prstGeom>
              <a:solidFill>
                <a:srgbClr val="66ffcc"/>
              </a:solidFill>
              <a:ln w="0">
                <a:noFill/>
              </a:ln>
            </p:spPr>
            <p:style>
              <a:lnRef idx="0"/>
              <a:fillRef idx="0"/>
              <a:effectRef idx="0"/>
              <a:fontRef idx="minor"/>
            </p:style>
            <p:txBody>
              <a:bodyPr wrap="none"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200" strike="noStrike" u="none">
                    <a:solidFill>
                      <a:srgbClr val="000000"/>
                    </a:solidFill>
                    <a:effectLst/>
                    <a:uFillTx/>
                    <a:latin typeface="Arial"/>
                  </a:rPr>
                  <a:t>Manufacturing</a:t>
                </a:r>
                <a:endParaRPr b="0" lang="en-IN" sz="1200" strike="noStrike" u="none">
                  <a:solidFill>
                    <a:srgbClr val="ffffff"/>
                  </a:solidFill>
                  <a:effectLst/>
                  <a:uFillTx/>
                  <a:latin typeface="Times New Roman"/>
                </a:endParaRPr>
              </a:p>
            </p:txBody>
          </p:sp>
        </p:grpSp>
        <p:grpSp>
          <p:nvGrpSpPr>
            <p:cNvPr id="164" name=""/>
            <p:cNvGrpSpPr/>
            <p:nvPr/>
          </p:nvGrpSpPr>
          <p:grpSpPr>
            <a:xfrm>
              <a:off x="1676520" y="1736640"/>
              <a:ext cx="2646360" cy="1148040"/>
              <a:chOff x="1676520" y="1736640"/>
              <a:chExt cx="2646360" cy="1148040"/>
            </a:xfrm>
          </p:grpSpPr>
          <p:sp>
            <p:nvSpPr>
              <p:cNvPr id="165" name=""/>
              <p:cNvSpPr/>
              <p:nvPr/>
            </p:nvSpPr>
            <p:spPr>
              <a:xfrm>
                <a:off x="1676520" y="1736640"/>
                <a:ext cx="2646360" cy="1148040"/>
              </a:xfrm>
              <a:prstGeom prst="rect">
                <a:avLst/>
              </a:prstGeom>
              <a:solidFill>
                <a:srgbClr val="b9d5c9"/>
              </a:solidFill>
              <a:ln w="9360">
                <a:solidFill>
                  <a:srgbClr val="000000"/>
                </a:solidFill>
                <a:miter/>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66" name=""/>
              <p:cNvSpPr/>
              <p:nvPr/>
            </p:nvSpPr>
            <p:spPr>
              <a:xfrm>
                <a:off x="2414160" y="2214720"/>
                <a:ext cx="1168920" cy="366120"/>
              </a:xfrm>
              <a:prstGeom prst="rect">
                <a:avLst/>
              </a:prstGeom>
              <a:noFill/>
              <a:ln w="0">
                <a:noFill/>
              </a:ln>
            </p:spPr>
            <p:style>
              <a:lnRef idx="0"/>
              <a:fillRef idx="0"/>
              <a:effectRef idx="0"/>
              <a:fontRef idx="minor"/>
            </p:style>
            <p:txBody>
              <a:bodyPr wrap="none"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200" strike="noStrike" u="none">
                    <a:solidFill>
                      <a:srgbClr val="000000"/>
                    </a:solidFill>
                    <a:effectLst/>
                    <a:uFillTx/>
                    <a:latin typeface="Arial"/>
                  </a:rPr>
                  <a:t>Warehousing</a:t>
                </a:r>
                <a:br>
                  <a:rPr sz="1200"/>
                </a:br>
                <a:r>
                  <a:rPr b="1" lang="en-IN" sz="1200" strike="noStrike" u="none">
                    <a:solidFill>
                      <a:srgbClr val="000000"/>
                    </a:solidFill>
                    <a:effectLst/>
                    <a:uFillTx/>
                    <a:latin typeface="Arial"/>
                  </a:rPr>
                  <a:t>and Distribution</a:t>
                </a:r>
                <a:endParaRPr b="0" lang="en-IN" sz="1200" strike="noStrike" u="none">
                  <a:solidFill>
                    <a:srgbClr val="ffffff"/>
                  </a:solidFill>
                  <a:effectLst/>
                  <a:uFillTx/>
                  <a:latin typeface="Times New Roman"/>
                </a:endParaRPr>
              </a:p>
            </p:txBody>
          </p:sp>
        </p:grpSp>
        <p:grpSp>
          <p:nvGrpSpPr>
            <p:cNvPr id="167" name=""/>
            <p:cNvGrpSpPr/>
            <p:nvPr/>
          </p:nvGrpSpPr>
          <p:grpSpPr>
            <a:xfrm>
              <a:off x="4641840" y="1736640"/>
              <a:ext cx="2747880" cy="1068480"/>
              <a:chOff x="4641840" y="1736640"/>
              <a:chExt cx="2747880" cy="1068480"/>
            </a:xfrm>
          </p:grpSpPr>
          <p:sp>
            <p:nvSpPr>
              <p:cNvPr id="168" name=""/>
              <p:cNvSpPr/>
              <p:nvPr/>
            </p:nvSpPr>
            <p:spPr>
              <a:xfrm>
                <a:off x="4641840" y="1736640"/>
                <a:ext cx="2747880" cy="1068480"/>
              </a:xfrm>
              <a:prstGeom prst="rect">
                <a:avLst/>
              </a:prstGeom>
              <a:solidFill>
                <a:srgbClr val="00b7a5"/>
              </a:solidFill>
              <a:ln w="9360">
                <a:solidFill>
                  <a:srgbClr val="000000"/>
                </a:solidFill>
                <a:miter/>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69" name=""/>
              <p:cNvSpPr/>
              <p:nvPr/>
            </p:nvSpPr>
            <p:spPr>
              <a:xfrm>
                <a:off x="5452200" y="2087640"/>
                <a:ext cx="1126800" cy="366120"/>
              </a:xfrm>
              <a:prstGeom prst="rect">
                <a:avLst/>
              </a:prstGeom>
              <a:noFill/>
              <a:ln w="0">
                <a:noFill/>
              </a:ln>
            </p:spPr>
            <p:style>
              <a:lnRef idx="0"/>
              <a:fillRef idx="0"/>
              <a:effectRef idx="0"/>
              <a:fontRef idx="minor"/>
            </p:style>
            <p:txBody>
              <a:bodyPr wrap="none"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200" strike="noStrike" u="none">
                    <a:solidFill>
                      <a:srgbClr val="000000"/>
                    </a:solidFill>
                    <a:effectLst/>
                    <a:uFillTx/>
                    <a:latin typeface="Arial"/>
                  </a:rPr>
                  <a:t>Air Freight and </a:t>
                </a:r>
                <a:br>
                  <a:rPr sz="1200"/>
                </a:br>
                <a:r>
                  <a:rPr b="1" lang="en-IN" sz="1200" strike="noStrike" u="none">
                    <a:solidFill>
                      <a:srgbClr val="000000"/>
                    </a:solidFill>
                    <a:effectLst/>
                    <a:uFillTx/>
                    <a:latin typeface="Arial"/>
                  </a:rPr>
                  <a:t>Parcel/Express</a:t>
                </a:r>
                <a:endParaRPr b="0" lang="en-IN" sz="1200" strike="noStrike" u="none">
                  <a:solidFill>
                    <a:srgbClr val="ffffff"/>
                  </a:solidFill>
                  <a:effectLst/>
                  <a:uFillTx/>
                  <a:latin typeface="Times New Roman"/>
                </a:endParaRPr>
              </a:p>
            </p:txBody>
          </p:sp>
        </p:grpSp>
        <p:grpSp>
          <p:nvGrpSpPr>
            <p:cNvPr id="170" name=""/>
            <p:cNvGrpSpPr/>
            <p:nvPr/>
          </p:nvGrpSpPr>
          <p:grpSpPr>
            <a:xfrm>
              <a:off x="1676520" y="4170600"/>
              <a:ext cx="2646360" cy="1218960"/>
              <a:chOff x="1676520" y="4170600"/>
              <a:chExt cx="2646360" cy="1218960"/>
            </a:xfrm>
          </p:grpSpPr>
          <p:sp>
            <p:nvSpPr>
              <p:cNvPr id="171" name=""/>
              <p:cNvSpPr/>
              <p:nvPr/>
            </p:nvSpPr>
            <p:spPr>
              <a:xfrm>
                <a:off x="1676520" y="4170600"/>
                <a:ext cx="2646360" cy="1218960"/>
              </a:xfrm>
              <a:prstGeom prst="rect">
                <a:avLst/>
              </a:prstGeom>
              <a:solidFill>
                <a:srgbClr val="99ccff"/>
              </a:solidFill>
              <a:ln w="9360">
                <a:solidFill>
                  <a:srgbClr val="000000"/>
                </a:solidFill>
                <a:miter/>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72" name=""/>
              <p:cNvSpPr/>
              <p:nvPr/>
            </p:nvSpPr>
            <p:spPr>
              <a:xfrm>
                <a:off x="2420640" y="4597560"/>
                <a:ext cx="1160640" cy="366120"/>
              </a:xfrm>
              <a:prstGeom prst="rect">
                <a:avLst/>
              </a:prstGeom>
              <a:noFill/>
              <a:ln w="0">
                <a:noFill/>
              </a:ln>
            </p:spPr>
            <p:style>
              <a:lnRef idx="0"/>
              <a:fillRef idx="0"/>
              <a:effectRef idx="0"/>
              <a:fontRef idx="minor"/>
            </p:style>
            <p:txBody>
              <a:bodyPr wrap="none"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200" strike="noStrike" u="none">
                    <a:solidFill>
                      <a:srgbClr val="000000"/>
                    </a:solidFill>
                    <a:effectLst/>
                    <a:uFillTx/>
                    <a:latin typeface="Arial"/>
                  </a:rPr>
                  <a:t>Containerized</a:t>
                </a:r>
                <a:br>
                  <a:rPr sz="1200"/>
                </a:br>
                <a:r>
                  <a:rPr b="1" lang="en-IN" sz="1200" strike="noStrike" u="none">
                    <a:solidFill>
                      <a:srgbClr val="000000"/>
                    </a:solidFill>
                    <a:effectLst/>
                    <a:uFillTx/>
                    <a:latin typeface="Arial"/>
                  </a:rPr>
                  <a:t>Ocean Shipping</a:t>
                </a:r>
                <a:endParaRPr b="0" lang="en-IN" sz="1200" strike="noStrike" u="none">
                  <a:solidFill>
                    <a:srgbClr val="ffffff"/>
                  </a:solidFill>
                  <a:effectLst/>
                  <a:uFillTx/>
                  <a:latin typeface="Times New Roman"/>
                </a:endParaRPr>
              </a:p>
            </p:txBody>
          </p:sp>
        </p:grpSp>
        <p:grpSp>
          <p:nvGrpSpPr>
            <p:cNvPr id="173" name=""/>
            <p:cNvGrpSpPr/>
            <p:nvPr/>
          </p:nvGrpSpPr>
          <p:grpSpPr>
            <a:xfrm>
              <a:off x="4646520" y="4272120"/>
              <a:ext cx="2739960" cy="1105920"/>
              <a:chOff x="4646520" y="4272120"/>
              <a:chExt cx="2739960" cy="1105920"/>
            </a:xfrm>
          </p:grpSpPr>
          <p:sp>
            <p:nvSpPr>
              <p:cNvPr id="174" name=""/>
              <p:cNvSpPr/>
              <p:nvPr/>
            </p:nvSpPr>
            <p:spPr>
              <a:xfrm>
                <a:off x="4646520" y="4272120"/>
                <a:ext cx="2739960" cy="1105920"/>
              </a:xfrm>
              <a:prstGeom prst="rect">
                <a:avLst/>
              </a:prstGeom>
              <a:solidFill>
                <a:srgbClr val="f8f8f8"/>
              </a:solidFill>
              <a:ln w="9360">
                <a:solidFill>
                  <a:srgbClr val="000000"/>
                </a:solidFill>
                <a:miter/>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75" name=""/>
              <p:cNvSpPr/>
              <p:nvPr/>
            </p:nvSpPr>
            <p:spPr>
              <a:xfrm>
                <a:off x="5067720" y="4605480"/>
                <a:ext cx="1897560" cy="366120"/>
              </a:xfrm>
              <a:prstGeom prst="rect">
                <a:avLst/>
              </a:prstGeom>
              <a:noFill/>
              <a:ln w="0">
                <a:noFill/>
              </a:ln>
            </p:spPr>
            <p:style>
              <a:lnRef idx="0"/>
              <a:fillRef idx="0"/>
              <a:effectRef idx="0"/>
              <a:fontRef idx="minor"/>
            </p:style>
            <p:txBody>
              <a:bodyPr wrap="none"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200" strike="noStrike" u="none">
                    <a:solidFill>
                      <a:srgbClr val="000000"/>
                    </a:solidFill>
                    <a:effectLst/>
                    <a:uFillTx/>
                    <a:latin typeface="Arial"/>
                  </a:rPr>
                  <a:t>Railroad and </a:t>
                </a:r>
                <a:br>
                  <a:rPr sz="1200"/>
                </a:br>
                <a:r>
                  <a:rPr b="1" lang="en-IN" sz="1200" strike="noStrike" u="none">
                    <a:solidFill>
                      <a:srgbClr val="000000"/>
                    </a:solidFill>
                    <a:effectLst/>
                    <a:uFillTx/>
                    <a:latin typeface="Arial"/>
                  </a:rPr>
                  <a:t>Intermodal Transportation</a:t>
                </a:r>
                <a:endParaRPr b="0" lang="en-IN" sz="1200" strike="noStrike" u="none">
                  <a:solidFill>
                    <a:srgbClr val="ffffff"/>
                  </a:solidFill>
                  <a:effectLst/>
                  <a:uFillTx/>
                  <a:latin typeface="Times New Roman"/>
                </a:endParaRPr>
              </a:p>
            </p:txBody>
          </p:sp>
        </p:grpSp>
        <p:grpSp>
          <p:nvGrpSpPr>
            <p:cNvPr id="176" name=""/>
            <p:cNvGrpSpPr/>
            <p:nvPr/>
          </p:nvGrpSpPr>
          <p:grpSpPr>
            <a:xfrm>
              <a:off x="4641840" y="2954520"/>
              <a:ext cx="2747880" cy="1206360"/>
              <a:chOff x="4641840" y="2954520"/>
              <a:chExt cx="2747880" cy="1206360"/>
            </a:xfrm>
          </p:grpSpPr>
          <p:sp>
            <p:nvSpPr>
              <p:cNvPr id="177" name=""/>
              <p:cNvSpPr/>
              <p:nvPr/>
            </p:nvSpPr>
            <p:spPr>
              <a:xfrm>
                <a:off x="4641840" y="2954520"/>
                <a:ext cx="2747880" cy="1206360"/>
              </a:xfrm>
              <a:prstGeom prst="rect">
                <a:avLst/>
              </a:prstGeom>
              <a:solidFill>
                <a:srgbClr val="b3bef7"/>
              </a:solidFill>
              <a:ln w="9360">
                <a:solidFill>
                  <a:srgbClr val="000000"/>
                </a:solidFill>
                <a:miter/>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78" name=""/>
              <p:cNvSpPr/>
              <p:nvPr/>
            </p:nvSpPr>
            <p:spPr>
              <a:xfrm>
                <a:off x="5559840" y="3412800"/>
                <a:ext cx="915480" cy="366120"/>
              </a:xfrm>
              <a:prstGeom prst="rect">
                <a:avLst/>
              </a:prstGeom>
              <a:noFill/>
              <a:ln w="0">
                <a:noFill/>
              </a:ln>
            </p:spPr>
            <p:style>
              <a:lnRef idx="0"/>
              <a:fillRef idx="0"/>
              <a:effectRef idx="0"/>
              <a:fontRef idx="minor"/>
            </p:style>
            <p:txBody>
              <a:bodyPr wrap="none"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200" strike="noStrike" u="none">
                    <a:solidFill>
                      <a:srgbClr val="000000"/>
                    </a:solidFill>
                    <a:effectLst/>
                    <a:uFillTx/>
                    <a:latin typeface="Arial"/>
                  </a:rPr>
                  <a:t>Commercial </a:t>
                </a:r>
                <a:br>
                  <a:rPr sz="1200"/>
                </a:br>
                <a:r>
                  <a:rPr b="1" lang="en-IN" sz="1200" strike="noStrike" u="none">
                    <a:solidFill>
                      <a:srgbClr val="000000"/>
                    </a:solidFill>
                    <a:effectLst/>
                    <a:uFillTx/>
                    <a:latin typeface="Arial"/>
                  </a:rPr>
                  <a:t>Trucking</a:t>
                </a:r>
                <a:endParaRPr b="0" lang="en-IN" sz="1200" strike="noStrike" u="none">
                  <a:solidFill>
                    <a:srgbClr val="ffffff"/>
                  </a:solidFill>
                  <a:effectLst/>
                  <a:uFillTx/>
                  <a:latin typeface="Times New Roman"/>
                </a:endParaRPr>
              </a:p>
            </p:txBody>
          </p:sp>
        </p:grpSp>
        <p:grpSp>
          <p:nvGrpSpPr>
            <p:cNvPr id="179" name=""/>
            <p:cNvGrpSpPr/>
            <p:nvPr/>
          </p:nvGrpSpPr>
          <p:grpSpPr>
            <a:xfrm>
              <a:off x="3598920" y="2656080"/>
              <a:ext cx="1800000" cy="1828800"/>
              <a:chOff x="3598920" y="2656080"/>
              <a:chExt cx="1800000" cy="1828800"/>
            </a:xfrm>
          </p:grpSpPr>
          <p:grpSp>
            <p:nvGrpSpPr>
              <p:cNvPr id="180" name=""/>
              <p:cNvGrpSpPr/>
              <p:nvPr/>
            </p:nvGrpSpPr>
            <p:grpSpPr>
              <a:xfrm>
                <a:off x="3598920" y="2656080"/>
                <a:ext cx="1800000" cy="1828800"/>
                <a:chOff x="3598920" y="2656080"/>
                <a:chExt cx="1800000" cy="1828800"/>
              </a:xfrm>
            </p:grpSpPr>
            <p:sp>
              <p:nvSpPr>
                <p:cNvPr id="181" name=""/>
                <p:cNvSpPr/>
                <p:nvPr/>
              </p:nvSpPr>
              <p:spPr>
                <a:xfrm>
                  <a:off x="3598920" y="2656080"/>
                  <a:ext cx="1798200" cy="1827720"/>
                </a:xfrm>
                <a:prstGeom prst="rect">
                  <a:avLst/>
                </a:prstGeom>
                <a:solidFill>
                  <a:srgbClr val="ffffcc"/>
                </a:solidFill>
                <a:ln w="0">
                  <a:noFill/>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182" name=""/>
                <p:cNvSpPr/>
                <p:nvPr/>
              </p:nvSpPr>
              <p:spPr>
                <a:xfrm>
                  <a:off x="3598920" y="2656080"/>
                  <a:ext cx="1800000" cy="1828800"/>
                </a:xfrm>
                <a:prstGeom prst="rect">
                  <a:avLst/>
                </a:prstGeom>
                <a:solidFill>
                  <a:srgbClr val="ffffcc"/>
                </a:solidFill>
                <a:ln w="9360">
                  <a:solidFill>
                    <a:srgbClr val="000000"/>
                  </a:solidFill>
                  <a:miter/>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grpSp>
          <p:sp>
            <p:nvSpPr>
              <p:cNvPr id="183" name=""/>
              <p:cNvSpPr/>
              <p:nvPr/>
            </p:nvSpPr>
            <p:spPr>
              <a:xfrm>
                <a:off x="3801600" y="3343320"/>
                <a:ext cx="1397880" cy="549000"/>
              </a:xfrm>
              <a:prstGeom prst="rect">
                <a:avLst/>
              </a:prstGeom>
              <a:noFill/>
              <a:ln w="0">
                <a:noFill/>
              </a:ln>
            </p:spPr>
            <p:style>
              <a:lnRef idx="0"/>
              <a:fillRef idx="0"/>
              <a:effectRef idx="0"/>
              <a:fontRef idx="minor"/>
            </p:style>
            <p:txBody>
              <a:bodyPr wrap="none"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200" strike="noStrike" u="none">
                    <a:solidFill>
                      <a:srgbClr val="000000"/>
                    </a:solidFill>
                    <a:effectLst/>
                    <a:uFillTx/>
                    <a:latin typeface="Arial"/>
                  </a:rPr>
                  <a:t>Truck Fleet </a:t>
                </a:r>
                <a:br>
                  <a:rPr sz="1200"/>
                </a:br>
                <a:r>
                  <a:rPr b="1" lang="en-IN" sz="1200" strike="noStrike" u="none">
                    <a:solidFill>
                      <a:srgbClr val="000000"/>
                    </a:solidFill>
                    <a:effectLst/>
                    <a:uFillTx/>
                    <a:latin typeface="Arial"/>
                  </a:rPr>
                  <a:t>Operations and </a:t>
                </a:r>
                <a:br>
                  <a:rPr sz="1200"/>
                </a:br>
                <a:r>
                  <a:rPr b="1" lang="en-IN" sz="1200" strike="noStrike" u="none">
                    <a:solidFill>
                      <a:srgbClr val="000000"/>
                    </a:solidFill>
                    <a:effectLst/>
                    <a:uFillTx/>
                    <a:latin typeface="Arial"/>
                  </a:rPr>
                  <a:t>Support Industries </a:t>
                </a:r>
                <a:endParaRPr b="0" lang="en-IN" sz="1200" strike="noStrike" u="none">
                  <a:solidFill>
                    <a:srgbClr val="ffffff"/>
                  </a:solidFill>
                  <a:effectLst/>
                  <a:uFillTx/>
                  <a:latin typeface="Times New Roman"/>
                </a:endParaRPr>
              </a:p>
            </p:txBody>
          </p:sp>
        </p:grpSp>
      </p:gr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14f3"/>
        </a:solidFill>
      </p:bgPr>
    </p:bg>
    <p:spTree>
      <p:nvGrpSpPr>
        <p:cNvPr id="1" name=""/>
        <p:cNvGrpSpPr/>
        <p:nvPr/>
      </p:nvGrpSpPr>
      <p:grpSpPr>
        <a:xfrm>
          <a:off x="0" y="0"/>
          <a:ext cx="0" cy="0"/>
          <a:chOff x="0" y="0"/>
          <a:chExt cx="0" cy="0"/>
        </a:xfrm>
      </p:grpSpPr>
      <p:sp>
        <p:nvSpPr>
          <p:cNvPr id="184" name="PlaceHolder 1"/>
          <p:cNvSpPr>
            <a:spLocks noGrp="1"/>
          </p:cNvSpPr>
          <p:nvPr>
            <p:ph type="title"/>
          </p:nvPr>
        </p:nvSpPr>
        <p:spPr>
          <a:xfrm>
            <a:off x="380880" y="609480"/>
            <a:ext cx="7772400" cy="609840"/>
          </a:xfrm>
          <a:prstGeom prst="rect">
            <a:avLst/>
          </a:prstGeom>
          <a:noFill/>
          <a:ln w="0">
            <a:noFill/>
          </a:ln>
        </p:spPr>
        <p:txBody>
          <a:bodyPr lIns="92160" rIns="92160" tIns="46080" bIns="46080" anchor="t">
            <a:noAutofit/>
          </a:bodyPr>
          <a:p>
            <a:pPr indent="0">
              <a:lnSpc>
                <a:spcPct val="85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IN" sz="2800" strike="noStrike" u="none">
                <a:solidFill>
                  <a:srgbClr val="fafd00"/>
                </a:solidFill>
                <a:effectLst/>
                <a:uFillTx/>
                <a:latin typeface="Arial"/>
              </a:rPr>
              <a:t>Economic Impacts and Clusters – Goods Movement Dependent Industries</a:t>
            </a:r>
            <a:endParaRPr b="1" i="1" lang="en-IN" sz="2800" strike="noStrike" u="none">
              <a:solidFill>
                <a:srgbClr val="fafd00"/>
              </a:solidFill>
              <a:effectLst/>
              <a:uFillTx/>
              <a:latin typeface="Arial"/>
            </a:endParaRPr>
          </a:p>
        </p:txBody>
      </p:sp>
      <p:grpSp>
        <p:nvGrpSpPr>
          <p:cNvPr id="185" name=""/>
          <p:cNvGrpSpPr/>
          <p:nvPr/>
        </p:nvGrpSpPr>
        <p:grpSpPr>
          <a:xfrm>
            <a:off x="2286000" y="1371600"/>
            <a:ext cx="4572000" cy="4113360"/>
            <a:chOff x="2286000" y="1371600"/>
            <a:chExt cx="4572000" cy="4113360"/>
          </a:xfrm>
        </p:grpSpPr>
        <p:sp>
          <p:nvSpPr>
            <p:cNvPr id="186" name=""/>
            <p:cNvSpPr/>
            <p:nvPr/>
          </p:nvSpPr>
          <p:spPr>
            <a:xfrm>
              <a:off x="2514600" y="1371600"/>
              <a:ext cx="4113360" cy="4113360"/>
            </a:xfrm>
            <a:prstGeom prst="ellipse">
              <a:avLst/>
            </a:prstGeom>
            <a:solidFill>
              <a:srgbClr val="000080"/>
            </a:solidFill>
            <a:ln w="0">
              <a:noFill/>
            </a:ln>
          </p:spPr>
          <p:style>
            <a:lnRef idx="0"/>
            <a:fillRef idx="0"/>
            <a:effectRef idx="0"/>
            <a:fontRef idx="minor"/>
          </p:style>
          <p:txBody>
            <a:bodyPr wrap="none"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ffffff"/>
                </a:solidFill>
                <a:effectLst/>
                <a:uFillTx/>
                <a:latin typeface="Times New Roman"/>
              </a:endParaRPr>
            </a:p>
          </p:txBody>
        </p:sp>
        <p:sp>
          <p:nvSpPr>
            <p:cNvPr id="187" name=""/>
            <p:cNvSpPr/>
            <p:nvPr/>
          </p:nvSpPr>
          <p:spPr>
            <a:xfrm>
              <a:off x="2286000" y="1614600"/>
              <a:ext cx="4572000" cy="36828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ffffff"/>
                  </a:solidFill>
                  <a:effectLst/>
                  <a:uFillTx/>
                  <a:latin typeface="Arial"/>
                </a:rPr>
                <a:t>Supporting Infrastructure </a:t>
              </a:r>
              <a:endParaRPr b="0" lang="en-IN" sz="1800" strike="noStrike" u="none">
                <a:solidFill>
                  <a:srgbClr val="ffffff"/>
                </a:solidFill>
                <a:effectLst/>
                <a:uFillTx/>
                <a:latin typeface="Times New Roman"/>
              </a:endParaRPr>
            </a:p>
          </p:txBody>
        </p:sp>
      </p:grpSp>
      <p:sp>
        <p:nvSpPr>
          <p:cNvPr id="188" name=""/>
          <p:cNvSpPr/>
          <p:nvPr/>
        </p:nvSpPr>
        <p:spPr>
          <a:xfrm>
            <a:off x="3200400" y="2057400"/>
            <a:ext cx="2741760" cy="2741760"/>
          </a:xfrm>
          <a:prstGeom prst="ellipse">
            <a:avLst/>
          </a:prstGeom>
          <a:solidFill>
            <a:srgbClr val="0014f3"/>
          </a:solidFill>
          <a:ln w="0">
            <a:noFill/>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189" name=""/>
          <p:cNvSpPr/>
          <p:nvPr/>
        </p:nvSpPr>
        <p:spPr>
          <a:xfrm>
            <a:off x="685800" y="2895480"/>
            <a:ext cx="2895480" cy="1067040"/>
          </a:xfrm>
          <a:prstGeom prst="rightArrowCallout">
            <a:avLst>
              <a:gd name="adj1" fmla="val 43161"/>
              <a:gd name="adj2" fmla="val 36755"/>
              <a:gd name="adj3" fmla="val 20352"/>
              <a:gd name="adj4" fmla="val 61676"/>
            </a:avLst>
          </a:prstGeom>
          <a:solidFill>
            <a:srgbClr val="919191"/>
          </a:solidFill>
          <a:ln w="12600">
            <a:solidFill>
              <a:srgbClr val="ffffff"/>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ffffff"/>
                </a:solidFill>
                <a:effectLst/>
                <a:uFillTx/>
                <a:latin typeface="Arial"/>
              </a:rPr>
              <a:t>Supporting </a:t>
            </a:r>
            <a:endParaRPr b="0" lang="en-IN" sz="1800" strike="noStrike" u="none">
              <a:solidFill>
                <a:srgbClr val="ffffff"/>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ffffff"/>
                </a:solidFill>
                <a:effectLst/>
                <a:uFillTx/>
                <a:latin typeface="Arial"/>
              </a:rPr>
              <a:t>Industries</a:t>
            </a:r>
            <a:endParaRPr b="0" lang="en-IN" sz="1800" strike="noStrike" u="none">
              <a:solidFill>
                <a:srgbClr val="ffffff"/>
              </a:solidFill>
              <a:effectLst/>
              <a:uFillTx/>
              <a:latin typeface="Times New Roman"/>
            </a:endParaRPr>
          </a:p>
        </p:txBody>
      </p:sp>
      <p:sp>
        <p:nvSpPr>
          <p:cNvPr id="190" name=""/>
          <p:cNvSpPr/>
          <p:nvPr/>
        </p:nvSpPr>
        <p:spPr>
          <a:xfrm flipH="1">
            <a:off x="5562000" y="2895480"/>
            <a:ext cx="2895480" cy="1067040"/>
          </a:xfrm>
          <a:prstGeom prst="rightArrowCallout">
            <a:avLst>
              <a:gd name="adj1" fmla="val 43161"/>
              <a:gd name="adj2" fmla="val 36755"/>
              <a:gd name="adj3" fmla="val 20352"/>
              <a:gd name="adj4" fmla="val 61676"/>
            </a:avLst>
          </a:prstGeom>
          <a:solidFill>
            <a:srgbClr val="919191"/>
          </a:solidFill>
          <a:ln w="12600">
            <a:solidFill>
              <a:srgbClr val="ffffff"/>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ffffff"/>
                </a:solidFill>
                <a:effectLst/>
                <a:uFillTx/>
                <a:latin typeface="Arial"/>
              </a:rPr>
              <a:t>Supporting </a:t>
            </a:r>
            <a:endParaRPr b="0" lang="en-IN" sz="1800" strike="noStrike" u="none">
              <a:solidFill>
                <a:srgbClr val="ffffff"/>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ffffff"/>
                </a:solidFill>
                <a:effectLst/>
                <a:uFillTx/>
                <a:latin typeface="Arial"/>
              </a:rPr>
              <a:t>Industries</a:t>
            </a:r>
            <a:endParaRPr b="0" lang="en-IN" sz="1800" strike="noStrike" u="none">
              <a:solidFill>
                <a:srgbClr val="ffffff"/>
              </a:solidFill>
              <a:effectLst/>
              <a:uFillTx/>
              <a:latin typeface="Times New Roman"/>
            </a:endParaRPr>
          </a:p>
        </p:txBody>
      </p:sp>
      <p:sp>
        <p:nvSpPr>
          <p:cNvPr id="191" name=""/>
          <p:cNvSpPr/>
          <p:nvPr/>
        </p:nvSpPr>
        <p:spPr>
          <a:xfrm>
            <a:off x="3162240" y="4406760"/>
            <a:ext cx="2819520" cy="1841760"/>
          </a:xfrm>
          <a:prstGeom prst="upArrowCallout">
            <a:avLst>
              <a:gd name="adj1" fmla="val 24822"/>
              <a:gd name="adj2" fmla="val 21461"/>
              <a:gd name="adj3" fmla="val 9954"/>
              <a:gd name="adj4" fmla="val 128246"/>
            </a:avLst>
          </a:prstGeom>
          <a:solidFill>
            <a:srgbClr val="919191"/>
          </a:solidFill>
          <a:ln w="12600">
            <a:solidFill>
              <a:srgbClr val="ffffff"/>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ffffff"/>
                </a:solidFill>
                <a:effectLst/>
                <a:uFillTx/>
                <a:latin typeface="Arial"/>
              </a:rPr>
              <a:t>Supporting Industries</a:t>
            </a:r>
            <a:endParaRPr b="0" lang="en-IN" sz="1800" strike="noStrike" u="none">
              <a:solidFill>
                <a:srgbClr val="ffffff"/>
              </a:solidFill>
              <a:effectLst/>
              <a:uFillTx/>
              <a:latin typeface="Times New Roman"/>
            </a:endParaRPr>
          </a:p>
        </p:txBody>
      </p:sp>
      <p:sp>
        <p:nvSpPr>
          <p:cNvPr id="192" name=""/>
          <p:cNvSpPr/>
          <p:nvPr/>
        </p:nvSpPr>
        <p:spPr>
          <a:xfrm>
            <a:off x="3587760" y="2444760"/>
            <a:ext cx="1968480" cy="1968480"/>
          </a:xfrm>
          <a:prstGeom prst="ellipse">
            <a:avLst/>
          </a:prstGeom>
          <a:solidFill>
            <a:srgbClr val="800000"/>
          </a:solidFill>
          <a:ln w="0">
            <a:noFill/>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ffffff"/>
                </a:solidFill>
                <a:effectLst/>
                <a:uFillTx/>
                <a:latin typeface="Arial"/>
              </a:rPr>
              <a:t>Industry </a:t>
            </a:r>
            <a:endParaRPr b="0" lang="en-IN" sz="2000" strike="noStrike" u="none">
              <a:solidFill>
                <a:srgbClr val="ffffff"/>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ffffff"/>
                </a:solidFill>
                <a:effectLst/>
                <a:uFillTx/>
                <a:latin typeface="Arial"/>
              </a:rPr>
              <a:t>Clusters</a:t>
            </a:r>
            <a:endParaRPr b="0" lang="en-IN" sz="2000" strike="noStrike" u="none">
              <a:solidFill>
                <a:srgbClr val="ffffff"/>
              </a:solidFill>
              <a:effectLst/>
              <a:uFillTx/>
              <a:latin typeface="Times New Roman"/>
            </a:endParaRPr>
          </a:p>
        </p:txBody>
      </p:sp>
    </p:spTree>
  </p:cSld>
  <mc:AlternateContent>
    <mc:Choice Requires="p14">
      <p:transition spd="slow" p14:dur="2000"/>
    </mc:Choice>
    <mc:Fallback>
      <p:transition spd="slow"/>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nodeType="clickEffect" fill="hold" presetClass="entr" presetID="1">
                                  <p:stCondLst>
                                    <p:cond delay="0"/>
                                  </p:stCondLst>
                                  <p:childTnLst>
                                    <p:set>
                                      <p:cBhvr>
                                        <p:cTn id="6" dur="1" fill="hold">
                                          <p:stCondLst>
                                            <p:cond delay="499"/>
                                          </p:stCondLst>
                                        </p:cTn>
                                        <p:tgtEl>
                                          <p:spTgt spid="19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nodeType="clickEffect" fill="hold" presetClass="entr" presetID="1">
                                  <p:stCondLst>
                                    <p:cond delay="0"/>
                                  </p:stCondLst>
                                  <p:childTnLst>
                                    <p:set>
                                      <p:cBhvr>
                                        <p:cTn id="10" dur="1" fill="hold">
                                          <p:stCondLst>
                                            <p:cond delay="499"/>
                                          </p:stCondLst>
                                        </p:cTn>
                                        <p:tgtEl>
                                          <p:spTgt spid="19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nodeType="clickEffect" fill="hold" presetClass="entr" presetID="1">
                                  <p:stCondLst>
                                    <p:cond delay="0"/>
                                  </p:stCondLst>
                                  <p:childTnLst>
                                    <p:set>
                                      <p:cBhvr>
                                        <p:cTn id="14" dur="1" fill="hold">
                                          <p:stCondLst>
                                            <p:cond delay="499"/>
                                          </p:stCondLst>
                                        </p:cTn>
                                        <p:tgtEl>
                                          <p:spTgt spid="19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nodeType="clickEffect" fill="hold" presetClass="entr" presetID="1">
                                  <p:stCondLst>
                                    <p:cond delay="0"/>
                                  </p:stCondLst>
                                  <p:childTnLst>
                                    <p:set>
                                      <p:cBhvr>
                                        <p:cTn id="18" dur="1" fill="hold">
                                          <p:stCondLst>
                                            <p:cond delay="499"/>
                                          </p:stCondLst>
                                        </p:cTn>
                                        <p:tgtEl>
                                          <p:spTgt spid="18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nodeType="clickEffect" fill="hold" presetClass="entr" presetID="1">
                                  <p:stCondLst>
                                    <p:cond delay="0"/>
                                  </p:stCondLst>
                                  <p:childTnLst>
                                    <p:set>
                                      <p:cBhvr>
                                        <p:cTn id="22" dur="1" fill="hold">
                                          <p:stCondLst>
                                            <p:cond delay="499"/>
                                          </p:stCondLst>
                                        </p:cTn>
                                        <p:tgtEl>
                                          <p:spTgt spid="18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14f3"/>
        </a:solidFill>
      </p:bgPr>
    </p:bg>
    <p:spTree>
      <p:nvGrpSpPr>
        <p:cNvPr id="1" name=""/>
        <p:cNvGrpSpPr/>
        <p:nvPr/>
      </p:nvGrpSpPr>
      <p:grpSpPr>
        <a:xfrm>
          <a:off x="0" y="0"/>
          <a:ext cx="0" cy="0"/>
          <a:chOff x="0" y="0"/>
          <a:chExt cx="0" cy="0"/>
        </a:xfrm>
      </p:grpSpPr>
      <p:sp>
        <p:nvSpPr>
          <p:cNvPr id="193" name="PlaceHolder 1"/>
          <p:cNvSpPr>
            <a:spLocks noGrp="1"/>
          </p:cNvSpPr>
          <p:nvPr>
            <p:ph type="title"/>
          </p:nvPr>
        </p:nvSpPr>
        <p:spPr>
          <a:xfrm>
            <a:off x="380880" y="609480"/>
            <a:ext cx="7772400" cy="609840"/>
          </a:xfrm>
          <a:prstGeom prst="rect">
            <a:avLst/>
          </a:prstGeom>
          <a:noFill/>
          <a:ln w="0">
            <a:noFill/>
          </a:ln>
        </p:spPr>
        <p:txBody>
          <a:bodyPr lIns="92160" rIns="92160" tIns="46080" bIns="46080" anchor="t">
            <a:noAutofit/>
          </a:bodyPr>
          <a:p>
            <a:pPr indent="0">
              <a:lnSpc>
                <a:spcPct val="85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IN" sz="2800" strike="noStrike" u="none">
                <a:solidFill>
                  <a:srgbClr val="fafd00"/>
                </a:solidFill>
                <a:effectLst/>
                <a:uFillTx/>
                <a:latin typeface="Arial"/>
              </a:rPr>
              <a:t>Infrastructure and Business Environment</a:t>
            </a:r>
            <a:endParaRPr b="1" i="1" lang="en-IN" sz="2800" strike="noStrike" u="none">
              <a:solidFill>
                <a:srgbClr val="fafd00"/>
              </a:solidFill>
              <a:effectLst/>
              <a:uFillTx/>
              <a:latin typeface="Arial"/>
            </a:endParaRPr>
          </a:p>
        </p:txBody>
      </p:sp>
      <p:sp>
        <p:nvSpPr>
          <p:cNvPr id="194" name=""/>
          <p:cNvSpPr/>
          <p:nvPr/>
        </p:nvSpPr>
        <p:spPr>
          <a:xfrm>
            <a:off x="571680" y="1473120"/>
            <a:ext cx="7391160" cy="4622760"/>
          </a:xfrm>
          <a:prstGeom prst="rect">
            <a:avLst/>
          </a:prstGeom>
          <a:solidFill>
            <a:srgbClr val="000080"/>
          </a:solidFill>
          <a:ln w="0">
            <a:noFill/>
          </a:ln>
          <a:effectLst>
            <a:outerShdw dist="17819" dir="2700000" blurRad="0" rotWithShape="0">
              <a:srgbClr val="919191"/>
            </a:outerShdw>
          </a:effectLst>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grpSp>
        <p:nvGrpSpPr>
          <p:cNvPr id="195" name=""/>
          <p:cNvGrpSpPr/>
          <p:nvPr/>
        </p:nvGrpSpPr>
        <p:grpSpPr>
          <a:xfrm>
            <a:off x="2399400" y="1585080"/>
            <a:ext cx="3940920" cy="4425120"/>
            <a:chOff x="2399400" y="1585080"/>
            <a:chExt cx="3940920" cy="4425120"/>
          </a:xfrm>
        </p:grpSpPr>
        <p:sp>
          <p:nvSpPr>
            <p:cNvPr id="196" name="_s57353"/>
            <p:cNvSpPr/>
            <p:nvPr/>
          </p:nvSpPr>
          <p:spPr>
            <a:xfrm rot="10848600">
              <a:off x="2426400" y="1612440"/>
              <a:ext cx="3886200" cy="3886200"/>
            </a:xfrm>
            <a:prstGeom prst="blockArc">
              <a:avLst>
                <a:gd name="adj1" fmla="val 14400000"/>
                <a:gd name="adj2" fmla="val 7200000"/>
                <a:gd name="adj3" fmla="val 16667"/>
              </a:avLst>
            </a:prstGeom>
            <a:solidFill>
              <a:srgbClr val="fc0128"/>
            </a:solidFill>
            <a:ln w="0">
              <a:noFill/>
            </a:ln>
          </p:spPr>
          <p:style>
            <a:lnRef idx="0"/>
            <a:fillRef idx="0"/>
            <a:effectRef idx="0"/>
            <a:fontRef idx="minor"/>
          </p:style>
          <p:txBody>
            <a:bodyPr lIns="90000" rIns="90000" tIns="46800" bIns="46800" anchor="ctr">
              <a:noAutofit/>
            </a:bodyPr>
            <a:p>
              <a:endParaRPr b="0" lang="en-IN" sz="2400" strike="noStrike" u="none">
                <a:solidFill>
                  <a:srgbClr val="ffffff"/>
                </a:solidFill>
                <a:effectLst/>
                <a:uFillTx/>
                <a:latin typeface="Times New Roman"/>
              </a:endParaRPr>
            </a:p>
          </p:txBody>
        </p:sp>
        <p:sp>
          <p:nvSpPr>
            <p:cNvPr id="197" name="_s57355"/>
            <p:cNvSpPr/>
            <p:nvPr/>
          </p:nvSpPr>
          <p:spPr>
            <a:xfrm>
              <a:off x="3576600" y="4824360"/>
              <a:ext cx="1541520" cy="1185840"/>
            </a:xfrm>
            <a:prstGeom prst="rect">
              <a:avLst/>
            </a:prstGeom>
            <a:noFill/>
            <a:ln w="0">
              <a:noFill/>
            </a:ln>
          </p:spPr>
          <p:style>
            <a:lnRef idx="0"/>
            <a:fillRef idx="0"/>
            <a:effectRef idx="0"/>
            <a:fontRef idx="minor"/>
          </p:style>
          <p:txBody>
            <a:bodyPr wrap="none" lIns="0" rIns="0" tIns="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fafd00"/>
                  </a:solidFill>
                  <a:effectLst/>
                  <a:uFillTx/>
                  <a:latin typeface="Arial"/>
                </a:rPr>
                <a:t>Collateral</a:t>
              </a:r>
              <a:endParaRPr b="0" lang="en-IN" sz="1400" strike="noStrike" u="none">
                <a:solidFill>
                  <a:srgbClr val="ffffff"/>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fafd00"/>
                  </a:solidFill>
                  <a:effectLst/>
                  <a:uFillTx/>
                  <a:latin typeface="Arial"/>
                </a:rPr>
                <a:t>Activities</a:t>
              </a:r>
              <a:endParaRPr b="0" lang="en-IN" sz="1400" strike="noStrike" u="none">
                <a:solidFill>
                  <a:srgbClr val="ffffff"/>
                </a:solidFill>
                <a:effectLst/>
                <a:uFillTx/>
                <a:latin typeface="Times New Roman"/>
              </a:endParaRPr>
            </a:p>
            <a:p>
              <a:pPr algn="ctr">
                <a:lnSpc>
                  <a:spcPct val="100000"/>
                </a:lnSpc>
                <a:buClr>
                  <a:srgbClr val="ffffff"/>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1000" strike="noStrike" u="none">
                  <a:solidFill>
                    <a:srgbClr val="ffffff"/>
                  </a:solidFill>
                  <a:effectLst/>
                  <a:uFillTx/>
                  <a:latin typeface="Arial"/>
                </a:rPr>
                <a:t> </a:t>
              </a:r>
              <a:r>
                <a:rPr b="1" lang="en-IN" sz="1200" strike="noStrike" u="none">
                  <a:solidFill>
                    <a:srgbClr val="ffffff"/>
                  </a:solidFill>
                  <a:effectLst/>
                  <a:uFillTx/>
                  <a:latin typeface="Arial"/>
                </a:rPr>
                <a:t>Business Attraction</a:t>
              </a:r>
              <a:endParaRPr b="0" lang="en-IN" sz="1200" strike="noStrike" u="none">
                <a:solidFill>
                  <a:srgbClr val="ffffff"/>
                </a:solidFill>
                <a:effectLst/>
                <a:uFillTx/>
                <a:latin typeface="Times New Roman"/>
              </a:endParaRPr>
            </a:p>
            <a:p>
              <a:pPr algn="ctr">
                <a:lnSpc>
                  <a:spcPct val="100000"/>
                </a:lnSpc>
                <a:buClr>
                  <a:srgbClr val="ffffff"/>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1200" strike="noStrike" u="none">
                  <a:solidFill>
                    <a:srgbClr val="ffffff"/>
                  </a:solidFill>
                  <a:effectLst/>
                  <a:uFillTx/>
                  <a:latin typeface="Arial"/>
                </a:rPr>
                <a:t> Private Investment</a:t>
              </a:r>
              <a:endParaRPr b="0" lang="en-IN" sz="1200" strike="noStrike" u="none">
                <a:solidFill>
                  <a:srgbClr val="ffffff"/>
                </a:solidFill>
                <a:effectLst/>
                <a:uFillTx/>
                <a:latin typeface="Times New Roman"/>
              </a:endParaRPr>
            </a:p>
            <a:p>
              <a:pPr algn="ctr">
                <a:lnSpc>
                  <a:spcPct val="100000"/>
                </a:lnSpc>
                <a:buClr>
                  <a:srgbClr val="ffffff"/>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1200" strike="noStrike" u="none">
                  <a:solidFill>
                    <a:srgbClr val="ffffff"/>
                  </a:solidFill>
                  <a:effectLst/>
                  <a:uFillTx/>
                  <a:latin typeface="Arial"/>
                </a:rPr>
                <a:t> Job Training</a:t>
              </a:r>
              <a:endParaRPr b="0" lang="en-IN" sz="1200" strike="noStrike" u="none">
                <a:solidFill>
                  <a:srgbClr val="ffffff"/>
                </a:solidFill>
                <a:effectLst/>
                <a:uFillTx/>
                <a:latin typeface="Times New Roman"/>
              </a:endParaRPr>
            </a:p>
          </p:txBody>
        </p:sp>
      </p:grpSp>
      <p:grpSp>
        <p:nvGrpSpPr>
          <p:cNvPr id="198" name=""/>
          <p:cNvGrpSpPr/>
          <p:nvPr/>
        </p:nvGrpSpPr>
        <p:grpSpPr>
          <a:xfrm>
            <a:off x="1697040" y="907200"/>
            <a:ext cx="5296320" cy="5296320"/>
            <a:chOff x="1697040" y="907200"/>
            <a:chExt cx="5296320" cy="5296320"/>
          </a:xfrm>
        </p:grpSpPr>
        <p:sp>
          <p:nvSpPr>
            <p:cNvPr id="199" name="_s57351"/>
            <p:cNvSpPr/>
            <p:nvPr/>
          </p:nvSpPr>
          <p:spPr>
            <a:xfrm rot="17970600">
              <a:off x="2401920" y="1612080"/>
              <a:ext cx="3886200" cy="3886200"/>
            </a:xfrm>
            <a:prstGeom prst="blockArc">
              <a:avLst>
                <a:gd name="adj1" fmla="val 14400000"/>
                <a:gd name="adj2" fmla="val 7200000"/>
                <a:gd name="adj3" fmla="val 16667"/>
              </a:avLst>
            </a:prstGeom>
            <a:solidFill>
              <a:srgbClr val="01b7a1"/>
            </a:solidFill>
            <a:ln w="0">
              <a:noFill/>
            </a:ln>
          </p:spPr>
          <p:style>
            <a:lnRef idx="0"/>
            <a:fillRef idx="0"/>
            <a:effectRef idx="0"/>
            <a:fontRef idx="minor"/>
          </p:style>
          <p:txBody>
            <a:bodyPr lIns="90000" rIns="90000" tIns="46800" bIns="46800" anchor="ctr">
              <a:noAutofit/>
            </a:bodyPr>
            <a:p>
              <a:endParaRPr b="0" lang="en-IN" sz="2400" strike="noStrike" u="none">
                <a:solidFill>
                  <a:srgbClr val="ffffff"/>
                </a:solidFill>
                <a:effectLst/>
                <a:uFillTx/>
                <a:latin typeface="Times New Roman"/>
              </a:endParaRPr>
            </a:p>
          </p:txBody>
        </p:sp>
        <p:sp>
          <p:nvSpPr>
            <p:cNvPr id="200" name="_s57356"/>
            <p:cNvSpPr/>
            <p:nvPr/>
          </p:nvSpPr>
          <p:spPr>
            <a:xfrm>
              <a:off x="2362320" y="2192400"/>
              <a:ext cx="1185840" cy="1185840"/>
            </a:xfrm>
            <a:prstGeom prst="rect">
              <a:avLst/>
            </a:prstGeom>
            <a:noFill/>
            <a:ln w="0">
              <a:noFill/>
            </a:ln>
          </p:spPr>
          <p:style>
            <a:lnRef idx="0"/>
            <a:fillRef idx="0"/>
            <a:effectRef idx="0"/>
            <a:fontRef idx="minor"/>
          </p:style>
          <p:txBody>
            <a:bodyPr wrap="none" lIns="0" rIns="0" tIns="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fafd00"/>
                  </a:solidFill>
                  <a:effectLst/>
                  <a:uFillTx/>
                  <a:latin typeface="Arial"/>
                </a:rPr>
                <a:t>Other</a:t>
              </a:r>
              <a:endParaRPr b="0" lang="en-IN" sz="1400" strike="noStrike" u="none">
                <a:solidFill>
                  <a:srgbClr val="ffffff"/>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fafd00"/>
                  </a:solidFill>
                  <a:effectLst/>
                  <a:uFillTx/>
                  <a:latin typeface="Arial"/>
                </a:rPr>
                <a:t>Infrastructure</a:t>
              </a:r>
              <a:endParaRPr b="0" lang="en-IN" sz="1400" strike="noStrike" u="none">
                <a:solidFill>
                  <a:srgbClr val="ffffff"/>
                </a:solidFill>
                <a:effectLst/>
                <a:uFillTx/>
                <a:latin typeface="Times New Roman"/>
              </a:endParaRPr>
            </a:p>
            <a:p>
              <a:pPr algn="ctr">
                <a:lnSpc>
                  <a:spcPct val="100000"/>
                </a:lnSpc>
                <a:buClr>
                  <a:srgbClr val="ffffff"/>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1000" strike="noStrike" u="none">
                  <a:solidFill>
                    <a:srgbClr val="ffffff"/>
                  </a:solidFill>
                  <a:effectLst/>
                  <a:uFillTx/>
                  <a:latin typeface="Arial"/>
                </a:rPr>
                <a:t> </a:t>
              </a:r>
              <a:r>
                <a:rPr b="1" lang="en-IN" sz="1200" strike="noStrike" u="none">
                  <a:solidFill>
                    <a:srgbClr val="ffffff"/>
                  </a:solidFill>
                  <a:effectLst/>
                  <a:uFillTx/>
                  <a:latin typeface="Arial"/>
                </a:rPr>
                <a:t>Water and Sewer</a:t>
              </a:r>
              <a:endParaRPr b="0" lang="en-IN" sz="1200" strike="noStrike" u="none">
                <a:solidFill>
                  <a:srgbClr val="ffffff"/>
                </a:solidFill>
                <a:effectLst/>
                <a:uFillTx/>
                <a:latin typeface="Times New Roman"/>
              </a:endParaRPr>
            </a:p>
            <a:p>
              <a:pPr algn="ctr">
                <a:lnSpc>
                  <a:spcPct val="100000"/>
                </a:lnSpc>
                <a:buClr>
                  <a:srgbClr val="ffffff"/>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1200" strike="noStrike" u="none">
                  <a:solidFill>
                    <a:srgbClr val="ffffff"/>
                  </a:solidFill>
                  <a:effectLst/>
                  <a:uFillTx/>
                  <a:latin typeface="Arial"/>
                </a:rPr>
                <a:t> Education</a:t>
              </a:r>
              <a:endParaRPr b="0" lang="en-IN" sz="1200" strike="noStrike" u="none">
                <a:solidFill>
                  <a:srgbClr val="ffffff"/>
                </a:solidFill>
                <a:effectLst/>
                <a:uFillTx/>
                <a:latin typeface="Times New Roman"/>
              </a:endParaRPr>
            </a:p>
            <a:p>
              <a:pPr algn="ctr">
                <a:lnSpc>
                  <a:spcPct val="100000"/>
                </a:lnSpc>
                <a:buClr>
                  <a:srgbClr val="ffffff"/>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1200" strike="noStrike" u="none">
                  <a:solidFill>
                    <a:srgbClr val="ffffff"/>
                  </a:solidFill>
                  <a:effectLst/>
                  <a:uFillTx/>
                  <a:latin typeface="Arial"/>
                </a:rPr>
                <a:t> Power</a:t>
              </a:r>
              <a:endParaRPr b="0" lang="en-IN" sz="1200" strike="noStrike" u="none">
                <a:solidFill>
                  <a:srgbClr val="ffffff"/>
                </a:solidFill>
                <a:effectLst/>
                <a:uFillTx/>
                <a:latin typeface="Times New Roman"/>
              </a:endParaRPr>
            </a:p>
          </p:txBody>
        </p:sp>
      </p:grpSp>
      <p:grpSp>
        <p:nvGrpSpPr>
          <p:cNvPr id="201" name=""/>
          <p:cNvGrpSpPr/>
          <p:nvPr/>
        </p:nvGrpSpPr>
        <p:grpSpPr>
          <a:xfrm>
            <a:off x="1690920" y="901080"/>
            <a:ext cx="5308560" cy="5308560"/>
            <a:chOff x="1690920" y="901080"/>
            <a:chExt cx="5308560" cy="5308560"/>
          </a:xfrm>
        </p:grpSpPr>
        <p:sp>
          <p:nvSpPr>
            <p:cNvPr id="202" name="_s57353"/>
            <p:cNvSpPr/>
            <p:nvPr/>
          </p:nvSpPr>
          <p:spPr>
            <a:xfrm rot="14400000">
              <a:off x="2401920" y="1612080"/>
              <a:ext cx="3886200" cy="3886200"/>
            </a:xfrm>
            <a:prstGeom prst="blockArc">
              <a:avLst>
                <a:gd name="adj1" fmla="val 14400000"/>
                <a:gd name="adj2" fmla="val 7200000"/>
                <a:gd name="adj3" fmla="val 16667"/>
              </a:avLst>
            </a:prstGeom>
            <a:solidFill>
              <a:srgbClr val="0014f3"/>
            </a:solidFill>
            <a:ln w="0">
              <a:noFill/>
            </a:ln>
          </p:spPr>
          <p:style>
            <a:lnRef idx="0"/>
            <a:fillRef idx="0"/>
            <a:effectRef idx="0"/>
            <a:fontRef idx="minor"/>
          </p:style>
          <p:txBody>
            <a:bodyPr lIns="90000" rIns="90000" tIns="46800" bIns="46800" anchor="ctr">
              <a:noAutofit/>
            </a:bodyPr>
            <a:p>
              <a:endParaRPr b="0" lang="en-IN" sz="2400" strike="noStrike" u="none">
                <a:solidFill>
                  <a:srgbClr val="ffffff"/>
                </a:solidFill>
                <a:effectLst/>
                <a:uFillTx/>
                <a:latin typeface="Times New Roman"/>
              </a:endParaRPr>
            </a:p>
          </p:txBody>
        </p:sp>
        <p:sp>
          <p:nvSpPr>
            <p:cNvPr id="203" name="_s57356"/>
            <p:cNvSpPr/>
            <p:nvPr/>
          </p:nvSpPr>
          <p:spPr>
            <a:xfrm>
              <a:off x="2235240" y="3805200"/>
              <a:ext cx="1388880" cy="1185840"/>
            </a:xfrm>
            <a:prstGeom prst="rect">
              <a:avLst/>
            </a:prstGeom>
            <a:noFill/>
            <a:ln w="0">
              <a:noFill/>
            </a:ln>
          </p:spPr>
          <p:style>
            <a:lnRef idx="0"/>
            <a:fillRef idx="0"/>
            <a:effectRef idx="0"/>
            <a:fontRef idx="minor"/>
          </p:style>
          <p:txBody>
            <a:bodyPr wrap="none" lIns="0" rIns="0" tIns="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fafd00"/>
                  </a:solidFill>
                  <a:effectLst/>
                  <a:uFillTx/>
                  <a:latin typeface="Arial"/>
                </a:rPr>
                <a:t>Housing and </a:t>
              </a:r>
              <a:endParaRPr b="0" lang="en-IN" sz="1400" strike="noStrike" u="none">
                <a:solidFill>
                  <a:srgbClr val="ffffff"/>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fafd00"/>
                  </a:solidFill>
                  <a:effectLst/>
                  <a:uFillTx/>
                  <a:latin typeface="Arial"/>
                </a:rPr>
                <a:t>Quality of Life</a:t>
              </a:r>
              <a:endParaRPr b="0" lang="en-IN" sz="1400" strike="noStrike" u="none">
                <a:solidFill>
                  <a:srgbClr val="ffffff"/>
                </a:solidFill>
                <a:effectLst/>
                <a:uFillTx/>
                <a:latin typeface="Times New Roman"/>
              </a:endParaRPr>
            </a:p>
            <a:p>
              <a:pPr algn="ctr">
                <a:lnSpc>
                  <a:spcPct val="100000"/>
                </a:lnSpc>
                <a:buClr>
                  <a:srgbClr val="ffffff"/>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1000" strike="noStrike" u="none">
                  <a:solidFill>
                    <a:srgbClr val="ffffff"/>
                  </a:solidFill>
                  <a:effectLst/>
                  <a:uFillTx/>
                  <a:latin typeface="Arial"/>
                </a:rPr>
                <a:t> </a:t>
              </a:r>
              <a:r>
                <a:rPr b="1" lang="en-IN" sz="1200" strike="noStrike" u="none">
                  <a:solidFill>
                    <a:srgbClr val="ffffff"/>
                  </a:solidFill>
                  <a:effectLst/>
                  <a:uFillTx/>
                  <a:latin typeface="Arial"/>
                </a:rPr>
                <a:t>Affordability</a:t>
              </a:r>
              <a:endParaRPr b="0" lang="en-IN" sz="1200" strike="noStrike" u="none">
                <a:solidFill>
                  <a:srgbClr val="ffffff"/>
                </a:solidFill>
                <a:effectLst/>
                <a:uFillTx/>
                <a:latin typeface="Times New Roman"/>
              </a:endParaRPr>
            </a:p>
            <a:p>
              <a:pPr algn="ctr">
                <a:lnSpc>
                  <a:spcPct val="100000"/>
                </a:lnSpc>
                <a:buClr>
                  <a:srgbClr val="ffffff"/>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1200" strike="noStrike" u="none">
                  <a:solidFill>
                    <a:srgbClr val="ffffff"/>
                  </a:solidFill>
                  <a:effectLst/>
                  <a:uFillTx/>
                  <a:latin typeface="Arial"/>
                </a:rPr>
                <a:t> Crime</a:t>
              </a:r>
              <a:endParaRPr b="0" lang="en-IN" sz="1200" strike="noStrike" u="none">
                <a:solidFill>
                  <a:srgbClr val="ffffff"/>
                </a:solidFill>
                <a:effectLst/>
                <a:uFillTx/>
                <a:latin typeface="Times New Roman"/>
              </a:endParaRPr>
            </a:p>
            <a:p>
              <a:pPr algn="ctr">
                <a:lnSpc>
                  <a:spcPct val="100000"/>
                </a:lnSpc>
                <a:buClr>
                  <a:srgbClr val="ffffff"/>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1200" strike="noStrike" u="none">
                  <a:solidFill>
                    <a:srgbClr val="ffffff"/>
                  </a:solidFill>
                  <a:effectLst/>
                  <a:uFillTx/>
                  <a:latin typeface="Arial"/>
                </a:rPr>
                <a:t> Public Amenities</a:t>
              </a:r>
              <a:endParaRPr b="0" lang="en-IN" sz="1200" strike="noStrike" u="none">
                <a:solidFill>
                  <a:srgbClr val="ffffff"/>
                </a:solidFill>
                <a:effectLst/>
                <a:uFillTx/>
                <a:latin typeface="Times New Roman"/>
              </a:endParaRPr>
            </a:p>
          </p:txBody>
        </p:sp>
      </p:grpSp>
      <p:grpSp>
        <p:nvGrpSpPr>
          <p:cNvPr id="204" name=""/>
          <p:cNvGrpSpPr/>
          <p:nvPr/>
        </p:nvGrpSpPr>
        <p:grpSpPr>
          <a:xfrm>
            <a:off x="1686960" y="923400"/>
            <a:ext cx="5316120" cy="5316120"/>
            <a:chOff x="1686960" y="923400"/>
            <a:chExt cx="5316120" cy="5316120"/>
          </a:xfrm>
        </p:grpSpPr>
        <p:sp>
          <p:nvSpPr>
            <p:cNvPr id="205" name="_s57352"/>
            <p:cNvSpPr/>
            <p:nvPr/>
          </p:nvSpPr>
          <p:spPr>
            <a:xfrm rot="3581400">
              <a:off x="2401560" y="1638360"/>
              <a:ext cx="3886200" cy="3886200"/>
            </a:xfrm>
            <a:prstGeom prst="blockArc">
              <a:avLst>
                <a:gd name="adj1" fmla="val 14400000"/>
                <a:gd name="adj2" fmla="val 7200000"/>
                <a:gd name="adj3" fmla="val 16667"/>
              </a:avLst>
            </a:prstGeom>
            <a:solidFill>
              <a:srgbClr val="618ffd"/>
            </a:solidFill>
            <a:ln w="0">
              <a:noFill/>
            </a:ln>
          </p:spPr>
          <p:style>
            <a:lnRef idx="0"/>
            <a:fillRef idx="0"/>
            <a:effectRef idx="0"/>
            <a:fontRef idx="minor"/>
          </p:style>
          <p:txBody>
            <a:bodyPr lIns="90000" rIns="90000" tIns="46800" bIns="46800" anchor="ctr">
              <a:noAutofit/>
            </a:bodyPr>
            <a:p>
              <a:endParaRPr b="0" lang="en-IN" sz="2400" strike="noStrike" u="none">
                <a:solidFill>
                  <a:srgbClr val="ffffff"/>
                </a:solidFill>
                <a:effectLst/>
                <a:uFillTx/>
                <a:latin typeface="Times New Roman"/>
              </a:endParaRPr>
            </a:p>
          </p:txBody>
        </p:sp>
        <p:sp>
          <p:nvSpPr>
            <p:cNvPr id="206" name="_s57354"/>
            <p:cNvSpPr/>
            <p:nvPr/>
          </p:nvSpPr>
          <p:spPr>
            <a:xfrm>
              <a:off x="5505480" y="2192400"/>
              <a:ext cx="1185840" cy="1185840"/>
            </a:xfrm>
            <a:prstGeom prst="rect">
              <a:avLst/>
            </a:prstGeom>
            <a:noFill/>
            <a:ln w="0">
              <a:noFill/>
            </a:ln>
          </p:spPr>
          <p:style>
            <a:lnRef idx="0"/>
            <a:fillRef idx="0"/>
            <a:effectRef idx="0"/>
            <a:fontRef idx="minor"/>
          </p:style>
          <p:txBody>
            <a:bodyPr wrap="none" lIns="0" rIns="0" tIns="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fafd00"/>
                  </a:solidFill>
                  <a:effectLst/>
                  <a:uFillTx/>
                  <a:latin typeface="Arial"/>
                </a:rPr>
                <a:t>Transportation</a:t>
              </a:r>
              <a:endParaRPr b="0" lang="en-IN" sz="2000" strike="noStrike" u="none">
                <a:solidFill>
                  <a:srgbClr val="ffffff"/>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fafd00"/>
                  </a:solidFill>
                  <a:effectLst/>
                  <a:uFillTx/>
                  <a:latin typeface="Arial"/>
                </a:rPr>
                <a:t>Investments</a:t>
              </a:r>
              <a:endParaRPr b="0" lang="en-IN" sz="2000" strike="noStrike" u="none">
                <a:solidFill>
                  <a:srgbClr val="ffffff"/>
                </a:solidFill>
                <a:effectLst/>
                <a:uFillTx/>
                <a:latin typeface="Times New Roman"/>
              </a:endParaRPr>
            </a:p>
            <a:p>
              <a:pPr algn="ctr">
                <a:lnSpc>
                  <a:spcPct val="100000"/>
                </a:lnSpc>
                <a:buClr>
                  <a:srgbClr val="ffffff"/>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1200" strike="noStrike" u="none">
                  <a:solidFill>
                    <a:srgbClr val="ffffff"/>
                  </a:solidFill>
                  <a:effectLst/>
                  <a:uFillTx/>
                  <a:latin typeface="Arial"/>
                </a:rPr>
                <a:t> </a:t>
              </a:r>
              <a:r>
                <a:rPr b="1" lang="en-IN" sz="1800" strike="noStrike" u="none">
                  <a:solidFill>
                    <a:srgbClr val="ffffff"/>
                  </a:solidFill>
                  <a:effectLst/>
                  <a:uFillTx/>
                  <a:latin typeface="Arial"/>
                </a:rPr>
                <a:t>Transit</a:t>
              </a:r>
              <a:endParaRPr b="0" lang="en-IN" sz="1800" strike="noStrike" u="none">
                <a:solidFill>
                  <a:srgbClr val="ffffff"/>
                </a:solidFill>
                <a:effectLst/>
                <a:uFillTx/>
                <a:latin typeface="Times New Roman"/>
              </a:endParaRPr>
            </a:p>
            <a:p>
              <a:pPr algn="ctr">
                <a:lnSpc>
                  <a:spcPct val="100000"/>
                </a:lnSpc>
                <a:buClr>
                  <a:srgbClr val="ffffff"/>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ffffff"/>
                  </a:solidFill>
                  <a:effectLst/>
                  <a:uFillTx/>
                  <a:latin typeface="Arial"/>
                </a:rPr>
                <a:t> Freight</a:t>
              </a:r>
              <a:endParaRPr b="0" lang="en-IN" sz="1800" strike="noStrike" u="none">
                <a:solidFill>
                  <a:srgbClr val="ffffff"/>
                </a:solidFill>
                <a:effectLst/>
                <a:uFillTx/>
                <a:latin typeface="Times New Roman"/>
              </a:endParaRPr>
            </a:p>
            <a:p>
              <a:pPr algn="ctr">
                <a:lnSpc>
                  <a:spcPct val="100000"/>
                </a:lnSpc>
                <a:buClr>
                  <a:srgbClr val="ffffff"/>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ffffff"/>
                  </a:solidFill>
                  <a:effectLst/>
                  <a:uFillTx/>
                  <a:latin typeface="Arial"/>
                </a:rPr>
                <a:t> Highways</a:t>
              </a:r>
              <a:endParaRPr b="0" lang="en-IN" sz="1800" strike="noStrike" u="none">
                <a:solidFill>
                  <a:srgbClr val="ffffff"/>
                </a:solidFill>
                <a:effectLst/>
                <a:uFillTx/>
                <a:latin typeface="Times New Roman"/>
              </a:endParaRPr>
            </a:p>
          </p:txBody>
        </p:sp>
      </p:grpSp>
      <p:grpSp>
        <p:nvGrpSpPr>
          <p:cNvPr id="207" name=""/>
          <p:cNvGrpSpPr/>
          <p:nvPr/>
        </p:nvGrpSpPr>
        <p:grpSpPr>
          <a:xfrm>
            <a:off x="2389320" y="1587600"/>
            <a:ext cx="3886200" cy="3924360"/>
            <a:chOff x="2389320" y="1587600"/>
            <a:chExt cx="3886200" cy="3924360"/>
          </a:xfrm>
        </p:grpSpPr>
        <p:sp>
          <p:nvSpPr>
            <p:cNvPr id="208" name="_s57351"/>
            <p:cNvSpPr/>
            <p:nvPr/>
          </p:nvSpPr>
          <p:spPr>
            <a:xfrm>
              <a:off x="2389320" y="1625760"/>
              <a:ext cx="3886200" cy="3886200"/>
            </a:xfrm>
            <a:prstGeom prst="blockArc">
              <a:avLst>
                <a:gd name="adj1" fmla="val 14400000"/>
                <a:gd name="adj2" fmla="val 7200000"/>
                <a:gd name="adj3" fmla="val 16667"/>
              </a:avLst>
            </a:prstGeom>
            <a:solidFill>
              <a:srgbClr val="008080"/>
            </a:solidFill>
            <a:ln w="0">
              <a:noFill/>
            </a:ln>
          </p:spPr>
          <p:style>
            <a:lnRef idx="0"/>
            <a:fillRef idx="0"/>
            <a:effectRef idx="0"/>
            <a:fontRef idx="minor"/>
          </p:style>
          <p:txBody>
            <a:bodyPr lIns="90000" rIns="90000" tIns="46800" bIns="46800" anchor="ctr">
              <a:noAutofit/>
            </a:bodyPr>
            <a:p>
              <a:endParaRPr b="0" lang="en-IN" sz="2400" strike="noStrike" u="none">
                <a:solidFill>
                  <a:srgbClr val="ffffff"/>
                </a:solidFill>
                <a:effectLst/>
                <a:uFillTx/>
                <a:latin typeface="Times New Roman"/>
              </a:endParaRPr>
            </a:p>
          </p:txBody>
        </p:sp>
        <p:sp>
          <p:nvSpPr>
            <p:cNvPr id="209" name="_s57354"/>
            <p:cNvSpPr/>
            <p:nvPr/>
          </p:nvSpPr>
          <p:spPr>
            <a:xfrm>
              <a:off x="3444840" y="1587600"/>
              <a:ext cx="1871640" cy="761760"/>
            </a:xfrm>
            <a:prstGeom prst="rect">
              <a:avLst/>
            </a:prstGeom>
            <a:noFill/>
            <a:ln w="0">
              <a:noFill/>
            </a:ln>
          </p:spPr>
          <p:style>
            <a:lnRef idx="0"/>
            <a:fillRef idx="0"/>
            <a:effectRef idx="0"/>
            <a:fontRef idx="minor"/>
          </p:style>
          <p:txBody>
            <a:bodyPr wrap="none" lIns="0" rIns="0" tIns="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fafd00"/>
                  </a:solidFill>
                  <a:effectLst/>
                  <a:uFillTx/>
                  <a:latin typeface="Arial"/>
                </a:rPr>
                <a:t>Tax and Regulatory </a:t>
              </a:r>
              <a:endParaRPr b="0" lang="en-IN" sz="1400" strike="noStrike" u="none">
                <a:solidFill>
                  <a:srgbClr val="ffffff"/>
                </a:solidFill>
                <a:effectLst/>
                <a:uFillTx/>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fafd00"/>
                  </a:solidFill>
                  <a:effectLst/>
                  <a:uFillTx/>
                  <a:latin typeface="Arial"/>
                </a:rPr>
                <a:t>Environment</a:t>
              </a:r>
              <a:endParaRPr b="0" lang="en-IN" sz="1400" strike="noStrike" u="none">
                <a:solidFill>
                  <a:srgbClr val="ffffff"/>
                </a:solidFill>
                <a:effectLst/>
                <a:uFillTx/>
                <a:latin typeface="Times New Roman"/>
              </a:endParaRPr>
            </a:p>
          </p:txBody>
        </p:sp>
      </p:grpSp>
      <p:grpSp>
        <p:nvGrpSpPr>
          <p:cNvPr id="210" name=""/>
          <p:cNvGrpSpPr/>
          <p:nvPr/>
        </p:nvGrpSpPr>
        <p:grpSpPr>
          <a:xfrm>
            <a:off x="1677600" y="914400"/>
            <a:ext cx="5308560" cy="5308920"/>
            <a:chOff x="1677600" y="914400"/>
            <a:chExt cx="5308560" cy="5308920"/>
          </a:xfrm>
        </p:grpSpPr>
        <p:sp>
          <p:nvSpPr>
            <p:cNvPr id="211" name="_s57352"/>
            <p:cNvSpPr/>
            <p:nvPr/>
          </p:nvSpPr>
          <p:spPr>
            <a:xfrm rot="7200000">
              <a:off x="2388600" y="1625760"/>
              <a:ext cx="3886200" cy="3886200"/>
            </a:xfrm>
            <a:prstGeom prst="blockArc">
              <a:avLst>
                <a:gd name="adj1" fmla="val 14400000"/>
                <a:gd name="adj2" fmla="val 7200000"/>
                <a:gd name="adj3" fmla="val 16667"/>
              </a:avLst>
            </a:prstGeom>
            <a:solidFill>
              <a:srgbClr val="800000"/>
            </a:solidFill>
            <a:ln w="0">
              <a:noFill/>
            </a:ln>
          </p:spPr>
          <p:style>
            <a:lnRef idx="0"/>
            <a:fillRef idx="0"/>
            <a:effectRef idx="0"/>
            <a:fontRef idx="minor"/>
          </p:style>
          <p:txBody>
            <a:bodyPr lIns="90000" rIns="90000" tIns="46800" bIns="46800" anchor="ctr">
              <a:noAutofit/>
            </a:bodyPr>
            <a:p>
              <a:endParaRPr b="0" lang="en-IN" sz="2400" strike="noStrike" u="none">
                <a:solidFill>
                  <a:srgbClr val="ffffff"/>
                </a:solidFill>
                <a:effectLst/>
                <a:uFillTx/>
                <a:latin typeface="Times New Roman"/>
              </a:endParaRPr>
            </a:p>
          </p:txBody>
        </p:sp>
        <p:sp>
          <p:nvSpPr>
            <p:cNvPr id="212" name="_s57354"/>
            <p:cNvSpPr/>
            <p:nvPr/>
          </p:nvSpPr>
          <p:spPr>
            <a:xfrm>
              <a:off x="5278320" y="3754440"/>
              <a:ext cx="1185840" cy="1019160"/>
            </a:xfrm>
            <a:prstGeom prst="rect">
              <a:avLst/>
            </a:prstGeom>
            <a:noFill/>
            <a:ln w="0">
              <a:noFill/>
            </a:ln>
          </p:spPr>
          <p:style>
            <a:lnRef idx="0"/>
            <a:fillRef idx="0"/>
            <a:effectRef idx="0"/>
            <a:fontRef idx="minor"/>
          </p:style>
          <p:txBody>
            <a:bodyPr wrap="none"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fafd00"/>
                  </a:solidFill>
                  <a:effectLst/>
                  <a:uFillTx/>
                  <a:latin typeface="Arial"/>
                </a:rPr>
                <a:t>Labor Force</a:t>
              </a:r>
              <a:endParaRPr b="0" lang="en-IN" sz="1400" strike="noStrike" u="none">
                <a:solidFill>
                  <a:srgbClr val="ffffff"/>
                </a:solidFill>
                <a:effectLst/>
                <a:uFillTx/>
                <a:latin typeface="Times New Roman"/>
              </a:endParaRPr>
            </a:p>
            <a:p>
              <a:pPr algn="ctr">
                <a:lnSpc>
                  <a:spcPct val="100000"/>
                </a:lnSpc>
                <a:buClr>
                  <a:srgbClr val="ffffff"/>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1000" strike="noStrike" u="none">
                  <a:solidFill>
                    <a:srgbClr val="ffffff"/>
                  </a:solidFill>
                  <a:effectLst/>
                  <a:uFillTx/>
                  <a:latin typeface="Arial"/>
                </a:rPr>
                <a:t> </a:t>
              </a:r>
              <a:r>
                <a:rPr b="1" lang="en-IN" sz="1200" strike="noStrike" u="none">
                  <a:solidFill>
                    <a:srgbClr val="ffffff"/>
                  </a:solidFill>
                  <a:effectLst/>
                  <a:uFillTx/>
                  <a:latin typeface="Arial"/>
                </a:rPr>
                <a:t>Wage Rates</a:t>
              </a:r>
              <a:endParaRPr b="0" lang="en-IN" sz="1200" strike="noStrike" u="none">
                <a:solidFill>
                  <a:srgbClr val="ffffff"/>
                </a:solidFill>
                <a:effectLst/>
                <a:uFillTx/>
                <a:latin typeface="Times New Roman"/>
              </a:endParaRPr>
            </a:p>
            <a:p>
              <a:pPr algn="ctr">
                <a:lnSpc>
                  <a:spcPct val="100000"/>
                </a:lnSpc>
                <a:buClr>
                  <a:srgbClr val="ffffff"/>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1200" strike="noStrike" u="none">
                  <a:solidFill>
                    <a:srgbClr val="ffffff"/>
                  </a:solidFill>
                  <a:effectLst/>
                  <a:uFillTx/>
                  <a:latin typeface="Arial"/>
                </a:rPr>
                <a:t> Skill Level</a:t>
              </a:r>
              <a:endParaRPr b="0" lang="en-IN" sz="1200" strike="noStrike" u="none">
                <a:solidFill>
                  <a:srgbClr val="ffffff"/>
                </a:solidFill>
                <a:effectLst/>
                <a:uFillTx/>
                <a:latin typeface="Times New Roman"/>
              </a:endParaRPr>
            </a:p>
            <a:p>
              <a:pPr algn="ctr">
                <a:lnSpc>
                  <a:spcPct val="100000"/>
                </a:lnSpc>
                <a:buClr>
                  <a:srgbClr val="ffffff"/>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1200" strike="noStrike" u="none">
                  <a:solidFill>
                    <a:srgbClr val="ffffff"/>
                  </a:solidFill>
                  <a:effectLst/>
                  <a:uFillTx/>
                  <a:latin typeface="Arial"/>
                </a:rPr>
                <a:t>Activism</a:t>
              </a:r>
              <a:endParaRPr b="0" lang="en-IN" sz="1200" strike="noStrike" u="none">
                <a:solidFill>
                  <a:srgbClr val="ffffff"/>
                </a:solidFill>
                <a:effectLst/>
                <a:uFillTx/>
                <a:latin typeface="Times New Roman"/>
              </a:endParaRPr>
            </a:p>
          </p:txBody>
        </p:sp>
      </p:grpSp>
    </p:spTree>
  </p:cSld>
  <mc:AlternateContent>
    <mc:Choice Requires="p14">
      <p:transition spd="slow" p14:dur="2000"/>
    </mc:Choice>
    <mc:Fallback>
      <p:transition spd="slow"/>
    </mc:Fallback>
  </mc:AlternateContent>
  <p:timing>
    <p:tnLst>
      <p:par>
        <p:cTn id="23" dur="indefinite" restart="never" nodeType="tmRoot">
          <p:childTnLst>
            <p:seq>
              <p:cTn id="24" dur="indefinite" nodeType="mainSeq">
                <p:childTnLst>
                  <p:par>
                    <p:cTn id="25" fill="hold">
                      <p:stCondLst>
                        <p:cond delay="indefinite"/>
                      </p:stCondLst>
                      <p:childTnLst>
                        <p:par>
                          <p:cTn id="26" fill="hold">
                            <p:stCondLst>
                              <p:cond delay="0"/>
                            </p:stCondLst>
                            <p:childTnLst>
                              <p:par>
                                <p:cTn id="27" nodeType="clickEffect" fill="hold" presetClass="entr" presetID="22" presetSubtype="2">
                                  <p:stCondLst>
                                    <p:cond delay="0"/>
                                  </p:stCondLst>
                                  <p:childTnLst>
                                    <p:set>
                                      <p:cBhvr>
                                        <p:cTn id="28" dur="1" fill="hold">
                                          <p:stCondLst>
                                            <p:cond delay="0"/>
                                          </p:stCondLst>
                                        </p:cTn>
                                        <p:tgtEl>
                                          <p:spTgt spid="204"/>
                                        </p:tgtEl>
                                        <p:attrNameLst>
                                          <p:attrName>style.visibility</p:attrName>
                                        </p:attrNameLst>
                                      </p:cBhvr>
                                      <p:to>
                                        <p:strVal val="visible"/>
                                      </p:to>
                                    </p:set>
                                    <p:animEffect filter="wipe(right)" transition="in">
                                      <p:cBhvr additive="repl">
                                        <p:cTn id="29" dur="500"/>
                                        <p:tgtEl>
                                          <p:spTgt spid="204"/>
                                        </p:tgtEl>
                                      </p:cBhvr>
                                    </p:animEffect>
                                  </p:childTnLst>
                                </p:cTn>
                              </p:par>
                            </p:childTnLst>
                          </p:cTn>
                        </p:par>
                      </p:childTnLst>
                    </p:cTn>
                  </p:par>
                  <p:par>
                    <p:cTn id="30" fill="hold">
                      <p:stCondLst>
                        <p:cond delay="indefinite"/>
                      </p:stCondLst>
                      <p:childTnLst>
                        <p:par>
                          <p:cTn id="31" fill="hold">
                            <p:stCondLst>
                              <p:cond delay="0"/>
                            </p:stCondLst>
                            <p:childTnLst>
                              <p:par>
                                <p:cTn id="32" nodeType="clickEffect" fill="hold" presetClass="entr" presetID="22" presetSubtype="2">
                                  <p:stCondLst>
                                    <p:cond delay="0"/>
                                  </p:stCondLst>
                                  <p:childTnLst>
                                    <p:set>
                                      <p:cBhvr>
                                        <p:cTn id="33" dur="1" fill="hold">
                                          <p:stCondLst>
                                            <p:cond delay="0"/>
                                          </p:stCondLst>
                                        </p:cTn>
                                        <p:tgtEl>
                                          <p:spTgt spid="207"/>
                                        </p:tgtEl>
                                        <p:attrNameLst>
                                          <p:attrName>style.visibility</p:attrName>
                                        </p:attrNameLst>
                                      </p:cBhvr>
                                      <p:to>
                                        <p:strVal val="visible"/>
                                      </p:to>
                                    </p:set>
                                    <p:animEffect filter="wipe(right)" transition="in">
                                      <p:cBhvr additive="repl">
                                        <p:cTn id="34" dur="500"/>
                                        <p:tgtEl>
                                          <p:spTgt spid="207"/>
                                        </p:tgtEl>
                                      </p:cBhvr>
                                    </p:animEffect>
                                  </p:childTnLst>
                                </p:cTn>
                              </p:par>
                            </p:childTnLst>
                          </p:cTn>
                        </p:par>
                        <p:par>
                          <p:cTn id="35" fill="hold">
                            <p:stCondLst>
                              <p:cond delay="500"/>
                            </p:stCondLst>
                            <p:childTnLst>
                              <p:par>
                                <p:cTn id="36" nodeType="afterEffect" fill="hold" presetClass="entr" presetID="22" presetSubtype="1">
                                  <p:stCondLst>
                                    <p:cond delay="1000"/>
                                  </p:stCondLst>
                                  <p:childTnLst>
                                    <p:set>
                                      <p:cBhvr>
                                        <p:cTn id="37" dur="1" fill="hold">
                                          <p:stCondLst>
                                            <p:cond delay="0"/>
                                          </p:stCondLst>
                                        </p:cTn>
                                        <p:tgtEl>
                                          <p:spTgt spid="198"/>
                                        </p:tgtEl>
                                        <p:attrNameLst>
                                          <p:attrName>style.visibility</p:attrName>
                                        </p:attrNameLst>
                                      </p:cBhvr>
                                      <p:to>
                                        <p:strVal val="visible"/>
                                      </p:to>
                                    </p:set>
                                    <p:animEffect filter="wipe(up)" transition="in">
                                      <p:cBhvr additive="repl">
                                        <p:cTn id="38" dur="500"/>
                                        <p:tgtEl>
                                          <p:spTgt spid="198"/>
                                        </p:tgtEl>
                                      </p:cBhvr>
                                    </p:animEffect>
                                  </p:childTnLst>
                                </p:cTn>
                              </p:par>
                            </p:childTnLst>
                          </p:cTn>
                        </p:par>
                        <p:par>
                          <p:cTn id="39" fill="hold">
                            <p:stCondLst>
                              <p:cond delay="2000"/>
                            </p:stCondLst>
                            <p:childTnLst>
                              <p:par>
                                <p:cTn id="40" nodeType="afterEffect" fill="hold" presetClass="entr" presetID="22" presetSubtype="1">
                                  <p:stCondLst>
                                    <p:cond delay="1000"/>
                                  </p:stCondLst>
                                  <p:childTnLst>
                                    <p:set>
                                      <p:cBhvr>
                                        <p:cTn id="41" dur="1" fill="hold">
                                          <p:stCondLst>
                                            <p:cond delay="0"/>
                                          </p:stCondLst>
                                        </p:cTn>
                                        <p:tgtEl>
                                          <p:spTgt spid="201"/>
                                        </p:tgtEl>
                                        <p:attrNameLst>
                                          <p:attrName>style.visibility</p:attrName>
                                        </p:attrNameLst>
                                      </p:cBhvr>
                                      <p:to>
                                        <p:strVal val="visible"/>
                                      </p:to>
                                    </p:set>
                                    <p:animEffect filter="wipe(up)" transition="in">
                                      <p:cBhvr additive="repl">
                                        <p:cTn id="42" dur="500"/>
                                        <p:tgtEl>
                                          <p:spTgt spid="201"/>
                                        </p:tgtEl>
                                      </p:cBhvr>
                                    </p:animEffect>
                                  </p:childTnLst>
                                </p:cTn>
                              </p:par>
                            </p:childTnLst>
                          </p:cTn>
                        </p:par>
                        <p:par>
                          <p:cTn id="43" fill="hold">
                            <p:stCondLst>
                              <p:cond delay="3500"/>
                            </p:stCondLst>
                            <p:childTnLst>
                              <p:par>
                                <p:cTn id="44" nodeType="afterEffect" fill="hold" presetClass="entr" presetID="22" presetSubtype="8">
                                  <p:stCondLst>
                                    <p:cond delay="1000"/>
                                  </p:stCondLst>
                                  <p:childTnLst>
                                    <p:set>
                                      <p:cBhvr>
                                        <p:cTn id="45" dur="1" fill="hold">
                                          <p:stCondLst>
                                            <p:cond delay="0"/>
                                          </p:stCondLst>
                                        </p:cTn>
                                        <p:tgtEl>
                                          <p:spTgt spid="195"/>
                                        </p:tgtEl>
                                        <p:attrNameLst>
                                          <p:attrName>style.visibility</p:attrName>
                                        </p:attrNameLst>
                                      </p:cBhvr>
                                      <p:to>
                                        <p:strVal val="visible"/>
                                      </p:to>
                                    </p:set>
                                    <p:animEffect filter="wipe(left)" transition="in">
                                      <p:cBhvr additive="repl">
                                        <p:cTn id="46" dur="500"/>
                                        <p:tgtEl>
                                          <p:spTgt spid="195"/>
                                        </p:tgtEl>
                                      </p:cBhvr>
                                    </p:animEffect>
                                  </p:childTnLst>
                                </p:cTn>
                              </p:par>
                            </p:childTnLst>
                          </p:cTn>
                        </p:par>
                        <p:par>
                          <p:cTn id="47" fill="hold">
                            <p:stCondLst>
                              <p:cond delay="5000"/>
                            </p:stCondLst>
                            <p:childTnLst>
                              <p:par>
                                <p:cTn id="48" nodeType="afterEffect" fill="hold" presetClass="entr" presetID="22" presetSubtype="4">
                                  <p:stCondLst>
                                    <p:cond delay="1000"/>
                                  </p:stCondLst>
                                  <p:childTnLst>
                                    <p:set>
                                      <p:cBhvr>
                                        <p:cTn id="49" dur="1" fill="hold">
                                          <p:stCondLst>
                                            <p:cond delay="0"/>
                                          </p:stCondLst>
                                        </p:cTn>
                                        <p:tgtEl>
                                          <p:spTgt spid="210"/>
                                        </p:tgtEl>
                                        <p:attrNameLst>
                                          <p:attrName>style.visibility</p:attrName>
                                        </p:attrNameLst>
                                      </p:cBhvr>
                                      <p:to>
                                        <p:strVal val="visible"/>
                                      </p:to>
                                    </p:set>
                                    <p:animEffect filter="wipe(down)" transition="in">
                                      <p:cBhvr additive="repl">
                                        <p:cTn id="50" dur="500"/>
                                        <p:tgtEl>
                                          <p:spTgt spid="21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14f3"/>
        </a:solidFill>
      </p:bgPr>
    </p:bg>
    <p:spTree>
      <p:nvGrpSpPr>
        <p:cNvPr id="1" name=""/>
        <p:cNvGrpSpPr/>
        <p:nvPr/>
      </p:nvGrpSpPr>
      <p:grpSpPr>
        <a:xfrm>
          <a:off x="0" y="0"/>
          <a:ext cx="0" cy="0"/>
          <a:chOff x="0" y="0"/>
          <a:chExt cx="0" cy="0"/>
        </a:xfrm>
      </p:grpSpPr>
      <p:sp>
        <p:nvSpPr>
          <p:cNvPr id="213" name=""/>
          <p:cNvSpPr/>
          <p:nvPr/>
        </p:nvSpPr>
        <p:spPr>
          <a:xfrm>
            <a:off x="369720" y="1866960"/>
            <a:ext cx="8328240" cy="3771720"/>
          </a:xfrm>
          <a:prstGeom prst="rect">
            <a:avLst/>
          </a:prstGeom>
          <a:solidFill>
            <a:srgbClr val="000080"/>
          </a:solidFill>
          <a:ln w="14400">
            <a:solidFill>
              <a:srgbClr val="000099"/>
            </a:solidFill>
            <a:miter/>
          </a:ln>
          <a:effectLst>
            <a:outerShdw dist="53966" dir="2700000" blurRad="0" rotWithShape="0">
              <a:srgbClr val="919191"/>
            </a:outerShdw>
          </a:effectLst>
        </p:spPr>
        <p:style>
          <a:lnRef idx="0"/>
          <a:fillRef idx="0"/>
          <a:effectRef idx="0"/>
          <a:fontRef idx="minor"/>
        </p:style>
        <p:txBody>
          <a:bodyPr lIns="90000" rIns="90000" tIns="46800" bIns="46800" anchor="ctr">
            <a:noAutofit/>
          </a:bodyPr>
          <a:p>
            <a:pPr>
              <a:lnSpc>
                <a:spcPct val="12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2400" strike="noStrike" u="none">
                <a:solidFill>
                  <a:srgbClr val="ffffff"/>
                </a:solidFill>
                <a:effectLst/>
                <a:uFillTx/>
                <a:latin typeface="Arial"/>
              </a:rPr>
              <a:t>Agriculture/Forestry</a:t>
            </a:r>
            <a:endParaRPr b="0" lang="en-IN" sz="2400" strike="noStrike" u="none">
              <a:solidFill>
                <a:srgbClr val="ffffff"/>
              </a:solidFill>
              <a:effectLst/>
              <a:uFillTx/>
              <a:latin typeface="Times New Roman"/>
            </a:endParaRPr>
          </a:p>
          <a:p>
            <a:pPr>
              <a:lnSpc>
                <a:spcPct val="12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2400" strike="noStrike" u="none">
                <a:solidFill>
                  <a:srgbClr val="ffffff"/>
                </a:solidFill>
                <a:effectLst/>
                <a:uFillTx/>
                <a:latin typeface="Arial"/>
              </a:rPr>
              <a:t>Manufacturing</a:t>
            </a:r>
            <a:endParaRPr b="0" lang="en-IN" sz="2400" strike="noStrike" u="none">
              <a:solidFill>
                <a:srgbClr val="ffffff"/>
              </a:solidFill>
              <a:effectLst/>
              <a:uFillTx/>
              <a:latin typeface="Times New Roman"/>
            </a:endParaRPr>
          </a:p>
          <a:p>
            <a:pPr>
              <a:lnSpc>
                <a:spcPct val="12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2400" strike="noStrike" u="none">
                <a:solidFill>
                  <a:srgbClr val="ffffff"/>
                </a:solidFill>
                <a:effectLst/>
                <a:uFillTx/>
                <a:latin typeface="Arial"/>
              </a:rPr>
              <a:t>Distribution</a:t>
            </a:r>
            <a:endParaRPr b="0" lang="en-IN" sz="2400" strike="noStrike" u="none">
              <a:solidFill>
                <a:srgbClr val="ffffff"/>
              </a:solidFill>
              <a:effectLst/>
              <a:uFillTx/>
              <a:latin typeface="Times New Roman"/>
            </a:endParaRPr>
          </a:p>
          <a:p>
            <a:pPr>
              <a:lnSpc>
                <a:spcPct val="12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2400" strike="noStrike" u="none">
                <a:solidFill>
                  <a:srgbClr val="ffffff"/>
                </a:solidFill>
                <a:effectLst/>
                <a:uFillTx/>
                <a:latin typeface="Arial"/>
              </a:rPr>
              <a:t>High-Tech</a:t>
            </a:r>
            <a:endParaRPr b="0" lang="en-IN" sz="2400" strike="noStrike" u="none">
              <a:solidFill>
                <a:srgbClr val="ffffff"/>
              </a:solidFill>
              <a:effectLst/>
              <a:uFillTx/>
              <a:latin typeface="Times New Roman"/>
            </a:endParaRPr>
          </a:p>
          <a:p>
            <a:pPr>
              <a:lnSpc>
                <a:spcPct val="12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2400" strike="noStrike" u="none">
                <a:solidFill>
                  <a:srgbClr val="ffffff"/>
                </a:solidFill>
                <a:effectLst/>
                <a:uFillTx/>
                <a:latin typeface="Arial"/>
              </a:rPr>
              <a:t>Construction</a:t>
            </a:r>
            <a:endParaRPr b="0" lang="en-IN" sz="2400" strike="noStrike" u="none">
              <a:solidFill>
                <a:srgbClr val="ffffff"/>
              </a:solidFill>
              <a:effectLst/>
              <a:uFillTx/>
              <a:latin typeface="Times New Roman"/>
            </a:endParaRPr>
          </a:p>
          <a:p>
            <a:pPr>
              <a:lnSpc>
                <a:spcPct val="12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2400" strike="noStrike" u="none">
                <a:solidFill>
                  <a:srgbClr val="ffffff"/>
                </a:solidFill>
                <a:effectLst/>
                <a:uFillTx/>
                <a:latin typeface="Arial"/>
              </a:rPr>
              <a:t>Health Care</a:t>
            </a:r>
            <a:endParaRPr b="0" lang="en-IN" sz="2400" strike="noStrike" u="none">
              <a:solidFill>
                <a:srgbClr val="ffffff"/>
              </a:solidFill>
              <a:effectLst/>
              <a:uFillTx/>
              <a:latin typeface="Times New Roman"/>
            </a:endParaRPr>
          </a:p>
          <a:p>
            <a:pPr>
              <a:lnSpc>
                <a:spcPct val="12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2400" strike="noStrike" u="none">
                <a:solidFill>
                  <a:srgbClr val="ffffff"/>
                </a:solidFill>
                <a:effectLst/>
                <a:uFillTx/>
                <a:latin typeface="Arial"/>
              </a:rPr>
              <a:t>Tourism</a:t>
            </a:r>
            <a:endParaRPr b="0" lang="en-IN" sz="2400" strike="noStrike" u="none">
              <a:solidFill>
                <a:srgbClr val="ffffff"/>
              </a:solidFill>
              <a:effectLst/>
              <a:uFillTx/>
              <a:latin typeface="Times New Roman"/>
            </a:endParaRPr>
          </a:p>
          <a:p>
            <a:pPr>
              <a:lnSpc>
                <a:spcPct val="12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2400" strike="noStrike" u="none">
                <a:solidFill>
                  <a:srgbClr val="ffffff"/>
                </a:solidFill>
                <a:effectLst/>
                <a:uFillTx/>
                <a:latin typeface="Arial"/>
              </a:rPr>
              <a:t>Military</a:t>
            </a:r>
            <a:endParaRPr b="0" lang="en-IN" sz="2400" strike="noStrike" u="none">
              <a:solidFill>
                <a:srgbClr val="ffffff"/>
              </a:solidFill>
              <a:effectLst/>
              <a:uFillTx/>
              <a:latin typeface="Times New Roman"/>
            </a:endParaRPr>
          </a:p>
        </p:txBody>
      </p:sp>
      <p:sp>
        <p:nvSpPr>
          <p:cNvPr id="214" name=""/>
          <p:cNvSpPr/>
          <p:nvPr/>
        </p:nvSpPr>
        <p:spPr>
          <a:xfrm>
            <a:off x="371520" y="2409840"/>
            <a:ext cx="8343720" cy="0"/>
          </a:xfrm>
          <a:prstGeom prst="line">
            <a:avLst/>
          </a:prstGeom>
          <a:ln w="9360">
            <a:solidFill>
              <a:srgbClr val="618ffd"/>
            </a:solidFill>
            <a:miter/>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215" name=""/>
          <p:cNvSpPr/>
          <p:nvPr/>
        </p:nvSpPr>
        <p:spPr>
          <a:xfrm>
            <a:off x="371520" y="2867040"/>
            <a:ext cx="8343720" cy="0"/>
          </a:xfrm>
          <a:prstGeom prst="line">
            <a:avLst/>
          </a:prstGeom>
          <a:ln w="9360">
            <a:solidFill>
              <a:srgbClr val="618ffd"/>
            </a:solidFill>
            <a:miter/>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216" name=""/>
          <p:cNvSpPr/>
          <p:nvPr/>
        </p:nvSpPr>
        <p:spPr>
          <a:xfrm>
            <a:off x="371520" y="3333600"/>
            <a:ext cx="8343720" cy="0"/>
          </a:xfrm>
          <a:prstGeom prst="line">
            <a:avLst/>
          </a:prstGeom>
          <a:ln w="9360">
            <a:solidFill>
              <a:srgbClr val="618ffd"/>
            </a:solidFill>
            <a:miter/>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217" name=""/>
          <p:cNvSpPr/>
          <p:nvPr/>
        </p:nvSpPr>
        <p:spPr>
          <a:xfrm>
            <a:off x="371520" y="3790800"/>
            <a:ext cx="8343720" cy="0"/>
          </a:xfrm>
          <a:prstGeom prst="line">
            <a:avLst/>
          </a:prstGeom>
          <a:ln w="9360">
            <a:solidFill>
              <a:srgbClr val="618ffd"/>
            </a:solidFill>
            <a:miter/>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218" name=""/>
          <p:cNvSpPr/>
          <p:nvPr/>
        </p:nvSpPr>
        <p:spPr>
          <a:xfrm>
            <a:off x="371520" y="4257720"/>
            <a:ext cx="8343720" cy="0"/>
          </a:xfrm>
          <a:prstGeom prst="line">
            <a:avLst/>
          </a:prstGeom>
          <a:ln w="9360">
            <a:solidFill>
              <a:srgbClr val="618ffd"/>
            </a:solidFill>
            <a:miter/>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219" name=""/>
          <p:cNvSpPr/>
          <p:nvPr/>
        </p:nvSpPr>
        <p:spPr>
          <a:xfrm>
            <a:off x="371520" y="4714920"/>
            <a:ext cx="8343720" cy="0"/>
          </a:xfrm>
          <a:prstGeom prst="line">
            <a:avLst/>
          </a:prstGeom>
          <a:ln w="9360">
            <a:solidFill>
              <a:srgbClr val="618ffd"/>
            </a:solidFill>
            <a:miter/>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220" name=""/>
          <p:cNvSpPr/>
          <p:nvPr/>
        </p:nvSpPr>
        <p:spPr>
          <a:xfrm>
            <a:off x="371520" y="5172120"/>
            <a:ext cx="8343720" cy="0"/>
          </a:xfrm>
          <a:prstGeom prst="line">
            <a:avLst/>
          </a:prstGeom>
          <a:ln w="9360">
            <a:solidFill>
              <a:srgbClr val="618ffd"/>
            </a:solidFill>
            <a:miter/>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221" name=""/>
          <p:cNvSpPr/>
          <p:nvPr/>
        </p:nvSpPr>
        <p:spPr>
          <a:xfrm>
            <a:off x="412920" y="380880"/>
            <a:ext cx="8318160" cy="609840"/>
          </a:xfrm>
          <a:prstGeom prst="rect">
            <a:avLst/>
          </a:prstGeom>
          <a:noFill/>
          <a:ln w="0">
            <a:noFill/>
          </a:ln>
        </p:spPr>
        <p:style>
          <a:lnRef idx="0"/>
          <a:fillRef idx="0"/>
          <a:effectRef idx="0"/>
          <a:fontRef idx="minor"/>
        </p:style>
        <p:txBody>
          <a:bodyPr lIns="92160" rIns="92160" tIns="46080" bIns="46080" anchor="t">
            <a:noAutofit/>
          </a:bodyPr>
          <a:p>
            <a:pPr>
              <a:lnSpc>
                <a:spcPct val="8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IN" sz="2800" strike="noStrike" u="none">
                <a:solidFill>
                  <a:srgbClr val="fafd00"/>
                </a:solidFill>
                <a:effectLst/>
                <a:uFillTx/>
                <a:latin typeface="Arial"/>
              </a:rPr>
              <a:t>Interregional, Interstate, and International Transportation Needs for Key Industries</a:t>
            </a:r>
            <a:endParaRPr b="0" lang="en-IN" sz="2800" strike="noStrike" u="none">
              <a:solidFill>
                <a:srgbClr val="ffffff"/>
              </a:solidFill>
              <a:effectLst/>
              <a:uFillTx/>
              <a:latin typeface="Times New Roman"/>
            </a:endParaRPr>
          </a:p>
        </p:txBody>
      </p:sp>
      <p:grpSp>
        <p:nvGrpSpPr>
          <p:cNvPr id="222" name=""/>
          <p:cNvGrpSpPr/>
          <p:nvPr/>
        </p:nvGrpSpPr>
        <p:grpSpPr>
          <a:xfrm>
            <a:off x="7916760" y="1235160"/>
            <a:ext cx="503280" cy="4295520"/>
            <a:chOff x="7916760" y="1235160"/>
            <a:chExt cx="503280" cy="4295520"/>
          </a:xfrm>
        </p:grpSpPr>
        <p:grpSp>
          <p:nvGrpSpPr>
            <p:cNvPr id="223" name=""/>
            <p:cNvGrpSpPr/>
            <p:nvPr/>
          </p:nvGrpSpPr>
          <p:grpSpPr>
            <a:xfrm>
              <a:off x="8031240" y="2052720"/>
              <a:ext cx="274680" cy="274680"/>
              <a:chOff x="8031240" y="2052720"/>
              <a:chExt cx="274680" cy="274680"/>
            </a:xfrm>
          </p:grpSpPr>
          <p:sp>
            <p:nvSpPr>
              <p:cNvPr id="224" name=""/>
              <p:cNvSpPr/>
              <p:nvPr/>
            </p:nvSpPr>
            <p:spPr>
              <a:xfrm>
                <a:off x="8031240" y="2052720"/>
                <a:ext cx="274680" cy="274680"/>
              </a:xfrm>
              <a:prstGeom prst="ellipse">
                <a:avLst/>
              </a:prstGeom>
              <a:solidFill>
                <a:srgbClr val="fafd00"/>
              </a:solidFill>
              <a:ln w="9360">
                <a:solidFill>
                  <a:srgbClr val="618ffd"/>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225" name=""/>
              <p:cNvSpPr/>
              <p:nvPr/>
            </p:nvSpPr>
            <p:spPr>
              <a:xfrm>
                <a:off x="8141760" y="2163240"/>
                <a:ext cx="53280" cy="53280"/>
              </a:xfrm>
              <a:prstGeom prst="ellipse">
                <a:avLst/>
              </a:prstGeom>
              <a:solidFill>
                <a:srgbClr val="618ffd"/>
              </a:solidFill>
              <a:ln w="9360">
                <a:solidFill>
                  <a:srgbClr val="618ffd"/>
                </a:solidFill>
                <a:miter/>
              </a:ln>
            </p:spPr>
            <p:style>
              <a:lnRef idx="0"/>
              <a:fillRef idx="0"/>
              <a:effectRef idx="0"/>
              <a:fontRef idx="minor"/>
            </p:style>
            <p:txBody>
              <a:bodyPr wrap="none" lIns="90000" rIns="90000" tIns="-8640" bIns="-8640" anchor="ctr">
                <a:noAutofit/>
              </a:bodyPr>
              <a:p>
                <a:endParaRPr b="0" lang="en-IN" sz="2400" strike="noStrike" u="none">
                  <a:solidFill>
                    <a:srgbClr val="ffffff"/>
                  </a:solidFill>
                  <a:effectLst/>
                  <a:uFillTx/>
                  <a:latin typeface="Times New Roman"/>
                </a:endParaRPr>
              </a:p>
            </p:txBody>
          </p:sp>
        </p:grpSp>
        <p:grpSp>
          <p:nvGrpSpPr>
            <p:cNvPr id="226" name=""/>
            <p:cNvGrpSpPr/>
            <p:nvPr/>
          </p:nvGrpSpPr>
          <p:grpSpPr>
            <a:xfrm>
              <a:off x="8031240" y="2973240"/>
              <a:ext cx="274680" cy="274680"/>
              <a:chOff x="8031240" y="2973240"/>
              <a:chExt cx="274680" cy="274680"/>
            </a:xfrm>
          </p:grpSpPr>
          <p:sp>
            <p:nvSpPr>
              <p:cNvPr id="227" name=""/>
              <p:cNvSpPr/>
              <p:nvPr/>
            </p:nvSpPr>
            <p:spPr>
              <a:xfrm>
                <a:off x="8031240" y="2973240"/>
                <a:ext cx="274680" cy="274680"/>
              </a:xfrm>
              <a:prstGeom prst="ellipse">
                <a:avLst/>
              </a:prstGeom>
              <a:solidFill>
                <a:srgbClr val="fafd00"/>
              </a:solidFill>
              <a:ln w="9360">
                <a:solidFill>
                  <a:srgbClr val="618ffd"/>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228" name=""/>
              <p:cNvSpPr/>
              <p:nvPr/>
            </p:nvSpPr>
            <p:spPr>
              <a:xfrm>
                <a:off x="8141760" y="3083760"/>
                <a:ext cx="53280" cy="53280"/>
              </a:xfrm>
              <a:prstGeom prst="ellipse">
                <a:avLst/>
              </a:prstGeom>
              <a:solidFill>
                <a:srgbClr val="618ffd"/>
              </a:solidFill>
              <a:ln w="9360">
                <a:solidFill>
                  <a:srgbClr val="618ffd"/>
                </a:solidFill>
                <a:miter/>
              </a:ln>
            </p:spPr>
            <p:style>
              <a:lnRef idx="0"/>
              <a:fillRef idx="0"/>
              <a:effectRef idx="0"/>
              <a:fontRef idx="minor"/>
            </p:style>
            <p:txBody>
              <a:bodyPr wrap="none" lIns="90000" rIns="90000" tIns="-8640" bIns="-8640" anchor="ctr">
                <a:noAutofit/>
              </a:bodyPr>
              <a:p>
                <a:endParaRPr b="0" lang="en-IN" sz="2400" strike="noStrike" u="none">
                  <a:solidFill>
                    <a:srgbClr val="ffffff"/>
                  </a:solidFill>
                  <a:effectLst/>
                  <a:uFillTx/>
                  <a:latin typeface="Times New Roman"/>
                </a:endParaRPr>
              </a:p>
            </p:txBody>
          </p:sp>
        </p:grpSp>
        <p:grpSp>
          <p:nvGrpSpPr>
            <p:cNvPr id="229" name=""/>
            <p:cNvGrpSpPr/>
            <p:nvPr/>
          </p:nvGrpSpPr>
          <p:grpSpPr>
            <a:xfrm>
              <a:off x="8031240" y="3424320"/>
              <a:ext cx="274680" cy="274680"/>
              <a:chOff x="8031240" y="3424320"/>
              <a:chExt cx="274680" cy="274680"/>
            </a:xfrm>
          </p:grpSpPr>
          <p:sp>
            <p:nvSpPr>
              <p:cNvPr id="230" name=""/>
              <p:cNvSpPr/>
              <p:nvPr/>
            </p:nvSpPr>
            <p:spPr>
              <a:xfrm>
                <a:off x="8031240" y="3424320"/>
                <a:ext cx="274680" cy="274680"/>
              </a:xfrm>
              <a:prstGeom prst="ellipse">
                <a:avLst/>
              </a:prstGeom>
              <a:solidFill>
                <a:srgbClr val="fafd00"/>
              </a:solidFill>
              <a:ln w="9360">
                <a:solidFill>
                  <a:srgbClr val="618ffd"/>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231" name=""/>
              <p:cNvSpPr/>
              <p:nvPr/>
            </p:nvSpPr>
            <p:spPr>
              <a:xfrm>
                <a:off x="8141760" y="3534840"/>
                <a:ext cx="53280" cy="53280"/>
              </a:xfrm>
              <a:prstGeom prst="ellipse">
                <a:avLst/>
              </a:prstGeom>
              <a:solidFill>
                <a:srgbClr val="618ffd"/>
              </a:solidFill>
              <a:ln w="9360">
                <a:solidFill>
                  <a:srgbClr val="618ffd"/>
                </a:solidFill>
                <a:miter/>
              </a:ln>
            </p:spPr>
            <p:style>
              <a:lnRef idx="0"/>
              <a:fillRef idx="0"/>
              <a:effectRef idx="0"/>
              <a:fontRef idx="minor"/>
            </p:style>
            <p:txBody>
              <a:bodyPr wrap="none" lIns="90000" rIns="90000" tIns="-8640" bIns="-8640" anchor="ctr">
                <a:noAutofit/>
              </a:bodyPr>
              <a:p>
                <a:endParaRPr b="0" lang="en-IN" sz="2400" strike="noStrike" u="none">
                  <a:solidFill>
                    <a:srgbClr val="ffffff"/>
                  </a:solidFill>
                  <a:effectLst/>
                  <a:uFillTx/>
                  <a:latin typeface="Times New Roman"/>
                </a:endParaRPr>
              </a:p>
            </p:txBody>
          </p:sp>
        </p:grpSp>
        <p:grpSp>
          <p:nvGrpSpPr>
            <p:cNvPr id="232" name=""/>
            <p:cNvGrpSpPr/>
            <p:nvPr/>
          </p:nvGrpSpPr>
          <p:grpSpPr>
            <a:xfrm>
              <a:off x="8031240" y="4803840"/>
              <a:ext cx="274680" cy="274680"/>
              <a:chOff x="8031240" y="4803840"/>
              <a:chExt cx="274680" cy="274680"/>
            </a:xfrm>
          </p:grpSpPr>
          <p:sp>
            <p:nvSpPr>
              <p:cNvPr id="233" name=""/>
              <p:cNvSpPr/>
              <p:nvPr/>
            </p:nvSpPr>
            <p:spPr>
              <a:xfrm>
                <a:off x="8031240" y="4803840"/>
                <a:ext cx="274680" cy="274680"/>
              </a:xfrm>
              <a:prstGeom prst="ellipse">
                <a:avLst/>
              </a:prstGeom>
              <a:solidFill>
                <a:srgbClr val="fafd00"/>
              </a:solidFill>
              <a:ln w="9360">
                <a:solidFill>
                  <a:srgbClr val="618ffd"/>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234" name=""/>
              <p:cNvSpPr/>
              <p:nvPr/>
            </p:nvSpPr>
            <p:spPr>
              <a:xfrm>
                <a:off x="8141760" y="4914360"/>
                <a:ext cx="53280" cy="53280"/>
              </a:xfrm>
              <a:prstGeom prst="ellipse">
                <a:avLst/>
              </a:prstGeom>
              <a:solidFill>
                <a:srgbClr val="618ffd"/>
              </a:solidFill>
              <a:ln w="9360">
                <a:solidFill>
                  <a:srgbClr val="618ffd"/>
                </a:solidFill>
                <a:miter/>
              </a:ln>
            </p:spPr>
            <p:style>
              <a:lnRef idx="0"/>
              <a:fillRef idx="0"/>
              <a:effectRef idx="0"/>
              <a:fontRef idx="minor"/>
            </p:style>
            <p:txBody>
              <a:bodyPr wrap="none" lIns="90000" rIns="90000" tIns="-8640" bIns="-8640" anchor="ctr">
                <a:noAutofit/>
              </a:bodyPr>
              <a:p>
                <a:endParaRPr b="0" lang="en-IN" sz="2400" strike="noStrike" u="none">
                  <a:solidFill>
                    <a:srgbClr val="ffffff"/>
                  </a:solidFill>
                  <a:effectLst/>
                  <a:uFillTx/>
                  <a:latin typeface="Times New Roman"/>
                </a:endParaRPr>
              </a:p>
            </p:txBody>
          </p:sp>
        </p:grpSp>
        <p:grpSp>
          <p:nvGrpSpPr>
            <p:cNvPr id="235" name=""/>
            <p:cNvGrpSpPr/>
            <p:nvPr/>
          </p:nvGrpSpPr>
          <p:grpSpPr>
            <a:xfrm>
              <a:off x="8031240" y="5256360"/>
              <a:ext cx="274680" cy="274320"/>
              <a:chOff x="8031240" y="5256360"/>
              <a:chExt cx="274680" cy="274320"/>
            </a:xfrm>
          </p:grpSpPr>
          <p:sp>
            <p:nvSpPr>
              <p:cNvPr id="236" name=""/>
              <p:cNvSpPr/>
              <p:nvPr/>
            </p:nvSpPr>
            <p:spPr>
              <a:xfrm>
                <a:off x="8031240" y="5256360"/>
                <a:ext cx="274680" cy="274320"/>
              </a:xfrm>
              <a:prstGeom prst="ellipse">
                <a:avLst/>
              </a:prstGeom>
              <a:solidFill>
                <a:srgbClr val="fafd00"/>
              </a:solidFill>
              <a:ln w="9360">
                <a:solidFill>
                  <a:srgbClr val="618ffd"/>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237" name=""/>
              <p:cNvSpPr/>
              <p:nvPr/>
            </p:nvSpPr>
            <p:spPr>
              <a:xfrm>
                <a:off x="8141760" y="5366520"/>
                <a:ext cx="53280" cy="53280"/>
              </a:xfrm>
              <a:prstGeom prst="ellipse">
                <a:avLst/>
              </a:prstGeom>
              <a:solidFill>
                <a:srgbClr val="618ffd"/>
              </a:solidFill>
              <a:ln w="9360">
                <a:solidFill>
                  <a:srgbClr val="618ffd"/>
                </a:solidFill>
                <a:miter/>
              </a:ln>
            </p:spPr>
            <p:style>
              <a:lnRef idx="0"/>
              <a:fillRef idx="0"/>
              <a:effectRef idx="0"/>
              <a:fontRef idx="minor"/>
            </p:style>
            <p:txBody>
              <a:bodyPr wrap="none" lIns="90000" rIns="90000" tIns="-8640" bIns="-8640" anchor="ctr">
                <a:noAutofit/>
              </a:bodyPr>
              <a:p>
                <a:endParaRPr b="0" lang="en-IN" sz="2400" strike="noStrike" u="none">
                  <a:solidFill>
                    <a:srgbClr val="ffffff"/>
                  </a:solidFill>
                  <a:effectLst/>
                  <a:uFillTx/>
                  <a:latin typeface="Times New Roman"/>
                </a:endParaRPr>
              </a:p>
            </p:txBody>
          </p:sp>
        </p:grpSp>
        <p:grpSp>
          <p:nvGrpSpPr>
            <p:cNvPr id="238" name=""/>
            <p:cNvGrpSpPr/>
            <p:nvPr/>
          </p:nvGrpSpPr>
          <p:grpSpPr>
            <a:xfrm>
              <a:off x="7916760" y="1235160"/>
              <a:ext cx="503280" cy="503280"/>
              <a:chOff x="7916760" y="1235160"/>
              <a:chExt cx="503280" cy="503280"/>
            </a:xfrm>
          </p:grpSpPr>
          <p:sp>
            <p:nvSpPr>
              <p:cNvPr id="239" name=""/>
              <p:cNvSpPr/>
              <p:nvPr/>
            </p:nvSpPr>
            <p:spPr>
              <a:xfrm>
                <a:off x="7916760" y="1235160"/>
                <a:ext cx="503280" cy="503280"/>
              </a:xfrm>
              <a:prstGeom prst="ellipse">
                <a:avLst/>
              </a:prstGeom>
              <a:solidFill>
                <a:srgbClr val="618ffd"/>
              </a:solidFill>
              <a:ln w="38160">
                <a:solidFill>
                  <a:srgbClr val="919191"/>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240" name=""/>
              <p:cNvSpPr/>
              <p:nvPr/>
            </p:nvSpPr>
            <p:spPr>
              <a:xfrm>
                <a:off x="8167680" y="1390680"/>
                <a:ext cx="0" cy="63360"/>
              </a:xfrm>
              <a:prstGeom prst="line">
                <a:avLst/>
              </a:prstGeom>
              <a:ln w="28440">
                <a:solidFill>
                  <a:srgbClr val="ffffff"/>
                </a:solidFill>
                <a:miter/>
              </a:ln>
            </p:spPr>
            <p:style>
              <a:lnRef idx="0"/>
              <a:fillRef idx="0"/>
              <a:effectRef idx="0"/>
              <a:fontRef idx="minor"/>
            </p:style>
            <p:txBody>
              <a:bodyPr lIns="90000" rIns="90000" tIns="16560" bIns="16560" anchor="t">
                <a:noAutofit/>
              </a:bodyPr>
              <a:p>
                <a:endParaRPr b="0" lang="en-IN" sz="2400" strike="noStrike" u="none">
                  <a:solidFill>
                    <a:srgbClr val="ffffff"/>
                  </a:solidFill>
                  <a:effectLst/>
                  <a:uFillTx/>
                  <a:latin typeface="Times New Roman"/>
                </a:endParaRPr>
              </a:p>
            </p:txBody>
          </p:sp>
          <p:sp>
            <p:nvSpPr>
              <p:cNvPr id="241" name=""/>
              <p:cNvSpPr/>
              <p:nvPr/>
            </p:nvSpPr>
            <p:spPr>
              <a:xfrm>
                <a:off x="8167680" y="1514520"/>
                <a:ext cx="0" cy="63360"/>
              </a:xfrm>
              <a:prstGeom prst="line">
                <a:avLst/>
              </a:prstGeom>
              <a:ln w="28440">
                <a:solidFill>
                  <a:srgbClr val="ffffff"/>
                </a:solidFill>
                <a:miter/>
              </a:ln>
            </p:spPr>
            <p:style>
              <a:lnRef idx="0"/>
              <a:fillRef idx="0"/>
              <a:effectRef idx="0"/>
              <a:fontRef idx="minor"/>
            </p:style>
            <p:txBody>
              <a:bodyPr lIns="90000" rIns="90000" tIns="16560" bIns="16560" anchor="t">
                <a:noAutofit/>
              </a:bodyPr>
              <a:p>
                <a:endParaRPr b="0" lang="en-IN" sz="2400" strike="noStrike" u="none">
                  <a:solidFill>
                    <a:srgbClr val="ffffff"/>
                  </a:solidFill>
                  <a:effectLst/>
                  <a:uFillTx/>
                  <a:latin typeface="Times New Roman"/>
                </a:endParaRPr>
              </a:p>
            </p:txBody>
          </p:sp>
          <p:sp>
            <p:nvSpPr>
              <p:cNvPr id="242" name=""/>
              <p:cNvSpPr/>
              <p:nvPr/>
            </p:nvSpPr>
            <p:spPr>
              <a:xfrm>
                <a:off x="8167680" y="1638360"/>
                <a:ext cx="0" cy="63360"/>
              </a:xfrm>
              <a:prstGeom prst="line">
                <a:avLst/>
              </a:prstGeom>
              <a:ln w="28440">
                <a:solidFill>
                  <a:srgbClr val="ffffff"/>
                </a:solidFill>
                <a:miter/>
              </a:ln>
            </p:spPr>
            <p:style>
              <a:lnRef idx="0"/>
              <a:fillRef idx="0"/>
              <a:effectRef idx="0"/>
              <a:fontRef idx="minor"/>
            </p:style>
            <p:txBody>
              <a:bodyPr lIns="90000" rIns="90000" tIns="16560" bIns="16560" anchor="t">
                <a:noAutofit/>
              </a:bodyPr>
              <a:p>
                <a:endParaRPr b="0" lang="en-IN" sz="2400" strike="noStrike" u="none">
                  <a:solidFill>
                    <a:srgbClr val="ffffff"/>
                  </a:solidFill>
                  <a:effectLst/>
                  <a:uFillTx/>
                  <a:latin typeface="Times New Roman"/>
                </a:endParaRPr>
              </a:p>
            </p:txBody>
          </p:sp>
          <p:sp>
            <p:nvSpPr>
              <p:cNvPr id="243" name=""/>
              <p:cNvSpPr/>
              <p:nvPr/>
            </p:nvSpPr>
            <p:spPr>
              <a:xfrm flipV="1">
                <a:off x="8039880" y="1237320"/>
                <a:ext cx="64800" cy="462240"/>
              </a:xfrm>
              <a:prstGeom prst="line">
                <a:avLst/>
              </a:prstGeom>
              <a:ln w="38160">
                <a:solidFill>
                  <a:srgbClr val="ffffff"/>
                </a:solidFill>
                <a:miter/>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244" name=""/>
              <p:cNvSpPr/>
              <p:nvPr/>
            </p:nvSpPr>
            <p:spPr>
              <a:xfrm flipH="1" flipV="1">
                <a:off x="8235360" y="1237320"/>
                <a:ext cx="64800" cy="462240"/>
              </a:xfrm>
              <a:prstGeom prst="line">
                <a:avLst/>
              </a:prstGeom>
              <a:ln w="38160">
                <a:solidFill>
                  <a:srgbClr val="ffffff"/>
                </a:solidFill>
                <a:miter/>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245" name=""/>
              <p:cNvSpPr/>
              <p:nvPr/>
            </p:nvSpPr>
            <p:spPr>
              <a:xfrm>
                <a:off x="8170920" y="1273320"/>
                <a:ext cx="0" cy="63360"/>
              </a:xfrm>
              <a:prstGeom prst="line">
                <a:avLst/>
              </a:prstGeom>
              <a:ln w="28440">
                <a:solidFill>
                  <a:srgbClr val="ffffff"/>
                </a:solidFill>
                <a:miter/>
              </a:ln>
            </p:spPr>
            <p:style>
              <a:lnRef idx="0"/>
              <a:fillRef idx="0"/>
              <a:effectRef idx="0"/>
              <a:fontRef idx="minor"/>
            </p:style>
            <p:txBody>
              <a:bodyPr lIns="90000" rIns="90000" tIns="16560" bIns="16560" anchor="t">
                <a:noAutofit/>
              </a:bodyPr>
              <a:p>
                <a:endParaRPr b="0" lang="en-IN" sz="2400" strike="noStrike" u="none">
                  <a:solidFill>
                    <a:srgbClr val="ffffff"/>
                  </a:solidFill>
                  <a:effectLst/>
                  <a:uFillTx/>
                  <a:latin typeface="Times New Roman"/>
                </a:endParaRPr>
              </a:p>
            </p:txBody>
          </p:sp>
        </p:grpSp>
        <p:grpSp>
          <p:nvGrpSpPr>
            <p:cNvPr id="246" name=""/>
            <p:cNvGrpSpPr/>
            <p:nvPr/>
          </p:nvGrpSpPr>
          <p:grpSpPr>
            <a:xfrm>
              <a:off x="8031240" y="2517840"/>
              <a:ext cx="274320" cy="274320"/>
              <a:chOff x="8031240" y="2517840"/>
              <a:chExt cx="274320" cy="274320"/>
            </a:xfrm>
          </p:grpSpPr>
          <p:sp>
            <p:nvSpPr>
              <p:cNvPr id="247" name=""/>
              <p:cNvSpPr/>
              <p:nvPr/>
            </p:nvSpPr>
            <p:spPr>
              <a:xfrm>
                <a:off x="8033760" y="2517840"/>
                <a:ext cx="271800" cy="270720"/>
              </a:xfrm>
              <a:prstGeom prst="ellipse">
                <a:avLst/>
              </a:prstGeom>
              <a:solidFill>
                <a:srgbClr val="618ffd"/>
              </a:solidFill>
              <a:ln w="9360">
                <a:solidFill>
                  <a:srgbClr val="618ffd"/>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248" name=""/>
              <p:cNvSpPr/>
              <p:nvPr/>
            </p:nvSpPr>
            <p:spPr>
              <a:xfrm>
                <a:off x="8031240" y="2521440"/>
                <a:ext cx="271800" cy="270720"/>
              </a:xfrm>
              <a:prstGeom prst="blockArc">
                <a:avLst>
                  <a:gd name="adj1" fmla="val 0"/>
                  <a:gd name="adj2" fmla="val 10800000"/>
                  <a:gd name="adj3" fmla="val 50000"/>
                </a:avLst>
              </a:prstGeom>
              <a:solidFill>
                <a:srgbClr val="fafd00"/>
              </a:solidFill>
              <a:ln w="9360">
                <a:solidFill>
                  <a:srgbClr val="618ffd"/>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grpSp>
        <p:grpSp>
          <p:nvGrpSpPr>
            <p:cNvPr id="249" name=""/>
            <p:cNvGrpSpPr/>
            <p:nvPr/>
          </p:nvGrpSpPr>
          <p:grpSpPr>
            <a:xfrm>
              <a:off x="8031240" y="4348080"/>
              <a:ext cx="274320" cy="274320"/>
              <a:chOff x="8031240" y="4348080"/>
              <a:chExt cx="274320" cy="274320"/>
            </a:xfrm>
          </p:grpSpPr>
          <p:sp>
            <p:nvSpPr>
              <p:cNvPr id="250" name=""/>
              <p:cNvSpPr/>
              <p:nvPr/>
            </p:nvSpPr>
            <p:spPr>
              <a:xfrm>
                <a:off x="8033760" y="4348080"/>
                <a:ext cx="271800" cy="270720"/>
              </a:xfrm>
              <a:prstGeom prst="ellipse">
                <a:avLst/>
              </a:prstGeom>
              <a:solidFill>
                <a:srgbClr val="618ffd"/>
              </a:solidFill>
              <a:ln w="9360">
                <a:solidFill>
                  <a:srgbClr val="618ffd"/>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251" name=""/>
              <p:cNvSpPr/>
              <p:nvPr/>
            </p:nvSpPr>
            <p:spPr>
              <a:xfrm>
                <a:off x="8031240" y="4351680"/>
                <a:ext cx="271800" cy="270720"/>
              </a:xfrm>
              <a:prstGeom prst="blockArc">
                <a:avLst>
                  <a:gd name="adj1" fmla="val 0"/>
                  <a:gd name="adj2" fmla="val 10800000"/>
                  <a:gd name="adj3" fmla="val 50000"/>
                </a:avLst>
              </a:prstGeom>
              <a:solidFill>
                <a:srgbClr val="fafd00"/>
              </a:solidFill>
              <a:ln w="9360">
                <a:solidFill>
                  <a:srgbClr val="618ffd"/>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grpSp>
        <p:grpSp>
          <p:nvGrpSpPr>
            <p:cNvPr id="252" name=""/>
            <p:cNvGrpSpPr/>
            <p:nvPr/>
          </p:nvGrpSpPr>
          <p:grpSpPr>
            <a:xfrm>
              <a:off x="8031240" y="3890880"/>
              <a:ext cx="274680" cy="274680"/>
              <a:chOff x="8031240" y="3890880"/>
              <a:chExt cx="274680" cy="274680"/>
            </a:xfrm>
          </p:grpSpPr>
          <p:sp>
            <p:nvSpPr>
              <p:cNvPr id="253" name=""/>
              <p:cNvSpPr/>
              <p:nvPr/>
            </p:nvSpPr>
            <p:spPr>
              <a:xfrm>
                <a:off x="8031240" y="3890880"/>
                <a:ext cx="274680" cy="274680"/>
              </a:xfrm>
              <a:prstGeom prst="ellipse">
                <a:avLst/>
              </a:prstGeom>
              <a:solidFill>
                <a:srgbClr val="fafd00"/>
              </a:solidFill>
              <a:ln w="9360">
                <a:solidFill>
                  <a:srgbClr val="618ffd"/>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254" name=""/>
              <p:cNvSpPr/>
              <p:nvPr/>
            </p:nvSpPr>
            <p:spPr>
              <a:xfrm>
                <a:off x="8141760" y="4001400"/>
                <a:ext cx="53280" cy="53280"/>
              </a:xfrm>
              <a:prstGeom prst="ellipse">
                <a:avLst/>
              </a:prstGeom>
              <a:solidFill>
                <a:srgbClr val="618ffd"/>
              </a:solidFill>
              <a:ln w="9360">
                <a:solidFill>
                  <a:srgbClr val="618ffd"/>
                </a:solidFill>
                <a:miter/>
              </a:ln>
            </p:spPr>
            <p:style>
              <a:lnRef idx="0"/>
              <a:fillRef idx="0"/>
              <a:effectRef idx="0"/>
              <a:fontRef idx="minor"/>
            </p:style>
            <p:txBody>
              <a:bodyPr wrap="none" lIns="90000" rIns="90000" tIns="-8640" bIns="-8640" anchor="ctr">
                <a:noAutofit/>
              </a:bodyPr>
              <a:p>
                <a:endParaRPr b="0" lang="en-IN" sz="2400" strike="noStrike" u="none">
                  <a:solidFill>
                    <a:srgbClr val="ffffff"/>
                  </a:solidFill>
                  <a:effectLst/>
                  <a:uFillTx/>
                  <a:latin typeface="Times New Roman"/>
                </a:endParaRPr>
              </a:p>
            </p:txBody>
          </p:sp>
        </p:grpSp>
        <p:grpSp>
          <p:nvGrpSpPr>
            <p:cNvPr id="255" name=""/>
            <p:cNvGrpSpPr/>
            <p:nvPr/>
          </p:nvGrpSpPr>
          <p:grpSpPr>
            <a:xfrm>
              <a:off x="8031240" y="2517840"/>
              <a:ext cx="274680" cy="274680"/>
              <a:chOff x="8031240" y="2517840"/>
              <a:chExt cx="274680" cy="274680"/>
            </a:xfrm>
          </p:grpSpPr>
          <p:sp>
            <p:nvSpPr>
              <p:cNvPr id="256" name=""/>
              <p:cNvSpPr/>
              <p:nvPr/>
            </p:nvSpPr>
            <p:spPr>
              <a:xfrm>
                <a:off x="8031240" y="2517840"/>
                <a:ext cx="274680" cy="274680"/>
              </a:xfrm>
              <a:prstGeom prst="ellipse">
                <a:avLst/>
              </a:prstGeom>
              <a:solidFill>
                <a:srgbClr val="fafd00"/>
              </a:solidFill>
              <a:ln w="9360">
                <a:solidFill>
                  <a:srgbClr val="618ffd"/>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257" name=""/>
              <p:cNvSpPr/>
              <p:nvPr/>
            </p:nvSpPr>
            <p:spPr>
              <a:xfrm>
                <a:off x="8141760" y="2628360"/>
                <a:ext cx="53280" cy="53280"/>
              </a:xfrm>
              <a:prstGeom prst="ellipse">
                <a:avLst/>
              </a:prstGeom>
              <a:solidFill>
                <a:srgbClr val="618ffd"/>
              </a:solidFill>
              <a:ln w="9360">
                <a:solidFill>
                  <a:srgbClr val="618ffd"/>
                </a:solidFill>
                <a:miter/>
              </a:ln>
            </p:spPr>
            <p:style>
              <a:lnRef idx="0"/>
              <a:fillRef idx="0"/>
              <a:effectRef idx="0"/>
              <a:fontRef idx="minor"/>
            </p:style>
            <p:txBody>
              <a:bodyPr wrap="none" lIns="90000" rIns="90000" tIns="-8640" bIns="-8640" anchor="ctr">
                <a:noAutofit/>
              </a:bodyPr>
              <a:p>
                <a:endParaRPr b="0" lang="en-IN" sz="2400" strike="noStrike" u="none">
                  <a:solidFill>
                    <a:srgbClr val="ffffff"/>
                  </a:solidFill>
                  <a:effectLst/>
                  <a:uFillTx/>
                  <a:latin typeface="Times New Roman"/>
                </a:endParaRPr>
              </a:p>
            </p:txBody>
          </p:sp>
        </p:grpSp>
      </p:grpSp>
      <p:grpSp>
        <p:nvGrpSpPr>
          <p:cNvPr id="258" name=""/>
          <p:cNvGrpSpPr/>
          <p:nvPr/>
        </p:nvGrpSpPr>
        <p:grpSpPr>
          <a:xfrm>
            <a:off x="4013280" y="1214280"/>
            <a:ext cx="547560" cy="4316400"/>
            <a:chOff x="4013280" y="1214280"/>
            <a:chExt cx="547560" cy="4316400"/>
          </a:xfrm>
        </p:grpSpPr>
        <p:grpSp>
          <p:nvGrpSpPr>
            <p:cNvPr id="259" name=""/>
            <p:cNvGrpSpPr/>
            <p:nvPr/>
          </p:nvGrpSpPr>
          <p:grpSpPr>
            <a:xfrm>
              <a:off x="4149720" y="2973240"/>
              <a:ext cx="274320" cy="274320"/>
              <a:chOff x="4149720" y="2973240"/>
              <a:chExt cx="274320" cy="274320"/>
            </a:xfrm>
          </p:grpSpPr>
          <p:sp>
            <p:nvSpPr>
              <p:cNvPr id="260" name=""/>
              <p:cNvSpPr/>
              <p:nvPr/>
            </p:nvSpPr>
            <p:spPr>
              <a:xfrm>
                <a:off x="4152240" y="2973240"/>
                <a:ext cx="271800" cy="270720"/>
              </a:xfrm>
              <a:prstGeom prst="ellipse">
                <a:avLst/>
              </a:prstGeom>
              <a:solidFill>
                <a:srgbClr val="618ffd"/>
              </a:solidFill>
              <a:ln w="9360">
                <a:solidFill>
                  <a:srgbClr val="618ffd"/>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261" name=""/>
              <p:cNvSpPr/>
              <p:nvPr/>
            </p:nvSpPr>
            <p:spPr>
              <a:xfrm>
                <a:off x="4149720" y="2976840"/>
                <a:ext cx="271800" cy="270720"/>
              </a:xfrm>
              <a:prstGeom prst="blockArc">
                <a:avLst>
                  <a:gd name="adj1" fmla="val 0"/>
                  <a:gd name="adj2" fmla="val 10800000"/>
                  <a:gd name="adj3" fmla="val 50000"/>
                </a:avLst>
              </a:prstGeom>
              <a:solidFill>
                <a:srgbClr val="fafd00"/>
              </a:solidFill>
              <a:ln w="9360">
                <a:solidFill>
                  <a:srgbClr val="618ffd"/>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grpSp>
        <p:sp>
          <p:nvSpPr>
            <p:cNvPr id="262" name=""/>
            <p:cNvSpPr/>
            <p:nvPr/>
          </p:nvSpPr>
          <p:spPr>
            <a:xfrm>
              <a:off x="4149720" y="2052720"/>
              <a:ext cx="274680" cy="274680"/>
            </a:xfrm>
            <a:prstGeom prst="ellipse">
              <a:avLst/>
            </a:prstGeom>
            <a:solidFill>
              <a:srgbClr val="c0c0c0"/>
            </a:solidFill>
            <a:ln w="9360">
              <a:solidFill>
                <a:srgbClr val="fafd00"/>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grpSp>
          <p:nvGrpSpPr>
            <p:cNvPr id="263" name=""/>
            <p:cNvGrpSpPr/>
            <p:nvPr/>
          </p:nvGrpSpPr>
          <p:grpSpPr>
            <a:xfrm>
              <a:off x="4149720" y="4803840"/>
              <a:ext cx="274680" cy="274680"/>
              <a:chOff x="4149720" y="4803840"/>
              <a:chExt cx="274680" cy="274680"/>
            </a:xfrm>
          </p:grpSpPr>
          <p:sp>
            <p:nvSpPr>
              <p:cNvPr id="264" name=""/>
              <p:cNvSpPr/>
              <p:nvPr/>
            </p:nvSpPr>
            <p:spPr>
              <a:xfrm>
                <a:off x="4149720" y="4803840"/>
                <a:ext cx="274680" cy="274680"/>
              </a:xfrm>
              <a:prstGeom prst="ellipse">
                <a:avLst/>
              </a:prstGeom>
              <a:solidFill>
                <a:srgbClr val="fafd00"/>
              </a:solidFill>
              <a:ln w="9360">
                <a:solidFill>
                  <a:srgbClr val="618ffd"/>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265" name=""/>
              <p:cNvSpPr/>
              <p:nvPr/>
            </p:nvSpPr>
            <p:spPr>
              <a:xfrm>
                <a:off x="4260240" y="4914360"/>
                <a:ext cx="53280" cy="53280"/>
              </a:xfrm>
              <a:prstGeom prst="ellipse">
                <a:avLst/>
              </a:prstGeom>
              <a:solidFill>
                <a:srgbClr val="618ffd"/>
              </a:solidFill>
              <a:ln w="9360">
                <a:solidFill>
                  <a:srgbClr val="618ffd"/>
                </a:solidFill>
                <a:miter/>
              </a:ln>
            </p:spPr>
            <p:style>
              <a:lnRef idx="0"/>
              <a:fillRef idx="0"/>
              <a:effectRef idx="0"/>
              <a:fontRef idx="minor"/>
            </p:style>
            <p:txBody>
              <a:bodyPr wrap="none" lIns="90000" rIns="90000" tIns="-8640" bIns="-8640" anchor="ctr">
                <a:noAutofit/>
              </a:bodyPr>
              <a:p>
                <a:endParaRPr b="0" lang="en-IN" sz="2400" strike="noStrike" u="none">
                  <a:solidFill>
                    <a:srgbClr val="ffffff"/>
                  </a:solidFill>
                  <a:effectLst/>
                  <a:uFillTx/>
                  <a:latin typeface="Times New Roman"/>
                </a:endParaRPr>
              </a:p>
            </p:txBody>
          </p:sp>
        </p:grpSp>
        <p:grpSp>
          <p:nvGrpSpPr>
            <p:cNvPr id="266" name=""/>
            <p:cNvGrpSpPr/>
            <p:nvPr/>
          </p:nvGrpSpPr>
          <p:grpSpPr>
            <a:xfrm>
              <a:off x="4149720" y="4348080"/>
              <a:ext cx="274320" cy="274320"/>
              <a:chOff x="4149720" y="4348080"/>
              <a:chExt cx="274320" cy="274320"/>
            </a:xfrm>
          </p:grpSpPr>
          <p:sp>
            <p:nvSpPr>
              <p:cNvPr id="267" name=""/>
              <p:cNvSpPr/>
              <p:nvPr/>
            </p:nvSpPr>
            <p:spPr>
              <a:xfrm>
                <a:off x="4152240" y="4348080"/>
                <a:ext cx="271800" cy="270720"/>
              </a:xfrm>
              <a:prstGeom prst="ellipse">
                <a:avLst/>
              </a:prstGeom>
              <a:solidFill>
                <a:srgbClr val="618ffd"/>
              </a:solidFill>
              <a:ln w="9360">
                <a:solidFill>
                  <a:srgbClr val="618ffd"/>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268" name=""/>
              <p:cNvSpPr/>
              <p:nvPr/>
            </p:nvSpPr>
            <p:spPr>
              <a:xfrm>
                <a:off x="4149720" y="4351680"/>
                <a:ext cx="271800" cy="270720"/>
              </a:xfrm>
              <a:prstGeom prst="blockArc">
                <a:avLst>
                  <a:gd name="adj1" fmla="val 0"/>
                  <a:gd name="adj2" fmla="val 10800000"/>
                  <a:gd name="adj3" fmla="val 50000"/>
                </a:avLst>
              </a:prstGeom>
              <a:solidFill>
                <a:srgbClr val="fafd00"/>
              </a:solidFill>
              <a:ln w="9360">
                <a:solidFill>
                  <a:srgbClr val="618ffd"/>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grpSp>
        <p:pic>
          <p:nvPicPr>
            <p:cNvPr id="269" name="" descr=""/>
            <p:cNvPicPr/>
            <p:nvPr/>
          </p:nvPicPr>
          <p:blipFill>
            <a:blip r:embed="rId1"/>
            <a:srcRect l="0" t="0" r="0" b="22200"/>
            <a:stretch/>
          </p:blipFill>
          <p:spPr>
            <a:xfrm>
              <a:off x="4013280" y="1214280"/>
              <a:ext cx="547560" cy="551160"/>
            </a:xfrm>
            <a:prstGeom prst="rect">
              <a:avLst/>
            </a:prstGeom>
            <a:noFill/>
            <a:ln w="0">
              <a:noFill/>
            </a:ln>
          </p:spPr>
        </p:pic>
        <p:grpSp>
          <p:nvGrpSpPr>
            <p:cNvPr id="270" name=""/>
            <p:cNvGrpSpPr/>
            <p:nvPr/>
          </p:nvGrpSpPr>
          <p:grpSpPr>
            <a:xfrm>
              <a:off x="4149720" y="3424320"/>
              <a:ext cx="274680" cy="274680"/>
              <a:chOff x="4149720" y="3424320"/>
              <a:chExt cx="274680" cy="274680"/>
            </a:xfrm>
          </p:grpSpPr>
          <p:sp>
            <p:nvSpPr>
              <p:cNvPr id="271" name=""/>
              <p:cNvSpPr/>
              <p:nvPr/>
            </p:nvSpPr>
            <p:spPr>
              <a:xfrm>
                <a:off x="4149720" y="3424320"/>
                <a:ext cx="274680" cy="274680"/>
              </a:xfrm>
              <a:prstGeom prst="ellipse">
                <a:avLst/>
              </a:prstGeom>
              <a:solidFill>
                <a:srgbClr val="fafd00"/>
              </a:solidFill>
              <a:ln w="9360">
                <a:solidFill>
                  <a:srgbClr val="618ffd"/>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272" name=""/>
              <p:cNvSpPr/>
              <p:nvPr/>
            </p:nvSpPr>
            <p:spPr>
              <a:xfrm>
                <a:off x="4260240" y="3534840"/>
                <a:ext cx="53280" cy="53280"/>
              </a:xfrm>
              <a:prstGeom prst="ellipse">
                <a:avLst/>
              </a:prstGeom>
              <a:solidFill>
                <a:srgbClr val="618ffd"/>
              </a:solidFill>
              <a:ln w="9360">
                <a:solidFill>
                  <a:srgbClr val="618ffd"/>
                </a:solidFill>
                <a:miter/>
              </a:ln>
            </p:spPr>
            <p:style>
              <a:lnRef idx="0"/>
              <a:fillRef idx="0"/>
              <a:effectRef idx="0"/>
              <a:fontRef idx="minor"/>
            </p:style>
            <p:txBody>
              <a:bodyPr wrap="none" lIns="90000" rIns="90000" tIns="-8640" bIns="-8640" anchor="ctr">
                <a:noAutofit/>
              </a:bodyPr>
              <a:p>
                <a:endParaRPr b="0" lang="en-IN" sz="2400" strike="noStrike" u="none">
                  <a:solidFill>
                    <a:srgbClr val="ffffff"/>
                  </a:solidFill>
                  <a:effectLst/>
                  <a:uFillTx/>
                  <a:latin typeface="Times New Roman"/>
                </a:endParaRPr>
              </a:p>
            </p:txBody>
          </p:sp>
        </p:grpSp>
        <p:grpSp>
          <p:nvGrpSpPr>
            <p:cNvPr id="273" name=""/>
            <p:cNvGrpSpPr/>
            <p:nvPr/>
          </p:nvGrpSpPr>
          <p:grpSpPr>
            <a:xfrm>
              <a:off x="4149720" y="3890880"/>
              <a:ext cx="274320" cy="274320"/>
              <a:chOff x="4149720" y="3890880"/>
              <a:chExt cx="274320" cy="274320"/>
            </a:xfrm>
          </p:grpSpPr>
          <p:sp>
            <p:nvSpPr>
              <p:cNvPr id="274" name=""/>
              <p:cNvSpPr/>
              <p:nvPr/>
            </p:nvSpPr>
            <p:spPr>
              <a:xfrm>
                <a:off x="4152240" y="3890880"/>
                <a:ext cx="271800" cy="270720"/>
              </a:xfrm>
              <a:prstGeom prst="ellipse">
                <a:avLst/>
              </a:prstGeom>
              <a:solidFill>
                <a:srgbClr val="618ffd"/>
              </a:solidFill>
              <a:ln w="9360">
                <a:solidFill>
                  <a:srgbClr val="618ffd"/>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275" name=""/>
              <p:cNvSpPr/>
              <p:nvPr/>
            </p:nvSpPr>
            <p:spPr>
              <a:xfrm>
                <a:off x="4149720" y="3894480"/>
                <a:ext cx="271800" cy="270720"/>
              </a:xfrm>
              <a:prstGeom prst="blockArc">
                <a:avLst>
                  <a:gd name="adj1" fmla="val 0"/>
                  <a:gd name="adj2" fmla="val 10800000"/>
                  <a:gd name="adj3" fmla="val 50000"/>
                </a:avLst>
              </a:prstGeom>
              <a:solidFill>
                <a:srgbClr val="fafd00"/>
              </a:solidFill>
              <a:ln w="9360">
                <a:solidFill>
                  <a:srgbClr val="618ffd"/>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grpSp>
        <p:grpSp>
          <p:nvGrpSpPr>
            <p:cNvPr id="276" name=""/>
            <p:cNvGrpSpPr/>
            <p:nvPr/>
          </p:nvGrpSpPr>
          <p:grpSpPr>
            <a:xfrm>
              <a:off x="4149720" y="5256360"/>
              <a:ext cx="274680" cy="274320"/>
              <a:chOff x="4149720" y="5256360"/>
              <a:chExt cx="274680" cy="274320"/>
            </a:xfrm>
          </p:grpSpPr>
          <p:sp>
            <p:nvSpPr>
              <p:cNvPr id="277" name=""/>
              <p:cNvSpPr/>
              <p:nvPr/>
            </p:nvSpPr>
            <p:spPr>
              <a:xfrm>
                <a:off x="4149720" y="5256360"/>
                <a:ext cx="274680" cy="274320"/>
              </a:xfrm>
              <a:prstGeom prst="ellipse">
                <a:avLst/>
              </a:prstGeom>
              <a:solidFill>
                <a:srgbClr val="fafd00"/>
              </a:solidFill>
              <a:ln w="9360">
                <a:solidFill>
                  <a:srgbClr val="618ffd"/>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278" name=""/>
              <p:cNvSpPr/>
              <p:nvPr/>
            </p:nvSpPr>
            <p:spPr>
              <a:xfrm>
                <a:off x="4260240" y="5366520"/>
                <a:ext cx="53280" cy="53280"/>
              </a:xfrm>
              <a:prstGeom prst="ellipse">
                <a:avLst/>
              </a:prstGeom>
              <a:solidFill>
                <a:srgbClr val="618ffd"/>
              </a:solidFill>
              <a:ln w="9360">
                <a:solidFill>
                  <a:srgbClr val="618ffd"/>
                </a:solidFill>
                <a:miter/>
              </a:ln>
            </p:spPr>
            <p:style>
              <a:lnRef idx="0"/>
              <a:fillRef idx="0"/>
              <a:effectRef idx="0"/>
              <a:fontRef idx="minor"/>
            </p:style>
            <p:txBody>
              <a:bodyPr wrap="none" lIns="90000" rIns="90000" tIns="-8640" bIns="-8640" anchor="ctr">
                <a:noAutofit/>
              </a:bodyPr>
              <a:p>
                <a:endParaRPr b="0" lang="en-IN" sz="2400" strike="noStrike" u="none">
                  <a:solidFill>
                    <a:srgbClr val="ffffff"/>
                  </a:solidFill>
                  <a:effectLst/>
                  <a:uFillTx/>
                  <a:latin typeface="Times New Roman"/>
                </a:endParaRPr>
              </a:p>
            </p:txBody>
          </p:sp>
        </p:grpSp>
        <p:grpSp>
          <p:nvGrpSpPr>
            <p:cNvPr id="279" name=""/>
            <p:cNvGrpSpPr/>
            <p:nvPr/>
          </p:nvGrpSpPr>
          <p:grpSpPr>
            <a:xfrm>
              <a:off x="4149720" y="2517840"/>
              <a:ext cx="274320" cy="274320"/>
              <a:chOff x="4149720" y="2517840"/>
              <a:chExt cx="274320" cy="274320"/>
            </a:xfrm>
          </p:grpSpPr>
          <p:sp>
            <p:nvSpPr>
              <p:cNvPr id="280" name=""/>
              <p:cNvSpPr/>
              <p:nvPr/>
            </p:nvSpPr>
            <p:spPr>
              <a:xfrm>
                <a:off x="4152240" y="2517840"/>
                <a:ext cx="271800" cy="270720"/>
              </a:xfrm>
              <a:prstGeom prst="ellipse">
                <a:avLst/>
              </a:prstGeom>
              <a:solidFill>
                <a:srgbClr val="618ffd"/>
              </a:solidFill>
              <a:ln w="9360">
                <a:solidFill>
                  <a:srgbClr val="618ffd"/>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281" name=""/>
              <p:cNvSpPr/>
              <p:nvPr/>
            </p:nvSpPr>
            <p:spPr>
              <a:xfrm>
                <a:off x="4149720" y="2521440"/>
                <a:ext cx="271800" cy="270720"/>
              </a:xfrm>
              <a:prstGeom prst="blockArc">
                <a:avLst>
                  <a:gd name="adj1" fmla="val 0"/>
                  <a:gd name="adj2" fmla="val 10800000"/>
                  <a:gd name="adj3" fmla="val 50000"/>
                </a:avLst>
              </a:prstGeom>
              <a:solidFill>
                <a:srgbClr val="fafd00"/>
              </a:solidFill>
              <a:ln w="9360">
                <a:solidFill>
                  <a:srgbClr val="618ffd"/>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grpSp>
        <p:sp>
          <p:nvSpPr>
            <p:cNvPr id="282" name=""/>
            <p:cNvSpPr/>
            <p:nvPr/>
          </p:nvSpPr>
          <p:spPr>
            <a:xfrm>
              <a:off x="4149720" y="3890880"/>
              <a:ext cx="274680" cy="274680"/>
            </a:xfrm>
            <a:prstGeom prst="ellipse">
              <a:avLst/>
            </a:prstGeom>
            <a:solidFill>
              <a:srgbClr val="c0c0c0"/>
            </a:solidFill>
            <a:ln w="9360">
              <a:solidFill>
                <a:srgbClr val="fafd00"/>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grpSp>
      <p:grpSp>
        <p:nvGrpSpPr>
          <p:cNvPr id="283" name=""/>
          <p:cNvGrpSpPr/>
          <p:nvPr/>
        </p:nvGrpSpPr>
        <p:grpSpPr>
          <a:xfrm>
            <a:off x="6645240" y="1228680"/>
            <a:ext cx="503280" cy="4301640"/>
            <a:chOff x="6645240" y="1228680"/>
            <a:chExt cx="503280" cy="4301640"/>
          </a:xfrm>
        </p:grpSpPr>
        <p:grpSp>
          <p:nvGrpSpPr>
            <p:cNvPr id="284" name=""/>
            <p:cNvGrpSpPr/>
            <p:nvPr/>
          </p:nvGrpSpPr>
          <p:grpSpPr>
            <a:xfrm>
              <a:off x="6759720" y="2052720"/>
              <a:ext cx="273960" cy="274320"/>
              <a:chOff x="6759720" y="2052720"/>
              <a:chExt cx="273960" cy="274320"/>
            </a:xfrm>
          </p:grpSpPr>
          <p:sp>
            <p:nvSpPr>
              <p:cNvPr id="285" name=""/>
              <p:cNvSpPr/>
              <p:nvPr/>
            </p:nvSpPr>
            <p:spPr>
              <a:xfrm>
                <a:off x="6762240" y="2052720"/>
                <a:ext cx="271440" cy="270720"/>
              </a:xfrm>
              <a:prstGeom prst="ellipse">
                <a:avLst/>
              </a:prstGeom>
              <a:solidFill>
                <a:srgbClr val="618ffd"/>
              </a:solidFill>
              <a:ln w="9360">
                <a:solidFill>
                  <a:srgbClr val="618ffd"/>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286" name=""/>
              <p:cNvSpPr/>
              <p:nvPr/>
            </p:nvSpPr>
            <p:spPr>
              <a:xfrm>
                <a:off x="6759720" y="2056320"/>
                <a:ext cx="271440" cy="270720"/>
              </a:xfrm>
              <a:prstGeom prst="blockArc">
                <a:avLst>
                  <a:gd name="adj1" fmla="val 0"/>
                  <a:gd name="adj2" fmla="val 10800000"/>
                  <a:gd name="adj3" fmla="val 50000"/>
                </a:avLst>
              </a:prstGeom>
              <a:solidFill>
                <a:srgbClr val="fafd00"/>
              </a:solidFill>
              <a:ln w="9360">
                <a:solidFill>
                  <a:srgbClr val="618ffd"/>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grpSp>
        <p:grpSp>
          <p:nvGrpSpPr>
            <p:cNvPr id="287" name=""/>
            <p:cNvGrpSpPr/>
            <p:nvPr/>
          </p:nvGrpSpPr>
          <p:grpSpPr>
            <a:xfrm>
              <a:off x="6759720" y="2517840"/>
              <a:ext cx="274320" cy="274680"/>
              <a:chOff x="6759720" y="2517840"/>
              <a:chExt cx="274320" cy="274680"/>
            </a:xfrm>
          </p:grpSpPr>
          <p:sp>
            <p:nvSpPr>
              <p:cNvPr id="288" name=""/>
              <p:cNvSpPr/>
              <p:nvPr/>
            </p:nvSpPr>
            <p:spPr>
              <a:xfrm>
                <a:off x="6759720" y="2517840"/>
                <a:ext cx="274320" cy="274680"/>
              </a:xfrm>
              <a:prstGeom prst="ellipse">
                <a:avLst/>
              </a:prstGeom>
              <a:solidFill>
                <a:srgbClr val="fafd00"/>
              </a:solidFill>
              <a:ln w="9360">
                <a:solidFill>
                  <a:srgbClr val="618ffd"/>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289" name=""/>
              <p:cNvSpPr/>
              <p:nvPr/>
            </p:nvSpPr>
            <p:spPr>
              <a:xfrm>
                <a:off x="6870240" y="2628360"/>
                <a:ext cx="53280" cy="53280"/>
              </a:xfrm>
              <a:prstGeom prst="ellipse">
                <a:avLst/>
              </a:prstGeom>
              <a:solidFill>
                <a:srgbClr val="618ffd"/>
              </a:solidFill>
              <a:ln w="9360">
                <a:solidFill>
                  <a:srgbClr val="618ffd"/>
                </a:solidFill>
                <a:miter/>
              </a:ln>
            </p:spPr>
            <p:style>
              <a:lnRef idx="0"/>
              <a:fillRef idx="0"/>
              <a:effectRef idx="0"/>
              <a:fontRef idx="minor"/>
            </p:style>
            <p:txBody>
              <a:bodyPr wrap="none" lIns="90000" rIns="90000" tIns="-8640" bIns="-8640" anchor="ctr">
                <a:noAutofit/>
              </a:bodyPr>
              <a:p>
                <a:endParaRPr b="0" lang="en-IN" sz="2400" strike="noStrike" u="none">
                  <a:solidFill>
                    <a:srgbClr val="ffffff"/>
                  </a:solidFill>
                  <a:effectLst/>
                  <a:uFillTx/>
                  <a:latin typeface="Times New Roman"/>
                </a:endParaRPr>
              </a:p>
            </p:txBody>
          </p:sp>
        </p:grpSp>
        <p:grpSp>
          <p:nvGrpSpPr>
            <p:cNvPr id="290" name=""/>
            <p:cNvGrpSpPr/>
            <p:nvPr/>
          </p:nvGrpSpPr>
          <p:grpSpPr>
            <a:xfrm>
              <a:off x="6759720" y="5256360"/>
              <a:ext cx="273960" cy="273960"/>
              <a:chOff x="6759720" y="5256360"/>
              <a:chExt cx="273960" cy="273960"/>
            </a:xfrm>
          </p:grpSpPr>
          <p:sp>
            <p:nvSpPr>
              <p:cNvPr id="291" name=""/>
              <p:cNvSpPr/>
              <p:nvPr/>
            </p:nvSpPr>
            <p:spPr>
              <a:xfrm>
                <a:off x="6762240" y="5256360"/>
                <a:ext cx="271440" cy="270360"/>
              </a:xfrm>
              <a:prstGeom prst="ellipse">
                <a:avLst/>
              </a:prstGeom>
              <a:solidFill>
                <a:srgbClr val="618ffd"/>
              </a:solidFill>
              <a:ln w="9360">
                <a:solidFill>
                  <a:srgbClr val="618ffd"/>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292" name=""/>
              <p:cNvSpPr/>
              <p:nvPr/>
            </p:nvSpPr>
            <p:spPr>
              <a:xfrm>
                <a:off x="6759720" y="5259960"/>
                <a:ext cx="271440" cy="270360"/>
              </a:xfrm>
              <a:prstGeom prst="blockArc">
                <a:avLst>
                  <a:gd name="adj1" fmla="val 0"/>
                  <a:gd name="adj2" fmla="val 10800000"/>
                  <a:gd name="adj3" fmla="val 50000"/>
                </a:avLst>
              </a:prstGeom>
              <a:solidFill>
                <a:srgbClr val="fafd00"/>
              </a:solidFill>
              <a:ln w="9360">
                <a:solidFill>
                  <a:srgbClr val="618ffd"/>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grpSp>
        <p:sp>
          <p:nvSpPr>
            <p:cNvPr id="293" name=""/>
            <p:cNvSpPr/>
            <p:nvPr/>
          </p:nvSpPr>
          <p:spPr>
            <a:xfrm>
              <a:off x="6759720" y="4348080"/>
              <a:ext cx="274320" cy="274680"/>
            </a:xfrm>
            <a:prstGeom prst="ellipse">
              <a:avLst/>
            </a:prstGeom>
            <a:solidFill>
              <a:srgbClr val="c0c0c0"/>
            </a:solidFill>
            <a:ln w="9360">
              <a:solidFill>
                <a:srgbClr val="fafd00"/>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294" name=""/>
            <p:cNvSpPr/>
            <p:nvPr/>
          </p:nvSpPr>
          <p:spPr>
            <a:xfrm>
              <a:off x="6759720" y="3890880"/>
              <a:ext cx="274320" cy="274680"/>
            </a:xfrm>
            <a:prstGeom prst="ellipse">
              <a:avLst/>
            </a:prstGeom>
            <a:solidFill>
              <a:srgbClr val="c0c0c0"/>
            </a:solidFill>
            <a:ln w="9360">
              <a:solidFill>
                <a:srgbClr val="fafd00"/>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295" name=""/>
            <p:cNvSpPr/>
            <p:nvPr/>
          </p:nvSpPr>
          <p:spPr>
            <a:xfrm>
              <a:off x="6759720" y="3424320"/>
              <a:ext cx="274320" cy="274680"/>
            </a:xfrm>
            <a:prstGeom prst="ellipse">
              <a:avLst/>
            </a:prstGeom>
            <a:solidFill>
              <a:srgbClr val="c0c0c0"/>
            </a:solidFill>
            <a:ln w="9360">
              <a:solidFill>
                <a:srgbClr val="fafd00"/>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grpSp>
          <p:nvGrpSpPr>
            <p:cNvPr id="296" name=""/>
            <p:cNvGrpSpPr/>
            <p:nvPr/>
          </p:nvGrpSpPr>
          <p:grpSpPr>
            <a:xfrm>
              <a:off x="6645240" y="1228680"/>
              <a:ext cx="503280" cy="503280"/>
              <a:chOff x="6645240" y="1228680"/>
              <a:chExt cx="503280" cy="503280"/>
            </a:xfrm>
          </p:grpSpPr>
          <p:sp>
            <p:nvSpPr>
              <p:cNvPr id="297" name=""/>
              <p:cNvSpPr/>
              <p:nvPr/>
            </p:nvSpPr>
            <p:spPr>
              <a:xfrm>
                <a:off x="6645240" y="1228680"/>
                <a:ext cx="503280" cy="503280"/>
              </a:xfrm>
              <a:prstGeom prst="ellipse">
                <a:avLst/>
              </a:prstGeom>
              <a:solidFill>
                <a:srgbClr val="618ffd"/>
              </a:solidFill>
              <a:ln w="38160">
                <a:solidFill>
                  <a:srgbClr val="919191"/>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298" name=""/>
              <p:cNvSpPr/>
              <p:nvPr/>
            </p:nvSpPr>
            <p:spPr>
              <a:xfrm>
                <a:off x="6772320" y="1454040"/>
                <a:ext cx="249120" cy="0"/>
              </a:xfrm>
              <a:prstGeom prst="line">
                <a:avLst/>
              </a:prstGeom>
              <a:ln w="28440">
                <a:solidFill>
                  <a:srgbClr val="919191"/>
                </a:solidFill>
                <a:miter/>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grpSp>
            <p:nvGrpSpPr>
              <p:cNvPr id="299" name=""/>
              <p:cNvGrpSpPr/>
              <p:nvPr/>
            </p:nvGrpSpPr>
            <p:grpSpPr>
              <a:xfrm>
                <a:off x="6808680" y="1251000"/>
                <a:ext cx="177840" cy="457200"/>
                <a:chOff x="6808680" y="1251000"/>
                <a:chExt cx="177840" cy="457200"/>
              </a:xfrm>
            </p:grpSpPr>
            <p:sp>
              <p:nvSpPr>
                <p:cNvPr id="300" name=""/>
                <p:cNvSpPr/>
                <p:nvPr/>
              </p:nvSpPr>
              <p:spPr>
                <a:xfrm>
                  <a:off x="6808680" y="1251000"/>
                  <a:ext cx="0" cy="457200"/>
                </a:xfrm>
                <a:prstGeom prst="line">
                  <a:avLst/>
                </a:prstGeom>
                <a:ln w="28440">
                  <a:solidFill>
                    <a:srgbClr val="ffffff"/>
                  </a:solidFill>
                  <a:miter/>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301" name=""/>
                <p:cNvSpPr/>
                <p:nvPr/>
              </p:nvSpPr>
              <p:spPr>
                <a:xfrm>
                  <a:off x="6986520" y="1251000"/>
                  <a:ext cx="0" cy="457200"/>
                </a:xfrm>
                <a:prstGeom prst="line">
                  <a:avLst/>
                </a:prstGeom>
                <a:ln w="28440">
                  <a:solidFill>
                    <a:srgbClr val="ffffff"/>
                  </a:solidFill>
                  <a:miter/>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grpSp>
          <p:sp>
            <p:nvSpPr>
              <p:cNvPr id="302" name=""/>
              <p:cNvSpPr/>
              <p:nvPr/>
            </p:nvSpPr>
            <p:spPr>
              <a:xfrm>
                <a:off x="6773760" y="1509840"/>
                <a:ext cx="249480" cy="0"/>
              </a:xfrm>
              <a:prstGeom prst="line">
                <a:avLst/>
              </a:prstGeom>
              <a:ln w="28440">
                <a:solidFill>
                  <a:srgbClr val="919191"/>
                </a:solidFill>
                <a:miter/>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303" name=""/>
              <p:cNvSpPr/>
              <p:nvPr/>
            </p:nvSpPr>
            <p:spPr>
              <a:xfrm>
                <a:off x="6773760" y="1565280"/>
                <a:ext cx="249480" cy="0"/>
              </a:xfrm>
              <a:prstGeom prst="line">
                <a:avLst/>
              </a:prstGeom>
              <a:ln w="28440">
                <a:solidFill>
                  <a:srgbClr val="919191"/>
                </a:solidFill>
                <a:miter/>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304" name=""/>
              <p:cNvSpPr/>
              <p:nvPr/>
            </p:nvSpPr>
            <p:spPr>
              <a:xfrm>
                <a:off x="6773760" y="1620720"/>
                <a:ext cx="249480" cy="0"/>
              </a:xfrm>
              <a:prstGeom prst="line">
                <a:avLst/>
              </a:prstGeom>
              <a:ln w="28440">
                <a:solidFill>
                  <a:srgbClr val="919191"/>
                </a:solidFill>
                <a:miter/>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305" name=""/>
              <p:cNvSpPr/>
              <p:nvPr/>
            </p:nvSpPr>
            <p:spPr>
              <a:xfrm>
                <a:off x="6773760" y="1398600"/>
                <a:ext cx="249480" cy="0"/>
              </a:xfrm>
              <a:prstGeom prst="line">
                <a:avLst/>
              </a:prstGeom>
              <a:ln w="28440">
                <a:solidFill>
                  <a:srgbClr val="919191"/>
                </a:solidFill>
                <a:miter/>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306" name=""/>
              <p:cNvSpPr/>
              <p:nvPr/>
            </p:nvSpPr>
            <p:spPr>
              <a:xfrm>
                <a:off x="6777000" y="1343160"/>
                <a:ext cx="249120" cy="0"/>
              </a:xfrm>
              <a:prstGeom prst="line">
                <a:avLst/>
              </a:prstGeom>
              <a:ln w="28440">
                <a:solidFill>
                  <a:srgbClr val="919191"/>
                </a:solidFill>
                <a:miter/>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307" name=""/>
              <p:cNvSpPr/>
              <p:nvPr/>
            </p:nvSpPr>
            <p:spPr>
              <a:xfrm>
                <a:off x="6773760" y="1289160"/>
                <a:ext cx="249480" cy="0"/>
              </a:xfrm>
              <a:prstGeom prst="line">
                <a:avLst/>
              </a:prstGeom>
              <a:ln w="28440">
                <a:solidFill>
                  <a:srgbClr val="919191"/>
                </a:solidFill>
                <a:miter/>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308" name=""/>
              <p:cNvSpPr/>
              <p:nvPr/>
            </p:nvSpPr>
            <p:spPr>
              <a:xfrm>
                <a:off x="6773760" y="1676520"/>
                <a:ext cx="249480" cy="0"/>
              </a:xfrm>
              <a:prstGeom prst="line">
                <a:avLst/>
              </a:prstGeom>
              <a:ln w="28440">
                <a:solidFill>
                  <a:srgbClr val="919191"/>
                </a:solidFill>
                <a:miter/>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grpSp>
        <p:grpSp>
          <p:nvGrpSpPr>
            <p:cNvPr id="309" name=""/>
            <p:cNvGrpSpPr/>
            <p:nvPr/>
          </p:nvGrpSpPr>
          <p:grpSpPr>
            <a:xfrm>
              <a:off x="6759720" y="4803840"/>
              <a:ext cx="273960" cy="274320"/>
              <a:chOff x="6759720" y="4803840"/>
              <a:chExt cx="273960" cy="274320"/>
            </a:xfrm>
          </p:grpSpPr>
          <p:sp>
            <p:nvSpPr>
              <p:cNvPr id="310" name=""/>
              <p:cNvSpPr/>
              <p:nvPr/>
            </p:nvSpPr>
            <p:spPr>
              <a:xfrm>
                <a:off x="6762240" y="4803840"/>
                <a:ext cx="271440" cy="270720"/>
              </a:xfrm>
              <a:prstGeom prst="ellipse">
                <a:avLst/>
              </a:prstGeom>
              <a:solidFill>
                <a:srgbClr val="618ffd"/>
              </a:solidFill>
              <a:ln w="9360">
                <a:solidFill>
                  <a:srgbClr val="618ffd"/>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311" name=""/>
              <p:cNvSpPr/>
              <p:nvPr/>
            </p:nvSpPr>
            <p:spPr>
              <a:xfrm>
                <a:off x="6759720" y="4807440"/>
                <a:ext cx="271440" cy="270720"/>
              </a:xfrm>
              <a:prstGeom prst="blockArc">
                <a:avLst>
                  <a:gd name="adj1" fmla="val 0"/>
                  <a:gd name="adj2" fmla="val 10800000"/>
                  <a:gd name="adj3" fmla="val 50000"/>
                </a:avLst>
              </a:prstGeom>
              <a:solidFill>
                <a:srgbClr val="fafd00"/>
              </a:solidFill>
              <a:ln w="9360">
                <a:solidFill>
                  <a:srgbClr val="618ffd"/>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grpSp>
        <p:grpSp>
          <p:nvGrpSpPr>
            <p:cNvPr id="312" name=""/>
            <p:cNvGrpSpPr/>
            <p:nvPr/>
          </p:nvGrpSpPr>
          <p:grpSpPr>
            <a:xfrm>
              <a:off x="6759720" y="2973240"/>
              <a:ext cx="274320" cy="274680"/>
              <a:chOff x="6759720" y="2973240"/>
              <a:chExt cx="274320" cy="274680"/>
            </a:xfrm>
          </p:grpSpPr>
          <p:sp>
            <p:nvSpPr>
              <p:cNvPr id="313" name=""/>
              <p:cNvSpPr/>
              <p:nvPr/>
            </p:nvSpPr>
            <p:spPr>
              <a:xfrm>
                <a:off x="6759720" y="2973240"/>
                <a:ext cx="274320" cy="274680"/>
              </a:xfrm>
              <a:prstGeom prst="ellipse">
                <a:avLst/>
              </a:prstGeom>
              <a:solidFill>
                <a:srgbClr val="fafd00"/>
              </a:solidFill>
              <a:ln w="9360">
                <a:solidFill>
                  <a:srgbClr val="618ffd"/>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314" name=""/>
              <p:cNvSpPr/>
              <p:nvPr/>
            </p:nvSpPr>
            <p:spPr>
              <a:xfrm>
                <a:off x="6870240" y="3083760"/>
                <a:ext cx="53280" cy="53280"/>
              </a:xfrm>
              <a:prstGeom prst="ellipse">
                <a:avLst/>
              </a:prstGeom>
              <a:solidFill>
                <a:srgbClr val="618ffd"/>
              </a:solidFill>
              <a:ln w="9360">
                <a:solidFill>
                  <a:srgbClr val="618ffd"/>
                </a:solidFill>
                <a:miter/>
              </a:ln>
            </p:spPr>
            <p:style>
              <a:lnRef idx="0"/>
              <a:fillRef idx="0"/>
              <a:effectRef idx="0"/>
              <a:fontRef idx="minor"/>
            </p:style>
            <p:txBody>
              <a:bodyPr wrap="none" lIns="90000" rIns="90000" tIns="-8640" bIns="-8640" anchor="ctr">
                <a:noAutofit/>
              </a:bodyPr>
              <a:p>
                <a:endParaRPr b="0" lang="en-IN" sz="2400" strike="noStrike" u="none">
                  <a:solidFill>
                    <a:srgbClr val="ffffff"/>
                  </a:solidFill>
                  <a:effectLst/>
                  <a:uFillTx/>
                  <a:latin typeface="Times New Roman"/>
                </a:endParaRPr>
              </a:p>
            </p:txBody>
          </p:sp>
        </p:grpSp>
        <p:grpSp>
          <p:nvGrpSpPr>
            <p:cNvPr id="315" name=""/>
            <p:cNvGrpSpPr/>
            <p:nvPr/>
          </p:nvGrpSpPr>
          <p:grpSpPr>
            <a:xfrm>
              <a:off x="6759720" y="3890880"/>
              <a:ext cx="273960" cy="274320"/>
              <a:chOff x="6759720" y="3890880"/>
              <a:chExt cx="273960" cy="274320"/>
            </a:xfrm>
          </p:grpSpPr>
          <p:sp>
            <p:nvSpPr>
              <p:cNvPr id="316" name=""/>
              <p:cNvSpPr/>
              <p:nvPr/>
            </p:nvSpPr>
            <p:spPr>
              <a:xfrm>
                <a:off x="6762240" y="3890880"/>
                <a:ext cx="271440" cy="270720"/>
              </a:xfrm>
              <a:prstGeom prst="ellipse">
                <a:avLst/>
              </a:prstGeom>
              <a:solidFill>
                <a:srgbClr val="618ffd"/>
              </a:solidFill>
              <a:ln w="9360">
                <a:solidFill>
                  <a:srgbClr val="618ffd"/>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317" name=""/>
              <p:cNvSpPr/>
              <p:nvPr/>
            </p:nvSpPr>
            <p:spPr>
              <a:xfrm>
                <a:off x="6759720" y="3894480"/>
                <a:ext cx="271440" cy="270720"/>
              </a:xfrm>
              <a:prstGeom prst="blockArc">
                <a:avLst>
                  <a:gd name="adj1" fmla="val 0"/>
                  <a:gd name="adj2" fmla="val 10800000"/>
                  <a:gd name="adj3" fmla="val 50000"/>
                </a:avLst>
              </a:prstGeom>
              <a:solidFill>
                <a:srgbClr val="fafd00"/>
              </a:solidFill>
              <a:ln w="9360">
                <a:solidFill>
                  <a:srgbClr val="618ffd"/>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grpSp>
      </p:grpSp>
      <p:grpSp>
        <p:nvGrpSpPr>
          <p:cNvPr id="318" name=""/>
          <p:cNvGrpSpPr/>
          <p:nvPr/>
        </p:nvGrpSpPr>
        <p:grpSpPr>
          <a:xfrm>
            <a:off x="5329080" y="1212840"/>
            <a:ext cx="547920" cy="4317480"/>
            <a:chOff x="5329080" y="1212840"/>
            <a:chExt cx="547920" cy="4317480"/>
          </a:xfrm>
        </p:grpSpPr>
        <p:grpSp>
          <p:nvGrpSpPr>
            <p:cNvPr id="319" name=""/>
            <p:cNvGrpSpPr/>
            <p:nvPr/>
          </p:nvGrpSpPr>
          <p:grpSpPr>
            <a:xfrm>
              <a:off x="5465880" y="2973240"/>
              <a:ext cx="274320" cy="274320"/>
              <a:chOff x="5465880" y="2973240"/>
              <a:chExt cx="274320" cy="274320"/>
            </a:xfrm>
          </p:grpSpPr>
          <p:sp>
            <p:nvSpPr>
              <p:cNvPr id="320" name=""/>
              <p:cNvSpPr/>
              <p:nvPr/>
            </p:nvSpPr>
            <p:spPr>
              <a:xfrm>
                <a:off x="5468400" y="2973240"/>
                <a:ext cx="271800" cy="270720"/>
              </a:xfrm>
              <a:prstGeom prst="ellipse">
                <a:avLst/>
              </a:prstGeom>
              <a:solidFill>
                <a:srgbClr val="618ffd"/>
              </a:solidFill>
              <a:ln w="9360">
                <a:solidFill>
                  <a:srgbClr val="618ffd"/>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321" name=""/>
              <p:cNvSpPr/>
              <p:nvPr/>
            </p:nvSpPr>
            <p:spPr>
              <a:xfrm>
                <a:off x="5465880" y="2976840"/>
                <a:ext cx="271800" cy="270720"/>
              </a:xfrm>
              <a:prstGeom prst="blockArc">
                <a:avLst>
                  <a:gd name="adj1" fmla="val 0"/>
                  <a:gd name="adj2" fmla="val 10800000"/>
                  <a:gd name="adj3" fmla="val 50000"/>
                </a:avLst>
              </a:prstGeom>
              <a:solidFill>
                <a:srgbClr val="fafd00"/>
              </a:solidFill>
              <a:ln w="9360">
                <a:solidFill>
                  <a:srgbClr val="618ffd"/>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grpSp>
        <p:sp>
          <p:nvSpPr>
            <p:cNvPr id="322" name=""/>
            <p:cNvSpPr/>
            <p:nvPr/>
          </p:nvSpPr>
          <p:spPr>
            <a:xfrm>
              <a:off x="5465880" y="3890880"/>
              <a:ext cx="274680" cy="274680"/>
            </a:xfrm>
            <a:prstGeom prst="ellipse">
              <a:avLst/>
            </a:prstGeom>
            <a:solidFill>
              <a:srgbClr val="c0c0c0"/>
            </a:solidFill>
            <a:ln w="9360">
              <a:solidFill>
                <a:srgbClr val="fafd00"/>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323" name=""/>
            <p:cNvSpPr/>
            <p:nvPr/>
          </p:nvSpPr>
          <p:spPr>
            <a:xfrm>
              <a:off x="5465880" y="4348080"/>
              <a:ext cx="274680" cy="274680"/>
            </a:xfrm>
            <a:prstGeom prst="ellipse">
              <a:avLst/>
            </a:prstGeom>
            <a:solidFill>
              <a:srgbClr val="c0c0c0"/>
            </a:solidFill>
            <a:ln w="9360">
              <a:solidFill>
                <a:srgbClr val="fafd00"/>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grpSp>
          <p:nvGrpSpPr>
            <p:cNvPr id="324" name=""/>
            <p:cNvGrpSpPr/>
            <p:nvPr/>
          </p:nvGrpSpPr>
          <p:grpSpPr>
            <a:xfrm>
              <a:off x="5465880" y="2052720"/>
              <a:ext cx="274320" cy="274320"/>
              <a:chOff x="5465880" y="2052720"/>
              <a:chExt cx="274320" cy="274320"/>
            </a:xfrm>
          </p:grpSpPr>
          <p:sp>
            <p:nvSpPr>
              <p:cNvPr id="325" name=""/>
              <p:cNvSpPr/>
              <p:nvPr/>
            </p:nvSpPr>
            <p:spPr>
              <a:xfrm>
                <a:off x="5468400" y="2052720"/>
                <a:ext cx="271800" cy="270720"/>
              </a:xfrm>
              <a:prstGeom prst="ellipse">
                <a:avLst/>
              </a:prstGeom>
              <a:solidFill>
                <a:srgbClr val="618ffd"/>
              </a:solidFill>
              <a:ln w="9360">
                <a:solidFill>
                  <a:srgbClr val="618ffd"/>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326" name=""/>
              <p:cNvSpPr/>
              <p:nvPr/>
            </p:nvSpPr>
            <p:spPr>
              <a:xfrm>
                <a:off x="5465880" y="2056320"/>
                <a:ext cx="271800" cy="270720"/>
              </a:xfrm>
              <a:prstGeom prst="blockArc">
                <a:avLst>
                  <a:gd name="adj1" fmla="val 0"/>
                  <a:gd name="adj2" fmla="val 10800000"/>
                  <a:gd name="adj3" fmla="val 50000"/>
                </a:avLst>
              </a:prstGeom>
              <a:solidFill>
                <a:srgbClr val="fafd00"/>
              </a:solidFill>
              <a:ln w="9360">
                <a:solidFill>
                  <a:srgbClr val="618ffd"/>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grpSp>
        <p:pic>
          <p:nvPicPr>
            <p:cNvPr id="327" name="" descr=""/>
            <p:cNvPicPr/>
            <p:nvPr/>
          </p:nvPicPr>
          <p:blipFill>
            <a:blip r:embed="rId2"/>
            <a:srcRect l="0" t="0" r="0" b="20351"/>
            <a:stretch/>
          </p:blipFill>
          <p:spPr>
            <a:xfrm>
              <a:off x="5329080" y="1212840"/>
              <a:ext cx="547920" cy="544680"/>
            </a:xfrm>
            <a:prstGeom prst="rect">
              <a:avLst/>
            </a:prstGeom>
            <a:noFill/>
            <a:ln w="0">
              <a:noFill/>
            </a:ln>
          </p:spPr>
        </p:pic>
        <p:grpSp>
          <p:nvGrpSpPr>
            <p:cNvPr id="328" name=""/>
            <p:cNvGrpSpPr/>
            <p:nvPr/>
          </p:nvGrpSpPr>
          <p:grpSpPr>
            <a:xfrm>
              <a:off x="5465880" y="2517840"/>
              <a:ext cx="274680" cy="274680"/>
              <a:chOff x="5465880" y="2517840"/>
              <a:chExt cx="274680" cy="274680"/>
            </a:xfrm>
          </p:grpSpPr>
          <p:sp>
            <p:nvSpPr>
              <p:cNvPr id="329" name=""/>
              <p:cNvSpPr/>
              <p:nvPr/>
            </p:nvSpPr>
            <p:spPr>
              <a:xfrm>
                <a:off x="5465880" y="2517840"/>
                <a:ext cx="274680" cy="274680"/>
              </a:xfrm>
              <a:prstGeom prst="ellipse">
                <a:avLst/>
              </a:prstGeom>
              <a:solidFill>
                <a:srgbClr val="fafd00"/>
              </a:solidFill>
              <a:ln w="9360">
                <a:solidFill>
                  <a:srgbClr val="618ffd"/>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330" name=""/>
              <p:cNvSpPr/>
              <p:nvPr/>
            </p:nvSpPr>
            <p:spPr>
              <a:xfrm>
                <a:off x="5576400" y="2628360"/>
                <a:ext cx="53280" cy="53280"/>
              </a:xfrm>
              <a:prstGeom prst="ellipse">
                <a:avLst/>
              </a:prstGeom>
              <a:solidFill>
                <a:srgbClr val="618ffd"/>
              </a:solidFill>
              <a:ln w="9360">
                <a:solidFill>
                  <a:srgbClr val="618ffd"/>
                </a:solidFill>
                <a:miter/>
              </a:ln>
            </p:spPr>
            <p:style>
              <a:lnRef idx="0"/>
              <a:fillRef idx="0"/>
              <a:effectRef idx="0"/>
              <a:fontRef idx="minor"/>
            </p:style>
            <p:txBody>
              <a:bodyPr wrap="none" lIns="90000" rIns="90000" tIns="-8640" bIns="-8640" anchor="ctr">
                <a:noAutofit/>
              </a:bodyPr>
              <a:p>
                <a:endParaRPr b="0" lang="en-IN" sz="2400" strike="noStrike" u="none">
                  <a:solidFill>
                    <a:srgbClr val="ffffff"/>
                  </a:solidFill>
                  <a:effectLst/>
                  <a:uFillTx/>
                  <a:latin typeface="Times New Roman"/>
                </a:endParaRPr>
              </a:p>
            </p:txBody>
          </p:sp>
        </p:grpSp>
        <p:grpSp>
          <p:nvGrpSpPr>
            <p:cNvPr id="331" name=""/>
            <p:cNvGrpSpPr/>
            <p:nvPr/>
          </p:nvGrpSpPr>
          <p:grpSpPr>
            <a:xfrm>
              <a:off x="5465880" y="4803840"/>
              <a:ext cx="274680" cy="274680"/>
              <a:chOff x="5465880" y="4803840"/>
              <a:chExt cx="274680" cy="274680"/>
            </a:xfrm>
          </p:grpSpPr>
          <p:sp>
            <p:nvSpPr>
              <p:cNvPr id="332" name=""/>
              <p:cNvSpPr/>
              <p:nvPr/>
            </p:nvSpPr>
            <p:spPr>
              <a:xfrm>
                <a:off x="5465880" y="4803840"/>
                <a:ext cx="274680" cy="274680"/>
              </a:xfrm>
              <a:prstGeom prst="ellipse">
                <a:avLst/>
              </a:prstGeom>
              <a:solidFill>
                <a:srgbClr val="fafd00"/>
              </a:solidFill>
              <a:ln w="9360">
                <a:solidFill>
                  <a:srgbClr val="618ffd"/>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333" name=""/>
              <p:cNvSpPr/>
              <p:nvPr/>
            </p:nvSpPr>
            <p:spPr>
              <a:xfrm>
                <a:off x="5576400" y="4914360"/>
                <a:ext cx="53280" cy="53280"/>
              </a:xfrm>
              <a:prstGeom prst="ellipse">
                <a:avLst/>
              </a:prstGeom>
              <a:solidFill>
                <a:srgbClr val="618ffd"/>
              </a:solidFill>
              <a:ln w="9360">
                <a:solidFill>
                  <a:srgbClr val="618ffd"/>
                </a:solidFill>
                <a:miter/>
              </a:ln>
            </p:spPr>
            <p:style>
              <a:lnRef idx="0"/>
              <a:fillRef idx="0"/>
              <a:effectRef idx="0"/>
              <a:fontRef idx="minor"/>
            </p:style>
            <p:txBody>
              <a:bodyPr wrap="none" lIns="90000" rIns="90000" tIns="-8640" bIns="-8640" anchor="ctr">
                <a:noAutofit/>
              </a:bodyPr>
              <a:p>
                <a:endParaRPr b="0" lang="en-IN" sz="2400" strike="noStrike" u="none">
                  <a:solidFill>
                    <a:srgbClr val="ffffff"/>
                  </a:solidFill>
                  <a:effectLst/>
                  <a:uFillTx/>
                  <a:latin typeface="Times New Roman"/>
                </a:endParaRPr>
              </a:p>
            </p:txBody>
          </p:sp>
        </p:grpSp>
        <p:grpSp>
          <p:nvGrpSpPr>
            <p:cNvPr id="334" name=""/>
            <p:cNvGrpSpPr/>
            <p:nvPr/>
          </p:nvGrpSpPr>
          <p:grpSpPr>
            <a:xfrm>
              <a:off x="5465880" y="5256360"/>
              <a:ext cx="274320" cy="273960"/>
              <a:chOff x="5465880" y="5256360"/>
              <a:chExt cx="274320" cy="273960"/>
            </a:xfrm>
          </p:grpSpPr>
          <p:sp>
            <p:nvSpPr>
              <p:cNvPr id="335" name=""/>
              <p:cNvSpPr/>
              <p:nvPr/>
            </p:nvSpPr>
            <p:spPr>
              <a:xfrm>
                <a:off x="5468400" y="5256360"/>
                <a:ext cx="271800" cy="270360"/>
              </a:xfrm>
              <a:prstGeom prst="ellipse">
                <a:avLst/>
              </a:prstGeom>
              <a:solidFill>
                <a:srgbClr val="618ffd"/>
              </a:solidFill>
              <a:ln w="9360">
                <a:solidFill>
                  <a:srgbClr val="618ffd"/>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336" name=""/>
              <p:cNvSpPr/>
              <p:nvPr/>
            </p:nvSpPr>
            <p:spPr>
              <a:xfrm>
                <a:off x="5465880" y="5259960"/>
                <a:ext cx="271800" cy="270360"/>
              </a:xfrm>
              <a:prstGeom prst="blockArc">
                <a:avLst>
                  <a:gd name="adj1" fmla="val 0"/>
                  <a:gd name="adj2" fmla="val 10800000"/>
                  <a:gd name="adj3" fmla="val 50000"/>
                </a:avLst>
              </a:prstGeom>
              <a:solidFill>
                <a:srgbClr val="fafd00"/>
              </a:solidFill>
              <a:ln w="9360">
                <a:solidFill>
                  <a:srgbClr val="618ffd"/>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grpSp>
        <p:grpSp>
          <p:nvGrpSpPr>
            <p:cNvPr id="337" name=""/>
            <p:cNvGrpSpPr/>
            <p:nvPr/>
          </p:nvGrpSpPr>
          <p:grpSpPr>
            <a:xfrm>
              <a:off x="5465880" y="3424320"/>
              <a:ext cx="274320" cy="274320"/>
              <a:chOff x="5465880" y="3424320"/>
              <a:chExt cx="274320" cy="274320"/>
            </a:xfrm>
          </p:grpSpPr>
          <p:sp>
            <p:nvSpPr>
              <p:cNvPr id="338" name=""/>
              <p:cNvSpPr/>
              <p:nvPr/>
            </p:nvSpPr>
            <p:spPr>
              <a:xfrm>
                <a:off x="5468400" y="3424320"/>
                <a:ext cx="271800" cy="270720"/>
              </a:xfrm>
              <a:prstGeom prst="ellipse">
                <a:avLst/>
              </a:prstGeom>
              <a:solidFill>
                <a:srgbClr val="618ffd"/>
              </a:solidFill>
              <a:ln w="9360">
                <a:solidFill>
                  <a:srgbClr val="618ffd"/>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339" name=""/>
              <p:cNvSpPr/>
              <p:nvPr/>
            </p:nvSpPr>
            <p:spPr>
              <a:xfrm>
                <a:off x="5465880" y="3427920"/>
                <a:ext cx="271800" cy="270720"/>
              </a:xfrm>
              <a:prstGeom prst="blockArc">
                <a:avLst>
                  <a:gd name="adj1" fmla="val 0"/>
                  <a:gd name="adj2" fmla="val 10800000"/>
                  <a:gd name="adj3" fmla="val 50000"/>
                </a:avLst>
              </a:prstGeom>
              <a:solidFill>
                <a:srgbClr val="fafd00"/>
              </a:solidFill>
              <a:ln w="9360">
                <a:solidFill>
                  <a:srgbClr val="618ffd"/>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grpSp>
        <p:grpSp>
          <p:nvGrpSpPr>
            <p:cNvPr id="340" name=""/>
            <p:cNvGrpSpPr/>
            <p:nvPr/>
          </p:nvGrpSpPr>
          <p:grpSpPr>
            <a:xfrm>
              <a:off x="5465880" y="3890880"/>
              <a:ext cx="274320" cy="274320"/>
              <a:chOff x="5465880" y="3890880"/>
              <a:chExt cx="274320" cy="274320"/>
            </a:xfrm>
          </p:grpSpPr>
          <p:sp>
            <p:nvSpPr>
              <p:cNvPr id="341" name=""/>
              <p:cNvSpPr/>
              <p:nvPr/>
            </p:nvSpPr>
            <p:spPr>
              <a:xfrm>
                <a:off x="5468400" y="3890880"/>
                <a:ext cx="271800" cy="270720"/>
              </a:xfrm>
              <a:prstGeom prst="ellipse">
                <a:avLst/>
              </a:prstGeom>
              <a:solidFill>
                <a:srgbClr val="618ffd"/>
              </a:solidFill>
              <a:ln w="9360">
                <a:solidFill>
                  <a:srgbClr val="618ffd"/>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342" name=""/>
              <p:cNvSpPr/>
              <p:nvPr/>
            </p:nvSpPr>
            <p:spPr>
              <a:xfrm>
                <a:off x="5465880" y="3894480"/>
                <a:ext cx="271800" cy="270720"/>
              </a:xfrm>
              <a:prstGeom prst="blockArc">
                <a:avLst>
                  <a:gd name="adj1" fmla="val 0"/>
                  <a:gd name="adj2" fmla="val 10800000"/>
                  <a:gd name="adj3" fmla="val 50000"/>
                </a:avLst>
              </a:prstGeom>
              <a:solidFill>
                <a:srgbClr val="fafd00"/>
              </a:solidFill>
              <a:ln w="9360">
                <a:solidFill>
                  <a:srgbClr val="618ffd"/>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grpSp>
      </p:grpSp>
      <p:grpSp>
        <p:nvGrpSpPr>
          <p:cNvPr id="343" name=""/>
          <p:cNvGrpSpPr/>
          <p:nvPr/>
        </p:nvGrpSpPr>
        <p:grpSpPr>
          <a:xfrm>
            <a:off x="1563840" y="5894280"/>
            <a:ext cx="7275240" cy="305280"/>
            <a:chOff x="1563840" y="5894280"/>
            <a:chExt cx="7275240" cy="305280"/>
          </a:xfrm>
        </p:grpSpPr>
        <p:sp>
          <p:nvSpPr>
            <p:cNvPr id="344" name=""/>
            <p:cNvSpPr/>
            <p:nvPr/>
          </p:nvSpPr>
          <p:spPr>
            <a:xfrm>
              <a:off x="3525480" y="5910120"/>
              <a:ext cx="274680" cy="274680"/>
            </a:xfrm>
            <a:prstGeom prst="ellipse">
              <a:avLst/>
            </a:prstGeom>
            <a:solidFill>
              <a:srgbClr val="c0c0c0"/>
            </a:solidFill>
            <a:ln w="9360">
              <a:solidFill>
                <a:srgbClr val="fafd00"/>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grpSp>
          <p:nvGrpSpPr>
            <p:cNvPr id="345" name=""/>
            <p:cNvGrpSpPr/>
            <p:nvPr/>
          </p:nvGrpSpPr>
          <p:grpSpPr>
            <a:xfrm>
              <a:off x="4939920" y="5910120"/>
              <a:ext cx="274320" cy="274320"/>
              <a:chOff x="4939920" y="5910120"/>
              <a:chExt cx="274320" cy="274320"/>
            </a:xfrm>
          </p:grpSpPr>
          <p:sp>
            <p:nvSpPr>
              <p:cNvPr id="346" name=""/>
              <p:cNvSpPr/>
              <p:nvPr/>
            </p:nvSpPr>
            <p:spPr>
              <a:xfrm>
                <a:off x="4942440" y="5910120"/>
                <a:ext cx="271800" cy="270720"/>
              </a:xfrm>
              <a:prstGeom prst="ellipse">
                <a:avLst/>
              </a:prstGeom>
              <a:solidFill>
                <a:srgbClr val="618ffd"/>
              </a:solidFill>
              <a:ln w="9360">
                <a:solidFill>
                  <a:srgbClr val="fafd00"/>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347" name=""/>
              <p:cNvSpPr/>
              <p:nvPr/>
            </p:nvSpPr>
            <p:spPr>
              <a:xfrm>
                <a:off x="4939920" y="5913720"/>
                <a:ext cx="271800" cy="270720"/>
              </a:xfrm>
              <a:prstGeom prst="blockArc">
                <a:avLst>
                  <a:gd name="adj1" fmla="val 0"/>
                  <a:gd name="adj2" fmla="val 10800000"/>
                  <a:gd name="adj3" fmla="val 50000"/>
                </a:avLst>
              </a:prstGeom>
              <a:solidFill>
                <a:srgbClr val="fafd00"/>
              </a:solidFill>
              <a:ln w="9360">
                <a:solidFill>
                  <a:srgbClr val="fafd00"/>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grpSp>
        <p:grpSp>
          <p:nvGrpSpPr>
            <p:cNvPr id="348" name=""/>
            <p:cNvGrpSpPr/>
            <p:nvPr/>
          </p:nvGrpSpPr>
          <p:grpSpPr>
            <a:xfrm>
              <a:off x="6365520" y="5910120"/>
              <a:ext cx="274680" cy="274680"/>
              <a:chOff x="6365520" y="5910120"/>
              <a:chExt cx="274680" cy="274680"/>
            </a:xfrm>
          </p:grpSpPr>
          <p:sp>
            <p:nvSpPr>
              <p:cNvPr id="349" name=""/>
              <p:cNvSpPr/>
              <p:nvPr/>
            </p:nvSpPr>
            <p:spPr>
              <a:xfrm>
                <a:off x="6365520" y="5910120"/>
                <a:ext cx="274680" cy="274680"/>
              </a:xfrm>
              <a:prstGeom prst="ellipse">
                <a:avLst/>
              </a:prstGeom>
              <a:solidFill>
                <a:srgbClr val="fafd00"/>
              </a:solidFill>
              <a:ln w="9360">
                <a:solidFill>
                  <a:srgbClr val="618ffd"/>
                </a:solidFill>
                <a:miter/>
              </a:ln>
            </p:spPr>
            <p:style>
              <a:lnRef idx="0"/>
              <a:fillRef idx="0"/>
              <a:effectRef idx="0"/>
              <a:fontRef idx="minor"/>
            </p:style>
            <p:txBody>
              <a:bodyPr wrap="none" lIns="90000" rIns="90000" tIns="46800" bIns="46800" anchor="ctr">
                <a:noAutofit/>
              </a:bodyPr>
              <a:p>
                <a:endParaRPr b="0" lang="en-IN" sz="2400" strike="noStrike" u="none">
                  <a:solidFill>
                    <a:srgbClr val="ffffff"/>
                  </a:solidFill>
                  <a:effectLst/>
                  <a:uFillTx/>
                  <a:latin typeface="Times New Roman"/>
                </a:endParaRPr>
              </a:p>
            </p:txBody>
          </p:sp>
          <p:sp>
            <p:nvSpPr>
              <p:cNvPr id="350" name=""/>
              <p:cNvSpPr/>
              <p:nvPr/>
            </p:nvSpPr>
            <p:spPr>
              <a:xfrm>
                <a:off x="6476040" y="6020640"/>
                <a:ext cx="53280" cy="53280"/>
              </a:xfrm>
              <a:prstGeom prst="ellipse">
                <a:avLst/>
              </a:prstGeom>
              <a:solidFill>
                <a:srgbClr val="618ffd"/>
              </a:solidFill>
              <a:ln w="9360">
                <a:solidFill>
                  <a:srgbClr val="618ffd"/>
                </a:solidFill>
                <a:miter/>
              </a:ln>
            </p:spPr>
            <p:style>
              <a:lnRef idx="0"/>
              <a:fillRef idx="0"/>
              <a:effectRef idx="0"/>
              <a:fontRef idx="minor"/>
            </p:style>
            <p:txBody>
              <a:bodyPr wrap="none" lIns="90000" rIns="90000" tIns="-8640" bIns="-8640" anchor="ctr">
                <a:noAutofit/>
              </a:bodyPr>
              <a:p>
                <a:endParaRPr b="0" lang="en-IN" sz="2400" strike="noStrike" u="none">
                  <a:solidFill>
                    <a:srgbClr val="ffffff"/>
                  </a:solidFill>
                  <a:effectLst/>
                  <a:uFillTx/>
                  <a:latin typeface="Times New Roman"/>
                </a:endParaRPr>
              </a:p>
            </p:txBody>
          </p:sp>
        </p:grpSp>
        <p:sp>
          <p:nvSpPr>
            <p:cNvPr id="351" name=""/>
            <p:cNvSpPr/>
            <p:nvPr/>
          </p:nvSpPr>
          <p:spPr>
            <a:xfrm>
              <a:off x="3941640" y="6049800"/>
              <a:ext cx="857160" cy="0"/>
            </a:xfrm>
            <a:prstGeom prst="line">
              <a:avLst/>
            </a:prstGeom>
            <a:ln w="38160">
              <a:solidFill>
                <a:srgbClr val="ffffff"/>
              </a:solidFill>
              <a:miter/>
              <a:tailEnd len="med" type="triangle" w="me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352" name=""/>
            <p:cNvSpPr/>
            <p:nvPr/>
          </p:nvSpPr>
          <p:spPr>
            <a:xfrm>
              <a:off x="5354280" y="6049800"/>
              <a:ext cx="870120" cy="0"/>
            </a:xfrm>
            <a:prstGeom prst="line">
              <a:avLst/>
            </a:prstGeom>
            <a:ln w="38160">
              <a:solidFill>
                <a:srgbClr val="ffffff"/>
              </a:solidFill>
              <a:miter/>
              <a:tailEnd len="med" type="triangle" w="med"/>
            </a:ln>
          </p:spPr>
          <p:style>
            <a:lnRef idx="0"/>
            <a:fillRef idx="0"/>
            <a:effectRef idx="0"/>
            <a:fontRef idx="minor"/>
          </p:style>
          <p:txBody>
            <a:bodyPr lIns="90000" rIns="90000" tIns="-46800" bIns="-46800" anchor="t">
              <a:noAutofit/>
            </a:bodyPr>
            <a:p>
              <a:endParaRPr b="0" lang="en-IN" sz="2400" strike="noStrike" u="none">
                <a:solidFill>
                  <a:srgbClr val="ffffff"/>
                </a:solidFill>
                <a:effectLst/>
                <a:uFillTx/>
                <a:latin typeface="Times New Roman"/>
              </a:endParaRPr>
            </a:p>
          </p:txBody>
        </p:sp>
        <p:sp>
          <p:nvSpPr>
            <p:cNvPr id="353" name=""/>
            <p:cNvSpPr/>
            <p:nvPr/>
          </p:nvSpPr>
          <p:spPr>
            <a:xfrm>
              <a:off x="1563840" y="5894280"/>
              <a:ext cx="1825200" cy="305280"/>
            </a:xfrm>
            <a:prstGeom prst="rect">
              <a:avLst/>
            </a:prstGeom>
            <a:noFill/>
            <a:ln w="0">
              <a:noFill/>
            </a:ln>
          </p:spPr>
          <p:style>
            <a:lnRef idx="0"/>
            <a:fillRef idx="0"/>
            <a:effectRef idx="0"/>
            <a:fontRef idx="minor"/>
          </p:style>
          <p:txBody>
            <a:bodyPr wrap="none"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ffffff"/>
                  </a:solidFill>
                  <a:effectLst/>
                  <a:uFillTx/>
                  <a:latin typeface="Arial"/>
                </a:rPr>
                <a:t>Less Important</a:t>
              </a:r>
              <a:endParaRPr b="0" lang="en-IN" sz="2000" strike="noStrike" u="none">
                <a:solidFill>
                  <a:srgbClr val="ffffff"/>
                </a:solidFill>
                <a:effectLst/>
                <a:uFillTx/>
                <a:latin typeface="Times New Roman"/>
              </a:endParaRPr>
            </a:p>
          </p:txBody>
        </p:sp>
        <p:sp>
          <p:nvSpPr>
            <p:cNvPr id="354" name=""/>
            <p:cNvSpPr/>
            <p:nvPr/>
          </p:nvSpPr>
          <p:spPr>
            <a:xfrm>
              <a:off x="6781680" y="5894280"/>
              <a:ext cx="2057400" cy="30528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ffffff"/>
                  </a:solidFill>
                  <a:effectLst/>
                  <a:uFillTx/>
                  <a:latin typeface="Arial"/>
                </a:rPr>
                <a:t>More Important</a:t>
              </a:r>
              <a:endParaRPr b="0" lang="en-IN" sz="2000" strike="noStrike" u="none">
                <a:solidFill>
                  <a:srgbClr val="ffffff"/>
                </a:solidFill>
                <a:effectLst/>
                <a:uFillTx/>
                <a:latin typeface="Times New Roman"/>
              </a:endParaRPr>
            </a:p>
          </p:txBody>
        </p:sp>
      </p:gr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14f3"/>
        </a:solidFill>
      </p:bgPr>
    </p:bg>
    <p:spTree>
      <p:nvGrpSpPr>
        <p:cNvPr id="1" name=""/>
        <p:cNvGrpSpPr/>
        <p:nvPr/>
      </p:nvGrpSpPr>
      <p:grpSpPr>
        <a:xfrm>
          <a:off x="0" y="0"/>
          <a:ext cx="0" cy="0"/>
          <a:chOff x="0" y="0"/>
          <a:chExt cx="0" cy="0"/>
        </a:xfrm>
      </p:grpSpPr>
      <p:sp>
        <p:nvSpPr>
          <p:cNvPr id="355" name="PlaceHolder 1"/>
          <p:cNvSpPr>
            <a:spLocks noGrp="1"/>
          </p:cNvSpPr>
          <p:nvPr>
            <p:ph type="title"/>
          </p:nvPr>
        </p:nvSpPr>
        <p:spPr>
          <a:xfrm>
            <a:off x="380880" y="609480"/>
            <a:ext cx="7772400" cy="609840"/>
          </a:xfrm>
          <a:prstGeom prst="rect">
            <a:avLst/>
          </a:prstGeom>
          <a:noFill/>
          <a:ln w="0">
            <a:noFill/>
          </a:ln>
        </p:spPr>
        <p:txBody>
          <a:bodyPr lIns="92160" rIns="92160" tIns="46080" bIns="46080" anchor="t">
            <a:noAutofit/>
          </a:bodyPr>
          <a:p>
            <a:pPr indent="0">
              <a:lnSpc>
                <a:spcPct val="85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IN" sz="2800" strike="noStrike" u="none">
                <a:solidFill>
                  <a:srgbClr val="fafd00"/>
                </a:solidFill>
                <a:effectLst/>
                <a:uFillTx/>
                <a:latin typeface="Arial"/>
              </a:rPr>
              <a:t>Land Use and Community Impacts</a:t>
            </a:r>
            <a:endParaRPr b="1" i="1" lang="en-IN" sz="2800" strike="noStrike" u="none">
              <a:solidFill>
                <a:srgbClr val="fafd00"/>
              </a:solidFill>
              <a:effectLst/>
              <a:uFillTx/>
              <a:latin typeface="Arial"/>
            </a:endParaRPr>
          </a:p>
        </p:txBody>
      </p:sp>
      <p:sp>
        <p:nvSpPr>
          <p:cNvPr id="356" name="PlaceHolder 2"/>
          <p:cNvSpPr>
            <a:spLocks noGrp="1"/>
          </p:cNvSpPr>
          <p:nvPr>
            <p:ph/>
          </p:nvPr>
        </p:nvSpPr>
        <p:spPr>
          <a:xfrm>
            <a:off x="380880" y="1447920"/>
            <a:ext cx="7772400" cy="4114800"/>
          </a:xfrm>
          <a:prstGeom prst="rect">
            <a:avLst/>
          </a:prstGeom>
          <a:noFill/>
          <a:ln w="0">
            <a:noFill/>
          </a:ln>
        </p:spPr>
        <p:txBody>
          <a:bodyPr lIns="92160" rIns="92160" tIns="46080" bIns="46080" anchor="t">
            <a:normAutofit/>
          </a:bodyPr>
          <a:p>
            <a:pPr marL="343080" indent="-343080">
              <a:lnSpc>
                <a:spcPct val="95000"/>
              </a:lnSpc>
              <a:spcBef>
                <a:spcPts val="3124"/>
              </a:spcBef>
              <a:buClr>
                <a:srgbClr val="fe9b03"/>
              </a:buClr>
              <a:buSzPct val="65000"/>
              <a:buFont typeface="Monotype Sort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ffffff"/>
                </a:solidFill>
                <a:effectLst/>
                <a:uFillTx/>
                <a:latin typeface="Arial"/>
              </a:rPr>
              <a:t>Impacts of economy and real estate market on location of goods movement industry</a:t>
            </a:r>
            <a:endParaRPr b="1" lang="en-IN" sz="2000" strike="noStrike" u="none">
              <a:solidFill>
                <a:srgbClr val="ffffff"/>
              </a:solidFill>
              <a:effectLst/>
              <a:uFillTx/>
              <a:latin typeface="Arial"/>
            </a:endParaRPr>
          </a:p>
          <a:p>
            <a:pPr marL="343080" indent="-343080">
              <a:lnSpc>
                <a:spcPct val="95000"/>
              </a:lnSpc>
              <a:spcBef>
                <a:spcPts val="3124"/>
              </a:spcBef>
              <a:buClr>
                <a:srgbClr val="fe9b03"/>
              </a:buClr>
              <a:buSzPct val="65000"/>
              <a:buFont typeface="Monotype Sort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ffffff"/>
                </a:solidFill>
                <a:effectLst/>
                <a:uFillTx/>
                <a:latin typeface="Arial"/>
              </a:rPr>
              <a:t>Community attitudes and local land use policy</a:t>
            </a:r>
            <a:endParaRPr b="1" lang="en-IN" sz="2000" strike="noStrike" u="none">
              <a:solidFill>
                <a:srgbClr val="ffffff"/>
              </a:solidFill>
              <a:effectLst/>
              <a:uFillTx/>
              <a:latin typeface="Arial"/>
            </a:endParaRPr>
          </a:p>
          <a:p>
            <a:pPr marL="343080" indent="-343080">
              <a:lnSpc>
                <a:spcPct val="95000"/>
              </a:lnSpc>
              <a:spcBef>
                <a:spcPts val="3124"/>
              </a:spcBef>
              <a:buClr>
                <a:srgbClr val="fe9b03"/>
              </a:buClr>
              <a:buSzPct val="65000"/>
              <a:buFont typeface="Monotype Sort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ffffff"/>
                </a:solidFill>
                <a:effectLst/>
                <a:uFillTx/>
                <a:latin typeface="Arial"/>
              </a:rPr>
              <a:t>Tax base advantages from switching land out of transportation uses</a:t>
            </a:r>
            <a:endParaRPr b="1" lang="en-IN" sz="2000" strike="noStrike" u="none">
              <a:solidFill>
                <a:srgbClr val="ffffff"/>
              </a:solidFill>
              <a:effectLst/>
              <a:uFillTx/>
              <a:latin typeface="Arial"/>
            </a:endParaRPr>
          </a:p>
          <a:p>
            <a:pPr marL="343080" indent="-343080">
              <a:lnSpc>
                <a:spcPct val="95000"/>
              </a:lnSpc>
              <a:spcBef>
                <a:spcPts val="3124"/>
              </a:spcBef>
              <a:buClr>
                <a:srgbClr val="fe9b03"/>
              </a:buClr>
              <a:buSzPct val="65000"/>
              <a:buFont typeface="Monotype Sort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ffffff"/>
                </a:solidFill>
                <a:effectLst/>
                <a:uFillTx/>
                <a:latin typeface="Arial"/>
              </a:rPr>
              <a:t>Future development patterns and goods movement industry</a:t>
            </a:r>
            <a:endParaRPr b="1" lang="en-IN" sz="20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14f3"/>
        </a:solidFill>
      </p:bgPr>
    </p:bg>
    <p:spTree>
      <p:nvGrpSpPr>
        <p:cNvPr id="1" name=""/>
        <p:cNvGrpSpPr/>
        <p:nvPr/>
      </p:nvGrpSpPr>
      <p:grpSpPr>
        <a:xfrm>
          <a:off x="0" y="0"/>
          <a:ext cx="0" cy="0"/>
          <a:chOff x="0" y="0"/>
          <a:chExt cx="0" cy="0"/>
        </a:xfrm>
      </p:grpSpPr>
      <p:sp>
        <p:nvSpPr>
          <p:cNvPr id="357" name="PlaceHolder 1"/>
          <p:cNvSpPr>
            <a:spLocks noGrp="1"/>
          </p:cNvSpPr>
          <p:nvPr>
            <p:ph type="title"/>
          </p:nvPr>
        </p:nvSpPr>
        <p:spPr>
          <a:xfrm>
            <a:off x="380880" y="609480"/>
            <a:ext cx="7772400" cy="609840"/>
          </a:xfrm>
          <a:prstGeom prst="rect">
            <a:avLst/>
          </a:prstGeom>
          <a:noFill/>
          <a:ln w="0">
            <a:noFill/>
          </a:ln>
        </p:spPr>
        <p:txBody>
          <a:bodyPr lIns="92160" rIns="92160" tIns="46080" bIns="46080" anchor="t">
            <a:noAutofit/>
          </a:bodyPr>
          <a:p>
            <a:pPr indent="0">
              <a:lnSpc>
                <a:spcPct val="85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IN" sz="2800" strike="noStrike" u="none">
                <a:solidFill>
                  <a:srgbClr val="fafd00"/>
                </a:solidFill>
                <a:effectLst/>
                <a:uFillTx/>
                <a:latin typeface="Arial"/>
              </a:rPr>
              <a:t>Stakeholder Interviews and Issues</a:t>
            </a:r>
            <a:endParaRPr b="1" i="1" lang="en-IN" sz="2800" strike="noStrike" u="none">
              <a:solidFill>
                <a:srgbClr val="fafd00"/>
              </a:solidFill>
              <a:effectLst/>
              <a:uFillTx/>
              <a:latin typeface="Arial"/>
            </a:endParaRPr>
          </a:p>
        </p:txBody>
      </p:sp>
      <p:sp>
        <p:nvSpPr>
          <p:cNvPr id="358" name="PlaceHolder 2"/>
          <p:cNvSpPr>
            <a:spLocks noGrp="1"/>
          </p:cNvSpPr>
          <p:nvPr>
            <p:ph/>
          </p:nvPr>
        </p:nvSpPr>
        <p:spPr>
          <a:xfrm>
            <a:off x="380880" y="1447560"/>
            <a:ext cx="4097520" cy="4452840"/>
          </a:xfrm>
          <a:prstGeom prst="rect">
            <a:avLst/>
          </a:prstGeom>
          <a:noFill/>
          <a:ln w="0">
            <a:noFill/>
          </a:ln>
        </p:spPr>
        <p:txBody>
          <a:bodyPr lIns="92160" rIns="92160" tIns="46080" bIns="46080" anchor="t">
            <a:normAutofit/>
          </a:bodyPr>
          <a:p>
            <a:pPr marL="343080" indent="-343080">
              <a:lnSpc>
                <a:spcPct val="95000"/>
              </a:lnSpc>
              <a:spcBef>
                <a:spcPts val="2812"/>
              </a:spcBef>
              <a:buClr>
                <a:srgbClr val="fe9b03"/>
              </a:buClr>
              <a:buSzPct val="65000"/>
              <a:buFont typeface="Monotype Sort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ffffff"/>
                </a:solidFill>
                <a:effectLst/>
                <a:uFillTx/>
                <a:latin typeface="Arial"/>
              </a:rPr>
              <a:t>Stakeholder groups</a:t>
            </a:r>
            <a:endParaRPr b="1" lang="en-IN" sz="1800" strike="noStrike" u="none">
              <a:solidFill>
                <a:srgbClr val="ffffff"/>
              </a:solidFill>
              <a:effectLst/>
              <a:uFillTx/>
              <a:latin typeface="Arial"/>
            </a:endParaRPr>
          </a:p>
          <a:p>
            <a:pPr lvl="1" marL="743040" indent="-285840">
              <a:lnSpc>
                <a:spcPct val="95000"/>
              </a:lnSpc>
              <a:spcBef>
                <a:spcPts val="1125"/>
              </a:spcBef>
              <a:buClr>
                <a:srgbClr val="00c297"/>
              </a:buClr>
              <a:buSzPct val="120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ffffff"/>
                </a:solidFill>
                <a:effectLst/>
                <a:uFillTx/>
                <a:latin typeface="Arial"/>
              </a:rPr>
              <a:t>CTA, commercial truckers, private fleet owners </a:t>
            </a:r>
            <a:endParaRPr b="1" lang="en-IN" sz="1800" strike="noStrike" u="none">
              <a:solidFill>
                <a:srgbClr val="ffffff"/>
              </a:solidFill>
              <a:effectLst/>
              <a:uFillTx/>
              <a:latin typeface="Arial"/>
            </a:endParaRPr>
          </a:p>
          <a:p>
            <a:pPr lvl="1" marL="743040" indent="-285840">
              <a:lnSpc>
                <a:spcPct val="95000"/>
              </a:lnSpc>
              <a:spcBef>
                <a:spcPts val="1125"/>
              </a:spcBef>
              <a:buClr>
                <a:srgbClr val="00c297"/>
              </a:buClr>
              <a:buSzPct val="120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ffffff"/>
                </a:solidFill>
                <a:effectLst/>
                <a:uFillTx/>
                <a:latin typeface="Arial"/>
              </a:rPr>
              <a:t>Port/airport, ocean carriers, terminal operators, air cargo operators</a:t>
            </a:r>
            <a:endParaRPr b="1" lang="en-IN" sz="1800" strike="noStrike" u="none">
              <a:solidFill>
                <a:srgbClr val="ffffff"/>
              </a:solidFill>
              <a:effectLst/>
              <a:uFillTx/>
              <a:latin typeface="Arial"/>
            </a:endParaRPr>
          </a:p>
          <a:p>
            <a:pPr lvl="1" marL="743040" indent="-285840">
              <a:lnSpc>
                <a:spcPct val="95000"/>
              </a:lnSpc>
              <a:spcBef>
                <a:spcPts val="1125"/>
              </a:spcBef>
              <a:buClr>
                <a:srgbClr val="00c297"/>
              </a:buClr>
              <a:buSzPct val="120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ffffff"/>
                </a:solidFill>
                <a:effectLst/>
                <a:uFillTx/>
                <a:latin typeface="Arial"/>
              </a:rPr>
              <a:t>Class I and shortline railroads</a:t>
            </a:r>
            <a:endParaRPr b="1" lang="en-IN" sz="1800" strike="noStrike" u="none">
              <a:solidFill>
                <a:srgbClr val="ffffff"/>
              </a:solidFill>
              <a:effectLst/>
              <a:uFillTx/>
              <a:latin typeface="Arial"/>
            </a:endParaRPr>
          </a:p>
          <a:p>
            <a:pPr lvl="1" marL="743040" indent="-285840">
              <a:lnSpc>
                <a:spcPct val="95000"/>
              </a:lnSpc>
              <a:spcBef>
                <a:spcPts val="1125"/>
              </a:spcBef>
              <a:buClr>
                <a:srgbClr val="00c297"/>
              </a:buClr>
              <a:buSzPct val="120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ffffff"/>
                </a:solidFill>
                <a:effectLst/>
                <a:uFillTx/>
                <a:latin typeface="Arial"/>
              </a:rPr>
              <a:t>Local electeds and planners</a:t>
            </a:r>
            <a:endParaRPr b="1" lang="en-IN" sz="1800" strike="noStrike" u="none">
              <a:solidFill>
                <a:srgbClr val="ffffff"/>
              </a:solidFill>
              <a:effectLst/>
              <a:uFillTx/>
              <a:latin typeface="Arial"/>
            </a:endParaRPr>
          </a:p>
          <a:p>
            <a:pPr lvl="1" marL="743040" indent="-285840">
              <a:lnSpc>
                <a:spcPct val="95000"/>
              </a:lnSpc>
              <a:spcBef>
                <a:spcPts val="1125"/>
              </a:spcBef>
              <a:buClr>
                <a:srgbClr val="00c297"/>
              </a:buClr>
              <a:buSzPct val="120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ffffff"/>
                </a:solidFill>
                <a:effectLst/>
                <a:uFillTx/>
                <a:latin typeface="Arial"/>
              </a:rPr>
              <a:t>Shippers</a:t>
            </a:r>
            <a:endParaRPr b="1" lang="en-IN" sz="1800" strike="noStrike" u="none">
              <a:solidFill>
                <a:srgbClr val="ffffff"/>
              </a:solidFill>
              <a:effectLst/>
              <a:uFillTx/>
              <a:latin typeface="Arial"/>
            </a:endParaRPr>
          </a:p>
          <a:p>
            <a:pPr lvl="1" marL="743040" indent="-285840">
              <a:lnSpc>
                <a:spcPct val="95000"/>
              </a:lnSpc>
              <a:spcBef>
                <a:spcPts val="1125"/>
              </a:spcBef>
              <a:buClr>
                <a:srgbClr val="00c297"/>
              </a:buClr>
              <a:buSzPct val="120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ffffff"/>
                </a:solidFill>
                <a:effectLst/>
                <a:uFillTx/>
                <a:latin typeface="Arial"/>
              </a:rPr>
              <a:t>Warehousing and distribution industry</a:t>
            </a:r>
            <a:endParaRPr b="1" lang="en-IN" sz="1800" strike="noStrike" u="none">
              <a:solidFill>
                <a:srgbClr val="ffffff"/>
              </a:solidFill>
              <a:effectLst/>
              <a:uFillTx/>
              <a:latin typeface="Arial"/>
            </a:endParaRPr>
          </a:p>
        </p:txBody>
      </p:sp>
      <p:sp>
        <p:nvSpPr>
          <p:cNvPr id="359" name="PlaceHolder 3"/>
          <p:cNvSpPr>
            <a:spLocks noGrp="1"/>
          </p:cNvSpPr>
          <p:nvPr>
            <p:ph/>
          </p:nvPr>
        </p:nvSpPr>
        <p:spPr>
          <a:xfrm>
            <a:off x="4647960" y="1447920"/>
            <a:ext cx="3809880" cy="4114800"/>
          </a:xfrm>
          <a:prstGeom prst="rect">
            <a:avLst/>
          </a:prstGeom>
          <a:noFill/>
          <a:ln w="0">
            <a:noFill/>
          </a:ln>
        </p:spPr>
        <p:txBody>
          <a:bodyPr lIns="92160" rIns="92160" tIns="46080" bIns="46080" anchor="t">
            <a:normAutofit/>
          </a:bodyPr>
          <a:p>
            <a:pPr marL="343080" indent="-343080">
              <a:lnSpc>
                <a:spcPct val="95000"/>
              </a:lnSpc>
              <a:spcBef>
                <a:spcPts val="2812"/>
              </a:spcBef>
              <a:buClr>
                <a:srgbClr val="fe9b03"/>
              </a:buClr>
              <a:buSzPct val="65000"/>
              <a:buFont typeface="Monotype Sort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ffffff"/>
                </a:solidFill>
                <a:effectLst/>
                <a:uFillTx/>
                <a:latin typeface="Arial"/>
              </a:rPr>
              <a:t>Issue areas</a:t>
            </a:r>
            <a:endParaRPr b="1" lang="en-IN" sz="1800" strike="noStrike" u="none">
              <a:solidFill>
                <a:srgbClr val="ffffff"/>
              </a:solidFill>
              <a:effectLst/>
              <a:uFillTx/>
              <a:latin typeface="Arial"/>
            </a:endParaRPr>
          </a:p>
          <a:p>
            <a:pPr lvl="1" marL="743040" indent="-285840">
              <a:lnSpc>
                <a:spcPct val="95000"/>
              </a:lnSpc>
              <a:spcBef>
                <a:spcPts val="1125"/>
              </a:spcBef>
              <a:buClr>
                <a:srgbClr val="00c297"/>
              </a:buClr>
              <a:buSzPct val="120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ffffff"/>
                </a:solidFill>
                <a:effectLst/>
                <a:uFillTx/>
                <a:latin typeface="Arial"/>
              </a:rPr>
              <a:t>Infrastructure needs</a:t>
            </a:r>
            <a:endParaRPr b="1" lang="en-IN" sz="1800" strike="noStrike" u="none">
              <a:solidFill>
                <a:srgbClr val="ffffff"/>
              </a:solidFill>
              <a:effectLst/>
              <a:uFillTx/>
              <a:latin typeface="Arial"/>
            </a:endParaRPr>
          </a:p>
          <a:p>
            <a:pPr lvl="1" marL="743040" indent="-285840">
              <a:lnSpc>
                <a:spcPct val="95000"/>
              </a:lnSpc>
              <a:spcBef>
                <a:spcPts val="1125"/>
              </a:spcBef>
              <a:buClr>
                <a:srgbClr val="00c297"/>
              </a:buClr>
              <a:buSzPct val="120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ffffff"/>
                </a:solidFill>
                <a:effectLst/>
                <a:uFillTx/>
                <a:latin typeface="Arial"/>
              </a:rPr>
              <a:t>Operational problems</a:t>
            </a:r>
            <a:endParaRPr b="1" lang="en-IN" sz="1800" strike="noStrike" u="none">
              <a:solidFill>
                <a:srgbClr val="ffffff"/>
              </a:solidFill>
              <a:effectLst/>
              <a:uFillTx/>
              <a:latin typeface="Arial"/>
            </a:endParaRPr>
          </a:p>
          <a:p>
            <a:pPr lvl="1" marL="743040" indent="-285840">
              <a:lnSpc>
                <a:spcPct val="95000"/>
              </a:lnSpc>
              <a:spcBef>
                <a:spcPts val="1125"/>
              </a:spcBef>
              <a:buClr>
                <a:srgbClr val="00c297"/>
              </a:buClr>
              <a:buSzPct val="120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ffffff"/>
                </a:solidFill>
                <a:effectLst/>
                <a:uFillTx/>
                <a:latin typeface="Arial"/>
              </a:rPr>
              <a:t>Land use and regulatory issues</a:t>
            </a:r>
            <a:endParaRPr b="1" lang="en-IN" sz="1800" strike="noStrike" u="none">
              <a:solidFill>
                <a:srgbClr val="ffffff"/>
              </a:solidFill>
              <a:effectLst/>
              <a:uFillTx/>
              <a:latin typeface="Arial"/>
            </a:endParaRPr>
          </a:p>
          <a:p>
            <a:pPr lvl="1" marL="743040" indent="-285840">
              <a:lnSpc>
                <a:spcPct val="95000"/>
              </a:lnSpc>
              <a:spcBef>
                <a:spcPts val="1125"/>
              </a:spcBef>
              <a:buClr>
                <a:srgbClr val="00c297"/>
              </a:buClr>
              <a:buSzPct val="120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ffffff"/>
                </a:solidFill>
                <a:effectLst/>
                <a:uFillTx/>
                <a:latin typeface="Arial"/>
              </a:rPr>
              <a:t>Institutional/Governance </a:t>
            </a:r>
            <a:endParaRPr b="1" lang="en-IN" sz="1800" strike="noStrike" u="none">
              <a:solidFill>
                <a:srgbClr val="ffffff"/>
              </a:solidFill>
              <a:effectLst/>
              <a:uFillTx/>
              <a:latin typeface="Arial"/>
            </a:endParaRPr>
          </a:p>
          <a:p>
            <a:pPr lvl="1" marL="743040" indent="-285840">
              <a:lnSpc>
                <a:spcPct val="95000"/>
              </a:lnSpc>
              <a:spcBef>
                <a:spcPts val="1125"/>
              </a:spcBef>
              <a:buClr>
                <a:srgbClr val="00c297"/>
              </a:buClr>
              <a:buSzPct val="120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ffffff"/>
                </a:solidFill>
                <a:effectLst/>
                <a:uFillTx/>
                <a:latin typeface="Arial"/>
              </a:rPr>
              <a:t>Funding and Finance</a:t>
            </a:r>
            <a:endParaRPr b="1" lang="en-IN" sz="18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14f3"/>
        </a:solidFill>
      </p:bgPr>
    </p:bg>
    <p:spTree>
      <p:nvGrpSpPr>
        <p:cNvPr id="1" name=""/>
        <p:cNvGrpSpPr/>
        <p:nvPr/>
      </p:nvGrpSpPr>
      <p:grpSpPr>
        <a:xfrm>
          <a:off x="0" y="0"/>
          <a:ext cx="0" cy="0"/>
          <a:chOff x="0" y="0"/>
          <a:chExt cx="0" cy="0"/>
        </a:xfrm>
      </p:grpSpPr>
      <p:sp>
        <p:nvSpPr>
          <p:cNvPr id="360" name="PlaceHolder 1"/>
          <p:cNvSpPr>
            <a:spLocks noGrp="1"/>
          </p:cNvSpPr>
          <p:nvPr>
            <p:ph type="title"/>
          </p:nvPr>
        </p:nvSpPr>
        <p:spPr>
          <a:xfrm>
            <a:off x="380880" y="609480"/>
            <a:ext cx="7772400" cy="609840"/>
          </a:xfrm>
          <a:prstGeom prst="rect">
            <a:avLst/>
          </a:prstGeom>
          <a:noFill/>
          <a:ln w="0">
            <a:noFill/>
          </a:ln>
        </p:spPr>
        <p:txBody>
          <a:bodyPr lIns="92160" rIns="92160" tIns="46080" bIns="46080" anchor="t">
            <a:noAutofit/>
          </a:bodyPr>
          <a:p>
            <a:pPr indent="0">
              <a:lnSpc>
                <a:spcPct val="85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IN" sz="2800" strike="noStrike" u="none">
                <a:solidFill>
                  <a:srgbClr val="fafd00"/>
                </a:solidFill>
                <a:effectLst/>
                <a:uFillTx/>
                <a:latin typeface="Arial"/>
              </a:rPr>
              <a:t>Assessing Issues and Strategies/Solutions</a:t>
            </a:r>
            <a:endParaRPr b="1" i="1" lang="en-IN" sz="2800" strike="noStrike" u="none">
              <a:solidFill>
                <a:srgbClr val="fafd00"/>
              </a:solidFill>
              <a:effectLst/>
              <a:uFillTx/>
              <a:latin typeface="Arial"/>
            </a:endParaRPr>
          </a:p>
        </p:txBody>
      </p:sp>
      <p:sp>
        <p:nvSpPr>
          <p:cNvPr id="361" name="PlaceHolder 2"/>
          <p:cNvSpPr>
            <a:spLocks noGrp="1"/>
          </p:cNvSpPr>
          <p:nvPr>
            <p:ph/>
          </p:nvPr>
        </p:nvSpPr>
        <p:spPr>
          <a:xfrm>
            <a:off x="380880" y="1442880"/>
            <a:ext cx="2895840" cy="4407120"/>
          </a:xfrm>
          <a:prstGeom prst="rect">
            <a:avLst/>
          </a:prstGeom>
          <a:noFill/>
          <a:ln w="0">
            <a:noFill/>
          </a:ln>
        </p:spPr>
        <p:txBody>
          <a:bodyPr lIns="92160" rIns="92160" tIns="46080" bIns="46080" anchor="t">
            <a:normAutofit/>
          </a:bodyPr>
          <a:p>
            <a:pPr marL="343080" indent="-343080">
              <a:lnSpc>
                <a:spcPct val="85000"/>
              </a:lnSpc>
              <a:spcBef>
                <a:spcPts val="2251"/>
              </a:spcBef>
              <a:buClr>
                <a:srgbClr val="fe9b03"/>
              </a:buClr>
              <a:buSzPct val="65000"/>
              <a:buFont typeface="Monotype Sort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ffffff"/>
                </a:solidFill>
                <a:effectLst/>
                <a:uFillTx/>
                <a:latin typeface="Arial"/>
              </a:rPr>
              <a:t>Develop solutions and compile evaluative information</a:t>
            </a:r>
            <a:endParaRPr b="1" lang="en-IN" sz="1800" strike="noStrike" u="none">
              <a:solidFill>
                <a:srgbClr val="ffffff"/>
              </a:solidFill>
              <a:effectLst/>
              <a:uFillTx/>
              <a:latin typeface="Arial"/>
            </a:endParaRPr>
          </a:p>
          <a:p>
            <a:pPr marL="343080" indent="-343080">
              <a:lnSpc>
                <a:spcPct val="85000"/>
              </a:lnSpc>
              <a:spcBef>
                <a:spcPts val="2251"/>
              </a:spcBef>
              <a:buClr>
                <a:srgbClr val="fe9b03"/>
              </a:buClr>
              <a:buSzPct val="65000"/>
              <a:buFont typeface="Monotype Sort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ffffff"/>
                </a:solidFill>
                <a:effectLst/>
                <a:uFillTx/>
                <a:latin typeface="Arial"/>
              </a:rPr>
              <a:t>Relate solutions to implementation issues and likelihood of success</a:t>
            </a:r>
            <a:endParaRPr b="1" lang="en-IN" sz="1800" strike="noStrike" u="none">
              <a:solidFill>
                <a:srgbClr val="ffffff"/>
              </a:solidFill>
              <a:effectLst/>
              <a:uFillTx/>
              <a:latin typeface="Arial"/>
            </a:endParaRPr>
          </a:p>
          <a:p>
            <a:pPr marL="343080" indent="-343080">
              <a:lnSpc>
                <a:spcPct val="85000"/>
              </a:lnSpc>
              <a:spcBef>
                <a:spcPts val="2251"/>
              </a:spcBef>
              <a:buClr>
                <a:srgbClr val="fe9b03"/>
              </a:buClr>
              <a:buSzPct val="65000"/>
              <a:buFont typeface="Monotype Sort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ffffff"/>
                </a:solidFill>
                <a:effectLst/>
                <a:uFillTx/>
                <a:latin typeface="Arial"/>
              </a:rPr>
              <a:t>Construct performance measures where possible</a:t>
            </a:r>
            <a:endParaRPr b="1" lang="en-IN" sz="1800" strike="noStrike" u="none">
              <a:solidFill>
                <a:srgbClr val="ffffff"/>
              </a:solidFill>
              <a:effectLst/>
              <a:uFillTx/>
              <a:latin typeface="Arial"/>
            </a:endParaRPr>
          </a:p>
          <a:p>
            <a:pPr marL="343080" indent="-343080">
              <a:lnSpc>
                <a:spcPct val="85000"/>
              </a:lnSpc>
              <a:spcBef>
                <a:spcPts val="2251"/>
              </a:spcBef>
              <a:buClr>
                <a:srgbClr val="fe9b03"/>
              </a:buClr>
              <a:buSzPct val="65000"/>
              <a:buFont typeface="Monotype Sort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ffffff"/>
                </a:solidFill>
                <a:effectLst/>
                <a:uFillTx/>
                <a:latin typeface="Arial"/>
              </a:rPr>
              <a:t>Conduct workshop/charette</a:t>
            </a:r>
            <a:endParaRPr b="1" lang="en-IN" sz="1800" strike="noStrike" u="none">
              <a:solidFill>
                <a:srgbClr val="ffffff"/>
              </a:solidFill>
              <a:effectLst/>
              <a:uFillTx/>
              <a:latin typeface="Arial"/>
            </a:endParaRPr>
          </a:p>
        </p:txBody>
      </p:sp>
      <p:graphicFrame>
        <p:nvGraphicFramePr>
          <p:cNvPr id="362" name=""/>
          <p:cNvGraphicFramePr/>
          <p:nvPr/>
        </p:nvGraphicFramePr>
        <p:xfrm>
          <a:off x="3238560" y="1562040"/>
          <a:ext cx="5716440" cy="3670200"/>
        </p:xfrm>
        <a:graphic>
          <a:graphicData uri="http://schemas.openxmlformats.org/presentationml/2006/ole">
            <p:oleObj progId="Excel.Sheet.12" r:id="rId1" spid="">
              <p:embed/>
              <p:pic>
                <p:nvPicPr>
                  <p:cNvPr id="363" name="" descr=""/>
                  <p:cNvPicPr/>
                  <p:nvPr/>
                </p:nvPicPr>
                <p:blipFill>
                  <a:blip r:embed="rId2"/>
                  <a:stretch/>
                </p:blipFill>
                <p:spPr>
                  <a:xfrm>
                    <a:off x="3238560" y="1562040"/>
                    <a:ext cx="5716440" cy="3670200"/>
                  </a:xfrm>
                  <a:prstGeom prst="rect">
                    <a:avLst/>
                  </a:prstGeom>
                  <a:solidFill>
                    <a:srgbClr val="ffffff"/>
                  </a:solidFill>
                  <a:ln w="0">
                    <a:noFill/>
                  </a:ln>
                </p:spPr>
              </p:pic>
            </p:oleObj>
          </a:graphicData>
        </a:graphic>
      </p:graphicFrame>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14f3"/>
        </a:solidFill>
      </p:bgPr>
    </p:bg>
    <p:spTree>
      <p:nvGrpSpPr>
        <p:cNvPr id="1" name=""/>
        <p:cNvGrpSpPr/>
        <p:nvPr/>
      </p:nvGrpSpPr>
      <p:grpSpPr>
        <a:xfrm>
          <a:off x="0" y="0"/>
          <a:ext cx="0" cy="0"/>
          <a:chOff x="0" y="0"/>
          <a:chExt cx="0" cy="0"/>
        </a:xfrm>
      </p:grpSpPr>
      <p:sp>
        <p:nvSpPr>
          <p:cNvPr id="364" name="PlaceHolder 1"/>
          <p:cNvSpPr>
            <a:spLocks noGrp="1"/>
          </p:cNvSpPr>
          <p:nvPr>
            <p:ph type="title"/>
          </p:nvPr>
        </p:nvSpPr>
        <p:spPr>
          <a:xfrm>
            <a:off x="685800" y="2130120"/>
            <a:ext cx="7772400" cy="1469880"/>
          </a:xfrm>
          <a:prstGeom prst="rect">
            <a:avLst/>
          </a:prstGeom>
          <a:noFill/>
          <a:ln w="0">
            <a:noFill/>
          </a:ln>
        </p:spPr>
        <p:txBody>
          <a:bodyPr lIns="92160" rIns="92160" tIns="46080" bIns="46080" anchor="t">
            <a:noAutofit/>
          </a:bodyPr>
          <a:p>
            <a:pPr indent="0">
              <a:lnSpc>
                <a:spcPct val="85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IN" sz="2800" strike="noStrike" u="none">
                <a:solidFill>
                  <a:srgbClr val="fafd00"/>
                </a:solidFill>
                <a:effectLst/>
                <a:uFillTx/>
                <a:latin typeface="Arial"/>
              </a:rPr>
              <a:t>Related Goods Movement Studies</a:t>
            </a:r>
            <a:endParaRPr b="1" i="1" lang="en-IN" sz="2800" strike="noStrike" u="none">
              <a:solidFill>
                <a:srgbClr val="fafd00"/>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14f3"/>
        </a:solidFill>
      </p:bgPr>
    </p:bg>
    <p:spTree>
      <p:nvGrpSpPr>
        <p:cNvPr id="1" name=""/>
        <p:cNvGrpSpPr/>
        <p:nvPr/>
      </p:nvGrpSpPr>
      <p:grpSpPr>
        <a:xfrm>
          <a:off x="0" y="0"/>
          <a:ext cx="0" cy="0"/>
          <a:chOff x="0" y="0"/>
          <a:chExt cx="0" cy="0"/>
        </a:xfrm>
      </p:grpSpPr>
      <p:sp>
        <p:nvSpPr>
          <p:cNvPr id="365" name="PlaceHolder 1"/>
          <p:cNvSpPr>
            <a:spLocks noGrp="1"/>
          </p:cNvSpPr>
          <p:nvPr>
            <p:ph type="title"/>
          </p:nvPr>
        </p:nvSpPr>
        <p:spPr>
          <a:xfrm>
            <a:off x="380880" y="609480"/>
            <a:ext cx="7772400" cy="609840"/>
          </a:xfrm>
          <a:prstGeom prst="rect">
            <a:avLst/>
          </a:prstGeom>
          <a:noFill/>
          <a:ln w="0">
            <a:noFill/>
          </a:ln>
        </p:spPr>
        <p:txBody>
          <a:bodyPr lIns="92160" rIns="92160" tIns="46080" bIns="46080" anchor="t">
            <a:noAutofit/>
          </a:bodyPr>
          <a:p>
            <a:pPr indent="0">
              <a:lnSpc>
                <a:spcPct val="85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IN" sz="2800" strike="noStrike" u="none">
                <a:solidFill>
                  <a:srgbClr val="fafd00"/>
                </a:solidFill>
                <a:effectLst/>
                <a:uFillTx/>
                <a:latin typeface="Arial"/>
              </a:rPr>
              <a:t>National Efforts with Regional Significance</a:t>
            </a:r>
            <a:endParaRPr b="1" i="1" lang="en-IN" sz="2800" strike="noStrike" u="none">
              <a:solidFill>
                <a:srgbClr val="fafd00"/>
              </a:solidFill>
              <a:effectLst/>
              <a:uFillTx/>
              <a:latin typeface="Arial"/>
            </a:endParaRPr>
          </a:p>
        </p:txBody>
      </p:sp>
      <p:sp>
        <p:nvSpPr>
          <p:cNvPr id="366" name="PlaceHolder 2"/>
          <p:cNvSpPr>
            <a:spLocks noGrp="1"/>
          </p:cNvSpPr>
          <p:nvPr>
            <p:ph/>
          </p:nvPr>
        </p:nvSpPr>
        <p:spPr>
          <a:xfrm>
            <a:off x="380880" y="1447560"/>
            <a:ext cx="7772400" cy="4724280"/>
          </a:xfrm>
          <a:prstGeom prst="rect">
            <a:avLst/>
          </a:prstGeom>
          <a:noFill/>
          <a:ln w="0">
            <a:noFill/>
          </a:ln>
        </p:spPr>
        <p:txBody>
          <a:bodyPr lIns="92160" rIns="92160" tIns="46080" bIns="46080" anchor="t">
            <a:normAutofit lnSpcReduction="9999"/>
          </a:bodyPr>
          <a:p>
            <a:pPr marL="343080" indent="-343080">
              <a:lnSpc>
                <a:spcPct val="95000"/>
              </a:lnSpc>
              <a:spcBef>
                <a:spcPts val="3124"/>
              </a:spcBef>
              <a:buClr>
                <a:srgbClr val="fe9b03"/>
              </a:buClr>
              <a:buSzPct val="65000"/>
              <a:buFont typeface="Monotype Sort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ffffff"/>
                </a:solidFill>
                <a:effectLst/>
                <a:uFillTx/>
                <a:latin typeface="Arial"/>
              </a:rPr>
              <a:t>National Cooperative Highway Research Projects</a:t>
            </a:r>
            <a:endParaRPr b="1" lang="en-IN" sz="2000" strike="noStrike" u="none">
              <a:solidFill>
                <a:srgbClr val="ffffff"/>
              </a:solidFill>
              <a:effectLst/>
              <a:uFillTx/>
              <a:latin typeface="Arial"/>
            </a:endParaRPr>
          </a:p>
          <a:p>
            <a:pPr lvl="1" marL="743040" indent="-285840">
              <a:lnSpc>
                <a:spcPct val="95000"/>
              </a:lnSpc>
              <a:spcBef>
                <a:spcPts val="1125"/>
              </a:spcBef>
              <a:buClr>
                <a:srgbClr val="00c297"/>
              </a:buClr>
              <a:buSzPct val="120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ffffff"/>
                </a:solidFill>
                <a:effectLst/>
                <a:uFillTx/>
                <a:latin typeface="Arial"/>
              </a:rPr>
              <a:t>8-39 – Financing and Improving Land Access to U.S. Cargo Hubs</a:t>
            </a:r>
            <a:endParaRPr b="1" lang="en-IN" sz="2000" strike="noStrike" u="none">
              <a:solidFill>
                <a:srgbClr val="ffffff"/>
              </a:solidFill>
              <a:effectLst/>
              <a:uFillTx/>
              <a:latin typeface="Arial"/>
            </a:endParaRPr>
          </a:p>
          <a:p>
            <a:pPr lvl="1" marL="743040" indent="-285840">
              <a:lnSpc>
                <a:spcPct val="95000"/>
              </a:lnSpc>
              <a:spcBef>
                <a:spcPts val="1125"/>
              </a:spcBef>
              <a:buClr>
                <a:srgbClr val="00c297"/>
              </a:buClr>
              <a:buSzPct val="120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ffffff"/>
                </a:solidFill>
                <a:effectLst/>
                <a:uFillTx/>
                <a:latin typeface="Arial"/>
              </a:rPr>
              <a:t>8-42 – Freight Movement by Rail, Impacts and Opportunities</a:t>
            </a:r>
            <a:endParaRPr b="1" lang="en-IN" sz="2000" strike="noStrike" u="none">
              <a:solidFill>
                <a:srgbClr val="ffffff"/>
              </a:solidFill>
              <a:effectLst/>
              <a:uFillTx/>
              <a:latin typeface="Arial"/>
            </a:endParaRPr>
          </a:p>
          <a:p>
            <a:pPr lvl="1" marL="743040" indent="-285840">
              <a:lnSpc>
                <a:spcPct val="95000"/>
              </a:lnSpc>
              <a:spcBef>
                <a:spcPts val="1125"/>
              </a:spcBef>
              <a:buClr>
                <a:srgbClr val="00c297"/>
              </a:buClr>
              <a:buSzPct val="120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ffffff"/>
                </a:solidFill>
                <a:effectLst/>
                <a:uFillTx/>
                <a:latin typeface="Arial"/>
              </a:rPr>
              <a:t>8-43 – Methods for Forecasting Statewide Freight Movements and Related Performance Measures</a:t>
            </a:r>
            <a:endParaRPr b="1" lang="en-IN" sz="2000" strike="noStrike" u="none">
              <a:solidFill>
                <a:srgbClr val="ffffff"/>
              </a:solidFill>
              <a:effectLst/>
              <a:uFillTx/>
              <a:latin typeface="Arial"/>
            </a:endParaRPr>
          </a:p>
          <a:p>
            <a:pPr lvl="1" marL="743040" indent="-285840">
              <a:lnSpc>
                <a:spcPct val="95000"/>
              </a:lnSpc>
              <a:spcBef>
                <a:spcPts val="1125"/>
              </a:spcBef>
              <a:buClr>
                <a:srgbClr val="00c297"/>
              </a:buClr>
              <a:buSzPct val="120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ffffff"/>
                </a:solidFill>
                <a:effectLst/>
                <a:uFillTx/>
                <a:latin typeface="Arial"/>
              </a:rPr>
              <a:t>8-36(A), Task 33 – Best Practices for Statewide Freight Planning</a:t>
            </a:r>
            <a:endParaRPr b="1" lang="en-IN" sz="2000" strike="noStrike" u="none">
              <a:solidFill>
                <a:srgbClr val="ffffff"/>
              </a:solidFill>
              <a:effectLst/>
              <a:uFillTx/>
              <a:latin typeface="Arial"/>
            </a:endParaRPr>
          </a:p>
          <a:p>
            <a:pPr marL="343080" indent="-343080">
              <a:lnSpc>
                <a:spcPct val="95000"/>
              </a:lnSpc>
              <a:spcBef>
                <a:spcPts val="2500"/>
              </a:spcBef>
              <a:buClr>
                <a:srgbClr val="fe9b03"/>
              </a:buClr>
              <a:buSzPct val="65000"/>
              <a:buFont typeface="Monotype Sort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ffffff"/>
                </a:solidFill>
                <a:effectLst/>
                <a:uFillTx/>
                <a:latin typeface="Arial"/>
              </a:rPr>
              <a:t>AASHTO Freight Rail Bottom Line Report</a:t>
            </a:r>
            <a:endParaRPr b="1" lang="en-IN" sz="2000" strike="noStrike" u="none">
              <a:solidFill>
                <a:srgbClr val="ffffff"/>
              </a:solidFill>
              <a:effectLst/>
              <a:uFillTx/>
              <a:latin typeface="Arial"/>
            </a:endParaRPr>
          </a:p>
          <a:p>
            <a:pPr marL="343080" indent="-343080">
              <a:lnSpc>
                <a:spcPct val="95000"/>
              </a:lnSpc>
              <a:spcBef>
                <a:spcPts val="2500"/>
              </a:spcBef>
              <a:buClr>
                <a:srgbClr val="fe9b03"/>
              </a:buClr>
              <a:buSzPct val="65000"/>
              <a:buFont typeface="Monotype Sort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ffffff"/>
                </a:solidFill>
                <a:effectLst/>
                <a:uFillTx/>
                <a:latin typeface="Arial"/>
              </a:rPr>
              <a:t>U.S. Chamber of Commerce, Port and Intermodal Access Needs</a:t>
            </a:r>
            <a:endParaRPr b="1" lang="en-IN" sz="20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14f3"/>
        </a:solidFill>
      </p:bgPr>
    </p:bg>
    <p:spTree>
      <p:nvGrpSpPr>
        <p:cNvPr id="1" name=""/>
        <p:cNvGrpSpPr/>
        <p:nvPr/>
      </p:nvGrpSpPr>
      <p:grpSpPr>
        <a:xfrm>
          <a:off x="0" y="0"/>
          <a:ext cx="0" cy="0"/>
          <a:chOff x="0" y="0"/>
          <a:chExt cx="0" cy="0"/>
        </a:xfrm>
      </p:grpSpPr>
      <p:sp>
        <p:nvSpPr>
          <p:cNvPr id="367" name="PlaceHolder 1"/>
          <p:cNvSpPr>
            <a:spLocks noGrp="1"/>
          </p:cNvSpPr>
          <p:nvPr>
            <p:ph type="title"/>
          </p:nvPr>
        </p:nvSpPr>
        <p:spPr>
          <a:xfrm>
            <a:off x="380880" y="609480"/>
            <a:ext cx="7772400" cy="609840"/>
          </a:xfrm>
          <a:prstGeom prst="rect">
            <a:avLst/>
          </a:prstGeom>
          <a:noFill/>
          <a:ln w="0">
            <a:noFill/>
          </a:ln>
        </p:spPr>
        <p:txBody>
          <a:bodyPr lIns="92160" rIns="92160" tIns="46080" bIns="46080" anchor="t">
            <a:noAutofit/>
          </a:bodyPr>
          <a:p>
            <a:pPr indent="0">
              <a:lnSpc>
                <a:spcPct val="85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IN" sz="2800" strike="noStrike" u="none">
                <a:solidFill>
                  <a:srgbClr val="fafd00"/>
                </a:solidFill>
                <a:effectLst/>
                <a:uFillTx/>
                <a:latin typeface="Arial"/>
              </a:rPr>
              <a:t>National Efforts with Regional Significance (cont.)</a:t>
            </a:r>
            <a:endParaRPr b="1" i="1" lang="en-IN" sz="2800" strike="noStrike" u="none">
              <a:solidFill>
                <a:srgbClr val="fafd00"/>
              </a:solidFill>
              <a:effectLst/>
              <a:uFillTx/>
              <a:latin typeface="Arial"/>
            </a:endParaRPr>
          </a:p>
        </p:txBody>
      </p:sp>
      <p:sp>
        <p:nvSpPr>
          <p:cNvPr id="368" name="PlaceHolder 2"/>
          <p:cNvSpPr>
            <a:spLocks noGrp="1"/>
          </p:cNvSpPr>
          <p:nvPr>
            <p:ph/>
          </p:nvPr>
        </p:nvSpPr>
        <p:spPr>
          <a:xfrm>
            <a:off x="380880" y="1736640"/>
            <a:ext cx="7772400" cy="4114800"/>
          </a:xfrm>
          <a:prstGeom prst="rect">
            <a:avLst/>
          </a:prstGeom>
          <a:noFill/>
          <a:ln w="0">
            <a:noFill/>
          </a:ln>
        </p:spPr>
        <p:txBody>
          <a:bodyPr lIns="92160" rIns="92160" tIns="46080" bIns="46080" anchor="t">
            <a:normAutofit/>
          </a:bodyPr>
          <a:p>
            <a:pPr marL="343080" indent="-343080">
              <a:lnSpc>
                <a:spcPct val="95000"/>
              </a:lnSpc>
              <a:spcBef>
                <a:spcPts val="3124"/>
              </a:spcBef>
              <a:buClr>
                <a:srgbClr val="fe9b03"/>
              </a:buClr>
              <a:buSzPct val="65000"/>
              <a:buFont typeface="Monotype Sort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ffffff"/>
                </a:solidFill>
                <a:effectLst/>
                <a:uFillTx/>
                <a:latin typeface="Arial"/>
              </a:rPr>
              <a:t>FHWA</a:t>
            </a:r>
            <a:endParaRPr b="1" lang="en-IN" sz="2000" strike="noStrike" u="none">
              <a:solidFill>
                <a:srgbClr val="ffffff"/>
              </a:solidFill>
              <a:effectLst/>
              <a:uFillTx/>
              <a:latin typeface="Arial"/>
            </a:endParaRPr>
          </a:p>
          <a:p>
            <a:pPr lvl="1" marL="743040" indent="-285840">
              <a:lnSpc>
                <a:spcPct val="95000"/>
              </a:lnSpc>
              <a:spcBef>
                <a:spcPts val="1250"/>
              </a:spcBef>
              <a:buClr>
                <a:srgbClr val="00c297"/>
              </a:buClr>
              <a:buSzPct val="120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ffffff"/>
                </a:solidFill>
                <a:effectLst/>
                <a:uFillTx/>
                <a:latin typeface="Arial"/>
              </a:rPr>
              <a:t>Freight Analysis Framework</a:t>
            </a:r>
            <a:endParaRPr b="1" lang="en-IN" sz="2000" strike="noStrike" u="none">
              <a:solidFill>
                <a:srgbClr val="ffffff"/>
              </a:solidFill>
              <a:effectLst/>
              <a:uFillTx/>
              <a:latin typeface="Arial"/>
            </a:endParaRPr>
          </a:p>
          <a:p>
            <a:pPr lvl="1" marL="743040" indent="-285840">
              <a:lnSpc>
                <a:spcPct val="95000"/>
              </a:lnSpc>
              <a:spcBef>
                <a:spcPts val="1250"/>
              </a:spcBef>
              <a:buClr>
                <a:srgbClr val="00c297"/>
              </a:buClr>
              <a:buSzPct val="120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ffffff"/>
                </a:solidFill>
                <a:effectLst/>
                <a:uFillTx/>
                <a:latin typeface="Arial"/>
              </a:rPr>
              <a:t>Freight Professional Capacity Building</a:t>
            </a:r>
            <a:endParaRPr b="1" lang="en-IN" sz="2000" strike="noStrike" u="none">
              <a:solidFill>
                <a:srgbClr val="ffffff"/>
              </a:solidFill>
              <a:effectLst/>
              <a:uFillTx/>
              <a:latin typeface="Arial"/>
            </a:endParaRPr>
          </a:p>
          <a:p>
            <a:pPr lvl="1" marL="743040" indent="-285840">
              <a:lnSpc>
                <a:spcPct val="95000"/>
              </a:lnSpc>
              <a:spcBef>
                <a:spcPts val="1250"/>
              </a:spcBef>
              <a:buClr>
                <a:srgbClr val="00c297"/>
              </a:buClr>
              <a:buSzPct val="120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ffffff"/>
                </a:solidFill>
                <a:effectLst/>
                <a:uFillTx/>
                <a:latin typeface="Arial"/>
              </a:rPr>
              <a:t>NHS Connector Study</a:t>
            </a:r>
            <a:endParaRPr b="1" lang="en-IN" sz="2000" strike="noStrike" u="none">
              <a:solidFill>
                <a:srgbClr val="ffffff"/>
              </a:solidFill>
              <a:effectLst/>
              <a:uFillTx/>
              <a:latin typeface="Arial"/>
            </a:endParaRPr>
          </a:p>
          <a:p>
            <a:pPr marL="343080" indent="-343080">
              <a:lnSpc>
                <a:spcPct val="95000"/>
              </a:lnSpc>
              <a:spcBef>
                <a:spcPts val="3124"/>
              </a:spcBef>
              <a:buClr>
                <a:srgbClr val="fe9b03"/>
              </a:buClr>
              <a:buSzPct val="65000"/>
              <a:buFont typeface="Monotype Sort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ffffff"/>
                </a:solidFill>
                <a:effectLst/>
                <a:uFillTx/>
                <a:latin typeface="Arial"/>
              </a:rPr>
              <a:t>Transportation Security Agency, Operation Safe Commerce</a:t>
            </a:r>
            <a:endParaRPr b="1" lang="en-IN" sz="2000" strike="noStrike" u="none">
              <a:solidFill>
                <a:srgbClr val="ffffff"/>
              </a:solidFill>
              <a:effectLst/>
              <a:uFillTx/>
              <a:latin typeface="Arial"/>
            </a:endParaRPr>
          </a:p>
          <a:p>
            <a:pPr marL="343080" indent="-343080">
              <a:lnSpc>
                <a:spcPct val="95000"/>
              </a:lnSpc>
              <a:spcBef>
                <a:spcPts val="3124"/>
              </a:spcBef>
              <a:buClr>
                <a:srgbClr val="fe9b03"/>
              </a:buClr>
              <a:buSzPct val="65000"/>
              <a:buFont typeface="Monotype Sort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ffffff"/>
                </a:solidFill>
                <a:effectLst/>
                <a:uFillTx/>
                <a:latin typeface="Arial"/>
              </a:rPr>
              <a:t>TEA-21 Reauthorization</a:t>
            </a:r>
            <a:endParaRPr b="1" lang="en-IN" sz="20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14f3"/>
        </a:solidFill>
      </p:bgPr>
    </p:bg>
    <p:spTree>
      <p:nvGrpSpPr>
        <p:cNvPr id="1" name=""/>
        <p:cNvGrpSpPr/>
        <p:nvPr/>
      </p:nvGrpSpPr>
      <p:grpSpPr>
        <a:xfrm>
          <a:off x="0" y="0"/>
          <a:ext cx="0" cy="0"/>
          <a:chOff x="0" y="0"/>
          <a:chExt cx="0" cy="0"/>
        </a:xfrm>
      </p:grpSpPr>
      <p:sp>
        <p:nvSpPr>
          <p:cNvPr id="369" name="PlaceHolder 1"/>
          <p:cNvSpPr>
            <a:spLocks noGrp="1"/>
          </p:cNvSpPr>
          <p:nvPr>
            <p:ph type="title"/>
          </p:nvPr>
        </p:nvSpPr>
        <p:spPr>
          <a:xfrm>
            <a:off x="380880" y="609480"/>
            <a:ext cx="7772400" cy="609840"/>
          </a:xfrm>
          <a:prstGeom prst="rect">
            <a:avLst/>
          </a:prstGeom>
          <a:noFill/>
          <a:ln w="0">
            <a:noFill/>
          </a:ln>
        </p:spPr>
        <p:txBody>
          <a:bodyPr lIns="92160" rIns="92160" tIns="46080" bIns="46080" anchor="t">
            <a:noAutofit/>
          </a:bodyPr>
          <a:p>
            <a:pPr indent="0">
              <a:lnSpc>
                <a:spcPct val="85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IN" sz="2800" strike="noStrike" u="none">
                <a:solidFill>
                  <a:srgbClr val="fafd00"/>
                </a:solidFill>
                <a:effectLst/>
                <a:uFillTx/>
                <a:latin typeface="Arial"/>
              </a:rPr>
              <a:t>Statewide Studies/Programs</a:t>
            </a:r>
            <a:endParaRPr b="1" i="1" lang="en-IN" sz="2800" strike="noStrike" u="none">
              <a:solidFill>
                <a:srgbClr val="fafd00"/>
              </a:solidFill>
              <a:effectLst/>
              <a:uFillTx/>
              <a:latin typeface="Arial"/>
            </a:endParaRPr>
          </a:p>
        </p:txBody>
      </p:sp>
      <p:sp>
        <p:nvSpPr>
          <p:cNvPr id="370" name="PlaceHolder 2"/>
          <p:cNvSpPr>
            <a:spLocks noGrp="1"/>
          </p:cNvSpPr>
          <p:nvPr>
            <p:ph/>
          </p:nvPr>
        </p:nvSpPr>
        <p:spPr>
          <a:xfrm>
            <a:off x="380880" y="1447920"/>
            <a:ext cx="7772400" cy="4114800"/>
          </a:xfrm>
          <a:prstGeom prst="rect">
            <a:avLst/>
          </a:prstGeom>
          <a:noFill/>
          <a:ln w="0">
            <a:noFill/>
          </a:ln>
        </p:spPr>
        <p:txBody>
          <a:bodyPr lIns="92160" rIns="92160" tIns="46080" bIns="46080" anchor="t">
            <a:normAutofit/>
          </a:bodyPr>
          <a:p>
            <a:pPr marL="343080" indent="-343080">
              <a:lnSpc>
                <a:spcPct val="95000"/>
              </a:lnSpc>
              <a:spcBef>
                <a:spcPts val="3124"/>
              </a:spcBef>
              <a:buClr>
                <a:srgbClr val="fe9b03"/>
              </a:buClr>
              <a:buSzPct val="65000"/>
              <a:buFont typeface="Monotype Sort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ffffff"/>
                </a:solidFill>
                <a:effectLst/>
                <a:uFillTx/>
                <a:latin typeface="Arial"/>
              </a:rPr>
              <a:t>Global Gateways Development Program</a:t>
            </a:r>
            <a:endParaRPr b="1" lang="en-IN" sz="2000" strike="noStrike" u="none">
              <a:solidFill>
                <a:srgbClr val="ffffff"/>
              </a:solidFill>
              <a:effectLst/>
              <a:uFillTx/>
              <a:latin typeface="Arial"/>
            </a:endParaRPr>
          </a:p>
          <a:p>
            <a:pPr marL="343080" indent="-343080">
              <a:lnSpc>
                <a:spcPct val="95000"/>
              </a:lnSpc>
              <a:spcBef>
                <a:spcPts val="3124"/>
              </a:spcBef>
              <a:buClr>
                <a:srgbClr val="fe9b03"/>
              </a:buClr>
              <a:buSzPct val="65000"/>
              <a:buFont typeface="Monotype Sort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ffffff"/>
                </a:solidFill>
                <a:effectLst/>
                <a:uFillTx/>
                <a:latin typeface="Arial"/>
              </a:rPr>
              <a:t>State Rail Plan</a:t>
            </a:r>
            <a:endParaRPr b="1" lang="en-IN" sz="2000" strike="noStrike" u="none">
              <a:solidFill>
                <a:srgbClr val="ffffff"/>
              </a:solidFill>
              <a:effectLst/>
              <a:uFillTx/>
              <a:latin typeface="Arial"/>
            </a:endParaRPr>
          </a:p>
          <a:p>
            <a:pPr lvl="1" marL="743040" indent="-285840">
              <a:lnSpc>
                <a:spcPct val="95000"/>
              </a:lnSpc>
              <a:spcBef>
                <a:spcPts val="1250"/>
              </a:spcBef>
              <a:buClr>
                <a:srgbClr val="00c297"/>
              </a:buClr>
              <a:buSzPct val="120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ffffff"/>
                </a:solidFill>
                <a:effectLst/>
                <a:uFillTx/>
                <a:latin typeface="Arial"/>
              </a:rPr>
              <a:t>Freight Rail Plan</a:t>
            </a:r>
            <a:endParaRPr b="1" lang="en-IN" sz="2000" strike="noStrike" u="none">
              <a:solidFill>
                <a:srgbClr val="ffffff"/>
              </a:solidFill>
              <a:effectLst/>
              <a:uFillTx/>
              <a:latin typeface="Arial"/>
            </a:endParaRPr>
          </a:p>
          <a:p>
            <a:pPr marL="343080" indent="-343080">
              <a:lnSpc>
                <a:spcPct val="95000"/>
              </a:lnSpc>
              <a:spcBef>
                <a:spcPts val="3124"/>
              </a:spcBef>
              <a:buClr>
                <a:srgbClr val="fe9b03"/>
              </a:buClr>
              <a:buSzPct val="65000"/>
              <a:buFont typeface="Monotype Sort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ffffff"/>
                </a:solidFill>
                <a:effectLst/>
                <a:uFillTx/>
                <a:latin typeface="Arial"/>
              </a:rPr>
              <a:t>Freight Movement Cost Benefit Study</a:t>
            </a:r>
            <a:endParaRPr b="1" lang="en-IN" sz="2000" strike="noStrike" u="none">
              <a:solidFill>
                <a:srgbClr val="ffffff"/>
              </a:solidFill>
              <a:effectLst/>
              <a:uFillTx/>
              <a:latin typeface="Arial"/>
            </a:endParaRPr>
          </a:p>
          <a:p>
            <a:pPr marL="343080" indent="-343080">
              <a:lnSpc>
                <a:spcPct val="95000"/>
              </a:lnSpc>
              <a:spcBef>
                <a:spcPts val="3124"/>
              </a:spcBef>
              <a:buClr>
                <a:srgbClr val="fe9b03"/>
              </a:buClr>
              <a:buSzPct val="65000"/>
              <a:buFont typeface="Monotype Sort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ffffff"/>
                </a:solidFill>
                <a:effectLst/>
                <a:uFillTx/>
                <a:latin typeface="Arial"/>
              </a:rPr>
              <a:t>ITMS Statewide Freight Forecast</a:t>
            </a:r>
            <a:endParaRPr b="1" lang="en-IN" sz="20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14f3"/>
        </a:solidFill>
      </p:bgPr>
    </p:bg>
    <p:spTree>
      <p:nvGrpSpPr>
        <p:cNvPr id="1" name=""/>
        <p:cNvGrpSpPr/>
        <p:nvPr/>
      </p:nvGrpSpPr>
      <p:grpSpPr>
        <a:xfrm>
          <a:off x="0" y="0"/>
          <a:ext cx="0" cy="0"/>
          <a:chOff x="0" y="0"/>
          <a:chExt cx="0" cy="0"/>
        </a:xfrm>
      </p:grpSpPr>
      <p:sp>
        <p:nvSpPr>
          <p:cNvPr id="371" name="PlaceHolder 1"/>
          <p:cNvSpPr>
            <a:spLocks noGrp="1"/>
          </p:cNvSpPr>
          <p:nvPr>
            <p:ph type="title"/>
          </p:nvPr>
        </p:nvSpPr>
        <p:spPr>
          <a:xfrm>
            <a:off x="380880" y="609120"/>
            <a:ext cx="7772400" cy="825480"/>
          </a:xfrm>
          <a:prstGeom prst="rect">
            <a:avLst/>
          </a:prstGeom>
          <a:noFill/>
          <a:ln w="0">
            <a:noFill/>
          </a:ln>
        </p:spPr>
        <p:txBody>
          <a:bodyPr lIns="92160" rIns="92160" tIns="46080" bIns="46080" anchor="t">
            <a:noAutofit/>
          </a:bodyPr>
          <a:p>
            <a:pPr indent="0">
              <a:lnSpc>
                <a:spcPct val="85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IN" sz="2800" strike="noStrike" u="none">
                <a:solidFill>
                  <a:srgbClr val="fafd00"/>
                </a:solidFill>
                <a:effectLst/>
                <a:uFillTx/>
                <a:latin typeface="Arial"/>
              </a:rPr>
              <a:t>Northern California – Representative Completed Studies</a:t>
            </a:r>
            <a:endParaRPr b="1" i="1" lang="en-IN" sz="2800" strike="noStrike" u="none">
              <a:solidFill>
                <a:srgbClr val="fafd00"/>
              </a:solidFill>
              <a:effectLst/>
              <a:uFillTx/>
              <a:latin typeface="Arial"/>
            </a:endParaRPr>
          </a:p>
        </p:txBody>
      </p:sp>
      <p:sp>
        <p:nvSpPr>
          <p:cNvPr id="372" name="PlaceHolder 2"/>
          <p:cNvSpPr>
            <a:spLocks noGrp="1"/>
          </p:cNvSpPr>
          <p:nvPr>
            <p:ph/>
          </p:nvPr>
        </p:nvSpPr>
        <p:spPr>
          <a:xfrm>
            <a:off x="380880" y="1736280"/>
            <a:ext cx="7772400" cy="4419720"/>
          </a:xfrm>
          <a:prstGeom prst="rect">
            <a:avLst/>
          </a:prstGeom>
          <a:noFill/>
          <a:ln w="0">
            <a:noFill/>
          </a:ln>
        </p:spPr>
        <p:txBody>
          <a:bodyPr lIns="92160" rIns="92160" tIns="46080" bIns="46080" anchor="t">
            <a:normAutofit lnSpcReduction="9999"/>
          </a:bodyPr>
          <a:p>
            <a:pPr marL="343080" indent="-343080">
              <a:lnSpc>
                <a:spcPct val="95000"/>
              </a:lnSpc>
              <a:spcBef>
                <a:spcPts val="3124"/>
              </a:spcBef>
              <a:buClr>
                <a:srgbClr val="fe9b03"/>
              </a:buClr>
              <a:buSzPct val="65000"/>
              <a:buFont typeface="Monotype Sort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ffffff"/>
                </a:solidFill>
                <a:effectLst/>
                <a:uFillTx/>
                <a:latin typeface="Arial"/>
              </a:rPr>
              <a:t>MTC/BCDC Cargo Forecast Update </a:t>
            </a:r>
            <a:endParaRPr b="1" lang="en-IN" sz="2000" strike="noStrike" u="none">
              <a:solidFill>
                <a:srgbClr val="ffffff"/>
              </a:solidFill>
              <a:effectLst/>
              <a:uFillTx/>
              <a:latin typeface="Arial"/>
            </a:endParaRPr>
          </a:p>
          <a:p>
            <a:pPr marL="343080" indent="-343080">
              <a:lnSpc>
                <a:spcPct val="95000"/>
              </a:lnSpc>
              <a:spcBef>
                <a:spcPts val="3124"/>
              </a:spcBef>
              <a:buClr>
                <a:srgbClr val="fe9b03"/>
              </a:buClr>
              <a:buSzPct val="65000"/>
              <a:buFont typeface="Monotype Sort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ffffff"/>
                </a:solidFill>
                <a:effectLst/>
                <a:uFillTx/>
                <a:latin typeface="Arial"/>
              </a:rPr>
              <a:t>MTC I-880 Corridor Truck Access Study</a:t>
            </a:r>
            <a:endParaRPr b="1" lang="en-IN" sz="2000" strike="noStrike" u="none">
              <a:solidFill>
                <a:srgbClr val="ffffff"/>
              </a:solidFill>
              <a:effectLst/>
              <a:uFillTx/>
              <a:latin typeface="Arial"/>
            </a:endParaRPr>
          </a:p>
          <a:p>
            <a:pPr marL="343080" indent="-343080">
              <a:lnSpc>
                <a:spcPct val="95000"/>
              </a:lnSpc>
              <a:spcBef>
                <a:spcPts val="3124"/>
              </a:spcBef>
              <a:buClr>
                <a:srgbClr val="fe9b03"/>
              </a:buClr>
              <a:buSzPct val="65000"/>
              <a:buFont typeface="Monotype Sort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ffffff"/>
                </a:solidFill>
                <a:effectLst/>
                <a:uFillTx/>
                <a:latin typeface="Arial"/>
              </a:rPr>
              <a:t>Port of Oakland CIRIS White Paper</a:t>
            </a:r>
            <a:endParaRPr b="1" lang="en-IN" sz="2000" strike="noStrike" u="none">
              <a:solidFill>
                <a:srgbClr val="ffffff"/>
              </a:solidFill>
              <a:effectLst/>
              <a:uFillTx/>
              <a:latin typeface="Arial"/>
            </a:endParaRPr>
          </a:p>
          <a:p>
            <a:pPr marL="343080" indent="-343080">
              <a:lnSpc>
                <a:spcPct val="95000"/>
              </a:lnSpc>
              <a:spcBef>
                <a:spcPts val="3124"/>
              </a:spcBef>
              <a:buClr>
                <a:srgbClr val="fe9b03"/>
              </a:buClr>
              <a:buSzPct val="65000"/>
              <a:buFont typeface="Monotype Sort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ffffff"/>
                </a:solidFill>
                <a:effectLst/>
                <a:uFillTx/>
                <a:latin typeface="Arial"/>
              </a:rPr>
              <a:t>San Joaquin Valley Goods Movement Study, Phase I</a:t>
            </a:r>
            <a:endParaRPr b="1" lang="en-IN" sz="2000" strike="noStrike" u="none">
              <a:solidFill>
                <a:srgbClr val="ffffff"/>
              </a:solidFill>
              <a:effectLst/>
              <a:uFillTx/>
              <a:latin typeface="Arial"/>
            </a:endParaRPr>
          </a:p>
          <a:p>
            <a:pPr marL="343080" indent="-343080">
              <a:lnSpc>
                <a:spcPct val="95000"/>
              </a:lnSpc>
              <a:spcBef>
                <a:spcPts val="3124"/>
              </a:spcBef>
              <a:buClr>
                <a:srgbClr val="fe9b03"/>
              </a:buClr>
              <a:buSzPct val="65000"/>
              <a:buFont typeface="Monotype Sort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ffffff"/>
                </a:solidFill>
                <a:effectLst/>
                <a:uFillTx/>
                <a:latin typeface="Arial"/>
              </a:rPr>
              <a:t>Central Stanislaus Freight Study</a:t>
            </a:r>
            <a:endParaRPr b="1" lang="en-IN" sz="2000" strike="noStrike" u="none">
              <a:solidFill>
                <a:srgbClr val="ffffff"/>
              </a:solidFill>
              <a:effectLst/>
              <a:uFillTx/>
              <a:latin typeface="Arial"/>
            </a:endParaRPr>
          </a:p>
          <a:p>
            <a:pPr marL="343080" indent="-343080">
              <a:lnSpc>
                <a:spcPct val="95000"/>
              </a:lnSpc>
              <a:spcBef>
                <a:spcPts val="3124"/>
              </a:spcBef>
              <a:buClr>
                <a:srgbClr val="fe9b03"/>
              </a:buClr>
              <a:buSzPct val="65000"/>
              <a:buFont typeface="Monotype Sort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ffffff"/>
                </a:solidFill>
                <a:effectLst/>
                <a:uFillTx/>
                <a:latin typeface="Arial"/>
              </a:rPr>
              <a:t>BCDC Bulk Cargo Forecast</a:t>
            </a:r>
            <a:endParaRPr b="1" lang="en-IN" sz="2000" strike="noStrike" u="none">
              <a:solidFill>
                <a:srgbClr val="ffffff"/>
              </a:solidFill>
              <a:effectLst/>
              <a:uFillTx/>
              <a:latin typeface="Arial"/>
            </a:endParaRPr>
          </a:p>
          <a:p>
            <a:pPr marL="343080" indent="-343080">
              <a:lnSpc>
                <a:spcPct val="95000"/>
              </a:lnSpc>
              <a:spcBef>
                <a:spcPts val="3124"/>
              </a:spcBef>
              <a:buClr>
                <a:srgbClr val="fe9b03"/>
              </a:buClr>
              <a:buSzPct val="65000"/>
              <a:buFont typeface="Monotype Sort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ffffff"/>
                </a:solidFill>
                <a:effectLst/>
                <a:uFillTx/>
                <a:latin typeface="Arial"/>
              </a:rPr>
              <a:t>Oakland Port Services Location Study</a:t>
            </a:r>
            <a:endParaRPr b="1" lang="en-IN" sz="20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14f3"/>
        </a:solidFill>
      </p:bgPr>
    </p:bg>
    <p:spTree>
      <p:nvGrpSpPr>
        <p:cNvPr id="1" name=""/>
        <p:cNvGrpSpPr/>
        <p:nvPr/>
      </p:nvGrpSpPr>
      <p:grpSpPr>
        <a:xfrm>
          <a:off x="0" y="0"/>
          <a:ext cx="0" cy="0"/>
          <a:chOff x="0" y="0"/>
          <a:chExt cx="0" cy="0"/>
        </a:xfrm>
      </p:grpSpPr>
      <p:sp>
        <p:nvSpPr>
          <p:cNvPr id="373" name="PlaceHolder 1"/>
          <p:cNvSpPr>
            <a:spLocks noGrp="1"/>
          </p:cNvSpPr>
          <p:nvPr>
            <p:ph type="title"/>
          </p:nvPr>
        </p:nvSpPr>
        <p:spPr>
          <a:xfrm>
            <a:off x="380880" y="609480"/>
            <a:ext cx="7772400" cy="609840"/>
          </a:xfrm>
          <a:prstGeom prst="rect">
            <a:avLst/>
          </a:prstGeom>
          <a:noFill/>
          <a:ln w="0">
            <a:noFill/>
          </a:ln>
        </p:spPr>
        <p:txBody>
          <a:bodyPr lIns="92160" rIns="92160" tIns="46080" bIns="46080" anchor="t">
            <a:noAutofit/>
          </a:bodyPr>
          <a:p>
            <a:pPr indent="0">
              <a:lnSpc>
                <a:spcPct val="85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IN" sz="2800" strike="noStrike" u="none">
                <a:solidFill>
                  <a:srgbClr val="fafd00"/>
                </a:solidFill>
                <a:effectLst/>
                <a:uFillTx/>
                <a:latin typeface="Arial"/>
              </a:rPr>
              <a:t>Northern California – Representative Ongoing Studies</a:t>
            </a:r>
            <a:endParaRPr b="1" i="1" lang="en-IN" sz="2800" strike="noStrike" u="none">
              <a:solidFill>
                <a:srgbClr val="fafd00"/>
              </a:solidFill>
              <a:effectLst/>
              <a:uFillTx/>
              <a:latin typeface="Arial"/>
            </a:endParaRPr>
          </a:p>
        </p:txBody>
      </p:sp>
      <p:sp>
        <p:nvSpPr>
          <p:cNvPr id="374" name="PlaceHolder 2"/>
          <p:cNvSpPr>
            <a:spLocks noGrp="1"/>
          </p:cNvSpPr>
          <p:nvPr>
            <p:ph/>
          </p:nvPr>
        </p:nvSpPr>
        <p:spPr>
          <a:xfrm>
            <a:off x="380880" y="1736640"/>
            <a:ext cx="7772400" cy="4114800"/>
          </a:xfrm>
          <a:prstGeom prst="rect">
            <a:avLst/>
          </a:prstGeom>
          <a:noFill/>
          <a:ln w="0">
            <a:noFill/>
          </a:ln>
        </p:spPr>
        <p:txBody>
          <a:bodyPr lIns="92160" rIns="92160" tIns="46080" bIns="46080" anchor="t">
            <a:normAutofit/>
          </a:bodyPr>
          <a:p>
            <a:pPr marL="343080" indent="-343080">
              <a:lnSpc>
                <a:spcPct val="95000"/>
              </a:lnSpc>
              <a:spcBef>
                <a:spcPts val="3124"/>
              </a:spcBef>
              <a:buClr>
                <a:srgbClr val="fe9b03"/>
              </a:buClr>
              <a:buSzPct val="65000"/>
              <a:buFont typeface="Monotype Sort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ffffff"/>
                </a:solidFill>
                <a:effectLst/>
                <a:uFillTx/>
                <a:latin typeface="Arial"/>
              </a:rPr>
              <a:t>San Joaquin Valley Goods Movement Study, Phase II</a:t>
            </a:r>
            <a:endParaRPr b="1" lang="en-IN" sz="2000" strike="noStrike" u="none">
              <a:solidFill>
                <a:srgbClr val="ffffff"/>
              </a:solidFill>
              <a:effectLst/>
              <a:uFillTx/>
              <a:latin typeface="Arial"/>
            </a:endParaRPr>
          </a:p>
          <a:p>
            <a:pPr marL="343080" indent="-343080">
              <a:lnSpc>
                <a:spcPct val="95000"/>
              </a:lnSpc>
              <a:spcBef>
                <a:spcPts val="3124"/>
              </a:spcBef>
              <a:buClr>
                <a:srgbClr val="fe9b03"/>
              </a:buClr>
              <a:buSzPct val="65000"/>
              <a:buFont typeface="Monotype Sort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ffffff"/>
                </a:solidFill>
                <a:effectLst/>
                <a:uFillTx/>
                <a:latin typeface="Arial"/>
              </a:rPr>
              <a:t>Port of Oakland/Caltrans/SJ Valley COGs CIRIS Market Feasibility Study</a:t>
            </a:r>
            <a:endParaRPr b="1" lang="en-IN" sz="2000" strike="noStrike" u="none">
              <a:solidFill>
                <a:srgbClr val="ffffff"/>
              </a:solidFill>
              <a:effectLst/>
              <a:uFillTx/>
              <a:latin typeface="Arial"/>
            </a:endParaRPr>
          </a:p>
          <a:p>
            <a:pPr marL="343080" indent="-343080">
              <a:lnSpc>
                <a:spcPct val="95000"/>
              </a:lnSpc>
              <a:spcBef>
                <a:spcPts val="3124"/>
              </a:spcBef>
              <a:buClr>
                <a:srgbClr val="fe9b03"/>
              </a:buClr>
              <a:buSzPct val="65000"/>
              <a:buFont typeface="Monotype Sort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ffffff"/>
                </a:solidFill>
                <a:effectLst/>
                <a:uFillTx/>
                <a:latin typeface="Arial"/>
              </a:rPr>
              <a:t>Port of Stockton Rail Shuttle Study</a:t>
            </a:r>
            <a:endParaRPr b="1" lang="en-IN" sz="2000" strike="noStrike" u="none">
              <a:solidFill>
                <a:srgbClr val="ffffff"/>
              </a:solidFill>
              <a:effectLst/>
              <a:uFillTx/>
              <a:latin typeface="Arial"/>
            </a:endParaRPr>
          </a:p>
          <a:p>
            <a:pPr marL="343080" indent="-343080">
              <a:lnSpc>
                <a:spcPct val="95000"/>
              </a:lnSpc>
              <a:spcBef>
                <a:spcPts val="3124"/>
              </a:spcBef>
              <a:buClr>
                <a:srgbClr val="fe9b03"/>
              </a:buClr>
              <a:buSzPct val="65000"/>
              <a:buFont typeface="Monotype Sort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ffffff"/>
                </a:solidFill>
                <a:effectLst/>
                <a:uFillTx/>
                <a:latin typeface="Arial"/>
              </a:rPr>
              <a:t>SJ COG Inland Port Study</a:t>
            </a:r>
            <a:endParaRPr b="1" lang="en-IN" sz="2000" strike="noStrike" u="none">
              <a:solidFill>
                <a:srgbClr val="ffffff"/>
              </a:solidFill>
              <a:effectLst/>
              <a:uFillTx/>
              <a:latin typeface="Arial"/>
            </a:endParaRPr>
          </a:p>
          <a:p>
            <a:pPr marL="343080" indent="-343080">
              <a:lnSpc>
                <a:spcPct val="95000"/>
              </a:lnSpc>
              <a:spcBef>
                <a:spcPts val="3124"/>
              </a:spcBef>
              <a:buClr>
                <a:srgbClr val="fe9b03"/>
              </a:buClr>
              <a:buSzPct val="65000"/>
              <a:buFont typeface="Monotype Sort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ffffff"/>
                </a:solidFill>
                <a:effectLst/>
                <a:uFillTx/>
                <a:latin typeface="Arial"/>
              </a:rPr>
              <a:t>Napa/Solano County Passenger and Freight Rail Study</a:t>
            </a:r>
            <a:endParaRPr b="1" lang="en-IN" sz="2000" strike="noStrike" u="none">
              <a:solidFill>
                <a:srgbClr val="ffffff"/>
              </a:solidFill>
              <a:effectLst/>
              <a:uFillTx/>
              <a:latin typeface="Arial"/>
            </a:endParaRPr>
          </a:p>
          <a:p>
            <a:pPr marL="343080" indent="-343080">
              <a:lnSpc>
                <a:spcPct val="95000"/>
              </a:lnSpc>
              <a:spcBef>
                <a:spcPts val="3124"/>
              </a:spcBef>
              <a:buClr>
                <a:srgbClr val="fe9b03"/>
              </a:buClr>
              <a:buSzPct val="65000"/>
              <a:buFont typeface="Monotype Sort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ffffff"/>
                </a:solidFill>
                <a:effectLst/>
                <a:uFillTx/>
                <a:latin typeface="Arial"/>
              </a:rPr>
              <a:t>Alameda CMA North I-880 Operations and Safety Study</a:t>
            </a:r>
            <a:endParaRPr b="1" lang="en-IN" sz="20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14f3"/>
        </a:solidFill>
      </p:bgPr>
    </p:bg>
    <p:spTree>
      <p:nvGrpSpPr>
        <p:cNvPr id="1" name=""/>
        <p:cNvGrpSpPr/>
        <p:nvPr/>
      </p:nvGrpSpPr>
      <p:grpSpPr>
        <a:xfrm>
          <a:off x="0" y="0"/>
          <a:ext cx="0" cy="0"/>
          <a:chOff x="0" y="0"/>
          <a:chExt cx="0" cy="0"/>
        </a:xfrm>
      </p:grpSpPr>
      <p:sp>
        <p:nvSpPr>
          <p:cNvPr id="375" name="PlaceHolder 1"/>
          <p:cNvSpPr>
            <a:spLocks noGrp="1"/>
          </p:cNvSpPr>
          <p:nvPr>
            <p:ph type="title"/>
          </p:nvPr>
        </p:nvSpPr>
        <p:spPr>
          <a:xfrm>
            <a:off x="380880" y="609480"/>
            <a:ext cx="7772400" cy="609840"/>
          </a:xfrm>
          <a:prstGeom prst="rect">
            <a:avLst/>
          </a:prstGeom>
          <a:noFill/>
          <a:ln w="0">
            <a:noFill/>
          </a:ln>
        </p:spPr>
        <p:txBody>
          <a:bodyPr lIns="92160" rIns="92160" tIns="46080" bIns="46080" anchor="t">
            <a:noAutofit/>
          </a:bodyPr>
          <a:p>
            <a:pPr indent="0">
              <a:lnSpc>
                <a:spcPct val="85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IN" sz="2800" strike="noStrike" u="none">
                <a:solidFill>
                  <a:srgbClr val="fafd00"/>
                </a:solidFill>
                <a:effectLst/>
                <a:uFillTx/>
                <a:latin typeface="Arial"/>
              </a:rPr>
              <a:t>Southern California Goods Movement Studies</a:t>
            </a:r>
            <a:endParaRPr b="1" i="1" lang="en-IN" sz="2800" strike="noStrike" u="none">
              <a:solidFill>
                <a:srgbClr val="fafd00"/>
              </a:solidFill>
              <a:effectLst/>
              <a:uFillTx/>
              <a:latin typeface="Arial"/>
            </a:endParaRPr>
          </a:p>
        </p:txBody>
      </p:sp>
      <p:sp>
        <p:nvSpPr>
          <p:cNvPr id="376" name="PlaceHolder 2"/>
          <p:cNvSpPr>
            <a:spLocks noGrp="1"/>
          </p:cNvSpPr>
          <p:nvPr>
            <p:ph/>
          </p:nvPr>
        </p:nvSpPr>
        <p:spPr>
          <a:xfrm>
            <a:off x="380880" y="1736640"/>
            <a:ext cx="7772400" cy="4114800"/>
          </a:xfrm>
          <a:prstGeom prst="rect">
            <a:avLst/>
          </a:prstGeom>
          <a:noFill/>
          <a:ln w="0">
            <a:noFill/>
          </a:ln>
        </p:spPr>
        <p:txBody>
          <a:bodyPr lIns="92160" rIns="92160" tIns="46080" bIns="46080" anchor="t">
            <a:normAutofit/>
          </a:bodyPr>
          <a:p>
            <a:pPr marL="343080" indent="-343080">
              <a:lnSpc>
                <a:spcPct val="95000"/>
              </a:lnSpc>
              <a:spcBef>
                <a:spcPts val="3124"/>
              </a:spcBef>
              <a:buClr>
                <a:srgbClr val="fe9b03"/>
              </a:buClr>
              <a:buSzPct val="65000"/>
              <a:buFont typeface="Monotype Sort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ffffff"/>
                </a:solidFill>
                <a:effectLst/>
                <a:uFillTx/>
                <a:latin typeface="Arial"/>
              </a:rPr>
              <a:t>Alameda Corridor</a:t>
            </a:r>
            <a:endParaRPr b="1" lang="en-IN" sz="2000" strike="noStrike" u="none">
              <a:solidFill>
                <a:srgbClr val="ffffff"/>
              </a:solidFill>
              <a:effectLst/>
              <a:uFillTx/>
              <a:latin typeface="Arial"/>
            </a:endParaRPr>
          </a:p>
          <a:p>
            <a:pPr marL="343080" indent="-343080">
              <a:lnSpc>
                <a:spcPct val="95000"/>
              </a:lnSpc>
              <a:spcBef>
                <a:spcPts val="3124"/>
              </a:spcBef>
              <a:buClr>
                <a:srgbClr val="fe9b03"/>
              </a:buClr>
              <a:buSzPct val="65000"/>
              <a:buFont typeface="Monotype Sort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ffffff"/>
                </a:solidFill>
                <a:effectLst/>
                <a:uFillTx/>
                <a:latin typeface="Arial"/>
              </a:rPr>
              <a:t>SCAG Goods Movement White Paper</a:t>
            </a:r>
            <a:endParaRPr b="1" lang="en-IN" sz="2000" strike="noStrike" u="none">
              <a:solidFill>
                <a:srgbClr val="ffffff"/>
              </a:solidFill>
              <a:effectLst/>
              <a:uFillTx/>
              <a:latin typeface="Arial"/>
            </a:endParaRPr>
          </a:p>
          <a:p>
            <a:pPr marL="343080" indent="-343080">
              <a:lnSpc>
                <a:spcPct val="95000"/>
              </a:lnSpc>
              <a:spcBef>
                <a:spcPts val="3124"/>
              </a:spcBef>
              <a:buClr>
                <a:srgbClr val="fe9b03"/>
              </a:buClr>
              <a:buSzPct val="65000"/>
              <a:buFont typeface="Monotype Sort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ffffff"/>
                </a:solidFill>
                <a:effectLst/>
                <a:uFillTx/>
                <a:latin typeface="Arial"/>
              </a:rPr>
              <a:t>MTA/SCAG/Caltrans/FHWA Southern California Goods Movement Case Study</a:t>
            </a:r>
            <a:endParaRPr b="1" lang="en-IN" sz="2000" strike="noStrike" u="none">
              <a:solidFill>
                <a:srgbClr val="ffffff"/>
              </a:solidFill>
              <a:effectLst/>
              <a:uFillTx/>
              <a:latin typeface="Arial"/>
            </a:endParaRPr>
          </a:p>
          <a:p>
            <a:pPr marL="343080" indent="-343080">
              <a:lnSpc>
                <a:spcPct val="95000"/>
              </a:lnSpc>
              <a:spcBef>
                <a:spcPts val="3124"/>
              </a:spcBef>
              <a:buClr>
                <a:srgbClr val="fe9b03"/>
              </a:buClr>
              <a:buSzPct val="65000"/>
              <a:buFont typeface="Monotype Sort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ffffff"/>
                </a:solidFill>
                <a:effectLst/>
                <a:uFillTx/>
                <a:latin typeface="Arial"/>
              </a:rPr>
              <a:t>SCAG Heavy Duty Truck Model</a:t>
            </a:r>
            <a:endParaRPr b="1" lang="en-IN" sz="2000" strike="noStrike" u="none">
              <a:solidFill>
                <a:srgbClr val="ffffff"/>
              </a:solidFill>
              <a:effectLst/>
              <a:uFillTx/>
              <a:latin typeface="Arial"/>
            </a:endParaRPr>
          </a:p>
          <a:p>
            <a:pPr marL="343080" indent="-343080">
              <a:lnSpc>
                <a:spcPct val="95000"/>
              </a:lnSpc>
              <a:spcBef>
                <a:spcPts val="3124"/>
              </a:spcBef>
              <a:buClr>
                <a:srgbClr val="fe9b03"/>
              </a:buClr>
              <a:buSzPct val="65000"/>
              <a:buFont typeface="Monotype Sort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ffffff"/>
                </a:solidFill>
                <a:effectLst/>
                <a:uFillTx/>
                <a:latin typeface="Arial"/>
              </a:rPr>
              <a:t>Sub-Regional Goods Movement Studies</a:t>
            </a:r>
            <a:endParaRPr b="1" lang="en-IN" sz="2000" strike="noStrike" u="none">
              <a:solidFill>
                <a:srgbClr val="ffffff"/>
              </a:solidFill>
              <a:effectLst/>
              <a:uFillTx/>
              <a:latin typeface="Arial"/>
            </a:endParaRPr>
          </a:p>
          <a:p>
            <a:pPr marL="343080" indent="-343080">
              <a:lnSpc>
                <a:spcPct val="95000"/>
              </a:lnSpc>
              <a:spcBef>
                <a:spcPts val="3124"/>
              </a:spcBef>
              <a:buClr>
                <a:srgbClr val="fe9b03"/>
              </a:buClr>
              <a:buSzPct val="65000"/>
              <a:buFont typeface="Monotype Sort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ffffff"/>
                </a:solidFill>
                <a:effectLst/>
                <a:uFillTx/>
                <a:latin typeface="Arial"/>
              </a:rPr>
              <a:t>Rail Capacity/Truck-Rail Diversion Studies</a:t>
            </a:r>
            <a:endParaRPr b="1" lang="en-IN" sz="20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14f3"/>
        </a:solidFill>
      </p:bgPr>
    </p:bg>
    <p:spTree>
      <p:nvGrpSpPr>
        <p:cNvPr id="1" name=""/>
        <p:cNvGrpSpPr/>
        <p:nvPr/>
      </p:nvGrpSpPr>
      <p:grpSpPr>
        <a:xfrm>
          <a:off x="0" y="0"/>
          <a:ext cx="0" cy="0"/>
          <a:chOff x="0" y="0"/>
          <a:chExt cx="0" cy="0"/>
        </a:xfrm>
      </p:grpSpPr>
      <p:sp>
        <p:nvSpPr>
          <p:cNvPr id="377" name="PlaceHolder 1"/>
          <p:cNvSpPr>
            <a:spLocks noGrp="1"/>
          </p:cNvSpPr>
          <p:nvPr>
            <p:ph type="title"/>
          </p:nvPr>
        </p:nvSpPr>
        <p:spPr>
          <a:xfrm>
            <a:off x="380880" y="609120"/>
            <a:ext cx="8204400" cy="762120"/>
          </a:xfrm>
          <a:prstGeom prst="rect">
            <a:avLst/>
          </a:prstGeom>
          <a:noFill/>
          <a:ln w="0">
            <a:noFill/>
          </a:ln>
        </p:spPr>
        <p:txBody>
          <a:bodyPr lIns="92160" rIns="92160" tIns="46080" bIns="46080" anchor="t">
            <a:noAutofit/>
          </a:bodyPr>
          <a:p>
            <a:pPr indent="0">
              <a:lnSpc>
                <a:spcPct val="85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IN" sz="2800" strike="noStrike" u="none">
                <a:solidFill>
                  <a:srgbClr val="fafd00"/>
                </a:solidFill>
                <a:effectLst/>
                <a:uFillTx/>
                <a:latin typeface="Arial"/>
              </a:rPr>
              <a:t>Southern California Goods Movement Studies (cont.)</a:t>
            </a:r>
            <a:endParaRPr b="1" i="1" lang="en-IN" sz="2800" strike="noStrike" u="none">
              <a:solidFill>
                <a:srgbClr val="fafd00"/>
              </a:solidFill>
              <a:effectLst/>
              <a:uFillTx/>
              <a:latin typeface="Arial"/>
            </a:endParaRPr>
          </a:p>
        </p:txBody>
      </p:sp>
      <p:sp>
        <p:nvSpPr>
          <p:cNvPr id="378" name="PlaceHolder 2"/>
          <p:cNvSpPr>
            <a:spLocks noGrp="1"/>
          </p:cNvSpPr>
          <p:nvPr>
            <p:ph/>
          </p:nvPr>
        </p:nvSpPr>
        <p:spPr>
          <a:xfrm>
            <a:off x="380880" y="1736640"/>
            <a:ext cx="7772400" cy="4114800"/>
          </a:xfrm>
          <a:prstGeom prst="rect">
            <a:avLst/>
          </a:prstGeom>
          <a:noFill/>
          <a:ln w="0">
            <a:noFill/>
          </a:ln>
        </p:spPr>
        <p:txBody>
          <a:bodyPr lIns="92160" rIns="92160" tIns="46080" bIns="46080" anchor="t">
            <a:normAutofit/>
          </a:bodyPr>
          <a:p>
            <a:pPr marL="343080" indent="-343080">
              <a:lnSpc>
                <a:spcPct val="95000"/>
              </a:lnSpc>
              <a:spcBef>
                <a:spcPts val="3124"/>
              </a:spcBef>
              <a:buClr>
                <a:srgbClr val="fe9b03"/>
              </a:buClr>
              <a:buSzPct val="65000"/>
              <a:buFont typeface="Monotype Sort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ffffff"/>
                </a:solidFill>
                <a:effectLst/>
                <a:uFillTx/>
                <a:latin typeface="Arial"/>
              </a:rPr>
              <a:t>Truck Lanes/Corridor Studies</a:t>
            </a:r>
            <a:endParaRPr b="1" lang="en-IN" sz="2000" strike="noStrike" u="none">
              <a:solidFill>
                <a:srgbClr val="ffffff"/>
              </a:solidFill>
              <a:effectLst/>
              <a:uFillTx/>
              <a:latin typeface="Arial"/>
            </a:endParaRPr>
          </a:p>
          <a:p>
            <a:pPr lvl="1" marL="743040" indent="-285840">
              <a:lnSpc>
                <a:spcPct val="95000"/>
              </a:lnSpc>
              <a:spcBef>
                <a:spcPts val="1250"/>
              </a:spcBef>
              <a:buClr>
                <a:srgbClr val="00c297"/>
              </a:buClr>
              <a:buSzPct val="120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ffffff"/>
                </a:solidFill>
                <a:effectLst/>
                <a:uFillTx/>
                <a:latin typeface="Arial"/>
              </a:rPr>
              <a:t>SR-60 Truck Lane Feasibility Study</a:t>
            </a:r>
            <a:endParaRPr b="1" lang="en-IN" sz="2000" strike="noStrike" u="none">
              <a:solidFill>
                <a:srgbClr val="ffffff"/>
              </a:solidFill>
              <a:effectLst/>
              <a:uFillTx/>
              <a:latin typeface="Arial"/>
            </a:endParaRPr>
          </a:p>
          <a:p>
            <a:pPr lvl="1" marL="743040" indent="-285840">
              <a:lnSpc>
                <a:spcPct val="95000"/>
              </a:lnSpc>
              <a:spcBef>
                <a:spcPts val="1250"/>
              </a:spcBef>
              <a:buClr>
                <a:srgbClr val="00c297"/>
              </a:buClr>
              <a:buSzPct val="120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ffffff"/>
                </a:solidFill>
                <a:effectLst/>
                <a:uFillTx/>
                <a:latin typeface="Arial"/>
              </a:rPr>
              <a:t>I-710 Major Corridor Study</a:t>
            </a:r>
            <a:endParaRPr b="1" lang="en-IN" sz="2000" strike="noStrike" u="none">
              <a:solidFill>
                <a:srgbClr val="ffffff"/>
              </a:solidFill>
              <a:effectLst/>
              <a:uFillTx/>
              <a:latin typeface="Arial"/>
            </a:endParaRPr>
          </a:p>
          <a:p>
            <a:pPr lvl="1" marL="743040" indent="-285840">
              <a:lnSpc>
                <a:spcPct val="95000"/>
              </a:lnSpc>
              <a:spcBef>
                <a:spcPts val="1250"/>
              </a:spcBef>
              <a:buClr>
                <a:srgbClr val="00c297"/>
              </a:buClr>
              <a:buSzPct val="120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ffffff"/>
                </a:solidFill>
                <a:effectLst/>
                <a:uFillTx/>
                <a:latin typeface="Arial"/>
              </a:rPr>
              <a:t>I-15 Corridor Study</a:t>
            </a:r>
            <a:endParaRPr b="1" lang="en-IN" sz="20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14f3"/>
        </a:solidFill>
      </p:bgPr>
    </p:bg>
    <p:spTree>
      <p:nvGrpSpPr>
        <p:cNvPr id="1" name=""/>
        <p:cNvGrpSpPr/>
        <p:nvPr/>
      </p:nvGrpSpPr>
      <p:grpSpPr>
        <a:xfrm>
          <a:off x="0" y="0"/>
          <a:ext cx="0" cy="0"/>
          <a:chOff x="0" y="0"/>
          <a:chExt cx="0" cy="0"/>
        </a:xfrm>
      </p:grpSpPr>
      <p:sp>
        <p:nvSpPr>
          <p:cNvPr id="379" name="PlaceHolder 1"/>
          <p:cNvSpPr>
            <a:spLocks noGrp="1"/>
          </p:cNvSpPr>
          <p:nvPr>
            <p:ph type="title"/>
          </p:nvPr>
        </p:nvSpPr>
        <p:spPr>
          <a:xfrm>
            <a:off x="685800" y="2130120"/>
            <a:ext cx="7772400" cy="1469880"/>
          </a:xfrm>
          <a:prstGeom prst="rect">
            <a:avLst/>
          </a:prstGeom>
          <a:noFill/>
          <a:ln w="0">
            <a:noFill/>
          </a:ln>
        </p:spPr>
        <p:txBody>
          <a:bodyPr lIns="92160" rIns="92160" tIns="46080" bIns="46080" anchor="t">
            <a:noAutofit/>
          </a:bodyPr>
          <a:p>
            <a:pPr indent="0">
              <a:lnSpc>
                <a:spcPct val="85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IN" sz="2800" strike="noStrike" u="none">
                <a:solidFill>
                  <a:srgbClr val="fafd00"/>
                </a:solidFill>
                <a:effectLst/>
                <a:uFillTx/>
                <a:latin typeface="Arial"/>
              </a:rPr>
              <a:t>TEA-21 Reauthorization</a:t>
            </a:r>
            <a:endParaRPr b="1" i="1" lang="en-IN" sz="2800" strike="noStrike" u="none">
              <a:solidFill>
                <a:srgbClr val="fafd00"/>
              </a:solidFill>
              <a:effectLst/>
              <a:uFillTx/>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14f3"/>
        </a:solidFill>
      </p:bgPr>
    </p:bg>
    <p:spTree>
      <p:nvGrpSpPr>
        <p:cNvPr id="1" name=""/>
        <p:cNvGrpSpPr/>
        <p:nvPr/>
      </p:nvGrpSpPr>
      <p:grpSpPr>
        <a:xfrm>
          <a:off x="0" y="0"/>
          <a:ext cx="0" cy="0"/>
          <a:chOff x="0" y="0"/>
          <a:chExt cx="0" cy="0"/>
        </a:xfrm>
      </p:grpSpPr>
      <p:sp>
        <p:nvSpPr>
          <p:cNvPr id="380" name="PlaceHolder 1"/>
          <p:cNvSpPr>
            <a:spLocks noGrp="1"/>
          </p:cNvSpPr>
          <p:nvPr>
            <p:ph type="title"/>
          </p:nvPr>
        </p:nvSpPr>
        <p:spPr>
          <a:xfrm>
            <a:off x="380520" y="609120"/>
            <a:ext cx="8318520" cy="1143000"/>
          </a:xfrm>
          <a:prstGeom prst="rect">
            <a:avLst/>
          </a:prstGeom>
          <a:noFill/>
          <a:ln w="0">
            <a:noFill/>
          </a:ln>
        </p:spPr>
        <p:txBody>
          <a:bodyPr lIns="92160" rIns="92160" tIns="46080" bIns="46080" anchor="t">
            <a:noAutofit/>
          </a:bodyPr>
          <a:p>
            <a:pPr indent="0">
              <a:lnSpc>
                <a:spcPct val="85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IN" sz="2800" strike="noStrike" u="none">
                <a:solidFill>
                  <a:srgbClr val="fafd00"/>
                </a:solidFill>
                <a:effectLst/>
                <a:uFillTx/>
                <a:latin typeface="Arial"/>
              </a:rPr>
              <a:t>The $64 Million Question – What Will the New Surface Transportation Bill Hold in Store for Ports and Freight Transportation?</a:t>
            </a:r>
            <a:endParaRPr b="1" i="1" lang="en-IN" sz="2800" strike="noStrike" u="none">
              <a:solidFill>
                <a:srgbClr val="fafd00"/>
              </a:solidFill>
              <a:effectLst/>
              <a:uFillTx/>
              <a:latin typeface="Arial"/>
            </a:endParaRPr>
          </a:p>
        </p:txBody>
      </p:sp>
      <p:sp>
        <p:nvSpPr>
          <p:cNvPr id="381" name="PlaceHolder 2"/>
          <p:cNvSpPr>
            <a:spLocks noGrp="1"/>
          </p:cNvSpPr>
          <p:nvPr>
            <p:ph/>
          </p:nvPr>
        </p:nvSpPr>
        <p:spPr>
          <a:xfrm>
            <a:off x="385920" y="1899720"/>
            <a:ext cx="8224560" cy="4295880"/>
          </a:xfrm>
          <a:prstGeom prst="rect">
            <a:avLst/>
          </a:prstGeom>
          <a:noFill/>
          <a:ln w="0">
            <a:noFill/>
          </a:ln>
        </p:spPr>
        <p:txBody>
          <a:bodyPr lIns="92160" rIns="92160" tIns="46080" bIns="46080" anchor="t">
            <a:normAutofit/>
          </a:bodyPr>
          <a:p>
            <a:pPr marL="285840" indent="-285840">
              <a:lnSpc>
                <a:spcPct val="95000"/>
              </a:lnSpc>
              <a:spcBef>
                <a:spcPts val="2350"/>
              </a:spcBef>
              <a:buClr>
                <a:srgbClr val="fe9b03"/>
              </a:buClr>
              <a:buSzPct val="65000"/>
              <a:buFont typeface="Monotype Sort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ffffff"/>
                </a:solidFill>
                <a:effectLst/>
                <a:uFillTx/>
                <a:latin typeface="Arial"/>
              </a:rPr>
              <a:t>Some themes are emerging </a:t>
            </a:r>
            <a:endParaRPr b="1" lang="en-IN" sz="2000" strike="noStrike" u="none">
              <a:solidFill>
                <a:srgbClr val="ffffff"/>
              </a:solidFill>
              <a:effectLst/>
              <a:uFillTx/>
              <a:latin typeface="Arial"/>
            </a:endParaRPr>
          </a:p>
          <a:p>
            <a:pPr lvl="1" marL="685800" indent="-285840">
              <a:lnSpc>
                <a:spcPct val="95000"/>
              </a:lnSpc>
              <a:spcBef>
                <a:spcPts val="1125"/>
              </a:spcBef>
              <a:buClr>
                <a:srgbClr val="00c297"/>
              </a:buClr>
              <a:buSzPct val="120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ffffff"/>
                </a:solidFill>
                <a:effectLst/>
                <a:uFillTx/>
                <a:latin typeface="Arial"/>
              </a:rPr>
              <a:t>Freight transportation will see increased emphasis</a:t>
            </a:r>
            <a:endParaRPr b="1" lang="en-IN" sz="2000" strike="noStrike" u="none">
              <a:solidFill>
                <a:srgbClr val="ffffff"/>
              </a:solidFill>
              <a:effectLst/>
              <a:uFillTx/>
              <a:latin typeface="Arial"/>
            </a:endParaRPr>
          </a:p>
          <a:p>
            <a:pPr lvl="1" marL="685800" indent="-285840">
              <a:lnSpc>
                <a:spcPct val="95000"/>
              </a:lnSpc>
              <a:spcBef>
                <a:spcPts val="1125"/>
              </a:spcBef>
              <a:buClr>
                <a:srgbClr val="00c297"/>
              </a:buClr>
              <a:buSzPct val="120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ffffff"/>
                </a:solidFill>
                <a:effectLst/>
                <a:uFillTx/>
                <a:latin typeface="Arial"/>
              </a:rPr>
              <a:t>The effort to create options for public-private partnerships will require creative approaches to financing</a:t>
            </a:r>
            <a:endParaRPr b="1" lang="en-IN" sz="2000" strike="noStrike" u="none">
              <a:solidFill>
                <a:srgbClr val="ffffff"/>
              </a:solidFill>
              <a:effectLst/>
              <a:uFillTx/>
              <a:latin typeface="Arial"/>
            </a:endParaRPr>
          </a:p>
          <a:p>
            <a:pPr lvl="1" marL="685800" indent="-285840">
              <a:lnSpc>
                <a:spcPct val="95000"/>
              </a:lnSpc>
              <a:spcBef>
                <a:spcPts val="1125"/>
              </a:spcBef>
              <a:buClr>
                <a:srgbClr val="00c297"/>
              </a:buClr>
              <a:buSzPct val="120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ffffff"/>
                </a:solidFill>
                <a:effectLst/>
                <a:uFillTx/>
                <a:latin typeface="Arial"/>
              </a:rPr>
              <a:t>Multimodal freight interests will still be viewed with suspicion by traditional highway lobbies – but there is hope!</a:t>
            </a:r>
            <a:endParaRPr b="1" lang="en-IN" sz="2000" strike="noStrike" u="none">
              <a:solidFill>
                <a:srgbClr val="ffffff"/>
              </a:solidFill>
              <a:effectLst/>
              <a:uFillTx/>
              <a:latin typeface="Arial"/>
            </a:endParaRPr>
          </a:p>
        </p:txBody>
      </p:sp>
    </p:spTree>
  </p:cSld>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14f3"/>
        </a:solidFill>
      </p:bgPr>
    </p:bg>
    <p:spTree>
      <p:nvGrpSpPr>
        <p:cNvPr id="1" name=""/>
        <p:cNvGrpSpPr/>
        <p:nvPr/>
      </p:nvGrpSpPr>
      <p:grpSpPr>
        <a:xfrm>
          <a:off x="0" y="0"/>
          <a:ext cx="0" cy="0"/>
          <a:chOff x="0" y="0"/>
          <a:chExt cx="0" cy="0"/>
        </a:xfrm>
      </p:grpSpPr>
      <p:sp>
        <p:nvSpPr>
          <p:cNvPr id="382" name="PlaceHolder 1"/>
          <p:cNvSpPr>
            <a:spLocks noGrp="1"/>
          </p:cNvSpPr>
          <p:nvPr>
            <p:ph type="title"/>
          </p:nvPr>
        </p:nvSpPr>
        <p:spPr>
          <a:xfrm>
            <a:off x="380880" y="609480"/>
            <a:ext cx="7772400" cy="609840"/>
          </a:xfrm>
          <a:prstGeom prst="rect">
            <a:avLst/>
          </a:prstGeom>
          <a:noFill/>
          <a:ln w="0">
            <a:noFill/>
          </a:ln>
        </p:spPr>
        <p:txBody>
          <a:bodyPr lIns="92160" rIns="92160" tIns="46080" bIns="46080" anchor="t">
            <a:noAutofit/>
          </a:bodyPr>
          <a:p>
            <a:pPr indent="0">
              <a:lnSpc>
                <a:spcPct val="85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IN" sz="2800" strike="noStrike" u="none">
                <a:solidFill>
                  <a:srgbClr val="fafd00"/>
                </a:solidFill>
                <a:effectLst/>
                <a:uFillTx/>
                <a:latin typeface="Arial"/>
              </a:rPr>
              <a:t>What Stakeholders Said in FHWA Outreach</a:t>
            </a:r>
            <a:endParaRPr b="1" i="1" lang="en-IN" sz="2800" strike="noStrike" u="none">
              <a:solidFill>
                <a:srgbClr val="fafd00"/>
              </a:solidFill>
              <a:effectLst/>
              <a:uFillTx/>
              <a:latin typeface="Arial"/>
            </a:endParaRPr>
          </a:p>
        </p:txBody>
      </p:sp>
      <p:sp>
        <p:nvSpPr>
          <p:cNvPr id="383" name="PlaceHolder 2"/>
          <p:cNvSpPr>
            <a:spLocks noGrp="1"/>
          </p:cNvSpPr>
          <p:nvPr>
            <p:ph/>
          </p:nvPr>
        </p:nvSpPr>
        <p:spPr>
          <a:xfrm>
            <a:off x="385920" y="1447920"/>
            <a:ext cx="8224560" cy="4651200"/>
          </a:xfrm>
          <a:prstGeom prst="rect">
            <a:avLst/>
          </a:prstGeom>
          <a:noFill/>
          <a:ln w="0">
            <a:noFill/>
          </a:ln>
        </p:spPr>
        <p:txBody>
          <a:bodyPr lIns="92160" rIns="92160" tIns="46080" bIns="46080" anchor="t">
            <a:normAutofit lnSpcReduction="9999"/>
          </a:bodyPr>
          <a:p>
            <a:pPr marL="285840" indent="-285840">
              <a:lnSpc>
                <a:spcPct val="95000"/>
              </a:lnSpc>
              <a:spcBef>
                <a:spcPts val="1375"/>
              </a:spcBef>
              <a:buClr>
                <a:srgbClr val="fe9b03"/>
              </a:buClr>
              <a:buSzPct val="65000"/>
              <a:buFont typeface="Monotype Sort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ffffff"/>
                </a:solidFill>
                <a:effectLst/>
                <a:uFillTx/>
                <a:latin typeface="Arial"/>
              </a:rPr>
              <a:t>Solutions will involve new capacity coupled with improved operation</a:t>
            </a:r>
            <a:endParaRPr b="1" lang="en-IN" sz="2000" strike="noStrike" u="none">
              <a:solidFill>
                <a:srgbClr val="ffffff"/>
              </a:solidFill>
              <a:effectLst/>
              <a:uFillTx/>
              <a:latin typeface="Arial"/>
            </a:endParaRPr>
          </a:p>
          <a:p>
            <a:pPr marL="285840" indent="-285840">
              <a:lnSpc>
                <a:spcPct val="95000"/>
              </a:lnSpc>
              <a:spcBef>
                <a:spcPts val="1375"/>
              </a:spcBef>
              <a:buClr>
                <a:srgbClr val="fe9b03"/>
              </a:buClr>
              <a:buSzPct val="65000"/>
              <a:buFont typeface="Monotype Sort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ffffff"/>
                </a:solidFill>
                <a:effectLst/>
                <a:uFillTx/>
                <a:latin typeface="Arial"/>
              </a:rPr>
              <a:t>Improve intermodal connections to enhance connectivity, interoperability</a:t>
            </a:r>
            <a:endParaRPr b="1" lang="en-IN" sz="2000" strike="noStrike" u="none">
              <a:solidFill>
                <a:srgbClr val="ffffff"/>
              </a:solidFill>
              <a:effectLst/>
              <a:uFillTx/>
              <a:latin typeface="Arial"/>
            </a:endParaRPr>
          </a:p>
          <a:p>
            <a:pPr marL="285840" indent="-285840">
              <a:lnSpc>
                <a:spcPct val="95000"/>
              </a:lnSpc>
              <a:spcBef>
                <a:spcPts val="1375"/>
              </a:spcBef>
              <a:buClr>
                <a:srgbClr val="fe9b03"/>
              </a:buClr>
              <a:buSzPct val="65000"/>
              <a:buFont typeface="Monotype Sort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ffffff"/>
                </a:solidFill>
                <a:effectLst/>
                <a:uFillTx/>
                <a:latin typeface="Arial"/>
              </a:rPr>
              <a:t>Improve state and MPO planning and financing mechanisms for freight</a:t>
            </a:r>
            <a:endParaRPr b="1" lang="en-IN" sz="2000" strike="noStrike" u="none">
              <a:solidFill>
                <a:srgbClr val="ffffff"/>
              </a:solidFill>
              <a:effectLst/>
              <a:uFillTx/>
              <a:latin typeface="Arial"/>
            </a:endParaRPr>
          </a:p>
          <a:p>
            <a:pPr marL="285840" indent="-285840">
              <a:lnSpc>
                <a:spcPct val="95000"/>
              </a:lnSpc>
              <a:spcBef>
                <a:spcPts val="1375"/>
              </a:spcBef>
              <a:buClr>
                <a:srgbClr val="fe9b03"/>
              </a:buClr>
              <a:buSzPct val="65000"/>
              <a:buFont typeface="Monotype Sort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ffffff"/>
                </a:solidFill>
                <a:effectLst/>
                <a:uFillTx/>
                <a:latin typeface="Arial"/>
              </a:rPr>
              <a:t>Support multi-state coalitions to deal with corridor and regional trade/transportation issues</a:t>
            </a:r>
            <a:endParaRPr b="1" lang="en-IN" sz="2000" strike="noStrike" u="none">
              <a:solidFill>
                <a:srgbClr val="ffffff"/>
              </a:solidFill>
              <a:effectLst/>
              <a:uFillTx/>
              <a:latin typeface="Arial"/>
            </a:endParaRPr>
          </a:p>
          <a:p>
            <a:pPr marL="285840" indent="-285840">
              <a:lnSpc>
                <a:spcPct val="95000"/>
              </a:lnSpc>
              <a:spcBef>
                <a:spcPts val="1375"/>
              </a:spcBef>
              <a:buClr>
                <a:srgbClr val="fe9b03"/>
              </a:buClr>
              <a:buSzPct val="65000"/>
              <a:buFont typeface="Monotype Sort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ffffff"/>
                </a:solidFill>
                <a:effectLst/>
                <a:uFillTx/>
                <a:latin typeface="Arial"/>
              </a:rPr>
              <a:t>Better enable public/private financing and other innovative finance approaches for freight</a:t>
            </a:r>
            <a:endParaRPr b="1" lang="en-IN" sz="2000" strike="noStrike" u="none">
              <a:solidFill>
                <a:srgbClr val="ffffff"/>
              </a:solidFill>
              <a:effectLst/>
              <a:uFillTx/>
              <a:latin typeface="Arial"/>
            </a:endParaRPr>
          </a:p>
          <a:p>
            <a:pPr marL="285840" indent="-285840">
              <a:lnSpc>
                <a:spcPct val="95000"/>
              </a:lnSpc>
              <a:spcBef>
                <a:spcPts val="1375"/>
              </a:spcBef>
              <a:buClr>
                <a:srgbClr val="fe9b03"/>
              </a:buClr>
              <a:buSzPct val="65000"/>
              <a:buFont typeface="Monotype Sort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ffffff"/>
                </a:solidFill>
                <a:effectLst/>
                <a:uFillTx/>
                <a:latin typeface="Arial"/>
              </a:rPr>
              <a:t>More federal leadership needed given multiple modes, jurisdictions, private stakeholders, international considerations, and national security implications</a:t>
            </a:r>
            <a:endParaRPr b="1" lang="en-IN" sz="2000" strike="noStrike" u="none">
              <a:solidFill>
                <a:srgbClr val="ffffff"/>
              </a:solidFill>
              <a:effectLst/>
              <a:uFillTx/>
              <a:latin typeface="Arial"/>
            </a:endParaRPr>
          </a:p>
        </p:txBody>
      </p:sp>
    </p:spTree>
  </p:cSld>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14f3"/>
        </a:solidFill>
      </p:bgPr>
    </p:bg>
    <p:spTree>
      <p:nvGrpSpPr>
        <p:cNvPr id="1" name=""/>
        <p:cNvGrpSpPr/>
        <p:nvPr/>
      </p:nvGrpSpPr>
      <p:grpSpPr>
        <a:xfrm>
          <a:off x="0" y="0"/>
          <a:ext cx="0" cy="0"/>
          <a:chOff x="0" y="0"/>
          <a:chExt cx="0" cy="0"/>
        </a:xfrm>
      </p:grpSpPr>
      <p:sp>
        <p:nvSpPr>
          <p:cNvPr id="384" name="PlaceHolder 1"/>
          <p:cNvSpPr>
            <a:spLocks noGrp="1"/>
          </p:cNvSpPr>
          <p:nvPr>
            <p:ph type="title"/>
          </p:nvPr>
        </p:nvSpPr>
        <p:spPr>
          <a:xfrm>
            <a:off x="380880" y="609480"/>
            <a:ext cx="7772400" cy="609840"/>
          </a:xfrm>
          <a:prstGeom prst="rect">
            <a:avLst/>
          </a:prstGeom>
          <a:noFill/>
          <a:ln w="0">
            <a:noFill/>
          </a:ln>
        </p:spPr>
        <p:txBody>
          <a:bodyPr lIns="92160" rIns="92160" tIns="46080" bIns="46080" anchor="t">
            <a:noAutofit/>
          </a:bodyPr>
          <a:p>
            <a:pPr indent="0">
              <a:lnSpc>
                <a:spcPct val="85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IN" sz="2800" strike="noStrike" u="none">
                <a:solidFill>
                  <a:srgbClr val="fafd00"/>
                </a:solidFill>
                <a:effectLst/>
                <a:uFillTx/>
                <a:latin typeface="Arial"/>
              </a:rPr>
              <a:t>Some Perspectives on Funding</a:t>
            </a:r>
            <a:endParaRPr b="1" i="1" lang="en-IN" sz="2800" strike="noStrike" u="none">
              <a:solidFill>
                <a:srgbClr val="fafd00"/>
              </a:solidFill>
              <a:effectLst/>
              <a:uFillTx/>
              <a:latin typeface="Arial"/>
            </a:endParaRPr>
          </a:p>
        </p:txBody>
      </p:sp>
      <p:sp>
        <p:nvSpPr>
          <p:cNvPr id="385" name="PlaceHolder 2"/>
          <p:cNvSpPr>
            <a:spLocks noGrp="1"/>
          </p:cNvSpPr>
          <p:nvPr>
            <p:ph/>
          </p:nvPr>
        </p:nvSpPr>
        <p:spPr>
          <a:xfrm>
            <a:off x="380880" y="1447920"/>
            <a:ext cx="7772400" cy="4114800"/>
          </a:xfrm>
          <a:prstGeom prst="rect">
            <a:avLst/>
          </a:prstGeom>
          <a:noFill/>
          <a:ln w="0">
            <a:noFill/>
          </a:ln>
        </p:spPr>
        <p:txBody>
          <a:bodyPr lIns="92160" rIns="92160" tIns="46080" bIns="46080" anchor="t">
            <a:normAutofit/>
          </a:bodyPr>
          <a:p>
            <a:pPr marL="285840" indent="-285840">
              <a:lnSpc>
                <a:spcPct val="95000"/>
              </a:lnSpc>
              <a:spcBef>
                <a:spcPts val="3124"/>
              </a:spcBef>
              <a:buClr>
                <a:srgbClr val="fe9b03"/>
              </a:buClr>
              <a:buSzPct val="65000"/>
              <a:buFont typeface="Monotype Sort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ffffff"/>
                </a:solidFill>
                <a:effectLst/>
                <a:uFillTx/>
                <a:latin typeface="Arial"/>
              </a:rPr>
              <a:t>Basic funding categories/revenue sources and funding structure unlikely to change</a:t>
            </a:r>
            <a:endParaRPr b="1" lang="en-IN" sz="2000" strike="noStrike" u="none">
              <a:solidFill>
                <a:srgbClr val="ffffff"/>
              </a:solidFill>
              <a:effectLst/>
              <a:uFillTx/>
              <a:latin typeface="Arial"/>
            </a:endParaRPr>
          </a:p>
          <a:p>
            <a:pPr lvl="1" marL="685800" indent="-285840">
              <a:lnSpc>
                <a:spcPct val="95000"/>
              </a:lnSpc>
              <a:spcBef>
                <a:spcPts val="1250"/>
              </a:spcBef>
              <a:buClr>
                <a:srgbClr val="00c297"/>
              </a:buClr>
              <a:buSzPct val="120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ffffff"/>
                </a:solidFill>
                <a:effectLst/>
                <a:uFillTx/>
                <a:latin typeface="Arial"/>
              </a:rPr>
              <a:t>Highway Trust Fund</a:t>
            </a:r>
            <a:endParaRPr b="1" lang="en-IN" sz="2000" strike="noStrike" u="none">
              <a:solidFill>
                <a:srgbClr val="ffffff"/>
              </a:solidFill>
              <a:effectLst/>
              <a:uFillTx/>
              <a:latin typeface="Arial"/>
            </a:endParaRPr>
          </a:p>
          <a:p>
            <a:pPr lvl="1" marL="685800" indent="-285840">
              <a:lnSpc>
                <a:spcPct val="95000"/>
              </a:lnSpc>
              <a:spcBef>
                <a:spcPts val="1250"/>
              </a:spcBef>
              <a:buClr>
                <a:srgbClr val="00c297"/>
              </a:buClr>
              <a:buSzPct val="120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ffffff"/>
                </a:solidFill>
                <a:effectLst/>
                <a:uFillTx/>
                <a:latin typeface="Arial"/>
              </a:rPr>
              <a:t>Apportionment categories</a:t>
            </a:r>
            <a:endParaRPr b="1" lang="en-IN" sz="2000" strike="noStrike" u="none">
              <a:solidFill>
                <a:srgbClr val="ffffff"/>
              </a:solidFill>
              <a:effectLst/>
              <a:uFillTx/>
              <a:latin typeface="Arial"/>
            </a:endParaRPr>
          </a:p>
          <a:p>
            <a:pPr lvl="1" marL="685800" indent="-285840">
              <a:lnSpc>
                <a:spcPct val="95000"/>
              </a:lnSpc>
              <a:spcBef>
                <a:spcPts val="1250"/>
              </a:spcBef>
              <a:buClr>
                <a:srgbClr val="00c297"/>
              </a:buClr>
              <a:buSzPct val="120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ffffff"/>
                </a:solidFill>
                <a:effectLst/>
                <a:uFillTx/>
                <a:latin typeface="Arial"/>
              </a:rPr>
              <a:t>Discretionary earmarks</a:t>
            </a:r>
            <a:endParaRPr b="1" lang="en-IN" sz="2000" strike="noStrike" u="none">
              <a:solidFill>
                <a:srgbClr val="ffffff"/>
              </a:solidFill>
              <a:effectLst/>
              <a:uFillTx/>
              <a:latin typeface="Arial"/>
            </a:endParaRPr>
          </a:p>
        </p:txBody>
      </p:sp>
    </p:spTree>
  </p:cSld>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14f3"/>
        </a:solidFill>
      </p:bgPr>
    </p:bg>
    <p:spTree>
      <p:nvGrpSpPr>
        <p:cNvPr id="1" name=""/>
        <p:cNvGrpSpPr/>
        <p:nvPr/>
      </p:nvGrpSpPr>
      <p:grpSpPr>
        <a:xfrm>
          <a:off x="0" y="0"/>
          <a:ext cx="0" cy="0"/>
          <a:chOff x="0" y="0"/>
          <a:chExt cx="0" cy="0"/>
        </a:xfrm>
      </p:grpSpPr>
      <p:sp>
        <p:nvSpPr>
          <p:cNvPr id="386" name="PlaceHolder 1"/>
          <p:cNvSpPr>
            <a:spLocks noGrp="1"/>
          </p:cNvSpPr>
          <p:nvPr>
            <p:ph type="title"/>
          </p:nvPr>
        </p:nvSpPr>
        <p:spPr>
          <a:xfrm>
            <a:off x="380880" y="609480"/>
            <a:ext cx="7772400" cy="609840"/>
          </a:xfrm>
          <a:prstGeom prst="rect">
            <a:avLst/>
          </a:prstGeom>
          <a:noFill/>
          <a:ln w="0">
            <a:noFill/>
          </a:ln>
        </p:spPr>
        <p:txBody>
          <a:bodyPr lIns="92160" rIns="92160" tIns="46080" bIns="46080" anchor="t">
            <a:noAutofit/>
          </a:bodyPr>
          <a:p>
            <a:pPr indent="0">
              <a:lnSpc>
                <a:spcPct val="85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IN" sz="2800" strike="noStrike" u="none">
                <a:solidFill>
                  <a:srgbClr val="fafd00"/>
                </a:solidFill>
                <a:effectLst/>
                <a:uFillTx/>
                <a:latin typeface="Arial"/>
              </a:rPr>
              <a:t>Some Perspectives on Funding (cont.)</a:t>
            </a:r>
            <a:endParaRPr b="1" i="1" lang="en-IN" sz="2800" strike="noStrike" u="none">
              <a:solidFill>
                <a:srgbClr val="fafd00"/>
              </a:solidFill>
              <a:effectLst/>
              <a:uFillTx/>
              <a:latin typeface="Arial"/>
            </a:endParaRPr>
          </a:p>
        </p:txBody>
      </p:sp>
      <p:sp>
        <p:nvSpPr>
          <p:cNvPr id="387" name="PlaceHolder 2"/>
          <p:cNvSpPr>
            <a:spLocks noGrp="1"/>
          </p:cNvSpPr>
          <p:nvPr>
            <p:ph/>
          </p:nvPr>
        </p:nvSpPr>
        <p:spPr>
          <a:xfrm>
            <a:off x="385920" y="1447560"/>
            <a:ext cx="8224560" cy="4738680"/>
          </a:xfrm>
          <a:prstGeom prst="rect">
            <a:avLst/>
          </a:prstGeom>
          <a:noFill/>
          <a:ln w="0">
            <a:noFill/>
          </a:ln>
        </p:spPr>
        <p:txBody>
          <a:bodyPr lIns="92160" rIns="92160" tIns="46080" bIns="46080" anchor="t">
            <a:normAutofit lnSpcReduction="9999"/>
          </a:bodyPr>
          <a:p>
            <a:pPr marL="285840" indent="-285840">
              <a:lnSpc>
                <a:spcPct val="95000"/>
              </a:lnSpc>
              <a:spcBef>
                <a:spcPts val="3124"/>
              </a:spcBef>
              <a:buClr>
                <a:srgbClr val="fe9b03"/>
              </a:buClr>
              <a:buSzPct val="65000"/>
              <a:buFont typeface="Monotype Sort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ffffff"/>
                </a:solidFill>
                <a:effectLst/>
                <a:uFillTx/>
                <a:latin typeface="Arial"/>
              </a:rPr>
              <a:t>Some new funding sources may be proposed by stakeholders</a:t>
            </a:r>
            <a:endParaRPr b="1" lang="en-IN" sz="2000" strike="noStrike" u="none">
              <a:solidFill>
                <a:srgbClr val="ffffff"/>
              </a:solidFill>
              <a:effectLst/>
              <a:uFillTx/>
              <a:latin typeface="Arial"/>
            </a:endParaRPr>
          </a:p>
          <a:p>
            <a:pPr lvl="1" marL="685800" indent="-285840">
              <a:lnSpc>
                <a:spcPct val="95000"/>
              </a:lnSpc>
              <a:spcBef>
                <a:spcPts val="876"/>
              </a:spcBef>
              <a:buClr>
                <a:srgbClr val="00c297"/>
              </a:buClr>
              <a:buSzPct val="120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ffffff"/>
                </a:solidFill>
                <a:effectLst/>
                <a:uFillTx/>
                <a:latin typeface="Arial"/>
              </a:rPr>
              <a:t>Indexing gas tax</a:t>
            </a:r>
            <a:endParaRPr b="1" lang="en-IN" sz="2000" strike="noStrike" u="none">
              <a:solidFill>
                <a:srgbClr val="ffffff"/>
              </a:solidFill>
              <a:effectLst/>
              <a:uFillTx/>
              <a:latin typeface="Arial"/>
            </a:endParaRPr>
          </a:p>
          <a:p>
            <a:pPr lvl="1" marL="685800" indent="-285840">
              <a:lnSpc>
                <a:spcPct val="95000"/>
              </a:lnSpc>
              <a:spcBef>
                <a:spcPts val="876"/>
              </a:spcBef>
              <a:buClr>
                <a:srgbClr val="00c297"/>
              </a:buClr>
              <a:buSzPct val="120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ffffff"/>
                </a:solidFill>
                <a:effectLst/>
                <a:uFillTx/>
                <a:latin typeface="Arial"/>
              </a:rPr>
              <a:t>Recovery of ethanol tax exemptions</a:t>
            </a:r>
            <a:endParaRPr b="1" lang="en-IN" sz="2000" strike="noStrike" u="none">
              <a:solidFill>
                <a:srgbClr val="ffffff"/>
              </a:solidFill>
              <a:effectLst/>
              <a:uFillTx/>
              <a:latin typeface="Arial"/>
            </a:endParaRPr>
          </a:p>
          <a:p>
            <a:pPr lvl="1" marL="685800" indent="-285840">
              <a:lnSpc>
                <a:spcPct val="95000"/>
              </a:lnSpc>
              <a:spcBef>
                <a:spcPts val="876"/>
              </a:spcBef>
              <a:buClr>
                <a:srgbClr val="00c297"/>
              </a:buClr>
              <a:buSzPct val="120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ffffff"/>
                </a:solidFill>
                <a:effectLst/>
                <a:uFillTx/>
                <a:latin typeface="Arial"/>
              </a:rPr>
              <a:t>National Transportation Finance Corporation</a:t>
            </a:r>
            <a:endParaRPr b="1" lang="en-IN" sz="2000" strike="noStrike" u="none">
              <a:solidFill>
                <a:srgbClr val="ffffff"/>
              </a:solidFill>
              <a:effectLst/>
              <a:uFillTx/>
              <a:latin typeface="Arial"/>
            </a:endParaRPr>
          </a:p>
          <a:p>
            <a:pPr marL="285840" indent="-285840">
              <a:lnSpc>
                <a:spcPct val="95000"/>
              </a:lnSpc>
              <a:spcBef>
                <a:spcPts val="3124"/>
              </a:spcBef>
              <a:buClr>
                <a:srgbClr val="fe9b03"/>
              </a:buClr>
              <a:buSzPct val="65000"/>
              <a:buFont typeface="Monotype Sort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ffffff"/>
                </a:solidFill>
                <a:effectLst/>
                <a:uFillTx/>
                <a:latin typeface="Arial"/>
              </a:rPr>
              <a:t>How will freight projects get more money?</a:t>
            </a:r>
            <a:endParaRPr b="1" lang="en-IN" sz="2000" strike="noStrike" u="none">
              <a:solidFill>
                <a:srgbClr val="ffffff"/>
              </a:solidFill>
              <a:effectLst/>
              <a:uFillTx/>
              <a:latin typeface="Arial"/>
            </a:endParaRPr>
          </a:p>
          <a:p>
            <a:pPr lvl="1" marL="685800" indent="-285840">
              <a:lnSpc>
                <a:spcPct val="95000"/>
              </a:lnSpc>
              <a:spcBef>
                <a:spcPts val="876"/>
              </a:spcBef>
              <a:buClr>
                <a:srgbClr val="00c297"/>
              </a:buClr>
              <a:buSzPct val="120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ffffff"/>
                </a:solidFill>
                <a:effectLst/>
                <a:uFillTx/>
                <a:latin typeface="Arial"/>
              </a:rPr>
              <a:t>Discretionary projects</a:t>
            </a:r>
            <a:endParaRPr b="1" lang="en-IN" sz="2000" strike="noStrike" u="none">
              <a:solidFill>
                <a:srgbClr val="ffffff"/>
              </a:solidFill>
              <a:effectLst/>
              <a:uFillTx/>
              <a:latin typeface="Arial"/>
            </a:endParaRPr>
          </a:p>
          <a:p>
            <a:pPr lvl="1" marL="685800" indent="-285840">
              <a:lnSpc>
                <a:spcPct val="95000"/>
              </a:lnSpc>
              <a:spcBef>
                <a:spcPts val="876"/>
              </a:spcBef>
              <a:buClr>
                <a:srgbClr val="00c297"/>
              </a:buClr>
              <a:buSzPct val="120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ffffff"/>
                </a:solidFill>
                <a:effectLst/>
                <a:uFillTx/>
                <a:latin typeface="Arial"/>
              </a:rPr>
              <a:t>New funding categories (e.g., set asides) – Affects existing apportionments</a:t>
            </a:r>
            <a:endParaRPr b="1" lang="en-IN" sz="2000" strike="noStrike" u="none">
              <a:solidFill>
                <a:srgbClr val="ffffff"/>
              </a:solidFill>
              <a:effectLst/>
              <a:uFillTx/>
              <a:latin typeface="Arial"/>
            </a:endParaRPr>
          </a:p>
          <a:p>
            <a:pPr lvl="1" marL="685800" indent="-285840">
              <a:lnSpc>
                <a:spcPct val="95000"/>
              </a:lnSpc>
              <a:spcBef>
                <a:spcPts val="876"/>
              </a:spcBef>
              <a:buClr>
                <a:srgbClr val="00c297"/>
              </a:buClr>
              <a:buSzPct val="120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ffffff"/>
                </a:solidFill>
                <a:effectLst/>
                <a:uFillTx/>
                <a:latin typeface="Arial"/>
              </a:rPr>
              <a:t>Changing eligibility rules (e.g., broaden STP eligibility, modify TIFIA, add gateways to Sec. 1118/1119)</a:t>
            </a:r>
            <a:endParaRPr b="1" lang="en-IN" sz="2000" strike="noStrike" u="none">
              <a:solidFill>
                <a:srgbClr val="ffffff"/>
              </a:solidFill>
              <a:effectLst/>
              <a:uFillTx/>
              <a:latin typeface="Arial"/>
            </a:endParaRPr>
          </a:p>
          <a:p>
            <a:pPr lvl="1" marL="685800" indent="-285840">
              <a:lnSpc>
                <a:spcPct val="95000"/>
              </a:lnSpc>
              <a:spcBef>
                <a:spcPts val="876"/>
              </a:spcBef>
              <a:buClr>
                <a:srgbClr val="00c297"/>
              </a:buClr>
              <a:buSzPct val="120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ffffff"/>
                </a:solidFill>
                <a:effectLst/>
                <a:uFillTx/>
                <a:latin typeface="Arial"/>
              </a:rPr>
              <a:t>Changes in planning process – More effectively compete for existing funds</a:t>
            </a:r>
            <a:endParaRPr b="1" lang="en-IN" sz="2000" strike="noStrike" u="none">
              <a:solidFill>
                <a:srgbClr val="ffffff"/>
              </a:solidFill>
              <a:effectLst/>
              <a:uFillTx/>
              <a:latin typeface="Arial"/>
            </a:endParaRPr>
          </a:p>
        </p:txBody>
      </p:sp>
    </p:spTree>
  </p:cSld>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14f3"/>
        </a:solidFill>
      </p:bgPr>
    </p:bg>
    <p:spTree>
      <p:nvGrpSpPr>
        <p:cNvPr id="1" name=""/>
        <p:cNvGrpSpPr/>
        <p:nvPr/>
      </p:nvGrpSpPr>
      <p:grpSpPr>
        <a:xfrm>
          <a:off x="0" y="0"/>
          <a:ext cx="0" cy="0"/>
          <a:chOff x="0" y="0"/>
          <a:chExt cx="0" cy="0"/>
        </a:xfrm>
      </p:grpSpPr>
      <p:sp>
        <p:nvSpPr>
          <p:cNvPr id="388" name="PlaceHolder 1"/>
          <p:cNvSpPr>
            <a:spLocks noGrp="1"/>
          </p:cNvSpPr>
          <p:nvPr>
            <p:ph type="title"/>
          </p:nvPr>
        </p:nvSpPr>
        <p:spPr>
          <a:xfrm>
            <a:off x="380520" y="609120"/>
            <a:ext cx="8077320" cy="838440"/>
          </a:xfrm>
          <a:prstGeom prst="rect">
            <a:avLst/>
          </a:prstGeom>
          <a:noFill/>
          <a:ln w="0">
            <a:noFill/>
          </a:ln>
        </p:spPr>
        <p:txBody>
          <a:bodyPr lIns="92160" rIns="92160" tIns="46080" bIns="46080" anchor="t">
            <a:noAutofit/>
          </a:bodyPr>
          <a:p>
            <a:pPr indent="0">
              <a:lnSpc>
                <a:spcPct val="85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IN" sz="2800" strike="noStrike" u="none">
                <a:solidFill>
                  <a:srgbClr val="fafd00"/>
                </a:solidFill>
                <a:effectLst/>
                <a:uFillTx/>
                <a:latin typeface="Arial"/>
              </a:rPr>
              <a:t>Freight Reauthorization Ideas</a:t>
            </a:r>
            <a:endParaRPr b="1" i="1" lang="en-IN" sz="2800" strike="noStrike" u="none">
              <a:solidFill>
                <a:srgbClr val="fafd00"/>
              </a:solidFill>
              <a:effectLst/>
              <a:uFillTx/>
              <a:latin typeface="Arial"/>
            </a:endParaRPr>
          </a:p>
        </p:txBody>
      </p:sp>
      <p:sp>
        <p:nvSpPr>
          <p:cNvPr id="389" name="PlaceHolder 2"/>
          <p:cNvSpPr>
            <a:spLocks noGrp="1"/>
          </p:cNvSpPr>
          <p:nvPr>
            <p:ph/>
          </p:nvPr>
        </p:nvSpPr>
        <p:spPr>
          <a:xfrm>
            <a:off x="385920" y="1736280"/>
            <a:ext cx="8224560" cy="4435560"/>
          </a:xfrm>
          <a:prstGeom prst="rect">
            <a:avLst/>
          </a:prstGeom>
          <a:noFill/>
          <a:ln w="0">
            <a:noFill/>
          </a:ln>
        </p:spPr>
        <p:txBody>
          <a:bodyPr lIns="92160" rIns="92160" tIns="46080" bIns="46080" anchor="t">
            <a:normAutofit/>
          </a:bodyPr>
          <a:p>
            <a:pPr marL="285840" indent="-285840">
              <a:lnSpc>
                <a:spcPct val="95000"/>
              </a:lnSpc>
              <a:spcBef>
                <a:spcPts val="1624"/>
              </a:spcBef>
              <a:buClr>
                <a:srgbClr val="fe9b03"/>
              </a:buClr>
              <a:buSzPct val="65000"/>
              <a:buFont typeface="Monotype Sort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ffffff"/>
                </a:solidFill>
                <a:effectLst/>
                <a:uFillTx/>
                <a:latin typeface="Arial"/>
              </a:rPr>
              <a:t>Improve Freight Financing</a:t>
            </a:r>
            <a:endParaRPr b="1" lang="en-IN" sz="2000" strike="noStrike" u="none">
              <a:solidFill>
                <a:srgbClr val="ffffff"/>
              </a:solidFill>
              <a:effectLst/>
              <a:uFillTx/>
              <a:latin typeface="Arial"/>
            </a:endParaRPr>
          </a:p>
          <a:p>
            <a:pPr lvl="1" marL="685800" indent="-285840">
              <a:lnSpc>
                <a:spcPct val="95000"/>
              </a:lnSpc>
              <a:spcBef>
                <a:spcPts val="624"/>
              </a:spcBef>
              <a:buClr>
                <a:srgbClr val="00c297"/>
              </a:buClr>
              <a:buSzPct val="120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ffffff"/>
                </a:solidFill>
                <a:effectLst/>
                <a:uFillTx/>
                <a:latin typeface="Arial"/>
              </a:rPr>
              <a:t>Flexibility for intermodal freight in existing Fed-aid programs (e.g., CMAQ, STP)</a:t>
            </a:r>
            <a:endParaRPr b="1" lang="en-IN" sz="2000" strike="noStrike" u="none">
              <a:solidFill>
                <a:srgbClr val="ffffff"/>
              </a:solidFill>
              <a:effectLst/>
              <a:uFillTx/>
              <a:latin typeface="Arial"/>
            </a:endParaRPr>
          </a:p>
          <a:p>
            <a:pPr lvl="1" marL="685800" indent="-285840">
              <a:lnSpc>
                <a:spcPct val="95000"/>
              </a:lnSpc>
              <a:spcBef>
                <a:spcPts val="624"/>
              </a:spcBef>
              <a:buClr>
                <a:srgbClr val="00c297"/>
              </a:buClr>
              <a:buSzPct val="120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ffffff"/>
                </a:solidFill>
                <a:effectLst/>
                <a:uFillTx/>
                <a:latin typeface="Arial"/>
              </a:rPr>
              <a:t>Innovative Finance (e.g., TIFIA for freight)</a:t>
            </a:r>
            <a:endParaRPr b="1" lang="en-IN" sz="2000" strike="noStrike" u="none">
              <a:solidFill>
                <a:srgbClr val="ffffff"/>
              </a:solidFill>
              <a:effectLst/>
              <a:uFillTx/>
              <a:latin typeface="Arial"/>
            </a:endParaRPr>
          </a:p>
          <a:p>
            <a:pPr lvl="1" marL="685800" indent="-285840">
              <a:lnSpc>
                <a:spcPct val="95000"/>
              </a:lnSpc>
              <a:spcBef>
                <a:spcPts val="624"/>
              </a:spcBef>
              <a:buClr>
                <a:srgbClr val="00c297"/>
              </a:buClr>
              <a:buSzPct val="120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ffffff"/>
                </a:solidFill>
                <a:effectLst/>
                <a:uFillTx/>
                <a:latin typeface="Arial"/>
              </a:rPr>
              <a:t>More emphasis on NHS intermodal connectors </a:t>
            </a:r>
            <a:endParaRPr b="1" lang="en-IN" sz="2000" strike="noStrike" u="none">
              <a:solidFill>
                <a:srgbClr val="ffffff"/>
              </a:solidFill>
              <a:effectLst/>
              <a:uFillTx/>
              <a:latin typeface="Arial"/>
            </a:endParaRPr>
          </a:p>
          <a:p>
            <a:pPr lvl="1" marL="685800" indent="-285840">
              <a:lnSpc>
                <a:spcPct val="95000"/>
              </a:lnSpc>
              <a:spcBef>
                <a:spcPts val="624"/>
              </a:spcBef>
              <a:buClr>
                <a:srgbClr val="00c297"/>
              </a:buClr>
              <a:buSzPct val="120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ffffff"/>
                </a:solidFill>
                <a:effectLst/>
                <a:uFillTx/>
                <a:latin typeface="Arial"/>
              </a:rPr>
              <a:t>Expand Borders/Corridors to include Gateways/Hubs</a:t>
            </a:r>
            <a:endParaRPr b="1" lang="en-IN" sz="2000" strike="noStrike" u="none">
              <a:solidFill>
                <a:srgbClr val="ffffff"/>
              </a:solidFill>
              <a:effectLst/>
              <a:uFillTx/>
              <a:latin typeface="Arial"/>
            </a:endParaRPr>
          </a:p>
          <a:p>
            <a:pPr marL="285840" indent="-285840">
              <a:lnSpc>
                <a:spcPct val="95000"/>
              </a:lnSpc>
              <a:spcBef>
                <a:spcPts val="1624"/>
              </a:spcBef>
              <a:buClr>
                <a:srgbClr val="fe9b03"/>
              </a:buClr>
              <a:buSzPct val="65000"/>
              <a:buFont typeface="Monotype Sort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ffffff"/>
                </a:solidFill>
                <a:effectLst/>
                <a:uFillTx/>
                <a:latin typeface="Arial"/>
              </a:rPr>
              <a:t>Improve State/MPO freight planning, including public/private collaboration</a:t>
            </a:r>
            <a:endParaRPr b="1" lang="en-IN" sz="2000" strike="noStrike" u="none">
              <a:solidFill>
                <a:srgbClr val="ffffff"/>
              </a:solidFill>
              <a:effectLst/>
              <a:uFillTx/>
              <a:latin typeface="Arial"/>
            </a:endParaRPr>
          </a:p>
          <a:p>
            <a:pPr marL="285840" indent="-285840">
              <a:lnSpc>
                <a:spcPct val="95000"/>
              </a:lnSpc>
              <a:spcBef>
                <a:spcPts val="1624"/>
              </a:spcBef>
              <a:buClr>
                <a:srgbClr val="fe9b03"/>
              </a:buClr>
              <a:buSzPct val="65000"/>
              <a:buFont typeface="Monotype Sort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ffffff"/>
                </a:solidFill>
                <a:effectLst/>
                <a:uFillTx/>
                <a:latin typeface="Arial"/>
              </a:rPr>
              <a:t>Improve data and analytical tools </a:t>
            </a:r>
            <a:endParaRPr b="1" lang="en-IN" sz="2000" strike="noStrike" u="none">
              <a:solidFill>
                <a:srgbClr val="ffffff"/>
              </a:solidFill>
              <a:effectLst/>
              <a:uFillTx/>
              <a:latin typeface="Arial"/>
            </a:endParaRPr>
          </a:p>
          <a:p>
            <a:pPr marL="285840" indent="-285840">
              <a:lnSpc>
                <a:spcPct val="95000"/>
              </a:lnSpc>
              <a:spcBef>
                <a:spcPts val="1624"/>
              </a:spcBef>
              <a:buClr>
                <a:srgbClr val="fe9b03"/>
              </a:buClr>
              <a:buSzPct val="65000"/>
              <a:buFont typeface="Monotype Sort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ffffff"/>
                </a:solidFill>
                <a:effectLst/>
                <a:uFillTx/>
                <a:latin typeface="Arial"/>
              </a:rPr>
              <a:t>Need freight professional capacity building </a:t>
            </a:r>
            <a:endParaRPr b="1" lang="en-IN" sz="2000" strike="noStrike" u="none">
              <a:solidFill>
                <a:srgbClr val="ffffff"/>
              </a:solidFill>
              <a:effectLst/>
              <a:uFillTx/>
              <a:latin typeface="Arial"/>
            </a:endParaRPr>
          </a:p>
          <a:p>
            <a:pPr marL="285840" indent="-285840">
              <a:lnSpc>
                <a:spcPct val="95000"/>
              </a:lnSpc>
              <a:spcBef>
                <a:spcPts val="1624"/>
              </a:spcBef>
              <a:buClr>
                <a:srgbClr val="fe9b03"/>
              </a:buClr>
              <a:buSzPct val="65000"/>
              <a:buFont typeface="Monotype Sort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ffffff"/>
                </a:solidFill>
                <a:effectLst/>
                <a:uFillTx/>
                <a:latin typeface="Arial"/>
              </a:rPr>
              <a:t>Focus on Operations/Technology/Security</a:t>
            </a:r>
            <a:endParaRPr b="1" lang="en-IN" sz="20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974</TotalTime>
  <Application>LibreOffice/25.2.3.2$Windows_X86_64 LibreOffice_project/bbb074479178df812d175f709636b368952c2ce3</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2002-11-20T14:09:23Z</dcterms:created>
  <dc:creator>rjs</dc:creator>
  <dc:description>2/25/03</dc:description>
  <cp:keywords>Michael J. Fischer</cp:keywords>
  <dc:language>en-IN</dc:language>
  <cp:lastModifiedBy>Doug Kimsey</cp:lastModifiedBy>
  <cp:lastPrinted>2002-11-21T17:51:48Z</cp:lastPrinted>
  <dcterms:modified xsi:type="dcterms:W3CDTF">2003-06-18T16:24:13Z</dcterms:modified>
  <cp:revision>90</cp:revision>
  <dc:subject>Presentation - Regional Goods for the San Francisco Bay Area</dc:subject>
  <dc:title>7264</dc:title>
</cp:coreProperties>
</file>