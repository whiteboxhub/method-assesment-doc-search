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_rels/notesSlide22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7.jpeg" ContentType="image/jpeg"/>
  <Override PartName="/ppt/media/image2.jpeg" ContentType="image/jpeg"/>
  <Override PartName="/ppt/media/image17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8.jpeg" ContentType="image/jpeg"/>
  <Override PartName="/ppt/media/image9.png" ContentType="image/png"/>
  <Override PartName="/ppt/media/image10.jpeg" ContentType="image/jpeg"/>
  <Override PartName="/ppt/media/image11.jpeg" ContentType="image/jpeg"/>
  <Override PartName="/ppt/media/image12.png" ContentType="image/png"/>
  <Override PartName="/ppt/media/image18.jpeg" ContentType="image/jpeg"/>
  <Override PartName="/ppt/media/image13.jpeg" ContentType="image/jpeg"/>
  <Override PartName="/ppt/media/image14.jpeg" ContentType="image/jpeg"/>
  <Override PartName="/ppt/media/image15.jpeg" ContentType="image/jpeg"/>
  <Override PartName="/ppt/media/image16.png" ContentType="image/png"/>
  <Override PartName="/ppt/media/image19.jpeg" ContentType="image/jpeg"/>
  <Override PartName="/ppt/media/image20.png" ContentType="image/png"/>
  <Override PartName="/ppt/media/image21.jpeg" ContentType="image/jpeg"/>
  <Override PartName="/ppt/media/image22.jpe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24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7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Click to move the slide</a:t>
            </a:r>
            <a:endParaRPr b="0" lang="en-IN" sz="4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4387FA-EFB5-4631-B9B2-D1E728B268D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This module provides a basic review of simple microbiology as it relates to the prevention of foodborne illness.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Some challenges to controlling FBI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28600" indent="-22860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Other consideration in food borne illness: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INFECTION-MEDIATED INTOXICATION- bacteria are consumed and produce toxins during colonization.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FOOD POISONING- bacteria have contaminated food to a very high level rapidly (Staph aureus)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PLANT TOXINS- natural plant toxins (i.e. wild mushrooms, or consumed accidentally).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BIOACCUMULATION- {i.e. consumption of mussels/clams from waters in Red Tide} (PSP)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Particularly dangerous in pooled eggs. Often spread through cross- contamination.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Lysteria is found in refrigerators and walk –in condensate plumbing.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Recent outbreak in a deli over turkey meat.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Very commonly food workers are the source.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Fungi and bacteria require different nutrients and environments so therefore do not have to compete.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Alcohol produced is source of characteristic smell (example- bread dough).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Freezing kills by physical destruction of cell walls as ice crystals form.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Host provides nourishment and protection during a particular stage of the life- cycle.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Picture shows a Trichinella Cyst in muscle tissue.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Also known as the “Herring worm”.  Picture shows nematode in muscle tissue of herring.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28600" indent="-228600">
              <a:spcBef>
                <a:spcPts val="451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Eggs laid by the adult develop in the host’s gut. New adults are expelled.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Unprotected water sources and under chlorinated pools are conducive to transfer of Giardia.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Isolated in outbreak concerning apple cider.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Implicated in outbreaks related to raspberries and strawberries. Concern it may be propagated in agricultural fields, by workers, as a result of poor hygiene.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94920" y="457200"/>
            <a:ext cx="716292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Click to edit the title text format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294920" y="16765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cc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cc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cc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cc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294920" y="6248520"/>
            <a:ext cx="12956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&lt;date/time&gt;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276360" y="6248520"/>
            <a:ext cx="3135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&lt;footer&gt;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162920" y="6248520"/>
            <a:ext cx="12952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AFC0DE-AB0A-4D7F-A235-805749686E0E}" type="slidenum">
              <a: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&lt;number&gt;</a:t>
            </a:fld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3"/>
          <a:stretch/>
        </p:blipFill>
        <p:spPr>
          <a:xfrm>
            <a:off x="7162920" y="6476400"/>
            <a:ext cx="1828800" cy="222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3045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Click to edit the title text format</a:t>
            </a:r>
            <a:endParaRPr b="0" lang="en-IN" sz="4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2286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&lt;date/time&gt;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2361960" y="6248520"/>
            <a:ext cx="4343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&lt;footer&gt;</a:t>
            </a:r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70102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1C9BE4-7E31-4B97-9BEB-8B388E6AAB3C}" type="slidenum">
              <a:rPr b="0" lang="en-US" sz="1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&lt;number&gt;</a:t>
            </a:fld>
            <a:endParaRPr b="0" lang="en-IN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" name="" descr=""/>
          <p:cNvPicPr/>
          <p:nvPr/>
        </p:nvPicPr>
        <p:blipFill>
          <a:blip r:embed="rId3"/>
          <a:stretch/>
        </p:blipFill>
        <p:spPr>
          <a:xfrm>
            <a:off x="7010280" y="6477120"/>
            <a:ext cx="1981440" cy="24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ffffcc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ffcc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ffffcc"/>
              </a:buClr>
              <a:buFont typeface="Arial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cc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cc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304920" y="380520"/>
            <a:ext cx="8534160" cy="83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1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FOODBORNE ILLNESS</a:t>
            </a:r>
            <a:endParaRPr b="0" lang="en-IN" sz="5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6933600" y="6477120"/>
            <a:ext cx="2057400" cy="2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6172200" y="1828800"/>
            <a:ext cx="2514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1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A microbiology review</a:t>
            </a:r>
            <a:endParaRPr b="0" lang="en-IN" sz="18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1218960" y="1676160"/>
            <a:ext cx="708660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Challenges to control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Poor consumer handling of food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Emerging pathogens have increased resistance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Food supply is </a:t>
            </a:r>
            <a:r>
              <a:rPr b="0" i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global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More food is eaten outside of home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New modes of transmission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838080" y="228240"/>
            <a:ext cx="792504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cc"/>
                </a:solidFill>
                <a:effectLst/>
                <a:uFillTx/>
                <a:latin typeface="Arial Black"/>
              </a:rPr>
              <a:t>FOODBORNE ILLNESS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2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2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1" dur="8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-103,51,51)"/>
                                          </p:val>
                                        </p:tav>
                                        <p:tav tm="50000">
                                          <p:val>
                                            <p:strVal val="rgb(-103,-103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2" dur="8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-103,51,51)"/>
                                          </p:val>
                                        </p:tav>
                                        <p:tav tm="50000">
                                          <p:val>
                                            <p:strVal val="rgb(-103,-103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20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9" dur="20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20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" dur="20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040" y="151920"/>
            <a:ext cx="792468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cc"/>
                </a:solidFill>
                <a:effectLst/>
                <a:uFillTx/>
                <a:latin typeface="Arial Black"/>
              </a:rPr>
              <a:t>FOODBORNE ILLNESS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990720" y="1523520"/>
            <a:ext cx="777240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trike="noStrike" u="none">
                <a:solidFill>
                  <a:srgbClr val="dfd293"/>
                </a:solidFill>
                <a:effectLst/>
                <a:uFillTx/>
                <a:latin typeface="Arial"/>
              </a:rPr>
              <a:t>Types of Contamination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Physical</a:t>
            </a:r>
            <a:r>
              <a:rPr b="0" i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ffffcc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Metal shavings, broken glass, wood splinters, bandages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Chemical</a:t>
            </a: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ffffcc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Cleansers, metal leaching (copper, lead, cadmium), pesticides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Biological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ffffcc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Bacteria, fungi, viruses, parasites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" dur="indefinite" restart="never" nodeType="tmRoot">
          <p:childTnLst>
            <p:seq>
              <p:cTn id="43" dur="indefinite" nodeType="mainSeq">
                <p:childTnLst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9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vertical)" transition="in">
                                      <p:cBhvr additive="repl">
                                        <p:cTn id="59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64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by="(-#ppt_w*2)">
                                      <p:cBhvr additive="repl">
                                        <p:cTn id="6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calcmode="lin" valueType="num" by="(#ppt_w*0.50)">
                                      <p:cBhvr additive="repl">
                                        <p:cTn id="7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(-#ppt_h/2)" to="(#ppt_y)">
                                      <p:cBhvr additive="repl"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" dur="15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" dur="15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040" y="228240"/>
            <a:ext cx="792468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cc"/>
                </a:solidFill>
                <a:effectLst/>
                <a:uFillTx/>
                <a:latin typeface="Arial Black"/>
              </a:rPr>
              <a:t>FOODBORNE ILLNESS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90720" y="19051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cc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Food </a:t>
            </a:r>
            <a:r>
              <a:rPr b="1" i="1" lang="en-IN" sz="3200" strike="noStrike" u="sng">
                <a:solidFill>
                  <a:srgbClr val="ffff99"/>
                </a:solidFill>
                <a:effectLst/>
                <a:uFillTx/>
                <a:latin typeface="Arial"/>
              </a:rPr>
              <a:t>infection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Bacteria are consumed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Body reacts by raising temperature- </a:t>
            </a:r>
            <a:r>
              <a:rPr b="0" i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fever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Longer incubation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cc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Food </a:t>
            </a:r>
            <a:r>
              <a:rPr b="1" i="1" lang="en-IN" sz="3200" strike="noStrike" u="sng">
                <a:solidFill>
                  <a:srgbClr val="ffff99"/>
                </a:solidFill>
                <a:effectLst/>
                <a:uFillTx/>
                <a:latin typeface="Arial"/>
              </a:rPr>
              <a:t>intoxication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Toxin contaminated food is eaten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Shorter incubation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" dur="indefinite" restart="never" nodeType="tmRoot">
          <p:childTnLst>
            <p:seq>
              <p:cTn id="87" dur="indefinite" nodeType="mainSeq">
                <p:childTnLst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3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9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1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6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12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10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8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9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4" dur="10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5" dur="10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6" dur="10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1" dur="10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2" dur="10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133" dur="10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6668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cc"/>
                </a:solidFill>
                <a:effectLst/>
                <a:uFillTx/>
                <a:latin typeface="Arial Black"/>
              </a:rPr>
              <a:t>FOODBORNE ILLNESS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066680" y="19051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Limiting factors of microbial growth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Time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Temperature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99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Moisture </a:t>
            </a:r>
            <a:r>
              <a:rPr b="0" lang="en-IN" sz="32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(A</a:t>
            </a:r>
            <a:r>
              <a:rPr b="0" lang="en-IN" sz="3200" strike="noStrike" u="none" baseline="-25000">
                <a:solidFill>
                  <a:srgbClr val="ffff99"/>
                </a:solidFill>
                <a:effectLst/>
                <a:uFillTx/>
                <a:latin typeface="Arial"/>
              </a:rPr>
              <a:t>w</a:t>
            </a:r>
            <a:r>
              <a:rPr b="0" lang="en-IN" sz="32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&gt;0.85)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99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pH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Nutrients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Competition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4" dur="indefinite" restart="never" nodeType="tmRoot">
          <p:childTnLst>
            <p:seq>
              <p:cTn id="135" dur="indefinite" nodeType="mainSeq">
                <p:childTnLst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8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1" dur="8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" dur="8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" dur="8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0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20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20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175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371240" y="304920"/>
            <a:ext cx="7162920" cy="66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cc"/>
                </a:solidFill>
                <a:effectLst/>
                <a:uFillTx/>
                <a:latin typeface="Arial Black"/>
              </a:rPr>
              <a:t>FOODBORNE ILLNESS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>
            <a:off x="3657600" y="2362320"/>
            <a:ext cx="2359080" cy="3047760"/>
          </a:xfrm>
          <a:prstGeom prst="rect">
            <a:avLst/>
          </a:prstGeom>
          <a:noFill/>
          <a:ln w="9360">
            <a:solidFill>
              <a:srgbClr val="ffff99"/>
            </a:solidFill>
            <a:miter/>
          </a:ln>
        </p:spPr>
      </p:pic>
      <p:sp>
        <p:nvSpPr>
          <p:cNvPr id="32" name=""/>
          <p:cNvSpPr/>
          <p:nvPr/>
        </p:nvSpPr>
        <p:spPr>
          <a:xfrm>
            <a:off x="6553080" y="2438280"/>
            <a:ext cx="19051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FOOD CONTACT 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SURFACES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781680" y="3429000"/>
            <a:ext cx="12956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VERMIN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990720" y="2438280"/>
            <a:ext cx="1981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FOOD HANDLERS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914400" y="3276720"/>
            <a:ext cx="1981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WATER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990720" y="4267080"/>
            <a:ext cx="175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PACKAGING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90720" y="5029200"/>
            <a:ext cx="1981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INGREDIENTS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858000" y="4267080"/>
            <a:ext cx="1219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SOIL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6858000" y="4952880"/>
            <a:ext cx="10666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AIR</a:t>
            </a:r>
            <a:endParaRPr b="0" lang="en-IN" sz="16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057400" y="1523880"/>
            <a:ext cx="586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2400" strike="noStrike" u="none">
                <a:solidFill>
                  <a:srgbClr val="dfd293"/>
                </a:solidFill>
                <a:effectLst/>
                <a:uFillTx/>
                <a:latin typeface="Tahoma"/>
              </a:rPr>
              <a:t>PATHWAYS OF CONTAMINATION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447920" y="457200"/>
            <a:ext cx="716256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cc"/>
                </a:solidFill>
                <a:effectLst/>
                <a:uFillTx/>
                <a:latin typeface="Arial Black"/>
              </a:rPr>
              <a:t>FOODBORNE ILLNESS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294920" y="2285640"/>
            <a:ext cx="7162920" cy="342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Centers for Disease Control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ffff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Top 4 emerging pathogens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E.coli 0157:H7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Salmonella enteriditis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Listeria monocytogenes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Campylobacter jejuni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6" dur="indefinite" restart="never" nodeType="tmRoot">
          <p:childTnLst>
            <p:seq>
              <p:cTn id="177" dur="indefinite" nodeType="mainSeq">
                <p:childTnLst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187" dur="20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3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4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5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7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8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9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1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2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3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5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210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5" dur="10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" dur="10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7" dur="10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18" dur="10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3" dur="10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" dur="1000" fill="hold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25" dur="10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295280" y="457200"/>
            <a:ext cx="73152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cc"/>
                </a:solidFill>
                <a:effectLst/>
                <a:uFillTx/>
                <a:latin typeface="Arial Black"/>
              </a:rPr>
              <a:t>FOODBORNE ILLNESS</a:t>
            </a:r>
            <a:endParaRPr b="0" lang="en-IN" sz="40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219320" y="2361960"/>
            <a:ext cx="7696080" cy="373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99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CDC estimates: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6.5-33 million FBI cases each year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601"/>
              </a:spcBef>
              <a:buClr>
                <a:srgbClr val="ffff99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Highly under-reported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E.coli causes about 21,000 cases each year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Salmonella causes 2-4 million illnesses/yr.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Campylobacter cause 1-6 million cases/yr.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6" dur="indefinite" restart="never" nodeType="tmRoot">
          <p:childTnLst>
            <p:seq>
              <p:cTn id="227" dur="indefinite" nodeType="mainSeq">
                <p:childTnLst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2" dur="8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3" dur="8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4" dur="8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5" dur="8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2" dur="50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3" dur="50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height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height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20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9" dur="20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0" dur="20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1" dur="20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6" dur="20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7" dur="20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8" dur="20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3" dur="5000" fill="hold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5000" fill="hold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9" dur="5000" fill="hold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0" dur="5000" fill="hold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height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height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/>
          </p:nvPr>
        </p:nvSpPr>
        <p:spPr>
          <a:xfrm>
            <a:off x="1218960" y="2057040"/>
            <a:ext cx="792468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Escherichia coli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cc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Infection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cc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Incubation</a:t>
            </a:r>
            <a:r>
              <a:rPr b="0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: 3-4 days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cc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Symptoms</a:t>
            </a:r>
            <a:r>
              <a:rPr b="0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: diarrhea, vomiting, mild fever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cc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Foods</a:t>
            </a:r>
            <a:r>
              <a:rPr b="0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: undercooked ground beef, unpasteurized cider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cc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Source</a:t>
            </a:r>
            <a:r>
              <a:rPr b="0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: Human and bovine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cc99"/>
                </a:solidFill>
                <a:effectLst/>
                <a:uFillTx/>
                <a:latin typeface="Arial"/>
              </a:rPr>
              <a:t>   intestinal tract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rcRect l="-4173" t="7923" r="5618" b="-2516"/>
          <a:stretch/>
        </p:blipFill>
        <p:spPr>
          <a:xfrm>
            <a:off x="5105520" y="306360"/>
            <a:ext cx="3579840" cy="2749680"/>
          </a:xfrm>
          <a:prstGeom prst="rect">
            <a:avLst/>
          </a:prstGeom>
          <a:noFill/>
          <a:ln w="9360">
            <a:solidFill>
              <a:srgbClr val="ffff99"/>
            </a:solidFill>
            <a:miter/>
          </a:ln>
        </p:spPr>
      </p:pic>
      <p:sp>
        <p:nvSpPr>
          <p:cNvPr id="47" name=""/>
          <p:cNvSpPr/>
          <p:nvPr/>
        </p:nvSpPr>
        <p:spPr>
          <a:xfrm>
            <a:off x="1296360" y="317520"/>
            <a:ext cx="1924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BACTERIA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1" dur="indefinite" restart="never" nodeType="tmRoot">
          <p:childTnLst>
            <p:seq>
              <p:cTn id="272" dur="indefinite" nodeType="mainSeq">
                <p:childTnLst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3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4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9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0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5" dur="500" fill="hold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6" dur="500" fill="hold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7" dur="500" fill="hold"/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500" fill="hold"/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142640" y="228600"/>
            <a:ext cx="20574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BACTERIA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1294920" y="21337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Campylobacter jejuni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Infection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Incubation: 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2-5 days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Symptoms: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diarrhea, vomiting, headache, fever, muscle pain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Foods: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poultry, dairy products, water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Sources: 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intestinal tracts of wild/ domestic animals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2"/>
          <a:srcRect l="22703" t="14677" r="0" b="0"/>
          <a:stretch/>
        </p:blipFill>
        <p:spPr>
          <a:xfrm>
            <a:off x="4422600" y="231840"/>
            <a:ext cx="4324680" cy="1600200"/>
          </a:xfrm>
          <a:prstGeom prst="rect">
            <a:avLst/>
          </a:prstGeom>
          <a:noFill/>
          <a:ln w="9360">
            <a:solidFill>
              <a:srgbClr val="ffff99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5" dur="indefinite" restart="never" nodeType="tmRoot">
          <p:childTnLst>
            <p:seq>
              <p:cTn id="316" dur="indefinite" nodeType="mainSeq">
                <p:childTnLst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2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20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7" dur="20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8" dur="20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3" dur="1000" fill="hold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4" dur="1000" fill="hold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35" dur="10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0" dur="10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1" dur="1000" fill="hold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2" dur="1000" fill="hold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lide(fromTop)" transition="in">
                                      <p:cBhvr additive="repl">
                                        <p:cTn id="347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edge" transition="in">
                                      <p:cBhvr additive="repl">
                                        <p:cTn id="352" dur="2000"/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142640" y="152280"/>
            <a:ext cx="20574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BACTERIA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1294920" y="16765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Salmonella enteriditis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Infection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Incubation: 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12- 36 hours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Symptoms: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abdominal cramps, headache, fever, nausea, diarrhea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Foods: 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poultry, meat, eggs and egg products, sliced melons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Sources: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water, soil, insects, animals, and humans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6064200" y="228600"/>
            <a:ext cx="2624040" cy="3048120"/>
          </a:xfrm>
          <a:prstGeom prst="rect">
            <a:avLst/>
          </a:prstGeom>
          <a:noFill/>
          <a:ln w="9360">
            <a:solidFill>
              <a:srgbClr val="ffff99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3" dur="indefinite" restart="never" nodeType="tmRoot">
          <p:childTnLst>
            <p:seq>
              <p:cTn id="354" dur="indefinite" nodeType="mainSeq">
                <p:childTnLst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9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368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3" dur="5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4" dur="5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75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0" dur="15000" fill="hold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1" dur="15000" fill="hold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0" dur="500" fill="hold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1" dur="500" fill="hold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92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066320" y="152280"/>
            <a:ext cx="20574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BACTERIA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143000" y="1676160"/>
            <a:ext cx="7772400" cy="434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Listeria monocytogenes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Infection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3 to 70 days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flu-like, meningitis, encephalitis, spontaneous abortion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Fetuses, infants, and pregnant women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unpasteurized milk, ice cream, ready-to-eat, lunchmeats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Sources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soil, water, damp environments, domestic/ wild animals (esp. fowl) 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5410080" y="228600"/>
            <a:ext cx="3327480" cy="2662200"/>
          </a:xfrm>
          <a:prstGeom prst="rect">
            <a:avLst/>
          </a:prstGeom>
          <a:noFill/>
          <a:ln w="9360">
            <a:solidFill>
              <a:srgbClr val="ffff99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3" dur="indefinite" restart="never" nodeType="tmRoot">
          <p:childTnLst>
            <p:seq>
              <p:cTn id="394" dur="indefinite" nodeType="mainSeq">
                <p:childTnLst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out)" transition="in">
                                      <p:cBhvr additive="repl">
                                        <p:cTn id="399" dur="2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4" dur="10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5" dur="1000" fill="hold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6" dur="1000" fill="hold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1" dur="500" fill="hold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2" dur="500" fill="hold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3" dur="500" fill="hold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14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9" dur="77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0" dur="770" fill="hold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1" dur="123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22" dur="770" fill="hold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valueType="num" from="(0.5)" to="(#ppt_x)">
                                      <p:cBhvr additive="repl">
                                        <p:cTn id="423" dur="123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4" dur="770" fill="hold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valueType="num" from="(#ppt_y+0.4)" to="(#ppt_y)">
                                      <p:cBhvr additive="repl">
                                        <p:cTn id="425" dur="123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4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432" dur="10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7" dur="1000" fill="hold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8" dur="1000" fill="hold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9" dur="1000" fill="hold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40" dur="10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5" dur="1000" fill="hold"/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6" dur="1000" fill="hold"/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47" dur="1000"/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90360" y="152280"/>
            <a:ext cx="198108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  <a:ea typeface="Tahoma"/>
              </a:rPr>
              <a:t>BACTERIA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7720" y="1905120"/>
            <a:ext cx="85345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Clostridium perfringens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Infection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Forms spores in adverse conditions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10- 12 hours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abdominal pain, nausea, diarrhea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601"/>
              </a:spcBef>
              <a:buClr>
                <a:srgbClr val="ffff99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Fever, headache, vomiting usually absent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Stews, gravies, beans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soil, animal and human intestinal tracts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2"/>
          <a:srcRect l="26250" t="0" r="15502" b="21676"/>
          <a:stretch/>
        </p:blipFill>
        <p:spPr>
          <a:xfrm>
            <a:off x="6021360" y="228600"/>
            <a:ext cx="2658960" cy="2389320"/>
          </a:xfrm>
          <a:prstGeom prst="rect">
            <a:avLst/>
          </a:prstGeom>
          <a:noFill/>
          <a:ln w="25560">
            <a:solidFill>
              <a:srgbClr val="ffff99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8" dur="indefinite" restart="never" nodeType="tmRoot">
          <p:childTnLst>
            <p:seq>
              <p:cTn id="449" dur="indefinite" nodeType="mainSeq">
                <p:childTnLst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4" dur="1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5" dur="4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6" dur="4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7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8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4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5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6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7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8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9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0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1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2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3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4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5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6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1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2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83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8" dur="10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9" dur="1000" fill="hold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90" dur="10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5" dur="10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6" dur="10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7" dur="10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8" dur="1000" fill="hold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0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50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505" dur="1000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1000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11" dur="1000" fill="hold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2" dur="1000" fill="hold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1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66320" y="152280"/>
            <a:ext cx="20574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  <a:ea typeface="Tahoma"/>
              </a:rPr>
              <a:t>BACTERIA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905120"/>
            <a:ext cx="83059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dfd293"/>
                </a:solidFill>
                <a:effectLst/>
                <a:uFillTx/>
                <a:latin typeface="Arial"/>
              </a:rPr>
              <a:t> </a:t>
            </a:r>
            <a:r>
              <a:rPr b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Clostridium botulinum</a:t>
            </a:r>
            <a:endParaRPr b="0" lang="en-IN" sz="3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Intoxication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4 hours to 8 days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vomiting; constipation; difficulty with vision, swallowing, speaking; paralysis, death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baked potatoes, sous vide, garlic/ oil mixtures, low-acid canned foods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present on almost all foods, soil, water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5943600" y="228600"/>
            <a:ext cx="2793960" cy="2233440"/>
          </a:xfrm>
          <a:prstGeom prst="rect">
            <a:avLst/>
          </a:prstGeom>
          <a:noFill/>
          <a:ln w="9360">
            <a:solidFill>
              <a:srgbClr val="ffff99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1" dur="indefinite" restart="never" nodeType="tmRoot">
          <p:childTnLst>
            <p:seq>
              <p:cTn id="532" dur="indefinite" nodeType="mainSeq">
                <p:childTnLst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7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8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9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0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5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6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7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8" dur="500" fill="hold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3" dur="10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4" dur="10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5" dur="1000" fill="hold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6" dur="10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1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2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3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4" dur="500" fill="hold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65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6" fill="hold">
                      <p:stCondLst>
                        <p:cond delay="indefinite"/>
                      </p:stCondLst>
                      <p:childTnLst>
                        <p:par>
                          <p:cTn id="567" fill="hold">
                            <p:stCondLst>
                              <p:cond delay="0"/>
                            </p:stCondLst>
                            <p:childTnLst>
                              <p:par>
                                <p:cTn id="56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0" dur="500" fill="hold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1" dur="500" fill="hold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72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7" dur="500" fill="hold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8" dur="500" fill="hold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79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66680" y="152280"/>
            <a:ext cx="198144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  <a:ea typeface="Tahoma"/>
              </a:rPr>
              <a:t>BACTERIA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62120" y="1371600"/>
            <a:ext cx="5867280" cy="49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dfd293"/>
                </a:solidFill>
                <a:effectLst/>
                <a:uFillTx/>
                <a:latin typeface="Arial"/>
              </a:rPr>
              <a:t> </a:t>
            </a:r>
            <a:r>
              <a:rPr b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Staphylococcus aureus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Intoxication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1 to 7 hours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nausea, retching, abdominal cramps, diarrhea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ready-to-eat, reheated foods, dairy products, protein foods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skin, hair, nose, throat, infected sores, animals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2"/>
          <a:srcRect l="13969" t="14039" r="13107" b="12423"/>
          <a:stretch/>
        </p:blipFill>
        <p:spPr>
          <a:xfrm>
            <a:off x="6172200" y="228600"/>
            <a:ext cx="2743200" cy="2212920"/>
          </a:xfrm>
          <a:prstGeom prst="rect">
            <a:avLst/>
          </a:prstGeom>
          <a:noFill/>
          <a:ln w="2232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0" dur="indefinite" restart="never" nodeType="tmRoot">
          <p:childTnLst>
            <p:seq>
              <p:cTn id="581" dur="indefinite" nodeType="mainSeq">
                <p:childTnLst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6" dur="10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7" dur="10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88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93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8" dur="500" fill="hold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9" dur="500" fill="hold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4" dur="500" fill="hold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5" dur="500" fill="hold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6" dur="500" fill="hold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7" dur="500" fill="hold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2" dur="500" fill="hold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3" dur="500" fill="hold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4" dur="500" fill="hold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5" dur="500" fill="hold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16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1" dur="500" fill="hold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2" dur="500" fill="hold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23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90360" y="0"/>
            <a:ext cx="198108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  <a:ea typeface="Tahoma"/>
              </a:rPr>
              <a:t>BACTERIA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294920" y="16765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Bacillus cereus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Intoxication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30 min. to 6 hours (emetic) and 6 to 15 hours (diarrheal)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nausea, vomiting, watery diarrhea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rice products, starchy foods, casseroles, puddings, soups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IN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soil and dust, cereal crops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5181480" y="228600"/>
            <a:ext cx="3627720" cy="24084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4" dur="indefinite" restart="never" nodeType="tmRoot">
          <p:childTnLst>
            <p:seq>
              <p:cTn id="625" dur="indefinite" nodeType="mainSeq">
                <p:childTnLst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plus(out)" transition="in">
                                      <p:cBhvr additive="repl">
                                        <p:cTn id="630" dur="20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5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6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37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2" dur="1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43" dur="4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4" dur="4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5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6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4)" transition="in">
                                      <p:cBhvr additive="repl">
                                        <p:cTn id="651" dur="20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indefinite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56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1" dur="2000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62" dur="2000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3" dur="2000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4400" y="152280"/>
            <a:ext cx="18288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VIRUSES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294920" y="16765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 Basic characteristics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Need living cell to propagate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Do not reproduce in food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Do not need PHF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Smallest microbial contaminant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Spread usually result of poor hygiene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4" dur="indefinite" restart="never" nodeType="tmRoot">
          <p:childTnLst>
            <p:seq>
              <p:cTn id="665" dur="indefinite" nodeType="mainSeq">
                <p:childTnLst>
                  <p:par>
                    <p:cTn id="666" fill="hold">
                      <p:stCondLst>
                        <p:cond delay="indefinite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id="670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>
                      <p:stCondLst>
                        <p:cond delay="indefinite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5" dur="8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76" dur="8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7" dur="8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8" dur="8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5" dur="150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6" dur="150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indefinite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2)" transition="in">
                                      <p:cBhvr additive="repl">
                                        <p:cTn id="695" dur="2000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0" dur="2000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01" dur="20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2" dur="20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90720" y="0"/>
            <a:ext cx="18288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VIRUSES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294920" y="16765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Hepatitis A</a:t>
            </a:r>
            <a:endParaRPr b="0" lang="en-IN" sz="36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Infection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10-50 days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sudden fever, vomiting, jaundice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water (ice), shellfish, ready-to-eat, fruit juices, vegetables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human intestinal/ urinary tracts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2"/>
          <a:srcRect l="2186" t="13661" r="2186" b="3902"/>
          <a:stretch/>
        </p:blipFill>
        <p:spPr>
          <a:xfrm>
            <a:off x="5411880" y="227160"/>
            <a:ext cx="3425760" cy="2290680"/>
          </a:xfrm>
          <a:prstGeom prst="rect">
            <a:avLst/>
          </a:prstGeom>
          <a:noFill/>
          <a:ln w="936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3" dur="indefinite" restart="never" nodeType="tmRoot">
          <p:childTnLst>
            <p:seq>
              <p:cTn id="704" dur="indefinite" nodeType="mainSeq">
                <p:childTnLst>
                  <p:par>
                    <p:cTn id="705" fill="hold">
                      <p:stCondLst>
                        <p:cond delay="indefinite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9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0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11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fill="hold">
                      <p:stCondLst>
                        <p:cond delay="indefinite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716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indefinite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721" dur="20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2" fill="hold">
                      <p:stCondLst>
                        <p:cond delay="indefinite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6" dur="20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indefinite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1" dur="20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32" dur="20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3" dur="20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>
                      <p:stCondLst>
                        <p:cond delay="indefinite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id="73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8" dur="20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39" dur="20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0" dur="2000" fill="hold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1294920" y="16765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Norwalk virus</a:t>
            </a:r>
            <a:endParaRPr b="0" lang="en-IN" sz="36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Infection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Incubation: </a:t>
            </a: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10-50 hours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Symptoms: </a:t>
            </a: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nausea, diarrhea, headache, mild fever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Foods: </a:t>
            </a: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water, shellfish, raw vegetables and fruits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Source: </a:t>
            </a: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human intestinal tract, water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990720" y="152280"/>
            <a:ext cx="175248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VIRUSES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pic>
        <p:nvPicPr>
          <p:cNvPr id="76" name="" descr=""/>
          <p:cNvPicPr/>
          <p:nvPr/>
        </p:nvPicPr>
        <p:blipFill>
          <a:blip r:embed="rId2"/>
          <a:srcRect l="11322" t="5241" r="9226" b="15087"/>
          <a:stretch/>
        </p:blipFill>
        <p:spPr>
          <a:xfrm>
            <a:off x="5892840" y="384120"/>
            <a:ext cx="2556000" cy="2664000"/>
          </a:xfrm>
          <a:prstGeom prst="rect">
            <a:avLst/>
          </a:prstGeom>
          <a:noFill/>
          <a:ln w="2232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1" dur="indefinite" restart="never" nodeType="tmRoot">
          <p:childTnLst>
            <p:seq>
              <p:cTn id="742" dur="indefinite" nodeType="mainSeq">
                <p:childTnLst>
                  <p:par>
                    <p:cTn id="743" fill="hold">
                      <p:stCondLst>
                        <p:cond delay="indefinite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7" dur="20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8" fill="hold">
                      <p:stCondLst>
                        <p:cond delay="indefinite"/>
                      </p:stCondLst>
                      <p:childTnLst>
                        <p:par>
                          <p:cTn id="749" fill="hold">
                            <p:stCondLst>
                              <p:cond delay="0"/>
                            </p:stCondLst>
                            <p:childTnLst>
                              <p:par>
                                <p:cTn id="75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2" dur="10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3" dur="1000" fill="hold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54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5" fill="hold">
                      <p:stCondLst>
                        <p:cond delay="indefinite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59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0" dur="500" fill="hold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61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2" fill="hold">
                      <p:stCondLst>
                        <p:cond delay="indefinite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6" dur="1000" fill="hold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7" dur="1000" fill="hold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68" dur="10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indefinite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3" dur="5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4" dur="500" fill="hold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75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6" fill="hold">
                      <p:stCondLst>
                        <p:cond delay="indefinite"/>
                      </p:stCondLst>
                      <p:childTnLst>
                        <p:par>
                          <p:cTn id="777" fill="hold">
                            <p:stCondLst>
                              <p:cond delay="0"/>
                            </p:stCondLst>
                            <p:childTnLst>
                              <p:par>
                                <p:cTn id="77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0" dur="1000" fill="hold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1" dur="1000" fill="hold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782" dur="10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990720" y="0"/>
            <a:ext cx="175248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VIRUSES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990720" y="1981080"/>
            <a:ext cx="761976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dfd293"/>
                </a:solidFill>
                <a:effectLst/>
                <a:uFillTx/>
                <a:latin typeface="Arial"/>
              </a:rPr>
              <a:t> </a:t>
            </a:r>
            <a:r>
              <a:rPr b="1" lang="en-IN" sz="36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Rotavirus </a:t>
            </a:r>
            <a:endParaRPr b="0" lang="en-IN" sz="36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Infection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Incubation: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1-3 days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vomiting, diarrhea, mild fever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Foods: 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ready-to-eat, water and ice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Sources: 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human intestinal tract, water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2"/>
          <a:srcRect l="6601" t="2666" r="14743" b="5306"/>
          <a:stretch/>
        </p:blipFill>
        <p:spPr>
          <a:xfrm>
            <a:off x="5640480" y="298440"/>
            <a:ext cx="3038400" cy="2720880"/>
          </a:xfrm>
          <a:prstGeom prst="rect">
            <a:avLst/>
          </a:prstGeom>
          <a:noFill/>
          <a:ln w="2232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3" dur="indefinite" restart="never" nodeType="tmRoot">
          <p:childTnLst>
            <p:seq>
              <p:cTn id="784" dur="indefinite" nodeType="mainSeq">
                <p:childTnLst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9" dur="50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0" dur="50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1" fill="hold">
                      <p:stCondLst>
                        <p:cond delay="indefinite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795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fill="hold">
                      <p:stCondLst>
                        <p:cond delay="indefinite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id="79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0" dur="1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01" dur="400" fill="hold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2" dur="400" fill="hold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3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4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9" dur="10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10" dur="1000" fill="hold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1" dur="1000" fill="hold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6" dur="10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17" dur="1000" fill="hold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8" dur="1000" fill="hold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3" dur="2000"/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90360" y="152280"/>
            <a:ext cx="144756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FUNGI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142640" y="1447560"/>
            <a:ext cx="472428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Molds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Usually </a:t>
            </a:r>
            <a:r>
              <a:rPr b="0" i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spoil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foods, sometimes illness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Sweet, acidic, low A</a:t>
            </a:r>
            <a:r>
              <a:rPr b="0" lang="en-US" sz="2400" strike="noStrike" u="none" baseline="-25000">
                <a:solidFill>
                  <a:srgbClr val="ffff99"/>
                </a:solidFill>
                <a:effectLst/>
                <a:uFillTx/>
                <a:latin typeface="Arial"/>
              </a:rPr>
              <a:t>w 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Some produce aflatoxins (peanuts)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Gorgonzola, bleu, Brie, Camembert cheeses, mushrooms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2"/>
          <a:srcRect l="26878" t="39601" r="0" b="13204"/>
          <a:stretch/>
        </p:blipFill>
        <p:spPr>
          <a:xfrm>
            <a:off x="5635800" y="235080"/>
            <a:ext cx="3203280" cy="2646360"/>
          </a:xfrm>
          <a:prstGeom prst="rect">
            <a:avLst/>
          </a:prstGeom>
          <a:noFill/>
          <a:ln w="936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4" dur="indefinite" restart="never" nodeType="tmRoot">
          <p:childTnLst>
            <p:seq>
              <p:cTn id="825" dur="indefinite" nodeType="mainSeq">
                <p:childTnLst>
                  <p:par>
                    <p:cTn id="826" fill="hold">
                      <p:stCondLst>
                        <p:cond delay="indefinite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830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5" dur="1000" fill="hold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6" dur="1000" fill="hold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37" dur="10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8" fill="hold">
                      <p:stCondLst>
                        <p:cond delay="indefinite"/>
                      </p:stCondLst>
                      <p:childTnLst>
                        <p:par>
                          <p:cTn id="839" fill="hold">
                            <p:stCondLst>
                              <p:cond delay="0"/>
                            </p:stCondLst>
                            <p:childTnLst>
                              <p:par>
                                <p:cTn id="84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842" dur="20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indefinite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7" dur="1000" fill="hold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8" dur="1000" fill="hold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9" dur="1000" fill="hold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0" dur="1000" fill="hold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indefinite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id="85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5" dur="1000" fill="hold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6" dur="1000" fill="hold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7" dur="1000" fill="hold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58" dur="10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144792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ffffcc"/>
                </a:solidFill>
                <a:effectLst/>
                <a:uFillTx/>
                <a:latin typeface="Arial Black"/>
                <a:ea typeface="Tahoma"/>
              </a:rPr>
              <a:t>FUNGI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294920" y="19051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Yeasts </a:t>
            </a:r>
            <a:endParaRPr b="0" lang="en-IN" sz="36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Spoil food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Produce CO</a:t>
            </a:r>
            <a:r>
              <a:rPr b="0" lang="en-IN" sz="2800" strike="noStrike" u="none" baseline="-25000">
                <a:solidFill>
                  <a:srgbClr val="ffff99"/>
                </a:solidFill>
                <a:effectLst/>
                <a:uFillTx/>
                <a:latin typeface="Arial"/>
              </a:rPr>
              <a:t>2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and alcohol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Prefer sweet, acidic, A</a:t>
            </a:r>
            <a:r>
              <a:rPr b="0" lang="en-IN" sz="2800" strike="noStrike" u="none" baseline="-25000">
                <a:solidFill>
                  <a:srgbClr val="ffff99"/>
                </a:solidFill>
                <a:effectLst/>
                <a:uFillTx/>
                <a:latin typeface="Arial"/>
              </a:rPr>
              <a:t>w </a:t>
            </a:r>
            <a:r>
              <a:rPr b="0" lang="en-IN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ffff99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 baseline="-25000">
                <a:solidFill>
                  <a:srgbClr val="ffff99"/>
                </a:solidFill>
                <a:effectLst/>
                <a:uFillTx/>
                <a:latin typeface="Arial"/>
              </a:rPr>
              <a:t>Jams, jellies, syrup, honey, fruit juice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2"/>
          <a:stretch/>
        </p:blipFill>
        <p:spPr>
          <a:xfrm>
            <a:off x="4648320" y="304920"/>
            <a:ext cx="3962160" cy="2766960"/>
          </a:xfrm>
          <a:prstGeom prst="rect">
            <a:avLst/>
          </a:prstGeom>
          <a:noFill/>
          <a:ln w="22320">
            <a:solidFill>
              <a:srgbClr val="ffffcc"/>
            </a:solidFill>
            <a:miter/>
          </a:ln>
        </p:spPr>
      </p:pic>
      <p:sp>
        <p:nvSpPr>
          <p:cNvPr id="86" name=""/>
          <p:cNvSpPr/>
          <p:nvPr/>
        </p:nvSpPr>
        <p:spPr>
          <a:xfrm>
            <a:off x="6172200" y="3124080"/>
            <a:ext cx="25146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dfd293"/>
                </a:solidFill>
                <a:effectLst/>
                <a:uFillTx/>
                <a:latin typeface="Tahoma"/>
              </a:rPr>
              <a:t>Yeast colony growing on pizza</a:t>
            </a:r>
            <a:endParaRPr b="0" lang="en-IN" sz="1200" strike="noStrike" u="none">
              <a:solidFill>
                <a:srgbClr val="ffffcc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9" dur="indefinite" restart="never" nodeType="tmRoot">
          <p:childTnLst>
            <p:seq>
              <p:cTn id="860" dur="indefinite" nodeType="mainSeq">
                <p:childTnLst>
                  <p:par>
                    <p:cTn id="861" fill="hold">
                      <p:stCondLst>
                        <p:cond delay="indefinite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5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6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7" fill="hold">
                      <p:stCondLst>
                        <p:cond delay="indefinite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1" dur="500" fill="hold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2" dur="500" fill="hold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3" fill="hold">
                      <p:stCondLst>
                        <p:cond delay="indefinite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7" dur="500" fill="hold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8" dur="500" fill="hold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9" fill="hold">
                      <p:stCondLst>
                        <p:cond delay="indefinite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3" dur="500" fill="hold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4" dur="500" fill="hold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5" fill="hold">
                      <p:stCondLst>
                        <p:cond delay="indefinite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89" dur="500" fill="hold"/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0" dur="500" fill="hold"/>
                                        <p:tgtEl>
                                          <p:spTgt spid="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4400" y="152280"/>
            <a:ext cx="220968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PARASITES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294920" y="1676520"/>
            <a:ext cx="7162920" cy="441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6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Basic characteristics</a:t>
            </a:r>
            <a:endParaRPr b="0" lang="en-IN" sz="36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Living organisms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Require a host 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Usually killed by freezing (and cooking)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ffffcc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Normal fauna in many animals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601"/>
              </a:spcBef>
              <a:buClr>
                <a:srgbClr val="ffffcc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Hogs, cats, rodents, fish, etc.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1" dur="indefinite" restart="never" nodeType="tmRoot">
          <p:childTnLst>
            <p:seq>
              <p:cTn id="892" dur="indefinite" nodeType="mainSeq">
                <p:childTnLst>
                  <p:par>
                    <p:cTn id="893" fill="hold">
                      <p:stCondLst>
                        <p:cond delay="indefinite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id="89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97" dur="5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8" dur="5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9" dur="5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00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1" fill="hold">
                      <p:stCondLst>
                        <p:cond delay="indefinite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5" fill="hold">
                      <p:stCondLst>
                        <p:cond delay="indefinite"/>
                      </p:stCondLst>
                      <p:childTnLst>
                        <p:par>
                          <p:cTn id="906" fill="hold">
                            <p:stCondLst>
                              <p:cond delay="0"/>
                            </p:stCondLst>
                            <p:childTnLst>
                              <p:par>
                                <p:cTn id="90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9" dur="100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10" dur="400" fill="hold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1" dur="400" fill="hold"/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2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3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4" fill="hold">
                      <p:stCondLst>
                        <p:cond delay="indefinite"/>
                      </p:stCondLst>
                      <p:childTnLst>
                        <p:par>
                          <p:cTn id="915" fill="hold">
                            <p:stCondLst>
                              <p:cond delay="0"/>
                            </p:stCondLst>
                            <p:childTnLst>
                              <p:par>
                                <p:cTn id="91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18" dur="500" fill="hold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9" dur="500" fill="hold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0" dur="500" fill="hold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1" dur="500" fill="hold"/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2" fill="hold">
                      <p:stCondLst>
                        <p:cond delay="indefinite"/>
                      </p:stCondLst>
                      <p:childTnLst>
                        <p:par>
                          <p:cTn id="923" fill="hold">
                            <p:stCondLst>
                              <p:cond delay="0"/>
                            </p:stCondLst>
                            <p:childTnLst>
                              <p:par>
                                <p:cTn id="924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9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27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8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9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0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1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2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3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4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5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6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7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8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9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0" fill="hold">
                      <p:stCondLst>
                        <p:cond delay="indefinite"/>
                      </p:stCondLst>
                      <p:childTnLst>
                        <p:par>
                          <p:cTn id="941" fill="hold">
                            <p:stCondLst>
                              <p:cond delay="0"/>
                            </p:stCondLst>
                            <p:childTnLst>
                              <p:par>
                                <p:cTn id="94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44" dur="500"/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228600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PARASITES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21337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Trichinella spiralis</a:t>
            </a:r>
            <a:endParaRPr b="0" lang="en-IN" sz="36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Roundworm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2-28 days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flu-like, swelling around eyes, extreme sweating, hemorrhaging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undercooked pork, game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domestic pigs, bear, walrus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2"/>
          <a:srcRect l="9189" t="5760" r="4505" b="5760"/>
          <a:stretch/>
        </p:blipFill>
        <p:spPr>
          <a:xfrm>
            <a:off x="5361120" y="236520"/>
            <a:ext cx="3257280" cy="2594160"/>
          </a:xfrm>
          <a:prstGeom prst="rect">
            <a:avLst/>
          </a:prstGeom>
          <a:noFill/>
          <a:ln w="1908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5" dur="indefinite" restart="never" nodeType="tmRoot">
          <p:childTnLst>
            <p:seq>
              <p:cTn id="946" dur="indefinite" nodeType="mainSeq">
                <p:childTnLst>
                  <p:par>
                    <p:cTn id="947" fill="hold">
                      <p:stCondLst>
                        <p:cond delay="indefinite"/>
                      </p:stCondLst>
                      <p:childTnLst>
                        <p:par>
                          <p:cTn id="948" fill="hold">
                            <p:stCondLst>
                              <p:cond delay="0"/>
                            </p:stCondLst>
                            <p:childTnLst>
                              <p:par>
                                <p:cTn id="94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95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952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53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sum">
                                        <p:cTn id="954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indefinite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59" dur="500" fill="hold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0" dur="500" fill="hold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1" dur="500" fill="hold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2" dur="500" fill="hold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63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4" fill="hold">
                      <p:stCondLst>
                        <p:cond delay="indefinite"/>
                      </p:stCondLst>
                      <p:childTnLst>
                        <p:par>
                          <p:cTn id="965" fill="hold">
                            <p:stCondLst>
                              <p:cond delay="0"/>
                            </p:stCondLst>
                            <p:childTnLst>
                              <p:par>
                                <p:cTn id="96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8" dur="1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69" dur="400" fill="hold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0" dur="400" fill="hold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1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2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3" fill="hold">
                      <p:stCondLst>
                        <p:cond delay="indefinite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7" dur="10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78" dur="1000" fill="hold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9" dur="1000" fill="hold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0" fill="hold">
                      <p:stCondLst>
                        <p:cond delay="indefinite"/>
                      </p:stCondLst>
                      <p:childTnLst>
                        <p:par>
                          <p:cTn id="981" fill="hold">
                            <p:stCondLst>
                              <p:cond delay="0"/>
                            </p:stCondLst>
                            <p:childTnLst>
                              <p:par>
                                <p:cTn id="98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4" dur="20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5" fill="hold">
                      <p:stCondLst>
                        <p:cond delay="indefinite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9" dur="500" fill="hold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0" dur="500" fill="hold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1" dur="500" fill="hold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2" dur="500" fill="hold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93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90720" y="152280"/>
            <a:ext cx="213336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PARASITES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762120" y="2057040"/>
            <a:ext cx="777240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 Anisakis simplex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Roundworm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hours to 2 weeks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tickle in throat, coughing up worms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undercooked, improperly frozen seafood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marine fish- bottom feeders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2"/>
          <a:srcRect l="2105" t="17653" r="33453" b="27160"/>
          <a:stretch/>
        </p:blipFill>
        <p:spPr>
          <a:xfrm>
            <a:off x="5484960" y="241200"/>
            <a:ext cx="2973240" cy="2718000"/>
          </a:xfrm>
          <a:prstGeom prst="rect">
            <a:avLst/>
          </a:prstGeom>
          <a:noFill/>
          <a:ln w="1908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4" dur="indefinite" restart="never" nodeType="tmRoot">
          <p:childTnLst>
            <p:seq>
              <p:cTn id="995" dur="indefinite" nodeType="mainSeq">
                <p:childTnLst>
                  <p:par>
                    <p:cTn id="996" fill="hold">
                      <p:stCondLst>
                        <p:cond delay="indefinite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00" dur="5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1" dur="5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2" dur="5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03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4" fill="hold">
                      <p:stCondLst>
                        <p:cond delay="indefinite"/>
                      </p:stCondLst>
                      <p:childTnLst>
                        <p:par>
                          <p:cTn id="1005" fill="hold">
                            <p:stCondLst>
                              <p:cond delay="0"/>
                            </p:stCondLst>
                            <p:childTnLst>
                              <p:par>
                                <p:cTn id="100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8" dur="8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09" dur="800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0" dur="800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1" dur="800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4" fill="hold">
                      <p:stCondLst>
                        <p:cond delay="indefinite"/>
                      </p:stCondLst>
                      <p:childTnLst>
                        <p:par>
                          <p:cTn id="1015" fill="hold">
                            <p:stCondLst>
                              <p:cond delay="0"/>
                            </p:stCondLst>
                            <p:childTnLst>
                              <p:par>
                                <p:cTn id="101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18" dur="5000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9" dur="5000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height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height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indefinite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24" dur="500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5" dur="500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6" fill="hold">
                      <p:stCondLst>
                        <p:cond delay="indefinite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0" dur="1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31" dur="400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2" dur="400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3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4" dur="6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5" fill="hold">
                      <p:stCondLst>
                        <p:cond delay="indefinite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9" dur="1000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40" dur="1000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1" dur="900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2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14040" y="0"/>
            <a:ext cx="213372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PARASITES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85440" y="2133720"/>
            <a:ext cx="716292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dfd293"/>
                </a:solidFill>
                <a:effectLst/>
                <a:uFillTx/>
                <a:latin typeface="Arial"/>
              </a:rPr>
              <a:t>    </a:t>
            </a:r>
            <a:r>
              <a:rPr b="1" lang="en-US" sz="36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Giardia lamblia</a:t>
            </a:r>
            <a:endParaRPr b="0" lang="en-IN" sz="36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Protozoan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Incubation: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 3-25 days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fatigue, nausea, gas, weight loss, abdominal cramps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water, ice, raw vegetables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US" sz="28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beavers, bears, dogs, cats, humans</a:t>
            </a:r>
            <a:endParaRPr b="0" lang="en-IN" sz="28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2"/>
          <a:srcRect l="5538" t="4493" r="6038" b="11030"/>
          <a:stretch/>
        </p:blipFill>
        <p:spPr>
          <a:xfrm>
            <a:off x="5780160" y="158760"/>
            <a:ext cx="2836800" cy="3340080"/>
          </a:xfrm>
          <a:prstGeom prst="rect">
            <a:avLst/>
          </a:prstGeom>
          <a:noFill/>
          <a:ln w="2556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3" dur="indefinite" restart="never" nodeType="tmRoot">
          <p:childTnLst>
            <p:seq>
              <p:cTn id="1044" dur="indefinite" nodeType="mainSeq">
                <p:childTnLst>
                  <p:par>
                    <p:cTn id="1045" fill="hold">
                      <p:stCondLst>
                        <p:cond delay="indefinite"/>
                      </p:stCondLst>
                      <p:childTnLst>
                        <p:par>
                          <p:cTn id="1046" fill="hold">
                            <p:stCondLst>
                              <p:cond delay="0"/>
                            </p:stCondLst>
                            <p:childTnLst>
                              <p:par>
                                <p:cTn id="104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49" dur="5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0" dur="5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1" fill="hold">
                      <p:stCondLst>
                        <p:cond delay="indefinite"/>
                      </p:stCondLst>
                      <p:childTnLst>
                        <p:par>
                          <p:cTn id="1052" fill="hold">
                            <p:stCondLst>
                              <p:cond delay="0"/>
                            </p:stCondLst>
                            <p:childTnLst>
                              <p:par>
                                <p:cTn id="105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55" dur="500" fill="hold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6" dur="500" fill="hold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7" dur="500" fill="hold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8" dur="500" fill="hold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59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indefinite"/>
                      </p:stCondLst>
                      <p:childTnLst>
                        <p:par>
                          <p:cTn id="1061" fill="hold">
                            <p:stCondLst>
                              <p:cond delay="0"/>
                            </p:stCondLst>
                            <p:childTnLst>
                              <p:par>
                                <p:cTn id="106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4" dur="10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65" dur="1000" fill="hold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6" dur="1000" fill="hold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7" fill="hold">
                      <p:stCondLst>
                        <p:cond delay="indefinite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id="1069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 from="(-#ppt_w/2)" to="(#ppt_x)">
                                      <p:cBhvr additive="repl">
                                        <p:cTn id="107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valueType="num" from="0" to="-1">
                                      <p:cBhvr additive="repl">
                                        <p:cTn id="1072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073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calcmode="lin" valueType="num" by="(#ppt_h/3+#ppt_w*0.1)">
                                      <p:cBhvr additive="sum">
                                        <p:cTn id="1074" dur="2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5" fill="hold">
                      <p:stCondLst>
                        <p:cond delay="indefinite"/>
                      </p:stCondLst>
                      <p:childTnLst>
                        <p:par>
                          <p:cTn id="1076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1079" dur="2000"/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indefinite"/>
                      </p:stCondLst>
                      <p:childTnLst>
                        <p:par>
                          <p:cTn id="1081" fill="hold">
                            <p:stCondLst>
                              <p:cond delay="0"/>
                            </p:stCondLst>
                            <p:childTnLst>
                              <p:par>
                                <p:cTn id="108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o>
                                        <p:strVal val="-45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45"/>
                                          </p:val>
                                        </p:tav>
                                        <p:tav tm="69900">
                                          <p:val>
                                            <p:strVal val="45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7" dur="156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66320" y="152280"/>
            <a:ext cx="221004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PARASITES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213372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dfd293"/>
                </a:solidFill>
                <a:effectLst/>
                <a:uFillTx/>
                <a:latin typeface="Arial"/>
              </a:rPr>
              <a:t>  </a:t>
            </a:r>
            <a:r>
              <a:rPr b="1" lang="en-US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Cryptosporidium parvum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Protozoan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Incubation: 1-12 days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Symptoms: 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severe diarrhea, may have no symptoms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water, raw foods, unpasteurized cider, ready-to-eat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humans, cattle, barn-wash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2"/>
          <a:srcRect l="13273" t="10774" r="15048" b="13850"/>
          <a:stretch/>
        </p:blipFill>
        <p:spPr>
          <a:xfrm>
            <a:off x="6248520" y="228600"/>
            <a:ext cx="2571480" cy="2666880"/>
          </a:xfrm>
          <a:prstGeom prst="rect">
            <a:avLst/>
          </a:prstGeom>
          <a:noFill/>
          <a:ln w="2556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89" dur="indefinite" restart="never" nodeType="tmRoot">
          <p:childTnLst>
            <p:seq>
              <p:cTn id="1090" dur="indefinite" nodeType="mainSeq">
                <p:childTnLst>
                  <p:par>
                    <p:cTn id="1091" fill="hold">
                      <p:stCondLst>
                        <p:cond delay="indefinite"/>
                      </p:stCondLst>
                      <p:childTnLst>
                        <p:par>
                          <p:cTn id="1092" fill="hold">
                            <p:stCondLst>
                              <p:cond delay="0"/>
                            </p:stCondLst>
                            <p:childTnLst>
                              <p:par>
                                <p:cTn id="109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5" dur="20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6" fill="hold">
                      <p:stCondLst>
                        <p:cond delay="indefinite"/>
                      </p:stCondLst>
                      <p:childTnLst>
                        <p:par>
                          <p:cTn id="1097" fill="hold">
                            <p:stCondLst>
                              <p:cond delay="0"/>
                            </p:stCondLst>
                            <p:childTnLst>
                              <p:par>
                                <p:cTn id="109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4)" transition="in">
                                      <p:cBhvr additive="repl">
                                        <p:cTn id="1100" dur="20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1" fill="hold">
                      <p:stCondLst>
                        <p:cond delay="indefinite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5" dur="10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06" dur="10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7" dur="1000" fill="hold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8" fill="hold">
                      <p:stCondLst>
                        <p:cond delay="indefinite"/>
                      </p:stCondLst>
                      <p:childTnLst>
                        <p:par>
                          <p:cTn id="1109" fill="hold">
                            <p:stCondLst>
                              <p:cond delay="0"/>
                            </p:stCondLst>
                            <p:childTnLst>
                              <p:par>
                                <p:cTn id="1110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12" dur="10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3" dur="10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-1"/>
                                          </p:val>
                                        </p:tav>
                                        <p:tav tm="50000">
                                          <p:val>
                                            <p:str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4" dur="1000" fill="hold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15" dur="10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6" fill="hold">
                      <p:stCondLst>
                        <p:cond delay="indefinite"/>
                      </p:stCondLst>
                      <p:childTnLst>
                        <p:par>
                          <p:cTn id="1117" fill="hold">
                            <p:stCondLst>
                              <p:cond delay="0"/>
                            </p:stCondLst>
                            <p:childTnLst>
                              <p:par>
                                <p:cTn id="111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0" fill="hold">
                      <p:stCondLst>
                        <p:cond delay="indefinite"/>
                      </p:stCondLst>
                      <p:childTnLst>
                        <p:par>
                          <p:cTn id="1121" fill="hold">
                            <p:stCondLst>
                              <p:cond delay="0"/>
                            </p:stCondLst>
                            <p:childTnLst>
                              <p:par>
                                <p:cTn id="112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4" dur="10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25" dur="10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26" dur="1000" fill="hold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2209680" cy="99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trike="noStrike" u="none">
                <a:solidFill>
                  <a:srgbClr val="dfd293"/>
                </a:solidFill>
                <a:effectLst/>
                <a:uFillTx/>
                <a:latin typeface="Arial Black"/>
              </a:rPr>
              <a:t>PARASITES</a:t>
            </a:r>
            <a:endParaRPr b="0" lang="en-IN" sz="2400" strike="noStrike" u="none">
              <a:solidFill>
                <a:srgbClr val="dfd293"/>
              </a:solidFill>
              <a:effectLst/>
              <a:uFillTx/>
              <a:latin typeface="Arial Black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85800" y="22860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dfd293"/>
                </a:solidFill>
                <a:effectLst/>
                <a:uFillTx/>
                <a:latin typeface="Arial"/>
              </a:rPr>
              <a:t>   </a:t>
            </a:r>
            <a:r>
              <a:rPr b="1" lang="en-US" sz="32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Cyclospora cayetanensis</a:t>
            </a:r>
            <a:endParaRPr b="0" lang="en-IN" sz="32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Protozoan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Incubation: 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days to weeks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Symptoms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watery diarrhea, weight loss, bloating, cramps, vomiting, muscle aches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Foods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water, marine fish, raw milk, raw produce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ffff99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Source</a:t>
            </a:r>
            <a:r>
              <a:rPr b="0" lang="en-US" sz="2400" strike="noStrike" u="none">
                <a:solidFill>
                  <a:srgbClr val="ffff99"/>
                </a:solidFill>
                <a:effectLst/>
                <a:uFillTx/>
                <a:latin typeface="Arial"/>
              </a:rPr>
              <a:t>: humans, water</a:t>
            </a:r>
            <a:endParaRPr b="0" lang="en-IN" sz="2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2"/>
          <a:srcRect l="7153" t="21040" r="10659" b="15012"/>
          <a:stretch/>
        </p:blipFill>
        <p:spPr>
          <a:xfrm>
            <a:off x="6383160" y="404640"/>
            <a:ext cx="2428920" cy="2240280"/>
          </a:xfrm>
          <a:prstGeom prst="rect">
            <a:avLst/>
          </a:prstGeom>
          <a:noFill/>
          <a:ln w="22320">
            <a:solidFill>
              <a:srgbClr val="ffff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27" dur="indefinite" restart="never" nodeType="tmRoot">
          <p:childTnLst>
            <p:seq>
              <p:cTn id="1128" dur="indefinite" nodeType="mainSeq">
                <p:childTnLst>
                  <p:par>
                    <p:cTn id="1129" fill="hold">
                      <p:stCondLst>
                        <p:cond delay="indefinite"/>
                      </p:stCondLst>
                      <p:childTnLst>
                        <p:par>
                          <p:cTn id="1130" fill="hold">
                            <p:stCondLst>
                              <p:cond delay="0"/>
                            </p:stCondLst>
                            <p:childTnLst>
                              <p:par>
                                <p:cTn id="1131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outVertical)" transition="in">
                                      <p:cBhvr additive="repl">
                                        <p:cTn id="1133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4" fill="hold">
                      <p:stCondLst>
                        <p:cond delay="indefinite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8" dur="20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39" dur="20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0" dur="2000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1" fill="hold">
                      <p:stCondLst>
                        <p:cond delay="indefinite"/>
                      </p:stCondLst>
                      <p:childTnLst>
                        <p:par>
                          <p:cTn id="1142" fill="hold">
                            <p:stCondLst>
                              <p:cond delay="0"/>
                            </p:stCondLst>
                            <p:childTnLst>
                              <p:par>
                                <p:cTn id="1143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out)" transition="in">
                                      <p:cBhvr additive="repl">
                                        <p:cTn id="1145" dur="20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6" fill="hold">
                      <p:stCondLst>
                        <p:cond delay="indefinite"/>
                      </p:stCondLst>
                      <p:childTnLst>
                        <p:par>
                          <p:cTn id="1147" fill="hold">
                            <p:stCondLst>
                              <p:cond delay="0"/>
                            </p:stCondLst>
                            <p:childTnLst>
                              <p:par>
                                <p:cTn id="1148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0" dur="20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51" dur="2000" fill="hold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2" dur="2000" fill="hold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3" fill="hold">
                      <p:stCondLst>
                        <p:cond delay="indefinite"/>
                      </p:stCondLst>
                      <p:childTnLst>
                        <p:par>
                          <p:cTn id="1154" fill="hold">
                            <p:stCondLst>
                              <p:cond delay="0"/>
                            </p:stCondLst>
                            <p:childTnLst>
                              <p:par>
                                <p:cTn id="1155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7" dur="500" fill="hold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8" dur="500" fill="hold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59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0" fill="hold">
                      <p:stCondLst>
                        <p:cond delay="indefinite"/>
                      </p:stCondLst>
                      <p:childTnLst>
                        <p:par>
                          <p:cTn id="1161" fill="hold">
                            <p:stCondLst>
                              <p:cond delay="0"/>
                            </p:stCondLst>
                            <p:childTnLst>
                              <p:par>
                                <p:cTn id="1162" nodeType="clickEffect" fill="hold" presetClass="entr" presetID="2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64" dur="1000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5" dur="1000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6" dur="1000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x+(cos(-2*pi*(1-$))*-x-sin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x+(cos(-2*pi*(1-$))*-x-sin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7" dur="1000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+(sin(-2*pi*(1-$))*-x+cos(-2*pi*(1-$))*(1-y))*(1-$)" tm="0">
                                          <p:val>
                                            <p:strVal val="0"/>
                                          </p:val>
                                        </p:tav>
                                        <p:tav fmla="y+(sin(-2*pi*(1-$))*-x+cos(-2*pi*(1-$))*(1-y))*(1-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944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2000-11-30T08:48:14Z</dcterms:created>
  <dc:creator>KEN</dc:creator>
  <dc:description/>
  <dc:language>en-IN</dc:language>
  <cp:lastModifiedBy>DDWEM</cp:lastModifiedBy>
  <dcterms:modified xsi:type="dcterms:W3CDTF">2004-09-20T13:01:37Z</dcterms:modified>
  <cp:revision>19</cp:revision>
  <dc:subject/>
  <dc:title>Food Borne Illness Training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bstract">
    <vt:lpwstr>Food Borne Illness Training</vt:lpwstr>
  </property>
  <property fmtid="{D5CDD505-2E9C-101B-9397-08002B2CF9AE}" pid="3" name="ContentType">
    <vt:lpwstr>CDPH Document</vt:lpwstr>
  </property>
  <property fmtid="{D5CDD505-2E9C-101B-9397-08002B2CF9AE}" pid="4" name="HealthPubTopics">
    <vt:lpwstr/>
  </property>
  <property fmtid="{D5CDD505-2E9C-101B-9397-08002B2CF9AE}" pid="5" name="Language">
    <vt:lpwstr>English</vt:lpwstr>
  </property>
  <property fmtid="{D5CDD505-2E9C-101B-9397-08002B2CF9AE}" pid="6" name="Nav">
    <vt:lpwstr/>
  </property>
  <property fmtid="{D5CDD505-2E9C-101B-9397-08002B2CF9AE}" pid="7" name="Organization">
    <vt:lpwstr>71</vt:lpwstr>
  </property>
  <property fmtid="{D5CDD505-2E9C-101B-9397-08002B2CF9AE}" pid="8" name="Publication Type">
    <vt:lpwstr/>
  </property>
  <property fmtid="{D5CDD505-2E9C-101B-9397-08002B2CF9AE}" pid="9" name="PublishingContactName">
    <vt:lpwstr/>
  </property>
  <property fmtid="{D5CDD505-2E9C-101B-9397-08002B2CF9AE}" pid="10" name="PublishingExpirationDate">
    <vt:lpwstr/>
  </property>
  <property fmtid="{D5CDD505-2E9C-101B-9397-08002B2CF9AE}" pid="11" name="PublishingStartDate">
    <vt:lpwstr/>
  </property>
  <property fmtid="{D5CDD505-2E9C-101B-9397-08002B2CF9AE}" pid="12" name="Reading Level">
    <vt:lpwstr/>
  </property>
  <property fmtid="{D5CDD505-2E9C-101B-9397-08002B2CF9AE}" pid="13" name="Target Audience Group">
    <vt:lpwstr/>
  </property>
  <property fmtid="{D5CDD505-2E9C-101B-9397-08002B2CF9AE}" pid="14" name="TemplateUrl">
    <vt:lpwstr/>
  </property>
  <property fmtid="{D5CDD505-2E9C-101B-9397-08002B2CF9AE}" pid="15" name="Topics">
    <vt:lpwstr/>
  </property>
  <property fmtid="{D5CDD505-2E9C-101B-9397-08002B2CF9AE}" pid="16" name="_SharedFileIndex">
    <vt:lpwstr/>
  </property>
  <property fmtid="{D5CDD505-2E9C-101B-9397-08002B2CF9AE}" pid="17" name="_SourceUrl">
    <vt:lpwstr/>
  </property>
  <property fmtid="{D5CDD505-2E9C-101B-9397-08002B2CF9AE}" pid="18" name="display_urn:schemas-microsoft-com:office:office#Author">
    <vt:lpwstr>System Account</vt:lpwstr>
  </property>
  <property fmtid="{D5CDD505-2E9C-101B-9397-08002B2CF9AE}" pid="19" name="display_urn:schemas-microsoft-com:office:office#Editor">
    <vt:lpwstr>System Account</vt:lpwstr>
  </property>
  <property fmtid="{D5CDD505-2E9C-101B-9397-08002B2CF9AE}" pid="20" name="xd_ProgID">
    <vt:lpwstr/>
  </property>
  <property fmtid="{D5CDD505-2E9C-101B-9397-08002B2CF9AE}" pid="21" name="xd_Signature">
    <vt:lpwstr/>
  </property>
</Properties>
</file>