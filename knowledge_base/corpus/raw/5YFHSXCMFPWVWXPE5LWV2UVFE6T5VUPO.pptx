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1.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9.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_rels/notesSlide9.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6.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_rels/notesSlide3.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13.xml.rels" ContentType="application/vnd.openxmlformats-package.relationships+xml"/>
  <Override PartName="/ppt/notesSlides/_rels/notesSlide14.xml.rels" ContentType="application/vnd.openxmlformats-package.relationships+xml"/>
  <Override PartName="/ppt/notesSlides/_rels/notesSlide15.xml.rels" ContentType="application/vnd.openxmlformats-package.relationships+xml"/>
  <Override PartName="/ppt/notesSlides/_rels/notesSlide16.xml.rels" ContentType="application/vnd.openxmlformats-package.relationships+xml"/>
  <Override PartName="/ppt/notesSlides/_rels/notesSlide17.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1.xml.rels" ContentType="application/vnd.openxmlformats-package.relationships+xml"/>
  <Override PartName="/ppt/notesSlides/_rels/notesSlide22.xml.rels" ContentType="application/vnd.openxmlformats-package.relationships+xml"/>
  <Override PartName="/ppt/notesSlides/_rels/notesSlide23.xml.rels" ContentType="application/vnd.openxmlformats-package.relationships+xml"/>
  <Override PartName="/ppt/notesSlides/_rels/notesSlide24.xml.rels" ContentType="application/vnd.openxmlformats-package.relationships+xml"/>
  <Override PartName="/ppt/notesSlides/_rels/notesSlide25.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28.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32.xml.rels" ContentType="application/vnd.openxmlformats-package.relationships+xml"/>
  <Override PartName="/ppt/notesSlides/_rels/notesSlide33.xml.rels" ContentType="application/vnd.openxmlformats-package.relationships+xml"/>
  <Override PartName="/ppt/notesSlides/_rels/notesSlide34.xml.rels" ContentType="application/vnd.openxmlformats-package.relationships+xml"/>
  <Override PartName="/ppt/notesSlides/_rels/notesSlide35.xml.rels" ContentType="application/vnd.openxmlformats-package.relationships+xml"/>
  <Override PartName="/ppt/notesSlides/_rels/notesSlide36.xml.rels" ContentType="application/vnd.openxmlformats-package.relationships+xml"/>
  <Override PartName="/ppt/notesSlides/_rels/notesSlide37.xml.rels" ContentType="application/vnd.openxmlformats-package.relationships+xml"/>
  <Override PartName="/ppt/notesSlides/_rels/notesSlide38.xml.rels" ContentType="application/vnd.openxmlformats-package.relationships+xml"/>
  <Override PartName="/ppt/notesSlides/_rels/notesSlide39.xml.rels" ContentType="application/vnd.openxmlformats-package.relationships+xml"/>
  <Override PartName="/ppt/notesSlides/_rels/notesSlide40.xml.rels" ContentType="application/vnd.openxmlformats-package.relationships+xml"/>
  <Override PartName="/ppt/notesSlides/_rels/notesSlide41.xml.rels" ContentType="application/vnd.openxmlformats-package.relationship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23.xml" ContentType="application/vnd.openxmlformats-officedocument.presentationml.slide+xml"/>
  <Override PartName="/ppt/slides/slide7.xml" ContentType="application/vnd.openxmlformats-officedocument.presentationml.slide+xml"/>
  <Override PartName="/ppt/slides/slide24.xml" ContentType="application/vnd.openxmlformats-officedocument.presentationml.slide+xml"/>
  <Override PartName="/ppt/slides/slide8.xml" ContentType="application/vnd.openxmlformats-officedocument.presentationml.slide+xml"/>
  <Override PartName="/ppt/slides/slide25.xml" ContentType="application/vnd.openxmlformats-officedocument.presentationml.slide+xml"/>
  <Override PartName="/ppt/slides/slide9.xml" ContentType="application/vnd.openxmlformats-officedocument.presentationml.slide+xml"/>
  <Override PartName="/ppt/slides/slide26.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_rels/slide35.xml.rels" ContentType="application/vnd.openxmlformats-package.relationships+xml"/>
  <Override PartName="/ppt/slides/_rels/slide1.xml.rels" ContentType="application/vnd.openxmlformats-package.relationships+xml"/>
  <Override PartName="/ppt/slides/_rels/slide22.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0.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38.xml.rels" ContentType="application/vnd.openxmlformats-package.relationships+xml"/>
  <Override PartName="/ppt/slides/_rels/slide5.xml.rels" ContentType="application/vnd.openxmlformats-package.relationships+xml"/>
  <Override PartName="/ppt/slides/_rels/slide39.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25.xml.rels" ContentType="application/vnd.openxmlformats-package.relationships+xml"/>
  <Override PartName="/ppt/slides/_rels/slide8.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9.xml.rels" ContentType="application/vnd.openxmlformats-package.relationships+xml"/>
  <Override PartName="/ppt/slides/_rels/slide27.xml.rels" ContentType="application/vnd.openxmlformats-package.relationships+xml"/>
  <Override PartName="/ppt/slides/_rels/slide28.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media/image1.wmf" ContentType="image/x-wmf"/>
  <Override PartName="/ppt/media/image2.png" ContentType="image/png"/>
  <Override PartName="/ppt/media/image3.wmf" ContentType="image/x-wmf"/>
  <Override PartName="/ppt/media/image4.wmf" ContentType="image/x-wmf"/>
  <Override PartName="/ppt/media/image5.wmf" ContentType="image/x-wmf"/>
  <Override PartName="/ppt/media/image6.wmf" ContentType="image/x-wmf"/>
  <Override PartName="/ppt/media/image7.wmf" ContentType="image/x-wmf"/>
  <Override PartName="/ppt/media/image8.wmf" ContentType="image/x-wmf"/>
  <Override PartName="/ppt/media/image9.wmf" ContentType="image/x-wmf"/>
  <Override PartName="/ppt/media/image10.wmf" ContentType="image/x-wmf"/>
  <Override PartName="/ppt/media/image11.wmf" ContentType="image/x-wmf"/>
  <Override PartName="/ppt/media/image12.wmf" ContentType="image/x-wmf"/>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Lst>
  <p:sldSz cx="6099175" cy="4572000"/>
  <p:notesSz cx="7008813" cy="9294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 name=""/>
          <p:cNvSpPr/>
          <p:nvPr/>
        </p:nvSpPr>
        <p:spPr>
          <a:xfrm>
            <a:off x="0" y="0"/>
            <a:ext cx="7009200" cy="9295200"/>
          </a:xfrm>
          <a:prstGeom prst="rect">
            <a:avLst/>
          </a:prstGeom>
          <a:solidFill>
            <a:srgbClr val="ffffff"/>
          </a:solidFill>
          <a:ln w="0">
            <a:noFill/>
          </a:ln>
        </p:spPr>
        <p:txBody>
          <a:bodyPr lIns="90000" rIns="90000" tIns="45000" bIns="45000" anchor="ctr" anchorCtr="1">
            <a:noAutofit/>
          </a:bodyPr>
          <a:p>
            <a:endParaRPr b="0" lang="en-IN" sz="1800" strike="noStrike" u="none">
              <a:solidFill>
                <a:srgbClr val="ffffff"/>
              </a:solidFill>
              <a:effectLst/>
              <a:uFillTx/>
              <a:latin typeface="Arial"/>
            </a:endParaRPr>
          </a:p>
        </p:txBody>
      </p:sp>
      <p:sp>
        <p:nvSpPr>
          <p:cNvPr id="24" name="PlaceHolder 1"/>
          <p:cNvSpPr>
            <a:spLocks noGrp="1"/>
          </p:cNvSpPr>
          <p:nvPr>
            <p:ph type="hdr"/>
          </p:nvPr>
        </p:nvSpPr>
        <p:spPr>
          <a:xfrm>
            <a:off x="0" y="0"/>
            <a:ext cx="3038400" cy="465120"/>
          </a:xfrm>
          <a:prstGeom prst="rect">
            <a:avLst/>
          </a:prstGeom>
          <a:noFill/>
          <a:ln w="0">
            <a:noFill/>
          </a:ln>
        </p:spPr>
        <p:txBody>
          <a:bodyPr lIns="93240" rIns="93240" tIns="46440" bIns="46440" anchor="t">
            <a:noAutofit/>
          </a:bodyPr>
          <a:p>
            <a:pPr indent="0">
              <a:buNone/>
            </a:pPr>
            <a:endParaRPr b="0" lang="en-IN" sz="2400" strike="noStrike" u="none">
              <a:solidFill>
                <a:srgbClr val="000000"/>
              </a:solidFill>
              <a:effectLst/>
              <a:uFillTx/>
              <a:latin typeface="Times New Roman"/>
            </a:endParaRPr>
          </a:p>
        </p:txBody>
      </p:sp>
      <p:sp>
        <p:nvSpPr>
          <p:cNvPr id="25" name="PlaceHolder 2"/>
          <p:cNvSpPr>
            <a:spLocks noGrp="1"/>
          </p:cNvSpPr>
          <p:nvPr>
            <p:ph type="dt" idx="7"/>
          </p:nvPr>
        </p:nvSpPr>
        <p:spPr>
          <a:xfrm>
            <a:off x="3970440" y="0"/>
            <a:ext cx="3038400" cy="465120"/>
          </a:xfrm>
          <a:prstGeom prst="rect">
            <a:avLst/>
          </a:prstGeom>
          <a:noFill/>
          <a:ln w="0">
            <a:noFill/>
          </a:ln>
        </p:spPr>
        <p:txBody>
          <a:bodyPr lIns="93240" rIns="93240" tIns="46440" bIns="46440" anchor="t">
            <a:noAutofit/>
          </a:bodyPr>
          <a:p>
            <a:pPr indent="0">
              <a:buNone/>
            </a:pPr>
            <a:endParaRPr b="0" lang="en-IN" sz="2400" strike="noStrike" u="none">
              <a:solidFill>
                <a:srgbClr val="000000"/>
              </a:solidFill>
              <a:effectLst/>
              <a:uFillTx/>
              <a:latin typeface="Times New Roman"/>
            </a:endParaRPr>
          </a:p>
        </p:txBody>
      </p:sp>
      <p:sp>
        <p:nvSpPr>
          <p:cNvPr id="26" name="PlaceHolder 3"/>
          <p:cNvSpPr>
            <a:spLocks noGrp="1"/>
          </p:cNvSpPr>
          <p:nvPr>
            <p:ph type="sldImg"/>
          </p:nvPr>
        </p:nvSpPr>
        <p:spPr>
          <a:xfrm>
            <a:off x="1179000" y="696960"/>
            <a:ext cx="4651560" cy="3486240"/>
          </a:xfrm>
          <a:prstGeom prst="rect">
            <a:avLst/>
          </a:prstGeom>
          <a:noFill/>
          <a:ln w="9360">
            <a:solidFill>
              <a:srgbClr val="000000"/>
            </a:solidFill>
            <a:miter/>
          </a:ln>
        </p:spPr>
        <p:txBody>
          <a:bodyPr lIns="93240" rIns="93240" tIns="46440" bIns="4644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eb"/>
                </a:solidFill>
                <a:effectLst/>
                <a:uFillTx/>
                <a:latin typeface="Arial"/>
              </a:rPr>
              <a:t>Click to move the slide</a:t>
            </a:r>
            <a:endParaRPr b="1" lang="en-IN" sz="2400" strike="noStrike" u="none">
              <a:solidFill>
                <a:srgbClr val="ffffeb"/>
              </a:solidFill>
              <a:effectLst/>
              <a:uFillTx/>
              <a:latin typeface="Arial"/>
            </a:endParaRPr>
          </a:p>
        </p:txBody>
      </p:sp>
      <p:sp>
        <p:nvSpPr>
          <p:cNvPr id="27" name="PlaceHolder 4"/>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IN" sz="800" strike="noStrike" u="none">
                <a:solidFill>
                  <a:srgbClr val="000000"/>
                </a:solidFill>
                <a:effectLst/>
                <a:uFillTx/>
                <a:latin typeface="Arial"/>
              </a:rPr>
              <a:t>Click to edit the notes format</a:t>
            </a:r>
            <a:endParaRPr b="0" lang="en-IN" sz="800" strike="noStrike" u="none">
              <a:solidFill>
                <a:srgbClr val="000000"/>
              </a:solidFill>
              <a:effectLst/>
              <a:uFillTx/>
              <a:latin typeface="Arial"/>
            </a:endParaRPr>
          </a:p>
        </p:txBody>
      </p:sp>
      <p:sp>
        <p:nvSpPr>
          <p:cNvPr id="28" name="PlaceHolder 5"/>
          <p:cNvSpPr>
            <a:spLocks noGrp="1"/>
          </p:cNvSpPr>
          <p:nvPr>
            <p:ph type="ftr" idx="8"/>
          </p:nvPr>
        </p:nvSpPr>
        <p:spPr>
          <a:xfrm>
            <a:off x="0" y="8829720"/>
            <a:ext cx="3038400" cy="465120"/>
          </a:xfrm>
          <a:prstGeom prst="rect">
            <a:avLst/>
          </a:prstGeom>
          <a:noFill/>
          <a:ln w="0">
            <a:noFill/>
          </a:ln>
        </p:spPr>
        <p:txBody>
          <a:bodyPr lIns="93240" rIns="93240" tIns="46440" bIns="46440" anchor="b">
            <a:noAutofit/>
          </a:bodyPr>
          <a:p>
            <a:pPr indent="0">
              <a:buNone/>
            </a:pPr>
            <a:endParaRPr b="0" lang="en-IN" sz="2400" strike="noStrike" u="none">
              <a:solidFill>
                <a:srgbClr val="000000"/>
              </a:solidFill>
              <a:effectLst/>
              <a:uFillTx/>
              <a:latin typeface="Times New Roman"/>
            </a:endParaRPr>
          </a:p>
        </p:txBody>
      </p:sp>
      <p:sp>
        <p:nvSpPr>
          <p:cNvPr id="29" name="PlaceHolder 6"/>
          <p:cNvSpPr>
            <a:spLocks noGrp="1"/>
          </p:cNvSpPr>
          <p:nvPr>
            <p:ph type="sldNum" idx="9"/>
          </p:nvPr>
        </p:nvSpPr>
        <p:spPr>
          <a:xfrm>
            <a:off x="3970440" y="8829720"/>
            <a:ext cx="3038400" cy="465120"/>
          </a:xfrm>
          <a:prstGeom prst="rect">
            <a:avLst/>
          </a:prstGeom>
          <a:noFill/>
          <a:ln w="0">
            <a:noFill/>
          </a:ln>
        </p:spPr>
        <p:txBody>
          <a:bodyPr lIns="93240" rIns="93240" tIns="46440" bIns="4644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trike="noStrike" u="none">
                <a:solidFill>
                  <a:srgbClr val="000000"/>
                </a:solidFill>
                <a:effectLst/>
                <a:uFillTx/>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F49537-1725-40A0-97B6-B32EECB9F5DD}" type="slidenum">
              <a:rPr b="0" lang="en-US" sz="1200" strike="noStrike" u="none">
                <a:solidFill>
                  <a:srgbClr val="000000"/>
                </a:solidFill>
                <a:effectLst/>
                <a:uFillTx/>
                <a:latin typeface="Times New Roman"/>
              </a:rPr>
              <a:t>&lt;number&gt;</a:t>
            </a:fld>
            <a:endParaRPr b="0" lang="en-IN" sz="12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0DFF6FD-1DC2-4493-9EFD-78FD126A9663}"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43" name="PlaceHolder 1"/>
          <p:cNvSpPr>
            <a:spLocks noGrp="1"/>
          </p:cNvSpPr>
          <p:nvPr>
            <p:ph type="sldImg"/>
          </p:nvPr>
        </p:nvSpPr>
        <p:spPr>
          <a:xfrm>
            <a:off x="1179360" y="696960"/>
            <a:ext cx="4651560" cy="3486240"/>
          </a:xfrm>
          <a:prstGeom prst="rect">
            <a:avLst/>
          </a:prstGeom>
          <a:ln w="0">
            <a:noFill/>
          </a:ln>
        </p:spPr>
      </p:sp>
      <p:sp>
        <p:nvSpPr>
          <p:cNvPr id="144"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Welcome to this Overview of Employees Benefits.  This slide show will take you through the process of obtaining information on each benefit, how to enroll, and the deadlines for document submission.</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As you move through this presentation, there are links that will take you to other websites.  Please use your BACK button on the top of the web page to return to this benefits orientation.</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2E1AC43-253F-478A-91F7-436B43E841EC}"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46" name="PlaceHolder 1"/>
          <p:cNvSpPr>
            <a:spLocks noGrp="1"/>
          </p:cNvSpPr>
          <p:nvPr>
            <p:ph type="sldImg"/>
          </p:nvPr>
        </p:nvSpPr>
        <p:spPr>
          <a:xfrm>
            <a:off x="1179360" y="696960"/>
            <a:ext cx="4651560" cy="3486240"/>
          </a:xfrm>
          <a:prstGeom prst="rect">
            <a:avLst/>
          </a:prstGeom>
          <a:ln w="0">
            <a:noFill/>
          </a:ln>
        </p:spPr>
      </p:sp>
      <p:sp>
        <p:nvSpPr>
          <p:cNvPr id="147"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Here is a list of the topics covered in this presentation:</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We will begin by explaining the requirements that determine eligibility for benefits.  We will then go over each benefit program and how to enroll.  We will finish this presentation by explaining how to complete the appropriate designation of beneficiary forms.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 </a:t>
            </a:r>
            <a:endParaRPr b="0" lang="en-IN" sz="800" strike="noStrike" u="non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PlaceHolder 1"/>
          <p:cNvSpPr>
            <a:spLocks noGrp="1"/>
          </p:cNvSpPr>
          <p:nvPr>
            <p:ph type="sldImg"/>
          </p:nvPr>
        </p:nvSpPr>
        <p:spPr>
          <a:xfrm>
            <a:off x="1179360" y="696960"/>
            <a:ext cx="4651560" cy="3486240"/>
          </a:xfrm>
          <a:prstGeom prst="rect">
            <a:avLst/>
          </a:prstGeom>
          <a:ln w="0">
            <a:noFill/>
          </a:ln>
        </p:spPr>
      </p:sp>
      <p:sp>
        <p:nvSpPr>
          <p:cNvPr id="149"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
        <p:nvSpPr>
          <p:cNvPr id="150"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80D8024-B3DD-4069-9F74-15E48AD8E695}"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CF32B4F-6EBF-4221-B8B0-2F5DFD55F4E2}"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52" name="PlaceHolder 1"/>
          <p:cNvSpPr>
            <a:spLocks noGrp="1"/>
          </p:cNvSpPr>
          <p:nvPr>
            <p:ph type="sldImg"/>
          </p:nvPr>
        </p:nvSpPr>
        <p:spPr>
          <a:xfrm>
            <a:off x="1179360" y="696960"/>
            <a:ext cx="4651560" cy="3486240"/>
          </a:xfrm>
          <a:prstGeom prst="rect">
            <a:avLst/>
          </a:prstGeom>
          <a:ln w="0">
            <a:noFill/>
          </a:ln>
        </p:spPr>
      </p:sp>
      <p:sp>
        <p:nvSpPr>
          <p:cNvPr id="153"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Let’s begin by reviewing how eligibility for benefits is determined.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Eligibility for employee benefits depends upon your tour of duty and your type of appointment.  Generally, you must be hired under a non-temporary appointment, and have a regular tour of duty, in order to be eligible for employee benefits.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87153BB-2B2B-4405-A044-5EA45DC8013A}"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55" name="PlaceHolder 1"/>
          <p:cNvSpPr>
            <a:spLocks noGrp="1"/>
          </p:cNvSpPr>
          <p:nvPr>
            <p:ph type="sldImg"/>
          </p:nvPr>
        </p:nvSpPr>
        <p:spPr>
          <a:xfrm>
            <a:off x="1179360" y="696960"/>
            <a:ext cx="4651560" cy="3486240"/>
          </a:xfrm>
          <a:prstGeom prst="rect">
            <a:avLst/>
          </a:prstGeom>
          <a:ln w="0">
            <a:noFill/>
          </a:ln>
        </p:spPr>
      </p:sp>
      <p:sp>
        <p:nvSpPr>
          <p:cNvPr id="156"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Typically, you are NOT eligible for benefits if your work schedule is intermittent, or if you are a Mixed Tour employee who is expected to work less than 6 months in a year.  Employees on a seasonal appointments in which they are expected to work less than 6 months in a year also are not eligible for benefits.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your appointment type is Temporary or Excepted Not To Exceed one year, you are also generally NOT eligible .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There are two exceptions: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First, if you are on a Career or Career Conditional appointments with an intermittent tour of duty, you are eligible for retirement coverage but not insurance benefits.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Second,  if you are hired under the Student Career Experience Program (SCEP) authority and are expected to be in a pay status for more than one third of the time from the date of your appointment to the completion of the work-study program, then you are eligible for benefits.</a:t>
            </a:r>
            <a:endParaRPr b="0" lang="en-IN" sz="8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73339B0-2B8A-4499-A208-C824EE23EC1D}"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58" name="PlaceHolder 1"/>
          <p:cNvSpPr>
            <a:spLocks noGrp="1"/>
          </p:cNvSpPr>
          <p:nvPr>
            <p:ph type="sldImg"/>
          </p:nvPr>
        </p:nvSpPr>
        <p:spPr>
          <a:xfrm>
            <a:off x="1179360" y="696960"/>
            <a:ext cx="4651560" cy="3486240"/>
          </a:xfrm>
          <a:prstGeom prst="rect">
            <a:avLst/>
          </a:prstGeom>
          <a:ln w="0">
            <a:noFill/>
          </a:ln>
        </p:spPr>
      </p:sp>
      <p:sp>
        <p:nvSpPr>
          <p:cNvPr id="159"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should refer to the Office of Personnel Management’s (OPM) website to review the Federal Employee Group Life Insurance Booklet (FE 76-21) which provides a comprehensive overview of the program.  OPM’s website also has a wonderful, user-friendly, calculator to help you determine coverage that meets your life insurance needs.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All newly eligible employees must complete a Standard Form 2817 and submit it to the Human Resources Operations Office in Minneapolis within 31 days of their appointment.  Forms may be faxed or mailed.</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choose not to elect optional FEGLI insurance, you are still required to complete a SF-2817 and sign for Basic coverage only.</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1B41F13-90D8-498F-AA87-AEA6F9C5C3E8}"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61" name="PlaceHolder 1"/>
          <p:cNvSpPr>
            <a:spLocks noGrp="1"/>
          </p:cNvSpPr>
          <p:nvPr>
            <p:ph type="sldImg"/>
          </p:nvPr>
        </p:nvSpPr>
        <p:spPr>
          <a:xfrm>
            <a:off x="1179360" y="696960"/>
            <a:ext cx="4651560" cy="3486240"/>
          </a:xfrm>
          <a:prstGeom prst="rect">
            <a:avLst/>
          </a:prstGeom>
          <a:ln w="0">
            <a:noFill/>
          </a:ln>
        </p:spPr>
      </p:sp>
      <p:sp>
        <p:nvSpPr>
          <p:cNvPr id="162"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are a rehired Federal employee, your opportunities to make a new election of coverage varies based on the length of your break in service.   </a:t>
            </a:r>
            <a:endParaRPr b="0" lang="en-IN" sz="800" strike="noStrike" u="none">
              <a:solidFill>
                <a:srgbClr val="000000"/>
              </a:solidFill>
              <a:effectLst/>
              <a:uFillTx/>
              <a:latin typeface="Arial"/>
            </a:endParaRPr>
          </a:p>
          <a:p>
            <a:pPr indent="0">
              <a:spcBef>
                <a:spcPts val="524"/>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Rehired employees whose break in Federal service is less than 180 days </a:t>
            </a:r>
            <a:r>
              <a:rPr b="0" lang="en-US" sz="800" strike="noStrike" u="none">
                <a:solidFill>
                  <a:srgbClr val="000000"/>
                </a:solidFill>
                <a:effectLst/>
                <a:uFillTx/>
                <a:latin typeface="Arial"/>
              </a:rPr>
              <a:t>are automatically enrolled with the level of coverage in effect at the time of separation from previous Federal employment.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400" strike="noStrike" u="none">
                <a:solidFill>
                  <a:srgbClr val="000000"/>
                </a:solidFill>
                <a:effectLst/>
                <a:uFillTx/>
                <a:latin typeface="Arial"/>
              </a:rPr>
              <a:t>Rehired employees whose break in Federal service is 180 days or more</a:t>
            </a:r>
            <a:r>
              <a:rPr b="0" lang="en-US" sz="1400" strike="noStrike" u="none">
                <a:solidFill>
                  <a:srgbClr val="000000"/>
                </a:solidFill>
                <a:effectLst/>
                <a:uFillTx/>
                <a:latin typeface="Arial"/>
              </a:rPr>
              <a:t> </a:t>
            </a:r>
            <a:r>
              <a:rPr b="0" lang="en-US" sz="800" strike="noStrike" u="none">
                <a:solidFill>
                  <a:srgbClr val="000000"/>
                </a:solidFill>
                <a:effectLst/>
                <a:uFillTx/>
                <a:latin typeface="Arial"/>
              </a:rPr>
              <a:t>are automatically enrolled with Basic only (even if previously waived), and the same level of optional insurance that you had in your prior position, unless you make a new election of coverage.  You have 31 days from the date of rehire to elect additional life insurance.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Coverage may be waived at any time.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sldImg"/>
          </p:nvPr>
        </p:nvSpPr>
        <p:spPr>
          <a:xfrm>
            <a:off x="1179360" y="696960"/>
            <a:ext cx="4651560" cy="3486240"/>
          </a:xfrm>
          <a:prstGeom prst="rect">
            <a:avLst/>
          </a:prstGeom>
          <a:ln w="0">
            <a:noFill/>
          </a:ln>
        </p:spPr>
      </p:sp>
      <p:sp>
        <p:nvSpPr>
          <p:cNvPr id="164"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are not eligible to elect additional insurance based on a transfer from one agency to another.  However, you should watch your Earnings and Leave Statement to make sure your coverage was properly transferred from your prior agency.  Please contact your servicing benefits assistant or specialist immediately if you notice any type of error.</a:t>
            </a:r>
            <a:endParaRPr b="0" lang="en-IN" sz="800" strike="noStrike" u="none">
              <a:solidFill>
                <a:srgbClr val="000000"/>
              </a:solidFill>
              <a:effectLst/>
              <a:uFillTx/>
              <a:latin typeface="Arial"/>
            </a:endParaRPr>
          </a:p>
        </p:txBody>
      </p:sp>
      <p:sp>
        <p:nvSpPr>
          <p:cNvPr id="165"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AA248F0-28C9-4A8C-9ED8-755262AF6B8C}"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106CFE24-A9D8-48B2-9590-0062D5D43B4D}"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67" name="PlaceHolder 1"/>
          <p:cNvSpPr>
            <a:spLocks noGrp="1"/>
          </p:cNvSpPr>
          <p:nvPr>
            <p:ph type="sldImg"/>
          </p:nvPr>
        </p:nvSpPr>
        <p:spPr>
          <a:xfrm>
            <a:off x="1179360" y="696960"/>
            <a:ext cx="4651560" cy="3486240"/>
          </a:xfrm>
          <a:prstGeom prst="rect">
            <a:avLst/>
          </a:prstGeom>
          <a:ln w="0">
            <a:noFill/>
          </a:ln>
        </p:spPr>
      </p:sp>
      <p:sp>
        <p:nvSpPr>
          <p:cNvPr id="168"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Choosing a health plan requires some research to find a health plan that meets your health care needs.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Let’s go through the steps in choosing a health plan.</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first step when choosing a health plan requires you to consider the health care needs of you and your family.</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79527ED-E2BD-42FE-B423-6B81244D41E8}"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70" name="PlaceHolder 1"/>
          <p:cNvSpPr>
            <a:spLocks noGrp="1"/>
          </p:cNvSpPr>
          <p:nvPr>
            <p:ph type="sldImg"/>
          </p:nvPr>
        </p:nvSpPr>
        <p:spPr>
          <a:xfrm>
            <a:off x="1179360" y="696960"/>
            <a:ext cx="4651560" cy="3486240"/>
          </a:xfrm>
          <a:prstGeom prst="rect">
            <a:avLst/>
          </a:prstGeom>
          <a:ln w="0">
            <a:noFill/>
          </a:ln>
        </p:spPr>
      </p:sp>
      <p:sp>
        <p:nvSpPr>
          <p:cNvPr id="171"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Office of Personnel Management’s (OPM) website has a Comparison Tool that will help you compare the plans that meet your needs and are available in your area.</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tool allows you to review specific plan brochures and costs, locate contact numbers for plan representatives, and refer you to a list of preferred providers for each plan.  The tool also provides you with the three-digit enrollment code which you must use during the enrollment process. For example 104 is the enrollment code for Blue Cross/Blue Shield – Self Only Standard plan. </a:t>
            </a:r>
            <a:endParaRPr b="0" lang="en-IN" sz="800" strike="noStrike" u="non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CD1CCBB-7175-43D8-AE9C-83C722433507}"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73" name="PlaceHolder 1"/>
          <p:cNvSpPr>
            <a:spLocks noGrp="1"/>
          </p:cNvSpPr>
          <p:nvPr>
            <p:ph type="sldImg"/>
          </p:nvPr>
        </p:nvSpPr>
        <p:spPr>
          <a:xfrm>
            <a:off x="1179360" y="696960"/>
            <a:ext cx="4651560" cy="3486240"/>
          </a:xfrm>
          <a:prstGeom prst="rect">
            <a:avLst/>
          </a:prstGeom>
          <a:ln w="0">
            <a:noFill/>
          </a:ln>
        </p:spPr>
      </p:sp>
      <p:sp>
        <p:nvSpPr>
          <p:cNvPr id="174"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To complete the SF-2809, you must use the 3-digit enrollment code from the plan brochure to indicate your selection, and if applicable, the names, social security numbers, and birth dates of eligible family members.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choose to not enroll in a health plan, you are still required to complete a SF-2809 waiving your opportunity to enroll.</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must submit your form to the Human Resource Office in Minneapolis within 60 days of your appointment.</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84BCB89-C2B5-4637-9070-54BDFE773050}"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76" name="PlaceHolder 1"/>
          <p:cNvSpPr>
            <a:spLocks noGrp="1"/>
          </p:cNvSpPr>
          <p:nvPr>
            <p:ph type="sldImg"/>
          </p:nvPr>
        </p:nvSpPr>
        <p:spPr>
          <a:xfrm>
            <a:off x="1179360" y="696960"/>
            <a:ext cx="4651560" cy="3486240"/>
          </a:xfrm>
          <a:prstGeom prst="rect">
            <a:avLst/>
          </a:prstGeom>
          <a:ln w="0">
            <a:noFill/>
          </a:ln>
        </p:spPr>
      </p:sp>
      <p:sp>
        <p:nvSpPr>
          <p:cNvPr id="177"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Your coverage is effective at the beginning of the pay period after the date HRO in Minneapolis receives the completed enrollment form as long as you are in pay status.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 copy of the processed form will be returned to you as proof of your coverage before your ID cards arrive.</a:t>
            </a:r>
            <a:endParaRPr b="0" lang="en-IN" sz="800" strike="noStrike" u="non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63E6BCF-1476-465D-8D3D-FD010AF38F97}"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79" name="PlaceHolder 1"/>
          <p:cNvSpPr>
            <a:spLocks noGrp="1"/>
          </p:cNvSpPr>
          <p:nvPr>
            <p:ph type="sldImg"/>
          </p:nvPr>
        </p:nvSpPr>
        <p:spPr>
          <a:xfrm>
            <a:off x="1179360" y="696960"/>
            <a:ext cx="4651560" cy="3486240"/>
          </a:xfrm>
          <a:prstGeom prst="rect">
            <a:avLst/>
          </a:prstGeom>
          <a:ln w="0">
            <a:noFill/>
          </a:ln>
        </p:spPr>
      </p:sp>
      <p:sp>
        <p:nvSpPr>
          <p:cNvPr id="180"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Health insurance premiums are withheld from your salary on a pre tax basis; therefore, your taxable income is lowered.</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Information about Premium Conversion can be found on OPM’s website.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wish to waive the tax advantage, you must complete a waiver form and submit it with your SF-2809.</a:t>
            </a:r>
            <a:endParaRPr b="0" lang="en-IN" sz="800" strike="noStrike" u="non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sldImg"/>
          </p:nvPr>
        </p:nvSpPr>
        <p:spPr>
          <a:xfrm>
            <a:off x="1179360" y="696960"/>
            <a:ext cx="4651560" cy="3486240"/>
          </a:xfrm>
          <a:prstGeom prst="rect">
            <a:avLst/>
          </a:prstGeom>
          <a:ln w="0">
            <a:noFill/>
          </a:ln>
        </p:spPr>
      </p:sp>
      <p:sp>
        <p:nvSpPr>
          <p:cNvPr id="182"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Employees who move out of their health benefits service area as a result of their transfer should elect an insurance plan available within their new location.  </a:t>
            </a:r>
            <a:endParaRPr b="0" lang="en-IN" sz="800" strike="noStrike" u="none">
              <a:solidFill>
                <a:srgbClr val="000000"/>
              </a:solidFill>
              <a:effectLst/>
              <a:uFillTx/>
              <a:latin typeface="Arial"/>
            </a:endParaRPr>
          </a:p>
        </p:txBody>
      </p:sp>
      <p:sp>
        <p:nvSpPr>
          <p:cNvPr id="183"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ADF1E98-CF14-4FCA-AFC3-B59763E523BF}"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8E0F3C4-7ABA-4FC5-83F4-F887AAABF6E8}"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85" name="PlaceHolder 1"/>
          <p:cNvSpPr>
            <a:spLocks noGrp="1"/>
          </p:cNvSpPr>
          <p:nvPr>
            <p:ph type="sldImg"/>
          </p:nvPr>
        </p:nvSpPr>
        <p:spPr>
          <a:xfrm>
            <a:off x="1179360" y="696960"/>
            <a:ext cx="4651560" cy="3486240"/>
          </a:xfrm>
          <a:prstGeom prst="rect">
            <a:avLst/>
          </a:prstGeom>
          <a:ln w="0">
            <a:noFill/>
          </a:ln>
        </p:spPr>
      </p:sp>
      <p:sp>
        <p:nvSpPr>
          <p:cNvPr id="186"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have 60 days from the date of your appointment to enroll in a supplemental dental or vision plan or both!  The BENEFEDS website must be used to complete your enrollment.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PlaceHolder 1"/>
          <p:cNvSpPr>
            <a:spLocks noGrp="1"/>
          </p:cNvSpPr>
          <p:nvPr>
            <p:ph type="sldImg"/>
          </p:nvPr>
        </p:nvSpPr>
        <p:spPr>
          <a:xfrm>
            <a:off x="1179360" y="696960"/>
            <a:ext cx="4651560" cy="3486240"/>
          </a:xfrm>
          <a:prstGeom prst="rect">
            <a:avLst/>
          </a:prstGeom>
          <a:ln w="0">
            <a:noFill/>
          </a:ln>
        </p:spPr>
      </p:sp>
      <p:sp>
        <p:nvSpPr>
          <p:cNvPr id="188"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000000"/>
              </a:solidFill>
              <a:effectLst/>
              <a:uFillTx/>
              <a:latin typeface="Arial"/>
            </a:endParaRPr>
          </a:p>
        </p:txBody>
      </p:sp>
      <p:sp>
        <p:nvSpPr>
          <p:cNvPr id="189"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C6C3785-1C7F-47C6-AF84-835C85FCE200}"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BBA8300-F25D-4323-A0AF-E21701B9A3E1}"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91" name="PlaceHolder 1"/>
          <p:cNvSpPr>
            <a:spLocks noGrp="1"/>
          </p:cNvSpPr>
          <p:nvPr>
            <p:ph type="sldImg"/>
          </p:nvPr>
        </p:nvSpPr>
        <p:spPr>
          <a:xfrm>
            <a:off x="1179360" y="696960"/>
            <a:ext cx="4651560" cy="3486240"/>
          </a:xfrm>
          <a:prstGeom prst="rect">
            <a:avLst/>
          </a:prstGeom>
          <a:ln w="0">
            <a:noFill/>
          </a:ln>
        </p:spPr>
      </p:sp>
      <p:sp>
        <p:nvSpPr>
          <p:cNvPr id="192"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An additional way to reduce your taxable income is to enroll in a Flexible Spending Account!</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These accounts allow you to be reimbursed for out-of-pocket expenses not covered by any other source.  For complete information and enrollment instructions please visit the FSAFEDS website.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have 60 days from the date of your appointment to elect to contribute to a Flexible Spending Account.</a:t>
            </a:r>
            <a:endParaRPr b="0" lang="en-IN" sz="800" strike="noStrike" u="non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sldImg"/>
          </p:nvPr>
        </p:nvSpPr>
        <p:spPr>
          <a:xfrm>
            <a:off x="1179360" y="696960"/>
            <a:ext cx="4651560" cy="3486240"/>
          </a:xfrm>
          <a:prstGeom prst="rect">
            <a:avLst/>
          </a:prstGeom>
          <a:ln w="0">
            <a:noFill/>
          </a:ln>
        </p:spPr>
      </p:sp>
      <p:sp>
        <p:nvSpPr>
          <p:cNvPr id="19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000000"/>
              </a:solidFill>
              <a:effectLst/>
              <a:uFillTx/>
              <a:latin typeface="Arial"/>
            </a:endParaRPr>
          </a:p>
        </p:txBody>
      </p:sp>
      <p:sp>
        <p:nvSpPr>
          <p:cNvPr id="195"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5F3D504-8406-4239-8FBE-10407108F9CD}"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661972F-4207-4BC6-BD70-A29DC75F1A8A}"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197" name="PlaceHolder 1"/>
          <p:cNvSpPr>
            <a:spLocks noGrp="1"/>
          </p:cNvSpPr>
          <p:nvPr>
            <p:ph type="sldImg"/>
          </p:nvPr>
        </p:nvSpPr>
        <p:spPr>
          <a:xfrm>
            <a:off x="1179360" y="696960"/>
            <a:ext cx="4651560" cy="3486240"/>
          </a:xfrm>
          <a:prstGeom prst="rect">
            <a:avLst/>
          </a:prstGeom>
          <a:ln w="0">
            <a:noFill/>
          </a:ln>
        </p:spPr>
      </p:sp>
      <p:sp>
        <p:nvSpPr>
          <p:cNvPr id="198"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Retirement coverage under one of the retirement plans is dependent on your appointment, work schedule, and whether or not you have prior Federal service.</a:t>
            </a:r>
            <a:endParaRPr b="0" lang="en-IN" sz="800" strike="noStrike" u="non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89754C-FEDE-49E4-BDDE-555C0BC27D65}"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00" name="PlaceHolder 1"/>
          <p:cNvSpPr>
            <a:spLocks noGrp="1"/>
          </p:cNvSpPr>
          <p:nvPr>
            <p:ph type="sldImg"/>
          </p:nvPr>
        </p:nvSpPr>
        <p:spPr>
          <a:xfrm>
            <a:off x="1179360" y="696960"/>
            <a:ext cx="4651560" cy="3486240"/>
          </a:xfrm>
          <a:prstGeom prst="rect">
            <a:avLst/>
          </a:prstGeom>
          <a:ln w="0">
            <a:noFill/>
          </a:ln>
        </p:spPr>
      </p:sp>
      <p:sp>
        <p:nvSpPr>
          <p:cNvPr id="201"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Newly eligible employees are generally covered under the Federal Employees Retirement System (FERS).  The FERS Booklet explains the three part benefit system which includes a defined retirement benefit, Social Security and the Thrift Savings Plan. </a:t>
            </a:r>
            <a:endParaRPr b="0" lang="en-IN" sz="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57CBE24-B271-4E7A-A69D-B5B9A5214213}"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03" name="PlaceHolder 1"/>
          <p:cNvSpPr>
            <a:spLocks noGrp="1"/>
          </p:cNvSpPr>
          <p:nvPr>
            <p:ph type="sldImg"/>
          </p:nvPr>
        </p:nvSpPr>
        <p:spPr>
          <a:xfrm>
            <a:off x="1179360" y="696960"/>
            <a:ext cx="4651560" cy="3486240"/>
          </a:xfrm>
          <a:prstGeom prst="rect">
            <a:avLst/>
          </a:prstGeom>
          <a:ln w="0">
            <a:noFill/>
          </a:ln>
        </p:spPr>
      </p:sp>
      <p:sp>
        <p:nvSpPr>
          <p:cNvPr id="204"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Rehired Federal employees have additional factors that determine their retirement system coverage: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Ask yourself:</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How much previous Federal service do I have?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Do you have a break in Federal service of more than 3 days?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How long was the break in service?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When was the break in service?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5"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E235374-8CF9-4272-9489-3205F4089529}"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06" name="PlaceHolder 1"/>
          <p:cNvSpPr>
            <a:spLocks noGrp="1"/>
          </p:cNvSpPr>
          <p:nvPr>
            <p:ph type="sldImg"/>
          </p:nvPr>
        </p:nvSpPr>
        <p:spPr>
          <a:xfrm>
            <a:off x="1179360" y="696960"/>
            <a:ext cx="4651560" cy="3486240"/>
          </a:xfrm>
          <a:prstGeom prst="rect">
            <a:avLst/>
          </a:prstGeom>
          <a:ln w="0">
            <a:noFill/>
          </a:ln>
        </p:spPr>
      </p:sp>
      <p:sp>
        <p:nvSpPr>
          <p:cNvPr id="207"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your previous service was covered under the Civil Service Retirement System (CSRS) or the Civil Service Retirement System Offset Plan (Offset), you may have an opportunity to transfer to FERS within 6 months of your appointment date.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Your Benefits Specialist is a great resource for additional information regarding your retirement coverage.</a:t>
            </a:r>
            <a:endParaRPr b="0" lang="en-IN" sz="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A24FA525-B7DB-4A3D-A7A1-C19C6F20D733}"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09" name="PlaceHolder 1"/>
          <p:cNvSpPr>
            <a:spLocks noGrp="1"/>
          </p:cNvSpPr>
          <p:nvPr>
            <p:ph type="sldImg"/>
          </p:nvPr>
        </p:nvSpPr>
        <p:spPr>
          <a:xfrm>
            <a:off x="1179360" y="696960"/>
            <a:ext cx="4651560" cy="3486240"/>
          </a:xfrm>
          <a:prstGeom prst="rect">
            <a:avLst/>
          </a:prstGeom>
          <a:ln w="0">
            <a:noFill/>
          </a:ln>
        </p:spPr>
      </p:sp>
      <p:sp>
        <p:nvSpPr>
          <p:cNvPr id="210"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Have you had active duty military service?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have  military service, this service may be creditable for retirement purposes by making a service credit deposit to the retirement fund.</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Our website can link you to information regarding the process and explain in detail why it is important to consider paying this deposit.</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Completing the deposit early in your career can also save you money down the road!</a:t>
            </a:r>
            <a:endParaRPr b="0" lang="en-IN" sz="800" strike="noStrike" u="non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274BFE2-ED82-4619-A309-7A7FC97D8593}"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12" name="PlaceHolder 1"/>
          <p:cNvSpPr>
            <a:spLocks noGrp="1"/>
          </p:cNvSpPr>
          <p:nvPr>
            <p:ph type="sldImg"/>
          </p:nvPr>
        </p:nvSpPr>
        <p:spPr>
          <a:xfrm>
            <a:off x="1179360" y="696960"/>
            <a:ext cx="4651560" cy="3486240"/>
          </a:xfrm>
          <a:prstGeom prst="rect">
            <a:avLst/>
          </a:prstGeom>
          <a:ln w="0">
            <a:noFill/>
          </a:ln>
        </p:spPr>
      </p:sp>
      <p:sp>
        <p:nvSpPr>
          <p:cNvPr id="213"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Thrift Savings Plan (TSP) is a retirement savings and investment plan for FERS and CSRS/CSRS-Offset employees that allows you to save for the future and reduce your current taxable income.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5E12604-224C-4DA0-9B7C-5DB1360A953B}"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15" name="PlaceHolder 1"/>
          <p:cNvSpPr>
            <a:spLocks noGrp="1"/>
          </p:cNvSpPr>
          <p:nvPr>
            <p:ph type="sldImg"/>
          </p:nvPr>
        </p:nvSpPr>
        <p:spPr>
          <a:xfrm>
            <a:off x="1179360" y="696960"/>
            <a:ext cx="4651560" cy="3486240"/>
          </a:xfrm>
          <a:prstGeom prst="rect">
            <a:avLst/>
          </a:prstGeom>
          <a:ln w="0">
            <a:noFill/>
          </a:ln>
        </p:spPr>
      </p:sp>
      <p:sp>
        <p:nvSpPr>
          <p:cNvPr id="216"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While contributing to TSP is optional, it is important to invest and invest early in your career, since your TSP account is a major component of your retirement benefit package. For FERS employees, the government will match up to 5% of your salary.  That’s FREE money!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may change your enrollment at any time by faxing or mailing a completed TSP-1 form to the benefits section in the HRO in Minneapolis. </a:t>
            </a:r>
            <a:endParaRPr b="0" lang="en-IN" sz="800" strike="noStrike" u="non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84FCD5D-188B-47CD-94A7-AADA9B881454}"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18" name="PlaceHolder 1"/>
          <p:cNvSpPr>
            <a:spLocks noGrp="1"/>
          </p:cNvSpPr>
          <p:nvPr>
            <p:ph type="sldImg"/>
          </p:nvPr>
        </p:nvSpPr>
        <p:spPr>
          <a:xfrm>
            <a:off x="1179360" y="696960"/>
            <a:ext cx="4651560" cy="3486240"/>
          </a:xfrm>
          <a:prstGeom prst="rect">
            <a:avLst/>
          </a:prstGeom>
          <a:ln w="0">
            <a:noFill/>
          </a:ln>
        </p:spPr>
      </p:sp>
      <p:sp>
        <p:nvSpPr>
          <p:cNvPr id="219"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will have access to your TSP account information via the TSP website following  the opening of your account with your first contribution.</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Your account number and Personal Identification Number (PIN) will be mailed to you for use in making fund allocations, interfund transfers, or for simply checking your account status.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have a qualified IRA or employer sponsored retirement plan, such as a 401K, there are provisions to rollover those monies into your TSP account, if you choose to do so.</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ACCF842-6DA9-4B8C-A836-1896105E4D77}"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21" name="PlaceHolder 1"/>
          <p:cNvSpPr>
            <a:spLocks noGrp="1"/>
          </p:cNvSpPr>
          <p:nvPr>
            <p:ph type="sldImg"/>
          </p:nvPr>
        </p:nvSpPr>
        <p:spPr>
          <a:xfrm>
            <a:off x="1179360" y="696960"/>
            <a:ext cx="4651560" cy="3486240"/>
          </a:xfrm>
          <a:prstGeom prst="rect">
            <a:avLst/>
          </a:prstGeom>
          <a:ln w="0">
            <a:noFill/>
          </a:ln>
        </p:spPr>
      </p:sp>
      <p:sp>
        <p:nvSpPr>
          <p:cNvPr id="222"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are rehired into Federal service within 31 days and previously contributed to TSP, your contribution rate remains unchanged.</a:t>
            </a:r>
            <a:endParaRPr b="0" lang="en-IN" sz="800" strike="noStrike" u="none">
              <a:solidFill>
                <a:srgbClr val="000000"/>
              </a:solidFill>
              <a:effectLst/>
              <a:uFillTx/>
              <a:latin typeface="Arial"/>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1179360" y="696960"/>
            <a:ext cx="4651560" cy="3486240"/>
          </a:xfrm>
          <a:prstGeom prst="rect">
            <a:avLst/>
          </a:prstGeom>
          <a:ln w="0">
            <a:noFill/>
          </a:ln>
        </p:spPr>
      </p:sp>
      <p:sp>
        <p:nvSpPr>
          <p:cNvPr id="224"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000000"/>
              </a:solidFill>
              <a:effectLst/>
              <a:uFillTx/>
              <a:latin typeface="Arial"/>
            </a:endParaRPr>
          </a:p>
        </p:txBody>
      </p:sp>
      <p:sp>
        <p:nvSpPr>
          <p:cNvPr id="225"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ED539C-3C59-47FB-8A3B-F6F982C4A8D2}"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6A393FE-6651-45C5-8EC4-72BB5FAF03B9}"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27" name="PlaceHolder 1"/>
          <p:cNvSpPr>
            <a:spLocks noGrp="1"/>
          </p:cNvSpPr>
          <p:nvPr>
            <p:ph type="sldImg"/>
          </p:nvPr>
        </p:nvSpPr>
        <p:spPr>
          <a:xfrm>
            <a:off x="1179360" y="696960"/>
            <a:ext cx="4651560" cy="3486240"/>
          </a:xfrm>
          <a:prstGeom prst="rect">
            <a:avLst/>
          </a:prstGeom>
          <a:ln w="0">
            <a:noFill/>
          </a:ln>
        </p:spPr>
      </p:sp>
      <p:sp>
        <p:nvSpPr>
          <p:cNvPr id="228"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One of today’s most expensive types of care can be due to an extended injury or illness that may require long-term assistance.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Long Term Care Insurance may provide financial assistance in securing the facilities or qualified care in such cases.</a:t>
            </a:r>
            <a:endParaRPr b="0" lang="en-IN" sz="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B72DE5A1-F3A6-4DA0-B44F-2455D91AB919}"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30" name="PlaceHolder 1"/>
          <p:cNvSpPr>
            <a:spLocks noGrp="1"/>
          </p:cNvSpPr>
          <p:nvPr>
            <p:ph type="sldImg"/>
          </p:nvPr>
        </p:nvSpPr>
        <p:spPr>
          <a:xfrm>
            <a:off x="1179360" y="696960"/>
            <a:ext cx="4651560" cy="3486240"/>
          </a:xfrm>
          <a:prstGeom prst="rect">
            <a:avLst/>
          </a:prstGeom>
          <a:ln w="0">
            <a:noFill/>
          </a:ln>
        </p:spPr>
      </p:sp>
      <p:sp>
        <p:nvSpPr>
          <p:cNvPr id="231"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Some key components of the program include: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Long Term Care Insurance is managed by John Hancock Life &amp; Health Insurance Company, a reputable and long-standing company.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Qualified relatives can also apply – even if you are not ready to apply for coverage, consider it for your parents and parents-in-law to help secure their future.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apply within 60 days of becoming eligible, you and your spouse may qualify for abbreviated underwriting (fewer health questions means it may be easier to be approved for coverage). </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2EA1026-FC75-4B7D-B02E-CC610E0E89DC}"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33" name="PlaceHolder 1"/>
          <p:cNvSpPr>
            <a:spLocks noGrp="1"/>
          </p:cNvSpPr>
          <p:nvPr>
            <p:ph type="sldImg"/>
          </p:nvPr>
        </p:nvSpPr>
        <p:spPr>
          <a:xfrm>
            <a:off x="1179360" y="696960"/>
            <a:ext cx="4651560" cy="3486240"/>
          </a:xfrm>
          <a:prstGeom prst="rect">
            <a:avLst/>
          </a:prstGeom>
          <a:ln w="0">
            <a:noFill/>
          </a:ln>
        </p:spPr>
      </p:sp>
      <p:sp>
        <p:nvSpPr>
          <p:cNvPr id="234"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short application process is only available within the first 60 days following the date of your appointment.</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Extensive information regarding the Federal Long Term Care Insurance program is available on their website.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1179360" y="696960"/>
            <a:ext cx="4651560" cy="3486240"/>
          </a:xfrm>
          <a:prstGeom prst="rect">
            <a:avLst/>
          </a:prstGeom>
          <a:ln w="0">
            <a:noFill/>
          </a:ln>
        </p:spPr>
      </p:sp>
      <p:sp>
        <p:nvSpPr>
          <p:cNvPr id="236" name="PlaceHolder 2"/>
          <p:cNvSpPr>
            <a:spLocks noGrp="1"/>
          </p:cNvSpPr>
          <p:nvPr>
            <p:ph type="body"/>
          </p:nvPr>
        </p:nvSpPr>
        <p:spPr>
          <a:xfrm>
            <a:off x="701280" y="4416120"/>
            <a:ext cx="5607000" cy="4182840"/>
          </a:xfrm>
          <a:prstGeom prst="rect">
            <a:avLst/>
          </a:prstGeom>
          <a:noFill/>
          <a:ln w="0">
            <a:noFill/>
          </a:ln>
        </p:spPr>
        <p:txBody>
          <a:bodyPr lIns="0" rIns="0" tIns="0" bIns="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800" strike="noStrike" u="none">
              <a:solidFill>
                <a:srgbClr val="000000"/>
              </a:solidFill>
              <a:effectLst/>
              <a:uFillTx/>
              <a:latin typeface="Arial"/>
            </a:endParaRPr>
          </a:p>
        </p:txBody>
      </p:sp>
      <p:sp>
        <p:nvSpPr>
          <p:cNvPr id="237" name="Slide Number Placeholder 3"/>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F709DC2-6A7E-4CCF-A8B7-C0C6471FD01F}"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E7DE79D-379E-43A9-A4ED-9A5F838D0A1F}"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39" name="PlaceHolder 1"/>
          <p:cNvSpPr>
            <a:spLocks noGrp="1"/>
          </p:cNvSpPr>
          <p:nvPr>
            <p:ph type="sldImg"/>
          </p:nvPr>
        </p:nvSpPr>
        <p:spPr>
          <a:xfrm>
            <a:off x="1179360" y="696960"/>
            <a:ext cx="4651560" cy="3486240"/>
          </a:xfrm>
          <a:prstGeom prst="rect">
            <a:avLst/>
          </a:prstGeom>
          <a:ln w="0">
            <a:noFill/>
          </a:ln>
        </p:spPr>
      </p:sp>
      <p:sp>
        <p:nvSpPr>
          <p:cNvPr id="240"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Designation of Beneficiary forms are very important, but are often forgotten.  Many employees submit the forms, but forget to update them if life circumstances change.</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You should only complete these forms if you are </a:t>
            </a:r>
            <a:r>
              <a:rPr b="1" lang="en-US" sz="800" strike="noStrike" u="none">
                <a:solidFill>
                  <a:srgbClr val="000000"/>
                </a:solidFill>
                <a:effectLst/>
                <a:uFillTx/>
                <a:latin typeface="Arial"/>
              </a:rPr>
              <a:t>not</a:t>
            </a:r>
            <a:r>
              <a:rPr b="0" lang="en-US" sz="800" strike="noStrike" u="none">
                <a:solidFill>
                  <a:srgbClr val="000000"/>
                </a:solidFill>
                <a:effectLst/>
                <a:uFillTx/>
                <a:latin typeface="Arial"/>
              </a:rPr>
              <a:t> satisfied with the order of precedence listed here.</a:t>
            </a:r>
            <a:endParaRPr b="0" lang="en-IN" sz="800" strike="noStrike" u="none">
              <a:solidFill>
                <a:srgbClr val="000000"/>
              </a:solidFill>
              <a:effectLst/>
              <a:uFillTx/>
              <a:latin typeface="Arial"/>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FF7506A-A661-4335-871F-346090FF7F5B}"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42" name="PlaceHolder 1"/>
          <p:cNvSpPr>
            <a:spLocks noGrp="1"/>
          </p:cNvSpPr>
          <p:nvPr>
            <p:ph type="sldImg"/>
          </p:nvPr>
        </p:nvSpPr>
        <p:spPr>
          <a:xfrm>
            <a:off x="1179360" y="696960"/>
            <a:ext cx="4651560" cy="3486240"/>
          </a:xfrm>
          <a:prstGeom prst="rect">
            <a:avLst/>
          </a:prstGeom>
          <a:ln w="0">
            <a:noFill/>
          </a:ln>
        </p:spPr>
      </p:sp>
      <p:sp>
        <p:nvSpPr>
          <p:cNvPr id="243"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If you want to establish how certain benefits are to be paid, the designation of beneficiary forms listed should be completed, signed and witnessed by two individuals that are not assigned designees.</a:t>
            </a:r>
            <a:endParaRPr b="0" lang="en-IN" sz="800" strike="noStrike" u="none">
              <a:solidFill>
                <a:srgbClr val="000000"/>
              </a:solidFill>
              <a:effectLst/>
              <a:uFillTx/>
              <a:latin typeface="Arial"/>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4B78312-756A-4818-9A14-D337404C6346}"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45" name="PlaceHolder 1"/>
          <p:cNvSpPr>
            <a:spLocks noGrp="1"/>
          </p:cNvSpPr>
          <p:nvPr>
            <p:ph type="sldImg"/>
          </p:nvPr>
        </p:nvSpPr>
        <p:spPr>
          <a:xfrm>
            <a:off x="1179360" y="696960"/>
            <a:ext cx="4651560" cy="3486240"/>
          </a:xfrm>
          <a:prstGeom prst="rect">
            <a:avLst/>
          </a:prstGeom>
          <a:ln w="0">
            <a:noFill/>
          </a:ln>
        </p:spPr>
      </p:sp>
      <p:sp>
        <p:nvSpPr>
          <p:cNvPr id="246"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The original forms – these forms may not be faxed – should be mailed to the appropriate offices: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Designations for the Civil Service retirement System and the thrift Savings Plan should be sent to the address on each form.</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All other forms may be sent to the Benefits section of HRO in Minneapolis.</a:t>
            </a: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000000"/>
              </a:solidFill>
              <a:effectLst/>
              <a:uFillTx/>
              <a:latin typeface="Arial"/>
            </a:endParaRPr>
          </a:p>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Keep in mind, these designations are not valid until certified by the respective offices.</a:t>
            </a:r>
            <a:endParaRPr b="0" lang="en-IN" sz="800" strike="noStrike" u="none">
              <a:solidFill>
                <a:srgbClr val="000000"/>
              </a:solidFill>
              <a:effectLst/>
              <a:uFillTx/>
              <a:latin typeface="Arial"/>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7" name="Rectangle 7"/>
          <p:cNvSpPr/>
          <p:nvPr/>
        </p:nvSpPr>
        <p:spPr>
          <a:xfrm>
            <a:off x="3970440" y="8829720"/>
            <a:ext cx="3038400" cy="465120"/>
          </a:xfrm>
          <a:prstGeom prst="rect">
            <a:avLst/>
          </a:prstGeom>
          <a:noFill/>
          <a:ln w="0">
            <a:noFill/>
          </a:ln>
        </p:spPr>
        <p:style>
          <a:lnRef idx="0"/>
          <a:fillRef idx="0"/>
          <a:effectRef idx="0"/>
          <a:fontRef idx="minor"/>
        </p:style>
        <p:txBody>
          <a:bodyPr lIns="93240" rIns="93240" tIns="46440" bIns="4644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45BC35A-0546-4C7F-A2C0-290016566E93}" type="slidenum">
              <a:rPr b="0" lang="en-US" sz="1200" strike="noStrike" u="none">
                <a:solidFill>
                  <a:srgbClr val="ffffff"/>
                </a:solidFill>
                <a:effectLst/>
                <a:uFillTx/>
                <a:latin typeface="Arial"/>
              </a:rPr>
              <a:t>&lt;number&gt;</a:t>
            </a:fld>
            <a:endParaRPr b="0" lang="en-IN" sz="1200" strike="noStrike" u="none">
              <a:solidFill>
                <a:srgbClr val="ffffff"/>
              </a:solidFill>
              <a:effectLst/>
              <a:uFillTx/>
              <a:latin typeface="Arial"/>
            </a:endParaRPr>
          </a:p>
        </p:txBody>
      </p:sp>
      <p:sp>
        <p:nvSpPr>
          <p:cNvPr id="248" name="PlaceHolder 1"/>
          <p:cNvSpPr>
            <a:spLocks noGrp="1"/>
          </p:cNvSpPr>
          <p:nvPr>
            <p:ph type="sldImg"/>
          </p:nvPr>
        </p:nvSpPr>
        <p:spPr>
          <a:xfrm>
            <a:off x="1179360" y="696960"/>
            <a:ext cx="4651560" cy="3486240"/>
          </a:xfrm>
          <a:prstGeom prst="rect">
            <a:avLst/>
          </a:prstGeom>
          <a:ln w="0">
            <a:noFill/>
          </a:ln>
        </p:spPr>
      </p:sp>
      <p:sp>
        <p:nvSpPr>
          <p:cNvPr id="249" name="PlaceHolder 2"/>
          <p:cNvSpPr>
            <a:spLocks noGrp="1"/>
          </p:cNvSpPr>
          <p:nvPr>
            <p:ph type="body"/>
          </p:nvPr>
        </p:nvSpPr>
        <p:spPr>
          <a:xfrm>
            <a:off x="701280" y="4416120"/>
            <a:ext cx="5607000" cy="4182840"/>
          </a:xfrm>
          <a:prstGeom prst="rect">
            <a:avLst/>
          </a:prstGeom>
          <a:noFill/>
          <a:ln w="0">
            <a:noFill/>
          </a:ln>
        </p:spPr>
        <p:txBody>
          <a:bodyPr lIns="93240" rIns="93240" tIns="46440" bIns="46440" anchor="t">
            <a:noAutofit/>
          </a:bodyPr>
          <a:p>
            <a:pPr indent="0">
              <a:spcBef>
                <a:spcPts val="300"/>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none">
                <a:solidFill>
                  <a:srgbClr val="000000"/>
                </a:solidFill>
                <a:effectLst/>
                <a:uFillTx/>
                <a:latin typeface="Arial"/>
              </a:rPr>
              <a:t>Thank you and please remember to contact your Benefits assistant for your new employee benefit questions!</a:t>
            </a:r>
            <a:endParaRPr b="0" lang="en-IN" sz="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336699"/>
        </a:solidFill>
      </p:bgPr>
    </p:bg>
    <p:spTree>
      <p:nvGrpSpPr>
        <p:cNvPr id="1" name=""/>
        <p:cNvGrpSpPr/>
        <p:nvPr/>
      </p:nvGrpSpPr>
      <p:grpSpPr>
        <a:xfrm>
          <a:off x="0" y="0"/>
          <a:ext cx="0" cy="0"/>
          <a:chOff x="0" y="0"/>
          <a:chExt cx="0" cy="0"/>
        </a:xfrm>
      </p:grpSpPr>
      <p:grpSp>
        <p:nvGrpSpPr>
          <p:cNvPr id="0" name="Group 2"/>
          <p:cNvGrpSpPr/>
          <p:nvPr/>
        </p:nvGrpSpPr>
        <p:grpSpPr>
          <a:xfrm>
            <a:off x="0" y="0"/>
            <a:ext cx="5082480" cy="4572000"/>
            <a:chOff x="0" y="0"/>
            <a:chExt cx="5082480" cy="4572000"/>
          </a:xfrm>
        </p:grpSpPr>
        <p:grpSp>
          <p:nvGrpSpPr>
            <p:cNvPr id="1" name="Group 3"/>
            <p:cNvGrpSpPr/>
            <p:nvPr/>
          </p:nvGrpSpPr>
          <p:grpSpPr>
            <a:xfrm>
              <a:off x="0" y="0"/>
              <a:ext cx="2134800" cy="4572000"/>
              <a:chOff x="0" y="0"/>
              <a:chExt cx="2134800" cy="4572000"/>
            </a:xfrm>
          </p:grpSpPr>
          <p:sp>
            <p:nvSpPr>
              <p:cNvPr id="2" name="Rectangle 4"/>
              <p:cNvSpPr/>
              <p:nvPr/>
            </p:nvSpPr>
            <p:spPr>
              <a:xfrm>
                <a:off x="0" y="0"/>
                <a:ext cx="508320" cy="4572000"/>
              </a:xfrm>
              <a:prstGeom prst="rect">
                <a:avLst/>
              </a:prstGeom>
              <a:solidFill>
                <a:srgbClr val="9999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ffffff"/>
                  </a:solidFill>
                  <a:effectLst/>
                  <a:uFillTx/>
                  <a:latin typeface="Arial"/>
                </a:endParaRPr>
              </a:p>
            </p:txBody>
          </p:sp>
          <p:sp>
            <p:nvSpPr>
              <p:cNvPr id="3" name="Freeform 5"/>
              <p:cNvSpPr/>
              <p:nvPr/>
            </p:nvSpPr>
            <p:spPr>
              <a:xfrm>
                <a:off x="304920" y="0"/>
                <a:ext cx="1829880" cy="777600"/>
              </a:xfrm>
              <a:custGeom>
                <a:avLst/>
                <a:gdLst>
                  <a:gd name="textAreaLeft" fmla="*/ 0 w 1829880"/>
                  <a:gd name="textAreaRight" fmla="*/ 1830240 w 1829880"/>
                  <a:gd name="textAreaTop" fmla="*/ 0 h 777600"/>
                  <a:gd name="textAreaBottom" fmla="*/ 777960 h 777600"/>
                  <a:gd name="GluePoint1X" fmla="*/ 1728 w 1728"/>
                  <a:gd name="GluePoint1Y" fmla="*/ 0 h 735"/>
                  <a:gd name="GluePoint2X" fmla="*/ 1728 w 1728"/>
                  <a:gd name="GluePoint2Y" fmla="*/ 480 h 735"/>
                  <a:gd name="GluePoint3X" fmla="*/ 380 w 1728"/>
                  <a:gd name="GluePoint3Y" fmla="*/ 482 h 735"/>
                  <a:gd name="GluePoint4X" fmla="*/ 354 w 1728"/>
                  <a:gd name="GluePoint4Y" fmla="*/ 480 h 735"/>
                  <a:gd name="GluePoint5X" fmla="*/ 308 w 1728"/>
                  <a:gd name="GluePoint5Y" fmla="*/ 489 h 735"/>
                  <a:gd name="GluePoint6X" fmla="*/ 246 w 1728"/>
                  <a:gd name="GluePoint6Y" fmla="*/ 531 h 735"/>
                  <a:gd name="GluePoint7X" fmla="*/ 206 w 1728"/>
                  <a:gd name="GluePoint7Y" fmla="*/ 597 h 735"/>
                  <a:gd name="GluePoint8X" fmla="*/ 192 w 1728"/>
                  <a:gd name="GluePoint8Y" fmla="*/ 666 h 735"/>
                  <a:gd name="GluePoint9X" fmla="*/ 192 w 1728"/>
                  <a:gd name="GluePoint9Y" fmla="*/ 735 h 735"/>
                  <a:gd name="GluePoint10X" fmla="*/ 0 w 1728"/>
                  <a:gd name="GluePoint10Y" fmla="*/ 735 h 735"/>
                  <a:gd name="GluePoint11X" fmla="*/ 0 w 1728"/>
                  <a:gd name="GluePoint11Y" fmla="*/ 480 h 735"/>
                  <a:gd name="GluePoint12X" fmla="*/ 0 w 1728"/>
                  <a:gd name="GluePoint12Y" fmla="*/ 0 h 735"/>
                  <a:gd name="GluePoint13X" fmla="*/ 1728 w 1728"/>
                  <a:gd name="GluePoint13Y" fmla="*/ 0 h 735"/>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rgbClr val="9999ff"/>
              </a:solidFill>
              <a:ln w="0">
                <a:noFill/>
              </a:ln>
            </p:spPr>
            <p:style>
              <a:lnRef idx="0"/>
              <a:fillRef idx="0"/>
              <a:effectRef idx="0"/>
              <a:fontRef idx="minor"/>
            </p:style>
            <p:txBody>
              <a:bodyPr wrap="none" lIns="90000" rIns="90000" tIns="46800" bIns="46800" anchor="t">
                <a:noAutofit/>
              </a:bodyPr>
              <a:p>
                <a:endParaRPr b="0" lang="en-IN" sz="1800" strike="noStrike" u="none">
                  <a:solidFill>
                    <a:srgbClr val="ffffff"/>
                  </a:solidFill>
                  <a:effectLst/>
                  <a:uFillTx/>
                  <a:latin typeface="Arial"/>
                </a:endParaRPr>
              </a:p>
            </p:txBody>
          </p:sp>
        </p:grpSp>
        <p:grpSp>
          <p:nvGrpSpPr>
            <p:cNvPr id="4" name="Group 6"/>
            <p:cNvGrpSpPr/>
            <p:nvPr/>
          </p:nvGrpSpPr>
          <p:grpSpPr>
            <a:xfrm>
              <a:off x="152280" y="1320480"/>
              <a:ext cx="4930200" cy="212760"/>
              <a:chOff x="152280" y="1320480"/>
              <a:chExt cx="4930200" cy="212760"/>
            </a:xfrm>
          </p:grpSpPr>
          <p:sp>
            <p:nvSpPr>
              <p:cNvPr id="5" name="AutoShape 7"/>
              <p:cNvSpPr/>
              <p:nvPr/>
            </p:nvSpPr>
            <p:spPr>
              <a:xfrm>
                <a:off x="406080" y="1320480"/>
                <a:ext cx="4676400" cy="211680"/>
              </a:xfrm>
              <a:prstGeom prst="roundRect">
                <a:avLst>
                  <a:gd name="adj" fmla="val 0"/>
                </a:avLst>
              </a:prstGeom>
              <a:solidFill>
                <a:srgbClr val="cccc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ffffff"/>
                  </a:solidFill>
                  <a:effectLst/>
                  <a:uFillTx/>
                  <a:latin typeface="Arial"/>
                </a:endParaRPr>
              </a:p>
            </p:txBody>
          </p:sp>
          <p:sp>
            <p:nvSpPr>
              <p:cNvPr id="6" name="AutoShape 8"/>
              <p:cNvSpPr/>
              <p:nvPr/>
            </p:nvSpPr>
            <p:spPr>
              <a:xfrm flipH="1">
                <a:off x="152280" y="1320480"/>
                <a:ext cx="261360" cy="212760"/>
              </a:xfrm>
              <a:prstGeom prst="flowChartDelay">
                <a:avLst/>
              </a:prstGeom>
              <a:solidFill>
                <a:srgbClr val="cccc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ffffff"/>
                  </a:solidFill>
                  <a:effectLst/>
                  <a:uFillTx/>
                  <a:latin typeface="Arial"/>
                </a:endParaRPr>
              </a:p>
            </p:txBody>
          </p:sp>
        </p:grpSp>
      </p:grpSp>
      <p:sp>
        <p:nvSpPr>
          <p:cNvPr id="7" name="PlaceHolder 1"/>
          <p:cNvSpPr>
            <a:spLocks noGrp="1"/>
          </p:cNvSpPr>
          <p:nvPr>
            <p:ph type="title"/>
          </p:nvPr>
        </p:nvSpPr>
        <p:spPr>
          <a:xfrm>
            <a:off x="556200" y="555840"/>
            <a:ext cx="5189760" cy="665640"/>
          </a:xfrm>
          <a:prstGeom prst="rect">
            <a:avLst/>
          </a:prstGeom>
          <a:noFill/>
          <a:ln w="0">
            <a:noFill/>
          </a:ln>
        </p:spPr>
        <p:txBody>
          <a:bodyPr lIns="60840" rIns="60840" tIns="30600" bIns="306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eb"/>
                </a:solidFill>
                <a:effectLst/>
                <a:uFillTx/>
                <a:latin typeface="Arial"/>
              </a:rPr>
              <a:t>Click to edit the title text format</a:t>
            </a:r>
            <a:endParaRPr b="1" lang="en-IN" sz="2400" strike="noStrike" u="none">
              <a:solidFill>
                <a:srgbClr val="ffffeb"/>
              </a:solidFill>
              <a:effectLst/>
              <a:uFillTx/>
              <a:latin typeface="Arial"/>
            </a:endParaRPr>
          </a:p>
        </p:txBody>
      </p:sp>
      <p:sp>
        <p:nvSpPr>
          <p:cNvPr id="8" name="PlaceHolder 2"/>
          <p:cNvSpPr>
            <a:spLocks noGrp="1"/>
          </p:cNvSpPr>
          <p:nvPr>
            <p:ph type="body"/>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Click to edit the outline text format</a:t>
            </a:r>
            <a:endParaRPr b="0" lang="en-IN" sz="1900" strike="noStrike" u="none">
              <a:solidFill>
                <a:srgbClr val="ffffff"/>
              </a:solidFill>
              <a:effectLst/>
              <a:uFillTx/>
              <a:latin typeface="Arial"/>
            </a:endParaRPr>
          </a:p>
          <a:p>
            <a:pPr lvl="1" marL="495360" indent="-190440">
              <a:spcBef>
                <a:spcPts val="47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Second Outline Level</a:t>
            </a:r>
            <a:endParaRPr b="0" lang="en-IN" sz="1900" strike="noStrike" u="none">
              <a:solidFill>
                <a:srgbClr val="ffffff"/>
              </a:solidFill>
              <a:effectLst/>
              <a:uFillTx/>
              <a:latin typeface="Arial"/>
            </a:endParaRPr>
          </a:p>
          <a:p>
            <a:pPr lvl="2" marL="762120" indent="-15264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Third Outline Level</a:t>
            </a:r>
            <a:endParaRPr b="0" lang="en-IN" sz="1900" strike="noStrike" u="none">
              <a:solidFill>
                <a:srgbClr val="ffffff"/>
              </a:solidFill>
              <a:effectLst/>
              <a:uFillTx/>
              <a:latin typeface="Arial"/>
            </a:endParaRPr>
          </a:p>
          <a:p>
            <a:pPr lvl="3" marL="1066680" indent="-152280">
              <a:spcBef>
                <a:spcPts val="476"/>
              </a:spcBef>
              <a:buClr>
                <a:srgbClr val="ffffff"/>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Fourth Outline Level</a:t>
            </a:r>
            <a:endParaRPr b="0" lang="en-IN" sz="1900" strike="noStrike" u="none">
              <a:solidFill>
                <a:srgbClr val="ffffff"/>
              </a:solidFill>
              <a:effectLst/>
              <a:uFillTx/>
              <a:latin typeface="Arial"/>
            </a:endParaRPr>
          </a:p>
          <a:p>
            <a:pPr lvl="4"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Fifth Outline Level</a:t>
            </a:r>
            <a:endParaRPr b="0" lang="en-IN" sz="1900" strike="noStrike" u="none">
              <a:solidFill>
                <a:srgbClr val="ffffff"/>
              </a:solidFill>
              <a:effectLst/>
              <a:uFillTx/>
              <a:latin typeface="Arial"/>
            </a:endParaRPr>
          </a:p>
          <a:p>
            <a:pPr lvl="5"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Sixth Outline Level</a:t>
            </a:r>
            <a:endParaRPr b="0" lang="en-IN" sz="1900" strike="noStrike" u="none">
              <a:solidFill>
                <a:srgbClr val="ffffff"/>
              </a:solidFill>
              <a:effectLst/>
              <a:uFillTx/>
              <a:latin typeface="Arial"/>
            </a:endParaRPr>
          </a:p>
          <a:p>
            <a:pPr lvl="6"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Seventh Outline Level</a:t>
            </a:r>
            <a:endParaRPr b="0" lang="en-IN" sz="1900" strike="noStrike" u="none">
              <a:solidFill>
                <a:srgbClr val="ffffff"/>
              </a:solidFill>
              <a:effectLst/>
              <a:uFillTx/>
              <a:latin typeface="Arial"/>
            </a:endParaRPr>
          </a:p>
        </p:txBody>
      </p:sp>
      <p:sp>
        <p:nvSpPr>
          <p:cNvPr id="9" name="PlaceHolder 3"/>
          <p:cNvSpPr>
            <a:spLocks noGrp="1"/>
          </p:cNvSpPr>
          <p:nvPr>
            <p:ph type="dt" idx="1"/>
          </p:nvPr>
        </p:nvSpPr>
        <p:spPr>
          <a:xfrm>
            <a:off x="1626840" y="4165560"/>
            <a:ext cx="1420920" cy="316080"/>
          </a:xfrm>
          <a:prstGeom prst="rect">
            <a:avLst/>
          </a:prstGeom>
          <a:noFill/>
          <a:ln w="0">
            <a:noFill/>
          </a:ln>
        </p:spPr>
        <p:txBody>
          <a:bodyPr lIns="60840" rIns="60840" tIns="30600" bIns="306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10" name="PlaceHolder 4"/>
          <p:cNvSpPr>
            <a:spLocks noGrp="1"/>
          </p:cNvSpPr>
          <p:nvPr>
            <p:ph type="ftr" idx="2"/>
          </p:nvPr>
        </p:nvSpPr>
        <p:spPr>
          <a:xfrm>
            <a:off x="3862080" y="4165560"/>
            <a:ext cx="1933560" cy="316080"/>
          </a:xfrm>
          <a:prstGeom prst="rect">
            <a:avLst/>
          </a:prstGeom>
          <a:noFill/>
          <a:ln w="0">
            <a:noFill/>
          </a:ln>
        </p:spPr>
        <p:txBody>
          <a:bodyPr lIns="60840" rIns="60840" tIns="30600" bIns="306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11" name="PlaceHolder 5"/>
          <p:cNvSpPr>
            <a:spLocks noGrp="1"/>
          </p:cNvSpPr>
          <p:nvPr>
            <p:ph type="sldNum" idx="3"/>
          </p:nvPr>
        </p:nvSpPr>
        <p:spPr>
          <a:xfrm>
            <a:off x="55440" y="4160880"/>
            <a:ext cx="392400" cy="326880"/>
          </a:xfrm>
          <a:prstGeom prst="rect">
            <a:avLst/>
          </a:prstGeom>
          <a:noFill/>
          <a:ln w="0">
            <a:noFill/>
          </a:ln>
        </p:spPr>
        <p:txBody>
          <a:bodyPr lIns="60840" rIns="60840" tIns="30600" bIns="30600" anchor="b" anchorCtr="1">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US" sz="1700" strike="noStrike" u="none">
                <a:solidFill>
                  <a:srgbClr val="336699"/>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C89C6CFB-F1DA-471D-9AE6-744A54F0007D}" type="slidenum">
              <a:rPr b="1" lang="en-US" sz="1700" strike="noStrike" u="none">
                <a:solidFill>
                  <a:srgbClr val="336699"/>
                </a:solidFill>
                <a:effectLst/>
                <a:uFillTx/>
                <a:latin typeface="Times New Roman"/>
              </a:rPr>
              <a:t>&lt;number&gt;</a:t>
            </a:fld>
            <a:endParaRPr b="0" lang="en-IN" sz="1700" strike="noStrike" u="none">
              <a:solidFill>
                <a:srgbClr val="ffffff"/>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bg>
      <p:bgPr>
        <a:solidFill>
          <a:srgbClr val="336699"/>
        </a:solidFill>
      </p:bgPr>
    </p:bg>
    <p:spTree>
      <p:nvGrpSpPr>
        <p:cNvPr id="1" name=""/>
        <p:cNvGrpSpPr/>
        <p:nvPr/>
      </p:nvGrpSpPr>
      <p:grpSpPr>
        <a:xfrm>
          <a:off x="0" y="0"/>
          <a:ext cx="0" cy="0"/>
          <a:chOff x="0" y="0"/>
          <a:chExt cx="0" cy="0"/>
        </a:xfrm>
      </p:grpSpPr>
      <p:grpSp>
        <p:nvGrpSpPr>
          <p:cNvPr id="12" name="Group 2"/>
          <p:cNvGrpSpPr/>
          <p:nvPr/>
        </p:nvGrpSpPr>
        <p:grpSpPr>
          <a:xfrm>
            <a:off x="0" y="0"/>
            <a:ext cx="3912840" cy="4572000"/>
            <a:chOff x="0" y="0"/>
            <a:chExt cx="3912840" cy="4572000"/>
          </a:xfrm>
        </p:grpSpPr>
        <p:sp>
          <p:nvSpPr>
            <p:cNvPr id="13" name="Rectangle 3"/>
            <p:cNvSpPr/>
            <p:nvPr/>
          </p:nvSpPr>
          <p:spPr>
            <a:xfrm>
              <a:off x="0" y="0"/>
              <a:ext cx="3049200" cy="4572000"/>
            </a:xfrm>
            <a:prstGeom prst="rect">
              <a:avLst/>
            </a:prstGeom>
            <a:solidFill>
              <a:srgbClr val="9999ff"/>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14" name="AutoShape 4"/>
            <p:cNvSpPr/>
            <p:nvPr/>
          </p:nvSpPr>
          <p:spPr>
            <a:xfrm>
              <a:off x="457200" y="660240"/>
              <a:ext cx="3455640" cy="1269720"/>
            </a:xfrm>
            <a:prstGeom prst="roundRect">
              <a:avLst>
                <a:gd name="adj" fmla="val 50000"/>
              </a:avLst>
            </a:prstGeom>
            <a:solidFill>
              <a:srgbClr val="336699"/>
            </a:solidFill>
            <a:ln w="0">
              <a:noFill/>
            </a:ln>
          </p:spPr>
          <p:style>
            <a:lnRef idx="0"/>
            <a:fillRef idx="0"/>
            <a:effectRef idx="0"/>
            <a:fontRef idx="minor"/>
          </p:style>
          <p:txBody>
            <a:bodyPr wrap="none" lIns="90000" rIns="90000" tIns="46800" bIns="46800" anchor="ctr">
              <a:noAutofit/>
            </a:bodyPr>
            <a:p>
              <a:pPr algn="ct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grpSp>
      <p:grpSp>
        <p:nvGrpSpPr>
          <p:cNvPr id="15" name="Group 5"/>
          <p:cNvGrpSpPr/>
          <p:nvPr/>
        </p:nvGrpSpPr>
        <p:grpSpPr>
          <a:xfrm>
            <a:off x="2422440" y="3259080"/>
            <a:ext cx="3252600" cy="212760"/>
            <a:chOff x="2422440" y="3259080"/>
            <a:chExt cx="3252600" cy="212760"/>
          </a:xfrm>
        </p:grpSpPr>
        <p:sp>
          <p:nvSpPr>
            <p:cNvPr id="16" name="AutoShape 6"/>
            <p:cNvSpPr/>
            <p:nvPr/>
          </p:nvSpPr>
          <p:spPr>
            <a:xfrm flipH="1">
              <a:off x="2422440" y="3259080"/>
              <a:ext cx="3086640" cy="210600"/>
            </a:xfrm>
            <a:prstGeom prst="roundRect">
              <a:avLst>
                <a:gd name="adj" fmla="val 0"/>
              </a:avLst>
            </a:prstGeom>
            <a:solidFill>
              <a:srgbClr val="cccc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ffffff"/>
                </a:solidFill>
                <a:effectLst/>
                <a:uFillTx/>
                <a:latin typeface="Arial"/>
              </a:endParaRPr>
            </a:p>
          </p:txBody>
        </p:sp>
        <p:sp>
          <p:nvSpPr>
            <p:cNvPr id="17" name="AutoShape 7"/>
            <p:cNvSpPr/>
            <p:nvPr/>
          </p:nvSpPr>
          <p:spPr>
            <a:xfrm>
              <a:off x="5502600" y="3259080"/>
              <a:ext cx="172440" cy="212760"/>
            </a:xfrm>
            <a:prstGeom prst="flowChartDelay">
              <a:avLst/>
            </a:prstGeom>
            <a:solidFill>
              <a:srgbClr val="ccccff"/>
            </a:solidFill>
            <a:ln w="0">
              <a:noFill/>
            </a:ln>
          </p:spPr>
          <p:style>
            <a:lnRef idx="0"/>
            <a:fillRef idx="0"/>
            <a:effectRef idx="0"/>
            <a:fontRef idx="minor"/>
          </p:style>
          <p:txBody>
            <a:bodyPr wrap="none" lIns="90000" rIns="90000" tIns="46800" bIns="46800" anchor="ctr">
              <a:noAutofit/>
            </a:bodyPr>
            <a:p>
              <a:endParaRPr b="0" lang="en-IN" sz="1800" strike="noStrike" u="none">
                <a:solidFill>
                  <a:srgbClr val="ffffff"/>
                </a:solidFill>
                <a:effectLst/>
                <a:uFillTx/>
                <a:latin typeface="Arial"/>
              </a:endParaRPr>
            </a:p>
          </p:txBody>
        </p:sp>
      </p:grpSp>
      <p:sp>
        <p:nvSpPr>
          <p:cNvPr id="18" name="PlaceHolder 1"/>
          <p:cNvSpPr>
            <a:spLocks noGrp="1"/>
          </p:cNvSpPr>
          <p:nvPr>
            <p:ph type="title"/>
          </p:nvPr>
        </p:nvSpPr>
        <p:spPr>
          <a:xfrm>
            <a:off x="556200" y="555840"/>
            <a:ext cx="5189760" cy="665640"/>
          </a:xfrm>
          <a:prstGeom prst="rect">
            <a:avLst/>
          </a:prstGeom>
          <a:noFill/>
          <a:ln w="0">
            <a:noFill/>
          </a:ln>
        </p:spPr>
        <p:txBody>
          <a:bodyPr lIns="60840" rIns="60840" tIns="30600" bIns="30600" anchor="b">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IN" sz="2400" strike="noStrike" u="none">
                <a:solidFill>
                  <a:srgbClr val="ffffeb"/>
                </a:solidFill>
                <a:effectLst/>
                <a:uFillTx/>
                <a:latin typeface="Arial"/>
              </a:rPr>
              <a:t>Click to edit the title text format</a:t>
            </a:r>
            <a:endParaRPr b="1" lang="en-IN" sz="2400" strike="noStrike" u="none">
              <a:solidFill>
                <a:srgbClr val="ffffeb"/>
              </a:solidFill>
              <a:effectLst/>
              <a:uFillTx/>
              <a:latin typeface="Arial"/>
            </a:endParaRPr>
          </a:p>
        </p:txBody>
      </p:sp>
      <p:sp>
        <p:nvSpPr>
          <p:cNvPr id="19" name="PlaceHolder 2"/>
          <p:cNvSpPr>
            <a:spLocks noGrp="1"/>
          </p:cNvSpPr>
          <p:nvPr>
            <p:ph type="body"/>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Click to edit the outline text format</a:t>
            </a:r>
            <a:endParaRPr b="0" lang="en-IN" sz="1900" strike="noStrike" u="none">
              <a:solidFill>
                <a:srgbClr val="ffffff"/>
              </a:solidFill>
              <a:effectLst/>
              <a:uFillTx/>
              <a:latin typeface="Arial"/>
            </a:endParaRPr>
          </a:p>
          <a:p>
            <a:pPr lvl="1" marL="495360" indent="-190440">
              <a:spcBef>
                <a:spcPts val="47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Second Outline Level</a:t>
            </a:r>
            <a:endParaRPr b="0" lang="en-IN" sz="1900" strike="noStrike" u="none">
              <a:solidFill>
                <a:srgbClr val="ffffff"/>
              </a:solidFill>
              <a:effectLst/>
              <a:uFillTx/>
              <a:latin typeface="Arial"/>
            </a:endParaRPr>
          </a:p>
          <a:p>
            <a:pPr lvl="2" marL="762120" indent="-15264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Third Outline Level</a:t>
            </a:r>
            <a:endParaRPr b="0" lang="en-IN" sz="1900" strike="noStrike" u="none">
              <a:solidFill>
                <a:srgbClr val="ffffff"/>
              </a:solidFill>
              <a:effectLst/>
              <a:uFillTx/>
              <a:latin typeface="Arial"/>
            </a:endParaRPr>
          </a:p>
          <a:p>
            <a:pPr lvl="3" marL="1066680" indent="-152280">
              <a:spcBef>
                <a:spcPts val="476"/>
              </a:spcBef>
              <a:buClr>
                <a:srgbClr val="ffffff"/>
              </a:buClr>
              <a:buSzPct val="80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Fourth Outline Level</a:t>
            </a:r>
            <a:endParaRPr b="0" lang="en-IN" sz="1900" strike="noStrike" u="none">
              <a:solidFill>
                <a:srgbClr val="ffffff"/>
              </a:solidFill>
              <a:effectLst/>
              <a:uFillTx/>
              <a:latin typeface="Arial"/>
            </a:endParaRPr>
          </a:p>
          <a:p>
            <a:pPr lvl="4"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Fifth Outline Level</a:t>
            </a:r>
            <a:endParaRPr b="0" lang="en-IN" sz="1900" strike="noStrike" u="none">
              <a:solidFill>
                <a:srgbClr val="ffffff"/>
              </a:solidFill>
              <a:effectLst/>
              <a:uFillTx/>
              <a:latin typeface="Arial"/>
            </a:endParaRPr>
          </a:p>
          <a:p>
            <a:pPr lvl="5"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Sixth Outline Level</a:t>
            </a:r>
            <a:endParaRPr b="0" lang="en-IN" sz="1900" strike="noStrike" u="none">
              <a:solidFill>
                <a:srgbClr val="ffffff"/>
              </a:solidFill>
              <a:effectLst/>
              <a:uFillTx/>
              <a:latin typeface="Arial"/>
            </a:endParaRPr>
          </a:p>
          <a:p>
            <a:pPr lvl="6" marL="1371600" indent="-152280">
              <a:spcBef>
                <a:spcPts val="476"/>
              </a:spcBef>
              <a:buClr>
                <a:srgbClr val="ffffff"/>
              </a:buClr>
              <a:buSzPct val="6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IN" sz="1900" strike="noStrike" u="none">
                <a:solidFill>
                  <a:srgbClr val="ffffff"/>
                </a:solidFill>
                <a:effectLst/>
                <a:uFillTx/>
                <a:latin typeface="Arial"/>
              </a:rPr>
              <a:t>Seventh Outline Level</a:t>
            </a:r>
            <a:endParaRPr b="0" lang="en-IN" sz="1900" strike="noStrike" u="none">
              <a:solidFill>
                <a:srgbClr val="ffffff"/>
              </a:solidFill>
              <a:effectLst/>
              <a:uFillTx/>
              <a:latin typeface="Arial"/>
            </a:endParaRPr>
          </a:p>
        </p:txBody>
      </p:sp>
      <p:sp>
        <p:nvSpPr>
          <p:cNvPr id="20" name="PlaceHolder 3"/>
          <p:cNvSpPr>
            <a:spLocks noGrp="1"/>
          </p:cNvSpPr>
          <p:nvPr>
            <p:ph type="dt" idx="4"/>
          </p:nvPr>
        </p:nvSpPr>
        <p:spPr>
          <a:xfrm>
            <a:off x="1626840" y="4165560"/>
            <a:ext cx="1420920" cy="316080"/>
          </a:xfrm>
          <a:prstGeom prst="rect">
            <a:avLst/>
          </a:prstGeom>
          <a:noFill/>
          <a:ln w="0">
            <a:noFill/>
          </a:ln>
        </p:spPr>
        <p:txBody>
          <a:bodyPr lIns="60840" rIns="60840" tIns="30600" bIns="306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21" name="PlaceHolder 4"/>
          <p:cNvSpPr>
            <a:spLocks noGrp="1"/>
          </p:cNvSpPr>
          <p:nvPr>
            <p:ph type="ftr" idx="5"/>
          </p:nvPr>
        </p:nvSpPr>
        <p:spPr>
          <a:xfrm>
            <a:off x="3862080" y="4165560"/>
            <a:ext cx="1933560" cy="316080"/>
          </a:xfrm>
          <a:prstGeom prst="rect">
            <a:avLst/>
          </a:prstGeom>
          <a:noFill/>
          <a:ln w="0">
            <a:noFill/>
          </a:ln>
        </p:spPr>
        <p:txBody>
          <a:bodyPr lIns="60840" rIns="60840" tIns="30600" bIns="30600" anchor="b">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800" strike="noStrike" u="none">
              <a:solidFill>
                <a:srgbClr val="ffffff"/>
              </a:solidFill>
              <a:effectLst/>
              <a:uFillTx/>
              <a:latin typeface="Arial"/>
            </a:endParaRPr>
          </a:p>
        </p:txBody>
      </p:sp>
      <p:sp>
        <p:nvSpPr>
          <p:cNvPr id="22" name="PlaceHolder 5"/>
          <p:cNvSpPr>
            <a:spLocks noGrp="1"/>
          </p:cNvSpPr>
          <p:nvPr>
            <p:ph type="sldNum" idx="6"/>
          </p:nvPr>
        </p:nvSpPr>
        <p:spPr>
          <a:xfrm>
            <a:off x="50400" y="4165560"/>
            <a:ext cx="392040" cy="325440"/>
          </a:xfrm>
          <a:prstGeom prst="rect">
            <a:avLst/>
          </a:prstGeom>
          <a:noFill/>
          <a:ln w="0">
            <a:noFill/>
          </a:ln>
        </p:spPr>
        <p:txBody>
          <a:bodyPr lIns="60840" rIns="60840" tIns="30600" bIns="30600" anchor="b">
            <a:noAutofit/>
          </a:bodyPr>
          <a:lstStyle>
            <a:lvl1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1" lang="en-US" sz="1700" strike="noStrike" u="none">
                <a:solidFill>
                  <a:srgbClr val="336699"/>
                </a:solidFill>
                <a:effectLst/>
                <a:uFillTx/>
                <a:latin typeface="Times New Roman"/>
              </a:defRPr>
            </a:lvl1pPr>
          </a:lstStyle>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1C82DFB-06E7-4706-9AD6-7E214C1FD9F0}" type="slidenum">
              <a:rPr b="1" lang="en-US" sz="1700" strike="noStrike" u="none">
                <a:solidFill>
                  <a:srgbClr val="336699"/>
                </a:solidFill>
                <a:effectLst/>
                <a:uFillTx/>
                <a:latin typeface="Times New Roman"/>
              </a:rPr>
              <a:t>&lt;number&gt;</a:t>
            </a:fld>
            <a:endParaRPr b="0" lang="en-IN" sz="17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hyperlink" Target="http://www.aphis.usda.gov/mrpbs/contact_us/benefits.shtml" TargetMode="External"/><Relationship Id="rId2" Type="http://schemas.openxmlformats.org/officeDocument/2006/relationships/slideLayout" Target="../slideLayouts/slideLayout2.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hyperlink" Target="http://www.opm.gov/insure/life/index.asp" TargetMode="External"/><Relationship Id="rId2" Type="http://schemas.openxmlformats.org/officeDocument/2006/relationships/hyperlink" Target="http://www.aphis.usda.gov/mrpbs/downloads/forms/sf/sf2817.pdf" TargetMode="External"/><Relationship Id="rId3" Type="http://schemas.openxmlformats.org/officeDocument/2006/relationships/image" Target="../media/image3.wmf"/><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wmf"/><Relationship Id="rId2" Type="http://schemas.openxmlformats.org/officeDocument/2006/relationships/slideLayout" Target="../slideLayouts/slideLayout1.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4.wmf"/><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hyperlink" Target="http://www.opm.gov/insure/health/index.asp" TargetMode="External"/><Relationship Id="rId2" Type="http://schemas.openxmlformats.org/officeDocument/2006/relationships/image" Target="../media/image4.wmf"/><Relationship Id="rId3" Type="http://schemas.openxmlformats.org/officeDocument/2006/relationships/slideLayout" Target="../slideLayouts/slideLayout1.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hyperlink" Target="http://www.opm.gov/forms/pdf_fill/sf2809.pdf" TargetMode="External"/><Relationship Id="rId2" Type="http://schemas.openxmlformats.org/officeDocument/2006/relationships/image" Target="../media/image4.wmf"/><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wmf"/><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hyperlink" Target="http://www.opm.gov/insure/health/reference/premconversion/index.asp" TargetMode="External"/><Relationship Id="rId2" Type="http://schemas.openxmlformats.org/officeDocument/2006/relationships/image" Target="../media/image4.wmf"/><Relationship Id="rId3" Type="http://schemas.openxmlformats.org/officeDocument/2006/relationships/slideLayout" Target="../slideLayouts/slideLayout1.xml"/><Relationship Id="rId4"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hyperlink" Target="http://www.aphis.usda.gov/mrpbs/hr/benefits/fehb_options.shtml" TargetMode="External"/><Relationship Id="rId2" Type="http://schemas.openxmlformats.org/officeDocument/2006/relationships/hyperlink" Target="http://www.aphis.usda.gov/mrpbs/downloads/forms/mrp/fehb_options.pdf" TargetMode="External"/><Relationship Id="rId3" Type="http://schemas.openxmlformats.org/officeDocument/2006/relationships/hyperlink" Target="http://www.aphis.usda.gov/mrpbs/contact_us/benefits.shtml" TargetMode="External"/><Relationship Id="rId4"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hyperlink" Target="http://www.opm.gov/insure/dental/chooseindex.asp" TargetMode="External"/><Relationship Id="rId2" Type="http://schemas.openxmlformats.org/officeDocument/2006/relationships/hyperlink" Target="https://www.benefeds.com/" TargetMode="External"/><Relationship Id="rId3" Type="http://schemas.openxmlformats.org/officeDocument/2006/relationships/image" Target="../media/image5.wmf"/><Relationship Id="rId4" Type="http://schemas.openxmlformats.org/officeDocument/2006/relationships/image" Target="../media/image6.wmf"/><Relationship Id="rId5" Type="http://schemas.openxmlformats.org/officeDocument/2006/relationships/slideLayout" Target="../slideLayouts/slideLayout1.xml"/><Relationship Id="rId6"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hyperlink" Target="https://www.benefeds.com/" TargetMode="External"/><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hyperlink" Target="http://www.fsafeds.com/" TargetMode="External"/><Relationship Id="rId2" Type="http://schemas.openxmlformats.org/officeDocument/2006/relationships/image" Target="../media/image7.wmf"/><Relationship Id="rId3" Type="http://schemas.openxmlformats.org/officeDocument/2006/relationships/slideLayout" Target="../slideLayouts/slideLayout1.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slideLayout" Target="../slideLayouts/slideLayout1.xml"/><Relationship Id="rId3"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hyperlink" Target="http://www.opm.gov/retire/pubs/pamphlets/fers.asp" TargetMode="External"/><Relationship Id="rId2" Type="http://schemas.openxmlformats.org/officeDocument/2006/relationships/image" Target="../media/image8.wmf"/><Relationship Id="rId3" Type="http://schemas.openxmlformats.org/officeDocument/2006/relationships/slideLayout" Target="../slideLayouts/slideLayout1.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8.wmf"/><Relationship Id="rId2" Type="http://schemas.openxmlformats.org/officeDocument/2006/relationships/slideLayout" Target="../slideLayouts/slideLayout1.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hyperlink" Target="http://www.opm.gov/retire/pubs/pamphlets/fers.asp" TargetMode="External"/><Relationship Id="rId2" Type="http://schemas.openxmlformats.org/officeDocument/2006/relationships/image" Target="../media/image8.wmf"/><Relationship Id="rId3" Type="http://schemas.openxmlformats.org/officeDocument/2006/relationships/slideLayout" Target="../slideLayouts/slideLayout1.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hyperlink" Target="http://www.aphis.usda.gov/mrpbs/hr/benefits/post_1956_military_duty.shtml" TargetMode="External"/><Relationship Id="rId2" Type="http://schemas.openxmlformats.org/officeDocument/2006/relationships/image" Target="../media/image8.wmf"/><Relationship Id="rId3" Type="http://schemas.openxmlformats.org/officeDocument/2006/relationships/slideLayout" Target="../slideLayouts/slideLayout1.xml"/><Relationship Id="rId4"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xml"/><Relationship Id="rId3"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9.wmf"/><Relationship Id="rId2" Type="http://schemas.openxmlformats.org/officeDocument/2006/relationships/slideLayout" Target="../slideLayouts/slideLayout1.xml"/><Relationship Id="rId3"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1.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1.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0.wmf"/><Relationship Id="rId2" Type="http://schemas.openxmlformats.org/officeDocument/2006/relationships/slideLayout" Target="../slideLayouts/slideLayout1.xml"/><Relationship Id="rId3"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1.xml"/><Relationship Id="rId3"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1.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image" Target="../media/image11.wmf"/><Relationship Id="rId2" Type="http://schemas.openxmlformats.org/officeDocument/2006/relationships/slideLayout" Target="../slideLayouts/slideLayout1.xml"/><Relationship Id="rId3"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2.wmf"/><Relationship Id="rId2" Type="http://schemas.openxmlformats.org/officeDocument/2006/relationships/slideLayout" Target="../slideLayouts/slideLayout1.xml"/><Relationship Id="rId3" Type="http://schemas.openxmlformats.org/officeDocument/2006/relationships/notesSlide" Target="../notesSlides/notesSlide4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 name="PlaceHolder 1"/>
          <p:cNvSpPr>
            <a:spLocks noGrp="1"/>
          </p:cNvSpPr>
          <p:nvPr>
            <p:ph type="subTitle"/>
          </p:nvPr>
        </p:nvSpPr>
        <p:spPr>
          <a:xfrm>
            <a:off x="3117600" y="1980720"/>
            <a:ext cx="2981160" cy="2590920"/>
          </a:xfrm>
          <a:prstGeom prst="rect">
            <a:avLst/>
          </a:prstGeom>
          <a:noFill/>
          <a:ln w="0">
            <a:noFill/>
          </a:ln>
        </p:spPr>
        <p:txBody>
          <a:bodyPr lIns="60840" rIns="60840" tIns="30600" bIns="30600" anchor="b">
            <a:noAutofit/>
          </a:bodyPr>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eb"/>
                </a:solidFill>
                <a:effectLst/>
                <a:uFillTx/>
                <a:latin typeface="Arial"/>
              </a:rPr>
              <a:t>USDA, MRPBS </a:t>
            </a: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eb"/>
                </a:solidFill>
                <a:effectLst/>
                <a:uFillTx/>
                <a:latin typeface="Arial"/>
              </a:rPr>
              <a:t>Human Resources Operations </a:t>
            </a: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eb"/>
                </a:solidFill>
                <a:effectLst/>
                <a:uFillTx/>
                <a:latin typeface="Arial"/>
              </a:rPr>
              <a:t>Benefits Section </a:t>
            </a:r>
            <a:br>
              <a:rPr sz="1100"/>
            </a:br>
            <a:r>
              <a:rPr b="1" lang="en-US" sz="1100" strike="noStrike" u="none">
                <a:solidFill>
                  <a:srgbClr val="ffffeb"/>
                </a:solidFill>
                <a:effectLst/>
                <a:uFillTx/>
                <a:latin typeface="Arial"/>
              </a:rPr>
              <a:t>100 North 6th Street</a:t>
            </a: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100" strike="noStrike" u="none">
                <a:solidFill>
                  <a:srgbClr val="ffffeb"/>
                </a:solidFill>
                <a:effectLst/>
                <a:uFillTx/>
                <a:latin typeface="Arial"/>
              </a:rPr>
              <a:t>Minneapolis, MN  55403-1588</a:t>
            </a: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eb"/>
                </a:solidFill>
                <a:effectLst/>
                <a:uFillTx/>
                <a:latin typeface="Arial"/>
              </a:rPr>
              <a:t>Contact the Benefits Assistant who works with your agency/program:</a:t>
            </a:r>
            <a:endParaRPr b="0" lang="en-IN" sz="1100" strike="noStrike" u="none">
              <a:solidFill>
                <a:srgbClr val="ffffff"/>
              </a:solidFill>
              <a:effectLst/>
              <a:uFillTx/>
              <a:latin typeface="Arial"/>
            </a:endParaRPr>
          </a:p>
          <a:p>
            <a:pPr>
              <a:lnSpc>
                <a:spcPct val="9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800" strike="noStrike" u="sng">
                <a:solidFill>
                  <a:srgbClr val="ccccff"/>
                </a:solidFill>
                <a:effectLst/>
                <a:uFillTx/>
                <a:latin typeface="Arial"/>
                <a:hlinkClick r:id="rId1"/>
              </a:rPr>
              <a:t>http://www.aphis.usda.gov/mrpbs/contact_us/benefits.shtml</a:t>
            </a:r>
            <a:endParaRPr b="0" lang="en-IN" sz="8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eb"/>
                </a:solidFill>
                <a:effectLst/>
                <a:uFillTx/>
                <a:latin typeface="Arial"/>
              </a:rPr>
              <a:t>FAX: 612-336-3545</a:t>
            </a:r>
            <a:r>
              <a:rPr b="0" lang="en-US" sz="1100" strike="noStrike" u="none">
                <a:solidFill>
                  <a:srgbClr val="ffffeb"/>
                </a:solidFill>
                <a:effectLst/>
                <a:uFillTx/>
                <a:latin typeface="Arial"/>
              </a:rPr>
              <a:t>	</a:t>
            </a:r>
            <a:r>
              <a:rPr b="0" lang="en-US" sz="1100" strike="noStrike" u="none">
                <a:solidFill>
                  <a:srgbClr val="ffffeb"/>
                </a:solidFill>
                <a:effectLst/>
                <a:uFillTx/>
                <a:latin typeface="Arial"/>
              </a:rPr>
              <a:t>	</a:t>
            </a:r>
            <a:r>
              <a:rPr b="0" lang="en-US" sz="1100" strike="noStrike" u="none">
                <a:solidFill>
                  <a:srgbClr val="ffffeb"/>
                </a:solidFill>
                <a:effectLst/>
                <a:uFillTx/>
                <a:latin typeface="Arial"/>
              </a:rPr>
              <a:t>04/03/10</a:t>
            </a:r>
            <a:endParaRPr b="0" lang="en-IN" sz="1100" strike="noStrike" u="none">
              <a:solidFill>
                <a:srgbClr val="ffffff"/>
              </a:solidFill>
              <a:effectLst/>
              <a:uFillTx/>
              <a:latin typeface="Arial"/>
            </a:endParaRPr>
          </a:p>
        </p:txBody>
      </p:sp>
      <p:sp>
        <p:nvSpPr>
          <p:cNvPr id="31" name=""/>
          <p:cNvSpPr txBox="1"/>
          <p:nvPr/>
        </p:nvSpPr>
        <p:spPr>
          <a:xfrm>
            <a:off x="388800" y="846000"/>
            <a:ext cx="5524560" cy="898560"/>
          </a:xfrm>
          <a:prstGeom prst="rect">
            <a:avLst/>
          </a:prstGeom>
          <a:noFill/>
          <a:ln w="0">
            <a:noFill/>
          </a:ln>
        </p:spPr>
        <p:txBody>
          <a:bodyPr lIns="60840" rIns="60840" tIns="30600" bIns="30600" anchor="ctr">
            <a:noAutofit/>
          </a:bodyPr>
          <a:p>
            <a:pPr algn="ct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100" strike="noStrike" u="none">
                <a:solidFill>
                  <a:srgbClr val="ffffff"/>
                </a:solidFill>
                <a:effectLst/>
                <a:uFillTx/>
                <a:latin typeface="Arial"/>
              </a:rPr>
              <a:t>New Employee Benefits </a:t>
            </a:r>
            <a:br>
              <a:rPr sz="2100"/>
            </a:br>
            <a:r>
              <a:rPr b="1" lang="en-US" sz="1200" strike="noStrike" u="none">
                <a:solidFill>
                  <a:srgbClr val="ffffff"/>
                </a:solidFill>
                <a:effectLst/>
                <a:uFillTx/>
                <a:latin typeface="Arial"/>
              </a:rPr>
              <a:t>for Eligible Employees of </a:t>
            </a:r>
            <a:br>
              <a:rPr sz="1200"/>
            </a:br>
            <a:r>
              <a:rPr b="1" lang="en-US" sz="1200" strike="noStrike" u="none">
                <a:solidFill>
                  <a:srgbClr val="ffffff"/>
                </a:solidFill>
                <a:effectLst/>
                <a:uFillTx/>
                <a:latin typeface="Arial"/>
              </a:rPr>
              <a:t>the USDA Marketing and Regulatory Programs </a:t>
            </a:r>
            <a:br>
              <a:rPr sz="1200"/>
            </a:br>
            <a:r>
              <a:rPr b="1" lang="en-US" sz="1200" strike="noStrike" u="none">
                <a:solidFill>
                  <a:srgbClr val="ffffff"/>
                </a:solidFill>
                <a:effectLst/>
                <a:uFillTx/>
                <a:latin typeface="Arial"/>
              </a:rPr>
              <a:t>(AMS, APHIS, and GIPSA)</a:t>
            </a:r>
            <a:br>
              <a:rPr sz="1200"/>
            </a:br>
            <a:r>
              <a:rPr b="1" lang="en-US" sz="1200" strike="noStrike" u="none">
                <a:solidFill>
                  <a:srgbClr val="ffffff"/>
                </a:solidFill>
                <a:effectLst/>
                <a:uFillTx/>
                <a:latin typeface="Arial"/>
              </a:rPr>
              <a:t> and the Merit Systems Protection Board (MSPB)</a:t>
            </a:r>
            <a:endParaRPr b="1" lang="en-IN" sz="1200" strike="noStrike" u="none">
              <a:solidFill>
                <a:srgbClr val="ffffeb"/>
              </a:solidFill>
              <a:effectLst/>
              <a:uFillTx/>
              <a:latin typeface="Arial"/>
            </a:endParaRPr>
          </a:p>
        </p:txBody>
      </p:sp>
    </p:spTree>
  </p:cSld>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Employee Benefits</a:t>
            </a:r>
            <a:endParaRPr b="1" lang="en-IN" sz="2400" strike="noStrike" u="none">
              <a:solidFill>
                <a:srgbClr val="ffffeb"/>
              </a:solidFill>
              <a:effectLst/>
              <a:uFillTx/>
              <a:latin typeface="Arial"/>
            </a:endParaRPr>
          </a:p>
        </p:txBody>
      </p:sp>
      <p:sp>
        <p:nvSpPr>
          <p:cNvPr id="33" name=""/>
          <p:cNvSpPr txBox="1"/>
          <p:nvPr/>
        </p:nvSpPr>
        <p:spPr>
          <a:xfrm>
            <a:off x="558360" y="1574280"/>
            <a:ext cx="5132520" cy="2845080"/>
          </a:xfrm>
          <a:prstGeom prst="rect">
            <a:avLst/>
          </a:prstGeom>
          <a:noFill/>
          <a:ln w="0">
            <a:noFill/>
          </a:ln>
        </p:spPr>
        <p:txBody>
          <a:bodyPr lIns="60840" rIns="60840" tIns="30600" bIns="30600" anchor="t">
            <a:normAutofit lnSpcReduction="9999"/>
          </a:bodyPr>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 benefits for which you may be entitled are described below.  These include:</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Eligibility for Benefits</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Life Insurance</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Health Insurance</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Dental and Vision Insurance</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Flexible Spending Accounts</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Retirement</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Thrift Savings Plan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Long Term Care Insurance</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Designation of Beneficiary </a:t>
            </a:r>
            <a:endParaRPr b="0" lang="en-IN" sz="1600" strike="noStrike" u="none">
              <a:solidFill>
                <a:srgbClr val="ffffff"/>
              </a:solidFill>
              <a:effectLst/>
              <a:uFillTx/>
              <a:latin typeface="Arial"/>
            </a:endParaRPr>
          </a:p>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Arial"/>
            </a:endParaRPr>
          </a:p>
        </p:txBody>
      </p:sp>
      <p:pic>
        <p:nvPicPr>
          <p:cNvPr id="34" name="Picture 5" descr="MCBD10534_0000[1]"/>
          <p:cNvPicPr/>
          <p:nvPr/>
        </p:nvPicPr>
        <p:blipFill>
          <a:blip r:embed="rId1"/>
          <a:stretch/>
        </p:blipFill>
        <p:spPr>
          <a:xfrm>
            <a:off x="5203800" y="101520"/>
            <a:ext cx="747720" cy="1270080"/>
          </a:xfrm>
          <a:prstGeom prst="rect">
            <a:avLst/>
          </a:prstGeom>
          <a:noFill/>
          <a:ln w="0">
            <a:noFill/>
          </a:ln>
        </p:spPr>
      </p:pic>
    </p:spTree>
  </p:cSld>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Employee Benefits</a:t>
            </a:r>
            <a:endParaRPr b="1" lang="en-IN" sz="2400" strike="noStrike" u="none">
              <a:solidFill>
                <a:srgbClr val="ffffeb"/>
              </a:solidFill>
              <a:effectLst/>
              <a:uFillTx/>
              <a:latin typeface="Arial"/>
            </a:endParaRPr>
          </a:p>
        </p:txBody>
      </p:sp>
      <p:sp>
        <p:nvSpPr>
          <p:cNvPr id="36"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This slide show will take you through the process of obtaining information on each benefit, how to enroll, and the deadlines.</a:t>
            </a:r>
            <a:endParaRPr b="0" lang="en-IN" sz="19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As you move through this presentation, there are links that will take you to other websites.  Please use the BACK button on the top of the web page to return to this benefits orientation.</a:t>
            </a:r>
            <a:endParaRPr b="0" lang="en-IN" sz="19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Eligibility for Employee Benefits</a:t>
            </a:r>
            <a:endParaRPr b="1" lang="en-IN" sz="2400" strike="noStrike" u="none">
              <a:solidFill>
                <a:srgbClr val="ffffeb"/>
              </a:solidFill>
              <a:effectLst/>
              <a:uFillTx/>
              <a:latin typeface="Arial"/>
            </a:endParaRPr>
          </a:p>
        </p:txBody>
      </p:sp>
      <p:sp>
        <p:nvSpPr>
          <p:cNvPr id="38"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Eligibility for employee benefits depends upon your type of appointment and your tour of duty.  Generally, you must be hired under a non-temporary appointment, and have a regular tour of duty, in order to be eligible for employee benefits.</a:t>
            </a:r>
            <a:endParaRPr b="0" lang="en-IN" sz="19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Eligibility for Employee Benefits</a:t>
            </a:r>
            <a:endParaRPr b="1" lang="en-IN" sz="2400" strike="noStrike" u="none">
              <a:solidFill>
                <a:srgbClr val="ffffeb"/>
              </a:solidFill>
              <a:effectLst/>
              <a:uFillTx/>
              <a:latin typeface="Arial"/>
            </a:endParaRPr>
          </a:p>
        </p:txBody>
      </p:sp>
      <p:sp>
        <p:nvSpPr>
          <p:cNvPr id="40" name=""/>
          <p:cNvSpPr txBox="1"/>
          <p:nvPr/>
        </p:nvSpPr>
        <p:spPr>
          <a:xfrm>
            <a:off x="558360" y="1574640"/>
            <a:ext cx="5132520" cy="2895840"/>
          </a:xfrm>
          <a:prstGeom prst="rect">
            <a:avLst/>
          </a:prstGeom>
          <a:noFill/>
          <a:ln w="0">
            <a:noFill/>
          </a:ln>
        </p:spPr>
        <p:txBody>
          <a:bodyPr lIns="60840" rIns="60840" tIns="30600" bIns="30600" anchor="t">
            <a:normAutofit/>
          </a:bodyPr>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You are generally eligible for benefits if your:</a:t>
            </a:r>
            <a:r>
              <a:rPr b="0" lang="en-US" sz="1600" strike="noStrike" u="none">
                <a:solidFill>
                  <a:srgbClr val="ffffff"/>
                </a:solidFill>
                <a:effectLst/>
                <a:uFillTx/>
                <a:latin typeface="Arial"/>
              </a:rPr>
              <a:t>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Tour of duty (work schedule) is: </a:t>
            </a:r>
            <a:endParaRPr b="0" lang="en-IN" sz="16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Full time </a:t>
            </a:r>
            <a:endParaRPr b="0" lang="en-IN" sz="13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Part time </a:t>
            </a:r>
            <a:endParaRPr b="0" lang="en-IN" sz="13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Appointment type is:  </a:t>
            </a:r>
            <a:endParaRPr b="0" lang="en-IN" sz="16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Career or Career Conditional  </a:t>
            </a:r>
            <a:endParaRPr b="0" lang="en-IN" sz="13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Excepted or Excepted Conditional or Excepted Indefinite </a:t>
            </a:r>
            <a:endParaRPr b="0" lang="en-IN" sz="13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Term, exceeding more than one year </a:t>
            </a:r>
            <a:endParaRPr b="0" lang="en-IN" sz="13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Excepted, exceeding more than one year </a:t>
            </a:r>
            <a:endParaRPr b="0" lang="en-IN" sz="1300" strike="noStrike" u="none">
              <a:solidFill>
                <a:srgbClr val="ffffff"/>
              </a:solidFill>
              <a:effectLst/>
              <a:uFillTx/>
              <a:latin typeface="Arial"/>
            </a:endParaRPr>
          </a:p>
          <a:p>
            <a:pPr lvl="1" marL="495360" indent="-190440">
              <a:spcBef>
                <a:spcPts val="326"/>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Provisional  </a:t>
            </a:r>
            <a:endParaRPr b="0" lang="en-IN" sz="1300" strike="noStrike" u="none">
              <a:solidFill>
                <a:srgbClr val="ffffff"/>
              </a:solidFill>
              <a:effectLst/>
              <a:uFillTx/>
              <a:latin typeface="Arial"/>
            </a:endParaRPr>
          </a:p>
          <a:p>
            <a:pPr marL="228600" indent="-228600">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p:txBody>
      </p:sp>
      <p:pic>
        <p:nvPicPr>
          <p:cNvPr id="41" name="Picture 4" descr="MCj04315850000[1]"/>
          <p:cNvPicPr/>
          <p:nvPr/>
        </p:nvPicPr>
        <p:blipFill>
          <a:blip r:embed="rId1"/>
          <a:stretch/>
        </p:blipFill>
        <p:spPr>
          <a:xfrm>
            <a:off x="5184720" y="101520"/>
            <a:ext cx="812880" cy="812880"/>
          </a:xfrm>
          <a:prstGeom prst="rect">
            <a:avLst/>
          </a:prstGeom>
          <a:noFill/>
          <a:ln w="0">
            <a:noFill/>
          </a:ln>
        </p:spPr>
      </p:pic>
    </p:spTree>
  </p:cSld>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Eligibility for Employee Benefits</a:t>
            </a:r>
            <a:endParaRPr b="1" lang="en-IN" sz="2400" strike="noStrike" u="none">
              <a:solidFill>
                <a:srgbClr val="ffffeb"/>
              </a:solidFill>
              <a:effectLst/>
              <a:uFillTx/>
              <a:latin typeface="Arial"/>
            </a:endParaRPr>
          </a:p>
        </p:txBody>
      </p:sp>
      <p:sp>
        <p:nvSpPr>
          <p:cNvPr id="43"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You are generally NOT eligible for benefits if your:</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Tour of duty (work schedule) is: </a:t>
            </a:r>
            <a:endParaRPr b="0" lang="en-IN" sz="1600" strike="noStrike" u="none">
              <a:solidFill>
                <a:srgbClr val="ffffff"/>
              </a:solidFill>
              <a:effectLst/>
              <a:uFillTx/>
              <a:latin typeface="Arial"/>
            </a:endParaRPr>
          </a:p>
          <a:p>
            <a:pPr lvl="1" marL="495360" indent="-190440">
              <a:lnSpc>
                <a:spcPct val="90000"/>
              </a:lnSpc>
              <a:spcBef>
                <a:spcPts val="400"/>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Intermittent </a:t>
            </a:r>
            <a:endParaRPr b="0" lang="en-IN" sz="1600" strike="noStrike" u="none">
              <a:solidFill>
                <a:srgbClr val="ffffff"/>
              </a:solidFill>
              <a:effectLst/>
              <a:uFillTx/>
              <a:latin typeface="Arial"/>
            </a:endParaRPr>
          </a:p>
          <a:p>
            <a:pPr lvl="1" marL="495360" indent="-190440">
              <a:lnSpc>
                <a:spcPct val="90000"/>
              </a:lnSpc>
              <a:spcBef>
                <a:spcPts val="400"/>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Mixed Tour, expected to work less than 6 months in a year </a:t>
            </a:r>
            <a:endParaRPr b="0" lang="en-IN" sz="1600" strike="noStrike" u="none">
              <a:solidFill>
                <a:srgbClr val="ffffff"/>
              </a:solidFill>
              <a:effectLst/>
              <a:uFillTx/>
              <a:latin typeface="Arial"/>
            </a:endParaRPr>
          </a:p>
          <a:p>
            <a:pPr lvl="1" marL="495360" indent="-190440">
              <a:lnSpc>
                <a:spcPct val="90000"/>
              </a:lnSpc>
              <a:spcBef>
                <a:spcPts val="400"/>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Seasonal, expected to work less than 6 months in a year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Appointment type is: </a:t>
            </a:r>
            <a:endParaRPr b="0" lang="en-IN" sz="1600" strike="noStrike" u="none">
              <a:solidFill>
                <a:srgbClr val="ffffff"/>
              </a:solidFill>
              <a:effectLst/>
              <a:uFillTx/>
              <a:latin typeface="Arial"/>
            </a:endParaRPr>
          </a:p>
          <a:p>
            <a:pPr lvl="1" marL="495360" indent="-190440">
              <a:lnSpc>
                <a:spcPct val="90000"/>
              </a:lnSpc>
              <a:spcBef>
                <a:spcPts val="400"/>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Temporary not to exceed one year </a:t>
            </a:r>
            <a:endParaRPr b="0" lang="en-IN" sz="1600" strike="noStrike" u="none">
              <a:solidFill>
                <a:srgbClr val="ffffff"/>
              </a:solidFill>
              <a:effectLst/>
              <a:uFillTx/>
              <a:latin typeface="Arial"/>
            </a:endParaRPr>
          </a:p>
          <a:p>
            <a:pPr lvl="1" marL="495360" indent="-190440">
              <a:lnSpc>
                <a:spcPct val="90000"/>
              </a:lnSpc>
              <a:spcBef>
                <a:spcPts val="400"/>
              </a:spcBef>
              <a:buClr>
                <a:srgbClr val="ffffff"/>
              </a:buClr>
              <a:buSzPct val="75000"/>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Excepted not to exceed one year  </a:t>
            </a:r>
            <a:endParaRPr b="0" lang="en-IN" sz="1600" strike="noStrike" u="none">
              <a:solidFill>
                <a:srgbClr val="ffffff"/>
              </a:solidFill>
              <a:effectLst/>
              <a:uFillTx/>
              <a:latin typeface="Arial"/>
            </a:endParaRPr>
          </a:p>
          <a:p>
            <a:pPr marL="228600" indent="-228600">
              <a:lnSpc>
                <a:spcPct val="90000"/>
              </a:lnSpc>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p:txBody>
      </p:sp>
      <p:pic>
        <p:nvPicPr>
          <p:cNvPr id="44" name="Picture 4" descr="MCj04315850000[1]"/>
          <p:cNvPicPr/>
          <p:nvPr/>
        </p:nvPicPr>
        <p:blipFill>
          <a:blip r:embed="rId1"/>
          <a:stretch/>
        </p:blipFill>
        <p:spPr>
          <a:xfrm>
            <a:off x="5133960" y="0"/>
            <a:ext cx="965160" cy="965160"/>
          </a:xfrm>
          <a:prstGeom prst="rect">
            <a:avLst/>
          </a:prstGeom>
          <a:noFill/>
          <a:ln w="0">
            <a:noFill/>
          </a:ln>
        </p:spPr>
      </p:pic>
    </p:spTree>
  </p:cSld>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Eligibiity for Employee Benefits</a:t>
            </a:r>
            <a:endParaRPr b="1" lang="en-IN" sz="2400" strike="noStrike" u="none">
              <a:solidFill>
                <a:srgbClr val="ffffeb"/>
              </a:solidFill>
              <a:effectLst/>
              <a:uFillTx/>
              <a:latin typeface="Arial"/>
            </a:endParaRPr>
          </a:p>
        </p:txBody>
      </p:sp>
      <p:sp>
        <p:nvSpPr>
          <p:cNvPr id="46" name=""/>
          <p:cNvSpPr txBox="1"/>
          <p:nvPr/>
        </p:nvSpPr>
        <p:spPr>
          <a:xfrm>
            <a:off x="558360" y="1574280"/>
            <a:ext cx="5132520" cy="2482920"/>
          </a:xfrm>
          <a:prstGeom prst="rect">
            <a:avLst/>
          </a:prstGeom>
          <a:noFill/>
          <a:ln w="0">
            <a:noFill/>
          </a:ln>
        </p:spPr>
        <p:txBody>
          <a:bodyPr lIns="60840" rIns="60840" tIns="30600" bIns="30600" anchor="t">
            <a:normAutofit fontScale="92500" lnSpcReduction="19999"/>
          </a:bodyPr>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Exceptions:</a:t>
            </a:r>
            <a:endParaRPr b="0" lang="en-IN" sz="19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Career or Career Conditional appointments with an intermittent (unscheduled) tour of duty are eligible for retirement coverage, but not insurance benefits.</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hired under the Student Career Experience Program (SCEP), and the student is expected to be in pay status for less than one third of the time from the date of the appointment to the completion of the work-study program, the student is eligible for retirement coverage, but not for insurance benefits.</a:t>
            </a:r>
            <a:endParaRPr b="0" lang="en-IN"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Life Insurance</a:t>
            </a:r>
            <a:endParaRPr b="1" lang="en-IN" sz="2400" strike="noStrike" u="none">
              <a:solidFill>
                <a:srgbClr val="ffffeb"/>
              </a:solidFill>
              <a:effectLst/>
              <a:uFillTx/>
              <a:latin typeface="Arial"/>
            </a:endParaRPr>
          </a:p>
        </p:txBody>
      </p:sp>
      <p:sp>
        <p:nvSpPr>
          <p:cNvPr id="48"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Federal Employees Group Life insurance (FEGLI) offers you choices on coverage for yourself and eligible family members.</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Newly hired employees are automatically covered by Basic Life as of the date of your employment.  Within 31 days of your employment, you may elect optional coverage.</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You may waive all coverage: however, there are no regular scheduled open seasons for life insurance.</a:t>
            </a:r>
            <a:endParaRPr b="0" lang="en-IN"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Life Insurance</a:t>
            </a:r>
            <a:endParaRPr b="1" lang="en-IN" sz="2400" strike="noStrike" u="none">
              <a:solidFill>
                <a:srgbClr val="ffffeb"/>
              </a:solidFill>
              <a:effectLst/>
              <a:uFillTx/>
              <a:latin typeface="Arial"/>
            </a:endParaRPr>
          </a:p>
        </p:txBody>
      </p:sp>
      <p:sp>
        <p:nvSpPr>
          <p:cNvPr id="50" name=""/>
          <p:cNvSpPr txBox="1"/>
          <p:nvPr/>
        </p:nvSpPr>
        <p:spPr>
          <a:xfrm>
            <a:off x="558360" y="1574640"/>
            <a:ext cx="5388120" cy="320040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For complete information, including the FE-76-21, FEGLI booklet for Federal Employees, and a calculator to help you determine the value and cost of coverage, link to: </a:t>
            </a:r>
            <a:r>
              <a:rPr b="0" lang="en-US" sz="1100" strike="noStrike" u="sng">
                <a:solidFill>
                  <a:srgbClr val="ccccff"/>
                </a:solidFill>
                <a:effectLst/>
                <a:uFillTx/>
                <a:latin typeface="Arial"/>
                <a:hlinkClick r:id="rId1"/>
              </a:rPr>
              <a:t>http://www.opm.gov/insure/life/index.asp</a:t>
            </a:r>
            <a:endParaRPr b="0" lang="en-IN" sz="1100" strike="noStrike" u="none">
              <a:solidFill>
                <a:srgbClr val="ffffff"/>
              </a:solidFill>
              <a:effectLst/>
              <a:uFillTx/>
              <a:latin typeface="Arial"/>
            </a:endParaRPr>
          </a:p>
          <a:p>
            <a:pPr marL="228600" indent="-228600">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  </a:t>
            </a:r>
            <a:endParaRPr b="0" lang="en-IN" sz="1100" strike="noStrike" u="none">
              <a:solidFill>
                <a:srgbClr val="ffffff"/>
              </a:solidFill>
              <a:effectLst/>
              <a:uFillTx/>
              <a:latin typeface="Arial"/>
            </a:endParaRPr>
          </a:p>
          <a:p>
            <a:pPr marL="228600" indent="-228600">
              <a:lnSpc>
                <a:spcPct val="9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Complete the SF-2817, Life Insurance Election Form, even if you are electing the automatic Basic Life coverage only:</a:t>
            </a:r>
            <a:endParaRPr b="0" lang="en-IN" sz="1100" strike="noStrike" u="none">
              <a:solidFill>
                <a:srgbClr val="ffffff"/>
              </a:solidFill>
              <a:effectLst/>
              <a:uFillTx/>
              <a:latin typeface="Arial"/>
            </a:endParaRPr>
          </a:p>
          <a:p>
            <a:pPr marL="228600" indent="-228600">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	</a:t>
            </a:r>
            <a:r>
              <a:rPr b="0" lang="en-US" sz="1100" strike="noStrike" u="sng">
                <a:solidFill>
                  <a:srgbClr val="ccccff"/>
                </a:solidFill>
                <a:effectLst/>
                <a:uFillTx/>
                <a:latin typeface="Arial"/>
                <a:hlinkClick r:id="rId2"/>
              </a:rPr>
              <a:t>http://www.aphis.usda.gov/mrpbs/downloads/forms/sf/sf2817.pdf</a:t>
            </a:r>
            <a:endParaRPr b="0" lang="en-IN" sz="1100" strike="noStrike" u="none">
              <a:solidFill>
                <a:srgbClr val="ffffff"/>
              </a:solidFill>
              <a:effectLst/>
              <a:uFillTx/>
              <a:latin typeface="Arial"/>
            </a:endParaRPr>
          </a:p>
          <a:p>
            <a:pPr marL="228600" indent="-228600">
              <a:lnSpc>
                <a:spcPct val="9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	</a:t>
            </a:r>
            <a:endParaRPr b="0" lang="en-IN" sz="1100" strike="noStrike" u="none">
              <a:solidFill>
                <a:srgbClr val="ffffff"/>
              </a:solidFill>
              <a:effectLst/>
              <a:uFillTx/>
              <a:latin typeface="Arial"/>
            </a:endParaRPr>
          </a:p>
          <a:p>
            <a:pPr marL="228600" indent="-228600">
              <a:lnSpc>
                <a:spcPct val="9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Send the completed form (copy 1 – Official Personnel copy only) to the Human Resources Operations office in Minneapolis  </a:t>
            </a:r>
            <a:r>
              <a:rPr b="1" lang="en-US" sz="1100" strike="noStrike" u="none">
                <a:solidFill>
                  <a:srgbClr val="ffffff"/>
                </a:solidFill>
                <a:effectLst/>
                <a:uFillTx/>
                <a:latin typeface="Arial"/>
              </a:rPr>
              <a:t>within 31 days of your appointment.  </a:t>
            </a:r>
            <a:r>
              <a:rPr b="0" lang="en-US" sz="1100" strike="noStrike" u="none">
                <a:solidFill>
                  <a:srgbClr val="ffffff"/>
                </a:solidFill>
                <a:effectLst/>
                <a:uFillTx/>
                <a:latin typeface="Arial"/>
              </a:rPr>
              <a:t>This form may be faxed to 612-336-3545, or mailed.</a:t>
            </a:r>
            <a:endParaRPr b="0" lang="en-IN" sz="1100" strike="noStrike" u="none">
              <a:solidFill>
                <a:srgbClr val="ffffff"/>
              </a:solidFill>
              <a:effectLst/>
              <a:uFillTx/>
              <a:latin typeface="Arial"/>
            </a:endParaRPr>
          </a:p>
          <a:p>
            <a:pPr marL="228600" indent="-228600">
              <a:lnSpc>
                <a:spcPct val="9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marL="228600" indent="-228600">
              <a:lnSpc>
                <a:spcPct val="9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Please watch your Statement of Earnings and Leave for the FEGLI deductions.</a:t>
            </a:r>
            <a:endParaRPr b="0" lang="en-IN" sz="11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p:txBody>
      </p:sp>
      <p:pic>
        <p:nvPicPr>
          <p:cNvPr id="51" name="Picture 4" descr="MCj00905730000[1]"/>
          <p:cNvPicPr/>
          <p:nvPr/>
        </p:nvPicPr>
        <p:blipFill>
          <a:blip r:embed="rId3"/>
          <a:stretch/>
        </p:blipFill>
        <p:spPr>
          <a:xfrm>
            <a:off x="4471920" y="0"/>
            <a:ext cx="1627200" cy="1252440"/>
          </a:xfrm>
          <a:prstGeom prst="rect">
            <a:avLst/>
          </a:prstGeom>
          <a:noFill/>
          <a:ln w="0">
            <a:noFill/>
          </a:ln>
        </p:spPr>
      </p:pic>
    </p:spTree>
  </p:cSld>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Life Insurance</a:t>
            </a:r>
            <a:endParaRPr b="1" lang="en-IN" sz="2400" strike="noStrike" u="none">
              <a:solidFill>
                <a:srgbClr val="ffffeb"/>
              </a:solidFill>
              <a:effectLst/>
              <a:uFillTx/>
              <a:latin typeface="Arial"/>
            </a:endParaRPr>
          </a:p>
        </p:txBody>
      </p:sp>
      <p:sp>
        <p:nvSpPr>
          <p:cNvPr id="53"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Rehired employees whose break in Federal service is less than 180 days </a:t>
            </a:r>
            <a:r>
              <a:rPr b="0" lang="en-US" sz="1200" strike="noStrike" u="none">
                <a:solidFill>
                  <a:srgbClr val="ffffff"/>
                </a:solidFill>
                <a:effectLst/>
                <a:uFillTx/>
                <a:latin typeface="Arial"/>
              </a:rPr>
              <a:t>are automatically enrolled with the level of coverage in effect at the time of separation from previous Federal employment.  If you do not wish to continue this coverage, you may reduce or cancel at any time, but you may not elect to increase the coverage, unless you had a qualifying life event during your break.  If you previously waived all coverage, you may not elect coverage at this time.</a:t>
            </a: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Rehired employees whose break in Federal service is 180 days or more</a:t>
            </a:r>
            <a:r>
              <a:rPr b="0" lang="en-US" sz="1300" strike="noStrike" u="none">
                <a:solidFill>
                  <a:srgbClr val="ffffff"/>
                </a:solidFill>
                <a:effectLst/>
                <a:uFillTx/>
                <a:latin typeface="Arial"/>
              </a:rPr>
              <a:t> </a:t>
            </a:r>
            <a:r>
              <a:rPr b="0" lang="en-US" sz="1200" strike="noStrike" u="none">
                <a:solidFill>
                  <a:srgbClr val="ffffff"/>
                </a:solidFill>
                <a:effectLst/>
                <a:uFillTx/>
                <a:latin typeface="Arial"/>
              </a:rPr>
              <a:t>are automatically enrolled with Basic only (even if you previously waived it), and the same level of optional insurance (if applicable) that you had in your prior position.  You have 31 days from the date of rehire to make a new life insurance election or waiver. </a:t>
            </a:r>
            <a:endParaRPr b="0" lang="en-IN" sz="1200" strike="noStrike" u="none">
              <a:solidFill>
                <a:srgbClr val="ffffff"/>
              </a:solidFill>
              <a:effectLst/>
              <a:uFillTx/>
              <a:latin typeface="Arial"/>
            </a:endParaRPr>
          </a:p>
        </p:txBody>
      </p:sp>
      <p:pic>
        <p:nvPicPr>
          <p:cNvPr id="54" name="Picture 4" descr="MCj00905730000[1]"/>
          <p:cNvPicPr/>
          <p:nvPr/>
        </p:nvPicPr>
        <p:blipFill>
          <a:blip r:embed="rId1"/>
          <a:stretch/>
        </p:blipFill>
        <p:spPr>
          <a:xfrm>
            <a:off x="4471920" y="0"/>
            <a:ext cx="1627200" cy="1252440"/>
          </a:xfrm>
          <a:prstGeom prst="rect">
            <a:avLst/>
          </a:prstGeom>
          <a:noFill/>
          <a:ln w="0">
            <a:noFill/>
          </a:ln>
        </p:spPr>
      </p:pic>
    </p:spTree>
  </p:cSld>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
          <p:cNvSpPr txBox="1"/>
          <p:nvPr/>
        </p:nvSpPr>
        <p:spPr>
          <a:xfrm>
            <a:off x="556200" y="50508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Life Insurance </a:t>
            </a:r>
            <a:endParaRPr b="1" lang="en-IN" sz="2400" strike="noStrike" u="none">
              <a:solidFill>
                <a:srgbClr val="ffffeb"/>
              </a:solidFill>
              <a:effectLst/>
              <a:uFillTx/>
              <a:latin typeface="Arial"/>
            </a:endParaRPr>
          </a:p>
        </p:txBody>
      </p:sp>
      <p:sp>
        <p:nvSpPr>
          <p:cNvPr id="56"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Employees transferring from one Federal agency to another  are NOT eligible to elect  life insurance based on the transfer.</a:t>
            </a:r>
            <a:endParaRPr b="0" lang="en-IN" sz="1900" strike="noStrike" u="none">
              <a:solidFill>
                <a:srgbClr val="ffffff"/>
              </a:solidFill>
              <a:effectLst/>
              <a:uFillTx/>
              <a:latin typeface="Arial"/>
            </a:endParaRPr>
          </a:p>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Please watch your Earnings and Leave Statement to be sure your previous life insurance  coverage continues.</a:t>
            </a:r>
            <a:endParaRPr b="0" lang="en-IN" sz="1900" strike="noStrike" u="none">
              <a:solidFill>
                <a:srgbClr val="ffffff"/>
              </a:solidFill>
              <a:effectLst/>
              <a:uFillTx/>
              <a:latin typeface="Arial"/>
            </a:endParaRPr>
          </a:p>
        </p:txBody>
      </p:sp>
      <p:pic>
        <p:nvPicPr>
          <p:cNvPr id="57" name="Picture 4" descr="MCj00905730000[1]"/>
          <p:cNvPicPr/>
          <p:nvPr/>
        </p:nvPicPr>
        <p:blipFill>
          <a:blip r:embed="rId1"/>
          <a:stretch/>
        </p:blipFill>
        <p:spPr>
          <a:xfrm>
            <a:off x="4471920" y="0"/>
            <a:ext cx="1627200" cy="125244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59"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Federal Employees Health Benefits (FEHB) program offers a variety of health plans.  </a:t>
            </a:r>
            <a:endParaRPr b="0" lang="en-IN" sz="1600" strike="noStrike" u="none">
              <a:solidFill>
                <a:srgbClr val="ffffff"/>
              </a:solidFill>
              <a:effectLst/>
              <a:uFillTx/>
              <a:latin typeface="Arial"/>
            </a:endParaRPr>
          </a:p>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Let’s go through the steps:</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Choose a health plan</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Complete the SF-2809, Health Insurance Election Form</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FAX or mail the form to Human Resources Operations in Minneapolis within 60 days of your employment date.</a:t>
            </a:r>
            <a:endParaRPr b="0" lang="en-IN" sz="1600" strike="noStrike" u="none">
              <a:solidFill>
                <a:srgbClr val="ffffff"/>
              </a:solidFill>
              <a:effectLst/>
              <a:uFillTx/>
              <a:latin typeface="Arial"/>
            </a:endParaRPr>
          </a:p>
        </p:txBody>
      </p:sp>
      <p:pic>
        <p:nvPicPr>
          <p:cNvPr id="60" name="Picture 4" descr="MCj02918440000[1]"/>
          <p:cNvPicPr/>
          <p:nvPr/>
        </p:nvPicPr>
        <p:blipFill>
          <a:blip r:embed="rId1"/>
          <a:stretch/>
        </p:blipFill>
        <p:spPr>
          <a:xfrm>
            <a:off x="4879800" y="101520"/>
            <a:ext cx="1067040" cy="1067040"/>
          </a:xfrm>
          <a:prstGeom prst="rect">
            <a:avLst/>
          </a:prstGeom>
          <a:noFill/>
          <a:ln w="0">
            <a:noFill/>
          </a:ln>
        </p:spPr>
      </p:pic>
    </p:spTree>
  </p:cSld>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42">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animEffect filter="fade" transition="in">
                                      <p:cBhvr additive="repl">
                                        <p:cTn id="7" dur="1000"/>
                                        <p:tgtEl>
                                          <p:spTgt spid="59">
                                            <p:txEl>
                                              <p:pRg st="0" end="0"/>
                                            </p:txEl>
                                          </p:spTgt>
                                        </p:tgtEl>
                                      </p:cBhvr>
                                    </p:animEffect>
                                    <p:anim calcmode="lin" valueType="num">
                                      <p:cBhvr additive="repl">
                                        <p:cTn id="8" dur="1000" fill="hold"/>
                                        <p:tgtEl>
                                          <p:spTgt spid="59">
                                            <p:txEl>
                                              <p:pRg st="0" end="0"/>
                                            </p:txEl>
                                          </p:spTgt>
                                        </p:tgtEl>
                                        <p:attrNameLst>
                                          <p:attrName>ppt_x</p:attrName>
                                        </p:attrNameLst>
                                      </p:cBhvr>
                                      <p:tavLst>
                                        <p:tav tm="0">
                                          <p:val>
                                            <p:strVal val="#ppt_x"/>
                                          </p:val>
                                        </p:tav>
                                        <p:tav tm="100000">
                                          <p:val>
                                            <p:strVal val="#ppt_x"/>
                                          </p:val>
                                        </p:tav>
                                      </p:tavLst>
                                    </p:anim>
                                    <p:anim calcmode="lin" valueType="num">
                                      <p:cBhvr additive="repl">
                                        <p:cTn id="9" dur="1000" fill="hold"/>
                                        <p:tgtEl>
                                          <p:spTgt spid="5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nodeType="clickEffect" fill="hold" presetClass="entr" presetID="42">
                                  <p:stCondLst>
                                    <p:cond delay="0"/>
                                  </p:stCondLst>
                                  <p:childTnLst>
                                    <p:set>
                                      <p:cBhvr>
                                        <p:cTn id="13" dur="1" fill="hold">
                                          <p:stCondLst>
                                            <p:cond delay="0"/>
                                          </p:stCondLst>
                                        </p:cTn>
                                        <p:tgtEl>
                                          <p:spTgt spid="59">
                                            <p:txEl>
                                              <p:pRg st="1" end="1"/>
                                            </p:txEl>
                                          </p:spTgt>
                                        </p:tgtEl>
                                        <p:attrNameLst>
                                          <p:attrName>style.visibility</p:attrName>
                                        </p:attrNameLst>
                                      </p:cBhvr>
                                      <p:to>
                                        <p:strVal val="visible"/>
                                      </p:to>
                                    </p:set>
                                    <p:animEffect filter="fade" transition="in">
                                      <p:cBhvr additive="repl">
                                        <p:cTn id="14" dur="1000"/>
                                        <p:tgtEl>
                                          <p:spTgt spid="59">
                                            <p:txEl>
                                              <p:pRg st="1" end="1"/>
                                            </p:txEl>
                                          </p:spTgt>
                                        </p:tgtEl>
                                      </p:cBhvr>
                                    </p:animEffect>
                                    <p:anim calcmode="lin" valueType="num">
                                      <p:cBhvr additive="repl">
                                        <p:cTn id="15" dur="1000" fill="hold"/>
                                        <p:tgtEl>
                                          <p:spTgt spid="59">
                                            <p:txEl>
                                              <p:pRg st="1" end="1"/>
                                            </p:txEl>
                                          </p:spTgt>
                                        </p:tgtEl>
                                        <p:attrNameLst>
                                          <p:attrName>ppt_x</p:attrName>
                                        </p:attrNameLst>
                                      </p:cBhvr>
                                      <p:tavLst>
                                        <p:tav tm="0">
                                          <p:val>
                                            <p:strVal val="#ppt_x"/>
                                          </p:val>
                                        </p:tav>
                                        <p:tav tm="100000">
                                          <p:val>
                                            <p:strVal val="#ppt_x"/>
                                          </p:val>
                                        </p:tav>
                                      </p:tavLst>
                                    </p:anim>
                                    <p:anim calcmode="lin" valueType="num">
                                      <p:cBhvr additive="repl">
                                        <p:cTn id="16" dur="1000" fill="hold"/>
                                        <p:tgtEl>
                                          <p:spTgt spid="5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nodeType="clickEffect" fill="hold" presetClass="entr" presetID="42">
                                  <p:stCondLst>
                                    <p:cond delay="0"/>
                                  </p:stCondLst>
                                  <p:childTnLst>
                                    <p:set>
                                      <p:cBhvr>
                                        <p:cTn id="20" dur="1" fill="hold">
                                          <p:stCondLst>
                                            <p:cond delay="0"/>
                                          </p:stCondLst>
                                        </p:cTn>
                                        <p:tgtEl>
                                          <p:spTgt spid="59">
                                            <p:txEl>
                                              <p:pRg st="2" end="2"/>
                                            </p:txEl>
                                          </p:spTgt>
                                        </p:tgtEl>
                                        <p:attrNameLst>
                                          <p:attrName>style.visibility</p:attrName>
                                        </p:attrNameLst>
                                      </p:cBhvr>
                                      <p:to>
                                        <p:strVal val="visible"/>
                                      </p:to>
                                    </p:set>
                                    <p:animEffect filter="fade" transition="in">
                                      <p:cBhvr additive="repl">
                                        <p:cTn id="21" dur="1000"/>
                                        <p:tgtEl>
                                          <p:spTgt spid="59">
                                            <p:txEl>
                                              <p:pRg st="2" end="2"/>
                                            </p:txEl>
                                          </p:spTgt>
                                        </p:tgtEl>
                                      </p:cBhvr>
                                    </p:animEffect>
                                    <p:anim calcmode="lin" valueType="num">
                                      <p:cBhvr additive="repl">
                                        <p:cTn id="22" dur="1000" fill="hold"/>
                                        <p:tgtEl>
                                          <p:spTgt spid="59">
                                            <p:txEl>
                                              <p:pRg st="2" end="2"/>
                                            </p:txEl>
                                          </p:spTgt>
                                        </p:tgtEl>
                                        <p:attrNameLst>
                                          <p:attrName>ppt_x</p:attrName>
                                        </p:attrNameLst>
                                      </p:cBhvr>
                                      <p:tavLst>
                                        <p:tav tm="0">
                                          <p:val>
                                            <p:strVal val="#ppt_x"/>
                                          </p:val>
                                        </p:tav>
                                        <p:tav tm="100000">
                                          <p:val>
                                            <p:strVal val="#ppt_x"/>
                                          </p:val>
                                        </p:tav>
                                      </p:tavLst>
                                    </p:anim>
                                    <p:anim calcmode="lin" valueType="num">
                                      <p:cBhvr additive="repl">
                                        <p:cTn id="23" dur="1000" fill="hold"/>
                                        <p:tgtEl>
                                          <p:spTgt spid="5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nodeType="clickEffect" fill="hold" presetClass="entr" presetID="42">
                                  <p:stCondLst>
                                    <p:cond delay="0"/>
                                  </p:stCondLst>
                                  <p:childTnLst>
                                    <p:set>
                                      <p:cBhvr>
                                        <p:cTn id="27" dur="1" fill="hold">
                                          <p:stCondLst>
                                            <p:cond delay="0"/>
                                          </p:stCondLst>
                                        </p:cTn>
                                        <p:tgtEl>
                                          <p:spTgt spid="59">
                                            <p:txEl>
                                              <p:pRg st="3" end="3"/>
                                            </p:txEl>
                                          </p:spTgt>
                                        </p:tgtEl>
                                        <p:attrNameLst>
                                          <p:attrName>style.visibility</p:attrName>
                                        </p:attrNameLst>
                                      </p:cBhvr>
                                      <p:to>
                                        <p:strVal val="visible"/>
                                      </p:to>
                                    </p:set>
                                    <p:animEffect filter="fade" transition="in">
                                      <p:cBhvr additive="repl">
                                        <p:cTn id="28" dur="1000"/>
                                        <p:tgtEl>
                                          <p:spTgt spid="59">
                                            <p:txEl>
                                              <p:pRg st="3" end="3"/>
                                            </p:txEl>
                                          </p:spTgt>
                                        </p:tgtEl>
                                      </p:cBhvr>
                                    </p:animEffect>
                                    <p:anim calcmode="lin" valueType="num">
                                      <p:cBhvr additive="repl">
                                        <p:cTn id="29" dur="1000" fill="hold"/>
                                        <p:tgtEl>
                                          <p:spTgt spid="59">
                                            <p:txEl>
                                              <p:pRg st="3" end="3"/>
                                            </p:txEl>
                                          </p:spTgt>
                                        </p:tgtEl>
                                        <p:attrNameLst>
                                          <p:attrName>ppt_x</p:attrName>
                                        </p:attrNameLst>
                                      </p:cBhvr>
                                      <p:tavLst>
                                        <p:tav tm="0">
                                          <p:val>
                                            <p:strVal val="#ppt_x"/>
                                          </p:val>
                                        </p:tav>
                                        <p:tav tm="100000">
                                          <p:val>
                                            <p:strVal val="#ppt_x"/>
                                          </p:val>
                                        </p:tav>
                                      </p:tavLst>
                                    </p:anim>
                                    <p:anim calcmode="lin" valueType="num">
                                      <p:cBhvr additive="repl">
                                        <p:cTn id="30" dur="1000" fill="hold"/>
                                        <p:tgtEl>
                                          <p:spTgt spid="5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42">
                                  <p:stCondLst>
                                    <p:cond delay="0"/>
                                  </p:stCondLst>
                                  <p:childTnLst>
                                    <p:set>
                                      <p:cBhvr>
                                        <p:cTn id="34" dur="1" fill="hold">
                                          <p:stCondLst>
                                            <p:cond delay="0"/>
                                          </p:stCondLst>
                                        </p:cTn>
                                        <p:tgtEl>
                                          <p:spTgt spid="59">
                                            <p:txEl>
                                              <p:pRg st="4" end="4"/>
                                            </p:txEl>
                                          </p:spTgt>
                                        </p:tgtEl>
                                        <p:attrNameLst>
                                          <p:attrName>style.visibility</p:attrName>
                                        </p:attrNameLst>
                                      </p:cBhvr>
                                      <p:to>
                                        <p:strVal val="visible"/>
                                      </p:to>
                                    </p:set>
                                    <p:animEffect filter="fade" transition="in">
                                      <p:cBhvr additive="repl">
                                        <p:cTn id="35" dur="1000"/>
                                        <p:tgtEl>
                                          <p:spTgt spid="59">
                                            <p:txEl>
                                              <p:pRg st="4" end="4"/>
                                            </p:txEl>
                                          </p:spTgt>
                                        </p:tgtEl>
                                      </p:cBhvr>
                                    </p:animEffect>
                                    <p:anim calcmode="lin" valueType="num">
                                      <p:cBhvr additive="repl">
                                        <p:cTn id="36" dur="1000" fill="hold"/>
                                        <p:tgtEl>
                                          <p:spTgt spid="59">
                                            <p:txEl>
                                              <p:pRg st="4" end="4"/>
                                            </p:txEl>
                                          </p:spTgt>
                                        </p:tgtEl>
                                        <p:attrNameLst>
                                          <p:attrName>ppt_x</p:attrName>
                                        </p:attrNameLst>
                                      </p:cBhvr>
                                      <p:tavLst>
                                        <p:tav tm="0">
                                          <p:val>
                                            <p:strVal val="#ppt_x"/>
                                          </p:val>
                                        </p:tav>
                                        <p:tav tm="100000">
                                          <p:val>
                                            <p:strVal val="#ppt_x"/>
                                          </p:val>
                                        </p:tav>
                                      </p:tavLst>
                                    </p:anim>
                                    <p:anim calcmode="lin" valueType="num">
                                      <p:cBhvr additive="repl">
                                        <p:cTn id="37" dur="1000" fill="hold"/>
                                        <p:tgtEl>
                                          <p:spTgt spid="5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62"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rPr>
              <a:t>How to choose a health plan:</a:t>
            </a:r>
            <a:endParaRPr b="0" lang="en-IN" sz="12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You will find information to help you compare and choose a plan at the Office of Personnel Management's web site: </a:t>
            </a:r>
            <a:endParaRPr b="0" lang="en-IN" sz="1100" strike="noStrike" u="none">
              <a:solidFill>
                <a:srgbClr val="ffffff"/>
              </a:solidFill>
              <a:effectLst/>
              <a:uFillTx/>
              <a:latin typeface="Arial"/>
            </a:endParaRPr>
          </a:p>
          <a:p>
            <a:pPr marL="228600" indent="-228600">
              <a:lnSpc>
                <a:spcPct val="8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	</a:t>
            </a:r>
            <a:r>
              <a:rPr b="0" lang="en-US" sz="1100" strike="noStrike" u="sng">
                <a:solidFill>
                  <a:srgbClr val="ccccff"/>
                </a:solidFill>
                <a:effectLst/>
                <a:uFillTx/>
                <a:latin typeface="Arial"/>
                <a:hlinkClick r:id="rId1"/>
              </a:rPr>
              <a:t>http://www.opm.gov/insure/health/index.asp</a:t>
            </a:r>
            <a:endParaRPr b="0" lang="en-IN" sz="1100" strike="noStrike" u="none">
              <a:solidFill>
                <a:srgbClr val="ffffff"/>
              </a:solidFill>
              <a:effectLst/>
              <a:uFillTx/>
              <a:latin typeface="Arial"/>
            </a:endParaRPr>
          </a:p>
          <a:p>
            <a:pPr marL="228600" indent="-228600">
              <a:lnSpc>
                <a:spcPct val="8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  </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Review the Guide to Federal Employees Health Benefits (FEHB) Plans, RI-70-1, which lists the premiums and basic benefits for each plan.  Part time employees (16-32 hours per week) pay higher premiums than those shown in this Guide. </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Before you make a selection, review the individual plan brochures to find a plan which offers coverage best suited for your health care needs.  </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If you have certain doctors or clinics that you want to use, make sure the provider is a preferred provider with the health plan of your choice by using the Provider Directory on the plan’s website, or calling the plan.  Links to each plan’s website are provided by OPM in the Plan Comparison tool.</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When you have decided on a plan, find the 3-digit plan code from the plan’s brochure or the website.</a:t>
            </a:r>
            <a:endParaRPr b="0" lang="en-IN" sz="1100" strike="noStrike" u="none">
              <a:solidFill>
                <a:srgbClr val="ffffff"/>
              </a:solidFill>
              <a:effectLst/>
              <a:uFillTx/>
              <a:latin typeface="Arial"/>
            </a:endParaRPr>
          </a:p>
          <a:p>
            <a:pPr marL="228600" indent="-228600">
              <a:lnSpc>
                <a:spcPct val="8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p:txBody>
      </p:sp>
      <p:pic>
        <p:nvPicPr>
          <p:cNvPr id="63" name="Picture 4" descr="MCj02918440000[1]"/>
          <p:cNvPicPr/>
          <p:nvPr/>
        </p:nvPicPr>
        <p:blipFill>
          <a:blip r:embed="rId2"/>
          <a:stretch/>
        </p:blipFill>
        <p:spPr>
          <a:xfrm>
            <a:off x="4879800" y="101520"/>
            <a:ext cx="1117800" cy="1117800"/>
          </a:xfrm>
          <a:prstGeom prst="rect">
            <a:avLst/>
          </a:prstGeom>
          <a:noFill/>
          <a:ln w="0">
            <a:noFill/>
          </a:ln>
        </p:spPr>
      </p:pic>
    </p:spTree>
  </p:cSld>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65" name=""/>
          <p:cNvSpPr txBox="1"/>
          <p:nvPr/>
        </p:nvSpPr>
        <p:spPr>
          <a:xfrm>
            <a:off x="558360" y="1574640"/>
            <a:ext cx="5132520" cy="3098880"/>
          </a:xfrm>
          <a:prstGeom prst="rect">
            <a:avLst/>
          </a:prstGeom>
          <a:noFill/>
          <a:ln w="0">
            <a:noFill/>
          </a:ln>
        </p:spPr>
        <p:txBody>
          <a:bodyPr lIns="60840" rIns="60840" tIns="30600" bIns="30600" anchor="t">
            <a:normAutofit/>
          </a:bodyPr>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1200" strike="noStrike" u="none">
                <a:solidFill>
                  <a:srgbClr val="ffffff"/>
                </a:solidFill>
                <a:effectLst/>
                <a:uFillTx/>
                <a:latin typeface="Arial"/>
              </a:rPr>
              <a:t>How to enroll in a health plan:</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Complete the SF-2809, Health Benefits Election Form:</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	</a:t>
            </a:r>
            <a:r>
              <a:rPr b="0" lang="en-US" sz="1200" strike="noStrike" u="sng">
                <a:solidFill>
                  <a:srgbClr val="ccccff"/>
                </a:solidFill>
                <a:effectLst/>
                <a:uFillTx/>
                <a:latin typeface="Arial"/>
                <a:hlinkClick r:id="rId1"/>
              </a:rPr>
              <a:t>http://www.opm.gov/forms/pdf_fill/sf2809.pdf</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Follow the instructions included with the form.</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Print copy 1, Official Personnel Folder copy, and send it to Human Resources Operations in Minneapolis within 60 days of your employment date.  The other copies are not needed. This form may be faxed to 612-336-3545, or mailed.</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Even if you elect not to enroll in a health plan at this time, you are required to complete the SF-2809, electing not to enroll, and send it to Human Resources Operations in Minneapolis within 60 days of your employment date.</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If you miss this opportunity to enroll, you will need to wait for the annual open season, or a qualifying life event.</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201"/>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800" strike="noStrike" u="none">
              <a:solidFill>
                <a:srgbClr val="ffffff"/>
              </a:solidFill>
              <a:effectLst/>
              <a:uFillTx/>
              <a:latin typeface="Arial"/>
            </a:endParaRPr>
          </a:p>
          <a:p>
            <a:pPr marL="228600" indent="-228600">
              <a:lnSpc>
                <a:spcPct val="80000"/>
              </a:lnSpc>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600" strike="noStrike" u="none">
              <a:solidFill>
                <a:srgbClr val="ffffff"/>
              </a:solidFill>
              <a:effectLst/>
              <a:uFillTx/>
              <a:latin typeface="Arial"/>
            </a:endParaRPr>
          </a:p>
          <a:p>
            <a:pPr marL="228600" indent="-228600">
              <a:lnSpc>
                <a:spcPct val="80000"/>
              </a:lnSpc>
              <a:spcBef>
                <a:spcPts val="15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600" strike="noStrike" u="none">
                <a:solidFill>
                  <a:srgbClr val="ffffff"/>
                </a:solidFill>
                <a:effectLst/>
                <a:uFillTx/>
                <a:latin typeface="Arial"/>
              </a:rPr>
              <a:t> </a:t>
            </a:r>
            <a:endParaRPr b="0" lang="en-IN" sz="600" strike="noStrike" u="none">
              <a:solidFill>
                <a:srgbClr val="ffffff"/>
              </a:solidFill>
              <a:effectLst/>
              <a:uFillTx/>
              <a:latin typeface="Arial"/>
            </a:endParaRPr>
          </a:p>
        </p:txBody>
      </p:sp>
      <p:pic>
        <p:nvPicPr>
          <p:cNvPr id="66" name="Picture 4" descr="MCj02918440000[1]"/>
          <p:cNvPicPr/>
          <p:nvPr/>
        </p:nvPicPr>
        <p:blipFill>
          <a:blip r:embed="rId2"/>
          <a:stretch/>
        </p:blipFill>
        <p:spPr>
          <a:xfrm>
            <a:off x="4829040" y="101520"/>
            <a:ext cx="1117800" cy="1117800"/>
          </a:xfrm>
          <a:prstGeom prst="rect">
            <a:avLst/>
          </a:prstGeom>
          <a:noFill/>
          <a:ln w="0">
            <a:noFill/>
          </a:ln>
        </p:spPr>
      </p:pic>
    </p:spTree>
  </p:cSld>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68"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New enrollments</a:t>
            </a:r>
            <a:r>
              <a:rPr b="0" lang="en-US" sz="1300" strike="noStrike" u="none">
                <a:solidFill>
                  <a:srgbClr val="ffffff"/>
                </a:solidFill>
                <a:effectLst/>
                <a:uFillTx/>
                <a:latin typeface="Arial"/>
              </a:rPr>
              <a:t> are effective the first day of the pay period which begins after the completed SF-2809 is received by the Human Resources Benefits office and which follows a pay period during any part of which you were in a pay status.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You will receive a copy of the form returned to you after we have processed it, showing the effective date.  This is your proof of coverage until your health plan sends you identification cards.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Watch your statement of earnings and leave for the health benefit premiums to be deducted.  You can expect your health plan ID cards to arrive several week is after that. </a:t>
            </a:r>
            <a:br>
              <a:rPr sz="1300"/>
            </a:b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300"/>
            </a:br>
            <a:endParaRPr b="0" lang="en-IN" sz="1300" strike="noStrike" u="none">
              <a:solidFill>
                <a:srgbClr val="ffffff"/>
              </a:solidFill>
              <a:effectLst/>
              <a:uFillTx/>
              <a:latin typeface="Arial"/>
            </a:endParaRPr>
          </a:p>
        </p:txBody>
      </p:sp>
      <p:pic>
        <p:nvPicPr>
          <p:cNvPr id="69" name="Picture 5" descr="MCj02918440000[1]"/>
          <p:cNvPicPr/>
          <p:nvPr/>
        </p:nvPicPr>
        <p:blipFill>
          <a:blip r:embed="rId1"/>
          <a:stretch/>
        </p:blipFill>
        <p:spPr>
          <a:xfrm>
            <a:off x="4879800" y="101520"/>
            <a:ext cx="1117800" cy="1117800"/>
          </a:xfrm>
          <a:prstGeom prst="rect">
            <a:avLst/>
          </a:prstGeom>
          <a:noFill/>
          <a:ln w="0">
            <a:noFill/>
          </a:ln>
        </p:spPr>
      </p:pic>
    </p:spTree>
  </p:cSld>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71" name=""/>
          <p:cNvSpPr txBox="1"/>
          <p:nvPr/>
        </p:nvSpPr>
        <p:spPr>
          <a:xfrm>
            <a:off x="558720" y="1574280"/>
            <a:ext cx="5540400" cy="314964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If you elect to be covered by an FEHB plan, your health insurance premiums are automatically taken on a pre-tax basis from your salary, which means your taxable income is lower for Federal, State, Social Security and Medicare taxes.</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For additional information, go to </a:t>
            </a:r>
            <a:r>
              <a:rPr b="0" lang="en-US" sz="1200" strike="noStrike" u="sng">
                <a:solidFill>
                  <a:srgbClr val="ccccff"/>
                </a:solidFill>
                <a:effectLst/>
                <a:uFillTx/>
                <a:latin typeface="Arial"/>
                <a:hlinkClick r:id="rId1"/>
              </a:rPr>
              <a:t>http://www.opm.gov/insure/health/reference/premconversion/index.asp</a:t>
            </a:r>
            <a:r>
              <a:rPr b="0" lang="en-US" sz="1200" strike="noStrike" u="none">
                <a:solidFill>
                  <a:srgbClr val="ffffff"/>
                </a:solidFill>
                <a:effectLst/>
                <a:uFillTx/>
                <a:latin typeface="Arial"/>
              </a:rPr>
              <a:t> .</a:t>
            </a:r>
            <a:endParaRPr b="0" lang="en-IN" sz="12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If you want to waive pre-tax participation and have your health insurance premiums deducted from your pay on an after-tax basis (which means more of your income is taxable), you must complete a waiver form and send it with your completed SF-2809, Health Benefits Registration form. Please contact your Benefits Specialist for the pre-tax waiver form.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p:txBody>
      </p:sp>
      <p:pic>
        <p:nvPicPr>
          <p:cNvPr id="72" name="Picture 4" descr="MCj02918440000[1]"/>
          <p:cNvPicPr/>
          <p:nvPr/>
        </p:nvPicPr>
        <p:blipFill>
          <a:blip r:embed="rId2"/>
          <a:stretch/>
        </p:blipFill>
        <p:spPr>
          <a:xfrm>
            <a:off x="4829040" y="101520"/>
            <a:ext cx="1117800" cy="1117800"/>
          </a:xfrm>
          <a:prstGeom prst="rect">
            <a:avLst/>
          </a:prstGeom>
          <a:noFill/>
          <a:ln w="0">
            <a:noFill/>
          </a:ln>
        </p:spPr>
      </p:pic>
    </p:spTree>
  </p:cSld>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74" name=""/>
          <p:cNvSpPr txBox="1"/>
          <p:nvPr/>
        </p:nvSpPr>
        <p:spPr>
          <a:xfrm>
            <a:off x="558360" y="1574280"/>
            <a:ext cx="5132520" cy="2482920"/>
          </a:xfrm>
          <a:prstGeom prst="rect">
            <a:avLst/>
          </a:prstGeom>
          <a:noFill/>
          <a:ln w="0">
            <a:noFill/>
          </a:ln>
        </p:spPr>
        <p:txBody>
          <a:bodyPr lIns="60840" rIns="60840" tIns="30600" bIns="30600" anchor="t">
            <a:normAutofit fontScale="85000" lnSpcReduction="9999"/>
          </a:bodyPr>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Employees transferring</a:t>
            </a:r>
            <a:r>
              <a:rPr b="0" lang="en-US" sz="1600" strike="noStrike" u="none">
                <a:solidFill>
                  <a:srgbClr val="ffffff"/>
                </a:solidFill>
                <a:effectLst/>
                <a:uFillTx/>
                <a:latin typeface="Arial"/>
              </a:rPr>
              <a:t> from one Federal agency to another are not generally eligible to change health benefits elections.  If your transfer requires you to move out of your health benefits service area, or lose your other health insurance coverage, you may be eligible to elect a new health plan. </a:t>
            </a:r>
            <a:br>
              <a:rPr sz="1600"/>
            </a:br>
            <a:r>
              <a:rPr b="0" lang="en-US" sz="1600" strike="noStrike" u="none">
                <a:solidFill>
                  <a:srgbClr val="ffffff"/>
                </a:solidFill>
                <a:effectLst/>
                <a:uFillTx/>
                <a:latin typeface="Arial"/>
              </a:rPr>
              <a:t> </a:t>
            </a:r>
            <a:endParaRPr b="0" lang="en-IN" sz="16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Please watch your earnings statement to be sure that your previous health insurance coverage is transferred correctly</a:t>
            </a:r>
            <a:r>
              <a:rPr b="0" lang="en-US" sz="1900" strike="noStrike" u="none">
                <a:solidFill>
                  <a:srgbClr val="ffffff"/>
                </a:solidFill>
                <a:effectLst/>
                <a:uFillTx/>
                <a:latin typeface="Arial"/>
              </a:rPr>
              <a:t>. </a:t>
            </a:r>
            <a:br>
              <a:rPr sz="1900"/>
            </a:br>
            <a:r>
              <a:rPr b="0" lang="en-US" sz="1900" strike="noStrike" u="none">
                <a:solidFill>
                  <a:srgbClr val="ffffff"/>
                </a:solidFill>
                <a:effectLst/>
                <a:uFillTx/>
                <a:latin typeface="Arial"/>
              </a:rPr>
              <a:t> </a:t>
            </a:r>
            <a:endParaRPr b="0" lang="en-IN" sz="19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Health Insurance</a:t>
            </a:r>
            <a:endParaRPr b="1" lang="en-IN" sz="2400" strike="noStrike" u="none">
              <a:solidFill>
                <a:srgbClr val="ffffeb"/>
              </a:solidFill>
              <a:effectLst/>
              <a:uFillTx/>
              <a:latin typeface="Arial"/>
            </a:endParaRPr>
          </a:p>
        </p:txBody>
      </p:sp>
      <p:sp>
        <p:nvSpPr>
          <p:cNvPr id="76" name=""/>
          <p:cNvSpPr txBox="1"/>
          <p:nvPr/>
        </p:nvSpPr>
        <p:spPr>
          <a:xfrm>
            <a:off x="558360" y="1574280"/>
            <a:ext cx="5310360" cy="2482920"/>
          </a:xfrm>
          <a:prstGeom prst="rect">
            <a:avLst/>
          </a:prstGeom>
          <a:noFill/>
          <a:ln w="0">
            <a:noFill/>
          </a:ln>
        </p:spPr>
        <p:txBody>
          <a:bodyPr lIns="60840" rIns="60840" tIns="30600" bIns="30600" anchor="t">
            <a:normAutofit/>
          </a:bodyPr>
          <a:p>
            <a:pPr marL="228600" indent="-228600">
              <a:spcBef>
                <a:spcPts val="349"/>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Arial"/>
              </a:rPr>
              <a:t>Employees with work schedules that place them in a nonpay status periodically should  review the information about health insurance premiums while in a nonpay status found on our website at </a:t>
            </a:r>
            <a:r>
              <a:rPr b="0" lang="en-US" sz="1400" strike="noStrike" u="sng">
                <a:solidFill>
                  <a:srgbClr val="ccccff"/>
                </a:solidFill>
                <a:effectLst/>
                <a:uFillTx/>
                <a:latin typeface="Arial"/>
                <a:hlinkClick r:id="rId1"/>
              </a:rPr>
              <a:t>http://www.aphis.usda.gov/mrpbs/hr/benefits/fehb_options.shtml</a:t>
            </a:r>
            <a:endParaRPr b="0" lang="en-IN" sz="1400" strike="noStrike" u="none">
              <a:solidFill>
                <a:srgbClr val="ffffff"/>
              </a:solidFill>
              <a:effectLst/>
              <a:uFillTx/>
              <a:latin typeface="Arial"/>
            </a:endParaRPr>
          </a:p>
          <a:p>
            <a:pPr marL="228600" indent="-228600">
              <a:spcBef>
                <a:spcPts val="349"/>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400" strike="noStrike" u="none">
              <a:solidFill>
                <a:srgbClr val="ffffff"/>
              </a:solidFill>
              <a:effectLst/>
              <a:uFillTx/>
              <a:latin typeface="Arial"/>
            </a:endParaRPr>
          </a:p>
          <a:p>
            <a:pPr marL="228600" indent="-228600">
              <a:spcBef>
                <a:spcPts val="349"/>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trike="noStrike" u="none">
                <a:solidFill>
                  <a:srgbClr val="ffffff"/>
                </a:solidFill>
                <a:effectLst/>
                <a:uFillTx/>
                <a:latin typeface="Arial"/>
              </a:rPr>
              <a:t> A completed </a:t>
            </a:r>
            <a:r>
              <a:rPr b="0" lang="en-US" sz="1400" strike="noStrike" u="sng">
                <a:solidFill>
                  <a:srgbClr val="ccccff"/>
                </a:solidFill>
                <a:effectLst/>
                <a:uFillTx/>
                <a:latin typeface="Arial"/>
                <a:hlinkClick r:id="rId2"/>
              </a:rPr>
              <a:t>Notice of Obligation </a:t>
            </a:r>
            <a:r>
              <a:rPr b="0" lang="en-US" sz="1400" strike="noStrike" u="none">
                <a:solidFill>
                  <a:srgbClr val="ffffff"/>
                </a:solidFill>
                <a:effectLst/>
                <a:uFillTx/>
                <a:latin typeface="Arial"/>
              </a:rPr>
              <a:t>should be faxed to your  </a:t>
            </a:r>
            <a:r>
              <a:rPr b="0" lang="en-US" sz="1400" strike="noStrike" u="sng">
                <a:solidFill>
                  <a:srgbClr val="ccccff"/>
                </a:solidFill>
                <a:effectLst/>
                <a:uFillTx/>
                <a:latin typeface="Arial"/>
                <a:hlinkClick r:id="rId3"/>
              </a:rPr>
              <a:t>Benefits Specialist</a:t>
            </a:r>
            <a:r>
              <a:rPr b="0" lang="en-US" sz="1400" strike="noStrike" u="none">
                <a:solidFill>
                  <a:srgbClr val="ffffff"/>
                </a:solidFill>
                <a:effectLst/>
                <a:uFillTx/>
                <a:latin typeface="Arial"/>
              </a:rPr>
              <a:t>  at (612) 336-3545 whenever  you enter a nonpay status. </a:t>
            </a:r>
            <a:endParaRPr b="0" lang="en-IN"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Dental and Vision Insurance</a:t>
            </a:r>
            <a:endParaRPr b="1" lang="en-IN" sz="2400" strike="noStrike" u="none">
              <a:solidFill>
                <a:srgbClr val="ffffeb"/>
              </a:solidFill>
              <a:effectLst/>
              <a:uFillTx/>
              <a:latin typeface="Arial"/>
            </a:endParaRPr>
          </a:p>
        </p:txBody>
      </p:sp>
      <p:sp>
        <p:nvSpPr>
          <p:cNvPr id="78" name=""/>
          <p:cNvSpPr txBox="1"/>
          <p:nvPr/>
        </p:nvSpPr>
        <p:spPr>
          <a:xfrm>
            <a:off x="558360" y="1574640"/>
            <a:ext cx="5235480" cy="299736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The Federal Employees Dental and Vision Insurance Program (FEDVIP) offers you choices to supplement your health plan’s dental and vision coverage.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For complete information on the FEDVIP, including the details of each plan, the cost, and how to enroll, link to:  </a:t>
            </a:r>
            <a:r>
              <a:rPr b="0" lang="en-US" sz="1300" strike="noStrike" u="sng">
                <a:solidFill>
                  <a:srgbClr val="ccccff"/>
                </a:solidFill>
                <a:effectLst/>
                <a:uFillTx/>
                <a:latin typeface="Arial"/>
                <a:hlinkClick r:id="rId1"/>
              </a:rPr>
              <a:t>http://www.opm.gov/insure/dental/chooseindex.asp</a:t>
            </a: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If you choose to enroll, you have 60 days from your date of employment to complete your enrollment using the FEDVIP enrollment process </a:t>
            </a:r>
            <a:r>
              <a:rPr b="0" lang="en-US" sz="1300" strike="noStrike" u="sng">
                <a:solidFill>
                  <a:srgbClr val="ccccff"/>
                </a:solidFill>
                <a:effectLst/>
                <a:uFillTx/>
                <a:latin typeface="Arial"/>
                <a:hlinkClick r:id="rId2"/>
              </a:rPr>
              <a:t>https://www.benefeds.com/</a:t>
            </a: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Watch your Statements of Earnings and Leave for the deductions.</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Future enrollments or changes can be made during the annual benefits open season, or during qualifying life events.</a:t>
            </a:r>
            <a:endParaRPr b="0" lang="en-IN" sz="1300" strike="noStrike" u="none">
              <a:solidFill>
                <a:srgbClr val="ffffff"/>
              </a:solidFill>
              <a:effectLst/>
              <a:uFillTx/>
              <a:latin typeface="Arial"/>
            </a:endParaRPr>
          </a:p>
        </p:txBody>
      </p:sp>
      <p:pic>
        <p:nvPicPr>
          <p:cNvPr id="79" name="Picture 4" descr="MCBS00679_0000[1]"/>
          <p:cNvPicPr/>
          <p:nvPr/>
        </p:nvPicPr>
        <p:blipFill>
          <a:blip r:embed="rId3"/>
          <a:stretch/>
        </p:blipFill>
        <p:spPr>
          <a:xfrm>
            <a:off x="4626000" y="152280"/>
            <a:ext cx="1312920" cy="776520"/>
          </a:xfrm>
          <a:prstGeom prst="rect">
            <a:avLst/>
          </a:prstGeom>
          <a:noFill/>
          <a:ln w="0">
            <a:noFill/>
          </a:ln>
        </p:spPr>
      </p:pic>
      <p:pic>
        <p:nvPicPr>
          <p:cNvPr id="80" name="Picture 5" descr="MCBS00677_0000[1]"/>
          <p:cNvPicPr/>
          <p:nvPr/>
        </p:nvPicPr>
        <p:blipFill>
          <a:blip r:embed="rId4"/>
          <a:stretch/>
        </p:blipFill>
        <p:spPr>
          <a:xfrm>
            <a:off x="2938320" y="93600"/>
            <a:ext cx="1312920" cy="770040"/>
          </a:xfrm>
          <a:prstGeom prst="rect">
            <a:avLst/>
          </a:prstGeom>
          <a:noFill/>
          <a:ln w="0">
            <a:noFill/>
          </a:ln>
        </p:spPr>
      </p:pic>
    </p:spTree>
  </p:cSld>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Dental and Vision Insurance</a:t>
            </a:r>
            <a:endParaRPr b="1" lang="en-IN" sz="2400" strike="noStrike" u="none">
              <a:solidFill>
                <a:srgbClr val="ffffeb"/>
              </a:solidFill>
              <a:effectLst/>
              <a:uFillTx/>
              <a:latin typeface="Arial"/>
            </a:endParaRPr>
          </a:p>
        </p:txBody>
      </p:sp>
      <p:sp>
        <p:nvSpPr>
          <p:cNvPr id="82" name=""/>
          <p:cNvSpPr txBox="1"/>
          <p:nvPr/>
        </p:nvSpPr>
        <p:spPr>
          <a:xfrm>
            <a:off x="558360" y="1574640"/>
            <a:ext cx="5132520" cy="2794320"/>
          </a:xfrm>
          <a:prstGeom prst="rect">
            <a:avLst/>
          </a:prstGeom>
          <a:noFill/>
          <a:ln w="0">
            <a:noFill/>
          </a:ln>
        </p:spPr>
        <p:txBody>
          <a:bodyPr lIns="60840" rIns="60840" tIns="30600" bIns="30600" anchor="t">
            <a:normAutofit lnSpcReduction="9999"/>
          </a:bodyPr>
          <a:p>
            <a:pPr marL="228600" indent="-228600">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Employees transferring</a:t>
            </a:r>
            <a:r>
              <a:rPr b="0" lang="en-US" sz="1300" strike="noStrike" u="none">
                <a:solidFill>
                  <a:srgbClr val="ffffff"/>
                </a:solidFill>
                <a:effectLst/>
                <a:uFillTx/>
                <a:latin typeface="Arial"/>
              </a:rPr>
              <a:t> from one Federal agency to another are generally not eligible to change FEDVIP elections unless moving out of a regional plan's service area. </a:t>
            </a:r>
            <a:endParaRPr b="0" lang="en-IN" sz="1300" strike="noStrike" u="none">
              <a:solidFill>
                <a:srgbClr val="ffffff"/>
              </a:solidFill>
              <a:effectLst/>
              <a:uFillTx/>
              <a:latin typeface="Arial"/>
            </a:endParaRPr>
          </a:p>
          <a:p>
            <a:pPr marL="228600" indent="-228600">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Transferring employees</a:t>
            </a:r>
            <a:r>
              <a:rPr b="0" lang="en-US" sz="1300" strike="noStrike" u="none">
                <a:solidFill>
                  <a:srgbClr val="ffffff"/>
                </a:solidFill>
                <a:effectLst/>
                <a:uFillTx/>
                <a:latin typeface="Arial"/>
              </a:rPr>
              <a:t> who are already enrolled in FEDVIP are required to contact BENEFEDS to report the change in employing Federal agencies and payroll offices. This is not a deduction that automatically transfers from one Federal agency to another.   Link to </a:t>
            </a:r>
            <a:r>
              <a:rPr b="0" lang="en-US" sz="1300" strike="noStrike" u="sng">
                <a:solidFill>
                  <a:srgbClr val="ccccff"/>
                </a:solidFill>
                <a:effectLst/>
                <a:uFillTx/>
                <a:latin typeface="Arial"/>
                <a:hlinkClick r:id="rId1"/>
              </a:rPr>
              <a:t>https://www.benefeds.com/</a:t>
            </a: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Watch your Statements of Earnings and Leave for the deductions.</a:t>
            </a:r>
            <a:br>
              <a:rPr sz="1300"/>
            </a:b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Flexible Spending Accounts</a:t>
            </a:r>
            <a:endParaRPr b="1" lang="en-IN" sz="2400" strike="noStrike" u="none">
              <a:solidFill>
                <a:srgbClr val="ffffeb"/>
              </a:solidFill>
              <a:effectLst/>
              <a:uFillTx/>
              <a:latin typeface="Arial"/>
            </a:endParaRPr>
          </a:p>
        </p:txBody>
      </p:sp>
      <p:sp>
        <p:nvSpPr>
          <p:cNvPr id="84"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The Flexible Spending Accounts (FSA) program allows employees to use pre-tax allotments to pay for eligible dependent care expenses or certain health care expenses that are not reimbursed by another source.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If you are a new employee</a:t>
            </a:r>
            <a:r>
              <a:rPr b="0" lang="en-US" sz="1300" strike="noStrike" u="none">
                <a:solidFill>
                  <a:srgbClr val="ffffff"/>
                </a:solidFill>
                <a:effectLst/>
                <a:uFillTx/>
                <a:latin typeface="Arial"/>
              </a:rPr>
              <a:t> eligible for FSAFEDS you will have 60 days to make an election to participate in FSA, but no later than September 30 of the plan year.  You can elect an FSA during the annual open season held each fall for the following plan year.  </a:t>
            </a:r>
            <a:br>
              <a:rPr sz="1300"/>
            </a:br>
            <a:br>
              <a:rPr sz="1300"/>
            </a:br>
            <a:r>
              <a:rPr b="0" lang="en-US" sz="1300" strike="noStrike" u="none">
                <a:solidFill>
                  <a:srgbClr val="ffffff"/>
                </a:solidFill>
                <a:effectLst/>
                <a:uFillTx/>
                <a:latin typeface="Arial"/>
              </a:rPr>
              <a:t>For complete information, please link to  </a:t>
            </a:r>
            <a:r>
              <a:rPr b="0" lang="en-US" sz="1300" strike="noStrike" u="sng">
                <a:solidFill>
                  <a:srgbClr val="ccccff"/>
                </a:solidFill>
                <a:effectLst/>
                <a:uFillTx/>
                <a:latin typeface="Arial"/>
                <a:hlinkClick r:id="rId1"/>
              </a:rPr>
              <a:t>http://www.fsafeds.com</a:t>
            </a:r>
            <a:r>
              <a:rPr b="0" lang="en-US" sz="1300" strike="noStrike" u="none">
                <a:solidFill>
                  <a:srgbClr val="ffffff"/>
                </a:solidFill>
                <a:effectLst/>
                <a:uFillTx/>
                <a:latin typeface="Arial"/>
              </a:rPr>
              <a:t>.    </a:t>
            </a:r>
            <a:br>
              <a:rPr sz="1300"/>
            </a:br>
            <a:br>
              <a:rPr sz="1300"/>
            </a:b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p:txBody>
      </p:sp>
      <p:pic>
        <p:nvPicPr>
          <p:cNvPr id="85" name="Picture 4" descr="MCj04118520000[1]"/>
          <p:cNvPicPr/>
          <p:nvPr/>
        </p:nvPicPr>
        <p:blipFill>
          <a:blip r:embed="rId2"/>
          <a:stretch/>
        </p:blipFill>
        <p:spPr>
          <a:xfrm>
            <a:off x="4727520" y="0"/>
            <a:ext cx="1371600" cy="907920"/>
          </a:xfrm>
          <a:prstGeom prst="rect">
            <a:avLst/>
          </a:prstGeom>
          <a:noFill/>
          <a:ln w="0">
            <a:noFill/>
          </a:ln>
        </p:spPr>
      </p:pic>
    </p:spTree>
  </p:cSld>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Flexible Spending Accounts</a:t>
            </a:r>
            <a:endParaRPr b="1" lang="en-IN" sz="2400" strike="noStrike" u="none">
              <a:solidFill>
                <a:srgbClr val="ffffeb"/>
              </a:solidFill>
              <a:effectLst/>
              <a:uFillTx/>
              <a:latin typeface="Arial"/>
            </a:endParaRPr>
          </a:p>
        </p:txBody>
      </p:sp>
      <p:sp>
        <p:nvSpPr>
          <p:cNvPr id="87"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300" strike="noStrike" u="none">
                <a:solidFill>
                  <a:srgbClr val="ffffff"/>
                </a:solidFill>
                <a:effectLst/>
                <a:uFillTx/>
                <a:latin typeface="Arial"/>
              </a:rPr>
              <a:t>Employees transferring </a:t>
            </a:r>
            <a:r>
              <a:rPr b="0" lang="en-US" sz="1300" strike="noStrike" u="none">
                <a:solidFill>
                  <a:srgbClr val="ffffff"/>
                </a:solidFill>
                <a:effectLst/>
                <a:uFillTx/>
                <a:latin typeface="Arial"/>
              </a:rPr>
              <a:t>from one Federal agency to another are generally not eligible to elect flexible spending based on the transfer, however, if your previous agency withheld flexible spending deductions from your salary, you are required to contact FSAFEDS at 1-877-372-3337 to report your change in employing Federal agencies and payroll office.  This is not a deduction that automatically transfers from one Federal agency to another.  </a:t>
            </a:r>
            <a:endParaRPr b="0" lang="en-IN" sz="1300" strike="noStrike" u="none">
              <a:solidFill>
                <a:srgbClr val="ffffff"/>
              </a:solidFill>
              <a:effectLst/>
              <a:uFillTx/>
              <a:latin typeface="Arial"/>
            </a:endParaRPr>
          </a:p>
          <a:p>
            <a:pPr marL="228600" indent="-228600">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Please watch your Statements of Earnings and Leave for the FSA deductions.</a:t>
            </a:r>
            <a:endParaRPr b="0" lang="en-IN" sz="1300" strike="noStrike" u="none">
              <a:solidFill>
                <a:srgbClr val="ffffff"/>
              </a:solidFill>
              <a:effectLst/>
              <a:uFillTx/>
              <a:latin typeface="Arial"/>
            </a:endParaRPr>
          </a:p>
          <a:p>
            <a:pPr marL="228600" indent="-228600">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Retirement </a:t>
            </a:r>
            <a:endParaRPr b="1" lang="en-IN" sz="2400" strike="noStrike" u="none">
              <a:solidFill>
                <a:srgbClr val="ffffeb"/>
              </a:solidFill>
              <a:effectLst/>
              <a:uFillTx/>
              <a:latin typeface="Arial"/>
            </a:endParaRPr>
          </a:p>
        </p:txBody>
      </p:sp>
      <p:sp>
        <p:nvSpPr>
          <p:cNvPr id="89"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There are three retirement plans for Federal employees:</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 Federal Employees Retirement System (FERS)</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 Civil Service Retirement System (CSRS)</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 Civil Service Retirement System Offset (CSRS Offset)</a:t>
            </a:r>
            <a:endParaRPr b="0" lang="en-IN" sz="1600" strike="noStrike" u="none">
              <a:solidFill>
                <a:srgbClr val="ffffff"/>
              </a:solidFill>
              <a:effectLst/>
              <a:uFillTx/>
              <a:latin typeface="Arial"/>
            </a:endParaRPr>
          </a:p>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Coverage under one of these plans depends on your type of appointment, work schedule, and whether you are a new employee or a rehired employee with prior coverage under CSRS.</a:t>
            </a:r>
            <a:endParaRPr b="0" lang="en-IN" sz="1600" strike="noStrike" u="none">
              <a:solidFill>
                <a:srgbClr val="ffffff"/>
              </a:solidFill>
              <a:effectLst/>
              <a:uFillTx/>
              <a:latin typeface="Arial"/>
            </a:endParaRPr>
          </a:p>
        </p:txBody>
      </p:sp>
      <p:pic>
        <p:nvPicPr>
          <p:cNvPr id="90" name="Picture 4" descr="MCj03207340000[1]"/>
          <p:cNvPicPr/>
          <p:nvPr/>
        </p:nvPicPr>
        <p:blipFill>
          <a:blip r:embed="rId1"/>
          <a:stretch/>
        </p:blipFill>
        <p:spPr>
          <a:xfrm>
            <a:off x="4927680" y="0"/>
            <a:ext cx="1171440" cy="1281240"/>
          </a:xfrm>
          <a:prstGeom prst="rect">
            <a:avLst/>
          </a:prstGeom>
          <a:noFill/>
          <a:ln w="0">
            <a:noFill/>
          </a:ln>
        </p:spPr>
      </p:pic>
    </p:spTree>
  </p:cSld>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Retirement</a:t>
            </a:r>
            <a:endParaRPr b="1" lang="en-IN" sz="2400" strike="noStrike" u="none">
              <a:solidFill>
                <a:srgbClr val="ffffeb"/>
              </a:solidFill>
              <a:effectLst/>
              <a:uFillTx/>
              <a:latin typeface="Arial"/>
            </a:endParaRPr>
          </a:p>
        </p:txBody>
      </p:sp>
      <p:sp>
        <p:nvSpPr>
          <p:cNvPr id="92" name=""/>
          <p:cNvSpPr txBox="1"/>
          <p:nvPr/>
        </p:nvSpPr>
        <p:spPr>
          <a:xfrm>
            <a:off x="558360" y="1574640"/>
            <a:ext cx="5133960" cy="2895840"/>
          </a:xfrm>
          <a:prstGeom prst="rect">
            <a:avLst/>
          </a:prstGeom>
          <a:noFill/>
          <a:ln w="0">
            <a:noFill/>
          </a:ln>
        </p:spPr>
        <p:txBody>
          <a:bodyPr lIns="60840" rIns="60840" tIns="30600" bIns="30600" anchor="t">
            <a:normAutofit/>
          </a:bodyPr>
          <a:p>
            <a:pPr marL="228600" indent="-228600">
              <a:spcBef>
                <a:spcPts val="476"/>
              </a:spcBef>
              <a:buClr>
                <a:srgbClr val="ffffff"/>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If you are a newly covered employee, with less than 5 years of prior Federal civilian service, you are covered by the Federal Employees Retirement System (FERS).  </a:t>
            </a:r>
            <a:endParaRPr b="0" lang="en-IN" sz="1900" strike="noStrike" u="none">
              <a:solidFill>
                <a:srgbClr val="ffffff"/>
              </a:solidFill>
              <a:effectLst/>
              <a:uFillTx/>
              <a:latin typeface="Arial"/>
            </a:endParaRPr>
          </a:p>
          <a:p>
            <a:pPr marL="228600" indent="-228600">
              <a:spcBef>
                <a:spcPts val="476"/>
              </a:spcBef>
              <a:buClr>
                <a:srgbClr val="ffffff"/>
              </a:buClr>
              <a:buFont typeface="Symbol"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The </a:t>
            </a:r>
            <a:r>
              <a:rPr b="1" lang="en-US" sz="1900" strike="noStrike" u="none">
                <a:solidFill>
                  <a:srgbClr val="ffffff"/>
                </a:solidFill>
                <a:effectLst/>
                <a:uFillTx/>
                <a:latin typeface="Arial"/>
              </a:rPr>
              <a:t>FERS Booklet, RI 90-1</a:t>
            </a:r>
            <a:r>
              <a:rPr b="0" lang="en-US" sz="1900" strike="noStrike" u="none">
                <a:solidFill>
                  <a:srgbClr val="ffffff"/>
                </a:solidFill>
                <a:effectLst/>
                <a:uFillTx/>
                <a:latin typeface="Arial"/>
              </a:rPr>
              <a:t>, </a:t>
            </a:r>
            <a:r>
              <a:rPr b="0" lang="en-US" sz="1600" strike="noStrike" u="sng">
                <a:solidFill>
                  <a:srgbClr val="ccccff"/>
                </a:solidFill>
                <a:effectLst/>
                <a:uFillTx/>
                <a:latin typeface="Arial"/>
                <a:hlinkClick r:id="rId1"/>
              </a:rPr>
              <a:t>http://www.opm.gov/retire/pubs/pamphlets/fers.asp</a:t>
            </a:r>
            <a:r>
              <a:rPr b="0" lang="en-US" sz="1900" strike="noStrike" u="none">
                <a:solidFill>
                  <a:srgbClr val="ffffff"/>
                </a:solidFill>
                <a:effectLst/>
                <a:uFillTx/>
                <a:latin typeface="Arial"/>
              </a:rPr>
              <a:t> , explains the benefits of the plan, which includes a Basic Annuity, Social Security, and the Thrift Savings Plan (TSP).  </a:t>
            </a:r>
            <a:endParaRPr b="0" lang="en-IN" sz="1900" strike="noStrike" u="none">
              <a:solidFill>
                <a:srgbClr val="ffffff"/>
              </a:solidFill>
              <a:effectLst/>
              <a:uFillTx/>
              <a:latin typeface="Arial"/>
            </a:endParaRPr>
          </a:p>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p:txBody>
      </p:sp>
      <p:pic>
        <p:nvPicPr>
          <p:cNvPr id="93" name="Picture 4" descr="MCj03207340000[1]"/>
          <p:cNvPicPr/>
          <p:nvPr/>
        </p:nvPicPr>
        <p:blipFill>
          <a:blip r:embed="rId2"/>
          <a:stretch/>
        </p:blipFill>
        <p:spPr>
          <a:xfrm>
            <a:off x="4927680" y="0"/>
            <a:ext cx="1171440" cy="1281240"/>
          </a:xfrm>
          <a:prstGeom prst="rect">
            <a:avLst/>
          </a:prstGeom>
          <a:noFill/>
          <a:ln w="0">
            <a:noFill/>
          </a:ln>
        </p:spPr>
      </p:pic>
    </p:spTree>
  </p:cSld>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Retirement</a:t>
            </a:r>
            <a:endParaRPr b="1" lang="en-IN" sz="2400" strike="noStrike" u="none">
              <a:solidFill>
                <a:srgbClr val="ffffeb"/>
              </a:solidFill>
              <a:effectLst/>
              <a:uFillTx/>
              <a:latin typeface="Arial"/>
            </a:endParaRPr>
          </a:p>
        </p:txBody>
      </p:sp>
      <p:sp>
        <p:nvSpPr>
          <p:cNvPr id="95"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8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you are a rehired Federal employee:</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who was previously covered by the Civil Service Retirement System (CSRS), and your break in Federal civilian service was less than 1 year, you are covered by CSRS.  </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who was previously covered by the CSRS and your break in service was more than 1 year, and you had more than 5 years of prior Federal civilian service as of 12/31/1986, you are covered by CSRS-Offset.  </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who had a break in service ending after 12/31/86, and you had completed 5 years of creditable civilian service as of your last break in service, you are covered by CSRS-Offset. </a:t>
            </a:r>
            <a:endParaRPr b="0" lang="en-IN" sz="1600" strike="noStrike" u="none">
              <a:solidFill>
                <a:srgbClr val="ffffff"/>
              </a:solidFill>
              <a:effectLst/>
              <a:uFillTx/>
              <a:latin typeface="Arial"/>
            </a:endParaRPr>
          </a:p>
        </p:txBody>
      </p:sp>
      <p:pic>
        <p:nvPicPr>
          <p:cNvPr id="96" name="Picture 4" descr="MCj03207340000[1]"/>
          <p:cNvPicPr/>
          <p:nvPr/>
        </p:nvPicPr>
        <p:blipFill>
          <a:blip r:embed="rId1"/>
          <a:stretch/>
        </p:blipFill>
        <p:spPr>
          <a:xfrm>
            <a:off x="4927680" y="0"/>
            <a:ext cx="1171440" cy="1281240"/>
          </a:xfrm>
          <a:prstGeom prst="rect">
            <a:avLst/>
          </a:prstGeom>
          <a:noFill/>
          <a:ln w="0">
            <a:noFill/>
          </a:ln>
        </p:spPr>
      </p:pic>
    </p:spTree>
  </p:cSld>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Retirement</a:t>
            </a:r>
            <a:endParaRPr b="1" lang="en-IN" sz="2400" strike="noStrike" u="none">
              <a:solidFill>
                <a:srgbClr val="ffffeb"/>
              </a:solidFill>
              <a:effectLst/>
              <a:uFillTx/>
              <a:latin typeface="Arial"/>
            </a:endParaRPr>
          </a:p>
        </p:txBody>
      </p:sp>
      <p:sp>
        <p:nvSpPr>
          <p:cNvPr id="98" name=""/>
          <p:cNvSpPr txBox="1"/>
          <p:nvPr/>
        </p:nvSpPr>
        <p:spPr>
          <a:xfrm>
            <a:off x="558360" y="1574280"/>
            <a:ext cx="5132520" cy="2845080"/>
          </a:xfrm>
          <a:prstGeom prst="rect">
            <a:avLst/>
          </a:prstGeom>
          <a:noFill/>
          <a:ln w="0">
            <a:noFill/>
          </a:ln>
        </p:spPr>
        <p:txBody>
          <a:bodyPr lIns="60840" rIns="60840" tIns="30600" bIns="30600" anchor="t">
            <a:normAutofit/>
          </a:bodyPr>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you are rehired and covered by CSRS or CSRS-Offset, you have a 6 month period from the date of your appointment to transfer to FERS.  You may compare the benefits of both plans by using </a:t>
            </a:r>
            <a:r>
              <a:rPr b="1" lang="en-US" sz="1600" strike="noStrike" u="none">
                <a:solidFill>
                  <a:srgbClr val="ffffff"/>
                </a:solidFill>
                <a:effectLst/>
                <a:uFillTx/>
                <a:latin typeface="Arial"/>
              </a:rPr>
              <a:t>RI 90-3, FERS Transfer Handbook, A Guide to Making your Decision</a:t>
            </a:r>
            <a:r>
              <a:rPr b="0" lang="en-US" sz="1600" strike="noStrike" u="none">
                <a:solidFill>
                  <a:srgbClr val="ffffff"/>
                </a:solidFill>
                <a:effectLst/>
                <a:uFillTx/>
                <a:latin typeface="Arial"/>
              </a:rPr>
              <a:t>, at </a:t>
            </a:r>
            <a:r>
              <a:rPr b="0" lang="en-US" sz="1600" strike="noStrike" u="sng">
                <a:solidFill>
                  <a:srgbClr val="ccccff"/>
                </a:solidFill>
                <a:effectLst/>
                <a:uFillTx/>
                <a:latin typeface="Arial"/>
                <a:hlinkClick r:id="rId1"/>
              </a:rPr>
              <a:t>http://www.opm.gov/retire/pubs/pamphlets/fers.asp</a:t>
            </a:r>
            <a:r>
              <a:rPr b="0" lang="en-US" sz="1600" strike="noStrike" u="none">
                <a:solidFill>
                  <a:srgbClr val="ffffff"/>
                </a:solidFill>
                <a:effectLst/>
                <a:uFillTx/>
                <a:latin typeface="Arial"/>
              </a:rPr>
              <a:t>, and make your decision to remain in CSRS or transfer to FERS, using SF-3109.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Contact your servicing Benefits Specialist if you have any questions. </a:t>
            </a:r>
            <a:endParaRPr b="0" lang="en-IN" sz="1600" strike="noStrike" u="none">
              <a:solidFill>
                <a:srgbClr val="ffffff"/>
              </a:solidFill>
              <a:effectLst/>
              <a:uFillTx/>
              <a:latin typeface="Arial"/>
            </a:endParaRPr>
          </a:p>
        </p:txBody>
      </p:sp>
      <p:pic>
        <p:nvPicPr>
          <p:cNvPr id="99" name="Picture 4" descr="MCj03207340000[1]"/>
          <p:cNvPicPr/>
          <p:nvPr/>
        </p:nvPicPr>
        <p:blipFill>
          <a:blip r:embed="rId2"/>
          <a:stretch/>
        </p:blipFill>
        <p:spPr>
          <a:xfrm>
            <a:off x="4927680" y="0"/>
            <a:ext cx="1171440" cy="1281240"/>
          </a:xfrm>
          <a:prstGeom prst="rect">
            <a:avLst/>
          </a:prstGeom>
          <a:noFill/>
          <a:ln w="0">
            <a:noFill/>
          </a:ln>
        </p:spPr>
      </p:pic>
    </p:spTree>
  </p:cSld>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Retirement</a:t>
            </a:r>
            <a:endParaRPr b="1" lang="en-IN" sz="2400" strike="noStrike" u="none">
              <a:solidFill>
                <a:srgbClr val="ffffeb"/>
              </a:solidFill>
              <a:effectLst/>
              <a:uFillTx/>
              <a:latin typeface="Arial"/>
            </a:endParaRPr>
          </a:p>
        </p:txBody>
      </p:sp>
      <p:sp>
        <p:nvSpPr>
          <p:cNvPr id="101" name=""/>
          <p:cNvSpPr txBox="1"/>
          <p:nvPr/>
        </p:nvSpPr>
        <p:spPr>
          <a:xfrm>
            <a:off x="558720" y="1574640"/>
            <a:ext cx="5337360" cy="2794320"/>
          </a:xfrm>
          <a:prstGeom prst="rect">
            <a:avLst/>
          </a:prstGeom>
          <a:noFill/>
          <a:ln w="0">
            <a:noFill/>
          </a:ln>
        </p:spPr>
        <p:txBody>
          <a:bodyPr lIns="60840" rIns="60840" tIns="30600" bIns="30600" anchor="t">
            <a:normAutofit/>
          </a:bodyPr>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If you performed active duty military service after 1956, see "</a:t>
            </a:r>
            <a:r>
              <a:rPr b="0" lang="en-US" sz="1900" strike="noStrike" u="sng">
                <a:solidFill>
                  <a:srgbClr val="ccccff"/>
                </a:solidFill>
                <a:effectLst/>
                <a:uFillTx/>
                <a:latin typeface="Arial"/>
                <a:hlinkClick r:id="rId1"/>
              </a:rPr>
              <a:t>Post-1956 Military Service Deposit</a:t>
            </a:r>
            <a:r>
              <a:rPr b="0" lang="en-US" sz="1900" strike="noStrike" u="none">
                <a:solidFill>
                  <a:srgbClr val="ffffff"/>
                </a:solidFill>
                <a:effectLst/>
                <a:uFillTx/>
                <a:latin typeface="Arial"/>
              </a:rPr>
              <a:t>" for  information about service credit for retirement.</a:t>
            </a:r>
            <a:endParaRPr b="0" lang="en-IN" sz="1900" strike="noStrike" u="none">
              <a:solidFill>
                <a:srgbClr val="ffffff"/>
              </a:solidFill>
              <a:effectLst/>
              <a:uFillTx/>
              <a:latin typeface="Arial"/>
            </a:endParaRPr>
          </a:p>
          <a:p>
            <a:pPr marL="228600" indent="-228600">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http://www.aphis.usda.gov/mrpbs/hr/benefits/post_1956_military_duty.shtml</a:t>
            </a:r>
            <a:endParaRPr b="0" lang="en-IN" sz="1200" strike="noStrike" u="none">
              <a:solidFill>
                <a:srgbClr val="ffffff"/>
              </a:solidFill>
              <a:effectLst/>
              <a:uFillTx/>
              <a:latin typeface="Arial"/>
            </a:endParaRPr>
          </a:p>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900" strike="noStrike" u="none">
              <a:solidFill>
                <a:srgbClr val="ffffff"/>
              </a:solidFill>
              <a:effectLst/>
              <a:uFillTx/>
              <a:latin typeface="Arial"/>
            </a:endParaRPr>
          </a:p>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Minimize the interest charges by making the service credit payment now.</a:t>
            </a:r>
            <a:endParaRPr b="0" lang="en-IN" sz="1900" strike="noStrike" u="none">
              <a:solidFill>
                <a:srgbClr val="ffffff"/>
              </a:solidFill>
              <a:effectLst/>
              <a:uFillTx/>
              <a:latin typeface="Arial"/>
            </a:endParaRPr>
          </a:p>
        </p:txBody>
      </p:sp>
      <p:pic>
        <p:nvPicPr>
          <p:cNvPr id="102" name="Picture 4" descr="MCj03207340000[1]"/>
          <p:cNvPicPr/>
          <p:nvPr/>
        </p:nvPicPr>
        <p:blipFill>
          <a:blip r:embed="rId2"/>
          <a:stretch/>
        </p:blipFill>
        <p:spPr>
          <a:xfrm>
            <a:off x="4927680" y="0"/>
            <a:ext cx="1171440" cy="1281240"/>
          </a:xfrm>
          <a:prstGeom prst="rect">
            <a:avLst/>
          </a:prstGeom>
          <a:noFill/>
          <a:ln w="0">
            <a:noFill/>
          </a:ln>
        </p:spPr>
      </p:pic>
    </p:spTree>
  </p:cSld>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04" name=""/>
          <p:cNvSpPr txBox="1"/>
          <p:nvPr/>
        </p:nvSpPr>
        <p:spPr>
          <a:xfrm>
            <a:off x="558360" y="1574640"/>
            <a:ext cx="5132520" cy="2794320"/>
          </a:xfrm>
          <a:prstGeom prst="rect">
            <a:avLst/>
          </a:prstGeom>
          <a:noFill/>
          <a:ln w="0">
            <a:noFill/>
          </a:ln>
        </p:spPr>
        <p:txBody>
          <a:bodyPr lIns="60840" rIns="60840" tIns="30600" bIns="30600" anchor="t">
            <a:normAutofit/>
          </a:bodyPr>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The Thrift Savings Plan (TSP) is a retirement savings and investment plan for FERS and CSRS/CSRS-Offset employees.  </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A major advantage of the TSP is that you pay no taxes on contributions or earnings until you withdraw your account.  The TSP has one of the lowest expense ratios of any savings plan – about 28 cents for every $1,000 of investment.</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For complete information on the TSP please go to the TSP web site, http://www.tsp.gov. </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Look under Civilian Forms and Publications to find the </a:t>
            </a:r>
            <a:r>
              <a:rPr b="0" lang="en-US" sz="1600" strike="noStrike" u="sng">
                <a:solidFill>
                  <a:srgbClr val="ffffff"/>
                </a:solidFill>
                <a:effectLst/>
                <a:uFillTx/>
                <a:latin typeface="Arial"/>
              </a:rPr>
              <a:t>Summary of the Thrift Savings Plan</a:t>
            </a:r>
            <a:r>
              <a:rPr b="0" lang="en-US" sz="1600" strike="noStrike" u="none">
                <a:solidFill>
                  <a:srgbClr val="ffffff"/>
                </a:solidFill>
                <a:effectLst/>
                <a:uFillTx/>
                <a:latin typeface="Arial"/>
              </a:rPr>
              <a:t>, TSPBK08, and </a:t>
            </a:r>
            <a:r>
              <a:rPr b="0" lang="en-US" sz="1600" strike="noStrike" u="sng">
                <a:solidFill>
                  <a:srgbClr val="ffffff"/>
                </a:solidFill>
                <a:effectLst/>
                <a:uFillTx/>
                <a:latin typeface="Arial"/>
              </a:rPr>
              <a:t>Managing Your Account</a:t>
            </a:r>
            <a:r>
              <a:rPr b="0" lang="en-US" sz="1600" strike="noStrike" u="none">
                <a:solidFill>
                  <a:srgbClr val="ffffff"/>
                </a:solidFill>
                <a:effectLst/>
                <a:uFillTx/>
                <a:latin typeface="Arial"/>
              </a:rPr>
              <a:t>, TSPBK30.</a:t>
            </a:r>
            <a:endParaRPr b="0" lang="en-IN" sz="1600" strike="noStrike" u="none">
              <a:solidFill>
                <a:srgbClr val="ffffff"/>
              </a:solidFill>
              <a:effectLst/>
              <a:uFillTx/>
              <a:latin typeface="Arial"/>
            </a:endParaRPr>
          </a:p>
        </p:txBody>
      </p:sp>
      <p:pic>
        <p:nvPicPr>
          <p:cNvPr id="105" name="Picture 11" descr="MCj02345260000[1]"/>
          <p:cNvPicPr/>
          <p:nvPr/>
        </p:nvPicPr>
        <p:blipFill>
          <a:blip r:embed="rId1"/>
          <a:stretch/>
        </p:blipFill>
        <p:spPr>
          <a:xfrm>
            <a:off x="4727520" y="101520"/>
            <a:ext cx="1254240" cy="1192320"/>
          </a:xfrm>
          <a:prstGeom prst="rect">
            <a:avLst/>
          </a:prstGeom>
          <a:noFill/>
          <a:ln w="0">
            <a:noFill/>
          </a:ln>
        </p:spPr>
      </p:pic>
    </p:spTree>
  </p:cSld>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07" name=""/>
          <p:cNvSpPr txBox="1"/>
          <p:nvPr/>
        </p:nvSpPr>
        <p:spPr>
          <a:xfrm>
            <a:off x="558720" y="1574640"/>
            <a:ext cx="5337360" cy="2997360"/>
          </a:xfrm>
          <a:prstGeom prst="rect">
            <a:avLst/>
          </a:prstGeom>
          <a:noFill/>
          <a:ln w="0">
            <a:noFill/>
          </a:ln>
        </p:spPr>
        <p:txBody>
          <a:bodyPr lIns="60840" rIns="60840" tIns="30600" bIns="30600" anchor="t">
            <a:normAutofit fontScale="92500" lnSpcReduction="9999"/>
          </a:bodyPr>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Newly hired employees or rehired employees, who have had a break in service of more than thirty days, on or after  August 1, 2010,  will  have an automatic 3% of their basic pay withheld from their salary and deposited into the G fund . </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Employees who are subject to the automatic enrollment may opt out by completing a TSP-1 Election Form.  Employees who elect to terminate contributions within the first  pay period  and whose forms are received in Minneapolis by the end of the first pay period will not  be subject to any withholdings.  </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FERS employees are eligible to receive agency contributions immediately.  See the Summary of the TSP for information on the matching contributions.</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Participation of FERS employees is strongly encouraged, since TSP is a major part of the total retirement package, </a:t>
            </a:r>
            <a:endParaRPr b="0" lang="en-IN" sz="1200" strike="noStrike" u="none">
              <a:solidFill>
                <a:srgbClr val="ffffff"/>
              </a:solidFill>
              <a:effectLst/>
              <a:uFillTx/>
              <a:latin typeface="Arial"/>
            </a:endParaRPr>
          </a:p>
          <a:p>
            <a:pPr marL="228600" indent="-228600">
              <a:lnSpc>
                <a:spcPct val="8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300"/>
            </a:br>
            <a:br>
              <a:rPr sz="1300"/>
            </a:br>
            <a:endParaRPr b="0" lang="en-IN" sz="1300" strike="noStrike" u="none">
              <a:solidFill>
                <a:srgbClr val="ffffff"/>
              </a:solidFill>
              <a:effectLst/>
              <a:uFillTx/>
              <a:latin typeface="Arial"/>
            </a:endParaRPr>
          </a:p>
        </p:txBody>
      </p:sp>
      <p:pic>
        <p:nvPicPr>
          <p:cNvPr id="108" name="Picture 4" descr="MCj02345260000[1]"/>
          <p:cNvPicPr/>
          <p:nvPr/>
        </p:nvPicPr>
        <p:blipFill>
          <a:blip r:embed="rId1"/>
          <a:stretch/>
        </p:blipFill>
        <p:spPr>
          <a:xfrm>
            <a:off x="4727520" y="101520"/>
            <a:ext cx="1254240" cy="1192320"/>
          </a:xfrm>
          <a:prstGeom prst="rect">
            <a:avLst/>
          </a:prstGeom>
          <a:noFill/>
          <a:ln w="0">
            <a:noFill/>
          </a:ln>
        </p:spPr>
      </p:pic>
    </p:spTree>
  </p:cSld>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10" name=""/>
          <p:cNvSpPr txBox="1"/>
          <p:nvPr/>
        </p:nvSpPr>
        <p:spPr>
          <a:xfrm>
            <a:off x="558360" y="1574280"/>
            <a:ext cx="5132520" cy="2482920"/>
          </a:xfrm>
          <a:prstGeom prst="rect">
            <a:avLst/>
          </a:prstGeom>
          <a:noFill/>
          <a:ln w="0">
            <a:noFill/>
          </a:ln>
        </p:spPr>
        <p:txBody>
          <a:bodyPr lIns="60840" rIns="60840" tIns="30600" bIns="30600" anchor="t">
            <a:normAutofit lnSpcReduction="9999"/>
          </a:bodyPr>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You may submit a  TSP-1, TSP Election Form at any time:  </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http://www.aphis.usda.gov/mrpbs/downloads/forms/tsp/tsp1.pdf</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The TSP-1 should be sent to the Minneapolis Human Resources Operations Benefits office.  It may be mailed or faxed to 612-336-3545.</a:t>
            </a:r>
            <a:endParaRPr b="0" lang="en-IN" sz="1200" strike="noStrike" u="none">
              <a:solidFill>
                <a:srgbClr val="ffffff"/>
              </a:solidFill>
              <a:effectLst/>
              <a:uFillTx/>
              <a:latin typeface="Arial"/>
            </a:endParaRPr>
          </a:p>
          <a:p>
            <a:pPr marL="228600" indent="-228600">
              <a:lnSpc>
                <a:spcPct val="80000"/>
              </a:lnSpc>
              <a:spcBef>
                <a:spcPts val="3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The effective date of your election is the first day of the pay period following the one in which the form is received.  </a:t>
            </a:r>
            <a:r>
              <a:rPr b="1" lang="en-US" sz="1200" strike="noStrike" u="none">
                <a:solidFill>
                  <a:srgbClr val="ffffff"/>
                </a:solidFill>
                <a:effectLst/>
                <a:uFillTx/>
                <a:latin typeface="Arial"/>
              </a:rPr>
              <a:t>Exception</a:t>
            </a:r>
            <a:r>
              <a:rPr b="0" lang="en-US" sz="1200" strike="noStrike" u="none">
                <a:solidFill>
                  <a:srgbClr val="ffffff"/>
                </a:solidFill>
                <a:effectLst/>
                <a:uFillTx/>
                <a:latin typeface="Arial"/>
              </a:rPr>
              <a:t>: Employees who  elect to opt out of automatic enrollment  within the first  pay period and their forms are received in Minneapolis by the end of the first pay period will not  be subject to any withholdings. </a:t>
            </a: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200" strike="noStrike" u="none">
              <a:solidFill>
                <a:srgbClr val="ffffff"/>
              </a:solidFill>
              <a:effectLst/>
              <a:uFillTx/>
              <a:latin typeface="Arial"/>
            </a:endParaRPr>
          </a:p>
          <a:p>
            <a:pPr marL="228600" indent="-228600">
              <a:lnSpc>
                <a:spcPct val="80000"/>
              </a:lnSpc>
              <a:spcBef>
                <a:spcPts val="3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trike="noStrike" u="none">
                <a:solidFill>
                  <a:srgbClr val="ffffff"/>
                </a:solidFill>
                <a:effectLst/>
                <a:uFillTx/>
                <a:latin typeface="Arial"/>
              </a:rPr>
              <a:t>Take advantage of this important benefit by participating  as soon as you  become eligible!</a:t>
            </a:r>
            <a:endParaRPr b="0" lang="en-IN"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12" name=""/>
          <p:cNvSpPr txBox="1"/>
          <p:nvPr/>
        </p:nvSpPr>
        <p:spPr>
          <a:xfrm>
            <a:off x="558360" y="1574640"/>
            <a:ext cx="5132520" cy="2997360"/>
          </a:xfrm>
          <a:prstGeom prst="rect">
            <a:avLst/>
          </a:prstGeom>
          <a:noFill/>
          <a:ln w="0">
            <a:noFill/>
          </a:ln>
        </p:spPr>
        <p:txBody>
          <a:bodyPr lIns="60840" rIns="60840" tIns="30600" bIns="30600" anchor="t">
            <a:normAutofit/>
          </a:bodyPr>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Once your TSP account is activated by your contribution, the TSP Service Office will issue you a TSP Personal Identification Number (PIN) which you may use to make investment fund allocations and interfund transfers using the TSP web site or the Thriftline.  Your contributions will be invested in the G Fund until your fund allocation is processed.  Find out more about the TSP funds at http://www.tsp.gov/</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Once your TSP account is activated by your contribution, you may also transfer or roll over money into the TSP, from another qualifying investment plan.  Find out more on the TSP-60 form, available on the TSP web site.</a:t>
            </a: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An employee who has had contributions automatically withheld from his salary may use a TSP-25, Request for Automatic Enrollment Refund Form, to request a refund no later than 90 days after TSP receives the first automatic enrollment contribution.</a:t>
            </a:r>
            <a:endParaRPr b="0" lang="en-IN" sz="1100" strike="noStrike" u="none">
              <a:solidFill>
                <a:srgbClr val="ffffff"/>
              </a:solidFill>
              <a:effectLst/>
              <a:uFillTx/>
              <a:latin typeface="Arial"/>
            </a:endParaRPr>
          </a:p>
          <a:p>
            <a:pPr marL="228600" indent="-228600">
              <a:lnSpc>
                <a:spcPct val="80000"/>
              </a:lnSpc>
              <a:spcBef>
                <a:spcPts val="275"/>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100" strike="noStrike" u="none">
              <a:solidFill>
                <a:srgbClr val="ffffff"/>
              </a:solidFill>
              <a:effectLst/>
              <a:uFillTx/>
              <a:latin typeface="Arial"/>
            </a:endParaRPr>
          </a:p>
          <a:p>
            <a:pPr marL="228600" indent="-228600">
              <a:lnSpc>
                <a:spcPct val="80000"/>
              </a:lnSpc>
              <a:spcBef>
                <a:spcPts val="275"/>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100" strike="noStrike" u="none">
                <a:solidFill>
                  <a:srgbClr val="ffffff"/>
                </a:solidFill>
                <a:effectLst/>
                <a:uFillTx/>
                <a:latin typeface="Arial"/>
              </a:rPr>
              <a:t>Please watch your Statement of Earnings and Leave to be sure your TSP contributions are withheld.</a:t>
            </a:r>
            <a:br>
              <a:rPr sz="1100"/>
            </a:br>
            <a:r>
              <a:rPr b="0" lang="en-US" sz="1100" strike="noStrike" u="none">
                <a:solidFill>
                  <a:srgbClr val="ffffff"/>
                </a:solidFill>
                <a:effectLst/>
                <a:uFillTx/>
                <a:latin typeface="Arial"/>
              </a:rPr>
              <a:t> </a:t>
            </a:r>
            <a:endParaRPr b="0" lang="en-IN" sz="1100" strike="noStrike" u="none">
              <a:solidFill>
                <a:srgbClr val="ffffff"/>
              </a:solidFill>
              <a:effectLst/>
              <a:uFillTx/>
              <a:latin typeface="Arial"/>
            </a:endParaRPr>
          </a:p>
        </p:txBody>
      </p:sp>
      <p:pic>
        <p:nvPicPr>
          <p:cNvPr id="113" name="Picture 4" descr="MCj02345260000[1]"/>
          <p:cNvPicPr/>
          <p:nvPr/>
        </p:nvPicPr>
        <p:blipFill>
          <a:blip r:embed="rId1"/>
          <a:stretch/>
        </p:blipFill>
        <p:spPr>
          <a:xfrm>
            <a:off x="4727520" y="101520"/>
            <a:ext cx="1254240" cy="1192320"/>
          </a:xfrm>
          <a:prstGeom prst="rect">
            <a:avLst/>
          </a:prstGeom>
          <a:noFill/>
          <a:ln w="0">
            <a:noFill/>
          </a:ln>
        </p:spPr>
      </p:pic>
    </p:spTree>
  </p:cSld>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15" name=""/>
          <p:cNvSpPr txBox="1"/>
          <p:nvPr/>
        </p:nvSpPr>
        <p:spPr>
          <a:xfrm>
            <a:off x="558360" y="1574280"/>
            <a:ext cx="5132520" cy="2482920"/>
          </a:xfrm>
          <a:prstGeom prst="rect">
            <a:avLst/>
          </a:prstGeom>
          <a:noFill/>
          <a:ln w="0">
            <a:noFill/>
          </a:ln>
        </p:spPr>
        <p:txBody>
          <a:bodyPr lIns="60840" rIns="60840" tIns="30600" bIns="30600" anchor="t">
            <a:normAutofit fontScale="92500" lnSpcReduction="9999"/>
          </a:bodyPr>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Rehired employees with a break in Federal service of less than 31 days</a:t>
            </a:r>
            <a:r>
              <a:rPr b="0" lang="en-US" sz="1600" strike="noStrike" u="none">
                <a:solidFill>
                  <a:srgbClr val="ffffff"/>
                </a:solidFill>
                <a:effectLst/>
                <a:uFillTx/>
                <a:latin typeface="Arial"/>
              </a:rPr>
              <a:t> will continue to have their previous TSP contributions withheld.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Rehired employees, with a break in service of more than 30 days</a:t>
            </a:r>
            <a:r>
              <a:rPr b="0" lang="en-US" sz="1600" strike="noStrike" u="none">
                <a:solidFill>
                  <a:srgbClr val="ffffff"/>
                </a:solidFill>
                <a:effectLst/>
                <a:uFillTx/>
                <a:latin typeface="Arial"/>
              </a:rPr>
              <a:t> will be subject to automatic enrollment.</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Please watch your Statement of Earnings and Leave to be sure your TSP contributions are withheld. </a:t>
            </a:r>
            <a:br>
              <a:rPr sz="1600"/>
            </a:br>
            <a:br>
              <a:rPr sz="1600"/>
            </a:br>
            <a:r>
              <a:rPr b="0" lang="en-US" sz="1600" strike="noStrike" u="none">
                <a:solidFill>
                  <a:srgbClr val="ffffff"/>
                </a:solidFill>
                <a:effectLst/>
                <a:uFillTx/>
                <a:latin typeface="Arial"/>
              </a:rPr>
              <a:t> </a:t>
            </a:r>
            <a:endParaRPr b="0" lang="en-IN" sz="1600" strike="noStrike" u="none">
              <a:solidFill>
                <a:srgbClr val="ffffff"/>
              </a:solidFill>
              <a:effectLst/>
              <a:uFillTx/>
              <a:latin typeface="Arial"/>
            </a:endParaRPr>
          </a:p>
        </p:txBody>
      </p:sp>
      <p:pic>
        <p:nvPicPr>
          <p:cNvPr id="116" name="Picture 4" descr="MCj02345260000[1]"/>
          <p:cNvPicPr/>
          <p:nvPr/>
        </p:nvPicPr>
        <p:blipFill>
          <a:blip r:embed="rId1"/>
          <a:stretch/>
        </p:blipFill>
        <p:spPr>
          <a:xfrm>
            <a:off x="4844880" y="101520"/>
            <a:ext cx="1254240" cy="1192320"/>
          </a:xfrm>
          <a:prstGeom prst="rect">
            <a:avLst/>
          </a:prstGeom>
          <a:noFill/>
          <a:ln w="0">
            <a:noFill/>
          </a:ln>
        </p:spPr>
      </p:pic>
    </p:spTree>
  </p:cSld>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Thrift Savings Plan</a:t>
            </a:r>
            <a:endParaRPr b="1" lang="en-IN" sz="2400" strike="noStrike" u="none">
              <a:solidFill>
                <a:srgbClr val="ffffeb"/>
              </a:solidFill>
              <a:effectLst/>
              <a:uFillTx/>
              <a:latin typeface="Arial"/>
            </a:endParaRPr>
          </a:p>
        </p:txBody>
      </p:sp>
      <p:sp>
        <p:nvSpPr>
          <p:cNvPr id="118" name=""/>
          <p:cNvSpPr txBox="1"/>
          <p:nvPr/>
        </p:nvSpPr>
        <p:spPr>
          <a:xfrm>
            <a:off x="558360" y="1574280"/>
            <a:ext cx="5132520" cy="2482920"/>
          </a:xfrm>
          <a:prstGeom prst="rect">
            <a:avLst/>
          </a:prstGeom>
          <a:noFill/>
          <a:ln w="0">
            <a:noFill/>
          </a:ln>
        </p:spPr>
        <p:txBody>
          <a:bodyPr lIns="60840" rIns="60840" tIns="30600" bIns="30600" anchor="t">
            <a:normAutofit fontScale="92500" lnSpcReduction="9999"/>
          </a:bodyPr>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Employees transferring</a:t>
            </a:r>
            <a:r>
              <a:rPr b="0" lang="en-US" sz="1600" strike="noStrike" u="none">
                <a:solidFill>
                  <a:srgbClr val="ffffff"/>
                </a:solidFill>
                <a:effectLst/>
                <a:uFillTx/>
                <a:latin typeface="Arial"/>
              </a:rPr>
              <a:t> from one Federal agency to another will continue to have their previous TSP contribution election withheld.  Employees transferring with an outstanding (unpaid) TSP loan should notify Human Resources of the loan information in order to continue the loan deduction.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Arial"/>
            </a:endParaRPr>
          </a:p>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Please watch your Statement of Earnings and Leave to be sure your TSP contributions are withheld. </a:t>
            </a:r>
            <a:br>
              <a:rPr sz="1600"/>
            </a:br>
            <a:r>
              <a:rPr b="0" lang="en-US" sz="1600" strike="noStrike" u="none">
                <a:solidFill>
                  <a:srgbClr val="ffffff"/>
                </a:solidFill>
                <a:effectLst/>
                <a:uFillTx/>
                <a:latin typeface="Arial"/>
              </a:rPr>
              <a:t> </a:t>
            </a:r>
            <a:endParaRPr b="0" lang="en-IN"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Federal Long Term Care Insurance</a:t>
            </a:r>
            <a:endParaRPr b="1" lang="en-IN" sz="2400" strike="noStrike" u="none">
              <a:solidFill>
                <a:srgbClr val="ffffeb"/>
              </a:solidFill>
              <a:effectLst/>
              <a:uFillTx/>
              <a:latin typeface="Arial"/>
            </a:endParaRPr>
          </a:p>
        </p:txBody>
      </p:sp>
      <p:sp>
        <p:nvSpPr>
          <p:cNvPr id="120" name=""/>
          <p:cNvSpPr txBox="1"/>
          <p:nvPr/>
        </p:nvSpPr>
        <p:spPr>
          <a:xfrm>
            <a:off x="558360" y="1676160"/>
            <a:ext cx="5132520" cy="2692440"/>
          </a:xfrm>
          <a:prstGeom prst="rect">
            <a:avLst/>
          </a:prstGeom>
          <a:noFill/>
          <a:ln w="0">
            <a:noFill/>
          </a:ln>
        </p:spPr>
        <p:txBody>
          <a:bodyPr lIns="60840" rIns="60840" tIns="30600" bIns="30600" anchor="t">
            <a:normAutofit lnSpcReduction="9999"/>
          </a:bodyPr>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Long term care is lengthy or lifelong assistance needed for the activities of daily living (eating, bathing, dressing, etc.) due to injury, illness, or cognitive impairment (e.g., Alzheimer’s disease).  It may be the most expensive type of care you ever face, and most health care programs do not routinely cover it. </a:t>
            </a:r>
            <a:br>
              <a:rPr sz="1600"/>
            </a:br>
            <a:r>
              <a:rPr b="0" lang="en-US" sz="1600" strike="noStrike" u="none">
                <a:solidFill>
                  <a:srgbClr val="ffffff"/>
                </a:solidFill>
                <a:effectLst/>
                <a:uFillTx/>
                <a:latin typeface="Arial"/>
              </a:rPr>
              <a:t> </a:t>
            </a:r>
            <a:endParaRPr b="0" lang="en-IN" sz="1600" strike="noStrike" u="none">
              <a:solidFill>
                <a:srgbClr val="ffffff"/>
              </a:solidFill>
              <a:effectLst/>
              <a:uFillTx/>
              <a:latin typeface="Arial"/>
            </a:endParaRPr>
          </a:p>
          <a:p>
            <a:pPr marL="228600" indent="-228600">
              <a:lnSpc>
                <a:spcPct val="8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Coverage provides financial resources for care in a nursing home, assisted living facility, adult day care, or at home. </a:t>
            </a:r>
            <a:endParaRPr b="0" lang="en-IN" sz="1600" strike="noStrike" u="none">
              <a:solidFill>
                <a:srgbClr val="ffffff"/>
              </a:solidFill>
              <a:effectLst/>
              <a:uFillTx/>
              <a:latin typeface="Arial"/>
            </a:endParaRPr>
          </a:p>
          <a:p>
            <a:pPr marL="228600" indent="-228600">
              <a:lnSpc>
                <a:spcPct val="8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br>
              <a:rPr sz="1600"/>
            </a:br>
            <a:endParaRPr b="0" lang="en-IN" sz="1600" strike="noStrike" u="none">
              <a:solidFill>
                <a:srgbClr val="ffffff"/>
              </a:solidFill>
              <a:effectLst/>
              <a:uFillTx/>
              <a:latin typeface="Arial"/>
            </a:endParaRPr>
          </a:p>
        </p:txBody>
      </p:sp>
      <p:pic>
        <p:nvPicPr>
          <p:cNvPr id="121" name="Picture 4" descr="MCj04041870000[1]"/>
          <p:cNvPicPr/>
          <p:nvPr/>
        </p:nvPicPr>
        <p:blipFill>
          <a:blip r:embed="rId1"/>
          <a:stretch/>
        </p:blipFill>
        <p:spPr>
          <a:xfrm>
            <a:off x="5423040" y="101520"/>
            <a:ext cx="582480" cy="863640"/>
          </a:xfrm>
          <a:prstGeom prst="rect">
            <a:avLst/>
          </a:prstGeom>
          <a:noFill/>
          <a:ln w="0">
            <a:noFill/>
          </a:ln>
        </p:spPr>
      </p:pic>
    </p:spTree>
  </p:cSld>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Federal Long Term Care Insurance</a:t>
            </a:r>
            <a:endParaRPr b="1" lang="en-IN" sz="2400" strike="noStrike" u="none">
              <a:solidFill>
                <a:srgbClr val="ffffeb"/>
              </a:solidFill>
              <a:effectLst/>
              <a:uFillTx/>
              <a:latin typeface="Arial"/>
            </a:endParaRPr>
          </a:p>
        </p:txBody>
      </p:sp>
      <p:sp>
        <p:nvSpPr>
          <p:cNvPr id="123" name=""/>
          <p:cNvSpPr txBox="1"/>
          <p:nvPr/>
        </p:nvSpPr>
        <p:spPr>
          <a:xfrm>
            <a:off x="558360" y="1574640"/>
            <a:ext cx="5286600" cy="2997360"/>
          </a:xfrm>
          <a:prstGeom prst="rect">
            <a:avLst/>
          </a:prstGeom>
          <a:noFill/>
          <a:ln w="0">
            <a:noFill/>
          </a:ln>
        </p:spPr>
        <p:txBody>
          <a:bodyPr lIns="60840" rIns="60840" tIns="30600" bIns="30600" anchor="t">
            <a:normAutofit/>
          </a:bodyPr>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Key benefits of the Federal Long Term Care program include: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Long Term Care Insurance is managed by John Hancock Life &amp; Health Insurance Company.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Qualified relatives can also apply – even if you are not ready to apply for coverage, consider it for your parents and parents-in-law to help secure their future. </a:t>
            </a:r>
            <a:endParaRPr b="0" lang="en-IN" sz="1600" strike="noStrike" u="none">
              <a:solidFill>
                <a:srgbClr val="ffffff"/>
              </a:solidFill>
              <a:effectLst/>
              <a:uFillTx/>
              <a:latin typeface="Arial"/>
            </a:endParaRPr>
          </a:p>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you apply within 60 days of becoming eligible, you and your spouse qualify for abbreviated underwriting (fewer health questions means it may be easier to be approved for coverage). </a:t>
            </a:r>
            <a:endParaRPr b="0" lang="en-IN" sz="1600" strike="noStrike" u="none">
              <a:solidFill>
                <a:srgbClr val="ffffff"/>
              </a:solidFill>
              <a:effectLst/>
              <a:uFillTx/>
              <a:latin typeface="Arial"/>
            </a:endParaRPr>
          </a:p>
          <a:p>
            <a:pPr marL="228600" indent="-228600">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Arial"/>
            </a:endParaRPr>
          </a:p>
        </p:txBody>
      </p:sp>
      <p:pic>
        <p:nvPicPr>
          <p:cNvPr id="124" name="Picture 4" descr="MCj04041870000[1]"/>
          <p:cNvPicPr/>
          <p:nvPr/>
        </p:nvPicPr>
        <p:blipFill>
          <a:blip r:embed="rId1"/>
          <a:stretch/>
        </p:blipFill>
        <p:spPr>
          <a:xfrm>
            <a:off x="5446800" y="0"/>
            <a:ext cx="652320" cy="965160"/>
          </a:xfrm>
          <a:prstGeom prst="rect">
            <a:avLst/>
          </a:prstGeom>
          <a:noFill/>
          <a:ln w="0">
            <a:noFill/>
          </a:ln>
        </p:spPr>
      </p:pic>
    </p:spTree>
  </p:cSld>
  <p:timing>
    <p:tnLst>
      <p:par>
        <p:cTn id="38" dur="indefinite" restart="never" nodeType="tmRoot">
          <p:childTnLst>
            <p:seq>
              <p:cTn id="39" dur="indefinite" nodeType="mainSeq">
                <p:childTnLst>
                  <p:par>
                    <p:cTn id="40" fill="hold">
                      <p:stCondLst>
                        <p:cond delay="indefinite"/>
                      </p:stCondLst>
                      <p:childTnLst>
                        <p:par>
                          <p:cTn id="41" fill="hold">
                            <p:stCondLst>
                              <p:cond delay="0"/>
                            </p:stCondLst>
                            <p:childTnLst>
                              <p:par>
                                <p:cTn id="42" nodeType="clickEffect" fill="hold" presetClass="entr" presetID="42">
                                  <p:stCondLst>
                                    <p:cond delay="0"/>
                                  </p:stCondLst>
                                  <p:childTnLst>
                                    <p:set>
                                      <p:cBhvr>
                                        <p:cTn id="43" dur="1" fill="hold">
                                          <p:stCondLst>
                                            <p:cond delay="0"/>
                                          </p:stCondLst>
                                        </p:cTn>
                                        <p:tgtEl>
                                          <p:spTgt spid="123">
                                            <p:txEl>
                                              <p:pRg st="0" end="0"/>
                                            </p:txEl>
                                          </p:spTgt>
                                        </p:tgtEl>
                                        <p:attrNameLst>
                                          <p:attrName>style.visibility</p:attrName>
                                        </p:attrNameLst>
                                      </p:cBhvr>
                                      <p:to>
                                        <p:strVal val="visible"/>
                                      </p:to>
                                    </p:set>
                                    <p:animEffect filter="fade" transition="in">
                                      <p:cBhvr additive="repl">
                                        <p:cTn id="44" dur="1000"/>
                                        <p:tgtEl>
                                          <p:spTgt spid="123">
                                            <p:txEl>
                                              <p:pRg st="0" end="0"/>
                                            </p:txEl>
                                          </p:spTgt>
                                        </p:tgtEl>
                                      </p:cBhvr>
                                    </p:animEffect>
                                    <p:anim calcmode="lin" valueType="num">
                                      <p:cBhvr additive="repl">
                                        <p:cTn id="45" dur="1000" fill="hold"/>
                                        <p:tgtEl>
                                          <p:spTgt spid="123">
                                            <p:txEl>
                                              <p:pRg st="0" end="0"/>
                                            </p:txEl>
                                          </p:spTgt>
                                        </p:tgtEl>
                                        <p:attrNameLst>
                                          <p:attrName>ppt_x</p:attrName>
                                        </p:attrNameLst>
                                      </p:cBhvr>
                                      <p:tavLst>
                                        <p:tav tm="0">
                                          <p:val>
                                            <p:strVal val="#ppt_x"/>
                                          </p:val>
                                        </p:tav>
                                        <p:tav tm="100000">
                                          <p:val>
                                            <p:strVal val="#ppt_x"/>
                                          </p:val>
                                        </p:tav>
                                      </p:tavLst>
                                    </p:anim>
                                    <p:anim calcmode="lin" valueType="num">
                                      <p:cBhvr additive="repl">
                                        <p:cTn id="46" dur="1000" fill="hold"/>
                                        <p:tgtEl>
                                          <p:spTgt spid="12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nodeType="clickEffect" fill="hold" presetClass="entr" presetID="42">
                                  <p:stCondLst>
                                    <p:cond delay="0"/>
                                  </p:stCondLst>
                                  <p:childTnLst>
                                    <p:set>
                                      <p:cBhvr>
                                        <p:cTn id="50" dur="1" fill="hold">
                                          <p:stCondLst>
                                            <p:cond delay="0"/>
                                          </p:stCondLst>
                                        </p:cTn>
                                        <p:tgtEl>
                                          <p:spTgt spid="123">
                                            <p:txEl>
                                              <p:pRg st="1" end="1"/>
                                            </p:txEl>
                                          </p:spTgt>
                                        </p:tgtEl>
                                        <p:attrNameLst>
                                          <p:attrName>style.visibility</p:attrName>
                                        </p:attrNameLst>
                                      </p:cBhvr>
                                      <p:to>
                                        <p:strVal val="visible"/>
                                      </p:to>
                                    </p:set>
                                    <p:animEffect filter="fade" transition="in">
                                      <p:cBhvr additive="repl">
                                        <p:cTn id="51" dur="1000"/>
                                        <p:tgtEl>
                                          <p:spTgt spid="123">
                                            <p:txEl>
                                              <p:pRg st="1" end="1"/>
                                            </p:txEl>
                                          </p:spTgt>
                                        </p:tgtEl>
                                      </p:cBhvr>
                                    </p:animEffect>
                                    <p:anim calcmode="lin" valueType="num">
                                      <p:cBhvr additive="repl">
                                        <p:cTn id="52" dur="1000" fill="hold"/>
                                        <p:tgtEl>
                                          <p:spTgt spid="123">
                                            <p:txEl>
                                              <p:pRg st="1" end="1"/>
                                            </p:txEl>
                                          </p:spTgt>
                                        </p:tgtEl>
                                        <p:attrNameLst>
                                          <p:attrName>ppt_x</p:attrName>
                                        </p:attrNameLst>
                                      </p:cBhvr>
                                      <p:tavLst>
                                        <p:tav tm="0">
                                          <p:val>
                                            <p:strVal val="#ppt_x"/>
                                          </p:val>
                                        </p:tav>
                                        <p:tav tm="100000">
                                          <p:val>
                                            <p:strVal val="#ppt_x"/>
                                          </p:val>
                                        </p:tav>
                                      </p:tavLst>
                                    </p:anim>
                                    <p:anim calcmode="lin" valueType="num">
                                      <p:cBhvr additive="repl">
                                        <p:cTn id="53" dur="1000" fill="hold"/>
                                        <p:tgtEl>
                                          <p:spTgt spid="12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nodeType="clickEffect" fill="hold" presetClass="entr" presetID="42">
                                  <p:stCondLst>
                                    <p:cond delay="0"/>
                                  </p:stCondLst>
                                  <p:childTnLst>
                                    <p:set>
                                      <p:cBhvr>
                                        <p:cTn id="57" dur="1" fill="hold">
                                          <p:stCondLst>
                                            <p:cond delay="0"/>
                                          </p:stCondLst>
                                        </p:cTn>
                                        <p:tgtEl>
                                          <p:spTgt spid="123">
                                            <p:txEl>
                                              <p:pRg st="2" end="2"/>
                                            </p:txEl>
                                          </p:spTgt>
                                        </p:tgtEl>
                                        <p:attrNameLst>
                                          <p:attrName>style.visibility</p:attrName>
                                        </p:attrNameLst>
                                      </p:cBhvr>
                                      <p:to>
                                        <p:strVal val="visible"/>
                                      </p:to>
                                    </p:set>
                                    <p:animEffect filter="fade" transition="in">
                                      <p:cBhvr additive="repl">
                                        <p:cTn id="58" dur="1000"/>
                                        <p:tgtEl>
                                          <p:spTgt spid="123">
                                            <p:txEl>
                                              <p:pRg st="2" end="2"/>
                                            </p:txEl>
                                          </p:spTgt>
                                        </p:tgtEl>
                                      </p:cBhvr>
                                    </p:animEffect>
                                    <p:anim calcmode="lin" valueType="num">
                                      <p:cBhvr additive="repl">
                                        <p:cTn id="59" dur="1000" fill="hold"/>
                                        <p:tgtEl>
                                          <p:spTgt spid="123">
                                            <p:txEl>
                                              <p:pRg st="2" end="2"/>
                                            </p:txEl>
                                          </p:spTgt>
                                        </p:tgtEl>
                                        <p:attrNameLst>
                                          <p:attrName>ppt_x</p:attrName>
                                        </p:attrNameLst>
                                      </p:cBhvr>
                                      <p:tavLst>
                                        <p:tav tm="0">
                                          <p:val>
                                            <p:strVal val="#ppt_x"/>
                                          </p:val>
                                        </p:tav>
                                        <p:tav tm="100000">
                                          <p:val>
                                            <p:strVal val="#ppt_x"/>
                                          </p:val>
                                        </p:tav>
                                      </p:tavLst>
                                    </p:anim>
                                    <p:anim calcmode="lin" valueType="num">
                                      <p:cBhvr additive="repl">
                                        <p:cTn id="60" dur="1000" fill="hold"/>
                                        <p:tgtEl>
                                          <p:spTgt spid="12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42">
                                  <p:stCondLst>
                                    <p:cond delay="0"/>
                                  </p:stCondLst>
                                  <p:childTnLst>
                                    <p:set>
                                      <p:cBhvr>
                                        <p:cTn id="64" dur="1" fill="hold">
                                          <p:stCondLst>
                                            <p:cond delay="0"/>
                                          </p:stCondLst>
                                        </p:cTn>
                                        <p:tgtEl>
                                          <p:spTgt spid="123">
                                            <p:txEl>
                                              <p:pRg st="3" end="3"/>
                                            </p:txEl>
                                          </p:spTgt>
                                        </p:tgtEl>
                                        <p:attrNameLst>
                                          <p:attrName>style.visibility</p:attrName>
                                        </p:attrNameLst>
                                      </p:cBhvr>
                                      <p:to>
                                        <p:strVal val="visible"/>
                                      </p:to>
                                    </p:set>
                                    <p:animEffect filter="fade" transition="in">
                                      <p:cBhvr additive="repl">
                                        <p:cTn id="65" dur="1000"/>
                                        <p:tgtEl>
                                          <p:spTgt spid="123">
                                            <p:txEl>
                                              <p:pRg st="3" end="3"/>
                                            </p:txEl>
                                          </p:spTgt>
                                        </p:tgtEl>
                                      </p:cBhvr>
                                    </p:animEffect>
                                    <p:anim calcmode="lin" valueType="num">
                                      <p:cBhvr additive="repl">
                                        <p:cTn id="66" dur="1000" fill="hold"/>
                                        <p:tgtEl>
                                          <p:spTgt spid="123">
                                            <p:txEl>
                                              <p:pRg st="3" end="3"/>
                                            </p:txEl>
                                          </p:spTgt>
                                        </p:tgtEl>
                                        <p:attrNameLst>
                                          <p:attrName>ppt_x</p:attrName>
                                        </p:attrNameLst>
                                      </p:cBhvr>
                                      <p:tavLst>
                                        <p:tav tm="0">
                                          <p:val>
                                            <p:strVal val="#ppt_x"/>
                                          </p:val>
                                        </p:tav>
                                        <p:tav tm="100000">
                                          <p:val>
                                            <p:strVal val="#ppt_x"/>
                                          </p:val>
                                        </p:tav>
                                      </p:tavLst>
                                    </p:anim>
                                    <p:anim calcmode="lin" valueType="num">
                                      <p:cBhvr additive="repl">
                                        <p:cTn id="67" dur="1000" fill="hold"/>
                                        <p:tgtEl>
                                          <p:spTgt spid="12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Federal Long Term Care Insurance</a:t>
            </a:r>
            <a:endParaRPr b="1" lang="en-IN" sz="2400" strike="noStrike" u="none">
              <a:solidFill>
                <a:srgbClr val="ffffeb"/>
              </a:solidFill>
              <a:effectLst/>
              <a:uFillTx/>
              <a:latin typeface="Arial"/>
            </a:endParaRPr>
          </a:p>
        </p:txBody>
      </p:sp>
      <p:sp>
        <p:nvSpPr>
          <p:cNvPr id="126" name=""/>
          <p:cNvSpPr txBox="1"/>
          <p:nvPr/>
        </p:nvSpPr>
        <p:spPr>
          <a:xfrm>
            <a:off x="558360" y="1574640"/>
            <a:ext cx="5132520" cy="2794320"/>
          </a:xfrm>
          <a:prstGeom prst="rect">
            <a:avLst/>
          </a:prstGeom>
          <a:noFill/>
          <a:ln w="0">
            <a:noFill/>
          </a:ln>
        </p:spPr>
        <p:txBody>
          <a:bodyPr lIns="60840" rIns="60840" tIns="30600" bIns="30600" anchor="t">
            <a:normAutofit/>
          </a:bodyPr>
          <a:p>
            <a:pPr marL="228600" indent="-228600">
              <a:lnSpc>
                <a:spcPct val="90000"/>
              </a:lnSpc>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Link to http://www.LTCFEDS.com for information and to request an application package, or call 1-800-LTCFEDS (1-800-582-3337). </a:t>
            </a:r>
            <a:endParaRPr b="0" lang="en-IN" sz="1900" strike="noStrike" u="none">
              <a:solidFill>
                <a:srgbClr val="ffffff"/>
              </a:solidFill>
              <a:effectLst/>
              <a:uFillTx/>
              <a:latin typeface="Arial"/>
            </a:endParaRPr>
          </a:p>
          <a:p>
            <a:pPr marL="228600" indent="-228600">
              <a:lnSpc>
                <a:spcPct val="90000"/>
              </a:lnSpc>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900" strike="noStrike" u="none">
                <a:solidFill>
                  <a:srgbClr val="ffffff"/>
                </a:solidFill>
                <a:effectLst/>
                <a:uFillTx/>
                <a:latin typeface="Arial"/>
              </a:rPr>
              <a:t>New employees </a:t>
            </a:r>
            <a:r>
              <a:rPr b="0" lang="en-US" sz="1900" strike="noStrike" u="none">
                <a:solidFill>
                  <a:srgbClr val="ffffff"/>
                </a:solidFill>
                <a:effectLst/>
                <a:uFillTx/>
                <a:latin typeface="Arial"/>
              </a:rPr>
              <a:t>have 60 days from the date of employment to complete the short application for enrollment. </a:t>
            </a:r>
            <a:br>
              <a:rPr sz="1900"/>
            </a:br>
            <a:br>
              <a:rPr sz="1900"/>
            </a:br>
            <a:br>
              <a:rPr sz="1900"/>
            </a:br>
            <a:r>
              <a:rPr b="0" lang="en-US" sz="1900" strike="noStrike" u="none">
                <a:solidFill>
                  <a:srgbClr val="ffffff"/>
                </a:solidFill>
                <a:effectLst/>
                <a:uFillTx/>
                <a:latin typeface="Arial"/>
              </a:rPr>
              <a:t> </a:t>
            </a:r>
            <a:endParaRPr b="0" lang="en-IN" sz="1900" strike="noStrike" u="none">
              <a:solidFill>
                <a:srgbClr val="ffffff"/>
              </a:solidFill>
              <a:effectLst/>
              <a:uFillTx/>
              <a:latin typeface="Arial"/>
            </a:endParaRPr>
          </a:p>
        </p:txBody>
      </p:sp>
      <p:pic>
        <p:nvPicPr>
          <p:cNvPr id="127" name="Picture 4" descr="MCj04041870000[1]"/>
          <p:cNvPicPr/>
          <p:nvPr/>
        </p:nvPicPr>
        <p:blipFill>
          <a:blip r:embed="rId1"/>
          <a:stretch/>
        </p:blipFill>
        <p:spPr>
          <a:xfrm>
            <a:off x="5446800" y="0"/>
            <a:ext cx="652320" cy="965160"/>
          </a:xfrm>
          <a:prstGeom prst="rect">
            <a:avLst/>
          </a:prstGeom>
          <a:noFill/>
          <a:ln w="0">
            <a:noFill/>
          </a:ln>
        </p:spPr>
      </p:pic>
    </p:spTree>
  </p:cSld>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Federal Long Term Care Insurance</a:t>
            </a:r>
            <a:endParaRPr b="1" lang="en-IN" sz="2400" strike="noStrike" u="none">
              <a:solidFill>
                <a:srgbClr val="ffffeb"/>
              </a:solidFill>
              <a:effectLst/>
              <a:uFillTx/>
              <a:latin typeface="Arial"/>
            </a:endParaRPr>
          </a:p>
        </p:txBody>
      </p:sp>
      <p:sp>
        <p:nvSpPr>
          <p:cNvPr id="129"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1" lang="en-US" sz="1600" strike="noStrike" u="none">
                <a:solidFill>
                  <a:srgbClr val="ffffff"/>
                </a:solidFill>
                <a:effectLst/>
                <a:uFillTx/>
                <a:latin typeface="Arial"/>
              </a:rPr>
              <a:t>Employees transferring </a:t>
            </a:r>
            <a:r>
              <a:rPr b="0" lang="en-US" sz="1600" strike="noStrike" u="none">
                <a:solidFill>
                  <a:srgbClr val="ffffff"/>
                </a:solidFill>
                <a:effectLst/>
                <a:uFillTx/>
                <a:latin typeface="Arial"/>
              </a:rPr>
              <a:t>from one Federal agency to another, who are already enrolled in the LTC and pay through payroll deduction, are required to contact LTCFEDS at 1-800-582-3337 to report your change in employing Federal agencies and payroll office, and to pay any missed premiums.  This is not a deduction that automatically transfers from one Federal agency to another.  Please watch your Statements of Earnings and Leave for deductions.</a:t>
            </a:r>
            <a:endParaRPr b="0" lang="en-IN" sz="16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Designation of Beneficiaries</a:t>
            </a:r>
            <a:endParaRPr b="1" lang="en-IN" sz="2400" strike="noStrike" u="none">
              <a:solidFill>
                <a:srgbClr val="ffffeb"/>
              </a:solidFill>
              <a:effectLst/>
              <a:uFillTx/>
              <a:latin typeface="Arial"/>
            </a:endParaRPr>
          </a:p>
        </p:txBody>
      </p:sp>
      <p:sp>
        <p:nvSpPr>
          <p:cNvPr id="131" name=""/>
          <p:cNvSpPr txBox="1"/>
          <p:nvPr/>
        </p:nvSpPr>
        <p:spPr>
          <a:xfrm>
            <a:off x="558720" y="1574280"/>
            <a:ext cx="5337360" cy="2845080"/>
          </a:xfrm>
          <a:prstGeom prst="rect">
            <a:avLst/>
          </a:prstGeom>
          <a:noFill/>
          <a:ln w="0">
            <a:noFill/>
          </a:ln>
        </p:spPr>
        <p:txBody>
          <a:bodyPr lIns="60840" rIns="60840" tIns="30600" bIns="30600" anchor="t">
            <a:normAutofit/>
          </a:bodyPr>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You may designate a beneficiary, or beneficiaries, to receive payments upon your death for your life insurance, unpaid compensation, retirement contributions, and Thrift Savings Plan. You should complete designation forms </a:t>
            </a:r>
            <a:r>
              <a:rPr b="1" lang="en-US" sz="1600" strike="noStrike" u="none">
                <a:solidFill>
                  <a:srgbClr val="ffffff"/>
                </a:solidFill>
                <a:effectLst/>
                <a:uFillTx/>
                <a:latin typeface="Arial"/>
              </a:rPr>
              <a:t>only</a:t>
            </a:r>
            <a:r>
              <a:rPr b="0" lang="en-US" sz="1600" strike="noStrike" u="none">
                <a:solidFill>
                  <a:srgbClr val="ffffff"/>
                </a:solidFill>
                <a:effectLst/>
                <a:uFillTx/>
                <a:latin typeface="Arial"/>
              </a:rPr>
              <a:t> if you are not satisfied with the normal order of payment, which is: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to your widow or widower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no widow/widower, to your children in equal shares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no children, to your parent(s)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no parent(s), to your estate </a:t>
            </a:r>
            <a:endParaRPr b="0" lang="en-IN" sz="1600" strike="noStrike" u="none">
              <a:solidFill>
                <a:srgbClr val="ffffff"/>
              </a:solidFill>
              <a:effectLst/>
              <a:uFillTx/>
              <a:latin typeface="Arial"/>
            </a:endParaRPr>
          </a:p>
          <a:p>
            <a:pPr marL="228600" indent="-228600">
              <a:lnSpc>
                <a:spcPct val="90000"/>
              </a:lnSpc>
              <a:spcBef>
                <a:spcPts val="400"/>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600" strike="noStrike" u="none">
                <a:solidFill>
                  <a:srgbClr val="ffffff"/>
                </a:solidFill>
                <a:effectLst/>
                <a:uFillTx/>
                <a:latin typeface="Arial"/>
              </a:rPr>
              <a:t>if no estate, to your next of kin  </a:t>
            </a:r>
            <a:endParaRPr b="0" lang="en-IN" sz="1600" strike="noStrike" u="none">
              <a:solidFill>
                <a:srgbClr val="ffffff"/>
              </a:solidFill>
              <a:effectLst/>
              <a:uFillTx/>
              <a:latin typeface="Arial"/>
            </a:endParaRPr>
          </a:p>
          <a:p>
            <a:pPr marL="228600" indent="-228600">
              <a:lnSpc>
                <a:spcPct val="90000"/>
              </a:lnSpc>
              <a:spcBef>
                <a:spcPts val="400"/>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600" strike="noStrike" u="none">
              <a:solidFill>
                <a:srgbClr val="ffffff"/>
              </a:solidFill>
              <a:effectLst/>
              <a:uFillTx/>
              <a:latin typeface="Arial"/>
            </a:endParaRPr>
          </a:p>
        </p:txBody>
      </p:sp>
      <p:pic>
        <p:nvPicPr>
          <p:cNvPr id="132" name="Picture 10" descr="MCj04355980000[1]"/>
          <p:cNvPicPr/>
          <p:nvPr/>
        </p:nvPicPr>
        <p:blipFill>
          <a:blip r:embed="rId1"/>
          <a:stretch/>
        </p:blipFill>
        <p:spPr>
          <a:xfrm>
            <a:off x="5032440" y="152280"/>
            <a:ext cx="954000" cy="1170000"/>
          </a:xfrm>
          <a:prstGeom prst="rect">
            <a:avLst/>
          </a:prstGeom>
          <a:noFill/>
          <a:ln w="0">
            <a:noFill/>
          </a:ln>
        </p:spPr>
      </p:pic>
    </p:spTree>
  </p:cSld>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Designation of Beneficiaries</a:t>
            </a:r>
            <a:endParaRPr b="1" lang="en-IN" sz="2400" strike="noStrike" u="none">
              <a:solidFill>
                <a:srgbClr val="ffffeb"/>
              </a:solidFill>
              <a:effectLst/>
              <a:uFillTx/>
              <a:latin typeface="Arial"/>
            </a:endParaRPr>
          </a:p>
        </p:txBody>
      </p:sp>
      <p:sp>
        <p:nvSpPr>
          <p:cNvPr id="134" name=""/>
          <p:cNvSpPr txBox="1"/>
          <p:nvPr/>
        </p:nvSpPr>
        <p:spPr>
          <a:xfrm>
            <a:off x="558360" y="1574640"/>
            <a:ext cx="5388120" cy="2997360"/>
          </a:xfrm>
          <a:prstGeom prst="rect">
            <a:avLst/>
          </a:prstGeom>
          <a:noFill/>
          <a:ln w="0">
            <a:noFill/>
          </a:ln>
        </p:spPr>
        <p:txBody>
          <a:bodyPr lIns="60840" rIns="60840" tIns="30600" bIns="30600" anchor="t">
            <a:normAutofit/>
          </a:bodyPr>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If you wish to designate other than the normal order of payment, please click below to complete the appropriate forms: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SF-1152, Designation of Beneficiary for Unpaid Compensation:</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	</a:t>
            </a:r>
            <a:r>
              <a:rPr b="0" lang="en-US" sz="1300" strike="noStrike" u="none">
                <a:solidFill>
                  <a:srgbClr val="ffffff"/>
                </a:solidFill>
                <a:effectLst/>
                <a:uFillTx/>
                <a:latin typeface="Arial"/>
              </a:rPr>
              <a:t>http://www.aphis.usda.gov/mrpbs/downloads/forms/sf/sf1152.pdf </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SF-2808, Designation of Beneficiary for Civil Service Retirement System:  http://www.opm.gov/forms/pdf_fill/SF2808.pdf</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SF-3102, Designation of Beneficiary for Federal Employees Retirement System: http://www.opm.gov/forms/pdf_fill/sf3102.pdf</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SF-2823, Designation of Beneficiary for Federal Employees Group Life Insurance: http://www.aphis.usda.gov/mrpbs/downloads/forms/sf/sf2823.pdf</a:t>
            </a: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TSP-3, Designation of Beneficiary for Thrift Savings Plan: http://www.tsp.gov/forms/public-use-warning-tsp3.pdf </a:t>
            </a:r>
            <a:endParaRPr b="0" lang="en-IN" sz="1300" strike="noStrike" u="none">
              <a:solidFill>
                <a:srgbClr val="ffffff"/>
              </a:solidFill>
              <a:effectLst/>
              <a:uFillTx/>
              <a:latin typeface="Arial"/>
            </a:endParaRPr>
          </a:p>
        </p:txBody>
      </p:sp>
      <p:pic>
        <p:nvPicPr>
          <p:cNvPr id="135" name="Picture 4" descr="MCj04355980000[1]"/>
          <p:cNvPicPr/>
          <p:nvPr/>
        </p:nvPicPr>
        <p:blipFill>
          <a:blip r:embed="rId1"/>
          <a:stretch/>
        </p:blipFill>
        <p:spPr>
          <a:xfrm>
            <a:off x="5032440" y="101520"/>
            <a:ext cx="954000" cy="1170000"/>
          </a:xfrm>
          <a:prstGeom prst="rect">
            <a:avLst/>
          </a:prstGeom>
          <a:noFill/>
          <a:ln w="0">
            <a:noFill/>
          </a:ln>
        </p:spPr>
      </p:pic>
    </p:spTree>
  </p:cSld>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Designation of Beneficiaries</a:t>
            </a:r>
            <a:endParaRPr b="1" lang="en-IN" sz="2400" strike="noStrike" u="none">
              <a:solidFill>
                <a:srgbClr val="ffffeb"/>
              </a:solidFill>
              <a:effectLst/>
              <a:uFillTx/>
              <a:latin typeface="Arial"/>
            </a:endParaRPr>
          </a:p>
        </p:txBody>
      </p:sp>
      <p:sp>
        <p:nvSpPr>
          <p:cNvPr id="137" name=""/>
          <p:cNvSpPr txBox="1"/>
          <p:nvPr/>
        </p:nvSpPr>
        <p:spPr>
          <a:xfrm>
            <a:off x="558360" y="1574640"/>
            <a:ext cx="5286600" cy="2895840"/>
          </a:xfrm>
          <a:prstGeom prst="rect">
            <a:avLst/>
          </a:prstGeom>
          <a:noFill/>
          <a:ln w="0">
            <a:noFill/>
          </a:ln>
        </p:spPr>
        <p:txBody>
          <a:bodyPr lIns="60840" rIns="60840" tIns="30600" bIns="30600" anchor="t">
            <a:normAutofit/>
          </a:bodyPr>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The designation form for CSRS and TSP must be sent to the address listed on the form.  Do not send those forms to Human Resources.  </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The designation forms for FERS, FEGLI, and Unpaid Compensation should be mailed directly to the Benefits section of the Human Resources Operations in Minneapolis.</a:t>
            </a:r>
            <a:endParaRPr b="0" lang="en-IN" sz="1300" strike="noStrike" u="none">
              <a:solidFill>
                <a:srgbClr val="ffffff"/>
              </a:solidFill>
              <a:effectLst/>
              <a:uFillTx/>
              <a:latin typeface="Arial"/>
            </a:endParaRPr>
          </a:p>
          <a:p>
            <a:pPr marL="228600" indent="-228600">
              <a:lnSpc>
                <a:spcPct val="90000"/>
              </a:lnSpc>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IN" sz="1300" strike="noStrike" u="none">
              <a:solidFill>
                <a:srgbClr val="ffffff"/>
              </a:solidFill>
              <a:effectLst/>
              <a:uFillTx/>
              <a:latin typeface="Arial"/>
            </a:endParaRPr>
          </a:p>
          <a:p>
            <a:pPr marL="228600" indent="-228600">
              <a:lnSpc>
                <a:spcPct val="90000"/>
              </a:lnSpc>
              <a:spcBef>
                <a:spcPts val="32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If you choose to submit designation forms, you are responsible for their accuracy and completeness, and for keeping them up to date as life changes occur. </a:t>
            </a:r>
            <a:br>
              <a:rPr sz="1300"/>
            </a:br>
            <a:br>
              <a:rPr sz="1300"/>
            </a:br>
            <a:br>
              <a:rPr sz="1300"/>
            </a:br>
            <a:r>
              <a:rPr b="0" lang="en-US" sz="1300" strike="noStrike" u="none">
                <a:solidFill>
                  <a:srgbClr val="ffffff"/>
                </a:solidFill>
                <a:effectLst/>
                <a:uFillTx/>
                <a:latin typeface="Arial"/>
              </a:rPr>
              <a:t> </a:t>
            </a:r>
            <a:endParaRPr b="0" lang="en-IN" sz="1300" strike="noStrike" u="none">
              <a:solidFill>
                <a:srgbClr val="ffffff"/>
              </a:solidFill>
              <a:effectLst/>
              <a:uFillTx/>
              <a:latin typeface="Arial"/>
            </a:endParaRPr>
          </a:p>
        </p:txBody>
      </p:sp>
      <p:pic>
        <p:nvPicPr>
          <p:cNvPr id="138" name="Picture 4" descr="MCj04355980000[1]"/>
          <p:cNvPicPr/>
          <p:nvPr/>
        </p:nvPicPr>
        <p:blipFill>
          <a:blip r:embed="rId1"/>
          <a:stretch/>
        </p:blipFill>
        <p:spPr>
          <a:xfrm>
            <a:off x="5032440" y="101520"/>
            <a:ext cx="954000" cy="1170000"/>
          </a:xfrm>
          <a:prstGeom prst="rect">
            <a:avLst/>
          </a:prstGeom>
          <a:noFill/>
          <a:ln w="0">
            <a:noFill/>
          </a:ln>
        </p:spPr>
      </p:pic>
    </p:spTree>
  </p:cSld>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txBox="1"/>
          <p:nvPr/>
        </p:nvSpPr>
        <p:spPr>
          <a:xfrm>
            <a:off x="556200" y="555840"/>
            <a:ext cx="5189760" cy="665640"/>
          </a:xfrm>
          <a:prstGeom prst="rect">
            <a:avLst/>
          </a:prstGeom>
          <a:noFill/>
          <a:ln w="0">
            <a:noFill/>
          </a:ln>
        </p:spPr>
        <p:txBody>
          <a:bodyPr lIns="60840" rIns="60840" tIns="30600" bIns="30600" anchor="b">
            <a:noAutofit/>
          </a:bodyPr>
          <a:p>
            <a:pPr>
              <a:lnSpc>
                <a:spcPct val="9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400" strike="noStrike" u="none">
                <a:solidFill>
                  <a:srgbClr val="ffffeb"/>
                </a:solidFill>
                <a:effectLst/>
                <a:uFillTx/>
                <a:latin typeface="Arial"/>
              </a:rPr>
              <a:t>Questions?</a:t>
            </a:r>
            <a:endParaRPr b="1" lang="en-IN" sz="2400" strike="noStrike" u="none">
              <a:solidFill>
                <a:srgbClr val="ffffeb"/>
              </a:solidFill>
              <a:effectLst/>
              <a:uFillTx/>
              <a:latin typeface="Arial"/>
            </a:endParaRPr>
          </a:p>
        </p:txBody>
      </p:sp>
      <p:sp>
        <p:nvSpPr>
          <p:cNvPr id="140" name=""/>
          <p:cNvSpPr txBox="1"/>
          <p:nvPr/>
        </p:nvSpPr>
        <p:spPr>
          <a:xfrm>
            <a:off x="558360" y="1574280"/>
            <a:ext cx="5132520" cy="2482920"/>
          </a:xfrm>
          <a:prstGeom prst="rect">
            <a:avLst/>
          </a:prstGeom>
          <a:noFill/>
          <a:ln w="0">
            <a:noFill/>
          </a:ln>
        </p:spPr>
        <p:txBody>
          <a:bodyPr lIns="60840" rIns="60840" tIns="30600" bIns="30600" anchor="t">
            <a:normAutofit/>
          </a:bodyPr>
          <a:p>
            <a:pPr marL="228600" indent="-228600">
              <a:spcBef>
                <a:spcPts val="476"/>
              </a:spcBef>
              <a:buClr>
                <a:srgbClr val="ffffff"/>
              </a:buClr>
              <a:buSzPct val="75000"/>
              <a:buFont typeface="Wingdings" charset="2"/>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Please contact the Human Resources Operations Benefits Assistant serving your program, if you have questions regarding your new employee benefits:</a:t>
            </a:r>
            <a:endParaRPr b="0" lang="en-IN" sz="1900" strike="noStrike" u="none">
              <a:solidFill>
                <a:srgbClr val="ffffff"/>
              </a:solidFill>
              <a:effectLst/>
              <a:uFillTx/>
              <a:latin typeface="Arial"/>
            </a:endParaRPr>
          </a:p>
          <a:p>
            <a:pPr marL="228600" indent="-228600">
              <a:spcBef>
                <a:spcPts val="32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300" strike="noStrike" u="none">
                <a:solidFill>
                  <a:srgbClr val="ffffff"/>
                </a:solidFill>
                <a:effectLst/>
                <a:uFillTx/>
                <a:latin typeface="Arial"/>
              </a:rPr>
              <a:t>	</a:t>
            </a:r>
            <a:r>
              <a:rPr b="0" lang="en-US" sz="1300" strike="noStrike" u="none">
                <a:solidFill>
                  <a:srgbClr val="ffffff"/>
                </a:solidFill>
                <a:effectLst/>
                <a:uFillTx/>
                <a:latin typeface="Arial"/>
              </a:rPr>
              <a:t>http://www.aphis.usda.gov/mrpbs/contact_us/benefits.shtml</a:t>
            </a:r>
            <a:endParaRPr b="0" lang="en-IN" sz="1300" strike="noStrike" u="none">
              <a:solidFill>
                <a:srgbClr val="ffffff"/>
              </a:solidFill>
              <a:effectLst/>
              <a:uFillTx/>
              <a:latin typeface="Arial"/>
            </a:endParaRPr>
          </a:p>
          <a:p>
            <a:pPr marL="228600" indent="-228600">
              <a:spcBef>
                <a:spcPts val="476"/>
              </a:spcBef>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900" strike="noStrike" u="none">
                <a:solidFill>
                  <a:srgbClr val="ffffff"/>
                </a:solidFill>
                <a:effectLst/>
                <a:uFillTx/>
                <a:latin typeface="Arial"/>
              </a:rPr>
              <a:t> </a:t>
            </a:r>
            <a:endParaRPr b="0" lang="en-IN" sz="1900" strike="noStrike" u="none">
              <a:solidFill>
                <a:srgbClr val="ffffff"/>
              </a:solidFill>
              <a:effectLst/>
              <a:uFillTx/>
              <a:latin typeface="Arial"/>
            </a:endParaRPr>
          </a:p>
        </p:txBody>
      </p:sp>
      <p:pic>
        <p:nvPicPr>
          <p:cNvPr id="141" name="Picture 7" descr="MCj03605160000[1]"/>
          <p:cNvPicPr/>
          <p:nvPr/>
        </p:nvPicPr>
        <p:blipFill>
          <a:blip r:embed="rId1"/>
          <a:stretch/>
        </p:blipFill>
        <p:spPr>
          <a:xfrm>
            <a:off x="4421160" y="304920"/>
            <a:ext cx="1260360" cy="774720"/>
          </a:xfrm>
          <a:prstGeom prst="rect">
            <a:avLst/>
          </a:prstGeom>
          <a:noFill/>
          <a:ln w="0">
            <a:noFill/>
          </a:ln>
        </p:spPr>
      </p:pic>
    </p:spTree>
  </p:cSld>
  <p:timing>
    <p:tnLst>
      <p:par>
        <p:cTn id="68" dur="indefinite" restart="never" nodeType="tmRoot">
          <p:childTnLst>
            <p:seq>
              <p:cTn id="69" dur="indefinite" nodeType="mainSeq">
                <p:childTnLst>
                  <p:par>
                    <p:cTn id="70" fill="hold">
                      <p:stCondLst>
                        <p:cond delay="0"/>
                      </p:stCondLst>
                      <p:childTnLst>
                        <p:par>
                          <p:cTn id="71" fill="hold">
                            <p:stCondLst>
                              <p:cond delay="0"/>
                            </p:stCondLst>
                            <p:childTnLst>
                              <p:par>
                                <p:cTn id="72" nodeType="withEffect" fill="hold" presetClass="entr" presetID="23" presetSubtype="16">
                                  <p:stCondLst>
                                    <p:cond delay="0"/>
                                  </p:stCondLst>
                                  <p:childTnLst>
                                    <p:set>
                                      <p:cBhvr>
                                        <p:cTn id="73" dur="1" fill="hold">
                                          <p:stCondLst>
                                            <p:cond delay="0"/>
                                          </p:stCondLst>
                                        </p:cTn>
                                        <p:tgtEl>
                                          <p:spTgt spid="139"/>
                                        </p:tgtEl>
                                        <p:attrNameLst>
                                          <p:attrName>style.visibility</p:attrName>
                                        </p:attrNameLst>
                                      </p:cBhvr>
                                      <p:to>
                                        <p:strVal val="visible"/>
                                      </p:to>
                                    </p:set>
                                    <p:anim calcmode="lin" valueType="num">
                                      <p:cBhvr additive="repl">
                                        <p:cTn id="74" dur="500" fill="hold"/>
                                        <p:tgtEl>
                                          <p:spTgt spid="139"/>
                                        </p:tgtEl>
                                        <p:attrNameLst>
                                          <p:attrName>ppt_w</p:attrName>
                                        </p:attrNameLst>
                                      </p:cBhvr>
                                      <p:tavLst>
                                        <p:tav tm="0">
                                          <p:val>
                                            <p:fltVal val="0"/>
                                          </p:val>
                                        </p:tav>
                                        <p:tav tm="100000">
                                          <p:val>
                                            <p:strVal val="#ppt_w"/>
                                          </p:val>
                                        </p:tav>
                                      </p:tavLst>
                                    </p:anim>
                                    <p:anim calcmode="lin" valueType="num">
                                      <p:cBhvr additive="repl">
                                        <p:cTn id="75" dur="500" fill="hold"/>
                                        <p:tgtEl>
                                          <p:spTgt spid="139"/>
                                        </p:tgtEl>
                                        <p:attrNameLst>
                                          <p:attrName>ppt_h</p:attrName>
                                        </p:attrNameLst>
                                      </p:cBhvr>
                                      <p:tavLst>
                                        <p:tav tm="0">
                                          <p:val>
                                            <p:fltVal val="0"/>
                                          </p:val>
                                        </p:tav>
                                        <p:tav tm="100000">
                                          <p:val>
                                            <p:strVal val="#ppt_h"/>
                                          </p:val>
                                        </p:tav>
                                      </p:tavLst>
                                    </p:anim>
                                  </p:childTnLst>
                                </p:cTn>
                              </p:par>
                            </p:childTnLst>
                          </p:cTn>
                        </p:par>
                      </p:childTnLst>
                    </p:cTn>
                  </p:par>
                  <p:par>
                    <p:cTn id="76" fill="hold">
                      <p:stCondLst>
                        <p:cond delay="indefinite"/>
                      </p:stCondLst>
                      <p:childTnLst>
                        <p:par>
                          <p:cTn id="77" fill="hold">
                            <p:stCondLst>
                              <p:cond delay="0"/>
                            </p:stCondLst>
                            <p:childTnLst>
                              <p:par>
                                <p:cTn id="78" nodeType="clickEffect" fill="hold" presetClass="entr" presetID="23" presetSubtype="16">
                                  <p:stCondLst>
                                    <p:cond delay="0"/>
                                  </p:stCondLst>
                                  <p:childTnLst>
                                    <p:set>
                                      <p:cBhvr>
                                        <p:cTn id="79" dur="1" fill="hold">
                                          <p:stCondLst>
                                            <p:cond delay="0"/>
                                          </p:stCondLst>
                                        </p:cTn>
                                        <p:tgtEl>
                                          <p:spTgt spid="140">
                                            <p:txEl>
                                              <p:pRg st="0" end="0"/>
                                            </p:txEl>
                                          </p:spTgt>
                                        </p:tgtEl>
                                        <p:attrNameLst>
                                          <p:attrName>style.visibility</p:attrName>
                                        </p:attrNameLst>
                                      </p:cBhvr>
                                      <p:to>
                                        <p:strVal val="visible"/>
                                      </p:to>
                                    </p:set>
                                    <p:anim calcmode="lin" valueType="num">
                                      <p:cBhvr additive="repl">
                                        <p:cTn id="80" dur="500" fill="hold"/>
                                        <p:tgtEl>
                                          <p:spTgt spid="140">
                                            <p:txEl>
                                              <p:pRg st="0" end="0"/>
                                            </p:txEl>
                                          </p:spTgt>
                                        </p:tgtEl>
                                        <p:attrNameLst>
                                          <p:attrName>ppt_w</p:attrName>
                                        </p:attrNameLst>
                                      </p:cBhvr>
                                      <p:tavLst>
                                        <p:tav tm="0">
                                          <p:val>
                                            <p:fltVal val="0"/>
                                          </p:val>
                                        </p:tav>
                                        <p:tav tm="100000">
                                          <p:val>
                                            <p:strVal val="#ppt_w"/>
                                          </p:val>
                                        </p:tav>
                                      </p:tavLst>
                                    </p:anim>
                                    <p:anim calcmode="lin" valueType="num">
                                      <p:cBhvr additive="repl">
                                        <p:cTn id="81" dur="500" fill="hold"/>
                                        <p:tgtEl>
                                          <p:spTgt spid="140">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82" fill="hold">
                      <p:stCondLst>
                        <p:cond delay="indefinite"/>
                      </p:stCondLst>
                      <p:childTnLst>
                        <p:par>
                          <p:cTn id="83" fill="hold">
                            <p:stCondLst>
                              <p:cond delay="0"/>
                            </p:stCondLst>
                            <p:childTnLst>
                              <p:par>
                                <p:cTn id="84" nodeType="clickEffect" fill="hold" presetClass="entr" presetID="23" presetSubtype="16">
                                  <p:stCondLst>
                                    <p:cond delay="0"/>
                                  </p:stCondLst>
                                  <p:childTnLst>
                                    <p:set>
                                      <p:cBhvr>
                                        <p:cTn id="85" dur="1" fill="hold">
                                          <p:stCondLst>
                                            <p:cond delay="0"/>
                                          </p:stCondLst>
                                        </p:cTn>
                                        <p:tgtEl>
                                          <p:spTgt spid="140">
                                            <p:txEl>
                                              <p:pRg st="1" end="1"/>
                                            </p:txEl>
                                          </p:spTgt>
                                        </p:tgtEl>
                                        <p:attrNameLst>
                                          <p:attrName>style.visibility</p:attrName>
                                        </p:attrNameLst>
                                      </p:cBhvr>
                                      <p:to>
                                        <p:strVal val="visible"/>
                                      </p:to>
                                    </p:set>
                                    <p:anim calcmode="lin" valueType="num">
                                      <p:cBhvr additive="repl">
                                        <p:cTn id="86" dur="500" fill="hold"/>
                                        <p:tgtEl>
                                          <p:spTgt spid="140">
                                            <p:txEl>
                                              <p:pRg st="1" end="1"/>
                                            </p:txEl>
                                          </p:spTgt>
                                        </p:tgtEl>
                                        <p:attrNameLst>
                                          <p:attrName>ppt_w</p:attrName>
                                        </p:attrNameLst>
                                      </p:cBhvr>
                                      <p:tavLst>
                                        <p:tav tm="0">
                                          <p:val>
                                            <p:fltVal val="0"/>
                                          </p:val>
                                        </p:tav>
                                        <p:tav tm="100000">
                                          <p:val>
                                            <p:strVal val="#ppt_w"/>
                                          </p:val>
                                        </p:tav>
                                      </p:tavLst>
                                    </p:anim>
                                    <p:anim calcmode="lin" valueType="num">
                                      <p:cBhvr additive="repl">
                                        <p:cTn id="87" dur="500" fill="hold"/>
                                        <p:tgtEl>
                                          <p:spTgt spid="140">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88" fill="hold">
                      <p:stCondLst>
                        <p:cond delay="indefinite"/>
                      </p:stCondLst>
                      <p:childTnLst>
                        <p:par>
                          <p:cTn id="89" fill="hold">
                            <p:stCondLst>
                              <p:cond delay="0"/>
                            </p:stCondLst>
                            <p:childTnLst>
                              <p:par>
                                <p:cTn id="90" nodeType="clickEffect" fill="hold" presetClass="entr" presetID="23" presetSubtype="16">
                                  <p:stCondLst>
                                    <p:cond delay="0"/>
                                  </p:stCondLst>
                                  <p:childTnLst>
                                    <p:set>
                                      <p:cBhvr>
                                        <p:cTn id="91" dur="1" fill="hold">
                                          <p:stCondLst>
                                            <p:cond delay="0"/>
                                          </p:stCondLst>
                                        </p:cTn>
                                        <p:tgtEl>
                                          <p:spTgt spid="140">
                                            <p:txEl>
                                              <p:pRg st="2" end="2"/>
                                            </p:txEl>
                                          </p:spTgt>
                                        </p:tgtEl>
                                        <p:attrNameLst>
                                          <p:attrName>style.visibility</p:attrName>
                                        </p:attrNameLst>
                                      </p:cBhvr>
                                      <p:to>
                                        <p:strVal val="visible"/>
                                      </p:to>
                                    </p:set>
                                    <p:anim calcmode="lin" valueType="num">
                                      <p:cBhvr additive="repl">
                                        <p:cTn id="92" dur="500" fill="hold"/>
                                        <p:tgtEl>
                                          <p:spTgt spid="140">
                                            <p:txEl>
                                              <p:pRg st="2" end="2"/>
                                            </p:txEl>
                                          </p:spTgt>
                                        </p:tgtEl>
                                        <p:attrNameLst>
                                          <p:attrName>ppt_w</p:attrName>
                                        </p:attrNameLst>
                                      </p:cBhvr>
                                      <p:tavLst>
                                        <p:tav tm="0">
                                          <p:val>
                                            <p:fltVal val="0"/>
                                          </p:val>
                                        </p:tav>
                                        <p:tav tm="100000">
                                          <p:val>
                                            <p:strVal val="#ppt_w"/>
                                          </p:val>
                                        </p:tav>
                                      </p:tavLst>
                                    </p:anim>
                                    <p:anim calcmode="lin" valueType="num">
                                      <p:cBhvr additive="repl">
                                        <p:cTn id="93" dur="500" fill="hold"/>
                                        <p:tgtEl>
                                          <p:spTgt spid="140">
                                            <p:txEl>
                                              <p:pRg st="2" end="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1222</TotalTime>
  <Application>LibreOffice/25.2.3.2$Windows_X86_64 LibreOffice_project/bbb074479178df812d175f709636b368952c2ce3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2009-02-20T11:14:58Z</dcterms:created>
  <dc:creator>dbusch</dc:creator>
  <dc:description/>
  <dc:language>en-IN</dc:language>
  <cp:lastModifiedBy>penzler</cp:lastModifiedBy>
  <dcterms:modified xsi:type="dcterms:W3CDTF">2010-07-30T08:04:26Z</dcterms:modified>
  <cp:revision>114</cp:revision>
  <dc:subject/>
  <dc:title>Employee Benefits</dc:title>
</cp:coreProperties>
</file>