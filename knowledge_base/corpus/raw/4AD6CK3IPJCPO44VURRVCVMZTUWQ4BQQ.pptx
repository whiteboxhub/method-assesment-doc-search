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28.jpeg" ContentType="image/jpeg"/>
  <Override PartName="/ppt/media/image1.png" ContentType="image/png"/>
  <Override PartName="/ppt/media/image2.jpeg" ContentType="image/jpeg"/>
  <Override PartName="/ppt/media/image7.wmf" ContentType="image/x-wmf"/>
  <Override PartName="/ppt/media/image8.png" ContentType="image/png"/>
  <Override PartName="/ppt/media/image3.jpeg" ContentType="image/jpeg"/>
  <Override PartName="/ppt/media/image5.png" ContentType="image/png"/>
  <Override PartName="/ppt/media/image4.jpeg" ContentType="image/jpeg"/>
  <Override PartName="/ppt/media/image6.png" ContentType="image/png"/>
  <Override PartName="/ppt/media/image9.png" ContentType="image/png"/>
  <Override PartName="/ppt/media/image30.wmf" ContentType="image/x-wmf"/>
  <Override PartName="/ppt/media/image10.png" ContentType="image/png"/>
  <Override PartName="/ppt/media/image11.png" ContentType="image/png"/>
  <Override PartName="/ppt/media/image12.png" ContentType="image/png"/>
  <Override PartName="/ppt/media/image18.jpeg" ContentType="image/jpeg"/>
  <Override PartName="/ppt/media/image13.jpeg" ContentType="image/jpeg"/>
  <Override PartName="/ppt/media/image19.png" ContentType="image/png"/>
  <Override PartName="/ppt/media/image14.jpeg" ContentType="image/jpeg"/>
  <Override PartName="/ppt/media/image15.jpeg" ContentType="image/jpeg"/>
  <Override PartName="/ppt/media/image16.jpeg" ContentType="image/jpeg"/>
  <Override PartName="/ppt/media/image17.jpeg" ContentType="image/jpe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wmf" ContentType="image/x-wmf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9440" y="626760"/>
            <a:ext cx="860580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93000"/>
              </a:lnSpc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739440" y="2101320"/>
            <a:ext cx="8605800" cy="47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3000"/>
              </a:lnSpc>
              <a:spcAft>
                <a:spcPts val="1426"/>
              </a:spcAft>
              <a:buNone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39440" y="626760"/>
            <a:ext cx="860580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3000"/>
              </a:lnSpc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39440" y="2101320"/>
            <a:ext cx="8605800" cy="476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861840" indent="-28548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295280" indent="-21564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727280" indent="-21600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158920" indent="-21564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158920" indent="-21564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158920" indent="-215640">
              <a:lnSpc>
                <a:spcPct val="93000"/>
              </a:lnSpc>
              <a:spcAft>
                <a:spcPts val="142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" name="" descr=""/>
          <p:cNvPicPr/>
          <p:nvPr/>
        </p:nvPicPr>
        <p:blipFill>
          <a:blip r:embed="rId2"/>
          <a:stretch/>
        </p:blipFill>
        <p:spPr>
          <a:xfrm>
            <a:off x="9325080" y="0"/>
            <a:ext cx="755640" cy="10080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owl.gsfc.nasa.gov/owl.jpg.jpeg" TargetMode="Externa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wmf"/><Relationship Id="rId3" Type="http://schemas.openxmlformats.org/officeDocument/2006/relationships/image" Target="../media/image30.wmf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936720" y="181080"/>
            <a:ext cx="8172360" cy="1150920"/>
          </a:xfrm>
          <a:prstGeom prst="rect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Fluorescence Measurements at ANL       and the Auger Experiment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440000" y="2195640"/>
            <a:ext cx="6983280" cy="31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Motivation for Fluorescence Calibrations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AIRFLY Fluorescence Experiment at ANL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Auger Experiment Update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4032360" y="395280"/>
            <a:ext cx="4822560" cy="669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"/>
          <p:cNvSpPr/>
          <p:nvPr/>
        </p:nvSpPr>
        <p:spPr>
          <a:xfrm>
            <a:off x="3456000" y="2195640"/>
            <a:ext cx="1655640" cy="43344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576360" y="1619280"/>
            <a:ext cx="3671640" cy="8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N</a:t>
            </a:r>
            <a:r>
              <a:rPr b="0" lang="en-US" sz="24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2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Molecule Vibrational Energy Levels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6552720" y="3995640"/>
            <a:ext cx="2373480" cy="208908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8856720" y="3492360"/>
            <a:ext cx="151272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337nm transition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H="1" flipV="1">
            <a:off x="6552720" y="3131640"/>
            <a:ext cx="2373480" cy="86364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3456000" y="1332000"/>
            <a:ext cx="6192720" cy="555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0" y="3924360"/>
            <a:ext cx="36720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Main transitions are fast, nanoseconds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" descr="Two OWL Spacecraft and Earth 40KB GIF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0" y="2817720"/>
            <a:ext cx="4740120" cy="474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" descr="Welcome"/>
          <p:cNvPicPr/>
          <p:nvPr/>
        </p:nvPicPr>
        <p:blipFill>
          <a:blip r:embed="rId3"/>
          <a:stretch/>
        </p:blipFill>
        <p:spPr>
          <a:xfrm>
            <a:off x="5040360" y="1549440"/>
            <a:ext cx="5040360" cy="315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 descr="Image of Air Shower"/>
          <p:cNvPicPr/>
          <p:nvPr/>
        </p:nvPicPr>
        <p:blipFill>
          <a:blip r:embed="rId4"/>
          <a:stretch/>
        </p:blipFill>
        <p:spPr>
          <a:xfrm>
            <a:off x="4751280" y="5148360"/>
            <a:ext cx="5329440" cy="13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216000" y="611280"/>
            <a:ext cx="77058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Many experiments use or will use Nitrogen Fluorescence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719280" y="1979640"/>
            <a:ext cx="331308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OWL and EUSO space- based experiments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8280360" y="324000"/>
            <a:ext cx="12970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Auger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 descr=""/>
          <p:cNvPicPr/>
          <p:nvPr/>
        </p:nvPicPr>
        <p:blipFill>
          <a:blip r:embed="rId1"/>
          <a:stretch/>
        </p:blipFill>
        <p:spPr>
          <a:xfrm>
            <a:off x="216000" y="539640"/>
            <a:ext cx="7559640" cy="679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/>
          <p:nvPr/>
        </p:nvSpPr>
        <p:spPr>
          <a:xfrm flipH="1">
            <a:off x="6408360" y="2340000"/>
            <a:ext cx="2087640" cy="2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569440" y="2124000"/>
            <a:ext cx="18000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Scintillator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H="1" flipV="1">
            <a:off x="6553080" y="5148000"/>
            <a:ext cx="1727280" cy="360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8280360" y="5364000"/>
            <a:ext cx="21589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Fluorescence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360360" y="1763640"/>
            <a:ext cx="7343640" cy="5256360"/>
            <a:chOff x="360360" y="1763640"/>
            <a:chExt cx="7343640" cy="5256360"/>
          </a:xfrm>
        </p:grpSpPr>
        <p:pic>
          <p:nvPicPr>
            <p:cNvPr id="33" name="" descr=""/>
            <p:cNvPicPr/>
            <p:nvPr/>
          </p:nvPicPr>
          <p:blipFill>
            <a:blip r:embed="rId1"/>
            <a:stretch/>
          </p:blipFill>
          <p:spPr>
            <a:xfrm>
              <a:off x="360360" y="1763640"/>
              <a:ext cx="7343640" cy="5256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" descr=""/>
            <p:cNvPicPr/>
            <p:nvPr/>
          </p:nvPicPr>
          <p:blipFill>
            <a:blip r:embed="rId2"/>
            <a:stretch/>
          </p:blipFill>
          <p:spPr>
            <a:xfrm>
              <a:off x="426240" y="1763640"/>
              <a:ext cx="7095960" cy="5256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5" name=""/>
          <p:cNvSpPr/>
          <p:nvPr/>
        </p:nvSpPr>
        <p:spPr>
          <a:xfrm>
            <a:off x="576360" y="181080"/>
            <a:ext cx="849780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Due to smaller model dependence,  Auger normalizes to its fluorescence detectors.   Looks like HiRes.  Only a 1</a:t>
            </a:r>
            <a:r>
              <a:rPr b="0" lang="el-GR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σ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discrepancy (25% in energy scale).   Need to reduce </a:t>
            </a:r>
            <a:r>
              <a:rPr b="0" lang="el-GR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σ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…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7848720" y="4282920"/>
            <a:ext cx="180000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0.22 Auger- years of data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68120" y="503280"/>
            <a:ext cx="10164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it-IT" sz="3500" strike="noStrike" u="none">
                <a:solidFill>
                  <a:srgbClr val="0066ff"/>
                </a:solidFill>
                <a:effectLst/>
                <a:uFillTx/>
                <a:latin typeface="Comic Sans MS"/>
              </a:rPr>
              <a:t>     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763640" y="5207040"/>
            <a:ext cx="5902560" cy="10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"/>
          <p:cNvSpPr/>
          <p:nvPr/>
        </p:nvSpPr>
        <p:spPr>
          <a:xfrm>
            <a:off x="0" y="6372360"/>
            <a:ext cx="10080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45% of Fluorescence Due to Electrons and Positrons &lt; 10 MeV in 10</a:t>
            </a:r>
            <a:r>
              <a:rPr b="1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19 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 Shower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2521080" y="611280"/>
            <a:ext cx="4870440" cy="455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2162160" y="2987640"/>
            <a:ext cx="2230560" cy="36036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719280" y="2411280"/>
            <a:ext cx="201600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Not an absolute measurement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6264360" y="2627280"/>
            <a:ext cx="1512720" cy="216000"/>
          </a:xfrm>
          <a:prstGeom prst="line">
            <a:avLst/>
          </a:prstGeom>
          <a:ln w="3816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918560" y="2340000"/>
            <a:ext cx="216216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Agrees with curve?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16000" y="0"/>
            <a:ext cx="9072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One example measurement of electron-induced fluorescence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655640" y="611280"/>
            <a:ext cx="6048360" cy="61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sng">
                <a:solidFill>
                  <a:srgbClr val="ffff00"/>
                </a:solidFill>
                <a:effectLst/>
                <a:uFillTx/>
                <a:latin typeface="Times New Roman"/>
              </a:rPr>
              <a:t>Much more information needed…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Pressure, Temperature, Humidity dependence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Oxygen quenching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More complete energy scan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Absolute measurement to 5%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800360" y="1042920"/>
            <a:ext cx="6264000" cy="48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sng">
                <a:solidFill>
                  <a:srgbClr val="ffff00"/>
                </a:solidFill>
                <a:effectLst/>
                <a:uFillTx/>
                <a:latin typeface="Times New Roman"/>
              </a:rPr>
              <a:t>Much more information needed…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Complete Spectrum from 300-400 nm  (Rayleigh scattering 1/</a:t>
            </a:r>
            <a:r>
              <a:rPr b="1" lang="el-GR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Λ</a:t>
            </a:r>
            <a:r>
              <a:rPr b="1" lang="en-US" sz="28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4</a:t>
            </a: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Spectrum has been measured before but only piece-by-piece with 14 filters,  each with different inefficiencies and acceptance from wrong wavelengths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2303640" y="2340000"/>
            <a:ext cx="5524200" cy="37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/>
          <p:nvPr/>
        </p:nvSpPr>
        <p:spPr>
          <a:xfrm>
            <a:off x="936720" y="181080"/>
            <a:ext cx="8172360" cy="838080"/>
          </a:xfrm>
          <a:prstGeom prst="rect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3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3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Fluorescence Calibration at Argonne</a:t>
            </a:r>
            <a:endParaRPr b="0" lang="en-IN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655640" y="1549440"/>
            <a:ext cx="4824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Chemistry Division Van de Graaff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3529080" y="2050920"/>
            <a:ext cx="71280" cy="792360"/>
          </a:xfrm>
          <a:prstGeom prst="line">
            <a:avLst/>
          </a:prstGeom>
          <a:ln w="7632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800360" y="4500720"/>
            <a:ext cx="1077840" cy="574560"/>
          </a:xfrm>
          <a:prstGeom prst="line">
            <a:avLst/>
          </a:prstGeom>
          <a:ln w="7632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47640" y="3924360"/>
            <a:ext cx="15145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Advanced Photon Source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136000" y="3635280"/>
            <a:ext cx="223200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HEP Division Advanced Wakefield Accelerator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 flipH="1">
            <a:off x="7632360" y="4211640"/>
            <a:ext cx="577800" cy="647640"/>
          </a:xfrm>
          <a:prstGeom prst="line">
            <a:avLst/>
          </a:prstGeom>
          <a:ln w="7632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224000" y="6227640"/>
            <a:ext cx="885672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Complementary machines: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AWA only accelerator with enough energy to do absolute calibration with Cerenkov gas.   Van de Graaff only machine with enough charge to measure spectrum.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861840" y="1042920"/>
            <a:ext cx="7491600" cy="46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sng">
                <a:solidFill>
                  <a:srgbClr val="ffff00"/>
                </a:solidFill>
                <a:effectLst/>
                <a:uFillTx/>
                <a:latin typeface="Times New Roman"/>
              </a:rPr>
              <a:t>Heroes…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AWA group notably                                    Manoel Conde, Felipe Franchini, Zikri Yusof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Chemistry staff notably                                 Sergey Chemerisov and Bob Lowers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68120" y="503280"/>
            <a:ext cx="10164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it-IT" sz="3500" strike="noStrike" u="none">
                <a:solidFill>
                  <a:srgbClr val="0066ff"/>
                </a:solidFill>
                <a:effectLst/>
                <a:uFillTx/>
                <a:latin typeface="Comic Sans MS"/>
              </a:rPr>
              <a:t>     </a:t>
            </a:r>
            <a:endParaRPr b="0" lang="en-IN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763640" y="5207040"/>
            <a:ext cx="5902560" cy="107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0" y="6372360"/>
            <a:ext cx="100807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45% of Fluorescence Due to Electrons and Positrons &lt; 10 MeV in 10</a:t>
            </a:r>
            <a:r>
              <a:rPr b="1" lang="en-US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19 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 Shower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2521080" y="611280"/>
            <a:ext cx="4870440" cy="455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3095640" y="900000"/>
            <a:ext cx="504720" cy="0"/>
          </a:xfrm>
          <a:prstGeom prst="line">
            <a:avLst/>
          </a:prstGeom>
          <a:ln w="38160">
            <a:solidFill>
              <a:srgbClr val="ff3300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3024360" y="539640"/>
            <a:ext cx="126036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en-US" sz="2000" strike="noStrike" u="none">
                <a:solidFill>
                  <a:srgbClr val="ff3300"/>
                </a:solidFill>
                <a:effectLst/>
                <a:uFillTx/>
                <a:latin typeface="Arial"/>
              </a:rPr>
              <a:t>APS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178160" y="1258920"/>
            <a:ext cx="419400" cy="0"/>
          </a:xfrm>
          <a:prstGeom prst="line">
            <a:avLst/>
          </a:prstGeom>
          <a:ln w="38160">
            <a:solidFill>
              <a:srgbClr val="3333ff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960720" y="1332000"/>
            <a:ext cx="1405080" cy="406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0" lang="en-US" sz="20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Chemistry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4392720" y="539640"/>
            <a:ext cx="12589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0800" rIns="100800" tIns="50400" bIns="504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1008000"/>
                <a:tab algn="l" pos="2016000"/>
                <a:tab algn="l" pos="3024360"/>
                <a:tab algn="l" pos="4032360"/>
                <a:tab algn="l" pos="5040360"/>
                <a:tab algn="l" pos="6048360"/>
                <a:tab algn="l" pos="7056360"/>
                <a:tab algn="l" pos="8064360"/>
                <a:tab algn="l" pos="9072720"/>
                <a:tab algn="l" pos="10080720"/>
              </a:tabLst>
            </a:pPr>
            <a:r>
              <a:rPr b="1" lang="en-US" sz="2000" strike="noStrike" u="none">
                <a:solidFill>
                  <a:srgbClr val="009999"/>
                </a:solidFill>
                <a:effectLst/>
                <a:uFillTx/>
                <a:latin typeface="Arial"/>
              </a:rPr>
              <a:t>AWA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4537080" y="900000"/>
            <a:ext cx="585720" cy="0"/>
          </a:xfrm>
          <a:prstGeom prst="line">
            <a:avLst/>
          </a:prstGeom>
          <a:ln w="38160">
            <a:solidFill>
              <a:srgbClr val="009999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3170160" y="1979640"/>
            <a:ext cx="6240600" cy="468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/>
          <p:nvPr/>
        </p:nvSpPr>
        <p:spPr>
          <a:xfrm>
            <a:off x="1870200" y="250920"/>
            <a:ext cx="5762520" cy="51876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Van de Graaff with cover removed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504720" y="3419640"/>
            <a:ext cx="295128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Charged to 3 million volts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2878200" y="3851280"/>
            <a:ext cx="577800" cy="216000"/>
          </a:xfrm>
          <a:prstGeom prst="line">
            <a:avLst/>
          </a:prstGeom>
          <a:ln w="572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 flipH="1">
            <a:off x="6194160" y="1763640"/>
            <a:ext cx="1222200" cy="136836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4608360" y="1258920"/>
            <a:ext cx="504036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Resistor plates step V down to zero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5472000" y="4211640"/>
            <a:ext cx="3024360" cy="7128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4480" bIns="2448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902200" y="4282920"/>
            <a:ext cx="230832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Beam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2016000" y="1763640"/>
            <a:ext cx="6337440" cy="47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360360" y="826920"/>
            <a:ext cx="8858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AIRFLY Experiment, led by Paolo Privitera from INFN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60360" y="826920"/>
            <a:ext cx="8858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AIRFLY Experiment, led by Paolo Privitera from INFN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5040360" y="2411280"/>
            <a:ext cx="5040360" cy="37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0" y="2413080"/>
            <a:ext cx="4968720" cy="372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0" y="2914560"/>
            <a:ext cx="4417920" cy="331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4464000" y="1403280"/>
            <a:ext cx="5378400" cy="403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5472000" y="181080"/>
            <a:ext cx="28083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Beam Pickup, used for all the PMT measurements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008000" y="1692360"/>
            <a:ext cx="208764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Faraday Cup, mainly used to check Pickup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4824360" y="5651640"/>
            <a:ext cx="52563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Will fit slopes from PMT vs Pickup,  an experiment with 2 electronics channels!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936720" y="826920"/>
            <a:ext cx="7694640" cy="63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1584360" y="324000"/>
            <a:ext cx="6338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AWA PMT Fluorescence Data, 14 MeV electrons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008000" y="826920"/>
            <a:ext cx="7556400" cy="623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1584360" y="324000"/>
            <a:ext cx="6338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AWA PMT Fluorescence Data, 14 MeV electrons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515960" y="870120"/>
            <a:ext cx="7048440" cy="58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1584360" y="324000"/>
            <a:ext cx="63388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AWA PMT Fluorescence Data, 14 MeV electrons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5186520" y="4356000"/>
            <a:ext cx="2590560" cy="12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3366ff"/>
                </a:solidFill>
                <a:effectLst/>
                <a:uFillTx/>
                <a:latin typeface="Times New Roman"/>
              </a:rPr>
              <a:t>Oxygen quenching due to molecule collisions with N</a:t>
            </a:r>
            <a:r>
              <a:rPr b="0" lang="en-US" sz="2400" strike="noStrike" u="none" baseline="-25000">
                <a:solidFill>
                  <a:srgbClr val="3366ff"/>
                </a:solidFill>
                <a:effectLst/>
                <a:uFillTx/>
                <a:latin typeface="Times New Roman"/>
              </a:rPr>
              <a:t>2</a:t>
            </a:r>
            <a:r>
              <a:rPr b="0" lang="en-US" sz="2400" strike="noStrike" u="none" baseline="30000">
                <a:solidFill>
                  <a:srgbClr val="3366ff"/>
                </a:solidFill>
                <a:effectLst/>
                <a:uFillTx/>
                <a:latin typeface="Times New Roman"/>
              </a:rPr>
              <a:t>*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5111640" cy="421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4968720" y="3286080"/>
            <a:ext cx="5112000" cy="427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5545080" y="1187280"/>
            <a:ext cx="4535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0.5 MeV Run at Van de Graaff with beam halo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4608360" cy="380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4680000" y="3106800"/>
            <a:ext cx="5400720" cy="445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5186520" y="1619280"/>
            <a:ext cx="45338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 minutes later, beam halo is gone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60360" y="4427640"/>
            <a:ext cx="381780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Cut 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±2 sigma around main beam pickup peak for both AWA and Van de Graaff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576360" y="98280"/>
            <a:ext cx="8702640" cy="717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16000" y="755640"/>
            <a:ext cx="7407000" cy="61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/>
          <p:nvPr/>
        </p:nvSpPr>
        <p:spPr>
          <a:xfrm flipH="1" flipV="1">
            <a:off x="6264000" y="3348000"/>
            <a:ext cx="1584360" cy="719280"/>
          </a:xfrm>
          <a:prstGeom prst="line">
            <a:avLst/>
          </a:prstGeom>
          <a:ln w="57240">
            <a:solidFill>
              <a:srgbClr val="ff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704000" y="4067280"/>
            <a:ext cx="216072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Don’t take too seriously yet,  different low energy input gives different curves.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537080" y="0"/>
            <a:ext cx="4822920" cy="361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216000" y="900000"/>
            <a:ext cx="4205160" cy="272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1512720" y="3781440"/>
            <a:ext cx="6899400" cy="377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576360" y="217440"/>
            <a:ext cx="8712000" cy="71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"/>
          <p:cNvSpPr/>
          <p:nvPr/>
        </p:nvSpPr>
        <p:spPr>
          <a:xfrm>
            <a:off x="6048360" y="3132000"/>
            <a:ext cx="16556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2400" strike="noStrike" u="none">
                <a:solidFill>
                  <a:srgbClr val="3366ff"/>
                </a:solidFill>
                <a:effectLst/>
                <a:uFillTx/>
                <a:latin typeface="Times New Roman"/>
              </a:rPr>
              <a:t>5 minutes of raw data!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431640" y="246240"/>
            <a:ext cx="8856720" cy="731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/>
          <p:nvPr/>
        </p:nvSpPr>
        <p:spPr>
          <a:xfrm>
            <a:off x="6335640" y="2556000"/>
            <a:ext cx="1513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Model normalized at 337nm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503280" y="271440"/>
            <a:ext cx="8785080" cy="725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6335640" y="2556000"/>
            <a:ext cx="1513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Model normalized at 337nm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576360" y="271440"/>
            <a:ext cx="8712000" cy="719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6335640" y="2556000"/>
            <a:ext cx="1513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Model normalized at 337nm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503280" y="271440"/>
            <a:ext cx="8785080" cy="725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6335640" y="2556000"/>
            <a:ext cx="15130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Model normalized at 337nm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861840" y="1042920"/>
            <a:ext cx="8210880" cy="627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/>
          <p:nvPr/>
        </p:nvSpPr>
        <p:spPr>
          <a:xfrm>
            <a:off x="1870200" y="324000"/>
            <a:ext cx="59054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Main goal for December running at AWA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6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2016000" y="755640"/>
            <a:ext cx="6336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232000" y="2340000"/>
            <a:ext cx="482436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spcBef>
                <a:spcPts val="6001"/>
              </a:spcBef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1" lang="en-US" sz="9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The End</a:t>
            </a:r>
            <a:endParaRPr b="0" lang="en-IN" sz="9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7779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Steve Kuhlmann</cp:lastModifiedBy>
  <dcterms:modified xsi:type="dcterms:W3CDTF">2005-10-29T20:27:54Z</dcterms:modified>
  <cp:revision>544</cp:revision>
  <dc:subject/>
  <dc:title>Detector block diagram</dc:title>
</cp:coreProperties>
</file>