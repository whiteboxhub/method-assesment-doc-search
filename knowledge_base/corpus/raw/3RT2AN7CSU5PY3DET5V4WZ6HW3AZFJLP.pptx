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4.xml" ContentType="application/vnd.openxmlformats-officedocument.them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embeddings/oleObject1.docx" ContentType="application/vnd.openxmlformats-officedocument.wordprocessingml.document"/>
  <Override PartName="/ppt/embeddings/oleObject1.xlsx" ContentType="application/vnd.openxmlformats-officedocument.spreadsheetml.shee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3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Click to move the slide</a:t>
            </a:r>
            <a:endParaRPr b="1" lang="en-IN" sz="36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4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5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AAA2ED-CA8F-45DA-A376-FD8DD8CDE44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supervisor is to understand and comply with all rules and responsibilities for the employee’s pay.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purpose of T&amp;A is to make sure all time and attendance is true and accurate pay, whether the employee was absence on leave or working, is reported to the payroll office.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Each supervisor has the responsibility as the authorizing official of certifying T&amp;A.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Any exclusion (e.g. time not work) must be known and properly recorded on the T&amp;A report.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Approvals shall be made individually for each employee, and a handwritten or automated signature shall be provided for each time and attendance report.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Any advance leave granted, supervisor must be aware of the amount of advance leave to request.  Employee must be in a duty status long enough to earn back leave.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Compensatory time is only approved for time WORKED outside the employee’s normal duty hours.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Make sure all leave requests and acquires are approved </a:t>
            </a:r>
            <a:r>
              <a:rPr b="0" i="1" lang="en-US" sz="12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prior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to taking leave.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DD 577 forms is required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a payment is made for a 2-week period, the T&amp;A report shall cover a 2-week period of days.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scheduled shall be established and recorded showing start and end times of the days for each employee.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620120" cy="6858000"/>
            <a:chOff x="0" y="0"/>
            <a:chExt cx="7620120" cy="6858000"/>
          </a:xfrm>
        </p:grpSpPr>
        <p:grpSp>
          <p:nvGrpSpPr>
            <p:cNvPr id="1" name="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762120" cy="685800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292929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457200" y="0"/>
                <a:ext cx="2743200" cy="1166760"/>
              </a:xfrm>
              <a:custGeom>
                <a:avLst/>
                <a:gdLst/>
                <a:ahLst/>
                <a:rect l="l" t="t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anchor="t">
                <a:noAutofit/>
              </a:bodyPr>
              <a:p>
                <a:endParaRPr b="0" lang="en-IN" sz="1800" strike="noStrike" u="none">
                  <a:solidFill>
                    <a:srgbClr val="292929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" name=""/>
            <p:cNvGrpSpPr/>
            <p:nvPr/>
          </p:nvGrpSpPr>
          <p:grpSpPr>
            <a:xfrm>
              <a:off x="228600" y="1981080"/>
              <a:ext cx="7391520" cy="319320"/>
              <a:chOff x="228600" y="1981080"/>
              <a:chExt cx="7391520" cy="319320"/>
            </a:xfrm>
          </p:grpSpPr>
          <p:sp>
            <p:nvSpPr>
              <p:cNvPr id="5" name=""/>
              <p:cNvSpPr/>
              <p:nvPr/>
            </p:nvSpPr>
            <p:spPr>
              <a:xfrm>
                <a:off x="609480" y="1981080"/>
                <a:ext cx="7010640" cy="317520"/>
              </a:xfrm>
              <a:prstGeom prst="roundRect">
                <a:avLst>
                  <a:gd name="adj" fmla="val 0"/>
                </a:avLst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292929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 flipH="1">
                <a:off x="228600" y="1981080"/>
                <a:ext cx="393840" cy="319320"/>
              </a:xfrm>
              <a:prstGeom prst="flowChartDelay">
                <a:avLst/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292929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292929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292929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292929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292929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292929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IN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CAC3B0-85AE-40CA-95F8-B06C7A2C145E}" type="slidenum">
              <a:rPr b="1" lang="en-IN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Base" hidden="1"/>
          <p:cNvSpPr/>
          <p:nvPr/>
        </p:nvSpPr>
        <p:spPr>
          <a:xfrm>
            <a:off x="1523880" y="1397160"/>
            <a:ext cx="6096240" cy="40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"/>
          <p:cNvGrpSpPr/>
          <p:nvPr/>
        </p:nvGrpSpPr>
        <p:grpSpPr>
          <a:xfrm>
            <a:off x="0" y="0"/>
            <a:ext cx="5867280" cy="6858000"/>
            <a:chOff x="0" y="0"/>
            <a:chExt cx="5867280" cy="6858000"/>
          </a:xfrm>
        </p:grpSpPr>
        <p:sp>
          <p:nvSpPr>
            <p:cNvPr id="14" name=""/>
            <p:cNvSpPr/>
            <p:nvPr/>
          </p:nvSpPr>
          <p:spPr>
            <a:xfrm>
              <a:off x="0" y="0"/>
              <a:ext cx="4572000" cy="685800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85800" y="990720"/>
              <a:ext cx="5181480" cy="190476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" name=""/>
          <p:cNvGrpSpPr/>
          <p:nvPr/>
        </p:nvGrpSpPr>
        <p:grpSpPr>
          <a:xfrm>
            <a:off x="3632040" y="4889520"/>
            <a:ext cx="4876920" cy="318960"/>
            <a:chOff x="3632040" y="4889520"/>
            <a:chExt cx="4876920" cy="318960"/>
          </a:xfrm>
        </p:grpSpPr>
        <p:sp>
          <p:nvSpPr>
            <p:cNvPr id="17" name=""/>
            <p:cNvSpPr/>
            <p:nvPr/>
          </p:nvSpPr>
          <p:spPr>
            <a:xfrm flipH="1">
              <a:off x="3632040" y="4889520"/>
              <a:ext cx="4626000" cy="317520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248680" y="4889520"/>
              <a:ext cx="260280" cy="318960"/>
            </a:xfrm>
            <a:prstGeom prst="flowChartDelay">
              <a:avLst/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dt" idx="4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5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75960" y="624852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IN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2AC8E6-9249-4FC2-9E1C-9C9CEA12A11E}" type="slidenum">
              <a:rPr b="1" lang="en-IN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964800" y="1269360"/>
            <a:ext cx="7671600" cy="134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6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499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51"/>
              </a:spcBef>
              <a:buClr>
                <a:srgbClr val="292929"/>
              </a:buClr>
              <a:buSzPct val="80000"/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51"/>
              </a:spcBef>
              <a:buClr>
                <a:srgbClr val="292929"/>
              </a:buClr>
              <a:buSzPct val="65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51"/>
              </a:spcBef>
              <a:buClr>
                <a:srgbClr val="292929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51"/>
              </a:spcBef>
              <a:buClr>
                <a:srgbClr val="292929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7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8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9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AAA7EF-6B52-4EE8-B902-16120851A645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F6602A-32AF-4708-9E6F-D232D47C11B5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2.wmf"/><Relationship Id="rId3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1118880"/>
            <a:ext cx="8229600" cy="132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292929"/>
                </a:solidFill>
                <a:effectLst/>
                <a:uFillTx/>
                <a:latin typeface="Berlin Sans FB"/>
              </a:rPr>
              <a:t>TIME AND ATTENDANCE</a:t>
            </a:r>
            <a:endParaRPr b="1" lang="en-IN" sz="36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4673520" y="2927520"/>
            <a:ext cx="4013280" cy="182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99"/>
                </a:solidFill>
                <a:effectLst/>
                <a:uFillTx/>
                <a:latin typeface="Book Antiqua"/>
              </a:rPr>
              <a:t>1LT Walter Wade</a:t>
            </a:r>
            <a:endParaRPr b="0" lang="en-IN" sz="2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99"/>
                </a:solidFill>
                <a:effectLst/>
                <a:uFillTx/>
                <a:latin typeface="Book Antiqua"/>
              </a:rPr>
              <a:t>SSG Albert Kennedy</a:t>
            </a:r>
            <a:endParaRPr b="0" lang="en-IN" sz="2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61760" y="761760"/>
            <a:ext cx="7924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Overview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Objective &amp; Introduction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Supervisor’s Responsibilities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Employee’s Responsibilities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Timekeeper’s Responsibilities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Recording and Reporting 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Adjustments and Corrections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Questions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Objective &amp; Introduction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As a supervisor, you are to understand all functionalities of time and attendance (T&amp;A) for technician employee payroll.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The purpose for time and attendance is to ensure that the attendance (either presence or absence) of employees is accurate and reported for pay, leave, and allowances.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Supervisor’s Responsibilities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Each employee’s T&amp;A report shall be certified correct by the supervisor or other designated authorized official.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Supervisor’s will ensure that exclusions to the employee’s normal duty hours are recorded timely and accurately. 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Supervisor’s Responsibilities </a:t>
            </a:r>
            <a:r>
              <a:rPr b="1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(cont.)</a:t>
            </a:r>
            <a:endParaRPr b="1" lang="en-IN" sz="1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Approves or disapproves leave applications (OPM 71) </a:t>
            </a:r>
            <a:r>
              <a:rPr b="0" lang="en-IN" sz="2800" strike="noStrike" u="sng">
                <a:solidFill>
                  <a:srgbClr val="292929"/>
                </a:solidFill>
                <a:effectLst/>
                <a:uFillTx/>
                <a:latin typeface="Arial"/>
              </a:rPr>
              <a:t>in writing</a:t>
            </a: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292929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make sure all leave taken in conjunction with TDY is recorded.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When military leave is used, ensure a copy of orders and statement of duty (performance certificate) are forwarded to the Timekeeper.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Supervisor’s Responsibilities </a:t>
            </a:r>
            <a:r>
              <a:rPr b="1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(cont.)</a:t>
            </a:r>
            <a:endParaRPr b="1" lang="en-IN" sz="1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All compensatory time is approved on NGB Form 46-14 and the hours reported on the T&amp;A report do not exceed the hours authorized.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Employees must use compensatory time within 26 pay periods after it is earned or it will be lost!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Supervisor’s Responsibilities </a:t>
            </a:r>
            <a:r>
              <a:rPr b="1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(cont.)</a:t>
            </a:r>
            <a:endParaRPr b="1" lang="en-IN" sz="1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Always be aware of the employee’s available leave balances prior to approving T&amp;A.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	</a:t>
            </a: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- if leave is not available, this can result in loss of pay!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Employee’s Responsibilities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Employees will initial and/or sign on indicated areas of the T&amp;A reports, including leave applications and other supporting documentations.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Submit all leave requests and acquiring leave approval </a:t>
            </a:r>
            <a:r>
              <a:rPr b="0" i="1" lang="en-IN" sz="2800" strike="noStrike" u="sng">
                <a:solidFill>
                  <a:srgbClr val="292929"/>
                </a:solidFill>
                <a:effectLst/>
                <a:uFillTx/>
                <a:latin typeface="Arial"/>
              </a:rPr>
              <a:t>prior</a:t>
            </a: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 to taking or earning leave.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Employee’s Responsibilities </a:t>
            </a:r>
            <a:r>
              <a:rPr b="1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(cont.)</a:t>
            </a:r>
            <a:endParaRPr b="1" lang="en-IN" sz="1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For every leave year, schedule all “use or lose” leave </a:t>
            </a:r>
            <a:r>
              <a:rPr b="0" i="1" lang="en-IN" sz="2800" strike="noStrike" u="sng">
                <a:solidFill>
                  <a:srgbClr val="292929"/>
                </a:solidFill>
                <a:effectLst/>
                <a:uFillTx/>
                <a:latin typeface="Arial"/>
              </a:rPr>
              <a:t>prior</a:t>
            </a: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 to the end of November.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Timekeeper’s Responsibilities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The timekeeping function requires the accurate and timely recording of T&amp;A data and the maintenance of related documentation.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Timekeepers may be appointed as civilian, military or contractor personnel.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	</a:t>
            </a: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- a DD577 form is required and submitted to USPFO.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Timekeeper’s Responsibilities </a:t>
            </a:r>
            <a:r>
              <a:rPr b="1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(cont.)</a:t>
            </a:r>
            <a:endParaRPr b="1" lang="en-IN" sz="1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Normally, timekeeping accountability </a:t>
            </a:r>
            <a:r>
              <a:rPr b="0" i="1" lang="en-IN" sz="2800" strike="noStrike" u="sng">
                <a:solidFill>
                  <a:srgbClr val="292929"/>
                </a:solidFill>
                <a:effectLst/>
                <a:uFillTx/>
                <a:latin typeface="Arial"/>
              </a:rPr>
              <a:t>should not</a:t>
            </a: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 be assigned to individuals who cannot actually observe technician’s attendance and absence each day.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Maintains files of T&amp;A documents for </a:t>
            </a:r>
            <a:r>
              <a:rPr b="0" i="1" lang="en-IN" sz="2800" strike="noStrike" u="sng">
                <a:solidFill>
                  <a:srgbClr val="292929"/>
                </a:solidFill>
                <a:effectLst/>
                <a:uFillTx/>
                <a:latin typeface="Arial"/>
              </a:rPr>
              <a:t>six years</a:t>
            </a: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 to include compensatory time requests, military leave certifications and orders, and any other relevant leave information.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Recording and Reporting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The time period shown on T&amp;A reports shall correspond to the length of a pay period.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0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Any charges of leave or accrues (comp time) shall indicate clearly the actual day and time on the T&amp;A report.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Recording and Reporting </a:t>
            </a:r>
            <a:r>
              <a:rPr b="1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(cont.)</a:t>
            </a:r>
            <a:endParaRPr b="1" lang="en-IN" sz="1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Ensure daily entries for leave charges using the correct code in the TYPE HOUR field and record number of hours in the HOURS field.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When coding T&amp;A reports in increments of </a:t>
            </a:r>
            <a:r>
              <a:rPr b="0" lang="en-IN" sz="2400" strike="noStrike" u="sng">
                <a:solidFill>
                  <a:srgbClr val="292929"/>
                </a:solidFill>
                <a:effectLst/>
                <a:uFillTx/>
                <a:latin typeface="Arial"/>
              </a:rPr>
              <a:t>quarter hours</a:t>
            </a: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, code as: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601"/>
              </a:spcBef>
              <a:buClr>
                <a:srgbClr val="292929"/>
              </a:buClr>
              <a:buSzPct val="80000"/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15 Minutes = .25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601"/>
              </a:spcBef>
              <a:buClr>
                <a:srgbClr val="292929"/>
              </a:buClr>
              <a:buSzPct val="80000"/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30 Minutes = .50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600200" indent="-228600">
              <a:lnSpc>
                <a:spcPct val="90000"/>
              </a:lnSpc>
              <a:spcBef>
                <a:spcPts val="601"/>
              </a:spcBef>
              <a:buClr>
                <a:srgbClr val="292929"/>
              </a:buClr>
              <a:buSzPct val="80000"/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45 Minutes = .75</a:t>
            </a: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  <a:p>
            <a:pPr lvl="3" marL="1600200" indent="0">
              <a:lnSpc>
                <a:spcPct val="90000"/>
              </a:lnSpc>
              <a:spcBef>
                <a:spcPts val="601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"/>
          <p:cNvGraphicFramePr/>
          <p:nvPr/>
        </p:nvGraphicFramePr>
        <p:xfrm>
          <a:off x="609480" y="152280"/>
          <a:ext cx="7315200" cy="571500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6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09480" y="152280"/>
                    <a:ext cx="7315200" cy="57150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69" name=""/>
          <p:cNvCxnSpPr/>
          <p:nvPr/>
        </p:nvCxnSpPr>
        <p:spPr>
          <a:xfrm>
            <a:off x="609120" y="300960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cxnSp>
        <p:nvCxnSpPr>
          <p:cNvPr id="70" name=""/>
          <p:cNvCxnSpPr/>
          <p:nvPr/>
        </p:nvCxnSpPr>
        <p:spPr>
          <a:xfrm>
            <a:off x="4266720" y="151920"/>
            <a:ext cx="1080" cy="1080"/>
          </a:xfrm>
          <a:prstGeom prst="straightConnector1">
            <a:avLst/>
          </a:prstGeom>
          <a:ln w="9360">
            <a:solidFill>
              <a:srgbClr val="000000"/>
            </a:solidFill>
            <a:miter/>
          </a:ln>
        </p:spPr>
      </p:cxnSp>
      <p:sp>
        <p:nvSpPr>
          <p:cNvPr id="71" name=""/>
          <p:cNvSpPr/>
          <p:nvPr/>
        </p:nvSpPr>
        <p:spPr>
          <a:xfrm flipV="1">
            <a:off x="1905120" y="1066680"/>
            <a:ext cx="0" cy="60984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 flipV="1">
            <a:off x="6477120" y="1066680"/>
            <a:ext cx="0" cy="60984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905120" y="1676520"/>
            <a:ext cx="457200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562720" y="2514600"/>
            <a:ext cx="2057400" cy="533520"/>
          </a:xfrm>
          <a:prstGeom prst="wedgeRectCallout">
            <a:avLst>
              <a:gd name="adj1" fmla="val -48689"/>
              <a:gd name="adj2" fmla="val -208037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Default work schedule </a:t>
            </a:r>
            <a:r>
              <a:rPr b="0" lang="en-IN" sz="1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DO NOT CHANGE!</a:t>
            </a:r>
            <a:endParaRPr b="0" lang="en-IN" sz="14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219320" y="685800"/>
            <a:ext cx="5867280" cy="152280"/>
          </a:xfrm>
          <a:prstGeom prst="rect">
            <a:avLst/>
          </a:prstGeom>
          <a:noFill/>
          <a:ln w="28440">
            <a:solidFill>
              <a:srgbClr val="3399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7696080" y="1523880"/>
            <a:ext cx="1295640" cy="838440"/>
          </a:xfrm>
          <a:prstGeom prst="borderCallout2">
            <a:avLst>
              <a:gd name="adj1" fmla="val 18750"/>
              <a:gd name="adj2" fmla="val -8333"/>
              <a:gd name="adj3" fmla="val 13634"/>
              <a:gd name="adj4" fmla="val -41421"/>
              <a:gd name="adj5" fmla="val -78787"/>
              <a:gd name="adj6" fmla="val -76962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UPDATE CALENDAR DATES EVERY PAY PERIOD</a:t>
            </a:r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752480" y="838080"/>
            <a:ext cx="2133720" cy="304920"/>
          </a:xfrm>
          <a:prstGeom prst="rect">
            <a:avLst/>
          </a:prstGeom>
          <a:noFill/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572000" y="838080"/>
            <a:ext cx="2057400" cy="304920"/>
          </a:xfrm>
          <a:prstGeom prst="rect">
            <a:avLst/>
          </a:prstGeom>
          <a:noFill/>
          <a:ln w="1908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62120" y="5867280"/>
            <a:ext cx="7619760" cy="64260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If no comp time was earned or leave was taken for the pay period, DO NOT FILL IN.</a:t>
            </a: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H="1" flipV="1">
            <a:off x="152280" y="4571640"/>
            <a:ext cx="609840" cy="152388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152280" y="3276720"/>
            <a:ext cx="0" cy="129528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52280" y="3276720"/>
            <a:ext cx="106704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"/>
          <p:cNvGraphicFramePr/>
          <p:nvPr/>
        </p:nvGraphicFramePr>
        <p:xfrm>
          <a:off x="1600200" y="154080"/>
          <a:ext cx="6134040" cy="828648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84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600200" y="154080"/>
                    <a:ext cx="6134040" cy="8286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5" name=""/>
          <p:cNvSpPr/>
          <p:nvPr/>
        </p:nvSpPr>
        <p:spPr>
          <a:xfrm>
            <a:off x="1600200" y="2362320"/>
            <a:ext cx="15228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600200" y="1600200"/>
            <a:ext cx="15228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600200" y="4267080"/>
            <a:ext cx="152280" cy="15264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600200" y="3962520"/>
            <a:ext cx="15228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"/>
          <p:cNvGraphicFramePr/>
          <p:nvPr/>
        </p:nvGraphicFramePr>
        <p:xfrm>
          <a:off x="317520" y="152280"/>
          <a:ext cx="8407440" cy="692172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90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17520" y="152280"/>
                    <a:ext cx="8407440" cy="6921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1" name=""/>
          <p:cNvSpPr/>
          <p:nvPr/>
        </p:nvSpPr>
        <p:spPr>
          <a:xfrm>
            <a:off x="3962520" y="2514600"/>
            <a:ext cx="228600" cy="2286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962520" y="2743200"/>
            <a:ext cx="228600" cy="2286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400800" y="2514600"/>
            <a:ext cx="228600" cy="2286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400800" y="2743200"/>
            <a:ext cx="228600" cy="2286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 flipH="1" flipV="1">
            <a:off x="4114440" y="2971440"/>
            <a:ext cx="1066680" cy="3049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 flipV="1">
            <a:off x="5181480" y="2895120"/>
            <a:ext cx="1295640" cy="3812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114800" y="3276720"/>
            <a:ext cx="2438280" cy="642600"/>
          </a:xfrm>
          <a:prstGeom prst="rect">
            <a:avLst/>
          </a:prstGeom>
          <a:solidFill>
            <a:srgbClr val="bb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6 HOURS WERE REQUESTED, AND 6 HOURS WERE WORKED</a:t>
            </a:r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400800" y="5029200"/>
            <a:ext cx="228600" cy="228600"/>
          </a:xfrm>
          <a:prstGeom prst="ellipse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238880" y="4114800"/>
            <a:ext cx="914400" cy="609480"/>
          </a:xfrm>
          <a:prstGeom prst="borderCallout1">
            <a:avLst>
              <a:gd name="adj1" fmla="val 18750"/>
              <a:gd name="adj2" fmla="val -8333"/>
              <a:gd name="adj3" fmla="val 139583"/>
              <a:gd name="adj4" fmla="val -77606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TOTAL  HOURS WORKED</a:t>
            </a:r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200400" y="1066680"/>
            <a:ext cx="2133720" cy="609840"/>
          </a:xfrm>
          <a:prstGeom prst="borderCallout2">
            <a:avLst>
              <a:gd name="adj1" fmla="val 18750"/>
              <a:gd name="adj2" fmla="val -8333"/>
              <a:gd name="adj3" fmla="val 18518"/>
              <a:gd name="adj4" fmla="val 128125"/>
              <a:gd name="adj5" fmla="val 243750"/>
              <a:gd name="adj6" fmla="val 153569"/>
            </a:avLst>
          </a:prstGeom>
          <a:solidFill>
            <a:srgbClr val="bbe0e3"/>
          </a:solidFill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ORIGINAL REQUEST WAS 4 HOURS, BUT ONLY 1 HOUR WAS WORKED</a:t>
            </a:r>
            <a:endParaRPr b="0" lang="en-IN" sz="12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"/>
          <p:cNvGraphicFramePr/>
          <p:nvPr/>
        </p:nvGraphicFramePr>
        <p:xfrm>
          <a:off x="2057400" y="228600"/>
          <a:ext cx="5410080" cy="654048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02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57400" y="228600"/>
                    <a:ext cx="5410080" cy="6540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3" name=""/>
          <p:cNvSpPr/>
          <p:nvPr/>
        </p:nvSpPr>
        <p:spPr>
          <a:xfrm>
            <a:off x="304920" y="1143000"/>
            <a:ext cx="15238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04920" y="838080"/>
            <a:ext cx="1447560" cy="155628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This is a required document when in military duty status</a:t>
            </a:r>
            <a:endParaRPr b="0" lang="en-IN" sz="16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Adjustments and Corrections</a:t>
            </a:r>
            <a:endParaRPr b="1" lang="en-IN" sz="3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If the T&amp;A for the current pay period has been processed and a change is required, then the supervisor shall certify an adjusted T&amp;A report to submit to timekeeper with corrections.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Adjustments and Corrections </a:t>
            </a:r>
            <a:r>
              <a:rPr b="1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(cont.)</a:t>
            </a:r>
            <a:endParaRPr b="1" lang="en-IN" sz="18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29292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Any adjustments made after payroll has been process, will reflect on the next following pay period.</a:t>
            </a:r>
            <a:endParaRPr b="0" lang="en-IN" sz="28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 txBox="1"/>
          <p:nvPr/>
        </p:nvSpPr>
        <p:spPr>
          <a:xfrm>
            <a:off x="964800" y="1269360"/>
            <a:ext cx="7671600" cy="134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292929"/>
                </a:solidFill>
                <a:effectLst/>
                <a:uFillTx/>
                <a:latin typeface="Arial"/>
              </a:rPr>
              <a:t>QUESTIONS?</a:t>
            </a:r>
            <a:endParaRPr b="1" lang="en-IN" sz="3600" strike="noStrike" u="none">
              <a:solidFill>
                <a:srgbClr val="29292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2008-12-03T11:16:25Z</dcterms:created>
  <dc:creator>albert.kennedyiii</dc:creator>
  <dc:description/>
  <dc:language>en-IN</dc:language>
  <cp:lastModifiedBy>lisa.nagata</cp:lastModifiedBy>
  <dcterms:modified xsi:type="dcterms:W3CDTF">2009-01-07T15:50:52Z</dcterms:modified>
  <cp:revision>18</cp:revision>
  <dc:subject/>
  <dc:title>TIME AND ATTENDANCE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ingExpirationDate">
    <vt:lpwstr/>
  </property>
  <property fmtid="{D5CDD505-2E9C-101B-9397-08002B2CF9AE}" pid="3" name="PublishingStartDate">
    <vt:lpwstr/>
  </property>
  <property fmtid="{D5CDD505-2E9C-101B-9397-08002B2CF9AE}" pid="4" name="TemplateUrl">
    <vt:lpwstr/>
  </property>
  <property fmtid="{D5CDD505-2E9C-101B-9397-08002B2CF9AE}" pid="5" name="_AdHocReviewCycleID">
    <vt:r8>-16735122</vt:r8>
  </property>
  <property fmtid="{D5CDD505-2E9C-101B-9397-08002B2CF9AE}" pid="6" name="_AuthorEmail">
    <vt:lpwstr>albert.kennedyiii@us.army.mil</vt:lpwstr>
  </property>
  <property fmtid="{D5CDD505-2E9C-101B-9397-08002B2CF9AE}" pid="7" name="_AuthorEmailDisplayName">
    <vt:lpwstr>Kennedy, Albert SSG NGCA</vt:lpwstr>
  </property>
  <property fmtid="{D5CDD505-2E9C-101B-9397-08002B2CF9AE}" pid="8" name="_EmailSubject">
    <vt:lpwstr>Supervisor Course Slides</vt:lpwstr>
  </property>
  <property fmtid="{D5CDD505-2E9C-101B-9397-08002B2CF9AE}" pid="9" name="_NewReviewCycle">
    <vt:lpwstr/>
  </property>
  <property fmtid="{D5CDD505-2E9C-101B-9397-08002B2CF9AE}" pid="10" name="_ReviewingToolsShownOnce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display_urn:schemas-microsoft-com:office:office#Author">
    <vt:lpwstr>System Account</vt:lpwstr>
  </property>
  <property fmtid="{D5CDD505-2E9C-101B-9397-08002B2CF9AE}" pid="14" name="display_urn:schemas-microsoft-com:office:office#Editor">
    <vt:lpwstr>System Account</vt:lpwstr>
  </property>
  <property fmtid="{D5CDD505-2E9C-101B-9397-08002B2CF9AE}" pid="15" name="xd_ProgID">
    <vt:lpwstr/>
  </property>
  <property fmtid="{D5CDD505-2E9C-101B-9397-08002B2CF9AE}" pid="16" name="xd_Signature">
    <vt:lpwstr/>
  </property>
</Properties>
</file>