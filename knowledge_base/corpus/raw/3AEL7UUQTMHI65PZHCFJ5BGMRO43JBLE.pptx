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theme/theme1.xml" ContentType="application/vnd.openxmlformats-officedocument.theme+xml"/>
  <Override PartName="/ppt/embeddings/oleObject1.bin" ContentType="application/vnd.openxmlformats-officedocument.oleObject"/>
  <Override PartName="/ppt/embeddings/oleObject2.bin" ContentType="application/vnd.openxmlformats-officedocument.oleObject"/>
  <Override PartName="/ppt/embeddings/oleObject3.pptx" ContentType="application/vnd.openxmlformats-officedocument.presentationml.presentation"/>
  <Override PartName="/ppt/embeddings/oleObject4.pptx" ContentType="application/vnd.openxmlformats-officedocument.presentationml.presentation"/>
  <Override PartName="/ppt/slideLayouts/slideLayout1.xml" ContentType="application/vnd.openxmlformats-officedocument.presentationml.slideLayout+xml"/>
  <Override PartName="/ppt/slideLayouts/_rels/slideLayout1.xml.rels" ContentType="application/vnd.openxmlformats-package.relationships+xml"/>
  <Override PartName="/ppt/slides/slide1.xml" ContentType="application/vnd.openxmlformats-officedocument.presentationml.slide+xml"/>
  <Override PartName="/ppt/slides/_rels/slide1.xml.rels" ContentType="application/vnd.openxmlformats-package.relationships+xml"/>
  <Override PartName="/ppt/presProps.xml" ContentType="application/vnd.openxmlformats-officedocument.presentationml.presProps+xml"/>
  <Override PartName="/ppt/media/image28.jpeg" ContentType="image/jpeg"/>
  <Override PartName="/ppt/media/image1.png" ContentType="image/png"/>
  <Override PartName="/ppt/media/image2.png" ContentType="image/png"/>
  <Override PartName="/ppt/media/image4.jpeg" ContentType="image/jpeg"/>
  <Override PartName="/ppt/media/image3.png" ContentType="image/png"/>
  <Override PartName="/ppt/media/image5.png" ContentType="image/png"/>
  <Override PartName="/ppt/media/image6.png" ContentType="image/png"/>
  <Override PartName="/ppt/media/image7.png" ContentType="image/png"/>
  <Override PartName="/ppt/media/image8.png" ContentType="image/png"/>
  <Override PartName="/ppt/media/image23.jpeg" ContentType="image/jpeg"/>
  <Override PartName="/ppt/media/image9.jpeg" ContentType="image/jpeg"/>
  <Override PartName="/ppt/media/image10.png" ContentType="image/png"/>
  <Override PartName="/ppt/media/image22.wmf" ContentType="image/x-wmf"/>
  <Override PartName="/ppt/media/image11.png" ContentType="image/png"/>
  <Override PartName="/ppt/media/image12.png" ContentType="image/png"/>
  <Override PartName="/ppt/media/image13.png" ContentType="image/png"/>
  <Override PartName="/ppt/media/image14.jpeg" ContentType="image/jpeg"/>
  <Override PartName="/ppt/media/image29.png" ContentType="image/png"/>
  <Override PartName="/ppt/media/image15.png" ContentType="image/png"/>
  <Override PartName="/ppt/media/image35.jpeg" ContentType="image/jpeg"/>
  <Override PartName="/ppt/media/image16.png" ContentType="image/png"/>
  <Override PartName="/ppt/media/image17.png" ContentType="image/png"/>
  <Override PartName="/ppt/media/image24.jpeg" ContentType="image/jpeg"/>
  <Override PartName="/ppt/media/image18.png" ContentType="image/png"/>
  <Override PartName="/ppt/media/image19.png" ContentType="image/png"/>
  <Override PartName="/ppt/media/image20.png" ContentType="image/png"/>
  <Override PartName="/ppt/media/image21.png" ContentType="image/png"/>
  <Override PartName="/ppt/media/image25.png" ContentType="image/png"/>
  <Override PartName="/ppt/media/image26.wmf" ContentType="image/x-wmf"/>
  <Override PartName="/ppt/media/image27.jpeg" ContentType="image/jpeg"/>
  <Override PartName="/ppt/media/image30.png" ContentType="image/png"/>
  <Override PartName="/ppt/media/image31.png" ContentType="image/png"/>
  <Override PartName="/ppt/media/image32.png" ContentType="image/png"/>
  <Override PartName="/ppt/media/image33.png" ContentType="image/png"/>
  <Override PartName="/ppt/media/image34.png" ContentType="image/png"/>
  <Override PartName="/ppt/media/image36.png" ContentType="image/png"/>
  <Override PartName="/ppt/media/image37.png" ContentType="image/png"/>
  <Override PartName="/ppt/media/image38.png" ContentType="image/png"/>
  <Override PartName="/ppt/media/image39.png" ContentType="image/png"/>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Lst>
  <p:sldSz cx="49377600" cy="32918400"/>
  <p:notesSz cx="6997700" cy="92694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F6DCD020-04B6-4B14-ACEB-17F818F87FF2}" type="slidenum">
              <a:t>&lt;#&gt;</a:t>
            </a:fld>
          </a:p>
        </p:txBody>
      </p:sp>
      <p:sp>
        <p:nvSpPr>
          <p:cNvPr id="4" name="PlaceHolder 3"/>
          <p:cNvSpPr>
            <a:spLocks noGrp="1"/>
          </p:cNvSpPr>
          <p:nvPr>
            <p:ph type="dt" idx="1"/>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3703680" y="2925720"/>
            <a:ext cx="41970240" cy="5486400"/>
          </a:xfrm>
          <a:prstGeom prst="rect">
            <a:avLst/>
          </a:prstGeom>
          <a:noFill/>
          <a:ln w="0">
            <a:noFill/>
          </a:ln>
        </p:spPr>
        <p:txBody>
          <a:bodyPr lIns="480600" rIns="480600" tIns="240480" bIns="240480" anchor="ctr">
            <a:noAutofit/>
          </a:bodyPr>
          <a:p>
            <a:pPr indent="0" algn="ctr">
              <a:buNone/>
              <a:tabLst>
                <a:tab algn="l" pos="0"/>
                <a:tab algn="l" pos="4807080"/>
                <a:tab algn="l" pos="9613800"/>
              </a:tabLst>
            </a:pPr>
            <a:r>
              <a:rPr b="0" lang="en-IN" sz="23100" strike="noStrike" u="none">
                <a:solidFill>
                  <a:srgbClr val="000000"/>
                </a:solidFill>
                <a:effectLst/>
                <a:uFillTx/>
                <a:latin typeface="Times New Roman"/>
              </a:rPr>
              <a:t>Click to edit the title text format</a:t>
            </a:r>
            <a:endParaRPr b="0" lang="en-IN" sz="23100" strike="noStrike" u="none">
              <a:solidFill>
                <a:srgbClr val="000000"/>
              </a:solidFill>
              <a:effectLst/>
              <a:uFillTx/>
              <a:latin typeface="Times New Roman"/>
            </a:endParaRPr>
          </a:p>
        </p:txBody>
      </p:sp>
      <p:sp>
        <p:nvSpPr>
          <p:cNvPr id="1" name="PlaceHolder 2"/>
          <p:cNvSpPr>
            <a:spLocks noGrp="1"/>
          </p:cNvSpPr>
          <p:nvPr>
            <p:ph type="body"/>
          </p:nvPr>
        </p:nvSpPr>
        <p:spPr>
          <a:xfrm>
            <a:off x="3703680" y="9509040"/>
            <a:ext cx="41970240" cy="19751760"/>
          </a:xfrm>
          <a:prstGeom prst="rect">
            <a:avLst/>
          </a:prstGeom>
          <a:noFill/>
          <a:ln w="0">
            <a:noFill/>
          </a:ln>
        </p:spPr>
        <p:txBody>
          <a:bodyPr lIns="480600" rIns="480600" tIns="240480" bIns="240480" anchor="t">
            <a:normAutofit fontScale="92500" lnSpcReduction="19999"/>
          </a:bodyPr>
          <a:p>
            <a:pPr marL="1803240" indent="-1803240">
              <a:spcBef>
                <a:spcPts val="4201"/>
              </a:spcBef>
              <a:buClr>
                <a:srgbClr val="000000"/>
              </a:buClr>
              <a:buFont typeface="Times New Roman"/>
              <a:buChar char="•"/>
              <a:tabLst>
                <a:tab algn="l" pos="4807080"/>
                <a:tab algn="l" pos="9613800"/>
              </a:tabLst>
            </a:pPr>
            <a:r>
              <a:rPr b="0" lang="en-IN" sz="16800" strike="noStrike" u="none">
                <a:solidFill>
                  <a:srgbClr val="000000"/>
                </a:solidFill>
                <a:effectLst/>
                <a:uFillTx/>
                <a:latin typeface="Times New Roman"/>
              </a:rPr>
              <a:t>Click to edit the outline text format</a:t>
            </a:r>
            <a:endParaRPr b="0" lang="en-IN" sz="16800" strike="noStrike" u="none">
              <a:solidFill>
                <a:srgbClr val="000000"/>
              </a:solidFill>
              <a:effectLst/>
              <a:uFillTx/>
              <a:latin typeface="Times New Roman"/>
            </a:endParaRPr>
          </a:p>
          <a:p>
            <a:pPr lvl="1" marL="3905280" indent="-1501920">
              <a:spcBef>
                <a:spcPts val="4201"/>
              </a:spcBef>
              <a:buClr>
                <a:srgbClr val="000000"/>
              </a:buClr>
              <a:buFont typeface="Times New Roman"/>
              <a:buChar char="–"/>
              <a:tabLst>
                <a:tab algn="l" pos="4807080"/>
                <a:tab algn="l" pos="9613800"/>
              </a:tabLst>
            </a:pPr>
            <a:r>
              <a:rPr b="0" lang="en-IN" sz="16800" strike="noStrike" u="none">
                <a:solidFill>
                  <a:srgbClr val="000000"/>
                </a:solidFill>
                <a:effectLst/>
                <a:uFillTx/>
                <a:latin typeface="Times New Roman"/>
              </a:rPr>
              <a:t>Second Outline Level</a:t>
            </a:r>
            <a:endParaRPr b="0" lang="en-IN" sz="16800" strike="noStrike" u="none">
              <a:solidFill>
                <a:srgbClr val="000000"/>
              </a:solidFill>
              <a:effectLst/>
              <a:uFillTx/>
              <a:latin typeface="Times New Roman"/>
            </a:endParaRPr>
          </a:p>
          <a:p>
            <a:pPr lvl="2" marL="6008760" indent="-1201680">
              <a:spcBef>
                <a:spcPts val="4201"/>
              </a:spcBef>
              <a:buClr>
                <a:srgbClr val="000000"/>
              </a:buClr>
              <a:buFont typeface="Times New Roman"/>
              <a:buChar char="•"/>
              <a:tabLst>
                <a:tab algn="l" pos="4807080"/>
                <a:tab algn="l" pos="9613800"/>
              </a:tabLst>
            </a:pPr>
            <a:r>
              <a:rPr b="0" lang="en-IN" sz="16800" strike="noStrike" u="none">
                <a:solidFill>
                  <a:srgbClr val="000000"/>
                </a:solidFill>
                <a:effectLst/>
                <a:uFillTx/>
                <a:latin typeface="Times New Roman"/>
              </a:rPr>
              <a:t>Third Outline Level</a:t>
            </a:r>
            <a:endParaRPr b="0" lang="en-IN" sz="16800" strike="noStrike" u="none">
              <a:solidFill>
                <a:srgbClr val="000000"/>
              </a:solidFill>
              <a:effectLst/>
              <a:uFillTx/>
              <a:latin typeface="Times New Roman"/>
            </a:endParaRPr>
          </a:p>
          <a:p>
            <a:pPr lvl="3" marL="8412120" indent="-1201680">
              <a:spcBef>
                <a:spcPts val="4201"/>
              </a:spcBef>
              <a:buClr>
                <a:srgbClr val="000000"/>
              </a:buClr>
              <a:buFont typeface="Times New Roman"/>
              <a:buChar char="–"/>
              <a:tabLst>
                <a:tab algn="l" pos="4807080"/>
                <a:tab algn="l" pos="9613800"/>
              </a:tabLst>
            </a:pPr>
            <a:r>
              <a:rPr b="0" lang="en-IN" sz="16800" strike="noStrike" u="none">
                <a:solidFill>
                  <a:srgbClr val="000000"/>
                </a:solidFill>
                <a:effectLst/>
                <a:uFillTx/>
                <a:latin typeface="Times New Roman"/>
              </a:rPr>
              <a:t>Fourth Outline Level</a:t>
            </a:r>
            <a:endParaRPr b="0" lang="en-IN" sz="16800" strike="noStrike" u="none">
              <a:solidFill>
                <a:srgbClr val="000000"/>
              </a:solidFill>
              <a:effectLst/>
              <a:uFillTx/>
              <a:latin typeface="Times New Roman"/>
            </a:endParaRPr>
          </a:p>
          <a:p>
            <a:pPr lvl="4" marL="10815480" indent="-1201680">
              <a:spcBef>
                <a:spcPts val="4201"/>
              </a:spcBef>
              <a:buClr>
                <a:srgbClr val="000000"/>
              </a:buClr>
              <a:buFont typeface="Times New Roman"/>
              <a:buChar char="»"/>
              <a:tabLst>
                <a:tab algn="l" pos="4807080"/>
                <a:tab algn="l" pos="9613800"/>
              </a:tabLst>
            </a:pPr>
            <a:r>
              <a:rPr b="0" lang="en-IN" sz="16800" strike="noStrike" u="none">
                <a:solidFill>
                  <a:srgbClr val="000000"/>
                </a:solidFill>
                <a:effectLst/>
                <a:uFillTx/>
                <a:latin typeface="Times New Roman"/>
              </a:rPr>
              <a:t>Fifth Outline Level</a:t>
            </a:r>
            <a:endParaRPr b="0" lang="en-IN" sz="16800" strike="noStrike" u="none">
              <a:solidFill>
                <a:srgbClr val="000000"/>
              </a:solidFill>
              <a:effectLst/>
              <a:uFillTx/>
              <a:latin typeface="Times New Roman"/>
            </a:endParaRPr>
          </a:p>
          <a:p>
            <a:pPr lvl="5" marL="10815480" indent="-1201680">
              <a:spcBef>
                <a:spcPts val="4201"/>
              </a:spcBef>
              <a:buClr>
                <a:srgbClr val="000000"/>
              </a:buClr>
              <a:buFont typeface="Times New Roman"/>
              <a:buChar char="»"/>
              <a:tabLst>
                <a:tab algn="l" pos="4807080"/>
                <a:tab algn="l" pos="9613800"/>
              </a:tabLst>
            </a:pPr>
            <a:r>
              <a:rPr b="0" lang="en-IN" sz="16800" strike="noStrike" u="none">
                <a:solidFill>
                  <a:srgbClr val="000000"/>
                </a:solidFill>
                <a:effectLst/>
                <a:uFillTx/>
                <a:latin typeface="Times New Roman"/>
              </a:rPr>
              <a:t>Sixth Outline Level</a:t>
            </a:r>
            <a:endParaRPr b="0" lang="en-IN" sz="16800" strike="noStrike" u="none">
              <a:solidFill>
                <a:srgbClr val="000000"/>
              </a:solidFill>
              <a:effectLst/>
              <a:uFillTx/>
              <a:latin typeface="Times New Roman"/>
            </a:endParaRPr>
          </a:p>
          <a:p>
            <a:pPr lvl="6" marL="10815480" indent="-1201680">
              <a:spcBef>
                <a:spcPts val="4201"/>
              </a:spcBef>
              <a:buClr>
                <a:srgbClr val="000000"/>
              </a:buClr>
              <a:buFont typeface="Times New Roman"/>
              <a:buChar char="»"/>
              <a:tabLst>
                <a:tab algn="l" pos="4807080"/>
                <a:tab algn="l" pos="9613800"/>
              </a:tabLst>
            </a:pPr>
            <a:r>
              <a:rPr b="0" lang="en-IN" sz="16800" strike="noStrike" u="none">
                <a:solidFill>
                  <a:srgbClr val="000000"/>
                </a:solidFill>
                <a:effectLst/>
                <a:uFillTx/>
                <a:latin typeface="Times New Roman"/>
              </a:rPr>
              <a:t>Seventh Outline Level</a:t>
            </a:r>
            <a:endParaRPr b="0" lang="en-IN" sz="16800" strike="noStrike" u="none">
              <a:solidFill>
                <a:srgbClr val="000000"/>
              </a:solidFill>
              <a:effectLst/>
              <a:uFillTx/>
              <a:latin typeface="Times New Roman"/>
            </a:endParaRPr>
          </a:p>
        </p:txBody>
      </p:sp>
      <p:sp>
        <p:nvSpPr>
          <p:cNvPr id="2" name="PlaceHolder 3"/>
          <p:cNvSpPr>
            <a:spLocks noGrp="1"/>
          </p:cNvSpPr>
          <p:nvPr>
            <p:ph type="dt" idx="1"/>
          </p:nvPr>
        </p:nvSpPr>
        <p:spPr>
          <a:xfrm>
            <a:off x="3703320" y="29992680"/>
            <a:ext cx="10287000" cy="2193840"/>
          </a:xfrm>
          <a:prstGeom prst="rect">
            <a:avLst/>
          </a:prstGeom>
          <a:noFill/>
          <a:ln w="0">
            <a:noFill/>
          </a:ln>
        </p:spPr>
        <p:txBody>
          <a:bodyPr lIns="480600" rIns="480600" tIns="240480" bIns="240480" anchor="t">
            <a:noAutofit/>
          </a:bodyPr>
          <a:lstStyle>
            <a:lvl1pPr indent="0">
              <a:buNone/>
              <a:tabLst>
                <a:tab algn="l" pos="0"/>
                <a:tab algn="l" pos="4807080"/>
                <a:tab algn="l" pos="9613800"/>
              </a:tabLst>
              <a:defRPr b="0" lang="en-US" sz="7400" strike="noStrike" u="none">
                <a:solidFill>
                  <a:srgbClr val="000000"/>
                </a:solidFill>
                <a:effectLst/>
                <a:uFillTx/>
                <a:latin typeface="Times New Roman"/>
              </a:defRPr>
            </a:lvl1pPr>
          </a:lstStyle>
          <a:p>
            <a:pPr indent="0">
              <a:buNone/>
              <a:tabLst>
                <a:tab algn="l" pos="0"/>
                <a:tab algn="l" pos="4807080"/>
                <a:tab algn="l" pos="9613800"/>
              </a:tabLst>
            </a:pPr>
            <a:r>
              <a:rPr b="0" lang="en-US" sz="7400" strike="noStrike" u="none">
                <a:solidFill>
                  <a:srgbClr val="000000"/>
                </a:solidFill>
                <a:effectLst/>
                <a:uFillTx/>
                <a:latin typeface="Times New Roman"/>
              </a:rPr>
              <a:t>&lt;date/time&gt;</a:t>
            </a:r>
            <a:endParaRPr b="0" lang="en-IN" sz="7400" strike="noStrike" u="none">
              <a:solidFill>
                <a:srgbClr val="000000"/>
              </a:solidFill>
              <a:effectLst/>
              <a:uFillTx/>
              <a:latin typeface="Times New Roman"/>
            </a:endParaRPr>
          </a:p>
        </p:txBody>
      </p:sp>
      <p:sp>
        <p:nvSpPr>
          <p:cNvPr id="3" name="PlaceHolder 4"/>
          <p:cNvSpPr>
            <a:spLocks noGrp="1"/>
          </p:cNvSpPr>
          <p:nvPr>
            <p:ph type="ftr" idx="2"/>
          </p:nvPr>
        </p:nvSpPr>
        <p:spPr>
          <a:xfrm>
            <a:off x="16870320" y="29992680"/>
            <a:ext cx="15636960" cy="2193840"/>
          </a:xfrm>
          <a:prstGeom prst="rect">
            <a:avLst/>
          </a:prstGeom>
          <a:noFill/>
          <a:ln w="0">
            <a:noFill/>
          </a:ln>
        </p:spPr>
        <p:txBody>
          <a:bodyPr lIns="480600" rIns="480600" tIns="240480" bIns="240480" anchor="t">
            <a:noAutofit/>
          </a:bodyPr>
          <a:lstStyle>
            <a:lvl1pPr indent="0" algn="ctr">
              <a:buNone/>
              <a:tabLst>
                <a:tab algn="l" pos="0"/>
                <a:tab algn="l" pos="4807080"/>
                <a:tab algn="l" pos="9613800"/>
              </a:tabLst>
              <a:defRPr b="0" lang="en-US" sz="7400" strike="noStrike" u="none">
                <a:solidFill>
                  <a:srgbClr val="000000"/>
                </a:solidFill>
                <a:effectLst/>
                <a:uFillTx/>
                <a:latin typeface="Times New Roman"/>
              </a:defRPr>
            </a:lvl1pPr>
          </a:lstStyle>
          <a:p>
            <a:pPr indent="0" algn="ctr">
              <a:buNone/>
              <a:tabLst>
                <a:tab algn="l" pos="0"/>
                <a:tab algn="l" pos="4807080"/>
                <a:tab algn="l" pos="9613800"/>
              </a:tabLst>
            </a:pPr>
            <a:r>
              <a:rPr b="0" lang="en-US" sz="7400" strike="noStrike" u="none">
                <a:solidFill>
                  <a:srgbClr val="000000"/>
                </a:solidFill>
                <a:effectLst/>
                <a:uFillTx/>
                <a:latin typeface="Times New Roman"/>
              </a:rPr>
              <a:t>&lt;footer&gt;</a:t>
            </a:r>
            <a:endParaRPr b="0" lang="en-IN" sz="7400" strike="noStrike" u="none">
              <a:solidFill>
                <a:srgbClr val="000000"/>
              </a:solidFill>
              <a:effectLst/>
              <a:uFillTx/>
              <a:latin typeface="Times New Roman"/>
            </a:endParaRPr>
          </a:p>
        </p:txBody>
      </p:sp>
      <p:sp>
        <p:nvSpPr>
          <p:cNvPr id="4" name="PlaceHolder 5"/>
          <p:cNvSpPr>
            <a:spLocks noGrp="1"/>
          </p:cNvSpPr>
          <p:nvPr>
            <p:ph type="sldNum" idx="3"/>
          </p:nvPr>
        </p:nvSpPr>
        <p:spPr>
          <a:xfrm>
            <a:off x="35386560" y="29992680"/>
            <a:ext cx="10287000" cy="2193840"/>
          </a:xfrm>
          <a:prstGeom prst="rect">
            <a:avLst/>
          </a:prstGeom>
          <a:noFill/>
          <a:ln w="0">
            <a:noFill/>
          </a:ln>
        </p:spPr>
        <p:txBody>
          <a:bodyPr lIns="480600" rIns="480600" tIns="240480" bIns="240480" anchor="t">
            <a:noAutofit/>
          </a:bodyPr>
          <a:lstStyle>
            <a:lvl1pPr indent="0" algn="r">
              <a:buNone/>
              <a:tabLst>
                <a:tab algn="l" pos="0"/>
                <a:tab algn="l" pos="4807080"/>
                <a:tab algn="l" pos="9613800"/>
              </a:tabLst>
              <a:defRPr b="0" lang="en-US" sz="7400" strike="noStrike" u="none">
                <a:solidFill>
                  <a:srgbClr val="000000"/>
                </a:solidFill>
                <a:effectLst/>
                <a:uFillTx/>
                <a:latin typeface="Times New Roman"/>
              </a:defRPr>
            </a:lvl1pPr>
          </a:lstStyle>
          <a:p>
            <a:pPr indent="0" algn="r">
              <a:buNone/>
              <a:tabLst>
                <a:tab algn="l" pos="0"/>
                <a:tab algn="l" pos="4807080"/>
                <a:tab algn="l" pos="9613800"/>
              </a:tabLst>
            </a:pPr>
            <a:fld id="{D8775F62-16E9-4870-9994-BA07F463C3C0}" type="slidenum">
              <a:rPr b="0" lang="en-US" sz="7400" strike="noStrike" u="none">
                <a:solidFill>
                  <a:srgbClr val="000000"/>
                </a:solidFill>
                <a:effectLst/>
                <a:uFillTx/>
                <a:latin typeface="Times New Roman"/>
              </a:rPr>
              <a:t>&lt;number&gt;</a:t>
            </a:fld>
            <a:endParaRPr b="0" lang="en-IN" sz="7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jpe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oleObject" Target="../embeddings/oleObject1.bin"/><Relationship Id="rId9" Type="http://schemas.openxmlformats.org/officeDocument/2006/relationships/image" Target="../media/image8.png"/><Relationship Id="rId10" Type="http://schemas.openxmlformats.org/officeDocument/2006/relationships/image" Target="../media/image9.jpeg"/><Relationship Id="rId11" Type="http://schemas.openxmlformats.org/officeDocument/2006/relationships/oleObject" Target="../embeddings/oleObject2.bin"/><Relationship Id="rId12" Type="http://schemas.openxmlformats.org/officeDocument/2006/relationships/image" Target="../media/image10.png"/><Relationship Id="rId13" Type="http://schemas.openxmlformats.org/officeDocument/2006/relationships/image" Target="../media/image11.png"/><Relationship Id="rId14" Type="http://schemas.openxmlformats.org/officeDocument/2006/relationships/image" Target="../media/image12.png"/><Relationship Id="rId15" Type="http://schemas.openxmlformats.org/officeDocument/2006/relationships/image" Target="../media/image13.png"/><Relationship Id="rId16" Type="http://schemas.openxmlformats.org/officeDocument/2006/relationships/image" Target="../media/image14.jpeg"/><Relationship Id="rId17" Type="http://schemas.openxmlformats.org/officeDocument/2006/relationships/image" Target="../media/image15.png"/><Relationship Id="rId18" Type="http://schemas.openxmlformats.org/officeDocument/2006/relationships/image" Target="../media/image16.png"/><Relationship Id="rId19" Type="http://schemas.openxmlformats.org/officeDocument/2006/relationships/image" Target="../media/image17.png"/><Relationship Id="rId20" Type="http://schemas.openxmlformats.org/officeDocument/2006/relationships/image" Target="../media/image18.png"/><Relationship Id="rId21" Type="http://schemas.openxmlformats.org/officeDocument/2006/relationships/image" Target="../media/image19.png"/><Relationship Id="rId22" Type="http://schemas.openxmlformats.org/officeDocument/2006/relationships/image" Target="../media/image20.png"/><Relationship Id="rId23" Type="http://schemas.openxmlformats.org/officeDocument/2006/relationships/image" Target="../media/image21.png"/><Relationship Id="rId24" Type="http://schemas.openxmlformats.org/officeDocument/2006/relationships/package" Target="../embeddings/oleObject3.pptx"/><Relationship Id="rId25" Type="http://schemas.openxmlformats.org/officeDocument/2006/relationships/image" Target="../media/image22.wmf"/><Relationship Id="rId26" Type="http://schemas.openxmlformats.org/officeDocument/2006/relationships/image" Target="../media/image23.jpeg"/><Relationship Id="rId27" Type="http://schemas.openxmlformats.org/officeDocument/2006/relationships/image" Target="../media/image24.jpeg"/><Relationship Id="rId28" Type="http://schemas.openxmlformats.org/officeDocument/2006/relationships/image" Target="../media/image24.jpeg"/><Relationship Id="rId29" Type="http://schemas.openxmlformats.org/officeDocument/2006/relationships/image" Target="../media/image25.png"/><Relationship Id="rId30" Type="http://schemas.openxmlformats.org/officeDocument/2006/relationships/package" Target="../embeddings/oleObject4.pptx"/><Relationship Id="rId31" Type="http://schemas.openxmlformats.org/officeDocument/2006/relationships/image" Target="../media/image26.wmf"/><Relationship Id="rId32" Type="http://schemas.openxmlformats.org/officeDocument/2006/relationships/image" Target="../media/image27.jpeg"/><Relationship Id="rId33" Type="http://schemas.openxmlformats.org/officeDocument/2006/relationships/image" Target="../media/image28.jpeg"/><Relationship Id="rId34" Type="http://schemas.openxmlformats.org/officeDocument/2006/relationships/image" Target="../media/image29.png"/><Relationship Id="rId35" Type="http://schemas.openxmlformats.org/officeDocument/2006/relationships/image" Target="../media/image30.png"/><Relationship Id="rId36" Type="http://schemas.openxmlformats.org/officeDocument/2006/relationships/image" Target="../media/image31.png"/><Relationship Id="rId37" Type="http://schemas.openxmlformats.org/officeDocument/2006/relationships/image" Target="../media/image32.png"/><Relationship Id="rId38" Type="http://schemas.openxmlformats.org/officeDocument/2006/relationships/image" Target="../media/image33.png"/><Relationship Id="rId39" Type="http://schemas.openxmlformats.org/officeDocument/2006/relationships/image" Target="../media/image34.png"/><Relationship Id="rId40" Type="http://schemas.openxmlformats.org/officeDocument/2006/relationships/image" Target="../media/image35.jpeg"/><Relationship Id="rId41" Type="http://schemas.openxmlformats.org/officeDocument/2006/relationships/image" Target="../media/image36.png"/><Relationship Id="rId42" Type="http://schemas.openxmlformats.org/officeDocument/2006/relationships/image" Target="../media/image37.png"/><Relationship Id="rId43" Type="http://schemas.openxmlformats.org/officeDocument/2006/relationships/image" Target="../media/image37.png"/><Relationship Id="rId44" Type="http://schemas.openxmlformats.org/officeDocument/2006/relationships/image" Target="../media/image38.png"/><Relationship Id="rId45" Type="http://schemas.openxmlformats.org/officeDocument/2006/relationships/image" Target="../media/image36.png"/><Relationship Id="rId46" Type="http://schemas.openxmlformats.org/officeDocument/2006/relationships/image" Target="../media/image39.png"/><Relationship Id="rId47"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5" name=""/>
          <p:cNvGrpSpPr/>
          <p:nvPr/>
        </p:nvGrpSpPr>
        <p:grpSpPr>
          <a:xfrm>
            <a:off x="37719000" y="7162920"/>
            <a:ext cx="3657240" cy="2666520"/>
            <a:chOff x="37719000" y="7162920"/>
            <a:chExt cx="3657240" cy="2666520"/>
          </a:xfrm>
        </p:grpSpPr>
        <p:pic>
          <p:nvPicPr>
            <p:cNvPr id="6" name="" descr=""/>
            <p:cNvPicPr/>
            <p:nvPr/>
          </p:nvPicPr>
          <p:blipFill>
            <a:blip r:embed="rId1"/>
            <a:stretch/>
          </p:blipFill>
          <p:spPr>
            <a:xfrm>
              <a:off x="37719000" y="7162920"/>
              <a:ext cx="3657240" cy="2666520"/>
            </a:xfrm>
            <a:prstGeom prst="rect">
              <a:avLst/>
            </a:prstGeom>
            <a:noFill/>
            <a:ln w="0">
              <a:noFill/>
            </a:ln>
          </p:spPr>
        </p:pic>
        <p:sp>
          <p:nvSpPr>
            <p:cNvPr id="7" name=""/>
            <p:cNvSpPr/>
            <p:nvPr/>
          </p:nvSpPr>
          <p:spPr>
            <a:xfrm>
              <a:off x="38156040" y="7957440"/>
              <a:ext cx="705960" cy="459720"/>
            </a:xfrm>
            <a:prstGeom prst="rect">
              <a:avLst/>
            </a:prstGeom>
            <a:solidFill>
              <a:srgbClr val="ffffff"/>
            </a:solid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SST</a:t>
              </a:r>
              <a:endParaRPr b="0" lang="en-IN" sz="2400" strike="noStrike" u="none">
                <a:solidFill>
                  <a:srgbClr val="000000"/>
                </a:solidFill>
                <a:effectLst/>
                <a:uFillTx/>
                <a:latin typeface="Times New Roman"/>
              </a:endParaRPr>
            </a:p>
          </p:txBody>
        </p:sp>
      </p:grpSp>
      <p:pic>
        <p:nvPicPr>
          <p:cNvPr id="8" name="" descr=""/>
          <p:cNvPicPr/>
          <p:nvPr/>
        </p:nvPicPr>
        <p:blipFill>
          <a:blip r:embed="rId2"/>
          <a:stretch/>
        </p:blipFill>
        <p:spPr>
          <a:xfrm>
            <a:off x="22250520" y="16535520"/>
            <a:ext cx="6095880" cy="4068720"/>
          </a:xfrm>
          <a:prstGeom prst="rect">
            <a:avLst/>
          </a:prstGeom>
          <a:noFill/>
          <a:ln w="0">
            <a:noFill/>
          </a:ln>
        </p:spPr>
      </p:pic>
      <p:pic>
        <p:nvPicPr>
          <p:cNvPr id="9" name="" descr=""/>
          <p:cNvPicPr/>
          <p:nvPr/>
        </p:nvPicPr>
        <p:blipFill>
          <a:blip r:embed="rId3"/>
          <a:stretch/>
        </p:blipFill>
        <p:spPr>
          <a:xfrm>
            <a:off x="46428120" y="1219320"/>
            <a:ext cx="1882800" cy="1676160"/>
          </a:xfrm>
          <a:prstGeom prst="rect">
            <a:avLst/>
          </a:prstGeom>
          <a:noFill/>
          <a:ln w="0">
            <a:noFill/>
          </a:ln>
        </p:spPr>
      </p:pic>
      <p:pic>
        <p:nvPicPr>
          <p:cNvPr id="10" name="" descr=""/>
          <p:cNvPicPr/>
          <p:nvPr/>
        </p:nvPicPr>
        <p:blipFill>
          <a:blip r:embed="rId4"/>
          <a:stretch/>
        </p:blipFill>
        <p:spPr>
          <a:xfrm>
            <a:off x="44821440" y="21183480"/>
            <a:ext cx="2527200" cy="3932280"/>
          </a:xfrm>
          <a:prstGeom prst="rect">
            <a:avLst/>
          </a:prstGeom>
          <a:noFill/>
          <a:ln w="0">
            <a:noFill/>
          </a:ln>
        </p:spPr>
      </p:pic>
      <p:grpSp>
        <p:nvGrpSpPr>
          <p:cNvPr id="11" name=""/>
          <p:cNvGrpSpPr/>
          <p:nvPr/>
        </p:nvGrpSpPr>
        <p:grpSpPr>
          <a:xfrm>
            <a:off x="12939840" y="17221320"/>
            <a:ext cx="2683800" cy="2390760"/>
            <a:chOff x="12939840" y="17221320"/>
            <a:chExt cx="2683800" cy="2390760"/>
          </a:xfrm>
        </p:grpSpPr>
        <p:pic>
          <p:nvPicPr>
            <p:cNvPr id="12" name="" descr=""/>
            <p:cNvPicPr/>
            <p:nvPr/>
          </p:nvPicPr>
          <p:blipFill>
            <a:blip r:embed="rId5"/>
            <a:srcRect l="0" t="4643" r="0" b="0"/>
            <a:stretch/>
          </p:blipFill>
          <p:spPr>
            <a:xfrm>
              <a:off x="12939840" y="17221320"/>
              <a:ext cx="2372040" cy="2390760"/>
            </a:xfrm>
            <a:prstGeom prst="rect">
              <a:avLst/>
            </a:prstGeom>
            <a:noFill/>
            <a:ln w="0">
              <a:noFill/>
            </a:ln>
          </p:spPr>
        </p:pic>
        <p:sp>
          <p:nvSpPr>
            <p:cNvPr id="13" name=""/>
            <p:cNvSpPr/>
            <p:nvPr/>
          </p:nvSpPr>
          <p:spPr>
            <a:xfrm rot="16200000">
              <a:off x="14475240" y="18172800"/>
              <a:ext cx="2049840" cy="24660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trike="noStrike" u="none">
                  <a:solidFill>
                    <a:srgbClr val="000000"/>
                  </a:solidFill>
                  <a:effectLst/>
                  <a:uFillTx/>
                  <a:latin typeface="Times New Roman"/>
                </a:rPr>
                <a:t>A. Heidinger, NOAA/NESDIS/ORA</a:t>
              </a:r>
              <a:endParaRPr b="0" lang="en-IN" sz="1000" strike="noStrike" u="none">
                <a:solidFill>
                  <a:srgbClr val="000000"/>
                </a:solidFill>
                <a:effectLst/>
                <a:uFillTx/>
                <a:latin typeface="Times New Roman"/>
              </a:endParaRPr>
            </a:p>
          </p:txBody>
        </p:sp>
      </p:grpSp>
      <p:sp>
        <p:nvSpPr>
          <p:cNvPr id="14" name=""/>
          <p:cNvSpPr/>
          <p:nvPr/>
        </p:nvSpPr>
        <p:spPr>
          <a:xfrm>
            <a:off x="1395360" y="838080"/>
            <a:ext cx="28509840" cy="277596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8800" strike="noStrike" u="none">
                <a:solidFill>
                  <a:srgbClr val="ff0000"/>
                </a:solidFill>
                <a:effectLst/>
                <a:uFillTx/>
                <a:latin typeface="Times New Roman"/>
                <a:ea typeface="Times New Roman"/>
              </a:rPr>
              <a:t>Using GOES-R to help fulfill NOAA’s Mission Goals </a:t>
            </a:r>
            <a:endParaRPr b="0" lang="en-IN" sz="88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8800" strike="noStrike" u="none">
                <a:solidFill>
                  <a:srgbClr val="ff0000"/>
                </a:solidFill>
                <a:effectLst/>
                <a:uFillTx/>
                <a:latin typeface="Times New Roman"/>
                <a:ea typeface="Times New Roman"/>
              </a:rPr>
              <a:t>(Ecosystems, Weather/Water, Climate, and Commerce)</a:t>
            </a:r>
            <a:endParaRPr b="0" lang="en-IN" sz="8800" strike="noStrike" u="none">
              <a:solidFill>
                <a:srgbClr val="000000"/>
              </a:solidFill>
              <a:effectLst/>
              <a:uFillTx/>
              <a:latin typeface="Times New Roman"/>
            </a:endParaRPr>
          </a:p>
        </p:txBody>
      </p:sp>
      <p:sp>
        <p:nvSpPr>
          <p:cNvPr id="15" name=""/>
          <p:cNvSpPr/>
          <p:nvPr/>
        </p:nvSpPr>
        <p:spPr>
          <a:xfrm>
            <a:off x="11803680" y="8229600"/>
            <a:ext cx="6140520" cy="155700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9600" strike="noStrike" u="none">
                <a:solidFill>
                  <a:srgbClr val="ff0000"/>
                </a:solidFill>
                <a:effectLst/>
                <a:uFillTx/>
                <a:latin typeface="Times New Roman"/>
                <a:ea typeface="Times New Roman"/>
              </a:rPr>
              <a:t>Ecosystems</a:t>
            </a:r>
            <a:endParaRPr b="0" lang="en-IN" sz="9600" strike="noStrike" u="none">
              <a:solidFill>
                <a:srgbClr val="000000"/>
              </a:solidFill>
              <a:effectLst/>
              <a:uFillTx/>
              <a:latin typeface="Times New Roman"/>
            </a:endParaRPr>
          </a:p>
        </p:txBody>
      </p:sp>
      <p:sp>
        <p:nvSpPr>
          <p:cNvPr id="16" name=""/>
          <p:cNvSpPr/>
          <p:nvPr/>
        </p:nvSpPr>
        <p:spPr>
          <a:xfrm>
            <a:off x="28958760" y="19583280"/>
            <a:ext cx="5942880" cy="155700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9600" strike="noStrike" u="none">
                <a:solidFill>
                  <a:srgbClr val="ff0000"/>
                </a:solidFill>
                <a:effectLst/>
                <a:uFillTx/>
                <a:latin typeface="Times New Roman"/>
                <a:ea typeface="Times New Roman"/>
              </a:rPr>
              <a:t>Commerce</a:t>
            </a:r>
            <a:r>
              <a:rPr b="0" lang="en-IN" sz="2400" strike="noStrike" u="none">
                <a:solidFill>
                  <a:srgbClr val="ff0000"/>
                </a:solidFill>
                <a:effectLst/>
                <a:uFillTx/>
                <a:latin typeface="Times New Roman"/>
              </a:rPr>
              <a:t> </a:t>
            </a:r>
            <a:endParaRPr b="0" lang="en-IN" sz="2400" strike="noStrike" u="none">
              <a:solidFill>
                <a:srgbClr val="000000"/>
              </a:solidFill>
              <a:effectLst/>
              <a:uFillTx/>
              <a:latin typeface="Times New Roman"/>
            </a:endParaRPr>
          </a:p>
        </p:txBody>
      </p:sp>
      <p:sp>
        <p:nvSpPr>
          <p:cNvPr id="17" name=""/>
          <p:cNvSpPr/>
          <p:nvPr/>
        </p:nvSpPr>
        <p:spPr>
          <a:xfrm>
            <a:off x="28886760" y="8502480"/>
            <a:ext cx="8372880" cy="155700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9600" strike="noStrike" u="none">
                <a:solidFill>
                  <a:srgbClr val="ff0000"/>
                </a:solidFill>
                <a:effectLst/>
                <a:uFillTx/>
                <a:latin typeface="Times New Roman"/>
                <a:ea typeface="Times New Roman"/>
              </a:rPr>
              <a:t>Weather/Water</a:t>
            </a:r>
            <a:endParaRPr b="0" lang="en-IN" sz="9600" strike="noStrike" u="none">
              <a:solidFill>
                <a:srgbClr val="000000"/>
              </a:solidFill>
              <a:effectLst/>
              <a:uFillTx/>
              <a:latin typeface="Times New Roman"/>
            </a:endParaRPr>
          </a:p>
        </p:txBody>
      </p:sp>
      <p:sp>
        <p:nvSpPr>
          <p:cNvPr id="18" name=""/>
          <p:cNvSpPr/>
          <p:nvPr/>
        </p:nvSpPr>
        <p:spPr>
          <a:xfrm>
            <a:off x="11660400" y="19583280"/>
            <a:ext cx="4311000" cy="155700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9600" strike="noStrike" u="none">
                <a:solidFill>
                  <a:srgbClr val="ff0000"/>
                </a:solidFill>
                <a:effectLst/>
                <a:uFillTx/>
                <a:latin typeface="Times New Roman"/>
                <a:ea typeface="Times New Roman"/>
              </a:rPr>
              <a:t>Climate</a:t>
            </a:r>
            <a:endParaRPr b="0" lang="en-IN" sz="9600" strike="noStrike" u="none">
              <a:solidFill>
                <a:srgbClr val="000000"/>
              </a:solidFill>
              <a:effectLst/>
              <a:uFillTx/>
              <a:latin typeface="Times New Roman"/>
            </a:endParaRPr>
          </a:p>
        </p:txBody>
      </p:sp>
      <p:sp>
        <p:nvSpPr>
          <p:cNvPr id="19" name=""/>
          <p:cNvSpPr/>
          <p:nvPr/>
        </p:nvSpPr>
        <p:spPr>
          <a:xfrm>
            <a:off x="5291280" y="30480120"/>
            <a:ext cx="42543360" cy="155700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600" strike="noStrike" u="none">
                <a:solidFill>
                  <a:srgbClr val="ff0000"/>
                </a:solidFill>
                <a:effectLst/>
                <a:uFillTx/>
                <a:latin typeface="Times New Roman"/>
                <a:ea typeface="Times New Roman"/>
              </a:rPr>
              <a:t>GOES-R data and products will support all of NOAA’s mission goals!</a:t>
            </a:r>
            <a:endParaRPr b="0" lang="en-IN" sz="9600" strike="noStrike" u="none">
              <a:solidFill>
                <a:srgbClr val="000000"/>
              </a:solidFill>
              <a:effectLst/>
              <a:uFillTx/>
              <a:latin typeface="Times New Roman"/>
            </a:endParaRPr>
          </a:p>
        </p:txBody>
      </p:sp>
      <p:grpSp>
        <p:nvGrpSpPr>
          <p:cNvPr id="20" name=""/>
          <p:cNvGrpSpPr/>
          <p:nvPr/>
        </p:nvGrpSpPr>
        <p:grpSpPr>
          <a:xfrm>
            <a:off x="1176480" y="19318320"/>
            <a:ext cx="4781520" cy="3352680"/>
            <a:chOff x="1176480" y="19318320"/>
            <a:chExt cx="4781520" cy="3352680"/>
          </a:xfrm>
        </p:grpSpPr>
        <p:pic>
          <p:nvPicPr>
            <p:cNvPr id="21" name="" descr=""/>
            <p:cNvPicPr/>
            <p:nvPr/>
          </p:nvPicPr>
          <p:blipFill>
            <a:blip r:embed="rId6"/>
            <a:srcRect l="0" t="0" r="0" b="37167"/>
            <a:stretch/>
          </p:blipFill>
          <p:spPr>
            <a:xfrm>
              <a:off x="1176480" y="19318320"/>
              <a:ext cx="4781520" cy="3352680"/>
            </a:xfrm>
            <a:prstGeom prst="rect">
              <a:avLst/>
            </a:prstGeom>
            <a:noFill/>
            <a:ln w="0">
              <a:noFill/>
            </a:ln>
          </p:spPr>
        </p:pic>
        <p:sp>
          <p:nvSpPr>
            <p:cNvPr id="22" name=""/>
            <p:cNvSpPr/>
            <p:nvPr/>
          </p:nvSpPr>
          <p:spPr>
            <a:xfrm>
              <a:off x="4390560" y="21628080"/>
              <a:ext cx="56160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Times New Roman"/>
                </a:rPr>
                <a:t>UW</a:t>
              </a:r>
              <a:endParaRPr b="0" lang="en-IN" sz="1800" strike="noStrike" u="none">
                <a:solidFill>
                  <a:srgbClr val="000000"/>
                </a:solidFill>
                <a:effectLst/>
                <a:uFillTx/>
                <a:latin typeface="Times New Roman"/>
              </a:endParaRPr>
            </a:p>
          </p:txBody>
        </p:sp>
      </p:grpSp>
      <p:pic>
        <p:nvPicPr>
          <p:cNvPr id="23" name="" descr=""/>
          <p:cNvPicPr/>
          <p:nvPr/>
        </p:nvPicPr>
        <p:blipFill>
          <a:blip r:embed="rId7"/>
          <a:stretch/>
        </p:blipFill>
        <p:spPr>
          <a:xfrm>
            <a:off x="21640680" y="23164920"/>
            <a:ext cx="1764000" cy="1828800"/>
          </a:xfrm>
          <a:prstGeom prst="rect">
            <a:avLst/>
          </a:prstGeom>
          <a:noFill/>
          <a:ln w="0">
            <a:noFill/>
          </a:ln>
        </p:spPr>
      </p:pic>
      <p:grpSp>
        <p:nvGrpSpPr>
          <p:cNvPr id="24" name=""/>
          <p:cNvGrpSpPr/>
          <p:nvPr/>
        </p:nvGrpSpPr>
        <p:grpSpPr>
          <a:xfrm>
            <a:off x="36739440" y="26822520"/>
            <a:ext cx="5559840" cy="4162680"/>
            <a:chOff x="36739440" y="26822520"/>
            <a:chExt cx="5559840" cy="4162680"/>
          </a:xfrm>
        </p:grpSpPr>
        <p:sp>
          <p:nvSpPr>
            <p:cNvPr id="25" name=""/>
            <p:cNvSpPr/>
            <p:nvPr/>
          </p:nvSpPr>
          <p:spPr>
            <a:xfrm>
              <a:off x="37322280" y="29281320"/>
              <a:ext cx="177480" cy="45684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imes New Roman"/>
              </a:endParaRPr>
            </a:p>
          </p:txBody>
        </p:sp>
        <p:graphicFrame>
          <p:nvGraphicFramePr>
            <p:cNvPr id="26" name=""/>
            <p:cNvGraphicFramePr/>
            <p:nvPr/>
          </p:nvGraphicFramePr>
          <p:xfrm>
            <a:off x="36739440" y="28492200"/>
            <a:ext cx="2500920" cy="2077920"/>
          </p:xfrm>
          <a:graphic>
            <a:graphicData uri="http://schemas.openxmlformats.org/presentationml/2006/ole">
              <p:oleObj r:id="rId8" spid="">
                <p:embed/>
                <p:pic>
                  <p:nvPicPr>
                    <p:cNvPr id="27" name="" descr=""/>
                    <p:cNvPicPr/>
                    <p:nvPr/>
                  </p:nvPicPr>
                  <p:blipFill>
                    <a:blip r:embed="rId9"/>
                    <a:stretch/>
                  </p:blipFill>
                  <p:spPr>
                    <a:xfrm>
                      <a:off x="36739440" y="28492200"/>
                      <a:ext cx="2500920" cy="2077920"/>
                    </a:xfrm>
                    <a:prstGeom prst="rect">
                      <a:avLst/>
                    </a:prstGeom>
                    <a:noFill/>
                    <a:ln w="0">
                      <a:noFill/>
                    </a:ln>
                  </p:spPr>
                </p:pic>
              </p:oleObj>
            </a:graphicData>
          </a:graphic>
        </p:graphicFrame>
        <p:sp>
          <p:nvSpPr>
            <p:cNvPr id="28" name=""/>
            <p:cNvSpPr/>
            <p:nvPr/>
          </p:nvSpPr>
          <p:spPr>
            <a:xfrm>
              <a:off x="36861840" y="29793960"/>
              <a:ext cx="1571400" cy="119124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imes New Roman"/>
                </a:rPr>
                <a:t>Simulated </a:t>
              </a:r>
              <a:endParaRPr b="0" lang="en-IN" sz="2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imes New Roman"/>
                </a:rPr>
                <a:t>GOES</a:t>
              </a:r>
              <a:endParaRPr b="0" lang="en-IN" sz="2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imes New Roman"/>
                </a:rPr>
                <a:t>(11-12 μm)</a:t>
              </a:r>
              <a:endParaRPr b="0" lang="en-IN" sz="2400" strike="noStrike" u="none">
                <a:solidFill>
                  <a:srgbClr val="000000"/>
                </a:solidFill>
                <a:effectLst/>
                <a:uFillTx/>
                <a:latin typeface="Times New Roman"/>
              </a:endParaRPr>
            </a:p>
          </p:txBody>
        </p:sp>
        <p:sp>
          <p:nvSpPr>
            <p:cNvPr id="29" name=""/>
            <p:cNvSpPr/>
            <p:nvPr/>
          </p:nvSpPr>
          <p:spPr>
            <a:xfrm>
              <a:off x="38619000" y="27511200"/>
              <a:ext cx="2931120" cy="131364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imes New Roman"/>
                </a:rPr>
                <a:t>One day after the Mt. Cleveland eruption</a:t>
              </a:r>
              <a:endParaRPr b="0" lang="en-IN" sz="2000" strike="noStrike" u="none">
                <a:solidFill>
                  <a:srgbClr val="000000"/>
                </a:solidFill>
                <a:effectLst/>
                <a:uFillTx/>
                <a:latin typeface="Times New Roman"/>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imes New Roman"/>
                </a:rPr>
                <a:t>20 February 2001, 0845 UTC </a:t>
              </a:r>
              <a:endParaRPr b="0" lang="en-IN" sz="2000" strike="noStrike" u="none">
                <a:solidFill>
                  <a:srgbClr val="000000"/>
                </a:solidFill>
                <a:effectLst/>
                <a:uFillTx/>
                <a:latin typeface="Times New Roman"/>
              </a:endParaRPr>
            </a:p>
          </p:txBody>
        </p:sp>
        <p:pic>
          <p:nvPicPr>
            <p:cNvPr id="30" name="" descr=""/>
            <p:cNvPicPr/>
            <p:nvPr/>
          </p:nvPicPr>
          <p:blipFill>
            <a:blip r:embed="rId10"/>
            <a:stretch/>
          </p:blipFill>
          <p:spPr>
            <a:xfrm>
              <a:off x="37116000" y="27531720"/>
              <a:ext cx="1487520" cy="909360"/>
            </a:xfrm>
            <a:prstGeom prst="rect">
              <a:avLst/>
            </a:prstGeom>
            <a:noFill/>
            <a:ln w="0">
              <a:noFill/>
            </a:ln>
          </p:spPr>
        </p:pic>
        <p:sp>
          <p:nvSpPr>
            <p:cNvPr id="31" name=""/>
            <p:cNvSpPr/>
            <p:nvPr/>
          </p:nvSpPr>
          <p:spPr>
            <a:xfrm>
              <a:off x="37413000" y="26822520"/>
              <a:ext cx="3278520" cy="8254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3333cc"/>
                  </a:solidFill>
                  <a:effectLst/>
                  <a:uFillTx/>
                  <a:latin typeface="Times New Roman"/>
                </a:rPr>
                <a:t>Volcanic Ash Plume:  </a:t>
              </a:r>
              <a:endParaRPr b="0" lang="en-IN" sz="2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3333cc"/>
                  </a:solidFill>
                  <a:effectLst/>
                  <a:uFillTx/>
                  <a:latin typeface="Times New Roman"/>
                </a:rPr>
                <a:t>11-12 and 8.5-11 μm images</a:t>
              </a:r>
              <a:r>
                <a:rPr b="0" lang="en-IN" sz="2400" strike="noStrike" u="none">
                  <a:solidFill>
                    <a:srgbClr val="000000"/>
                  </a:solidFill>
                  <a:effectLst/>
                  <a:uFillTx/>
                  <a:latin typeface="Times New Roman"/>
                </a:rPr>
                <a:t> </a:t>
              </a:r>
              <a:endParaRPr b="0" lang="en-IN" sz="2400" strike="noStrike" u="none">
                <a:solidFill>
                  <a:srgbClr val="000000"/>
                </a:solidFill>
                <a:effectLst/>
                <a:uFillTx/>
                <a:latin typeface="Times New Roman"/>
              </a:endParaRPr>
            </a:p>
          </p:txBody>
        </p:sp>
        <p:grpSp>
          <p:nvGrpSpPr>
            <p:cNvPr id="32" name=""/>
            <p:cNvGrpSpPr/>
            <p:nvPr/>
          </p:nvGrpSpPr>
          <p:grpSpPr>
            <a:xfrm>
              <a:off x="39324600" y="28486080"/>
              <a:ext cx="2974680" cy="2378880"/>
              <a:chOff x="39324600" y="28486080"/>
              <a:chExt cx="2974680" cy="2378880"/>
            </a:xfrm>
          </p:grpSpPr>
          <p:graphicFrame>
            <p:nvGraphicFramePr>
              <p:cNvPr id="33" name=""/>
              <p:cNvGraphicFramePr/>
              <p:nvPr/>
            </p:nvGraphicFramePr>
            <p:xfrm>
              <a:off x="39324600" y="28486080"/>
              <a:ext cx="2384640" cy="2135160"/>
            </p:xfrm>
            <a:graphic>
              <a:graphicData uri="http://schemas.openxmlformats.org/presentationml/2006/ole">
                <p:oleObj r:id="rId11" spid="">
                  <p:embed/>
                  <p:pic>
                    <p:nvPicPr>
                      <p:cNvPr id="34" name="" descr=""/>
                      <p:cNvPicPr/>
                      <p:nvPr/>
                    </p:nvPicPr>
                    <p:blipFill>
                      <a:blip r:embed="rId12"/>
                      <a:stretch/>
                    </p:blipFill>
                    <p:spPr>
                      <a:xfrm>
                        <a:off x="39324600" y="28486080"/>
                        <a:ext cx="2384640" cy="2135160"/>
                      </a:xfrm>
                      <a:prstGeom prst="rect">
                        <a:avLst/>
                      </a:prstGeom>
                      <a:noFill/>
                      <a:ln w="0">
                        <a:noFill/>
                      </a:ln>
                    </p:spPr>
                  </p:pic>
                </p:oleObj>
              </a:graphicData>
            </a:graphic>
          </p:graphicFrame>
          <p:sp>
            <p:nvSpPr>
              <p:cNvPr id="35" name=""/>
              <p:cNvSpPr/>
              <p:nvPr/>
            </p:nvSpPr>
            <p:spPr>
              <a:xfrm>
                <a:off x="41236920" y="30557520"/>
                <a:ext cx="1062360" cy="30744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Times New Roman"/>
                  </a:rPr>
                  <a:t>UW/CIMSS</a:t>
                </a:r>
                <a:endParaRPr b="0" lang="en-IN" sz="1400" strike="noStrike" u="none">
                  <a:solidFill>
                    <a:srgbClr val="000000"/>
                  </a:solidFill>
                  <a:effectLst/>
                  <a:uFillTx/>
                  <a:latin typeface="Times New Roman"/>
                </a:endParaRPr>
              </a:p>
            </p:txBody>
          </p:sp>
        </p:grpSp>
        <p:sp>
          <p:nvSpPr>
            <p:cNvPr id="36" name=""/>
            <p:cNvSpPr/>
            <p:nvPr/>
          </p:nvSpPr>
          <p:spPr>
            <a:xfrm>
              <a:off x="39594960" y="29793960"/>
              <a:ext cx="1647720" cy="119124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imes New Roman"/>
                </a:rPr>
                <a:t>Simulated </a:t>
              </a:r>
              <a:endParaRPr b="0" lang="en-IN" sz="2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imes New Roman"/>
                </a:rPr>
                <a:t>ABI </a:t>
              </a:r>
              <a:endParaRPr b="0" lang="en-IN" sz="2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imes New Roman"/>
                </a:rPr>
                <a:t>(8.5-11 μm)</a:t>
              </a:r>
              <a:endParaRPr b="0" lang="en-IN" sz="2400" strike="noStrike" u="none">
                <a:solidFill>
                  <a:srgbClr val="000000"/>
                </a:solidFill>
                <a:effectLst/>
                <a:uFillTx/>
                <a:latin typeface="Times New Roman"/>
              </a:endParaRPr>
            </a:p>
          </p:txBody>
        </p:sp>
      </p:grpSp>
      <p:pic>
        <p:nvPicPr>
          <p:cNvPr id="37" name="" descr=""/>
          <p:cNvPicPr/>
          <p:nvPr/>
        </p:nvPicPr>
        <p:blipFill>
          <a:blip r:embed="rId13"/>
          <a:stretch/>
        </p:blipFill>
        <p:spPr>
          <a:xfrm>
            <a:off x="44099280" y="7615080"/>
            <a:ext cx="3460680" cy="2841840"/>
          </a:xfrm>
          <a:prstGeom prst="rect">
            <a:avLst/>
          </a:prstGeom>
          <a:noFill/>
          <a:ln w="22320">
            <a:solidFill>
              <a:srgbClr val="000000"/>
            </a:solidFill>
            <a:miter/>
          </a:ln>
        </p:spPr>
      </p:pic>
      <p:pic>
        <p:nvPicPr>
          <p:cNvPr id="38" name="" descr=""/>
          <p:cNvPicPr/>
          <p:nvPr/>
        </p:nvPicPr>
        <p:blipFill>
          <a:blip r:embed="rId14"/>
          <a:stretch/>
        </p:blipFill>
        <p:spPr>
          <a:xfrm>
            <a:off x="41681520" y="6114960"/>
            <a:ext cx="3429000" cy="2814840"/>
          </a:xfrm>
          <a:prstGeom prst="rect">
            <a:avLst/>
          </a:prstGeom>
          <a:noFill/>
          <a:ln w="22320">
            <a:solidFill>
              <a:srgbClr val="000000"/>
            </a:solidFill>
            <a:miter/>
          </a:ln>
        </p:spPr>
      </p:pic>
      <p:sp>
        <p:nvSpPr>
          <p:cNvPr id="39" name=""/>
          <p:cNvSpPr/>
          <p:nvPr/>
        </p:nvSpPr>
        <p:spPr>
          <a:xfrm>
            <a:off x="45136440" y="6006960"/>
            <a:ext cx="2094120" cy="8254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Simulated ABI </a:t>
            </a:r>
            <a:endParaRPr b="0" lang="en-IN" sz="2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(from MODIS)</a:t>
            </a:r>
            <a:endParaRPr b="0" lang="en-IN" sz="2400" strike="noStrike" u="none">
              <a:solidFill>
                <a:srgbClr val="000000"/>
              </a:solidFill>
              <a:effectLst/>
              <a:uFillTx/>
              <a:latin typeface="Times New Roman"/>
            </a:endParaRPr>
          </a:p>
        </p:txBody>
      </p:sp>
      <p:sp>
        <p:nvSpPr>
          <p:cNvPr id="40" name=""/>
          <p:cNvSpPr/>
          <p:nvPr/>
        </p:nvSpPr>
        <p:spPr>
          <a:xfrm>
            <a:off x="44352000" y="9829800"/>
            <a:ext cx="976680" cy="45972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GOES</a:t>
            </a:r>
            <a:endParaRPr b="0" lang="en-IN" sz="2400" strike="noStrike" u="none">
              <a:solidFill>
                <a:srgbClr val="000000"/>
              </a:solidFill>
              <a:effectLst/>
              <a:uFillTx/>
              <a:latin typeface="Times New Roman"/>
            </a:endParaRPr>
          </a:p>
        </p:txBody>
      </p:sp>
      <p:sp>
        <p:nvSpPr>
          <p:cNvPr id="41" name=""/>
          <p:cNvSpPr/>
          <p:nvPr/>
        </p:nvSpPr>
        <p:spPr>
          <a:xfrm>
            <a:off x="45833400" y="6670800"/>
            <a:ext cx="1743120" cy="91692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Times New Roman"/>
              </a:rPr>
              <a:t>Enhanced “V”: </a:t>
            </a:r>
            <a:endParaRPr b="0" lang="en-IN" sz="18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Times New Roman"/>
              </a:rPr>
              <a:t>IR windows</a:t>
            </a:r>
            <a:endParaRPr b="0" lang="en-IN" sz="18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Times New Roman"/>
              </a:rPr>
              <a:t>May 25, 2000</a:t>
            </a:r>
            <a:endParaRPr b="0" lang="en-IN" sz="1800" strike="noStrike" u="none">
              <a:solidFill>
                <a:srgbClr val="000000"/>
              </a:solidFill>
              <a:effectLst/>
              <a:uFillTx/>
              <a:latin typeface="Times New Roman"/>
            </a:endParaRPr>
          </a:p>
        </p:txBody>
      </p:sp>
      <p:sp>
        <p:nvSpPr>
          <p:cNvPr id="42" name=""/>
          <p:cNvSpPr/>
          <p:nvPr/>
        </p:nvSpPr>
        <p:spPr>
          <a:xfrm>
            <a:off x="42269400" y="9063000"/>
            <a:ext cx="1949400" cy="45972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Enhanced “V”</a:t>
            </a:r>
            <a:endParaRPr b="0" lang="en-IN" sz="2400" strike="noStrike" u="none">
              <a:solidFill>
                <a:srgbClr val="000000"/>
              </a:solidFill>
              <a:effectLst/>
              <a:uFillTx/>
              <a:latin typeface="Times New Roman"/>
            </a:endParaRPr>
          </a:p>
        </p:txBody>
      </p:sp>
      <p:sp>
        <p:nvSpPr>
          <p:cNvPr id="43" name=""/>
          <p:cNvSpPr/>
          <p:nvPr/>
        </p:nvSpPr>
        <p:spPr>
          <a:xfrm flipV="1">
            <a:off x="42954480" y="8151480"/>
            <a:ext cx="981000" cy="85716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ctr">
            <a:noAutofit/>
          </a:bodyPr>
          <a:p>
            <a:endParaRPr b="0" lang="en-IN" sz="2400" strike="noStrike" u="none">
              <a:solidFill>
                <a:srgbClr val="000000"/>
              </a:solidFill>
              <a:effectLst/>
              <a:uFillTx/>
              <a:latin typeface="Times New Roman"/>
            </a:endParaRPr>
          </a:p>
        </p:txBody>
      </p:sp>
      <p:sp>
        <p:nvSpPr>
          <p:cNvPr id="44" name=""/>
          <p:cNvSpPr/>
          <p:nvPr/>
        </p:nvSpPr>
        <p:spPr>
          <a:xfrm>
            <a:off x="43494480" y="9117000"/>
            <a:ext cx="3233520" cy="37476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ctr">
            <a:noAutofit/>
          </a:bodyPr>
          <a:p>
            <a:endParaRPr b="0" lang="en-IN" sz="2400" strike="noStrike" u="none">
              <a:solidFill>
                <a:srgbClr val="000000"/>
              </a:solidFill>
              <a:effectLst/>
              <a:uFillTx/>
              <a:latin typeface="Times New Roman"/>
            </a:endParaRPr>
          </a:p>
        </p:txBody>
      </p:sp>
      <p:sp>
        <p:nvSpPr>
          <p:cNvPr id="45" name=""/>
          <p:cNvSpPr/>
          <p:nvPr/>
        </p:nvSpPr>
        <p:spPr>
          <a:xfrm>
            <a:off x="43346520" y="6168960"/>
            <a:ext cx="1530360" cy="1191240"/>
          </a:xfrm>
          <a:prstGeom prst="rect">
            <a:avLst/>
          </a:prstGeom>
          <a:solidFill>
            <a:srgbClr val="ffffff"/>
          </a:solid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concentric anvil-layer waves</a:t>
            </a:r>
            <a:endParaRPr b="0" lang="en-IN" sz="2400" strike="noStrike" u="none">
              <a:solidFill>
                <a:srgbClr val="000000"/>
              </a:solidFill>
              <a:effectLst/>
              <a:uFillTx/>
              <a:latin typeface="Times New Roman"/>
            </a:endParaRPr>
          </a:p>
        </p:txBody>
      </p:sp>
      <p:sp>
        <p:nvSpPr>
          <p:cNvPr id="46" name=""/>
          <p:cNvSpPr/>
          <p:nvPr/>
        </p:nvSpPr>
        <p:spPr>
          <a:xfrm flipH="1">
            <a:off x="42808680" y="6543720"/>
            <a:ext cx="537840" cy="54000"/>
          </a:xfrm>
          <a:prstGeom prst="line">
            <a:avLst/>
          </a:prstGeom>
          <a:ln w="9360">
            <a:solidFill>
              <a:srgbClr val="000000"/>
            </a:solidFill>
            <a:miter/>
            <a:tailEnd len="med" type="triangle" w="med"/>
          </a:ln>
        </p:spPr>
        <p:style>
          <a:lnRef idx="0"/>
          <a:fillRef idx="0"/>
          <a:effectRef idx="0"/>
          <a:fontRef idx="minor"/>
        </p:style>
        <p:txBody>
          <a:bodyPr lIns="90000" rIns="90000" tIns="7200" bIns="7200" anchor="ctr">
            <a:noAutofit/>
          </a:bodyPr>
          <a:p>
            <a:endParaRPr b="0" lang="en-IN" sz="2400" strike="noStrike" u="none">
              <a:solidFill>
                <a:srgbClr val="000000"/>
              </a:solidFill>
              <a:effectLst/>
              <a:uFillTx/>
              <a:latin typeface="Times New Roman"/>
            </a:endParaRPr>
          </a:p>
        </p:txBody>
      </p:sp>
      <p:sp>
        <p:nvSpPr>
          <p:cNvPr id="47" name=""/>
          <p:cNvSpPr/>
          <p:nvPr/>
        </p:nvSpPr>
        <p:spPr>
          <a:xfrm>
            <a:off x="41925960" y="5715000"/>
            <a:ext cx="3135240" cy="45720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imes New Roman"/>
            </a:endParaRPr>
          </a:p>
        </p:txBody>
      </p:sp>
      <p:sp>
        <p:nvSpPr>
          <p:cNvPr id="48" name=""/>
          <p:cNvSpPr/>
          <p:nvPr/>
        </p:nvSpPr>
        <p:spPr>
          <a:xfrm>
            <a:off x="42197040" y="5638680"/>
            <a:ext cx="4846680" cy="45972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3333cc"/>
                </a:solidFill>
                <a:effectLst/>
                <a:uFillTx/>
                <a:latin typeface="Times New Roman"/>
              </a:rPr>
              <a:t>Higher Spatial Resolution Channels</a:t>
            </a:r>
            <a:endParaRPr b="0" lang="en-IN" sz="2400" strike="noStrike" u="none">
              <a:solidFill>
                <a:srgbClr val="000000"/>
              </a:solidFill>
              <a:effectLst/>
              <a:uFillTx/>
              <a:latin typeface="Times New Roman"/>
            </a:endParaRPr>
          </a:p>
        </p:txBody>
      </p:sp>
      <p:sp>
        <p:nvSpPr>
          <p:cNvPr id="49" name=""/>
          <p:cNvSpPr/>
          <p:nvPr/>
        </p:nvSpPr>
        <p:spPr>
          <a:xfrm>
            <a:off x="44400960" y="10515600"/>
            <a:ext cx="3085920" cy="246600"/>
          </a:xfrm>
          <a:prstGeom prst="rect">
            <a:avLst/>
          </a:prstGeom>
          <a:solidFill>
            <a:srgbClr val="ffffff"/>
          </a:solid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Times New Roman"/>
              </a:rPr>
              <a:t>http://cimss.ssec.wisc.edu/goes/misc/000525.html</a:t>
            </a:r>
            <a:endParaRPr b="0" lang="en-IN" sz="1000" strike="noStrike" u="none">
              <a:solidFill>
                <a:srgbClr val="000000"/>
              </a:solidFill>
              <a:effectLst/>
              <a:uFillTx/>
              <a:latin typeface="Times New Roman"/>
            </a:endParaRPr>
          </a:p>
        </p:txBody>
      </p:sp>
      <p:sp>
        <p:nvSpPr>
          <p:cNvPr id="50" name=""/>
          <p:cNvSpPr/>
          <p:nvPr/>
        </p:nvSpPr>
        <p:spPr>
          <a:xfrm>
            <a:off x="31015440" y="26949240"/>
            <a:ext cx="1705320" cy="338580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2400" strike="noStrike" u="none">
                <a:solidFill>
                  <a:srgbClr val="3333cc"/>
                </a:solidFill>
                <a:effectLst/>
                <a:uFillTx/>
                <a:latin typeface="Times New Roman"/>
              </a:rPr>
              <a:t>Payload:</a:t>
            </a:r>
            <a:endParaRPr b="0" lang="en-IN" sz="2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2400" strike="noStrike" u="none">
                <a:solidFill>
                  <a:srgbClr val="3333cc"/>
                </a:solidFill>
                <a:effectLst/>
                <a:uFillTx/>
                <a:latin typeface="Times New Roman"/>
              </a:rPr>
              <a:t>GLM</a:t>
            </a:r>
            <a:endParaRPr b="0" lang="en-IN" sz="2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2400" strike="noStrike" u="none">
                <a:solidFill>
                  <a:srgbClr val="3333cc"/>
                </a:solidFill>
                <a:effectLst/>
                <a:uFillTx/>
                <a:latin typeface="Times New Roman"/>
              </a:rPr>
              <a:t>ABI</a:t>
            </a:r>
            <a:endParaRPr b="0" lang="en-IN" sz="2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2400" strike="noStrike" u="none">
                <a:solidFill>
                  <a:srgbClr val="3333cc"/>
                </a:solidFill>
                <a:effectLst/>
                <a:uFillTx/>
                <a:latin typeface="Times New Roman"/>
              </a:rPr>
              <a:t>HES-CW</a:t>
            </a:r>
            <a:endParaRPr b="0" lang="en-IN" sz="2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2400" strike="noStrike" u="none">
                <a:solidFill>
                  <a:srgbClr val="3333cc"/>
                </a:solidFill>
                <a:effectLst/>
                <a:uFillTx/>
                <a:latin typeface="Times New Roman"/>
              </a:rPr>
              <a:t>HES-SNDR</a:t>
            </a:r>
            <a:endParaRPr b="0" lang="en-IN" sz="2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2400" strike="noStrike" u="none">
                <a:solidFill>
                  <a:srgbClr val="3333cc"/>
                </a:solidFill>
                <a:effectLst/>
                <a:uFillTx/>
                <a:latin typeface="Times New Roman"/>
              </a:rPr>
              <a:t>SIS</a:t>
            </a:r>
            <a:endParaRPr b="0" lang="en-IN" sz="2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2400" strike="noStrike" u="none">
                <a:solidFill>
                  <a:srgbClr val="3333cc"/>
                </a:solidFill>
                <a:effectLst/>
                <a:uFillTx/>
                <a:latin typeface="Times New Roman"/>
                <a:ea typeface="Times New Roman"/>
              </a:rPr>
              <a:t>SEISS</a:t>
            </a:r>
            <a:endParaRPr b="0" lang="en-IN" sz="2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2400" strike="noStrike" u="none">
                <a:solidFill>
                  <a:srgbClr val="3333cc"/>
                </a:solidFill>
                <a:effectLst/>
                <a:uFillTx/>
                <a:latin typeface="Times New Roman"/>
                <a:ea typeface="Times New Roman"/>
              </a:rPr>
              <a:t>MAG</a:t>
            </a:r>
            <a:r>
              <a:rPr b="0" lang="en-US" sz="2400" strike="noStrike" u="none">
                <a:solidFill>
                  <a:srgbClr val="3333cc"/>
                </a:solidFill>
                <a:effectLst/>
                <a:uFillTx/>
                <a:latin typeface="Times New Roman"/>
              </a:rPr>
              <a:t> </a:t>
            </a:r>
            <a:endParaRPr b="0" lang="en-IN" sz="2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2400" strike="noStrike" u="none">
                <a:solidFill>
                  <a:srgbClr val="3333cc"/>
                </a:solidFill>
                <a:effectLst/>
                <a:uFillTx/>
                <a:latin typeface="Times New Roman"/>
              </a:rPr>
              <a:t>AUX</a:t>
            </a:r>
            <a:endParaRPr b="0" lang="en-IN" sz="2400" strike="noStrike" u="none">
              <a:solidFill>
                <a:srgbClr val="000000"/>
              </a:solidFill>
              <a:effectLst/>
              <a:uFillTx/>
              <a:latin typeface="Times New Roman"/>
            </a:endParaRPr>
          </a:p>
        </p:txBody>
      </p:sp>
      <p:sp>
        <p:nvSpPr>
          <p:cNvPr id="51" name=""/>
          <p:cNvSpPr/>
          <p:nvPr/>
        </p:nvSpPr>
        <p:spPr>
          <a:xfrm>
            <a:off x="7698240" y="22101120"/>
            <a:ext cx="1705320" cy="2654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2400" strike="noStrike" u="none">
                <a:solidFill>
                  <a:srgbClr val="3333cc"/>
                </a:solidFill>
                <a:effectLst/>
                <a:uFillTx/>
                <a:latin typeface="Times New Roman"/>
              </a:rPr>
              <a:t>Payload:</a:t>
            </a:r>
            <a:endParaRPr b="0" lang="en-IN" sz="2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2400" strike="noStrike" u="none">
                <a:solidFill>
                  <a:srgbClr val="3333cc"/>
                </a:solidFill>
                <a:effectLst/>
                <a:uFillTx/>
                <a:latin typeface="Times New Roman"/>
              </a:rPr>
              <a:t>ABI</a:t>
            </a:r>
            <a:endParaRPr b="0" lang="en-IN" sz="2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2400" strike="noStrike" u="none">
                <a:solidFill>
                  <a:srgbClr val="3333cc"/>
                </a:solidFill>
                <a:effectLst/>
                <a:uFillTx/>
                <a:latin typeface="Times New Roman"/>
              </a:rPr>
              <a:t>HES-CW</a:t>
            </a:r>
            <a:endParaRPr b="0" lang="en-IN" sz="2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2400" strike="noStrike" u="none">
                <a:solidFill>
                  <a:srgbClr val="3333cc"/>
                </a:solidFill>
                <a:effectLst/>
                <a:uFillTx/>
                <a:latin typeface="Times New Roman"/>
              </a:rPr>
              <a:t>HES-SNDR</a:t>
            </a:r>
            <a:endParaRPr b="0" lang="en-IN" sz="2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2400" strike="noStrike" u="none">
                <a:solidFill>
                  <a:srgbClr val="3333cc"/>
                </a:solidFill>
                <a:effectLst/>
                <a:uFillTx/>
                <a:latin typeface="Times New Roman"/>
              </a:rPr>
              <a:t>GLM</a:t>
            </a:r>
            <a:endParaRPr b="0" lang="en-IN" sz="2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2400" strike="noStrike" u="none">
                <a:solidFill>
                  <a:srgbClr val="3333cc"/>
                </a:solidFill>
                <a:effectLst/>
                <a:uFillTx/>
                <a:latin typeface="Times New Roman"/>
              </a:rPr>
              <a:t>SIS</a:t>
            </a:r>
            <a:endParaRPr b="0" lang="en-IN" sz="2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2400" strike="noStrike" u="none">
                <a:solidFill>
                  <a:srgbClr val="3333cc"/>
                </a:solidFill>
                <a:effectLst/>
                <a:uFillTx/>
                <a:latin typeface="Times New Roman"/>
              </a:rPr>
              <a:t>AUX</a:t>
            </a:r>
            <a:endParaRPr b="0" lang="en-IN" sz="2400" strike="noStrike" u="none">
              <a:solidFill>
                <a:srgbClr val="000000"/>
              </a:solidFill>
              <a:effectLst/>
              <a:uFillTx/>
              <a:latin typeface="Times New Roman"/>
            </a:endParaRPr>
          </a:p>
        </p:txBody>
      </p:sp>
      <p:sp>
        <p:nvSpPr>
          <p:cNvPr id="52" name=""/>
          <p:cNvSpPr/>
          <p:nvPr/>
        </p:nvSpPr>
        <p:spPr>
          <a:xfrm>
            <a:off x="26976960" y="7467480"/>
            <a:ext cx="1705320" cy="338580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2400" strike="noStrike" u="none">
                <a:solidFill>
                  <a:srgbClr val="3333cc"/>
                </a:solidFill>
                <a:effectLst/>
                <a:uFillTx/>
                <a:latin typeface="Times New Roman"/>
              </a:rPr>
              <a:t>Payload:</a:t>
            </a:r>
            <a:endParaRPr b="0" lang="en-IN" sz="2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2400" strike="noStrike" u="none">
                <a:solidFill>
                  <a:srgbClr val="3333cc"/>
                </a:solidFill>
                <a:effectLst/>
                <a:uFillTx/>
                <a:latin typeface="Times New Roman"/>
              </a:rPr>
              <a:t>ABI</a:t>
            </a:r>
            <a:endParaRPr b="0" lang="en-IN" sz="2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2400" strike="noStrike" u="none">
                <a:solidFill>
                  <a:srgbClr val="3333cc"/>
                </a:solidFill>
                <a:effectLst/>
                <a:uFillTx/>
                <a:latin typeface="Times New Roman"/>
              </a:rPr>
              <a:t>HES-SNDR</a:t>
            </a:r>
            <a:endParaRPr b="0" lang="en-IN" sz="2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2400" strike="noStrike" u="none">
                <a:solidFill>
                  <a:srgbClr val="3333cc"/>
                </a:solidFill>
                <a:effectLst/>
                <a:uFillTx/>
                <a:latin typeface="Times New Roman"/>
              </a:rPr>
              <a:t>GLM</a:t>
            </a:r>
            <a:endParaRPr b="0" lang="en-IN" sz="2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2400" strike="noStrike" u="none">
                <a:solidFill>
                  <a:srgbClr val="3333cc"/>
                </a:solidFill>
                <a:effectLst/>
                <a:uFillTx/>
                <a:latin typeface="Times New Roman"/>
              </a:rPr>
              <a:t>HES-CW</a:t>
            </a:r>
            <a:endParaRPr b="0" lang="en-IN" sz="2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2400" strike="noStrike" u="none">
                <a:solidFill>
                  <a:srgbClr val="3333cc"/>
                </a:solidFill>
                <a:effectLst/>
                <a:uFillTx/>
                <a:latin typeface="Times New Roman"/>
              </a:rPr>
              <a:t>SIS</a:t>
            </a:r>
            <a:endParaRPr b="0" lang="en-IN" sz="2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2400" strike="noStrike" u="none">
                <a:solidFill>
                  <a:srgbClr val="3333cc"/>
                </a:solidFill>
                <a:effectLst/>
                <a:uFillTx/>
                <a:latin typeface="Times New Roman"/>
                <a:ea typeface="Times New Roman"/>
              </a:rPr>
              <a:t>SEISS</a:t>
            </a:r>
            <a:endParaRPr b="0" lang="en-IN" sz="2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2400" strike="noStrike" u="none">
                <a:solidFill>
                  <a:srgbClr val="3333cc"/>
                </a:solidFill>
                <a:effectLst/>
                <a:uFillTx/>
                <a:latin typeface="Times New Roman"/>
                <a:ea typeface="Times New Roman"/>
              </a:rPr>
              <a:t>MAG</a:t>
            </a:r>
            <a:r>
              <a:rPr b="1" lang="en-US" sz="2400" strike="noStrike" u="none">
                <a:solidFill>
                  <a:srgbClr val="3333cc"/>
                </a:solidFill>
                <a:effectLst/>
                <a:uFillTx/>
                <a:latin typeface="Times New Roman"/>
              </a:rPr>
              <a:t> </a:t>
            </a:r>
            <a:endParaRPr b="0" lang="en-IN" sz="2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2400" strike="noStrike" u="none">
                <a:solidFill>
                  <a:srgbClr val="3333cc"/>
                </a:solidFill>
                <a:effectLst/>
                <a:uFillTx/>
                <a:latin typeface="Times New Roman"/>
              </a:rPr>
              <a:t>AUX</a:t>
            </a:r>
            <a:endParaRPr b="0" lang="en-IN" sz="2400" strike="noStrike" u="none">
              <a:solidFill>
                <a:srgbClr val="000000"/>
              </a:solidFill>
              <a:effectLst/>
              <a:uFillTx/>
              <a:latin typeface="Times New Roman"/>
            </a:endParaRPr>
          </a:p>
        </p:txBody>
      </p:sp>
      <p:sp>
        <p:nvSpPr>
          <p:cNvPr id="53" name=""/>
          <p:cNvSpPr/>
          <p:nvPr/>
        </p:nvSpPr>
        <p:spPr>
          <a:xfrm>
            <a:off x="8845920" y="8153280"/>
            <a:ext cx="1442520" cy="155700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400" strike="noStrike" u="none">
                <a:solidFill>
                  <a:srgbClr val="3333cc"/>
                </a:solidFill>
                <a:effectLst/>
                <a:uFillTx/>
                <a:latin typeface="Times New Roman"/>
              </a:rPr>
              <a:t>Payload:</a:t>
            </a:r>
            <a:endParaRPr b="0" lang="en-IN" sz="2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400" strike="noStrike" u="none">
                <a:solidFill>
                  <a:srgbClr val="3333cc"/>
                </a:solidFill>
                <a:effectLst/>
                <a:uFillTx/>
                <a:latin typeface="Times New Roman"/>
              </a:rPr>
              <a:t>HES-CW </a:t>
            </a:r>
            <a:endParaRPr b="0" lang="en-IN" sz="2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400" strike="noStrike" u="none">
                <a:solidFill>
                  <a:srgbClr val="3333cc"/>
                </a:solidFill>
                <a:effectLst/>
                <a:uFillTx/>
                <a:latin typeface="Times New Roman"/>
              </a:rPr>
              <a:t>ABI</a:t>
            </a:r>
            <a:endParaRPr b="0" lang="en-IN" sz="2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400" strike="noStrike" u="none">
                <a:solidFill>
                  <a:srgbClr val="3333cc"/>
                </a:solidFill>
                <a:effectLst/>
                <a:uFillTx/>
                <a:latin typeface="Times New Roman"/>
              </a:rPr>
              <a:t>AUX</a:t>
            </a:r>
            <a:endParaRPr b="0" lang="en-IN" sz="2400" strike="noStrike" u="none">
              <a:solidFill>
                <a:srgbClr val="000000"/>
              </a:solidFill>
              <a:effectLst/>
              <a:uFillTx/>
              <a:latin typeface="Times New Roman"/>
            </a:endParaRPr>
          </a:p>
        </p:txBody>
      </p:sp>
      <p:sp>
        <p:nvSpPr>
          <p:cNvPr id="54" name=""/>
          <p:cNvSpPr/>
          <p:nvPr/>
        </p:nvSpPr>
        <p:spPr>
          <a:xfrm>
            <a:off x="1219320" y="3733920"/>
            <a:ext cx="17678160" cy="344556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4400" strike="noStrike" u="none">
                <a:solidFill>
                  <a:srgbClr val="000000"/>
                </a:solidFill>
                <a:effectLst/>
                <a:uFillTx/>
                <a:latin typeface="Times New Roman"/>
              </a:rPr>
              <a:t>Timothy J. Schmit, </a:t>
            </a:r>
            <a:r>
              <a:rPr b="1" lang="en-US" sz="3200" strike="noStrike" u="none">
                <a:solidFill>
                  <a:srgbClr val="000000"/>
                </a:solidFill>
                <a:effectLst/>
                <a:uFillTx/>
                <a:latin typeface="Times New Roman"/>
              </a:rPr>
              <a:t>NOAA/NESDIS/STAR (Satellite Applications</a:t>
            </a:r>
            <a:r>
              <a:rPr b="0" lang="en-US" sz="3200" strike="noStrike" u="none">
                <a:solidFill>
                  <a:srgbClr val="000000"/>
                </a:solidFill>
                <a:effectLst/>
                <a:uFillTx/>
                <a:latin typeface="Times New Roman"/>
              </a:rPr>
              <a:t> </a:t>
            </a:r>
            <a:r>
              <a:rPr b="1" lang="en-US" sz="3200" strike="noStrike" u="none">
                <a:solidFill>
                  <a:srgbClr val="000000"/>
                </a:solidFill>
                <a:effectLst/>
                <a:uFillTx/>
                <a:latin typeface="Times New Roman"/>
              </a:rPr>
              <a:t>and</a:t>
            </a:r>
            <a:r>
              <a:rPr b="0" lang="en-US" sz="3200" strike="noStrike" u="none">
                <a:solidFill>
                  <a:srgbClr val="000000"/>
                </a:solidFill>
                <a:effectLst/>
                <a:uFillTx/>
                <a:latin typeface="Times New Roman"/>
              </a:rPr>
              <a:t> </a:t>
            </a:r>
            <a:r>
              <a:rPr b="1" lang="en-US" sz="3200" strike="noStrike" u="none">
                <a:solidFill>
                  <a:srgbClr val="000000"/>
                </a:solidFill>
                <a:effectLst/>
                <a:uFillTx/>
                <a:latin typeface="Times New Roman"/>
              </a:rPr>
              <a:t>Research)</a:t>
            </a:r>
            <a:endParaRPr b="0" lang="en-IN" sz="32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4400" strike="noStrike" u="none">
                <a:solidFill>
                  <a:srgbClr val="000000"/>
                </a:solidFill>
                <a:effectLst/>
                <a:uFillTx/>
                <a:latin typeface="Times New Roman"/>
              </a:rPr>
              <a:t>W. P. Menzel</a:t>
            </a:r>
            <a:r>
              <a:rPr b="1" lang="en-US" sz="4400" strike="noStrike" u="none">
                <a:solidFill>
                  <a:srgbClr val="000000"/>
                </a:solidFill>
                <a:effectLst/>
                <a:uFillTx/>
                <a:latin typeface="Times New Roman"/>
                <a:ea typeface="Arial"/>
              </a:rPr>
              <a:t>, </a:t>
            </a:r>
            <a:r>
              <a:rPr b="1" lang="en-US" sz="3200" strike="noStrike" u="none">
                <a:solidFill>
                  <a:srgbClr val="000000"/>
                </a:solidFill>
                <a:effectLst/>
                <a:uFillTx/>
                <a:latin typeface="Times New Roman"/>
              </a:rPr>
              <a:t>NOAA/NESDIS/STAR (Satellite Applications and Research)</a:t>
            </a:r>
            <a:endParaRPr b="0" lang="en-IN" sz="32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4400" strike="noStrike" u="none">
                <a:solidFill>
                  <a:srgbClr val="000000"/>
                </a:solidFill>
                <a:effectLst/>
                <a:uFillTx/>
                <a:latin typeface="Times New Roman"/>
                <a:ea typeface="Arial"/>
              </a:rPr>
              <a:t>James J. Gurka, </a:t>
            </a:r>
            <a:r>
              <a:rPr b="1" lang="en-US" sz="3200" strike="noStrike" u="none">
                <a:solidFill>
                  <a:srgbClr val="000000"/>
                </a:solidFill>
                <a:effectLst/>
                <a:uFillTx/>
                <a:latin typeface="Times New Roman"/>
              </a:rPr>
              <a:t>NOAA/NESDIS/OSD (Office of Systems Development)</a:t>
            </a:r>
            <a:endParaRPr b="0" lang="en-IN" sz="32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4400" strike="noStrike" u="none">
                <a:solidFill>
                  <a:srgbClr val="000000"/>
                </a:solidFill>
                <a:effectLst/>
                <a:uFillTx/>
                <a:latin typeface="Times New Roman"/>
              </a:rPr>
              <a:t>Jun Li, Mat Gunshor </a:t>
            </a:r>
            <a:r>
              <a:rPr b="1" lang="en-US" sz="3200" strike="noStrike" u="none">
                <a:solidFill>
                  <a:srgbClr val="000000"/>
                </a:solidFill>
                <a:effectLst/>
                <a:uFillTx/>
                <a:latin typeface="Times New Roman"/>
              </a:rPr>
              <a:t>CIMSS (Cooperative Institute for Meteorological Satellite Studies)</a:t>
            </a:r>
            <a:endParaRPr b="0" lang="en-IN" sz="32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4400" strike="noStrike" u="none">
                <a:solidFill>
                  <a:srgbClr val="000000"/>
                </a:solidFill>
                <a:effectLst/>
                <a:uFillTx/>
                <a:latin typeface="Times New Roman"/>
              </a:rPr>
              <a:t>Steven Hill</a:t>
            </a:r>
            <a:r>
              <a:rPr b="1" lang="en-US" sz="3200" strike="noStrike" u="none">
                <a:solidFill>
                  <a:srgbClr val="000000"/>
                </a:solidFill>
                <a:effectLst/>
                <a:uFillTx/>
                <a:latin typeface="Times New Roman"/>
              </a:rPr>
              <a:t>, NOAA/NWS/NCEP Space Environment Center (SEC), Boulder, CO</a:t>
            </a:r>
            <a:endParaRPr b="0" lang="en-IN" sz="3200" strike="noStrike" u="none">
              <a:solidFill>
                <a:srgbClr val="000000"/>
              </a:solidFill>
              <a:effectLst/>
              <a:uFillTx/>
              <a:latin typeface="Times New Roman"/>
            </a:endParaRPr>
          </a:p>
        </p:txBody>
      </p:sp>
      <p:sp>
        <p:nvSpPr>
          <p:cNvPr id="55" name=""/>
          <p:cNvSpPr/>
          <p:nvPr/>
        </p:nvSpPr>
        <p:spPr>
          <a:xfrm>
            <a:off x="7404120" y="9723600"/>
            <a:ext cx="17359200" cy="764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200" strike="noStrike" u="none">
                <a:solidFill>
                  <a:srgbClr val="000000"/>
                </a:solidFill>
                <a:effectLst/>
                <a:uFillTx/>
                <a:latin typeface="Verdana"/>
              </a:rPr>
              <a:t>Protect, restore, and manage the use of coastal and ocean resources through ecosystem-based management </a:t>
            </a:r>
            <a:endParaRPr b="0" lang="en-IN" sz="2200" strike="noStrike" u="none">
              <a:solidFill>
                <a:srgbClr val="0000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200" strike="noStrike" u="none">
              <a:solidFill>
                <a:srgbClr val="000000"/>
              </a:solidFill>
              <a:effectLst/>
              <a:uFillTx/>
              <a:latin typeface="Times New Roman"/>
            </a:endParaRPr>
          </a:p>
        </p:txBody>
      </p:sp>
      <p:sp>
        <p:nvSpPr>
          <p:cNvPr id="56" name=""/>
          <p:cNvSpPr/>
          <p:nvPr/>
        </p:nvSpPr>
        <p:spPr>
          <a:xfrm>
            <a:off x="9524880" y="14233680"/>
            <a:ext cx="5964480" cy="4209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200" strike="noStrike" u="none">
                <a:solidFill>
                  <a:srgbClr val="006600"/>
                </a:solidFill>
                <a:effectLst/>
                <a:uFillTx/>
                <a:latin typeface="Verdana"/>
              </a:rPr>
              <a:t>The Ecosystems NOAA goal includes:</a:t>
            </a:r>
            <a:endParaRPr b="0" lang="en-IN" sz="2200" strike="noStrike" u="none">
              <a:solidFill>
                <a:srgbClr val="0000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000" strike="noStrike" u="none">
                <a:solidFill>
                  <a:srgbClr val="006600"/>
                </a:solidFill>
                <a:effectLst/>
                <a:uFillTx/>
                <a:latin typeface="Verdana"/>
              </a:rPr>
              <a:t>Corals</a:t>
            </a:r>
            <a:br>
              <a:rPr sz="2000"/>
            </a:br>
            <a:r>
              <a:rPr b="1" i="1" lang="en-IN" sz="2000" strike="noStrike" u="none">
                <a:solidFill>
                  <a:srgbClr val="006600"/>
                </a:solidFill>
                <a:effectLst/>
                <a:uFillTx/>
                <a:latin typeface="Verdana"/>
              </a:rPr>
              <a:t>Ecosystem Research </a:t>
            </a:r>
            <a:br>
              <a:rPr sz="2000"/>
            </a:br>
            <a:r>
              <a:rPr b="1" i="1" lang="en-IN" sz="2000" strike="noStrike" u="none">
                <a:solidFill>
                  <a:srgbClr val="006600"/>
                </a:solidFill>
                <a:effectLst/>
                <a:uFillTx/>
                <a:latin typeface="Verdana"/>
              </a:rPr>
              <a:t>Habitat Restoration</a:t>
            </a:r>
            <a:br>
              <a:rPr sz="2000"/>
            </a:br>
            <a:r>
              <a:rPr b="1" i="1" lang="en-IN" sz="2000" strike="noStrike" u="none">
                <a:solidFill>
                  <a:srgbClr val="006600"/>
                </a:solidFill>
                <a:effectLst/>
                <a:uFillTx/>
                <a:latin typeface="Verdana"/>
              </a:rPr>
              <a:t>Coastal Resource Management</a:t>
            </a:r>
            <a:br>
              <a:rPr sz="2000"/>
            </a:br>
            <a:r>
              <a:rPr b="1" i="1" lang="en-IN" sz="2000" strike="noStrike" u="none">
                <a:solidFill>
                  <a:srgbClr val="006600"/>
                </a:solidFill>
                <a:effectLst/>
                <a:uFillTx/>
                <a:latin typeface="Verdana"/>
              </a:rPr>
              <a:t>Invasive Species</a:t>
            </a:r>
            <a:br>
              <a:rPr sz="2000"/>
            </a:br>
            <a:r>
              <a:rPr b="1" i="1" lang="en-IN" sz="2000" strike="noStrike" u="none">
                <a:solidFill>
                  <a:srgbClr val="006600"/>
                </a:solidFill>
                <a:effectLst/>
                <a:uFillTx/>
                <a:latin typeface="Verdana"/>
              </a:rPr>
              <a:t>Undersea Research and Exploration</a:t>
            </a:r>
            <a:br>
              <a:rPr sz="2000"/>
            </a:br>
            <a:r>
              <a:rPr b="1" i="1" lang="en-IN" sz="2000" strike="noStrike" u="none">
                <a:solidFill>
                  <a:srgbClr val="006600"/>
                </a:solidFill>
                <a:effectLst/>
                <a:uFillTx/>
                <a:latin typeface="Verdana"/>
              </a:rPr>
              <a:t>Protected Species Management</a:t>
            </a:r>
            <a:br>
              <a:rPr sz="2000"/>
            </a:br>
            <a:r>
              <a:rPr b="1" i="1" lang="en-IN" sz="2000" strike="noStrike" u="none">
                <a:solidFill>
                  <a:srgbClr val="006600"/>
                </a:solidFill>
                <a:effectLst/>
                <a:uFillTx/>
                <a:latin typeface="Verdana"/>
              </a:rPr>
              <a:t>Protected Areas </a:t>
            </a:r>
            <a:endParaRPr b="0" lang="en-IN" sz="2000" strike="noStrike" u="none">
              <a:solidFill>
                <a:srgbClr val="0000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000" strike="noStrike" u="none">
                <a:solidFill>
                  <a:srgbClr val="006600"/>
                </a:solidFill>
                <a:effectLst/>
                <a:uFillTx/>
                <a:latin typeface="Verdana"/>
              </a:rPr>
              <a:t>Fisheries Management</a:t>
            </a:r>
            <a:br>
              <a:rPr sz="2000"/>
            </a:br>
            <a:r>
              <a:rPr b="1" i="1" lang="en-IN" sz="2000" strike="noStrike" u="none">
                <a:solidFill>
                  <a:srgbClr val="006600"/>
                </a:solidFill>
                <a:effectLst/>
                <a:uFillTx/>
                <a:latin typeface="Verdana"/>
              </a:rPr>
              <a:t>Aquaculture</a:t>
            </a:r>
            <a:br>
              <a:rPr sz="2000"/>
            </a:br>
            <a:r>
              <a:rPr b="1" i="1" lang="en-IN" sz="2000" strike="noStrike" u="none">
                <a:solidFill>
                  <a:srgbClr val="006600"/>
                </a:solidFill>
                <a:effectLst/>
                <a:uFillTx/>
                <a:latin typeface="Verdana"/>
              </a:rPr>
              <a:t>Enforcement</a:t>
            </a:r>
            <a:br>
              <a:rPr sz="2000"/>
            </a:br>
            <a:endParaRPr b="0" lang="en-IN" sz="2000" strike="noStrike" u="none">
              <a:solidFill>
                <a:srgbClr val="000000"/>
              </a:solidFill>
              <a:effectLst/>
              <a:uFillTx/>
              <a:latin typeface="Times New Roman"/>
            </a:endParaRPr>
          </a:p>
        </p:txBody>
      </p:sp>
      <p:sp>
        <p:nvSpPr>
          <p:cNvPr id="57" name=""/>
          <p:cNvSpPr/>
          <p:nvPr/>
        </p:nvSpPr>
        <p:spPr>
          <a:xfrm>
            <a:off x="9121320" y="21488400"/>
            <a:ext cx="14397480" cy="4291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200" strike="noStrike" u="none">
                <a:solidFill>
                  <a:srgbClr val="000000"/>
                </a:solidFill>
                <a:effectLst/>
                <a:uFillTx/>
                <a:latin typeface="Verdana"/>
              </a:rPr>
              <a:t>Understand climate variability and change to enhance society’s ability to plan and respond</a:t>
            </a:r>
            <a:endParaRPr b="0" lang="en-IN" sz="2200" strike="noStrike" u="none">
              <a:solidFill>
                <a:srgbClr val="000000"/>
              </a:solidFill>
              <a:effectLst/>
              <a:uFillTx/>
              <a:latin typeface="Times New Roman"/>
            </a:endParaRPr>
          </a:p>
        </p:txBody>
      </p:sp>
      <p:sp>
        <p:nvSpPr>
          <p:cNvPr id="58" name=""/>
          <p:cNvSpPr/>
          <p:nvPr/>
        </p:nvSpPr>
        <p:spPr>
          <a:xfrm>
            <a:off x="16758720" y="28498680"/>
            <a:ext cx="5306400" cy="20754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200" strike="noStrike" u="none">
                <a:solidFill>
                  <a:srgbClr val="006600"/>
                </a:solidFill>
                <a:effectLst/>
                <a:uFillTx/>
                <a:latin typeface="Verdana"/>
              </a:rPr>
              <a:t>The Climate NOAA goal includes:</a:t>
            </a:r>
            <a:endParaRPr b="0" lang="en-IN" sz="2200" strike="noStrike" u="none">
              <a:solidFill>
                <a:srgbClr val="0000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000" strike="noStrike" u="none">
                <a:solidFill>
                  <a:srgbClr val="006600"/>
                </a:solidFill>
                <a:effectLst/>
                <a:uFillTx/>
                <a:latin typeface="Verdana"/>
              </a:rPr>
              <a:t>Climate Observations and Analysis</a:t>
            </a:r>
            <a:endParaRPr b="0" lang="en-IN" sz="2000" strike="noStrike" u="none">
              <a:solidFill>
                <a:srgbClr val="0000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000" strike="noStrike" u="none">
                <a:solidFill>
                  <a:srgbClr val="006600"/>
                </a:solidFill>
                <a:effectLst/>
                <a:uFillTx/>
                <a:latin typeface="Verdana"/>
              </a:rPr>
              <a:t>Climate and Ecosystems </a:t>
            </a:r>
            <a:br>
              <a:rPr sz="2000"/>
            </a:br>
            <a:r>
              <a:rPr b="1" i="1" lang="en-IN" sz="2000" strike="noStrike" u="none">
                <a:solidFill>
                  <a:srgbClr val="006600"/>
                </a:solidFill>
                <a:effectLst/>
                <a:uFillTx/>
                <a:latin typeface="Verdana"/>
              </a:rPr>
              <a:t>Climate Forcing</a:t>
            </a:r>
            <a:br>
              <a:rPr sz="2000"/>
            </a:br>
            <a:r>
              <a:rPr b="1" i="1" lang="en-IN" sz="2000" strike="noStrike" u="none">
                <a:solidFill>
                  <a:srgbClr val="006600"/>
                </a:solidFill>
                <a:effectLst/>
                <a:uFillTx/>
                <a:latin typeface="Verdana"/>
              </a:rPr>
              <a:t>Climate Predictions and Projections</a:t>
            </a:r>
            <a:br>
              <a:rPr sz="2000"/>
            </a:br>
            <a:r>
              <a:rPr b="1" i="1" lang="en-IN" sz="2000" strike="noStrike" u="none">
                <a:solidFill>
                  <a:srgbClr val="006600"/>
                </a:solidFill>
                <a:effectLst/>
                <a:uFillTx/>
                <a:latin typeface="Verdana"/>
              </a:rPr>
              <a:t>Climate Information for Decisions</a:t>
            </a:r>
            <a:endParaRPr b="0" lang="en-IN" sz="2000" strike="noStrike" u="none">
              <a:solidFill>
                <a:srgbClr val="000000"/>
              </a:solidFill>
              <a:effectLst/>
              <a:uFillTx/>
              <a:latin typeface="Times New Roman"/>
            </a:endParaRPr>
          </a:p>
        </p:txBody>
      </p:sp>
      <p:sp>
        <p:nvSpPr>
          <p:cNvPr id="59" name=""/>
          <p:cNvSpPr/>
          <p:nvPr/>
        </p:nvSpPr>
        <p:spPr>
          <a:xfrm>
            <a:off x="28580040" y="10164600"/>
            <a:ext cx="9102240" cy="4291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200" strike="noStrike" u="none">
                <a:solidFill>
                  <a:srgbClr val="000000"/>
                </a:solidFill>
                <a:effectLst/>
                <a:uFillTx/>
                <a:latin typeface="Verdana"/>
              </a:rPr>
              <a:t>Serve society’s needs for weather and water information</a:t>
            </a:r>
            <a:endParaRPr b="0" lang="en-IN" sz="2200" strike="noStrike" u="none">
              <a:solidFill>
                <a:srgbClr val="000000"/>
              </a:solidFill>
              <a:effectLst/>
              <a:uFillTx/>
              <a:latin typeface="Times New Roman"/>
            </a:endParaRPr>
          </a:p>
        </p:txBody>
      </p:sp>
      <p:sp>
        <p:nvSpPr>
          <p:cNvPr id="60" name=""/>
          <p:cNvSpPr/>
          <p:nvPr/>
        </p:nvSpPr>
        <p:spPr>
          <a:xfrm>
            <a:off x="35563320" y="13487400"/>
            <a:ext cx="7200720" cy="299016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200" strike="noStrike" u="none">
                <a:solidFill>
                  <a:srgbClr val="006600"/>
                </a:solidFill>
                <a:effectLst/>
                <a:uFillTx/>
                <a:latin typeface="Verdana"/>
              </a:rPr>
              <a:t>The Weather/Water NOAA goal includes:</a:t>
            </a:r>
            <a:endParaRPr b="0" lang="en-IN" sz="2200" strike="noStrike" u="none">
              <a:solidFill>
                <a:srgbClr val="0000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000" strike="noStrike" u="none">
                <a:solidFill>
                  <a:srgbClr val="006600"/>
                </a:solidFill>
                <a:effectLst/>
                <a:uFillTx/>
                <a:latin typeface="Verdana"/>
              </a:rPr>
              <a:t>Local Forecasts and Warnings</a:t>
            </a:r>
            <a:br>
              <a:rPr sz="2000"/>
            </a:br>
            <a:r>
              <a:rPr b="1" i="1" lang="en-IN" sz="2000" strike="noStrike" u="none">
                <a:solidFill>
                  <a:srgbClr val="006600"/>
                </a:solidFill>
                <a:effectLst/>
                <a:uFillTx/>
                <a:latin typeface="Verdana"/>
              </a:rPr>
              <a:t>Tropical Storm Program</a:t>
            </a:r>
            <a:br>
              <a:rPr sz="2000"/>
            </a:br>
            <a:r>
              <a:rPr b="1" i="1" lang="en-IN" sz="2000" strike="noStrike" u="none">
                <a:solidFill>
                  <a:srgbClr val="006600"/>
                </a:solidFill>
                <a:effectLst/>
                <a:uFillTx/>
                <a:latin typeface="Verdana"/>
              </a:rPr>
              <a:t>Space Weather</a:t>
            </a:r>
            <a:endParaRPr b="0" lang="en-IN" sz="2000" strike="noStrike" u="none">
              <a:solidFill>
                <a:srgbClr val="0000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000" strike="noStrike" u="none">
                <a:solidFill>
                  <a:srgbClr val="006600"/>
                </a:solidFill>
                <a:effectLst/>
                <a:uFillTx/>
                <a:latin typeface="Verdana"/>
              </a:rPr>
              <a:t>Air Quality</a:t>
            </a:r>
            <a:br>
              <a:rPr sz="2000"/>
            </a:br>
            <a:r>
              <a:rPr b="1" i="1" lang="en-IN" sz="2000" strike="noStrike" u="none">
                <a:solidFill>
                  <a:srgbClr val="006600"/>
                </a:solidFill>
                <a:effectLst/>
                <a:uFillTx/>
                <a:latin typeface="Verdana"/>
              </a:rPr>
              <a:t>Environmental Modeling</a:t>
            </a:r>
            <a:br>
              <a:rPr sz="2000"/>
            </a:br>
            <a:r>
              <a:rPr b="1" i="1" lang="en-IN" sz="2000" strike="noStrike" u="none">
                <a:solidFill>
                  <a:srgbClr val="006600"/>
                </a:solidFill>
                <a:effectLst/>
                <a:uFillTx/>
                <a:latin typeface="Verdana"/>
              </a:rPr>
              <a:t>Hydrology – Rivers, Lakes, and Floods</a:t>
            </a:r>
            <a:br>
              <a:rPr sz="2000"/>
            </a:br>
            <a:r>
              <a:rPr b="1" i="1" lang="en-IN" sz="2000" strike="noStrike" u="none">
                <a:solidFill>
                  <a:srgbClr val="006600"/>
                </a:solidFill>
                <a:effectLst/>
                <a:uFillTx/>
                <a:latin typeface="Verdana"/>
              </a:rPr>
              <a:t>Weather and Water Science and Technology Infusion Program</a:t>
            </a:r>
            <a:endParaRPr b="0" lang="en-IN" sz="2000" strike="noStrike" u="none">
              <a:solidFill>
                <a:srgbClr val="000000"/>
              </a:solidFill>
              <a:effectLst/>
              <a:uFillTx/>
              <a:latin typeface="Times New Roman"/>
            </a:endParaRPr>
          </a:p>
        </p:txBody>
      </p:sp>
      <p:sp>
        <p:nvSpPr>
          <p:cNvPr id="61" name=""/>
          <p:cNvSpPr/>
          <p:nvPr/>
        </p:nvSpPr>
        <p:spPr>
          <a:xfrm>
            <a:off x="25916040" y="20878920"/>
            <a:ext cx="17462160" cy="4291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200" strike="noStrike" u="none">
                <a:solidFill>
                  <a:srgbClr val="000000"/>
                </a:solidFill>
                <a:effectLst/>
                <a:uFillTx/>
                <a:latin typeface="Verdana"/>
              </a:rPr>
              <a:t>Support the Nation’s commerce with information for safe, efficient, and environmentally sound transportation</a:t>
            </a:r>
            <a:endParaRPr b="0" lang="en-IN" sz="2200" strike="noStrike" u="none">
              <a:solidFill>
                <a:srgbClr val="000000"/>
              </a:solidFill>
              <a:effectLst/>
              <a:uFillTx/>
              <a:latin typeface="Times New Roman"/>
            </a:endParaRPr>
          </a:p>
        </p:txBody>
      </p:sp>
      <p:sp>
        <p:nvSpPr>
          <p:cNvPr id="62" name=""/>
          <p:cNvSpPr/>
          <p:nvPr/>
        </p:nvSpPr>
        <p:spPr>
          <a:xfrm>
            <a:off x="42291000" y="26974800"/>
            <a:ext cx="6172200" cy="341676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200" strike="noStrike" u="none">
                <a:solidFill>
                  <a:srgbClr val="006600"/>
                </a:solidFill>
                <a:effectLst/>
                <a:uFillTx/>
                <a:latin typeface="Verdana"/>
              </a:rPr>
              <a:t>The Commerce NOAA goal includes:</a:t>
            </a:r>
            <a:endParaRPr b="0" lang="en-IN" sz="2200" strike="noStrike" u="none">
              <a:solidFill>
                <a:srgbClr val="0000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br>
              <a:rPr sz="800"/>
            </a:br>
            <a:r>
              <a:rPr b="1" i="1" lang="en-IN" sz="2000" strike="noStrike" u="none">
                <a:solidFill>
                  <a:srgbClr val="006600"/>
                </a:solidFill>
                <a:effectLst/>
                <a:uFillTx/>
                <a:latin typeface="Verdana"/>
              </a:rPr>
              <a:t>Aviation Weather</a:t>
            </a:r>
            <a:br>
              <a:rPr sz="2000"/>
            </a:br>
            <a:r>
              <a:rPr b="1" i="1" lang="en-IN" sz="2000" strike="noStrike" u="none">
                <a:solidFill>
                  <a:srgbClr val="006600"/>
                </a:solidFill>
                <a:effectLst/>
                <a:uFillTx/>
                <a:latin typeface="Verdana"/>
              </a:rPr>
              <a:t>Marine Weather</a:t>
            </a:r>
            <a:br>
              <a:rPr sz="2000"/>
            </a:br>
            <a:r>
              <a:rPr b="1" i="1" lang="en-IN" sz="2000" strike="noStrike" u="none">
                <a:solidFill>
                  <a:srgbClr val="006600"/>
                </a:solidFill>
                <a:effectLst/>
                <a:uFillTx/>
                <a:latin typeface="Verdana"/>
              </a:rPr>
              <a:t>Marine Transportation Services</a:t>
            </a:r>
            <a:endParaRPr b="0" lang="en-IN" sz="2000" strike="noStrike" u="none">
              <a:solidFill>
                <a:srgbClr val="0000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000" strike="noStrike" u="none">
                <a:solidFill>
                  <a:srgbClr val="006600"/>
                </a:solidFill>
                <a:effectLst/>
                <a:uFillTx/>
                <a:latin typeface="Verdana"/>
              </a:rPr>
              <a:t>NOAA Emergency Response</a:t>
            </a:r>
            <a:br>
              <a:rPr sz="2000"/>
            </a:br>
            <a:r>
              <a:rPr b="1" i="1" lang="en-IN" sz="2000" strike="noStrike" u="none">
                <a:solidFill>
                  <a:srgbClr val="006600"/>
                </a:solidFill>
                <a:effectLst/>
                <a:uFillTx/>
                <a:latin typeface="Verdana"/>
              </a:rPr>
              <a:t>Geodesy</a:t>
            </a:r>
            <a:endParaRPr b="0" lang="en-IN" sz="2000" strike="noStrike" u="none">
              <a:solidFill>
                <a:srgbClr val="0000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000" strike="noStrike" u="none">
                <a:solidFill>
                  <a:srgbClr val="006600"/>
                </a:solidFill>
                <a:effectLst/>
                <a:uFillTx/>
                <a:latin typeface="Verdana"/>
              </a:rPr>
              <a:t>Commercial and Remote Sensing Licensing</a:t>
            </a:r>
            <a:br>
              <a:rPr sz="2000"/>
            </a:br>
            <a:r>
              <a:rPr b="1" i="1" lang="en-IN" sz="2000" strike="noStrike" u="none">
                <a:solidFill>
                  <a:srgbClr val="006600"/>
                </a:solidFill>
                <a:effectLst/>
                <a:uFillTx/>
                <a:latin typeface="Verdana"/>
              </a:rPr>
              <a:t>Commerce and Transportation Science and Technology Infusion Program</a:t>
            </a:r>
            <a:endParaRPr b="0" lang="en-IN" sz="2000" strike="noStrike" u="none">
              <a:solidFill>
                <a:srgbClr val="000000"/>
              </a:solidFill>
              <a:effectLst/>
              <a:uFillTx/>
              <a:latin typeface="Times New Roman"/>
            </a:endParaRPr>
          </a:p>
        </p:txBody>
      </p:sp>
      <p:sp>
        <p:nvSpPr>
          <p:cNvPr id="63" name=""/>
          <p:cNvSpPr/>
          <p:nvPr/>
        </p:nvSpPr>
        <p:spPr>
          <a:xfrm>
            <a:off x="955800" y="7162920"/>
            <a:ext cx="22513680" cy="91692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5400" strike="noStrike" u="none">
                <a:solidFill>
                  <a:srgbClr val="000000"/>
                </a:solidFill>
                <a:effectLst/>
                <a:uFillTx/>
                <a:latin typeface="Times New Roman"/>
              </a:rPr>
              <a:t>“The planet’s daily pulse is observed from the geostationary perspective”</a:t>
            </a:r>
            <a:endParaRPr b="0" lang="en-IN" sz="5400" strike="noStrike" u="none">
              <a:solidFill>
                <a:srgbClr val="000000"/>
              </a:solidFill>
              <a:effectLst/>
              <a:uFillTx/>
              <a:latin typeface="Times New Roman"/>
            </a:endParaRPr>
          </a:p>
        </p:txBody>
      </p:sp>
      <p:pic>
        <p:nvPicPr>
          <p:cNvPr id="64" name="" descr=""/>
          <p:cNvPicPr/>
          <p:nvPr/>
        </p:nvPicPr>
        <p:blipFill>
          <a:blip r:embed="rId15"/>
          <a:stretch/>
        </p:blipFill>
        <p:spPr>
          <a:xfrm>
            <a:off x="1600200" y="22899600"/>
            <a:ext cx="5527800" cy="3416400"/>
          </a:xfrm>
          <a:prstGeom prst="rect">
            <a:avLst/>
          </a:prstGeom>
          <a:noFill/>
          <a:ln w="0">
            <a:noFill/>
          </a:ln>
        </p:spPr>
      </p:pic>
      <p:grpSp>
        <p:nvGrpSpPr>
          <p:cNvPr id="65" name=""/>
          <p:cNvGrpSpPr/>
          <p:nvPr/>
        </p:nvGrpSpPr>
        <p:grpSpPr>
          <a:xfrm>
            <a:off x="838080" y="13836600"/>
            <a:ext cx="7853760" cy="5289480"/>
            <a:chOff x="838080" y="13836600"/>
            <a:chExt cx="7853760" cy="5289480"/>
          </a:xfrm>
        </p:grpSpPr>
        <p:pic>
          <p:nvPicPr>
            <p:cNvPr id="66" name="" descr=""/>
            <p:cNvPicPr/>
            <p:nvPr/>
          </p:nvPicPr>
          <p:blipFill>
            <a:blip r:embed="rId16"/>
            <a:srcRect l="4123" t="0" r="0" b="0"/>
            <a:stretch/>
          </p:blipFill>
          <p:spPr>
            <a:xfrm>
              <a:off x="838080" y="13836600"/>
              <a:ext cx="7539120" cy="5289480"/>
            </a:xfrm>
            <a:prstGeom prst="rect">
              <a:avLst/>
            </a:prstGeom>
            <a:noFill/>
            <a:ln w="0">
              <a:noFill/>
            </a:ln>
          </p:spPr>
        </p:pic>
        <p:sp>
          <p:nvSpPr>
            <p:cNvPr id="67" name=""/>
            <p:cNvSpPr/>
            <p:nvPr/>
          </p:nvSpPr>
          <p:spPr>
            <a:xfrm rot="16204200">
              <a:off x="7189920" y="16773840"/>
              <a:ext cx="2754000" cy="24660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trike="noStrike" u="none">
                  <a:solidFill>
                    <a:srgbClr val="000000"/>
                  </a:solidFill>
                  <a:effectLst/>
                  <a:uFillTx/>
                  <a:latin typeface="Times New Roman"/>
                </a:rPr>
                <a:t>http://www.ssec.wisc.edu/~gumley/modis_gallery/</a:t>
              </a:r>
              <a:endParaRPr b="0" lang="en-IN" sz="1000" strike="noStrike" u="none">
                <a:solidFill>
                  <a:srgbClr val="000000"/>
                </a:solidFill>
                <a:effectLst/>
                <a:uFillTx/>
                <a:latin typeface="Times New Roman"/>
              </a:endParaRPr>
            </a:p>
          </p:txBody>
        </p:sp>
      </p:grpSp>
      <p:sp>
        <p:nvSpPr>
          <p:cNvPr id="68" name=""/>
          <p:cNvSpPr/>
          <p:nvPr/>
        </p:nvSpPr>
        <p:spPr>
          <a:xfrm>
            <a:off x="5657760" y="32232600"/>
            <a:ext cx="177840" cy="457200"/>
          </a:xfrm>
          <a:prstGeom prst="rect">
            <a:avLst/>
          </a:prstGeom>
          <a:noFill/>
          <a:ln w="0">
            <a:noFill/>
          </a:ln>
        </p:spPr>
        <p:style>
          <a:lnRef idx="0"/>
          <a:fillRef idx="0"/>
          <a:effectRef idx="0"/>
          <a:fontRef idx="minor"/>
        </p:style>
        <p:txBody>
          <a:bodyPr wrap="none" lIns="90000" rIns="90000" tIns="46800" bIns="46800" anchor="t">
            <a:spAutoFit/>
          </a:bodyPr>
          <a:p>
            <a:endParaRPr b="0" lang="en-IN" sz="2400" strike="noStrike" u="none">
              <a:solidFill>
                <a:srgbClr val="000000"/>
              </a:solidFill>
              <a:effectLst/>
              <a:uFillTx/>
              <a:latin typeface="Times New Roman"/>
            </a:endParaRPr>
          </a:p>
        </p:txBody>
      </p:sp>
      <p:sp>
        <p:nvSpPr>
          <p:cNvPr id="69" name=""/>
          <p:cNvSpPr/>
          <p:nvPr/>
        </p:nvSpPr>
        <p:spPr>
          <a:xfrm>
            <a:off x="1066680" y="26212680"/>
            <a:ext cx="7239240" cy="466632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2400" strike="noStrike" u="none">
                <a:solidFill>
                  <a:srgbClr val="000000"/>
                </a:solidFill>
                <a:effectLst/>
                <a:uFillTx/>
                <a:latin typeface="Times New Roman"/>
              </a:rPr>
              <a:t>Payload key:</a:t>
            </a:r>
            <a:r>
              <a:rPr b="0" lang="en-US" sz="2400" strike="noStrike" u="none">
                <a:solidFill>
                  <a:srgbClr val="000000"/>
                </a:solidFill>
                <a:effectLst/>
                <a:uFillTx/>
                <a:latin typeface="Times New Roman"/>
              </a:rPr>
              <a:t>  </a:t>
            </a:r>
            <a:endParaRPr b="0" lang="en-IN" sz="2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3333cc"/>
                </a:solidFill>
                <a:effectLst/>
                <a:uFillTx/>
                <a:latin typeface="Times New Roman"/>
              </a:rPr>
              <a:t>ABI</a:t>
            </a:r>
            <a:r>
              <a:rPr b="0" lang="en-US" sz="2400" strike="noStrike" u="none">
                <a:solidFill>
                  <a:srgbClr val="000000"/>
                </a:solidFill>
                <a:effectLst/>
                <a:uFillTx/>
                <a:latin typeface="Times New Roman"/>
              </a:rPr>
              <a:t> – </a:t>
            </a:r>
            <a:r>
              <a:rPr b="0" lang="en-US" sz="2000" strike="noStrike" u="none">
                <a:solidFill>
                  <a:srgbClr val="000000"/>
                </a:solidFill>
                <a:effectLst/>
                <a:uFillTx/>
                <a:latin typeface="Times New Roman"/>
              </a:rPr>
              <a:t>Advanced Baseline Imager</a:t>
            </a:r>
            <a:r>
              <a:rPr b="0" lang="en-US" sz="2400" strike="noStrike" u="none">
                <a:solidFill>
                  <a:srgbClr val="000000"/>
                </a:solidFill>
                <a:effectLst/>
                <a:uFillTx/>
                <a:latin typeface="Times New Roman"/>
              </a:rPr>
              <a:t> </a:t>
            </a:r>
            <a:endParaRPr b="0" lang="en-IN" sz="2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3333cc"/>
                </a:solidFill>
                <a:effectLst/>
                <a:uFillTx/>
                <a:latin typeface="Times New Roman"/>
              </a:rPr>
              <a:t>HES</a:t>
            </a:r>
            <a:r>
              <a:rPr b="0" lang="en-US" sz="2400" strike="noStrike" u="none">
                <a:solidFill>
                  <a:srgbClr val="000000"/>
                </a:solidFill>
                <a:effectLst/>
                <a:uFillTx/>
                <a:latin typeface="Times New Roman"/>
              </a:rPr>
              <a:t> – </a:t>
            </a:r>
            <a:r>
              <a:rPr b="0" lang="en-US" sz="2000" strike="noStrike" u="none">
                <a:solidFill>
                  <a:srgbClr val="000000"/>
                </a:solidFill>
                <a:effectLst/>
                <a:uFillTx/>
                <a:latin typeface="Times New Roman"/>
              </a:rPr>
              <a:t>Hyperspectral Environmental Suite </a:t>
            </a:r>
            <a:endParaRPr b="0" lang="en-IN" sz="20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Times New Roman"/>
              </a:rPr>
              <a:t>	</a:t>
            </a:r>
            <a:r>
              <a:rPr b="0" lang="en-US" sz="2000" strike="noStrike" u="none">
                <a:solidFill>
                  <a:srgbClr val="000000"/>
                </a:solidFill>
                <a:effectLst/>
                <a:uFillTx/>
                <a:latin typeface="Times New Roman"/>
              </a:rPr>
              <a:t>      Sounder (SNDR) and Coastal Waters (CW)</a:t>
            </a:r>
            <a:r>
              <a:rPr b="0" lang="en-US" sz="2400" strike="noStrike" u="none">
                <a:solidFill>
                  <a:srgbClr val="000000"/>
                </a:solidFill>
                <a:effectLst/>
                <a:uFillTx/>
                <a:latin typeface="Times New Roman"/>
              </a:rPr>
              <a:t> </a:t>
            </a:r>
            <a:endParaRPr b="0" lang="en-IN" sz="2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3333cc"/>
                </a:solidFill>
                <a:effectLst/>
                <a:uFillTx/>
                <a:latin typeface="Times New Roman"/>
              </a:rPr>
              <a:t>GLM</a:t>
            </a:r>
            <a:r>
              <a:rPr b="0" lang="en-US" sz="2400" strike="noStrike" u="none">
                <a:solidFill>
                  <a:srgbClr val="000000"/>
                </a:solidFill>
                <a:effectLst/>
                <a:uFillTx/>
                <a:latin typeface="Times New Roman"/>
              </a:rPr>
              <a:t> – </a:t>
            </a:r>
            <a:r>
              <a:rPr b="0" lang="en-US" sz="2000" strike="noStrike" u="none">
                <a:solidFill>
                  <a:srgbClr val="000000"/>
                </a:solidFill>
                <a:effectLst/>
                <a:uFillTx/>
                <a:latin typeface="Times New Roman"/>
              </a:rPr>
              <a:t>Geostationary Lightning Mapper</a:t>
            </a:r>
            <a:r>
              <a:rPr b="0" lang="en-US" sz="2400" strike="noStrike" u="none">
                <a:solidFill>
                  <a:srgbClr val="000000"/>
                </a:solidFill>
                <a:effectLst/>
                <a:uFillTx/>
                <a:latin typeface="Times New Roman"/>
              </a:rPr>
              <a:t> </a:t>
            </a:r>
            <a:endParaRPr b="0" lang="en-IN" sz="2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3333cc"/>
                </a:solidFill>
                <a:effectLst/>
                <a:uFillTx/>
                <a:latin typeface="Times New Roman"/>
              </a:rPr>
              <a:t>SIS</a:t>
            </a:r>
            <a:r>
              <a:rPr b="0" lang="en-US" sz="2400" strike="noStrike" u="none">
                <a:solidFill>
                  <a:srgbClr val="000000"/>
                </a:solidFill>
                <a:effectLst/>
                <a:uFillTx/>
                <a:latin typeface="Times New Roman"/>
              </a:rPr>
              <a:t> – </a:t>
            </a:r>
            <a:r>
              <a:rPr b="0" lang="en-US" sz="2000" strike="noStrike" u="none">
                <a:solidFill>
                  <a:srgbClr val="000000"/>
                </a:solidFill>
                <a:effectLst/>
                <a:uFillTx/>
                <a:latin typeface="Times New Roman"/>
                <a:ea typeface="Times New Roman"/>
              </a:rPr>
              <a:t>Solar Imaging Suite</a:t>
            </a:r>
            <a:r>
              <a:rPr b="0" lang="en-US" sz="2400" strike="noStrike" u="none">
                <a:solidFill>
                  <a:srgbClr val="000000"/>
                </a:solidFill>
                <a:effectLst/>
                <a:uFillTx/>
                <a:latin typeface="Times New Roman"/>
              </a:rPr>
              <a:t> </a:t>
            </a:r>
            <a:endParaRPr b="0" lang="en-IN" sz="2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3333cc"/>
                </a:solidFill>
                <a:effectLst/>
                <a:uFillTx/>
                <a:latin typeface="Times New Roman"/>
              </a:rPr>
              <a:t>SEISS</a:t>
            </a:r>
            <a:r>
              <a:rPr b="0" lang="en-US" sz="2400" strike="noStrike" u="none">
                <a:solidFill>
                  <a:srgbClr val="000000"/>
                </a:solidFill>
                <a:effectLst/>
                <a:uFillTx/>
                <a:latin typeface="Times New Roman"/>
              </a:rPr>
              <a:t> – </a:t>
            </a:r>
            <a:r>
              <a:rPr b="0" lang="en-US" sz="2000" strike="noStrike" u="none">
                <a:solidFill>
                  <a:srgbClr val="000000"/>
                </a:solidFill>
                <a:effectLst/>
                <a:uFillTx/>
                <a:latin typeface="Times New Roman"/>
                <a:ea typeface="Times New Roman"/>
              </a:rPr>
              <a:t>Space Environment In-Situ Suite</a:t>
            </a:r>
            <a:r>
              <a:rPr b="0" lang="en-US" sz="2400" strike="noStrike" u="none">
                <a:solidFill>
                  <a:srgbClr val="000000"/>
                </a:solidFill>
                <a:effectLst/>
                <a:uFillTx/>
                <a:latin typeface="Times New Roman"/>
                <a:ea typeface="Times New Roman"/>
              </a:rPr>
              <a:t> </a:t>
            </a:r>
            <a:endParaRPr b="0" lang="en-IN" sz="2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3333cc"/>
                </a:solidFill>
                <a:effectLst/>
                <a:uFillTx/>
                <a:latin typeface="Times New Roman"/>
                <a:ea typeface="Times New Roman"/>
              </a:rPr>
              <a:t>MAG</a:t>
            </a:r>
            <a:r>
              <a:rPr b="0" lang="en-US" sz="2400" strike="noStrike" u="none">
                <a:solidFill>
                  <a:srgbClr val="000000"/>
                </a:solidFill>
                <a:effectLst/>
                <a:uFillTx/>
                <a:latin typeface="Times New Roman"/>
                <a:ea typeface="Times New Roman"/>
              </a:rPr>
              <a:t> – </a:t>
            </a:r>
            <a:r>
              <a:rPr b="0" lang="en-US" sz="2000" strike="noStrike" u="none">
                <a:solidFill>
                  <a:srgbClr val="000000"/>
                </a:solidFill>
                <a:effectLst/>
                <a:uFillTx/>
                <a:latin typeface="Times New Roman"/>
                <a:ea typeface="Times New Roman"/>
              </a:rPr>
              <a:t>Magnetometer</a:t>
            </a:r>
            <a:r>
              <a:rPr b="0" lang="en-US" sz="2400" strike="noStrike" u="none">
                <a:solidFill>
                  <a:srgbClr val="000000"/>
                </a:solidFill>
                <a:effectLst/>
                <a:uFillTx/>
                <a:latin typeface="Times New Roman"/>
                <a:ea typeface="Times New Roman"/>
              </a:rPr>
              <a:t> </a:t>
            </a:r>
            <a:endParaRPr b="0" lang="en-IN" sz="2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3333cc"/>
                </a:solidFill>
                <a:effectLst/>
                <a:uFillTx/>
                <a:latin typeface="Times New Roman"/>
                <a:ea typeface="Times New Roman"/>
              </a:rPr>
              <a:t>AUX</a:t>
            </a:r>
            <a:r>
              <a:rPr b="0" lang="en-US" sz="2400" strike="noStrike" u="none">
                <a:solidFill>
                  <a:srgbClr val="000000"/>
                </a:solidFill>
                <a:effectLst/>
                <a:uFillTx/>
                <a:latin typeface="Times New Roman"/>
                <a:ea typeface="Times New Roman"/>
              </a:rPr>
              <a:t> – Auxiliary Services </a:t>
            </a:r>
            <a:endParaRPr b="0" lang="en-IN" sz="2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Times New Roman"/>
                <a:ea typeface="Times New Roman"/>
              </a:rPr>
              <a:t>	</a:t>
            </a:r>
            <a:r>
              <a:rPr b="0" lang="en-US" sz="2000" strike="noStrike" u="none">
                <a:solidFill>
                  <a:srgbClr val="000000"/>
                </a:solidFill>
                <a:effectLst/>
                <a:uFillTx/>
                <a:latin typeface="Times New Roman"/>
                <a:ea typeface="Times New Roman"/>
              </a:rPr>
              <a:t>LRIT-- Low Rate Information transmission </a:t>
            </a:r>
            <a:endParaRPr b="0" lang="en-IN" sz="20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Times New Roman"/>
                <a:ea typeface="Times New Roman"/>
              </a:rPr>
              <a:t>	</a:t>
            </a:r>
            <a:r>
              <a:rPr b="0" lang="en-US" sz="2000" strike="noStrike" u="none">
                <a:solidFill>
                  <a:srgbClr val="000000"/>
                </a:solidFill>
                <a:effectLst/>
                <a:uFillTx/>
                <a:latin typeface="Times New Roman"/>
                <a:ea typeface="Times New Roman"/>
              </a:rPr>
              <a:t>EMWIN-- Emergency Managers Wx Information Network </a:t>
            </a:r>
            <a:endParaRPr b="0" lang="en-IN" sz="20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Times New Roman"/>
                <a:ea typeface="Times New Roman"/>
              </a:rPr>
              <a:t>	</a:t>
            </a:r>
            <a:r>
              <a:rPr b="0" lang="en-US" sz="2000" strike="noStrike" u="none">
                <a:solidFill>
                  <a:srgbClr val="000000"/>
                </a:solidFill>
                <a:effectLst/>
                <a:uFillTx/>
                <a:latin typeface="Times New Roman"/>
                <a:ea typeface="Times New Roman"/>
              </a:rPr>
              <a:t>DCS-- Data Collection System  </a:t>
            </a:r>
            <a:r>
              <a:rPr b="0" lang="en-US" sz="2000" strike="noStrike" u="none">
                <a:solidFill>
                  <a:srgbClr val="000000"/>
                </a:solidFill>
                <a:effectLst/>
                <a:uFillTx/>
                <a:latin typeface="Times New Roman"/>
                <a:ea typeface="Times New Roman"/>
              </a:rPr>
              <a:t>	</a:t>
            </a:r>
            <a:endParaRPr b="0" lang="en-IN" sz="20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Times New Roman"/>
                <a:ea typeface="Times New Roman"/>
              </a:rPr>
              <a:t>	</a:t>
            </a:r>
            <a:r>
              <a:rPr b="0" lang="en-US" sz="2000" strike="noStrike" u="none">
                <a:solidFill>
                  <a:srgbClr val="000000"/>
                </a:solidFill>
                <a:effectLst/>
                <a:uFillTx/>
                <a:latin typeface="Times New Roman"/>
                <a:ea typeface="Times New Roman"/>
              </a:rPr>
              <a:t>SAR-- Search and Rescue</a:t>
            </a:r>
            <a:r>
              <a:rPr b="0" lang="en-US" sz="2400" strike="noStrike" u="none">
                <a:solidFill>
                  <a:srgbClr val="000000"/>
                </a:solidFill>
                <a:effectLst/>
                <a:uFillTx/>
                <a:latin typeface="Times New Roman"/>
                <a:ea typeface="Times New Roman"/>
              </a:rPr>
              <a:t>  </a:t>
            </a:r>
            <a:endParaRPr b="0" lang="en-IN" sz="2400" strike="noStrike" u="none">
              <a:solidFill>
                <a:srgbClr val="000000"/>
              </a:solidFill>
              <a:effectLst/>
              <a:uFillTx/>
              <a:latin typeface="Times New Roman"/>
            </a:endParaRPr>
          </a:p>
        </p:txBody>
      </p:sp>
      <p:grpSp>
        <p:nvGrpSpPr>
          <p:cNvPr id="70" name=""/>
          <p:cNvGrpSpPr/>
          <p:nvPr/>
        </p:nvGrpSpPr>
        <p:grpSpPr>
          <a:xfrm>
            <a:off x="42911640" y="11918880"/>
            <a:ext cx="5730840" cy="4969440"/>
            <a:chOff x="42911640" y="11918880"/>
            <a:chExt cx="5730840" cy="4969440"/>
          </a:xfrm>
        </p:grpSpPr>
        <p:grpSp>
          <p:nvGrpSpPr>
            <p:cNvPr id="71" name=""/>
            <p:cNvGrpSpPr/>
            <p:nvPr/>
          </p:nvGrpSpPr>
          <p:grpSpPr>
            <a:xfrm>
              <a:off x="43866720" y="11918880"/>
              <a:ext cx="4041000" cy="3848040"/>
              <a:chOff x="43866720" y="11918880"/>
              <a:chExt cx="4041000" cy="3848040"/>
            </a:xfrm>
          </p:grpSpPr>
          <p:pic>
            <p:nvPicPr>
              <p:cNvPr id="72" name="" descr=""/>
              <p:cNvPicPr/>
              <p:nvPr/>
            </p:nvPicPr>
            <p:blipFill>
              <a:blip r:embed="rId17"/>
              <a:stretch/>
            </p:blipFill>
            <p:spPr>
              <a:xfrm>
                <a:off x="43866720" y="11918880"/>
                <a:ext cx="4041000" cy="3848040"/>
              </a:xfrm>
              <a:prstGeom prst="rect">
                <a:avLst/>
              </a:prstGeom>
              <a:noFill/>
              <a:ln w="19080">
                <a:solidFill>
                  <a:srgbClr val="000000"/>
                </a:solidFill>
                <a:miter/>
              </a:ln>
            </p:spPr>
          </p:pic>
          <p:sp>
            <p:nvSpPr>
              <p:cNvPr id="73" name=""/>
              <p:cNvSpPr/>
              <p:nvPr/>
            </p:nvSpPr>
            <p:spPr>
              <a:xfrm>
                <a:off x="45752400" y="13354200"/>
                <a:ext cx="631080" cy="58140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Times New Roman"/>
                  </a:rPr>
                  <a:t>Low </a:t>
                </a:r>
                <a:endParaRPr b="0" lang="en-IN" sz="16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Times New Roman"/>
                  </a:rPr>
                  <a:t>cloud</a:t>
                </a:r>
                <a:endParaRPr b="0" lang="en-IN" sz="1600" strike="noStrike" u="none">
                  <a:solidFill>
                    <a:srgbClr val="000000"/>
                  </a:solidFill>
                  <a:effectLst/>
                  <a:uFillTx/>
                  <a:latin typeface="Times New Roman"/>
                </a:endParaRPr>
              </a:p>
            </p:txBody>
          </p:sp>
          <p:sp>
            <p:nvSpPr>
              <p:cNvPr id="74" name=""/>
              <p:cNvSpPr/>
              <p:nvPr/>
            </p:nvSpPr>
            <p:spPr>
              <a:xfrm>
                <a:off x="45346680" y="13106520"/>
                <a:ext cx="642600" cy="3376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ffffff"/>
                    </a:solidFill>
                    <a:effectLst/>
                    <a:uFillTx/>
                    <a:latin typeface="Times New Roman"/>
                  </a:rPr>
                  <a:t>Snow</a:t>
                </a:r>
                <a:endParaRPr b="0" lang="en-IN" sz="1600" strike="noStrike" u="none">
                  <a:solidFill>
                    <a:srgbClr val="000000"/>
                  </a:solidFill>
                  <a:effectLst/>
                  <a:uFillTx/>
                  <a:latin typeface="Times New Roman"/>
                </a:endParaRPr>
              </a:p>
            </p:txBody>
          </p:sp>
        </p:grpSp>
        <p:sp>
          <p:nvSpPr>
            <p:cNvPr id="75" name=""/>
            <p:cNvSpPr/>
            <p:nvPr/>
          </p:nvSpPr>
          <p:spPr>
            <a:xfrm>
              <a:off x="42911640" y="15697080"/>
              <a:ext cx="5730840" cy="119124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3333cc"/>
                  </a:solidFill>
                  <a:effectLst/>
                  <a:uFillTx/>
                  <a:latin typeface="Times New Roman"/>
                </a:rPr>
                <a:t>Three-color composite (0.64, 1.6 and 11 µm) shows the low cloud over the snow and the water versus ice clouds.</a:t>
              </a:r>
              <a:endParaRPr b="0" lang="en-IN" sz="2400" strike="noStrike" u="none">
                <a:solidFill>
                  <a:srgbClr val="000000"/>
                </a:solidFill>
                <a:effectLst/>
                <a:uFillTx/>
                <a:latin typeface="Times New Roman"/>
              </a:endParaRPr>
            </a:p>
          </p:txBody>
        </p:sp>
      </p:grpSp>
      <p:sp>
        <p:nvSpPr>
          <p:cNvPr id="76" name=""/>
          <p:cNvSpPr/>
          <p:nvPr/>
        </p:nvSpPr>
        <p:spPr>
          <a:xfrm>
            <a:off x="28879920" y="10667880"/>
            <a:ext cx="14249160" cy="5580360"/>
          </a:xfrm>
          <a:prstGeom prst="rect">
            <a:avLst/>
          </a:prstGeom>
          <a:noFill/>
          <a:ln w="0">
            <a:noFill/>
          </a:ln>
        </p:spPr>
        <p:style>
          <a:lnRef idx="0"/>
          <a:fillRef idx="0"/>
          <a:effectRef idx="0"/>
          <a:fontRef idx="minor"/>
        </p:style>
        <p:txBody>
          <a:bodyPr lIns="90000" rIns="90000" tIns="46800" bIns="46800" anchor="t">
            <a:spAutoFit/>
          </a:bodyPr>
          <a:p>
            <a:pPr>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ea typeface="Times New Roman"/>
              </a:rPr>
              <a:t> Improved disaster mitigation for hurricane trajectory forecasts from better definition of mass and motion fields, along with better knowledge of the sea surface temperatures. </a:t>
            </a:r>
            <a:endParaRPr b="0" lang="en-IN" sz="2400" strike="noStrike" u="none">
              <a:solidFill>
                <a:srgbClr val="000000"/>
              </a:solidFill>
              <a:effectLst/>
              <a:uFillTx/>
              <a:latin typeface="Times New Roman"/>
            </a:endParaRPr>
          </a:p>
          <a:p>
            <a:pPr>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ea typeface="Times New Roman"/>
              </a:rPr>
              <a:t> Improved knowledge of moisture/thermal fields provide better data for agricultural forecasting. </a:t>
            </a:r>
            <a:endParaRPr b="0" lang="en-IN" sz="2400" strike="noStrike" u="none">
              <a:solidFill>
                <a:srgbClr val="000000"/>
              </a:solidFill>
              <a:effectLst/>
              <a:uFillTx/>
              <a:latin typeface="Times New Roman"/>
            </a:endParaRPr>
          </a:p>
          <a:p>
            <a:pPr>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ea typeface="Times New Roman"/>
              </a:rPr>
              <a:t> Better general weather announcements affecting public health from improved forecasting and monitoring of surface temperatures in urban and metropolitan areas during heat stress (and sub-zero conditions).</a:t>
            </a:r>
            <a:endParaRPr b="0" lang="en-IN" sz="2400" strike="noStrike" u="none">
              <a:solidFill>
                <a:srgbClr val="000000"/>
              </a:solidFill>
              <a:effectLst/>
              <a:uFillTx/>
              <a:latin typeface="Times New Roman"/>
            </a:endParaRPr>
          </a:p>
          <a:p>
            <a:pPr>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ea typeface="Times New Roman"/>
              </a:rPr>
              <a:t> Better monitoring of the sun and near-Earth space environment </a:t>
            </a:r>
            <a:endParaRPr b="0" lang="en-IN" sz="2400" strike="noStrike" u="none">
              <a:solidFill>
                <a:srgbClr val="000000"/>
              </a:solidFill>
              <a:effectLst/>
              <a:uFillTx/>
              <a:latin typeface="Times New Roman"/>
            </a:endParaRPr>
          </a:p>
          <a:p>
            <a:pPr>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ea typeface="Times New Roman"/>
              </a:rPr>
              <a:t> Auxiliary services data collection (river monitoring, etc).</a:t>
            </a:r>
            <a:endParaRPr b="0" lang="en-IN" sz="2400" strike="noStrike" u="none">
              <a:solidFill>
                <a:srgbClr val="000000"/>
              </a:solidFill>
              <a:effectLst/>
              <a:uFillTx/>
              <a:latin typeface="Times New Roman"/>
            </a:endParaRPr>
          </a:p>
          <a:p>
            <a:pPr>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ea typeface="Times New Roman"/>
              </a:rPr>
              <a:t> Improved data for environmental modeling</a:t>
            </a:r>
            <a:endParaRPr b="0" lang="en-IN" sz="2400" strike="noStrike" u="none">
              <a:solidFill>
                <a:srgbClr val="000000"/>
              </a:solidFill>
              <a:effectLst/>
              <a:uFillTx/>
              <a:latin typeface="Times New Roman"/>
            </a:endParaRPr>
          </a:p>
          <a:p>
            <a:pPr>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ea typeface="Times New Roman"/>
              </a:rPr>
              <a:t> Better hot spot detection and characterization</a:t>
            </a:r>
            <a:endParaRPr b="0" lang="en-IN" sz="2400" strike="noStrike" u="none">
              <a:solidFill>
                <a:srgbClr val="000000"/>
              </a:solidFill>
              <a:effectLst/>
              <a:uFillTx/>
              <a:latin typeface="Times New Roman"/>
            </a:endParaRPr>
          </a:p>
          <a:p>
            <a:pPr>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ea typeface="Times New Roman"/>
              </a:rPr>
              <a:t> Improved data for air quality forecasts</a:t>
            </a:r>
            <a:endParaRPr b="0" lang="en-IN" sz="2400" strike="noStrike" u="none">
              <a:solidFill>
                <a:srgbClr val="000000"/>
              </a:solidFill>
              <a:effectLst/>
              <a:uFillTx/>
              <a:latin typeface="Times New Roman"/>
            </a:endParaRPr>
          </a:p>
          <a:p>
            <a:pPr>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ea typeface="Times New Roman"/>
              </a:rPr>
              <a:t> Better weather forecasts</a:t>
            </a:r>
            <a:endParaRPr b="0" lang="en-IN" sz="2400" strike="noStrike" u="none">
              <a:solidFill>
                <a:srgbClr val="000000"/>
              </a:solidFill>
              <a:effectLst/>
              <a:uFillTx/>
              <a:latin typeface="Times New Roman"/>
            </a:endParaRPr>
          </a:p>
          <a:p>
            <a:pPr>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rPr>
              <a:t> Better fog detection</a:t>
            </a:r>
            <a:endParaRPr b="0" lang="en-IN" sz="2400" strike="noStrike" u="none">
              <a:solidFill>
                <a:srgbClr val="000000"/>
              </a:solidFill>
              <a:effectLst/>
              <a:uFillTx/>
              <a:latin typeface="Times New Roman"/>
            </a:endParaRPr>
          </a:p>
          <a:p>
            <a:pPr>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rPr>
              <a:t> Better thunderstorm monitoring</a:t>
            </a:r>
            <a:endParaRPr b="0" lang="en-IN" sz="2400" strike="noStrike" u="none">
              <a:solidFill>
                <a:srgbClr val="000000"/>
              </a:solidFill>
              <a:effectLst/>
              <a:uFillTx/>
              <a:latin typeface="Times New Roman"/>
            </a:endParaRPr>
          </a:p>
          <a:p>
            <a:pPr>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rPr>
              <a:t> Better cloud, precipitation monitoring</a:t>
            </a:r>
            <a:endParaRPr b="0" lang="en-IN" sz="2400" strike="noStrike" u="none">
              <a:solidFill>
                <a:srgbClr val="000000"/>
              </a:solidFill>
              <a:effectLst/>
              <a:uFillTx/>
              <a:latin typeface="Times New Roman"/>
            </a:endParaRPr>
          </a:p>
          <a:p>
            <a:pPr>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rPr>
              <a:t> Better hurricane monitoring</a:t>
            </a:r>
            <a:endParaRPr b="0" lang="en-IN" sz="2400" strike="noStrike" u="none">
              <a:solidFill>
                <a:srgbClr val="000000"/>
              </a:solidFill>
              <a:effectLst/>
              <a:uFillTx/>
              <a:latin typeface="Times New Roman"/>
            </a:endParaRPr>
          </a:p>
        </p:txBody>
      </p:sp>
      <p:sp>
        <p:nvSpPr>
          <p:cNvPr id="77" name=""/>
          <p:cNvSpPr/>
          <p:nvPr/>
        </p:nvSpPr>
        <p:spPr>
          <a:xfrm>
            <a:off x="9753480" y="21967920"/>
            <a:ext cx="14401800" cy="4583880"/>
          </a:xfrm>
          <a:prstGeom prst="rect">
            <a:avLst/>
          </a:prstGeom>
          <a:noFill/>
          <a:ln w="0">
            <a:noFill/>
          </a:ln>
        </p:spPr>
        <p:style>
          <a:lnRef idx="0"/>
          <a:fillRef idx="0"/>
          <a:effectRef idx="0"/>
          <a:fontRef idx="minor"/>
        </p:style>
        <p:txBody>
          <a:bodyPr lIns="90000" rIns="90000" tIns="46800" bIns="46800" anchor="t">
            <a:spAutoFit/>
          </a:bodyPr>
          <a:p>
            <a:pPr>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GB" sz="2400" strike="noStrike" u="none">
                <a:solidFill>
                  <a:srgbClr val="000000"/>
                </a:solidFill>
                <a:effectLst/>
                <a:uFillTx/>
                <a:latin typeface="Times New Roman"/>
                <a:ea typeface="Arial Unicode MS"/>
              </a:rPr>
              <a:t> Satellite-to-satellite cross-calibration of the full operational satellite system </a:t>
            </a:r>
            <a:endParaRPr b="0" lang="en-IN" sz="2400" strike="noStrike" u="none">
              <a:solidFill>
                <a:srgbClr val="000000"/>
              </a:solidFill>
              <a:effectLst/>
              <a:uFillTx/>
              <a:latin typeface="Times New Roman"/>
            </a:endParaRPr>
          </a:p>
          <a:p>
            <a:pPr>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GB" sz="2400" strike="noStrike" u="none">
                <a:solidFill>
                  <a:srgbClr val="000000"/>
                </a:solidFill>
                <a:effectLst/>
                <a:uFillTx/>
                <a:latin typeface="Times New Roman"/>
                <a:ea typeface="Arial Unicode MS"/>
              </a:rPr>
              <a:t> Hourly high spectral resolution infrared radiances facilitate radiance calibration, calibration-monitoring</a:t>
            </a:r>
            <a:endParaRPr b="0" lang="en-IN" sz="2400" strike="noStrike" u="none">
              <a:solidFill>
                <a:srgbClr val="000000"/>
              </a:solidFill>
              <a:effectLst/>
              <a:uFillTx/>
              <a:latin typeface="Times New Roman"/>
            </a:endParaRPr>
          </a:p>
          <a:p>
            <a:pPr>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GB" sz="2400" strike="noStrike" u="none">
                <a:solidFill>
                  <a:srgbClr val="000000"/>
                </a:solidFill>
                <a:effectLst/>
                <a:uFillTx/>
                <a:latin typeface="Times New Roman"/>
                <a:ea typeface="Arial Unicode MS"/>
              </a:rPr>
              <a:t> Provide measurements that resolve climate-relevant (diurnal, seasonal, and long-term inter-annual) changes in atmosphere, ocean, land and cryosphere.</a:t>
            </a:r>
            <a:endParaRPr b="0" lang="en-IN" sz="2400" strike="noStrike" u="none">
              <a:solidFill>
                <a:srgbClr val="000000"/>
              </a:solidFill>
              <a:effectLst/>
              <a:uFillTx/>
              <a:latin typeface="Times New Roman"/>
            </a:endParaRPr>
          </a:p>
          <a:p>
            <a:pPr>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GB" sz="2400" strike="noStrike" u="none">
                <a:solidFill>
                  <a:srgbClr val="000000"/>
                </a:solidFill>
                <a:effectLst/>
                <a:uFillTx/>
                <a:latin typeface="Times New Roman"/>
                <a:ea typeface="Arial Unicode MS"/>
              </a:rPr>
              <a:t> Solar </a:t>
            </a:r>
            <a:r>
              <a:rPr b="1" lang="en-US" sz="2400" strike="noStrike" u="none">
                <a:solidFill>
                  <a:srgbClr val="000000"/>
                </a:solidFill>
                <a:effectLst/>
                <a:uFillTx/>
                <a:latin typeface="Times New Roman"/>
                <a:ea typeface="Arial Unicode MS"/>
              </a:rPr>
              <a:t>irradiance inputs measured by SIS </a:t>
            </a:r>
            <a:endParaRPr b="0" lang="en-IN" sz="2400" strike="noStrike" u="none">
              <a:solidFill>
                <a:srgbClr val="000000"/>
              </a:solidFill>
              <a:effectLst/>
              <a:uFillTx/>
              <a:latin typeface="Times New Roman"/>
            </a:endParaRPr>
          </a:p>
          <a:p>
            <a:pPr>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000000"/>
                </a:solidFill>
                <a:effectLst/>
                <a:uFillTx/>
                <a:latin typeface="Times New Roman"/>
              </a:rPr>
              <a:t> Diurnal signature for fires in the Western hemisphere</a:t>
            </a:r>
            <a:endParaRPr b="0" lang="en-IN" sz="2400" strike="noStrike" u="none">
              <a:solidFill>
                <a:srgbClr val="000000"/>
              </a:solidFill>
              <a:effectLst/>
              <a:uFillTx/>
              <a:latin typeface="Times New Roman"/>
            </a:endParaRPr>
          </a:p>
          <a:p>
            <a:pPr>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000000"/>
                </a:solidFill>
                <a:effectLst/>
                <a:uFillTx/>
                <a:latin typeface="Times New Roman"/>
              </a:rPr>
              <a:t> Diurnal signature of clouds in the Western hemisphere</a:t>
            </a:r>
            <a:endParaRPr b="0" lang="en-IN" sz="2400" strike="noStrike" u="none">
              <a:solidFill>
                <a:srgbClr val="000000"/>
              </a:solidFill>
              <a:effectLst/>
              <a:uFillTx/>
              <a:latin typeface="Times New Roman"/>
            </a:endParaRPr>
          </a:p>
          <a:p>
            <a:pPr>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000000"/>
                </a:solidFill>
                <a:effectLst/>
                <a:uFillTx/>
                <a:latin typeface="Times New Roman"/>
              </a:rPr>
              <a:t> Diurnal signature for Land/Sea temperatures in clear skies</a:t>
            </a:r>
            <a:endParaRPr b="0" lang="en-IN" sz="2400" strike="noStrike" u="none">
              <a:solidFill>
                <a:srgbClr val="000000"/>
              </a:solidFill>
              <a:effectLst/>
              <a:uFillTx/>
              <a:latin typeface="Times New Roman"/>
            </a:endParaRPr>
          </a:p>
          <a:p>
            <a:pPr>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000000"/>
                </a:solidFill>
                <a:effectLst/>
                <a:uFillTx/>
                <a:latin typeface="Times New Roman"/>
              </a:rPr>
              <a:t> Diurnal signature of lightning (both cloud-to-ground and intra-cloud discharges) over both land and ocean in the western hemisphere</a:t>
            </a:r>
            <a:endParaRPr b="0" lang="en-IN" sz="2400" strike="noStrike" u="none">
              <a:solidFill>
                <a:srgbClr val="000000"/>
              </a:solidFill>
              <a:effectLst/>
              <a:uFillTx/>
              <a:latin typeface="Times New Roman"/>
            </a:endParaRPr>
          </a:p>
          <a:p>
            <a:pPr>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000000"/>
                </a:solidFill>
                <a:effectLst/>
                <a:uFillTx/>
                <a:latin typeface="Times New Roman"/>
              </a:rPr>
              <a:t> Improved measurements of Outgoing Longwave Radiation (OLR), O</a:t>
            </a:r>
            <a:r>
              <a:rPr b="1" lang="en-US" sz="2400" strike="noStrike" u="none" baseline="-25000">
                <a:solidFill>
                  <a:srgbClr val="000000"/>
                </a:solidFill>
                <a:effectLst/>
                <a:uFillTx/>
                <a:latin typeface="Times New Roman"/>
              </a:rPr>
              <a:t>3</a:t>
            </a:r>
            <a:r>
              <a:rPr b="1" lang="en-US" sz="2400" strike="noStrike" u="none">
                <a:solidFill>
                  <a:srgbClr val="000000"/>
                </a:solidFill>
                <a:effectLst/>
                <a:uFillTx/>
                <a:latin typeface="Times New Roman"/>
              </a:rPr>
              <a:t> and SO</a:t>
            </a:r>
            <a:r>
              <a:rPr b="1" lang="en-US" sz="2400" strike="noStrike" u="none" baseline="-25000">
                <a:solidFill>
                  <a:srgbClr val="000000"/>
                </a:solidFill>
                <a:effectLst/>
                <a:uFillTx/>
                <a:latin typeface="Times New Roman"/>
              </a:rPr>
              <a:t>2</a:t>
            </a:r>
            <a:endParaRPr b="0" lang="en-IN" sz="2400" strike="noStrike" u="none">
              <a:solidFill>
                <a:srgbClr val="000000"/>
              </a:solidFill>
              <a:effectLst/>
              <a:uFillTx/>
              <a:latin typeface="Times New Roman"/>
            </a:endParaRPr>
          </a:p>
          <a:p>
            <a:pPr>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baseline="-25000">
                <a:solidFill>
                  <a:srgbClr val="000000"/>
                </a:solidFill>
                <a:effectLst/>
                <a:uFillTx/>
                <a:latin typeface="Times New Roman"/>
              </a:rPr>
              <a:t> </a:t>
            </a:r>
            <a:r>
              <a:rPr b="1" lang="en-US" sz="2400" strike="noStrike" u="none">
                <a:solidFill>
                  <a:srgbClr val="000000"/>
                </a:solidFill>
                <a:effectLst/>
                <a:uFillTx/>
                <a:latin typeface="Times New Roman"/>
              </a:rPr>
              <a:t>Continuing the geostationary radiance database</a:t>
            </a:r>
            <a:endParaRPr b="0" lang="en-IN" sz="2400" strike="noStrike" u="none">
              <a:solidFill>
                <a:srgbClr val="000000"/>
              </a:solidFill>
              <a:effectLst/>
              <a:uFillTx/>
              <a:latin typeface="Times New Roman"/>
            </a:endParaRPr>
          </a:p>
        </p:txBody>
      </p:sp>
      <p:sp>
        <p:nvSpPr>
          <p:cNvPr id="78" name=""/>
          <p:cNvSpPr/>
          <p:nvPr/>
        </p:nvSpPr>
        <p:spPr>
          <a:xfrm>
            <a:off x="7642080" y="10134720"/>
            <a:ext cx="16360920" cy="4117320"/>
          </a:xfrm>
          <a:prstGeom prst="rect">
            <a:avLst/>
          </a:prstGeom>
          <a:noFill/>
          <a:ln w="0">
            <a:noFill/>
          </a:ln>
        </p:spPr>
        <p:style>
          <a:lnRef idx="0"/>
          <a:fillRef idx="0"/>
          <a:effectRef idx="0"/>
          <a:fontRef idx="minor"/>
        </p:style>
        <p:txBody>
          <a:bodyPr lIns="90000" rIns="90000" tIns="46800" bIns="46800" anchor="t">
            <a:spAutoFit/>
          </a:bodyPr>
          <a:p>
            <a:pPr>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ea typeface="Times New Roman"/>
              </a:rPr>
              <a:t> Huge increase in measurements beneficial to ecosystem management and coastal &amp; ocean resource utilization. </a:t>
            </a:r>
            <a:endParaRPr b="0" lang="en-IN" sz="2400" strike="noStrike" u="none">
              <a:solidFill>
                <a:srgbClr val="000000"/>
              </a:solidFill>
              <a:effectLst/>
              <a:uFillTx/>
              <a:latin typeface="Times New Roman"/>
            </a:endParaRPr>
          </a:p>
          <a:p>
            <a:pPr>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ea typeface="Times New Roman"/>
              </a:rPr>
              <a:t> First time ever, characterization of diurnal ocean color as a function of tidal conditions and observation of phytoplankton blooms (e.g. red tides) as they occur. </a:t>
            </a:r>
            <a:endParaRPr b="0" lang="en-IN" sz="2400" strike="noStrike" u="none">
              <a:solidFill>
                <a:srgbClr val="000000"/>
              </a:solidFill>
              <a:effectLst/>
              <a:uFillTx/>
              <a:latin typeface="Times New Roman"/>
            </a:endParaRPr>
          </a:p>
          <a:p>
            <a:pPr>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ea typeface="Arial Unicode MS"/>
              </a:rPr>
              <a:t> Improved coastal environment monitoring of a) response of marine ecosystems to short-term physical events, such as passage of storms and tidal mixing; b) biotic and abiotic material in transient surface features, such as river plumes and tidal fronts; and c) location of hazardous materials, such as some oil spills, and noxious algal blooms</a:t>
            </a:r>
            <a:endParaRPr b="0" lang="en-IN" sz="2400" strike="noStrike" u="none">
              <a:solidFill>
                <a:srgbClr val="000000"/>
              </a:solidFill>
              <a:effectLst/>
              <a:uFillTx/>
              <a:latin typeface="Times New Roman"/>
            </a:endParaRPr>
          </a:p>
          <a:p>
            <a:pPr>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ea typeface="Arial Unicode MS"/>
              </a:rPr>
              <a:t> </a:t>
            </a:r>
            <a:r>
              <a:rPr b="1" lang="en-IN" sz="2400" strike="noStrike" u="none">
                <a:solidFill>
                  <a:srgbClr val="000000"/>
                </a:solidFill>
                <a:effectLst/>
                <a:uFillTx/>
                <a:latin typeface="Times New Roman"/>
                <a:ea typeface="Times New Roman"/>
              </a:rPr>
              <a:t>Monitoring of chlorophyll, turbidity and sediment transport</a:t>
            </a:r>
            <a:endParaRPr b="0" lang="en-IN" sz="2400" strike="noStrike" u="none">
              <a:solidFill>
                <a:srgbClr val="000000"/>
              </a:solidFill>
              <a:effectLst/>
              <a:uFillTx/>
              <a:latin typeface="Times New Roman"/>
            </a:endParaRPr>
          </a:p>
          <a:p>
            <a:pPr>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ea typeface="Times New Roman"/>
              </a:rPr>
              <a:t> Auxiliary services used for Reservoir Management, water quality, etc.</a:t>
            </a:r>
            <a:endParaRPr b="0" lang="en-IN" sz="2400" strike="noStrike" u="none">
              <a:solidFill>
                <a:srgbClr val="000000"/>
              </a:solidFill>
              <a:effectLst/>
              <a:uFillTx/>
              <a:latin typeface="Times New Roman"/>
            </a:endParaRPr>
          </a:p>
          <a:p>
            <a:pPr>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ea typeface="Arial Unicode MS"/>
              </a:rPr>
              <a:t> Monitoring of sea surface temperature near corals in the Western hemisphere </a:t>
            </a:r>
            <a:endParaRPr b="0" lang="en-IN" sz="2400" strike="noStrike" u="none">
              <a:solidFill>
                <a:srgbClr val="000000"/>
              </a:solidFill>
              <a:effectLst/>
              <a:uFillTx/>
              <a:latin typeface="Times New Roman"/>
            </a:endParaRPr>
          </a:p>
          <a:p>
            <a:pPr>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ea typeface="Arial Unicode MS"/>
              </a:rPr>
              <a:t> Monitoring of the surface vegetation, burn scars</a:t>
            </a:r>
            <a:endParaRPr b="0" lang="en-IN" sz="2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imes New Roman"/>
            </a:endParaRPr>
          </a:p>
        </p:txBody>
      </p:sp>
      <p:sp>
        <p:nvSpPr>
          <p:cNvPr id="79" name=""/>
          <p:cNvSpPr/>
          <p:nvPr/>
        </p:nvSpPr>
        <p:spPr>
          <a:xfrm>
            <a:off x="24079320" y="21390120"/>
            <a:ext cx="19942200" cy="5214600"/>
          </a:xfrm>
          <a:prstGeom prst="rect">
            <a:avLst/>
          </a:prstGeom>
          <a:noFill/>
          <a:ln w="0">
            <a:noFill/>
          </a:ln>
        </p:spPr>
        <p:style>
          <a:lnRef idx="0"/>
          <a:fillRef idx="0"/>
          <a:effectRef idx="0"/>
          <a:fontRef idx="minor"/>
        </p:style>
        <p:txBody>
          <a:bodyPr lIns="90000" rIns="90000" tIns="46800" bIns="46800" anchor="t">
            <a:spAutoFit/>
          </a:bodyPr>
          <a:p>
            <a:pPr>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000000"/>
                </a:solidFill>
                <a:effectLst/>
                <a:uFillTx/>
                <a:latin typeface="Times New Roman"/>
                <a:ea typeface="Arial Unicode MS"/>
              </a:rPr>
              <a:t> </a:t>
            </a:r>
            <a:r>
              <a:rPr b="1" lang="en-US" sz="2400" strike="noStrike" u="none">
                <a:solidFill>
                  <a:srgbClr val="000000"/>
                </a:solidFill>
                <a:effectLst/>
                <a:uFillTx/>
                <a:latin typeface="Times New Roman"/>
              </a:rPr>
              <a:t>Better information regarding conditions leading to fog, icing, head or tail winds, and development of severe weather including microbursts en route makes air traffic more economical and safer.  </a:t>
            </a:r>
            <a:endParaRPr b="0" lang="en-IN" sz="2400" strike="noStrike" u="none">
              <a:solidFill>
                <a:srgbClr val="000000"/>
              </a:solidFill>
              <a:effectLst/>
              <a:uFillTx/>
              <a:latin typeface="Times New Roman"/>
            </a:endParaRPr>
          </a:p>
          <a:p>
            <a:pPr>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000000"/>
                </a:solidFill>
                <a:effectLst/>
                <a:uFillTx/>
                <a:latin typeface="Times New Roman"/>
              </a:rPr>
              <a:t> Better depiction of ocean currents, low level winds and calm areas, major storms, and hurricanes (locations, intensities, and motions) benefits ocean transportation.  Information regarding storms, fog, flooding, snowfall, blowing snow, and blowing sand assists surface transportation.</a:t>
            </a:r>
            <a:endParaRPr b="0" lang="en-IN" sz="2400" strike="noStrike" u="none">
              <a:solidFill>
                <a:srgbClr val="000000"/>
              </a:solidFill>
              <a:effectLst/>
              <a:uFillTx/>
              <a:latin typeface="Times New Roman"/>
            </a:endParaRPr>
          </a:p>
          <a:p>
            <a:pPr>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000000"/>
                </a:solidFill>
                <a:effectLst/>
                <a:uFillTx/>
                <a:latin typeface="Times New Roman"/>
              </a:rPr>
              <a:t> Power consumption can be regulated more effectively with real-time assessment of regional and local insolation and temperatures.</a:t>
            </a:r>
            <a:endParaRPr b="0" lang="en-IN" sz="2400" strike="noStrike" u="none">
              <a:solidFill>
                <a:srgbClr val="000000"/>
              </a:solidFill>
              <a:effectLst/>
              <a:uFillTx/>
              <a:latin typeface="Times New Roman"/>
            </a:endParaRPr>
          </a:p>
          <a:p>
            <a:pPr>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000000"/>
                </a:solidFill>
                <a:effectLst/>
                <a:uFillTx/>
                <a:latin typeface="Times New Roman"/>
              </a:rPr>
              <a:t> Geostationary Lightning Mapper for nowcasts and aviation forecasts</a:t>
            </a:r>
            <a:endParaRPr b="0" lang="en-IN" sz="2400" strike="noStrike" u="none">
              <a:solidFill>
                <a:srgbClr val="000000"/>
              </a:solidFill>
              <a:effectLst/>
              <a:uFillTx/>
              <a:latin typeface="Times New Roman"/>
            </a:endParaRPr>
          </a:p>
          <a:p>
            <a:pPr>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000000"/>
                </a:solidFill>
                <a:effectLst/>
                <a:uFillTx/>
                <a:latin typeface="Times New Roman"/>
              </a:rPr>
              <a:t> Monitoring SST eddies in the Gulf of Mexico can be useful for oil and gas operations.</a:t>
            </a:r>
            <a:endParaRPr b="0" lang="en-IN" sz="2400" strike="noStrike" u="none">
              <a:solidFill>
                <a:srgbClr val="000000"/>
              </a:solidFill>
              <a:effectLst/>
              <a:uFillTx/>
              <a:latin typeface="Times New Roman"/>
            </a:endParaRPr>
          </a:p>
          <a:p>
            <a:pPr>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000000"/>
                </a:solidFill>
                <a:effectLst/>
                <a:uFillTx/>
                <a:latin typeface="Times New Roman"/>
              </a:rPr>
              <a:t> Better monitoring of solar disturbances that can interfere with GPS use, interrupt communications, and cause disruptions of electric power grids. </a:t>
            </a:r>
            <a:endParaRPr b="0" lang="en-IN" sz="2400" strike="noStrike" u="none">
              <a:solidFill>
                <a:srgbClr val="000000"/>
              </a:solidFill>
              <a:effectLst/>
              <a:uFillTx/>
              <a:latin typeface="Times New Roman"/>
            </a:endParaRPr>
          </a:p>
          <a:p>
            <a:pPr>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000000"/>
                </a:solidFill>
                <a:effectLst/>
                <a:uFillTx/>
                <a:latin typeface="Times New Roman"/>
              </a:rPr>
              <a:t> Solar/energetic particle observations leading to improved forecasts and specification of radiation and communication impacts for aviation interests</a:t>
            </a:r>
            <a:endParaRPr b="0" lang="en-IN" sz="2400" strike="noStrike" u="none">
              <a:solidFill>
                <a:srgbClr val="000000"/>
              </a:solidFill>
              <a:effectLst/>
              <a:uFillTx/>
              <a:latin typeface="Times New Roman"/>
            </a:endParaRPr>
          </a:p>
          <a:p>
            <a:pPr>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000000"/>
                </a:solidFill>
                <a:effectLst/>
                <a:uFillTx/>
                <a:latin typeface="Times New Roman"/>
                <a:ea typeface="Times New Roman"/>
              </a:rPr>
              <a:t> Auxiliary services used for search and rescue activities</a:t>
            </a:r>
            <a:endParaRPr b="0" lang="en-IN" sz="2400" strike="noStrike" u="none">
              <a:solidFill>
                <a:srgbClr val="000000"/>
              </a:solidFill>
              <a:effectLst/>
              <a:uFillTx/>
              <a:latin typeface="Times New Roman"/>
            </a:endParaRPr>
          </a:p>
          <a:p>
            <a:pPr>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000000"/>
                </a:solidFill>
                <a:effectLst/>
                <a:uFillTx/>
                <a:latin typeface="Times New Roman"/>
              </a:rPr>
              <a:t> As of a May 2000 report, 138 insured satellites in geosynchronous orbit valued at $20.1 B. “Space weather suggested as cause or contributor to over $500 M in insurance claims in past 4 years.“ U.S. Aviation Underwriters, Inc</a:t>
            </a:r>
            <a:endParaRPr b="0" lang="en-IN" sz="2400" strike="noStrike" u="none">
              <a:solidFill>
                <a:srgbClr val="000000"/>
              </a:solidFill>
              <a:effectLst/>
              <a:uFillTx/>
              <a:latin typeface="Times New Roman"/>
            </a:endParaRPr>
          </a:p>
          <a:p>
            <a:pPr>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000000"/>
                </a:solidFill>
                <a:effectLst/>
                <a:uFillTx/>
                <a:latin typeface="Times New Roman"/>
              </a:rPr>
              <a:t> A Cost Benefit Analysis (CBA) from eight cases combined for an annual marginal economic benefits from ABI and HES of  approximately $638 M annually (2002 dollars) and a discounted (present value) sum-of-direct benefits of approximately $3.1B across a 13-year effective benefit lifecycle. </a:t>
            </a:r>
            <a:endParaRPr b="0" lang="en-IN" sz="2400" strike="noStrike" u="none">
              <a:solidFill>
                <a:srgbClr val="000000"/>
              </a:solidFill>
              <a:effectLst/>
              <a:uFillTx/>
              <a:latin typeface="Times New Roman"/>
            </a:endParaRPr>
          </a:p>
        </p:txBody>
      </p:sp>
      <p:grpSp>
        <p:nvGrpSpPr>
          <p:cNvPr id="80" name=""/>
          <p:cNvGrpSpPr/>
          <p:nvPr/>
        </p:nvGrpSpPr>
        <p:grpSpPr>
          <a:xfrm>
            <a:off x="15986160" y="16840080"/>
            <a:ext cx="3673440" cy="3353040"/>
            <a:chOff x="15986160" y="16840080"/>
            <a:chExt cx="3673440" cy="3353040"/>
          </a:xfrm>
        </p:grpSpPr>
        <p:pic>
          <p:nvPicPr>
            <p:cNvPr id="81" name="" descr=""/>
            <p:cNvPicPr/>
            <p:nvPr/>
          </p:nvPicPr>
          <p:blipFill>
            <a:blip r:embed="rId18"/>
            <a:srcRect l="0" t="8000" r="0" b="20000"/>
            <a:stretch/>
          </p:blipFill>
          <p:spPr>
            <a:xfrm>
              <a:off x="15986160" y="16840080"/>
              <a:ext cx="3673440" cy="3353040"/>
            </a:xfrm>
            <a:prstGeom prst="rect">
              <a:avLst/>
            </a:prstGeom>
            <a:noFill/>
            <a:ln w="0">
              <a:noFill/>
            </a:ln>
          </p:spPr>
        </p:pic>
        <p:sp>
          <p:nvSpPr>
            <p:cNvPr id="82" name=""/>
            <p:cNvSpPr/>
            <p:nvPr/>
          </p:nvSpPr>
          <p:spPr>
            <a:xfrm>
              <a:off x="16606440" y="17305200"/>
              <a:ext cx="1814040" cy="825480"/>
            </a:xfrm>
            <a:prstGeom prst="rect">
              <a:avLst/>
            </a:prstGeom>
            <a:solidFill>
              <a:srgbClr val="ffffff"/>
            </a:solid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Hydrology/</a:t>
              </a:r>
              <a:endParaRPr b="0" lang="en-IN" sz="2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Land Surface</a:t>
              </a:r>
              <a:endParaRPr b="0" lang="en-IN" sz="2400" strike="noStrike" u="none">
                <a:solidFill>
                  <a:srgbClr val="000000"/>
                </a:solidFill>
                <a:effectLst/>
                <a:uFillTx/>
                <a:latin typeface="Times New Roman"/>
              </a:endParaRPr>
            </a:p>
          </p:txBody>
        </p:sp>
      </p:grpSp>
      <p:grpSp>
        <p:nvGrpSpPr>
          <p:cNvPr id="83" name=""/>
          <p:cNvGrpSpPr/>
          <p:nvPr/>
        </p:nvGrpSpPr>
        <p:grpSpPr>
          <a:xfrm>
            <a:off x="33066000" y="27051120"/>
            <a:ext cx="2718000" cy="3123720"/>
            <a:chOff x="33066000" y="27051120"/>
            <a:chExt cx="2718000" cy="3123720"/>
          </a:xfrm>
        </p:grpSpPr>
        <p:pic>
          <p:nvPicPr>
            <p:cNvPr id="84" name="" descr=""/>
            <p:cNvPicPr/>
            <p:nvPr/>
          </p:nvPicPr>
          <p:blipFill>
            <a:blip r:embed="rId19"/>
            <a:srcRect l="20002" t="0" r="0" b="0"/>
            <a:stretch/>
          </p:blipFill>
          <p:spPr>
            <a:xfrm>
              <a:off x="33066000" y="27051120"/>
              <a:ext cx="2718000" cy="3123720"/>
            </a:xfrm>
            <a:prstGeom prst="rect">
              <a:avLst/>
            </a:prstGeom>
            <a:noFill/>
            <a:ln w="0">
              <a:noFill/>
            </a:ln>
          </p:spPr>
        </p:pic>
        <p:sp>
          <p:nvSpPr>
            <p:cNvPr id="85" name=""/>
            <p:cNvSpPr/>
            <p:nvPr/>
          </p:nvSpPr>
          <p:spPr>
            <a:xfrm>
              <a:off x="33175440" y="29588400"/>
              <a:ext cx="2169360" cy="459720"/>
            </a:xfrm>
            <a:prstGeom prst="rect">
              <a:avLst/>
            </a:prstGeom>
            <a:solidFill>
              <a:srgbClr val="ffffff"/>
            </a:solid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Natural Hazards</a:t>
              </a:r>
              <a:endParaRPr b="0" lang="en-IN" sz="2400" strike="noStrike" u="none">
                <a:solidFill>
                  <a:srgbClr val="000000"/>
                </a:solidFill>
                <a:effectLst/>
                <a:uFillTx/>
                <a:latin typeface="Times New Roman"/>
              </a:endParaRPr>
            </a:p>
          </p:txBody>
        </p:sp>
      </p:grpSp>
      <p:pic>
        <p:nvPicPr>
          <p:cNvPr id="86" name="" descr=""/>
          <p:cNvPicPr/>
          <p:nvPr/>
        </p:nvPicPr>
        <p:blipFill>
          <a:blip r:embed="rId20"/>
          <a:srcRect l="0" t="0" r="0" b="4762"/>
          <a:stretch/>
        </p:blipFill>
        <p:spPr>
          <a:xfrm>
            <a:off x="8229600" y="26746200"/>
            <a:ext cx="7054920" cy="3809880"/>
          </a:xfrm>
          <a:prstGeom prst="rect">
            <a:avLst/>
          </a:prstGeom>
          <a:noFill/>
          <a:ln w="0">
            <a:noFill/>
          </a:ln>
        </p:spPr>
      </p:pic>
      <p:sp>
        <p:nvSpPr>
          <p:cNvPr id="87" name=""/>
          <p:cNvSpPr/>
          <p:nvPr/>
        </p:nvSpPr>
        <p:spPr>
          <a:xfrm rot="16132800">
            <a:off x="14331600" y="28761840"/>
            <a:ext cx="2590560" cy="24660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trike="noStrike" u="none">
                <a:solidFill>
                  <a:srgbClr val="000000"/>
                </a:solidFill>
                <a:effectLst/>
                <a:uFillTx/>
                <a:latin typeface="Times New Roman"/>
              </a:rPr>
              <a:t>http://www.ssec.wisc.edu/data/composites.html</a:t>
            </a:r>
            <a:endParaRPr b="0" lang="en-IN" sz="1000" strike="noStrike" u="none">
              <a:solidFill>
                <a:srgbClr val="000000"/>
              </a:solidFill>
              <a:effectLst/>
              <a:uFillTx/>
              <a:latin typeface="Times New Roman"/>
            </a:endParaRPr>
          </a:p>
        </p:txBody>
      </p:sp>
      <p:grpSp>
        <p:nvGrpSpPr>
          <p:cNvPr id="88" name=""/>
          <p:cNvGrpSpPr/>
          <p:nvPr/>
        </p:nvGrpSpPr>
        <p:grpSpPr>
          <a:xfrm>
            <a:off x="18147960" y="12877920"/>
            <a:ext cx="3721320" cy="3840480"/>
            <a:chOff x="18147960" y="12877920"/>
            <a:chExt cx="3721320" cy="3840480"/>
          </a:xfrm>
        </p:grpSpPr>
        <p:pic>
          <p:nvPicPr>
            <p:cNvPr id="89" name="abi_gbh_plot" descr=""/>
            <p:cNvPicPr/>
            <p:nvPr/>
          </p:nvPicPr>
          <p:blipFill>
            <a:blip r:embed="rId21"/>
            <a:stretch/>
          </p:blipFill>
          <p:spPr>
            <a:xfrm>
              <a:off x="18268920" y="12877920"/>
              <a:ext cx="3600360" cy="3282840"/>
            </a:xfrm>
            <a:prstGeom prst="rect">
              <a:avLst/>
            </a:prstGeom>
            <a:noFill/>
            <a:ln w="0">
              <a:noFill/>
            </a:ln>
          </p:spPr>
        </p:pic>
        <p:sp>
          <p:nvSpPr>
            <p:cNvPr id="90" name=""/>
            <p:cNvSpPr/>
            <p:nvPr/>
          </p:nvSpPr>
          <p:spPr>
            <a:xfrm rot="18839400">
              <a:off x="18178200" y="16167600"/>
              <a:ext cx="596880" cy="3376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3333cc"/>
                  </a:solidFill>
                  <a:effectLst/>
                  <a:uFillTx/>
                  <a:latin typeface="Times New Roman"/>
                </a:rPr>
                <a:t>Haze</a:t>
              </a:r>
              <a:endParaRPr b="0" lang="en-IN" sz="1600" strike="noStrike" u="none">
                <a:solidFill>
                  <a:srgbClr val="000000"/>
                </a:solidFill>
                <a:effectLst/>
                <a:uFillTx/>
                <a:latin typeface="Times New Roman"/>
              </a:endParaRPr>
            </a:p>
          </p:txBody>
        </p:sp>
        <p:sp>
          <p:nvSpPr>
            <p:cNvPr id="91" name=""/>
            <p:cNvSpPr/>
            <p:nvPr/>
          </p:nvSpPr>
          <p:spPr>
            <a:xfrm rot="18856800">
              <a:off x="18373320" y="16161120"/>
              <a:ext cx="755280" cy="3376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ff3300"/>
                  </a:solidFill>
                  <a:effectLst/>
                  <a:uFillTx/>
                  <a:latin typeface="Times New Roman"/>
                </a:rPr>
                <a:t>Clouds</a:t>
              </a:r>
              <a:endParaRPr b="0" lang="en-IN" sz="1600" strike="noStrike" u="none">
                <a:solidFill>
                  <a:srgbClr val="000000"/>
                </a:solidFill>
                <a:effectLst/>
                <a:uFillTx/>
                <a:latin typeface="Times New Roman"/>
              </a:endParaRPr>
            </a:p>
          </p:txBody>
        </p:sp>
        <p:sp>
          <p:nvSpPr>
            <p:cNvPr id="92" name=""/>
            <p:cNvSpPr/>
            <p:nvPr/>
          </p:nvSpPr>
          <p:spPr>
            <a:xfrm rot="18439800">
              <a:off x="18778320" y="16142760"/>
              <a:ext cx="569160" cy="3376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ff00"/>
                  </a:solidFill>
                  <a:effectLst/>
                  <a:uFillTx/>
                  <a:latin typeface="Times New Roman"/>
                </a:rPr>
                <a:t>Veg.</a:t>
              </a:r>
              <a:endParaRPr b="0" lang="en-IN" sz="1600" strike="noStrike" u="none">
                <a:solidFill>
                  <a:srgbClr val="000000"/>
                </a:solidFill>
                <a:effectLst/>
                <a:uFillTx/>
                <a:latin typeface="Times New Roman"/>
              </a:endParaRPr>
            </a:p>
          </p:txBody>
        </p:sp>
        <p:sp>
          <p:nvSpPr>
            <p:cNvPr id="93" name=""/>
            <p:cNvSpPr/>
            <p:nvPr/>
          </p:nvSpPr>
          <p:spPr>
            <a:xfrm rot="18582000">
              <a:off x="19823400" y="13975200"/>
              <a:ext cx="687600" cy="3376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Times New Roman"/>
                </a:rPr>
                <a:t>Cirrus</a:t>
              </a:r>
              <a:endParaRPr b="0" lang="en-IN" sz="1600" strike="noStrike" u="none">
                <a:solidFill>
                  <a:srgbClr val="000000"/>
                </a:solidFill>
                <a:effectLst/>
                <a:uFillTx/>
                <a:latin typeface="Times New Roman"/>
              </a:endParaRPr>
            </a:p>
          </p:txBody>
        </p:sp>
        <p:sp>
          <p:nvSpPr>
            <p:cNvPr id="94" name=""/>
            <p:cNvSpPr/>
            <p:nvPr/>
          </p:nvSpPr>
          <p:spPr>
            <a:xfrm rot="18381000">
              <a:off x="20942640" y="13989240"/>
              <a:ext cx="923760" cy="3376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Times New Roman"/>
                </a:rPr>
                <a:t>Part. size</a:t>
              </a:r>
              <a:endParaRPr b="0" lang="en-IN" sz="1600" strike="noStrike" u="none">
                <a:solidFill>
                  <a:srgbClr val="000000"/>
                </a:solidFill>
                <a:effectLst/>
                <a:uFillTx/>
                <a:latin typeface="Times New Roman"/>
              </a:endParaRPr>
            </a:p>
          </p:txBody>
        </p:sp>
        <p:sp>
          <p:nvSpPr>
            <p:cNvPr id="95" name=""/>
            <p:cNvSpPr/>
            <p:nvPr/>
          </p:nvSpPr>
          <p:spPr>
            <a:xfrm rot="18582000">
              <a:off x="20031480" y="13779360"/>
              <a:ext cx="1216800" cy="3376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Times New Roman"/>
                </a:rPr>
                <a:t>Snow, Phase</a:t>
              </a:r>
              <a:endParaRPr b="0" lang="en-IN" sz="1600" strike="noStrike" u="none">
                <a:solidFill>
                  <a:srgbClr val="000000"/>
                </a:solidFill>
                <a:effectLst/>
                <a:uFillTx/>
                <a:latin typeface="Times New Roman"/>
              </a:endParaRPr>
            </a:p>
          </p:txBody>
        </p:sp>
        <p:sp>
          <p:nvSpPr>
            <p:cNvPr id="96" name=""/>
            <p:cNvSpPr/>
            <p:nvPr/>
          </p:nvSpPr>
          <p:spPr>
            <a:xfrm>
              <a:off x="18576360" y="13098600"/>
              <a:ext cx="159624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1800" strike="noStrike" u="none">
                  <a:solidFill>
                    <a:srgbClr val="000000"/>
                  </a:solidFill>
                  <a:effectLst/>
                  <a:uFillTx/>
                  <a:latin typeface="Times New Roman"/>
                </a:rPr>
                <a:t>AVIRIS spectra</a:t>
              </a:r>
              <a:endParaRPr b="0" lang="en-IN" sz="1800" strike="noStrike" u="none">
                <a:solidFill>
                  <a:srgbClr val="000000"/>
                </a:solidFill>
                <a:effectLst/>
                <a:uFillTx/>
                <a:latin typeface="Times New Roman"/>
              </a:endParaRPr>
            </a:p>
          </p:txBody>
        </p:sp>
      </p:grpSp>
      <p:grpSp>
        <p:nvGrpSpPr>
          <p:cNvPr id="97" name=""/>
          <p:cNvGrpSpPr/>
          <p:nvPr/>
        </p:nvGrpSpPr>
        <p:grpSpPr>
          <a:xfrm>
            <a:off x="42734520" y="17373600"/>
            <a:ext cx="5978520" cy="3429000"/>
            <a:chOff x="42734520" y="17373600"/>
            <a:chExt cx="5978520" cy="3429000"/>
          </a:xfrm>
        </p:grpSpPr>
        <p:sp>
          <p:nvSpPr>
            <p:cNvPr id="98" name=""/>
            <p:cNvSpPr/>
            <p:nvPr/>
          </p:nvSpPr>
          <p:spPr>
            <a:xfrm>
              <a:off x="43351920" y="18059400"/>
              <a:ext cx="2017800" cy="45972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Simulated ABI</a:t>
              </a:r>
              <a:endParaRPr b="0" lang="en-IN" sz="2400" strike="noStrike" u="none">
                <a:solidFill>
                  <a:srgbClr val="000000"/>
                </a:solidFill>
                <a:effectLst/>
                <a:uFillTx/>
                <a:latin typeface="Times New Roman"/>
              </a:endParaRPr>
            </a:p>
          </p:txBody>
        </p:sp>
        <p:sp>
          <p:nvSpPr>
            <p:cNvPr id="99" name=""/>
            <p:cNvSpPr/>
            <p:nvPr/>
          </p:nvSpPr>
          <p:spPr>
            <a:xfrm>
              <a:off x="42734520" y="17373600"/>
              <a:ext cx="5978520" cy="825480"/>
            </a:xfrm>
            <a:prstGeom prst="rect">
              <a:avLst/>
            </a:prstGeom>
            <a:noFill/>
            <a:ln w="0">
              <a:noFill/>
            </a:ln>
          </p:spPr>
          <p:style>
            <a:lnRef idx="0"/>
            <a:fillRef idx="0"/>
            <a:effectRef idx="0"/>
            <a:fontRef idx="minor"/>
          </p:style>
          <p:txBody>
            <a:bodyPr wrap="none"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3333cc"/>
                  </a:solidFill>
                  <a:effectLst/>
                  <a:uFillTx/>
                  <a:latin typeface="Times New Roman"/>
                </a:rPr>
                <a:t>Mountain Waves in WV channel (6.7 µm)</a:t>
              </a:r>
              <a:r>
                <a:rPr b="1" lang="en-IN" sz="2400" strike="noStrike" u="none">
                  <a:solidFill>
                    <a:srgbClr val="000000"/>
                  </a:solidFill>
                  <a:effectLst/>
                  <a:uFillTx/>
                  <a:latin typeface="Times New Roman"/>
                </a:rPr>
                <a:t>     </a:t>
              </a:r>
              <a:endParaRPr b="0" lang="en-IN" sz="2400" strike="noStrike" u="none">
                <a:solidFill>
                  <a:srgbClr val="000000"/>
                </a:solidFill>
                <a:effectLst/>
                <a:uFillTx/>
                <a:latin typeface="Times New Roman"/>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rPr>
                <a:t>7 April 2000, 1815 UTC</a:t>
              </a:r>
              <a:r>
                <a:rPr b="0" lang="en-IN" sz="2400" strike="noStrike" u="none">
                  <a:solidFill>
                    <a:srgbClr val="000000"/>
                  </a:solidFill>
                  <a:effectLst/>
                  <a:uFillTx/>
                  <a:latin typeface="Times New Roman"/>
                </a:rPr>
                <a:t> </a:t>
              </a:r>
              <a:endParaRPr b="0" lang="en-IN" sz="2400" strike="noStrike" u="none">
                <a:solidFill>
                  <a:srgbClr val="000000"/>
                </a:solidFill>
                <a:effectLst/>
                <a:uFillTx/>
                <a:latin typeface="Times New Roman"/>
              </a:endParaRPr>
            </a:p>
          </p:txBody>
        </p:sp>
        <p:sp>
          <p:nvSpPr>
            <p:cNvPr id="100" name=""/>
            <p:cNvSpPr/>
            <p:nvPr/>
          </p:nvSpPr>
          <p:spPr>
            <a:xfrm>
              <a:off x="46031400" y="18059400"/>
              <a:ext cx="2119320" cy="45972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Actual GOES-8</a:t>
              </a:r>
              <a:endParaRPr b="0" lang="en-IN" sz="2400" strike="noStrike" u="none">
                <a:solidFill>
                  <a:srgbClr val="000000"/>
                </a:solidFill>
                <a:effectLst/>
                <a:uFillTx/>
                <a:latin typeface="Times New Roman"/>
              </a:endParaRPr>
            </a:p>
          </p:txBody>
        </p:sp>
        <p:pic>
          <p:nvPicPr>
            <p:cNvPr id="101" name="" descr=""/>
            <p:cNvPicPr/>
            <p:nvPr/>
          </p:nvPicPr>
          <p:blipFill>
            <a:blip r:embed="rId22"/>
            <a:stretch/>
          </p:blipFill>
          <p:spPr>
            <a:xfrm>
              <a:off x="43101000" y="18448200"/>
              <a:ext cx="2553120" cy="2354400"/>
            </a:xfrm>
            <a:prstGeom prst="rect">
              <a:avLst/>
            </a:prstGeom>
            <a:noFill/>
            <a:ln w="0">
              <a:noFill/>
            </a:ln>
          </p:spPr>
        </p:pic>
        <p:pic>
          <p:nvPicPr>
            <p:cNvPr id="102" name="" descr=""/>
            <p:cNvPicPr/>
            <p:nvPr/>
          </p:nvPicPr>
          <p:blipFill>
            <a:blip r:embed="rId23"/>
            <a:stretch/>
          </p:blipFill>
          <p:spPr>
            <a:xfrm>
              <a:off x="45750600" y="18448200"/>
              <a:ext cx="2553120" cy="2354400"/>
            </a:xfrm>
            <a:prstGeom prst="rect">
              <a:avLst/>
            </a:prstGeom>
            <a:noFill/>
            <a:ln w="0">
              <a:noFill/>
            </a:ln>
          </p:spPr>
        </p:pic>
      </p:grpSp>
      <p:graphicFrame>
        <p:nvGraphicFramePr>
          <p:cNvPr id="103" name=""/>
          <p:cNvGraphicFramePr/>
          <p:nvPr/>
        </p:nvGraphicFramePr>
        <p:xfrm>
          <a:off x="6464160" y="18284760"/>
          <a:ext cx="4270680" cy="3203640"/>
        </p:xfrm>
        <a:graphic>
          <a:graphicData uri="http://schemas.openxmlformats.org/presentationml/2006/ole">
            <p:oleObj progId="PowerPoint.Show.12" r:id="rId24" spid="">
              <p:embed/>
              <p:pic>
                <p:nvPicPr>
                  <p:cNvPr id="104" name="" descr=""/>
                  <p:cNvPicPr/>
                  <p:nvPr/>
                </p:nvPicPr>
                <p:blipFill>
                  <a:blip r:embed="rId25"/>
                  <a:stretch/>
                </p:blipFill>
                <p:spPr>
                  <a:xfrm>
                    <a:off x="6464160" y="18284760"/>
                    <a:ext cx="4270680" cy="3203640"/>
                  </a:xfrm>
                  <a:prstGeom prst="rect">
                    <a:avLst/>
                  </a:prstGeom>
                  <a:noFill/>
                  <a:ln w="0">
                    <a:noFill/>
                  </a:ln>
                </p:spPr>
              </p:pic>
            </p:oleObj>
          </a:graphicData>
        </a:graphic>
      </p:graphicFrame>
      <p:sp>
        <p:nvSpPr>
          <p:cNvPr id="105" name=""/>
          <p:cNvSpPr/>
          <p:nvPr/>
        </p:nvSpPr>
        <p:spPr>
          <a:xfrm>
            <a:off x="13154040" y="17830800"/>
            <a:ext cx="790200" cy="459720"/>
          </a:xfrm>
          <a:prstGeom prst="rect">
            <a:avLst/>
          </a:prstGeom>
          <a:solidFill>
            <a:srgbClr val="ffffff"/>
          </a:solid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OLR</a:t>
            </a:r>
            <a:endParaRPr b="0" lang="en-IN" sz="2400" strike="noStrike" u="none">
              <a:solidFill>
                <a:srgbClr val="000000"/>
              </a:solidFill>
              <a:effectLst/>
              <a:uFillTx/>
              <a:latin typeface="Times New Roman"/>
            </a:endParaRPr>
          </a:p>
        </p:txBody>
      </p:sp>
      <p:grpSp>
        <p:nvGrpSpPr>
          <p:cNvPr id="106" name=""/>
          <p:cNvGrpSpPr/>
          <p:nvPr/>
        </p:nvGrpSpPr>
        <p:grpSpPr>
          <a:xfrm>
            <a:off x="40767120" y="1066680"/>
            <a:ext cx="5216040" cy="4053960"/>
            <a:chOff x="40767120" y="1066680"/>
            <a:chExt cx="5216040" cy="4053960"/>
          </a:xfrm>
        </p:grpSpPr>
        <p:sp>
          <p:nvSpPr>
            <p:cNvPr id="107" name=""/>
            <p:cNvSpPr/>
            <p:nvPr/>
          </p:nvSpPr>
          <p:spPr>
            <a:xfrm>
              <a:off x="43318440" y="1278000"/>
              <a:ext cx="2664720" cy="1008720"/>
            </a:xfrm>
            <a:prstGeom prst="rect">
              <a:avLst/>
            </a:prstGeom>
            <a:noFill/>
            <a:ln w="12600">
              <a:solidFill>
                <a:srgbClr val="3333cc"/>
              </a:solidFill>
              <a:miter/>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Times New Roman"/>
                </a:rPr>
                <a:t>Much improved spatial coverage with the HES Sounder</a:t>
              </a:r>
              <a:endParaRPr b="0" lang="en-IN" sz="2000" strike="noStrike" u="none">
                <a:solidFill>
                  <a:srgbClr val="000000"/>
                </a:solidFill>
                <a:effectLst/>
                <a:uFillTx/>
                <a:latin typeface="Times New Roman"/>
              </a:endParaRPr>
            </a:p>
          </p:txBody>
        </p:sp>
        <p:pic>
          <p:nvPicPr>
            <p:cNvPr id="108" name="" descr=""/>
            <p:cNvPicPr/>
            <p:nvPr/>
          </p:nvPicPr>
          <p:blipFill>
            <a:blip r:embed="rId26"/>
            <a:srcRect l="15464" t="1870" r="14541" b="8760"/>
            <a:stretch/>
          </p:blipFill>
          <p:spPr>
            <a:xfrm>
              <a:off x="40782240" y="1066680"/>
              <a:ext cx="2521080" cy="2630520"/>
            </a:xfrm>
            <a:prstGeom prst="rect">
              <a:avLst/>
            </a:prstGeom>
            <a:noFill/>
            <a:ln w="0">
              <a:noFill/>
            </a:ln>
          </p:spPr>
        </p:pic>
        <p:sp>
          <p:nvSpPr>
            <p:cNvPr id="109" name=""/>
            <p:cNvSpPr/>
            <p:nvPr/>
          </p:nvSpPr>
          <p:spPr>
            <a:xfrm>
              <a:off x="40820400" y="2057400"/>
              <a:ext cx="1859760" cy="916920"/>
            </a:xfrm>
            <a:prstGeom prst="rect">
              <a:avLst/>
            </a:prstGeom>
            <a:solidFill>
              <a:srgbClr val="ffffff"/>
            </a:solid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Times New Roman"/>
                </a:rPr>
                <a:t>Current GOES Sounder coverage in one hour</a:t>
              </a:r>
              <a:endParaRPr b="0" lang="en-IN" sz="1800" strike="noStrike" u="none">
                <a:solidFill>
                  <a:srgbClr val="000000"/>
                </a:solidFill>
                <a:effectLst/>
                <a:uFillTx/>
                <a:latin typeface="Times New Roman"/>
              </a:endParaRPr>
            </a:p>
          </p:txBody>
        </p:sp>
        <p:grpSp>
          <p:nvGrpSpPr>
            <p:cNvPr id="110" name=""/>
            <p:cNvGrpSpPr/>
            <p:nvPr/>
          </p:nvGrpSpPr>
          <p:grpSpPr>
            <a:xfrm>
              <a:off x="43182360" y="2373480"/>
              <a:ext cx="2634480" cy="2747160"/>
              <a:chOff x="43182360" y="2373480"/>
              <a:chExt cx="2634480" cy="2747160"/>
            </a:xfrm>
          </p:grpSpPr>
          <p:pic>
            <p:nvPicPr>
              <p:cNvPr id="111" name="" descr=""/>
              <p:cNvPicPr/>
              <p:nvPr/>
            </p:nvPicPr>
            <p:blipFill>
              <a:blip r:embed="rId27"/>
              <a:srcRect l="13121" t="1255" r="16719" b="8120"/>
              <a:stretch/>
            </p:blipFill>
            <p:spPr>
              <a:xfrm>
                <a:off x="43182360" y="2373480"/>
                <a:ext cx="2522160" cy="2662200"/>
              </a:xfrm>
              <a:prstGeom prst="rect">
                <a:avLst/>
              </a:prstGeom>
              <a:noFill/>
              <a:ln w="0">
                <a:noFill/>
              </a:ln>
            </p:spPr>
          </p:pic>
          <p:sp>
            <p:nvSpPr>
              <p:cNvPr id="112" name=""/>
              <p:cNvSpPr/>
              <p:nvPr/>
            </p:nvSpPr>
            <p:spPr>
              <a:xfrm>
                <a:off x="45100800" y="4813200"/>
                <a:ext cx="716040" cy="30744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CIMSS</a:t>
                </a:r>
                <a:endParaRPr b="0" lang="en-IN" sz="1400" strike="noStrike" u="none">
                  <a:solidFill>
                    <a:srgbClr val="000000"/>
                  </a:solidFill>
                  <a:effectLst/>
                  <a:uFillTx/>
                  <a:latin typeface="Times New Roman"/>
                </a:endParaRPr>
              </a:p>
            </p:txBody>
          </p:sp>
        </p:grpSp>
        <p:sp>
          <p:nvSpPr>
            <p:cNvPr id="113" name=""/>
            <p:cNvSpPr/>
            <p:nvPr/>
          </p:nvSpPr>
          <p:spPr>
            <a:xfrm>
              <a:off x="41795280" y="3543480"/>
              <a:ext cx="1971360" cy="916920"/>
            </a:xfrm>
            <a:prstGeom prst="rect">
              <a:avLst/>
            </a:prstGeom>
            <a:solidFill>
              <a:srgbClr val="ffffff"/>
            </a:solid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Times New Roman"/>
                </a:rPr>
                <a:t>GOES-R HES Sounder coverage in one hour</a:t>
              </a:r>
              <a:endParaRPr b="0" lang="en-IN" sz="1800" strike="noStrike" u="none">
                <a:solidFill>
                  <a:srgbClr val="000000"/>
                </a:solidFill>
                <a:effectLst/>
                <a:uFillTx/>
                <a:latin typeface="Times New Roman"/>
              </a:endParaRPr>
            </a:p>
          </p:txBody>
        </p:sp>
        <p:pic>
          <p:nvPicPr>
            <p:cNvPr id="114" name="" descr=""/>
            <p:cNvPicPr/>
            <p:nvPr/>
          </p:nvPicPr>
          <p:blipFill>
            <a:blip r:embed="rId28"/>
            <a:srcRect l="0" t="91289" r="0" b="0"/>
            <a:stretch/>
          </p:blipFill>
          <p:spPr>
            <a:xfrm>
              <a:off x="40767120" y="4818240"/>
              <a:ext cx="3053520" cy="217440"/>
            </a:xfrm>
            <a:prstGeom prst="rect">
              <a:avLst/>
            </a:prstGeom>
            <a:noFill/>
            <a:ln w="0">
              <a:noFill/>
            </a:ln>
          </p:spPr>
        </p:pic>
        <p:sp>
          <p:nvSpPr>
            <p:cNvPr id="115" name=""/>
            <p:cNvSpPr/>
            <p:nvPr/>
          </p:nvSpPr>
          <p:spPr>
            <a:xfrm>
              <a:off x="40986000" y="4454640"/>
              <a:ext cx="2274120" cy="368280"/>
            </a:xfrm>
            <a:prstGeom prst="rect">
              <a:avLst/>
            </a:prstGeom>
            <a:solidFill>
              <a:srgbClr val="000000"/>
            </a:solid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Times New Roman"/>
                </a:rPr>
                <a:t>Cloud Top Pressure</a:t>
              </a:r>
              <a:endParaRPr b="0" lang="en-IN" sz="1800" strike="noStrike" u="none">
                <a:solidFill>
                  <a:srgbClr val="000000"/>
                </a:solidFill>
                <a:effectLst/>
                <a:uFillTx/>
                <a:latin typeface="Times New Roman"/>
              </a:endParaRPr>
            </a:p>
          </p:txBody>
        </p:sp>
      </p:grpSp>
      <p:pic>
        <p:nvPicPr>
          <p:cNvPr id="116" name="" descr=""/>
          <p:cNvPicPr/>
          <p:nvPr/>
        </p:nvPicPr>
        <p:blipFill>
          <a:blip r:embed="rId29"/>
          <a:stretch/>
        </p:blipFill>
        <p:spPr>
          <a:xfrm>
            <a:off x="19002240" y="19126080"/>
            <a:ext cx="2791080" cy="2168640"/>
          </a:xfrm>
          <a:prstGeom prst="rect">
            <a:avLst/>
          </a:prstGeom>
          <a:noFill/>
          <a:ln w="0">
            <a:noFill/>
          </a:ln>
        </p:spPr>
      </p:pic>
      <p:graphicFrame>
        <p:nvGraphicFramePr>
          <p:cNvPr id="117" name=""/>
          <p:cNvGraphicFramePr/>
          <p:nvPr/>
        </p:nvGraphicFramePr>
        <p:xfrm>
          <a:off x="38023920" y="17392680"/>
          <a:ext cx="4343400" cy="3257640"/>
        </p:xfrm>
        <a:graphic>
          <a:graphicData uri="http://schemas.openxmlformats.org/presentationml/2006/ole">
            <p:oleObj progId="PowerPoint.Show.12" r:id="rId30" spid="">
              <p:embed/>
              <p:pic>
                <p:nvPicPr>
                  <p:cNvPr id="118" name="" descr=""/>
                  <p:cNvPicPr/>
                  <p:nvPr/>
                </p:nvPicPr>
                <p:blipFill>
                  <a:blip r:embed="rId31"/>
                  <a:stretch/>
                </p:blipFill>
                <p:spPr>
                  <a:xfrm>
                    <a:off x="38023920" y="17392680"/>
                    <a:ext cx="4343400" cy="3257640"/>
                  </a:xfrm>
                  <a:prstGeom prst="rect">
                    <a:avLst/>
                  </a:prstGeom>
                  <a:noFill/>
                  <a:ln w="0">
                    <a:noFill/>
                  </a:ln>
                </p:spPr>
              </p:pic>
            </p:oleObj>
          </a:graphicData>
        </a:graphic>
      </p:graphicFrame>
      <p:grpSp>
        <p:nvGrpSpPr>
          <p:cNvPr id="119" name=""/>
          <p:cNvGrpSpPr/>
          <p:nvPr/>
        </p:nvGrpSpPr>
        <p:grpSpPr>
          <a:xfrm>
            <a:off x="22558320" y="26898480"/>
            <a:ext cx="7997760" cy="3903480"/>
            <a:chOff x="22558320" y="26898480"/>
            <a:chExt cx="7997760" cy="3903480"/>
          </a:xfrm>
        </p:grpSpPr>
        <p:sp>
          <p:nvSpPr>
            <p:cNvPr id="120" name=""/>
            <p:cNvSpPr/>
            <p:nvPr/>
          </p:nvSpPr>
          <p:spPr>
            <a:xfrm>
              <a:off x="22558320" y="29854440"/>
              <a:ext cx="7997760" cy="94752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3333cc"/>
                  </a:solidFill>
                  <a:effectLst/>
                  <a:uFillTx/>
                  <a:latin typeface="Times New Roman"/>
                </a:rPr>
                <a:t>Simulated SXI (Solar X-ray Imager) images:  GOES R will produce multi-band "color" images at the same rate as GOES N/P produces single band images. (Images courtesy of SOHO EIT, a joint NASA/ESA program; and Steve Hill/NOAA SEC).</a:t>
              </a:r>
              <a:r>
                <a:rPr b="0" i="1" lang="en-IN" sz="2000" strike="noStrike" u="none">
                  <a:solidFill>
                    <a:srgbClr val="000000"/>
                  </a:solidFill>
                  <a:effectLst/>
                  <a:uFillTx/>
                  <a:latin typeface="Times New Roman"/>
                </a:rPr>
                <a:t>  </a:t>
              </a:r>
              <a:endParaRPr b="0" lang="en-IN" sz="2000" strike="noStrike" u="none">
                <a:solidFill>
                  <a:srgbClr val="000000"/>
                </a:solidFill>
                <a:effectLst/>
                <a:uFillTx/>
                <a:latin typeface="Times New Roman"/>
              </a:endParaRPr>
            </a:p>
          </p:txBody>
        </p:sp>
        <p:pic>
          <p:nvPicPr>
            <p:cNvPr id="121" name="" descr=""/>
            <p:cNvPicPr/>
            <p:nvPr/>
          </p:nvPicPr>
          <p:blipFill>
            <a:blip r:embed="rId32"/>
            <a:stretch/>
          </p:blipFill>
          <p:spPr>
            <a:xfrm>
              <a:off x="23880600" y="26898480"/>
              <a:ext cx="2827440" cy="2932200"/>
            </a:xfrm>
            <a:prstGeom prst="rect">
              <a:avLst/>
            </a:prstGeom>
            <a:noFill/>
            <a:ln w="0">
              <a:noFill/>
            </a:ln>
          </p:spPr>
        </p:pic>
        <p:pic>
          <p:nvPicPr>
            <p:cNvPr id="122" name="" descr=""/>
            <p:cNvPicPr/>
            <p:nvPr/>
          </p:nvPicPr>
          <p:blipFill>
            <a:blip r:embed="rId33"/>
            <a:stretch/>
          </p:blipFill>
          <p:spPr>
            <a:xfrm>
              <a:off x="26966880" y="26898480"/>
              <a:ext cx="2865600" cy="2971800"/>
            </a:xfrm>
            <a:prstGeom prst="rect">
              <a:avLst/>
            </a:prstGeom>
            <a:noFill/>
            <a:ln w="0">
              <a:noFill/>
            </a:ln>
          </p:spPr>
        </p:pic>
      </p:grpSp>
      <p:sp>
        <p:nvSpPr>
          <p:cNvPr id="123" name=""/>
          <p:cNvSpPr/>
          <p:nvPr/>
        </p:nvSpPr>
        <p:spPr>
          <a:xfrm>
            <a:off x="24397200" y="29489400"/>
            <a:ext cx="1823040" cy="45972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imes New Roman"/>
              </a:rPr>
              <a:t>“GOES-N/P”</a:t>
            </a:r>
            <a:endParaRPr b="0" lang="en-IN" sz="2400" strike="noStrike" u="none">
              <a:solidFill>
                <a:srgbClr val="000000"/>
              </a:solidFill>
              <a:effectLst/>
              <a:uFillTx/>
              <a:latin typeface="Times New Roman"/>
            </a:endParaRPr>
          </a:p>
        </p:txBody>
      </p:sp>
      <p:sp>
        <p:nvSpPr>
          <p:cNvPr id="124" name=""/>
          <p:cNvSpPr/>
          <p:nvPr/>
        </p:nvSpPr>
        <p:spPr>
          <a:xfrm>
            <a:off x="27703800" y="29489400"/>
            <a:ext cx="1551960" cy="45972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imes New Roman"/>
              </a:rPr>
              <a:t>“GOES-R”</a:t>
            </a:r>
            <a:endParaRPr b="0" lang="en-IN" sz="2400" strike="noStrike" u="none">
              <a:solidFill>
                <a:srgbClr val="000000"/>
              </a:solidFill>
              <a:effectLst/>
              <a:uFillTx/>
              <a:latin typeface="Times New Roman"/>
            </a:endParaRPr>
          </a:p>
        </p:txBody>
      </p:sp>
      <p:sp>
        <p:nvSpPr>
          <p:cNvPr id="125" name=""/>
          <p:cNvSpPr/>
          <p:nvPr/>
        </p:nvSpPr>
        <p:spPr>
          <a:xfrm>
            <a:off x="43353000" y="25069680"/>
            <a:ext cx="5437080" cy="147708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2400" strike="noStrike" u="none">
                <a:solidFill>
                  <a:srgbClr val="3333cc"/>
                </a:solidFill>
                <a:effectLst/>
                <a:uFillTx/>
                <a:latin typeface="Times New Roman"/>
              </a:rPr>
              <a:t>Simulated ABI Band Differences </a:t>
            </a:r>
            <a:endParaRPr b="0" lang="en-IN" sz="2400" strike="noStrike" u="none">
              <a:solidFill>
                <a:srgbClr val="000000"/>
              </a:solidFill>
              <a:effectLst/>
              <a:uFillTx/>
              <a:latin typeface="Times New Roman"/>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3333cc"/>
                </a:solidFill>
                <a:effectLst/>
                <a:uFillTx/>
                <a:latin typeface="Times New Roman"/>
              </a:rPr>
              <a:t>convolved from AIRS data</a:t>
            </a:r>
            <a:endParaRPr b="0" lang="en-IN" sz="2400" strike="noStrike" u="none">
              <a:solidFill>
                <a:srgbClr val="000000"/>
              </a:solidFill>
              <a:effectLst/>
              <a:uFillTx/>
              <a:latin typeface="Times New Roman"/>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3333cc"/>
                </a:solidFill>
                <a:effectLst/>
                <a:uFillTx/>
                <a:latin typeface="Times New Roman"/>
              </a:rPr>
              <a:t>(SO</a:t>
            </a:r>
            <a:r>
              <a:rPr b="0" lang="en-US" sz="2000" strike="noStrike" u="none" baseline="-25000">
                <a:solidFill>
                  <a:srgbClr val="3333cc"/>
                </a:solidFill>
                <a:effectLst/>
                <a:uFillTx/>
                <a:latin typeface="Times New Roman"/>
              </a:rPr>
              <a:t>2</a:t>
            </a:r>
            <a:r>
              <a:rPr b="0" lang="en-US" sz="2000" strike="noStrike" u="none">
                <a:solidFill>
                  <a:srgbClr val="3333cc"/>
                </a:solidFill>
                <a:effectLst/>
                <a:uFillTx/>
                <a:latin typeface="Times New Roman"/>
              </a:rPr>
              <a:t> plume from </a:t>
            </a:r>
            <a:endParaRPr b="0" lang="en-IN" sz="2000" strike="noStrike" u="none">
              <a:solidFill>
                <a:srgbClr val="000000"/>
              </a:solidFill>
              <a:effectLst/>
              <a:uFillTx/>
              <a:latin typeface="Times New Roman"/>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3333cc"/>
                </a:solidFill>
                <a:effectLst/>
                <a:uFillTx/>
                <a:latin typeface="Times New Roman"/>
              </a:rPr>
              <a:t>Montserrat Island, West Indies)</a:t>
            </a:r>
            <a:endParaRPr b="0" lang="en-IN" sz="2000" strike="noStrike" u="none">
              <a:solidFill>
                <a:srgbClr val="000000"/>
              </a:solidFill>
              <a:effectLst/>
              <a:uFillTx/>
              <a:latin typeface="Times New Roman"/>
            </a:endParaRPr>
          </a:p>
        </p:txBody>
      </p:sp>
      <p:sp>
        <p:nvSpPr>
          <p:cNvPr id="126" name=""/>
          <p:cNvSpPr/>
          <p:nvPr/>
        </p:nvSpPr>
        <p:spPr>
          <a:xfrm rot="18138000">
            <a:off x="44793360" y="21960360"/>
            <a:ext cx="1600200" cy="808200"/>
          </a:xfrm>
          <a:prstGeom prst="ellipse">
            <a:avLst/>
          </a:prstGeom>
          <a:noFill/>
          <a:ln w="34920">
            <a:solidFill>
              <a:srgbClr val="008000"/>
            </a:solidFill>
            <a:miter/>
          </a:ln>
        </p:spPr>
        <p:style>
          <a:lnRef idx="0"/>
          <a:fillRef idx="0"/>
          <a:effectRef idx="0"/>
          <a:fontRef idx="minor"/>
        </p:style>
        <p:txBody>
          <a:bodyPr wrap="none" lIns="90000" rIns="90000" tIns="46800" bIns="46800" anchor="ctr">
            <a:noAutofit/>
          </a:bodyPr>
          <a:p>
            <a:endParaRPr b="0" lang="en-IN" sz="2400" strike="noStrike" u="none">
              <a:solidFill>
                <a:srgbClr val="000000"/>
              </a:solidFill>
              <a:effectLst/>
              <a:uFillTx/>
              <a:latin typeface="Times New Roman"/>
            </a:endParaRPr>
          </a:p>
        </p:txBody>
      </p:sp>
      <p:sp>
        <p:nvSpPr>
          <p:cNvPr id="127" name=""/>
          <p:cNvSpPr/>
          <p:nvPr/>
        </p:nvSpPr>
        <p:spPr>
          <a:xfrm>
            <a:off x="8672400" y="27032040"/>
            <a:ext cx="773280" cy="45972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imes New Roman"/>
              </a:rPr>
              <a:t>WV:</a:t>
            </a:r>
            <a:endParaRPr b="0" lang="en-IN" sz="2400" strike="noStrike" u="none">
              <a:solidFill>
                <a:srgbClr val="000000"/>
              </a:solidFill>
              <a:effectLst/>
              <a:uFillTx/>
              <a:latin typeface="Times New Roman"/>
            </a:endParaRPr>
          </a:p>
        </p:txBody>
      </p:sp>
      <p:pic>
        <p:nvPicPr>
          <p:cNvPr id="128" name="" descr=""/>
          <p:cNvPicPr/>
          <p:nvPr/>
        </p:nvPicPr>
        <p:blipFill>
          <a:blip r:embed="rId34"/>
          <a:stretch/>
        </p:blipFill>
        <p:spPr>
          <a:xfrm>
            <a:off x="34102800" y="16840080"/>
            <a:ext cx="3692520" cy="2872080"/>
          </a:xfrm>
          <a:prstGeom prst="rect">
            <a:avLst/>
          </a:prstGeom>
          <a:noFill/>
          <a:ln w="0">
            <a:noFill/>
          </a:ln>
        </p:spPr>
      </p:pic>
      <p:sp>
        <p:nvSpPr>
          <p:cNvPr id="129" name=""/>
          <p:cNvSpPr/>
          <p:nvPr/>
        </p:nvSpPr>
        <p:spPr>
          <a:xfrm>
            <a:off x="1419840" y="12700080"/>
            <a:ext cx="5513400" cy="45972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ABI Bands allow for several Land Products</a:t>
            </a:r>
            <a:endParaRPr b="0" lang="en-IN" sz="2400" strike="noStrike" u="none">
              <a:solidFill>
                <a:srgbClr val="000000"/>
              </a:solidFill>
              <a:effectLst/>
              <a:uFillTx/>
              <a:latin typeface="Times New Roman"/>
            </a:endParaRPr>
          </a:p>
        </p:txBody>
      </p:sp>
      <p:pic>
        <p:nvPicPr>
          <p:cNvPr id="130" name="" descr=""/>
          <p:cNvPicPr/>
          <p:nvPr/>
        </p:nvPicPr>
        <p:blipFill>
          <a:blip r:embed="rId35"/>
          <a:stretch/>
        </p:blipFill>
        <p:spPr>
          <a:xfrm>
            <a:off x="1600200" y="8763120"/>
            <a:ext cx="5154480" cy="3936960"/>
          </a:xfrm>
          <a:prstGeom prst="rect">
            <a:avLst/>
          </a:prstGeom>
          <a:noFill/>
          <a:ln w="0">
            <a:noFill/>
          </a:ln>
        </p:spPr>
      </p:pic>
      <p:grpSp>
        <p:nvGrpSpPr>
          <p:cNvPr id="131" name=""/>
          <p:cNvGrpSpPr/>
          <p:nvPr/>
        </p:nvGrpSpPr>
        <p:grpSpPr>
          <a:xfrm>
            <a:off x="24034680" y="3429000"/>
            <a:ext cx="5395320" cy="3886200"/>
            <a:chOff x="24034680" y="3429000"/>
            <a:chExt cx="5395320" cy="3886200"/>
          </a:xfrm>
        </p:grpSpPr>
        <p:pic>
          <p:nvPicPr>
            <p:cNvPr id="132" name="" descr=""/>
            <p:cNvPicPr/>
            <p:nvPr/>
          </p:nvPicPr>
          <p:blipFill>
            <a:blip r:embed="rId36"/>
            <a:stretch/>
          </p:blipFill>
          <p:spPr>
            <a:xfrm>
              <a:off x="24034680" y="3730680"/>
              <a:ext cx="5378400" cy="3584520"/>
            </a:xfrm>
            <a:prstGeom prst="rect">
              <a:avLst/>
            </a:prstGeom>
            <a:noFill/>
            <a:ln w="0">
              <a:noFill/>
            </a:ln>
          </p:spPr>
        </p:pic>
        <p:sp>
          <p:nvSpPr>
            <p:cNvPr id="133" name=""/>
            <p:cNvSpPr/>
            <p:nvPr/>
          </p:nvSpPr>
          <p:spPr>
            <a:xfrm>
              <a:off x="24049440" y="3429000"/>
              <a:ext cx="538056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Times New Roman"/>
                </a:rPr>
                <a:t>Corresponding Simulated GOES Imager Spectral Bands:</a:t>
              </a:r>
              <a:endParaRPr b="0" lang="en-IN" sz="1800" strike="noStrike" u="none">
                <a:solidFill>
                  <a:srgbClr val="000000"/>
                </a:solidFill>
                <a:effectLst/>
                <a:uFillTx/>
                <a:latin typeface="Times New Roman"/>
              </a:endParaRPr>
            </a:p>
          </p:txBody>
        </p:sp>
      </p:grpSp>
      <p:grpSp>
        <p:nvGrpSpPr>
          <p:cNvPr id="134" name=""/>
          <p:cNvGrpSpPr/>
          <p:nvPr/>
        </p:nvGrpSpPr>
        <p:grpSpPr>
          <a:xfrm>
            <a:off x="18534240" y="3429000"/>
            <a:ext cx="5392440" cy="3916440"/>
            <a:chOff x="18534240" y="3429000"/>
            <a:chExt cx="5392440" cy="3916440"/>
          </a:xfrm>
        </p:grpSpPr>
        <p:pic>
          <p:nvPicPr>
            <p:cNvPr id="135" name="" descr=""/>
            <p:cNvPicPr/>
            <p:nvPr/>
          </p:nvPicPr>
          <p:blipFill>
            <a:blip r:embed="rId37"/>
            <a:stretch/>
          </p:blipFill>
          <p:spPr>
            <a:xfrm>
              <a:off x="18534240" y="3733920"/>
              <a:ext cx="5392440" cy="3611520"/>
            </a:xfrm>
            <a:prstGeom prst="rect">
              <a:avLst/>
            </a:prstGeom>
            <a:noFill/>
            <a:ln w="0">
              <a:noFill/>
            </a:ln>
          </p:spPr>
        </p:pic>
        <p:sp>
          <p:nvSpPr>
            <p:cNvPr id="136" name=""/>
            <p:cNvSpPr/>
            <p:nvPr/>
          </p:nvSpPr>
          <p:spPr>
            <a:xfrm>
              <a:off x="18548640" y="3429000"/>
              <a:ext cx="325980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Times New Roman"/>
                </a:rPr>
                <a:t>Simulated “ABI” Spectral Bands:</a:t>
              </a:r>
              <a:endParaRPr b="0" lang="en-IN" sz="1800" strike="noStrike" u="none">
                <a:solidFill>
                  <a:srgbClr val="000000"/>
                </a:solidFill>
                <a:effectLst/>
                <a:uFillTx/>
                <a:latin typeface="Times New Roman"/>
              </a:endParaRPr>
            </a:p>
          </p:txBody>
        </p:sp>
      </p:grpSp>
      <p:sp>
        <p:nvSpPr>
          <p:cNvPr id="137" name=""/>
          <p:cNvSpPr/>
          <p:nvPr/>
        </p:nvSpPr>
        <p:spPr>
          <a:xfrm>
            <a:off x="21105360" y="25679520"/>
            <a:ext cx="2100240" cy="45972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Times New Roman"/>
              </a:rPr>
              <a:t>Annual lightning strikes</a:t>
            </a:r>
            <a:r>
              <a:rPr b="0" lang="en-IN" sz="2400" strike="noStrike" u="none">
                <a:solidFill>
                  <a:srgbClr val="000000"/>
                </a:solidFill>
                <a:effectLst/>
                <a:uFillTx/>
                <a:latin typeface="Times New Roman"/>
              </a:rPr>
              <a:t> </a:t>
            </a:r>
            <a:endParaRPr b="0" lang="en-IN" sz="2400" strike="noStrike" u="none">
              <a:solidFill>
                <a:srgbClr val="000000"/>
              </a:solidFill>
              <a:effectLst/>
              <a:uFillTx/>
              <a:latin typeface="Times New Roman"/>
            </a:endParaRPr>
          </a:p>
        </p:txBody>
      </p:sp>
      <p:pic>
        <p:nvPicPr>
          <p:cNvPr id="138" name="" descr=""/>
          <p:cNvPicPr/>
          <p:nvPr/>
        </p:nvPicPr>
        <p:blipFill>
          <a:blip r:embed="rId38"/>
          <a:stretch/>
        </p:blipFill>
        <p:spPr>
          <a:xfrm>
            <a:off x="20863080" y="26136720"/>
            <a:ext cx="2225520" cy="2225520"/>
          </a:xfrm>
          <a:prstGeom prst="rect">
            <a:avLst/>
          </a:prstGeom>
          <a:noFill/>
          <a:ln w="0">
            <a:noFill/>
          </a:ln>
          <a:effectLst>
            <a:outerShdw dist="114551" dir="2700000" blurRad="0" rotWithShape="0">
              <a:srgbClr val="5c5c5c">
                <a:alpha val="75000"/>
              </a:srgbClr>
            </a:outerShdw>
          </a:effectLst>
        </p:spPr>
      </p:pic>
      <p:pic>
        <p:nvPicPr>
          <p:cNvPr id="139" name="" descr=""/>
          <p:cNvPicPr/>
          <p:nvPr/>
        </p:nvPicPr>
        <p:blipFill>
          <a:blip r:embed="rId39"/>
          <a:stretch/>
        </p:blipFill>
        <p:spPr>
          <a:xfrm>
            <a:off x="29108520" y="16687800"/>
            <a:ext cx="4114800" cy="3086280"/>
          </a:xfrm>
          <a:prstGeom prst="rect">
            <a:avLst/>
          </a:prstGeom>
          <a:noFill/>
          <a:ln w="0">
            <a:noFill/>
          </a:ln>
        </p:spPr>
      </p:pic>
      <p:pic>
        <p:nvPicPr>
          <p:cNvPr id="140" name="" descr=""/>
          <p:cNvPicPr/>
          <p:nvPr/>
        </p:nvPicPr>
        <p:blipFill>
          <a:blip r:embed="rId40"/>
          <a:srcRect l="0" t="21342" r="0" b="0"/>
          <a:stretch/>
        </p:blipFill>
        <p:spPr>
          <a:xfrm>
            <a:off x="29718000" y="914400"/>
            <a:ext cx="10591920" cy="6248520"/>
          </a:xfrm>
          <a:prstGeom prst="rect">
            <a:avLst/>
          </a:prstGeom>
          <a:noFill/>
          <a:ln w="0">
            <a:noFill/>
          </a:ln>
        </p:spPr>
      </p:pic>
      <p:grpSp>
        <p:nvGrpSpPr>
          <p:cNvPr id="141" name=""/>
          <p:cNvGrpSpPr/>
          <p:nvPr/>
        </p:nvGrpSpPr>
        <p:grpSpPr>
          <a:xfrm>
            <a:off x="23237280" y="11252160"/>
            <a:ext cx="5336280" cy="5209560"/>
            <a:chOff x="23237280" y="11252160"/>
            <a:chExt cx="5336280" cy="5209560"/>
          </a:xfrm>
        </p:grpSpPr>
        <p:sp>
          <p:nvSpPr>
            <p:cNvPr id="142" name=""/>
            <p:cNvSpPr/>
            <p:nvPr/>
          </p:nvSpPr>
          <p:spPr>
            <a:xfrm>
              <a:off x="23725080" y="11252160"/>
              <a:ext cx="1323720" cy="825480"/>
            </a:xfrm>
            <a:prstGeom prst="rect">
              <a:avLst/>
            </a:prstGeom>
            <a:noFill/>
            <a:ln w="0">
              <a:noFill/>
            </a:ln>
          </p:spPr>
          <p:style>
            <a:lnRef idx="0"/>
            <a:fillRef idx="0"/>
            <a:effectRef idx="0"/>
            <a:fontRef idx="minor"/>
          </p:style>
          <p:txBody>
            <a:bodyPr wrap="none"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33cc"/>
                  </a:solidFill>
                  <a:effectLst/>
                  <a:uFillTx/>
                  <a:latin typeface="Times New Roman"/>
                </a:rPr>
                <a:t>Current</a:t>
              </a:r>
              <a:r>
                <a:rPr b="1" lang="en-IN" sz="2400" strike="noStrike" u="none">
                  <a:solidFill>
                    <a:srgbClr val="ffff00"/>
                  </a:solidFill>
                  <a:effectLst/>
                  <a:uFillTx/>
                  <a:latin typeface="Times New Roman"/>
                </a:rPr>
                <a:t> </a:t>
              </a:r>
              <a:endParaRPr b="0" lang="en-IN" sz="2400" strike="noStrike" u="none">
                <a:solidFill>
                  <a:srgbClr val="000000"/>
                </a:solidFill>
                <a:effectLst/>
                <a:uFillTx/>
                <a:latin typeface="Times New Roman"/>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33cc"/>
                  </a:solidFill>
                  <a:effectLst/>
                  <a:uFillTx/>
                  <a:latin typeface="Times New Roman"/>
                </a:rPr>
                <a:t>Imager</a:t>
              </a:r>
              <a:endParaRPr b="0" lang="en-IN" sz="2400" strike="noStrike" u="none">
                <a:solidFill>
                  <a:srgbClr val="000000"/>
                </a:solidFill>
                <a:effectLst/>
                <a:uFillTx/>
                <a:latin typeface="Times New Roman"/>
              </a:endParaRPr>
            </a:p>
          </p:txBody>
        </p:sp>
        <p:sp>
          <p:nvSpPr>
            <p:cNvPr id="143" name=""/>
            <p:cNvSpPr/>
            <p:nvPr/>
          </p:nvSpPr>
          <p:spPr>
            <a:xfrm>
              <a:off x="26683920" y="11252160"/>
              <a:ext cx="1154160" cy="825480"/>
            </a:xfrm>
            <a:prstGeom prst="rect">
              <a:avLst/>
            </a:prstGeom>
            <a:noFill/>
            <a:ln w="0">
              <a:noFill/>
            </a:ln>
          </p:spPr>
          <p:style>
            <a:lnRef idx="0"/>
            <a:fillRef idx="0"/>
            <a:effectRef idx="0"/>
            <a:fontRef idx="minor"/>
          </p:style>
          <p:txBody>
            <a:bodyPr wrap="none"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33cc"/>
                  </a:solidFill>
                  <a:effectLst/>
                  <a:uFillTx/>
                  <a:latin typeface="Times New Roman"/>
                </a:rPr>
                <a:t>Future</a:t>
              </a:r>
              <a:r>
                <a:rPr b="1" lang="en-IN" sz="2400" strike="noStrike" u="none">
                  <a:solidFill>
                    <a:srgbClr val="ffff00"/>
                  </a:solidFill>
                  <a:effectLst/>
                  <a:uFillTx/>
                  <a:latin typeface="Times New Roman"/>
                </a:rPr>
                <a:t> </a:t>
              </a:r>
              <a:endParaRPr b="0" lang="en-IN" sz="2400" strike="noStrike" u="none">
                <a:solidFill>
                  <a:srgbClr val="000000"/>
                </a:solidFill>
                <a:effectLst/>
                <a:uFillTx/>
                <a:latin typeface="Times New Roman"/>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33cc"/>
                  </a:solidFill>
                  <a:effectLst/>
                  <a:uFillTx/>
                  <a:latin typeface="Times New Roman"/>
                </a:rPr>
                <a:t>Imager</a:t>
              </a:r>
              <a:endParaRPr b="0" lang="en-IN" sz="2400" strike="noStrike" u="none">
                <a:solidFill>
                  <a:srgbClr val="000000"/>
                </a:solidFill>
                <a:effectLst/>
                <a:uFillTx/>
                <a:latin typeface="Times New Roman"/>
              </a:endParaRPr>
            </a:p>
          </p:txBody>
        </p:sp>
        <p:grpSp>
          <p:nvGrpSpPr>
            <p:cNvPr id="144" name=""/>
            <p:cNvGrpSpPr/>
            <p:nvPr/>
          </p:nvGrpSpPr>
          <p:grpSpPr>
            <a:xfrm>
              <a:off x="23335920" y="12331440"/>
              <a:ext cx="2152440" cy="1834920"/>
              <a:chOff x="23335920" y="12331440"/>
              <a:chExt cx="2152440" cy="1834920"/>
            </a:xfrm>
          </p:grpSpPr>
          <p:pic>
            <p:nvPicPr>
              <p:cNvPr id="145" name="" descr=""/>
              <p:cNvPicPr/>
              <p:nvPr/>
            </p:nvPicPr>
            <p:blipFill>
              <a:blip r:embed="rId41"/>
              <a:stretch/>
            </p:blipFill>
            <p:spPr>
              <a:xfrm>
                <a:off x="23335920" y="12331440"/>
                <a:ext cx="2152440" cy="1834920"/>
              </a:xfrm>
              <a:prstGeom prst="rect">
                <a:avLst/>
              </a:prstGeom>
              <a:noFill/>
              <a:ln w="0">
                <a:noFill/>
              </a:ln>
            </p:spPr>
          </p:pic>
          <p:sp>
            <p:nvSpPr>
              <p:cNvPr id="146" name=""/>
              <p:cNvSpPr/>
              <p:nvPr/>
            </p:nvSpPr>
            <p:spPr>
              <a:xfrm>
                <a:off x="23335920" y="12331440"/>
                <a:ext cx="448200" cy="91728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000000"/>
                  </a:solidFill>
                  <a:effectLst/>
                  <a:uFillTx/>
                  <a:latin typeface="Times New Roman"/>
                </a:endParaRPr>
              </a:p>
            </p:txBody>
          </p:sp>
          <p:sp>
            <p:nvSpPr>
              <p:cNvPr id="147" name=""/>
              <p:cNvSpPr/>
              <p:nvPr/>
            </p:nvSpPr>
            <p:spPr>
              <a:xfrm>
                <a:off x="23335920" y="13248720"/>
                <a:ext cx="2152440" cy="91728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000000"/>
                  </a:solidFill>
                  <a:effectLst/>
                  <a:uFillTx/>
                  <a:latin typeface="Times New Roman"/>
                </a:endParaRPr>
              </a:p>
            </p:txBody>
          </p:sp>
          <p:sp>
            <p:nvSpPr>
              <p:cNvPr id="148" name=""/>
              <p:cNvSpPr/>
              <p:nvPr/>
            </p:nvSpPr>
            <p:spPr>
              <a:xfrm>
                <a:off x="25129440" y="12331440"/>
                <a:ext cx="358920" cy="91728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000000"/>
                  </a:solidFill>
                  <a:effectLst/>
                  <a:uFillTx/>
                  <a:latin typeface="Times New Roman"/>
                </a:endParaRPr>
              </a:p>
            </p:txBody>
          </p:sp>
        </p:grpSp>
        <p:pic>
          <p:nvPicPr>
            <p:cNvPr id="149" name="" descr=""/>
            <p:cNvPicPr/>
            <p:nvPr/>
          </p:nvPicPr>
          <p:blipFill>
            <a:blip r:embed="rId42"/>
            <a:stretch/>
          </p:blipFill>
          <p:spPr>
            <a:xfrm>
              <a:off x="23335920" y="14217480"/>
              <a:ext cx="2198880" cy="1835280"/>
            </a:xfrm>
            <a:prstGeom prst="rect">
              <a:avLst/>
            </a:prstGeom>
            <a:noFill/>
            <a:ln w="0">
              <a:noFill/>
            </a:ln>
          </p:spPr>
        </p:pic>
        <p:pic>
          <p:nvPicPr>
            <p:cNvPr id="150" name="" descr=""/>
            <p:cNvPicPr/>
            <p:nvPr/>
          </p:nvPicPr>
          <p:blipFill>
            <a:blip r:embed="rId43"/>
            <a:srcRect l="0" t="0" r="0" b="47441"/>
            <a:stretch/>
          </p:blipFill>
          <p:spPr>
            <a:xfrm>
              <a:off x="26174520" y="13860360"/>
              <a:ext cx="2381400" cy="1046160"/>
            </a:xfrm>
            <a:prstGeom prst="rect">
              <a:avLst/>
            </a:prstGeom>
            <a:noFill/>
            <a:ln w="0">
              <a:noFill/>
            </a:ln>
          </p:spPr>
        </p:pic>
        <p:pic>
          <p:nvPicPr>
            <p:cNvPr id="151" name="" descr=""/>
            <p:cNvPicPr/>
            <p:nvPr/>
          </p:nvPicPr>
          <p:blipFill>
            <a:blip r:embed="rId44"/>
            <a:srcRect l="0" t="0" r="0" b="51283"/>
            <a:stretch/>
          </p:blipFill>
          <p:spPr>
            <a:xfrm>
              <a:off x="26174520" y="15084360"/>
              <a:ext cx="2381400" cy="968400"/>
            </a:xfrm>
            <a:prstGeom prst="rect">
              <a:avLst/>
            </a:prstGeom>
            <a:noFill/>
            <a:ln w="0">
              <a:noFill/>
            </a:ln>
          </p:spPr>
        </p:pic>
        <p:pic>
          <p:nvPicPr>
            <p:cNvPr id="152" name="" descr=""/>
            <p:cNvPicPr/>
            <p:nvPr/>
          </p:nvPicPr>
          <p:blipFill>
            <a:blip r:embed="rId45"/>
            <a:stretch/>
          </p:blipFill>
          <p:spPr>
            <a:xfrm>
              <a:off x="26266680" y="12101400"/>
              <a:ext cx="1922400" cy="1606680"/>
            </a:xfrm>
            <a:prstGeom prst="rect">
              <a:avLst/>
            </a:prstGeom>
            <a:noFill/>
            <a:ln w="0">
              <a:noFill/>
            </a:ln>
          </p:spPr>
        </p:pic>
        <p:sp>
          <p:nvSpPr>
            <p:cNvPr id="153" name=""/>
            <p:cNvSpPr/>
            <p:nvPr/>
          </p:nvSpPr>
          <p:spPr>
            <a:xfrm>
              <a:off x="25899840" y="12382560"/>
              <a:ext cx="0" cy="3619440"/>
            </a:xfrm>
            <a:prstGeom prst="line">
              <a:avLst/>
            </a:prstGeom>
            <a:ln w="19080">
              <a:solidFill>
                <a:srgbClr val="000000"/>
              </a:solidFill>
              <a:miter/>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154" name=""/>
            <p:cNvSpPr/>
            <p:nvPr/>
          </p:nvSpPr>
          <p:spPr>
            <a:xfrm>
              <a:off x="26631720" y="13411080"/>
              <a:ext cx="1527120" cy="368280"/>
            </a:xfrm>
            <a:prstGeom prst="rect">
              <a:avLst/>
            </a:prstGeom>
            <a:noFill/>
            <a:ln w="0">
              <a:noFill/>
            </a:ln>
          </p:spPr>
          <p:style>
            <a:lnRef idx="0"/>
            <a:fillRef idx="0"/>
            <a:effectRef idx="0"/>
            <a:fontRef idx="minor"/>
          </p:style>
          <p:txBody>
            <a:bodyPr wrap="none"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00"/>
                  </a:solidFill>
                  <a:effectLst/>
                  <a:uFillTx/>
                  <a:latin typeface="Times New Roman"/>
                </a:rPr>
                <a:t>Full Disk (2X)</a:t>
              </a:r>
              <a:endParaRPr b="0" lang="en-IN" sz="1800" strike="noStrike" u="none">
                <a:solidFill>
                  <a:srgbClr val="000000"/>
                </a:solidFill>
                <a:effectLst/>
                <a:uFillTx/>
                <a:latin typeface="Times New Roman"/>
              </a:endParaRPr>
            </a:p>
          </p:txBody>
        </p:sp>
        <p:sp>
          <p:nvSpPr>
            <p:cNvPr id="155" name=""/>
            <p:cNvSpPr/>
            <p:nvPr/>
          </p:nvSpPr>
          <p:spPr>
            <a:xfrm>
              <a:off x="23517360" y="13576320"/>
              <a:ext cx="1774080" cy="642600"/>
            </a:xfrm>
            <a:prstGeom prst="rect">
              <a:avLst/>
            </a:prstGeom>
            <a:noFill/>
            <a:ln w="0">
              <a:noFill/>
            </a:ln>
          </p:spPr>
          <p:style>
            <a:lnRef idx="0"/>
            <a:fillRef idx="0"/>
            <a:effectRef idx="0"/>
            <a:fontRef idx="minor"/>
          </p:style>
          <p:txBody>
            <a:bodyPr wrap="none"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00"/>
                  </a:solidFill>
                  <a:effectLst/>
                  <a:uFillTx/>
                  <a:latin typeface="Times New Roman"/>
                </a:rPr>
                <a:t>Northern </a:t>
              </a:r>
              <a:endParaRPr b="0" lang="en-IN" sz="1800" strike="noStrike" u="none">
                <a:solidFill>
                  <a:srgbClr val="000000"/>
                </a:solidFill>
                <a:effectLst/>
                <a:uFillTx/>
                <a:latin typeface="Times New Roman"/>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00"/>
                  </a:solidFill>
                  <a:effectLst/>
                  <a:uFillTx/>
                  <a:latin typeface="Times New Roman"/>
                </a:rPr>
                <a:t>Hemisphere (1X)</a:t>
              </a:r>
              <a:endParaRPr b="0" lang="en-IN" sz="1800" strike="noStrike" u="none">
                <a:solidFill>
                  <a:srgbClr val="000000"/>
                </a:solidFill>
                <a:effectLst/>
                <a:uFillTx/>
                <a:latin typeface="Times New Roman"/>
              </a:endParaRPr>
            </a:p>
          </p:txBody>
        </p:sp>
        <p:sp>
          <p:nvSpPr>
            <p:cNvPr id="156" name=""/>
            <p:cNvSpPr/>
            <p:nvPr/>
          </p:nvSpPr>
          <p:spPr>
            <a:xfrm>
              <a:off x="23507640" y="15514560"/>
              <a:ext cx="1444320" cy="368280"/>
            </a:xfrm>
            <a:prstGeom prst="rect">
              <a:avLst/>
            </a:prstGeom>
            <a:noFill/>
            <a:ln w="0">
              <a:noFill/>
            </a:ln>
          </p:spPr>
          <p:style>
            <a:lnRef idx="0"/>
            <a:fillRef idx="0"/>
            <a:effectRef idx="0"/>
            <a:fontRef idx="minor"/>
          </p:style>
          <p:txBody>
            <a:bodyPr wrap="none"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00"/>
                  </a:solidFill>
                  <a:effectLst/>
                  <a:uFillTx/>
                  <a:latin typeface="Times New Roman"/>
                </a:rPr>
                <a:t>CONUS (3X)</a:t>
              </a:r>
              <a:endParaRPr b="0" lang="en-IN" sz="1800" strike="noStrike" u="none">
                <a:solidFill>
                  <a:srgbClr val="000000"/>
                </a:solidFill>
                <a:effectLst/>
                <a:uFillTx/>
                <a:latin typeface="Times New Roman"/>
              </a:endParaRPr>
            </a:p>
          </p:txBody>
        </p:sp>
        <p:sp>
          <p:nvSpPr>
            <p:cNvPr id="157" name=""/>
            <p:cNvSpPr/>
            <p:nvPr/>
          </p:nvSpPr>
          <p:spPr>
            <a:xfrm>
              <a:off x="26708400" y="15697080"/>
              <a:ext cx="1748520" cy="368280"/>
            </a:xfrm>
            <a:prstGeom prst="rect">
              <a:avLst/>
            </a:prstGeom>
            <a:noFill/>
            <a:ln w="0">
              <a:noFill/>
            </a:ln>
          </p:spPr>
          <p:style>
            <a:lnRef idx="0"/>
            <a:fillRef idx="0"/>
            <a:effectRef idx="0"/>
            <a:fontRef idx="minor"/>
          </p:style>
          <p:txBody>
            <a:bodyPr wrap="none"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ffff00"/>
                  </a:solidFill>
                  <a:effectLst/>
                  <a:uFillTx/>
                  <a:latin typeface="Times New Roman"/>
                </a:rPr>
                <a:t>Mesoscale (60X)</a:t>
              </a:r>
              <a:endParaRPr b="0" lang="en-IN" sz="1800" strike="noStrike" u="none">
                <a:solidFill>
                  <a:srgbClr val="000000"/>
                </a:solidFill>
                <a:effectLst/>
                <a:uFillTx/>
                <a:latin typeface="Times New Roman"/>
              </a:endParaRPr>
            </a:p>
          </p:txBody>
        </p:sp>
        <p:sp>
          <p:nvSpPr>
            <p:cNvPr id="158" name=""/>
            <p:cNvSpPr/>
            <p:nvPr/>
          </p:nvSpPr>
          <p:spPr>
            <a:xfrm>
              <a:off x="27088920" y="14495400"/>
              <a:ext cx="1444320" cy="368280"/>
            </a:xfrm>
            <a:prstGeom prst="rect">
              <a:avLst/>
            </a:prstGeom>
            <a:noFill/>
            <a:ln w="0">
              <a:noFill/>
            </a:ln>
          </p:spPr>
          <p:style>
            <a:lnRef idx="0"/>
            <a:fillRef idx="0"/>
            <a:effectRef idx="0"/>
            <a:fontRef idx="minor"/>
          </p:style>
          <p:txBody>
            <a:bodyPr wrap="none"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00"/>
                  </a:solidFill>
                  <a:effectLst/>
                  <a:uFillTx/>
                  <a:latin typeface="Times New Roman"/>
                </a:rPr>
                <a:t>CONUS (6X)</a:t>
              </a:r>
              <a:endParaRPr b="0" lang="en-IN" sz="1800" strike="noStrike" u="none">
                <a:solidFill>
                  <a:srgbClr val="000000"/>
                </a:solidFill>
                <a:effectLst/>
                <a:uFillTx/>
                <a:latin typeface="Times New Roman"/>
              </a:endParaRPr>
            </a:p>
          </p:txBody>
        </p:sp>
        <p:sp>
          <p:nvSpPr>
            <p:cNvPr id="159" name=""/>
            <p:cNvSpPr/>
            <p:nvPr/>
          </p:nvSpPr>
          <p:spPr>
            <a:xfrm>
              <a:off x="25255440" y="11986920"/>
              <a:ext cx="923400" cy="398880"/>
            </a:xfrm>
            <a:prstGeom prst="rect">
              <a:avLst/>
            </a:prstGeom>
            <a:noFill/>
            <a:ln w="0">
              <a:noFill/>
            </a:ln>
          </p:spPr>
          <p:style>
            <a:lnRef idx="0"/>
            <a:fillRef idx="0"/>
            <a:effectRef idx="0"/>
            <a:fontRef idx="minor"/>
          </p:style>
          <p:txBody>
            <a:bodyPr wrap="none"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33cc"/>
                  </a:solidFill>
                  <a:effectLst/>
                  <a:uFillTx/>
                  <a:latin typeface="Times New Roman"/>
                </a:rPr>
                <a:t>30</a:t>
              </a:r>
              <a:r>
                <a:rPr b="1" lang="en-IN" sz="2000" strike="noStrike" u="none">
                  <a:solidFill>
                    <a:srgbClr val="ffff00"/>
                  </a:solidFill>
                  <a:effectLst/>
                  <a:uFillTx/>
                  <a:latin typeface="Times New Roman"/>
                </a:rPr>
                <a:t> </a:t>
              </a:r>
              <a:r>
                <a:rPr b="1" lang="en-IN" sz="2000" strike="noStrike" u="none">
                  <a:solidFill>
                    <a:srgbClr val="0033cc"/>
                  </a:solidFill>
                  <a:effectLst/>
                  <a:uFillTx/>
                  <a:latin typeface="Times New Roman"/>
                </a:rPr>
                <a:t>min</a:t>
              </a:r>
              <a:endParaRPr b="0" lang="en-IN" sz="2000" strike="noStrike" u="none">
                <a:solidFill>
                  <a:srgbClr val="000000"/>
                </a:solidFill>
                <a:effectLst/>
                <a:uFillTx/>
                <a:latin typeface="Times New Roman"/>
              </a:endParaRPr>
            </a:p>
          </p:txBody>
        </p:sp>
        <p:sp>
          <p:nvSpPr>
            <p:cNvPr id="160" name=""/>
            <p:cNvSpPr/>
            <p:nvPr/>
          </p:nvSpPr>
          <p:spPr>
            <a:xfrm>
              <a:off x="23237280" y="16002000"/>
              <a:ext cx="5336280" cy="459720"/>
            </a:xfrm>
            <a:prstGeom prst="rect">
              <a:avLst/>
            </a:prstGeom>
            <a:noFill/>
            <a:ln w="0">
              <a:noFill/>
            </a:ln>
          </p:spPr>
          <p:style>
            <a:lnRef idx="0"/>
            <a:fillRef idx="0"/>
            <a:effectRef idx="0"/>
            <a:fontRef idx="minor"/>
          </p:style>
          <p:txBody>
            <a:bodyPr wrap="none"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rPr>
                <a:t>GOES-R Imager reduces scan conflicts</a:t>
              </a:r>
              <a:r>
                <a:rPr b="1" lang="en-IN" sz="2400" strike="noStrike" u="none">
                  <a:solidFill>
                    <a:srgbClr val="ffff00"/>
                  </a:solidFill>
                  <a:effectLst/>
                  <a:uFillTx/>
                  <a:latin typeface="Times New Roman"/>
                </a:rPr>
                <a:t> </a:t>
              </a:r>
              <a:endParaRPr b="0" lang="en-IN" sz="2400" strike="noStrike" u="none">
                <a:solidFill>
                  <a:srgbClr val="000000"/>
                </a:solidFill>
                <a:effectLst/>
                <a:uFillTx/>
                <a:latin typeface="Times New Roman"/>
              </a:endParaRPr>
            </a:p>
          </p:txBody>
        </p:sp>
      </p:grpSp>
      <p:pic>
        <p:nvPicPr>
          <p:cNvPr id="161" name="" descr=""/>
          <p:cNvPicPr/>
          <p:nvPr/>
        </p:nvPicPr>
        <p:blipFill>
          <a:blip r:embed="rId46"/>
          <a:srcRect l="0" t="0" r="38369" b="30000"/>
          <a:stretch/>
        </p:blipFill>
        <p:spPr>
          <a:xfrm>
            <a:off x="16687800" y="26138160"/>
            <a:ext cx="2590920" cy="2208240"/>
          </a:xfrm>
          <a:prstGeom prst="rect">
            <a:avLst/>
          </a:prstGeom>
          <a:noFill/>
          <a:ln w="0">
            <a:noFill/>
          </a:ln>
        </p:spPr>
      </p:pic>
      <p:sp>
        <p:nvSpPr>
          <p:cNvPr id="162" name=""/>
          <p:cNvSpPr/>
          <p:nvPr/>
        </p:nvSpPr>
        <p:spPr>
          <a:xfrm>
            <a:off x="31394520" y="7238880"/>
            <a:ext cx="4743360" cy="45972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The cloud information is from GOES</a:t>
            </a:r>
            <a:endParaRPr b="0" lang="en-IN" sz="24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18009</TotalTime>
  <Application>LibreOffice/25.2.3.2$Windows_X86_64 LibreOffice_project/bbb074479178df812d175f709636b368952c2ce3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2004-02-16T12:37:54Z</dcterms:created>
  <dc:creator>tims</dc:creator>
  <dc:description/>
  <dc:language>en-IN</dc:language>
  <cp:lastModifiedBy>tims</cp:lastModifiedBy>
  <dcterms:modified xsi:type="dcterms:W3CDTF">2006-04-25T07:02:58Z</dcterms:modified>
  <cp:revision>76</cp:revision>
  <dc:subject/>
  <dc:title>PowerPoint Presentation</dc:title>
</cp:coreProperties>
</file>