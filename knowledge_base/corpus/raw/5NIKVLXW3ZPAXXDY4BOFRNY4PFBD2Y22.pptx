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media/image1.png" ContentType="image/png"/>
  <Override PartName="/ppt/media/image7.jpeg" ContentType="image/jpeg"/>
  <Override PartName="/ppt/media/image2.jpeg" ContentType="image/jpeg"/>
  <Override PartName="/ppt/media/image3.jpeg" ContentType="image/jpeg"/>
  <Override PartName="/ppt/media/image5.png" ContentType="image/png"/>
  <Override PartName="/ppt/media/image4.png" ContentType="image/png"/>
  <Override PartName="/ppt/media/image6.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
          <p:cNvSpPr/>
          <p:nvPr/>
        </p:nvSpPr>
        <p:spPr>
          <a:xfrm>
            <a:off x="0" y="0"/>
            <a:ext cx="7009200" cy="92952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000000"/>
              </a:solidFill>
              <a:effectLst/>
              <a:uFillTx/>
              <a:latin typeface="Times New Roman"/>
            </a:endParaRPr>
          </a:p>
        </p:txBody>
      </p:sp>
      <p:sp>
        <p:nvSpPr>
          <p:cNvPr id="10" name="PlaceHolder 1"/>
          <p:cNvSpPr>
            <a:spLocks noGrp="1"/>
          </p:cNvSpPr>
          <p:nvPr>
            <p:ph type="hdr"/>
          </p:nvPr>
        </p:nvSpPr>
        <p:spPr>
          <a:xfrm>
            <a:off x="0" y="-360"/>
            <a:ext cx="3005280" cy="45252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11" name="PlaceHolder 2"/>
          <p:cNvSpPr>
            <a:spLocks noGrp="1"/>
          </p:cNvSpPr>
          <p:nvPr>
            <p:ph type="sldImg"/>
          </p:nvPr>
        </p:nvSpPr>
        <p:spPr>
          <a:xfrm>
            <a:off x="1142640" y="677880"/>
            <a:ext cx="4724280" cy="354312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Click to move the slide</a:t>
            </a:r>
            <a:endParaRPr b="0" lang="en-IN" sz="3600" strike="noStrike" u="none">
              <a:solidFill>
                <a:srgbClr val="ffffff"/>
              </a:solidFill>
              <a:effectLst/>
              <a:uFillTx/>
              <a:latin typeface="Arial Narrow"/>
            </a:endParaRPr>
          </a:p>
        </p:txBody>
      </p:sp>
      <p:sp>
        <p:nvSpPr>
          <p:cNvPr id="12" name="PlaceHolder 3"/>
          <p:cNvSpPr>
            <a:spLocks noGrp="1"/>
          </p:cNvSpPr>
          <p:nvPr>
            <p:ph type="body"/>
          </p:nvPr>
        </p:nvSpPr>
        <p:spPr>
          <a:xfrm>
            <a:off x="923400" y="4446720"/>
            <a:ext cx="5162760" cy="414648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13" name="PlaceHolder 4"/>
          <p:cNvSpPr>
            <a:spLocks noGrp="1"/>
          </p:cNvSpPr>
          <p:nvPr>
            <p:ph type="dt" idx="1"/>
          </p:nvPr>
        </p:nvSpPr>
        <p:spPr>
          <a:xfrm>
            <a:off x="4005000" y="-360"/>
            <a:ext cx="3004920" cy="45252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4" name="PlaceHolder 5"/>
          <p:cNvSpPr>
            <a:spLocks noGrp="1"/>
          </p:cNvSpPr>
          <p:nvPr>
            <p:ph type="ftr" idx="2"/>
          </p:nvPr>
        </p:nvSpPr>
        <p:spPr>
          <a:xfrm>
            <a:off x="0" y="8818200"/>
            <a:ext cx="3005280" cy="45252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5" name="PlaceHolder 6"/>
          <p:cNvSpPr>
            <a:spLocks noGrp="1"/>
          </p:cNvSpPr>
          <p:nvPr>
            <p:ph type="sldNum" idx="3"/>
          </p:nvPr>
        </p:nvSpPr>
        <p:spPr>
          <a:xfrm>
            <a:off x="4005000" y="8818200"/>
            <a:ext cx="3004920" cy="45252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15CD99-3996-44E7-AAE0-38696FF85E29}"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
          <p:cNvSpPr txBox="1"/>
          <p:nvPr/>
        </p:nvSpPr>
        <p:spPr>
          <a:xfrm>
            <a:off x="4005000" y="8818200"/>
            <a:ext cx="3004920" cy="452520"/>
          </a:xfrm>
          <a:prstGeom prst="rect">
            <a:avLst/>
          </a:prstGeom>
          <a:noFill/>
          <a:ln w="0">
            <a:noFill/>
          </a:ln>
        </p:spPr>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4C25D3-04BD-4A27-883D-DB11DEE1DFAC}"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
        <p:nvSpPr>
          <p:cNvPr id="120" name=""/>
          <p:cNvSpPr txBox="1"/>
          <p:nvPr/>
        </p:nvSpPr>
        <p:spPr>
          <a:xfrm>
            <a:off x="0" y="8818200"/>
            <a:ext cx="3005280" cy="452520"/>
          </a:xfrm>
          <a:prstGeom prst="rect">
            <a:avLst/>
          </a:prstGeom>
          <a:noFill/>
          <a:ln w="0">
            <a:noFill/>
          </a:ln>
        </p:spPr>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21" name=""/>
          <p:cNvSpPr txBox="1"/>
          <p:nvPr/>
        </p:nvSpPr>
        <p:spPr>
          <a:xfrm>
            <a:off x="0" y="-360"/>
            <a:ext cx="3005280" cy="452520"/>
          </a:xfrm>
          <a:prstGeom prst="rect">
            <a:avLst/>
          </a:prstGeom>
          <a:noFill/>
          <a:ln w="0">
            <a:noFill/>
          </a:ln>
        </p:spPr>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122" name=""/>
          <p:cNvSpPr txBox="1"/>
          <p:nvPr/>
        </p:nvSpPr>
        <p:spPr>
          <a:xfrm>
            <a:off x="4005000" y="-360"/>
            <a:ext cx="3004920" cy="452520"/>
          </a:xfrm>
          <a:prstGeom prst="rect">
            <a:avLst/>
          </a:prstGeom>
          <a:noFill/>
          <a:ln w="0">
            <a:noFill/>
          </a:ln>
        </p:spPr>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23" name="PlaceHolder 1"/>
          <p:cNvSpPr>
            <a:spLocks noGrp="1"/>
          </p:cNvSpPr>
          <p:nvPr>
            <p:ph type="sldImg"/>
          </p:nvPr>
        </p:nvSpPr>
        <p:spPr>
          <a:xfrm>
            <a:off x="838080" y="212760"/>
            <a:ext cx="5286600" cy="3963960"/>
          </a:xfrm>
          <a:prstGeom prst="rect">
            <a:avLst/>
          </a:prstGeom>
          <a:ln w="0">
            <a:noFill/>
          </a:ln>
        </p:spPr>
      </p:sp>
      <p:sp>
        <p:nvSpPr>
          <p:cNvPr id="124" name="PlaceHolder 2"/>
          <p:cNvSpPr>
            <a:spLocks noGrp="1"/>
          </p:cNvSpPr>
          <p:nvPr>
            <p:ph type="body"/>
          </p:nvPr>
        </p:nvSpPr>
        <p:spPr>
          <a:xfrm>
            <a:off x="611280" y="4417920"/>
            <a:ext cx="5736960" cy="45864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txBox="1"/>
          <p:nvPr/>
        </p:nvSpPr>
        <p:spPr>
          <a:xfrm>
            <a:off x="4005000" y="8818200"/>
            <a:ext cx="3004920" cy="452520"/>
          </a:xfrm>
          <a:prstGeom prst="rect">
            <a:avLst/>
          </a:prstGeom>
          <a:noFill/>
          <a:ln w="0">
            <a:noFill/>
          </a:ln>
        </p:spPr>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F8E9FD5-56B6-418C-A800-E3F325481634}"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
        <p:nvSpPr>
          <p:cNvPr id="126" name=""/>
          <p:cNvSpPr txBox="1"/>
          <p:nvPr/>
        </p:nvSpPr>
        <p:spPr>
          <a:xfrm>
            <a:off x="0" y="8818200"/>
            <a:ext cx="3005280" cy="452520"/>
          </a:xfrm>
          <a:prstGeom prst="rect">
            <a:avLst/>
          </a:prstGeom>
          <a:noFill/>
          <a:ln w="0">
            <a:noFill/>
          </a:ln>
        </p:spPr>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27" name=""/>
          <p:cNvSpPr txBox="1"/>
          <p:nvPr/>
        </p:nvSpPr>
        <p:spPr>
          <a:xfrm>
            <a:off x="0" y="-360"/>
            <a:ext cx="3005280" cy="452520"/>
          </a:xfrm>
          <a:prstGeom prst="rect">
            <a:avLst/>
          </a:prstGeom>
          <a:noFill/>
          <a:ln w="0">
            <a:noFill/>
          </a:ln>
        </p:spPr>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128" name=""/>
          <p:cNvSpPr txBox="1"/>
          <p:nvPr/>
        </p:nvSpPr>
        <p:spPr>
          <a:xfrm>
            <a:off x="4005000" y="-360"/>
            <a:ext cx="3004920" cy="452520"/>
          </a:xfrm>
          <a:prstGeom prst="rect">
            <a:avLst/>
          </a:prstGeom>
          <a:noFill/>
          <a:ln w="0">
            <a:noFill/>
          </a:ln>
        </p:spPr>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29" name="PlaceHolder 1"/>
          <p:cNvSpPr>
            <a:spLocks noGrp="1"/>
          </p:cNvSpPr>
          <p:nvPr>
            <p:ph type="sldImg"/>
          </p:nvPr>
        </p:nvSpPr>
        <p:spPr>
          <a:xfrm>
            <a:off x="1181160" y="698400"/>
            <a:ext cx="4649760" cy="3486240"/>
          </a:xfrm>
          <a:prstGeom prst="rect">
            <a:avLst/>
          </a:prstGeom>
          <a:ln w="0">
            <a:noFill/>
          </a:ln>
        </p:spPr>
      </p:sp>
      <p:sp>
        <p:nvSpPr>
          <p:cNvPr id="130" name="PlaceHolder 2"/>
          <p:cNvSpPr>
            <a:spLocks noGrp="1"/>
          </p:cNvSpPr>
          <p:nvPr>
            <p:ph type="body"/>
          </p:nvPr>
        </p:nvSpPr>
        <p:spPr>
          <a:xfrm>
            <a:off x="934560" y="4416120"/>
            <a:ext cx="5140440" cy="41814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slide illustrates the Data Strategy Framework.  As shown, it consists of Goals, and a data strategy of three components, that is of governance, structure, and services.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Data strategy starts with goals.  These goals are business goals and are normally well outside the bounds of the data strategy itself.  Business goals include things like “increase market share” and “decrease cycle time”.  Business goals drive the data strategy and there are comprehensive methods of translating them into data management goals that support attainment of the business goals. Goals drive the data strategy.</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Within the data strategy, we find ourselves dealing with the Structure of our data (which is where a lot of us live and never come up for air).  We find ourselves dealing with Services that make the data available and with Governance which establishes procedures, sets standards, and generally specifies how everything fits and works together to meet the corporate goals, so maybe the arrow from Goals to Data Strategy needs to be two ended.</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txBox="1"/>
          <p:nvPr/>
        </p:nvSpPr>
        <p:spPr>
          <a:xfrm>
            <a:off x="4005000" y="8818200"/>
            <a:ext cx="3004920" cy="452520"/>
          </a:xfrm>
          <a:prstGeom prst="rect">
            <a:avLst/>
          </a:prstGeom>
          <a:noFill/>
          <a:ln w="0">
            <a:noFill/>
          </a:ln>
        </p:spPr>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DC9FDF-70C5-4965-A330-A872BE276A20}"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
        <p:nvSpPr>
          <p:cNvPr id="132" name=""/>
          <p:cNvSpPr txBox="1"/>
          <p:nvPr/>
        </p:nvSpPr>
        <p:spPr>
          <a:xfrm>
            <a:off x="0" y="8818200"/>
            <a:ext cx="3005280" cy="452520"/>
          </a:xfrm>
          <a:prstGeom prst="rect">
            <a:avLst/>
          </a:prstGeom>
          <a:noFill/>
          <a:ln w="0">
            <a:noFill/>
          </a:ln>
        </p:spPr>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33" name=""/>
          <p:cNvSpPr txBox="1"/>
          <p:nvPr/>
        </p:nvSpPr>
        <p:spPr>
          <a:xfrm>
            <a:off x="0" y="-360"/>
            <a:ext cx="3005280" cy="452520"/>
          </a:xfrm>
          <a:prstGeom prst="rect">
            <a:avLst/>
          </a:prstGeom>
          <a:noFill/>
          <a:ln w="0">
            <a:noFill/>
          </a:ln>
        </p:spPr>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134" name=""/>
          <p:cNvSpPr txBox="1"/>
          <p:nvPr/>
        </p:nvSpPr>
        <p:spPr>
          <a:xfrm>
            <a:off x="4005000" y="-360"/>
            <a:ext cx="3004920" cy="452520"/>
          </a:xfrm>
          <a:prstGeom prst="rect">
            <a:avLst/>
          </a:prstGeom>
          <a:noFill/>
          <a:ln w="0">
            <a:noFill/>
          </a:ln>
        </p:spPr>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35" name="PlaceHolder 1"/>
          <p:cNvSpPr>
            <a:spLocks noGrp="1"/>
          </p:cNvSpPr>
          <p:nvPr>
            <p:ph type="sldImg"/>
          </p:nvPr>
        </p:nvSpPr>
        <p:spPr>
          <a:xfrm>
            <a:off x="1181160" y="698400"/>
            <a:ext cx="4648320" cy="3486240"/>
          </a:xfrm>
          <a:prstGeom prst="rect">
            <a:avLst/>
          </a:prstGeom>
          <a:ln w="0">
            <a:noFill/>
          </a:ln>
        </p:spPr>
      </p:sp>
      <p:sp>
        <p:nvSpPr>
          <p:cNvPr id="136" name="PlaceHolder 2"/>
          <p:cNvSpPr>
            <a:spLocks noGrp="1"/>
          </p:cNvSpPr>
          <p:nvPr>
            <p:ph type="body"/>
          </p:nvPr>
        </p:nvSpPr>
        <p:spPr>
          <a:xfrm>
            <a:off x="701280" y="4416120"/>
            <a:ext cx="5607000" cy="41814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600" strike="noStrike" u="none">
              <a:solidFill>
                <a:srgbClr val="ffffff"/>
              </a:solidFill>
              <a:effectLst/>
              <a:uFillTx/>
              <a:latin typeface="Arial Narrow"/>
            </a:endParaRPr>
          </a:p>
        </p:txBody>
      </p:sp>
      <p:sp>
        <p:nvSpPr>
          <p:cNvPr id="8"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a:bodyPr>
          <a:p>
            <a:pPr marL="343080" indent="-343080" algn="ctr">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1.xml"/><Relationship Id="rId5"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
          <p:cNvSpPr/>
          <p:nvPr/>
        </p:nvSpPr>
        <p:spPr>
          <a:xfrm>
            <a:off x="0" y="0"/>
            <a:ext cx="9144000" cy="1600200"/>
          </a:xfrm>
          <a:prstGeom prst="rect">
            <a:avLst/>
          </a:prstGeom>
          <a:solidFill>
            <a:srgbClr val="000066"/>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1"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Click to edit the title text format</a:t>
            </a:r>
            <a:endParaRPr b="0" lang="en-IN" sz="3600" strike="noStrike" u="none">
              <a:solidFill>
                <a:srgbClr val="ffffff"/>
              </a:solidFill>
              <a:effectLst/>
              <a:uFillTx/>
              <a:latin typeface="Arial Narrow"/>
            </a:endParaRPr>
          </a:p>
        </p:txBody>
      </p:sp>
      <p:sp>
        <p:nvSpPr>
          <p:cNvPr id="2" name="PlaceHolder 2"/>
          <p:cNvSpPr>
            <a:spLocks noGrp="1"/>
          </p:cNvSpPr>
          <p:nvPr>
            <p:ph type="body"/>
          </p:nvPr>
        </p:nvSpPr>
        <p:spPr>
          <a:xfrm>
            <a:off x="685800" y="1981080"/>
            <a:ext cx="7772400" cy="4114800"/>
          </a:xfrm>
          <a:prstGeom prst="rect">
            <a:avLst/>
          </a:prstGeom>
          <a:noFill/>
          <a:ln w="0">
            <a:noFill/>
          </a:ln>
        </p:spPr>
        <p:txBody>
          <a:bodyPr lIns="92160" rIns="92160" tIns="46080" bIns="46080" anchor="t">
            <a:normAutofit/>
          </a:bodyPr>
          <a:p>
            <a:pPr marL="343080" indent="-34308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Click to edit the outline text format</a:t>
            </a:r>
            <a:endParaRPr b="0" lang="en-IN" sz="2800" strike="noStrike" u="none">
              <a:solidFill>
                <a:srgbClr val="000000"/>
              </a:solidFill>
              <a:effectLst/>
              <a:uFillTx/>
              <a:latin typeface="Arial"/>
            </a:endParaRPr>
          </a:p>
          <a:p>
            <a:pPr lvl="1" marL="343080" indent="-343080" algn="ctr">
              <a:spcBef>
                <a:spcPts val="700"/>
              </a:spcBef>
              <a:buSzPct val="100000"/>
              <a:buBlip>
                <a:blip r:embed="rId2"/>
              </a:buBlip>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Second Outline Level</a:t>
            </a:r>
            <a:endParaRPr b="0" lang="en-IN" sz="2800" strike="noStrike" u="none">
              <a:solidFill>
                <a:srgbClr val="000000"/>
              </a:solidFill>
              <a:effectLst/>
              <a:uFillTx/>
              <a:latin typeface="Arial"/>
            </a:endParaRPr>
          </a:p>
          <a:p>
            <a:pPr lvl="2" marL="343080" indent="-343080" algn="ctr">
              <a:spcBef>
                <a:spcPts val="700"/>
              </a:spcBef>
              <a:buClr>
                <a:srgbClr val="000066"/>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Third Outline Level</a:t>
            </a:r>
            <a:endParaRPr b="0" lang="en-IN" sz="2800" strike="noStrike" u="none">
              <a:solidFill>
                <a:srgbClr val="000000"/>
              </a:solidFill>
              <a:effectLst/>
              <a:uFillTx/>
              <a:latin typeface="Arial"/>
            </a:endParaRPr>
          </a:p>
          <a:p>
            <a:pPr lvl="3" marL="343080" indent="-343080" algn="ctr">
              <a:spcBef>
                <a:spcPts val="700"/>
              </a:spcBef>
              <a:buClr>
                <a:srgbClr val="000066"/>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Fourth Outline Level</a:t>
            </a:r>
            <a:endParaRPr b="0" lang="en-IN" sz="2800" strike="noStrike" u="none">
              <a:solidFill>
                <a:srgbClr val="000000"/>
              </a:solidFill>
              <a:effectLst/>
              <a:uFillTx/>
              <a:latin typeface="Arial"/>
            </a:endParaRPr>
          </a:p>
          <a:p>
            <a:pPr lvl="4" marL="343080" indent="-343080" algn="ctr">
              <a:spcBef>
                <a:spcPts val="700"/>
              </a:spcBef>
              <a:buClr>
                <a:srgbClr val="000066"/>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Fifth Outline Level</a:t>
            </a:r>
            <a:endParaRPr b="0" lang="en-IN" sz="2800" strike="noStrike" u="none">
              <a:solidFill>
                <a:srgbClr val="000000"/>
              </a:solidFill>
              <a:effectLst/>
              <a:uFillTx/>
              <a:latin typeface="Arial"/>
            </a:endParaRPr>
          </a:p>
          <a:p>
            <a:pPr lvl="5" marL="343080" indent="-343080" algn="ctr">
              <a:spcBef>
                <a:spcPts val="7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Sixth Outline Level</a:t>
            </a:r>
            <a:endParaRPr b="0" lang="en-IN" sz="2800" strike="noStrike" u="none">
              <a:solidFill>
                <a:srgbClr val="000000"/>
              </a:solidFill>
              <a:effectLst/>
              <a:uFillTx/>
              <a:latin typeface="Arial"/>
            </a:endParaRPr>
          </a:p>
          <a:p>
            <a:pPr lvl="6" marL="343080" indent="-343080" algn="ctr">
              <a:spcBef>
                <a:spcPts val="7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Seventh Outline Level</a:t>
            </a:r>
            <a:endParaRPr b="0" lang="en-IN" sz="2800" strike="noStrike" u="none">
              <a:solidFill>
                <a:srgbClr val="000000"/>
              </a:solidFill>
              <a:effectLst/>
              <a:uFillTx/>
              <a:latin typeface="Arial"/>
            </a:endParaRPr>
          </a:p>
        </p:txBody>
      </p:sp>
      <p:grpSp>
        <p:nvGrpSpPr>
          <p:cNvPr id="3" name=""/>
          <p:cNvGrpSpPr/>
          <p:nvPr/>
        </p:nvGrpSpPr>
        <p:grpSpPr>
          <a:xfrm>
            <a:off x="152280" y="228600"/>
            <a:ext cx="1143000" cy="1218960"/>
            <a:chOff x="152280" y="228600"/>
            <a:chExt cx="1143000" cy="1218960"/>
          </a:xfrm>
        </p:grpSpPr>
        <p:sp>
          <p:nvSpPr>
            <p:cNvPr id="4" name=""/>
            <p:cNvSpPr/>
            <p:nvPr/>
          </p:nvSpPr>
          <p:spPr>
            <a:xfrm>
              <a:off x="152280" y="304560"/>
              <a:ext cx="1067040" cy="1143000"/>
            </a:xfrm>
            <a:prstGeom prst="rect">
              <a:avLst/>
            </a:prstGeom>
            <a:solidFill>
              <a:srgbClr val="950909"/>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pic>
          <p:nvPicPr>
            <p:cNvPr id="5" name="" descr=""/>
            <p:cNvPicPr/>
            <p:nvPr/>
          </p:nvPicPr>
          <p:blipFill>
            <a:blip r:embed="rId3"/>
            <a:stretch/>
          </p:blipFill>
          <p:spPr>
            <a:xfrm>
              <a:off x="228600" y="228600"/>
              <a:ext cx="1066680" cy="1143000"/>
            </a:xfrm>
            <a:prstGeom prst="rect">
              <a:avLst/>
            </a:prstGeom>
            <a:noFill/>
            <a:ln w="0">
              <a:noFill/>
            </a:ln>
          </p:spPr>
        </p:pic>
        <p:sp>
          <p:nvSpPr>
            <p:cNvPr id="6" name=""/>
            <p:cNvSpPr/>
            <p:nvPr/>
          </p:nvSpPr>
          <p:spPr>
            <a:xfrm>
              <a:off x="228600" y="228600"/>
              <a:ext cx="1066680" cy="1143000"/>
            </a:xfrm>
            <a:prstGeom prst="rect">
              <a:avLst/>
            </a:prstGeom>
            <a:noFill/>
            <a:ln cap="sq" w="12600">
              <a:solidFill>
                <a:srgbClr val="ffffff"/>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grpSp>
    </p:spTree>
  </p:cSld>
  <p:clrMap bg1="lt1" tx1="dk1" bg2="lt2" tx2="dk2" accent1="accent1" accent2="accent2" accent3="accent3" accent4="accent4" accent5="accent5" accent6="accent6" hlink="hlink" folHlink="folHlink"/>
  <p:sldLayoutIdLst>
    <p:sldLayoutId id="2147483649" r:id="rId4"/>
    <p:sldLayoutId id="2147483650"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6.jpeg"/><Relationship Id="rId4"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image" Target="../media/image4.png"/><Relationship Id="rId8" Type="http://schemas.openxmlformats.org/officeDocument/2006/relationships/image" Target="../media/image4.png"/><Relationship Id="rId9" Type="http://schemas.openxmlformats.org/officeDocument/2006/relationships/image" Target="../media/image4.png"/><Relationship Id="rId10" Type="http://schemas.openxmlformats.org/officeDocument/2006/relationships/image" Target="../media/image4.png"/><Relationship Id="rId1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
          <p:cNvSpPr/>
          <p:nvPr/>
        </p:nvSpPr>
        <p:spPr>
          <a:xfrm>
            <a:off x="0" y="0"/>
            <a:ext cx="3048120" cy="6858000"/>
          </a:xfrm>
          <a:prstGeom prst="rect">
            <a:avLst/>
          </a:prstGeom>
          <a:solidFill>
            <a:srgbClr val="000066"/>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7" name=""/>
          <p:cNvSpPr/>
          <p:nvPr/>
        </p:nvSpPr>
        <p:spPr>
          <a:xfrm>
            <a:off x="533520" y="1752480"/>
            <a:ext cx="3809880" cy="259092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pic>
        <p:nvPicPr>
          <p:cNvPr id="18" name="" descr="U.S. flag"/>
          <p:cNvPicPr/>
          <p:nvPr/>
        </p:nvPicPr>
        <p:blipFill>
          <a:blip r:embed="rId1"/>
          <a:stretch/>
        </p:blipFill>
        <p:spPr>
          <a:xfrm>
            <a:off x="611280" y="1828800"/>
            <a:ext cx="3655800" cy="2438280"/>
          </a:xfrm>
          <a:prstGeom prst="rect">
            <a:avLst/>
          </a:prstGeom>
          <a:noFill/>
          <a:ln w="0">
            <a:noFill/>
          </a:ln>
        </p:spPr>
      </p:pic>
      <p:sp>
        <p:nvSpPr>
          <p:cNvPr id="19" name=""/>
          <p:cNvSpPr/>
          <p:nvPr/>
        </p:nvSpPr>
        <p:spPr>
          <a:xfrm>
            <a:off x="4419720" y="5105520"/>
            <a:ext cx="4267080" cy="0"/>
          </a:xfrm>
          <a:prstGeom prst="line">
            <a:avLst/>
          </a:prstGeom>
          <a:ln cap="sq" w="28440">
            <a:solidFill>
              <a:srgbClr val="000000"/>
            </a:solidFill>
            <a:miter/>
          </a:ln>
        </p:spPr>
        <p:style>
          <a:lnRef idx="0"/>
          <a:fillRef idx="0"/>
          <a:effectRef idx="0"/>
          <a:fontRef idx="minor"/>
        </p:style>
        <p:txBody>
          <a:bodyPr lIns="90000" rIns="90000" tIns="-46800" bIns="-46800" anchor="ctr">
            <a:noAutofit/>
          </a:bodyPr>
          <a:p>
            <a:endParaRPr b="0" lang="en-IN" sz="2400" strike="noStrike" u="none">
              <a:solidFill>
                <a:srgbClr val="000000"/>
              </a:solidFill>
              <a:effectLst/>
              <a:uFillTx/>
              <a:latin typeface="Times New Roman"/>
            </a:endParaRPr>
          </a:p>
        </p:txBody>
      </p:sp>
      <p:sp>
        <p:nvSpPr>
          <p:cNvPr id="20" name=""/>
          <p:cNvSpPr/>
          <p:nvPr/>
        </p:nvSpPr>
        <p:spPr>
          <a:xfrm>
            <a:off x="0" y="0"/>
            <a:ext cx="9144000" cy="1752480"/>
          </a:xfrm>
          <a:prstGeom prst="rect">
            <a:avLst/>
          </a:prstGeom>
          <a:solidFill>
            <a:srgbClr val="000066"/>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21" name="PlaceHolder 1"/>
          <p:cNvSpPr>
            <a:spLocks noGrp="1"/>
          </p:cNvSpPr>
          <p:nvPr>
            <p:ph type="title"/>
          </p:nvPr>
        </p:nvSpPr>
        <p:spPr>
          <a:xfrm>
            <a:off x="4343040" y="1828440"/>
            <a:ext cx="4800600" cy="3048120"/>
          </a:xfrm>
          <a:prstGeom prst="rect">
            <a:avLst/>
          </a:prstGeom>
          <a:noFill/>
          <a:ln w="0">
            <a:noFill/>
          </a:ln>
        </p:spPr>
        <p:txBody>
          <a:bodyPr lIns="92160" rIns="92160" tIns="46080" bIns="46080" anchor="ctr">
            <a:noAutofit/>
          </a:bodyPr>
          <a:p>
            <a:pPr indent="0" algn="ctr">
              <a:lnSpc>
                <a:spcPct val="120000"/>
              </a:lnSpc>
              <a:spcBef>
                <a:spcPts val="58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Arial Black"/>
                <a:ea typeface="Times New Roman"/>
              </a:rPr>
              <a:t>The Data Reference Model and Intellectual Property</a:t>
            </a:r>
            <a:br>
              <a:rPr sz="3600"/>
            </a:br>
            <a:r>
              <a:rPr b="1" lang="en-IN" sz="2000" strike="noStrike" u="none">
                <a:solidFill>
                  <a:srgbClr val="000000"/>
                </a:solidFill>
                <a:effectLst/>
                <a:uFillTx/>
                <a:latin typeface="Arial Narrow"/>
                <a:ea typeface="Times New Roman"/>
              </a:rPr>
              <a:t>2 November 2006</a:t>
            </a:r>
            <a:endParaRPr b="0" lang="en-IN" sz="2000" strike="noStrike" u="none">
              <a:solidFill>
                <a:srgbClr val="ffffff"/>
              </a:solidFill>
              <a:effectLst/>
              <a:uFillTx/>
              <a:latin typeface="Arial Narrow"/>
            </a:endParaRPr>
          </a:p>
        </p:txBody>
      </p:sp>
      <p:sp>
        <p:nvSpPr>
          <p:cNvPr id="22" name=""/>
          <p:cNvSpPr/>
          <p:nvPr/>
        </p:nvSpPr>
        <p:spPr>
          <a:xfrm>
            <a:off x="4114800" y="5181480"/>
            <a:ext cx="5638680" cy="1221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600" strike="noStrike" u="none">
                <a:solidFill>
                  <a:srgbClr val="000000"/>
                </a:solidFill>
                <a:effectLst/>
                <a:uFillTx/>
                <a:latin typeface="Times New Roman"/>
              </a:rPr>
              <a:t>Federal Data Architecture Subcommittee Co-chairs:</a:t>
            </a:r>
            <a:endParaRPr b="0" lang="en-IN" sz="16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600" strike="noStrike" u="none">
                <a:solidFill>
                  <a:srgbClr val="000000"/>
                </a:solidFill>
                <a:effectLst/>
                <a:uFillTx/>
                <a:latin typeface="Times New Roman"/>
              </a:rPr>
              <a:t>Bryan Aucoin</a:t>
            </a:r>
            <a:r>
              <a:rPr b="0" lang="en-US" sz="1600" strike="noStrike" u="none">
                <a:solidFill>
                  <a:srgbClr val="000000"/>
                </a:solidFill>
                <a:effectLst/>
                <a:uFillTx/>
                <a:latin typeface="Times New Roman"/>
              </a:rPr>
              <a:t>	</a:t>
            </a:r>
            <a:r>
              <a:rPr b="0" lang="en-US" sz="1600" strike="noStrike" u="none">
                <a:solidFill>
                  <a:srgbClr val="000000"/>
                </a:solidFill>
                <a:effectLst/>
                <a:uFillTx/>
                <a:latin typeface="Times New Roman"/>
              </a:rPr>
              <a:t>	</a:t>
            </a:r>
            <a:r>
              <a:rPr b="1" i="1" lang="en-US" sz="1600" strike="noStrike" u="none">
                <a:solidFill>
                  <a:srgbClr val="000000"/>
                </a:solidFill>
                <a:effectLst/>
                <a:uFillTx/>
                <a:latin typeface="Times New Roman"/>
              </a:rPr>
              <a:t>Suzanne Acar</a:t>
            </a:r>
            <a:endParaRPr b="0" lang="en-IN" sz="16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imes New Roman"/>
              </a:rPr>
              <a:t>DNI CIO Chief Architect</a:t>
            </a:r>
            <a:r>
              <a:rPr b="0" lang="en-US" sz="1400" strike="noStrike" u="none">
                <a:solidFill>
                  <a:srgbClr val="000000"/>
                </a:solidFill>
                <a:effectLst/>
                <a:uFillTx/>
                <a:latin typeface="Times New Roman"/>
              </a:rPr>
              <a:t>	</a:t>
            </a:r>
            <a:r>
              <a:rPr b="0" lang="en-US" sz="1400" strike="noStrike" u="none">
                <a:solidFill>
                  <a:srgbClr val="000000"/>
                </a:solidFill>
                <a:effectLst/>
                <a:uFillTx/>
                <a:latin typeface="Times New Roman"/>
              </a:rPr>
              <a:t>	</a:t>
            </a:r>
            <a:r>
              <a:rPr b="0" lang="en-US" sz="1400" strike="noStrike" u="none">
                <a:solidFill>
                  <a:srgbClr val="000000"/>
                </a:solidFill>
                <a:effectLst/>
                <a:uFillTx/>
                <a:latin typeface="Times New Roman"/>
              </a:rPr>
              <a:t>Department of the Interior</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imes New Roman"/>
              </a:rPr>
              <a:t>703.874.8501</a:t>
            </a:r>
            <a:r>
              <a:rPr b="0" lang="en-US" sz="1400" strike="noStrike" u="none">
                <a:solidFill>
                  <a:srgbClr val="000000"/>
                </a:solidFill>
                <a:effectLst/>
                <a:uFillTx/>
                <a:latin typeface="Times New Roman"/>
              </a:rPr>
              <a:t>	</a:t>
            </a:r>
            <a:r>
              <a:rPr b="0" lang="en-US" sz="1400" strike="noStrike" u="none">
                <a:solidFill>
                  <a:srgbClr val="000000"/>
                </a:solidFill>
                <a:effectLst/>
                <a:uFillTx/>
                <a:latin typeface="Times New Roman"/>
              </a:rPr>
              <a:t>	</a:t>
            </a:r>
            <a:r>
              <a:rPr b="0" lang="en-US" sz="1400" strike="noStrike" u="none">
                <a:solidFill>
                  <a:srgbClr val="000000"/>
                </a:solidFill>
                <a:effectLst/>
                <a:uFillTx/>
                <a:latin typeface="Times New Roman"/>
              </a:rPr>
              <a:t>Senior Information Arhictect</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66"/>
                </a:solidFill>
                <a:effectLst/>
                <a:uFillTx/>
                <a:latin typeface="Times New Roman"/>
              </a:rPr>
              <a:t>bryanja@dni.gov</a:t>
            </a:r>
            <a:r>
              <a:rPr b="0" lang="en-US" sz="1400" strike="noStrike" u="none">
                <a:solidFill>
                  <a:srgbClr val="000066"/>
                </a:solidFill>
                <a:effectLst/>
                <a:uFillTx/>
                <a:latin typeface="Times New Roman"/>
              </a:rPr>
              <a:t>	</a:t>
            </a:r>
            <a:r>
              <a:rPr b="0" lang="en-US" sz="1400" strike="noStrike" u="none">
                <a:solidFill>
                  <a:srgbClr val="000066"/>
                </a:solidFill>
                <a:effectLst/>
                <a:uFillTx/>
                <a:latin typeface="Times New Roman"/>
              </a:rPr>
              <a:t>	</a:t>
            </a:r>
            <a:r>
              <a:rPr b="0" lang="en-US" sz="1400" strike="noStrike" u="none">
                <a:solidFill>
                  <a:srgbClr val="000066"/>
                </a:solidFill>
                <a:effectLst/>
                <a:uFillTx/>
                <a:latin typeface="Times New Roman"/>
              </a:rPr>
              <a:t>suzanne_acar@ios.doi.gov</a:t>
            </a:r>
            <a:endParaRPr b="0" lang="en-IN"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295280" y="228240"/>
            <a:ext cx="746784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Agenda</a:t>
            </a:r>
            <a:endParaRPr b="0" lang="en-IN" sz="3600" strike="noStrike" u="none">
              <a:solidFill>
                <a:srgbClr val="ffffff"/>
              </a:solidFill>
              <a:effectLst/>
              <a:uFillTx/>
              <a:latin typeface="Arial Narrow"/>
            </a:endParaRPr>
          </a:p>
        </p:txBody>
      </p:sp>
      <p:sp>
        <p:nvSpPr>
          <p:cNvPr id="24"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a:bodyPr>
          <a:p>
            <a:pPr marL="343080" indent="-343080">
              <a:spcBef>
                <a:spcPts val="700"/>
              </a:spcBef>
              <a:buSzPct val="102805"/>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Basic Data Sharing Concepts</a:t>
            </a:r>
            <a:endParaRPr b="0" lang="en-IN" sz="2800" strike="noStrike" u="none">
              <a:solidFill>
                <a:srgbClr val="000000"/>
              </a:solidFill>
              <a:effectLst/>
              <a:uFillTx/>
              <a:latin typeface="Arial"/>
            </a:endParaRPr>
          </a:p>
          <a:p>
            <a:pPr marL="343080" indent="-343080">
              <a:spcBef>
                <a:spcPts val="2625"/>
              </a:spcBef>
              <a:buSzPct val="102805"/>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What’s a Document according to the FEA   DRM?</a:t>
            </a:r>
            <a:endParaRPr b="0" lang="en-IN" sz="2800" strike="noStrike" u="none">
              <a:solidFill>
                <a:srgbClr val="000000"/>
              </a:solidFill>
              <a:effectLst/>
              <a:uFillTx/>
              <a:latin typeface="Arial"/>
            </a:endParaRPr>
          </a:p>
          <a:p>
            <a:pPr marL="343080" indent="-343080">
              <a:spcBef>
                <a:spcPts val="2625"/>
              </a:spcBef>
              <a:buSzPct val="102805"/>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FEA DRM Guidance on Privacy and Security</a:t>
            </a:r>
            <a:endParaRPr b="0" lang="en-IN" sz="2800" strike="noStrike" u="none">
              <a:solidFill>
                <a:srgbClr val="000000"/>
              </a:solidFill>
              <a:effectLst/>
              <a:uFillTx/>
              <a:latin typeface="Arial"/>
            </a:endParaRPr>
          </a:p>
          <a:p>
            <a:pPr marL="343080" indent="-343080">
              <a:spcBef>
                <a:spcPts val="2625"/>
              </a:spcBef>
              <a:buSzPct val="102805"/>
              <a:buBlip>
                <a:blip r:embed="rId4"/>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The Way Ahead</a:t>
            </a:r>
            <a:endParaRPr b="0" lang="en-IN" sz="2800" strike="noStrike" u="none">
              <a:solidFill>
                <a:srgbClr val="000000"/>
              </a:solidFill>
              <a:effectLst/>
              <a:uFillTx/>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Narrow"/>
              </a:rPr>
              <a:t>FEA DRM Concept</a:t>
            </a:r>
            <a:endParaRPr b="0" lang="en-IN" sz="3600" strike="noStrike" u="none">
              <a:solidFill>
                <a:srgbClr val="ffffff"/>
              </a:solidFill>
              <a:effectLst/>
              <a:uFillTx/>
              <a:latin typeface="Arial Narrow"/>
            </a:endParaRPr>
          </a:p>
        </p:txBody>
      </p:sp>
      <p:grpSp>
        <p:nvGrpSpPr>
          <p:cNvPr id="26" name=""/>
          <p:cNvGrpSpPr/>
          <p:nvPr/>
        </p:nvGrpSpPr>
        <p:grpSpPr>
          <a:xfrm>
            <a:off x="507960" y="1676520"/>
            <a:ext cx="8151840" cy="4724280"/>
            <a:chOff x="507960" y="1676520"/>
            <a:chExt cx="8151840" cy="4724280"/>
          </a:xfrm>
        </p:grpSpPr>
        <p:sp>
          <p:nvSpPr>
            <p:cNvPr id="27" name=""/>
            <p:cNvSpPr/>
            <p:nvPr/>
          </p:nvSpPr>
          <p:spPr>
            <a:xfrm>
              <a:off x="2590920" y="1752480"/>
              <a:ext cx="2627280" cy="1103400"/>
            </a:xfrm>
            <a:prstGeom prst="roundRect">
              <a:avLst>
                <a:gd name="adj" fmla="val 7426"/>
              </a:avLst>
            </a:prstGeom>
            <a:solidFill>
              <a:srgbClr val="0b1a59"/>
            </a:solidFill>
            <a:ln w="0">
              <a:noFill/>
            </a:ln>
          </p:spPr>
          <p:style>
            <a:lnRef idx="0"/>
            <a:fillRef idx="0"/>
            <a:effectRef idx="0"/>
            <a:fontRef idx="minor"/>
          </p:style>
          <p:txBody>
            <a:bodyPr lIns="0" rIns="0" tIns="46800" bIns="46800" anchor="ctr">
              <a:noAutofit/>
            </a:bodyPr>
            <a:p>
              <a:pPr algn="ctr">
                <a:lnSpc>
                  <a:spcPct val="10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Impact"/>
                </a:rPr>
                <a:t>Data Sharing</a:t>
              </a:r>
              <a:endParaRPr b="0" lang="en-IN" sz="1400" strike="noStrike" u="none">
                <a:solidFill>
                  <a:srgbClr val="000000"/>
                </a:solidFill>
                <a:effectLst/>
                <a:uFillTx/>
                <a:latin typeface="Times New Roman"/>
              </a:endParaRPr>
            </a:p>
          </p:txBody>
        </p:sp>
        <p:sp>
          <p:nvSpPr>
            <p:cNvPr id="28" name=""/>
            <p:cNvSpPr/>
            <p:nvPr/>
          </p:nvSpPr>
          <p:spPr>
            <a:xfrm>
              <a:off x="3112920" y="2617920"/>
              <a:ext cx="2951280" cy="911160"/>
            </a:xfrm>
            <a:prstGeom prst="roundRect">
              <a:avLst>
                <a:gd name="adj" fmla="val 19597"/>
              </a:avLst>
            </a:prstGeom>
            <a:solidFill>
              <a:srgbClr val="ffffff"/>
            </a:solidFill>
            <a:ln w="19080">
              <a:solidFill>
                <a:srgbClr val="ff9900"/>
              </a:solidFill>
              <a:miter/>
            </a:ln>
            <a:effectLst>
              <a:outerShdw dist="17819" dir="2700000" blurRad="0" rotWithShape="0">
                <a:srgbClr val="ff9900"/>
              </a:outerShdw>
            </a:effectLst>
          </p:spPr>
          <p:style>
            <a:lnRef idx="0"/>
            <a:fillRef idx="0"/>
            <a:effectRef idx="0"/>
            <a:fontRef idx="minor"/>
          </p:style>
          <p:txBody>
            <a:bodyPr lIns="90000" rIns="90000" tIns="73080" bIns="46800" anchor="ctr">
              <a:noAutofit/>
            </a:bodyPr>
            <a:p>
              <a:pPr algn="ctr">
                <a:lnSpc>
                  <a:spcPct val="100000"/>
                </a:lnSpc>
                <a:spcBef>
                  <a:spcPts val="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Query Points and Exchange Packages</a:t>
              </a:r>
              <a:endParaRPr b="0" lang="en-IN" sz="1400" strike="noStrike" u="none">
                <a:solidFill>
                  <a:srgbClr val="000000"/>
                </a:solidFill>
                <a:effectLst/>
                <a:uFillTx/>
                <a:latin typeface="Times New Roman"/>
              </a:endParaRPr>
            </a:p>
          </p:txBody>
        </p:sp>
        <p:sp>
          <p:nvSpPr>
            <p:cNvPr id="29" name=""/>
            <p:cNvSpPr/>
            <p:nvPr/>
          </p:nvSpPr>
          <p:spPr>
            <a:xfrm flipV="1">
              <a:off x="2846520" y="3582720"/>
              <a:ext cx="1052280" cy="1212840"/>
            </a:xfrm>
            <a:prstGeom prst="line">
              <a:avLst/>
            </a:prstGeom>
            <a:ln w="381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30" name=""/>
            <p:cNvSpPr/>
            <p:nvPr/>
          </p:nvSpPr>
          <p:spPr>
            <a:xfrm flipH="1" flipV="1">
              <a:off x="5070600" y="3582720"/>
              <a:ext cx="1047600" cy="1041480"/>
            </a:xfrm>
            <a:prstGeom prst="line">
              <a:avLst/>
            </a:prstGeom>
            <a:ln w="381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31" name=""/>
            <p:cNvSpPr/>
            <p:nvPr/>
          </p:nvSpPr>
          <p:spPr>
            <a:xfrm flipH="1">
              <a:off x="3898440" y="5141880"/>
              <a:ext cx="1306440" cy="0"/>
            </a:xfrm>
            <a:prstGeom prst="line">
              <a:avLst/>
            </a:prstGeom>
            <a:ln w="38160">
              <a:solidFill>
                <a:srgbClr val="0000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32" name=""/>
            <p:cNvSpPr/>
            <p:nvPr/>
          </p:nvSpPr>
          <p:spPr>
            <a:xfrm>
              <a:off x="1282680" y="4624560"/>
              <a:ext cx="2624040" cy="1103040"/>
            </a:xfrm>
            <a:prstGeom prst="roundRect">
              <a:avLst>
                <a:gd name="adj" fmla="val 7426"/>
              </a:avLst>
            </a:prstGeom>
            <a:solidFill>
              <a:srgbClr val="ff9900"/>
            </a:solidFill>
            <a:ln w="19080">
              <a:solidFill>
                <a:srgbClr val="993300"/>
              </a:solidFill>
              <a:miter/>
            </a:ln>
          </p:spPr>
          <p:style>
            <a:lnRef idx="0"/>
            <a:fillRef idx="0"/>
            <a:effectRef idx="0"/>
            <a:fontRef idx="minor"/>
          </p:style>
          <p:txBody>
            <a:bodyPr lIns="0" rIns="0" tIns="46800" bIns="46800" anchor="ctr">
              <a:noAutofit/>
            </a:bodyPr>
            <a:p>
              <a:pPr algn="ctr">
                <a:lnSpc>
                  <a:spcPct val="10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Impact"/>
                </a:rPr>
                <a:t>Data Description</a:t>
              </a:r>
              <a:endParaRPr b="0" lang="en-IN" sz="1400" strike="noStrike" u="none">
                <a:solidFill>
                  <a:srgbClr val="000000"/>
                </a:solidFill>
                <a:effectLst/>
                <a:uFillTx/>
                <a:latin typeface="Times New Roman"/>
              </a:endParaRPr>
            </a:p>
          </p:txBody>
        </p:sp>
        <p:sp>
          <p:nvSpPr>
            <p:cNvPr id="33" name=""/>
            <p:cNvSpPr/>
            <p:nvPr/>
          </p:nvSpPr>
          <p:spPr>
            <a:xfrm>
              <a:off x="1674720" y="5489640"/>
              <a:ext cx="2952720" cy="911160"/>
            </a:xfrm>
            <a:prstGeom prst="roundRect">
              <a:avLst>
                <a:gd name="adj" fmla="val 19597"/>
              </a:avLst>
            </a:prstGeom>
            <a:solidFill>
              <a:srgbClr val="ffffff"/>
            </a:solidFill>
            <a:ln w="19080">
              <a:solidFill>
                <a:srgbClr val="ff9900"/>
              </a:solidFill>
              <a:miter/>
            </a:ln>
            <a:effectLst>
              <a:outerShdw dist="17819" dir="2700000" blurRad="0" rotWithShape="0">
                <a:srgbClr val="ff9900"/>
              </a:outerShdw>
            </a:effectLst>
          </p:spPr>
          <p:style>
            <a:lnRef idx="0"/>
            <a:fillRef idx="0"/>
            <a:effectRef idx="0"/>
            <a:fontRef idx="minor"/>
          </p:style>
          <p:txBody>
            <a:bodyPr lIns="90000" rIns="90000" tIns="73080" bIns="46800" anchor="ctr">
              <a:noAutofit/>
            </a:bodyPr>
            <a:p>
              <a:pPr algn="ctr">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Data</a:t>
              </a:r>
              <a:endParaRPr b="0" lang="en-IN" sz="1400" strike="noStrike" u="none">
                <a:solidFill>
                  <a:srgbClr val="000000"/>
                </a:solidFill>
                <a:effectLst/>
                <a:uFillTx/>
                <a:latin typeface="Times New Roman"/>
              </a:endParaRPr>
            </a:p>
          </p:txBody>
        </p:sp>
        <p:sp>
          <p:nvSpPr>
            <p:cNvPr id="34" name=""/>
            <p:cNvSpPr/>
            <p:nvPr/>
          </p:nvSpPr>
          <p:spPr>
            <a:xfrm>
              <a:off x="5205240" y="4624560"/>
              <a:ext cx="2627640" cy="1103040"/>
            </a:xfrm>
            <a:prstGeom prst="roundRect">
              <a:avLst>
                <a:gd name="adj" fmla="val 7426"/>
              </a:avLst>
            </a:prstGeom>
            <a:solidFill>
              <a:srgbClr val="ffcc00"/>
            </a:solidFill>
            <a:ln w="19080">
              <a:solidFill>
                <a:srgbClr val="ff7d25"/>
              </a:solidFill>
              <a:miter/>
            </a:ln>
          </p:spPr>
          <p:style>
            <a:lnRef idx="0"/>
            <a:fillRef idx="0"/>
            <a:effectRef idx="0"/>
            <a:fontRef idx="minor"/>
          </p:style>
          <p:txBody>
            <a:bodyPr lIns="0" rIns="0" tIns="46800" bIns="46800" anchor="ctr">
              <a:noAutofit/>
            </a:bodyPr>
            <a:p>
              <a:pPr algn="ctr">
                <a:lnSpc>
                  <a:spcPct val="10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Impact"/>
                </a:rPr>
                <a:t>Data Context</a:t>
              </a:r>
              <a:endParaRPr b="0" lang="en-IN" sz="1400" strike="noStrike" u="none">
                <a:solidFill>
                  <a:srgbClr val="000000"/>
                </a:solidFill>
                <a:effectLst/>
                <a:uFillTx/>
                <a:latin typeface="Times New Roman"/>
              </a:endParaRPr>
            </a:p>
          </p:txBody>
        </p:sp>
        <p:sp>
          <p:nvSpPr>
            <p:cNvPr id="35" name=""/>
            <p:cNvSpPr/>
            <p:nvPr/>
          </p:nvSpPr>
          <p:spPr>
            <a:xfrm>
              <a:off x="5510160" y="5470560"/>
              <a:ext cx="3149640" cy="930240"/>
            </a:xfrm>
            <a:prstGeom prst="roundRect">
              <a:avLst>
                <a:gd name="adj" fmla="val 19597"/>
              </a:avLst>
            </a:prstGeom>
            <a:solidFill>
              <a:srgbClr val="ffffff"/>
            </a:solidFill>
            <a:ln w="19080">
              <a:solidFill>
                <a:srgbClr val="ff9900"/>
              </a:solidFill>
              <a:miter/>
            </a:ln>
            <a:effectLst>
              <a:outerShdw dist="17819" dir="2700000" blurRad="0" rotWithShape="0">
                <a:srgbClr val="ff9900"/>
              </a:outerShdw>
            </a:effectLst>
          </p:spPr>
          <p:style>
            <a:lnRef idx="0"/>
            <a:fillRef idx="0"/>
            <a:effectRef idx="0"/>
            <a:fontRef idx="minor"/>
          </p:style>
          <p:txBody>
            <a:bodyPr lIns="90000" rIns="90000" tIns="73080" bIns="46800" anchor="ctr">
              <a:noAutofit/>
            </a:bodyPr>
            <a:p>
              <a:pPr algn="ctr">
                <a:lnSpc>
                  <a:spcPct val="100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Taxonomies</a:t>
              </a:r>
              <a:endParaRPr b="0" lang="en-IN" sz="1400" strike="noStrike" u="none">
                <a:solidFill>
                  <a:srgbClr val="000000"/>
                </a:solidFill>
                <a:effectLst/>
                <a:uFillTx/>
                <a:latin typeface="Times New Roman"/>
              </a:endParaRPr>
            </a:p>
          </p:txBody>
        </p:sp>
        <p:sp>
          <p:nvSpPr>
            <p:cNvPr id="36" name=""/>
            <p:cNvSpPr/>
            <p:nvPr/>
          </p:nvSpPr>
          <p:spPr>
            <a:xfrm>
              <a:off x="5362560" y="1676520"/>
              <a:ext cx="2181240" cy="609480"/>
            </a:xfrm>
            <a:prstGeom prst="wedgeRoundRectCallout">
              <a:avLst>
                <a:gd name="adj1" fmla="val -54365"/>
                <a:gd name="adj2" fmla="val -23699"/>
                <a:gd name="adj3" fmla="val 16667"/>
              </a:avLst>
            </a:prstGeom>
            <a:solidFill>
              <a:srgbClr val="33cc33"/>
            </a:solidFill>
            <a:ln w="9360">
              <a:solidFill>
                <a:srgbClr val="ccccff"/>
              </a:solidFill>
              <a:miter/>
            </a:ln>
          </p:spPr>
          <p:style>
            <a:lnRef idx="0"/>
            <a:fillRef idx="0"/>
            <a:effectRef idx="0"/>
            <a:fontRef idx="minor"/>
          </p:style>
          <p:txBody>
            <a:bodyPr lIns="45720" rIns="4572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66"/>
                  </a:solidFill>
                  <a:effectLst/>
                  <a:uFillTx/>
                  <a:latin typeface="Arial"/>
                </a:rPr>
                <a:t>How do I exchange the data?</a:t>
              </a:r>
              <a:endParaRPr b="0" lang="en-IN" sz="1600" strike="noStrike" u="none">
                <a:solidFill>
                  <a:srgbClr val="000000"/>
                </a:solidFill>
                <a:effectLst/>
                <a:uFillTx/>
                <a:latin typeface="Times New Roman"/>
              </a:endParaRPr>
            </a:p>
          </p:txBody>
        </p:sp>
        <p:sp>
          <p:nvSpPr>
            <p:cNvPr id="37" name=""/>
            <p:cNvSpPr/>
            <p:nvPr/>
          </p:nvSpPr>
          <p:spPr>
            <a:xfrm>
              <a:off x="507960" y="3886200"/>
              <a:ext cx="1617840" cy="609480"/>
            </a:xfrm>
            <a:prstGeom prst="wedgeRoundRectCallout">
              <a:avLst>
                <a:gd name="adj1" fmla="val 86407"/>
                <a:gd name="adj2" fmla="val 68750"/>
                <a:gd name="adj3" fmla="val 16667"/>
              </a:avLst>
            </a:prstGeom>
            <a:solidFill>
              <a:srgbClr val="33cc33"/>
            </a:solidFill>
            <a:ln w="9360">
              <a:solidFill>
                <a:srgbClr val="ccccff"/>
              </a:solidFill>
              <a:miter/>
            </a:ln>
          </p:spPr>
          <p:style>
            <a:lnRef idx="0"/>
            <a:fillRef idx="0"/>
            <a:effectRef idx="0"/>
            <a:fontRef idx="minor"/>
          </p:style>
          <p:txBody>
            <a:bodyPr lIns="45720" rIns="4572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66"/>
                  </a:solidFill>
                  <a:effectLst/>
                  <a:uFillTx/>
                  <a:latin typeface="Arial"/>
                </a:rPr>
                <a:t>What does the data mean?</a:t>
              </a:r>
              <a:endParaRPr b="0" lang="en-IN" sz="1600" strike="noStrike" u="none">
                <a:solidFill>
                  <a:srgbClr val="000000"/>
                </a:solidFill>
                <a:effectLst/>
                <a:uFillTx/>
                <a:latin typeface="Times New Roman"/>
              </a:endParaRPr>
            </a:p>
          </p:txBody>
        </p:sp>
        <p:sp>
          <p:nvSpPr>
            <p:cNvPr id="38" name=""/>
            <p:cNvSpPr/>
            <p:nvPr/>
          </p:nvSpPr>
          <p:spPr>
            <a:xfrm>
              <a:off x="6934320" y="3657600"/>
              <a:ext cx="1619280" cy="838080"/>
            </a:xfrm>
            <a:prstGeom prst="wedgeRoundRectCallout">
              <a:avLst>
                <a:gd name="adj1" fmla="val -77550"/>
                <a:gd name="adj2" fmla="val 60037"/>
                <a:gd name="adj3" fmla="val 16667"/>
              </a:avLst>
            </a:prstGeom>
            <a:solidFill>
              <a:srgbClr val="33cc33"/>
            </a:solidFill>
            <a:ln w="9360">
              <a:solidFill>
                <a:srgbClr val="ccccff"/>
              </a:solidFill>
              <a:miter/>
            </a:ln>
          </p:spPr>
          <p:style>
            <a:lnRef idx="0"/>
            <a:fillRef idx="0"/>
            <a:effectRef idx="0"/>
            <a:fontRef idx="minor"/>
          </p:style>
          <p:txBody>
            <a:bodyPr lIns="45720" rIns="4572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66"/>
                  </a:solidFill>
                  <a:effectLst/>
                  <a:uFillTx/>
                  <a:latin typeface="Arial"/>
                </a:rPr>
                <a:t>How do I find the data and access it?</a:t>
              </a:r>
              <a:endParaRPr b="0" lang="en-IN" sz="1600" strike="noStrike" u="none">
                <a:solidFill>
                  <a:srgbClr val="000000"/>
                </a:solidFill>
                <a:effectLst/>
                <a:uFillTx/>
                <a:latin typeface="Times New Roman"/>
              </a:endParaRPr>
            </a:p>
          </p:txBody>
        </p:sp>
      </p:grpSp>
      <p:sp>
        <p:nvSpPr>
          <p:cNvPr id="39" name=""/>
          <p:cNvSpPr/>
          <p:nvPr/>
        </p:nvSpPr>
        <p:spPr>
          <a:xfrm>
            <a:off x="1282680" y="6400800"/>
            <a:ext cx="3446640" cy="276840"/>
          </a:xfrm>
          <a:prstGeom prst="rect">
            <a:avLst/>
          </a:prstGeom>
          <a:noFill/>
          <a:ln w="0">
            <a:noFill/>
          </a:ln>
        </p:spPr>
        <p:style>
          <a:lnRef idx="0"/>
          <a:fillRef idx="0"/>
          <a:effectRef idx="0"/>
          <a:fontRef idx="minor"/>
        </p:style>
        <p:txBody>
          <a:bodyPr lIns="45720" rIns="4572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663300"/>
                </a:solidFill>
                <a:effectLst/>
                <a:uFillTx/>
                <a:latin typeface="Arial"/>
              </a:rPr>
              <a:t>Based on FEA DRM Version 2.0</a:t>
            </a:r>
            <a:endParaRPr b="0" lang="en-IN" sz="1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295280" y="228240"/>
            <a:ext cx="746784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Narrow"/>
              </a:rPr>
              <a:t>The DRM Data Strategy Framework</a:t>
            </a:r>
            <a:r>
              <a:rPr b="0" lang="en-IN" sz="3200" strike="noStrike" u="none">
                <a:solidFill>
                  <a:srgbClr val="ffffff"/>
                </a:solidFill>
                <a:effectLst/>
                <a:uFillTx/>
                <a:latin typeface="Arial Narrow"/>
              </a:rPr>
              <a:t>  </a:t>
            </a:r>
            <a:endParaRPr b="0" lang="en-IN" sz="3200" strike="noStrike" u="none">
              <a:solidFill>
                <a:srgbClr val="ffffff"/>
              </a:solidFill>
              <a:effectLst/>
              <a:uFillTx/>
              <a:latin typeface="Arial Narrow"/>
            </a:endParaRPr>
          </a:p>
        </p:txBody>
      </p:sp>
      <p:sp>
        <p:nvSpPr>
          <p:cNvPr id="41" name=""/>
          <p:cNvSpPr/>
          <p:nvPr/>
        </p:nvSpPr>
        <p:spPr>
          <a:xfrm>
            <a:off x="246240" y="5483160"/>
            <a:ext cx="8381880" cy="825480"/>
          </a:xfrm>
          <a:prstGeom prst="rect">
            <a:avLst/>
          </a:prstGeom>
          <a:solidFill>
            <a:srgbClr val="800000"/>
          </a:solid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00"/>
                </a:solidFill>
                <a:effectLst/>
                <a:uFillTx/>
                <a:latin typeface="Times New Roman"/>
              </a:rPr>
              <a:t>Goals drive; governance controls; structure defines; and services enable data strategy.</a:t>
            </a:r>
            <a:endParaRPr b="0" lang="en-IN" sz="2400" strike="noStrike" u="none">
              <a:solidFill>
                <a:srgbClr val="000000"/>
              </a:solidFill>
              <a:effectLst/>
              <a:uFillTx/>
              <a:latin typeface="Times New Roman"/>
            </a:endParaRPr>
          </a:p>
        </p:txBody>
      </p:sp>
      <p:sp>
        <p:nvSpPr>
          <p:cNvPr id="42" name=""/>
          <p:cNvSpPr/>
          <p:nvPr/>
        </p:nvSpPr>
        <p:spPr>
          <a:xfrm>
            <a:off x="517680" y="6289560"/>
            <a:ext cx="183960" cy="4572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grpSp>
        <p:nvGrpSpPr>
          <p:cNvPr id="43" name=""/>
          <p:cNvGrpSpPr/>
          <p:nvPr/>
        </p:nvGrpSpPr>
        <p:grpSpPr>
          <a:xfrm>
            <a:off x="457200" y="1596960"/>
            <a:ext cx="8319600" cy="3505320"/>
            <a:chOff x="457200" y="1596960"/>
            <a:chExt cx="8319600" cy="3505320"/>
          </a:xfrm>
        </p:grpSpPr>
        <p:grpSp>
          <p:nvGrpSpPr>
            <p:cNvPr id="44" name=""/>
            <p:cNvGrpSpPr/>
            <p:nvPr/>
          </p:nvGrpSpPr>
          <p:grpSpPr>
            <a:xfrm>
              <a:off x="457200" y="1749240"/>
              <a:ext cx="4601160" cy="854280"/>
              <a:chOff x="457200" y="1749240"/>
              <a:chExt cx="4601160" cy="854280"/>
            </a:xfrm>
          </p:grpSpPr>
          <p:sp>
            <p:nvSpPr>
              <p:cNvPr id="45" name=""/>
              <p:cNvSpPr/>
              <p:nvPr/>
            </p:nvSpPr>
            <p:spPr>
              <a:xfrm>
                <a:off x="457200" y="1749240"/>
                <a:ext cx="1523160" cy="854280"/>
              </a:xfrm>
              <a:prstGeom prst="ellipse">
                <a:avLst/>
              </a:pr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00"/>
                    </a:solidFill>
                    <a:effectLst/>
                    <a:uFillTx/>
                    <a:latin typeface="Arial"/>
                  </a:rPr>
                  <a:t>Business &amp;</a:t>
                </a:r>
                <a:endParaRPr b="0" lang="en-IN" sz="1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00"/>
                    </a:solidFill>
                    <a:effectLst/>
                    <a:uFillTx/>
                    <a:latin typeface="Arial"/>
                  </a:rPr>
                  <a:t>Data Goals</a:t>
                </a:r>
                <a:r>
                  <a:rPr b="0" lang="en-IN" sz="1800" strike="noStrike" u="none">
                    <a:solidFill>
                      <a:srgbClr val="000000"/>
                    </a:solidFill>
                    <a:effectLst/>
                    <a:uFillTx/>
                    <a:latin typeface="Arial"/>
                  </a:rPr>
                  <a:t> </a:t>
                </a:r>
                <a:endParaRPr b="0" lang="en-IN" sz="1800" strike="noStrike" u="none">
                  <a:solidFill>
                    <a:srgbClr val="000000"/>
                  </a:solidFill>
                  <a:effectLst/>
                  <a:uFillTx/>
                  <a:latin typeface="Times New Roman"/>
                </a:endParaRPr>
              </a:p>
            </p:txBody>
          </p:sp>
          <p:sp>
            <p:nvSpPr>
              <p:cNvPr id="46" name=""/>
              <p:cNvSpPr/>
              <p:nvPr/>
            </p:nvSpPr>
            <p:spPr>
              <a:xfrm>
                <a:off x="1934640" y="1962720"/>
                <a:ext cx="3123720" cy="498240"/>
              </a:xfrm>
              <a:custGeom>
                <a:avLst/>
                <a:gdLst>
                  <a:gd name="textAreaLeft" fmla="*/ 0 w 3123720"/>
                  <a:gd name="textAreaRight" fmla="*/ 3124080 w 3123720"/>
                  <a:gd name="textAreaTop" fmla="*/ 0 h 498240"/>
                  <a:gd name="textAreaBottom" fmla="*/ 498600 h 498240"/>
                </a:gdLst>
                <a:ahLst/>
                <a:cxnLst/>
                <a:rect l="textAreaLeft" t="textAreaTop" r="textAreaRight" b="textAreaBottom"/>
                <a:pathLst>
                  <a:path w="21600" h="21600">
                    <a:moveTo>
                      <a:pt x="16300" y="10800"/>
                    </a:moveTo>
                    <a:arcTo wR="5500" hR="5500" stAng="0" swAng="-10800000"/>
                    <a:lnTo>
                      <a:pt x="0" y="10800"/>
                    </a:lnTo>
                    <a:arcTo wR="10800" hR="10800" stAng="10800000" swAng="10800000"/>
                    <a:lnTo>
                      <a:pt x="24300" y="10800"/>
                    </a:lnTo>
                    <a:lnTo>
                      <a:pt x="18950" y="16150"/>
                    </a:lnTo>
                    <a:lnTo>
                      <a:pt x="13600" y="10800"/>
                    </a:lnTo>
                    <a:close/>
                  </a:path>
                </a:pathLst>
              </a:cu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47" name=""/>
              <p:cNvSpPr/>
              <p:nvPr/>
            </p:nvSpPr>
            <p:spPr>
              <a:xfrm>
                <a:off x="2972160" y="2009880"/>
                <a:ext cx="727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drive</a:t>
                </a:r>
                <a:endParaRPr b="0" lang="en-IN" sz="1800" strike="noStrike" u="none">
                  <a:solidFill>
                    <a:srgbClr val="000000"/>
                  </a:solidFill>
                  <a:effectLst/>
                  <a:uFillTx/>
                  <a:latin typeface="Times New Roman"/>
                </a:endParaRPr>
              </a:p>
            </p:txBody>
          </p:sp>
        </p:grpSp>
        <p:sp>
          <p:nvSpPr>
            <p:cNvPr id="48" name=""/>
            <p:cNvSpPr/>
            <p:nvPr/>
          </p:nvSpPr>
          <p:spPr>
            <a:xfrm>
              <a:off x="2711880" y="2968560"/>
              <a:ext cx="3356280" cy="1447920"/>
            </a:xfrm>
            <a:prstGeom prst="triangle">
              <a:avLst>
                <a:gd name="adj" fmla="val 50000"/>
              </a:avLst>
            </a:prstGeom>
            <a:solidFill>
              <a:srgbClr val="003300"/>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49" name=""/>
            <p:cNvSpPr/>
            <p:nvPr/>
          </p:nvSpPr>
          <p:spPr>
            <a:xfrm>
              <a:off x="3412080" y="2390760"/>
              <a:ext cx="1928880" cy="806400"/>
            </a:xfrm>
            <a:prstGeom prst="ellipse">
              <a:avLst/>
            </a:prstGeom>
            <a:solidFill>
              <a:srgbClr val="0000ff"/>
            </a:solidFill>
            <a:ln w="9360">
              <a:solidFill>
                <a:srgbClr val="000000"/>
              </a:solidFill>
              <a:miter/>
            </a:ln>
            <a:effectLst>
              <a:outerShdw dist="107932" dir="2700000" blurRad="0" rotWithShape="0">
                <a:srgbClr val="808080">
                  <a:alpha val="50000"/>
                </a:srgbClr>
              </a:outerShdw>
            </a:effectLst>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50" name=""/>
            <p:cNvSpPr/>
            <p:nvPr/>
          </p:nvSpPr>
          <p:spPr>
            <a:xfrm>
              <a:off x="5411160" y="4035240"/>
              <a:ext cx="3048120" cy="1067040"/>
            </a:xfrm>
            <a:prstGeom prst="ellipse">
              <a:avLst/>
            </a:prstGeom>
            <a:solidFill>
              <a:srgbClr val="ffcc00"/>
            </a:solidFill>
            <a:ln w="9360">
              <a:solidFill>
                <a:srgbClr val="000000"/>
              </a:solidFill>
              <a:miter/>
            </a:ln>
            <a:effectLst>
              <a:outerShdw dist="107932" dir="2700000" blurRad="0" rotWithShape="0">
                <a:srgbClr val="808080">
                  <a:alpha val="50000"/>
                </a:srgbClr>
              </a:outerShdw>
            </a:effectLst>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Information Sharing/Exchange</a:t>
              </a:r>
              <a:endParaRPr b="0" lang="en-IN" sz="1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(Services)</a:t>
              </a:r>
              <a:endParaRPr b="0" lang="en-IN" sz="1400" strike="noStrike" u="none">
                <a:solidFill>
                  <a:srgbClr val="000000"/>
                </a:solidFill>
                <a:effectLst/>
                <a:uFillTx/>
                <a:latin typeface="Times New Roman"/>
              </a:endParaRPr>
            </a:p>
          </p:txBody>
        </p:sp>
        <p:sp>
          <p:nvSpPr>
            <p:cNvPr id="51" name=""/>
            <p:cNvSpPr/>
            <p:nvPr/>
          </p:nvSpPr>
          <p:spPr>
            <a:xfrm>
              <a:off x="3582000" y="2587680"/>
              <a:ext cx="165240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Governance</a:t>
              </a:r>
              <a:endParaRPr b="0" lang="en-IN" sz="2000" strike="noStrike" u="none">
                <a:solidFill>
                  <a:srgbClr val="000000"/>
                </a:solidFill>
                <a:effectLst/>
                <a:uFillTx/>
                <a:latin typeface="Times New Roman"/>
              </a:endParaRPr>
            </a:p>
          </p:txBody>
        </p:sp>
        <p:sp>
          <p:nvSpPr>
            <p:cNvPr id="52" name=""/>
            <p:cNvSpPr/>
            <p:nvPr/>
          </p:nvSpPr>
          <p:spPr>
            <a:xfrm>
              <a:off x="3312720" y="3792600"/>
              <a:ext cx="2103480" cy="3988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66"/>
                  </a:solidFill>
                  <a:effectLst/>
                  <a:uFillTx/>
                  <a:latin typeface="Arial Black"/>
                </a:rPr>
                <a:t>Data Strategy</a:t>
              </a:r>
              <a:endParaRPr b="0" lang="en-IN" sz="2000" strike="noStrike" u="none">
                <a:solidFill>
                  <a:srgbClr val="000000"/>
                </a:solidFill>
                <a:effectLst/>
                <a:uFillTx/>
                <a:latin typeface="Times New Roman"/>
              </a:endParaRPr>
            </a:p>
          </p:txBody>
        </p:sp>
        <p:sp>
          <p:nvSpPr>
            <p:cNvPr id="53" name=""/>
            <p:cNvSpPr/>
            <p:nvPr/>
          </p:nvSpPr>
          <p:spPr>
            <a:xfrm>
              <a:off x="685800" y="4035240"/>
              <a:ext cx="2386440" cy="1067040"/>
            </a:xfrm>
            <a:prstGeom prst="ellipse">
              <a:avLst/>
            </a:prstGeom>
            <a:solidFill>
              <a:srgbClr val="00cc00"/>
            </a:solidFill>
            <a:ln w="9360">
              <a:solidFill>
                <a:srgbClr val="000000"/>
              </a:solidFill>
              <a:miter/>
            </a:ln>
            <a:effectLst>
              <a:outerShdw dist="107932" dir="2700000" blurRad="0" rotWithShape="0">
                <a:srgbClr val="808080">
                  <a:alpha val="50000"/>
                </a:srgbClr>
              </a:outerShdw>
            </a:effectLst>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54" name=""/>
            <p:cNvSpPr/>
            <p:nvPr/>
          </p:nvSpPr>
          <p:spPr>
            <a:xfrm>
              <a:off x="811080" y="4392720"/>
              <a:ext cx="2086200" cy="5817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Data Architecture</a:t>
              </a:r>
              <a:endParaRPr b="0" lang="en-IN" sz="1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(Structure)</a:t>
              </a:r>
              <a:endParaRPr b="0" lang="en-IN" sz="1400" strike="noStrike" u="none">
                <a:solidFill>
                  <a:srgbClr val="000000"/>
                </a:solidFill>
                <a:effectLst/>
                <a:uFillTx/>
                <a:latin typeface="Times New Roman"/>
              </a:endParaRPr>
            </a:p>
          </p:txBody>
        </p:sp>
        <p:sp>
          <p:nvSpPr>
            <p:cNvPr id="55" name=""/>
            <p:cNvSpPr/>
            <p:nvPr/>
          </p:nvSpPr>
          <p:spPr>
            <a:xfrm>
              <a:off x="6174360" y="1596960"/>
              <a:ext cx="260244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000000"/>
                  </a:solidFill>
                  <a:effectLst/>
                  <a:uFillTx/>
                  <a:latin typeface="Times New Roman"/>
                </a:rPr>
                <a:t>The Rule: All 3 </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000000"/>
                  </a:solidFill>
                  <a:effectLst/>
                  <a:uFillTx/>
                  <a:latin typeface="Times New Roman"/>
                </a:rPr>
                <a:t>pillars are required</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000000"/>
                  </a:solidFill>
                  <a:effectLst/>
                  <a:uFillTx/>
                  <a:latin typeface="Times New Roman"/>
                </a:rPr>
                <a:t>for an effective</a:t>
              </a:r>
              <a:endParaRPr b="0" lang="en-IN" sz="2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000000"/>
                  </a:solidFill>
                  <a:effectLst/>
                  <a:uFillTx/>
                  <a:latin typeface="Times New Roman"/>
                </a:rPr>
                <a:t>data strategy.</a:t>
              </a:r>
              <a:endParaRPr b="0" lang="en-IN" sz="2400" strike="noStrike" u="none">
                <a:solidFill>
                  <a:srgbClr val="000000"/>
                </a:solidFill>
                <a:effectLst/>
                <a:uFillTx/>
                <a:latin typeface="Times New Roman"/>
              </a:endParaRPr>
            </a:p>
          </p:txBody>
        </p:sp>
      </p:grpSp>
      <p:sp>
        <p:nvSpPr>
          <p:cNvPr id="56" name=""/>
          <p:cNvSpPr/>
          <p:nvPr/>
        </p:nvSpPr>
        <p:spPr>
          <a:xfrm>
            <a:off x="1255320" y="6583320"/>
            <a:ext cx="4496760" cy="276840"/>
          </a:xfrm>
          <a:prstGeom prst="rect">
            <a:avLst/>
          </a:prstGeom>
          <a:noFill/>
          <a:ln w="0">
            <a:noFill/>
          </a:ln>
        </p:spPr>
        <p:style>
          <a:lnRef idx="0"/>
          <a:fillRef idx="0"/>
          <a:effectRef idx="0"/>
          <a:fontRef idx="minor"/>
        </p:style>
        <p:txBody>
          <a:bodyPr wrap="none" lIns="45720" rIns="4572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Arial"/>
              </a:rPr>
              <a:t>Special thanks to Laila Moretto and Forrest Snyder, MITRE Corp.</a:t>
            </a:r>
            <a:endParaRPr b="0" lang="en-IN" sz="1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7" name="" descr=""/>
          <p:cNvPicPr/>
          <p:nvPr/>
        </p:nvPicPr>
        <p:blipFill>
          <a:blip r:embed="rId1"/>
          <a:stretch/>
        </p:blipFill>
        <p:spPr>
          <a:xfrm>
            <a:off x="2057400" y="1905120"/>
            <a:ext cx="6488280" cy="3562200"/>
          </a:xfrm>
          <a:prstGeom prst="rect">
            <a:avLst/>
          </a:prstGeom>
          <a:noFill/>
          <a:ln w="0">
            <a:noFill/>
          </a:ln>
        </p:spPr>
      </p:pic>
      <p:sp>
        <p:nvSpPr>
          <p:cNvPr id="58" name="PlaceHolder 1"/>
          <p:cNvSpPr>
            <a:spLocks noGrp="1"/>
          </p:cNvSpPr>
          <p:nvPr>
            <p:ph type="title"/>
          </p:nvPr>
        </p:nvSpPr>
        <p:spPr>
          <a:xfrm>
            <a:off x="1523880" y="228240"/>
            <a:ext cx="7467840" cy="1143000"/>
          </a:xfrm>
          <a:prstGeom prst="rect">
            <a:avLst/>
          </a:prstGeom>
          <a:noFill/>
          <a:ln w="0">
            <a:noFill/>
          </a:ln>
        </p:spPr>
        <p:txBody>
          <a:bodyPr lIns="92160" rIns="9216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COI and LOB Implementation</a:t>
            </a:r>
            <a:endParaRPr b="0" lang="en-IN" sz="3600" strike="noStrike" u="none">
              <a:solidFill>
                <a:srgbClr val="ffffff"/>
              </a:solidFill>
              <a:effectLst/>
              <a:uFillTx/>
              <a:latin typeface="Arial Narrow"/>
            </a:endParaRPr>
          </a:p>
        </p:txBody>
      </p:sp>
      <p:sp>
        <p:nvSpPr>
          <p:cNvPr id="59" name=""/>
          <p:cNvSpPr/>
          <p:nvPr/>
        </p:nvSpPr>
        <p:spPr>
          <a:xfrm>
            <a:off x="3954240" y="5715000"/>
            <a:ext cx="4904640" cy="1008720"/>
          </a:xfrm>
          <a:prstGeom prst="rect">
            <a:avLst/>
          </a:prstGeom>
          <a:solidFill>
            <a:srgbClr val="99cc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Each COI or LOB will implement the </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three pillar framework strategy and will</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focus on business requirements.</a:t>
            </a:r>
            <a:endParaRPr b="0" lang="en-IN" sz="2000" strike="noStrike" u="none">
              <a:solidFill>
                <a:srgbClr val="000000"/>
              </a:solidFill>
              <a:effectLst/>
              <a:uFillTx/>
              <a:latin typeface="Times New Roman"/>
            </a:endParaRPr>
          </a:p>
        </p:txBody>
      </p:sp>
      <p:grpSp>
        <p:nvGrpSpPr>
          <p:cNvPr id="60" name=""/>
          <p:cNvGrpSpPr/>
          <p:nvPr/>
        </p:nvGrpSpPr>
        <p:grpSpPr>
          <a:xfrm>
            <a:off x="228600" y="4572000"/>
            <a:ext cx="3733560" cy="1576440"/>
            <a:chOff x="228600" y="4572000"/>
            <a:chExt cx="3733560" cy="1576440"/>
          </a:xfrm>
        </p:grpSpPr>
        <p:sp>
          <p:nvSpPr>
            <p:cNvPr id="61" name=""/>
            <p:cNvSpPr/>
            <p:nvPr/>
          </p:nvSpPr>
          <p:spPr>
            <a:xfrm>
              <a:off x="228600" y="4572000"/>
              <a:ext cx="823680" cy="515880"/>
            </a:xfrm>
            <a:prstGeom prst="ellipse">
              <a:avLst/>
            </a:pr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ffff00"/>
                  </a:solidFill>
                  <a:effectLst/>
                  <a:uFillTx/>
                  <a:latin typeface="Arial"/>
                </a:rPr>
                <a:t>Business &amp;</a:t>
              </a:r>
              <a:endParaRPr b="0" lang="en-IN" sz="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ffff00"/>
                  </a:solidFill>
                  <a:effectLst/>
                  <a:uFillTx/>
                  <a:latin typeface="Arial"/>
                </a:rPr>
                <a:t>Data Goals</a:t>
              </a:r>
              <a:r>
                <a:rPr b="0" lang="en-IN" sz="1800" strike="noStrike" u="none">
                  <a:solidFill>
                    <a:srgbClr val="000000"/>
                  </a:solidFill>
                  <a:effectLst/>
                  <a:uFillTx/>
                  <a:latin typeface="Arial"/>
                </a:rPr>
                <a:t> </a:t>
              </a:r>
              <a:endParaRPr b="0" lang="en-IN" sz="1800" strike="noStrike" u="none">
                <a:solidFill>
                  <a:srgbClr val="000000"/>
                </a:solidFill>
                <a:effectLst/>
                <a:uFillTx/>
                <a:latin typeface="Times New Roman"/>
              </a:endParaRPr>
            </a:p>
          </p:txBody>
        </p:sp>
        <p:sp>
          <p:nvSpPr>
            <p:cNvPr id="62" name=""/>
            <p:cNvSpPr/>
            <p:nvPr/>
          </p:nvSpPr>
          <p:spPr>
            <a:xfrm>
              <a:off x="1033200" y="4815000"/>
              <a:ext cx="1100160" cy="214200"/>
            </a:xfrm>
            <a:custGeom>
              <a:avLst/>
              <a:gdLst>
                <a:gd name="textAreaLeft" fmla="*/ 0 w 1100160"/>
                <a:gd name="textAreaRight" fmla="*/ 1100520 w 1100160"/>
                <a:gd name="textAreaTop" fmla="*/ 0 h 214200"/>
                <a:gd name="textAreaBottom" fmla="*/ 214560 h 214200"/>
              </a:gdLst>
              <a:ahLst/>
              <a:cxnLst/>
              <a:rect l="textAreaLeft" t="textAreaTop" r="textAreaRight" b="textAreaBottom"/>
              <a:pathLst>
                <a:path w="21600" h="21600">
                  <a:moveTo>
                    <a:pt x="16300" y="10800"/>
                  </a:moveTo>
                  <a:arcTo wR="5500" hR="5500" stAng="0" swAng="-10800000"/>
                  <a:lnTo>
                    <a:pt x="0" y="10800"/>
                  </a:lnTo>
                  <a:arcTo wR="10800" hR="10800" stAng="10800000" swAng="10800000"/>
                  <a:lnTo>
                    <a:pt x="24300" y="10800"/>
                  </a:lnTo>
                  <a:lnTo>
                    <a:pt x="18950" y="16150"/>
                  </a:lnTo>
                  <a:lnTo>
                    <a:pt x="13600" y="10800"/>
                  </a:lnTo>
                  <a:close/>
                </a:path>
              </a:pathLst>
            </a:cu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63" name=""/>
            <p:cNvSpPr/>
            <p:nvPr/>
          </p:nvSpPr>
          <p:spPr>
            <a:xfrm>
              <a:off x="1068480" y="4924440"/>
              <a:ext cx="424800" cy="2156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drive</a:t>
              </a:r>
              <a:endParaRPr b="0" lang="en-IN" sz="800" strike="noStrike" u="none">
                <a:solidFill>
                  <a:srgbClr val="000000"/>
                </a:solidFill>
                <a:effectLst/>
                <a:uFillTx/>
                <a:latin typeface="Times New Roman"/>
              </a:endParaRPr>
            </a:p>
          </p:txBody>
        </p:sp>
        <p:sp>
          <p:nvSpPr>
            <p:cNvPr id="64" name=""/>
            <p:cNvSpPr/>
            <p:nvPr/>
          </p:nvSpPr>
          <p:spPr>
            <a:xfrm>
              <a:off x="1347840" y="5241960"/>
              <a:ext cx="1355400" cy="615960"/>
            </a:xfrm>
            <a:prstGeom prst="triangle">
              <a:avLst>
                <a:gd name="adj" fmla="val 50000"/>
              </a:avLst>
            </a:prstGeom>
            <a:solidFill>
              <a:srgbClr val="003300"/>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65" name=""/>
            <p:cNvSpPr/>
            <p:nvPr/>
          </p:nvSpPr>
          <p:spPr>
            <a:xfrm>
              <a:off x="1531800" y="5023080"/>
              <a:ext cx="960480" cy="336600"/>
            </a:xfrm>
            <a:prstGeom prst="ellipse">
              <a:avLst/>
            </a:prstGeom>
            <a:solidFill>
              <a:srgbClr val="0000ff"/>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66" name=""/>
            <p:cNvSpPr/>
            <p:nvPr/>
          </p:nvSpPr>
          <p:spPr>
            <a:xfrm>
              <a:off x="2436840" y="5695920"/>
              <a:ext cx="1525320" cy="452520"/>
            </a:xfrm>
            <a:prstGeom prst="ellipse">
              <a:avLst/>
            </a:prstGeom>
            <a:solidFill>
              <a:srgbClr val="ffcc00"/>
            </a:solidFill>
            <a:ln w="9360">
              <a:solidFill>
                <a:srgbClr val="000000"/>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Information Sharing/Exchange</a:t>
              </a:r>
              <a:endParaRPr b="0" lang="en-IN" sz="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(Services)</a:t>
              </a:r>
              <a:endParaRPr b="0" lang="en-IN" sz="800" strike="noStrike" u="none">
                <a:solidFill>
                  <a:srgbClr val="000000"/>
                </a:solidFill>
                <a:effectLst/>
                <a:uFillTx/>
                <a:latin typeface="Times New Roman"/>
              </a:endParaRPr>
            </a:p>
          </p:txBody>
        </p:sp>
        <p:sp>
          <p:nvSpPr>
            <p:cNvPr id="67" name=""/>
            <p:cNvSpPr/>
            <p:nvPr/>
          </p:nvSpPr>
          <p:spPr>
            <a:xfrm>
              <a:off x="1600200" y="5105520"/>
              <a:ext cx="815760" cy="2156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ffffff"/>
                  </a:solidFill>
                  <a:effectLst/>
                  <a:uFillTx/>
                  <a:latin typeface="Arial"/>
                </a:rPr>
                <a:t>Governance</a:t>
              </a:r>
              <a:endParaRPr b="0" lang="en-IN" sz="800" strike="noStrike" u="none">
                <a:solidFill>
                  <a:srgbClr val="000000"/>
                </a:solidFill>
                <a:effectLst/>
                <a:uFillTx/>
                <a:latin typeface="Times New Roman"/>
              </a:endParaRPr>
            </a:p>
          </p:txBody>
        </p:sp>
        <p:sp>
          <p:nvSpPr>
            <p:cNvPr id="68" name=""/>
            <p:cNvSpPr/>
            <p:nvPr/>
          </p:nvSpPr>
          <p:spPr>
            <a:xfrm>
              <a:off x="1447920" y="5667480"/>
              <a:ext cx="113616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66"/>
                  </a:solidFill>
                  <a:effectLst/>
                  <a:uFillTx/>
                  <a:latin typeface="Arial Black"/>
                </a:rPr>
                <a:t>Data Strategy</a:t>
              </a:r>
              <a:endParaRPr b="0" lang="en-IN" sz="1000" strike="noStrike" u="none">
                <a:solidFill>
                  <a:srgbClr val="000000"/>
                </a:solidFill>
                <a:effectLst/>
                <a:uFillTx/>
                <a:latin typeface="Times New Roman"/>
              </a:endParaRPr>
            </a:p>
          </p:txBody>
        </p:sp>
        <p:sp>
          <p:nvSpPr>
            <p:cNvPr id="69" name=""/>
            <p:cNvSpPr/>
            <p:nvPr/>
          </p:nvSpPr>
          <p:spPr>
            <a:xfrm>
              <a:off x="530280" y="5695920"/>
              <a:ext cx="963360" cy="452520"/>
            </a:xfrm>
            <a:prstGeom prst="ellipse">
              <a:avLst/>
            </a:prstGeom>
            <a:solidFill>
              <a:srgbClr val="00cc00"/>
            </a:solidFill>
            <a:ln w="9360">
              <a:solidFill>
                <a:srgbClr val="000000"/>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70" name=""/>
            <p:cNvSpPr/>
            <p:nvPr/>
          </p:nvSpPr>
          <p:spPr>
            <a:xfrm>
              <a:off x="457920" y="5791320"/>
              <a:ext cx="1031760" cy="3373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Data Architecture</a:t>
              </a:r>
              <a:endParaRPr b="0" lang="en-IN" sz="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800" strike="noStrike" u="none">
                  <a:solidFill>
                    <a:srgbClr val="000000"/>
                  </a:solidFill>
                  <a:effectLst/>
                  <a:uFillTx/>
                  <a:latin typeface="Arial"/>
                </a:rPr>
                <a:t>(Structure)</a:t>
              </a:r>
              <a:endParaRPr b="0" lang="en-IN" sz="800" strike="noStrike" u="non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Basic Data Sharing Concepts</a:t>
            </a:r>
            <a:br>
              <a:rPr sz="3600"/>
            </a:br>
            <a:r>
              <a:rPr b="0" lang="en-IN" sz="3600" strike="noStrike" u="none">
                <a:solidFill>
                  <a:srgbClr val="ffffff"/>
                </a:solidFill>
                <a:effectLst/>
                <a:uFillTx/>
                <a:latin typeface="Arial Narrow"/>
              </a:rPr>
              <a:t>in the FEA DRM:</a:t>
            </a:r>
            <a:endParaRPr b="0" lang="en-IN" sz="3600" strike="noStrike" u="none">
              <a:solidFill>
                <a:srgbClr val="ffffff"/>
              </a:solidFill>
              <a:effectLst/>
              <a:uFillTx/>
              <a:latin typeface="Arial Narrow"/>
            </a:endParaRPr>
          </a:p>
        </p:txBody>
      </p:sp>
      <p:sp>
        <p:nvSpPr>
          <p:cNvPr id="72" name="PlaceHolder 2"/>
          <p:cNvSpPr>
            <a:spLocks noGrp="1"/>
          </p:cNvSpPr>
          <p:nvPr>
            <p:ph/>
          </p:nvPr>
        </p:nvSpPr>
        <p:spPr>
          <a:xfrm>
            <a:off x="5611320" y="1760400"/>
            <a:ext cx="3343320" cy="4114800"/>
          </a:xfrm>
          <a:prstGeom prst="rect">
            <a:avLst/>
          </a:prstGeom>
          <a:noFill/>
          <a:ln w="0">
            <a:noFill/>
          </a:ln>
        </p:spPr>
        <p:txBody>
          <a:bodyPr lIns="92160" rIns="92160" tIns="46080" bIns="46080" anchor="t">
            <a:normAutofit/>
          </a:bodyPr>
          <a:p>
            <a:pPr marL="119160" indent="-11916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Services provisioned depends on the type of data being exchanged.</a:t>
            </a:r>
            <a:endParaRPr b="0" lang="en-IN" sz="2000" strike="noStrike" u="none">
              <a:solidFill>
                <a:srgbClr val="000000"/>
              </a:solidFill>
              <a:effectLst/>
              <a:uFillTx/>
              <a:latin typeface="Arial"/>
            </a:endParaRPr>
          </a:p>
          <a:p>
            <a:pPr marL="119160" indent="-119160">
              <a:spcBef>
                <a:spcPts val="137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Data Sharing Services Types:</a:t>
            </a:r>
            <a:endParaRPr b="0" lang="en-IN" sz="2000" strike="noStrike" u="none">
              <a:solidFill>
                <a:srgbClr val="000000"/>
              </a:solidFill>
              <a:effectLst/>
              <a:uFillTx/>
              <a:latin typeface="Arial"/>
            </a:endParaRPr>
          </a:p>
          <a:p>
            <a:pPr lvl="1" marL="457200">
              <a:spcBef>
                <a:spcPts val="451"/>
              </a:spcBef>
              <a:buSzPct val="102812"/>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Data Exchange</a:t>
            </a:r>
            <a:endParaRPr b="0" lang="en-IN" sz="1800" strike="noStrike" u="none">
              <a:solidFill>
                <a:srgbClr val="000000"/>
              </a:solidFill>
              <a:effectLst/>
              <a:uFillTx/>
              <a:latin typeface="Arial"/>
            </a:endParaRPr>
          </a:p>
          <a:p>
            <a:pPr lvl="1" marL="457200">
              <a:spcBef>
                <a:spcPts val="451"/>
              </a:spcBef>
              <a:buSzPct val="102812"/>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Data Access</a:t>
            </a:r>
            <a:endParaRPr b="0" lang="en-IN" sz="1800" strike="noStrike" u="none">
              <a:solidFill>
                <a:srgbClr val="000000"/>
              </a:solidFill>
              <a:effectLst/>
              <a:uFillTx/>
              <a:latin typeface="Arial"/>
            </a:endParaRPr>
          </a:p>
          <a:p>
            <a:pPr lvl="1" marL="45720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pic>
        <p:nvPicPr>
          <p:cNvPr id="73" name="" descr=""/>
          <p:cNvPicPr/>
          <p:nvPr/>
        </p:nvPicPr>
        <p:blipFill>
          <a:blip r:embed="rId3"/>
          <a:stretch/>
        </p:blipFill>
        <p:spPr>
          <a:xfrm>
            <a:off x="304920" y="1676520"/>
            <a:ext cx="5124240" cy="4897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Basic Data Sharing Concepts:</a:t>
            </a:r>
            <a:br>
              <a:rPr sz="3600"/>
            </a:br>
            <a:r>
              <a:rPr b="0" lang="en-IN" sz="3600" strike="noStrike" u="none">
                <a:solidFill>
                  <a:srgbClr val="ffffff"/>
                </a:solidFill>
                <a:effectLst/>
                <a:uFillTx/>
                <a:latin typeface="Arial Narrow"/>
              </a:rPr>
              <a:t>Provision Services for Data</a:t>
            </a:r>
            <a:endParaRPr b="0" lang="en-IN" sz="3600" strike="noStrike" u="none">
              <a:solidFill>
                <a:srgbClr val="ffffff"/>
              </a:solidFill>
              <a:effectLst/>
              <a:uFillTx/>
              <a:latin typeface="Arial Narrow"/>
            </a:endParaRPr>
          </a:p>
        </p:txBody>
      </p:sp>
      <p:sp>
        <p:nvSpPr>
          <p:cNvPr id="75"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a:bodyPr>
          <a:p>
            <a:pPr marL="343080" indent="-34308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Types of Data Exchange Services:</a:t>
            </a:r>
            <a:endParaRPr b="0" lang="en-IN" sz="2000" strike="noStrike" u="none">
              <a:solidFill>
                <a:srgbClr val="000000"/>
              </a:solidFill>
              <a:effectLst/>
              <a:uFillTx/>
              <a:latin typeface="Arial"/>
            </a:endParaRPr>
          </a:p>
          <a:p>
            <a:pPr lvl="1" marL="743040" indent="-285840">
              <a:lnSpc>
                <a:spcPct val="80000"/>
              </a:lnSpc>
              <a:spcBef>
                <a:spcPts val="451"/>
              </a:spcBef>
              <a:buSzPct val="137233"/>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Extract/Transform/Load (ETL)</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Publication</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Entity/Relationship Extraction </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4"/>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Document Translation</a:t>
            </a:r>
            <a:endParaRPr b="0" lang="en-IN" sz="1800" strike="noStrike" u="none">
              <a:solidFill>
                <a:srgbClr val="000000"/>
              </a:solidFill>
              <a:effectLst/>
              <a:uFillTx/>
              <a:latin typeface="Arial"/>
            </a:endParaRPr>
          </a:p>
          <a:p>
            <a:pPr lvl="1" marL="743040" indent="0">
              <a:lnSpc>
                <a:spcPct val="8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Types of Data Access Services</a:t>
            </a:r>
            <a:endParaRPr b="0" lang="en-IN" sz="2000" strike="noStrike" u="none">
              <a:solidFill>
                <a:srgbClr val="000000"/>
              </a:solidFill>
              <a:effectLst/>
              <a:uFillTx/>
              <a:latin typeface="Arial"/>
            </a:endParaRPr>
          </a:p>
          <a:p>
            <a:pPr lvl="1" marL="743040" indent="-285840">
              <a:lnSpc>
                <a:spcPct val="80000"/>
              </a:lnSpc>
              <a:spcBef>
                <a:spcPts val="451"/>
              </a:spcBef>
              <a:buSzPct val="137233"/>
              <a:buBlip>
                <a:blip r:embed="rId5"/>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Context Awareness</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6"/>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Structural Awareness</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7"/>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Transactional Services</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8"/>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Data Query</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9"/>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Content Search and Discovery</a:t>
            </a:r>
            <a:endParaRPr b="0" lang="en-IN" sz="1800" strike="noStrike" u="none">
              <a:solidFill>
                <a:srgbClr val="000000"/>
              </a:solidFill>
              <a:effectLst/>
              <a:uFillTx/>
              <a:latin typeface="Arial"/>
            </a:endParaRPr>
          </a:p>
          <a:p>
            <a:pPr lvl="1" marL="743040" indent="-285840">
              <a:lnSpc>
                <a:spcPct val="80000"/>
              </a:lnSpc>
              <a:spcBef>
                <a:spcPts val="451"/>
              </a:spcBef>
              <a:buSzPct val="137233"/>
              <a:buBlip>
                <a:blip r:embed="rId10"/>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Retrieval, Subscription and Notification</a:t>
            </a:r>
            <a:endParaRPr b="0" lang="en-IN" sz="1800" strike="noStrike" u="none">
              <a:solidFill>
                <a:srgbClr val="000000"/>
              </a:solidFill>
              <a:effectLst/>
              <a:uFillTx/>
              <a:latin typeface="Arial"/>
            </a:endParaRPr>
          </a:p>
        </p:txBody>
      </p:sp>
      <p:grpSp>
        <p:nvGrpSpPr>
          <p:cNvPr id="76" name=""/>
          <p:cNvGrpSpPr/>
          <p:nvPr/>
        </p:nvGrpSpPr>
        <p:grpSpPr>
          <a:xfrm>
            <a:off x="5791320" y="3276720"/>
            <a:ext cx="2995920" cy="2406240"/>
            <a:chOff x="5791320" y="3276720"/>
            <a:chExt cx="2995920" cy="2406240"/>
          </a:xfrm>
        </p:grpSpPr>
        <p:grpSp>
          <p:nvGrpSpPr>
            <p:cNvPr id="77" name=""/>
            <p:cNvGrpSpPr/>
            <p:nvPr/>
          </p:nvGrpSpPr>
          <p:grpSpPr>
            <a:xfrm>
              <a:off x="5791320" y="3645360"/>
              <a:ext cx="2995920" cy="2037600"/>
              <a:chOff x="5791320" y="3645360"/>
              <a:chExt cx="2995920" cy="2037600"/>
            </a:xfrm>
          </p:grpSpPr>
          <p:sp>
            <p:nvSpPr>
              <p:cNvPr id="78" name=""/>
              <p:cNvSpPr/>
              <p:nvPr/>
            </p:nvSpPr>
            <p:spPr>
              <a:xfrm>
                <a:off x="5791320" y="4052520"/>
                <a:ext cx="1997280" cy="1222920"/>
              </a:xfrm>
              <a:prstGeom prst="ellipse">
                <a:avLst/>
              </a:prstGeom>
              <a:solidFill>
                <a:srgbClr val="00ff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79" name=""/>
              <p:cNvSpPr/>
              <p:nvPr/>
            </p:nvSpPr>
            <p:spPr>
              <a:xfrm>
                <a:off x="6290640" y="4460040"/>
                <a:ext cx="1997280" cy="1222920"/>
              </a:xfrm>
              <a:prstGeom prst="ellipse">
                <a:avLst/>
              </a:prstGeom>
              <a:solidFill>
                <a:srgbClr val="00ff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80" name=""/>
              <p:cNvSpPr/>
              <p:nvPr/>
            </p:nvSpPr>
            <p:spPr>
              <a:xfrm>
                <a:off x="6789960" y="3848400"/>
                <a:ext cx="1997280" cy="1222920"/>
              </a:xfrm>
              <a:prstGeom prst="ellipse">
                <a:avLst/>
              </a:prstGeom>
              <a:solidFill>
                <a:srgbClr val="00ff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81" name=""/>
              <p:cNvSpPr/>
              <p:nvPr/>
            </p:nvSpPr>
            <p:spPr>
              <a:xfrm>
                <a:off x="6290640" y="3645360"/>
                <a:ext cx="1997280" cy="1222920"/>
              </a:xfrm>
              <a:prstGeom prst="ellipse">
                <a:avLst/>
              </a:prstGeom>
              <a:solidFill>
                <a:srgbClr val="00ff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grpSp>
        <p:grpSp>
          <p:nvGrpSpPr>
            <p:cNvPr id="82" name=""/>
            <p:cNvGrpSpPr/>
            <p:nvPr/>
          </p:nvGrpSpPr>
          <p:grpSpPr>
            <a:xfrm>
              <a:off x="6426000" y="4271400"/>
              <a:ext cx="609480" cy="453240"/>
              <a:chOff x="6426000" y="4271400"/>
              <a:chExt cx="609480" cy="453240"/>
            </a:xfrm>
          </p:grpSpPr>
          <p:sp>
            <p:nvSpPr>
              <p:cNvPr id="83" name=""/>
              <p:cNvSpPr/>
              <p:nvPr/>
            </p:nvSpPr>
            <p:spPr>
              <a:xfrm>
                <a:off x="6426000" y="4626720"/>
                <a:ext cx="605160" cy="97920"/>
              </a:xfrm>
              <a:prstGeom prst="ellipse">
                <a:avLst/>
              </a:prstGeom>
              <a:solidFill>
                <a:srgbClr val="ffcc00"/>
              </a:solidFill>
              <a:ln w="9360">
                <a:solidFill>
                  <a:srgbClr val="000000"/>
                </a:solidFill>
                <a:miter/>
              </a:ln>
            </p:spPr>
            <p:style>
              <a:lnRef idx="0"/>
              <a:fillRef idx="0"/>
              <a:effectRef idx="0"/>
              <a:fontRef idx="minor"/>
            </p:style>
            <p:txBody>
              <a:bodyPr wrap="none" lIns="90000" rIns="90000" tIns="23040" bIns="23040" anchor="ctr">
                <a:noAutofit/>
              </a:bodyPr>
              <a:p>
                <a:endParaRPr b="0" lang="en-IN" sz="2400" strike="noStrike" u="none">
                  <a:solidFill>
                    <a:srgbClr val="000000"/>
                  </a:solidFill>
                  <a:effectLst/>
                  <a:uFillTx/>
                  <a:latin typeface="Times New Roman"/>
                </a:endParaRPr>
              </a:p>
            </p:txBody>
          </p:sp>
          <p:sp>
            <p:nvSpPr>
              <p:cNvPr id="84" name=""/>
              <p:cNvSpPr/>
              <p:nvPr/>
            </p:nvSpPr>
            <p:spPr>
              <a:xfrm>
                <a:off x="6430320" y="4314600"/>
                <a:ext cx="605160" cy="360000"/>
              </a:xfrm>
              <a:prstGeom prst="rect">
                <a:avLst/>
              </a:prstGeom>
              <a:solidFill>
                <a:srgbClr val="ffcc00"/>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400"/>
                </a:br>
                <a:endParaRPr b="0" lang="en-IN" sz="1400" strike="noStrike" u="none">
                  <a:solidFill>
                    <a:srgbClr val="000000"/>
                  </a:solidFill>
                  <a:effectLst/>
                  <a:uFillTx/>
                  <a:latin typeface="Times New Roman"/>
                </a:endParaRPr>
              </a:p>
            </p:txBody>
          </p:sp>
          <p:sp>
            <p:nvSpPr>
              <p:cNvPr id="85" name=""/>
              <p:cNvSpPr/>
              <p:nvPr/>
            </p:nvSpPr>
            <p:spPr>
              <a:xfrm>
                <a:off x="6430320" y="4271400"/>
                <a:ext cx="605160" cy="97920"/>
              </a:xfrm>
              <a:prstGeom prst="ellipse">
                <a:avLst/>
              </a:prstGeom>
              <a:solidFill>
                <a:srgbClr val="ffcc00"/>
              </a:solidFill>
              <a:ln w="9360">
                <a:solidFill>
                  <a:srgbClr val="000000"/>
                </a:solidFill>
                <a:miter/>
              </a:ln>
            </p:spPr>
            <p:style>
              <a:lnRef idx="0"/>
              <a:fillRef idx="0"/>
              <a:effectRef idx="0"/>
              <a:fontRef idx="minor"/>
            </p:style>
            <p:txBody>
              <a:bodyPr wrap="none" lIns="90000" rIns="90000" tIns="23040" bIns="23040" anchor="ctr">
                <a:noAutofit/>
              </a:bodyPr>
              <a:p>
                <a:endParaRPr b="0" lang="en-IN" sz="2400" strike="noStrike" u="none">
                  <a:solidFill>
                    <a:srgbClr val="000000"/>
                  </a:solidFill>
                  <a:effectLst/>
                  <a:uFillTx/>
                  <a:latin typeface="Times New Roman"/>
                </a:endParaRPr>
              </a:p>
            </p:txBody>
          </p:sp>
          <p:sp>
            <p:nvSpPr>
              <p:cNvPr id="86" name=""/>
              <p:cNvSpPr/>
              <p:nvPr/>
            </p:nvSpPr>
            <p:spPr>
              <a:xfrm>
                <a:off x="6430320" y="4319640"/>
                <a:ext cx="0" cy="35208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87" name=""/>
              <p:cNvSpPr/>
              <p:nvPr/>
            </p:nvSpPr>
            <p:spPr>
              <a:xfrm>
                <a:off x="7035480" y="4319640"/>
                <a:ext cx="0" cy="3506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grpSp>
          <p:nvGrpSpPr>
            <p:cNvPr id="88" name=""/>
            <p:cNvGrpSpPr/>
            <p:nvPr/>
          </p:nvGrpSpPr>
          <p:grpSpPr>
            <a:xfrm>
              <a:off x="6950520" y="4754520"/>
              <a:ext cx="609480" cy="452160"/>
              <a:chOff x="6950520" y="4754520"/>
              <a:chExt cx="609480" cy="452160"/>
            </a:xfrm>
          </p:grpSpPr>
          <p:sp>
            <p:nvSpPr>
              <p:cNvPr id="89" name=""/>
              <p:cNvSpPr/>
              <p:nvPr/>
            </p:nvSpPr>
            <p:spPr>
              <a:xfrm>
                <a:off x="6950520" y="5109120"/>
                <a:ext cx="605160" cy="97560"/>
              </a:xfrm>
              <a:prstGeom prst="ellipse">
                <a:avLst/>
              </a:prstGeom>
              <a:solidFill>
                <a:srgbClr val="ffcc00"/>
              </a:solidFill>
              <a:ln w="9360">
                <a:solidFill>
                  <a:srgbClr val="000000"/>
                </a:solidFill>
                <a:miter/>
              </a:ln>
            </p:spPr>
            <p:style>
              <a:lnRef idx="0"/>
              <a:fillRef idx="0"/>
              <a:effectRef idx="0"/>
              <a:fontRef idx="minor"/>
            </p:style>
            <p:txBody>
              <a:bodyPr wrap="none" lIns="90000" rIns="90000" tIns="22680" bIns="22680" anchor="ctr">
                <a:noAutofit/>
              </a:bodyPr>
              <a:p>
                <a:endParaRPr b="0" lang="en-IN" sz="2400" strike="noStrike" u="none">
                  <a:solidFill>
                    <a:srgbClr val="000000"/>
                  </a:solidFill>
                  <a:effectLst/>
                  <a:uFillTx/>
                  <a:latin typeface="Times New Roman"/>
                </a:endParaRPr>
              </a:p>
            </p:txBody>
          </p:sp>
          <p:sp>
            <p:nvSpPr>
              <p:cNvPr id="90" name=""/>
              <p:cNvSpPr/>
              <p:nvPr/>
            </p:nvSpPr>
            <p:spPr>
              <a:xfrm>
                <a:off x="6954840" y="4797360"/>
                <a:ext cx="605160" cy="359640"/>
              </a:xfrm>
              <a:prstGeom prst="rect">
                <a:avLst/>
              </a:prstGeom>
              <a:solidFill>
                <a:srgbClr val="ffcc00"/>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400"/>
                </a:br>
                <a:endParaRPr b="0" lang="en-IN" sz="1400" strike="noStrike" u="none">
                  <a:solidFill>
                    <a:srgbClr val="000000"/>
                  </a:solidFill>
                  <a:effectLst/>
                  <a:uFillTx/>
                  <a:latin typeface="Times New Roman"/>
                </a:endParaRPr>
              </a:p>
            </p:txBody>
          </p:sp>
          <p:sp>
            <p:nvSpPr>
              <p:cNvPr id="91" name=""/>
              <p:cNvSpPr/>
              <p:nvPr/>
            </p:nvSpPr>
            <p:spPr>
              <a:xfrm>
                <a:off x="6954840" y="4754520"/>
                <a:ext cx="605160" cy="97560"/>
              </a:xfrm>
              <a:prstGeom prst="ellipse">
                <a:avLst/>
              </a:prstGeom>
              <a:solidFill>
                <a:srgbClr val="ffcc00"/>
              </a:solidFill>
              <a:ln w="9360">
                <a:solidFill>
                  <a:srgbClr val="000000"/>
                </a:solidFill>
                <a:miter/>
              </a:ln>
            </p:spPr>
            <p:style>
              <a:lnRef idx="0"/>
              <a:fillRef idx="0"/>
              <a:effectRef idx="0"/>
              <a:fontRef idx="minor"/>
            </p:style>
            <p:txBody>
              <a:bodyPr wrap="none" lIns="90000" rIns="90000" tIns="22680" bIns="22680" anchor="ctr">
                <a:noAutofit/>
              </a:bodyPr>
              <a:p>
                <a:endParaRPr b="0" lang="en-IN" sz="2400" strike="noStrike" u="none">
                  <a:solidFill>
                    <a:srgbClr val="000000"/>
                  </a:solidFill>
                  <a:effectLst/>
                  <a:uFillTx/>
                  <a:latin typeface="Times New Roman"/>
                </a:endParaRPr>
              </a:p>
            </p:txBody>
          </p:sp>
          <p:sp>
            <p:nvSpPr>
              <p:cNvPr id="92" name=""/>
              <p:cNvSpPr/>
              <p:nvPr/>
            </p:nvSpPr>
            <p:spPr>
              <a:xfrm>
                <a:off x="6954840" y="4802760"/>
                <a:ext cx="0" cy="35172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93" name=""/>
              <p:cNvSpPr/>
              <p:nvPr/>
            </p:nvSpPr>
            <p:spPr>
              <a:xfrm>
                <a:off x="7560000" y="4802760"/>
                <a:ext cx="0" cy="35028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grpSp>
          <p:nvGrpSpPr>
            <p:cNvPr id="94" name=""/>
            <p:cNvGrpSpPr/>
            <p:nvPr/>
          </p:nvGrpSpPr>
          <p:grpSpPr>
            <a:xfrm>
              <a:off x="7735680" y="4307040"/>
              <a:ext cx="609480" cy="453240"/>
              <a:chOff x="7735680" y="4307040"/>
              <a:chExt cx="609480" cy="453240"/>
            </a:xfrm>
          </p:grpSpPr>
          <p:sp>
            <p:nvSpPr>
              <p:cNvPr id="95" name=""/>
              <p:cNvSpPr/>
              <p:nvPr/>
            </p:nvSpPr>
            <p:spPr>
              <a:xfrm>
                <a:off x="7735680" y="4662360"/>
                <a:ext cx="605160" cy="97920"/>
              </a:xfrm>
              <a:prstGeom prst="ellipse">
                <a:avLst/>
              </a:prstGeom>
              <a:solidFill>
                <a:srgbClr val="ffcc00"/>
              </a:solidFill>
              <a:ln w="9360">
                <a:solidFill>
                  <a:srgbClr val="000000"/>
                </a:solidFill>
                <a:miter/>
              </a:ln>
            </p:spPr>
            <p:style>
              <a:lnRef idx="0"/>
              <a:fillRef idx="0"/>
              <a:effectRef idx="0"/>
              <a:fontRef idx="minor"/>
            </p:style>
            <p:txBody>
              <a:bodyPr wrap="none" lIns="90000" rIns="90000" tIns="23040" bIns="23040" anchor="ctr">
                <a:noAutofit/>
              </a:bodyPr>
              <a:p>
                <a:endParaRPr b="0" lang="en-IN" sz="2400" strike="noStrike" u="none">
                  <a:solidFill>
                    <a:srgbClr val="000000"/>
                  </a:solidFill>
                  <a:effectLst/>
                  <a:uFillTx/>
                  <a:latin typeface="Times New Roman"/>
                </a:endParaRPr>
              </a:p>
            </p:txBody>
          </p:sp>
          <p:sp>
            <p:nvSpPr>
              <p:cNvPr id="96" name=""/>
              <p:cNvSpPr/>
              <p:nvPr/>
            </p:nvSpPr>
            <p:spPr>
              <a:xfrm>
                <a:off x="7740000" y="4350240"/>
                <a:ext cx="605160" cy="360000"/>
              </a:xfrm>
              <a:prstGeom prst="rect">
                <a:avLst/>
              </a:prstGeom>
              <a:solidFill>
                <a:srgbClr val="ffcc00"/>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400"/>
                </a:br>
                <a:endParaRPr b="0" lang="en-IN" sz="1400" strike="noStrike" u="none">
                  <a:solidFill>
                    <a:srgbClr val="000000"/>
                  </a:solidFill>
                  <a:effectLst/>
                  <a:uFillTx/>
                  <a:latin typeface="Times New Roman"/>
                </a:endParaRPr>
              </a:p>
            </p:txBody>
          </p:sp>
          <p:sp>
            <p:nvSpPr>
              <p:cNvPr id="97" name=""/>
              <p:cNvSpPr/>
              <p:nvPr/>
            </p:nvSpPr>
            <p:spPr>
              <a:xfrm>
                <a:off x="7740000" y="4307040"/>
                <a:ext cx="605160" cy="97920"/>
              </a:xfrm>
              <a:prstGeom prst="ellipse">
                <a:avLst/>
              </a:prstGeom>
              <a:solidFill>
                <a:srgbClr val="ffcc00"/>
              </a:solidFill>
              <a:ln w="9360">
                <a:solidFill>
                  <a:srgbClr val="000000"/>
                </a:solidFill>
                <a:miter/>
              </a:ln>
            </p:spPr>
            <p:style>
              <a:lnRef idx="0"/>
              <a:fillRef idx="0"/>
              <a:effectRef idx="0"/>
              <a:fontRef idx="minor"/>
            </p:style>
            <p:txBody>
              <a:bodyPr wrap="none" lIns="90000" rIns="90000" tIns="23040" bIns="23040" anchor="ctr">
                <a:noAutofit/>
              </a:bodyPr>
              <a:p>
                <a:endParaRPr b="0" lang="en-IN" sz="2400" strike="noStrike" u="none">
                  <a:solidFill>
                    <a:srgbClr val="000000"/>
                  </a:solidFill>
                  <a:effectLst/>
                  <a:uFillTx/>
                  <a:latin typeface="Times New Roman"/>
                </a:endParaRPr>
              </a:p>
            </p:txBody>
          </p:sp>
          <p:sp>
            <p:nvSpPr>
              <p:cNvPr id="98" name=""/>
              <p:cNvSpPr/>
              <p:nvPr/>
            </p:nvSpPr>
            <p:spPr>
              <a:xfrm>
                <a:off x="7740000" y="4355280"/>
                <a:ext cx="0" cy="35208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99" name=""/>
              <p:cNvSpPr/>
              <p:nvPr/>
            </p:nvSpPr>
            <p:spPr>
              <a:xfrm>
                <a:off x="8345160" y="4355280"/>
                <a:ext cx="0" cy="3506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grpSp>
          <p:nvGrpSpPr>
            <p:cNvPr id="100" name=""/>
            <p:cNvGrpSpPr/>
            <p:nvPr/>
          </p:nvGrpSpPr>
          <p:grpSpPr>
            <a:xfrm>
              <a:off x="6629040" y="3276720"/>
              <a:ext cx="1251720" cy="702360"/>
              <a:chOff x="6629040" y="3276720"/>
              <a:chExt cx="1251720" cy="702360"/>
            </a:xfrm>
          </p:grpSpPr>
          <p:sp>
            <p:nvSpPr>
              <p:cNvPr id="101" name=""/>
              <p:cNvSpPr/>
              <p:nvPr/>
            </p:nvSpPr>
            <p:spPr>
              <a:xfrm>
                <a:off x="6629040" y="3276720"/>
                <a:ext cx="230760" cy="702360"/>
              </a:xfrm>
              <a:prstGeom prst="rect">
                <a:avLst/>
              </a:prstGeom>
              <a:solidFill>
                <a:srgbClr val="ff3399"/>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02" name=""/>
              <p:cNvSpPr/>
              <p:nvPr/>
            </p:nvSpPr>
            <p:spPr>
              <a:xfrm>
                <a:off x="6969600" y="3276720"/>
                <a:ext cx="230040" cy="702360"/>
              </a:xfrm>
              <a:prstGeom prst="rect">
                <a:avLst/>
              </a:prstGeom>
              <a:solidFill>
                <a:srgbClr val="ff3399"/>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03" name=""/>
              <p:cNvSpPr/>
              <p:nvPr/>
            </p:nvSpPr>
            <p:spPr>
              <a:xfrm>
                <a:off x="7310160" y="3276720"/>
                <a:ext cx="230040" cy="702360"/>
              </a:xfrm>
              <a:prstGeom prst="rect">
                <a:avLst/>
              </a:prstGeom>
              <a:solidFill>
                <a:srgbClr val="ff3399"/>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04" name=""/>
              <p:cNvSpPr/>
              <p:nvPr/>
            </p:nvSpPr>
            <p:spPr>
              <a:xfrm>
                <a:off x="7650720" y="3276720"/>
                <a:ext cx="230040" cy="702360"/>
              </a:xfrm>
              <a:prstGeom prst="rect">
                <a:avLst/>
              </a:prstGeom>
              <a:solidFill>
                <a:srgbClr val="ff3399"/>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gr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The DRM Definition of a Document</a:t>
            </a:r>
            <a:endParaRPr b="0" lang="en-IN" sz="3600" strike="noStrike" u="none">
              <a:solidFill>
                <a:srgbClr val="ffffff"/>
              </a:solidFill>
              <a:effectLst/>
              <a:uFillTx/>
              <a:latin typeface="Arial Narrow"/>
            </a:endParaRPr>
          </a:p>
        </p:txBody>
      </p:sp>
      <p:sp>
        <p:nvSpPr>
          <p:cNvPr id="106"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a:bodyPr>
          <a:p>
            <a:pPr marL="52560" indent="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 file containing Unstructured and/or Semi-Structured Data    Resources. A discrete and unique electronic aggregation of data produced with the intent of conveying information.</a:t>
            </a:r>
            <a:endParaRPr b="0" lang="en-IN" sz="2000" strike="noStrike" u="none">
              <a:solidFill>
                <a:srgbClr val="000000"/>
              </a:solidFill>
              <a:effectLst/>
              <a:uFillTx/>
              <a:latin typeface="Arial"/>
            </a:endParaRPr>
          </a:p>
          <a:p>
            <a:pPr marL="52560" indent="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52560" indent="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All data within a document may be in the same format (e.g., text), or a document may be a composite that consists of sets of data in a variety of formats (e.g., MS Word files containing embedded graphics). </a:t>
            </a:r>
            <a:endParaRPr b="0" lang="en-IN" sz="2000" strike="noStrike" u="none">
              <a:solidFill>
                <a:srgbClr val="000000"/>
              </a:solidFill>
              <a:effectLst/>
              <a:uFillTx/>
              <a:latin typeface="Arial"/>
            </a:endParaRPr>
          </a:p>
          <a:p>
            <a:pPr marL="52560" indent="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lvl="1" marL="347760" indent="-114480">
              <a:lnSpc>
                <a:spcPct val="80000"/>
              </a:lnSpc>
              <a:spcBef>
                <a:spcPts val="451"/>
              </a:spcBef>
              <a:buSzPct val="102812"/>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The term “discrete” implies that a document requires no linkage to other data to convey its meaning. </a:t>
            </a:r>
            <a:endParaRPr b="0" lang="en-IN" sz="1800" strike="noStrike" u="none">
              <a:solidFill>
                <a:srgbClr val="000000"/>
              </a:solidFill>
              <a:effectLst/>
              <a:uFillTx/>
              <a:latin typeface="Arial"/>
            </a:endParaRPr>
          </a:p>
          <a:p>
            <a:pPr lvl="1" marL="347760" indent="0">
              <a:lnSpc>
                <a:spcPct val="8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347760" indent="-114480">
              <a:lnSpc>
                <a:spcPct val="80000"/>
              </a:lnSpc>
              <a:spcBef>
                <a:spcPts val="451"/>
              </a:spcBef>
              <a:buSzPct val="102812"/>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The term “unique” implies that each instance or version of a document can be distinguished from all others (i.e., it can be assigned a unique identifying number).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The DRM Definition of a Document</a:t>
            </a:r>
            <a:endParaRPr b="0" lang="en-IN" sz="3600" strike="noStrike" u="none">
              <a:solidFill>
                <a:srgbClr val="ffffff"/>
              </a:solidFill>
              <a:effectLst/>
              <a:uFillTx/>
              <a:latin typeface="Arial Narrow"/>
            </a:endParaRPr>
          </a:p>
        </p:txBody>
      </p:sp>
      <p:sp>
        <p:nvSpPr>
          <p:cNvPr id="108"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a:bodyPr>
          <a:p>
            <a:pPr marL="343080" indent="-343080" algn="ctr">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sng">
                <a:solidFill>
                  <a:srgbClr val="000000"/>
                </a:solidFill>
                <a:effectLst/>
                <a:uFillTx/>
                <a:latin typeface="Arial"/>
              </a:rPr>
              <a:t>Documents may be unstructured</a:t>
            </a:r>
            <a:endParaRPr b="0" lang="en-IN" sz="2400" strike="noStrike" u="none">
              <a:solidFill>
                <a:srgbClr val="000000"/>
              </a:solidFill>
              <a:effectLst/>
              <a:uFillTx/>
              <a:latin typeface="Arial"/>
            </a:endParaRPr>
          </a:p>
          <a:p>
            <a:pPr lvl="1" marL="743040" indent="-285840">
              <a:lnSpc>
                <a:spcPct val="80000"/>
              </a:lnSpc>
              <a:spcBef>
                <a:spcPts val="499"/>
              </a:spcBef>
              <a:buSzPct val="123432"/>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The document follows no rigid, machine interpretable structural convention or it may contain self describing metadata that is machine interpretable. </a:t>
            </a:r>
            <a:endParaRPr b="0" lang="en-IN" sz="2000" strike="noStrike" u="none">
              <a:solidFill>
                <a:srgbClr val="000000"/>
              </a:solidFill>
              <a:effectLst/>
              <a:uFillTx/>
              <a:latin typeface="Arial"/>
            </a:endParaRPr>
          </a:p>
          <a:p>
            <a:pPr lvl="2" marL="1143000" indent="-228600">
              <a:lnSpc>
                <a:spcPct val="80000"/>
              </a:lnSpc>
              <a:spcBef>
                <a:spcPts val="1125"/>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For example: An ASCII text document</a:t>
            </a:r>
            <a:endParaRPr b="0" lang="en-IN" sz="2000" strike="noStrike" u="none">
              <a:solidFill>
                <a:srgbClr val="000000"/>
              </a:solidFill>
              <a:effectLst/>
              <a:uFillTx/>
              <a:latin typeface="Arial"/>
            </a:endParaRPr>
          </a:p>
          <a:p>
            <a:pPr lvl="2" marL="1143000" indent="0">
              <a:lnSpc>
                <a:spcPct val="80000"/>
              </a:lnSpc>
              <a:spcBef>
                <a:spcPts val="499"/>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gn="ctr">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sng">
                <a:solidFill>
                  <a:srgbClr val="000000"/>
                </a:solidFill>
                <a:effectLst/>
                <a:uFillTx/>
                <a:latin typeface="Arial"/>
              </a:rPr>
              <a:t>Documents may be semi-structured</a:t>
            </a:r>
            <a:endParaRPr b="0" lang="en-IN" sz="2400" strike="noStrike" u="none">
              <a:solidFill>
                <a:srgbClr val="000000"/>
              </a:solidFill>
              <a:effectLst/>
              <a:uFillTx/>
              <a:latin typeface="Arial"/>
            </a:endParaRPr>
          </a:p>
          <a:p>
            <a:pPr lvl="1" marL="743040" indent="-285840">
              <a:lnSpc>
                <a:spcPct val="80000"/>
              </a:lnSpc>
              <a:spcBef>
                <a:spcPts val="499"/>
              </a:spcBef>
              <a:buSzPct val="123432"/>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The documents conforms to a machine interpretable structural convention or contains embedded self-describing metadata that is machine interpretable. </a:t>
            </a:r>
            <a:endParaRPr b="0" lang="en-IN" sz="2000" strike="noStrike" u="none">
              <a:solidFill>
                <a:srgbClr val="000000"/>
              </a:solidFill>
              <a:effectLst/>
              <a:uFillTx/>
              <a:latin typeface="Arial"/>
            </a:endParaRPr>
          </a:p>
          <a:p>
            <a:pPr lvl="2" marL="1143000" indent="-228600">
              <a:lnSpc>
                <a:spcPct val="80000"/>
              </a:lnSpc>
              <a:spcBef>
                <a:spcPts val="1125"/>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 Microsoft Word document with headings and sub-headings is considered semi-structured, as is a XHTML document.</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Relevant DRM</a:t>
            </a:r>
            <a:br>
              <a:rPr sz="3200"/>
            </a:br>
            <a:r>
              <a:rPr b="0" lang="en-IN" sz="3200" strike="noStrike" u="none">
                <a:solidFill>
                  <a:srgbClr val="ffffff"/>
                </a:solidFill>
                <a:effectLst/>
                <a:uFillTx/>
                <a:latin typeface="Arial Narrow"/>
              </a:rPr>
              <a:t>Document Related Data Services</a:t>
            </a:r>
            <a:endParaRPr b="0" lang="en-IN" sz="3200" strike="noStrike" u="none">
              <a:solidFill>
                <a:srgbClr val="ffffff"/>
              </a:solidFill>
              <a:effectLst/>
              <a:uFillTx/>
              <a:latin typeface="Arial Narrow"/>
            </a:endParaRPr>
          </a:p>
        </p:txBody>
      </p:sp>
      <p:sp>
        <p:nvSpPr>
          <p:cNvPr id="110"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a:bodyPr>
          <a:p>
            <a:pPr marL="343080" indent="-34308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sng">
                <a:solidFill>
                  <a:srgbClr val="000000"/>
                </a:solidFill>
                <a:effectLst/>
                <a:uFillTx/>
                <a:latin typeface="Arial"/>
              </a:rPr>
              <a:t>Publication</a:t>
            </a:r>
            <a:r>
              <a:rPr b="1" lang="en-IN" sz="2000" strike="noStrike" u="none">
                <a:solidFill>
                  <a:srgbClr val="000000"/>
                </a:solidFill>
                <a:effectLst/>
                <a:uFillTx/>
                <a:latin typeface="Arial"/>
              </a:rPr>
              <a:t> </a:t>
            </a:r>
            <a:endParaRPr b="0" lang="en-IN" sz="2000" strike="noStrike" u="none">
              <a:solidFill>
                <a:srgbClr val="000000"/>
              </a:solidFill>
              <a:effectLst/>
              <a:uFillTx/>
              <a:latin typeface="Arial"/>
            </a:endParaRPr>
          </a:p>
          <a:p>
            <a:pPr lvl="1" marL="743040" indent="-285840">
              <a:lnSpc>
                <a:spcPct val="80000"/>
              </a:lnSpc>
              <a:spcBef>
                <a:spcPts val="451"/>
              </a:spcBef>
              <a:buSzPct val="137233"/>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(Structured data or documents to aggregate documents): </a:t>
            </a:r>
            <a:r>
              <a:rPr b="0" lang="en-IN" sz="1800" strike="noStrike" u="none">
                <a:solidFill>
                  <a:srgbClr val="000000"/>
                </a:solidFill>
                <a:effectLst/>
                <a:uFillTx/>
                <a:latin typeface="Arial"/>
              </a:rPr>
              <a:t>Publication is the process of assembling a document from its component pieces, putting into a desired format and disseminating it to target databases. The payload of this type of service is a document. </a:t>
            </a:r>
            <a:endParaRPr b="0" lang="en-IN" sz="1800" strike="noStrike" u="none">
              <a:solidFill>
                <a:srgbClr val="000000"/>
              </a:solidFill>
              <a:effectLst/>
              <a:uFillTx/>
              <a:latin typeface="Arial"/>
            </a:endParaRPr>
          </a:p>
          <a:p>
            <a:pPr lvl="1" marL="743040" indent="0">
              <a:lnSpc>
                <a:spcPct val="8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sng">
                <a:solidFill>
                  <a:srgbClr val="000000"/>
                </a:solidFill>
                <a:effectLst/>
                <a:uFillTx/>
                <a:latin typeface="Arial"/>
              </a:rPr>
              <a:t>Document Translation (Document to document)</a:t>
            </a:r>
            <a:endParaRPr b="0" lang="en-IN" sz="2000" strike="noStrike" u="none">
              <a:solidFill>
                <a:srgbClr val="000000"/>
              </a:solidFill>
              <a:effectLst/>
              <a:uFillTx/>
              <a:latin typeface="Arial"/>
            </a:endParaRPr>
          </a:p>
          <a:p>
            <a:pPr lvl="1" marL="743040" indent="-285840">
              <a:lnSpc>
                <a:spcPct val="80000"/>
              </a:lnSpc>
              <a:spcBef>
                <a:spcPts val="451"/>
              </a:spcBef>
              <a:buSzPct val="137233"/>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 </a:t>
            </a:r>
            <a:r>
              <a:rPr b="0" lang="en-IN" sz="1800" strike="noStrike" u="none">
                <a:solidFill>
                  <a:srgbClr val="000000"/>
                </a:solidFill>
                <a:effectLst/>
                <a:uFillTx/>
                <a:latin typeface="Arial"/>
              </a:rPr>
              <a:t>Document translation is the process of transforming a document from its original format to a format required to support a target application. The transformations may be structural (e.g., transforming MS Word to PDF format), language-oriented (e.g., changing English to French), or special purpose (e.g., the development of abstracts from longer documents.) The payload of this type of service is a document.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DRM Guidance on Quality, Security, Privacy, </a:t>
            </a:r>
            <a:br>
              <a:rPr sz="3200"/>
            </a:br>
            <a:r>
              <a:rPr b="0" lang="en-IN" sz="3200" strike="noStrike" u="none">
                <a:solidFill>
                  <a:srgbClr val="ffffff"/>
                </a:solidFill>
                <a:effectLst/>
                <a:uFillTx/>
                <a:latin typeface="Arial Narrow"/>
              </a:rPr>
              <a:t>and Confidentiality</a:t>
            </a:r>
            <a:endParaRPr b="0" lang="en-IN" sz="3200" strike="noStrike" u="none">
              <a:solidFill>
                <a:srgbClr val="ffffff"/>
              </a:solidFill>
              <a:effectLst/>
              <a:uFillTx/>
              <a:latin typeface="Arial Narrow"/>
            </a:endParaRPr>
          </a:p>
        </p:txBody>
      </p:sp>
      <p:sp>
        <p:nvSpPr>
          <p:cNvPr id="112" name="PlaceHolder 2"/>
          <p:cNvSpPr>
            <a:spLocks noGrp="1"/>
          </p:cNvSpPr>
          <p:nvPr>
            <p:ph/>
          </p:nvPr>
        </p:nvSpPr>
        <p:spPr>
          <a:xfrm>
            <a:off x="685800" y="1981080"/>
            <a:ext cx="7772400" cy="4114800"/>
          </a:xfrm>
          <a:prstGeom prst="rect">
            <a:avLst/>
          </a:prstGeom>
          <a:noFill/>
          <a:ln w="0">
            <a:noFill/>
          </a:ln>
        </p:spPr>
        <p:txBody>
          <a:bodyPr lIns="92160" rIns="92160" tIns="46080" bIns="46080" anchor="t">
            <a:normAutofit lnSpcReduction="9999"/>
          </a:bodyPr>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sng">
                <a:solidFill>
                  <a:srgbClr val="000000"/>
                </a:solidFill>
                <a:effectLst/>
                <a:uFillTx/>
                <a:latin typeface="Arial"/>
              </a:rPr>
              <a:t>Within A Community of Interest (COI):</a:t>
            </a:r>
            <a:br>
              <a:rPr sz="2000"/>
            </a:br>
            <a:endParaRPr b="0" lang="en-IN" sz="2400" strike="noStrike" u="none">
              <a:solidFill>
                <a:srgbClr val="000000"/>
              </a:solidFill>
              <a:effectLst/>
              <a:uFillTx/>
              <a:latin typeface="Arial"/>
            </a:endParaRPr>
          </a:p>
          <a:p>
            <a:pPr lvl="1" marL="743040" indent="-285840">
              <a:lnSpc>
                <a:spcPct val="80000"/>
              </a:lnSpc>
              <a:spcBef>
                <a:spcPts val="499"/>
              </a:spcBef>
              <a:buSzPct val="123432"/>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Establish Data Stewardship</a:t>
            </a:r>
            <a:endParaRPr b="0" lang="en-IN" sz="2000" strike="noStrike" u="none">
              <a:solidFill>
                <a:srgbClr val="000000"/>
              </a:solidFill>
              <a:effectLst/>
              <a:uFillTx/>
              <a:latin typeface="Arial"/>
            </a:endParaRPr>
          </a:p>
          <a:p>
            <a:pPr marL="343080" indent="-34308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lvl="1" marL="743040" indent="-285840">
              <a:lnSpc>
                <a:spcPct val="80000"/>
              </a:lnSpc>
              <a:spcBef>
                <a:spcPts val="499"/>
              </a:spcBef>
              <a:buSzPct val="123432"/>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Define the Policies.  Use the following “policy buckets”:</a:t>
            </a:r>
            <a:endParaRPr b="0" lang="en-IN" sz="2000" strike="noStrike" u="none">
              <a:solidFill>
                <a:srgbClr val="000000"/>
              </a:solidFill>
              <a:effectLst/>
              <a:uFillTx/>
              <a:latin typeface="Arial"/>
            </a:endParaRPr>
          </a:p>
          <a:p>
            <a:pPr marL="343080" indent="-343080" algn="ctr">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lvl="2" marL="1143000" indent="-228600">
              <a:lnSpc>
                <a:spcPct val="80000"/>
              </a:lnSpc>
              <a:spcBef>
                <a:spcPts val="499"/>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Data is available for open, unrestricted access </a:t>
            </a:r>
            <a:endParaRPr b="0" lang="en-IN" sz="2000" strike="noStrike" u="none">
              <a:solidFill>
                <a:srgbClr val="000000"/>
              </a:solidFill>
              <a:effectLst/>
              <a:uFillTx/>
              <a:latin typeface="Arial"/>
            </a:endParaRPr>
          </a:p>
          <a:p>
            <a:pPr lvl="2" marL="1143000" indent="-228600">
              <a:lnSpc>
                <a:spcPct val="80000"/>
              </a:lnSpc>
              <a:spcBef>
                <a:spcPts val="499"/>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Data is accessible only to a group </a:t>
            </a:r>
            <a:endParaRPr b="0" lang="en-IN" sz="2000" strike="noStrike" u="none">
              <a:solidFill>
                <a:srgbClr val="000000"/>
              </a:solidFill>
              <a:effectLst/>
              <a:uFillTx/>
              <a:latin typeface="Arial"/>
            </a:endParaRPr>
          </a:p>
          <a:p>
            <a:pPr lvl="2" marL="1143000" indent="-228600">
              <a:lnSpc>
                <a:spcPct val="80000"/>
              </a:lnSpc>
              <a:spcBef>
                <a:spcPts val="499"/>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Data access is a function of the person (his or her identity), data about that person (e.g., current position), and data about the environment (e.g., physical location) </a:t>
            </a:r>
            <a:endParaRPr b="0" lang="en-IN" sz="2000" strike="noStrike" u="none">
              <a:solidFill>
                <a:srgbClr val="000000"/>
              </a:solidFill>
              <a:effectLst/>
              <a:uFillTx/>
              <a:latin typeface="Arial"/>
            </a:endParaRPr>
          </a:p>
          <a:p>
            <a:pPr lvl="2" marL="1143000" indent="-228600">
              <a:lnSpc>
                <a:spcPct val="80000"/>
              </a:lnSpc>
              <a:spcBef>
                <a:spcPts val="499"/>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Data is self protecting through digital rights management or similar technologies </a:t>
            </a:r>
            <a:br>
              <a:rPr sz="2000"/>
            </a:br>
            <a:r>
              <a:rPr b="0" lang="en-IN" sz="2000" strike="noStrike" u="none">
                <a:solidFill>
                  <a:srgbClr val="000000"/>
                </a:solidFill>
                <a:effectLst/>
                <a:uFillTx/>
                <a:latin typeface="Arial"/>
              </a:rPr>
              <a:t> </a:t>
            </a:r>
            <a:endParaRPr b="0" lang="en-IN" sz="2000" strike="noStrike" u="none">
              <a:solidFill>
                <a:srgbClr val="000000"/>
              </a:solidFill>
              <a:effectLst/>
              <a:uFillTx/>
              <a:latin typeface="Arial"/>
            </a:endParaRPr>
          </a:p>
          <a:p>
            <a:pPr lvl="1" marL="743040" indent="-285840">
              <a:lnSpc>
                <a:spcPct val="80000"/>
              </a:lnSpc>
              <a:spcBef>
                <a:spcPts val="499"/>
              </a:spcBef>
              <a:buSzPct val="123432"/>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Implement the policies within the Data Sharing Services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1676160" y="228240"/>
            <a:ext cx="746748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So…What’s the Way Ahead for Copyrighting and Marking US Government Works?</a:t>
            </a:r>
            <a:endParaRPr b="0" lang="en-IN" sz="3200" strike="noStrike" u="none">
              <a:solidFill>
                <a:srgbClr val="ffffff"/>
              </a:solidFill>
              <a:effectLst/>
              <a:uFillTx/>
              <a:latin typeface="Arial Narrow"/>
            </a:endParaRPr>
          </a:p>
        </p:txBody>
      </p:sp>
      <p:sp>
        <p:nvSpPr>
          <p:cNvPr id="114" name="PlaceHolder 2"/>
          <p:cNvSpPr>
            <a:spLocks noGrp="1"/>
          </p:cNvSpPr>
          <p:nvPr>
            <p:ph/>
          </p:nvPr>
        </p:nvSpPr>
        <p:spPr>
          <a:xfrm>
            <a:off x="685800" y="1828800"/>
            <a:ext cx="7772400" cy="4114800"/>
          </a:xfrm>
          <a:prstGeom prst="rect">
            <a:avLst/>
          </a:prstGeom>
          <a:noFill/>
          <a:ln w="0">
            <a:noFill/>
          </a:ln>
        </p:spPr>
        <p:txBody>
          <a:bodyPr lIns="92160" rIns="92160" tIns="46080" bIns="46080" anchor="t">
            <a:normAutofit lnSpcReduction="9999"/>
          </a:bodyPr>
          <a:p>
            <a:pPr indent="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 FEA Profile that builds on the DRM Constructs:</a:t>
            </a:r>
            <a:endParaRPr b="0" lang="en-IN" sz="2000" strike="noStrike" u="none">
              <a:solidFill>
                <a:srgbClr val="000000"/>
              </a:solidFill>
              <a:effectLst/>
              <a:uFillTx/>
              <a:latin typeface="Arial"/>
            </a:endParaRPr>
          </a:p>
          <a:p>
            <a:pPr indent="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Notional Components:</a:t>
            </a:r>
            <a:endParaRPr b="0" lang="en-IN" sz="2000" strike="noStrike" u="none">
              <a:solidFill>
                <a:srgbClr val="000000"/>
              </a:solidFill>
              <a:effectLst/>
              <a:uFillTx/>
              <a:latin typeface="Arial"/>
            </a:endParaRPr>
          </a:p>
          <a:p>
            <a:pPr lvl="1" marL="743040" indent="-285840">
              <a:lnSpc>
                <a:spcPct val="80000"/>
              </a:lnSpc>
              <a:spcBef>
                <a:spcPts val="1250"/>
              </a:spcBef>
              <a:buSzPct val="123432"/>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Stewards in a COI identify material that needs copyright protection.</a:t>
            </a:r>
            <a:endParaRPr b="0" lang="en-IN" sz="2000" strike="noStrike" u="none">
              <a:solidFill>
                <a:srgbClr val="000000"/>
              </a:solidFill>
              <a:effectLst/>
              <a:uFillTx/>
              <a:latin typeface="Arial"/>
            </a:endParaRPr>
          </a:p>
          <a:p>
            <a:pPr lvl="1" marL="743040" indent="-285840">
              <a:lnSpc>
                <a:spcPct val="80000"/>
              </a:lnSpc>
              <a:spcBef>
                <a:spcPts val="1250"/>
              </a:spcBef>
              <a:buSzPct val="123432"/>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Focus on Publication and Translation Services</a:t>
            </a:r>
            <a:endParaRPr b="0" lang="en-IN" sz="2000" strike="noStrike" u="none">
              <a:solidFill>
                <a:srgbClr val="000000"/>
              </a:solidFill>
              <a:effectLst/>
              <a:uFillTx/>
              <a:latin typeface="Arial"/>
            </a:endParaRPr>
          </a:p>
          <a:p>
            <a:pPr lvl="2" marL="1143000" indent="-228600">
              <a:lnSpc>
                <a:spcPct val="80000"/>
              </a:lnSpc>
              <a:spcBef>
                <a:spcPts val="451"/>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Tag the documents at publication (e.g. source referencing)</a:t>
            </a:r>
            <a:endParaRPr b="0" lang="en-IN" sz="1800" strike="noStrike" u="none">
              <a:solidFill>
                <a:srgbClr val="000000"/>
              </a:solidFill>
              <a:effectLst/>
              <a:uFillTx/>
              <a:latin typeface="Arial"/>
            </a:endParaRPr>
          </a:p>
          <a:p>
            <a:pPr lvl="2" marL="1143000" indent="-228600">
              <a:lnSpc>
                <a:spcPct val="80000"/>
              </a:lnSpc>
              <a:spcBef>
                <a:spcPts val="451"/>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If non-repudiation is needed, sign the documents</a:t>
            </a:r>
            <a:endParaRPr b="0" lang="en-IN" sz="1800" strike="noStrike" u="none">
              <a:solidFill>
                <a:srgbClr val="000000"/>
              </a:solidFill>
              <a:effectLst/>
              <a:uFillTx/>
              <a:latin typeface="Arial"/>
            </a:endParaRPr>
          </a:p>
          <a:p>
            <a:pPr lvl="3" marL="1600200" indent="-281160">
              <a:lnSpc>
                <a:spcPct val="80000"/>
              </a:lnSpc>
              <a:spcBef>
                <a:spcPts val="451"/>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(Also what to think about records and records management here.)</a:t>
            </a:r>
            <a:endParaRPr b="0" lang="en-IN" sz="1800" strike="noStrike" u="none">
              <a:solidFill>
                <a:srgbClr val="000000"/>
              </a:solidFill>
              <a:effectLst/>
              <a:uFillTx/>
              <a:latin typeface="Arial"/>
            </a:endParaRPr>
          </a:p>
          <a:p>
            <a:pPr lvl="2" marL="1143000" indent="-228600">
              <a:lnSpc>
                <a:spcPct val="80000"/>
              </a:lnSpc>
              <a:spcBef>
                <a:spcPts val="451"/>
              </a:spcBef>
              <a:buClr>
                <a:srgbClr val="000066"/>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If the documents are very sensitive, wrap them in a Digital Rights Management capable package.</a:t>
            </a:r>
            <a:endParaRPr b="0" lang="en-IN" sz="1800" strike="noStrike" u="none">
              <a:solidFill>
                <a:srgbClr val="000000"/>
              </a:solidFill>
              <a:effectLst/>
              <a:uFillTx/>
              <a:latin typeface="Arial"/>
            </a:endParaRPr>
          </a:p>
          <a:p>
            <a:pPr lvl="2" marL="1143000" indent="-228600">
              <a:lnSpc>
                <a:spcPct val="8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indent="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Need to agree on voluntary consensus standards for document tagging for copyright.</a:t>
            </a:r>
            <a:endParaRPr b="0" lang="en-IN" sz="2000" strike="noStrike" u="none">
              <a:solidFill>
                <a:srgbClr val="000000"/>
              </a:solidFill>
              <a:effectLst/>
              <a:uFillTx/>
              <a:latin typeface="Arial"/>
            </a:endParaRPr>
          </a:p>
          <a:p>
            <a:pPr lvl="1" marL="743040" indent="-285840">
              <a:lnSpc>
                <a:spcPct val="80000"/>
              </a:lnSpc>
              <a:spcBef>
                <a:spcPts val="1250"/>
              </a:spcBef>
              <a:buSzPct val="123432"/>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The Data Architecture Subcommittee can help.</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1066680" y="228240"/>
            <a:ext cx="746784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Summary</a:t>
            </a:r>
            <a:endParaRPr b="0" lang="en-IN" sz="3600" strike="noStrike" u="none">
              <a:solidFill>
                <a:srgbClr val="ffffff"/>
              </a:solidFill>
              <a:effectLst/>
              <a:uFillTx/>
              <a:latin typeface="Arial Narrow"/>
            </a:endParaRPr>
          </a:p>
        </p:txBody>
      </p:sp>
      <p:sp>
        <p:nvSpPr>
          <p:cNvPr id="116" name="PlaceHolder 2"/>
          <p:cNvSpPr>
            <a:spLocks noGrp="1"/>
          </p:cNvSpPr>
          <p:nvPr>
            <p:ph/>
          </p:nvPr>
        </p:nvSpPr>
        <p:spPr>
          <a:xfrm>
            <a:off x="685440" y="2057400"/>
            <a:ext cx="7924680" cy="4114800"/>
          </a:xfrm>
          <a:prstGeom prst="rect">
            <a:avLst/>
          </a:prstGeom>
          <a:noFill/>
          <a:ln w="0">
            <a:noFill/>
          </a:ln>
        </p:spPr>
        <p:txBody>
          <a:bodyPr lIns="92160" rIns="92160" tIns="46080" bIns="46080" anchor="t">
            <a:normAutofit/>
          </a:bodyPr>
          <a:p>
            <a:pPr marL="620640" indent="-342720">
              <a:spcBef>
                <a:spcPts val="601"/>
              </a:spcBef>
              <a:buClr>
                <a:srgbClr val="0000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FEA DRM provides an overarching construct.</a:t>
            </a:r>
            <a:endParaRPr b="0" lang="en-IN" sz="2400" strike="noStrike" u="none">
              <a:solidFill>
                <a:srgbClr val="000000"/>
              </a:solidFill>
              <a:effectLst/>
              <a:uFillTx/>
              <a:latin typeface="Arial"/>
            </a:endParaRPr>
          </a:p>
          <a:p>
            <a:pPr marL="620640" indent="-342720">
              <a:spcBef>
                <a:spcPts val="2100"/>
              </a:spcBef>
              <a:buClr>
                <a:srgbClr val="0000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While copyright and intellectual property is not specifically addressed, the model can be extended.</a:t>
            </a:r>
            <a:endParaRPr b="0" lang="en-IN" sz="2400" strike="noStrike" u="none">
              <a:solidFill>
                <a:srgbClr val="000000"/>
              </a:solidFill>
              <a:effectLst/>
              <a:uFillTx/>
              <a:latin typeface="Arial"/>
            </a:endParaRPr>
          </a:p>
          <a:p>
            <a:pPr marL="620640" indent="-342720">
              <a:spcBef>
                <a:spcPts val="2100"/>
              </a:spcBef>
              <a:buClr>
                <a:srgbClr val="0000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Federal level guidance could be addressed in a profile.</a:t>
            </a:r>
            <a:endParaRPr b="0" lang="en-IN" sz="2400" strike="noStrike" u="none">
              <a:solidFill>
                <a:srgbClr val="000000"/>
              </a:solidFill>
              <a:effectLst/>
              <a:uFillTx/>
              <a:latin typeface="Arial"/>
            </a:endParaRPr>
          </a:p>
          <a:p>
            <a:pPr marL="620640" indent="-342720">
              <a:spcBef>
                <a:spcPts val="2100"/>
              </a:spcBef>
              <a:buClr>
                <a:srgbClr val="0000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The Federal Data Architecture Subcommittee (DAS) is ready to help.</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1143000" y="380520"/>
            <a:ext cx="6400800" cy="6858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Narrow"/>
              </a:rPr>
              <a:t>Questions</a:t>
            </a:r>
            <a:endParaRPr b="0" lang="en-IN" sz="3600" strike="noStrike" u="none">
              <a:solidFill>
                <a:srgbClr val="ffffff"/>
              </a:solidFill>
              <a:effectLst/>
              <a:uFillTx/>
              <a:latin typeface="Arial Narrow"/>
            </a:endParaRPr>
          </a:p>
        </p:txBody>
      </p:sp>
      <p:pic>
        <p:nvPicPr>
          <p:cNvPr id="118" name="" descr=""/>
          <p:cNvPicPr/>
          <p:nvPr/>
        </p:nvPicPr>
        <p:blipFill>
          <a:blip r:embed="rId1"/>
          <a:stretch/>
        </p:blipFill>
        <p:spPr>
          <a:xfrm>
            <a:off x="2209680" y="2438280"/>
            <a:ext cx="4648320" cy="25876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628</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2006-04-20T17:03:18Z</dcterms:created>
  <dc:creator> </dc:creator>
  <dc:description/>
  <cp:keywords/>
  <dc:language>en-IN</dc:language>
  <cp:lastModifiedBy>Joe Henderson</cp:lastModifiedBy>
  <dcterms:modified xsi:type="dcterms:W3CDTF">2006-11-07T07:54:51Z</dcterms:modified>
  <cp:revision>61</cp:revision>
  <dc:subject/>
  <dc:title>Title Here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TC060889641033</vt:lpwstr>
  </property>
</Properties>
</file>