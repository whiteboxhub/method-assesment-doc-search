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_rels/notesSlide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media/image1.jpeg" ContentType="image/jpeg"/>
  <Override PartName="/ppt/media/image3.png" ContentType="image/png"/>
  <Override PartName="/ppt/media/image13.wmf" ContentType="image/x-wmf"/>
  <Override PartName="/ppt/media/image2.png" ContentType="image/png"/>
  <Override PartName="/ppt/media/image4.wmf" ContentType="image/x-wmf"/>
  <Override PartName="/ppt/media/image5.wmf" ContentType="image/x-wmf"/>
  <Override PartName="/ppt/media/image6.wmf" ContentType="image/x-wmf"/>
  <Override PartName="/ppt/media/image7.wmf" ContentType="image/x-wmf"/>
  <Override PartName="/ppt/media/image8.wmf" ContentType="image/x-wmf"/>
  <Override PartName="/ppt/media/image9.wmf" ContentType="image/x-wmf"/>
  <Override PartName="/ppt/media/image10.png" ContentType="image/png"/>
  <Override PartName="/ppt/media/image11.wmf" ContentType="image/x-wmf"/>
  <Override PartName="/ppt/media/image12.jpeg" ContentType="image/jpeg"/>
  <Override PartName="/ppt/media/image14.jpeg" ContentType="image/jpeg"/>
  <Override PartName="/ppt/media/image15.jpeg" ContentType="image/jpeg"/>
  <Override PartName="/ppt/media/image16.wmf" ContentType="image/x-wmf"/>
  <Override PartName="/ppt/media/image17.wmf" ContentType="image/x-wmf"/>
  <Override PartName="/ppt/media/image18.wmf" ContentType="image/x-wmf"/>
  <Override PartName="/ppt/media/image19.wmf" ContentType="image/x-wmf"/>
  <Override PartName="/ppt/media/image20.wmf" ContentType="image/x-wmf"/>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ffffff"/>
              </a:solidFill>
              <a:effectLst/>
              <a:uFillTx/>
              <a:latin typeface="Arial"/>
            </a:endParaRPr>
          </a:p>
        </p:txBody>
      </p:sp>
      <p:sp>
        <p:nvSpPr>
          <p:cNvPr id="26"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27" name="PlaceHolder 2"/>
          <p:cNvSpPr>
            <a:spLocks noGrp="1"/>
          </p:cNvSpPr>
          <p:nvPr>
            <p:ph type="dt" idx="16"/>
          </p:nvPr>
        </p:nvSpPr>
        <p:spPr>
          <a:xfrm>
            <a:off x="3884400" y="0"/>
            <a:ext cx="2971800" cy="457200"/>
          </a:xfrm>
          <a:prstGeom prst="rect">
            <a:avLst/>
          </a:prstGeom>
          <a:noFill/>
          <a:ln w="0">
            <a:noFill/>
          </a:ln>
        </p:spPr>
        <p:txBody>
          <a:bodyPr lIns="90000" rIns="90000" tIns="46800" bIns="46800" anchor="t">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28" name="PlaceHolder 3"/>
          <p:cNvSpPr>
            <a:spLocks noGrp="1"/>
          </p:cNvSpPr>
          <p:nvPr>
            <p:ph type="sldImg"/>
          </p:nvPr>
        </p:nvSpPr>
        <p:spPr>
          <a:xfrm>
            <a:off x="1143000" y="685440"/>
            <a:ext cx="4572000" cy="3429000"/>
          </a:xfrm>
          <a:prstGeom prst="rect">
            <a:avLst/>
          </a:prstGeom>
          <a:solidFill>
            <a:srgbClr val="ffffff"/>
          </a:solid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Click to move the slide</a:t>
            </a:r>
            <a:endParaRPr b="0" lang="en-IN" sz="4400" strike="noStrike" u="none">
              <a:solidFill>
                <a:srgbClr val="001010"/>
              </a:solidFill>
              <a:effectLst/>
              <a:uFillTx/>
              <a:latin typeface="Tahoma"/>
            </a:endParaRPr>
          </a:p>
        </p:txBody>
      </p:sp>
      <p:sp>
        <p:nvSpPr>
          <p:cNvPr id="29"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30" name="PlaceHolder 5"/>
          <p:cNvSpPr>
            <a:spLocks noGrp="1"/>
          </p:cNvSpPr>
          <p:nvPr>
            <p:ph type="ftr" idx="17"/>
          </p:nvPr>
        </p:nvSpPr>
        <p:spPr>
          <a:xfrm>
            <a:off x="-360" y="8685360"/>
            <a:ext cx="2971800" cy="457200"/>
          </a:xfrm>
          <a:prstGeom prst="rect">
            <a:avLst/>
          </a:prstGeom>
          <a:noFill/>
          <a:ln w="0">
            <a:noFill/>
          </a:ln>
        </p:spPr>
        <p:txBody>
          <a:bodyPr lIns="90000" rIns="90000" tIns="46800" bIns="46800" anchor="b">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31" name="PlaceHolder 6"/>
          <p:cNvSpPr>
            <a:spLocks noGrp="1"/>
          </p:cNvSpPr>
          <p:nvPr>
            <p:ph type="sldNum" idx="18"/>
          </p:nvPr>
        </p:nvSpPr>
        <p:spPr>
          <a:xfrm>
            <a:off x="3884400" y="8685360"/>
            <a:ext cx="2971800" cy="45720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F209F10-68F3-4F3E-95BD-B3B591C44133}"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1143000" y="685800"/>
            <a:ext cx="4572000" cy="3429000"/>
          </a:xfrm>
          <a:prstGeom prst="rect">
            <a:avLst/>
          </a:prstGeom>
          <a:ln w="0">
            <a:noFill/>
          </a:ln>
        </p:spPr>
      </p:sp>
      <p:sp>
        <p:nvSpPr>
          <p:cNvPr id="122"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34048A2-40F8-4704-9498-790290B87245}" type="datetime">
              <a:rPr b="0" lang="en-US" sz="1200" strike="noStrike" u="none">
                <a:solidFill>
                  <a:srgbClr val="000000"/>
                </a:solidFill>
                <a:effectLst/>
                <a:uFillTx/>
                <a:latin typeface="Arial"/>
              </a:rPr>
              <a:t>06/03/25</a:t>
            </a:fld>
            <a:endParaRPr b="0" lang="en-IN"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380880"/>
            <a:ext cx="8229600" cy="13716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Click to edit the title text format</a:t>
            </a:r>
            <a:endParaRPr b="0" lang="en-IN" sz="4400" strike="noStrike" u="none">
              <a:solidFill>
                <a:srgbClr val="001010"/>
              </a:solidFill>
              <a:effectLst/>
              <a:uFillTx/>
              <a:latin typeface="Tahoma"/>
            </a:endParaRPr>
          </a:p>
        </p:txBody>
      </p:sp>
      <p:sp>
        <p:nvSpPr>
          <p:cNvPr id="1" name="PlaceHolder 2"/>
          <p:cNvSpPr>
            <a:spLocks noGrp="1"/>
          </p:cNvSpPr>
          <p:nvPr>
            <p:ph type="body"/>
          </p:nvPr>
        </p:nvSpPr>
        <p:spPr>
          <a:xfrm>
            <a:off x="457200" y="1981080"/>
            <a:ext cx="8229600" cy="4114800"/>
          </a:xfrm>
          <a:prstGeom prst="rect">
            <a:avLst/>
          </a:prstGeom>
          <a:noFill/>
          <a:ln w="0">
            <a:noFill/>
          </a:ln>
        </p:spPr>
        <p:txBody>
          <a:bodyPr lIns="90000" rIns="90000" tIns="46800" bIns="46800" anchor="t">
            <a:normAutofit lnSpcReduction="9999"/>
          </a:bodyPr>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Click to edit the outline text format</a:t>
            </a:r>
            <a:endParaRPr b="0" lang="en-IN" sz="3200" strike="noStrike" u="none">
              <a:solidFill>
                <a:srgbClr val="ffffff"/>
              </a:solidFill>
              <a:effectLst/>
              <a:uFillTx/>
              <a:latin typeface="Tahoma"/>
            </a:endParaRPr>
          </a:p>
          <a:p>
            <a:pPr lvl="1" marL="743040" indent="-285840">
              <a:spcBef>
                <a:spcPts val="799"/>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Second Outline Level</a:t>
            </a:r>
            <a:endParaRPr b="0" lang="en-IN" sz="3200" strike="noStrike" u="none">
              <a:solidFill>
                <a:srgbClr val="ffffff"/>
              </a:solidFill>
              <a:effectLst/>
              <a:uFillTx/>
              <a:latin typeface="Tahoma"/>
            </a:endParaRPr>
          </a:p>
          <a:p>
            <a:pPr lvl="2" marL="1143000" indent="-22860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Third Outline Level</a:t>
            </a:r>
            <a:endParaRPr b="0" lang="en-IN" sz="3200" strike="noStrike" u="none">
              <a:solidFill>
                <a:srgbClr val="ffffff"/>
              </a:solidFill>
              <a:effectLst/>
              <a:uFillTx/>
              <a:latin typeface="Tahoma"/>
            </a:endParaRPr>
          </a:p>
          <a:p>
            <a:pPr lvl="3" marL="1600200" indent="-228600">
              <a:spcBef>
                <a:spcPts val="799"/>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Fourth Outline Level</a:t>
            </a:r>
            <a:endParaRPr b="0" lang="en-IN" sz="3200" strike="noStrike" u="none">
              <a:solidFill>
                <a:srgbClr val="ffffff"/>
              </a:solidFill>
              <a:effectLst/>
              <a:uFillTx/>
              <a:latin typeface="Tahoma"/>
            </a:endParaRPr>
          </a:p>
          <a:p>
            <a:pPr lvl="4" marL="2057400" indent="-22860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Fifth Outline Level</a:t>
            </a:r>
            <a:endParaRPr b="0" lang="en-IN" sz="3200" strike="noStrike" u="none">
              <a:solidFill>
                <a:srgbClr val="ffffff"/>
              </a:solidFill>
              <a:effectLst/>
              <a:uFillTx/>
              <a:latin typeface="Tahoma"/>
            </a:endParaRPr>
          </a:p>
          <a:p>
            <a:pPr lvl="5" marL="2057400" indent="-228600">
              <a:spcBef>
                <a:spcPts val="7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Sixth Outline Level</a:t>
            </a:r>
            <a:endParaRPr b="0" lang="en-IN" sz="3200" strike="noStrike" u="none">
              <a:solidFill>
                <a:srgbClr val="ffffff"/>
              </a:solidFill>
              <a:effectLst/>
              <a:uFillTx/>
              <a:latin typeface="Tahoma"/>
            </a:endParaRPr>
          </a:p>
          <a:p>
            <a:pPr lvl="6" marL="2057400" indent="-228600">
              <a:spcBef>
                <a:spcPts val="7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Seventh Outline Level</a:t>
            </a:r>
            <a:endParaRPr b="0" lang="en-IN" sz="3200" strike="noStrike" u="none">
              <a:solidFill>
                <a:srgbClr val="ffffff"/>
              </a:solidFill>
              <a:effectLst/>
              <a:uFillTx/>
              <a:latin typeface="Tahoma"/>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b">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&lt;date/time&gt;</a:t>
            </a:r>
            <a:endParaRPr b="0" lang="en-IN" sz="1400" strike="noStrike" u="none">
              <a:solidFill>
                <a:srgbClr val="ffffff"/>
              </a:solidFill>
              <a:effectLst/>
              <a:uFillTx/>
              <a:latin typeface="Times New Roman"/>
            </a:endParaRPr>
          </a:p>
        </p:txBody>
      </p:sp>
      <p:sp>
        <p:nvSpPr>
          <p:cNvPr id="3"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b">
            <a:noAutofit/>
          </a:bodyPr>
          <a:lstStyle>
            <a:lvl1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4"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CCFB5D0-85B1-4CFD-89AA-534DA4CD75E3}" type="slidenum">
              <a:rPr b="0" lang="en-IN"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Default">
    <p:bg>
      <p:bgPr>
        <a:blipFill rotWithShape="0">
          <a:blip r:embed="rId2"/>
          <a:stretch/>
        </a:blip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380880"/>
            <a:ext cx="8229600" cy="13716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Click to edit the title text format</a:t>
            </a:r>
            <a:endParaRPr b="0" lang="en-IN" sz="4400" strike="noStrike" u="none">
              <a:solidFill>
                <a:srgbClr val="001010"/>
              </a:solidFill>
              <a:effectLst/>
              <a:uFillTx/>
              <a:latin typeface="Tahoma"/>
            </a:endParaRPr>
          </a:p>
        </p:txBody>
      </p:sp>
      <p:sp>
        <p:nvSpPr>
          <p:cNvPr id="6" name="PlaceHolder 2"/>
          <p:cNvSpPr>
            <a:spLocks noGrp="1"/>
          </p:cNvSpPr>
          <p:nvPr>
            <p:ph type="body"/>
          </p:nvPr>
        </p:nvSpPr>
        <p:spPr>
          <a:xfrm>
            <a:off x="457200" y="1981080"/>
            <a:ext cx="8229600" cy="4114800"/>
          </a:xfrm>
          <a:prstGeom prst="rect">
            <a:avLst/>
          </a:prstGeom>
          <a:noFill/>
          <a:ln w="0">
            <a:noFill/>
          </a:ln>
        </p:spPr>
        <p:txBody>
          <a:bodyPr lIns="90000" rIns="90000" tIns="46800" bIns="46800" anchor="t">
            <a:normAutofit lnSpcReduction="9999"/>
          </a:bodyPr>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Click to edit the outline text format</a:t>
            </a:r>
            <a:endParaRPr b="0" lang="en-IN" sz="3200" strike="noStrike" u="none">
              <a:solidFill>
                <a:srgbClr val="ffffff"/>
              </a:solidFill>
              <a:effectLst/>
              <a:uFillTx/>
              <a:latin typeface="Tahoma"/>
            </a:endParaRPr>
          </a:p>
          <a:p>
            <a:pPr lvl="1" marL="743040" indent="-285840">
              <a:spcBef>
                <a:spcPts val="799"/>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Second Outline Level</a:t>
            </a:r>
            <a:endParaRPr b="0" lang="en-IN" sz="3200" strike="noStrike" u="none">
              <a:solidFill>
                <a:srgbClr val="ffffff"/>
              </a:solidFill>
              <a:effectLst/>
              <a:uFillTx/>
              <a:latin typeface="Tahoma"/>
            </a:endParaRPr>
          </a:p>
          <a:p>
            <a:pPr lvl="2" marL="1143000" indent="-22860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Third Outline Level</a:t>
            </a:r>
            <a:endParaRPr b="0" lang="en-IN" sz="3200" strike="noStrike" u="none">
              <a:solidFill>
                <a:srgbClr val="ffffff"/>
              </a:solidFill>
              <a:effectLst/>
              <a:uFillTx/>
              <a:latin typeface="Tahoma"/>
            </a:endParaRPr>
          </a:p>
          <a:p>
            <a:pPr lvl="3" marL="1600200" indent="-228600">
              <a:spcBef>
                <a:spcPts val="799"/>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Fourth Outline Level</a:t>
            </a:r>
            <a:endParaRPr b="0" lang="en-IN" sz="3200" strike="noStrike" u="none">
              <a:solidFill>
                <a:srgbClr val="ffffff"/>
              </a:solidFill>
              <a:effectLst/>
              <a:uFillTx/>
              <a:latin typeface="Tahoma"/>
            </a:endParaRPr>
          </a:p>
          <a:p>
            <a:pPr lvl="4" marL="2057400" indent="-22860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Fifth Outline Level</a:t>
            </a:r>
            <a:endParaRPr b="0" lang="en-IN" sz="3200" strike="noStrike" u="none">
              <a:solidFill>
                <a:srgbClr val="ffffff"/>
              </a:solidFill>
              <a:effectLst/>
              <a:uFillTx/>
              <a:latin typeface="Tahoma"/>
            </a:endParaRPr>
          </a:p>
          <a:p>
            <a:pPr lvl="5" marL="2057400" indent="-228600">
              <a:spcBef>
                <a:spcPts val="7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Sixth Outline Level</a:t>
            </a:r>
            <a:endParaRPr b="0" lang="en-IN" sz="3200" strike="noStrike" u="none">
              <a:solidFill>
                <a:srgbClr val="ffffff"/>
              </a:solidFill>
              <a:effectLst/>
              <a:uFillTx/>
              <a:latin typeface="Tahoma"/>
            </a:endParaRPr>
          </a:p>
          <a:p>
            <a:pPr lvl="6" marL="2057400" indent="-228600">
              <a:spcBef>
                <a:spcPts val="7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Seventh Outline Level</a:t>
            </a:r>
            <a:endParaRPr b="0" lang="en-IN" sz="3200" strike="noStrike" u="none">
              <a:solidFill>
                <a:srgbClr val="ffffff"/>
              </a:solidFill>
              <a:effectLst/>
              <a:uFillTx/>
              <a:latin typeface="Tahoma"/>
            </a:endParaRPr>
          </a:p>
        </p:txBody>
      </p:sp>
      <p:sp>
        <p:nvSpPr>
          <p:cNvPr id="7" name="PlaceHolder 3"/>
          <p:cNvSpPr>
            <a:spLocks noGrp="1"/>
          </p:cNvSpPr>
          <p:nvPr>
            <p:ph type="dt" idx="4"/>
          </p:nvPr>
        </p:nvSpPr>
        <p:spPr>
          <a:xfrm>
            <a:off x="456840" y="6244920"/>
            <a:ext cx="2133720" cy="476280"/>
          </a:xfrm>
          <a:prstGeom prst="rect">
            <a:avLst/>
          </a:prstGeom>
          <a:noFill/>
          <a:ln w="0">
            <a:noFill/>
          </a:ln>
        </p:spPr>
        <p:txBody>
          <a:bodyPr lIns="90000" rIns="90000" tIns="46800" bIns="46800" anchor="b">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&lt;date/time&gt;</a:t>
            </a:r>
            <a:endParaRPr b="0" lang="en-IN" sz="1400" strike="noStrike" u="none">
              <a:solidFill>
                <a:srgbClr val="ffffff"/>
              </a:solidFill>
              <a:effectLst/>
              <a:uFillTx/>
              <a:latin typeface="Times New Roman"/>
            </a:endParaRPr>
          </a:p>
        </p:txBody>
      </p:sp>
      <p:sp>
        <p:nvSpPr>
          <p:cNvPr id="8" name="PlaceHolder 4"/>
          <p:cNvSpPr>
            <a:spLocks noGrp="1"/>
          </p:cNvSpPr>
          <p:nvPr>
            <p:ph type="ftr" idx="5"/>
          </p:nvPr>
        </p:nvSpPr>
        <p:spPr>
          <a:xfrm>
            <a:off x="3124080" y="6244920"/>
            <a:ext cx="2895840" cy="476280"/>
          </a:xfrm>
          <a:prstGeom prst="rect">
            <a:avLst/>
          </a:prstGeom>
          <a:noFill/>
          <a:ln w="0">
            <a:noFill/>
          </a:ln>
        </p:spPr>
        <p:txBody>
          <a:bodyPr lIns="90000" rIns="90000" tIns="46800" bIns="46800" anchor="b">
            <a:noAutofit/>
          </a:bodyPr>
          <a:lstStyle>
            <a:lvl1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9" name="PlaceHolder 5"/>
          <p:cNvSpPr>
            <a:spLocks noGrp="1"/>
          </p:cNvSpPr>
          <p:nvPr>
            <p:ph type="sldNum" idx="6"/>
          </p:nvPr>
        </p:nvSpPr>
        <p:spPr>
          <a:xfrm>
            <a:off x="6552720" y="6244920"/>
            <a:ext cx="2133720" cy="47628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8DD8711-4926-4C53-9A52-90C16B47B8E8}" type="slidenum">
              <a:rPr b="0" lang="en-IN"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Media" preserve="1">
  <p:cSld name="Default">
    <p:bg>
      <p:bgPr>
        <a:blipFill rotWithShape="0">
          <a:blip r:embed="rId2"/>
          <a:stretch/>
        </a:blip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380880"/>
            <a:ext cx="8229600" cy="13716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Click to edit the title text format</a:t>
            </a:r>
            <a:endParaRPr b="0" lang="en-IN" sz="4400" strike="noStrike" u="none">
              <a:solidFill>
                <a:srgbClr val="001010"/>
              </a:solidFill>
              <a:effectLst/>
              <a:uFillTx/>
              <a:latin typeface="Tahoma"/>
            </a:endParaRPr>
          </a:p>
        </p:txBody>
      </p:sp>
      <p:sp>
        <p:nvSpPr>
          <p:cNvPr id="11" name="PlaceHolder 2"/>
          <p:cNvSpPr>
            <a:spLocks noGrp="1"/>
          </p:cNvSpPr>
          <p:nvPr>
            <p:ph type="body"/>
          </p:nvPr>
        </p:nvSpPr>
        <p:spPr>
          <a:xfrm>
            <a:off x="457200" y="1981080"/>
            <a:ext cx="8229600" cy="4114800"/>
          </a:xfrm>
          <a:prstGeom prst="rect">
            <a:avLst/>
          </a:prstGeom>
          <a:noFill/>
          <a:ln w="0">
            <a:noFill/>
          </a:ln>
        </p:spPr>
        <p:txBody>
          <a:bodyPr lIns="90000" rIns="90000" tIns="46800" bIns="46800" anchor="t">
            <a:normAutofit lnSpcReduction="9999"/>
          </a:bodyPr>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Click to edit the outline text format</a:t>
            </a:r>
            <a:endParaRPr b="0" lang="en-IN" sz="3200" strike="noStrike" u="none">
              <a:solidFill>
                <a:srgbClr val="ffffff"/>
              </a:solidFill>
              <a:effectLst/>
              <a:uFillTx/>
              <a:latin typeface="Tahoma"/>
            </a:endParaRPr>
          </a:p>
          <a:p>
            <a:pPr lvl="1" marL="743040" indent="-285840">
              <a:spcBef>
                <a:spcPts val="799"/>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Second Outline Level</a:t>
            </a:r>
            <a:endParaRPr b="0" lang="en-IN" sz="3200" strike="noStrike" u="none">
              <a:solidFill>
                <a:srgbClr val="ffffff"/>
              </a:solidFill>
              <a:effectLst/>
              <a:uFillTx/>
              <a:latin typeface="Tahoma"/>
            </a:endParaRPr>
          </a:p>
          <a:p>
            <a:pPr lvl="2" marL="1143000" indent="-22860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Third Outline Level</a:t>
            </a:r>
            <a:endParaRPr b="0" lang="en-IN" sz="3200" strike="noStrike" u="none">
              <a:solidFill>
                <a:srgbClr val="ffffff"/>
              </a:solidFill>
              <a:effectLst/>
              <a:uFillTx/>
              <a:latin typeface="Tahoma"/>
            </a:endParaRPr>
          </a:p>
          <a:p>
            <a:pPr lvl="3" marL="1600200" indent="-228600">
              <a:spcBef>
                <a:spcPts val="799"/>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Fourth Outline Level</a:t>
            </a:r>
            <a:endParaRPr b="0" lang="en-IN" sz="3200" strike="noStrike" u="none">
              <a:solidFill>
                <a:srgbClr val="ffffff"/>
              </a:solidFill>
              <a:effectLst/>
              <a:uFillTx/>
              <a:latin typeface="Tahoma"/>
            </a:endParaRPr>
          </a:p>
          <a:p>
            <a:pPr lvl="4" marL="2057400" indent="-22860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Fifth Outline Level</a:t>
            </a:r>
            <a:endParaRPr b="0" lang="en-IN" sz="3200" strike="noStrike" u="none">
              <a:solidFill>
                <a:srgbClr val="ffffff"/>
              </a:solidFill>
              <a:effectLst/>
              <a:uFillTx/>
              <a:latin typeface="Tahoma"/>
            </a:endParaRPr>
          </a:p>
          <a:p>
            <a:pPr lvl="5" marL="2057400" indent="-228600">
              <a:spcBef>
                <a:spcPts val="7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Sixth Outline Level</a:t>
            </a:r>
            <a:endParaRPr b="0" lang="en-IN" sz="3200" strike="noStrike" u="none">
              <a:solidFill>
                <a:srgbClr val="ffffff"/>
              </a:solidFill>
              <a:effectLst/>
              <a:uFillTx/>
              <a:latin typeface="Tahoma"/>
            </a:endParaRPr>
          </a:p>
          <a:p>
            <a:pPr lvl="6" marL="2057400" indent="-228600">
              <a:spcBef>
                <a:spcPts val="7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Seventh Outline Level</a:t>
            </a:r>
            <a:endParaRPr b="0" lang="en-IN" sz="3200" strike="noStrike" u="none">
              <a:solidFill>
                <a:srgbClr val="ffffff"/>
              </a:solidFill>
              <a:effectLst/>
              <a:uFillTx/>
              <a:latin typeface="Tahoma"/>
            </a:endParaRPr>
          </a:p>
        </p:txBody>
      </p:sp>
      <p:sp>
        <p:nvSpPr>
          <p:cNvPr id="12" name="PlaceHolder 3"/>
          <p:cNvSpPr>
            <a:spLocks noGrp="1"/>
          </p:cNvSpPr>
          <p:nvPr>
            <p:ph type="dt" idx="7"/>
          </p:nvPr>
        </p:nvSpPr>
        <p:spPr>
          <a:xfrm>
            <a:off x="456840" y="6244920"/>
            <a:ext cx="2133720" cy="476280"/>
          </a:xfrm>
          <a:prstGeom prst="rect">
            <a:avLst/>
          </a:prstGeom>
          <a:noFill/>
          <a:ln w="0">
            <a:noFill/>
          </a:ln>
        </p:spPr>
        <p:txBody>
          <a:bodyPr lIns="90000" rIns="90000" tIns="46800" bIns="46800" anchor="b">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&lt;date/time&gt;</a:t>
            </a:r>
            <a:endParaRPr b="0" lang="en-IN" sz="1400" strike="noStrike" u="none">
              <a:solidFill>
                <a:srgbClr val="ffffff"/>
              </a:solidFill>
              <a:effectLst/>
              <a:uFillTx/>
              <a:latin typeface="Times New Roman"/>
            </a:endParaRPr>
          </a:p>
        </p:txBody>
      </p:sp>
      <p:sp>
        <p:nvSpPr>
          <p:cNvPr id="13" name="PlaceHolder 4"/>
          <p:cNvSpPr>
            <a:spLocks noGrp="1"/>
          </p:cNvSpPr>
          <p:nvPr>
            <p:ph type="ftr" idx="8"/>
          </p:nvPr>
        </p:nvSpPr>
        <p:spPr>
          <a:xfrm>
            <a:off x="3124080" y="6244920"/>
            <a:ext cx="2895840" cy="476280"/>
          </a:xfrm>
          <a:prstGeom prst="rect">
            <a:avLst/>
          </a:prstGeom>
          <a:noFill/>
          <a:ln w="0">
            <a:noFill/>
          </a:ln>
        </p:spPr>
        <p:txBody>
          <a:bodyPr lIns="90000" rIns="90000" tIns="46800" bIns="46800" anchor="b">
            <a:noAutofit/>
          </a:bodyPr>
          <a:lstStyle>
            <a:lvl1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4" name="PlaceHolder 5"/>
          <p:cNvSpPr>
            <a:spLocks noGrp="1"/>
          </p:cNvSpPr>
          <p:nvPr>
            <p:ph type="sldNum" idx="9"/>
          </p:nvPr>
        </p:nvSpPr>
        <p:spPr>
          <a:xfrm>
            <a:off x="6552720" y="6244920"/>
            <a:ext cx="2133720" cy="47628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9D7E3D3-929F-4988-B8F1-69FF55C5BC6B}" type="slidenum">
              <a:rPr b="0" lang="en-IN"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Default">
    <p:bg>
      <p:bgPr>
        <a:blipFill rotWithShape="0">
          <a:blip r:embed="rId2"/>
          <a:stretch/>
        </a:blip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380880"/>
            <a:ext cx="8229600" cy="13716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Click to edit the title text format</a:t>
            </a:r>
            <a:endParaRPr b="0" lang="en-IN" sz="4400" strike="noStrike" u="none">
              <a:solidFill>
                <a:srgbClr val="001010"/>
              </a:solidFill>
              <a:effectLst/>
              <a:uFillTx/>
              <a:latin typeface="Tahoma"/>
            </a:endParaRPr>
          </a:p>
        </p:txBody>
      </p:sp>
      <p:sp>
        <p:nvSpPr>
          <p:cNvPr id="16" name="PlaceHolder 2"/>
          <p:cNvSpPr>
            <a:spLocks noGrp="1"/>
          </p:cNvSpPr>
          <p:nvPr>
            <p:ph type="body"/>
          </p:nvPr>
        </p:nvSpPr>
        <p:spPr>
          <a:xfrm>
            <a:off x="457200" y="1981080"/>
            <a:ext cx="8229600" cy="4114800"/>
          </a:xfrm>
          <a:prstGeom prst="rect">
            <a:avLst/>
          </a:prstGeom>
          <a:noFill/>
          <a:ln w="0">
            <a:noFill/>
          </a:ln>
        </p:spPr>
        <p:txBody>
          <a:bodyPr lIns="90000" rIns="90000" tIns="46800" bIns="46800" anchor="t">
            <a:normAutofit lnSpcReduction="9999"/>
          </a:bodyPr>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Click to edit the outline text format</a:t>
            </a:r>
            <a:endParaRPr b="0" lang="en-IN" sz="3200" strike="noStrike" u="none">
              <a:solidFill>
                <a:srgbClr val="ffffff"/>
              </a:solidFill>
              <a:effectLst/>
              <a:uFillTx/>
              <a:latin typeface="Tahoma"/>
            </a:endParaRPr>
          </a:p>
          <a:p>
            <a:pPr lvl="1" marL="743040" indent="-285840">
              <a:spcBef>
                <a:spcPts val="799"/>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Second Outline Level</a:t>
            </a:r>
            <a:endParaRPr b="0" lang="en-IN" sz="3200" strike="noStrike" u="none">
              <a:solidFill>
                <a:srgbClr val="ffffff"/>
              </a:solidFill>
              <a:effectLst/>
              <a:uFillTx/>
              <a:latin typeface="Tahoma"/>
            </a:endParaRPr>
          </a:p>
          <a:p>
            <a:pPr lvl="2" marL="1143000" indent="-22860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Third Outline Level</a:t>
            </a:r>
            <a:endParaRPr b="0" lang="en-IN" sz="3200" strike="noStrike" u="none">
              <a:solidFill>
                <a:srgbClr val="ffffff"/>
              </a:solidFill>
              <a:effectLst/>
              <a:uFillTx/>
              <a:latin typeface="Tahoma"/>
            </a:endParaRPr>
          </a:p>
          <a:p>
            <a:pPr lvl="3" marL="1600200" indent="-228600">
              <a:spcBef>
                <a:spcPts val="799"/>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Fourth Outline Level</a:t>
            </a:r>
            <a:endParaRPr b="0" lang="en-IN" sz="3200" strike="noStrike" u="none">
              <a:solidFill>
                <a:srgbClr val="ffffff"/>
              </a:solidFill>
              <a:effectLst/>
              <a:uFillTx/>
              <a:latin typeface="Tahoma"/>
            </a:endParaRPr>
          </a:p>
          <a:p>
            <a:pPr lvl="4" marL="2057400" indent="-22860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Fifth Outline Level</a:t>
            </a:r>
            <a:endParaRPr b="0" lang="en-IN" sz="3200" strike="noStrike" u="none">
              <a:solidFill>
                <a:srgbClr val="ffffff"/>
              </a:solidFill>
              <a:effectLst/>
              <a:uFillTx/>
              <a:latin typeface="Tahoma"/>
            </a:endParaRPr>
          </a:p>
          <a:p>
            <a:pPr lvl="5" marL="2057400" indent="-228600">
              <a:spcBef>
                <a:spcPts val="7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Sixth Outline Level</a:t>
            </a:r>
            <a:endParaRPr b="0" lang="en-IN" sz="3200" strike="noStrike" u="none">
              <a:solidFill>
                <a:srgbClr val="ffffff"/>
              </a:solidFill>
              <a:effectLst/>
              <a:uFillTx/>
              <a:latin typeface="Tahoma"/>
            </a:endParaRPr>
          </a:p>
          <a:p>
            <a:pPr lvl="6" marL="2057400" indent="-228600">
              <a:spcBef>
                <a:spcPts val="7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Seventh Outline Level</a:t>
            </a:r>
            <a:endParaRPr b="0" lang="en-IN" sz="3200" strike="noStrike" u="none">
              <a:solidFill>
                <a:srgbClr val="ffffff"/>
              </a:solidFill>
              <a:effectLst/>
              <a:uFillTx/>
              <a:latin typeface="Tahoma"/>
            </a:endParaRPr>
          </a:p>
        </p:txBody>
      </p:sp>
      <p:sp>
        <p:nvSpPr>
          <p:cNvPr id="17" name="PlaceHolder 3"/>
          <p:cNvSpPr>
            <a:spLocks noGrp="1"/>
          </p:cNvSpPr>
          <p:nvPr>
            <p:ph type="dt" idx="10"/>
          </p:nvPr>
        </p:nvSpPr>
        <p:spPr>
          <a:xfrm>
            <a:off x="456840" y="6244920"/>
            <a:ext cx="2133720" cy="476280"/>
          </a:xfrm>
          <a:prstGeom prst="rect">
            <a:avLst/>
          </a:prstGeom>
          <a:noFill/>
          <a:ln w="0">
            <a:noFill/>
          </a:ln>
        </p:spPr>
        <p:txBody>
          <a:bodyPr lIns="90000" rIns="90000" tIns="46800" bIns="46800" anchor="b">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&lt;date/time&gt;</a:t>
            </a:r>
            <a:endParaRPr b="0" lang="en-IN" sz="1400" strike="noStrike" u="none">
              <a:solidFill>
                <a:srgbClr val="ffffff"/>
              </a:solidFill>
              <a:effectLst/>
              <a:uFillTx/>
              <a:latin typeface="Times New Roman"/>
            </a:endParaRPr>
          </a:p>
        </p:txBody>
      </p:sp>
      <p:sp>
        <p:nvSpPr>
          <p:cNvPr id="18" name="PlaceHolder 4"/>
          <p:cNvSpPr>
            <a:spLocks noGrp="1"/>
          </p:cNvSpPr>
          <p:nvPr>
            <p:ph type="ftr" idx="11"/>
          </p:nvPr>
        </p:nvSpPr>
        <p:spPr>
          <a:xfrm>
            <a:off x="3124080" y="6244920"/>
            <a:ext cx="2895840" cy="476280"/>
          </a:xfrm>
          <a:prstGeom prst="rect">
            <a:avLst/>
          </a:prstGeom>
          <a:noFill/>
          <a:ln w="0">
            <a:noFill/>
          </a:ln>
        </p:spPr>
        <p:txBody>
          <a:bodyPr lIns="90000" rIns="90000" tIns="46800" bIns="46800" anchor="b">
            <a:noAutofit/>
          </a:bodyPr>
          <a:lstStyle>
            <a:lvl1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19" name="PlaceHolder 5"/>
          <p:cNvSpPr>
            <a:spLocks noGrp="1"/>
          </p:cNvSpPr>
          <p:nvPr>
            <p:ph type="sldNum" idx="12"/>
          </p:nvPr>
        </p:nvSpPr>
        <p:spPr>
          <a:xfrm>
            <a:off x="6552720" y="6244920"/>
            <a:ext cx="2133720" cy="47628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10E4BB-E645-4B45-A565-F145C6247226}" type="slidenum">
              <a:rPr b="0" lang="en-IN"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bg>
      <p:bgPr>
        <a:blipFill rotWithShape="0">
          <a:blip r:embed="rId2"/>
          <a:stretch/>
        </a:blip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685800" y="1676520"/>
            <a:ext cx="7772400" cy="18288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Click to edit the title text format</a:t>
            </a:r>
            <a:endParaRPr b="0" lang="en-IN" sz="4400" strike="noStrike" u="none">
              <a:solidFill>
                <a:srgbClr val="001010"/>
              </a:solidFill>
              <a:effectLst/>
              <a:uFillTx/>
              <a:latin typeface="Tahoma"/>
            </a:endParaRPr>
          </a:p>
        </p:txBody>
      </p:sp>
      <p:sp>
        <p:nvSpPr>
          <p:cNvPr id="21" name="PlaceHolder 2"/>
          <p:cNvSpPr>
            <a:spLocks noGrp="1"/>
          </p:cNvSpPr>
          <p:nvPr>
            <p:ph type="dt" idx="13"/>
          </p:nvPr>
        </p:nvSpPr>
        <p:spPr>
          <a:xfrm>
            <a:off x="456840" y="6244920"/>
            <a:ext cx="2133720" cy="476280"/>
          </a:xfrm>
          <a:prstGeom prst="rect">
            <a:avLst/>
          </a:prstGeom>
          <a:noFill/>
          <a:ln w="0">
            <a:noFill/>
          </a:ln>
        </p:spPr>
        <p:txBody>
          <a:bodyPr lIns="90000" rIns="90000" tIns="46800" bIns="46800" anchor="b">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&lt;date/time&gt;</a:t>
            </a:r>
            <a:endParaRPr b="0" lang="en-IN" sz="1400" strike="noStrike" u="none">
              <a:solidFill>
                <a:srgbClr val="ffffff"/>
              </a:solidFill>
              <a:effectLst/>
              <a:uFillTx/>
              <a:latin typeface="Times New Roman"/>
            </a:endParaRPr>
          </a:p>
        </p:txBody>
      </p:sp>
      <p:sp>
        <p:nvSpPr>
          <p:cNvPr id="22" name="PlaceHolder 3"/>
          <p:cNvSpPr>
            <a:spLocks noGrp="1"/>
          </p:cNvSpPr>
          <p:nvPr>
            <p:ph type="ftr" idx="14"/>
          </p:nvPr>
        </p:nvSpPr>
        <p:spPr>
          <a:xfrm>
            <a:off x="3124080" y="6244920"/>
            <a:ext cx="2895840" cy="476280"/>
          </a:xfrm>
          <a:prstGeom prst="rect">
            <a:avLst/>
          </a:prstGeom>
          <a:noFill/>
          <a:ln w="0">
            <a:noFill/>
          </a:ln>
        </p:spPr>
        <p:txBody>
          <a:bodyPr lIns="90000" rIns="90000" tIns="46800" bIns="46800" anchor="b">
            <a:noAutofit/>
          </a:bodyPr>
          <a:lstStyle>
            <a:lvl1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&lt;footer&gt;</a:t>
            </a:r>
            <a:endParaRPr b="0" lang="en-IN" sz="1400" strike="noStrike" u="none">
              <a:solidFill>
                <a:srgbClr val="ffffff"/>
              </a:solidFill>
              <a:effectLst/>
              <a:uFillTx/>
              <a:latin typeface="Times New Roman"/>
            </a:endParaRPr>
          </a:p>
        </p:txBody>
      </p:sp>
      <p:sp>
        <p:nvSpPr>
          <p:cNvPr id="23" name="PlaceHolder 4"/>
          <p:cNvSpPr>
            <a:spLocks noGrp="1"/>
          </p:cNvSpPr>
          <p:nvPr>
            <p:ph type="sldNum" idx="15"/>
          </p:nvPr>
        </p:nvSpPr>
        <p:spPr>
          <a:xfrm>
            <a:off x="6552720" y="6244920"/>
            <a:ext cx="2133720" cy="47628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D54B4C6-0CA3-48E3-9CD7-ED188F513690}" type="slidenum">
              <a:rPr b="0" lang="en-IN" sz="1400" strike="noStrike" u="none">
                <a:solidFill>
                  <a:srgbClr val="ffffff"/>
                </a:solidFill>
                <a:effectLst/>
                <a:uFillTx/>
                <a:latin typeface="Times New Roman"/>
              </a:rPr>
              <a:t>&lt;number&gt;</a:t>
            </a:fld>
            <a:endParaRPr b="0" lang="en-IN" sz="1400" strike="noStrike" u="none">
              <a:solidFill>
                <a:srgbClr val="ffffff"/>
              </a:solidFill>
              <a:effectLst/>
              <a:uFillTx/>
              <a:latin typeface="Times New Roman"/>
            </a:endParaRPr>
          </a:p>
        </p:txBody>
      </p:sp>
      <p:sp>
        <p:nvSpPr>
          <p:cNvPr id="2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indent="0"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Click to edit the outline text format</a:t>
            </a:r>
            <a:endParaRPr b="0" lang="en-IN" sz="3200" strike="noStrike" u="none">
              <a:solidFill>
                <a:srgbClr val="ffffff"/>
              </a:solidFill>
              <a:effectLst/>
              <a:uFillTx/>
              <a:latin typeface="Tahoma"/>
            </a:endParaRPr>
          </a:p>
          <a:p>
            <a:pPr lvl="1" marL="457200" indent="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Second Outline Level</a:t>
            </a:r>
            <a:endParaRPr b="0" lang="en-IN" sz="2800" strike="noStrike" u="none">
              <a:solidFill>
                <a:srgbClr val="ffffff"/>
              </a:solidFill>
              <a:effectLst/>
              <a:uFillTx/>
              <a:latin typeface="Tahoma"/>
            </a:endParaRPr>
          </a:p>
          <a:p>
            <a:pPr lvl="2" marL="914400" algn="ctr">
              <a:spcBef>
                <a:spcPts val="601"/>
              </a:spcBef>
              <a:buClr>
                <a:srgbClr val="00ccff"/>
              </a:buClr>
              <a:buSzPct val="65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Third Outline Level</a:t>
            </a:r>
            <a:endParaRPr b="0" lang="en-IN" sz="2400" strike="noStrike" u="none">
              <a:solidFill>
                <a:srgbClr val="ffffff"/>
              </a:solidFill>
              <a:effectLst/>
              <a:uFillTx/>
              <a:latin typeface="Tahoma"/>
            </a:endParaRPr>
          </a:p>
          <a:p>
            <a:pPr lvl="3" marL="1371600" algn="ctr">
              <a:spcBef>
                <a:spcPts val="499"/>
              </a:spcBef>
              <a:buClr>
                <a:srgbClr val="ffcc00"/>
              </a:buClr>
              <a:buSzPct val="65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Fourth Outline Level</a:t>
            </a:r>
            <a:endParaRPr b="0" lang="en-IN" sz="2000" strike="noStrike" u="none">
              <a:solidFill>
                <a:srgbClr val="ffffff"/>
              </a:solidFill>
              <a:effectLst/>
              <a:uFillTx/>
              <a:latin typeface="Tahoma"/>
            </a:endParaRPr>
          </a:p>
          <a:p>
            <a:pPr lvl="4" marL="1828800" algn="ctr">
              <a:spcBef>
                <a:spcPts val="499"/>
              </a:spcBef>
              <a:buClr>
                <a:srgbClr val="00ccff"/>
              </a:buClr>
              <a:buSzPct val="65000"/>
              <a:buFont typeface="Wingdings" charset="2"/>
              <a:buChar char=""/>
              <a:tabLst>
                <a:tab algn="l" pos="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Fifth Outline Level</a:t>
            </a:r>
            <a:endParaRPr b="0" lang="en-IN" sz="2000" strike="noStrike" u="none">
              <a:solidFill>
                <a:srgbClr val="ffffff"/>
              </a:solidFill>
              <a:effectLst/>
              <a:uFillTx/>
              <a:latin typeface="Tahoma"/>
            </a:endParaRPr>
          </a:p>
          <a:p>
            <a:pPr lvl="5" marL="1828800">
              <a:spcBef>
                <a:spcPts val="4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Sixth Outline Level</a:t>
            </a:r>
            <a:endParaRPr b="0" lang="en-IN" sz="2000" strike="noStrike" u="none">
              <a:solidFill>
                <a:srgbClr val="ffffff"/>
              </a:solidFill>
              <a:effectLst/>
              <a:uFillTx/>
              <a:latin typeface="Tahoma"/>
            </a:endParaRPr>
          </a:p>
          <a:p>
            <a:pPr lvl="6" marL="1828800">
              <a:spcBef>
                <a:spcPts val="499"/>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Seventh Outline Level</a:t>
            </a:r>
            <a:endParaRPr b="0" lang="en-IN" sz="2000" strike="noStrike" u="none">
              <a:solidFill>
                <a:srgbClr val="ffffff"/>
              </a:solidFill>
              <a:effectLst/>
              <a:uFillTx/>
              <a:latin typeface="Tahoma"/>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5.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wmf"/><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5.wmf"/><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6.wmf"/><Relationship Id="rId3"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7.wmf"/><Relationship Id="rId3"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8.wmf"/><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9.wmf"/><Relationship Id="rId3"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0.png"/><Relationship Id="rId3"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1.wmf"/><Relationship Id="rId3"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2.jpeg"/><Relationship Id="rId3"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3.wmf"/><Relationship Id="rId3"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6.wmf"/><Relationship Id="rId3"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7.wmf"/><Relationship Id="rId3"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8.wmf"/><Relationship Id="rId3"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hyperlink" Target="http://www.usdoj.gov/dag/pubdoc.html" TargetMode="External"/><Relationship Id="rId3" Type="http://schemas.openxmlformats.org/officeDocument/2006/relationships/image" Target="../media/image19.wmf"/><Relationship Id="rId4"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0.wmf"/><Relationship Id="rId3"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685800" y="990720"/>
            <a:ext cx="7772400" cy="1828800"/>
          </a:xfrm>
          <a:prstGeom prst="rect">
            <a:avLst/>
          </a:prstGeom>
          <a:noFill/>
          <a:ln w="0">
            <a:noFill/>
          </a:ln>
          <a:effectLst>
            <a:outerShdw dist="17819" dir="2700000" blurRad="0" rotWithShape="0">
              <a:srgbClr val="ffffff">
                <a:alpha val="50000"/>
              </a:srgbClr>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001010"/>
                </a:solidFill>
                <a:effectLst/>
                <a:uFillTx/>
                <a:latin typeface="Tahoma"/>
              </a:rPr>
              <a:t>       False Claims Act</a:t>
            </a:r>
            <a:r>
              <a:rPr b="0" lang="en-IN" sz="4000" strike="noStrike" u="none">
                <a:solidFill>
                  <a:srgbClr val="001010"/>
                </a:solidFill>
                <a:effectLst/>
                <a:uFillTx/>
                <a:latin typeface="Tahoma"/>
              </a:rPr>
              <a:t>	</a:t>
            </a:r>
            <a:br>
              <a:rPr sz="4000"/>
            </a:br>
            <a:r>
              <a:rPr b="0" lang="en-IN" sz="4000" strike="noStrike" u="none">
                <a:solidFill>
                  <a:srgbClr val="001010"/>
                </a:solidFill>
                <a:effectLst/>
                <a:uFillTx/>
                <a:latin typeface="Tahoma"/>
              </a:rPr>
              <a:t>    and Whistleblower Protections</a:t>
            </a:r>
            <a:r>
              <a:rPr b="0" lang="en-IN" sz="4000" strike="noStrike" u="none">
                <a:solidFill>
                  <a:srgbClr val="001010"/>
                </a:solidFill>
                <a:effectLst/>
                <a:uFillTx/>
                <a:latin typeface="Tahoma"/>
              </a:rPr>
              <a:t>	</a:t>
            </a:r>
            <a:endParaRPr b="0" lang="en-IN" sz="4000" strike="noStrike" u="none">
              <a:solidFill>
                <a:srgbClr val="001010"/>
              </a:solidFill>
              <a:effectLst/>
              <a:uFillTx/>
              <a:latin typeface="Tahoma"/>
            </a:endParaRPr>
          </a:p>
        </p:txBody>
      </p:sp>
      <p:sp>
        <p:nvSpPr>
          <p:cNvPr id="33" name="PlaceHolder 2"/>
          <p:cNvSpPr>
            <a:spLocks noGrp="1"/>
          </p:cNvSpPr>
          <p:nvPr>
            <p:ph type="subTitle"/>
          </p:nvPr>
        </p:nvSpPr>
        <p:spPr>
          <a:xfrm>
            <a:off x="1066320" y="2819520"/>
            <a:ext cx="7239240" cy="1752480"/>
          </a:xfrm>
          <a:prstGeom prst="rect">
            <a:avLst/>
          </a:prstGeom>
          <a:noFill/>
          <a:ln w="0">
            <a:noFill/>
          </a:ln>
        </p:spPr>
        <p:txBody>
          <a:bodyPr lIns="90000" rIns="90000" tIns="46800" bIns="46800" anchor="t">
            <a:noAutofit/>
          </a:bodyPr>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00"/>
                </a:solidFill>
                <a:effectLst/>
                <a:uFillTx/>
                <a:latin typeface="Tahoma"/>
              </a:rPr>
              <a:t>Genetic Disease Screening Program</a:t>
            </a:r>
            <a:endParaRPr b="0" lang="en-IN" sz="3200" strike="noStrike" u="none">
              <a:solidFill>
                <a:srgbClr val="ffffff"/>
              </a:solidFill>
              <a:effectLst/>
              <a:uFillTx/>
              <a:latin typeface="Tahoma"/>
            </a:endParaRPr>
          </a:p>
          <a:p>
            <a:pPr indent="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00"/>
                </a:solidFill>
                <a:effectLst/>
                <a:uFillTx/>
                <a:latin typeface="Tahoma"/>
              </a:rPr>
              <a:t>Employee Education and Training</a:t>
            </a:r>
            <a:endParaRPr b="0" lang="en-IN" sz="3200" strike="noStrike" u="none">
              <a:solidFill>
                <a:srgbClr val="ffffff"/>
              </a:solidFill>
              <a:effectLst/>
              <a:uFillTx/>
              <a:latin typeface="Tahoma"/>
            </a:endParaRPr>
          </a:p>
        </p:txBody>
      </p:sp>
      <p:pic>
        <p:nvPicPr>
          <p:cNvPr id="34" name="" descr=""/>
          <p:cNvPicPr/>
          <p:nvPr/>
        </p:nvPicPr>
        <p:blipFill>
          <a:blip r:embed="rId2"/>
          <a:stretch/>
        </p:blipFill>
        <p:spPr>
          <a:xfrm>
            <a:off x="1600200" y="4572000"/>
            <a:ext cx="1676520" cy="1112760"/>
          </a:xfrm>
          <a:prstGeom prst="rect">
            <a:avLst/>
          </a:prstGeom>
          <a:noFill/>
          <a:ln w="0">
            <a:noFill/>
          </a:ln>
        </p:spPr>
      </p:pic>
      <p:sp>
        <p:nvSpPr>
          <p:cNvPr id="35" name=""/>
          <p:cNvSpPr/>
          <p:nvPr/>
        </p:nvSpPr>
        <p:spPr>
          <a:xfrm>
            <a:off x="1371600" y="5791320"/>
            <a:ext cx="2057400" cy="383760"/>
          </a:xfrm>
          <a:prstGeom prst="rect">
            <a:avLst/>
          </a:prstGeom>
          <a:noFill/>
          <a:ln w="0">
            <a:noFill/>
          </a:ln>
        </p:spPr>
        <p:style>
          <a:lnRef idx="0"/>
          <a:fillRef idx="0"/>
          <a:effectRef idx="0"/>
          <a:fontRef idx="minor"/>
        </p:style>
        <p:txBody>
          <a:bodyPr lIns="90000" rIns="90000" tIns="46800" bIns="46800" anchor="t">
            <a:spAutoFit/>
          </a:bodyPr>
          <a:p>
            <a:pPr>
              <a:lnSpc>
                <a:spcPct val="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Tahoma"/>
              </a:rPr>
              <a:t>   MARK B HORTON, MD, MSP                        </a:t>
            </a:r>
            <a:endParaRPr b="0" lang="en-IN" sz="1000" strike="noStrike" u="none">
              <a:solidFill>
                <a:srgbClr val="ffffff"/>
              </a:solidFill>
              <a:effectLst/>
              <a:uFillTx/>
              <a:latin typeface="Arial"/>
            </a:endParaRPr>
          </a:p>
          <a:p>
            <a:pPr>
              <a:lnSpc>
                <a:spcPct val="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Tahoma"/>
              </a:rPr>
              <a:t>                 </a:t>
            </a:r>
            <a:r>
              <a:rPr b="1" i="1" lang="en-IN" sz="1000" strike="noStrike" u="none">
                <a:solidFill>
                  <a:srgbClr val="ffffff"/>
                </a:solidFill>
                <a:effectLst/>
                <a:uFillTx/>
                <a:latin typeface="Tahoma"/>
              </a:rPr>
              <a:t>Director</a:t>
            </a:r>
            <a:r>
              <a:rPr b="0" lang="en-IN" sz="1800" strike="noStrike" u="none">
                <a:solidFill>
                  <a:srgbClr val="ffffff"/>
                </a:solidFill>
                <a:effectLst/>
                <a:uFillTx/>
                <a:latin typeface="Tahoma"/>
              </a:rPr>
              <a:t> </a:t>
            </a:r>
            <a:endParaRPr b="0" lang="en-IN" sz="1800" strike="noStrike" u="none">
              <a:solidFill>
                <a:srgbClr val="ffffff"/>
              </a:solidFill>
              <a:effectLst/>
              <a:uFillTx/>
              <a:latin typeface="Arial"/>
            </a:endParaRPr>
          </a:p>
        </p:txBody>
      </p:sp>
      <p:pic>
        <p:nvPicPr>
          <p:cNvPr id="36" name="" descr=""/>
          <p:cNvPicPr/>
          <p:nvPr/>
        </p:nvPicPr>
        <p:blipFill>
          <a:blip r:embed="rId3"/>
          <a:stretch/>
        </p:blipFill>
        <p:spPr>
          <a:xfrm>
            <a:off x="6019920" y="4419720"/>
            <a:ext cx="1409760" cy="1299960"/>
          </a:xfrm>
          <a:prstGeom prst="rect">
            <a:avLst/>
          </a:prstGeom>
          <a:noFill/>
          <a:ln w="0">
            <a:noFill/>
          </a:ln>
        </p:spPr>
      </p:pic>
      <p:sp>
        <p:nvSpPr>
          <p:cNvPr id="37" name=""/>
          <p:cNvSpPr/>
          <p:nvPr/>
        </p:nvSpPr>
        <p:spPr>
          <a:xfrm>
            <a:off x="6019920" y="1600200"/>
            <a:ext cx="2666880" cy="36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
        <p:nvSpPr>
          <p:cNvPr id="38" name=""/>
          <p:cNvSpPr/>
          <p:nvPr/>
        </p:nvSpPr>
        <p:spPr>
          <a:xfrm>
            <a:off x="5715000" y="5791320"/>
            <a:ext cx="2057400" cy="325800"/>
          </a:xfrm>
          <a:prstGeom prst="rect">
            <a:avLst/>
          </a:prstGeom>
          <a:noFill/>
          <a:ln w="0">
            <a:noFill/>
          </a:ln>
        </p:spPr>
        <p:style>
          <a:lnRef idx="0"/>
          <a:fillRef idx="0"/>
          <a:effectRef idx="0"/>
          <a:fontRef idx="minor"/>
        </p:style>
        <p:txBody>
          <a:bodyPr lIns="90000" rIns="90000" tIns="46800" bIns="46800" anchor="t">
            <a:spAutoFit/>
          </a:bodyPr>
          <a:p>
            <a:pPr>
              <a:lnSpc>
                <a:spcPct val="5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Tahoma"/>
              </a:rPr>
              <a:t>ARNOLD SCHWARZENEGGER</a:t>
            </a:r>
            <a:endParaRPr b="0" lang="en-IN" sz="1000" strike="noStrike" u="none">
              <a:solidFill>
                <a:srgbClr val="ffffff"/>
              </a:solidFill>
              <a:effectLst/>
              <a:uFillTx/>
              <a:latin typeface="Arial"/>
            </a:endParaRPr>
          </a:p>
          <a:p>
            <a:pPr>
              <a:lnSpc>
                <a:spcPct val="5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000" strike="noStrike" u="none">
                <a:solidFill>
                  <a:srgbClr val="ffffff"/>
                </a:solidFill>
                <a:effectLst/>
                <a:uFillTx/>
                <a:latin typeface="Tahoma"/>
              </a:rPr>
              <a:t>                 Governor</a:t>
            </a:r>
            <a:r>
              <a:rPr b="0" lang="en-IN" sz="1000" strike="noStrike" u="none">
                <a:solidFill>
                  <a:srgbClr val="ffffff"/>
                </a:solidFill>
                <a:effectLst/>
                <a:uFillTx/>
                <a:latin typeface="Tahoma"/>
              </a:rPr>
              <a:t> </a:t>
            </a:r>
            <a:endParaRPr b="0" lang="en-IN"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Why have this training?</a:t>
            </a:r>
            <a:endParaRPr b="0" lang="en-IN" sz="4400" strike="noStrike" u="none">
              <a:solidFill>
                <a:srgbClr val="001010"/>
              </a:solidFill>
              <a:effectLst/>
              <a:uFillTx/>
              <a:latin typeface="Tahoma"/>
            </a:endParaRPr>
          </a:p>
        </p:txBody>
      </p:sp>
      <p:sp>
        <p:nvSpPr>
          <p:cNvPr id="40" name="PlaceHolder 2"/>
          <p:cNvSpPr>
            <a:spLocks noGrp="1"/>
          </p:cNvSpPr>
          <p:nvPr>
            <p:ph/>
          </p:nvPr>
        </p:nvSpPr>
        <p:spPr>
          <a:xfrm>
            <a:off x="457200" y="1752480"/>
            <a:ext cx="8229600" cy="3810240"/>
          </a:xfrm>
          <a:prstGeom prst="rect">
            <a:avLst/>
          </a:prstGeom>
          <a:noFill/>
          <a:ln w="0">
            <a:noFill/>
          </a:ln>
        </p:spPr>
        <p:txBody>
          <a:bodyPr lIns="90000" rIns="90000" tIns="46800" bIns="46800" anchor="t">
            <a:normAutofit lnSpcReduction="9999"/>
          </a:bodyPr>
          <a:p>
            <a:pPr marL="343080" indent="-3430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To comply with Federal law – the federal Deficit Reduction Act of 2005 (DRA) as amended in 2007 by </a:t>
            </a:r>
            <a:r>
              <a:rPr b="0" lang="en-IN" sz="2800" strike="noStrike" u="none">
                <a:solidFill>
                  <a:srgbClr val="ffffff"/>
                </a:solidFill>
                <a:effectLst/>
                <a:uFillTx/>
                <a:latin typeface="Tahoma"/>
                <a:ea typeface="Tahoma"/>
              </a:rPr>
              <a:t>§</a:t>
            </a:r>
            <a:r>
              <a:rPr b="0" lang="en-IN" sz="2800" strike="noStrike" u="none">
                <a:solidFill>
                  <a:srgbClr val="ffffff"/>
                </a:solidFill>
                <a:effectLst/>
                <a:uFillTx/>
                <a:latin typeface="Tahoma"/>
              </a:rPr>
              <a:t> 6032.</a:t>
            </a:r>
            <a:endParaRPr b="0" lang="en-IN" sz="2800" strike="noStrike" u="none">
              <a:solidFill>
                <a:srgbClr val="ffffff"/>
              </a:solidFill>
              <a:effectLst/>
              <a:uFillTx/>
              <a:latin typeface="Tahoma"/>
            </a:endParaRPr>
          </a:p>
          <a:p>
            <a:pPr marL="343080" indent="-3430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To familiarize employees with GDSP False Claims policies and procedures.</a:t>
            </a:r>
            <a:endParaRPr b="0" lang="en-IN" sz="2800" strike="noStrike" u="none">
              <a:solidFill>
                <a:srgbClr val="ffffff"/>
              </a:solidFill>
              <a:effectLst/>
              <a:uFillTx/>
              <a:latin typeface="Tahoma"/>
            </a:endParaRPr>
          </a:p>
          <a:p>
            <a:pPr marL="343080" indent="-3430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To provide guidelines for detecting and preventing fraud, waste, and abuse.</a:t>
            </a:r>
            <a:endParaRPr b="0" lang="en-IN" sz="2800" strike="noStrike" u="none">
              <a:solidFill>
                <a:srgbClr val="ffffff"/>
              </a:solidFill>
              <a:effectLst/>
              <a:uFillTx/>
              <a:latin typeface="Tahoma"/>
            </a:endParaRPr>
          </a:p>
          <a:p>
            <a:pPr marL="343080" indent="-3430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To ensure GDSP receives continued Medi-Cal and Medicaid funding.</a:t>
            </a:r>
            <a:endParaRPr b="0" lang="en-IN" sz="2800" strike="noStrike" u="none">
              <a:solidFill>
                <a:srgbClr val="ffffff"/>
              </a:solidFill>
              <a:effectLst/>
              <a:uFillTx/>
              <a:latin typeface="Tahoma"/>
            </a:endParaRPr>
          </a:p>
        </p:txBody>
      </p:sp>
      <p:pic>
        <p:nvPicPr>
          <p:cNvPr id="41" name="" descr=""/>
          <p:cNvPicPr/>
          <p:nvPr/>
        </p:nvPicPr>
        <p:blipFill>
          <a:blip r:embed="rId2"/>
          <a:stretch/>
        </p:blipFill>
        <p:spPr>
          <a:xfrm>
            <a:off x="4648320" y="5181480"/>
            <a:ext cx="1609560" cy="1484280"/>
          </a:xfrm>
          <a:prstGeom prst="rect">
            <a:avLst/>
          </a:prstGeom>
          <a:noFill/>
          <a:ln w="0">
            <a:noFill/>
          </a:ln>
        </p:spPr>
      </p:pic>
      <p:sp>
        <p:nvSpPr>
          <p:cNvPr id="42" name=""/>
          <p:cNvSpPr/>
          <p:nvPr/>
        </p:nvSpPr>
        <p:spPr>
          <a:xfrm>
            <a:off x="685800" y="5715000"/>
            <a:ext cx="434340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Link: Federal Deficit Reduction Act</a:t>
            </a: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Policies</a:t>
            </a:r>
            <a:endParaRPr b="0" lang="en-IN" sz="4400" strike="noStrike" u="none">
              <a:solidFill>
                <a:srgbClr val="001010"/>
              </a:solidFill>
              <a:effectLst/>
              <a:uFillTx/>
              <a:latin typeface="Tahoma"/>
            </a:endParaRPr>
          </a:p>
        </p:txBody>
      </p:sp>
      <p:sp>
        <p:nvSpPr>
          <p:cNvPr id="44" name="PlaceHolder 2"/>
          <p:cNvSpPr>
            <a:spLocks noGrp="1"/>
          </p:cNvSpPr>
          <p:nvPr>
            <p:ph/>
          </p:nvPr>
        </p:nvSpPr>
        <p:spPr>
          <a:xfrm>
            <a:off x="457200" y="1600200"/>
            <a:ext cx="8229600" cy="5105520"/>
          </a:xfrm>
          <a:prstGeom prst="rect">
            <a:avLst/>
          </a:prstGeom>
          <a:noFill/>
          <a:ln w="0">
            <a:noFill/>
          </a:ln>
        </p:spPr>
        <p:txBody>
          <a:bodyPr lIns="90000" rIns="90000" tIns="46800" bIns="46800" anchor="t">
            <a:normAutofit/>
          </a:bodyPr>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Include information about the </a:t>
            </a:r>
            <a:r>
              <a:rPr b="0" lang="en-IN" sz="3200" strike="noStrike" u="none">
                <a:solidFill>
                  <a:srgbClr val="ffcc00"/>
                </a:solidFill>
                <a:effectLst/>
                <a:uFillTx/>
                <a:latin typeface="Tahoma"/>
              </a:rPr>
              <a:t>Federal</a:t>
            </a:r>
            <a:r>
              <a:rPr b="0" lang="en-IN" sz="3200" strike="noStrike" u="none">
                <a:solidFill>
                  <a:srgbClr val="ffffff"/>
                </a:solidFill>
                <a:effectLst/>
                <a:uFillTx/>
                <a:latin typeface="Tahoma"/>
              </a:rPr>
              <a:t> and </a:t>
            </a:r>
            <a:r>
              <a:rPr b="0" lang="en-IN" sz="3200" strike="noStrike" u="none">
                <a:solidFill>
                  <a:srgbClr val="ffcc00"/>
                </a:solidFill>
                <a:effectLst/>
                <a:uFillTx/>
                <a:latin typeface="Tahoma"/>
              </a:rPr>
              <a:t>California</a:t>
            </a:r>
            <a:r>
              <a:rPr b="0" lang="en-IN" sz="3200" strike="noStrike" u="none">
                <a:solidFill>
                  <a:srgbClr val="ffffff"/>
                </a:solidFill>
                <a:effectLst/>
                <a:uFillTx/>
                <a:latin typeface="Tahoma"/>
              </a:rPr>
              <a:t> FCA Whistleblower </a:t>
            </a:r>
            <a:r>
              <a:rPr b="0" lang="en-IN" sz="3200" strike="noStrike" u="none">
                <a:solidFill>
                  <a:srgbClr val="ffcc00"/>
                </a:solidFill>
                <a:effectLst/>
                <a:uFillTx/>
                <a:latin typeface="Tahoma"/>
              </a:rPr>
              <a:t>protections</a:t>
            </a:r>
            <a:r>
              <a:rPr b="0" lang="en-IN" sz="3200" strike="noStrike" u="none">
                <a:solidFill>
                  <a:srgbClr val="ffffff"/>
                </a:solidFill>
                <a:effectLst/>
                <a:uFillTx/>
                <a:latin typeface="Tahoma"/>
              </a:rPr>
              <a:t> under these laws.</a:t>
            </a:r>
            <a:endParaRPr b="0" lang="en-IN" sz="3200" strike="noStrike" u="none">
              <a:solidFill>
                <a:srgbClr val="ffffff"/>
              </a:solidFill>
              <a:effectLst/>
              <a:uFillTx/>
              <a:latin typeface="Tahoma"/>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43080" indent="-34308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These policies may be updated as needed and subsequent training may be required. </a:t>
            </a:r>
            <a:endParaRPr b="0" lang="en-IN" sz="3200" strike="noStrike" u="none">
              <a:solidFill>
                <a:srgbClr val="ffffff"/>
              </a:solidFill>
              <a:effectLst/>
              <a:uFillTx/>
              <a:latin typeface="Tahoma"/>
            </a:endParaRPr>
          </a:p>
        </p:txBody>
      </p:sp>
      <p:pic>
        <p:nvPicPr>
          <p:cNvPr id="45" name="" descr=""/>
          <p:cNvPicPr/>
          <p:nvPr/>
        </p:nvPicPr>
        <p:blipFill>
          <a:blip r:embed="rId2"/>
          <a:stretch/>
        </p:blipFill>
        <p:spPr>
          <a:xfrm rot="733800">
            <a:off x="4266720" y="2743200"/>
            <a:ext cx="1838520" cy="18302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Who needs this training?</a:t>
            </a:r>
            <a:endParaRPr b="0" lang="en-IN" sz="4400" strike="noStrike" u="none">
              <a:solidFill>
                <a:srgbClr val="001010"/>
              </a:solidFill>
              <a:effectLst/>
              <a:uFillTx/>
              <a:latin typeface="Tahoma"/>
            </a:endParaRPr>
          </a:p>
        </p:txBody>
      </p:sp>
      <p:sp>
        <p:nvSpPr>
          <p:cNvPr id="47" name="PlaceHolder 2"/>
          <p:cNvSpPr>
            <a:spLocks noGrp="1"/>
          </p:cNvSpPr>
          <p:nvPr>
            <p:ph/>
          </p:nvPr>
        </p:nvSpPr>
        <p:spPr>
          <a:xfrm>
            <a:off x="2895480" y="2133360"/>
            <a:ext cx="6019920" cy="3429000"/>
          </a:xfrm>
          <a:prstGeom prst="rect">
            <a:avLst/>
          </a:prstGeom>
          <a:noFill/>
          <a:ln w="0">
            <a:noFill/>
          </a:ln>
        </p:spPr>
        <p:txBody>
          <a:bodyPr lIns="90000" rIns="90000" tIns="46800" bIns="46800" anchor="t">
            <a:normAutofit/>
          </a:bodyPr>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All GDSP employees and management.</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All GDSP contractors.</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All GDSP agents.</a:t>
            </a:r>
            <a:endParaRPr b="0" lang="en-IN" sz="2800" strike="noStrike" u="none">
              <a:solidFill>
                <a:srgbClr val="ffffff"/>
              </a:solidFill>
              <a:effectLst/>
              <a:uFillTx/>
              <a:latin typeface="Tahoma"/>
            </a:endParaRPr>
          </a:p>
        </p:txBody>
      </p:sp>
      <p:pic>
        <p:nvPicPr>
          <p:cNvPr id="48" name="" descr=""/>
          <p:cNvPicPr/>
          <p:nvPr/>
        </p:nvPicPr>
        <p:blipFill>
          <a:blip r:embed="rId2"/>
          <a:stretch/>
        </p:blipFill>
        <p:spPr>
          <a:xfrm>
            <a:off x="609480" y="2514600"/>
            <a:ext cx="1963800" cy="1996920"/>
          </a:xfrm>
          <a:prstGeom prst="rect">
            <a:avLst/>
          </a:prstGeom>
          <a:noFill/>
          <a:ln w="0">
            <a:noFill/>
          </a:ln>
        </p:spPr>
      </p:pic>
      <p:sp>
        <p:nvSpPr>
          <p:cNvPr id="49" name=""/>
          <p:cNvSpPr/>
          <p:nvPr/>
        </p:nvSpPr>
        <p:spPr>
          <a:xfrm>
            <a:off x="838080" y="4648320"/>
            <a:ext cx="8001000" cy="366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380880"/>
            <a:ext cx="8229600" cy="1371600"/>
          </a:xfrm>
          <a:prstGeom prst="rect">
            <a:avLst/>
          </a:prstGeom>
          <a:noFill/>
          <a:ln w="0">
            <a:noFill/>
          </a:ln>
          <a:effectLst>
            <a:outerShdw dist="40186" dir="4303641" blurRad="0" rotWithShape="0">
              <a:srgbClr val="001010"/>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00"/>
                </a:solidFill>
                <a:effectLst/>
                <a:uFillTx/>
                <a:latin typeface="Tahoma"/>
              </a:rPr>
              <a:t>The Genetic Disease Screening Program takes allegations of funding fraud, waste and abuse very seriously!!!</a:t>
            </a:r>
            <a:endParaRPr b="0" lang="en-IN" sz="3200" strike="noStrike" u="none">
              <a:solidFill>
                <a:srgbClr val="001010"/>
              </a:solidFill>
              <a:effectLst/>
              <a:uFillTx/>
              <a:latin typeface="Tahoma"/>
            </a:endParaRPr>
          </a:p>
        </p:txBody>
      </p:sp>
      <p:sp>
        <p:nvSpPr>
          <p:cNvPr id="51" name="PlaceHolder 2"/>
          <p:cNvSpPr>
            <a:spLocks noGrp="1"/>
          </p:cNvSpPr>
          <p:nvPr>
            <p:ph/>
          </p:nvPr>
        </p:nvSpPr>
        <p:spPr>
          <a:xfrm>
            <a:off x="457200" y="1981080"/>
            <a:ext cx="8229600" cy="4114800"/>
          </a:xfrm>
          <a:prstGeom prst="rect">
            <a:avLst/>
          </a:prstGeom>
          <a:noFill/>
          <a:ln w="0">
            <a:noFill/>
          </a:ln>
        </p:spPr>
        <p:txBody>
          <a:bodyPr lIns="90000" rIns="90000" tIns="46800" bIns="46800" anchor="t">
            <a:normAutofit/>
          </a:bodyPr>
          <a:p>
            <a:pPr marL="343080" indent="-343080">
              <a:lnSpc>
                <a:spcPct val="80000"/>
              </a:lnSpc>
              <a:spcBef>
                <a:spcPts val="601"/>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All complaints regarding potential </a:t>
            </a:r>
            <a:r>
              <a:rPr b="0" lang="en-IN" sz="2400" strike="noStrike" u="none">
                <a:solidFill>
                  <a:srgbClr val="ffcc00"/>
                </a:solidFill>
                <a:effectLst/>
                <a:uFillTx/>
                <a:latin typeface="Tahoma"/>
              </a:rPr>
              <a:t>fraud, waste and abuse</a:t>
            </a:r>
            <a:r>
              <a:rPr b="0" lang="en-IN" sz="2400" strike="noStrike" u="none">
                <a:solidFill>
                  <a:srgbClr val="ffffff"/>
                </a:solidFill>
                <a:effectLst/>
                <a:uFillTx/>
                <a:latin typeface="Tahoma"/>
              </a:rPr>
              <a:t> of program funding are investigated and employees who report these issues will be protected from retaliation.  </a:t>
            </a:r>
            <a:endParaRPr b="0" lang="en-IN" sz="2400" strike="noStrike" u="none">
              <a:solidFill>
                <a:srgbClr val="ffffff"/>
              </a:solidFill>
              <a:effectLst/>
              <a:uFillTx/>
              <a:latin typeface="Tahoma"/>
            </a:endParaRPr>
          </a:p>
          <a:p>
            <a:pPr marL="343080" indent="-343080">
              <a:lnSpc>
                <a:spcPct val="80000"/>
              </a:lnSpc>
              <a:spcBef>
                <a:spcPts val="601"/>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The Genetic Disease Screening Program has procedures for detecting and preventing </a:t>
            </a:r>
            <a:r>
              <a:rPr b="0" lang="en-IN" sz="2400" strike="noStrike" u="none">
                <a:solidFill>
                  <a:srgbClr val="ffcc00"/>
                </a:solidFill>
                <a:effectLst/>
                <a:uFillTx/>
                <a:latin typeface="Tahoma"/>
              </a:rPr>
              <a:t>fraud, waste, and abuse</a:t>
            </a:r>
            <a:r>
              <a:rPr b="0" lang="en-IN" sz="2400" strike="noStrike" u="none">
                <a:solidFill>
                  <a:srgbClr val="ffffff"/>
                </a:solidFill>
                <a:effectLst/>
                <a:uFillTx/>
                <a:latin typeface="Tahoma"/>
              </a:rPr>
              <a:t>.  The Screening Information System (SIS) has a set of checks and balances known as inconsistencies that assure contractors cannot bill inappropriately.</a:t>
            </a:r>
            <a:endParaRPr b="0" lang="en-IN" sz="2400" strike="noStrike" u="none">
              <a:solidFill>
                <a:srgbClr val="ffffff"/>
              </a:solidFill>
              <a:effectLst/>
              <a:uFillTx/>
              <a:latin typeface="Tahoma"/>
            </a:endParaRPr>
          </a:p>
          <a:p>
            <a:pPr marL="343080" indent="-343080">
              <a:lnSpc>
                <a:spcPct val="80000"/>
              </a:lnSpc>
              <a:spcBef>
                <a:spcPts val="601"/>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There are program standards and guidelines for contractors that provide services included in the contracts and/or vendor agreements.</a:t>
            </a:r>
            <a:endParaRPr b="0" lang="en-IN" sz="2400" strike="noStrike" u="none">
              <a:solidFill>
                <a:srgbClr val="ffffff"/>
              </a:solidFill>
              <a:effectLst/>
              <a:uFillTx/>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The Federal False Claims Act</a:t>
            </a:r>
            <a:br>
              <a:rPr sz="4400"/>
            </a:br>
            <a:r>
              <a:rPr b="0" lang="en-IN" sz="3600" strike="noStrike" u="none">
                <a:solidFill>
                  <a:srgbClr val="001010"/>
                </a:solidFill>
                <a:effectLst/>
                <a:uFillTx/>
                <a:latin typeface="Tahoma"/>
              </a:rPr>
              <a:t>(31 USC </a:t>
            </a:r>
            <a:r>
              <a:rPr b="0" lang="en-IN" sz="3600" strike="noStrike" u="none">
                <a:solidFill>
                  <a:srgbClr val="001010"/>
                </a:solidFill>
                <a:effectLst/>
                <a:uFillTx/>
                <a:latin typeface="Times New Roman"/>
                <a:ea typeface="Times New Roman"/>
              </a:rPr>
              <a:t>§ 3279-3733)</a:t>
            </a:r>
            <a:endParaRPr b="0" lang="en-IN" sz="3600" strike="noStrike" u="none">
              <a:solidFill>
                <a:srgbClr val="001010"/>
              </a:solidFill>
              <a:effectLst/>
              <a:uFillTx/>
              <a:latin typeface="Tahoma"/>
            </a:endParaRPr>
          </a:p>
        </p:txBody>
      </p:sp>
      <p:sp>
        <p:nvSpPr>
          <p:cNvPr id="53" name="PlaceHolder 2"/>
          <p:cNvSpPr>
            <a:spLocks noGrp="1"/>
          </p:cNvSpPr>
          <p:nvPr>
            <p:ph/>
          </p:nvPr>
        </p:nvSpPr>
        <p:spPr>
          <a:xfrm>
            <a:off x="457200" y="1980720"/>
            <a:ext cx="5105520" cy="4343400"/>
          </a:xfrm>
          <a:prstGeom prst="rect">
            <a:avLst/>
          </a:prstGeom>
          <a:noFill/>
          <a:ln w="0">
            <a:noFill/>
          </a:ln>
        </p:spPr>
        <p:txBody>
          <a:bodyPr lIns="90000" rIns="90000" tIns="46800" bIns="46800" anchor="t">
            <a:normAutofit/>
          </a:bodyPr>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Enacted in 1863 to combat fraud by government contractors.</a:t>
            </a:r>
            <a:endParaRPr b="0" lang="en-IN" sz="2800" strike="noStrike" u="none">
              <a:solidFill>
                <a:srgbClr val="ffffff"/>
              </a:solidFill>
              <a:effectLst/>
              <a:uFillTx/>
              <a:latin typeface="Tahoma"/>
            </a:endParaRPr>
          </a:p>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Used extensively to combat fraud in government health care programs.</a:t>
            </a:r>
            <a:endParaRPr b="0" lang="en-IN" sz="2800" strike="noStrike" u="none">
              <a:solidFill>
                <a:srgbClr val="ffffff"/>
              </a:solidFill>
              <a:effectLst/>
              <a:uFillTx/>
              <a:latin typeface="Tahoma"/>
            </a:endParaRPr>
          </a:p>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Amended in 1986 to include non-retaliation (</a:t>
            </a:r>
            <a:r>
              <a:rPr b="0" lang="en-IN" sz="2800" strike="noStrike" u="none">
                <a:solidFill>
                  <a:srgbClr val="ffcc00"/>
                </a:solidFill>
                <a:effectLst/>
                <a:uFillTx/>
                <a:latin typeface="Tahoma"/>
              </a:rPr>
              <a:t>whistleblower</a:t>
            </a:r>
            <a:r>
              <a:rPr b="0" lang="en-IN" sz="2800" strike="noStrike" u="none">
                <a:solidFill>
                  <a:srgbClr val="ffffff"/>
                </a:solidFill>
                <a:effectLst/>
                <a:uFillTx/>
                <a:latin typeface="Tahoma"/>
              </a:rPr>
              <a:t>) protections.</a:t>
            </a:r>
            <a:endParaRPr b="0" lang="en-IN" sz="2800" strike="noStrike" u="none">
              <a:solidFill>
                <a:srgbClr val="ffffff"/>
              </a:solidFill>
              <a:effectLst/>
              <a:uFillTx/>
              <a:latin typeface="Tahoma"/>
            </a:endParaRPr>
          </a:p>
        </p:txBody>
      </p:sp>
      <p:pic>
        <p:nvPicPr>
          <p:cNvPr id="54" name="" descr=""/>
          <p:cNvPicPr/>
          <p:nvPr/>
        </p:nvPicPr>
        <p:blipFill>
          <a:blip r:embed="rId2"/>
          <a:stretch/>
        </p:blipFill>
        <p:spPr>
          <a:xfrm>
            <a:off x="5562720" y="2438280"/>
            <a:ext cx="3122640" cy="3038760"/>
          </a:xfrm>
          <a:prstGeom prst="rect">
            <a:avLst/>
          </a:prstGeom>
          <a:noFill/>
          <a:ln w="0">
            <a:noFill/>
          </a:ln>
        </p:spPr>
      </p:pic>
      <p:sp>
        <p:nvSpPr>
          <p:cNvPr id="55" name=""/>
          <p:cNvSpPr/>
          <p:nvPr/>
        </p:nvSpPr>
        <p:spPr>
          <a:xfrm>
            <a:off x="533520" y="6324480"/>
            <a:ext cx="731520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Link to:   Federal False Claims Act</a:t>
            </a: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001010"/>
                </a:solidFill>
                <a:effectLst/>
                <a:uFillTx/>
                <a:latin typeface="Tahoma"/>
              </a:rPr>
              <a:t>Liability under the federal False Claims Act</a:t>
            </a:r>
            <a:endParaRPr b="0" lang="en-IN" sz="4000" strike="noStrike" u="none">
              <a:solidFill>
                <a:srgbClr val="001010"/>
              </a:solidFill>
              <a:effectLst/>
              <a:uFillTx/>
              <a:latin typeface="Tahoma"/>
            </a:endParaRPr>
          </a:p>
        </p:txBody>
      </p:sp>
      <p:sp>
        <p:nvSpPr>
          <p:cNvPr id="57" name="PlaceHolder 2"/>
          <p:cNvSpPr>
            <a:spLocks noGrp="1"/>
          </p:cNvSpPr>
          <p:nvPr>
            <p:ph/>
          </p:nvPr>
        </p:nvSpPr>
        <p:spPr>
          <a:xfrm>
            <a:off x="457200" y="1981080"/>
            <a:ext cx="8229600" cy="4114800"/>
          </a:xfrm>
          <a:prstGeom prst="rect">
            <a:avLst/>
          </a:prstGeom>
          <a:noFill/>
          <a:ln w="0">
            <a:noFill/>
          </a:ln>
        </p:spPr>
        <p:txBody>
          <a:bodyPr lIns="90000" rIns="90000" tIns="46800" bIns="46800" anchor="t">
            <a:normAutofit/>
          </a:bodyPr>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The False Claims Act establishes liability for any person who </a:t>
            </a:r>
            <a:r>
              <a:rPr b="0" lang="en-IN" sz="2800" strike="noStrike" u="none">
                <a:solidFill>
                  <a:srgbClr val="ffcc00"/>
                </a:solidFill>
                <a:effectLst/>
                <a:uFillTx/>
                <a:latin typeface="Tahoma"/>
              </a:rPr>
              <a:t>KNOWINGLY</a:t>
            </a:r>
            <a:r>
              <a:rPr b="0" lang="en-IN" sz="2800" strike="noStrike" u="none">
                <a:solidFill>
                  <a:srgbClr val="ffffff"/>
                </a:solidFill>
                <a:effectLst/>
                <a:uFillTx/>
                <a:latin typeface="Tahoma"/>
              </a:rPr>
              <a:t> presents false or fraudulent claims to the US government for payment.</a:t>
            </a:r>
            <a:endParaRPr b="0" lang="en-IN" sz="2800" strike="noStrike" u="none">
              <a:solidFill>
                <a:srgbClr val="ffffff"/>
              </a:solidFill>
              <a:effectLst/>
              <a:uFillTx/>
              <a:latin typeface="Tahoma"/>
            </a:endParaRPr>
          </a:p>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The Act includes “Qui Tam” provisions that allow private citizens (</a:t>
            </a:r>
            <a:r>
              <a:rPr b="0" lang="en-IN" sz="2800" strike="noStrike" u="none">
                <a:solidFill>
                  <a:srgbClr val="ffcc00"/>
                </a:solidFill>
                <a:effectLst/>
                <a:uFillTx/>
                <a:latin typeface="Tahoma"/>
              </a:rPr>
              <a:t>relators</a:t>
            </a:r>
            <a:r>
              <a:rPr b="0" lang="en-IN" sz="2800" strike="noStrike" u="none">
                <a:solidFill>
                  <a:srgbClr val="ffffff"/>
                </a:solidFill>
                <a:effectLst/>
                <a:uFillTx/>
                <a:latin typeface="Tahoma"/>
              </a:rPr>
              <a:t>) to sue violators on behalf of the government.</a:t>
            </a:r>
            <a:endParaRPr b="0" lang="en-IN" sz="2800" strike="noStrike" u="none">
              <a:solidFill>
                <a:srgbClr val="ffffff"/>
              </a:solidFill>
              <a:effectLst/>
              <a:uFillTx/>
              <a:latin typeface="Tahoma"/>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p:txBody>
      </p:sp>
      <p:pic>
        <p:nvPicPr>
          <p:cNvPr id="58" name="" descr=""/>
          <p:cNvPicPr/>
          <p:nvPr/>
        </p:nvPicPr>
        <p:blipFill>
          <a:blip r:embed="rId2"/>
          <a:stretch/>
        </p:blipFill>
        <p:spPr>
          <a:xfrm>
            <a:off x="6400800" y="4952880"/>
            <a:ext cx="1841400" cy="12956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001010"/>
                </a:solidFill>
                <a:effectLst/>
                <a:uFillTx/>
                <a:latin typeface="Tahoma"/>
              </a:rPr>
              <a:t>California False Claims Act (CFCA)</a:t>
            </a:r>
            <a:br>
              <a:rPr sz="4000"/>
            </a:br>
            <a:endParaRPr b="0" lang="en-IN" sz="4000" strike="noStrike" u="none">
              <a:solidFill>
                <a:srgbClr val="001010"/>
              </a:solidFill>
              <a:effectLst/>
              <a:uFillTx/>
              <a:latin typeface="Tahoma"/>
            </a:endParaRPr>
          </a:p>
        </p:txBody>
      </p:sp>
      <p:sp>
        <p:nvSpPr>
          <p:cNvPr id="60" name="PlaceHolder 2"/>
          <p:cNvSpPr>
            <a:spLocks noGrp="1"/>
          </p:cNvSpPr>
          <p:nvPr>
            <p:ph/>
          </p:nvPr>
        </p:nvSpPr>
        <p:spPr>
          <a:xfrm>
            <a:off x="304920" y="1752480"/>
            <a:ext cx="8229600" cy="4114800"/>
          </a:xfrm>
          <a:prstGeom prst="rect">
            <a:avLst/>
          </a:prstGeom>
          <a:noFill/>
          <a:ln w="0">
            <a:noFill/>
          </a:ln>
        </p:spPr>
        <p:txBody>
          <a:bodyPr lIns="90000" rIns="90000" tIns="46800" bIns="46800" anchor="t">
            <a:normAutofit/>
          </a:bodyPr>
          <a:p>
            <a:pPr marL="343080" indent="-3430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Was enacted in 1987 </a:t>
            </a:r>
            <a:br>
              <a:rPr sz="2800"/>
            </a:br>
            <a:r>
              <a:rPr b="0" lang="en-IN" sz="2800" strike="noStrike" u="none">
                <a:solidFill>
                  <a:srgbClr val="ffffff"/>
                </a:solidFill>
                <a:effectLst/>
                <a:uFillTx/>
                <a:latin typeface="Tahoma"/>
              </a:rPr>
              <a:t>(Gov’t Code 12650 et. Seq).</a:t>
            </a:r>
            <a:endParaRPr b="0" lang="en-IN" sz="2800" strike="noStrike" u="none">
              <a:solidFill>
                <a:srgbClr val="ffffff"/>
              </a:solidFill>
              <a:effectLst/>
              <a:uFillTx/>
              <a:latin typeface="Tahoma"/>
            </a:endParaRPr>
          </a:p>
          <a:p>
            <a:pPr marL="343080" indent="-3430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Was modeled after the</a:t>
            </a:r>
            <a:endParaRPr b="0" lang="en-IN" sz="28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Federal False Claims Act.</a:t>
            </a:r>
            <a:endParaRPr b="0" lang="en-IN" sz="2800" strike="noStrike" u="none">
              <a:solidFill>
                <a:srgbClr val="ffffff"/>
              </a:solidFill>
              <a:effectLst/>
              <a:uFillTx/>
              <a:latin typeface="Tahoma"/>
            </a:endParaRPr>
          </a:p>
          <a:p>
            <a:pPr marL="343080" indent="-3430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Allows the government or </a:t>
            </a:r>
            <a:endParaRPr b="0" lang="en-IN" sz="28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individual (</a:t>
            </a:r>
            <a:r>
              <a:rPr b="0" lang="en-IN" sz="2800" strike="noStrike" u="none">
                <a:solidFill>
                  <a:srgbClr val="ffcc00"/>
                </a:solidFill>
                <a:effectLst/>
                <a:uFillTx/>
                <a:latin typeface="Tahoma"/>
              </a:rPr>
              <a:t>relator</a:t>
            </a:r>
            <a:r>
              <a:rPr b="0" lang="en-IN" sz="2800" strike="noStrike" u="none">
                <a:solidFill>
                  <a:srgbClr val="ffffff"/>
                </a:solidFill>
                <a:effectLst/>
                <a:uFillTx/>
                <a:latin typeface="Tahoma"/>
              </a:rPr>
              <a:t>) to bring civil actions to </a:t>
            </a:r>
            <a:endParaRPr b="0" lang="en-IN" sz="28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recover damages, penalties, and costs when government contractors, vendors or others defraud the government.</a:t>
            </a:r>
            <a:endParaRPr b="0" lang="en-IN" sz="2800" strike="noStrike" u="none">
              <a:solidFill>
                <a:srgbClr val="ffffff"/>
              </a:solidFill>
              <a:effectLst/>
              <a:uFillTx/>
              <a:latin typeface="Tahoma"/>
            </a:endParaRPr>
          </a:p>
        </p:txBody>
      </p:sp>
      <p:pic>
        <p:nvPicPr>
          <p:cNvPr id="61" name="" descr=""/>
          <p:cNvPicPr/>
          <p:nvPr/>
        </p:nvPicPr>
        <p:blipFill>
          <a:blip r:embed="rId2"/>
          <a:stretch/>
        </p:blipFill>
        <p:spPr>
          <a:xfrm>
            <a:off x="5029200" y="1371600"/>
            <a:ext cx="3525840" cy="3048120"/>
          </a:xfrm>
          <a:prstGeom prst="rect">
            <a:avLst/>
          </a:prstGeom>
          <a:noFill/>
          <a:ln w="0">
            <a:noFill/>
          </a:ln>
        </p:spPr>
      </p:pic>
      <p:sp>
        <p:nvSpPr>
          <p:cNvPr id="62" name=""/>
          <p:cNvSpPr/>
          <p:nvPr/>
        </p:nvSpPr>
        <p:spPr>
          <a:xfrm>
            <a:off x="380880" y="6172200"/>
            <a:ext cx="8382240" cy="36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
        <p:nvSpPr>
          <p:cNvPr id="63" name=""/>
          <p:cNvSpPr/>
          <p:nvPr/>
        </p:nvSpPr>
        <p:spPr>
          <a:xfrm>
            <a:off x="8077320" y="5943600"/>
            <a:ext cx="533160" cy="36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380880" y="228240"/>
            <a:ext cx="8305920" cy="167652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1010"/>
                </a:solidFill>
                <a:effectLst/>
                <a:uFillTx/>
                <a:latin typeface="Tahoma"/>
              </a:rPr>
              <a:t>To View the California False Claims Act (CFCA) in its entirety</a:t>
            </a:r>
            <a:endParaRPr b="0" lang="en-IN" sz="3600" strike="noStrike" u="none">
              <a:solidFill>
                <a:srgbClr val="001010"/>
              </a:solidFill>
              <a:effectLst/>
              <a:uFillTx/>
              <a:latin typeface="Tahoma"/>
            </a:endParaRPr>
          </a:p>
        </p:txBody>
      </p:sp>
      <p:sp>
        <p:nvSpPr>
          <p:cNvPr id="65" name="PlaceHolder 2"/>
          <p:cNvSpPr>
            <a:spLocks noGrp="1"/>
          </p:cNvSpPr>
          <p:nvPr>
            <p:ph/>
          </p:nvPr>
        </p:nvSpPr>
        <p:spPr>
          <a:xfrm>
            <a:off x="380880" y="1752120"/>
            <a:ext cx="3276720" cy="2514600"/>
          </a:xfrm>
          <a:prstGeom prst="rect">
            <a:avLst/>
          </a:prstGeom>
          <a:noFill/>
          <a:ln w="0">
            <a:noFill/>
          </a:ln>
        </p:spPr>
        <p:txBody>
          <a:bodyPr lIns="90000" rIns="90000" tIns="46800" bIns="46800" anchor="t">
            <a:normAutofit/>
          </a:bodyPr>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Link to the following site:</a:t>
            </a:r>
            <a:endParaRPr b="0" lang="en-IN" sz="2000" strike="noStrike" u="none">
              <a:solidFill>
                <a:srgbClr val="ffffff"/>
              </a:solidFill>
              <a:effectLst/>
              <a:uFillTx/>
              <a:latin typeface="Tahoma"/>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http://www.leginfo.ca.gov/calaw.html</a:t>
            </a:r>
            <a:endParaRPr b="0" lang="en-IN" sz="2000" strike="noStrike" u="none">
              <a:solidFill>
                <a:srgbClr val="ffffff"/>
              </a:solidFill>
              <a:effectLst/>
              <a:uFillTx/>
              <a:latin typeface="Tahoma"/>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ahoma"/>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Search for 12650-12656 in the Government Code Section</a:t>
            </a:r>
            <a:endParaRPr b="0" lang="en-IN" sz="2000" strike="noStrike" u="none">
              <a:solidFill>
                <a:srgbClr val="ffffff"/>
              </a:solidFill>
              <a:effectLst/>
              <a:uFillTx/>
              <a:latin typeface="Tahoma"/>
            </a:endParaRPr>
          </a:p>
        </p:txBody>
      </p:sp>
      <p:sp>
        <p:nvSpPr>
          <p:cNvPr id="66" name=""/>
          <p:cNvSpPr/>
          <p:nvPr/>
        </p:nvSpPr>
        <p:spPr>
          <a:xfrm>
            <a:off x="380880" y="6172200"/>
            <a:ext cx="8382240" cy="36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
        <p:nvSpPr>
          <p:cNvPr id="67" name=""/>
          <p:cNvSpPr/>
          <p:nvPr/>
        </p:nvSpPr>
        <p:spPr>
          <a:xfrm>
            <a:off x="8077320" y="5943600"/>
            <a:ext cx="533160" cy="36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pic>
        <p:nvPicPr>
          <p:cNvPr id="68" name="" descr=""/>
          <p:cNvPicPr/>
          <p:nvPr/>
        </p:nvPicPr>
        <p:blipFill>
          <a:blip r:embed="rId2"/>
          <a:stretch/>
        </p:blipFill>
        <p:spPr>
          <a:xfrm>
            <a:off x="3886200" y="1752480"/>
            <a:ext cx="5029200" cy="48945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152280"/>
            <a:ext cx="8229600" cy="9144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Liability Under CFCA</a:t>
            </a:r>
            <a:endParaRPr b="0" lang="en-IN" sz="4400" strike="noStrike" u="none">
              <a:solidFill>
                <a:srgbClr val="001010"/>
              </a:solidFill>
              <a:effectLst/>
              <a:uFillTx/>
              <a:latin typeface="Tahoma"/>
            </a:endParaRPr>
          </a:p>
        </p:txBody>
      </p:sp>
      <p:sp>
        <p:nvSpPr>
          <p:cNvPr id="70" name="PlaceHolder 2"/>
          <p:cNvSpPr>
            <a:spLocks noGrp="1"/>
          </p:cNvSpPr>
          <p:nvPr>
            <p:ph/>
          </p:nvPr>
        </p:nvSpPr>
        <p:spPr>
          <a:xfrm>
            <a:off x="304920" y="1752480"/>
            <a:ext cx="8229600" cy="4572000"/>
          </a:xfrm>
          <a:prstGeom prst="rect">
            <a:avLst/>
          </a:prstGeom>
          <a:noFill/>
          <a:ln w="0">
            <a:noFill/>
          </a:ln>
        </p:spPr>
        <p:txBody>
          <a:bodyPr lIns="90000" rIns="90000" tIns="46800" bIns="46800" anchor="t">
            <a:normAutofit/>
          </a:bodyPr>
          <a:p>
            <a:pPr marL="609480" indent="-609480">
              <a:lnSpc>
                <a:spcPct val="80000"/>
              </a:lnSpc>
              <a:spcBef>
                <a:spcPts val="499"/>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cc00"/>
                </a:solidFill>
                <a:effectLst/>
                <a:uFillTx/>
                <a:latin typeface="Tahoma"/>
              </a:rPr>
              <a:t>Knowingly</a:t>
            </a:r>
            <a:r>
              <a:rPr b="0" lang="en-IN" sz="2000" strike="noStrike" u="none">
                <a:solidFill>
                  <a:srgbClr val="ffffff"/>
                </a:solidFill>
                <a:effectLst/>
                <a:uFillTx/>
                <a:latin typeface="Tahoma"/>
              </a:rPr>
              <a:t> “presents or causes to be presented” a false claim to the state.</a:t>
            </a:r>
            <a:endParaRPr b="0" lang="en-IN" sz="2000" strike="noStrike" u="none">
              <a:solidFill>
                <a:srgbClr val="ffffff"/>
              </a:solidFill>
              <a:effectLst/>
              <a:uFillTx/>
              <a:latin typeface="Tahoma"/>
            </a:endParaRPr>
          </a:p>
          <a:p>
            <a:pPr marL="609480" indent="-609480">
              <a:lnSpc>
                <a:spcPct val="80000"/>
              </a:lnSpc>
              <a:spcBef>
                <a:spcPts val="499"/>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cc00"/>
                </a:solidFill>
                <a:effectLst/>
                <a:uFillTx/>
                <a:latin typeface="Tahoma"/>
              </a:rPr>
              <a:t>Knowingly</a:t>
            </a:r>
            <a:r>
              <a:rPr b="0" lang="en-IN" sz="2000" strike="noStrike" u="none">
                <a:solidFill>
                  <a:srgbClr val="ffffff"/>
                </a:solidFill>
                <a:effectLst/>
                <a:uFillTx/>
                <a:latin typeface="Tahoma"/>
              </a:rPr>
              <a:t> makes, uses, or causes to be made or used a false record or statement to get a false claim paid or approved.</a:t>
            </a:r>
            <a:endParaRPr b="0" lang="en-IN" sz="2000" strike="noStrike" u="none">
              <a:solidFill>
                <a:srgbClr val="ffffff"/>
              </a:solidFill>
              <a:effectLst/>
              <a:uFillTx/>
              <a:latin typeface="Tahoma"/>
            </a:endParaRPr>
          </a:p>
          <a:p>
            <a:pPr marL="609480" indent="-609480">
              <a:lnSpc>
                <a:spcPct val="80000"/>
              </a:lnSpc>
              <a:spcBef>
                <a:spcPts val="499"/>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Conspiring to defraud the state by submitting a false claim or be paid one.</a:t>
            </a:r>
            <a:endParaRPr b="0" lang="en-IN" sz="2000" strike="noStrike" u="none">
              <a:solidFill>
                <a:srgbClr val="ffffff"/>
              </a:solidFill>
              <a:effectLst/>
              <a:uFillTx/>
              <a:latin typeface="Tahoma"/>
            </a:endParaRPr>
          </a:p>
          <a:p>
            <a:pPr marL="609480" indent="-609480">
              <a:lnSpc>
                <a:spcPct val="80000"/>
              </a:lnSpc>
              <a:spcBef>
                <a:spcPts val="499"/>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Delivering less property to the state than stated in the receipt.</a:t>
            </a:r>
            <a:endParaRPr b="0" lang="en-IN" sz="2000" strike="noStrike" u="none">
              <a:solidFill>
                <a:srgbClr val="ffffff"/>
              </a:solidFill>
              <a:effectLst/>
              <a:uFillTx/>
              <a:latin typeface="Tahoma"/>
            </a:endParaRPr>
          </a:p>
          <a:p>
            <a:pPr marL="609480" indent="-609480">
              <a:lnSpc>
                <a:spcPct val="80000"/>
              </a:lnSpc>
              <a:spcBef>
                <a:spcPts val="499"/>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Falsifying a receipt for state property.</a:t>
            </a:r>
            <a:endParaRPr b="0" lang="en-IN" sz="2000" strike="noStrike" u="none">
              <a:solidFill>
                <a:srgbClr val="ffffff"/>
              </a:solidFill>
              <a:effectLst/>
              <a:uFillTx/>
              <a:latin typeface="Tahoma"/>
            </a:endParaRPr>
          </a:p>
          <a:p>
            <a:pPr marL="609480" indent="-609480">
              <a:lnSpc>
                <a:spcPct val="80000"/>
              </a:lnSpc>
              <a:spcBef>
                <a:spcPts val="499"/>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cc00"/>
                </a:solidFill>
                <a:effectLst/>
                <a:uFillTx/>
                <a:latin typeface="Tahoma"/>
              </a:rPr>
              <a:t>Knowingly</a:t>
            </a:r>
            <a:r>
              <a:rPr b="0" lang="en-IN" sz="2000" strike="noStrike" u="none">
                <a:solidFill>
                  <a:srgbClr val="ffffff"/>
                </a:solidFill>
                <a:effectLst/>
                <a:uFillTx/>
                <a:latin typeface="Tahoma"/>
              </a:rPr>
              <a:t> buying or taking a pledge of public property from another not authorized to sell or pledge the property.</a:t>
            </a:r>
            <a:endParaRPr b="0" lang="en-IN" sz="2000" strike="noStrike" u="none">
              <a:solidFill>
                <a:srgbClr val="ffffff"/>
              </a:solidFill>
              <a:effectLst/>
              <a:uFillTx/>
              <a:latin typeface="Tahoma"/>
            </a:endParaRPr>
          </a:p>
          <a:p>
            <a:pPr marL="609480" indent="-609480">
              <a:lnSpc>
                <a:spcPct val="80000"/>
              </a:lnSpc>
              <a:spcBef>
                <a:spcPts val="499"/>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cc00"/>
                </a:solidFill>
                <a:effectLst/>
                <a:uFillTx/>
                <a:latin typeface="Tahoma"/>
              </a:rPr>
              <a:t>Knowingly</a:t>
            </a:r>
            <a:r>
              <a:rPr b="0" lang="en-IN" sz="2000" strike="noStrike" u="none">
                <a:solidFill>
                  <a:srgbClr val="ffffff"/>
                </a:solidFill>
                <a:effectLst/>
                <a:uFillTx/>
                <a:latin typeface="Tahoma"/>
              </a:rPr>
              <a:t> benefitting from a false claim to the state.</a:t>
            </a:r>
            <a:endParaRPr b="0" lang="en-IN" sz="2000" strike="noStrike" u="none">
              <a:solidFill>
                <a:srgbClr val="ffffff"/>
              </a:solidFill>
              <a:effectLst/>
              <a:uFillTx/>
              <a:latin typeface="Tahoma"/>
            </a:endParaRPr>
          </a:p>
          <a:p>
            <a:pPr marL="609480" indent="-609480">
              <a:lnSpc>
                <a:spcPct val="80000"/>
              </a:lnSpc>
              <a:spcBef>
                <a:spcPts val="499"/>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Benefits from an inadvertent submission of a false claim and fails to disclose the false claim within a reasonable time after discovery.</a:t>
            </a:r>
            <a:endParaRPr b="0" lang="en-IN" sz="2000" strike="noStrike" u="none">
              <a:solidFill>
                <a:srgbClr val="ffffff"/>
              </a:solidFill>
              <a:effectLst/>
              <a:uFillTx/>
              <a:latin typeface="Tahoma"/>
            </a:endParaRPr>
          </a:p>
          <a:p>
            <a:pPr marL="609480" indent="0">
              <a:lnSpc>
                <a:spcPct val="8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ahoma"/>
            </a:endParaRPr>
          </a:p>
          <a:p>
            <a:pPr marL="609480" indent="-6094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ahoma"/>
            </a:endParaRPr>
          </a:p>
        </p:txBody>
      </p:sp>
      <p:sp>
        <p:nvSpPr>
          <p:cNvPr id="71" name=""/>
          <p:cNvSpPr/>
          <p:nvPr/>
        </p:nvSpPr>
        <p:spPr>
          <a:xfrm>
            <a:off x="0" y="1066680"/>
            <a:ext cx="9144000" cy="5209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cc00"/>
                </a:solidFill>
                <a:effectLst/>
                <a:uFillTx/>
                <a:latin typeface="Tahoma"/>
              </a:rPr>
              <a:t>Fraudulent acts under the CFCA:</a:t>
            </a:r>
            <a:endParaRPr b="0" lang="en-IN"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380520"/>
            <a:ext cx="8229600" cy="76212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What is “Knowingly”?</a:t>
            </a:r>
            <a:endParaRPr b="0" lang="en-IN" sz="4400" strike="noStrike" u="none">
              <a:solidFill>
                <a:srgbClr val="001010"/>
              </a:solidFill>
              <a:effectLst/>
              <a:uFillTx/>
              <a:latin typeface="Tahoma"/>
            </a:endParaRPr>
          </a:p>
        </p:txBody>
      </p:sp>
      <p:sp>
        <p:nvSpPr>
          <p:cNvPr id="73" name="PlaceHolder 2"/>
          <p:cNvSpPr>
            <a:spLocks noGrp="1"/>
          </p:cNvSpPr>
          <p:nvPr>
            <p:ph/>
          </p:nvPr>
        </p:nvSpPr>
        <p:spPr>
          <a:xfrm>
            <a:off x="380520" y="2438280"/>
            <a:ext cx="4800600" cy="3353040"/>
          </a:xfrm>
          <a:prstGeom prst="rect">
            <a:avLst/>
          </a:prstGeom>
          <a:noFill/>
          <a:ln w="0">
            <a:noFill/>
          </a:ln>
        </p:spPr>
        <p:txBody>
          <a:bodyPr lIns="90000" rIns="90000" tIns="46800" bIns="46800" anchor="t">
            <a:normAutofit/>
          </a:bodyPr>
          <a:p>
            <a:pPr marL="533520" indent="-533520">
              <a:spcBef>
                <a:spcPts val="700"/>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Has actual knowledge.</a:t>
            </a:r>
            <a:endParaRPr b="0" lang="en-IN" sz="2800" strike="noStrike" u="none">
              <a:solidFill>
                <a:srgbClr val="ffffff"/>
              </a:solidFill>
              <a:effectLst/>
              <a:uFillTx/>
              <a:latin typeface="Tahoma"/>
            </a:endParaRPr>
          </a:p>
          <a:p>
            <a:pPr marL="533520" indent="-533520">
              <a:spcBef>
                <a:spcPts val="700"/>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Acts in deliberate ignorance of the truth or falsity of the information.</a:t>
            </a:r>
            <a:endParaRPr b="0" lang="en-IN" sz="2800" strike="noStrike" u="none">
              <a:solidFill>
                <a:srgbClr val="ffffff"/>
              </a:solidFill>
              <a:effectLst/>
              <a:uFillTx/>
              <a:latin typeface="Tahoma"/>
            </a:endParaRPr>
          </a:p>
          <a:p>
            <a:pPr marL="533520" indent="-533520">
              <a:spcBef>
                <a:spcPts val="700"/>
              </a:spcBef>
              <a:buClr>
                <a:srgbClr val="00ccff"/>
              </a:buClr>
              <a:buSzPct val="95000"/>
              <a:buFont typeface="Tahoma"/>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Acts in reckless disregard of the truth or falsity of the information.</a:t>
            </a:r>
            <a:endParaRPr b="0" lang="en-IN" sz="2800" strike="noStrike" u="none">
              <a:solidFill>
                <a:srgbClr val="ffffff"/>
              </a:solidFill>
              <a:effectLst/>
              <a:uFillTx/>
              <a:latin typeface="Tahoma"/>
            </a:endParaRPr>
          </a:p>
        </p:txBody>
      </p:sp>
      <p:pic>
        <p:nvPicPr>
          <p:cNvPr id="74" name="" descr=""/>
          <p:cNvPicPr/>
          <p:nvPr/>
        </p:nvPicPr>
        <p:blipFill>
          <a:blip r:embed="rId2"/>
          <a:stretch/>
        </p:blipFill>
        <p:spPr>
          <a:xfrm>
            <a:off x="5334120" y="2286000"/>
            <a:ext cx="3809880" cy="3468600"/>
          </a:xfrm>
          <a:prstGeom prst="rect">
            <a:avLst/>
          </a:prstGeom>
          <a:noFill/>
          <a:ln w="0">
            <a:noFill/>
          </a:ln>
        </p:spPr>
      </p:pic>
      <p:sp>
        <p:nvSpPr>
          <p:cNvPr id="75" name=""/>
          <p:cNvSpPr/>
          <p:nvPr/>
        </p:nvSpPr>
        <p:spPr>
          <a:xfrm>
            <a:off x="152280" y="1371600"/>
            <a:ext cx="8839440" cy="8859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600" strike="noStrike" u="none">
                <a:solidFill>
                  <a:srgbClr val="ffcc00"/>
                </a:solidFill>
                <a:effectLst/>
                <a:uFillTx/>
                <a:latin typeface="Tahoma"/>
              </a:rPr>
              <a:t>Any person with respect to the information does any of the following:</a:t>
            </a:r>
            <a:endParaRPr b="0" lang="en-IN" sz="2600" strike="noStrike" u="none">
              <a:solidFill>
                <a:srgbClr val="ffffff"/>
              </a:solidFill>
              <a:effectLst/>
              <a:uFillTx/>
              <a:latin typeface="Arial"/>
            </a:endParaRPr>
          </a:p>
        </p:txBody>
      </p:sp>
      <p:sp>
        <p:nvSpPr>
          <p:cNvPr id="76" name=""/>
          <p:cNvSpPr/>
          <p:nvPr/>
        </p:nvSpPr>
        <p:spPr>
          <a:xfrm>
            <a:off x="533520" y="5715000"/>
            <a:ext cx="8229600" cy="15969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cc00"/>
                </a:solidFill>
                <a:effectLst/>
                <a:uFillTx/>
                <a:latin typeface="Tahoma"/>
              </a:rPr>
              <a:t>Proof of specific intent to defraud is not required.</a:t>
            </a:r>
            <a:endParaRPr b="0" lang="en-IN" sz="2800" strike="noStrike" u="none">
              <a:solidFill>
                <a:srgbClr val="ffffff"/>
              </a:solidFill>
              <a:effectLst/>
              <a:uFillTx/>
              <a:latin typeface="Arial"/>
            </a:endParaRPr>
          </a:p>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“Claims” Include:</a:t>
            </a:r>
            <a:endParaRPr b="0" lang="en-IN" sz="4400" strike="noStrike" u="none">
              <a:solidFill>
                <a:srgbClr val="001010"/>
              </a:solidFill>
              <a:effectLst/>
              <a:uFillTx/>
              <a:latin typeface="Tahoma"/>
            </a:endParaRPr>
          </a:p>
        </p:txBody>
      </p:sp>
      <p:sp>
        <p:nvSpPr>
          <p:cNvPr id="78" name="PlaceHolder 2"/>
          <p:cNvSpPr>
            <a:spLocks noGrp="1"/>
          </p:cNvSpPr>
          <p:nvPr>
            <p:ph/>
          </p:nvPr>
        </p:nvSpPr>
        <p:spPr>
          <a:xfrm>
            <a:off x="3657600" y="1676520"/>
            <a:ext cx="5029200" cy="4114800"/>
          </a:xfrm>
          <a:prstGeom prst="rect">
            <a:avLst/>
          </a:prstGeom>
          <a:noFill/>
          <a:ln w="0">
            <a:noFill/>
          </a:ln>
        </p:spPr>
        <p:txBody>
          <a:bodyPr lIns="90000" rIns="90000" tIns="46800" bIns="46800" anchor="t">
            <a:normAutofit/>
          </a:bodyPr>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Any request or demand for money, property, or services made to any employee, officer, agent, contractor, grantee, or other recipient, if any portion of the money, property or services was  provided by the state or any political subdivision thereof.</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p:txBody>
      </p:sp>
      <p:pic>
        <p:nvPicPr>
          <p:cNvPr id="79" name="" descr=""/>
          <p:cNvPicPr/>
          <p:nvPr/>
        </p:nvPicPr>
        <p:blipFill>
          <a:blip r:embed="rId2"/>
          <a:stretch/>
        </p:blipFill>
        <p:spPr>
          <a:xfrm>
            <a:off x="228600" y="1523880"/>
            <a:ext cx="3178080" cy="4114800"/>
          </a:xfrm>
          <a:prstGeom prst="rect">
            <a:avLst/>
          </a:prstGeom>
          <a:noFill/>
          <a:ln w="0">
            <a:noFill/>
          </a:ln>
        </p:spPr>
      </p:pic>
      <p:sp>
        <p:nvSpPr>
          <p:cNvPr id="80" name=""/>
          <p:cNvSpPr/>
          <p:nvPr/>
        </p:nvSpPr>
        <p:spPr>
          <a:xfrm>
            <a:off x="1752480" y="5943600"/>
            <a:ext cx="6096240" cy="609480"/>
          </a:xfrm>
          <a:prstGeom prst="rect">
            <a:avLst/>
          </a:prstGeom>
          <a:solidFill>
            <a:srgbClr val="669900"/>
          </a:soli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CA Government Code 12650 (b)(1)</a:t>
            </a: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Remedies under the CA False Claims Act</a:t>
            </a:r>
            <a:endParaRPr b="0" lang="en-IN" sz="4400" strike="noStrike" u="none">
              <a:solidFill>
                <a:srgbClr val="001010"/>
              </a:solidFill>
              <a:effectLst/>
              <a:uFillTx/>
              <a:latin typeface="Tahoma"/>
            </a:endParaRPr>
          </a:p>
        </p:txBody>
      </p:sp>
      <p:sp>
        <p:nvSpPr>
          <p:cNvPr id="82" name="PlaceHolder 2"/>
          <p:cNvSpPr>
            <a:spLocks noGrp="1"/>
          </p:cNvSpPr>
          <p:nvPr>
            <p:ph/>
          </p:nvPr>
        </p:nvSpPr>
        <p:spPr>
          <a:xfrm>
            <a:off x="457200" y="1981080"/>
            <a:ext cx="8229600" cy="4114800"/>
          </a:xfrm>
          <a:prstGeom prst="rect">
            <a:avLst/>
          </a:prstGeom>
          <a:noFill/>
          <a:ln w="0">
            <a:noFill/>
          </a:ln>
        </p:spPr>
        <p:txBody>
          <a:bodyPr lIns="90000" rIns="90000" tIns="46800" bIns="46800" anchor="t">
            <a:normAutofit/>
          </a:bodyPr>
          <a:p>
            <a:pPr marL="343080" indent="-343080">
              <a:lnSpc>
                <a:spcPct val="90000"/>
              </a:lnSpc>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Damages:</a:t>
            </a:r>
            <a:endParaRPr b="0" lang="en-IN" sz="3200" strike="noStrike" u="none">
              <a:solidFill>
                <a:srgbClr val="ffffff"/>
              </a:solidFill>
              <a:effectLst/>
              <a:uFillTx/>
              <a:latin typeface="Tahoma"/>
            </a:endParaRPr>
          </a:p>
          <a:p>
            <a:pPr lvl="1" marL="743040" indent="-285840">
              <a:lnSpc>
                <a:spcPct val="90000"/>
              </a:lnSpc>
              <a:spcBef>
                <a:spcPts val="700"/>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Any person violating the CFCA shall be liable to the state for three times the amount of damages the state sustains from the acts of that person. (Government Code 125651 (a))</a:t>
            </a:r>
            <a:endParaRPr b="0" lang="en-IN" sz="2800" strike="noStrike" u="none">
              <a:solidFill>
                <a:srgbClr val="ffffff"/>
              </a:solidFill>
              <a:effectLst/>
              <a:uFillTx/>
              <a:latin typeface="Tahoma"/>
            </a:endParaRPr>
          </a:p>
          <a:p>
            <a:pPr marL="343080" indent="-343080">
              <a:lnSpc>
                <a:spcPct val="90000"/>
              </a:lnSpc>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00"/>
                </a:solidFill>
                <a:effectLst/>
                <a:uFillTx/>
                <a:latin typeface="Tahoma"/>
              </a:rPr>
              <a:t>Civil Penalties:</a:t>
            </a:r>
            <a:endParaRPr b="0" lang="en-IN" sz="3200" strike="noStrike" u="none">
              <a:solidFill>
                <a:srgbClr val="ffffff"/>
              </a:solidFill>
              <a:effectLst/>
              <a:uFillTx/>
              <a:latin typeface="Tahoma"/>
            </a:endParaRPr>
          </a:p>
          <a:p>
            <a:pPr lvl="1" marL="743040" indent="-285840">
              <a:lnSpc>
                <a:spcPct val="90000"/>
              </a:lnSpc>
              <a:spcBef>
                <a:spcPts val="700"/>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00"/>
                </a:solidFill>
                <a:effectLst/>
                <a:uFillTx/>
                <a:latin typeface="Tahoma"/>
              </a:rPr>
              <a:t>Not less than $5,000, but no more than $10,000 per claim.</a:t>
            </a:r>
            <a:endParaRPr b="0" lang="en-IN" sz="2800" strike="noStrike" u="none">
              <a:solidFill>
                <a:srgbClr val="ffffff"/>
              </a:solidFill>
              <a:effectLst/>
              <a:uFillTx/>
              <a:latin typeface="Tahoma"/>
            </a:endParaRPr>
          </a:p>
          <a:p>
            <a:pPr marL="343080" indent="-343080">
              <a:lnSpc>
                <a:spcPct val="90000"/>
              </a:lnSpc>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Costs/Attorneys’ Fees.</a:t>
            </a:r>
            <a:endParaRPr b="0" lang="en-IN" sz="3200" strike="noStrike" u="none">
              <a:solidFill>
                <a:srgbClr val="ffffff"/>
              </a:solidFill>
              <a:effectLst/>
              <a:uFillTx/>
              <a:latin typeface="Tahoma"/>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001010"/>
                </a:solidFill>
                <a:effectLst/>
                <a:uFillTx/>
                <a:latin typeface="Tahoma"/>
              </a:rPr>
              <a:t>Who Can Bring a claim under the CFCA?</a:t>
            </a:r>
            <a:endParaRPr b="0" lang="en-IN" sz="4000" strike="noStrike" u="none">
              <a:solidFill>
                <a:srgbClr val="001010"/>
              </a:solidFill>
              <a:effectLst/>
              <a:uFillTx/>
              <a:latin typeface="Tahoma"/>
            </a:endParaRPr>
          </a:p>
        </p:txBody>
      </p:sp>
      <p:sp>
        <p:nvSpPr>
          <p:cNvPr id="84" name="PlaceHolder 2"/>
          <p:cNvSpPr>
            <a:spLocks noGrp="1"/>
          </p:cNvSpPr>
          <p:nvPr>
            <p:ph/>
          </p:nvPr>
        </p:nvSpPr>
        <p:spPr>
          <a:xfrm>
            <a:off x="457200" y="1981080"/>
            <a:ext cx="8229600" cy="4648320"/>
          </a:xfrm>
          <a:prstGeom prst="rect">
            <a:avLst/>
          </a:prstGeom>
          <a:noFill/>
          <a:ln w="0">
            <a:noFill/>
          </a:ln>
        </p:spPr>
        <p:txBody>
          <a:bodyPr lIns="90000" rIns="90000" tIns="46800" bIns="46800" anchor="t">
            <a:normAutofit lnSpcReduction="9999"/>
          </a:bodyPr>
          <a:p>
            <a:pPr marL="343080" indent="-3430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The state Attorney General or a “prosecuting authority” may initiate false claims cases on their own.</a:t>
            </a:r>
            <a:endParaRPr b="0" lang="en-IN" sz="2800" strike="noStrike" u="none">
              <a:solidFill>
                <a:srgbClr val="ffffff"/>
              </a:solidFill>
              <a:effectLst/>
              <a:uFillTx/>
              <a:latin typeface="Tahoma"/>
            </a:endParaRPr>
          </a:p>
          <a:p>
            <a:pPr lvl="1" marL="743040" indent="-285840">
              <a:lnSpc>
                <a:spcPct val="90000"/>
              </a:lnSpc>
              <a:spcBef>
                <a:spcPts val="700"/>
              </a:spcBef>
              <a:buClr>
                <a:srgbClr val="ffcc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 “prosecuting authority” could include the county counsel, city attorney, or other government official in charge of pursuing civil cases.</a:t>
            </a:r>
            <a:endParaRPr b="0" lang="en-IN" sz="2800" strike="noStrike" u="none">
              <a:solidFill>
                <a:srgbClr val="ffffff"/>
              </a:solidFill>
              <a:effectLst/>
              <a:uFillTx/>
              <a:latin typeface="Tahoma"/>
            </a:endParaRPr>
          </a:p>
          <a:p>
            <a:pPr marL="343080" indent="-3430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Private citizens (</a:t>
            </a:r>
            <a:r>
              <a:rPr b="0" lang="en-IN" sz="2800" strike="noStrike" u="none">
                <a:solidFill>
                  <a:srgbClr val="ffcc00"/>
                </a:solidFill>
                <a:effectLst/>
                <a:uFillTx/>
                <a:latin typeface="Tahoma"/>
              </a:rPr>
              <a:t>relators</a:t>
            </a:r>
            <a:r>
              <a:rPr b="0" lang="en-IN" sz="2800" strike="noStrike" u="none">
                <a:solidFill>
                  <a:srgbClr val="ffffff"/>
                </a:solidFill>
                <a:effectLst/>
                <a:uFillTx/>
                <a:latin typeface="Tahoma"/>
              </a:rPr>
              <a:t>) may file actions.  Like the federal FCA, California’s False Claims Act allows “qui tam” actions.</a:t>
            </a:r>
            <a:br>
              <a:rPr sz="2800"/>
            </a:br>
            <a:br>
              <a:rPr sz="2800"/>
            </a:br>
            <a:r>
              <a:rPr b="0" lang="en-IN" sz="2800" strike="noStrike" u="none">
                <a:solidFill>
                  <a:srgbClr val="ffffff"/>
                </a:solidFill>
                <a:effectLst/>
                <a:uFillTx/>
                <a:latin typeface="Tahoma"/>
              </a:rPr>
              <a:t> </a:t>
            </a:r>
            <a:endParaRPr b="0" lang="en-IN" sz="2800" strike="noStrike" u="none">
              <a:solidFill>
                <a:srgbClr val="ffffff"/>
              </a:solidFill>
              <a:effectLst/>
              <a:uFillTx/>
              <a:latin typeface="Tahoma"/>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533160"/>
            <a:ext cx="8229600" cy="16002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001010"/>
                </a:solidFill>
                <a:effectLst/>
                <a:uFillTx/>
                <a:latin typeface="Tahoma"/>
              </a:rPr>
              <a:t>Qui Tam Actions </a:t>
            </a:r>
            <a:br>
              <a:rPr sz="4000"/>
            </a:br>
            <a:r>
              <a:rPr b="0" lang="en-IN" sz="4000" strike="noStrike" u="none">
                <a:solidFill>
                  <a:srgbClr val="001010"/>
                </a:solidFill>
                <a:effectLst/>
                <a:uFillTx/>
                <a:latin typeface="Tahoma"/>
              </a:rPr>
              <a:t>(31 USC Section 3730)</a:t>
            </a:r>
            <a:r>
              <a:rPr b="0" lang="en-IN" sz="4800" strike="noStrike" u="none">
                <a:solidFill>
                  <a:srgbClr val="001010"/>
                </a:solidFill>
                <a:effectLst/>
                <a:uFillTx/>
                <a:latin typeface="Tahoma"/>
              </a:rPr>
              <a:t> </a:t>
            </a:r>
            <a:endParaRPr b="0" lang="en-IN" sz="4800" strike="noStrike" u="none">
              <a:solidFill>
                <a:srgbClr val="001010"/>
              </a:solidFill>
              <a:effectLst/>
              <a:uFillTx/>
              <a:latin typeface="Tahoma"/>
            </a:endParaRPr>
          </a:p>
        </p:txBody>
      </p:sp>
      <p:sp>
        <p:nvSpPr>
          <p:cNvPr id="86" name="PlaceHolder 2"/>
          <p:cNvSpPr>
            <a:spLocks noGrp="1"/>
          </p:cNvSpPr>
          <p:nvPr>
            <p:ph/>
          </p:nvPr>
        </p:nvSpPr>
        <p:spPr>
          <a:xfrm>
            <a:off x="228240" y="2590920"/>
            <a:ext cx="8915400" cy="2590560"/>
          </a:xfrm>
          <a:prstGeom prst="rect">
            <a:avLst/>
          </a:prstGeom>
          <a:noFill/>
          <a:ln w="0">
            <a:noFill/>
          </a:ln>
        </p:spPr>
        <p:txBody>
          <a:bodyPr lIns="90000" rIns="90000" tIns="46800" bIns="46800" anchor="t">
            <a:normAutofit fontScale="85000" lnSpcReduction="19999"/>
          </a:bodyPr>
          <a:p>
            <a:pPr marL="609480" indent="-609480">
              <a:lnSpc>
                <a:spcPct val="80000"/>
              </a:lnSpc>
              <a:spcBef>
                <a:spcPts val="799"/>
              </a:spcBef>
              <a:buClr>
                <a:srgbClr val="00ccff"/>
              </a:buClr>
              <a:buSzPct val="9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Allow private citizens (“</a:t>
            </a:r>
            <a:r>
              <a:rPr b="0" lang="en-IN" sz="3200" strike="noStrike" u="none">
                <a:solidFill>
                  <a:srgbClr val="ffcc00"/>
                </a:solidFill>
                <a:effectLst/>
                <a:uFillTx/>
                <a:latin typeface="Tahoma"/>
              </a:rPr>
              <a:t>relators</a:t>
            </a:r>
            <a:r>
              <a:rPr b="0" lang="en-IN" sz="3200" strike="noStrike" u="none">
                <a:solidFill>
                  <a:srgbClr val="ffffff"/>
                </a:solidFill>
                <a:effectLst/>
                <a:uFillTx/>
                <a:latin typeface="Tahoma"/>
              </a:rPr>
              <a:t>”) to bring civil actions on behalf of the Government in return for an incentive.</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609480" indent="-609480">
              <a:lnSpc>
                <a:spcPct val="8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609480" indent="-609480">
              <a:lnSpc>
                <a:spcPct val="80000"/>
              </a:lnSpc>
              <a:spcBef>
                <a:spcPts val="799"/>
              </a:spcBef>
              <a:buClr>
                <a:srgbClr val="00ccff"/>
              </a:buClr>
              <a:buSzPct val="9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Promote the practice of private persons coming forward and aiding the government in pursuing fraud and waste.</a:t>
            </a:r>
            <a:br>
              <a:rPr sz="3200"/>
            </a:b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456840"/>
            <a:ext cx="8229600" cy="76212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1010"/>
                </a:solidFill>
                <a:effectLst/>
                <a:uFillTx/>
                <a:latin typeface="Tahoma"/>
              </a:rPr>
              <a:t>California - CFCA Qui Tam Incentives </a:t>
            </a:r>
            <a:endParaRPr b="0" lang="en-IN" sz="3200" strike="noStrike" u="none">
              <a:solidFill>
                <a:srgbClr val="001010"/>
              </a:solidFill>
              <a:effectLst/>
              <a:uFillTx/>
              <a:latin typeface="Tahoma"/>
            </a:endParaRPr>
          </a:p>
        </p:txBody>
      </p:sp>
      <p:sp>
        <p:nvSpPr>
          <p:cNvPr id="88" name="PlaceHolder 2"/>
          <p:cNvSpPr>
            <a:spLocks noGrp="1"/>
          </p:cNvSpPr>
          <p:nvPr>
            <p:ph/>
          </p:nvPr>
        </p:nvSpPr>
        <p:spPr>
          <a:xfrm>
            <a:off x="457200" y="1294920"/>
            <a:ext cx="8229600" cy="4876920"/>
          </a:xfrm>
          <a:prstGeom prst="rect">
            <a:avLst/>
          </a:prstGeom>
          <a:noFill/>
          <a:ln w="0">
            <a:noFill/>
          </a:ln>
        </p:spPr>
        <p:txBody>
          <a:bodyPr lIns="90000" rIns="90000" tIns="46800" bIns="46800" anchor="t">
            <a:normAutofit/>
          </a:bodyPr>
          <a:p>
            <a:pPr marL="343080" indent="-343080">
              <a:lnSpc>
                <a:spcPct val="8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If the Attorney General (AG) initiates or takes over the case from a local prosecuting authority and prevails, the AG gets 33% of the recovery. (Government Code Section 12652 (g)).</a:t>
            </a:r>
            <a:endParaRPr b="0" lang="en-IN" sz="2800" strike="noStrike" u="none">
              <a:solidFill>
                <a:srgbClr val="ffffff"/>
              </a:solidFill>
              <a:effectLst/>
              <a:uFillTx/>
              <a:latin typeface="Tahoma"/>
            </a:endParaRPr>
          </a:p>
          <a:p>
            <a:pPr marL="343080" indent="0">
              <a:lnSpc>
                <a:spcPct val="8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lnSpc>
                <a:spcPct val="8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If the prosecuting authority takes the case and prevails, he/she gets 33%. </a:t>
            </a:r>
            <a:endParaRPr b="0" lang="en-IN" sz="2800" strike="noStrike" u="none">
              <a:solidFill>
                <a:srgbClr val="ffffff"/>
              </a:solidFill>
              <a:effectLst/>
              <a:uFillTx/>
              <a:latin typeface="Tahoma"/>
            </a:endParaRPr>
          </a:p>
          <a:p>
            <a:pPr marL="343080" indent="0">
              <a:lnSpc>
                <a:spcPct val="8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lnSpc>
                <a:spcPct val="8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If the prosecuting authority intervenes in an action initiated by the AG or remains a party in an action assumed by the AG, the prosecuting authority receives a portion of the AG’s 33% as determined by the court.</a:t>
            </a:r>
            <a:endParaRPr b="0" lang="en-IN" sz="2800" strike="noStrike" u="none">
              <a:solidFill>
                <a:srgbClr val="ffffff"/>
              </a:solidFill>
              <a:effectLst/>
              <a:uFillTx/>
              <a:latin typeface="Tahoma"/>
            </a:endParaRPr>
          </a:p>
          <a:p>
            <a:pPr marL="343080" indent="0">
              <a:lnSpc>
                <a:spcPct val="8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380880" y="380880"/>
            <a:ext cx="8229600" cy="9144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1010"/>
                </a:solidFill>
                <a:effectLst/>
                <a:uFillTx/>
                <a:latin typeface="Tahoma"/>
              </a:rPr>
              <a:t>California - CFCA Qui Tam Incentives (cont.)</a:t>
            </a:r>
            <a:endParaRPr b="0" lang="en-IN" sz="3200" strike="noStrike" u="none">
              <a:solidFill>
                <a:srgbClr val="001010"/>
              </a:solidFill>
              <a:effectLst/>
              <a:uFillTx/>
              <a:latin typeface="Tahoma"/>
            </a:endParaRPr>
          </a:p>
        </p:txBody>
      </p:sp>
      <p:sp>
        <p:nvSpPr>
          <p:cNvPr id="90" name="PlaceHolder 2"/>
          <p:cNvSpPr>
            <a:spLocks noGrp="1"/>
          </p:cNvSpPr>
          <p:nvPr>
            <p:ph/>
          </p:nvPr>
        </p:nvSpPr>
        <p:spPr>
          <a:xfrm>
            <a:off x="457200" y="1371240"/>
            <a:ext cx="8229600" cy="5257800"/>
          </a:xfrm>
          <a:prstGeom prst="rect">
            <a:avLst/>
          </a:prstGeom>
          <a:noFill/>
          <a:ln w="0">
            <a:noFill/>
          </a:ln>
        </p:spPr>
        <p:txBody>
          <a:bodyPr lIns="90000" rIns="90000" tIns="46800" bIns="46800" anchor="t">
            <a:normAutofit/>
          </a:bodyPr>
          <a:p>
            <a:pPr marL="343080" indent="-343080">
              <a:lnSpc>
                <a:spcPct val="8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If a “</a:t>
            </a:r>
            <a:r>
              <a:rPr b="0" lang="en-IN" sz="2800" strike="noStrike" u="none">
                <a:solidFill>
                  <a:srgbClr val="ffcc00"/>
                </a:solidFill>
                <a:effectLst/>
                <a:uFillTx/>
                <a:latin typeface="Tahoma"/>
              </a:rPr>
              <a:t>relator</a:t>
            </a:r>
            <a:r>
              <a:rPr b="0" lang="en-IN" sz="2800" strike="noStrike" u="none">
                <a:solidFill>
                  <a:srgbClr val="ffffff"/>
                </a:solidFill>
                <a:effectLst/>
                <a:uFillTx/>
                <a:latin typeface="Tahoma"/>
              </a:rPr>
              <a:t>” brings the case and the AG or prosecuting authority intervenes, the relator gets between 15% and 33% of the recovery, depending on the </a:t>
            </a:r>
            <a:r>
              <a:rPr b="0" lang="en-IN" sz="2800" strike="noStrike" u="none">
                <a:solidFill>
                  <a:srgbClr val="ffcc00"/>
                </a:solidFill>
                <a:effectLst/>
                <a:uFillTx/>
                <a:latin typeface="Tahoma"/>
              </a:rPr>
              <a:t>relator’s</a:t>
            </a:r>
            <a:r>
              <a:rPr b="0" lang="en-IN" sz="2800" strike="noStrike" u="none">
                <a:solidFill>
                  <a:srgbClr val="ffffff"/>
                </a:solidFill>
                <a:effectLst/>
                <a:uFillTx/>
                <a:latin typeface="Tahoma"/>
              </a:rPr>
              <a:t> contribution to the prosecution. The AG or prosecution authority gets 33%.</a:t>
            </a:r>
            <a:endParaRPr b="0" lang="en-IN" sz="2800" strike="noStrike" u="none">
              <a:solidFill>
                <a:srgbClr val="ffffff"/>
              </a:solidFill>
              <a:effectLst/>
              <a:uFillTx/>
              <a:latin typeface="Tahoma"/>
            </a:endParaRPr>
          </a:p>
          <a:p>
            <a:pPr marL="343080" indent="0">
              <a:lnSpc>
                <a:spcPct val="8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lnSpc>
                <a:spcPct val="8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If the </a:t>
            </a:r>
            <a:r>
              <a:rPr b="0" lang="en-IN" sz="2800" strike="noStrike" u="none">
                <a:solidFill>
                  <a:srgbClr val="ffcc00"/>
                </a:solidFill>
                <a:effectLst/>
                <a:uFillTx/>
                <a:latin typeface="Tahoma"/>
              </a:rPr>
              <a:t>relator</a:t>
            </a:r>
            <a:r>
              <a:rPr b="0" lang="en-IN" sz="2800" strike="noStrike" u="none">
                <a:solidFill>
                  <a:srgbClr val="ffffff"/>
                </a:solidFill>
                <a:effectLst/>
                <a:uFillTx/>
                <a:latin typeface="Tahoma"/>
              </a:rPr>
              <a:t> brings the case and neither the AG nor the prosecuting authority intervenes, </a:t>
            </a:r>
            <a:r>
              <a:rPr b="0" lang="en-IN" sz="2800" strike="noStrike" u="none">
                <a:solidFill>
                  <a:srgbClr val="ffcc00"/>
                </a:solidFill>
                <a:effectLst/>
                <a:uFillTx/>
                <a:latin typeface="Tahoma"/>
              </a:rPr>
              <a:t>relator</a:t>
            </a:r>
            <a:r>
              <a:rPr b="0" lang="en-IN" sz="2800" strike="noStrike" u="none">
                <a:solidFill>
                  <a:srgbClr val="ffffff"/>
                </a:solidFill>
                <a:effectLst/>
                <a:uFillTx/>
                <a:latin typeface="Tahoma"/>
              </a:rPr>
              <a:t> receives 25% to 50% of the overall recovery as determined by the court.</a:t>
            </a:r>
            <a:endParaRPr b="0" lang="en-IN" sz="2800" strike="noStrike" u="none">
              <a:solidFill>
                <a:srgbClr val="ffffff"/>
              </a:solidFill>
              <a:effectLst/>
              <a:uFillTx/>
              <a:latin typeface="Tahoma"/>
            </a:endParaRPr>
          </a:p>
          <a:p>
            <a:pPr marL="343080" indent="0">
              <a:lnSpc>
                <a:spcPct val="8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lnSpc>
                <a:spcPct val="8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The successful </a:t>
            </a:r>
            <a:r>
              <a:rPr b="0" lang="en-IN" sz="2800" strike="noStrike" u="none">
                <a:solidFill>
                  <a:srgbClr val="ffcc00"/>
                </a:solidFill>
                <a:effectLst/>
                <a:uFillTx/>
                <a:latin typeface="Tahoma"/>
              </a:rPr>
              <a:t>relator</a:t>
            </a:r>
            <a:r>
              <a:rPr b="0" lang="en-IN" sz="2800" strike="noStrike" u="none">
                <a:solidFill>
                  <a:srgbClr val="ffffff"/>
                </a:solidFill>
                <a:effectLst/>
                <a:uFillTx/>
                <a:latin typeface="Tahoma"/>
              </a:rPr>
              <a:t> gets costs and fees.</a:t>
            </a:r>
            <a:endParaRPr b="0" lang="en-IN" sz="2800" strike="noStrike" u="none">
              <a:solidFill>
                <a:srgbClr val="ffffff"/>
              </a:solidFill>
              <a:effectLst/>
              <a:uFillTx/>
              <a:latin typeface="Tahoma"/>
            </a:endParaRPr>
          </a:p>
          <a:p>
            <a:pPr marL="343080" indent="0">
              <a:lnSpc>
                <a:spcPct val="8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1522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1010"/>
                </a:solidFill>
                <a:effectLst/>
                <a:uFillTx/>
                <a:latin typeface="Tahoma"/>
              </a:rPr>
              <a:t>Qualifications to Qui Tam Incentives in the CFCA</a:t>
            </a:r>
            <a:endParaRPr b="0" lang="en-IN" sz="3600" strike="noStrike" u="none">
              <a:solidFill>
                <a:srgbClr val="001010"/>
              </a:solidFill>
              <a:effectLst/>
              <a:uFillTx/>
              <a:latin typeface="Tahoma"/>
            </a:endParaRPr>
          </a:p>
        </p:txBody>
      </p:sp>
      <p:sp>
        <p:nvSpPr>
          <p:cNvPr id="92" name="PlaceHolder 2"/>
          <p:cNvSpPr>
            <a:spLocks noGrp="1"/>
          </p:cNvSpPr>
          <p:nvPr>
            <p:ph/>
          </p:nvPr>
        </p:nvSpPr>
        <p:spPr>
          <a:xfrm>
            <a:off x="380880" y="1676160"/>
            <a:ext cx="8305920" cy="5181480"/>
          </a:xfrm>
          <a:prstGeom prst="rect">
            <a:avLst/>
          </a:prstGeom>
          <a:noFill/>
          <a:ln w="0">
            <a:noFill/>
          </a:ln>
        </p:spPr>
        <p:txBody>
          <a:bodyPr lIns="90000" rIns="90000" tIns="46800" bIns="46800" anchor="t">
            <a:normAutofit/>
          </a:bodyPr>
          <a:p>
            <a:pPr marL="343080" indent="-343080">
              <a:lnSpc>
                <a:spcPct val="80000"/>
              </a:lnSpc>
              <a:spcBef>
                <a:spcPts val="675"/>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ffffff"/>
                </a:solidFill>
                <a:effectLst/>
                <a:uFillTx/>
                <a:latin typeface="Tahoma"/>
              </a:rPr>
              <a:t>If the defendant prevails and the court finds that the qui tam plaintiff (</a:t>
            </a:r>
            <a:r>
              <a:rPr b="0" lang="en-IN" sz="2700" strike="noStrike" u="none">
                <a:solidFill>
                  <a:srgbClr val="ffcc00"/>
                </a:solidFill>
                <a:effectLst/>
                <a:uFillTx/>
                <a:latin typeface="Tahoma"/>
              </a:rPr>
              <a:t>relator</a:t>
            </a:r>
            <a:r>
              <a:rPr b="0" lang="en-IN" sz="2700" strike="noStrike" u="none">
                <a:solidFill>
                  <a:srgbClr val="ffffff"/>
                </a:solidFill>
                <a:effectLst/>
                <a:uFillTx/>
                <a:latin typeface="Tahoma"/>
              </a:rPr>
              <a:t>) was clearly frivolous, clearly vexatious, or took action for the purposes of harassment, then the court may award to the defendant reasonable attorney’s fees and expenses.</a:t>
            </a:r>
            <a:br>
              <a:rPr sz="2700"/>
            </a:br>
            <a:r>
              <a:rPr b="0" lang="en-IN" sz="2700" strike="noStrike" u="none">
                <a:solidFill>
                  <a:srgbClr val="ffffff"/>
                </a:solidFill>
                <a:effectLst/>
                <a:uFillTx/>
                <a:latin typeface="Tahoma"/>
              </a:rPr>
              <a:t> </a:t>
            </a:r>
            <a:endParaRPr b="0" lang="en-IN" sz="2700" strike="noStrike" u="none">
              <a:solidFill>
                <a:srgbClr val="ffffff"/>
              </a:solidFill>
              <a:effectLst/>
              <a:uFillTx/>
              <a:latin typeface="Tahoma"/>
            </a:endParaRPr>
          </a:p>
          <a:p>
            <a:pPr marL="343080" indent="-343080">
              <a:lnSpc>
                <a:spcPct val="80000"/>
              </a:lnSpc>
              <a:spcBef>
                <a:spcPts val="675"/>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ffffff"/>
                </a:solidFill>
                <a:effectLst/>
                <a:uFillTx/>
                <a:latin typeface="Tahoma"/>
              </a:rPr>
              <a:t>There is no guaranteed minimum recovery for actions initiated by:</a:t>
            </a:r>
            <a:endParaRPr b="0" lang="en-IN" sz="2700" strike="noStrike" u="none">
              <a:solidFill>
                <a:srgbClr val="ffffff"/>
              </a:solidFill>
              <a:effectLst/>
              <a:uFillTx/>
              <a:latin typeface="Tahoma"/>
            </a:endParaRPr>
          </a:p>
          <a:p>
            <a:pPr lvl="1" marL="743040" indent="-285840">
              <a:lnSpc>
                <a:spcPct val="80000"/>
              </a:lnSpc>
              <a:spcBef>
                <a:spcPts val="601"/>
              </a:spcBef>
              <a:buClr>
                <a:srgbClr val="ffcc00"/>
              </a:buClr>
              <a:buSzPct val="65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Present or former employees of the State or political subdivision who did not initially utilize internal procedures for reporting.</a:t>
            </a:r>
            <a:endParaRPr b="0" lang="en-IN" sz="2400" strike="noStrike" u="none">
              <a:solidFill>
                <a:srgbClr val="ffffff"/>
              </a:solidFill>
              <a:effectLst/>
              <a:uFillTx/>
              <a:latin typeface="Tahoma"/>
            </a:endParaRPr>
          </a:p>
          <a:p>
            <a:pPr lvl="1" marL="743040" indent="-285840">
              <a:lnSpc>
                <a:spcPct val="80000"/>
              </a:lnSpc>
              <a:spcBef>
                <a:spcPts val="601"/>
              </a:spcBef>
              <a:buClr>
                <a:srgbClr val="ffcc00"/>
              </a:buClr>
              <a:buSzPct val="65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Present or former employees who actively participated in the fraudulent activity.</a:t>
            </a:r>
            <a:endParaRPr b="0" lang="en-IN" sz="2400" strike="noStrike" u="none">
              <a:solidFill>
                <a:srgbClr val="ffffff"/>
              </a:solidFill>
              <a:effectLst/>
              <a:uFillTx/>
              <a:latin typeface="Tahoma"/>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0"/>
            <a:ext cx="8229600" cy="175248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Whistleblower Protections</a:t>
            </a:r>
            <a:br>
              <a:rPr sz="4400"/>
            </a:br>
            <a:endParaRPr b="0" lang="en-IN" sz="4400" strike="noStrike" u="none">
              <a:solidFill>
                <a:srgbClr val="001010"/>
              </a:solidFill>
              <a:effectLst/>
              <a:uFillTx/>
              <a:latin typeface="Tahoma"/>
            </a:endParaRPr>
          </a:p>
        </p:txBody>
      </p:sp>
      <p:sp>
        <p:nvSpPr>
          <p:cNvPr id="94" name="PlaceHolder 2"/>
          <p:cNvSpPr>
            <a:spLocks noGrp="1"/>
          </p:cNvSpPr>
          <p:nvPr>
            <p:ph/>
          </p:nvPr>
        </p:nvSpPr>
        <p:spPr>
          <a:xfrm>
            <a:off x="456840" y="1523520"/>
            <a:ext cx="7620120" cy="4419720"/>
          </a:xfrm>
          <a:prstGeom prst="rect">
            <a:avLst/>
          </a:prstGeom>
          <a:noFill/>
          <a:ln w="0">
            <a:noFill/>
          </a:ln>
        </p:spPr>
        <p:txBody>
          <a:bodyPr lIns="90000" rIns="90000" tIns="46800" bIns="46800" anchor="t">
            <a:normAutofit/>
          </a:bodyPr>
          <a:p>
            <a:pPr marL="609480" indent="-609480">
              <a:lnSpc>
                <a:spcPct val="80000"/>
              </a:lnSpc>
              <a:spcBef>
                <a:spcPts val="601"/>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The Federal False Claims acts </a:t>
            </a:r>
            <a:r>
              <a:rPr b="0" lang="en-IN" sz="2800" strike="noStrike" u="none">
                <a:solidFill>
                  <a:srgbClr val="ffcc00"/>
                </a:solidFill>
                <a:effectLst/>
                <a:uFillTx/>
                <a:latin typeface="Tahoma"/>
              </a:rPr>
              <a:t>protects</a:t>
            </a:r>
            <a:r>
              <a:rPr b="0" lang="en-IN" sz="2800" strike="noStrike" u="none">
                <a:solidFill>
                  <a:srgbClr val="ffffff"/>
                </a:solidFill>
                <a:effectLst/>
                <a:uFillTx/>
                <a:latin typeface="Tahoma"/>
              </a:rPr>
              <a:t> whistleblowers who initiate, assist with, or testify for a false claim action. (</a:t>
            </a:r>
            <a:r>
              <a:rPr b="0" lang="en-IN" sz="2400" strike="noStrike" u="none">
                <a:solidFill>
                  <a:srgbClr val="ffffff"/>
                </a:solidFill>
                <a:effectLst/>
                <a:uFillTx/>
                <a:latin typeface="Tahoma"/>
              </a:rPr>
              <a:t>31 USC </a:t>
            </a:r>
            <a:r>
              <a:rPr b="0" lang="en-IN" sz="2400" strike="noStrike" u="none">
                <a:solidFill>
                  <a:srgbClr val="ffffff"/>
                </a:solidFill>
                <a:effectLst/>
                <a:uFillTx/>
                <a:latin typeface="Tahoma"/>
                <a:ea typeface="Tahoma"/>
              </a:rPr>
              <a:t>§</a:t>
            </a:r>
            <a:r>
              <a:rPr b="0" lang="en-IN" sz="2400" strike="noStrike" u="none">
                <a:solidFill>
                  <a:srgbClr val="ffffff"/>
                </a:solidFill>
                <a:effectLst/>
                <a:uFillTx/>
                <a:latin typeface="Tahoma"/>
              </a:rPr>
              <a:t> 3730(h))</a:t>
            </a:r>
            <a:endParaRPr b="0" lang="en-IN" sz="2400" strike="noStrike" u="none">
              <a:solidFill>
                <a:srgbClr val="ffffff"/>
              </a:solidFill>
              <a:effectLst/>
              <a:uFillTx/>
              <a:latin typeface="Tahoma"/>
            </a:endParaRPr>
          </a:p>
          <a:p>
            <a:pPr marL="609480" indent="0">
              <a:lnSpc>
                <a:spcPct val="8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ahoma"/>
            </a:endParaRPr>
          </a:p>
          <a:p>
            <a:pPr marL="609480" indent="-609480">
              <a:lnSpc>
                <a:spcPct val="8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This section protects employees </a:t>
            </a:r>
            <a:r>
              <a:rPr b="0" lang="en-IN" sz="2800" strike="noStrike" u="none">
                <a:solidFill>
                  <a:srgbClr val="ffcc00"/>
                </a:solidFill>
                <a:effectLst/>
                <a:uFillTx/>
                <a:latin typeface="Tahoma"/>
              </a:rPr>
              <a:t>against discharge, demotion, suspension, threats, harassment, or discrimination</a:t>
            </a:r>
            <a:r>
              <a:rPr b="0" lang="en-IN" sz="2800" strike="noStrike" u="none">
                <a:solidFill>
                  <a:srgbClr val="ffffff"/>
                </a:solidFill>
                <a:effectLst/>
                <a:uFillTx/>
                <a:latin typeface="Tahoma"/>
              </a:rPr>
              <a:t> by the employer because of lawful acts done by the employee in cooperating  with the False Claims Act.</a:t>
            </a:r>
            <a:endParaRPr b="0" lang="en-IN" sz="2800" strike="noStrike" u="none">
              <a:solidFill>
                <a:srgbClr val="ffffff"/>
              </a:solidFill>
              <a:effectLst/>
              <a:uFillTx/>
              <a:latin typeface="Tahoma"/>
            </a:endParaRPr>
          </a:p>
          <a:p>
            <a:pPr marL="609480" indent="-6094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	</a:t>
            </a:r>
            <a:endParaRPr b="0" lang="en-IN" sz="2400" strike="noStrike" u="none">
              <a:solidFill>
                <a:srgbClr val="ffffff"/>
              </a:solidFill>
              <a:effectLst/>
              <a:uFillTx/>
              <a:latin typeface="Tahoma"/>
            </a:endParaRPr>
          </a:p>
        </p:txBody>
      </p:sp>
      <p:pic>
        <p:nvPicPr>
          <p:cNvPr id="95" name="" descr=""/>
          <p:cNvPicPr/>
          <p:nvPr/>
        </p:nvPicPr>
        <p:blipFill>
          <a:blip r:embed="rId2"/>
          <a:stretch/>
        </p:blipFill>
        <p:spPr>
          <a:xfrm>
            <a:off x="3886200" y="5486400"/>
            <a:ext cx="1627200" cy="119052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001010"/>
                </a:solidFill>
                <a:effectLst/>
                <a:uFillTx/>
                <a:latin typeface="Tahoma"/>
              </a:rPr>
              <a:t>Whistleblower Protections in the CFCA </a:t>
            </a:r>
            <a:r>
              <a:rPr b="0" lang="en-IN" sz="3600" strike="noStrike" u="none">
                <a:solidFill>
                  <a:srgbClr val="001010"/>
                </a:solidFill>
                <a:effectLst/>
                <a:uFillTx/>
                <a:latin typeface="Tahoma"/>
              </a:rPr>
              <a:t>(CA Government Code 12653)</a:t>
            </a:r>
            <a:endParaRPr b="0" lang="en-IN" sz="3600" strike="noStrike" u="none">
              <a:solidFill>
                <a:srgbClr val="001010"/>
              </a:solidFill>
              <a:effectLst/>
              <a:uFillTx/>
              <a:latin typeface="Tahoma"/>
            </a:endParaRPr>
          </a:p>
        </p:txBody>
      </p:sp>
      <p:sp>
        <p:nvSpPr>
          <p:cNvPr id="97" name="PlaceHolder 2"/>
          <p:cNvSpPr>
            <a:spLocks noGrp="1"/>
          </p:cNvSpPr>
          <p:nvPr>
            <p:ph/>
          </p:nvPr>
        </p:nvSpPr>
        <p:spPr>
          <a:xfrm>
            <a:off x="457200" y="1981080"/>
            <a:ext cx="8229600" cy="4114800"/>
          </a:xfrm>
          <a:prstGeom prst="rect">
            <a:avLst/>
          </a:prstGeom>
          <a:noFill/>
          <a:ln w="0">
            <a:noFill/>
          </a:ln>
        </p:spPr>
        <p:txBody>
          <a:bodyPr lIns="90000" rIns="90000" tIns="46800" bIns="46800" anchor="t">
            <a:normAutofit lnSpcReduction="9999"/>
          </a:bodyPr>
          <a:p>
            <a:pPr marL="609480" indent="-6094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00"/>
                </a:solidFill>
                <a:effectLst/>
                <a:uFillTx/>
                <a:latin typeface="Tahoma"/>
              </a:rPr>
              <a:t>Prevents employers from making, adopting and enforcing any rule that would prevent an employee from acting in furtherance of a false claims action.</a:t>
            </a:r>
            <a:endParaRPr b="0" lang="en-IN" sz="2800" strike="noStrike" u="none">
              <a:solidFill>
                <a:srgbClr val="ffffff"/>
              </a:solidFill>
              <a:effectLst/>
              <a:uFillTx/>
              <a:latin typeface="Tahoma"/>
            </a:endParaRPr>
          </a:p>
          <a:p>
            <a:pPr marL="609480" indent="-609480">
              <a:lnSpc>
                <a:spcPct val="90000"/>
              </a:lnSpc>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No employer shall </a:t>
            </a:r>
            <a:r>
              <a:rPr b="0" lang="en-IN" sz="2800" strike="noStrike" u="none">
                <a:solidFill>
                  <a:srgbClr val="ffcc00"/>
                </a:solidFill>
                <a:effectLst/>
                <a:uFillTx/>
                <a:latin typeface="Tahoma"/>
              </a:rPr>
              <a:t>discharge, demote, suspend, threaten, harass, deny promotion</a:t>
            </a:r>
            <a:r>
              <a:rPr b="0" lang="en-IN" sz="2800" strike="noStrike" u="none">
                <a:solidFill>
                  <a:srgbClr val="ffffff"/>
                </a:solidFill>
                <a:effectLst/>
                <a:uFillTx/>
                <a:latin typeface="Tahoma"/>
              </a:rPr>
              <a:t> to, or in any other manner discriminate against an employee because of lawful acts done by the employee in an action filed or to be filed under the CA False Claims Act.</a:t>
            </a:r>
            <a:br>
              <a:rPr sz="2800"/>
            </a:br>
            <a:r>
              <a:rPr b="0" lang="en-IN" sz="2800" strike="noStrike" u="none">
                <a:solidFill>
                  <a:srgbClr val="ffffff"/>
                </a:solidFill>
                <a:effectLst/>
                <a:uFillTx/>
                <a:latin typeface="Tahoma"/>
              </a:rPr>
              <a:t> </a:t>
            </a:r>
            <a:endParaRPr b="0" lang="en-IN" sz="2800" strike="noStrike" u="none">
              <a:solidFill>
                <a:srgbClr val="ffffff"/>
              </a:solidFill>
              <a:effectLst/>
              <a:uFillTx/>
              <a:latin typeface="Tahoma"/>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0" y="0"/>
            <a:ext cx="9144000" cy="373392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1010"/>
                </a:solidFill>
                <a:effectLst/>
                <a:uFillTx/>
                <a:latin typeface="Tahoma"/>
              </a:rPr>
              <a:t>Federal Administrative Process for False Claims and Statements</a:t>
            </a:r>
            <a:br>
              <a:rPr sz="4000"/>
            </a:br>
            <a:r>
              <a:rPr b="0" lang="en-IN" sz="3200" strike="noStrike" u="none">
                <a:solidFill>
                  <a:srgbClr val="ffcc00"/>
                </a:solidFill>
                <a:effectLst/>
                <a:uFillTx/>
                <a:latin typeface="Tahoma"/>
              </a:rPr>
              <a:t>Detailed information regarding the administrative process can be found in:</a:t>
            </a:r>
            <a:br>
              <a:rPr sz="3200"/>
            </a:br>
            <a:r>
              <a:rPr b="0" lang="en-IN" sz="3200" strike="noStrike" u="none">
                <a:solidFill>
                  <a:srgbClr val="001010"/>
                </a:solidFill>
                <a:effectLst/>
                <a:uFillTx/>
                <a:latin typeface="Tahoma"/>
              </a:rPr>
              <a:t> Government code 31 USC </a:t>
            </a:r>
            <a:r>
              <a:rPr b="0" lang="en-IN" sz="3200" strike="noStrike" u="none">
                <a:solidFill>
                  <a:srgbClr val="001010"/>
                </a:solidFill>
                <a:effectLst/>
                <a:uFillTx/>
                <a:latin typeface="Times New Roman"/>
                <a:ea typeface="Times New Roman"/>
              </a:rPr>
              <a:t>§ </a:t>
            </a:r>
            <a:r>
              <a:rPr b="0" lang="en-IN" sz="3200" strike="noStrike" u="none">
                <a:solidFill>
                  <a:srgbClr val="001010"/>
                </a:solidFill>
                <a:effectLst/>
                <a:uFillTx/>
                <a:latin typeface="Tahoma"/>
                <a:ea typeface="Times New Roman"/>
              </a:rPr>
              <a:t>3801 to 3808, this code includes information regarding:</a:t>
            </a:r>
            <a:endParaRPr b="0" lang="en-IN" sz="3200" strike="noStrike" u="none">
              <a:solidFill>
                <a:srgbClr val="001010"/>
              </a:solidFill>
              <a:effectLst/>
              <a:uFillTx/>
              <a:latin typeface="Tahoma"/>
            </a:endParaRPr>
          </a:p>
        </p:txBody>
      </p:sp>
      <p:sp>
        <p:nvSpPr>
          <p:cNvPr id="99" name="PlaceHolder 2"/>
          <p:cNvSpPr>
            <a:spLocks noGrp="1"/>
          </p:cNvSpPr>
          <p:nvPr>
            <p:ph/>
          </p:nvPr>
        </p:nvSpPr>
        <p:spPr>
          <a:xfrm>
            <a:off x="533520" y="3733920"/>
            <a:ext cx="8229600" cy="2590560"/>
          </a:xfrm>
          <a:prstGeom prst="rect">
            <a:avLst/>
          </a:prstGeom>
          <a:noFill/>
          <a:ln w="0">
            <a:noFill/>
          </a:ln>
        </p:spPr>
        <p:txBody>
          <a:bodyPr lIns="90000" rIns="90000" tIns="46800" bIns="46800" anchor="t">
            <a:normAutofit lnSpcReduction="9999"/>
          </a:bodyPr>
          <a:p>
            <a:pPr marL="343080" indent="-343080">
              <a:lnSpc>
                <a:spcPct val="90000"/>
              </a:lnSpc>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Definitions,</a:t>
            </a:r>
            <a:endParaRPr b="0" lang="en-IN" sz="3200" strike="noStrike" u="none">
              <a:solidFill>
                <a:srgbClr val="ffffff"/>
              </a:solidFill>
              <a:effectLst/>
              <a:uFillTx/>
              <a:latin typeface="Tahoma"/>
            </a:endParaRPr>
          </a:p>
          <a:p>
            <a:pPr marL="343080" indent="-343080">
              <a:lnSpc>
                <a:spcPct val="90000"/>
              </a:lnSpc>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Individual liability (up to $5,000 for each fraudulent claim),</a:t>
            </a:r>
            <a:endParaRPr b="0" lang="en-IN" sz="3200" strike="noStrike" u="none">
              <a:solidFill>
                <a:srgbClr val="ffffff"/>
              </a:solidFill>
              <a:effectLst/>
              <a:uFillTx/>
              <a:latin typeface="Tahoma"/>
            </a:endParaRPr>
          </a:p>
          <a:p>
            <a:pPr marL="343080" indent="-343080">
              <a:lnSpc>
                <a:spcPct val="90000"/>
              </a:lnSpc>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Hearings and judicial Review, and</a:t>
            </a:r>
            <a:endParaRPr b="0" lang="en-IN" sz="3200" strike="noStrike" u="none">
              <a:solidFill>
                <a:srgbClr val="ffffff"/>
              </a:solidFill>
              <a:effectLst/>
              <a:uFillTx/>
              <a:latin typeface="Tahoma"/>
            </a:endParaRPr>
          </a:p>
          <a:p>
            <a:pPr marL="343080" indent="-343080">
              <a:lnSpc>
                <a:spcPct val="90000"/>
              </a:lnSpc>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The right to administrative offset.</a:t>
            </a:r>
            <a:endParaRPr b="0" lang="en-IN" sz="3200" strike="noStrike" u="none">
              <a:solidFill>
                <a:srgbClr val="ffffff"/>
              </a:solidFill>
              <a:effectLst/>
              <a:uFillTx/>
              <a:latin typeface="Tahoma"/>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001010"/>
                </a:solidFill>
                <a:effectLst/>
                <a:uFillTx/>
                <a:latin typeface="Tahoma"/>
              </a:rPr>
              <a:t>What You Can Do to Report Fraud and Abuse</a:t>
            </a:r>
            <a:endParaRPr b="0" lang="en-IN" sz="4000" strike="noStrike" u="none">
              <a:solidFill>
                <a:srgbClr val="001010"/>
              </a:solidFill>
              <a:effectLst/>
              <a:uFillTx/>
              <a:latin typeface="Tahoma"/>
            </a:endParaRPr>
          </a:p>
        </p:txBody>
      </p:sp>
      <p:sp>
        <p:nvSpPr>
          <p:cNvPr id="101" name="PlaceHolder 2"/>
          <p:cNvSpPr>
            <a:spLocks noGrp="1"/>
          </p:cNvSpPr>
          <p:nvPr>
            <p:ph/>
          </p:nvPr>
        </p:nvSpPr>
        <p:spPr>
          <a:xfrm>
            <a:off x="4343400" y="2361960"/>
            <a:ext cx="4648320" cy="3733560"/>
          </a:xfrm>
          <a:prstGeom prst="rect">
            <a:avLst/>
          </a:prstGeom>
          <a:noFill/>
          <a:ln w="0">
            <a:noFill/>
          </a:ln>
        </p:spPr>
        <p:txBody>
          <a:bodyPr lIns="90000" rIns="90000" tIns="46800" bIns="46800" anchor="t">
            <a:normAutofit/>
          </a:bodyPr>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Report the suspected incident either orally or in writing.</a:t>
            </a:r>
            <a:endParaRPr b="0" lang="en-IN" sz="3200" strike="noStrike" u="none">
              <a:solidFill>
                <a:srgbClr val="ffffff"/>
              </a:solidFill>
              <a:effectLst/>
              <a:uFillTx/>
              <a:latin typeface="Tahoma"/>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p:txBody>
      </p:sp>
      <p:pic>
        <p:nvPicPr>
          <p:cNvPr id="102" name="" descr=""/>
          <p:cNvPicPr/>
          <p:nvPr/>
        </p:nvPicPr>
        <p:blipFill>
          <a:blip r:embed="rId2"/>
          <a:stretch/>
        </p:blipFill>
        <p:spPr>
          <a:xfrm>
            <a:off x="304920" y="2209680"/>
            <a:ext cx="4038480" cy="2679840"/>
          </a:xfrm>
          <a:prstGeom prst="rect">
            <a:avLst/>
          </a:prstGeom>
          <a:noFill/>
          <a:ln w="0">
            <a:noFill/>
          </a:ln>
        </p:spPr>
      </p:pic>
      <p:pic>
        <p:nvPicPr>
          <p:cNvPr id="103" name="" descr=""/>
          <p:cNvPicPr/>
          <p:nvPr/>
        </p:nvPicPr>
        <p:blipFill>
          <a:blip r:embed="rId3"/>
          <a:stretch/>
        </p:blipFill>
        <p:spPr>
          <a:xfrm>
            <a:off x="4952880" y="4495680"/>
            <a:ext cx="2590920" cy="17290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Who to Contact</a:t>
            </a:r>
            <a:endParaRPr b="0" lang="en-IN" sz="4400" strike="noStrike" u="none">
              <a:solidFill>
                <a:srgbClr val="001010"/>
              </a:solidFill>
              <a:effectLst/>
              <a:uFillTx/>
              <a:latin typeface="Tahoma"/>
            </a:endParaRPr>
          </a:p>
        </p:txBody>
      </p:sp>
      <p:sp>
        <p:nvSpPr>
          <p:cNvPr id="105" name="PlaceHolder 2"/>
          <p:cNvSpPr>
            <a:spLocks noGrp="1"/>
          </p:cNvSpPr>
          <p:nvPr>
            <p:ph/>
          </p:nvPr>
        </p:nvSpPr>
        <p:spPr>
          <a:xfrm>
            <a:off x="457200" y="1752120"/>
            <a:ext cx="8229600" cy="4343400"/>
          </a:xfrm>
          <a:prstGeom prst="rect">
            <a:avLst/>
          </a:prstGeom>
          <a:noFill/>
          <a:ln w="0">
            <a:noFill/>
          </a:ln>
        </p:spPr>
        <p:txBody>
          <a:bodyPr lIns="90000" rIns="90000" tIns="46800" bIns="46800" anchor="t">
            <a:normAutofit/>
          </a:bodyPr>
          <a:p>
            <a:pPr marL="609480" indent="-60948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00"/>
                </a:solidFill>
                <a:effectLst/>
                <a:uFillTx/>
                <a:latin typeface="Tahoma"/>
              </a:rPr>
              <a:t>Report any suspected fraud, waste or abuse to either:</a:t>
            </a:r>
            <a:endParaRPr b="0" lang="en-IN" sz="3200" strike="noStrike" u="none">
              <a:solidFill>
                <a:srgbClr val="ffffff"/>
              </a:solidFill>
              <a:effectLst/>
              <a:uFillTx/>
              <a:latin typeface="Tahoma"/>
            </a:endParaRPr>
          </a:p>
          <a:p>
            <a:pPr marL="609480" indent="-60948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609480" indent="-6094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Your supervisor or manager, </a:t>
            </a:r>
            <a:endParaRPr b="0" lang="en-IN" sz="2800" strike="noStrike" u="none">
              <a:solidFill>
                <a:srgbClr val="ffffff"/>
              </a:solidFill>
              <a:effectLst/>
              <a:uFillTx/>
              <a:latin typeface="Tahoma"/>
            </a:endParaRPr>
          </a:p>
          <a:p>
            <a:pPr marL="609480" indent="-6094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the California Department of Public Health, Deputy Director of the Center For Family Health at (916) 440-7600.</a:t>
            </a:r>
            <a:endParaRPr b="0" lang="en-IN" sz="2800" strike="noStrike" u="none">
              <a:solidFill>
                <a:srgbClr val="ffffff"/>
              </a:solidFill>
              <a:effectLst/>
              <a:uFillTx/>
              <a:latin typeface="Tahoma"/>
            </a:endParaRPr>
          </a:p>
        </p:txBody>
      </p:sp>
      <p:pic>
        <p:nvPicPr>
          <p:cNvPr id="106" name="" descr=""/>
          <p:cNvPicPr/>
          <p:nvPr/>
        </p:nvPicPr>
        <p:blipFill>
          <a:blip r:embed="rId2"/>
          <a:stretch/>
        </p:blipFill>
        <p:spPr>
          <a:xfrm rot="1294800">
            <a:off x="5866920" y="2286000"/>
            <a:ext cx="1600200" cy="155088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What will happen?</a:t>
            </a:r>
            <a:endParaRPr b="0" lang="en-IN" sz="4400" strike="noStrike" u="none">
              <a:solidFill>
                <a:srgbClr val="001010"/>
              </a:solidFill>
              <a:effectLst/>
              <a:uFillTx/>
              <a:latin typeface="Tahoma"/>
            </a:endParaRPr>
          </a:p>
        </p:txBody>
      </p:sp>
      <p:sp>
        <p:nvSpPr>
          <p:cNvPr id="108" name="PlaceHolder 2"/>
          <p:cNvSpPr>
            <a:spLocks noGrp="1"/>
          </p:cNvSpPr>
          <p:nvPr>
            <p:ph/>
          </p:nvPr>
        </p:nvSpPr>
        <p:spPr>
          <a:xfrm>
            <a:off x="457200" y="1981080"/>
            <a:ext cx="8229600" cy="4114800"/>
          </a:xfrm>
          <a:prstGeom prst="rect">
            <a:avLst/>
          </a:prstGeom>
          <a:noFill/>
          <a:ln w="0">
            <a:noFill/>
          </a:ln>
        </p:spPr>
        <p:txBody>
          <a:bodyPr lIns="90000" rIns="90000" tIns="46800" bIns="46800" anchor="t">
            <a:normAutofit/>
          </a:bodyPr>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The nature and details of the suspected fraud will be documented in writing.</a:t>
            </a:r>
            <a:endParaRPr b="0" lang="en-IN" sz="3200" strike="noStrike" u="none">
              <a:solidFill>
                <a:srgbClr val="ffffff"/>
              </a:solidFill>
              <a:effectLst/>
              <a:uFillTx/>
              <a:latin typeface="Tahoma"/>
            </a:endParaRPr>
          </a:p>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The report will be forwarded to the Deputy Director of the Center for Family Health in the Department of Public Health within 2 days of the report.</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p:txBody>
      </p:sp>
      <p:pic>
        <p:nvPicPr>
          <p:cNvPr id="109" name="" descr=""/>
          <p:cNvPicPr/>
          <p:nvPr/>
        </p:nvPicPr>
        <p:blipFill>
          <a:blip r:embed="rId2"/>
          <a:stretch/>
        </p:blipFill>
        <p:spPr>
          <a:xfrm>
            <a:off x="6095880" y="4648320"/>
            <a:ext cx="1676520" cy="182880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The Investigation</a:t>
            </a:r>
            <a:endParaRPr b="0" lang="en-IN" sz="4400" strike="noStrike" u="none">
              <a:solidFill>
                <a:srgbClr val="001010"/>
              </a:solidFill>
              <a:effectLst/>
              <a:uFillTx/>
              <a:latin typeface="Tahoma"/>
            </a:endParaRPr>
          </a:p>
        </p:txBody>
      </p:sp>
      <p:sp>
        <p:nvSpPr>
          <p:cNvPr id="111" name="PlaceHolder 2"/>
          <p:cNvSpPr>
            <a:spLocks noGrp="1"/>
          </p:cNvSpPr>
          <p:nvPr>
            <p:ph/>
          </p:nvPr>
        </p:nvSpPr>
        <p:spPr>
          <a:xfrm>
            <a:off x="457200" y="1981080"/>
            <a:ext cx="8229600" cy="4114800"/>
          </a:xfrm>
          <a:prstGeom prst="rect">
            <a:avLst/>
          </a:prstGeom>
          <a:noFill/>
          <a:ln w="0">
            <a:noFill/>
          </a:ln>
        </p:spPr>
        <p:txBody>
          <a:bodyPr lIns="90000" rIns="90000" tIns="46800" bIns="46800" anchor="t">
            <a:normAutofit fontScale="92500" lnSpcReduction="9999"/>
          </a:bodyPr>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Will be initiated by the Department of Public Health.</a:t>
            </a:r>
            <a:endParaRPr b="0" lang="en-IN" sz="3200" strike="noStrike" u="none">
              <a:solidFill>
                <a:srgbClr val="ffffff"/>
              </a:solidFill>
              <a:effectLst/>
              <a:uFillTx/>
              <a:latin typeface="Tahoma"/>
            </a:endParaRPr>
          </a:p>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Corrective actions will be taken, if necessary, which may include filing a claim with the Attorney General’s office.</a:t>
            </a:r>
            <a:endParaRPr b="0" lang="en-IN" sz="3200" strike="noStrike" u="none">
              <a:solidFill>
                <a:srgbClr val="ffffff"/>
              </a:solidFill>
              <a:effectLst/>
              <a:uFillTx/>
              <a:latin typeface="Tahoma"/>
            </a:endParaRPr>
          </a:p>
          <a:p>
            <a:pPr marL="343080" indent="-343080">
              <a:spcBef>
                <a:spcPts val="799"/>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All complaints regarding potential fraud, waste and abuse of program funding will be taken seriously.</a:t>
            </a:r>
            <a:endParaRPr b="0" lang="en-IN" sz="3200" strike="noStrike" u="none">
              <a:solidFill>
                <a:srgbClr val="ffffff"/>
              </a:solidFill>
              <a:effectLst/>
              <a:uFillTx/>
              <a:latin typeface="Tahoma"/>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p:txBody>
      </p:sp>
      <p:pic>
        <p:nvPicPr>
          <p:cNvPr id="112" name="" descr=""/>
          <p:cNvPicPr/>
          <p:nvPr/>
        </p:nvPicPr>
        <p:blipFill>
          <a:blip r:embed="rId2"/>
          <a:stretch/>
        </p:blipFill>
        <p:spPr>
          <a:xfrm>
            <a:off x="7010280" y="533520"/>
            <a:ext cx="1854360" cy="166680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380880"/>
            <a:ext cx="8229600" cy="137160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Billions of $$$ are lost to Fraud</a:t>
            </a:r>
            <a:endParaRPr b="0" lang="en-IN" sz="4400" strike="noStrike" u="none">
              <a:solidFill>
                <a:srgbClr val="001010"/>
              </a:solidFill>
              <a:effectLst/>
              <a:uFillTx/>
              <a:latin typeface="Tahoma"/>
            </a:endParaRPr>
          </a:p>
        </p:txBody>
      </p:sp>
      <p:sp>
        <p:nvSpPr>
          <p:cNvPr id="114" name="PlaceHolder 2"/>
          <p:cNvSpPr>
            <a:spLocks noGrp="1"/>
          </p:cNvSpPr>
          <p:nvPr>
            <p:ph/>
          </p:nvPr>
        </p:nvSpPr>
        <p:spPr>
          <a:xfrm>
            <a:off x="457200" y="1981080"/>
            <a:ext cx="8229600" cy="4114800"/>
          </a:xfrm>
          <a:prstGeom prst="rect">
            <a:avLst/>
          </a:prstGeom>
          <a:noFill/>
          <a:ln w="0">
            <a:noFill/>
          </a:ln>
        </p:spPr>
        <p:txBody>
          <a:bodyPr lIns="90000" rIns="90000" tIns="46800" bIns="46800" anchor="t">
            <a:normAutofit/>
          </a:bodyPr>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“During FY 2006, the Federal Government won or negotiated approximately $2.2 billion in judgments and settlements, and it attained additional administrative impositions in health care fraud cases and proceedings. The HCFAC account has returned over $10.4 billion to the Medicare Trust Fund since the inception of the program in 1997”.</a:t>
            </a:r>
            <a:r>
              <a:rPr b="0" lang="en-IN" sz="2800" strike="noStrike" u="none">
                <a:solidFill>
                  <a:srgbClr val="ffffff"/>
                </a:solidFill>
                <a:effectLst/>
                <a:uFillTx/>
                <a:latin typeface="Tahoma"/>
              </a:rPr>
              <a:t> </a:t>
            </a:r>
            <a:endParaRPr b="0" lang="en-IN" sz="2800" strike="noStrike" u="none">
              <a:solidFill>
                <a:srgbClr val="ffffff"/>
              </a:solidFill>
              <a:effectLst/>
              <a:uFillTx/>
              <a:latin typeface="Tahoma"/>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   </a:t>
            </a:r>
            <a:r>
              <a:rPr b="0" lang="en-IN" sz="2400" strike="noStrike" u="sng">
                <a:solidFill>
                  <a:srgbClr val="00ccff"/>
                </a:solidFill>
                <a:effectLst/>
                <a:uFillTx/>
                <a:latin typeface="Tahoma"/>
                <a:hlinkClick r:id="rId2"/>
              </a:rPr>
              <a:t>Healthcare Fraud and Abuse Control Program 2006</a:t>
            </a:r>
            <a:endParaRPr b="0" lang="en-IN" sz="2400" strike="noStrike" u="none">
              <a:solidFill>
                <a:srgbClr val="ffffff"/>
              </a:solidFill>
              <a:effectLst/>
              <a:uFillTx/>
              <a:latin typeface="Tahoma"/>
            </a:endParaRPr>
          </a:p>
        </p:txBody>
      </p:sp>
      <p:sp>
        <p:nvSpPr>
          <p:cNvPr id="115" name=""/>
          <p:cNvSpPr/>
          <p:nvPr/>
        </p:nvSpPr>
        <p:spPr>
          <a:xfrm>
            <a:off x="838080" y="1371600"/>
            <a:ext cx="7315200" cy="10598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cc00"/>
                </a:solidFill>
                <a:effectLst/>
                <a:uFillTx/>
                <a:latin typeface="Tahoma"/>
              </a:rPr>
              <a:t>It is estimated that 5% of total U.S. health care funds are lost to fraud!  </a:t>
            </a:r>
            <a:endParaRPr b="0" lang="en-IN" sz="1800" strike="noStrike" u="none">
              <a:solidFill>
                <a:srgbClr val="ffffff"/>
              </a:solidFill>
              <a:effectLst/>
              <a:uFillTx/>
              <a:latin typeface="Arial"/>
            </a:endParaRPr>
          </a:p>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pic>
        <p:nvPicPr>
          <p:cNvPr id="116" name="" descr=""/>
          <p:cNvPicPr/>
          <p:nvPr/>
        </p:nvPicPr>
        <p:blipFill>
          <a:blip r:embed="rId3"/>
          <a:stretch/>
        </p:blipFill>
        <p:spPr>
          <a:xfrm>
            <a:off x="7543800" y="5410080"/>
            <a:ext cx="1212840" cy="121932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380520"/>
            <a:ext cx="8229600" cy="838440"/>
          </a:xfrm>
          <a:prstGeom prst="rect">
            <a:avLst/>
          </a:prstGeom>
          <a:noFill/>
          <a:ln w="0">
            <a:noFill/>
          </a:ln>
          <a:effectLst>
            <a:outerShdw dist="17819" dir="2700000" blurRad="0" rotWithShape="0">
              <a:srgbClr val="ffffff"/>
            </a:outerShdw>
          </a:effectLst>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1010"/>
                </a:solidFill>
                <a:effectLst/>
                <a:uFillTx/>
                <a:latin typeface="Tahoma"/>
              </a:rPr>
              <a:t>So Now You Know</a:t>
            </a:r>
            <a:endParaRPr b="0" lang="en-IN" sz="4400" strike="noStrike" u="none">
              <a:solidFill>
                <a:srgbClr val="001010"/>
              </a:solidFill>
              <a:effectLst/>
              <a:uFillTx/>
              <a:latin typeface="Tahoma"/>
            </a:endParaRPr>
          </a:p>
        </p:txBody>
      </p:sp>
      <p:sp>
        <p:nvSpPr>
          <p:cNvPr id="118" name="PlaceHolder 2"/>
          <p:cNvSpPr>
            <a:spLocks noGrp="1"/>
          </p:cNvSpPr>
          <p:nvPr>
            <p:ph/>
          </p:nvPr>
        </p:nvSpPr>
        <p:spPr>
          <a:xfrm>
            <a:off x="837720" y="1523880"/>
            <a:ext cx="6172200" cy="4267440"/>
          </a:xfrm>
          <a:prstGeom prst="rect">
            <a:avLst/>
          </a:prstGeom>
          <a:noFill/>
          <a:ln w="0">
            <a:noFill/>
          </a:ln>
        </p:spPr>
        <p:txBody>
          <a:bodyPr lIns="90000" rIns="90000" tIns="46800" bIns="46800" anchor="t">
            <a:normAutofit/>
          </a:bodyPr>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You can help protect government funds by reporting any suspected fraud, waste, or abuse.  </a:t>
            </a:r>
            <a:endParaRPr b="0" lang="en-IN" sz="2800" strike="noStrike" u="none">
              <a:solidFill>
                <a:srgbClr val="ffffff"/>
              </a:solidFill>
              <a:effectLst/>
              <a:uFillTx/>
              <a:latin typeface="Tahoma"/>
            </a:endParaRPr>
          </a:p>
          <a:p>
            <a:pPr marL="343080" indent="-343080">
              <a:spcBef>
                <a:spcPts val="700"/>
              </a:spcBef>
              <a:buClr>
                <a:srgbClr val="00cc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The False Claims laws are the single biggest weapon for combating fraud perpetrated by government contractors, vendors and others against the federal and state government. </a:t>
            </a:r>
            <a:endParaRPr b="0" lang="en-IN" sz="2800" strike="noStrike" u="none">
              <a:solidFill>
                <a:srgbClr val="ffffff"/>
              </a:solidFill>
              <a:effectLst/>
              <a:uFillTx/>
              <a:latin typeface="Tahoma"/>
            </a:endParaRPr>
          </a:p>
        </p:txBody>
      </p:sp>
      <p:pic>
        <p:nvPicPr>
          <p:cNvPr id="119" name="" descr=""/>
          <p:cNvPicPr/>
          <p:nvPr/>
        </p:nvPicPr>
        <p:blipFill>
          <a:blip r:embed="rId2"/>
          <a:stretch/>
        </p:blipFill>
        <p:spPr>
          <a:xfrm>
            <a:off x="6553080" y="2514600"/>
            <a:ext cx="2089440" cy="1793880"/>
          </a:xfrm>
          <a:prstGeom prst="rect">
            <a:avLst/>
          </a:prstGeom>
          <a:noFill/>
          <a:ln w="0">
            <a:noFill/>
          </a:ln>
        </p:spPr>
      </p:pic>
      <p:sp>
        <p:nvSpPr>
          <p:cNvPr id="120" name=""/>
          <p:cNvSpPr/>
          <p:nvPr/>
        </p:nvSpPr>
        <p:spPr>
          <a:xfrm>
            <a:off x="304920" y="1371600"/>
            <a:ext cx="8839080" cy="3967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1655</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2008-08-11T13:09:10Z</dcterms:created>
  <dc:creator>Full Name</dc:creator>
  <dc:description/>
  <dc:language>en-IN</dc:language>
  <cp:lastModifiedBy>Matthew Ely</cp:lastModifiedBy>
  <dcterms:modified xsi:type="dcterms:W3CDTF">2008-09-08T11:40:11Z</dcterms:modified>
  <cp:revision>32</cp:revision>
  <dc:subject/>
  <dc:title>False Claims Act Training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bstract">
    <vt:lpwstr/>
  </property>
  <property fmtid="{D5CDD505-2E9C-101B-9397-08002B2CF9AE}" pid="3" name="Approval Level">
    <vt:lpwstr/>
  </property>
  <property fmtid="{D5CDD505-2E9C-101B-9397-08002B2CF9AE}" pid="4" name="Assigned To">
    <vt:lpwstr/>
  </property>
  <property fmtid="{D5CDD505-2E9C-101B-9397-08002B2CF9AE}" pid="5" name="Categories">
    <vt:lpwstr/>
  </property>
  <property fmtid="{D5CDD505-2E9C-101B-9397-08002B2CF9AE}" pid="6" name="ContentType">
    <vt:lpwstr>CDPH Document</vt:lpwstr>
  </property>
  <property fmtid="{D5CDD505-2E9C-101B-9397-08002B2CF9AE}" pid="7" name="HealthPubTopics">
    <vt:lpwstr/>
  </property>
  <property fmtid="{D5CDD505-2E9C-101B-9397-08002B2CF9AE}" pid="8" name="Keywords">
    <vt:lpwstr/>
  </property>
  <property fmtid="{D5CDD505-2E9C-101B-9397-08002B2CF9AE}" pid="9" name="Language">
    <vt:lpwstr>English</vt:lpwstr>
  </property>
  <property fmtid="{D5CDD505-2E9C-101B-9397-08002B2CF9AE}" pid="10" name="Nav">
    <vt:lpwstr/>
  </property>
  <property fmtid="{D5CDD505-2E9C-101B-9397-08002B2CF9AE}" pid="11" name="Organization">
    <vt:lpwstr>351</vt:lpwstr>
  </property>
  <property fmtid="{D5CDD505-2E9C-101B-9397-08002B2CF9AE}" pid="12" name="Publication Type">
    <vt:lpwstr/>
  </property>
  <property fmtid="{D5CDD505-2E9C-101B-9397-08002B2CF9AE}" pid="13" name="PublishingContactName">
    <vt:lpwstr/>
  </property>
  <property fmtid="{D5CDD505-2E9C-101B-9397-08002B2CF9AE}" pid="14" name="PublishingExpirationDate">
    <vt:lpwstr/>
  </property>
  <property fmtid="{D5CDD505-2E9C-101B-9397-08002B2CF9AE}" pid="15" name="PublishingStartDate">
    <vt:lpwstr/>
  </property>
  <property fmtid="{D5CDD505-2E9C-101B-9397-08002B2CF9AE}" pid="16" name="Reading Level">
    <vt:lpwstr/>
  </property>
  <property fmtid="{D5CDD505-2E9C-101B-9397-08002B2CF9AE}" pid="17" name="Slides">
    <vt:lpwstr>27</vt:lpwstr>
  </property>
  <property fmtid="{D5CDD505-2E9C-101B-9397-08002B2CF9AE}" pid="18" name="Subject">
    <vt:lpwstr/>
  </property>
  <property fmtid="{D5CDD505-2E9C-101B-9397-08002B2CF9AE}" pid="19" name="Target Audience Group">
    <vt:lpwstr/>
  </property>
  <property fmtid="{D5CDD505-2E9C-101B-9397-08002B2CF9AE}" pid="20" name="TemplateUrl">
    <vt:lpwstr/>
  </property>
  <property fmtid="{D5CDD505-2E9C-101B-9397-08002B2CF9AE}" pid="21" name="Topics">
    <vt:lpwstr/>
  </property>
  <property fmtid="{D5CDD505-2E9C-101B-9397-08002B2CF9AE}" pid="22" name="_Author">
    <vt:lpwstr>Full Name</vt:lpwstr>
  </property>
  <property fmtid="{D5CDD505-2E9C-101B-9397-08002B2CF9AE}" pid="23" name="_Category">
    <vt:lpwstr/>
  </property>
  <property fmtid="{D5CDD505-2E9C-101B-9397-08002B2CF9AE}" pid="24" name="_Comments">
    <vt:lpwstr/>
  </property>
  <property fmtid="{D5CDD505-2E9C-101B-9397-08002B2CF9AE}" pid="25" name="_SharedFileIndex">
    <vt:lpwstr/>
  </property>
  <property fmtid="{D5CDD505-2E9C-101B-9397-08002B2CF9AE}" pid="26" name="_SourceUrl">
    <vt:lpwstr/>
  </property>
  <property fmtid="{D5CDD505-2E9C-101B-9397-08002B2CF9AE}" pid="27" name="display_urn:schemas-microsoft-com:office:office#Author">
    <vt:lpwstr>System Account</vt:lpwstr>
  </property>
  <property fmtid="{D5CDD505-2E9C-101B-9397-08002B2CF9AE}" pid="28" name="display_urn:schemas-microsoft-com:office:office#Editor">
    <vt:lpwstr>System Account</vt:lpwstr>
  </property>
  <property fmtid="{D5CDD505-2E9C-101B-9397-08002B2CF9AE}" pid="29" name="xd_ProgID">
    <vt:lpwstr/>
  </property>
  <property fmtid="{D5CDD505-2E9C-101B-9397-08002B2CF9AE}" pid="30" name="xd_Signature">
    <vt:lpwstr/>
  </property>
</Properties>
</file>