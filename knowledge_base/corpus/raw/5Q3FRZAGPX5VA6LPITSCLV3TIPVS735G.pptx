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13.xml" ContentType="application/vnd.openxmlformats-officedocument.them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IN" sz="1800" strike="noStrike" u="none">
              <a:solidFill>
                <a:srgbClr val="000000"/>
              </a:solidFill>
              <a:effectLst/>
              <a:uFillTx/>
              <a:latin typeface="Arial"/>
            </a:endParaRPr>
          </a:p>
        </p:txBody>
      </p:sp>
      <p:sp>
        <p:nvSpPr>
          <p:cNvPr id="14"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pPr>
            <a:endParaRPr b="0" lang="en-IN" sz="2400" strike="noStrike" u="none">
              <a:solidFill>
                <a:srgbClr val="000000"/>
              </a:solidFill>
              <a:effectLst/>
              <a:uFillTx/>
              <a:latin typeface="Times New Roman"/>
            </a:endParaRPr>
          </a:p>
        </p:txBody>
      </p:sp>
      <p:sp>
        <p:nvSpPr>
          <p:cNvPr id="15" name="PlaceHolder 2"/>
          <p:cNvSpPr>
            <a:spLocks noGrp="1"/>
          </p:cNvSpPr>
          <p:nvPr>
            <p:ph type="dt" idx="1"/>
          </p:nvPr>
        </p:nvSpPr>
        <p:spPr>
          <a:xfrm>
            <a:off x="3884400" y="0"/>
            <a:ext cx="2971800" cy="457200"/>
          </a:xfrm>
          <a:prstGeom prst="rect">
            <a:avLst/>
          </a:prstGeom>
          <a:noFill/>
          <a:ln w="0">
            <a:noFill/>
          </a:ln>
        </p:spPr>
        <p:txBody>
          <a:bodyPr lIns="90000" rIns="90000" tIns="46800" bIns="46800" anchor="t">
            <a:noAutofit/>
          </a:bodyPr>
          <a:p>
            <a:pPr indent="0">
              <a:buNone/>
            </a:pPr>
            <a:endParaRPr b="0" lang="en-IN" sz="2400" strike="noStrike" u="none">
              <a:solidFill>
                <a:srgbClr val="000000"/>
              </a:solidFill>
              <a:effectLst/>
              <a:uFillTx/>
              <a:latin typeface="Times New Roman"/>
            </a:endParaRPr>
          </a:p>
        </p:txBody>
      </p:sp>
      <p:sp>
        <p:nvSpPr>
          <p:cNvPr id="16" name="PlaceHolder 3"/>
          <p:cNvSpPr>
            <a:spLocks noGrp="1"/>
          </p:cNvSpPr>
          <p:nvPr>
            <p:ph type="sldImg"/>
          </p:nvPr>
        </p:nvSpPr>
        <p:spPr>
          <a:xfrm>
            <a:off x="1143000" y="685440"/>
            <a:ext cx="4572000" cy="3429000"/>
          </a:xfrm>
          <a:prstGeom prst="rect">
            <a:avLst/>
          </a:prstGeom>
          <a:noFill/>
          <a:ln w="12600">
            <a:solidFill>
              <a:srgbClr val="000000"/>
            </a:solidFill>
            <a:miter/>
          </a:ln>
        </p:spPr>
        <p:txBody>
          <a:bodyPr lIns="90000" rIns="90000" tIns="46800" bIns="46800" anchor="ctr">
            <a:noAutofit/>
          </a:bodyPr>
          <a:p>
            <a:pPr indent="0" algn="ct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4400" strike="noStrike" u="none">
                <a:solidFill>
                  <a:srgbClr val="000000"/>
                </a:solidFill>
                <a:effectLst/>
                <a:uFillTx/>
                <a:latin typeface="Arial"/>
              </a:rPr>
              <a:t>Click to move the slide</a:t>
            </a:r>
            <a:endParaRPr b="0" lang="en-IN" sz="4400" strike="noStrike" u="none">
              <a:solidFill>
                <a:srgbClr val="000000"/>
              </a:solidFill>
              <a:effectLst/>
              <a:uFillTx/>
              <a:latin typeface="Arial"/>
            </a:endParaRPr>
          </a:p>
        </p:txBody>
      </p:sp>
      <p:sp>
        <p:nvSpPr>
          <p:cNvPr id="17"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1200" strike="noStrike" u="none">
                <a:solidFill>
                  <a:srgbClr val="000000"/>
                </a:solidFill>
                <a:effectLst/>
                <a:uFillTx/>
                <a:latin typeface="Calibri"/>
              </a:rPr>
              <a:t>Click to edit the notes format</a:t>
            </a:r>
            <a:endParaRPr b="0" lang="en-IN" sz="1200" strike="noStrike" u="none">
              <a:solidFill>
                <a:srgbClr val="000000"/>
              </a:solidFill>
              <a:effectLst/>
              <a:uFillTx/>
              <a:latin typeface="Calibri"/>
            </a:endParaRPr>
          </a:p>
        </p:txBody>
      </p:sp>
      <p:sp>
        <p:nvSpPr>
          <p:cNvPr id="18" name="PlaceHolder 5"/>
          <p:cNvSpPr>
            <a:spLocks noGrp="1"/>
          </p:cNvSpPr>
          <p:nvPr>
            <p:ph type="ftr" idx="2"/>
          </p:nvPr>
        </p:nvSpPr>
        <p:spPr>
          <a:xfrm>
            <a:off x="-360" y="8685360"/>
            <a:ext cx="2971800" cy="457200"/>
          </a:xfrm>
          <a:prstGeom prst="rect">
            <a:avLst/>
          </a:prstGeom>
          <a:noFill/>
          <a:ln w="0">
            <a:noFill/>
          </a:ln>
        </p:spPr>
        <p:txBody>
          <a:bodyPr lIns="90000" rIns="90000" tIns="46800" bIns="46800" anchor="b">
            <a:noAutofit/>
          </a:bodyPr>
          <a:p>
            <a:pPr indent="0">
              <a:buNone/>
            </a:pPr>
            <a:endParaRPr b="0" lang="en-IN" sz="2400" strike="noStrike" u="none">
              <a:solidFill>
                <a:srgbClr val="000000"/>
              </a:solidFill>
              <a:effectLst/>
              <a:uFillTx/>
              <a:latin typeface="Times New Roman"/>
            </a:endParaRPr>
          </a:p>
        </p:txBody>
      </p:sp>
      <p:sp>
        <p:nvSpPr>
          <p:cNvPr id="19" name="PlaceHolder 6"/>
          <p:cNvSpPr>
            <a:spLocks noGrp="1"/>
          </p:cNvSpPr>
          <p:nvPr>
            <p:ph type="sldNum" idx="3"/>
          </p:nvPr>
        </p:nvSpPr>
        <p:spPr>
          <a:xfrm>
            <a:off x="3884400" y="8685360"/>
            <a:ext cx="297180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200" strike="noStrike" u="none">
                <a:solidFill>
                  <a:srgbClr val="000000"/>
                </a:solidFill>
                <a:effectLst/>
                <a:uFillTx/>
                <a:latin typeface="Calibri"/>
              </a:defRPr>
            </a:lvl1pPr>
          </a:lstStyle>
          <a:p>
            <a:pPr indent="0" algn="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BC3E1BAA-E58C-4807-95DB-9E08C2E99BF6}"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1143000" y="685800"/>
            <a:ext cx="4572000" cy="3429000"/>
          </a:xfrm>
          <a:prstGeom prst="rect">
            <a:avLst/>
          </a:prstGeom>
          <a:ln w="0">
            <a:noFill/>
          </a:ln>
        </p:spPr>
      </p:sp>
      <p:sp>
        <p:nvSpPr>
          <p:cNvPr id="61"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Here you can briefly state the main topics of the presentation.</a:t>
            </a:r>
            <a:endParaRPr b="0" lang="en-IN" sz="1200" strike="noStrike" u="none">
              <a:solidFill>
                <a:srgbClr val="000000"/>
              </a:solidFill>
              <a:effectLst/>
              <a:uFillTx/>
              <a:latin typeface="Calibri"/>
            </a:endParaRPr>
          </a:p>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62"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373F75C3-8CE8-49FB-AC25-D3C5B36820BA}"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sldImg"/>
          </p:nvPr>
        </p:nvSpPr>
        <p:spPr>
          <a:xfrm>
            <a:off x="1143000" y="685800"/>
            <a:ext cx="4572000" cy="3429000"/>
          </a:xfrm>
          <a:prstGeom prst="rect">
            <a:avLst/>
          </a:prstGeom>
          <a:ln w="0">
            <a:noFill/>
          </a:ln>
        </p:spPr>
      </p:sp>
      <p:sp>
        <p:nvSpPr>
          <p:cNvPr id="64"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Here you can briefly list the questions that will be answered during the presentation.</a:t>
            </a:r>
            <a:endParaRPr b="0" lang="en-IN" sz="1200" strike="noStrike" u="none">
              <a:solidFill>
                <a:srgbClr val="000000"/>
              </a:solidFill>
              <a:effectLst/>
              <a:uFillTx/>
              <a:latin typeface="Calibri"/>
            </a:endParaRPr>
          </a:p>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65"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4ACF1108-39F3-4223-A5CE-48068C8327D0}"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ldImg"/>
          </p:nvPr>
        </p:nvSpPr>
        <p:spPr>
          <a:xfrm>
            <a:off x="1143000" y="685800"/>
            <a:ext cx="4572000" cy="3429000"/>
          </a:xfrm>
          <a:prstGeom prst="rect">
            <a:avLst/>
          </a:prstGeom>
          <a:ln w="0">
            <a:noFill/>
          </a:ln>
        </p:spPr>
      </p:sp>
      <p:sp>
        <p:nvSpPr>
          <p:cNvPr id="67"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Financial aid is money for education expenses for college or career school.</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Grants do not have to be repaid (they are often called “gift aid”).</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Work-study is money earned by the student at a job (often on campus) that helps the student pay his or her education expenses. This money does not have to be repaid </a:t>
            </a:r>
            <a:r>
              <a:rPr b="0" lang="en-US" sz="1200" strike="noStrike" u="none">
                <a:solidFill>
                  <a:srgbClr val="ff0000"/>
                </a:solidFill>
                <a:effectLst/>
                <a:uFillTx/>
                <a:latin typeface="Calibri"/>
              </a:rPr>
              <a:t>and is not taken into account in assessing a student’s eligibility for financial aid the following year</a:t>
            </a:r>
            <a:r>
              <a:rPr b="0" lang="en-US" sz="1200" strike="noStrike" u="none">
                <a:solidFill>
                  <a:srgbClr val="000000"/>
                </a:solidFill>
                <a:effectLst/>
                <a:uFillTx/>
                <a:latin typeface="Calibri"/>
              </a:rPr>
              <a:t>.</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Loans have to be repaid with interest.</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Scholarships are funds that do not have to be repaid. Scholarships are usually based on academic merit but can be based on a student’s interests, hobbies, religion, ethnicity, and/or financial need.</a:t>
            </a:r>
            <a:endParaRPr b="0" lang="en-IN" sz="1200" strike="noStrike" u="none">
              <a:solidFill>
                <a:srgbClr val="000000"/>
              </a:solidFill>
              <a:effectLst/>
              <a:uFillTx/>
              <a:latin typeface="Calibri"/>
            </a:endParaRPr>
          </a:p>
          <a:p>
            <a:pPr marL="171360" indent="-17136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68"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EA316881-A0CD-45BA-BEA9-59217D0C72DF}"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sldImg"/>
          </p:nvPr>
        </p:nvSpPr>
        <p:spPr>
          <a:xfrm>
            <a:off x="1143000" y="685800"/>
            <a:ext cx="4572000" cy="3429000"/>
          </a:xfrm>
          <a:prstGeom prst="rect">
            <a:avLst/>
          </a:prstGeom>
          <a:ln w="0">
            <a:noFill/>
          </a:ln>
        </p:spPr>
      </p:sp>
      <p:sp>
        <p:nvSpPr>
          <p:cNvPr id="70"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**This is not a comprehensive list of eligibility criteria for federal student aid. For complete details, visit ifap.ed.gov and go to the Student Eligibility chapter of the Federal Student Aid Handbook. (Students should visit </a:t>
            </a:r>
            <a:r>
              <a:rPr b="0" lang="en-US" sz="1200" strike="noStrike" u="none">
                <a:solidFill>
                  <a:srgbClr val="ff0000"/>
                </a:solidFill>
                <a:effectLst/>
                <a:uFillTx/>
                <a:latin typeface="Calibri"/>
              </a:rPr>
              <a:t>StudentAid.gov/eligibility</a:t>
            </a:r>
            <a:r>
              <a:rPr b="0" lang="en-US" sz="1200" strike="noStrike" u="none">
                <a:solidFill>
                  <a:srgbClr val="000000"/>
                </a:solidFill>
                <a:effectLst/>
                <a:uFillTx/>
                <a:latin typeface="Calibri"/>
              </a:rPr>
              <a:t>.)**</a:t>
            </a:r>
            <a:endParaRPr b="0" lang="en-IN" sz="1200" strike="noStrike" u="none">
              <a:solidFill>
                <a:srgbClr val="000000"/>
              </a:solidFill>
              <a:effectLst/>
              <a:uFillTx/>
              <a:latin typeface="Calibri"/>
            </a:endParaRPr>
          </a:p>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Basic eligibility criteria for federal student aid:</a:t>
            </a:r>
            <a:endParaRPr b="0" lang="en-IN" sz="1200" strike="noStrike" u="none">
              <a:solidFill>
                <a:srgbClr val="000000"/>
              </a:solidFill>
              <a:effectLst/>
              <a:uFillTx/>
              <a:latin typeface="Calibri"/>
            </a:endParaRPr>
          </a:p>
          <a:p>
            <a:pPr>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Demonstrate financial need (for most programs)</a:t>
            </a:r>
            <a:endParaRPr b="0" lang="en-IN" sz="1200" strike="noStrike" u="none">
              <a:solidFill>
                <a:srgbClr val="000000"/>
              </a:solidFill>
              <a:effectLst/>
              <a:uFillTx/>
              <a:latin typeface="Calibri"/>
            </a:endParaRPr>
          </a:p>
          <a:p>
            <a:pPr>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US citizen/permanent resident (there are some additional categories of eligible noncitizen, but they’re relatively rare</a:t>
            </a:r>
            <a:r>
              <a:rPr b="0" lang="en-US" sz="1200" strike="noStrike" u="none">
                <a:solidFill>
                  <a:srgbClr val="ff0000"/>
                </a:solidFill>
                <a:effectLst/>
                <a:uFillTx/>
                <a:latin typeface="Calibri"/>
              </a:rPr>
              <a:t>)</a:t>
            </a:r>
            <a:endParaRPr b="0" lang="en-IN" sz="1200" strike="noStrike" u="none">
              <a:solidFill>
                <a:srgbClr val="000000"/>
              </a:solidFill>
              <a:effectLst/>
              <a:uFillTx/>
              <a:latin typeface="Calibri"/>
            </a:endParaRPr>
          </a:p>
          <a:p>
            <a:pPr lvl="1" marL="457200" indent="0">
              <a:spcBef>
                <a:spcPts val="451"/>
              </a:spcBef>
              <a:buNone/>
              <a:tabLst>
                <a:tab algn="l" pos="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1200" strike="noStrike" u="none">
                <a:solidFill>
                  <a:srgbClr val="000000"/>
                </a:solidFill>
                <a:effectLst/>
                <a:uFillTx/>
                <a:latin typeface="Calibri"/>
              </a:rPr>
              <a:t>High school graduate; GED (or other state certificate) holder; or homeschooler who has completed his/her home-school education as recognized by the state government; or enrolling in an eligible career pathway program and meeting one of the “ability-to-benefit” alternatives described at StudentAid.gov/eligibility/basic-criteria</a:t>
            </a:r>
            <a:endParaRPr b="0" lang="en-IN" sz="1200" strike="noStrike" u="none">
              <a:solidFill>
                <a:srgbClr val="000000"/>
              </a:solidFill>
              <a:effectLst/>
              <a:uFillTx/>
              <a:latin typeface="Calibri"/>
            </a:endParaRPr>
          </a:p>
          <a:p>
            <a:pPr>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Student enrolled as a regular student in a degree or certificate program that is eligible to be paid for by federal student aid funds; student also must be attending a college or career school that participates in the federal student aid programs</a:t>
            </a:r>
            <a:endParaRPr b="0" lang="en-IN" sz="1200" strike="noStrike" u="none">
              <a:solidFill>
                <a:srgbClr val="000000"/>
              </a:solidFill>
              <a:effectLst/>
              <a:uFillTx/>
              <a:latin typeface="Calibri"/>
            </a:endParaRPr>
          </a:p>
          <a:p>
            <a:pPr>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SSN: the exception here is students from the Republic of the Marshall Islands, the Federated States of Micronesia, or the Republic of Palau</a:t>
            </a:r>
            <a:endParaRPr b="0" lang="en-IN" sz="1200" strike="noStrike" u="none">
              <a:solidFill>
                <a:srgbClr val="000000"/>
              </a:solidFill>
              <a:effectLst/>
              <a:uFillTx/>
              <a:latin typeface="Calibri"/>
            </a:endParaRPr>
          </a:p>
          <a:p>
            <a:pPr>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Males must register for Selective Service within 30 days of their 18</a:t>
            </a:r>
            <a:r>
              <a:rPr b="0" lang="en-US" sz="1200" strike="noStrike" u="none" baseline="30000">
                <a:solidFill>
                  <a:srgbClr val="000000"/>
                </a:solidFill>
                <a:effectLst/>
                <a:uFillTx/>
                <a:latin typeface="Calibri"/>
              </a:rPr>
              <a:t>th</a:t>
            </a:r>
            <a:r>
              <a:rPr b="0" lang="en-US" sz="1200" strike="noStrike" u="none">
                <a:solidFill>
                  <a:srgbClr val="000000"/>
                </a:solidFill>
                <a:effectLst/>
                <a:uFillTx/>
                <a:latin typeface="Calibri"/>
              </a:rPr>
              <a:t> birthday (within 30 days before or 30 days after, for a total window of 60 days). </a:t>
            </a:r>
            <a:endParaRPr b="0" lang="en-IN" sz="1200" strike="noStrike" u="none">
              <a:solidFill>
                <a:srgbClr val="000000"/>
              </a:solidFill>
              <a:effectLst/>
              <a:uFillTx/>
              <a:latin typeface="Calibri"/>
            </a:endParaRPr>
          </a:p>
          <a:p>
            <a:pPr lvl="1" marL="457200">
              <a:buClr>
                <a:srgbClr val="000000"/>
              </a:buClr>
              <a:buFont typeface="Calibri"/>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1200" strike="noStrike" u="none">
                <a:solidFill>
                  <a:srgbClr val="000000"/>
                </a:solidFill>
                <a:effectLst/>
                <a:uFillTx/>
                <a:latin typeface="Calibri"/>
              </a:rPr>
              <a:t>If you are working with a male student who did not meet the 60-day timeframe, direct him to register immediately at www.sss.gov. Late registrations are accepted until the age of 26.</a:t>
            </a:r>
            <a:endParaRPr b="0" lang="en-IN" sz="1200" strike="noStrike" u="none">
              <a:solidFill>
                <a:srgbClr val="000000"/>
              </a:solidFill>
              <a:effectLst/>
              <a:uFillTx/>
              <a:latin typeface="Calibri"/>
            </a:endParaRPr>
          </a:p>
          <a:p>
            <a:pPr lvl="1" marL="457200">
              <a:buClr>
                <a:srgbClr val="000000"/>
              </a:buClr>
              <a:buFont typeface="Calibri"/>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1200" strike="noStrike" u="none">
                <a:solidFill>
                  <a:srgbClr val="000000"/>
                </a:solidFill>
                <a:effectLst/>
                <a:uFillTx/>
                <a:latin typeface="Calibri"/>
              </a:rPr>
              <a:t>If you are working with a male student aged 26 or older who did not register, you should direct him to the financial aid office at the college he plans to attend. Before he can receive federal student aid, he will have to prove that he did not “knowingly and willfully” fail to register. The financial aid administrator will tell him what documentation he needs in order to do so.</a:t>
            </a:r>
            <a:endParaRPr b="0" lang="en-IN" sz="1200" strike="noStrike" u="none">
              <a:solidFill>
                <a:srgbClr val="000000"/>
              </a:solidFill>
              <a:effectLst/>
              <a:uFillTx/>
              <a:latin typeface="Calibri"/>
            </a:endParaRPr>
          </a:p>
          <a:p>
            <a:pPr>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In broad terms, a student making satisfactory academic progress (SAP) is moving toward receiving his or her degree or certificate at a pace that is acceptable to his or her school. Each school sets its own SAP policy.</a:t>
            </a:r>
            <a:endParaRPr b="0" lang="en-IN" sz="1200" strike="noStrike" u="none">
              <a:solidFill>
                <a:srgbClr val="000000"/>
              </a:solidFill>
              <a:effectLst/>
              <a:uFillTx/>
              <a:latin typeface="Calibri"/>
            </a:endParaRPr>
          </a:p>
          <a:p>
            <a:pPr indent="0">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71"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197070D7-F763-4573-BC63-64F19D6A13B3}"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sldImg"/>
          </p:nvPr>
        </p:nvSpPr>
        <p:spPr>
          <a:xfrm>
            <a:off x="1143000" y="685800"/>
            <a:ext cx="4572000" cy="3429000"/>
          </a:xfrm>
          <a:prstGeom prst="rect">
            <a:avLst/>
          </a:prstGeom>
          <a:ln w="0">
            <a:noFill/>
          </a:ln>
        </p:spPr>
      </p:sp>
      <p:sp>
        <p:nvSpPr>
          <p:cNvPr id="73"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At this point, you might want to share the eligibility criteria for one or two financial aid programs offered by organizations in your area. For instance, for state government funds, common criteria include being a resident of the state. You can find your state grant agency’s contact information (including website address, if any) at </a:t>
            </a:r>
            <a:r>
              <a:rPr b="0" lang="en-US" sz="1200" strike="noStrike" u="none">
                <a:solidFill>
                  <a:srgbClr val="000000"/>
                </a:solidFill>
                <a:effectLst/>
                <a:uFillTx/>
                <a:latin typeface="MinionPro-BoldCn"/>
                <a:ea typeface="Times New Roman"/>
              </a:rPr>
              <a:t>ed.gov/sgt. Feel free to edit this slide to present information about your state or local financial aid programs.</a:t>
            </a:r>
            <a:endParaRPr b="0" lang="en-IN" sz="1200" strike="noStrike" u="none">
              <a:solidFill>
                <a:srgbClr val="000000"/>
              </a:solidFill>
              <a:effectLst/>
              <a:uFillTx/>
              <a:latin typeface="Calibri"/>
            </a:endParaRPr>
          </a:p>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74"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9C0E11AD-2D26-4EDB-9800-5B7646B879E6}"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sldImg"/>
          </p:nvPr>
        </p:nvSpPr>
        <p:spPr>
          <a:xfrm>
            <a:off x="1143000" y="685800"/>
            <a:ext cx="4572000" cy="3429000"/>
          </a:xfrm>
          <a:prstGeom prst="rect">
            <a:avLst/>
          </a:prstGeom>
          <a:ln w="0">
            <a:noFill/>
          </a:ln>
        </p:spPr>
      </p:sp>
      <p:sp>
        <p:nvSpPr>
          <p:cNvPr id="76"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EFC is determined by a formula that takes into account information such as the student’s and parents’ income and (often) their assets, how many people are in the family household, and how many of those people are in college. For a full explanation of the EFC formula, go to StudentAid.gov/resources#efc.</a:t>
            </a:r>
            <a:br>
              <a:rPr sz="1200"/>
            </a:br>
            <a:r>
              <a:rPr b="0" lang="en-US" sz="1200" strike="noStrike" u="none">
                <a:solidFill>
                  <a:srgbClr val="000000"/>
                </a:solidFill>
                <a:effectLst/>
                <a:uFillTx/>
                <a:latin typeface="Calibri"/>
              </a:rPr>
              <a:t> </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Cost of attendance is determined by the school and may include: </a:t>
            </a:r>
            <a:endParaRPr b="0" lang="en-IN" sz="1200" strike="noStrike" u="none">
              <a:solidFill>
                <a:srgbClr val="000000"/>
              </a:solidFill>
              <a:effectLst/>
              <a:uFillTx/>
              <a:latin typeface="Calibri"/>
            </a:endParaRPr>
          </a:p>
          <a:p>
            <a:pPr lvl="1" marL="628560" indent="-171360">
              <a:lnSpc>
                <a:spcPct val="100000"/>
              </a:lnSpc>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1200" strike="noStrike" u="none">
                <a:solidFill>
                  <a:srgbClr val="000000"/>
                </a:solidFill>
                <a:effectLst/>
                <a:uFillTx/>
                <a:latin typeface="Arial"/>
              </a:rPr>
              <a:t>Tuition and fees</a:t>
            </a:r>
            <a:endParaRPr b="0" lang="en-IN" sz="1200" strike="noStrike" u="none">
              <a:solidFill>
                <a:srgbClr val="000000"/>
              </a:solidFill>
              <a:effectLst/>
              <a:uFillTx/>
              <a:latin typeface="Calibri"/>
            </a:endParaRPr>
          </a:p>
          <a:p>
            <a:pPr lvl="1" marL="628560" indent="-171360">
              <a:lnSpc>
                <a:spcPct val="100000"/>
              </a:lnSpc>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1200" strike="noStrike" u="none">
                <a:solidFill>
                  <a:srgbClr val="000000"/>
                </a:solidFill>
                <a:effectLst/>
                <a:uFillTx/>
                <a:latin typeface="Arial"/>
              </a:rPr>
              <a:t>Books, supplies, transportation, personal, miscellaneous</a:t>
            </a:r>
            <a:endParaRPr b="0" lang="en-IN" sz="1200" strike="noStrike" u="none">
              <a:solidFill>
                <a:srgbClr val="000000"/>
              </a:solidFill>
              <a:effectLst/>
              <a:uFillTx/>
              <a:latin typeface="Calibri"/>
            </a:endParaRPr>
          </a:p>
          <a:p>
            <a:pPr lvl="1" marL="628560" indent="-171360">
              <a:lnSpc>
                <a:spcPct val="100000"/>
              </a:lnSpc>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1200" strike="noStrike" u="none">
                <a:solidFill>
                  <a:srgbClr val="000000"/>
                </a:solidFill>
                <a:effectLst/>
                <a:uFillTx/>
                <a:latin typeface="Arial"/>
              </a:rPr>
              <a:t>Room and board</a:t>
            </a:r>
            <a:endParaRPr b="0" lang="en-IN" sz="1200" strike="noStrike" u="none">
              <a:solidFill>
                <a:srgbClr val="000000"/>
              </a:solidFill>
              <a:effectLst/>
              <a:uFillTx/>
              <a:latin typeface="Calibri"/>
            </a:endParaRPr>
          </a:p>
          <a:p>
            <a:pPr lvl="1" marL="628560" indent="-171360">
              <a:lnSpc>
                <a:spcPct val="100000"/>
              </a:lnSpc>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1200" strike="noStrike" u="none">
                <a:solidFill>
                  <a:srgbClr val="000000"/>
                </a:solidFill>
                <a:effectLst/>
                <a:uFillTx/>
                <a:latin typeface="Arial"/>
              </a:rPr>
              <a:t>Dependent care</a:t>
            </a:r>
            <a:endParaRPr b="0" lang="en-IN" sz="1200" strike="noStrike" u="none">
              <a:solidFill>
                <a:srgbClr val="000000"/>
              </a:solidFill>
              <a:effectLst/>
              <a:uFillTx/>
              <a:latin typeface="Calibri"/>
            </a:endParaRPr>
          </a:p>
          <a:p>
            <a:pPr lvl="1" marL="628560" indent="-171360">
              <a:lnSpc>
                <a:spcPct val="100000"/>
              </a:lnSpc>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1200" strike="noStrike" u="none">
                <a:solidFill>
                  <a:srgbClr val="000000"/>
                </a:solidFill>
                <a:effectLst/>
                <a:uFillTx/>
                <a:latin typeface="Arial"/>
              </a:rPr>
              <a:t>Study-abroad expenses</a:t>
            </a:r>
            <a:endParaRPr b="0" lang="en-IN" sz="1200" strike="noStrike" u="none">
              <a:solidFill>
                <a:srgbClr val="000000"/>
              </a:solidFill>
              <a:effectLst/>
              <a:uFillTx/>
              <a:latin typeface="Calibri"/>
            </a:endParaRPr>
          </a:p>
          <a:p>
            <a:pPr lvl="1" marL="628560" indent="-171360">
              <a:lnSpc>
                <a:spcPct val="100000"/>
              </a:lnSpc>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1200" strike="noStrike" u="none">
                <a:solidFill>
                  <a:srgbClr val="000000"/>
                </a:solidFill>
                <a:effectLst/>
                <a:uFillTx/>
                <a:latin typeface="Arial"/>
              </a:rPr>
              <a:t>Disability expenses</a:t>
            </a:r>
            <a:endParaRPr b="0" lang="en-IN" sz="1200" strike="noStrike" u="none">
              <a:solidFill>
                <a:srgbClr val="000000"/>
              </a:solidFill>
              <a:effectLst/>
              <a:uFillTx/>
              <a:latin typeface="Calibri"/>
            </a:endParaRPr>
          </a:p>
          <a:p>
            <a:pPr lvl="1" marL="628560" indent="-171360">
              <a:lnSpc>
                <a:spcPct val="100000"/>
              </a:lnSpc>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1200" strike="noStrike" u="none">
                <a:solidFill>
                  <a:srgbClr val="000000"/>
                </a:solidFill>
                <a:effectLst/>
                <a:uFillTx/>
                <a:latin typeface="Arial"/>
              </a:rPr>
              <a:t>Employment expenses for co-op study</a:t>
            </a:r>
            <a:endParaRPr b="0" lang="en-IN" sz="1200" strike="noStrike" u="none">
              <a:solidFill>
                <a:srgbClr val="000000"/>
              </a:solidFill>
              <a:effectLst/>
              <a:uFillTx/>
              <a:latin typeface="Calibri"/>
            </a:endParaRPr>
          </a:p>
          <a:p>
            <a:pPr lvl="1" marL="628560" indent="-171360">
              <a:lnSpc>
                <a:spcPct val="100000"/>
              </a:lnSpc>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1200" strike="noStrike" u="none">
                <a:solidFill>
                  <a:srgbClr val="000000"/>
                </a:solidFill>
                <a:effectLst/>
                <a:uFillTx/>
                <a:latin typeface="Arial"/>
              </a:rPr>
              <a:t>Loan fees</a:t>
            </a:r>
            <a:endParaRPr b="0" lang="en-IN" sz="1200" strike="noStrike" u="none">
              <a:solidFill>
                <a:srgbClr val="000000"/>
              </a:solidFill>
              <a:effectLst/>
              <a:uFillTx/>
              <a:latin typeface="Calibri"/>
            </a:endParaRPr>
          </a:p>
          <a:p>
            <a:pPr marL="171360" indent="0">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For more information about cost of attendance, see the “Calculating Awards and Packaging” volume of the “Federal Student Aid Handbook” at ifap.ed.gov.</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Financial need is determined by subtracting the EFC from the COA. Because COA differs from school to school, a student’s financial need will also differ from school to school.</a:t>
            </a:r>
            <a:endParaRPr b="0" lang="en-IN" sz="1200" strike="noStrike" u="none">
              <a:solidFill>
                <a:srgbClr val="000000"/>
              </a:solidFill>
              <a:effectLst/>
              <a:uFillTx/>
              <a:latin typeface="Calibri"/>
            </a:endParaRPr>
          </a:p>
          <a:p>
            <a:pPr marL="171360" indent="-17136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77"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A4F4087A-3209-4381-BDE0-6F0D86BC59BE}"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sldImg"/>
          </p:nvPr>
        </p:nvSpPr>
        <p:spPr>
          <a:xfrm>
            <a:off x="1143000" y="685800"/>
            <a:ext cx="4572000" cy="3429000"/>
          </a:xfrm>
          <a:prstGeom prst="rect">
            <a:avLst/>
          </a:prstGeom>
          <a:ln w="0">
            <a:noFill/>
          </a:ln>
        </p:spPr>
      </p:sp>
      <p:sp>
        <p:nvSpPr>
          <p:cNvPr id="79"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This slide lists the most commonly known federal student aid programs. Information about the others is available at the URL shown on the slide.</a:t>
            </a:r>
            <a:endParaRPr b="0" lang="en-IN" sz="1200" strike="noStrike" u="none">
              <a:solidFill>
                <a:srgbClr val="000000"/>
              </a:solidFill>
              <a:effectLst/>
              <a:uFillTx/>
              <a:latin typeface="Calibri"/>
            </a:endParaRPr>
          </a:p>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The maximum awards listed on this slide are just that: maximum awards. There is no guarantee that any single student will receive the maximum award from any program. </a:t>
            </a:r>
            <a:endParaRPr b="0" lang="en-IN" sz="1200" strike="noStrike" u="none">
              <a:solidFill>
                <a:srgbClr val="000000"/>
              </a:solidFill>
              <a:effectLst/>
              <a:uFillTx/>
              <a:latin typeface="Calibri"/>
            </a:endParaRPr>
          </a:p>
          <a:p>
            <a:pPr>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Not all schools participate in all of these programs.</a:t>
            </a:r>
            <a:endParaRPr b="0" lang="en-IN" sz="1200" strike="noStrike" u="none">
              <a:solidFill>
                <a:srgbClr val="000000"/>
              </a:solidFill>
              <a:effectLst/>
              <a:uFillTx/>
              <a:latin typeface="Calibri"/>
            </a:endParaRPr>
          </a:p>
          <a:p>
            <a:pPr>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The student must have a significant level of financial need in order to receive maximum grant awards.</a:t>
            </a:r>
            <a:endParaRPr b="0" lang="en-IN" sz="1200" strike="noStrike" u="none">
              <a:solidFill>
                <a:srgbClr val="000000"/>
              </a:solidFill>
              <a:effectLst/>
              <a:uFillTx/>
              <a:latin typeface="Calibri"/>
            </a:endParaRPr>
          </a:p>
          <a:p>
            <a:pPr>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Students should be aware that Federal Work-Study funds may run out, so it is important to apply as early as possible.</a:t>
            </a:r>
            <a:endParaRPr b="0" lang="en-IN" sz="1200" strike="noStrike" u="none">
              <a:solidFill>
                <a:srgbClr val="000000"/>
              </a:solidFill>
              <a:effectLst/>
              <a:uFillTx/>
              <a:latin typeface="Calibri"/>
            </a:endParaRPr>
          </a:p>
          <a:p>
            <a:pPr>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(Note that the Direct PLUS Loan is also available to graduate and professional students, but this example is for an incoming freshman, so we’ve only mentioned that the parent can get a PLUS.)</a:t>
            </a:r>
            <a:endParaRPr b="0" lang="en-IN" sz="1200" strike="noStrike" u="none">
              <a:solidFill>
                <a:srgbClr val="000000"/>
              </a:solidFill>
              <a:effectLst/>
              <a:uFillTx/>
              <a:latin typeface="Calibri"/>
            </a:endParaRPr>
          </a:p>
          <a:p>
            <a:pPr indent="0">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You may wish to hand out the document “Federal Student Aid at a Glance” (available at the URL on the slide) to your attendees to provide them a high-level understanding of federal student aid.</a:t>
            </a:r>
            <a:endParaRPr b="0" lang="en-IN" sz="1200" strike="noStrike" u="none">
              <a:solidFill>
                <a:srgbClr val="000000"/>
              </a:solidFill>
              <a:effectLst/>
              <a:uFillTx/>
              <a:latin typeface="Calibri"/>
            </a:endParaRPr>
          </a:p>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80"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1B7EE326-D004-4C2F-B492-7F2A2EA31B82}"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sldImg"/>
          </p:nvPr>
        </p:nvSpPr>
        <p:spPr>
          <a:xfrm>
            <a:off x="1143000" y="685800"/>
            <a:ext cx="4572000" cy="3429000"/>
          </a:xfrm>
          <a:prstGeom prst="rect">
            <a:avLst/>
          </a:prstGeom>
          <a:ln w="0">
            <a:noFill/>
          </a:ln>
        </p:spPr>
      </p:sp>
      <p:sp>
        <p:nvSpPr>
          <p:cNvPr id="82"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A student of any age can use </a:t>
            </a:r>
            <a:r>
              <a:rPr b="0" i="1" lang="en-US" sz="1200" strike="noStrike" u="none">
                <a:solidFill>
                  <a:srgbClr val="000000"/>
                </a:solidFill>
                <a:effectLst/>
                <a:uFillTx/>
                <a:latin typeface="Calibri"/>
              </a:rPr>
              <a:t>FAFSA4caster</a:t>
            </a:r>
            <a:r>
              <a:rPr b="0" lang="en-US" sz="1200" strike="noStrike" u="none">
                <a:solidFill>
                  <a:srgbClr val="000000"/>
                </a:solidFill>
                <a:effectLst/>
                <a:uFillTx/>
                <a:latin typeface="Calibri"/>
              </a:rPr>
              <a:t>. </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Purpose of the tool is to provide early estimate of aid eligibility so the family can plan ahead.</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i="1" lang="en-US" sz="1200" strike="noStrike" u="none">
                <a:solidFill>
                  <a:srgbClr val="000000"/>
                </a:solidFill>
                <a:effectLst/>
                <a:uFillTx/>
                <a:latin typeface="Calibri"/>
              </a:rPr>
              <a:t>FAFSA4caster</a:t>
            </a:r>
            <a:r>
              <a:rPr b="0" lang="en-US" sz="1200" strike="noStrike" u="none">
                <a:solidFill>
                  <a:srgbClr val="000000"/>
                </a:solidFill>
                <a:effectLst/>
                <a:uFillTx/>
                <a:latin typeface="Calibri"/>
              </a:rPr>
              <a:t> asks for information such as earnings and taxes and then provides estimate of how much the student might get from the federal student aid programs.</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Students and parents should remember that</a:t>
            </a:r>
            <a:endParaRPr b="0" lang="en-IN" sz="1200" strike="noStrike" u="none">
              <a:solidFill>
                <a:srgbClr val="000000"/>
              </a:solidFill>
              <a:effectLst/>
              <a:uFillTx/>
              <a:latin typeface="Calibri"/>
            </a:endParaRPr>
          </a:p>
          <a:p>
            <a:pPr lvl="1" marL="628560" indent="-171360">
              <a:buClr>
                <a:srgbClr val="000000"/>
              </a:buClr>
              <a:buFont typeface="Calibri"/>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i="1" lang="en-US" sz="1200" strike="noStrike" u="none">
                <a:solidFill>
                  <a:srgbClr val="000000"/>
                </a:solidFill>
                <a:effectLst/>
                <a:uFillTx/>
                <a:latin typeface="Calibri"/>
              </a:rPr>
              <a:t>FAFSA4caster</a:t>
            </a:r>
            <a:r>
              <a:rPr b="0" lang="en-US" sz="1200" strike="noStrike" u="none">
                <a:solidFill>
                  <a:srgbClr val="000000"/>
                </a:solidFill>
                <a:effectLst/>
                <a:uFillTx/>
                <a:latin typeface="Calibri"/>
              </a:rPr>
              <a:t> is not the official federal aid application</a:t>
            </a:r>
            <a:endParaRPr b="0" lang="en-IN" sz="1200" strike="noStrike" u="none">
              <a:solidFill>
                <a:srgbClr val="000000"/>
              </a:solidFill>
              <a:effectLst/>
              <a:uFillTx/>
              <a:latin typeface="Calibri"/>
            </a:endParaRPr>
          </a:p>
          <a:p>
            <a:pPr lvl="1" marL="628560" indent="-171360">
              <a:buClr>
                <a:srgbClr val="000000"/>
              </a:buClr>
              <a:buFont typeface="Calibri"/>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i="1" lang="en-US" sz="1200" strike="noStrike" u="none">
                <a:solidFill>
                  <a:srgbClr val="000000"/>
                </a:solidFill>
                <a:effectLst/>
                <a:uFillTx/>
                <a:latin typeface="Calibri"/>
              </a:rPr>
              <a:t>FAFSA4caster</a:t>
            </a:r>
            <a:r>
              <a:rPr b="0" lang="en-US" sz="1200" strike="noStrike" u="none">
                <a:solidFill>
                  <a:srgbClr val="000000"/>
                </a:solidFill>
                <a:effectLst/>
                <a:uFillTx/>
                <a:latin typeface="Calibri"/>
              </a:rPr>
              <a:t> provides information only about federal aid; students also should apply for state and institutional aid as well as private scholarships</a:t>
            </a:r>
            <a:endParaRPr b="0" lang="en-IN" sz="1200" strike="noStrike" u="none">
              <a:solidFill>
                <a:srgbClr val="000000"/>
              </a:solidFill>
              <a:effectLst/>
              <a:uFillTx/>
              <a:latin typeface="Calibri"/>
            </a:endParaRPr>
          </a:p>
          <a:p>
            <a:pPr marL="171360" indent="-17136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83"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02368F7D-0A9F-4DB3-B913-8E93E3EF6FB1}"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1143000" y="685800"/>
            <a:ext cx="4572000" cy="3429000"/>
          </a:xfrm>
          <a:prstGeom prst="rect">
            <a:avLst/>
          </a:prstGeom>
          <a:ln w="0">
            <a:noFill/>
          </a:ln>
        </p:spPr>
      </p:sp>
      <p:sp>
        <p:nvSpPr>
          <p:cNvPr id="85"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[Fill in URL where students can get information for your state financial aid]</a:t>
            </a:r>
            <a:endParaRPr b="0" lang="en-IN" sz="1200" strike="noStrike" u="none">
              <a:solidFill>
                <a:srgbClr val="000000"/>
              </a:solidFill>
              <a:effectLst/>
              <a:uFillTx/>
              <a:latin typeface="Calibri"/>
            </a:endParaRPr>
          </a:p>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It’s important to research early so you don’t miss out on any aid.</a:t>
            </a:r>
            <a:endParaRPr b="0" lang="en-IN" sz="1200" strike="noStrike" u="none">
              <a:solidFill>
                <a:srgbClr val="000000"/>
              </a:solidFill>
              <a:effectLst/>
              <a:uFillTx/>
              <a:latin typeface="Calibri"/>
            </a:endParaRPr>
          </a:p>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86"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08C1F34D-116A-4BB7-B9FD-A70612E5785E}"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1143000" y="685800"/>
            <a:ext cx="4572000" cy="3429000"/>
          </a:xfrm>
          <a:prstGeom prst="rect">
            <a:avLst/>
          </a:prstGeom>
          <a:ln w="0">
            <a:noFill/>
          </a:ln>
        </p:spPr>
      </p:sp>
      <p:sp>
        <p:nvSpPr>
          <p:cNvPr id="88"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Re the FAFSA, stress that it is a free application. If a student finds him or herself at a website that asks for payment, the student is not at the official U.S. Department of Education FAFSA site. There is no fee to file the FAFSA.</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[Note to counselor: If you are working with students who don’t have access to the internet and therefore need to fill out the FAFSA on paper, you can download a PDF of the FAFSA at fafsa.gov (click on “FAFSA Filing Options”) and print as many copies as you need. Alternatively, a student may call 1-800-4-FED-AID (1-800-433-3243) to request a print-out of the PDF FAFSA.]</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If there are specific state, school, or scholarship programs that most or all of your students apply for, you might insert their URLs here, or state where to get applications.</a:t>
            </a:r>
            <a:endParaRPr b="0" lang="en-IN" sz="1200" strike="noStrike" u="none">
              <a:solidFill>
                <a:srgbClr val="000000"/>
              </a:solidFill>
              <a:effectLst/>
              <a:uFillTx/>
              <a:latin typeface="Calibri"/>
            </a:endParaRPr>
          </a:p>
        </p:txBody>
      </p:sp>
      <p:sp>
        <p:nvSpPr>
          <p:cNvPr id="89"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273CCB50-F988-4980-9EB3-9FFF61DD1010}"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1143000" y="685800"/>
            <a:ext cx="4572000" cy="3429000"/>
          </a:xfrm>
          <a:prstGeom prst="rect">
            <a:avLst/>
          </a:prstGeom>
          <a:ln w="0">
            <a:noFill/>
          </a:ln>
        </p:spPr>
      </p:sp>
      <p:sp>
        <p:nvSpPr>
          <p:cNvPr id="91"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Students and parents can create FSA IDs at any time. The student does not have to be ready to fill out a FAFSA.</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One benefit of creating an FSA ID is that you will be able to use it to sign the FAFSA electronically, thus speeding up the process greatly.</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Important to note here that student and parent need separate FSA IDs – one each. [Only one parent needs an FSA ID, even if both parents’ info will be provided on the FAFSA.]</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(To find out whether a parent’s information will be needed on the FAFSA, a student can visit StudentAid.gov/dependency.)</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It’s strongly encouraged that you provide an email address when you create your FSA ID; this will help if you forget your username or password and need to reset it. It’s important to understand that your email address can be used for only one FSA ID. So if a parent and child share an email address, they’ll need to create a second one so that they’ll each have a unique email address to use when creating an FSA ID.</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An FSA ID is a signature as well as providing access to private information. To protect themselves from identity theft and other types of fraud, students and parents should not tell anyone their FSA IDs.</a:t>
            </a:r>
            <a:endParaRPr b="0" lang="en-IN" sz="1200" strike="noStrike" u="none">
              <a:solidFill>
                <a:srgbClr val="000000"/>
              </a:solidFill>
              <a:effectLst/>
              <a:uFillTx/>
              <a:latin typeface="Calibri"/>
            </a:endParaRPr>
          </a:p>
        </p:txBody>
      </p:sp>
      <p:sp>
        <p:nvSpPr>
          <p:cNvPr id="92"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916C2A9E-0440-4BF4-931A-8C503FBED36B}"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sldImg"/>
          </p:nvPr>
        </p:nvSpPr>
        <p:spPr>
          <a:xfrm>
            <a:off x="1143000" y="685800"/>
            <a:ext cx="4572000" cy="3429000"/>
          </a:xfrm>
          <a:prstGeom prst="rect">
            <a:avLst/>
          </a:prstGeom>
          <a:ln w="0">
            <a:noFill/>
          </a:ln>
        </p:spPr>
      </p:sp>
      <p:sp>
        <p:nvSpPr>
          <p:cNvPr id="94"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The FAFSA Process infographic provides a visual overview of the process of filling out and submitting a FAFSA, and what happens afterwards.</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The </a:t>
            </a:r>
            <a:r>
              <a:rPr b="0" i="1" lang="en-US" sz="1200" strike="noStrike" u="none">
                <a:solidFill>
                  <a:srgbClr val="000000"/>
                </a:solidFill>
                <a:effectLst/>
                <a:uFillTx/>
                <a:latin typeface="Calibri"/>
              </a:rPr>
              <a:t>FAFSA on the Web Worksheet</a:t>
            </a:r>
            <a:r>
              <a:rPr b="0" lang="en-US" sz="1200" strike="noStrike" u="none">
                <a:solidFill>
                  <a:srgbClr val="000000"/>
                </a:solidFill>
                <a:effectLst/>
                <a:uFillTx/>
                <a:latin typeface="Calibri"/>
              </a:rPr>
              <a:t> provides an idea of the types of questions on the FAFSA. However, not every question on fafsa.gov appears on the worksheet.</a:t>
            </a:r>
            <a:endParaRPr b="0" lang="en-IN" sz="1200" strike="noStrike" u="none">
              <a:solidFill>
                <a:srgbClr val="000000"/>
              </a:solidFill>
              <a:effectLst/>
              <a:uFillTx/>
              <a:latin typeface="Calibri"/>
            </a:endParaRPr>
          </a:p>
          <a:p>
            <a:pPr marL="171360" indent="-17136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95"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5F5BB16C-AABE-4F03-9F6D-9BAD30DD7DC8}"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1143000" y="685800"/>
            <a:ext cx="4572000" cy="3429000"/>
          </a:xfrm>
          <a:prstGeom prst="rect">
            <a:avLst/>
          </a:prstGeom>
          <a:ln w="0">
            <a:noFill/>
          </a:ln>
        </p:spPr>
      </p:sp>
      <p:sp>
        <p:nvSpPr>
          <p:cNvPr id="97"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The FAFSA is available online (in English or Spanish) October 1 of each year for the next school year. A high school student will (ideally) fill out the FAFSA in October of his/her senior year, assuming he/she plans to go on to college in the fall following graduation.</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Many state education agencies and schools also use information from the FAFSA in order to determine eligibility for their programs. Their deadlines can be quite early, so the student should check the FAFSA site for the state deadline as well as finding out each school’s deadline.</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fafsa.gov provides help screens and live chat with a customer service representative (during business hours). Additionally, the 1-800-4-FED-AID hotline can guide the student through the FAFSA. Operators speak English and Spanish.</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Students need to understand that they have not finished with the FAFSA until they have submitted it and have a confirmation page on the screen.</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Printed-out PDF FAFSAs can take as much as 2.5 weeks longer to process than the online FAFSA.</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[Note to counselors: For information for you, the counselor, about automatically retrieving tax data from the IRS for inclusion in the FAFSA, see Part 2 of the Counselors and Mentors Handbook at FinancialAidToolkit.ed.gov/handbook. Students should go to the StudentAid.gov/irsdrt URL mentioned on this slide.]</a:t>
            </a:r>
            <a:endParaRPr b="0" lang="en-IN" sz="1200" strike="noStrike" u="none">
              <a:solidFill>
                <a:srgbClr val="000000"/>
              </a:solidFill>
              <a:effectLst/>
              <a:uFillTx/>
              <a:latin typeface="Calibri"/>
            </a:endParaRPr>
          </a:p>
          <a:p>
            <a:pPr marL="171360" indent="0">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a:p>
            <a:pPr marL="171360" indent="0">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98"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0FC66423-A305-4BD4-A434-4558C8B0749F}"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Img"/>
          </p:nvPr>
        </p:nvSpPr>
        <p:spPr>
          <a:xfrm>
            <a:off x="1143000" y="685800"/>
            <a:ext cx="4572000" cy="3429000"/>
          </a:xfrm>
          <a:prstGeom prst="rect">
            <a:avLst/>
          </a:prstGeom>
          <a:ln w="0">
            <a:noFill/>
          </a:ln>
        </p:spPr>
      </p:sp>
      <p:sp>
        <p:nvSpPr>
          <p:cNvPr id="100"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The online or paper </a:t>
            </a:r>
            <a:r>
              <a:rPr b="0" i="1" lang="en-US" sz="1200" strike="noStrike" u="none">
                <a:solidFill>
                  <a:srgbClr val="000000"/>
                </a:solidFill>
                <a:effectLst/>
                <a:uFillTx/>
                <a:latin typeface="Calibri"/>
              </a:rPr>
              <a:t>Student Aid Report</a:t>
            </a:r>
            <a:r>
              <a:rPr b="0" lang="en-US" sz="1200" strike="noStrike" u="none">
                <a:solidFill>
                  <a:srgbClr val="000000"/>
                </a:solidFill>
                <a:effectLst/>
                <a:uFillTx/>
                <a:latin typeface="Calibri"/>
              </a:rPr>
              <a:t> (SAR) will list the student’s EFC and will show the information the student reported on the FAFSA. The student can review the FAFSA information online by logging in at fafsa.gov.</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Corrections can be made online at fafsa.gov or on the paper SAR. Online corrections can be processed immediately in some cases. The student will then receive a new SAR, and the school will receive updated information.</a:t>
            </a:r>
            <a:endParaRPr b="0" lang="en-IN" sz="1200" strike="noStrike" u="none">
              <a:solidFill>
                <a:srgbClr val="000000"/>
              </a:solidFill>
              <a:effectLst/>
              <a:uFillTx/>
              <a:latin typeface="Calibri"/>
            </a:endParaRPr>
          </a:p>
        </p:txBody>
      </p:sp>
      <p:sp>
        <p:nvSpPr>
          <p:cNvPr id="101"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25D70071-70EB-437E-9C08-47D09C15D25B}"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sldImg"/>
          </p:nvPr>
        </p:nvSpPr>
        <p:spPr>
          <a:xfrm>
            <a:off x="1143000" y="685800"/>
            <a:ext cx="4572000" cy="3429000"/>
          </a:xfrm>
          <a:prstGeom prst="rect">
            <a:avLst/>
          </a:prstGeom>
          <a:ln w="0">
            <a:noFill/>
          </a:ln>
        </p:spPr>
      </p:sp>
      <p:sp>
        <p:nvSpPr>
          <p:cNvPr id="103"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Any schools that are listed on the student’s FAFSA and that have accepted the student’s application for admission will contact the student to offer an aid “package” (a list of aid the student is eligible for at that school). </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A school might ask for additional paperwork, either to verify information on the FAFSA, or to submit an application for financial aid from the school’s funds.</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If you fill out the FAFSA in October, before applying for admission to a college, it might be a while before you hear back from the school with a financial aid offer. The school isn’t going to look at your FAFSA information until after you’ve applied to the school and they’re ready to accept you. But don’t wait to fill out the FAFSA until after you’ve applied to schools—you’ll miss deadlines for certain types of financial aid. It is OKAY to submit the FAFSA before you apply for admission.</a:t>
            </a:r>
            <a:endParaRPr b="0" lang="en-IN" sz="1200" strike="noStrike" u="none">
              <a:solidFill>
                <a:srgbClr val="000000"/>
              </a:solidFill>
              <a:effectLst/>
              <a:uFillTx/>
              <a:latin typeface="Calibri"/>
            </a:endParaRPr>
          </a:p>
        </p:txBody>
      </p:sp>
      <p:sp>
        <p:nvSpPr>
          <p:cNvPr id="104"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E1088E07-C8C3-470A-BAB8-36E3389D00D7}"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sldImg"/>
          </p:nvPr>
        </p:nvSpPr>
        <p:spPr>
          <a:xfrm>
            <a:off x="1143000" y="685800"/>
            <a:ext cx="4572000" cy="3429000"/>
          </a:xfrm>
          <a:prstGeom prst="rect">
            <a:avLst/>
          </a:prstGeom>
          <a:ln w="0">
            <a:noFill/>
          </a:ln>
        </p:spPr>
      </p:sp>
      <p:sp>
        <p:nvSpPr>
          <p:cNvPr id="106"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You might wish to point out to students that affordability is not the most important factor in choosing a school. Ideally, a student should find the school that will best suit his or her educational and training needs, as well as fitting his or her personality. If two or more schools are “tied,” then cost can be a determining factor.</a:t>
            </a:r>
            <a:endParaRPr b="0" lang="en-IN" sz="1200" strike="noStrike" u="none">
              <a:solidFill>
                <a:srgbClr val="000000"/>
              </a:solidFill>
              <a:effectLst/>
              <a:uFillTx/>
              <a:latin typeface="Calibri"/>
            </a:endParaRPr>
          </a:p>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Obviously this is a best-case scenario. We understand that many students simply have no choice but to attend the most affordable school. However, we try to remind students that many relatively expensive schools have enough funds available to help out students with great financial need. Therefore, a school with a tuition of $30,000 might end up being more affordable (due to the amount of financial aid it provides the student) than a school of $12,000. In other words, students should go ahead and apply to any schools that they truly believe are a good match for them—then figure out the financial aspects later.</a:t>
            </a:r>
            <a:endParaRPr b="0" lang="en-IN" sz="1200" strike="noStrike" u="none">
              <a:solidFill>
                <a:srgbClr val="000000"/>
              </a:solidFill>
              <a:effectLst/>
              <a:uFillTx/>
              <a:latin typeface="Calibri"/>
            </a:endParaRPr>
          </a:p>
        </p:txBody>
      </p:sp>
      <p:sp>
        <p:nvSpPr>
          <p:cNvPr id="107"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ABA4227D-C88B-4E43-90A2-566868C5A66D}"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Img"/>
          </p:nvPr>
        </p:nvSpPr>
        <p:spPr>
          <a:xfrm>
            <a:off x="1143000" y="685800"/>
            <a:ext cx="4572000" cy="3429000"/>
          </a:xfrm>
          <a:prstGeom prst="rect">
            <a:avLst/>
          </a:prstGeom>
          <a:ln w="0">
            <a:noFill/>
          </a:ln>
        </p:spPr>
      </p:sp>
      <p:sp>
        <p:nvSpPr>
          <p:cNvPr id="10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110"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5489AE92-FFB4-4111-8438-EE47DDD4CCB8}"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sldImg"/>
          </p:nvPr>
        </p:nvSpPr>
        <p:spPr>
          <a:xfrm>
            <a:off x="1143000" y="685800"/>
            <a:ext cx="4572000" cy="3429000"/>
          </a:xfrm>
          <a:prstGeom prst="rect">
            <a:avLst/>
          </a:prstGeom>
          <a:ln w="0">
            <a:noFill/>
          </a:ln>
        </p:spPr>
      </p:sp>
      <p:sp>
        <p:nvSpPr>
          <p:cNvPr id="112"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[Note to counselors: You may wish to hand out the one-page fact sheet titled “Federal Student Aid: Find the Information You Need.” The fact sheet lists frequently-asked-about federal student aid topics and easy URLs to find the answers. If you want to have students download the fact sheet themselves, give them this URL: StudentAid.gov/resources#find-aid-info.]</a:t>
            </a:r>
            <a:endParaRPr b="0" lang="en-IN" sz="1200" strike="noStrike" u="none">
              <a:solidFill>
                <a:srgbClr val="000000"/>
              </a:solidFill>
              <a:effectLst/>
              <a:uFillTx/>
              <a:latin typeface="Calibri"/>
            </a:endParaRPr>
          </a:p>
          <a:p>
            <a:pPr marL="171360" indent="-171360">
              <a:buClr>
                <a:srgbClr val="000000"/>
              </a:buClr>
              <a:buFont typeface="Calibri"/>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[Note to counselors: Remember to check out FinancialAidToolkit.ed.gov/resources to browse and download documents, videos, sample tweets, infographics, and more that you can use to raise students’ awareness and understanding of federal student aid. Please remember that the Financial Aid Toolkit is for you, the counselor; send your students to StudentAid.gov for information relevant to them, and to StudentAid.gov/resources to browse the handouts, videos, etc.]</a:t>
            </a:r>
            <a:endParaRPr b="0" lang="en-IN" sz="1200" strike="noStrike" u="none">
              <a:solidFill>
                <a:srgbClr val="000000"/>
              </a:solidFill>
              <a:effectLst/>
              <a:uFillTx/>
              <a:latin typeface="Calibri"/>
            </a:endParaRPr>
          </a:p>
        </p:txBody>
      </p:sp>
      <p:sp>
        <p:nvSpPr>
          <p:cNvPr id="113"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6AD90905-D74F-4C27-B5C9-6F8EB370CEE3}"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sldImg"/>
          </p:nvPr>
        </p:nvSpPr>
        <p:spPr>
          <a:xfrm>
            <a:off x="1143000" y="685800"/>
            <a:ext cx="4572000" cy="3429000"/>
          </a:xfrm>
          <a:prstGeom prst="rect">
            <a:avLst/>
          </a:prstGeom>
          <a:ln w="0">
            <a:noFill/>
          </a:ln>
        </p:spPr>
      </p:sp>
      <p:sp>
        <p:nvSpPr>
          <p:cNvPr id="11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116"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D26481C7-88C4-4BEA-B693-20153A6EC518}"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ffffff"/>
        </a:solidFill>
      </p:bgPr>
    </p:bg>
    <p:spTree>
      <p:nvGrpSpPr>
        <p:cNvPr id="1" name=""/>
        <p:cNvGrpSpPr/>
        <p:nvPr/>
      </p:nvGrpSpPr>
      <p:grpSpPr>
        <a:xfrm>
          <a:off x="0" y="0"/>
          <a:ext cx="0" cy="0"/>
          <a:chOff x="0" y="0"/>
          <a:chExt cx="0" cy="0"/>
        </a:xfrm>
      </p:grpSpPr>
      <p:sp>
        <p:nvSpPr>
          <p:cNvPr id="0" name="Rectangle 1"/>
          <p:cNvSpPr/>
          <p:nvPr/>
        </p:nvSpPr>
        <p:spPr>
          <a:xfrm>
            <a:off x="8763120" y="2209680"/>
            <a:ext cx="380880" cy="4648320"/>
          </a:xfrm>
          <a:prstGeom prst="rect">
            <a:avLst/>
          </a:prstGeom>
          <a:solidFill>
            <a:srgbClr val="95c94e"/>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800" strike="noStrike" u="none">
              <a:solidFill>
                <a:srgbClr val="000000"/>
              </a:solidFill>
              <a:effectLst/>
              <a:uFillTx/>
              <a:latin typeface="Arial"/>
            </a:endParaRPr>
          </a:p>
        </p:txBody>
      </p:sp>
      <p:sp>
        <p:nvSpPr>
          <p:cNvPr id="1" name="Rectangle 1"/>
          <p:cNvSpPr/>
          <p:nvPr/>
        </p:nvSpPr>
        <p:spPr>
          <a:xfrm>
            <a:off x="0" y="0"/>
            <a:ext cx="380880" cy="4660920"/>
          </a:xfrm>
          <a:prstGeom prst="rect">
            <a:avLst/>
          </a:prstGeom>
          <a:solidFill>
            <a:srgbClr val="95c94e"/>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800" strike="noStrike" u="none">
              <a:solidFill>
                <a:srgbClr val="000000"/>
              </a:solidFill>
              <a:effectLst/>
              <a:uFillTx/>
              <a:latin typeface="Arial"/>
            </a:endParaRPr>
          </a:p>
        </p:txBody>
      </p:sp>
      <p:sp>
        <p:nvSpPr>
          <p:cNvPr id="2" name="Rectangle 1"/>
          <p:cNvSpPr/>
          <p:nvPr/>
        </p:nvSpPr>
        <p:spPr>
          <a:xfrm>
            <a:off x="0" y="5803920"/>
            <a:ext cx="380880" cy="1066680"/>
          </a:xfrm>
          <a:prstGeom prst="rect">
            <a:avLst/>
          </a:prstGeom>
          <a:solidFill>
            <a:srgbClr val="1d81aa"/>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800" strike="noStrike" u="none">
              <a:solidFill>
                <a:srgbClr val="000000"/>
              </a:solidFill>
              <a:effectLst/>
              <a:uFillTx/>
              <a:latin typeface="Arial"/>
            </a:endParaRPr>
          </a:p>
        </p:txBody>
      </p:sp>
      <p:sp>
        <p:nvSpPr>
          <p:cNvPr id="3" name="Rectangle 1"/>
          <p:cNvSpPr/>
          <p:nvPr/>
        </p:nvSpPr>
        <p:spPr>
          <a:xfrm>
            <a:off x="0" y="4660920"/>
            <a:ext cx="380880" cy="1143000"/>
          </a:xfrm>
          <a:prstGeom prst="rect">
            <a:avLst/>
          </a:prstGeom>
          <a:solidFill>
            <a:srgbClr val="595959"/>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800" strike="noStrike" u="none">
                <a:solidFill>
                  <a:srgbClr val="000000"/>
                </a:solidFill>
                <a:effectLst/>
                <a:uFillTx/>
                <a:latin typeface="Arial"/>
              </a:rPr>
              <a:t>             </a:t>
            </a:r>
            <a:endParaRPr b="0" lang="en-IN" sz="1800" strike="noStrike" u="none">
              <a:solidFill>
                <a:srgbClr val="000000"/>
              </a:solidFill>
              <a:effectLst/>
              <a:uFillTx/>
              <a:latin typeface="Arial"/>
            </a:endParaRPr>
          </a:p>
        </p:txBody>
      </p:sp>
      <p:sp>
        <p:nvSpPr>
          <p:cNvPr id="4" name="Rectangle 1"/>
          <p:cNvSpPr/>
          <p:nvPr/>
        </p:nvSpPr>
        <p:spPr>
          <a:xfrm>
            <a:off x="8763120" y="0"/>
            <a:ext cx="393480" cy="1066680"/>
          </a:xfrm>
          <a:prstGeom prst="rect">
            <a:avLst/>
          </a:prstGeom>
          <a:solidFill>
            <a:srgbClr val="1d81aa"/>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800" strike="noStrike" u="none">
              <a:solidFill>
                <a:srgbClr val="000000"/>
              </a:solidFill>
              <a:effectLst/>
              <a:uFillTx/>
              <a:latin typeface="Arial"/>
            </a:endParaRPr>
          </a:p>
        </p:txBody>
      </p:sp>
      <p:sp>
        <p:nvSpPr>
          <p:cNvPr id="5" name="Rectangle 1"/>
          <p:cNvSpPr/>
          <p:nvPr/>
        </p:nvSpPr>
        <p:spPr>
          <a:xfrm>
            <a:off x="8763120" y="1066680"/>
            <a:ext cx="393480" cy="1143000"/>
          </a:xfrm>
          <a:prstGeom prst="rect">
            <a:avLst/>
          </a:prstGeom>
          <a:solidFill>
            <a:srgbClr val="595959"/>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800" strike="noStrike" u="none">
                <a:solidFill>
                  <a:srgbClr val="000000"/>
                </a:solidFill>
                <a:effectLst/>
                <a:uFillTx/>
                <a:latin typeface="Arial"/>
              </a:rPr>
              <a:t>             </a:t>
            </a:r>
            <a:endParaRPr b="0" lang="en-IN"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2">
    <p:bg>
      <p:bgPr>
        <a:solidFill>
          <a:srgbClr val="ffffff"/>
        </a:solidFill>
      </p:bgPr>
    </p:bg>
    <p:spTree>
      <p:nvGrpSpPr>
        <p:cNvPr id="1" name=""/>
        <p:cNvGrpSpPr/>
        <p:nvPr/>
      </p:nvGrpSpPr>
      <p:grpSpPr>
        <a:xfrm>
          <a:off x="0" y="0"/>
          <a:ext cx="0" cy="0"/>
          <a:chOff x="0" y="0"/>
          <a:chExt cx="0" cy="0"/>
        </a:xfrm>
      </p:grpSpPr>
      <p:sp>
        <p:nvSpPr>
          <p:cNvPr id="6" name="Straight Connector 2"/>
          <p:cNvSpPr/>
          <p:nvPr/>
        </p:nvSpPr>
        <p:spPr>
          <a:xfrm>
            <a:off x="460440" y="1062000"/>
            <a:ext cx="8150040" cy="0"/>
          </a:xfrm>
          <a:prstGeom prst="line">
            <a:avLst/>
          </a:prstGeom>
          <a:ln w="50760">
            <a:solidFill>
              <a:srgbClr val="595959"/>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 name="Rectangle 1"/>
          <p:cNvSpPr/>
          <p:nvPr/>
        </p:nvSpPr>
        <p:spPr>
          <a:xfrm>
            <a:off x="8763120" y="2209680"/>
            <a:ext cx="380880" cy="4648320"/>
          </a:xfrm>
          <a:prstGeom prst="rect">
            <a:avLst/>
          </a:prstGeom>
          <a:solidFill>
            <a:srgbClr val="95c94e"/>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800" strike="noStrike" u="none">
              <a:solidFill>
                <a:srgbClr val="000000"/>
              </a:solidFill>
              <a:effectLst/>
              <a:uFillTx/>
              <a:latin typeface="Arial"/>
            </a:endParaRPr>
          </a:p>
        </p:txBody>
      </p:sp>
      <p:sp>
        <p:nvSpPr>
          <p:cNvPr id="8" name="Rectangle 1"/>
          <p:cNvSpPr/>
          <p:nvPr/>
        </p:nvSpPr>
        <p:spPr>
          <a:xfrm>
            <a:off x="8763120" y="0"/>
            <a:ext cx="393480" cy="1066680"/>
          </a:xfrm>
          <a:prstGeom prst="rect">
            <a:avLst/>
          </a:prstGeom>
          <a:solidFill>
            <a:srgbClr val="1d81aa"/>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800" strike="noStrike" u="none">
              <a:solidFill>
                <a:srgbClr val="000000"/>
              </a:solidFill>
              <a:effectLst/>
              <a:uFillTx/>
              <a:latin typeface="Arial"/>
            </a:endParaRPr>
          </a:p>
        </p:txBody>
      </p:sp>
      <p:sp>
        <p:nvSpPr>
          <p:cNvPr id="9" name="Rectangle 1"/>
          <p:cNvSpPr/>
          <p:nvPr/>
        </p:nvSpPr>
        <p:spPr>
          <a:xfrm>
            <a:off x="8763120" y="1066680"/>
            <a:ext cx="393480" cy="1143000"/>
          </a:xfrm>
          <a:prstGeom prst="rect">
            <a:avLst/>
          </a:prstGeom>
          <a:solidFill>
            <a:srgbClr val="595959"/>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800" strike="noStrike" u="none">
                <a:solidFill>
                  <a:srgbClr val="000000"/>
                </a:solidFill>
                <a:effectLst/>
                <a:uFillTx/>
                <a:latin typeface="Arial"/>
              </a:rPr>
              <a:t>             </a:t>
            </a:r>
            <a:endParaRPr b="0" lang="en-IN" sz="1800" strike="noStrike" u="none">
              <a:solidFill>
                <a:srgbClr val="000000"/>
              </a:solidFill>
              <a:effectLst/>
              <a:uFillTx/>
              <a:latin typeface="Arial"/>
            </a:endParaRPr>
          </a:p>
        </p:txBody>
      </p:sp>
      <p:sp>
        <p:nvSpPr>
          <p:cNvPr id="10" name="Rectangle 1"/>
          <p:cNvSpPr/>
          <p:nvPr/>
        </p:nvSpPr>
        <p:spPr>
          <a:xfrm>
            <a:off x="0" y="0"/>
            <a:ext cx="380880" cy="4660920"/>
          </a:xfrm>
          <a:prstGeom prst="rect">
            <a:avLst/>
          </a:prstGeom>
          <a:solidFill>
            <a:srgbClr val="95c94e"/>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800" strike="noStrike" u="none">
              <a:solidFill>
                <a:srgbClr val="000000"/>
              </a:solidFill>
              <a:effectLst/>
              <a:uFillTx/>
              <a:latin typeface="Arial"/>
            </a:endParaRPr>
          </a:p>
        </p:txBody>
      </p:sp>
      <p:sp>
        <p:nvSpPr>
          <p:cNvPr id="11" name="Rectangle 1"/>
          <p:cNvSpPr/>
          <p:nvPr/>
        </p:nvSpPr>
        <p:spPr>
          <a:xfrm>
            <a:off x="0" y="5803920"/>
            <a:ext cx="380880" cy="1066680"/>
          </a:xfrm>
          <a:prstGeom prst="rect">
            <a:avLst/>
          </a:prstGeom>
          <a:solidFill>
            <a:srgbClr val="1d81aa"/>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800" strike="noStrike" u="none">
              <a:solidFill>
                <a:srgbClr val="000000"/>
              </a:solidFill>
              <a:effectLst/>
              <a:uFillTx/>
              <a:latin typeface="Arial"/>
            </a:endParaRPr>
          </a:p>
        </p:txBody>
      </p:sp>
      <p:sp>
        <p:nvSpPr>
          <p:cNvPr id="12" name="Rectangle 1"/>
          <p:cNvSpPr/>
          <p:nvPr/>
        </p:nvSpPr>
        <p:spPr>
          <a:xfrm>
            <a:off x="0" y="4660920"/>
            <a:ext cx="380880" cy="1143000"/>
          </a:xfrm>
          <a:prstGeom prst="rect">
            <a:avLst/>
          </a:prstGeom>
          <a:solidFill>
            <a:srgbClr val="595959"/>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800" strike="noStrike" u="none">
                <a:solidFill>
                  <a:srgbClr val="000000"/>
                </a:solidFill>
                <a:effectLst/>
                <a:uFillTx/>
                <a:latin typeface="Arial"/>
              </a:rPr>
              <a:t>             </a:t>
            </a:r>
            <a:endParaRPr b="0" lang="en-IN" sz="18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380880" y="2138400"/>
            <a:ext cx="8229600" cy="73800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800" strike="noStrike" u="none">
                <a:solidFill>
                  <a:srgbClr val="155f86"/>
                </a:solidFill>
                <a:effectLst/>
                <a:uFillTx/>
                <a:latin typeface="Arial"/>
                <a:ea typeface="Arial"/>
              </a:rPr>
              <a:t>Finding Money for College</a:t>
            </a:r>
            <a:endParaRPr b="0" lang="en-IN" sz="4800" strike="noStrike" u="none">
              <a:solidFill>
                <a:srgbClr val="000000"/>
              </a:solidFill>
              <a:effectLst/>
              <a:uFillTx/>
              <a:latin typeface="Arial"/>
            </a:endParaRPr>
          </a:p>
        </p:txBody>
      </p:sp>
      <p:sp>
        <p:nvSpPr>
          <p:cNvPr id="21" name="PlaceHolder 2"/>
          <p:cNvSpPr>
            <a:spLocks noGrp="1"/>
          </p:cNvSpPr>
          <p:nvPr>
            <p:ph type="subTitle"/>
          </p:nvPr>
        </p:nvSpPr>
        <p:spPr>
          <a:xfrm>
            <a:off x="409320" y="2800440"/>
            <a:ext cx="8426520" cy="704880"/>
          </a:xfrm>
          <a:prstGeom prst="rect">
            <a:avLst/>
          </a:prstGeom>
          <a:noFill/>
          <a:ln w="0">
            <a:noFill/>
          </a:ln>
        </p:spPr>
        <p:txBody>
          <a:bodyPr lIns="90000" rIns="90000" tIns="46800" bIns="46800" anchor="t">
            <a:noAutofit/>
          </a:bodyPr>
          <a:p>
            <a:pPr indent="0">
              <a:spcBef>
                <a:spcPts val="60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96bc5a"/>
                </a:solidFill>
                <a:effectLst/>
                <a:uFillTx/>
                <a:latin typeface="Arial"/>
                <a:ea typeface="Arial"/>
              </a:rPr>
              <a:t>Basics of Financial Aid and the FAFSA</a:t>
            </a:r>
            <a:endParaRPr b="0" lang="en-IN" sz="2400" strike="noStrike" u="none">
              <a:solidFill>
                <a:srgbClr val="000000"/>
              </a:solidFill>
              <a:effectLst/>
              <a:uFillTx/>
              <a:latin typeface="Arial"/>
            </a:endParaRPr>
          </a:p>
        </p:txBody>
      </p:sp>
      <p:sp>
        <p:nvSpPr>
          <p:cNvPr id="22" name=""/>
          <p:cNvSpPr txBox="1"/>
          <p:nvPr/>
        </p:nvSpPr>
        <p:spPr>
          <a:xfrm>
            <a:off x="533520" y="5340240"/>
            <a:ext cx="7021440" cy="596880"/>
          </a:xfrm>
          <a:prstGeom prst="rect">
            <a:avLst/>
          </a:prstGeom>
          <a:noFill/>
          <a:ln w="0">
            <a:noFill/>
          </a:ln>
        </p:spPr>
        <p:txBody>
          <a:bodyPr lIns="90000" rIns="90000" tIns="46800" bIns="46800" anchor="t">
            <a:normAutofit/>
          </a:bodyPr>
          <a:p>
            <a:pPr>
              <a:spcBef>
                <a:spcPts val="55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200" strike="noStrike" u="none">
                <a:solidFill>
                  <a:srgbClr val="155f86"/>
                </a:solidFill>
                <a:effectLst/>
                <a:uFillTx/>
                <a:latin typeface="Arial"/>
                <a:ea typeface="Arial"/>
              </a:rPr>
              <a:t>[Presenter Name | Presentation Date] </a:t>
            </a: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We will talk about:</a:t>
            </a:r>
            <a:endParaRPr b="0" lang="en-IN" sz="4000" strike="noStrike" u="none">
              <a:solidFill>
                <a:srgbClr val="000000"/>
              </a:solidFill>
              <a:effectLst/>
              <a:uFillTx/>
              <a:latin typeface="Arial"/>
            </a:endParaRPr>
          </a:p>
        </p:txBody>
      </p:sp>
      <p:sp>
        <p:nvSpPr>
          <p:cNvPr id="24" name=""/>
          <p:cNvSpPr txBox="1"/>
          <p:nvPr/>
        </p:nvSpPr>
        <p:spPr>
          <a:xfrm>
            <a:off x="533520" y="1752120"/>
            <a:ext cx="8229600" cy="4297320"/>
          </a:xfrm>
          <a:prstGeom prst="rect">
            <a:avLst/>
          </a:prstGeom>
          <a:noFill/>
          <a:ln w="0">
            <a:noFill/>
          </a:ln>
        </p:spPr>
        <p:txBody>
          <a:bodyPr lIns="90000" rIns="90000" tIns="46800" bIns="46800" anchor="t">
            <a:normAutofit/>
          </a:bodyPr>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Federal student aid</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State student aid</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Student aid from colleges</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Scholarships from other sources</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We will answer:</a:t>
            </a:r>
            <a:endParaRPr b="0" lang="en-IN" sz="4000" strike="noStrike" u="none">
              <a:solidFill>
                <a:srgbClr val="000000"/>
              </a:solidFill>
              <a:effectLst/>
              <a:uFillTx/>
              <a:latin typeface="Arial"/>
            </a:endParaRPr>
          </a:p>
        </p:txBody>
      </p:sp>
      <p:sp>
        <p:nvSpPr>
          <p:cNvPr id="26" name=""/>
          <p:cNvSpPr txBox="1"/>
          <p:nvPr/>
        </p:nvSpPr>
        <p:spPr>
          <a:xfrm>
            <a:off x="533520" y="1752120"/>
            <a:ext cx="8229600" cy="4297320"/>
          </a:xfrm>
          <a:prstGeom prst="rect">
            <a:avLst/>
          </a:prstGeom>
          <a:noFill/>
          <a:ln w="0">
            <a:noFill/>
          </a:ln>
        </p:spPr>
        <p:txBody>
          <a:bodyPr lIns="90000" rIns="90000" tIns="46800" bIns="46800" anchor="t">
            <a:normAutofit/>
          </a:bodyPr>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What is financial aid?</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Who can get it?</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How much can I get?</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How do I apply?</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What happens next?</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Where can I get more info?</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What is financial aid?</a:t>
            </a:r>
            <a:endParaRPr b="0" lang="en-IN" sz="4000" strike="noStrike" u="none">
              <a:solidFill>
                <a:srgbClr val="000000"/>
              </a:solidFill>
              <a:effectLst/>
              <a:uFillTx/>
              <a:latin typeface="Arial"/>
            </a:endParaRPr>
          </a:p>
        </p:txBody>
      </p:sp>
      <p:sp>
        <p:nvSpPr>
          <p:cNvPr id="28" name=""/>
          <p:cNvSpPr txBox="1"/>
          <p:nvPr/>
        </p:nvSpPr>
        <p:spPr>
          <a:xfrm>
            <a:off x="533520" y="1752120"/>
            <a:ext cx="8229600" cy="4297320"/>
          </a:xfrm>
          <a:prstGeom prst="rect">
            <a:avLst/>
          </a:prstGeom>
          <a:noFill/>
          <a:ln w="0">
            <a:noFill/>
          </a:ln>
        </p:spPr>
        <p:txBody>
          <a:bodyPr lIns="90000" rIns="90000" tIns="46800" bIns="46800" anchor="t">
            <a:normAutofit/>
          </a:bodyPr>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Money to pay for college or career school</a:t>
            </a:r>
            <a:endParaRPr b="0" lang="en-IN" sz="28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Grants</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Work-study</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Loans</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Scholarships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Who can get federal student aid?</a:t>
            </a:r>
            <a:endParaRPr b="0" lang="en-IN" sz="4000" strike="noStrike" u="none">
              <a:solidFill>
                <a:srgbClr val="000000"/>
              </a:solidFill>
              <a:effectLst/>
              <a:uFillTx/>
              <a:latin typeface="Arial"/>
            </a:endParaRPr>
          </a:p>
        </p:txBody>
      </p:sp>
      <p:sp>
        <p:nvSpPr>
          <p:cNvPr id="30" name=""/>
          <p:cNvSpPr txBox="1"/>
          <p:nvPr/>
        </p:nvSpPr>
        <p:spPr>
          <a:xfrm>
            <a:off x="533520" y="1752120"/>
            <a:ext cx="8229600" cy="4297320"/>
          </a:xfrm>
          <a:prstGeom prst="rect">
            <a:avLst/>
          </a:prstGeom>
          <a:noFill/>
          <a:ln w="0">
            <a:noFill/>
          </a:ln>
        </p:spPr>
        <p:txBody>
          <a:bodyPr lIns="90000" rIns="90000" tIns="46800" bIns="46800" anchor="t">
            <a:normAutofit/>
          </a:bodyPr>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U.S. citizen or permanent resident</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High school graduate/GED holder</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Eligible degree/certificate program</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Valid Social Security number</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Males registered for Selective Service</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Satisfactory academic progress in college/career school</a:t>
            </a:r>
            <a:endParaRPr b="0" lang="en-IN" sz="2800" strike="noStrike" u="none">
              <a:solidFill>
                <a:srgbClr val="000000"/>
              </a:solidFill>
              <a:effectLst/>
              <a:uFillTx/>
              <a:latin typeface="Arial"/>
            </a:endParaRPr>
          </a:p>
          <a:p>
            <a:pPr marL="230040" indent="-230040">
              <a:spcBef>
                <a:spcPts val="7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type="title"/>
          </p:nvPr>
        </p:nvSpPr>
        <p:spPr>
          <a:xfrm>
            <a:off x="460080" y="41868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Who can get other kinds of financial aid?</a:t>
            </a:r>
            <a:endParaRPr b="0" lang="en-IN" sz="3600" strike="noStrike" u="none">
              <a:solidFill>
                <a:srgbClr val="000000"/>
              </a:solidFill>
              <a:effectLst/>
              <a:uFillTx/>
              <a:latin typeface="Arial"/>
            </a:endParaRPr>
          </a:p>
        </p:txBody>
      </p:sp>
      <p:sp>
        <p:nvSpPr>
          <p:cNvPr id="32" name=""/>
          <p:cNvSpPr txBox="1"/>
          <p:nvPr/>
        </p:nvSpPr>
        <p:spPr>
          <a:xfrm>
            <a:off x="533520" y="1752120"/>
            <a:ext cx="8229600" cy="4297320"/>
          </a:xfrm>
          <a:prstGeom prst="rect">
            <a:avLst/>
          </a:prstGeom>
          <a:noFill/>
          <a:ln w="0">
            <a:noFill/>
          </a:ln>
        </p:spPr>
        <p:txBody>
          <a:bodyPr lIns="90000" rIns="90000" tIns="46800" bIns="46800" anchor="t">
            <a:normAutofit/>
          </a:bodyPr>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States, colleges, and private scholarships have their own eligibility criteria.</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Be sure you know what you need to do to qualify.</a:t>
            </a:r>
            <a:endParaRPr b="0" lang="en-IN" sz="2800" strike="noStrike" u="none">
              <a:solidFill>
                <a:srgbClr val="000000"/>
              </a:solidFill>
              <a:effectLst/>
              <a:uFillTx/>
              <a:latin typeface="Arial"/>
            </a:endParaRPr>
          </a:p>
          <a:p>
            <a:pPr marL="230040" indent="-230040">
              <a:spcBef>
                <a:spcPts val="7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How much federal student aid can I get?</a:t>
            </a:r>
            <a:endParaRPr b="0" lang="en-IN" sz="3600" strike="noStrike" u="none">
              <a:solidFill>
                <a:srgbClr val="000000"/>
              </a:solidFill>
              <a:effectLst/>
              <a:uFillTx/>
              <a:latin typeface="Arial"/>
            </a:endParaRPr>
          </a:p>
        </p:txBody>
      </p:sp>
      <p:sp>
        <p:nvSpPr>
          <p:cNvPr id="34" name=""/>
          <p:cNvSpPr txBox="1"/>
          <p:nvPr/>
        </p:nvSpPr>
        <p:spPr>
          <a:xfrm>
            <a:off x="533520" y="1752120"/>
            <a:ext cx="8229600" cy="4297320"/>
          </a:xfrm>
          <a:prstGeom prst="rect">
            <a:avLst/>
          </a:prstGeom>
          <a:noFill/>
          <a:ln w="0">
            <a:noFill/>
          </a:ln>
        </p:spPr>
        <p:txBody>
          <a:bodyPr lIns="90000" rIns="90000" tIns="46800" bIns="46800" anchor="t">
            <a:normAutofit fontScale="92500" lnSpcReduction="9999"/>
          </a:bodyPr>
          <a:p>
            <a:pPr>
              <a:spcBef>
                <a:spcPts val="7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In general, depends on your financial need.</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Financial need determined by Expected Family Contribution (EFC) and cost of attendance (COA)</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EFC comes from what you report on FAFSA</a:t>
            </a:r>
            <a:r>
              <a:rPr b="0" lang="en-US" sz="2400" strike="noStrike" u="none" baseline="30000">
                <a:solidFill>
                  <a:srgbClr val="535353"/>
                </a:solidFill>
                <a:effectLst/>
                <a:uFillTx/>
                <a:latin typeface="Arial"/>
                <a:ea typeface="Arial"/>
              </a:rPr>
              <a:t>® </a:t>
            </a:r>
            <a:r>
              <a:rPr b="0" lang="en-US" sz="2800" strike="noStrike" u="none">
                <a:solidFill>
                  <a:srgbClr val="535353"/>
                </a:solidFill>
                <a:effectLst/>
                <a:uFillTx/>
                <a:latin typeface="Arial"/>
                <a:ea typeface="Arial"/>
              </a:rPr>
              <a:t>(</a:t>
            </a:r>
            <a:r>
              <a:rPr b="0" i="1" lang="en-US" sz="2800" strike="noStrike" u="none">
                <a:solidFill>
                  <a:srgbClr val="535353"/>
                </a:solidFill>
                <a:effectLst/>
                <a:uFillTx/>
                <a:latin typeface="Arial"/>
                <a:ea typeface="Arial"/>
              </a:rPr>
              <a:t>Free Application for Federal Student Aid</a:t>
            </a:r>
            <a:r>
              <a:rPr b="0" lang="en-US" sz="2800" strike="noStrike" u="none">
                <a:solidFill>
                  <a:srgbClr val="535353"/>
                </a:solidFill>
                <a:effectLst/>
                <a:uFillTx/>
                <a:latin typeface="Arial"/>
                <a:ea typeface="Arial"/>
              </a:rPr>
              <a:t>)</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COA is tuition, fees, room and board, transportation, etc.</a:t>
            </a:r>
            <a:endParaRPr b="0" lang="en-IN" sz="2800" strike="noStrike" u="none">
              <a:solidFill>
                <a:srgbClr val="000000"/>
              </a:solidFill>
              <a:effectLst/>
              <a:uFillTx/>
              <a:latin typeface="Arial"/>
            </a:endParaRPr>
          </a:p>
          <a:p>
            <a:pPr>
              <a:spcBef>
                <a:spcPts val="7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Arial"/>
            </a:endParaRPr>
          </a:p>
          <a:p>
            <a:pPr algn="ctr">
              <a:spcBef>
                <a:spcPts val="7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COA – EFC = financial need</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How much federal student aid can I get?</a:t>
            </a:r>
            <a:endParaRPr b="0" lang="en-IN" sz="3600" strike="noStrike" u="none">
              <a:solidFill>
                <a:srgbClr val="000000"/>
              </a:solidFill>
              <a:effectLst/>
              <a:uFillTx/>
              <a:latin typeface="Arial"/>
            </a:endParaRPr>
          </a:p>
        </p:txBody>
      </p:sp>
      <p:sp>
        <p:nvSpPr>
          <p:cNvPr id="36" name=""/>
          <p:cNvSpPr txBox="1"/>
          <p:nvPr/>
        </p:nvSpPr>
        <p:spPr>
          <a:xfrm>
            <a:off x="501480" y="1142640"/>
            <a:ext cx="8229600" cy="4297320"/>
          </a:xfrm>
          <a:prstGeom prst="rect">
            <a:avLst/>
          </a:prstGeom>
          <a:noFill/>
          <a:ln w="0">
            <a:noFill/>
          </a:ln>
        </p:spPr>
        <p:txBody>
          <a:bodyPr lIns="90000" rIns="90000" tIns="46800" bIns="46800" anchor="t">
            <a:normAutofit fontScale="85000" lnSpcReduction="9999"/>
          </a:bodyPr>
          <a:p>
            <a:pPr>
              <a:spcBef>
                <a:spcPts val="7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Maximum amounts for the major programs for a dependent freshman in 2017-18:</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Federal Pell Grant: $5,920</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Federal Work-Study: depends on funds available at school</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Direct Subsidized and Unsubsidized Loans: $5,500 total</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Direct PLUS Loan (for parents): COA minus other aid received</a:t>
            </a:r>
            <a:endParaRPr b="0" lang="en-IN" sz="2800" strike="noStrike" u="none">
              <a:solidFill>
                <a:srgbClr val="000000"/>
              </a:solidFill>
              <a:effectLst/>
              <a:uFillTx/>
              <a:latin typeface="Arial"/>
            </a:endParaRPr>
          </a:p>
          <a:p>
            <a:pPr>
              <a:spcBef>
                <a:spcPts val="349"/>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400" strike="noStrike" u="none">
              <a:solidFill>
                <a:srgbClr val="000000"/>
              </a:solidFill>
              <a:effectLst/>
              <a:uFillTx/>
              <a:latin typeface="Arial"/>
            </a:endParaRPr>
          </a:p>
          <a:p>
            <a:pPr>
              <a:spcBef>
                <a:spcPts val="7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Funds from other programs are available; see StudentAid.gov/glance for details.</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How much federal student aid can I get?</a:t>
            </a:r>
            <a:endParaRPr b="0" lang="en-IN" sz="3600" strike="noStrike" u="none">
              <a:solidFill>
                <a:srgbClr val="000000"/>
              </a:solidFill>
              <a:effectLst/>
              <a:uFillTx/>
              <a:latin typeface="Arial"/>
            </a:endParaRPr>
          </a:p>
        </p:txBody>
      </p:sp>
      <p:sp>
        <p:nvSpPr>
          <p:cNvPr id="38" name=""/>
          <p:cNvSpPr txBox="1"/>
          <p:nvPr/>
        </p:nvSpPr>
        <p:spPr>
          <a:xfrm>
            <a:off x="533520" y="1752120"/>
            <a:ext cx="8229600" cy="4297320"/>
          </a:xfrm>
          <a:prstGeom prst="rect">
            <a:avLst/>
          </a:prstGeom>
          <a:noFill/>
          <a:ln w="0">
            <a:noFill/>
          </a:ln>
        </p:spPr>
        <p:txBody>
          <a:bodyPr lIns="90000" rIns="90000" tIns="46800" bIns="46800" anchor="t">
            <a:normAutofit/>
          </a:bodyPr>
          <a:p>
            <a:pPr>
              <a:spcBef>
                <a:spcPts val="7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For early estimate, use </a:t>
            </a:r>
            <a:r>
              <a:rPr b="0" i="1" lang="en-US" sz="2800" strike="noStrike" u="none">
                <a:solidFill>
                  <a:srgbClr val="535353"/>
                </a:solidFill>
                <a:effectLst/>
                <a:uFillTx/>
                <a:latin typeface="Arial"/>
                <a:ea typeface="Arial"/>
              </a:rPr>
              <a:t>FAFSA4caster</a:t>
            </a:r>
            <a:r>
              <a:rPr b="0" lang="en-US" sz="2800" strike="noStrike" u="none">
                <a:solidFill>
                  <a:srgbClr val="535353"/>
                </a:solidFill>
                <a:effectLst/>
                <a:uFillTx/>
                <a:latin typeface="Arial"/>
                <a:ea typeface="Arial"/>
              </a:rPr>
              <a:t>:</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Go to fafsa.gov and find link in “Thinking About College?” section (lower right of home page) </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Enter some financial information</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Get an estimate</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460080" y="-76320"/>
            <a:ext cx="8553240" cy="64800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How much state, school, and private scholarship money can I get?</a:t>
            </a:r>
            <a:endParaRPr b="0" lang="en-IN" sz="3600" strike="noStrike" u="none">
              <a:solidFill>
                <a:srgbClr val="000000"/>
              </a:solidFill>
              <a:effectLst/>
              <a:uFillTx/>
              <a:latin typeface="Arial"/>
            </a:endParaRPr>
          </a:p>
        </p:txBody>
      </p:sp>
      <p:sp>
        <p:nvSpPr>
          <p:cNvPr id="40" name=""/>
          <p:cNvSpPr txBox="1"/>
          <p:nvPr/>
        </p:nvSpPr>
        <p:spPr>
          <a:xfrm>
            <a:off x="533520" y="1752120"/>
            <a:ext cx="8229600" cy="4297320"/>
          </a:xfrm>
          <a:prstGeom prst="rect">
            <a:avLst/>
          </a:prstGeom>
          <a:noFill/>
          <a:ln w="0">
            <a:noFill/>
          </a:ln>
        </p:spPr>
        <p:txBody>
          <a:bodyPr lIns="90000" rIns="90000" tIns="46800" bIns="46800" anchor="t">
            <a:normAutofit/>
          </a:bodyPr>
          <a:p>
            <a:pPr>
              <a:spcBef>
                <a:spcPts val="7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Depends on the program; do your research!</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Our state aid: [input URL for state government agency]</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Ask college financial aid offices for info about aid available at their schools</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Free scholarship search at StudentAid.gov/scholarships</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How do I apply for aid?</a:t>
            </a:r>
            <a:endParaRPr b="0" lang="en-IN" sz="3600" strike="noStrike" u="none">
              <a:solidFill>
                <a:srgbClr val="000000"/>
              </a:solidFill>
              <a:effectLst/>
              <a:uFillTx/>
              <a:latin typeface="Arial"/>
            </a:endParaRPr>
          </a:p>
        </p:txBody>
      </p:sp>
      <p:sp>
        <p:nvSpPr>
          <p:cNvPr id="42" name=""/>
          <p:cNvSpPr txBox="1"/>
          <p:nvPr/>
        </p:nvSpPr>
        <p:spPr>
          <a:xfrm>
            <a:off x="533520" y="1752120"/>
            <a:ext cx="8229600" cy="4297320"/>
          </a:xfrm>
          <a:prstGeom prst="rect">
            <a:avLst/>
          </a:prstGeom>
          <a:noFill/>
          <a:ln w="0">
            <a:noFill/>
          </a:ln>
        </p:spPr>
        <p:txBody>
          <a:bodyPr lIns="90000" rIns="90000" tIns="46800" bIns="46800" anchor="t">
            <a:normAutofit/>
          </a:bodyPr>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Federal student aid: fill out </a:t>
            </a:r>
            <a:r>
              <a:rPr b="0" i="1" lang="en-US" sz="2800" strike="noStrike" u="none">
                <a:solidFill>
                  <a:srgbClr val="535353"/>
                </a:solidFill>
                <a:effectLst/>
                <a:uFillTx/>
                <a:latin typeface="Arial"/>
                <a:ea typeface="Arial"/>
              </a:rPr>
              <a:t>Free Application for Federal Student Aid </a:t>
            </a:r>
            <a:r>
              <a:rPr b="0" lang="en-US" sz="2800" strike="noStrike" u="none">
                <a:solidFill>
                  <a:srgbClr val="535353"/>
                </a:solidFill>
                <a:effectLst/>
                <a:uFillTx/>
                <a:latin typeface="Arial"/>
                <a:ea typeface="Arial"/>
              </a:rPr>
              <a:t>(FAFSA</a:t>
            </a:r>
            <a:r>
              <a:rPr b="0" lang="en-US" sz="2800" strike="noStrike" u="none" baseline="30000">
                <a:solidFill>
                  <a:srgbClr val="535353"/>
                </a:solidFill>
                <a:effectLst/>
                <a:uFillTx/>
                <a:latin typeface="Arial"/>
                <a:ea typeface="Arial"/>
              </a:rPr>
              <a:t>®</a:t>
            </a:r>
            <a:r>
              <a:rPr b="0" lang="en-US" sz="2800" strike="noStrike" u="none">
                <a:solidFill>
                  <a:srgbClr val="535353"/>
                </a:solidFill>
                <a:effectLst/>
                <a:uFillTx/>
                <a:latin typeface="Arial"/>
                <a:ea typeface="Arial"/>
              </a:rPr>
              <a:t>) at fafsa.gov </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State aid: [insert info about any state forms necessary and where to get them]</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School aid: contact financial aid offices at schools you are considering</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Scholarships: visit scholarship website or call contact number for information</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How do I apply for federal student aid?</a:t>
            </a:r>
            <a:endParaRPr b="0" lang="en-IN" sz="3600" strike="noStrike" u="none">
              <a:solidFill>
                <a:srgbClr val="000000"/>
              </a:solidFill>
              <a:effectLst/>
              <a:uFillTx/>
              <a:latin typeface="Arial"/>
            </a:endParaRPr>
          </a:p>
        </p:txBody>
      </p:sp>
      <p:sp>
        <p:nvSpPr>
          <p:cNvPr id="44" name=""/>
          <p:cNvSpPr txBox="1"/>
          <p:nvPr/>
        </p:nvSpPr>
        <p:spPr>
          <a:xfrm>
            <a:off x="533520" y="1752120"/>
            <a:ext cx="8229600" cy="4953240"/>
          </a:xfrm>
          <a:prstGeom prst="rect">
            <a:avLst/>
          </a:prstGeom>
          <a:noFill/>
          <a:ln w="0">
            <a:noFill/>
          </a:ln>
        </p:spPr>
        <p:txBody>
          <a:bodyPr lIns="90000" rIns="90000" tIns="46800" bIns="46800" anchor="t">
            <a:normAutofit/>
          </a:bodyPr>
          <a:p>
            <a:pPr marL="457200" indent="-457200">
              <a:spcBef>
                <a:spcPts val="700"/>
              </a:spcBef>
              <a:buClr>
                <a:srgbClr val="535353"/>
              </a:buClr>
              <a:buSzPct val="80000"/>
              <a:buFont typeface="Arial"/>
              <a:buAutoNum type="arabicPeriod"/>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800" strike="noStrike" u="none">
                <a:solidFill>
                  <a:srgbClr val="535353"/>
                </a:solidFill>
                <a:effectLst/>
                <a:uFillTx/>
                <a:latin typeface="Arial"/>
                <a:ea typeface="Arial"/>
              </a:rPr>
              <a:t>Create a username and password called the FSA ID. </a:t>
            </a:r>
            <a:endParaRPr b="0" lang="en-IN" sz="28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Learn about the FSA ID and find the link to create one at StudentAid.gov/fsaid.</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You and your parent must each create your own FSA ID; you can’t share one.</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If you provide an email address when creating your FSA ID, it must be a unique email address (can’t provide same email address for more than one person’s FSA ID).</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Don’t tell anyone your FSA ID!</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How do I apply for federal student aid?</a:t>
            </a:r>
            <a:endParaRPr b="0" lang="en-IN" sz="3600" strike="noStrike" u="none">
              <a:solidFill>
                <a:srgbClr val="000000"/>
              </a:solidFill>
              <a:effectLst/>
              <a:uFillTx/>
              <a:latin typeface="Arial"/>
            </a:endParaRPr>
          </a:p>
        </p:txBody>
      </p:sp>
      <p:sp>
        <p:nvSpPr>
          <p:cNvPr id="46" name=""/>
          <p:cNvSpPr txBox="1"/>
          <p:nvPr/>
        </p:nvSpPr>
        <p:spPr>
          <a:xfrm>
            <a:off x="533520" y="1752120"/>
            <a:ext cx="8229600" cy="4297320"/>
          </a:xfrm>
          <a:prstGeom prst="rect">
            <a:avLst/>
          </a:prstGeom>
          <a:noFill/>
          <a:ln w="0">
            <a:noFill/>
          </a:ln>
        </p:spPr>
        <p:txBody>
          <a:bodyPr lIns="90000" rIns="90000" tIns="46800" bIns="46800" anchor="t">
            <a:normAutofit/>
          </a:bodyPr>
          <a:p>
            <a:pPr marL="457200" indent="-457200">
              <a:spcBef>
                <a:spcPts val="700"/>
              </a:spcBef>
              <a:buClr>
                <a:srgbClr val="535353"/>
              </a:buClr>
              <a:buSzPct val="80000"/>
              <a:buFont typeface="Arial"/>
              <a:buAutoNum type="arabicPeriod" startAt="2"/>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800" strike="noStrike" u="none">
                <a:solidFill>
                  <a:srgbClr val="535353"/>
                </a:solidFill>
                <a:effectLst/>
                <a:uFillTx/>
                <a:latin typeface="Arial"/>
                <a:ea typeface="Arial"/>
              </a:rPr>
              <a:t>Gather the documents you need to apply. </a:t>
            </a:r>
            <a:endParaRPr b="0" lang="en-IN" sz="28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Find checklist of what’s needed on infographic called “The FAFSA Process” at StudentAid.gov/resources#fafsa-process-graphic </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Optional: Preview some of the FAFSA questions on the </a:t>
            </a:r>
            <a:r>
              <a:rPr b="0" i="1" lang="en-US" sz="2400" strike="noStrike" u="none">
                <a:solidFill>
                  <a:srgbClr val="535353"/>
                </a:solidFill>
                <a:effectLst/>
                <a:uFillTx/>
                <a:latin typeface="Arial"/>
                <a:ea typeface="Arial"/>
              </a:rPr>
              <a:t>FAFSA on the Web Worksheet</a:t>
            </a:r>
            <a:r>
              <a:rPr b="0" lang="en-US" sz="2400" strike="noStrike" u="none">
                <a:solidFill>
                  <a:srgbClr val="535353"/>
                </a:solidFill>
                <a:effectLst/>
                <a:uFillTx/>
                <a:latin typeface="Arial"/>
                <a:ea typeface="Arial"/>
              </a:rPr>
              <a:t>. (Get worksheet at StudentAid.gov/resources#worksheet)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How do I apply for federal student aid?</a:t>
            </a:r>
            <a:endParaRPr b="0" lang="en-IN" sz="3600" strike="noStrike" u="none">
              <a:solidFill>
                <a:srgbClr val="000000"/>
              </a:solidFill>
              <a:effectLst/>
              <a:uFillTx/>
              <a:latin typeface="Arial"/>
            </a:endParaRPr>
          </a:p>
        </p:txBody>
      </p:sp>
      <p:sp>
        <p:nvSpPr>
          <p:cNvPr id="48" name=""/>
          <p:cNvSpPr txBox="1"/>
          <p:nvPr/>
        </p:nvSpPr>
        <p:spPr>
          <a:xfrm>
            <a:off x="533520" y="1599840"/>
            <a:ext cx="8229600" cy="3886200"/>
          </a:xfrm>
          <a:prstGeom prst="rect">
            <a:avLst/>
          </a:prstGeom>
          <a:noFill/>
          <a:ln w="0">
            <a:noFill/>
          </a:ln>
        </p:spPr>
        <p:txBody>
          <a:bodyPr lIns="90000" rIns="90000" tIns="46800" bIns="46800" anchor="t">
            <a:normAutofit fontScale="70000" lnSpcReduction="19999"/>
          </a:bodyPr>
          <a:p>
            <a:pPr marL="457200" indent="-457200">
              <a:spcBef>
                <a:spcPts val="700"/>
              </a:spcBef>
              <a:buClr>
                <a:srgbClr val="535353"/>
              </a:buClr>
              <a:buSzPct val="80000"/>
              <a:buFont typeface="Arial"/>
              <a:buAutoNum type="arabicPeriod" startAt="3"/>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800" strike="noStrike" u="none">
                <a:solidFill>
                  <a:srgbClr val="535353"/>
                </a:solidFill>
                <a:effectLst/>
                <a:uFillTx/>
                <a:latin typeface="Arial"/>
                <a:ea typeface="Arial"/>
              </a:rPr>
              <a:t>Fill out your FAFSA at fafsa.gov. </a:t>
            </a:r>
            <a:endParaRPr b="0" lang="en-IN" sz="28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Apply on or after October 1 but as early as possible to meet all deadlines. </a:t>
            </a:r>
            <a:endParaRPr b="0" lang="en-IN" sz="2400" strike="noStrike" u="none">
              <a:solidFill>
                <a:srgbClr val="000000"/>
              </a:solidFill>
              <a:effectLst/>
              <a:uFillTx/>
              <a:latin typeface="Arial"/>
            </a:endParaRPr>
          </a:p>
          <a:p>
            <a:pPr lvl="2" marL="623880" indent="-163440">
              <a:spcBef>
                <a:spcPts val="550"/>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200" strike="noStrike" u="none">
                <a:solidFill>
                  <a:srgbClr val="535353"/>
                </a:solidFill>
                <a:effectLst/>
                <a:uFillTx/>
                <a:latin typeface="Arial"/>
                <a:ea typeface="Arial"/>
              </a:rPr>
              <a:t>State deadlines are at fafsa.gov.</a:t>
            </a:r>
            <a:endParaRPr b="0" lang="en-IN" sz="2200" strike="noStrike" u="none">
              <a:solidFill>
                <a:srgbClr val="000000"/>
              </a:solidFill>
              <a:effectLst/>
              <a:uFillTx/>
              <a:latin typeface="Arial"/>
            </a:endParaRPr>
          </a:p>
          <a:p>
            <a:pPr lvl="2" marL="623880" indent="-163440">
              <a:spcBef>
                <a:spcPts val="550"/>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200" strike="noStrike" u="none">
                <a:solidFill>
                  <a:srgbClr val="535353"/>
                </a:solidFill>
                <a:effectLst/>
                <a:uFillTx/>
                <a:latin typeface="Arial"/>
                <a:ea typeface="Arial"/>
              </a:rPr>
              <a:t>School deadlines are listed on schools’ websites.</a:t>
            </a:r>
            <a:endParaRPr b="0" lang="en-IN" sz="22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Need help? Use the help functions within the FAFSA (including live chat) or call 1-800-4-FED-AID.</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Don’t forget: watch for the confirmation page that says your FAFSA has been submitted. THEN log out.</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Arial"/>
            </a:endParaRPr>
          </a:p>
          <a:p>
            <a:pPr lvl="1" marL="404640" indent="-174600">
              <a:spcBef>
                <a:spcPts val="601"/>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1" lang="en-US" sz="2400" strike="noStrike" u="none">
                <a:solidFill>
                  <a:srgbClr val="535353"/>
                </a:solidFill>
                <a:effectLst/>
                <a:uFillTx/>
                <a:latin typeface="Arial"/>
                <a:ea typeface="Arial"/>
              </a:rPr>
              <a:t>Bonus tip! </a:t>
            </a:r>
            <a:r>
              <a:rPr b="0" lang="en-US" sz="2400" strike="noStrike" u="none">
                <a:solidFill>
                  <a:srgbClr val="535353"/>
                </a:solidFill>
                <a:effectLst/>
                <a:uFillTx/>
                <a:latin typeface="Arial"/>
                <a:ea typeface="Arial"/>
              </a:rPr>
              <a:t>Find out how to automatically import tax info from the IRS into your FAFSA: StudentAid.gov/irsdrt.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How do I apply for federal student aid?</a:t>
            </a:r>
            <a:endParaRPr b="0" lang="en-IN" sz="3600" strike="noStrike" u="none">
              <a:solidFill>
                <a:srgbClr val="000000"/>
              </a:solidFill>
              <a:effectLst/>
              <a:uFillTx/>
              <a:latin typeface="Arial"/>
            </a:endParaRPr>
          </a:p>
        </p:txBody>
      </p:sp>
      <p:sp>
        <p:nvSpPr>
          <p:cNvPr id="50" name=""/>
          <p:cNvSpPr txBox="1"/>
          <p:nvPr/>
        </p:nvSpPr>
        <p:spPr>
          <a:xfrm>
            <a:off x="533520" y="1752120"/>
            <a:ext cx="8229600" cy="4297320"/>
          </a:xfrm>
          <a:prstGeom prst="rect">
            <a:avLst/>
          </a:prstGeom>
          <a:noFill/>
          <a:ln w="0">
            <a:noFill/>
          </a:ln>
        </p:spPr>
        <p:txBody>
          <a:bodyPr lIns="90000" rIns="90000" tIns="46800" bIns="46800" anchor="t">
            <a:normAutofit/>
          </a:bodyPr>
          <a:p>
            <a:pPr marL="457200" indent="-457200">
              <a:spcBef>
                <a:spcPts val="700"/>
              </a:spcBef>
              <a:buClr>
                <a:srgbClr val="535353"/>
              </a:buClr>
              <a:buSzPct val="80000"/>
              <a:buFont typeface="Arial"/>
              <a:buAutoNum type="arabicPeriod" startAt="4"/>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800" strike="noStrike" u="none">
                <a:solidFill>
                  <a:srgbClr val="535353"/>
                </a:solidFill>
                <a:effectLst/>
                <a:uFillTx/>
                <a:latin typeface="Arial"/>
                <a:ea typeface="Arial"/>
              </a:rPr>
              <a:t>Watch for response by email or by mail, confirming that your FAFSA was processed. </a:t>
            </a:r>
            <a:endParaRPr b="0" lang="en-IN" sz="28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Double-check that your info is correct by logging on at the FAFSA site and reviewing your data.</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Correct any mistakes and submit the corrected info.</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Don’t update info that was correct on the day you signed your FAFSA.</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How do I apply for federal student aid?</a:t>
            </a:r>
            <a:endParaRPr b="0" lang="en-IN" sz="3600" strike="noStrike" u="none">
              <a:solidFill>
                <a:srgbClr val="000000"/>
              </a:solidFill>
              <a:effectLst/>
              <a:uFillTx/>
              <a:latin typeface="Arial"/>
            </a:endParaRPr>
          </a:p>
        </p:txBody>
      </p:sp>
      <p:sp>
        <p:nvSpPr>
          <p:cNvPr id="52" name=""/>
          <p:cNvSpPr txBox="1"/>
          <p:nvPr/>
        </p:nvSpPr>
        <p:spPr>
          <a:xfrm>
            <a:off x="533520" y="1752120"/>
            <a:ext cx="8229600" cy="4297320"/>
          </a:xfrm>
          <a:prstGeom prst="rect">
            <a:avLst/>
          </a:prstGeom>
          <a:noFill/>
          <a:ln w="0">
            <a:noFill/>
          </a:ln>
        </p:spPr>
        <p:txBody>
          <a:bodyPr lIns="90000" rIns="90000" tIns="46800" bIns="46800" anchor="t">
            <a:normAutofit/>
          </a:bodyPr>
          <a:p>
            <a:pPr marL="457200" indent="-457200">
              <a:spcBef>
                <a:spcPts val="700"/>
              </a:spcBef>
              <a:buClr>
                <a:srgbClr val="535353"/>
              </a:buClr>
              <a:buSzPct val="80000"/>
              <a:buFont typeface="Arial"/>
              <a:buAutoNum type="arabicPeriod" startAt="5"/>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800" strike="noStrike" u="none">
                <a:solidFill>
                  <a:srgbClr val="535353"/>
                </a:solidFill>
                <a:effectLst/>
                <a:uFillTx/>
                <a:latin typeface="Arial"/>
                <a:ea typeface="Arial"/>
              </a:rPr>
              <a:t>Watch for emails or letters from the schools you are considering. </a:t>
            </a:r>
            <a:endParaRPr b="0" lang="en-IN" sz="28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Give the schools any additional paperwork they ask for.</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Meet all deadlines or you could miss out on aid!</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What happens next?</a:t>
            </a:r>
            <a:endParaRPr b="0" lang="en-IN" sz="3600" strike="noStrike" u="none">
              <a:solidFill>
                <a:srgbClr val="000000"/>
              </a:solidFill>
              <a:effectLst/>
              <a:uFillTx/>
              <a:latin typeface="Arial"/>
            </a:endParaRPr>
          </a:p>
        </p:txBody>
      </p:sp>
      <p:sp>
        <p:nvSpPr>
          <p:cNvPr id="54" name=""/>
          <p:cNvSpPr txBox="1"/>
          <p:nvPr/>
        </p:nvSpPr>
        <p:spPr>
          <a:xfrm>
            <a:off x="533520" y="1752120"/>
            <a:ext cx="8229600" cy="4297320"/>
          </a:xfrm>
          <a:prstGeom prst="rect">
            <a:avLst/>
          </a:prstGeom>
          <a:noFill/>
          <a:ln w="0">
            <a:noFill/>
          </a:ln>
        </p:spPr>
        <p:txBody>
          <a:bodyPr lIns="90000" rIns="90000" tIns="46800" bIns="46800" anchor="t">
            <a:normAutofit/>
          </a:bodyPr>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Each school will tell you how much aid you can get at that school.</a:t>
            </a:r>
            <a:endParaRPr b="0" lang="en-IN" sz="28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Once you decide which school to attend, keep in touch with the financial aid office to find out when and how you will get your aid.</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Where can I get more info?</a:t>
            </a:r>
            <a:endParaRPr b="0" lang="en-IN" sz="3600" strike="noStrike" u="none">
              <a:solidFill>
                <a:srgbClr val="000000"/>
              </a:solidFill>
              <a:effectLst/>
              <a:uFillTx/>
              <a:latin typeface="Arial"/>
            </a:endParaRPr>
          </a:p>
        </p:txBody>
      </p:sp>
      <p:sp>
        <p:nvSpPr>
          <p:cNvPr id="56" name=""/>
          <p:cNvSpPr txBox="1"/>
          <p:nvPr/>
        </p:nvSpPr>
        <p:spPr>
          <a:xfrm>
            <a:off x="533520" y="1752120"/>
            <a:ext cx="8229600" cy="4297320"/>
          </a:xfrm>
          <a:prstGeom prst="rect">
            <a:avLst/>
          </a:prstGeom>
          <a:noFill/>
          <a:ln w="0">
            <a:noFill/>
          </a:ln>
        </p:spPr>
        <p:txBody>
          <a:bodyPr lIns="90000" rIns="90000" tIns="46800" bIns="46800" anchor="t">
            <a:normAutofit/>
          </a:bodyPr>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StudentAid.gov</a:t>
            </a:r>
            <a:endParaRPr b="0" lang="en-IN" sz="28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Info about aid programs</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Links to free scholarship and college searches</a:t>
            </a:r>
            <a:endParaRPr b="0" lang="en-IN" sz="2400" strike="noStrike" u="none">
              <a:solidFill>
                <a:srgbClr val="000000"/>
              </a:solidFill>
              <a:effectLst/>
              <a:uFillTx/>
              <a:latin typeface="Arial"/>
            </a:endParaRPr>
          </a:p>
          <a:p>
            <a:pPr marL="230040" indent="-230040">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1-800-4-FED-AID</a:t>
            </a:r>
            <a:endParaRPr b="0" lang="en-IN" sz="28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Info about aid programs</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Help with FAFSA</a:t>
            </a:r>
            <a:endParaRPr b="0" lang="en-IN" sz="2400" strike="noStrike" u="none">
              <a:solidFill>
                <a:srgbClr val="000000"/>
              </a:solidFill>
              <a:effectLst/>
              <a:uFillTx/>
              <a:latin typeface="Arial"/>
            </a:endParaRPr>
          </a:p>
          <a:p>
            <a:pPr marL="230040" indent="-230040">
              <a:spcBef>
                <a:spcPts val="601"/>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Questions?</a:t>
            </a:r>
            <a:endParaRPr b="0" lang="en-IN"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Thanks for coming</a:t>
            </a:r>
            <a:endParaRPr b="0" lang="en-IN" sz="3600" strike="noStrike" u="none">
              <a:solidFill>
                <a:srgbClr val="000000"/>
              </a:solidFill>
              <a:effectLst/>
              <a:uFillTx/>
              <a:latin typeface="Arial"/>
            </a:endParaRPr>
          </a:p>
        </p:txBody>
      </p:sp>
      <p:sp>
        <p:nvSpPr>
          <p:cNvPr id="59" name=""/>
          <p:cNvSpPr txBox="1"/>
          <p:nvPr/>
        </p:nvSpPr>
        <p:spPr>
          <a:xfrm>
            <a:off x="533520" y="1752120"/>
            <a:ext cx="8229600" cy="4297320"/>
          </a:xfrm>
          <a:prstGeom prst="rect">
            <a:avLst/>
          </a:prstGeom>
          <a:noFill/>
          <a:ln w="0">
            <a:noFill/>
          </a:ln>
        </p:spPr>
        <p:txBody>
          <a:bodyPr lIns="90000" rIns="90000" tIns="46800" bIns="46800" anchor="t">
            <a:normAutofit/>
          </a:bodyPr>
          <a:p>
            <a:pPr>
              <a:spcBef>
                <a:spcPts val="7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Contact information:</a:t>
            </a:r>
            <a:endParaRPr b="0" lang="en-IN" sz="2800" strike="noStrike" u="none">
              <a:solidFill>
                <a:srgbClr val="000000"/>
              </a:solidFill>
              <a:effectLst/>
              <a:uFillTx/>
              <a:latin typeface="Arial"/>
            </a:endParaRPr>
          </a:p>
          <a:p>
            <a:pPr>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[insert counselor/advisor/mentor name]</a:t>
            </a:r>
            <a:endParaRPr b="0" lang="en-IN" sz="28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Phone: (xxx) xxx-xxxx</a:t>
            </a:r>
            <a:endParaRPr b="0" lang="en-IN" sz="2400" strike="noStrike" u="none">
              <a:solidFill>
                <a:srgbClr val="000000"/>
              </a:solidFill>
              <a:effectLst/>
              <a:uFillTx/>
              <a:latin typeface="Arial"/>
            </a:endParaRPr>
          </a:p>
          <a:p>
            <a:pPr lvl="1" marL="404640" indent="-174600">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E-mail: xxxx@xxxx.xxx</a:t>
            </a:r>
            <a:endParaRPr b="0" lang="en-IN" sz="2400" strike="noStrike" u="none">
              <a:solidFill>
                <a:srgbClr val="000000"/>
              </a:solidFill>
              <a:effectLst/>
              <a:uFillTx/>
              <a:latin typeface="Arial"/>
            </a:endParaRPr>
          </a:p>
          <a:p>
            <a:pPr>
              <a:spcBef>
                <a:spcPts val="601"/>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974</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2012-06-11T12:08:42Z</dcterms:created>
  <dc:creator>user ce</dc:creator>
  <dc:description>Last updated 3/31/15. 508.</dc:description>
  <cp:keywords>financial aid FAFSA grants loans work-study federal student aid deadlines PIN IRS Data Retrieval Tool</cp:keywords>
  <dc:language>en-IN</dc:language>
  <cp:lastModifiedBy>Forbes Cameron, Cindy</cp:lastModifiedBy>
  <dcterms:modified xsi:type="dcterms:W3CDTF">2016-12-08T06:19:18Z</dcterms:modified>
  <cp:revision>131</cp:revision>
  <dc:subject/>
  <dc:title>Finding Money for College</dc:title>
</cp:coreProperties>
</file>