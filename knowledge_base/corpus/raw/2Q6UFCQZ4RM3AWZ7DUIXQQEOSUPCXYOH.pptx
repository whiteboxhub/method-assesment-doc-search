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7.xml" ContentType="application/vnd.openxmlformats-officedocument.presentationml.notesSlide+xml"/>
  <Override PartName="/ppt/notesSlides/notesSlide2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_rels/notesSlide20.xml.rels" ContentType="application/vnd.openxmlformats-package.relationships+xml"/>
  <Override PartName="/ppt/notesSlides/_rels/notesSlide7.xml.rels" ContentType="application/vnd.openxmlformats-package.relationships+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23.xml.rels" ContentType="application/vnd.openxmlformats-package.relationships+xml"/>
  <Override PartName="/ppt/notesSlides/_rels/notesSlide18.xml.rels" ContentType="application/vnd.openxmlformats-package.relationships+xml"/>
  <Override PartName="/ppt/notesSlides/_rels/notesSlide21.xml.rels" ContentType="application/vnd.openxmlformats-package.relationships+xml"/>
  <Override PartName="/ppt/notesSlides/_rels/notesSlide24.xml.rels" ContentType="application/vnd.openxmlformats-package.relationship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media/image1.jpeg" ContentType="image/jpeg"/>
  <Override PartName="/ppt/media/image2.jpeg" ContentType="image/jpeg"/>
  <Override PartName="/ppt/media/image7.wmf" ContentType="image/x-wmf"/>
  <Override PartName="/ppt/media/image3.wmf" ContentType="image/x-wmf"/>
  <Override PartName="/ppt/media/image4.png" ContentType="image/png"/>
  <Override PartName="/ppt/media/image5.wmf" ContentType="image/x-wmf"/>
  <Override PartName="/ppt/media/image6.wmf" ContentType="image/x-wmf"/>
  <Override PartName="/ppt/media/image8.wmf" ContentType="image/x-wmf"/>
  <Override PartName="/ppt/media/image9.wmf" ContentType="image/x-wmf"/>
  <Override PartName="/ppt/media/image10.wmf" ContentType="image/x-wmf"/>
  <Override PartName="/ppt/media/image11.wmf" ContentType="image/x-wmf"/>
  <Override PartName="/ppt/media/image12.wmf" ContentType="image/x-wmf"/>
  <Override PartName="/ppt/media/image13.png" ContentType="image/png"/>
  <Override PartName="/ppt/media/image14.wmf" ContentType="image/x-wmf"/>
  <Override PartName="/ppt/media/image15.png" ContentType="image/png"/>
  <Override PartName="/ppt/media/image16.wmf" ContentType="image/x-wmf"/>
  <Override PartName="/ppt/media/image17.wmf" ContentType="image/x-wmf"/>
  <Override PartName="/ppt/media/image18.wmf" ContentType="image/x-wmf"/>
  <Override PartName="/ppt/media/image19.wmf" ContentType="image/x-wmf"/>
  <Override PartName="/ppt/media/image20.wmf" ContentType="image/x-wmf"/>
  <Override PartName="/ppt/media/image21.wmf" ContentType="image/x-wmf"/>
  <Override PartName="/ppt/media/image22.png" ContentType="image/png"/>
  <Override PartName="/ppt/media/image23.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ffffff"/>
              </a:solidFill>
              <a:effectLst/>
              <a:uFillTx/>
              <a:latin typeface="Times New Roman"/>
            </a:endParaRPr>
          </a:p>
        </p:txBody>
      </p:sp>
      <p:sp>
        <p:nvSpPr>
          <p:cNvPr id="64" name="PlaceHolder 1"/>
          <p:cNvSpPr>
            <a:spLocks noGrp="1"/>
          </p:cNvSpPr>
          <p:nvPr>
            <p:ph type="hdr"/>
          </p:nvPr>
        </p:nvSpPr>
        <p:spPr>
          <a:xfrm>
            <a:off x="-360" y="0"/>
            <a:ext cx="2973240" cy="455760"/>
          </a:xfrm>
          <a:prstGeom prst="rect">
            <a:avLst/>
          </a:prstGeom>
          <a:noFill/>
          <a:ln w="0">
            <a:noFill/>
          </a:ln>
        </p:spPr>
        <p:txBody>
          <a:bodyPr lIns="91440" rIns="91440" tIns="45720" bIns="45720" anchor="t">
            <a:noAutofit/>
          </a:bodyPr>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&lt;header&gt;</a:t>
            </a:r>
            <a:endParaRPr b="0" lang="en-IN" sz="1300" strike="noStrike" u="none">
              <a:solidFill>
                <a:srgbClr val="000000"/>
              </a:solidFill>
              <a:effectLst/>
              <a:uFillTx/>
              <a:latin typeface="Times New Roman"/>
            </a:endParaRPr>
          </a:p>
        </p:txBody>
      </p:sp>
      <p:sp>
        <p:nvSpPr>
          <p:cNvPr id="65" name="PlaceHolder 2"/>
          <p:cNvSpPr>
            <a:spLocks noGrp="1"/>
          </p:cNvSpPr>
          <p:nvPr>
            <p:ph type="sldImg"/>
          </p:nvPr>
        </p:nvSpPr>
        <p:spPr>
          <a:xfrm>
            <a:off x="1143000" y="686880"/>
            <a:ext cx="4572000" cy="342900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6000" strike="noStrike" u="none">
                <a:solidFill>
                  <a:srgbClr val="e5e5ff"/>
                </a:solidFill>
                <a:effectLst/>
                <a:uFillTx/>
                <a:latin typeface="Garamond"/>
              </a:rPr>
              <a:t>Click to move the slide</a:t>
            </a:r>
            <a:endParaRPr b="1" lang="en-IN" sz="6000" strike="noStrike" u="none">
              <a:solidFill>
                <a:srgbClr val="e5e5ff"/>
              </a:solidFill>
              <a:effectLst/>
              <a:uFillTx/>
              <a:latin typeface="Garamond"/>
            </a:endParaRPr>
          </a:p>
        </p:txBody>
      </p:sp>
      <p:sp>
        <p:nvSpPr>
          <p:cNvPr id="66" name="PlaceHolder 3"/>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67" name="PlaceHolder 4"/>
          <p:cNvSpPr>
            <a:spLocks noGrp="1"/>
          </p:cNvSpPr>
          <p:nvPr>
            <p:ph type="dt" idx="22"/>
          </p:nvPr>
        </p:nvSpPr>
        <p:spPr>
          <a:xfrm>
            <a:off x="3884400" y="0"/>
            <a:ext cx="2973240" cy="455760"/>
          </a:xfrm>
          <a:prstGeom prst="rect">
            <a:avLst/>
          </a:prstGeom>
          <a:noFill/>
          <a:ln w="0">
            <a:noFill/>
          </a:ln>
        </p:spPr>
        <p:txBody>
          <a:bodyPr lIns="91440" rIns="91440" tIns="45720" bIns="4572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3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&lt;date/time&gt;</a:t>
            </a:r>
            <a:endParaRPr b="0" lang="en-IN" sz="1300" strike="noStrike" u="none">
              <a:solidFill>
                <a:srgbClr val="000000"/>
              </a:solidFill>
              <a:effectLst/>
              <a:uFillTx/>
              <a:latin typeface="Times New Roman"/>
            </a:endParaRPr>
          </a:p>
        </p:txBody>
      </p:sp>
      <p:sp>
        <p:nvSpPr>
          <p:cNvPr id="68" name="PlaceHolder 5"/>
          <p:cNvSpPr>
            <a:spLocks noGrp="1"/>
          </p:cNvSpPr>
          <p:nvPr>
            <p:ph type="ftr" idx="23"/>
          </p:nvPr>
        </p:nvSpPr>
        <p:spPr>
          <a:xfrm>
            <a:off x="-360" y="8688240"/>
            <a:ext cx="2973240" cy="455760"/>
          </a:xfrm>
          <a:prstGeom prst="rect">
            <a:avLst/>
          </a:prstGeom>
          <a:noFill/>
          <a:ln w="0">
            <a:noFill/>
          </a:ln>
        </p:spPr>
        <p:txBody>
          <a:bodyPr lIns="91440" rIns="91440" tIns="45720" bIns="4572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300" strike="noStrike" u="none">
                <a:solidFill>
                  <a:srgbClr val="000000"/>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&lt;footer&gt;</a:t>
            </a:r>
            <a:endParaRPr b="0" lang="en-IN" sz="1300" strike="noStrike" u="none">
              <a:solidFill>
                <a:srgbClr val="000000"/>
              </a:solidFill>
              <a:effectLst/>
              <a:uFillTx/>
              <a:latin typeface="Times New Roman"/>
            </a:endParaRPr>
          </a:p>
        </p:txBody>
      </p:sp>
      <p:sp>
        <p:nvSpPr>
          <p:cNvPr id="69" name="PlaceHolder 6"/>
          <p:cNvSpPr>
            <a:spLocks noGrp="1"/>
          </p:cNvSpPr>
          <p:nvPr>
            <p:ph type="sldNum" idx="24"/>
          </p:nvPr>
        </p:nvSpPr>
        <p:spPr>
          <a:xfrm>
            <a:off x="3884400" y="8688240"/>
            <a:ext cx="2973240" cy="455760"/>
          </a:xfrm>
          <a:prstGeom prst="rect">
            <a:avLst/>
          </a:prstGeom>
          <a:noFill/>
          <a:ln w="0">
            <a:noFill/>
          </a:ln>
        </p:spPr>
        <p:txBody>
          <a:bodyPr lIns="91440" rIns="91440" tIns="45720" bIns="4572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3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1F5C2D-6251-4CD8-9474-2555111A1E36}" type="slidenum">
              <a:rPr b="0" lang="en-US" sz="1300" strike="noStrike" u="none">
                <a:solidFill>
                  <a:srgbClr val="000000"/>
                </a:solidFill>
                <a:effectLst/>
                <a:uFillTx/>
                <a:latin typeface="Times New Roman"/>
              </a:rPr>
              <a:t>&lt;number&gt;</a:t>
            </a:fld>
            <a:endParaRPr b="0" lang="en-IN" sz="13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1143000" y="687240"/>
            <a:ext cx="4572000" cy="3429000"/>
          </a:xfrm>
          <a:prstGeom prst="rect">
            <a:avLst/>
          </a:prstGeom>
          <a:ln w="0">
            <a:noFill/>
          </a:ln>
        </p:spPr>
      </p:sp>
      <p:sp>
        <p:nvSpPr>
          <p:cNvPr id="314"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New cases of HIV and AIDS diagnosed in 2005 among California adults age 13 and over at diagnosis.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Note:    Counts for California cases in this period exclude AIDS cases diagnosed, but not yet reported and deaths that have not yet been reported as of March 31,2006 and may underestimate the actual number of diagnoses and deaths in most recent years.  The ‘Other’ category includes individuals in the following population groups: Asians, Native Hawaiians and Pacific Islanders, American Indians and Alaska Natives, persons of more than one race and persons of unknown/unreported race.   Rates not calculated for individuals whose sex at birth is unknown.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Source</a:t>
            </a:r>
            <a:r>
              <a:rPr b="0" lang="en-IN" sz="1200" strike="noStrike" u="none">
                <a:solidFill>
                  <a:srgbClr val="000000"/>
                </a:solidFill>
                <a:effectLst/>
                <a:uFillTx/>
                <a:latin typeface="Times New Roman"/>
              </a:rPr>
              <a:t>:    California Department of Public Health, HIV/AIDS Case Registry, cases reported through March 31, 2006</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California Department of Finance, Race/ethnic population with age and sex detail, 2000-2050, Sacramento, California July, 2007</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1143000" y="687240"/>
            <a:ext cx="4572000" cy="3429000"/>
          </a:xfrm>
          <a:prstGeom prst="rect">
            <a:avLst/>
          </a:prstGeom>
          <a:ln w="0">
            <a:noFill/>
          </a:ln>
        </p:spPr>
      </p:sp>
      <p:sp>
        <p:nvSpPr>
          <p:cNvPr id="316"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percent positive among men with NIR in C&amp;T sites is very low; however this percentage among HARS data is very high.  This seems to indicate that men testing in other facilities have a high rate of reporting no NIR.</a:t>
            </a:r>
            <a:endParaRPr b="0" lang="en-IN"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1143000" y="687240"/>
            <a:ext cx="4572000" cy="3429000"/>
          </a:xfrm>
          <a:prstGeom prst="rect">
            <a:avLst/>
          </a:prstGeom>
          <a:ln w="0">
            <a:noFill/>
          </a:ln>
        </p:spPr>
      </p:sp>
      <p:sp>
        <p:nvSpPr>
          <p:cNvPr id="318"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percent positive among men with NIR in C&amp;T sites is very low; however this percentage among HARS data is very high.  This seems to indicate that men testing in other facilities have a high rate of reporting no NIR.</a:t>
            </a:r>
            <a:endParaRPr b="0" lang="en-IN"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1143000" y="687240"/>
            <a:ext cx="4572000" cy="3429000"/>
          </a:xfrm>
          <a:prstGeom prst="rect">
            <a:avLst/>
          </a:prstGeom>
          <a:ln w="0">
            <a:noFill/>
          </a:ln>
        </p:spPr>
      </p:sp>
      <p:sp>
        <p:nvSpPr>
          <p:cNvPr id="320"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percent positive among men with NIR in C&amp;T sites is very low; however this percentage among HARS data is very high.  This seems to indicate that men testing in other facilities have a high rate of reporting no NIR.</a:t>
            </a:r>
            <a:endParaRPr b="0" lang="en-IN"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1143000" y="687240"/>
            <a:ext cx="4572000" cy="3429000"/>
          </a:xfrm>
          <a:prstGeom prst="rect">
            <a:avLst/>
          </a:prstGeom>
          <a:ln w="0">
            <a:noFill/>
          </a:ln>
        </p:spPr>
      </p:sp>
      <p:sp>
        <p:nvSpPr>
          <p:cNvPr id="322"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percent positive among men with NIR in C&amp;T sites is very low; however this percentage among HARS data is very high.  This seems to indicate that men testing in other facilities have a high rate of reporting no NIR.</a:t>
            </a:r>
            <a:endParaRPr b="0" lang="en-IN"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
          <p:cNvSpPr txBox="1"/>
          <p:nvPr/>
        </p:nvSpPr>
        <p:spPr>
          <a:xfrm>
            <a:off x="3884400" y="8688240"/>
            <a:ext cx="2973240" cy="455760"/>
          </a:xfrm>
          <a:prstGeom prst="rect">
            <a:avLst/>
          </a:prstGeom>
          <a:noFill/>
          <a:ln w="0">
            <a:noFill/>
          </a:ln>
        </p:spPr>
        <p:txBody>
          <a:bodyPr anchor="b">
            <a:noAutofit/>
          </a:bodyPr>
          <a:p>
            <a:pPr marL="216000" indent="-216000" algn="r">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879FCD-985B-4B56-AF24-83CB77081919}" type="slidenum">
              <a:rPr b="0" lang="en-US" sz="1300" strike="noStrike" u="none">
                <a:solidFill>
                  <a:srgbClr val="000000"/>
                </a:solidFill>
                <a:effectLst/>
                <a:uFillTx/>
                <a:latin typeface="Times New Roman"/>
              </a:rPr>
              <a:t>&lt;number&gt;</a:t>
            </a:fld>
            <a:endParaRPr b="0" lang="en-IN" sz="1300" strike="noStrike" u="none">
              <a:solidFill>
                <a:srgbClr val="000000"/>
              </a:solidFill>
              <a:effectLst/>
              <a:uFillTx/>
              <a:latin typeface="Times New Roman"/>
            </a:endParaRPr>
          </a:p>
        </p:txBody>
      </p:sp>
      <p:sp>
        <p:nvSpPr>
          <p:cNvPr id="324" name=""/>
          <p:cNvSpPr txBox="1"/>
          <p:nvPr/>
        </p:nvSpPr>
        <p:spPr>
          <a:xfrm>
            <a:off x="-360" y="8688240"/>
            <a:ext cx="2973240" cy="455760"/>
          </a:xfrm>
          <a:prstGeom prst="rect">
            <a:avLst/>
          </a:prstGeom>
          <a:noFill/>
          <a:ln w="0">
            <a:noFill/>
          </a:ln>
        </p:spPr>
        <p:txBody>
          <a:bodyPr anchor="b">
            <a:noAutofit/>
          </a:bodyPr>
          <a:p>
            <a:pPr marL="216000" indent="-216000">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&lt;footer&gt;</a:t>
            </a:r>
            <a:endParaRPr b="0" lang="en-IN" sz="1300" strike="noStrike" u="none">
              <a:solidFill>
                <a:srgbClr val="000000"/>
              </a:solidFill>
              <a:effectLst/>
              <a:uFillTx/>
              <a:latin typeface="Times New Roman"/>
            </a:endParaRPr>
          </a:p>
        </p:txBody>
      </p:sp>
      <p:sp>
        <p:nvSpPr>
          <p:cNvPr id="325" name=""/>
          <p:cNvSpPr txBox="1"/>
          <p:nvPr/>
        </p:nvSpPr>
        <p:spPr>
          <a:xfrm>
            <a:off x="-360" y="0"/>
            <a:ext cx="2973240" cy="455760"/>
          </a:xfrm>
          <a:prstGeom prst="rect">
            <a:avLst/>
          </a:prstGeom>
          <a:noFill/>
          <a:ln w="0">
            <a:noFill/>
          </a:ln>
        </p:spPr>
        <p:txBody>
          <a:bodyPr anchor="t">
            <a:noAutofit/>
          </a:bodyPr>
          <a:p>
            <a:pPr marL="216000" indent="-216000">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&lt;header&gt;</a:t>
            </a:r>
            <a:endParaRPr b="0" lang="en-IN" sz="1300" strike="noStrike" u="none">
              <a:solidFill>
                <a:srgbClr val="000000"/>
              </a:solidFill>
              <a:effectLst/>
              <a:uFillTx/>
              <a:latin typeface="Times New Roman"/>
            </a:endParaRPr>
          </a:p>
        </p:txBody>
      </p:sp>
      <p:sp>
        <p:nvSpPr>
          <p:cNvPr id="326" name=""/>
          <p:cNvSpPr txBox="1"/>
          <p:nvPr/>
        </p:nvSpPr>
        <p:spPr>
          <a:xfrm>
            <a:off x="3884400" y="0"/>
            <a:ext cx="2973240" cy="455760"/>
          </a:xfrm>
          <a:prstGeom prst="rect">
            <a:avLst/>
          </a:prstGeom>
          <a:noFill/>
          <a:ln w="0">
            <a:noFill/>
          </a:ln>
        </p:spPr>
        <p:txBody>
          <a:bodyPr anchor="t">
            <a:noAutofit/>
          </a:bodyPr>
          <a:p>
            <a:pPr marL="216000" indent="-216000" algn="r">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&lt;date/time&gt;</a:t>
            </a:r>
            <a:endParaRPr b="0" lang="en-IN" sz="1300" strike="noStrike" u="none">
              <a:solidFill>
                <a:srgbClr val="000000"/>
              </a:solidFill>
              <a:effectLst/>
              <a:uFillTx/>
              <a:latin typeface="Times New Roman"/>
            </a:endParaRPr>
          </a:p>
        </p:txBody>
      </p:sp>
      <p:sp>
        <p:nvSpPr>
          <p:cNvPr id="327" name="PlaceHolder 1"/>
          <p:cNvSpPr>
            <a:spLocks noGrp="1"/>
          </p:cNvSpPr>
          <p:nvPr>
            <p:ph type="sldImg"/>
          </p:nvPr>
        </p:nvSpPr>
        <p:spPr>
          <a:xfrm>
            <a:off x="1143000" y="685800"/>
            <a:ext cx="4572000" cy="3429000"/>
          </a:xfrm>
          <a:prstGeom prst="rect">
            <a:avLst/>
          </a:prstGeom>
          <a:ln w="0">
            <a:noFill/>
          </a:ln>
        </p:spPr>
      </p:sp>
      <p:sp>
        <p:nvSpPr>
          <p:cNvPr id="328" name="PlaceHolder 2"/>
          <p:cNvSpPr>
            <a:spLocks noGrp="1"/>
          </p:cNvSpPr>
          <p:nvPr>
            <p:ph type="body"/>
          </p:nvPr>
        </p:nvSpPr>
        <p:spPr>
          <a:xfrm>
            <a:off x="914400" y="4343400"/>
            <a:ext cx="50292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More positives in urban areas</a:t>
            </a:r>
            <a:endParaRPr b="0" lang="en-IN"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
          <p:cNvSpPr txBox="1"/>
          <p:nvPr/>
        </p:nvSpPr>
        <p:spPr>
          <a:xfrm>
            <a:off x="3884400" y="8688240"/>
            <a:ext cx="2973240" cy="455760"/>
          </a:xfrm>
          <a:prstGeom prst="rect">
            <a:avLst/>
          </a:prstGeom>
          <a:noFill/>
          <a:ln w="0">
            <a:noFill/>
          </a:ln>
        </p:spPr>
        <p:txBody>
          <a:bodyPr anchor="b">
            <a:noAutofit/>
          </a:bodyPr>
          <a:p>
            <a:pPr marL="216000" indent="-216000" algn="r">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65E0BD3-3607-41D7-BDF7-8C007915E774}" type="slidenum">
              <a:rPr b="0" lang="en-US" sz="1300" strike="noStrike" u="none">
                <a:solidFill>
                  <a:srgbClr val="000000"/>
                </a:solidFill>
                <a:effectLst/>
                <a:uFillTx/>
                <a:latin typeface="Times New Roman"/>
              </a:rPr>
              <a:t>&lt;number&gt;</a:t>
            </a:fld>
            <a:endParaRPr b="0" lang="en-IN" sz="1300" strike="noStrike" u="none">
              <a:solidFill>
                <a:srgbClr val="000000"/>
              </a:solidFill>
              <a:effectLst/>
              <a:uFillTx/>
              <a:latin typeface="Times New Roman"/>
            </a:endParaRPr>
          </a:p>
        </p:txBody>
      </p:sp>
      <p:sp>
        <p:nvSpPr>
          <p:cNvPr id="330" name=""/>
          <p:cNvSpPr txBox="1"/>
          <p:nvPr/>
        </p:nvSpPr>
        <p:spPr>
          <a:xfrm>
            <a:off x="-360" y="8688240"/>
            <a:ext cx="2973240" cy="455760"/>
          </a:xfrm>
          <a:prstGeom prst="rect">
            <a:avLst/>
          </a:prstGeom>
          <a:noFill/>
          <a:ln w="0">
            <a:noFill/>
          </a:ln>
        </p:spPr>
        <p:txBody>
          <a:bodyPr anchor="b">
            <a:noAutofit/>
          </a:bodyPr>
          <a:p>
            <a:pPr marL="216000" indent="-216000">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&lt;footer&gt;</a:t>
            </a:r>
            <a:endParaRPr b="0" lang="en-IN" sz="1300" strike="noStrike" u="none">
              <a:solidFill>
                <a:srgbClr val="000000"/>
              </a:solidFill>
              <a:effectLst/>
              <a:uFillTx/>
              <a:latin typeface="Times New Roman"/>
            </a:endParaRPr>
          </a:p>
        </p:txBody>
      </p:sp>
      <p:sp>
        <p:nvSpPr>
          <p:cNvPr id="331" name=""/>
          <p:cNvSpPr txBox="1"/>
          <p:nvPr/>
        </p:nvSpPr>
        <p:spPr>
          <a:xfrm>
            <a:off x="-360" y="0"/>
            <a:ext cx="2973240" cy="455760"/>
          </a:xfrm>
          <a:prstGeom prst="rect">
            <a:avLst/>
          </a:prstGeom>
          <a:noFill/>
          <a:ln w="0">
            <a:noFill/>
          </a:ln>
        </p:spPr>
        <p:txBody>
          <a:bodyPr anchor="t">
            <a:noAutofit/>
          </a:bodyPr>
          <a:p>
            <a:pPr marL="216000" indent="-216000">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&lt;header&gt;</a:t>
            </a:r>
            <a:endParaRPr b="0" lang="en-IN" sz="1300" strike="noStrike" u="none">
              <a:solidFill>
                <a:srgbClr val="000000"/>
              </a:solidFill>
              <a:effectLst/>
              <a:uFillTx/>
              <a:latin typeface="Times New Roman"/>
            </a:endParaRPr>
          </a:p>
        </p:txBody>
      </p:sp>
      <p:sp>
        <p:nvSpPr>
          <p:cNvPr id="332" name=""/>
          <p:cNvSpPr txBox="1"/>
          <p:nvPr/>
        </p:nvSpPr>
        <p:spPr>
          <a:xfrm>
            <a:off x="3884400" y="0"/>
            <a:ext cx="2973240" cy="455760"/>
          </a:xfrm>
          <a:prstGeom prst="rect">
            <a:avLst/>
          </a:prstGeom>
          <a:noFill/>
          <a:ln w="0">
            <a:noFill/>
          </a:ln>
        </p:spPr>
        <p:txBody>
          <a:bodyPr anchor="t">
            <a:noAutofit/>
          </a:bodyPr>
          <a:p>
            <a:pPr marL="216000" indent="-216000" algn="r">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000000"/>
                </a:solidFill>
                <a:effectLst/>
                <a:uFillTx/>
                <a:latin typeface="Times New Roman"/>
              </a:rPr>
              <a:t>&lt;date/time&gt;</a:t>
            </a:r>
            <a:endParaRPr b="0" lang="en-IN" sz="1300" strike="noStrike" u="none">
              <a:solidFill>
                <a:srgbClr val="000000"/>
              </a:solidFill>
              <a:effectLst/>
              <a:uFillTx/>
              <a:latin typeface="Times New Roman"/>
            </a:endParaRPr>
          </a:p>
        </p:txBody>
      </p:sp>
      <p:sp>
        <p:nvSpPr>
          <p:cNvPr id="333" name="PlaceHolder 1"/>
          <p:cNvSpPr>
            <a:spLocks noGrp="1"/>
          </p:cNvSpPr>
          <p:nvPr>
            <p:ph type="sldImg"/>
          </p:nvPr>
        </p:nvSpPr>
        <p:spPr>
          <a:xfrm>
            <a:off x="1143000" y="685800"/>
            <a:ext cx="4572000" cy="3429000"/>
          </a:xfrm>
          <a:prstGeom prst="rect">
            <a:avLst/>
          </a:prstGeom>
          <a:ln w="0">
            <a:noFill/>
          </a:ln>
        </p:spPr>
      </p:sp>
      <p:sp>
        <p:nvSpPr>
          <p:cNvPr id="334" name="PlaceHolder 2"/>
          <p:cNvSpPr>
            <a:spLocks noGrp="1"/>
          </p:cNvSpPr>
          <p:nvPr>
            <p:ph type="body"/>
          </p:nvPr>
        </p:nvSpPr>
        <p:spPr>
          <a:xfrm>
            <a:off x="914400" y="4343400"/>
            <a:ext cx="50292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Higher positivity in urban areas</a:t>
            </a:r>
            <a:endParaRPr b="0" lang="en-IN"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1143000" y="687240"/>
            <a:ext cx="4572000" cy="3429000"/>
          </a:xfrm>
          <a:prstGeom prst="rect">
            <a:avLst/>
          </a:prstGeom>
          <a:ln w="0">
            <a:noFill/>
          </a:ln>
        </p:spPr>
      </p:sp>
      <p:sp>
        <p:nvSpPr>
          <p:cNvPr id="336"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*Excluded interquartile ranges for racial/ethnic categories with fewer than 20 AIDS cases.  Time to diagnosis was measured in months between the first reported HIV diagnosis and the AIDS diagnosis, based on either a CD4 T lymphocyte count or diagnosis with an opportunistic infection.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I highlighted the Third Quartile column.  This is probably the more interesting column. </a:t>
            </a:r>
            <a:endParaRPr b="0" lang="en-IN"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1143000" y="687240"/>
            <a:ext cx="4572000" cy="3429000"/>
          </a:xfrm>
          <a:prstGeom prst="rect">
            <a:avLst/>
          </a:prstGeom>
          <a:ln w="0">
            <a:noFill/>
          </a:ln>
        </p:spPr>
      </p:sp>
      <p:sp>
        <p:nvSpPr>
          <p:cNvPr id="338" name="PlaceHolder 2"/>
          <p:cNvSpPr>
            <a:spLocks noGrp="1"/>
          </p:cNvSpPr>
          <p:nvPr>
            <p:ph type="body"/>
          </p:nvPr>
        </p:nvSpPr>
        <p:spPr>
          <a:xfrm>
            <a:off x="912960" y="4343400"/>
            <a:ext cx="5032080" cy="411336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*Excluded interquartile ranges for racial/ethnic categories with fewer than 20 AIDS cases.  Time to diagnosis was measured in months between the first reported HIV diagnosis and the AIDS diagnosis, based on either a CD4 T lymphocyte count or diagnosis with an opportunistic infection.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I highlighted the Third Quartile column.  This is probably the more interesting column. </a:t>
            </a: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solidFill>
          <a:srgbClr val="003399"/>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6840" y="625104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1" name="PlaceHolder 2"/>
          <p:cNvSpPr>
            <a:spLocks noGrp="1"/>
          </p:cNvSpPr>
          <p:nvPr>
            <p:ph type="sldNum" idx="2"/>
          </p:nvPr>
        </p:nvSpPr>
        <p:spPr>
          <a:xfrm>
            <a:off x="6552720" y="624816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EB626D-E80F-41D3-89B3-C5196E885D4C}"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grpSp>
        <p:nvGrpSpPr>
          <p:cNvPr id="2" name=""/>
          <p:cNvGrpSpPr/>
          <p:nvPr/>
        </p:nvGrpSpPr>
        <p:grpSpPr>
          <a:xfrm>
            <a:off x="0" y="0"/>
            <a:ext cx="9140760" cy="6850080"/>
            <a:chOff x="0" y="0"/>
            <a:chExt cx="9140760" cy="6850080"/>
          </a:xfrm>
        </p:grpSpPr>
        <p:grpSp>
          <p:nvGrpSpPr>
            <p:cNvPr id="3" name=""/>
            <p:cNvGrpSpPr/>
            <p:nvPr/>
          </p:nvGrpSpPr>
          <p:grpSpPr>
            <a:xfrm>
              <a:off x="2743200" y="3540240"/>
              <a:ext cx="6392880" cy="3309840"/>
              <a:chOff x="2743200" y="3540240"/>
              <a:chExt cx="6392880" cy="3309840"/>
            </a:xfrm>
          </p:grpSpPr>
          <p:sp>
            <p:nvSpPr>
              <p:cNvPr id="4"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9"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1" name="PlaceHolder 3"/>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Garamond"/>
              </a:rPr>
              <a:t>Click to edit the title text format</a:t>
            </a:r>
            <a:endParaRPr b="1" lang="en-IN" sz="4400" strike="noStrike" u="none">
              <a:solidFill>
                <a:srgbClr val="e5e5ff"/>
              </a:solidFill>
              <a:effectLst/>
              <a:uFillTx/>
              <a:latin typeface="Garamond"/>
            </a:endParaRPr>
          </a:p>
        </p:txBody>
      </p:sp>
      <p:sp>
        <p:nvSpPr>
          <p:cNvPr id="12" name="PlaceHolder 4"/>
          <p:cNvSpPr>
            <a:spLocks noGrp="1"/>
          </p:cNvSpPr>
          <p:nvPr>
            <p:ph type="ftr" idx="3"/>
          </p:nvPr>
        </p:nvSpPr>
        <p:spPr>
          <a:xfrm>
            <a:off x="3124080" y="624816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13" name="PlaceHolder 5"/>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743040" indent="-28584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Second Outline Level</a:t>
            </a:r>
            <a:endParaRPr b="0" lang="en-IN" sz="3200" strike="noStrike" u="none">
              <a:solidFill>
                <a:srgbClr val="ffffff"/>
              </a:solidFill>
              <a:effectLst/>
              <a:uFillTx/>
              <a:latin typeface="Garamond"/>
            </a:endParaRPr>
          </a:p>
          <a:p>
            <a:pPr lvl="2" marL="1143000" indent="-228600">
              <a:spcBef>
                <a:spcPts val="799"/>
              </a:spcBef>
              <a:buClr>
                <a:srgbClr val="e5e5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Third Outline Level</a:t>
            </a:r>
            <a:endParaRPr b="0" lang="en-IN" sz="3200" strike="noStrike" u="none">
              <a:solidFill>
                <a:srgbClr val="ffffff"/>
              </a:solidFill>
              <a:effectLst/>
              <a:uFillTx/>
              <a:latin typeface="Garamond"/>
            </a:endParaRPr>
          </a:p>
          <a:p>
            <a:pPr lvl="3" marL="1600200" indent="-22860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Fourth Outline Level</a:t>
            </a:r>
            <a:endParaRPr b="0" lang="en-IN" sz="3200" strike="noStrike" u="none">
              <a:solidFill>
                <a:srgbClr val="ffffff"/>
              </a:solidFill>
              <a:effectLst/>
              <a:uFillTx/>
              <a:latin typeface="Garamond"/>
            </a:endParaRPr>
          </a:p>
          <a:p>
            <a:pPr lvl="4" marL="2057400" indent="-22860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Fifth Outline Level</a:t>
            </a:r>
            <a:endParaRPr b="0" lang="en-IN" sz="3200" strike="noStrike" u="none">
              <a:solidFill>
                <a:srgbClr val="ffffff"/>
              </a:solidFill>
              <a:effectLst/>
              <a:uFillTx/>
              <a:latin typeface="Garamond"/>
            </a:endParaRPr>
          </a:p>
          <a:p>
            <a:pPr lvl="5"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Sixth Outline Level</a:t>
            </a:r>
            <a:endParaRPr b="0" lang="en-IN" sz="3200" strike="noStrike" u="none">
              <a:solidFill>
                <a:srgbClr val="ffffff"/>
              </a:solidFill>
              <a:effectLst/>
              <a:uFillTx/>
              <a:latin typeface="Garamond"/>
            </a:endParaRPr>
          </a:p>
          <a:p>
            <a:pPr lvl="6"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Seventh Outline Level</a:t>
            </a:r>
            <a:endParaRPr b="0" lang="en-IN" sz="3200" strike="noStrike" u="none">
              <a:solidFill>
                <a:srgbClr val="ffffff"/>
              </a:solidFill>
              <a:effectLst/>
              <a:uFillTx/>
              <a:latin typeface="Garamond"/>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p:bg>
      <p:bgPr>
        <a:solidFill>
          <a:srgbClr val="003399"/>
        </a:solidFill>
      </p:bgPr>
    </p:bg>
    <p:spTree>
      <p:nvGrpSpPr>
        <p:cNvPr id="1" name=""/>
        <p:cNvGrpSpPr/>
        <p:nvPr/>
      </p:nvGrpSpPr>
      <p:grpSpPr>
        <a:xfrm>
          <a:off x="0" y="0"/>
          <a:ext cx="0" cy="0"/>
          <a:chOff x="0" y="0"/>
          <a:chExt cx="0" cy="0"/>
        </a:xfrm>
      </p:grpSpPr>
      <p:sp>
        <p:nvSpPr>
          <p:cNvPr id="14" name="PlaceHolder 1"/>
          <p:cNvSpPr>
            <a:spLocks noGrp="1"/>
          </p:cNvSpPr>
          <p:nvPr>
            <p:ph type="dt" idx="4"/>
          </p:nvPr>
        </p:nvSpPr>
        <p:spPr>
          <a:xfrm>
            <a:off x="456840" y="625104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15" name="PlaceHolder 2"/>
          <p:cNvSpPr>
            <a:spLocks noGrp="1"/>
          </p:cNvSpPr>
          <p:nvPr>
            <p:ph type="sldNum" idx="5"/>
          </p:nvPr>
        </p:nvSpPr>
        <p:spPr>
          <a:xfrm>
            <a:off x="6552720" y="624816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FBADB2-F44F-43B7-8949-BE59EA5E1FDA}"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grpSp>
        <p:nvGrpSpPr>
          <p:cNvPr id="16" name=""/>
          <p:cNvGrpSpPr/>
          <p:nvPr/>
        </p:nvGrpSpPr>
        <p:grpSpPr>
          <a:xfrm>
            <a:off x="0" y="0"/>
            <a:ext cx="9140760" cy="6850080"/>
            <a:chOff x="0" y="0"/>
            <a:chExt cx="9140760" cy="6850080"/>
          </a:xfrm>
        </p:grpSpPr>
        <p:grpSp>
          <p:nvGrpSpPr>
            <p:cNvPr id="17" name=""/>
            <p:cNvGrpSpPr/>
            <p:nvPr/>
          </p:nvGrpSpPr>
          <p:grpSpPr>
            <a:xfrm>
              <a:off x="2743200" y="3540240"/>
              <a:ext cx="6392880" cy="3309840"/>
              <a:chOff x="2743200" y="3540240"/>
              <a:chExt cx="6392880" cy="3309840"/>
            </a:xfrm>
          </p:grpSpPr>
          <p:sp>
            <p:nvSpPr>
              <p:cNvPr id="4"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9"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8" name="PlaceHolder 3"/>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Garamond"/>
              </a:rPr>
              <a:t>Click to edit the title text format</a:t>
            </a:r>
            <a:endParaRPr b="1" lang="en-IN" sz="4400" strike="noStrike" u="none">
              <a:solidFill>
                <a:srgbClr val="e5e5ff"/>
              </a:solidFill>
              <a:effectLst/>
              <a:uFillTx/>
              <a:latin typeface="Garamond"/>
            </a:endParaRPr>
          </a:p>
        </p:txBody>
      </p:sp>
      <p:sp>
        <p:nvSpPr>
          <p:cNvPr id="19" name="PlaceHolder 4"/>
          <p:cNvSpPr>
            <a:spLocks noGrp="1"/>
          </p:cNvSpPr>
          <p:nvPr>
            <p:ph type="ftr" idx="6"/>
          </p:nvPr>
        </p:nvSpPr>
        <p:spPr>
          <a:xfrm>
            <a:off x="3124080" y="624816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20" name="PlaceHolder 5"/>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743040" indent="-28584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Second Outline Level</a:t>
            </a:r>
            <a:endParaRPr b="0" lang="en-IN" sz="3200" strike="noStrike" u="none">
              <a:solidFill>
                <a:srgbClr val="ffffff"/>
              </a:solidFill>
              <a:effectLst/>
              <a:uFillTx/>
              <a:latin typeface="Garamond"/>
            </a:endParaRPr>
          </a:p>
          <a:p>
            <a:pPr lvl="2" marL="1143000" indent="-228600">
              <a:spcBef>
                <a:spcPts val="799"/>
              </a:spcBef>
              <a:buClr>
                <a:srgbClr val="e5e5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Third Outline Level</a:t>
            </a:r>
            <a:endParaRPr b="0" lang="en-IN" sz="3200" strike="noStrike" u="none">
              <a:solidFill>
                <a:srgbClr val="ffffff"/>
              </a:solidFill>
              <a:effectLst/>
              <a:uFillTx/>
              <a:latin typeface="Garamond"/>
            </a:endParaRPr>
          </a:p>
          <a:p>
            <a:pPr lvl="3" marL="1600200" indent="-22860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Fourth Outline Level</a:t>
            </a:r>
            <a:endParaRPr b="0" lang="en-IN" sz="3200" strike="noStrike" u="none">
              <a:solidFill>
                <a:srgbClr val="ffffff"/>
              </a:solidFill>
              <a:effectLst/>
              <a:uFillTx/>
              <a:latin typeface="Garamond"/>
            </a:endParaRPr>
          </a:p>
          <a:p>
            <a:pPr lvl="4" marL="2057400" indent="-22860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Fifth Outline Level</a:t>
            </a:r>
            <a:endParaRPr b="0" lang="en-IN" sz="3200" strike="noStrike" u="none">
              <a:solidFill>
                <a:srgbClr val="ffffff"/>
              </a:solidFill>
              <a:effectLst/>
              <a:uFillTx/>
              <a:latin typeface="Garamond"/>
            </a:endParaRPr>
          </a:p>
          <a:p>
            <a:pPr lvl="5"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Sixth Outline Level</a:t>
            </a:r>
            <a:endParaRPr b="0" lang="en-IN" sz="3200" strike="noStrike" u="none">
              <a:solidFill>
                <a:srgbClr val="ffffff"/>
              </a:solidFill>
              <a:effectLst/>
              <a:uFillTx/>
              <a:latin typeface="Garamond"/>
            </a:endParaRPr>
          </a:p>
          <a:p>
            <a:pPr lvl="6"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Seventh Outline Level</a:t>
            </a:r>
            <a:endParaRPr b="0" lang="en-IN" sz="3200" strike="noStrike" u="none">
              <a:solidFill>
                <a:srgbClr val="ffffff"/>
              </a:solidFill>
              <a:effectLst/>
              <a:uFillTx/>
              <a:latin typeface="Garamond"/>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chart" preserve="1">
  <p:cSld name="Default">
    <p:bg>
      <p:bgPr>
        <a:solidFill>
          <a:srgbClr val="003399"/>
        </a:solidFill>
      </p:bgPr>
    </p:bg>
    <p:spTree>
      <p:nvGrpSpPr>
        <p:cNvPr id="1" name=""/>
        <p:cNvGrpSpPr/>
        <p:nvPr/>
      </p:nvGrpSpPr>
      <p:grpSpPr>
        <a:xfrm>
          <a:off x="0" y="0"/>
          <a:ext cx="0" cy="0"/>
          <a:chOff x="0" y="0"/>
          <a:chExt cx="0" cy="0"/>
        </a:xfrm>
      </p:grpSpPr>
      <p:sp>
        <p:nvSpPr>
          <p:cNvPr id="21" name="PlaceHolder 1"/>
          <p:cNvSpPr>
            <a:spLocks noGrp="1"/>
          </p:cNvSpPr>
          <p:nvPr>
            <p:ph type="dt" idx="7"/>
          </p:nvPr>
        </p:nvSpPr>
        <p:spPr>
          <a:xfrm>
            <a:off x="456840" y="625104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22" name="PlaceHolder 2"/>
          <p:cNvSpPr>
            <a:spLocks noGrp="1"/>
          </p:cNvSpPr>
          <p:nvPr>
            <p:ph type="sldNum" idx="8"/>
          </p:nvPr>
        </p:nvSpPr>
        <p:spPr>
          <a:xfrm>
            <a:off x="6552720" y="624816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6443CC6-BCCA-4E0E-9C0B-D9190D714DB1}"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grpSp>
        <p:nvGrpSpPr>
          <p:cNvPr id="23" name=""/>
          <p:cNvGrpSpPr/>
          <p:nvPr/>
        </p:nvGrpSpPr>
        <p:grpSpPr>
          <a:xfrm>
            <a:off x="0" y="0"/>
            <a:ext cx="9140760" cy="6850080"/>
            <a:chOff x="0" y="0"/>
            <a:chExt cx="9140760" cy="6850080"/>
          </a:xfrm>
        </p:grpSpPr>
        <p:grpSp>
          <p:nvGrpSpPr>
            <p:cNvPr id="24" name=""/>
            <p:cNvGrpSpPr/>
            <p:nvPr/>
          </p:nvGrpSpPr>
          <p:grpSpPr>
            <a:xfrm>
              <a:off x="2743200" y="3540240"/>
              <a:ext cx="6392880" cy="3309840"/>
              <a:chOff x="2743200" y="3540240"/>
              <a:chExt cx="6392880" cy="3309840"/>
            </a:xfrm>
          </p:grpSpPr>
          <p:sp>
            <p:nvSpPr>
              <p:cNvPr id="4"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9"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25" name="PlaceHolder 3"/>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Garamond"/>
              </a:rPr>
              <a:t>Click to edit the title text format</a:t>
            </a:r>
            <a:endParaRPr b="1" lang="en-IN" sz="4400" strike="noStrike" u="none">
              <a:solidFill>
                <a:srgbClr val="e5e5ff"/>
              </a:solidFill>
              <a:effectLst/>
              <a:uFillTx/>
              <a:latin typeface="Garamond"/>
            </a:endParaRPr>
          </a:p>
        </p:txBody>
      </p:sp>
      <p:sp>
        <p:nvSpPr>
          <p:cNvPr id="26" name="PlaceHolder 4"/>
          <p:cNvSpPr>
            <a:spLocks noGrp="1"/>
          </p:cNvSpPr>
          <p:nvPr>
            <p:ph type="ftr" idx="9"/>
          </p:nvPr>
        </p:nvSpPr>
        <p:spPr>
          <a:xfrm>
            <a:off x="3124080" y="624816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27" name="PlaceHolder 5"/>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743040" indent="-28584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Second Outline Level</a:t>
            </a:r>
            <a:endParaRPr b="0" lang="en-IN" sz="3200" strike="noStrike" u="none">
              <a:solidFill>
                <a:srgbClr val="ffffff"/>
              </a:solidFill>
              <a:effectLst/>
              <a:uFillTx/>
              <a:latin typeface="Garamond"/>
            </a:endParaRPr>
          </a:p>
          <a:p>
            <a:pPr lvl="2" marL="1143000" indent="-228600">
              <a:spcBef>
                <a:spcPts val="799"/>
              </a:spcBef>
              <a:buClr>
                <a:srgbClr val="e5e5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Third Outline Level</a:t>
            </a:r>
            <a:endParaRPr b="0" lang="en-IN" sz="3200" strike="noStrike" u="none">
              <a:solidFill>
                <a:srgbClr val="ffffff"/>
              </a:solidFill>
              <a:effectLst/>
              <a:uFillTx/>
              <a:latin typeface="Garamond"/>
            </a:endParaRPr>
          </a:p>
          <a:p>
            <a:pPr lvl="3" marL="1600200" indent="-22860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Fourth Outline Level</a:t>
            </a:r>
            <a:endParaRPr b="0" lang="en-IN" sz="3200" strike="noStrike" u="none">
              <a:solidFill>
                <a:srgbClr val="ffffff"/>
              </a:solidFill>
              <a:effectLst/>
              <a:uFillTx/>
              <a:latin typeface="Garamond"/>
            </a:endParaRPr>
          </a:p>
          <a:p>
            <a:pPr lvl="4" marL="2057400" indent="-22860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Fifth Outline Level</a:t>
            </a:r>
            <a:endParaRPr b="0" lang="en-IN" sz="3200" strike="noStrike" u="none">
              <a:solidFill>
                <a:srgbClr val="ffffff"/>
              </a:solidFill>
              <a:effectLst/>
              <a:uFillTx/>
              <a:latin typeface="Garamond"/>
            </a:endParaRPr>
          </a:p>
          <a:p>
            <a:pPr lvl="5"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Sixth Outline Level</a:t>
            </a:r>
            <a:endParaRPr b="0" lang="en-IN" sz="3200" strike="noStrike" u="none">
              <a:solidFill>
                <a:srgbClr val="ffffff"/>
              </a:solidFill>
              <a:effectLst/>
              <a:uFillTx/>
              <a:latin typeface="Garamond"/>
            </a:endParaRPr>
          </a:p>
          <a:p>
            <a:pPr lvl="6"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Seventh Outline Level</a:t>
            </a:r>
            <a:endParaRPr b="0" lang="en-IN" sz="3200" strike="noStrike" u="none">
              <a:solidFill>
                <a:srgbClr val="ffffff"/>
              </a:solidFill>
              <a:effectLst/>
              <a:uFillTx/>
              <a:latin typeface="Garamond"/>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Default">
    <p:bg>
      <p:bgPr>
        <a:solidFill>
          <a:srgbClr val="003399"/>
        </a:solidFill>
      </p:bgPr>
    </p:bg>
    <p:spTree>
      <p:nvGrpSpPr>
        <p:cNvPr id="1" name=""/>
        <p:cNvGrpSpPr/>
        <p:nvPr/>
      </p:nvGrpSpPr>
      <p:grpSpPr>
        <a:xfrm>
          <a:off x="0" y="0"/>
          <a:ext cx="0" cy="0"/>
          <a:chOff x="0" y="0"/>
          <a:chExt cx="0" cy="0"/>
        </a:xfrm>
      </p:grpSpPr>
      <p:sp>
        <p:nvSpPr>
          <p:cNvPr id="28" name="PlaceHolder 1"/>
          <p:cNvSpPr>
            <a:spLocks noGrp="1"/>
          </p:cNvSpPr>
          <p:nvPr>
            <p:ph type="dt" idx="10"/>
          </p:nvPr>
        </p:nvSpPr>
        <p:spPr>
          <a:xfrm>
            <a:off x="456840" y="625104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29" name="PlaceHolder 2"/>
          <p:cNvSpPr>
            <a:spLocks noGrp="1"/>
          </p:cNvSpPr>
          <p:nvPr>
            <p:ph type="sldNum" idx="11"/>
          </p:nvPr>
        </p:nvSpPr>
        <p:spPr>
          <a:xfrm>
            <a:off x="6552720" y="624816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CD9873-F8EF-4302-A289-92F87B72AAE1}"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grpSp>
        <p:nvGrpSpPr>
          <p:cNvPr id="30" name=""/>
          <p:cNvGrpSpPr/>
          <p:nvPr/>
        </p:nvGrpSpPr>
        <p:grpSpPr>
          <a:xfrm>
            <a:off x="0" y="0"/>
            <a:ext cx="9140760" cy="6850080"/>
            <a:chOff x="0" y="0"/>
            <a:chExt cx="9140760" cy="6850080"/>
          </a:xfrm>
        </p:grpSpPr>
        <p:grpSp>
          <p:nvGrpSpPr>
            <p:cNvPr id="31" name=""/>
            <p:cNvGrpSpPr/>
            <p:nvPr/>
          </p:nvGrpSpPr>
          <p:grpSpPr>
            <a:xfrm>
              <a:off x="2743200" y="3540240"/>
              <a:ext cx="6392880" cy="3309840"/>
              <a:chOff x="2743200" y="3540240"/>
              <a:chExt cx="6392880" cy="3309840"/>
            </a:xfrm>
          </p:grpSpPr>
          <p:sp>
            <p:nvSpPr>
              <p:cNvPr id="4"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9"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32" name="PlaceHolder 3"/>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Garamond"/>
              </a:rPr>
              <a:t>Click to edit the title text format</a:t>
            </a:r>
            <a:endParaRPr b="1" lang="en-IN" sz="4400" strike="noStrike" u="none">
              <a:solidFill>
                <a:srgbClr val="e5e5ff"/>
              </a:solidFill>
              <a:effectLst/>
              <a:uFillTx/>
              <a:latin typeface="Garamond"/>
            </a:endParaRPr>
          </a:p>
        </p:txBody>
      </p:sp>
      <p:sp>
        <p:nvSpPr>
          <p:cNvPr id="33" name="PlaceHolder 4"/>
          <p:cNvSpPr>
            <a:spLocks noGrp="1"/>
          </p:cNvSpPr>
          <p:nvPr>
            <p:ph type="ftr" idx="12"/>
          </p:nvPr>
        </p:nvSpPr>
        <p:spPr>
          <a:xfrm>
            <a:off x="3124080" y="624816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34" name="PlaceHolder 5"/>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743040" indent="-28584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Second Outline Level</a:t>
            </a:r>
            <a:endParaRPr b="0" lang="en-IN" sz="3200" strike="noStrike" u="none">
              <a:solidFill>
                <a:srgbClr val="ffffff"/>
              </a:solidFill>
              <a:effectLst/>
              <a:uFillTx/>
              <a:latin typeface="Garamond"/>
            </a:endParaRPr>
          </a:p>
          <a:p>
            <a:pPr lvl="2" marL="1143000" indent="-228600">
              <a:spcBef>
                <a:spcPts val="799"/>
              </a:spcBef>
              <a:buClr>
                <a:srgbClr val="e5e5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Third Outline Level</a:t>
            </a:r>
            <a:endParaRPr b="0" lang="en-IN" sz="3200" strike="noStrike" u="none">
              <a:solidFill>
                <a:srgbClr val="ffffff"/>
              </a:solidFill>
              <a:effectLst/>
              <a:uFillTx/>
              <a:latin typeface="Garamond"/>
            </a:endParaRPr>
          </a:p>
          <a:p>
            <a:pPr lvl="3" marL="1600200" indent="-22860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Fourth Outline Level</a:t>
            </a:r>
            <a:endParaRPr b="0" lang="en-IN" sz="3200" strike="noStrike" u="none">
              <a:solidFill>
                <a:srgbClr val="ffffff"/>
              </a:solidFill>
              <a:effectLst/>
              <a:uFillTx/>
              <a:latin typeface="Garamond"/>
            </a:endParaRPr>
          </a:p>
          <a:p>
            <a:pPr lvl="4" marL="2057400" indent="-22860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Fifth Outline Level</a:t>
            </a:r>
            <a:endParaRPr b="0" lang="en-IN" sz="3200" strike="noStrike" u="none">
              <a:solidFill>
                <a:srgbClr val="ffffff"/>
              </a:solidFill>
              <a:effectLst/>
              <a:uFillTx/>
              <a:latin typeface="Garamond"/>
            </a:endParaRPr>
          </a:p>
          <a:p>
            <a:pPr lvl="5"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Sixth Outline Level</a:t>
            </a:r>
            <a:endParaRPr b="0" lang="en-IN" sz="3200" strike="noStrike" u="none">
              <a:solidFill>
                <a:srgbClr val="ffffff"/>
              </a:solidFill>
              <a:effectLst/>
              <a:uFillTx/>
              <a:latin typeface="Garamond"/>
            </a:endParaRPr>
          </a:p>
          <a:p>
            <a:pPr lvl="6"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Seventh Outline Level</a:t>
            </a:r>
            <a:endParaRPr b="0" lang="en-IN" sz="3200" strike="noStrike" u="none">
              <a:solidFill>
                <a:srgbClr val="ffffff"/>
              </a:solidFill>
              <a:effectLst/>
              <a:uFillTx/>
              <a:latin typeface="Garamond"/>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003399"/>
        </a:solidFill>
      </p:bgPr>
    </p:bg>
    <p:spTree>
      <p:nvGrpSpPr>
        <p:cNvPr id="1" name=""/>
        <p:cNvGrpSpPr/>
        <p:nvPr/>
      </p:nvGrpSpPr>
      <p:grpSpPr>
        <a:xfrm>
          <a:off x="0" y="0"/>
          <a:ext cx="0" cy="0"/>
          <a:chOff x="0" y="0"/>
          <a:chExt cx="0" cy="0"/>
        </a:xfrm>
      </p:grpSpPr>
      <p:sp>
        <p:nvSpPr>
          <p:cNvPr id="35" name="PlaceHolder 1"/>
          <p:cNvSpPr>
            <a:spLocks noGrp="1"/>
          </p:cNvSpPr>
          <p:nvPr>
            <p:ph type="dt" idx="13"/>
          </p:nvPr>
        </p:nvSpPr>
        <p:spPr>
          <a:xfrm>
            <a:off x="456840" y="625104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36" name="PlaceHolder 2"/>
          <p:cNvSpPr>
            <a:spLocks noGrp="1"/>
          </p:cNvSpPr>
          <p:nvPr>
            <p:ph type="sldNum" idx="14"/>
          </p:nvPr>
        </p:nvSpPr>
        <p:spPr>
          <a:xfrm>
            <a:off x="6552720" y="624816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7DDB9A7-D4E6-4841-A83E-612F7656F84A}"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grpSp>
        <p:nvGrpSpPr>
          <p:cNvPr id="37" name=""/>
          <p:cNvGrpSpPr/>
          <p:nvPr/>
        </p:nvGrpSpPr>
        <p:grpSpPr>
          <a:xfrm>
            <a:off x="0" y="0"/>
            <a:ext cx="9140760" cy="6850080"/>
            <a:chOff x="0" y="0"/>
            <a:chExt cx="9140760" cy="6850080"/>
          </a:xfrm>
        </p:grpSpPr>
        <p:grpSp>
          <p:nvGrpSpPr>
            <p:cNvPr id="38" name=""/>
            <p:cNvGrpSpPr/>
            <p:nvPr/>
          </p:nvGrpSpPr>
          <p:grpSpPr>
            <a:xfrm>
              <a:off x="2743200" y="3540240"/>
              <a:ext cx="6392880" cy="3309840"/>
              <a:chOff x="2743200" y="3540240"/>
              <a:chExt cx="6392880" cy="3309840"/>
            </a:xfrm>
          </p:grpSpPr>
          <p:sp>
            <p:nvSpPr>
              <p:cNvPr id="4"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9"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39" name="PlaceHolder 3"/>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Garamond"/>
              </a:rPr>
              <a:t>Click to edit the title text format</a:t>
            </a:r>
            <a:endParaRPr b="1" lang="en-IN" sz="4400" strike="noStrike" u="none">
              <a:solidFill>
                <a:srgbClr val="e5e5ff"/>
              </a:solidFill>
              <a:effectLst/>
              <a:uFillTx/>
              <a:latin typeface="Garamond"/>
            </a:endParaRPr>
          </a:p>
        </p:txBody>
      </p:sp>
      <p:sp>
        <p:nvSpPr>
          <p:cNvPr id="40" name="PlaceHolder 4"/>
          <p:cNvSpPr>
            <a:spLocks noGrp="1"/>
          </p:cNvSpPr>
          <p:nvPr>
            <p:ph type="ftr" idx="15"/>
          </p:nvPr>
        </p:nvSpPr>
        <p:spPr>
          <a:xfrm>
            <a:off x="3124080" y="624816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41" name="PlaceHolder 5"/>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743040" indent="-28584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Second Outline Level</a:t>
            </a:r>
            <a:endParaRPr b="0" lang="en-IN" sz="3200" strike="noStrike" u="none">
              <a:solidFill>
                <a:srgbClr val="ffffff"/>
              </a:solidFill>
              <a:effectLst/>
              <a:uFillTx/>
              <a:latin typeface="Garamond"/>
            </a:endParaRPr>
          </a:p>
          <a:p>
            <a:pPr lvl="2" marL="1143000" indent="-228600">
              <a:spcBef>
                <a:spcPts val="799"/>
              </a:spcBef>
              <a:buClr>
                <a:srgbClr val="e5e5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Third Outline Level</a:t>
            </a:r>
            <a:endParaRPr b="0" lang="en-IN" sz="3200" strike="noStrike" u="none">
              <a:solidFill>
                <a:srgbClr val="ffffff"/>
              </a:solidFill>
              <a:effectLst/>
              <a:uFillTx/>
              <a:latin typeface="Garamond"/>
            </a:endParaRPr>
          </a:p>
          <a:p>
            <a:pPr lvl="3" marL="1600200" indent="-22860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Fourth Outline Level</a:t>
            </a:r>
            <a:endParaRPr b="0" lang="en-IN" sz="3200" strike="noStrike" u="none">
              <a:solidFill>
                <a:srgbClr val="ffffff"/>
              </a:solidFill>
              <a:effectLst/>
              <a:uFillTx/>
              <a:latin typeface="Garamond"/>
            </a:endParaRPr>
          </a:p>
          <a:p>
            <a:pPr lvl="4" marL="2057400" indent="-22860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Fifth Outline Level</a:t>
            </a:r>
            <a:endParaRPr b="0" lang="en-IN" sz="3200" strike="noStrike" u="none">
              <a:solidFill>
                <a:srgbClr val="ffffff"/>
              </a:solidFill>
              <a:effectLst/>
              <a:uFillTx/>
              <a:latin typeface="Garamond"/>
            </a:endParaRPr>
          </a:p>
          <a:p>
            <a:pPr lvl="5"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Sixth Outline Level</a:t>
            </a:r>
            <a:endParaRPr b="0" lang="en-IN" sz="3200" strike="noStrike" u="none">
              <a:solidFill>
                <a:srgbClr val="ffffff"/>
              </a:solidFill>
              <a:effectLst/>
              <a:uFillTx/>
              <a:latin typeface="Garamond"/>
            </a:endParaRPr>
          </a:p>
          <a:p>
            <a:pPr lvl="6"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Seventh Outline Level</a:t>
            </a:r>
            <a:endParaRPr b="0" lang="en-IN" sz="3200" strike="noStrike" u="none">
              <a:solidFill>
                <a:srgbClr val="ffffff"/>
              </a:solidFill>
              <a:effectLst/>
              <a:uFillTx/>
              <a:latin typeface="Garamond"/>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003399"/>
        </a:solidFill>
      </p:bgPr>
    </p:bg>
    <p:spTree>
      <p:nvGrpSpPr>
        <p:cNvPr id="1" name=""/>
        <p:cNvGrpSpPr/>
        <p:nvPr/>
      </p:nvGrpSpPr>
      <p:grpSpPr>
        <a:xfrm>
          <a:off x="0" y="0"/>
          <a:ext cx="0" cy="0"/>
          <a:chOff x="0" y="0"/>
          <a:chExt cx="0" cy="0"/>
        </a:xfrm>
      </p:grpSpPr>
      <p:sp>
        <p:nvSpPr>
          <p:cNvPr id="42" name="PlaceHolder 1"/>
          <p:cNvSpPr>
            <a:spLocks noGrp="1"/>
          </p:cNvSpPr>
          <p:nvPr>
            <p:ph type="dt" idx="16"/>
          </p:nvPr>
        </p:nvSpPr>
        <p:spPr>
          <a:xfrm>
            <a:off x="456840" y="625104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43" name="PlaceHolder 2"/>
          <p:cNvSpPr>
            <a:spLocks noGrp="1"/>
          </p:cNvSpPr>
          <p:nvPr>
            <p:ph type="sldNum" idx="17"/>
          </p:nvPr>
        </p:nvSpPr>
        <p:spPr>
          <a:xfrm>
            <a:off x="6552720" y="624816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FFA6D7-7529-4F99-A727-0EB34F0056A4}"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grpSp>
        <p:nvGrpSpPr>
          <p:cNvPr id="44" name=""/>
          <p:cNvGrpSpPr/>
          <p:nvPr/>
        </p:nvGrpSpPr>
        <p:grpSpPr>
          <a:xfrm>
            <a:off x="0" y="0"/>
            <a:ext cx="9140760" cy="6850080"/>
            <a:chOff x="0" y="0"/>
            <a:chExt cx="9140760" cy="6850080"/>
          </a:xfrm>
        </p:grpSpPr>
        <p:grpSp>
          <p:nvGrpSpPr>
            <p:cNvPr id="45" name=""/>
            <p:cNvGrpSpPr/>
            <p:nvPr/>
          </p:nvGrpSpPr>
          <p:grpSpPr>
            <a:xfrm>
              <a:off x="2743200" y="3540240"/>
              <a:ext cx="6392880" cy="3309840"/>
              <a:chOff x="2743200" y="3540240"/>
              <a:chExt cx="6392880" cy="3309840"/>
            </a:xfrm>
          </p:grpSpPr>
          <p:sp>
            <p:nvSpPr>
              <p:cNvPr id="4"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7"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8"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9"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0"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46" name="PlaceHolder 3"/>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Garamond"/>
              </a:rPr>
              <a:t>Click to edit the title text format</a:t>
            </a:r>
            <a:endParaRPr b="1" lang="en-IN" sz="4400" strike="noStrike" u="none">
              <a:solidFill>
                <a:srgbClr val="e5e5ff"/>
              </a:solidFill>
              <a:effectLst/>
              <a:uFillTx/>
              <a:latin typeface="Garamond"/>
            </a:endParaRPr>
          </a:p>
        </p:txBody>
      </p:sp>
      <p:sp>
        <p:nvSpPr>
          <p:cNvPr id="47" name="PlaceHolder 4"/>
          <p:cNvSpPr>
            <a:spLocks noGrp="1"/>
          </p:cNvSpPr>
          <p:nvPr>
            <p:ph type="ftr" idx="18"/>
          </p:nvPr>
        </p:nvSpPr>
        <p:spPr>
          <a:xfrm>
            <a:off x="3124080" y="624816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48" name="PlaceHolder 5"/>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743040" indent="-28584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Second Outline Level</a:t>
            </a:r>
            <a:endParaRPr b="0" lang="en-IN" sz="3200" strike="noStrike" u="none">
              <a:solidFill>
                <a:srgbClr val="ffffff"/>
              </a:solidFill>
              <a:effectLst/>
              <a:uFillTx/>
              <a:latin typeface="Garamond"/>
            </a:endParaRPr>
          </a:p>
          <a:p>
            <a:pPr lvl="2" marL="1143000" indent="-228600">
              <a:spcBef>
                <a:spcPts val="799"/>
              </a:spcBef>
              <a:buClr>
                <a:srgbClr val="e5e5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Third Outline Level</a:t>
            </a:r>
            <a:endParaRPr b="0" lang="en-IN" sz="3200" strike="noStrike" u="none">
              <a:solidFill>
                <a:srgbClr val="ffffff"/>
              </a:solidFill>
              <a:effectLst/>
              <a:uFillTx/>
              <a:latin typeface="Garamond"/>
            </a:endParaRPr>
          </a:p>
          <a:p>
            <a:pPr lvl="3" marL="1600200" indent="-228600">
              <a:spcBef>
                <a:spcPts val="799"/>
              </a:spcBef>
              <a:buClr>
                <a:srgbClr val="a886e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Fourth Outline Level</a:t>
            </a:r>
            <a:endParaRPr b="0" lang="en-IN" sz="3200" strike="noStrike" u="none">
              <a:solidFill>
                <a:srgbClr val="ffffff"/>
              </a:solidFill>
              <a:effectLst/>
              <a:uFillTx/>
              <a:latin typeface="Garamond"/>
            </a:endParaRPr>
          </a:p>
          <a:p>
            <a:pPr lvl="4" marL="2057400" indent="-228600">
              <a:spcBef>
                <a:spcPts val="799"/>
              </a:spcBef>
              <a:buClr>
                <a:srgbClr val="ffcc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Fifth Outline Level</a:t>
            </a:r>
            <a:endParaRPr b="0" lang="en-IN" sz="3200" strike="noStrike" u="none">
              <a:solidFill>
                <a:srgbClr val="ffffff"/>
              </a:solidFill>
              <a:effectLst/>
              <a:uFillTx/>
              <a:latin typeface="Garamond"/>
            </a:endParaRPr>
          </a:p>
          <a:p>
            <a:pPr lvl="5"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Sixth Outline Level</a:t>
            </a:r>
            <a:endParaRPr b="0" lang="en-IN" sz="3200" strike="noStrike" u="none">
              <a:solidFill>
                <a:srgbClr val="ffffff"/>
              </a:solidFill>
              <a:effectLst/>
              <a:uFillTx/>
              <a:latin typeface="Garamond"/>
            </a:endParaRPr>
          </a:p>
          <a:p>
            <a:pPr lvl="6" marL="2057400" indent="-228600">
              <a:spcBef>
                <a:spcPts val="7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Seventh Outline Level</a:t>
            </a:r>
            <a:endParaRPr b="0" lang="en-IN" sz="3200" strike="noStrike" u="none">
              <a:solidFill>
                <a:srgbClr val="ffffff"/>
              </a:solidFill>
              <a:effectLst/>
              <a:uFillTx/>
              <a:latin typeface="Garamond"/>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solidFill>
          <a:srgbClr val="003399"/>
        </a:solidFill>
      </p:bgPr>
    </p:bg>
    <p:spTree>
      <p:nvGrpSpPr>
        <p:cNvPr id="1" name=""/>
        <p:cNvGrpSpPr/>
        <p:nvPr/>
      </p:nvGrpSpPr>
      <p:grpSpPr>
        <a:xfrm>
          <a:off x="0" y="0"/>
          <a:ext cx="0" cy="0"/>
          <a:chOff x="0" y="0"/>
          <a:chExt cx="0" cy="0"/>
        </a:xfrm>
      </p:grpSpPr>
      <p:grpSp>
        <p:nvGrpSpPr>
          <p:cNvPr id="49" name=""/>
          <p:cNvGrpSpPr/>
          <p:nvPr/>
        </p:nvGrpSpPr>
        <p:grpSpPr>
          <a:xfrm>
            <a:off x="0" y="0"/>
            <a:ext cx="9140760" cy="6850080"/>
            <a:chOff x="0" y="0"/>
            <a:chExt cx="9140760" cy="6850080"/>
          </a:xfrm>
        </p:grpSpPr>
        <p:grpSp>
          <p:nvGrpSpPr>
            <p:cNvPr id="50" name=""/>
            <p:cNvGrpSpPr/>
            <p:nvPr/>
          </p:nvGrpSpPr>
          <p:grpSpPr>
            <a:xfrm>
              <a:off x="2743200" y="3540240"/>
              <a:ext cx="6392880" cy="3309840"/>
              <a:chOff x="2743200" y="3540240"/>
              <a:chExt cx="6392880" cy="3309840"/>
            </a:xfrm>
          </p:grpSpPr>
          <p:sp>
            <p:nvSpPr>
              <p:cNvPr id="51" name=""/>
              <p:cNvSpPr/>
              <p:nvPr/>
            </p:nvSpPr>
            <p:spPr>
              <a:xfrm>
                <a:off x="2743200" y="4197240"/>
                <a:ext cx="4575240" cy="2652840"/>
              </a:xfrm>
              <a:custGeom>
                <a:avLst/>
                <a:gdLst/>
                <a:ahLst/>
                <a:rect l="l" t="t"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rgbClr val="002e8a"/>
                  </a:gs>
                  <a:gs pos="100000">
                    <a:srgbClr val="003399"/>
                  </a:gs>
                </a:gsLst>
                <a:lin ang="108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2" name=""/>
              <p:cNvSpPr/>
              <p:nvPr/>
            </p:nvSpPr>
            <p:spPr>
              <a:xfrm>
                <a:off x="6620040" y="4240080"/>
                <a:ext cx="1998360" cy="1287720"/>
              </a:xfrm>
              <a:custGeom>
                <a:avLst/>
                <a:gdLst/>
                <a:ahLst/>
                <a:rect l="l" t="t"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rgbClr val="002e8a"/>
                  </a:gs>
                  <a:gs pos="100000">
                    <a:srgbClr val="003399"/>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3" name=""/>
              <p:cNvSpPr/>
              <p:nvPr/>
            </p:nvSpPr>
            <p:spPr>
              <a:xfrm>
                <a:off x="4603680" y="5311800"/>
                <a:ext cx="4522680" cy="1538280"/>
              </a:xfrm>
              <a:custGeom>
                <a:avLst/>
                <a:gdLst/>
                <a:ahLst/>
                <a:rect l="l" t="t"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97c"/>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4" name=""/>
              <p:cNvSpPr/>
              <p:nvPr/>
            </p:nvSpPr>
            <p:spPr>
              <a:xfrm>
                <a:off x="4362480" y="3540240"/>
                <a:ext cx="4773600" cy="3309840"/>
              </a:xfrm>
              <a:custGeom>
                <a:avLst/>
                <a:gdLst/>
                <a:ahLst/>
                <a:rect l="l" t="t"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rgbClr val="003399"/>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5" name=""/>
              <p:cNvSpPr/>
              <p:nvPr/>
            </p:nvSpPr>
            <p:spPr>
              <a:xfrm>
                <a:off x="7145280" y="3678120"/>
                <a:ext cx="1981080" cy="855720"/>
              </a:xfrm>
              <a:custGeom>
                <a:avLst/>
                <a:gdLst/>
                <a:ahLst/>
                <a:rect l="l" t="t"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3399"/>
                  </a:gs>
                  <a:gs pos="100000">
                    <a:srgbClr val="002c85"/>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56" name=""/>
            <p:cNvSpPr/>
            <p:nvPr/>
          </p:nvSpPr>
          <p:spPr>
            <a:xfrm>
              <a:off x="5273640" y="2128680"/>
              <a:ext cx="2897280" cy="2440080"/>
            </a:xfrm>
            <a:custGeom>
              <a:avLst/>
              <a:gdLst/>
              <a:ahLst/>
              <a:rect l="l" t="t"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3399"/>
                </a:gs>
                <a:gs pos="100000">
                  <a:srgbClr val="002b81"/>
                </a:gs>
              </a:gsLst>
              <a:lin ang="135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57" name=""/>
            <p:cNvSpPr/>
            <p:nvPr/>
          </p:nvSpPr>
          <p:spPr>
            <a:xfrm>
              <a:off x="0" y="0"/>
              <a:ext cx="9140760" cy="2819520"/>
            </a:xfrm>
            <a:custGeom>
              <a:avLst/>
              <a:gdLst/>
              <a:ahLst/>
              <a:rect l="l" t="t" r="r" b="b"/>
              <a:pathLst>
                <a:path w="5740" h="1906">
                  <a:moveTo>
                    <a:pt x="0" y="0"/>
                  </a:moveTo>
                  <a:lnTo>
                    <a:pt x="0" y="1906"/>
                  </a:lnTo>
                  <a:lnTo>
                    <a:pt x="5740" y="1906"/>
                  </a:lnTo>
                  <a:lnTo>
                    <a:pt x="5740" y="0"/>
                  </a:lnTo>
                  <a:lnTo>
                    <a:pt x="0" y="0"/>
                  </a:lnTo>
                  <a:lnTo>
                    <a:pt x="0" y="0"/>
                  </a:lnTo>
                  <a:close/>
                </a:path>
              </a:pathLst>
            </a:custGeom>
            <a:gradFill rotWithShape="0">
              <a:gsLst>
                <a:gs pos="0">
                  <a:srgbClr val="000514"/>
                </a:gs>
                <a:gs pos="100000">
                  <a:srgbClr val="003399"/>
                </a:gs>
              </a:gsLst>
              <a:lin ang="5400000"/>
            </a:gra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58" name="PlaceHolder 1"/>
          <p:cNvSpPr>
            <a:spLocks noGrp="1"/>
          </p:cNvSpPr>
          <p:nvPr>
            <p:ph type="title"/>
          </p:nvPr>
        </p:nvSpPr>
        <p:spPr>
          <a:xfrm>
            <a:off x="685800" y="1736640"/>
            <a:ext cx="7772400" cy="19209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6000" strike="noStrike" u="none">
                <a:solidFill>
                  <a:srgbClr val="e5e5ff"/>
                </a:solidFill>
                <a:effectLst/>
                <a:uFillTx/>
                <a:latin typeface="Garamond"/>
              </a:rPr>
              <a:t>Click to edit the title text format</a:t>
            </a:r>
            <a:endParaRPr b="1" lang="en-IN" sz="6000" strike="noStrike" u="none">
              <a:solidFill>
                <a:srgbClr val="e5e5ff"/>
              </a:solidFill>
              <a:effectLst/>
              <a:uFillTx/>
              <a:latin typeface="Garamond"/>
            </a:endParaRPr>
          </a:p>
        </p:txBody>
      </p:sp>
      <p:sp>
        <p:nvSpPr>
          <p:cNvPr id="59" name="PlaceHolder 2"/>
          <p:cNvSpPr>
            <a:spLocks noGrp="1"/>
          </p:cNvSpPr>
          <p:nvPr>
            <p:ph type="dt" idx="19"/>
          </p:nvPr>
        </p:nvSpPr>
        <p:spPr>
          <a:xfrm>
            <a:off x="456840" y="6248160"/>
            <a:ext cx="2133720" cy="47628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&lt;date/time&gt;</a:t>
            </a:r>
            <a:endParaRPr b="0" lang="en-IN" sz="1200" strike="noStrike" u="none">
              <a:solidFill>
                <a:srgbClr val="ffffff"/>
              </a:solidFill>
              <a:effectLst/>
              <a:uFillTx/>
              <a:latin typeface="Times New Roman"/>
            </a:endParaRPr>
          </a:p>
        </p:txBody>
      </p:sp>
      <p:sp>
        <p:nvSpPr>
          <p:cNvPr id="60" name="PlaceHolder 3"/>
          <p:cNvSpPr>
            <a:spLocks noGrp="1"/>
          </p:cNvSpPr>
          <p:nvPr>
            <p:ph type="ftr" idx="20"/>
          </p:nvPr>
        </p:nvSpPr>
        <p:spPr>
          <a:xfrm>
            <a:off x="3124080" y="6251040"/>
            <a:ext cx="2895840" cy="47628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&lt;footer&gt;</a:t>
            </a:r>
            <a:endParaRPr b="0" lang="en-IN" sz="1200" strike="noStrike" u="none">
              <a:solidFill>
                <a:srgbClr val="ffffff"/>
              </a:solidFill>
              <a:effectLst/>
              <a:uFillTx/>
              <a:latin typeface="Times New Roman"/>
            </a:endParaRPr>
          </a:p>
        </p:txBody>
      </p:sp>
      <p:sp>
        <p:nvSpPr>
          <p:cNvPr id="61" name="PlaceHolder 4"/>
          <p:cNvSpPr>
            <a:spLocks noGrp="1"/>
          </p:cNvSpPr>
          <p:nvPr>
            <p:ph type="sldNum" idx="21"/>
          </p:nvPr>
        </p:nvSpPr>
        <p:spPr>
          <a:xfrm>
            <a:off x="6552720" y="6254280"/>
            <a:ext cx="2133720" cy="47628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ffffff"/>
                </a:solidFill>
                <a:effectLst/>
                <a:uFillTx/>
                <a:latin typeface="Arial"/>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D257A51-6CE4-4FA1-98F9-35547E729D9C}"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Times New Roman"/>
            </a:endParaRPr>
          </a:p>
        </p:txBody>
      </p:sp>
      <p:sp>
        <p:nvSpPr>
          <p:cNvPr id="6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Garamond"/>
              </a:rPr>
              <a:t>Click to edit the outline text format</a:t>
            </a:r>
            <a:endParaRPr b="0" lang="en-IN" sz="3200" strike="noStrike" u="none">
              <a:solidFill>
                <a:srgbClr val="ffffff"/>
              </a:solidFill>
              <a:effectLst/>
              <a:uFillTx/>
              <a:latin typeface="Garamond"/>
            </a:endParaRPr>
          </a:p>
          <a:p>
            <a:pPr lvl="1" marL="457200" indent="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Garamond"/>
              </a:rPr>
              <a:t>Second Outline Level</a:t>
            </a:r>
            <a:endParaRPr b="0" lang="en-IN" sz="2800" strike="noStrike" u="none">
              <a:solidFill>
                <a:srgbClr val="ffffff"/>
              </a:solidFill>
              <a:effectLst/>
              <a:uFillTx/>
              <a:latin typeface="Garamond"/>
            </a:endParaRPr>
          </a:p>
          <a:p>
            <a:pPr lvl="2" marL="914400" algn="ctr">
              <a:spcBef>
                <a:spcPts val="601"/>
              </a:spcBef>
              <a:buClr>
                <a:srgbClr val="e5e5ff"/>
              </a:buClr>
              <a:buSzPct val="70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Garamond"/>
              </a:rPr>
              <a:t>Third Outline Level</a:t>
            </a:r>
            <a:endParaRPr b="0" lang="en-IN" sz="2400" strike="noStrike" u="none">
              <a:solidFill>
                <a:srgbClr val="ffffff"/>
              </a:solidFill>
              <a:effectLst/>
              <a:uFillTx/>
              <a:latin typeface="Garamond"/>
            </a:endParaRPr>
          </a:p>
          <a:p>
            <a:pPr lvl="3" marL="1371600" algn="ctr">
              <a:spcBef>
                <a:spcPts val="499"/>
              </a:spcBef>
              <a:buClr>
                <a:srgbClr val="a886e0"/>
              </a:buClr>
              <a:buSzPct val="70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Garamond"/>
              </a:rPr>
              <a:t>Fourth Outline Level</a:t>
            </a:r>
            <a:endParaRPr b="0" lang="en-IN" sz="2000" strike="noStrike" u="none">
              <a:solidFill>
                <a:srgbClr val="ffffff"/>
              </a:solidFill>
              <a:effectLst/>
              <a:uFillTx/>
              <a:latin typeface="Garamond"/>
            </a:endParaRPr>
          </a:p>
          <a:p>
            <a:pPr lvl="4" marL="1828800" algn="ctr">
              <a:spcBef>
                <a:spcPts val="499"/>
              </a:spcBef>
              <a:buClr>
                <a:srgbClr val="ffcc00"/>
              </a:buClr>
              <a:buSzPct val="70000"/>
              <a:buFont typeface="Wingdings" charset="2"/>
              <a:buChar char=""/>
              <a:tabLst>
                <a:tab algn="l" pos="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Garamond"/>
              </a:rPr>
              <a:t>Fifth Outline Level</a:t>
            </a:r>
            <a:endParaRPr b="0" lang="en-IN" sz="2000" strike="noStrike" u="none">
              <a:solidFill>
                <a:srgbClr val="ffffff"/>
              </a:solidFill>
              <a:effectLst/>
              <a:uFillTx/>
              <a:latin typeface="Garamond"/>
            </a:endParaRPr>
          </a:p>
          <a:p>
            <a:pPr lvl="5" marL="1828800">
              <a:spcBef>
                <a:spcPts val="4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Garamond"/>
              </a:rPr>
              <a:t>Sixth Outline Level</a:t>
            </a:r>
            <a:endParaRPr b="0" lang="en-IN" sz="2000" strike="noStrike" u="none">
              <a:solidFill>
                <a:srgbClr val="ffffff"/>
              </a:solidFill>
              <a:effectLst/>
              <a:uFillTx/>
              <a:latin typeface="Garamond"/>
            </a:endParaRPr>
          </a:p>
          <a:p>
            <a:pPr lvl="6" marL="1828800">
              <a:spcBef>
                <a:spcPts val="499"/>
              </a:spcBef>
              <a:buClr>
                <a:srgbClr val="fffff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Garamond"/>
              </a:rPr>
              <a:t>Seventh Outline Level</a:t>
            </a:r>
            <a:endParaRPr b="0" lang="en-IN" sz="2000" strike="noStrike" u="none">
              <a:solidFill>
                <a:srgbClr val="ffffff"/>
              </a:solidFill>
              <a:effectLst/>
              <a:uFillTx/>
              <a:latin typeface="Garamond"/>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wmf"/><Relationship Id="rId3" Type="http://schemas.openxmlformats.org/officeDocument/2006/relationships/image" Target="../media/image4.png"/><Relationship Id="rId4"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wmf"/><Relationship Id="rId3" Type="http://schemas.openxmlformats.org/officeDocument/2006/relationships/oleObject" Target="../embeddings/oleObject2.bin"/><Relationship Id="rId4" Type="http://schemas.openxmlformats.org/officeDocument/2006/relationships/image" Target="../media/image6.wmf"/><Relationship Id="rId5"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7.wmf"/><Relationship Id="rId3" Type="http://schemas.openxmlformats.org/officeDocument/2006/relationships/oleObject" Target="../embeddings/oleObject2.bin"/><Relationship Id="rId4" Type="http://schemas.openxmlformats.org/officeDocument/2006/relationships/image" Target="../media/image8.wmf"/><Relationship Id="rId5"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9.wmf"/><Relationship Id="rId3" Type="http://schemas.openxmlformats.org/officeDocument/2006/relationships/slideLayout" Target="../slideLayouts/slideLayout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0.wmf"/><Relationship Id="rId3" Type="http://schemas.openxmlformats.org/officeDocument/2006/relationships/oleObject" Target="../embeddings/oleObject2.bin"/><Relationship Id="rId4" Type="http://schemas.openxmlformats.org/officeDocument/2006/relationships/image" Target="../media/image11.wmf"/><Relationship Id="rId5"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2.wmf"/><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4.wmf"/><Relationship Id="rId3" Type="http://schemas.openxmlformats.org/officeDocument/2006/relationships/image" Target="../media/image15.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6.wmf"/><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6.wmf"/><Relationship Id="rId3" Type="http://schemas.openxmlformats.org/officeDocument/2006/relationships/oleObject" Target="../embeddings/oleObject2.bin"/><Relationship Id="rId4" Type="http://schemas.openxmlformats.org/officeDocument/2006/relationships/image" Target="../media/image17.wmf"/><Relationship Id="rId5" Type="http://schemas.openxmlformats.org/officeDocument/2006/relationships/slideLayout" Target="../slideLayouts/slideLayout1.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8.wmf"/><Relationship Id="rId3" Type="http://schemas.openxmlformats.org/officeDocument/2006/relationships/oleObject" Target="../embeddings/oleObject2.bin"/><Relationship Id="rId4" Type="http://schemas.openxmlformats.org/officeDocument/2006/relationships/image" Target="../media/image19.wmf"/><Relationship Id="rId5" Type="http://schemas.openxmlformats.org/officeDocument/2006/relationships/oleObject" Target="../embeddings/oleObject3.bin"/><Relationship Id="rId6" Type="http://schemas.openxmlformats.org/officeDocument/2006/relationships/image" Target="../media/image20.wmf"/><Relationship Id="rId7" Type="http://schemas.openxmlformats.org/officeDocument/2006/relationships/slideLayout" Target="../slideLayouts/slideLayout2.xml"/><Relationship Id="rId8"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1.wmf"/><Relationship Id="rId3" Type="http://schemas.openxmlformats.org/officeDocument/2006/relationships/slideLayout" Target="../slideLayouts/slideLayout2.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70" name="PlaceHolder 1"/>
          <p:cNvSpPr>
            <a:spLocks noGrp="1"/>
          </p:cNvSpPr>
          <p:nvPr>
            <p:ph type="subTitle"/>
          </p:nvPr>
        </p:nvSpPr>
        <p:spPr>
          <a:xfrm>
            <a:off x="761760" y="5029200"/>
            <a:ext cx="7848360" cy="129528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71" name=""/>
          <p:cNvSpPr/>
          <p:nvPr/>
        </p:nvSpPr>
        <p:spPr>
          <a:xfrm>
            <a:off x="380880" y="304920"/>
            <a:ext cx="8529840" cy="513972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ff"/>
                </a:solidFill>
                <a:effectLst/>
                <a:uFillTx/>
                <a:latin typeface="Arial"/>
              </a:rPr>
              <a:t>HIV/AIDS Among African-Americans in California: Epidemiologic Data and Research Overview</a:t>
            </a:r>
            <a:endParaRPr b="0" lang="en-IN" sz="40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6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cc"/>
                </a:solidFill>
                <a:effectLst/>
                <a:uFillTx/>
                <a:latin typeface="Arial"/>
              </a:rPr>
              <a:t>Christopher Krawczyk, Ph.D.</a:t>
            </a:r>
            <a:endParaRPr b="0" lang="en-IN" sz="32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Chief – HIV Prevention Research and </a:t>
            </a:r>
            <a:endParaRPr b="0" lang="en-IN" sz="2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Evaluation Section</a:t>
            </a:r>
            <a:endParaRPr b="0" lang="en-IN" sz="2400" strike="noStrike" u="none">
              <a:solidFill>
                <a:srgbClr val="ffffff"/>
              </a:solidFill>
              <a:effectLst/>
              <a:uFillTx/>
              <a:latin typeface="Times New Roman"/>
            </a:endParaRPr>
          </a:p>
        </p:txBody>
      </p:sp>
      <p:pic>
        <p:nvPicPr>
          <p:cNvPr id="72" name="" descr=""/>
          <p:cNvPicPr/>
          <p:nvPr/>
        </p:nvPicPr>
        <p:blipFill>
          <a:blip r:embed="rId1"/>
          <a:stretch/>
        </p:blipFill>
        <p:spPr>
          <a:xfrm>
            <a:off x="228600" y="5562720"/>
            <a:ext cx="1270080" cy="1057320"/>
          </a:xfrm>
          <a:prstGeom prst="rect">
            <a:avLst/>
          </a:prstGeom>
          <a:noFill/>
          <a:ln w="0">
            <a:noFill/>
          </a:ln>
        </p:spPr>
      </p:pic>
      <p:pic>
        <p:nvPicPr>
          <p:cNvPr id="73" name="" descr=""/>
          <p:cNvPicPr/>
          <p:nvPr/>
        </p:nvPicPr>
        <p:blipFill>
          <a:blip r:embed="rId2"/>
          <a:stretch/>
        </p:blipFill>
        <p:spPr>
          <a:xfrm>
            <a:off x="7772400" y="5486400"/>
            <a:ext cx="1122480" cy="1143000"/>
          </a:xfrm>
          <a:prstGeom prst="rect">
            <a:avLst/>
          </a:prstGeom>
          <a:noFill/>
          <a:ln w="0">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228600" y="0"/>
            <a:ext cx="8686800" cy="14479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General Population Statistics</a:t>
            </a:r>
            <a:endParaRPr b="1" lang="en-IN" sz="4400" strike="noStrike" u="none">
              <a:solidFill>
                <a:srgbClr val="e5e5ff"/>
              </a:solidFill>
              <a:effectLst/>
              <a:uFillTx/>
              <a:latin typeface="Garamond"/>
            </a:endParaRPr>
          </a:p>
        </p:txBody>
      </p:sp>
      <p:graphicFrame>
        <p:nvGraphicFramePr>
          <p:cNvPr id="75" name=""/>
          <p:cNvGraphicFramePr/>
          <p:nvPr/>
        </p:nvGraphicFramePr>
        <p:xfrm>
          <a:off x="838080" y="1828800"/>
          <a:ext cx="7391520" cy="3397320"/>
        </p:xfrm>
        <a:graphic>
          <a:graphicData uri="http://schemas.openxmlformats.org/drawingml/2006/table">
            <a:tbl>
              <a:tblPr/>
              <a:tblGrid>
                <a:gridCol w="3810240"/>
                <a:gridCol w="1904760"/>
                <a:gridCol w="1676520"/>
              </a:tblGrid>
              <a:tr h="534960">
                <a:tc>
                  <a:txBody>
                    <a:bodyPr lIns="90000" rIns="90000" tIns="46800" bIns="46800" anchor="t">
                      <a:noAutofit/>
                    </a:bodyPr>
                    <a:p>
                      <a:pPr>
                        <a:lnSpc>
                          <a:spcPct val="100000"/>
                        </a:lnSpc>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California</a:t>
                      </a:r>
                      <a:endParaRPr b="0" lang="en-IN" sz="28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USA</a:t>
                      </a:r>
                      <a:endParaRPr b="0" lang="en-IN" sz="28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096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Female (%)</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50.1</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50.7</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r>
              <a:tr h="407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White/non-Hispanic (%)</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43.8</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66.9</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096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Black/non-Hispanic (%)</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6.7</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12.8</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07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Hispanic/Latino (%)</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35.2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14.4</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096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Amer. Indian/AK Native (%)</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1.2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1.0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07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Asian (%)</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12.2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4.3</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096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Native Hawaiian/ Pac. Isl. (%)</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0.4</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0.2</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r>
            </a:tbl>
          </a:graphicData>
        </a:graphic>
      </p:graphicFrame>
      <p:sp>
        <p:nvSpPr>
          <p:cNvPr id="76" name=""/>
          <p:cNvSpPr/>
          <p:nvPr/>
        </p:nvSpPr>
        <p:spPr>
          <a:xfrm>
            <a:off x="0" y="6491160"/>
            <a:ext cx="510552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Tahoma"/>
              </a:rPr>
              <a:t>U.S. Census Bureau.  State &amp; County QuickFacts</a:t>
            </a:r>
            <a:endParaRPr b="0" lang="en-IN" sz="18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152280" y="274680"/>
            <a:ext cx="8839440" cy="94464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New HIV Diagnoses, 2005 – All Cases</a:t>
            </a:r>
            <a:endParaRPr b="1" lang="en-IN" sz="3600" strike="noStrike" u="none">
              <a:solidFill>
                <a:srgbClr val="e5e5ff"/>
              </a:solidFill>
              <a:effectLst/>
              <a:uFillTx/>
              <a:latin typeface="Garamond"/>
            </a:endParaRPr>
          </a:p>
        </p:txBody>
      </p:sp>
      <p:graphicFrame>
        <p:nvGraphicFramePr>
          <p:cNvPr id="78" name=""/>
          <p:cNvGraphicFramePr/>
          <p:nvPr/>
        </p:nvGraphicFramePr>
        <p:xfrm>
          <a:off x="152280" y="2057400"/>
          <a:ext cx="4032360" cy="4038480"/>
        </p:xfrm>
        <a:graphic>
          <a:graphicData uri="http://schemas.openxmlformats.org/presentationml/2006/ole">
            <p:oleObj r:id="rId1" spid="">
              <p:embed/>
              <p:pic>
                <p:nvPicPr>
                  <p:cNvPr id="79" name="" descr=""/>
                  <p:cNvPicPr/>
                  <p:nvPr/>
                </p:nvPicPr>
                <p:blipFill>
                  <a:blip r:embed="rId2"/>
                  <a:stretch/>
                </p:blipFill>
                <p:spPr>
                  <a:xfrm>
                    <a:off x="152280" y="2057400"/>
                    <a:ext cx="4032360" cy="4038480"/>
                  </a:xfrm>
                  <a:prstGeom prst="rect">
                    <a:avLst/>
                  </a:prstGeom>
                  <a:solidFill>
                    <a:srgbClr val="ffffff"/>
                  </a:solidFill>
                  <a:ln w="0">
                    <a:noFill/>
                  </a:ln>
                </p:spPr>
              </p:pic>
            </p:oleObj>
          </a:graphicData>
        </a:graphic>
      </p:graphicFrame>
      <p:pic>
        <p:nvPicPr>
          <p:cNvPr id="80" name="" descr=""/>
          <p:cNvPicPr/>
          <p:nvPr/>
        </p:nvPicPr>
        <p:blipFill>
          <a:blip r:embed="rId3"/>
          <a:stretch/>
        </p:blipFill>
        <p:spPr>
          <a:xfrm>
            <a:off x="4267080" y="2057400"/>
            <a:ext cx="4735800" cy="4038480"/>
          </a:xfrm>
          <a:prstGeom prst="rect">
            <a:avLst/>
          </a:prstGeom>
          <a:noFill/>
          <a:ln w="0">
            <a:noFill/>
          </a:ln>
        </p:spPr>
      </p:pic>
      <p:sp>
        <p:nvSpPr>
          <p:cNvPr id="81" name=""/>
          <p:cNvSpPr/>
          <p:nvPr/>
        </p:nvSpPr>
        <p:spPr>
          <a:xfrm>
            <a:off x="838080" y="205740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3%</a:t>
            </a:r>
            <a:endParaRPr b="0" lang="en-IN" sz="1400" strike="noStrike" u="none">
              <a:solidFill>
                <a:srgbClr val="ffffff"/>
              </a:solidFill>
              <a:effectLst/>
              <a:uFillTx/>
              <a:latin typeface="Times New Roman"/>
            </a:endParaRPr>
          </a:p>
        </p:txBody>
      </p:sp>
      <p:sp>
        <p:nvSpPr>
          <p:cNvPr id="82" name=""/>
          <p:cNvSpPr/>
          <p:nvPr/>
        </p:nvSpPr>
        <p:spPr>
          <a:xfrm>
            <a:off x="304920" y="2819520"/>
            <a:ext cx="10666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35%</a:t>
            </a:r>
            <a:endParaRPr b="0" lang="en-IN" sz="1400" strike="noStrike" u="none">
              <a:solidFill>
                <a:srgbClr val="ffffff"/>
              </a:solidFill>
              <a:effectLst/>
              <a:uFillTx/>
              <a:latin typeface="Times New Roman"/>
            </a:endParaRPr>
          </a:p>
        </p:txBody>
      </p:sp>
      <p:sp>
        <p:nvSpPr>
          <p:cNvPr id="83" name=""/>
          <p:cNvSpPr/>
          <p:nvPr/>
        </p:nvSpPr>
        <p:spPr>
          <a:xfrm>
            <a:off x="2438280" y="2133720"/>
            <a:ext cx="175284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&lt;1%</a:t>
            </a:r>
            <a:endParaRPr b="0" lang="en-IN" sz="1400" strike="noStrike" u="none">
              <a:solidFill>
                <a:srgbClr val="ffffff"/>
              </a:solidFill>
              <a:effectLst/>
              <a:uFillTx/>
              <a:latin typeface="Times New Roman"/>
            </a:endParaRPr>
          </a:p>
        </p:txBody>
      </p:sp>
      <p:sp>
        <p:nvSpPr>
          <p:cNvPr id="84" name=""/>
          <p:cNvSpPr/>
          <p:nvPr/>
        </p:nvSpPr>
        <p:spPr>
          <a:xfrm>
            <a:off x="3429000" y="3048120"/>
            <a:ext cx="7621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Black 20%</a:t>
            </a:r>
            <a:endParaRPr b="0" lang="en-IN" sz="1400" strike="noStrike" u="none">
              <a:solidFill>
                <a:srgbClr val="ffffff"/>
              </a:solidFill>
              <a:effectLst/>
              <a:uFillTx/>
              <a:latin typeface="Times New Roman"/>
            </a:endParaRPr>
          </a:p>
        </p:txBody>
      </p:sp>
      <p:sp>
        <p:nvSpPr>
          <p:cNvPr id="85" name=""/>
          <p:cNvSpPr/>
          <p:nvPr/>
        </p:nvSpPr>
        <p:spPr>
          <a:xfrm>
            <a:off x="3505320" y="510552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White 39%</a:t>
            </a:r>
            <a:endParaRPr b="0" lang="en-IN" sz="1400" strike="noStrike" u="none">
              <a:solidFill>
                <a:srgbClr val="ffffff"/>
              </a:solidFill>
              <a:effectLst/>
              <a:uFillTx/>
              <a:latin typeface="Times New Roman"/>
            </a:endParaRPr>
          </a:p>
        </p:txBody>
      </p:sp>
      <p:sp>
        <p:nvSpPr>
          <p:cNvPr id="86" name=""/>
          <p:cNvSpPr/>
          <p:nvPr/>
        </p:nvSpPr>
        <p:spPr>
          <a:xfrm>
            <a:off x="838080" y="571500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3,312</a:t>
            </a:r>
            <a:endParaRPr b="0" lang="en-IN" sz="1400" strike="noStrike" u="none">
              <a:solidFill>
                <a:srgbClr val="ffffff"/>
              </a:solidFill>
              <a:effectLst/>
              <a:uFillTx/>
              <a:latin typeface="Times New Roman"/>
            </a:endParaRPr>
          </a:p>
        </p:txBody>
      </p:sp>
      <p:sp>
        <p:nvSpPr>
          <p:cNvPr id="87" name=""/>
          <p:cNvSpPr/>
          <p:nvPr/>
        </p:nvSpPr>
        <p:spPr>
          <a:xfrm>
            <a:off x="457200" y="129528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California</a:t>
            </a:r>
            <a:endParaRPr b="0" lang="en-IN" sz="2800" strike="noStrike" u="none">
              <a:solidFill>
                <a:srgbClr val="ffffff"/>
              </a:solidFill>
              <a:effectLst/>
              <a:uFillTx/>
              <a:latin typeface="Times New Roman"/>
            </a:endParaRPr>
          </a:p>
        </p:txBody>
      </p:sp>
      <p:sp>
        <p:nvSpPr>
          <p:cNvPr id="88" name=""/>
          <p:cNvSpPr/>
          <p:nvPr/>
        </p:nvSpPr>
        <p:spPr>
          <a:xfrm>
            <a:off x="4952880" y="129528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CDC – 33 States</a:t>
            </a:r>
            <a:endParaRPr b="0" lang="en-IN" sz="2800" strike="noStrike" u="none">
              <a:solidFill>
                <a:srgbClr val="ffffff"/>
              </a:solidFill>
              <a:effectLst/>
              <a:uFillTx/>
              <a:latin typeface="Times New Roman"/>
            </a:endParaRPr>
          </a:p>
        </p:txBody>
      </p:sp>
      <p:sp>
        <p:nvSpPr>
          <p:cNvPr id="89" name=""/>
          <p:cNvSpPr/>
          <p:nvPr/>
        </p:nvSpPr>
        <p:spPr>
          <a:xfrm>
            <a:off x="228600" y="6400800"/>
            <a:ext cx="4191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400" strike="noStrike" u="none">
                <a:solidFill>
                  <a:srgbClr val="ffffff"/>
                </a:solidFill>
                <a:effectLst/>
                <a:uFillTx/>
                <a:latin typeface="Arial"/>
              </a:rPr>
              <a:t>CDPH, Office of AIDS.  HIV/AIDS Case Registry.</a:t>
            </a:r>
            <a:endParaRPr b="0" lang="en-IN" sz="1400" strike="noStrike" u="none">
              <a:solidFill>
                <a:srgbClr val="ffffff"/>
              </a:solidFill>
              <a:effectLst/>
              <a:uFillTx/>
              <a:latin typeface="Times New Roman"/>
            </a:endParaRPr>
          </a:p>
        </p:txBody>
      </p:sp>
      <p:sp>
        <p:nvSpPr>
          <p:cNvPr id="90" name=""/>
          <p:cNvSpPr/>
          <p:nvPr/>
        </p:nvSpPr>
        <p:spPr>
          <a:xfrm>
            <a:off x="4267080" y="6400800"/>
            <a:ext cx="48769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400" strike="noStrike" u="none">
                <a:solidFill>
                  <a:srgbClr val="ffffff"/>
                </a:solidFill>
                <a:effectLst/>
                <a:uFillTx/>
                <a:latin typeface="Arial"/>
              </a:rPr>
              <a:t>CDC, HIV/AIDS Among African-Americans.  www.cdc.gov</a:t>
            </a:r>
            <a:endParaRPr b="0" lang="en-IN" sz="1400" strike="noStrike" u="none">
              <a:solidFill>
                <a:srgbClr val="ffffff"/>
              </a:solidFill>
              <a:effectLst/>
              <a:uFillTx/>
              <a:latin typeface="Times New Roman"/>
            </a:endParaRPr>
          </a:p>
        </p:txBody>
      </p:sp>
      <p:sp>
        <p:nvSpPr>
          <p:cNvPr id="91" name=""/>
          <p:cNvSpPr/>
          <p:nvPr/>
        </p:nvSpPr>
        <p:spPr>
          <a:xfrm flipH="1">
            <a:off x="2514240" y="2590920"/>
            <a:ext cx="228600" cy="30456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92" name=""/>
          <p:cNvSpPr/>
          <p:nvPr/>
        </p:nvSpPr>
        <p:spPr>
          <a:xfrm>
            <a:off x="1905120" y="2514600"/>
            <a:ext cx="380880" cy="38088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93"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94" name=""/>
          <p:cNvSpPr/>
          <p:nvPr/>
        </p:nvSpPr>
        <p:spPr>
          <a:xfrm>
            <a:off x="380880" y="304920"/>
            <a:ext cx="8529840" cy="34941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Rate Disparity</a:t>
            </a:r>
            <a:endParaRPr b="0" lang="en-IN" sz="5400" strike="noStrike" u="none">
              <a:solidFill>
                <a:srgbClr val="ffffff"/>
              </a:solidFill>
              <a:effectLst/>
              <a:uFillTx/>
              <a:latin typeface="Times New Roman"/>
            </a:endParaRPr>
          </a:p>
        </p:txBody>
      </p:sp>
      <p:pic>
        <p:nvPicPr>
          <p:cNvPr id="95" name="" descr=""/>
          <p:cNvPicPr/>
          <p:nvPr/>
        </p:nvPicPr>
        <p:blipFill>
          <a:blip r:embed="rId1"/>
          <a:stretch/>
        </p:blipFill>
        <p:spPr>
          <a:xfrm>
            <a:off x="228600" y="5562720"/>
            <a:ext cx="1270080" cy="1057320"/>
          </a:xfrm>
          <a:prstGeom prst="rect">
            <a:avLst/>
          </a:prstGeom>
          <a:noFill/>
          <a:ln w="0">
            <a:noFill/>
          </a:ln>
        </p:spPr>
      </p:pic>
      <p:pic>
        <p:nvPicPr>
          <p:cNvPr id="96" name="" descr=""/>
          <p:cNvPicPr/>
          <p:nvPr/>
        </p:nvPicPr>
        <p:blipFill>
          <a:blip r:embed="rId2"/>
          <a:stretch/>
        </p:blipFill>
        <p:spPr>
          <a:xfrm>
            <a:off x="7772400" y="5486400"/>
            <a:ext cx="1122480" cy="1143000"/>
          </a:xfrm>
          <a:prstGeom prst="rect">
            <a:avLst/>
          </a:prstGeom>
          <a:noFill/>
          <a:ln w="0">
            <a:noFill/>
          </a:ln>
        </p:spPr>
      </p:pic>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152280" y="274320"/>
            <a:ext cx="883944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California New HIV Diagnoses, 2005 - Males</a:t>
            </a:r>
            <a:endParaRPr b="1" lang="en-IN" sz="3600" strike="noStrike" u="none">
              <a:solidFill>
                <a:srgbClr val="e5e5ff"/>
              </a:solidFill>
              <a:effectLst/>
              <a:uFillTx/>
              <a:latin typeface="Garamond"/>
            </a:endParaRPr>
          </a:p>
        </p:txBody>
      </p:sp>
      <p:graphicFrame>
        <p:nvGraphicFramePr>
          <p:cNvPr id="98" name=""/>
          <p:cNvGraphicFramePr/>
          <p:nvPr/>
        </p:nvGraphicFramePr>
        <p:xfrm>
          <a:off x="380880" y="1981080"/>
          <a:ext cx="4032360" cy="4267440"/>
        </p:xfrm>
        <a:graphic>
          <a:graphicData uri="http://schemas.openxmlformats.org/presentationml/2006/ole">
            <p:oleObj r:id="rId1" spid="">
              <p:embed/>
              <p:pic>
                <p:nvPicPr>
                  <p:cNvPr id="99" name="" descr=""/>
                  <p:cNvPicPr/>
                  <p:nvPr/>
                </p:nvPicPr>
                <p:blipFill>
                  <a:blip r:embed="rId2"/>
                  <a:stretch/>
                </p:blipFill>
                <p:spPr>
                  <a:xfrm>
                    <a:off x="380880" y="1981080"/>
                    <a:ext cx="4032360" cy="4267440"/>
                  </a:xfrm>
                  <a:prstGeom prst="rect">
                    <a:avLst/>
                  </a:prstGeom>
                  <a:solidFill>
                    <a:srgbClr val="ffffff"/>
                  </a:solidFill>
                  <a:ln w="0">
                    <a:noFill/>
                  </a:ln>
                </p:spPr>
              </p:pic>
            </p:oleObj>
          </a:graphicData>
        </a:graphic>
      </p:graphicFrame>
      <p:sp>
        <p:nvSpPr>
          <p:cNvPr id="100" name=""/>
          <p:cNvSpPr/>
          <p:nvPr/>
        </p:nvSpPr>
        <p:spPr>
          <a:xfrm>
            <a:off x="838080" y="205740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3%</a:t>
            </a:r>
            <a:endParaRPr b="0" lang="en-IN" sz="1400" strike="noStrike" u="none">
              <a:solidFill>
                <a:srgbClr val="ffffff"/>
              </a:solidFill>
              <a:effectLst/>
              <a:uFillTx/>
              <a:latin typeface="Times New Roman"/>
            </a:endParaRPr>
          </a:p>
        </p:txBody>
      </p:sp>
      <p:sp>
        <p:nvSpPr>
          <p:cNvPr id="101" name=""/>
          <p:cNvSpPr/>
          <p:nvPr/>
        </p:nvSpPr>
        <p:spPr>
          <a:xfrm>
            <a:off x="1066680" y="3581280"/>
            <a:ext cx="106704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36%</a:t>
            </a:r>
            <a:endParaRPr b="0" lang="en-IN" sz="1400" strike="noStrike" u="none">
              <a:solidFill>
                <a:srgbClr val="ffffff"/>
              </a:solidFill>
              <a:effectLst/>
              <a:uFillTx/>
              <a:latin typeface="Times New Roman"/>
            </a:endParaRPr>
          </a:p>
        </p:txBody>
      </p:sp>
      <p:sp>
        <p:nvSpPr>
          <p:cNvPr id="102" name=""/>
          <p:cNvSpPr/>
          <p:nvPr/>
        </p:nvSpPr>
        <p:spPr>
          <a:xfrm>
            <a:off x="2362320" y="2133720"/>
            <a:ext cx="175248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&lt;1%</a:t>
            </a:r>
            <a:endParaRPr b="0" lang="en-IN" sz="1400" strike="noStrike" u="none">
              <a:solidFill>
                <a:srgbClr val="ffffff"/>
              </a:solidFill>
              <a:effectLst/>
              <a:uFillTx/>
              <a:latin typeface="Times New Roman"/>
            </a:endParaRPr>
          </a:p>
        </p:txBody>
      </p:sp>
      <p:sp>
        <p:nvSpPr>
          <p:cNvPr id="103" name=""/>
          <p:cNvSpPr/>
          <p:nvPr/>
        </p:nvSpPr>
        <p:spPr>
          <a:xfrm>
            <a:off x="2743200" y="3276720"/>
            <a:ext cx="762120" cy="58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ea3800"/>
                </a:solidFill>
                <a:effectLst/>
                <a:uFillTx/>
                <a:latin typeface="Arial"/>
              </a:rPr>
              <a:t>Black 18%</a:t>
            </a:r>
            <a:endParaRPr b="0" lang="en-IN" sz="1600" strike="noStrike" u="none">
              <a:solidFill>
                <a:srgbClr val="ffffff"/>
              </a:solidFill>
              <a:effectLst/>
              <a:uFillTx/>
              <a:latin typeface="Times New Roman"/>
            </a:endParaRPr>
          </a:p>
        </p:txBody>
      </p:sp>
      <p:sp>
        <p:nvSpPr>
          <p:cNvPr id="104" name=""/>
          <p:cNvSpPr/>
          <p:nvPr/>
        </p:nvSpPr>
        <p:spPr>
          <a:xfrm>
            <a:off x="2590920" y="472428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White 42%</a:t>
            </a:r>
            <a:endParaRPr b="0" lang="en-IN" sz="1400" strike="noStrike" u="none">
              <a:solidFill>
                <a:srgbClr val="ffffff"/>
              </a:solidFill>
              <a:effectLst/>
              <a:uFillTx/>
              <a:latin typeface="Times New Roman"/>
            </a:endParaRPr>
          </a:p>
        </p:txBody>
      </p:sp>
      <p:sp>
        <p:nvSpPr>
          <p:cNvPr id="105" name=""/>
          <p:cNvSpPr/>
          <p:nvPr/>
        </p:nvSpPr>
        <p:spPr>
          <a:xfrm>
            <a:off x="990720" y="586728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2842</a:t>
            </a:r>
            <a:endParaRPr b="0" lang="en-IN" sz="1400" strike="noStrike" u="none">
              <a:solidFill>
                <a:srgbClr val="ffffff"/>
              </a:solidFill>
              <a:effectLst/>
              <a:uFillTx/>
              <a:latin typeface="Times New Roman"/>
            </a:endParaRPr>
          </a:p>
        </p:txBody>
      </p:sp>
      <p:sp>
        <p:nvSpPr>
          <p:cNvPr id="106" name=""/>
          <p:cNvSpPr/>
          <p:nvPr/>
        </p:nvSpPr>
        <p:spPr>
          <a:xfrm>
            <a:off x="685800" y="129528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Number</a:t>
            </a:r>
            <a:endParaRPr b="0" lang="en-IN" sz="2800" strike="noStrike" u="none">
              <a:solidFill>
                <a:srgbClr val="ffffff"/>
              </a:solidFill>
              <a:effectLst/>
              <a:uFillTx/>
              <a:latin typeface="Times New Roman"/>
            </a:endParaRPr>
          </a:p>
        </p:txBody>
      </p:sp>
      <p:sp>
        <p:nvSpPr>
          <p:cNvPr id="107" name=""/>
          <p:cNvSpPr/>
          <p:nvPr/>
        </p:nvSpPr>
        <p:spPr>
          <a:xfrm>
            <a:off x="5105520" y="1295280"/>
            <a:ext cx="35049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Rate</a:t>
            </a:r>
            <a:endParaRPr b="0" lang="en-IN" sz="2800" strike="noStrike" u="none">
              <a:solidFill>
                <a:srgbClr val="ffffff"/>
              </a:solidFill>
              <a:effectLst/>
              <a:uFillTx/>
              <a:latin typeface="Times New Roman"/>
            </a:endParaRPr>
          </a:p>
        </p:txBody>
      </p:sp>
      <p:sp>
        <p:nvSpPr>
          <p:cNvPr id="108" name=""/>
          <p:cNvSpPr/>
          <p:nvPr/>
        </p:nvSpPr>
        <p:spPr>
          <a:xfrm>
            <a:off x="228600" y="6400800"/>
            <a:ext cx="4191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400" strike="noStrike" u="none">
                <a:solidFill>
                  <a:srgbClr val="ffffff"/>
                </a:solidFill>
                <a:effectLst/>
                <a:uFillTx/>
                <a:latin typeface="Arial"/>
              </a:rPr>
              <a:t>CDPH, Office of AIDS.  HIV/AIDS Case Registry.</a:t>
            </a:r>
            <a:endParaRPr b="0" lang="en-IN" sz="1400" strike="noStrike" u="none">
              <a:solidFill>
                <a:srgbClr val="ffffff"/>
              </a:solidFill>
              <a:effectLst/>
              <a:uFillTx/>
              <a:latin typeface="Times New Roman"/>
            </a:endParaRPr>
          </a:p>
        </p:txBody>
      </p:sp>
      <p:sp>
        <p:nvSpPr>
          <p:cNvPr id="109" name=""/>
          <p:cNvSpPr/>
          <p:nvPr/>
        </p:nvSpPr>
        <p:spPr>
          <a:xfrm flipH="1">
            <a:off x="2666880" y="2590920"/>
            <a:ext cx="76320" cy="30456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10" name=""/>
          <p:cNvSpPr/>
          <p:nvPr/>
        </p:nvSpPr>
        <p:spPr>
          <a:xfrm>
            <a:off x="1905120" y="2514600"/>
            <a:ext cx="609480" cy="30492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aphicFrame>
        <p:nvGraphicFramePr>
          <p:cNvPr id="111" name=""/>
          <p:cNvGraphicFramePr/>
          <p:nvPr/>
        </p:nvGraphicFramePr>
        <p:xfrm>
          <a:off x="4800600" y="1981080"/>
          <a:ext cx="4032360" cy="4267440"/>
        </p:xfrm>
        <a:graphic>
          <a:graphicData uri="http://schemas.openxmlformats.org/presentationml/2006/ole">
            <p:oleObj r:id="rId3" spid="">
              <p:embed/>
              <p:pic>
                <p:nvPicPr>
                  <p:cNvPr id="112" name="" descr=""/>
                  <p:cNvPicPr/>
                  <p:nvPr/>
                </p:nvPicPr>
                <p:blipFill>
                  <a:blip r:embed="rId4"/>
                  <a:stretch/>
                </p:blipFill>
                <p:spPr>
                  <a:xfrm>
                    <a:off x="4800600" y="1981080"/>
                    <a:ext cx="4032360" cy="4267440"/>
                  </a:xfrm>
                  <a:prstGeom prst="rect">
                    <a:avLst/>
                  </a:prstGeom>
                  <a:solidFill>
                    <a:srgbClr val="ffffff"/>
                  </a:solidFill>
                  <a:ln w="0">
                    <a:noFill/>
                  </a:ln>
                </p:spPr>
              </p:pic>
            </p:oleObj>
          </a:graphicData>
        </a:graphic>
      </p:graphicFrame>
      <p:sp>
        <p:nvSpPr>
          <p:cNvPr id="113" name=""/>
          <p:cNvSpPr/>
          <p:nvPr/>
        </p:nvSpPr>
        <p:spPr>
          <a:xfrm>
            <a:off x="5257800" y="3733920"/>
            <a:ext cx="10666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21.0</a:t>
            </a:r>
            <a:endParaRPr b="0" lang="en-IN" sz="1400" strike="noStrike" u="none">
              <a:solidFill>
                <a:srgbClr val="ffffff"/>
              </a:solidFill>
              <a:effectLst/>
              <a:uFillTx/>
              <a:latin typeface="Times New Roman"/>
            </a:endParaRPr>
          </a:p>
        </p:txBody>
      </p:sp>
      <p:sp>
        <p:nvSpPr>
          <p:cNvPr id="114" name=""/>
          <p:cNvSpPr/>
          <p:nvPr/>
        </p:nvSpPr>
        <p:spPr>
          <a:xfrm>
            <a:off x="5105520" y="220968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5.3</a:t>
            </a:r>
            <a:endParaRPr b="0" lang="en-IN" sz="1400" strike="noStrike" u="none">
              <a:solidFill>
                <a:srgbClr val="ffffff"/>
              </a:solidFill>
              <a:effectLst/>
              <a:uFillTx/>
              <a:latin typeface="Times New Roman"/>
            </a:endParaRPr>
          </a:p>
        </p:txBody>
      </p:sp>
      <p:sp>
        <p:nvSpPr>
          <p:cNvPr id="115" name=""/>
          <p:cNvSpPr/>
          <p:nvPr/>
        </p:nvSpPr>
        <p:spPr>
          <a:xfrm>
            <a:off x="6553080" y="2133720"/>
            <a:ext cx="175284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19.8</a:t>
            </a:r>
            <a:endParaRPr b="0" lang="en-IN" sz="1400" strike="noStrike" u="none">
              <a:solidFill>
                <a:srgbClr val="ffffff"/>
              </a:solidFill>
              <a:effectLst/>
              <a:uFillTx/>
              <a:latin typeface="Times New Roman"/>
            </a:endParaRPr>
          </a:p>
        </p:txBody>
      </p:sp>
      <p:sp>
        <p:nvSpPr>
          <p:cNvPr id="116" name=""/>
          <p:cNvSpPr/>
          <p:nvPr/>
        </p:nvSpPr>
        <p:spPr>
          <a:xfrm>
            <a:off x="7238880" y="4419720"/>
            <a:ext cx="762120" cy="58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ea3800"/>
                </a:solidFill>
                <a:effectLst/>
                <a:uFillTx/>
                <a:latin typeface="Arial"/>
              </a:rPr>
              <a:t>Black 55.9</a:t>
            </a:r>
            <a:endParaRPr b="0" lang="en-IN" sz="1600" strike="noStrike" u="none">
              <a:solidFill>
                <a:srgbClr val="ffffff"/>
              </a:solidFill>
              <a:effectLst/>
              <a:uFillTx/>
              <a:latin typeface="Times New Roman"/>
            </a:endParaRPr>
          </a:p>
        </p:txBody>
      </p:sp>
      <p:sp>
        <p:nvSpPr>
          <p:cNvPr id="117" name=""/>
          <p:cNvSpPr/>
          <p:nvPr/>
        </p:nvSpPr>
        <p:spPr>
          <a:xfrm>
            <a:off x="5562720" y="472428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White 17.0</a:t>
            </a:r>
            <a:endParaRPr b="0" lang="en-IN" sz="1400" strike="noStrike" u="none">
              <a:solidFill>
                <a:srgbClr val="ffffff"/>
              </a:solidFill>
              <a:effectLst/>
              <a:uFillTx/>
              <a:latin typeface="Times New Roman"/>
            </a:endParaRPr>
          </a:p>
        </p:txBody>
      </p:sp>
      <p:sp>
        <p:nvSpPr>
          <p:cNvPr id="118" name=""/>
          <p:cNvSpPr/>
          <p:nvPr/>
        </p:nvSpPr>
        <p:spPr>
          <a:xfrm>
            <a:off x="5334120" y="586728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Total = 19.2</a:t>
            </a:r>
            <a:endParaRPr b="0" lang="en-IN" sz="1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19" name="PlaceHolder 1"/>
          <p:cNvSpPr>
            <a:spLocks noGrp="1"/>
          </p:cNvSpPr>
          <p:nvPr>
            <p:ph type="title"/>
          </p:nvPr>
        </p:nvSpPr>
        <p:spPr>
          <a:xfrm>
            <a:off x="152280" y="274320"/>
            <a:ext cx="883944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California New HIV Diagnoses, 2005 - Females</a:t>
            </a:r>
            <a:endParaRPr b="1" lang="en-IN" sz="3600" strike="noStrike" u="none">
              <a:solidFill>
                <a:srgbClr val="e5e5ff"/>
              </a:solidFill>
              <a:effectLst/>
              <a:uFillTx/>
              <a:latin typeface="Garamond"/>
            </a:endParaRPr>
          </a:p>
        </p:txBody>
      </p:sp>
      <p:graphicFrame>
        <p:nvGraphicFramePr>
          <p:cNvPr id="120" name=""/>
          <p:cNvGraphicFramePr/>
          <p:nvPr/>
        </p:nvGraphicFramePr>
        <p:xfrm>
          <a:off x="380880" y="1981080"/>
          <a:ext cx="4032360" cy="4267440"/>
        </p:xfrm>
        <a:graphic>
          <a:graphicData uri="http://schemas.openxmlformats.org/presentationml/2006/ole">
            <p:oleObj r:id="rId1" spid="">
              <p:embed/>
              <p:pic>
                <p:nvPicPr>
                  <p:cNvPr id="121" name="" descr=""/>
                  <p:cNvPicPr/>
                  <p:nvPr/>
                </p:nvPicPr>
                <p:blipFill>
                  <a:blip r:embed="rId2"/>
                  <a:stretch/>
                </p:blipFill>
                <p:spPr>
                  <a:xfrm>
                    <a:off x="380880" y="1981080"/>
                    <a:ext cx="4032360" cy="4267440"/>
                  </a:xfrm>
                  <a:prstGeom prst="rect">
                    <a:avLst/>
                  </a:prstGeom>
                  <a:solidFill>
                    <a:srgbClr val="ffffff"/>
                  </a:solidFill>
                  <a:ln w="0">
                    <a:noFill/>
                  </a:ln>
                </p:spPr>
              </p:pic>
            </p:oleObj>
          </a:graphicData>
        </a:graphic>
      </p:graphicFrame>
      <p:sp>
        <p:nvSpPr>
          <p:cNvPr id="122" name=""/>
          <p:cNvSpPr/>
          <p:nvPr/>
        </p:nvSpPr>
        <p:spPr>
          <a:xfrm>
            <a:off x="838080" y="205740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3%</a:t>
            </a:r>
            <a:endParaRPr b="0" lang="en-IN" sz="1400" strike="noStrike" u="none">
              <a:solidFill>
                <a:srgbClr val="ffffff"/>
              </a:solidFill>
              <a:effectLst/>
              <a:uFillTx/>
              <a:latin typeface="Times New Roman"/>
            </a:endParaRPr>
          </a:p>
        </p:txBody>
      </p:sp>
      <p:sp>
        <p:nvSpPr>
          <p:cNvPr id="123" name=""/>
          <p:cNvSpPr/>
          <p:nvPr/>
        </p:nvSpPr>
        <p:spPr>
          <a:xfrm>
            <a:off x="1066680" y="3581280"/>
            <a:ext cx="106704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33%</a:t>
            </a:r>
            <a:endParaRPr b="0" lang="en-IN" sz="1400" strike="noStrike" u="none">
              <a:solidFill>
                <a:srgbClr val="ffffff"/>
              </a:solidFill>
              <a:effectLst/>
              <a:uFillTx/>
              <a:latin typeface="Times New Roman"/>
            </a:endParaRPr>
          </a:p>
        </p:txBody>
      </p:sp>
      <p:sp>
        <p:nvSpPr>
          <p:cNvPr id="124" name=""/>
          <p:cNvSpPr/>
          <p:nvPr/>
        </p:nvSpPr>
        <p:spPr>
          <a:xfrm>
            <a:off x="2362320" y="2133720"/>
            <a:ext cx="175248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1%</a:t>
            </a:r>
            <a:endParaRPr b="0" lang="en-IN" sz="1400" strike="noStrike" u="none">
              <a:solidFill>
                <a:srgbClr val="ffffff"/>
              </a:solidFill>
              <a:effectLst/>
              <a:uFillTx/>
              <a:latin typeface="Times New Roman"/>
            </a:endParaRPr>
          </a:p>
        </p:txBody>
      </p:sp>
      <p:sp>
        <p:nvSpPr>
          <p:cNvPr id="125" name=""/>
          <p:cNvSpPr/>
          <p:nvPr/>
        </p:nvSpPr>
        <p:spPr>
          <a:xfrm>
            <a:off x="2819520" y="3733920"/>
            <a:ext cx="761760" cy="58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ea3800"/>
                </a:solidFill>
                <a:effectLst/>
                <a:uFillTx/>
                <a:latin typeface="Arial"/>
              </a:rPr>
              <a:t>Black 36%</a:t>
            </a:r>
            <a:endParaRPr b="0" lang="en-IN" sz="1600" strike="noStrike" u="none">
              <a:solidFill>
                <a:srgbClr val="ffffff"/>
              </a:solidFill>
              <a:effectLst/>
              <a:uFillTx/>
              <a:latin typeface="Times New Roman"/>
            </a:endParaRPr>
          </a:p>
        </p:txBody>
      </p:sp>
      <p:sp>
        <p:nvSpPr>
          <p:cNvPr id="126" name=""/>
          <p:cNvSpPr/>
          <p:nvPr/>
        </p:nvSpPr>
        <p:spPr>
          <a:xfrm>
            <a:off x="1981080" y="495288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White 25%</a:t>
            </a:r>
            <a:endParaRPr b="0" lang="en-IN" sz="1400" strike="noStrike" u="none">
              <a:solidFill>
                <a:srgbClr val="ffffff"/>
              </a:solidFill>
              <a:effectLst/>
              <a:uFillTx/>
              <a:latin typeface="Times New Roman"/>
            </a:endParaRPr>
          </a:p>
        </p:txBody>
      </p:sp>
      <p:sp>
        <p:nvSpPr>
          <p:cNvPr id="127" name=""/>
          <p:cNvSpPr/>
          <p:nvPr/>
        </p:nvSpPr>
        <p:spPr>
          <a:xfrm>
            <a:off x="990720" y="586728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470</a:t>
            </a:r>
            <a:endParaRPr b="0" lang="en-IN" sz="1400" strike="noStrike" u="none">
              <a:solidFill>
                <a:srgbClr val="ffffff"/>
              </a:solidFill>
              <a:effectLst/>
              <a:uFillTx/>
              <a:latin typeface="Times New Roman"/>
            </a:endParaRPr>
          </a:p>
        </p:txBody>
      </p:sp>
      <p:sp>
        <p:nvSpPr>
          <p:cNvPr id="128" name=""/>
          <p:cNvSpPr/>
          <p:nvPr/>
        </p:nvSpPr>
        <p:spPr>
          <a:xfrm>
            <a:off x="685800" y="129528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Number</a:t>
            </a:r>
            <a:endParaRPr b="0" lang="en-IN" sz="2800" strike="noStrike" u="none">
              <a:solidFill>
                <a:srgbClr val="ffffff"/>
              </a:solidFill>
              <a:effectLst/>
              <a:uFillTx/>
              <a:latin typeface="Times New Roman"/>
            </a:endParaRPr>
          </a:p>
        </p:txBody>
      </p:sp>
      <p:sp>
        <p:nvSpPr>
          <p:cNvPr id="129" name=""/>
          <p:cNvSpPr/>
          <p:nvPr/>
        </p:nvSpPr>
        <p:spPr>
          <a:xfrm>
            <a:off x="5105520" y="1295280"/>
            <a:ext cx="35049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Rate</a:t>
            </a:r>
            <a:endParaRPr b="0" lang="en-IN" sz="2800" strike="noStrike" u="none">
              <a:solidFill>
                <a:srgbClr val="ffffff"/>
              </a:solidFill>
              <a:effectLst/>
              <a:uFillTx/>
              <a:latin typeface="Times New Roman"/>
            </a:endParaRPr>
          </a:p>
        </p:txBody>
      </p:sp>
      <p:sp>
        <p:nvSpPr>
          <p:cNvPr id="130" name=""/>
          <p:cNvSpPr/>
          <p:nvPr/>
        </p:nvSpPr>
        <p:spPr>
          <a:xfrm>
            <a:off x="228600" y="6400800"/>
            <a:ext cx="4191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400" strike="noStrike" u="none">
                <a:solidFill>
                  <a:srgbClr val="ffffff"/>
                </a:solidFill>
                <a:effectLst/>
                <a:uFillTx/>
                <a:latin typeface="Arial"/>
              </a:rPr>
              <a:t>CDPH, Office of AIDS.  HIV/AIDS Case Registry.</a:t>
            </a:r>
            <a:endParaRPr b="0" lang="en-IN" sz="1400" strike="noStrike" u="none">
              <a:solidFill>
                <a:srgbClr val="ffffff"/>
              </a:solidFill>
              <a:effectLst/>
              <a:uFillTx/>
              <a:latin typeface="Times New Roman"/>
            </a:endParaRPr>
          </a:p>
        </p:txBody>
      </p:sp>
      <p:sp>
        <p:nvSpPr>
          <p:cNvPr id="131" name=""/>
          <p:cNvSpPr/>
          <p:nvPr/>
        </p:nvSpPr>
        <p:spPr>
          <a:xfrm flipH="1">
            <a:off x="2514240" y="2590920"/>
            <a:ext cx="228600" cy="30456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32" name=""/>
          <p:cNvSpPr/>
          <p:nvPr/>
        </p:nvSpPr>
        <p:spPr>
          <a:xfrm>
            <a:off x="1905120" y="2514600"/>
            <a:ext cx="457200" cy="30492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aphicFrame>
        <p:nvGraphicFramePr>
          <p:cNvPr id="133" name=""/>
          <p:cNvGraphicFramePr/>
          <p:nvPr/>
        </p:nvGraphicFramePr>
        <p:xfrm>
          <a:off x="4800600" y="1981080"/>
          <a:ext cx="4032360" cy="4267440"/>
        </p:xfrm>
        <a:graphic>
          <a:graphicData uri="http://schemas.openxmlformats.org/presentationml/2006/ole">
            <p:oleObj r:id="rId3" spid="">
              <p:embed/>
              <p:pic>
                <p:nvPicPr>
                  <p:cNvPr id="134" name="" descr=""/>
                  <p:cNvPicPr/>
                  <p:nvPr/>
                </p:nvPicPr>
                <p:blipFill>
                  <a:blip r:embed="rId4"/>
                  <a:stretch/>
                </p:blipFill>
                <p:spPr>
                  <a:xfrm>
                    <a:off x="4800600" y="1981080"/>
                    <a:ext cx="4032360" cy="4267440"/>
                  </a:xfrm>
                  <a:prstGeom prst="rect">
                    <a:avLst/>
                  </a:prstGeom>
                  <a:solidFill>
                    <a:srgbClr val="ffffff"/>
                  </a:solidFill>
                  <a:ln w="0">
                    <a:noFill/>
                  </a:ln>
                </p:spPr>
              </p:pic>
            </p:oleObj>
          </a:graphicData>
        </a:graphic>
      </p:graphicFrame>
      <p:sp>
        <p:nvSpPr>
          <p:cNvPr id="135" name=""/>
          <p:cNvSpPr/>
          <p:nvPr/>
        </p:nvSpPr>
        <p:spPr>
          <a:xfrm>
            <a:off x="5486400" y="3276720"/>
            <a:ext cx="10666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3.4</a:t>
            </a:r>
            <a:endParaRPr b="0" lang="en-IN" sz="1400" strike="noStrike" u="none">
              <a:solidFill>
                <a:srgbClr val="ffffff"/>
              </a:solidFill>
              <a:effectLst/>
              <a:uFillTx/>
              <a:latin typeface="Times New Roman"/>
            </a:endParaRPr>
          </a:p>
        </p:txBody>
      </p:sp>
      <p:sp>
        <p:nvSpPr>
          <p:cNvPr id="136" name=""/>
          <p:cNvSpPr/>
          <p:nvPr/>
        </p:nvSpPr>
        <p:spPr>
          <a:xfrm>
            <a:off x="5715000" y="205740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0.6</a:t>
            </a:r>
            <a:endParaRPr b="0" lang="en-IN" sz="1400" strike="noStrike" u="none">
              <a:solidFill>
                <a:srgbClr val="ffffff"/>
              </a:solidFill>
              <a:effectLst/>
              <a:uFillTx/>
              <a:latin typeface="Times New Roman"/>
            </a:endParaRPr>
          </a:p>
        </p:txBody>
      </p:sp>
      <p:sp>
        <p:nvSpPr>
          <p:cNvPr id="137" name=""/>
          <p:cNvSpPr/>
          <p:nvPr/>
        </p:nvSpPr>
        <p:spPr>
          <a:xfrm>
            <a:off x="7010280" y="2286000"/>
            <a:ext cx="175284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7.4</a:t>
            </a:r>
            <a:endParaRPr b="0" lang="en-IN" sz="1400" strike="noStrike" u="none">
              <a:solidFill>
                <a:srgbClr val="ffffff"/>
              </a:solidFill>
              <a:effectLst/>
              <a:uFillTx/>
              <a:latin typeface="Times New Roman"/>
            </a:endParaRPr>
          </a:p>
        </p:txBody>
      </p:sp>
      <p:sp>
        <p:nvSpPr>
          <p:cNvPr id="138" name=""/>
          <p:cNvSpPr/>
          <p:nvPr/>
        </p:nvSpPr>
        <p:spPr>
          <a:xfrm>
            <a:off x="6477120" y="4724280"/>
            <a:ext cx="761760" cy="58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ea3800"/>
                </a:solidFill>
                <a:effectLst/>
                <a:uFillTx/>
                <a:latin typeface="Arial"/>
              </a:rPr>
              <a:t>Black 17.9</a:t>
            </a:r>
            <a:endParaRPr b="0" lang="en-IN" sz="1600" strike="noStrike" u="none">
              <a:solidFill>
                <a:srgbClr val="ffffff"/>
              </a:solidFill>
              <a:effectLst/>
              <a:uFillTx/>
              <a:latin typeface="Times New Roman"/>
            </a:endParaRPr>
          </a:p>
        </p:txBody>
      </p:sp>
      <p:sp>
        <p:nvSpPr>
          <p:cNvPr id="139" name=""/>
          <p:cNvSpPr/>
          <p:nvPr/>
        </p:nvSpPr>
        <p:spPr>
          <a:xfrm>
            <a:off x="4724280" y="327672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White 1.6</a:t>
            </a:r>
            <a:endParaRPr b="0" lang="en-IN" sz="1400" strike="noStrike" u="none">
              <a:solidFill>
                <a:srgbClr val="ffffff"/>
              </a:solidFill>
              <a:effectLst/>
              <a:uFillTx/>
              <a:latin typeface="Times New Roman"/>
            </a:endParaRPr>
          </a:p>
        </p:txBody>
      </p:sp>
      <p:sp>
        <p:nvSpPr>
          <p:cNvPr id="140" name=""/>
          <p:cNvSpPr/>
          <p:nvPr/>
        </p:nvSpPr>
        <p:spPr>
          <a:xfrm>
            <a:off x="5334120" y="586728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Total = 3.1</a:t>
            </a:r>
            <a:endParaRPr b="0" lang="en-IN" sz="1400" strike="noStrike" u="none">
              <a:solidFill>
                <a:srgbClr val="ffffff"/>
              </a:solidFill>
              <a:effectLst/>
              <a:uFillTx/>
              <a:latin typeface="Times New Roman"/>
            </a:endParaRPr>
          </a:p>
        </p:txBody>
      </p:sp>
      <p:sp>
        <p:nvSpPr>
          <p:cNvPr id="141" name=""/>
          <p:cNvSpPr/>
          <p:nvPr/>
        </p:nvSpPr>
        <p:spPr>
          <a:xfrm>
            <a:off x="5257800" y="3581280"/>
            <a:ext cx="152280" cy="15264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HIV and AIDS rates, California (2005)</a:t>
            </a:r>
            <a:endParaRPr b="1" lang="en-IN" sz="3600" strike="noStrike" u="none">
              <a:solidFill>
                <a:srgbClr val="e5e5ff"/>
              </a:solidFill>
              <a:effectLst/>
              <a:uFillTx/>
              <a:latin typeface="Garamond"/>
            </a:endParaRPr>
          </a:p>
        </p:txBody>
      </p:sp>
      <p:graphicFrame>
        <p:nvGraphicFramePr>
          <p:cNvPr id="143" name=""/>
          <p:cNvGraphicFramePr/>
          <p:nvPr/>
        </p:nvGraphicFramePr>
        <p:xfrm>
          <a:off x="325440" y="898560"/>
          <a:ext cx="8302680" cy="4968720"/>
        </p:xfrm>
        <a:graphic>
          <a:graphicData uri="http://schemas.openxmlformats.org/presentationml/2006/ole">
            <p:oleObj r:id="rId1" spid="">
              <p:embed/>
              <p:pic>
                <p:nvPicPr>
                  <p:cNvPr id="144" name="" descr=""/>
                  <p:cNvPicPr/>
                  <p:nvPr/>
                </p:nvPicPr>
                <p:blipFill>
                  <a:blip r:embed="rId2"/>
                  <a:stretch/>
                </p:blipFill>
                <p:spPr>
                  <a:xfrm>
                    <a:off x="325440" y="898560"/>
                    <a:ext cx="8302680" cy="4968720"/>
                  </a:xfrm>
                  <a:prstGeom prst="rect">
                    <a:avLst/>
                  </a:prstGeom>
                  <a:noFill/>
                  <a:ln w="0">
                    <a:noFill/>
                  </a:ln>
                </p:spPr>
              </p:pic>
            </p:oleObj>
          </a:graphicData>
        </a:graphic>
      </p:graphicFrame>
      <p:sp>
        <p:nvSpPr>
          <p:cNvPr id="145" name=""/>
          <p:cNvSpPr/>
          <p:nvPr/>
        </p:nvSpPr>
        <p:spPr>
          <a:xfrm>
            <a:off x="1981080" y="2057400"/>
            <a:ext cx="9144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Garamond"/>
              </a:rPr>
              <a:t>Men</a:t>
            </a:r>
            <a:endParaRPr b="0" lang="en-IN" sz="1800" strike="noStrike" u="none">
              <a:solidFill>
                <a:srgbClr val="ffffff"/>
              </a:solidFill>
              <a:effectLst/>
              <a:uFillTx/>
              <a:latin typeface="Times New Roman"/>
            </a:endParaRPr>
          </a:p>
        </p:txBody>
      </p:sp>
      <p:sp>
        <p:nvSpPr>
          <p:cNvPr id="146" name=""/>
          <p:cNvSpPr/>
          <p:nvPr/>
        </p:nvSpPr>
        <p:spPr>
          <a:xfrm>
            <a:off x="6019920" y="2133720"/>
            <a:ext cx="9144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Garamond"/>
              </a:rPr>
              <a:t>Women</a:t>
            </a:r>
            <a:endParaRPr b="0" lang="en-IN" sz="1800" strike="noStrike" u="none">
              <a:solidFill>
                <a:srgbClr val="ffffff"/>
              </a:solidFill>
              <a:effectLst/>
              <a:uFillTx/>
              <a:latin typeface="Times New Roman"/>
            </a:endParaRPr>
          </a:p>
        </p:txBody>
      </p:sp>
      <p:sp>
        <p:nvSpPr>
          <p:cNvPr id="147" name=""/>
          <p:cNvSpPr/>
          <p:nvPr/>
        </p:nvSpPr>
        <p:spPr>
          <a:xfrm>
            <a:off x="4572000" y="1295280"/>
            <a:ext cx="0" cy="3962520"/>
          </a:xfrm>
          <a:prstGeom prst="line">
            <a:avLst/>
          </a:prstGeom>
          <a:ln cap="sq" w="1260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48" name=""/>
          <p:cNvSpPr/>
          <p:nvPr/>
        </p:nvSpPr>
        <p:spPr>
          <a:xfrm>
            <a:off x="533520" y="6032520"/>
            <a:ext cx="8610480" cy="8251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Garamond"/>
              </a:rPr>
              <a:t>Data sources: California Department of Public Health, Office of AIDS, HIV/AIDS Case Registry; data as of March 31, 2006; State of California, Department of Finance, </a:t>
            </a:r>
            <a:r>
              <a:rPr b="0" i="1" lang="en-IN" sz="1600" strike="noStrike" u="none">
                <a:solidFill>
                  <a:srgbClr val="ffffff"/>
                </a:solidFill>
                <a:effectLst/>
                <a:uFillTx/>
                <a:latin typeface="Garamond"/>
              </a:rPr>
              <a:t>Race/Ethnic Population with Age and Sex Detail 2000-2050,</a:t>
            </a:r>
            <a:r>
              <a:rPr b="0" lang="en-IN" sz="1600" strike="noStrike" u="none">
                <a:solidFill>
                  <a:srgbClr val="ffffff"/>
                </a:solidFill>
                <a:effectLst/>
                <a:uFillTx/>
                <a:latin typeface="Garamond"/>
              </a:rPr>
              <a:t> Sacramento, California, July 2007.</a:t>
            </a:r>
            <a:endParaRPr b="0" lang="en-IN" sz="16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49" name="PlaceHolder 1"/>
          <p:cNvSpPr>
            <a:spLocks noGrp="1"/>
          </p:cNvSpPr>
          <p:nvPr>
            <p:ph type="title"/>
          </p:nvPr>
        </p:nvSpPr>
        <p:spPr>
          <a:xfrm>
            <a:off x="152280" y="274320"/>
            <a:ext cx="883944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California New HIV/AIDS Diagnoses, 2005. Aged 13 to 19 Years of Age</a:t>
            </a:r>
            <a:endParaRPr b="1" lang="en-IN" sz="3600" strike="noStrike" u="none">
              <a:solidFill>
                <a:srgbClr val="e5e5ff"/>
              </a:solidFill>
              <a:effectLst/>
              <a:uFillTx/>
              <a:latin typeface="Garamond"/>
            </a:endParaRPr>
          </a:p>
        </p:txBody>
      </p:sp>
      <p:graphicFrame>
        <p:nvGraphicFramePr>
          <p:cNvPr id="150" name=""/>
          <p:cNvGraphicFramePr/>
          <p:nvPr/>
        </p:nvGraphicFramePr>
        <p:xfrm>
          <a:off x="380880" y="1981080"/>
          <a:ext cx="4032360" cy="4267440"/>
        </p:xfrm>
        <a:graphic>
          <a:graphicData uri="http://schemas.openxmlformats.org/presentationml/2006/ole">
            <p:oleObj r:id="rId1" spid="">
              <p:embed/>
              <p:pic>
                <p:nvPicPr>
                  <p:cNvPr id="151" name="" descr=""/>
                  <p:cNvPicPr/>
                  <p:nvPr/>
                </p:nvPicPr>
                <p:blipFill>
                  <a:blip r:embed="rId2"/>
                  <a:stretch/>
                </p:blipFill>
                <p:spPr>
                  <a:xfrm>
                    <a:off x="380880" y="1981080"/>
                    <a:ext cx="4032360" cy="4267440"/>
                  </a:xfrm>
                  <a:prstGeom prst="rect">
                    <a:avLst/>
                  </a:prstGeom>
                  <a:solidFill>
                    <a:srgbClr val="ffffff"/>
                  </a:solidFill>
                  <a:ln w="0">
                    <a:noFill/>
                  </a:ln>
                </p:spPr>
              </p:pic>
            </p:oleObj>
          </a:graphicData>
        </a:graphic>
      </p:graphicFrame>
      <p:sp>
        <p:nvSpPr>
          <p:cNvPr id="152" name=""/>
          <p:cNvSpPr/>
          <p:nvPr/>
        </p:nvSpPr>
        <p:spPr>
          <a:xfrm>
            <a:off x="380880" y="228600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1%</a:t>
            </a:r>
            <a:endParaRPr b="0" lang="en-IN" sz="1400" strike="noStrike" u="none">
              <a:solidFill>
                <a:srgbClr val="ffffff"/>
              </a:solidFill>
              <a:effectLst/>
              <a:uFillTx/>
              <a:latin typeface="Times New Roman"/>
            </a:endParaRPr>
          </a:p>
        </p:txBody>
      </p:sp>
      <p:sp>
        <p:nvSpPr>
          <p:cNvPr id="153" name=""/>
          <p:cNvSpPr/>
          <p:nvPr/>
        </p:nvSpPr>
        <p:spPr>
          <a:xfrm>
            <a:off x="1143000" y="4495680"/>
            <a:ext cx="10666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45%</a:t>
            </a:r>
            <a:endParaRPr b="0" lang="en-IN" sz="1400" strike="noStrike" u="none">
              <a:solidFill>
                <a:srgbClr val="ffffff"/>
              </a:solidFill>
              <a:effectLst/>
              <a:uFillTx/>
              <a:latin typeface="Times New Roman"/>
            </a:endParaRPr>
          </a:p>
        </p:txBody>
      </p:sp>
      <p:sp>
        <p:nvSpPr>
          <p:cNvPr id="154" name=""/>
          <p:cNvSpPr/>
          <p:nvPr/>
        </p:nvSpPr>
        <p:spPr>
          <a:xfrm>
            <a:off x="2743200" y="1981080"/>
            <a:ext cx="18288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0%</a:t>
            </a:r>
            <a:endParaRPr b="0" lang="en-IN" sz="1400" strike="noStrike" u="none">
              <a:solidFill>
                <a:srgbClr val="ffffff"/>
              </a:solidFill>
              <a:effectLst/>
              <a:uFillTx/>
              <a:latin typeface="Times New Roman"/>
            </a:endParaRPr>
          </a:p>
        </p:txBody>
      </p:sp>
      <p:sp>
        <p:nvSpPr>
          <p:cNvPr id="155" name=""/>
          <p:cNvSpPr/>
          <p:nvPr/>
        </p:nvSpPr>
        <p:spPr>
          <a:xfrm>
            <a:off x="2514600" y="3276720"/>
            <a:ext cx="762120" cy="58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ffff"/>
                </a:solidFill>
                <a:effectLst/>
                <a:uFillTx/>
                <a:latin typeface="Arial"/>
              </a:rPr>
              <a:t>Black 27%</a:t>
            </a:r>
            <a:endParaRPr b="0" lang="en-IN" sz="1600" strike="noStrike" u="none">
              <a:solidFill>
                <a:srgbClr val="ffffff"/>
              </a:solidFill>
              <a:effectLst/>
              <a:uFillTx/>
              <a:latin typeface="Times New Roman"/>
            </a:endParaRPr>
          </a:p>
        </p:txBody>
      </p:sp>
      <p:sp>
        <p:nvSpPr>
          <p:cNvPr id="156" name=""/>
          <p:cNvSpPr/>
          <p:nvPr/>
        </p:nvSpPr>
        <p:spPr>
          <a:xfrm>
            <a:off x="2819520" y="449568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White 19%</a:t>
            </a:r>
            <a:endParaRPr b="0" lang="en-IN" sz="1400" strike="noStrike" u="none">
              <a:solidFill>
                <a:srgbClr val="ffffff"/>
              </a:solidFill>
              <a:effectLst/>
              <a:uFillTx/>
              <a:latin typeface="Times New Roman"/>
            </a:endParaRPr>
          </a:p>
        </p:txBody>
      </p:sp>
      <p:sp>
        <p:nvSpPr>
          <p:cNvPr id="157" name=""/>
          <p:cNvSpPr/>
          <p:nvPr/>
        </p:nvSpPr>
        <p:spPr>
          <a:xfrm>
            <a:off x="990720" y="586728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116</a:t>
            </a:r>
            <a:endParaRPr b="0" lang="en-IN" sz="1400" strike="noStrike" u="none">
              <a:solidFill>
                <a:srgbClr val="ffffff"/>
              </a:solidFill>
              <a:effectLst/>
              <a:uFillTx/>
              <a:latin typeface="Times New Roman"/>
            </a:endParaRPr>
          </a:p>
        </p:txBody>
      </p:sp>
      <p:sp>
        <p:nvSpPr>
          <p:cNvPr id="158" name=""/>
          <p:cNvSpPr/>
          <p:nvPr/>
        </p:nvSpPr>
        <p:spPr>
          <a:xfrm>
            <a:off x="685800" y="144792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Number</a:t>
            </a:r>
            <a:endParaRPr b="0" lang="en-IN" sz="2800" strike="noStrike" u="none">
              <a:solidFill>
                <a:srgbClr val="ffffff"/>
              </a:solidFill>
              <a:effectLst/>
              <a:uFillTx/>
              <a:latin typeface="Times New Roman"/>
            </a:endParaRPr>
          </a:p>
        </p:txBody>
      </p:sp>
      <p:sp>
        <p:nvSpPr>
          <p:cNvPr id="159" name=""/>
          <p:cNvSpPr/>
          <p:nvPr/>
        </p:nvSpPr>
        <p:spPr>
          <a:xfrm>
            <a:off x="5105520" y="1447920"/>
            <a:ext cx="35049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Rate</a:t>
            </a:r>
            <a:endParaRPr b="0" lang="en-IN" sz="2800" strike="noStrike" u="none">
              <a:solidFill>
                <a:srgbClr val="ffffff"/>
              </a:solidFill>
              <a:effectLst/>
              <a:uFillTx/>
              <a:latin typeface="Times New Roman"/>
            </a:endParaRPr>
          </a:p>
        </p:txBody>
      </p:sp>
      <p:sp>
        <p:nvSpPr>
          <p:cNvPr id="160" name=""/>
          <p:cNvSpPr/>
          <p:nvPr/>
        </p:nvSpPr>
        <p:spPr>
          <a:xfrm>
            <a:off x="228600" y="6400800"/>
            <a:ext cx="4191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400" strike="noStrike" u="none">
                <a:solidFill>
                  <a:srgbClr val="ffffff"/>
                </a:solidFill>
                <a:effectLst/>
                <a:uFillTx/>
                <a:latin typeface="Arial"/>
              </a:rPr>
              <a:t>CDPH, Office of AIDS.  HIV/AIDS Case Registry.</a:t>
            </a:r>
            <a:endParaRPr b="0" lang="en-IN" sz="1400" strike="noStrike" u="none">
              <a:solidFill>
                <a:srgbClr val="ffffff"/>
              </a:solidFill>
              <a:effectLst/>
              <a:uFillTx/>
              <a:latin typeface="Times New Roman"/>
            </a:endParaRPr>
          </a:p>
        </p:txBody>
      </p:sp>
      <p:sp>
        <p:nvSpPr>
          <p:cNvPr id="161" name=""/>
          <p:cNvSpPr/>
          <p:nvPr/>
        </p:nvSpPr>
        <p:spPr>
          <a:xfrm>
            <a:off x="1066680" y="2971800"/>
            <a:ext cx="228600" cy="30492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aphicFrame>
        <p:nvGraphicFramePr>
          <p:cNvPr id="162" name=""/>
          <p:cNvGraphicFramePr/>
          <p:nvPr/>
        </p:nvGraphicFramePr>
        <p:xfrm>
          <a:off x="4800600" y="1981080"/>
          <a:ext cx="4032360" cy="4267440"/>
        </p:xfrm>
        <a:graphic>
          <a:graphicData uri="http://schemas.openxmlformats.org/presentationml/2006/ole">
            <p:oleObj r:id="rId3" spid="">
              <p:embed/>
              <p:pic>
                <p:nvPicPr>
                  <p:cNvPr id="163" name="" descr=""/>
                  <p:cNvPicPr/>
                  <p:nvPr/>
                </p:nvPicPr>
                <p:blipFill>
                  <a:blip r:embed="rId4"/>
                  <a:stretch/>
                </p:blipFill>
                <p:spPr>
                  <a:xfrm>
                    <a:off x="4800600" y="1981080"/>
                    <a:ext cx="4032360" cy="4267440"/>
                  </a:xfrm>
                  <a:prstGeom prst="rect">
                    <a:avLst/>
                  </a:prstGeom>
                  <a:solidFill>
                    <a:srgbClr val="ffffff"/>
                  </a:solidFill>
                  <a:ln w="0">
                    <a:noFill/>
                  </a:ln>
                </p:spPr>
              </p:pic>
            </p:oleObj>
          </a:graphicData>
        </a:graphic>
      </p:graphicFrame>
      <p:sp>
        <p:nvSpPr>
          <p:cNvPr id="164" name=""/>
          <p:cNvSpPr/>
          <p:nvPr/>
        </p:nvSpPr>
        <p:spPr>
          <a:xfrm>
            <a:off x="5334120" y="4267080"/>
            <a:ext cx="10666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Hispanic 3.1</a:t>
            </a:r>
            <a:endParaRPr b="0" lang="en-IN" sz="1400" strike="noStrike" u="none">
              <a:solidFill>
                <a:srgbClr val="ffffff"/>
              </a:solidFill>
              <a:effectLst/>
              <a:uFillTx/>
              <a:latin typeface="Times New Roman"/>
            </a:endParaRPr>
          </a:p>
        </p:txBody>
      </p:sp>
      <p:sp>
        <p:nvSpPr>
          <p:cNvPr id="165" name=""/>
          <p:cNvSpPr/>
          <p:nvPr/>
        </p:nvSpPr>
        <p:spPr>
          <a:xfrm>
            <a:off x="4724280" y="2743200"/>
            <a:ext cx="137160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Asian/Pacific Islander       0.2</a:t>
            </a:r>
            <a:endParaRPr b="0" lang="en-IN" sz="1400" strike="noStrike" u="none">
              <a:solidFill>
                <a:srgbClr val="ffffff"/>
              </a:solidFill>
              <a:effectLst/>
              <a:uFillTx/>
              <a:latin typeface="Times New Roman"/>
            </a:endParaRPr>
          </a:p>
        </p:txBody>
      </p:sp>
      <p:sp>
        <p:nvSpPr>
          <p:cNvPr id="166" name=""/>
          <p:cNvSpPr/>
          <p:nvPr/>
        </p:nvSpPr>
        <p:spPr>
          <a:xfrm>
            <a:off x="7010280" y="2286000"/>
            <a:ext cx="175284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American Indian/ Alaska Native      0.0</a:t>
            </a:r>
            <a:endParaRPr b="0" lang="en-IN" sz="1400" strike="noStrike" u="none">
              <a:solidFill>
                <a:srgbClr val="ffffff"/>
              </a:solidFill>
              <a:effectLst/>
              <a:uFillTx/>
              <a:latin typeface="Times New Roman"/>
            </a:endParaRPr>
          </a:p>
        </p:txBody>
      </p:sp>
      <p:sp>
        <p:nvSpPr>
          <p:cNvPr id="167" name=""/>
          <p:cNvSpPr/>
          <p:nvPr/>
        </p:nvSpPr>
        <p:spPr>
          <a:xfrm>
            <a:off x="7010280" y="3657600"/>
            <a:ext cx="762120" cy="581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ffff"/>
                </a:solidFill>
                <a:effectLst/>
                <a:uFillTx/>
                <a:latin typeface="Arial"/>
              </a:rPr>
              <a:t>Black 10.8</a:t>
            </a:r>
            <a:endParaRPr b="0" lang="en-IN" sz="1600" strike="noStrike" u="none">
              <a:solidFill>
                <a:srgbClr val="ffffff"/>
              </a:solidFill>
              <a:effectLst/>
              <a:uFillTx/>
              <a:latin typeface="Times New Roman"/>
            </a:endParaRPr>
          </a:p>
        </p:txBody>
      </p:sp>
      <p:sp>
        <p:nvSpPr>
          <p:cNvPr id="168" name=""/>
          <p:cNvSpPr/>
          <p:nvPr/>
        </p:nvSpPr>
        <p:spPr>
          <a:xfrm>
            <a:off x="6095880" y="502920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White 1.5</a:t>
            </a:r>
            <a:endParaRPr b="0" lang="en-IN" sz="1400" strike="noStrike" u="none">
              <a:solidFill>
                <a:srgbClr val="ffffff"/>
              </a:solidFill>
              <a:effectLst/>
              <a:uFillTx/>
              <a:latin typeface="Times New Roman"/>
            </a:endParaRPr>
          </a:p>
        </p:txBody>
      </p:sp>
      <p:sp>
        <p:nvSpPr>
          <p:cNvPr id="169" name=""/>
          <p:cNvSpPr/>
          <p:nvPr/>
        </p:nvSpPr>
        <p:spPr>
          <a:xfrm>
            <a:off x="5486400" y="586728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Total = 2.7</a:t>
            </a:r>
            <a:endParaRPr b="0" lang="en-IN" sz="1400" strike="noStrike" u="none">
              <a:solidFill>
                <a:srgbClr val="ffffff"/>
              </a:solidFill>
              <a:effectLst/>
              <a:uFillTx/>
              <a:latin typeface="Times New Roman"/>
            </a:endParaRPr>
          </a:p>
        </p:txBody>
      </p:sp>
      <p:sp>
        <p:nvSpPr>
          <p:cNvPr id="170" name=""/>
          <p:cNvSpPr/>
          <p:nvPr/>
        </p:nvSpPr>
        <p:spPr>
          <a:xfrm>
            <a:off x="1676520" y="2209680"/>
            <a:ext cx="10666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Unknown 8%</a:t>
            </a:r>
            <a:endParaRPr b="0" lang="en-IN" sz="1400" strike="noStrike" u="none">
              <a:solidFill>
                <a:srgbClr val="ffffff"/>
              </a:solidFill>
              <a:effectLst/>
              <a:uFillTx/>
              <a:latin typeface="Times New Roman"/>
            </a:endParaRPr>
          </a:p>
        </p:txBody>
      </p:sp>
      <p:sp>
        <p:nvSpPr>
          <p:cNvPr id="171" name=""/>
          <p:cNvSpPr/>
          <p:nvPr/>
        </p:nvSpPr>
        <p:spPr>
          <a:xfrm flipH="1">
            <a:off x="1752120" y="2666880"/>
            <a:ext cx="381240" cy="30492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2" name=""/>
          <p:cNvSpPr/>
          <p:nvPr/>
        </p:nvSpPr>
        <p:spPr>
          <a:xfrm flipH="1">
            <a:off x="5029200" y="3352680"/>
            <a:ext cx="76320" cy="22860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3" name=""/>
          <p:cNvSpPr/>
          <p:nvPr/>
        </p:nvSpPr>
        <p:spPr>
          <a:xfrm>
            <a:off x="5029200" y="3581280"/>
            <a:ext cx="304920" cy="15264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74"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175" name=""/>
          <p:cNvSpPr/>
          <p:nvPr/>
        </p:nvSpPr>
        <p:spPr>
          <a:xfrm>
            <a:off x="380880" y="304920"/>
            <a:ext cx="8529840" cy="34941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Risk Factors</a:t>
            </a:r>
            <a:endParaRPr b="0" lang="en-IN" sz="5400" strike="noStrike" u="none">
              <a:solidFill>
                <a:srgbClr val="ffffff"/>
              </a:solidFill>
              <a:effectLst/>
              <a:uFillTx/>
              <a:latin typeface="Times New Roman"/>
            </a:endParaRPr>
          </a:p>
        </p:txBody>
      </p:sp>
      <p:pic>
        <p:nvPicPr>
          <p:cNvPr id="176" name="" descr=""/>
          <p:cNvPicPr/>
          <p:nvPr/>
        </p:nvPicPr>
        <p:blipFill>
          <a:blip r:embed="rId1"/>
          <a:stretch/>
        </p:blipFill>
        <p:spPr>
          <a:xfrm>
            <a:off x="228600" y="5562720"/>
            <a:ext cx="1270080" cy="1057320"/>
          </a:xfrm>
          <a:prstGeom prst="rect">
            <a:avLst/>
          </a:prstGeom>
          <a:noFill/>
          <a:ln w="0">
            <a:noFill/>
          </a:ln>
        </p:spPr>
      </p:pic>
      <p:pic>
        <p:nvPicPr>
          <p:cNvPr id="177" name="" descr=""/>
          <p:cNvPicPr/>
          <p:nvPr/>
        </p:nvPicPr>
        <p:blipFill>
          <a:blip r:embed="rId2"/>
          <a:stretch/>
        </p:blipFill>
        <p:spPr>
          <a:xfrm>
            <a:off x="7772400" y="5486400"/>
            <a:ext cx="1122480" cy="1143000"/>
          </a:xfrm>
          <a:prstGeom prst="rect">
            <a:avLst/>
          </a:prstGeom>
          <a:noFill/>
          <a:ln w="0">
            <a:noFill/>
          </a:ln>
        </p:spPr>
      </p:pic>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228600" y="274320"/>
            <a:ext cx="86868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ff"/>
                </a:solidFill>
                <a:effectLst/>
                <a:uFillTx/>
                <a:latin typeface="Arial"/>
              </a:rPr>
              <a:t>African American Risks Reported in State Funded Test Sites</a:t>
            </a:r>
            <a:endParaRPr b="1" lang="en-IN" sz="4000" strike="noStrike" u="none">
              <a:solidFill>
                <a:srgbClr val="e5e5ff"/>
              </a:solidFill>
              <a:effectLst/>
              <a:uFillTx/>
              <a:latin typeface="Garamond"/>
            </a:endParaRPr>
          </a:p>
        </p:txBody>
      </p:sp>
      <p:graphicFrame>
        <p:nvGraphicFramePr>
          <p:cNvPr id="179" name=""/>
          <p:cNvGraphicFramePr/>
          <p:nvPr/>
        </p:nvGraphicFramePr>
        <p:xfrm>
          <a:off x="228600" y="1600200"/>
          <a:ext cx="8610480" cy="5029200"/>
        </p:xfrm>
        <a:graphic>
          <a:graphicData uri="http://schemas.openxmlformats.org/drawingml/2006/table">
            <a:tbl>
              <a:tblPr/>
              <a:tblGrid>
                <a:gridCol w="4383000"/>
                <a:gridCol w="2114640"/>
                <a:gridCol w="2112840"/>
              </a:tblGrid>
              <a:tr h="1009800">
                <a:tc>
                  <a:txBody>
                    <a:bodyPr lIns="90000" rIns="90000" tIns="46800" bIns="46800" anchor="t">
                      <a:noAutofit/>
                    </a:bodyPr>
                    <a:p>
                      <a:pP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IN" sz="2400" strike="noStrike" u="none">
                          <a:solidFill>
                            <a:srgbClr val="ffffcc"/>
                          </a:solidFill>
                          <a:effectLst/>
                          <a:uFillTx/>
                          <a:latin typeface="Arial"/>
                        </a:rPr>
                        <a:t>19,339 African American tests (2006)</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 HIV Positive</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 of AA Tests</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13680">
                      <a:solidFill>
                        <a:srgbClr val="ffffff"/>
                      </a:solidFill>
                      <a:prstDash val="solid"/>
                    </a:lnT>
                    <a:lnB w="5760">
                      <a:solidFill>
                        <a:srgbClr val="ffffff"/>
                      </a:solidFill>
                      <a:prstDash val="solid"/>
                    </a:lnB>
                    <a:noFill/>
                  </a:tcPr>
                </a:tc>
              </a:tr>
              <a:tr h="57132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HIV-infected sex partner</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5.4%</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4.4%</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5260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Men who have sex with men</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4.3%</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12.7%</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5404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MSM and inject drugs</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3.1%</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1.3%</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5404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Sex for drugs or money</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2.0%</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12.8%</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9508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Hepatitis C diagnosis</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2.0%</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4.7%</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96880">
                <a:tc>
                  <a:txBody>
                    <a:bodyPr lIns="90000" rIns="90000" tIns="46800" bIns="46800" anchor="t">
                      <a:noAutofit/>
                    </a:bodyPr>
                    <a:p>
                      <a:pPr algn="r">
                        <a:lnSpc>
                          <a:spcPct val="100000"/>
                        </a:lnSpc>
                        <a:spcBef>
                          <a:spcPts val="499"/>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Injection drug user</a:t>
                      </a:r>
                      <a:r>
                        <a:rPr b="0" lang="en-IN" sz="2800" strike="noStrike" u="none">
                          <a:solidFill>
                            <a:srgbClr val="ffffcc"/>
                          </a:solidFill>
                          <a:effectLst/>
                          <a:uFillTx/>
                          <a:latin typeface="Arial"/>
                        </a:rPr>
                        <a:t> </a:t>
                      </a:r>
                      <a:r>
                        <a:rPr b="0" lang="en-IN" sz="2000" strike="noStrike" u="none">
                          <a:solidFill>
                            <a:srgbClr val="ffffcc"/>
                          </a:solidFill>
                          <a:effectLst/>
                          <a:uFillTx/>
                          <a:latin typeface="Arial"/>
                        </a:rPr>
                        <a:t>(non-MSM)</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1.9%</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8.1%</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9544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Sexually transmitted infection</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1.8%</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17.8%</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1368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228240" y="274320"/>
            <a:ext cx="84582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ff"/>
                </a:solidFill>
                <a:effectLst/>
                <a:uFillTx/>
                <a:latin typeface="Arial"/>
              </a:rPr>
              <a:t>African American Risks Reported in State Funded Test Sites</a:t>
            </a:r>
            <a:endParaRPr b="1" lang="en-IN" sz="4000" strike="noStrike" u="none">
              <a:solidFill>
                <a:srgbClr val="e5e5ff"/>
              </a:solidFill>
              <a:effectLst/>
              <a:uFillTx/>
              <a:latin typeface="Garamond"/>
            </a:endParaRPr>
          </a:p>
        </p:txBody>
      </p:sp>
      <p:graphicFrame>
        <p:nvGraphicFramePr>
          <p:cNvPr id="181" name=""/>
          <p:cNvGraphicFramePr/>
          <p:nvPr/>
        </p:nvGraphicFramePr>
        <p:xfrm>
          <a:off x="457200" y="1600200"/>
          <a:ext cx="8381880" cy="4788000"/>
        </p:xfrm>
        <a:graphic>
          <a:graphicData uri="http://schemas.openxmlformats.org/drawingml/2006/table">
            <a:tbl>
              <a:tblPr/>
              <a:tblGrid>
                <a:gridCol w="4267080"/>
                <a:gridCol w="2057400"/>
                <a:gridCol w="2057400"/>
              </a:tblGrid>
              <a:tr h="857520">
                <a:tc>
                  <a:txBody>
                    <a:bodyPr lIns="90000" rIns="90000" tIns="46800" bIns="46800" anchor="t">
                      <a:noAutofit/>
                    </a:bodyPr>
                    <a:p>
                      <a:pP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IN" sz="2400" strike="noStrike" u="none">
                          <a:solidFill>
                            <a:srgbClr val="ffffcc"/>
                          </a:solidFill>
                          <a:effectLst/>
                          <a:uFillTx/>
                          <a:latin typeface="Arial"/>
                        </a:rPr>
                        <a:t>2006: 19,339 African American tests</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 HIV Positive</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 of AA Tests</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13680">
                      <a:solidFill>
                        <a:srgbClr val="ffffff"/>
                      </a:solidFill>
                      <a:prstDash val="solid"/>
                    </a:lnT>
                    <a:lnB w="5760">
                      <a:solidFill>
                        <a:srgbClr val="ffffff"/>
                      </a:solidFill>
                      <a:prstDash val="solid"/>
                    </a:lnB>
                    <a:noFill/>
                  </a:tcPr>
                </a:tc>
              </a:tr>
              <a:tr h="53208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IDU sex partner</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1.7%</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12.2%</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48672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Transgender sex partner</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1.6%</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2.2%</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45972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Stimulant drug use</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1.6%</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32.7%</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1516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Transfusion, job related</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1.6%</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3.2%</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5620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Use drugs with sex</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1.4%</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57.7%</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55620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Sex worker sex partner</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1.3%</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11.4%</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5760">
                      <a:solidFill>
                        <a:srgbClr val="ffffff"/>
                      </a:solidFill>
                      <a:prstDash val="solid"/>
                    </a:lnB>
                    <a:noFill/>
                  </a:tcPr>
                </a:tc>
              </a:tr>
              <a:tr h="825480">
                <a:tc>
                  <a:txBody>
                    <a:bodyPr lIns="90000" rIns="90000" tIns="46800" bIns="46800" anchor="t">
                      <a:noAutofit/>
                    </a:bodyPr>
                    <a:p>
                      <a:pPr algn="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No identifiable risk or unknown</a:t>
                      </a:r>
                      <a:endParaRPr b="0" lang="en-IN" sz="2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0.9%</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601"/>
                        </a:spcBef>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IN" sz="2400" strike="noStrike" u="none">
                          <a:solidFill>
                            <a:srgbClr val="ffffcc"/>
                          </a:solidFill>
                          <a:effectLst/>
                          <a:uFillTx/>
                          <a:latin typeface="Arial"/>
                        </a:rPr>
                        <a:t>23.2%</a:t>
                      </a: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1368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533160" y="151920"/>
            <a:ext cx="80010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Mode of Exposure, 2005 African-American Males</a:t>
            </a:r>
            <a:endParaRPr b="1" lang="en-IN" sz="3600" strike="noStrike" u="none">
              <a:solidFill>
                <a:srgbClr val="e5e5ff"/>
              </a:solidFill>
              <a:effectLst/>
              <a:uFillTx/>
              <a:latin typeface="Garamond"/>
            </a:endParaRPr>
          </a:p>
        </p:txBody>
      </p:sp>
      <p:graphicFrame>
        <p:nvGraphicFramePr>
          <p:cNvPr id="183" name=""/>
          <p:cNvGraphicFramePr/>
          <p:nvPr/>
        </p:nvGraphicFramePr>
        <p:xfrm>
          <a:off x="228600" y="1981080"/>
          <a:ext cx="4032360" cy="4267440"/>
        </p:xfrm>
        <a:graphic>
          <a:graphicData uri="http://schemas.openxmlformats.org/presentationml/2006/ole">
            <p:oleObj r:id="rId1" spid="">
              <p:embed/>
              <p:pic>
                <p:nvPicPr>
                  <p:cNvPr id="184" name="" descr=""/>
                  <p:cNvPicPr/>
                  <p:nvPr/>
                </p:nvPicPr>
                <p:blipFill>
                  <a:blip r:embed="rId2"/>
                  <a:stretch/>
                </p:blipFill>
                <p:spPr>
                  <a:xfrm>
                    <a:off x="228600" y="1981080"/>
                    <a:ext cx="4032360" cy="4267440"/>
                  </a:xfrm>
                  <a:prstGeom prst="rect">
                    <a:avLst/>
                  </a:prstGeom>
                  <a:solidFill>
                    <a:srgbClr val="ffffff"/>
                  </a:solidFill>
                  <a:ln w="0">
                    <a:noFill/>
                  </a:ln>
                </p:spPr>
              </p:pic>
            </p:oleObj>
          </a:graphicData>
        </a:graphic>
      </p:graphicFrame>
      <p:sp>
        <p:nvSpPr>
          <p:cNvPr id="185" name=""/>
          <p:cNvSpPr/>
          <p:nvPr/>
        </p:nvSpPr>
        <p:spPr>
          <a:xfrm>
            <a:off x="457200" y="2590920"/>
            <a:ext cx="13716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Heterosexual 9%</a:t>
            </a:r>
            <a:endParaRPr b="0" lang="en-IN" sz="1400" strike="noStrike" u="none">
              <a:solidFill>
                <a:srgbClr val="ffffff"/>
              </a:solidFill>
              <a:effectLst/>
              <a:uFillTx/>
              <a:latin typeface="Times New Roman"/>
            </a:endParaRPr>
          </a:p>
        </p:txBody>
      </p:sp>
      <p:sp>
        <p:nvSpPr>
          <p:cNvPr id="186" name=""/>
          <p:cNvSpPr/>
          <p:nvPr/>
        </p:nvSpPr>
        <p:spPr>
          <a:xfrm>
            <a:off x="304920" y="342900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IDU 8%</a:t>
            </a:r>
            <a:endParaRPr b="0" lang="en-IN" sz="1400" strike="noStrike" u="none">
              <a:solidFill>
                <a:srgbClr val="ffffff"/>
              </a:solidFill>
              <a:effectLst/>
              <a:uFillTx/>
              <a:latin typeface="Times New Roman"/>
            </a:endParaRPr>
          </a:p>
        </p:txBody>
      </p:sp>
      <p:sp>
        <p:nvSpPr>
          <p:cNvPr id="187" name=""/>
          <p:cNvSpPr/>
          <p:nvPr/>
        </p:nvSpPr>
        <p:spPr>
          <a:xfrm>
            <a:off x="1905120" y="2438280"/>
            <a:ext cx="12189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MSM-IDU 3%</a:t>
            </a:r>
            <a:endParaRPr b="0" lang="en-IN" sz="1400" strike="noStrike" u="none">
              <a:solidFill>
                <a:srgbClr val="ffffff"/>
              </a:solidFill>
              <a:effectLst/>
              <a:uFillTx/>
              <a:latin typeface="Times New Roman"/>
            </a:endParaRPr>
          </a:p>
        </p:txBody>
      </p:sp>
      <p:sp>
        <p:nvSpPr>
          <p:cNvPr id="188" name=""/>
          <p:cNvSpPr/>
          <p:nvPr/>
        </p:nvSpPr>
        <p:spPr>
          <a:xfrm>
            <a:off x="3352680" y="3048120"/>
            <a:ext cx="76212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Other/NIR 27%</a:t>
            </a:r>
            <a:endParaRPr b="0" lang="en-IN" sz="1400" strike="noStrike" u="none">
              <a:solidFill>
                <a:srgbClr val="ffffff"/>
              </a:solidFill>
              <a:effectLst/>
              <a:uFillTx/>
              <a:latin typeface="Times New Roman"/>
            </a:endParaRPr>
          </a:p>
        </p:txBody>
      </p:sp>
      <p:sp>
        <p:nvSpPr>
          <p:cNvPr id="189" name=""/>
          <p:cNvSpPr/>
          <p:nvPr/>
        </p:nvSpPr>
        <p:spPr>
          <a:xfrm>
            <a:off x="3276720" y="5486400"/>
            <a:ext cx="9144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MSM 54%</a:t>
            </a:r>
            <a:endParaRPr b="0" lang="en-IN" sz="1400" strike="noStrike" u="none">
              <a:solidFill>
                <a:srgbClr val="ffffff"/>
              </a:solidFill>
              <a:effectLst/>
              <a:uFillTx/>
              <a:latin typeface="Times New Roman"/>
            </a:endParaRPr>
          </a:p>
        </p:txBody>
      </p:sp>
      <p:sp>
        <p:nvSpPr>
          <p:cNvPr id="190" name=""/>
          <p:cNvSpPr/>
          <p:nvPr/>
        </p:nvSpPr>
        <p:spPr>
          <a:xfrm>
            <a:off x="1066680" y="205740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2842</a:t>
            </a:r>
            <a:endParaRPr b="0" lang="en-IN" sz="1400" strike="noStrike" u="none">
              <a:solidFill>
                <a:srgbClr val="ffffff"/>
              </a:solidFill>
              <a:effectLst/>
              <a:uFillTx/>
              <a:latin typeface="Times New Roman"/>
            </a:endParaRPr>
          </a:p>
        </p:txBody>
      </p:sp>
      <p:sp>
        <p:nvSpPr>
          <p:cNvPr id="191" name=""/>
          <p:cNvSpPr/>
          <p:nvPr/>
        </p:nvSpPr>
        <p:spPr>
          <a:xfrm>
            <a:off x="457200" y="137160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California</a:t>
            </a:r>
            <a:endParaRPr b="0" lang="en-IN" sz="2800" strike="noStrike" u="none">
              <a:solidFill>
                <a:srgbClr val="ffffff"/>
              </a:solidFill>
              <a:effectLst/>
              <a:uFillTx/>
              <a:latin typeface="Times New Roman"/>
            </a:endParaRPr>
          </a:p>
        </p:txBody>
      </p:sp>
      <p:sp>
        <p:nvSpPr>
          <p:cNvPr id="192" name=""/>
          <p:cNvSpPr/>
          <p:nvPr/>
        </p:nvSpPr>
        <p:spPr>
          <a:xfrm>
            <a:off x="4343400" y="1371600"/>
            <a:ext cx="4648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HIV/AIDS CDC – 33 States</a:t>
            </a:r>
            <a:endParaRPr b="0" lang="en-IN" sz="2800" strike="noStrike" u="none">
              <a:solidFill>
                <a:srgbClr val="ffffff"/>
              </a:solidFill>
              <a:effectLst/>
              <a:uFillTx/>
              <a:latin typeface="Times New Roman"/>
            </a:endParaRPr>
          </a:p>
        </p:txBody>
      </p:sp>
      <p:sp>
        <p:nvSpPr>
          <p:cNvPr id="193" name=""/>
          <p:cNvSpPr/>
          <p:nvPr/>
        </p:nvSpPr>
        <p:spPr>
          <a:xfrm>
            <a:off x="228600" y="6400800"/>
            <a:ext cx="4191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400" strike="noStrike" u="none">
                <a:solidFill>
                  <a:srgbClr val="ffffff"/>
                </a:solidFill>
                <a:effectLst/>
                <a:uFillTx/>
                <a:latin typeface="Arial"/>
              </a:rPr>
              <a:t>CDPH, Office of AIDS.  HIV/AIDS Case Registry.</a:t>
            </a:r>
            <a:endParaRPr b="0" lang="en-IN" sz="1400" strike="noStrike" u="none">
              <a:solidFill>
                <a:srgbClr val="ffffff"/>
              </a:solidFill>
              <a:effectLst/>
              <a:uFillTx/>
              <a:latin typeface="Times New Roman"/>
            </a:endParaRPr>
          </a:p>
        </p:txBody>
      </p:sp>
      <p:sp>
        <p:nvSpPr>
          <p:cNvPr id="194" name=""/>
          <p:cNvSpPr/>
          <p:nvPr/>
        </p:nvSpPr>
        <p:spPr>
          <a:xfrm>
            <a:off x="4267080" y="6400800"/>
            <a:ext cx="487692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ffffff"/>
                </a:solidFill>
                <a:effectLst/>
                <a:uFillTx/>
                <a:latin typeface="Arial"/>
              </a:rPr>
              <a:t>CDC.  Fact Sheet: HIV/AIDS among African Americans. June 2007</a:t>
            </a:r>
            <a:endParaRPr b="0" lang="en-IN" sz="1200" strike="noStrike" u="none">
              <a:solidFill>
                <a:srgbClr val="ffffff"/>
              </a:solidFill>
              <a:effectLst/>
              <a:uFillTx/>
              <a:latin typeface="Times New Roman"/>
            </a:endParaRPr>
          </a:p>
        </p:txBody>
      </p:sp>
      <p:pic>
        <p:nvPicPr>
          <p:cNvPr id="195" name="" descr=""/>
          <p:cNvPicPr/>
          <p:nvPr/>
        </p:nvPicPr>
        <p:blipFill>
          <a:blip r:embed="rId3"/>
          <a:stretch/>
        </p:blipFill>
        <p:spPr>
          <a:xfrm>
            <a:off x="4495680" y="1981080"/>
            <a:ext cx="4480200" cy="4218120"/>
          </a:xfrm>
          <a:prstGeom prst="rect">
            <a:avLst/>
          </a:prstGeom>
          <a:noFill/>
          <a:ln w="0">
            <a:noFill/>
          </a:ln>
        </p:spPr>
      </p:pic>
      <p:sp>
        <p:nvSpPr>
          <p:cNvPr id="196" name=""/>
          <p:cNvSpPr/>
          <p:nvPr/>
        </p:nvSpPr>
        <p:spPr>
          <a:xfrm>
            <a:off x="1295280" y="3048120"/>
            <a:ext cx="152640" cy="30456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97" name=""/>
          <p:cNvSpPr/>
          <p:nvPr/>
        </p:nvSpPr>
        <p:spPr>
          <a:xfrm flipH="1">
            <a:off x="2133360" y="2819520"/>
            <a:ext cx="152280" cy="30456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198" name="PlaceHolder 1"/>
          <p:cNvSpPr>
            <a:spLocks noGrp="1"/>
          </p:cNvSpPr>
          <p:nvPr>
            <p:ph type="title"/>
          </p:nvPr>
        </p:nvSpPr>
        <p:spPr>
          <a:xfrm>
            <a:off x="228600" y="274320"/>
            <a:ext cx="86868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Mode of Exposure, 2005 African-American Females</a:t>
            </a:r>
            <a:endParaRPr b="1" lang="en-IN" sz="3600" strike="noStrike" u="none">
              <a:solidFill>
                <a:srgbClr val="e5e5ff"/>
              </a:solidFill>
              <a:effectLst/>
              <a:uFillTx/>
              <a:latin typeface="Garamond"/>
            </a:endParaRPr>
          </a:p>
        </p:txBody>
      </p:sp>
      <p:graphicFrame>
        <p:nvGraphicFramePr>
          <p:cNvPr id="199" name=""/>
          <p:cNvGraphicFramePr/>
          <p:nvPr/>
        </p:nvGraphicFramePr>
        <p:xfrm>
          <a:off x="228600" y="1981080"/>
          <a:ext cx="4032360" cy="4267440"/>
        </p:xfrm>
        <a:graphic>
          <a:graphicData uri="http://schemas.openxmlformats.org/presentationml/2006/ole">
            <p:oleObj r:id="rId1" spid="">
              <p:embed/>
              <p:pic>
                <p:nvPicPr>
                  <p:cNvPr id="200" name="" descr=""/>
                  <p:cNvPicPr/>
                  <p:nvPr/>
                </p:nvPicPr>
                <p:blipFill>
                  <a:blip r:embed="rId2"/>
                  <a:stretch/>
                </p:blipFill>
                <p:spPr>
                  <a:xfrm>
                    <a:off x="228600" y="1981080"/>
                    <a:ext cx="4032360" cy="4267440"/>
                  </a:xfrm>
                  <a:prstGeom prst="rect">
                    <a:avLst/>
                  </a:prstGeom>
                  <a:solidFill>
                    <a:srgbClr val="ffffff"/>
                  </a:solidFill>
                  <a:ln w="0">
                    <a:noFill/>
                  </a:ln>
                </p:spPr>
              </p:pic>
            </p:oleObj>
          </a:graphicData>
        </a:graphic>
      </p:graphicFrame>
      <p:sp>
        <p:nvSpPr>
          <p:cNvPr id="201" name=""/>
          <p:cNvSpPr/>
          <p:nvPr/>
        </p:nvSpPr>
        <p:spPr>
          <a:xfrm>
            <a:off x="2971800" y="5791320"/>
            <a:ext cx="13716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Heterosexual 56%</a:t>
            </a:r>
            <a:endParaRPr b="0" lang="en-IN" sz="1400" strike="noStrike" u="none">
              <a:solidFill>
                <a:srgbClr val="ffffff"/>
              </a:solidFill>
              <a:effectLst/>
              <a:uFillTx/>
              <a:latin typeface="Times New Roman"/>
            </a:endParaRPr>
          </a:p>
        </p:txBody>
      </p:sp>
      <p:sp>
        <p:nvSpPr>
          <p:cNvPr id="202" name=""/>
          <p:cNvSpPr/>
          <p:nvPr/>
        </p:nvSpPr>
        <p:spPr>
          <a:xfrm>
            <a:off x="380880" y="320040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IDU 18%</a:t>
            </a:r>
            <a:endParaRPr b="0" lang="en-IN" sz="1400" strike="noStrike" u="none">
              <a:solidFill>
                <a:srgbClr val="ffffff"/>
              </a:solidFill>
              <a:effectLst/>
              <a:uFillTx/>
              <a:latin typeface="Times New Roman"/>
            </a:endParaRPr>
          </a:p>
        </p:txBody>
      </p:sp>
      <p:sp>
        <p:nvSpPr>
          <p:cNvPr id="203" name=""/>
          <p:cNvSpPr/>
          <p:nvPr/>
        </p:nvSpPr>
        <p:spPr>
          <a:xfrm>
            <a:off x="2895480" y="2590920"/>
            <a:ext cx="762120" cy="7344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Other/NIR 26%</a:t>
            </a:r>
            <a:endParaRPr b="0" lang="en-IN" sz="1400" strike="noStrike" u="none">
              <a:solidFill>
                <a:srgbClr val="ffffff"/>
              </a:solidFill>
              <a:effectLst/>
              <a:uFillTx/>
              <a:latin typeface="Times New Roman"/>
            </a:endParaRPr>
          </a:p>
        </p:txBody>
      </p:sp>
      <p:sp>
        <p:nvSpPr>
          <p:cNvPr id="204" name=""/>
          <p:cNvSpPr/>
          <p:nvPr/>
        </p:nvSpPr>
        <p:spPr>
          <a:xfrm>
            <a:off x="1066680" y="205740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470</a:t>
            </a:r>
            <a:endParaRPr b="0" lang="en-IN" sz="1400" strike="noStrike" u="none">
              <a:solidFill>
                <a:srgbClr val="ffffff"/>
              </a:solidFill>
              <a:effectLst/>
              <a:uFillTx/>
              <a:latin typeface="Times New Roman"/>
            </a:endParaRPr>
          </a:p>
        </p:txBody>
      </p:sp>
      <p:sp>
        <p:nvSpPr>
          <p:cNvPr id="205" name=""/>
          <p:cNvSpPr/>
          <p:nvPr/>
        </p:nvSpPr>
        <p:spPr>
          <a:xfrm>
            <a:off x="457200" y="144792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 California</a:t>
            </a:r>
            <a:endParaRPr b="0" lang="en-IN" sz="2800" strike="noStrike" u="none">
              <a:solidFill>
                <a:srgbClr val="ffffff"/>
              </a:solidFill>
              <a:effectLst/>
              <a:uFillTx/>
              <a:latin typeface="Times New Roman"/>
            </a:endParaRPr>
          </a:p>
        </p:txBody>
      </p:sp>
      <p:sp>
        <p:nvSpPr>
          <p:cNvPr id="206" name=""/>
          <p:cNvSpPr/>
          <p:nvPr/>
        </p:nvSpPr>
        <p:spPr>
          <a:xfrm>
            <a:off x="4419720" y="1447920"/>
            <a:ext cx="47242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HIV/AIDS CDC – 33 States</a:t>
            </a:r>
            <a:endParaRPr b="0" lang="en-IN" sz="2800" strike="noStrike" u="none">
              <a:solidFill>
                <a:srgbClr val="ffffff"/>
              </a:solidFill>
              <a:effectLst/>
              <a:uFillTx/>
              <a:latin typeface="Times New Roman"/>
            </a:endParaRPr>
          </a:p>
        </p:txBody>
      </p:sp>
      <p:sp>
        <p:nvSpPr>
          <p:cNvPr id="207" name=""/>
          <p:cNvSpPr/>
          <p:nvPr/>
        </p:nvSpPr>
        <p:spPr>
          <a:xfrm>
            <a:off x="228600" y="6400800"/>
            <a:ext cx="4191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400" strike="noStrike" u="none">
                <a:solidFill>
                  <a:srgbClr val="ffffff"/>
                </a:solidFill>
                <a:effectLst/>
                <a:uFillTx/>
                <a:latin typeface="Arial"/>
              </a:rPr>
              <a:t>CDPH, Office of AIDS.  HIV/AIDS Case Registry.</a:t>
            </a:r>
            <a:endParaRPr b="0" lang="en-IN" sz="1400" strike="noStrike" u="none">
              <a:solidFill>
                <a:srgbClr val="ffffff"/>
              </a:solidFill>
              <a:effectLst/>
              <a:uFillTx/>
              <a:latin typeface="Times New Roman"/>
            </a:endParaRPr>
          </a:p>
        </p:txBody>
      </p:sp>
      <p:pic>
        <p:nvPicPr>
          <p:cNvPr id="208" name="" descr=""/>
          <p:cNvPicPr/>
          <p:nvPr/>
        </p:nvPicPr>
        <p:blipFill>
          <a:blip r:embed="rId3"/>
          <a:stretch/>
        </p:blipFill>
        <p:spPr>
          <a:xfrm>
            <a:off x="4572000" y="1981080"/>
            <a:ext cx="4387680" cy="4267440"/>
          </a:xfrm>
          <a:prstGeom prst="rect">
            <a:avLst/>
          </a:prstGeom>
          <a:noFill/>
          <a:ln w="0">
            <a:noFill/>
          </a:ln>
        </p:spPr>
      </p:pic>
      <p:sp>
        <p:nvSpPr>
          <p:cNvPr id="209" name=""/>
          <p:cNvSpPr/>
          <p:nvPr/>
        </p:nvSpPr>
        <p:spPr>
          <a:xfrm>
            <a:off x="4267080" y="6400800"/>
            <a:ext cx="487692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ffffff"/>
                </a:solidFill>
                <a:effectLst/>
                <a:uFillTx/>
                <a:latin typeface="Arial"/>
              </a:rPr>
              <a:t>CDC.  Fact Sheet: HIV/AIDS among African Americans. June 2007</a:t>
            </a:r>
            <a:endParaRPr b="0" lang="en-IN" sz="1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152280" y="228240"/>
            <a:ext cx="8839440" cy="7621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Female HIV Positivity by Risk Groups</a:t>
            </a:r>
            <a:endParaRPr b="1" lang="en-IN" sz="3600" strike="noStrike" u="none">
              <a:solidFill>
                <a:srgbClr val="e5e5ff"/>
              </a:solidFill>
              <a:effectLst/>
              <a:uFillTx/>
              <a:latin typeface="Garamond"/>
            </a:endParaRPr>
          </a:p>
        </p:txBody>
      </p:sp>
      <p:graphicFrame>
        <p:nvGraphicFramePr>
          <p:cNvPr id="211" name=""/>
          <p:cNvGraphicFramePr/>
          <p:nvPr/>
        </p:nvGraphicFramePr>
        <p:xfrm>
          <a:off x="304920" y="1066680"/>
          <a:ext cx="7924680" cy="5016600"/>
        </p:xfrm>
        <a:graphic>
          <a:graphicData uri="http://schemas.openxmlformats.org/drawingml/2006/table">
            <a:tbl>
              <a:tblPr/>
              <a:tblGrid>
                <a:gridCol w="4248000"/>
                <a:gridCol w="1144440"/>
                <a:gridCol w="1470240"/>
                <a:gridCol w="1062000"/>
              </a:tblGrid>
              <a:tr h="70380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Hierarchical Risk Groups</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solidFill>
                      <a:srgbClr val="000514">
                        <a:alpha val="50000"/>
                      </a:srgbClr>
                    </a:solid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White</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solidFill>
                      <a:srgbClr val="000514">
                        <a:alpha val="50000"/>
                      </a:srgbClr>
                    </a:solid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African American</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13680">
                      <a:solidFill>
                        <a:srgbClr val="ffffff"/>
                      </a:solidFill>
                      <a:prstDash val="solid"/>
                    </a:lnT>
                    <a:lnB w="5760">
                      <a:solidFill>
                        <a:srgbClr val="ffffff"/>
                      </a:solidFill>
                      <a:prstDash val="solid"/>
                    </a:lnB>
                    <a:solidFill>
                      <a:srgbClr val="000514">
                        <a:alpha val="50000"/>
                      </a:srgbClr>
                    </a:solid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Latina</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13680">
                      <a:solidFill>
                        <a:srgbClr val="ffffff"/>
                      </a:solidFill>
                      <a:prstDash val="solid"/>
                    </a:lnT>
                    <a:lnB w="5760">
                      <a:solidFill>
                        <a:srgbClr val="ffffff"/>
                      </a:solidFill>
                      <a:prstDash val="solid"/>
                    </a:lnB>
                    <a:solidFill>
                      <a:srgbClr val="000514">
                        <a:alpha val="50000"/>
                      </a:srgbClr>
                    </a:solidFill>
                  </a:tcPr>
                </a:tc>
              </a:tr>
              <a:tr h="4852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HIV+ partner* </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3.57</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8.09</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5.01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88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IDU</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0.80</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3.58</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0.65</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582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Sex with IDU*</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0.30</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1.81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0.71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885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Sex for drugs/$</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0.78</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1.87</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0.80</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885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MSM partner*</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0.40</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1.29</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0.78</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88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Multiple partners</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0.21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0.66</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0.34</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852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Monogamous partnership</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0.20</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0.72</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0.33</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852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No risk reported</a:t>
                      </a:r>
                      <a:endParaRPr b="0" lang="en-IN" sz="20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0.58</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2.21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1.21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43880">
                <a:tc>
                  <a:txBody>
                    <a:bodyPr lIns="90000" rIns="90000" tIns="46800" bIns="46800" anchor="t">
                      <a:noAutofit/>
                    </a:bodyPr>
                    <a:p>
                      <a:pPr>
                        <a:lnSpc>
                          <a:spcPct val="10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000" strike="noStrike" u="none">
                          <a:solidFill>
                            <a:srgbClr val="ffffcc"/>
                          </a:solidFill>
                          <a:effectLst/>
                          <a:uFillTx/>
                          <a:latin typeface="Arial"/>
                        </a:rPr>
                        <a:t>Unknown risk </a:t>
                      </a:r>
                      <a:r>
                        <a:rPr b="0" i="1" lang="en-IN" sz="1400" strike="noStrike" u="none">
                          <a:solidFill>
                            <a:srgbClr val="ffffcc"/>
                          </a:solidFill>
                          <a:effectLst/>
                          <a:uFillTx/>
                          <a:latin typeface="Arial"/>
                        </a:rPr>
                        <a:t>(missing/declined)</a:t>
                      </a:r>
                      <a:endParaRPr b="0" lang="en-IN" sz="1400" strike="noStrike" u="none">
                        <a:solidFill>
                          <a:srgbClr val="ffffff"/>
                        </a:solidFill>
                        <a:effectLst/>
                        <a:uFillTx/>
                        <a:latin typeface="Times New Roman"/>
                      </a:endParaRPr>
                    </a:p>
                  </a:txBody>
                  <a:tcPr anchor="t" marL="90000" marR="90000">
                    <a:lnL w="1368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1.01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2.96</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1368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1.07</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13680">
                      <a:solidFill>
                        <a:srgbClr val="ffffff"/>
                      </a:solidFill>
                      <a:prstDash val="solid"/>
                    </a:lnR>
                    <a:lnT w="5760">
                      <a:solidFill>
                        <a:srgbClr val="ffffff"/>
                      </a:solidFill>
                      <a:prstDash val="solid"/>
                    </a:lnT>
                    <a:lnB w="13680">
                      <a:solidFill>
                        <a:srgbClr val="ffffff"/>
                      </a:solidFill>
                      <a:prstDash val="solid"/>
                    </a:lnB>
                    <a:noFill/>
                  </a:tcPr>
                </a:tc>
              </a:tr>
            </a:tbl>
          </a:graphicData>
        </a:graphic>
      </p:graphicFrame>
      <p:sp>
        <p:nvSpPr>
          <p:cNvPr id="212" name=""/>
          <p:cNvSpPr/>
          <p:nvPr/>
        </p:nvSpPr>
        <p:spPr>
          <a:xfrm>
            <a:off x="223560" y="6397560"/>
            <a:ext cx="63475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Prepared by:  Prevention Research and Evaluation Section, California DPH, Office of AIDS.</a:t>
            </a:r>
            <a:endParaRPr b="0" lang="en-IN" sz="1200" strike="noStrike" u="none">
              <a:solidFill>
                <a:srgbClr val="ffffff"/>
              </a:solidFill>
              <a:effectLst/>
              <a:uFillTx/>
              <a:latin typeface="Times New Roman"/>
            </a:endParaRPr>
          </a:p>
        </p:txBody>
      </p:sp>
      <p:sp>
        <p:nvSpPr>
          <p:cNvPr id="213" name=""/>
          <p:cNvSpPr/>
          <p:nvPr/>
        </p:nvSpPr>
        <p:spPr>
          <a:xfrm>
            <a:off x="304920" y="6400800"/>
            <a:ext cx="84582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4" name=""/>
          <p:cNvSpPr/>
          <p:nvPr/>
        </p:nvSpPr>
        <p:spPr>
          <a:xfrm>
            <a:off x="464040" y="6095880"/>
            <a:ext cx="230868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600" strike="noStrike" u="none">
                <a:solidFill>
                  <a:srgbClr val="ffffff"/>
                </a:solidFill>
                <a:effectLst/>
                <a:uFillTx/>
                <a:latin typeface="Times New Roman"/>
              </a:rPr>
              <a:t>*does not include oral sex</a:t>
            </a:r>
            <a:endParaRPr b="0" lang="en-IN" sz="1600" strike="noStrike" u="none">
              <a:solidFill>
                <a:srgbClr val="ffffff"/>
              </a:solidFill>
              <a:effectLst/>
              <a:uFillTx/>
              <a:latin typeface="Times New Roman"/>
            </a:endParaRPr>
          </a:p>
        </p:txBody>
      </p:sp>
      <p:sp>
        <p:nvSpPr>
          <p:cNvPr id="215" name=""/>
          <p:cNvSpPr/>
          <p:nvPr/>
        </p:nvSpPr>
        <p:spPr>
          <a:xfrm>
            <a:off x="8381880" y="1828800"/>
            <a:ext cx="486000" cy="3200400"/>
          </a:xfrm>
          <a:prstGeom prst="downArrow">
            <a:avLst>
              <a:gd name="adj1" fmla="val 50000"/>
              <a:gd name="adj2" fmla="val 164630"/>
            </a:avLst>
          </a:prstGeom>
          <a:solidFill>
            <a:srgbClr val="0099cc"/>
          </a:solidFill>
          <a:ln cap="sq" w="12600">
            <a:solidFill>
              <a:srgbClr val="ffffff"/>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16" name=""/>
          <p:cNvSpPr/>
          <p:nvPr/>
        </p:nvSpPr>
        <p:spPr>
          <a:xfrm>
            <a:off x="8381880" y="5105520"/>
            <a:ext cx="762120" cy="0"/>
          </a:xfrm>
          <a:prstGeom prst="line">
            <a:avLst/>
          </a:prstGeom>
          <a:ln cap="sq" w="1260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7" name=""/>
          <p:cNvSpPr/>
          <p:nvPr/>
        </p:nvSpPr>
        <p:spPr>
          <a:xfrm>
            <a:off x="8247600" y="1219320"/>
            <a:ext cx="8942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HIV+</a:t>
            </a:r>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18"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219" name=""/>
          <p:cNvSpPr/>
          <p:nvPr/>
        </p:nvSpPr>
        <p:spPr>
          <a:xfrm>
            <a:off x="380880" y="304920"/>
            <a:ext cx="8529840" cy="34941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Transgender People</a:t>
            </a:r>
            <a:endParaRPr b="0" lang="en-IN" sz="5400" strike="noStrike" u="none">
              <a:solidFill>
                <a:srgbClr val="ffffff"/>
              </a:solidFill>
              <a:effectLst/>
              <a:uFillTx/>
              <a:latin typeface="Times New Roman"/>
            </a:endParaRPr>
          </a:p>
        </p:txBody>
      </p:sp>
      <p:pic>
        <p:nvPicPr>
          <p:cNvPr id="220" name="" descr=""/>
          <p:cNvPicPr/>
          <p:nvPr/>
        </p:nvPicPr>
        <p:blipFill>
          <a:blip r:embed="rId1"/>
          <a:stretch/>
        </p:blipFill>
        <p:spPr>
          <a:xfrm>
            <a:off x="228600" y="5562720"/>
            <a:ext cx="1270080" cy="1057320"/>
          </a:xfrm>
          <a:prstGeom prst="rect">
            <a:avLst/>
          </a:prstGeom>
          <a:noFill/>
          <a:ln w="0">
            <a:noFill/>
          </a:ln>
        </p:spPr>
      </p:pic>
      <p:pic>
        <p:nvPicPr>
          <p:cNvPr id="221" name="" descr=""/>
          <p:cNvPicPr/>
          <p:nvPr/>
        </p:nvPicPr>
        <p:blipFill>
          <a:blip r:embed="rId2"/>
          <a:stretch/>
        </p:blipFill>
        <p:spPr>
          <a:xfrm>
            <a:off x="7772400" y="5486400"/>
            <a:ext cx="1122480" cy="1143000"/>
          </a:xfrm>
          <a:prstGeom prst="rect">
            <a:avLst/>
          </a:prstGeom>
          <a:noFill/>
          <a:ln w="0">
            <a:noFill/>
          </a:ln>
        </p:spPr>
      </p:pic>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2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e5e5ff"/>
                </a:solidFill>
                <a:effectLst/>
                <a:uFillTx/>
                <a:latin typeface="Arial"/>
              </a:rPr>
              <a:t>Transgender People</a:t>
            </a:r>
            <a:endParaRPr b="1" lang="en-IN" sz="4400" strike="noStrike" u="none">
              <a:solidFill>
                <a:srgbClr val="e5e5ff"/>
              </a:solidFill>
              <a:effectLst/>
              <a:uFillTx/>
              <a:latin typeface="Garamond"/>
            </a:endParaRPr>
          </a:p>
        </p:txBody>
      </p:sp>
      <p:sp>
        <p:nvSpPr>
          <p:cNvPr id="22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lnSpc>
                <a:spcPct val="100000"/>
              </a:lnSpc>
              <a:spcBef>
                <a:spcPts val="799"/>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cc"/>
                </a:solidFill>
                <a:effectLst/>
                <a:uFillTx/>
                <a:latin typeface="Arial"/>
              </a:rPr>
              <a:t>2003 HIV Counseling &amp; Testing Data:</a:t>
            </a:r>
            <a:endParaRPr b="0" lang="en-IN" sz="3200" strike="noStrike" u="none">
              <a:solidFill>
                <a:srgbClr val="ffffff"/>
              </a:solidFill>
              <a:effectLst/>
              <a:uFillTx/>
              <a:latin typeface="Garamond"/>
            </a:endParaRPr>
          </a:p>
          <a:p>
            <a:pPr lvl="1" marL="743040" indent="-285840">
              <a:lnSpc>
                <a:spcPct val="100000"/>
              </a:lnSpc>
              <a:spcBef>
                <a:spcPts val="700"/>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cc"/>
                </a:solidFill>
                <a:effectLst/>
                <a:uFillTx/>
                <a:latin typeface="Arial"/>
              </a:rPr>
              <a:t>1203 tests among self-identified transgenders</a:t>
            </a:r>
            <a:endParaRPr b="0" lang="en-IN" sz="2800" strike="noStrike" u="none">
              <a:solidFill>
                <a:srgbClr val="ffffff"/>
              </a:solidFill>
              <a:effectLst/>
              <a:uFillTx/>
              <a:latin typeface="Garamond"/>
            </a:endParaRPr>
          </a:p>
          <a:p>
            <a:pPr lvl="1" marL="743040" indent="-285840">
              <a:lnSpc>
                <a:spcPct val="100000"/>
              </a:lnSpc>
              <a:spcBef>
                <a:spcPts val="700"/>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cc"/>
                </a:solidFill>
                <a:effectLst/>
                <a:uFillTx/>
                <a:latin typeface="Arial"/>
              </a:rPr>
              <a:t>36 of 126 AA transgender tests were positive</a:t>
            </a:r>
            <a:endParaRPr b="0" lang="en-IN" sz="2800" strike="noStrike" u="none">
              <a:solidFill>
                <a:srgbClr val="ffffff"/>
              </a:solidFill>
              <a:effectLst/>
              <a:uFillTx/>
              <a:latin typeface="Garamond"/>
            </a:endParaRPr>
          </a:p>
          <a:p>
            <a:pPr lvl="1" marL="743040" indent="-285840">
              <a:lnSpc>
                <a:spcPct val="100000"/>
              </a:lnSpc>
              <a:spcBef>
                <a:spcPts val="700"/>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cc"/>
                </a:solidFill>
                <a:effectLst/>
                <a:uFillTx/>
                <a:latin typeface="Arial"/>
              </a:rPr>
              <a:t>Positivity: 28.6%</a:t>
            </a:r>
            <a:endParaRPr b="0" lang="en-IN" sz="2800" strike="noStrike" u="none">
              <a:solidFill>
                <a:srgbClr val="ffffff"/>
              </a:solidFill>
              <a:effectLst/>
              <a:uFillTx/>
              <a:latin typeface="Garamond"/>
            </a:endParaRPr>
          </a:p>
          <a:p>
            <a:pPr lvl="1" marL="743040" indent="0">
              <a:lnSpc>
                <a:spcPct val="10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Garamond"/>
            </a:endParaRPr>
          </a:p>
          <a:p>
            <a:pPr marL="343080" indent="-343080">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Garamond"/>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24"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225" name=""/>
          <p:cNvSpPr/>
          <p:nvPr/>
        </p:nvSpPr>
        <p:spPr>
          <a:xfrm>
            <a:off x="380880" y="304920"/>
            <a:ext cx="8529840" cy="34941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Geographic Influence</a:t>
            </a:r>
            <a:endParaRPr b="0" lang="en-IN" sz="5400" strike="noStrike" u="none">
              <a:solidFill>
                <a:srgbClr val="ffffff"/>
              </a:solidFill>
              <a:effectLst/>
              <a:uFillTx/>
              <a:latin typeface="Times New Roman"/>
            </a:endParaRPr>
          </a:p>
        </p:txBody>
      </p:sp>
      <p:pic>
        <p:nvPicPr>
          <p:cNvPr id="226" name="" descr=""/>
          <p:cNvPicPr/>
          <p:nvPr/>
        </p:nvPicPr>
        <p:blipFill>
          <a:blip r:embed="rId1"/>
          <a:stretch/>
        </p:blipFill>
        <p:spPr>
          <a:xfrm>
            <a:off x="228600" y="5562720"/>
            <a:ext cx="1270080" cy="1057320"/>
          </a:xfrm>
          <a:prstGeom prst="rect">
            <a:avLst/>
          </a:prstGeom>
          <a:noFill/>
          <a:ln w="0">
            <a:noFill/>
          </a:ln>
        </p:spPr>
      </p:pic>
      <p:pic>
        <p:nvPicPr>
          <p:cNvPr id="227" name="" descr=""/>
          <p:cNvPicPr/>
          <p:nvPr/>
        </p:nvPicPr>
        <p:blipFill>
          <a:blip r:embed="rId2"/>
          <a:stretch/>
        </p:blipFill>
        <p:spPr>
          <a:xfrm>
            <a:off x="7772400" y="5486400"/>
            <a:ext cx="1122480" cy="1143000"/>
          </a:xfrm>
          <a:prstGeom prst="rect">
            <a:avLst/>
          </a:prstGeom>
          <a:noFill/>
          <a:ln w="0">
            <a:noFill/>
          </a:ln>
        </p:spPr>
      </p:pic>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28" name="PlaceHolder 1"/>
          <p:cNvSpPr>
            <a:spLocks noGrp="1"/>
          </p:cNvSpPr>
          <p:nvPr>
            <p:ph type="title"/>
          </p:nvPr>
        </p:nvSpPr>
        <p:spPr>
          <a:xfrm>
            <a:off x="0" y="-360"/>
            <a:ext cx="8763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African-American MSM at OA Funded C&amp;T Sites – Geographic Role</a:t>
            </a:r>
            <a:endParaRPr b="1" lang="en-IN" sz="3600" strike="noStrike" u="none">
              <a:solidFill>
                <a:srgbClr val="e5e5ff"/>
              </a:solidFill>
              <a:effectLst/>
              <a:uFillTx/>
              <a:latin typeface="Garamond"/>
            </a:endParaRPr>
          </a:p>
        </p:txBody>
      </p:sp>
      <p:graphicFrame>
        <p:nvGraphicFramePr>
          <p:cNvPr id="229" name=""/>
          <p:cNvGraphicFramePr/>
          <p:nvPr/>
        </p:nvGraphicFramePr>
        <p:xfrm>
          <a:off x="228600" y="1981080"/>
          <a:ext cx="4032360" cy="4267440"/>
        </p:xfrm>
        <a:graphic>
          <a:graphicData uri="http://schemas.openxmlformats.org/presentationml/2006/ole">
            <p:oleObj r:id="rId1" spid="">
              <p:embed/>
              <p:pic>
                <p:nvPicPr>
                  <p:cNvPr id="230" name="" descr=""/>
                  <p:cNvPicPr/>
                  <p:nvPr/>
                </p:nvPicPr>
                <p:blipFill>
                  <a:blip r:embed="rId2"/>
                  <a:stretch/>
                </p:blipFill>
                <p:spPr>
                  <a:xfrm>
                    <a:off x="228600" y="1981080"/>
                    <a:ext cx="4032360" cy="4267440"/>
                  </a:xfrm>
                  <a:prstGeom prst="rect">
                    <a:avLst/>
                  </a:prstGeom>
                  <a:solidFill>
                    <a:srgbClr val="ffffff"/>
                  </a:solidFill>
                  <a:ln w="0">
                    <a:noFill/>
                  </a:ln>
                </p:spPr>
              </p:pic>
            </p:oleObj>
          </a:graphicData>
        </a:graphic>
      </p:graphicFrame>
      <p:sp>
        <p:nvSpPr>
          <p:cNvPr id="231" name=""/>
          <p:cNvSpPr/>
          <p:nvPr/>
        </p:nvSpPr>
        <p:spPr>
          <a:xfrm>
            <a:off x="1371600" y="533412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2 10%</a:t>
            </a:r>
            <a:endParaRPr b="0" lang="en-IN" sz="1400" strike="noStrike" u="none">
              <a:solidFill>
                <a:srgbClr val="ffffff"/>
              </a:solidFill>
              <a:effectLst/>
              <a:uFillTx/>
              <a:latin typeface="Times New Roman"/>
            </a:endParaRPr>
          </a:p>
        </p:txBody>
      </p:sp>
      <p:sp>
        <p:nvSpPr>
          <p:cNvPr id="232" name=""/>
          <p:cNvSpPr/>
          <p:nvPr/>
        </p:nvSpPr>
        <p:spPr>
          <a:xfrm>
            <a:off x="304920" y="5715000"/>
            <a:ext cx="7617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3 3%</a:t>
            </a:r>
            <a:endParaRPr b="0" lang="en-IN" sz="1400" strike="noStrike" u="none">
              <a:solidFill>
                <a:srgbClr val="ffffff"/>
              </a:solidFill>
              <a:effectLst/>
              <a:uFillTx/>
              <a:latin typeface="Times New Roman"/>
            </a:endParaRPr>
          </a:p>
        </p:txBody>
      </p:sp>
      <p:sp>
        <p:nvSpPr>
          <p:cNvPr id="233" name=""/>
          <p:cNvSpPr/>
          <p:nvPr/>
        </p:nvSpPr>
        <p:spPr>
          <a:xfrm>
            <a:off x="2666880" y="3352680"/>
            <a:ext cx="914400" cy="632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1</a:t>
            </a:r>
            <a:endParaRPr b="0" lang="en-IN" sz="1400" strike="noStrike" u="none">
              <a:solidFill>
                <a:srgbClr val="ffffff"/>
              </a:solidFill>
              <a:effectLst/>
              <a:uFillTx/>
              <a:latin typeface="Times New Roman"/>
            </a:endParaRPr>
          </a:p>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87%</a:t>
            </a:r>
            <a:endParaRPr b="0" lang="en-IN" sz="1400" strike="noStrike" u="none">
              <a:solidFill>
                <a:srgbClr val="ffffff"/>
              </a:solidFill>
              <a:effectLst/>
              <a:uFillTx/>
              <a:latin typeface="Times New Roman"/>
            </a:endParaRPr>
          </a:p>
        </p:txBody>
      </p:sp>
      <p:sp>
        <p:nvSpPr>
          <p:cNvPr id="234" name=""/>
          <p:cNvSpPr/>
          <p:nvPr/>
        </p:nvSpPr>
        <p:spPr>
          <a:xfrm>
            <a:off x="1066680" y="205740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8307</a:t>
            </a:r>
            <a:endParaRPr b="0" lang="en-IN" sz="1400" strike="noStrike" u="none">
              <a:solidFill>
                <a:srgbClr val="ffffff"/>
              </a:solidFill>
              <a:effectLst/>
              <a:uFillTx/>
              <a:latin typeface="Times New Roman"/>
            </a:endParaRPr>
          </a:p>
        </p:txBody>
      </p:sp>
      <p:sp>
        <p:nvSpPr>
          <p:cNvPr id="235" name=""/>
          <p:cNvSpPr/>
          <p:nvPr/>
        </p:nvSpPr>
        <p:spPr>
          <a:xfrm>
            <a:off x="457200" y="137160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Tested</a:t>
            </a:r>
            <a:endParaRPr b="0" lang="en-IN" sz="2800" strike="noStrike" u="none">
              <a:solidFill>
                <a:srgbClr val="ffffff"/>
              </a:solidFill>
              <a:effectLst/>
              <a:uFillTx/>
              <a:latin typeface="Times New Roman"/>
            </a:endParaRPr>
          </a:p>
        </p:txBody>
      </p:sp>
      <p:sp>
        <p:nvSpPr>
          <p:cNvPr id="236" name=""/>
          <p:cNvSpPr/>
          <p:nvPr/>
        </p:nvSpPr>
        <p:spPr>
          <a:xfrm flipH="1">
            <a:off x="685440" y="5638680"/>
            <a:ext cx="228600" cy="15264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37" name=""/>
          <p:cNvSpPr/>
          <p:nvPr/>
        </p:nvSpPr>
        <p:spPr>
          <a:xfrm>
            <a:off x="223560" y="6397560"/>
            <a:ext cx="63475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Prepared by:  Prevention Research and Evaluation Section, California DPH, Office of AIDS.</a:t>
            </a:r>
            <a:endParaRPr b="0" lang="en-IN" sz="1200" strike="noStrike" u="none">
              <a:solidFill>
                <a:srgbClr val="ffffff"/>
              </a:solidFill>
              <a:effectLst/>
              <a:uFillTx/>
              <a:latin typeface="Times New Roman"/>
            </a:endParaRPr>
          </a:p>
        </p:txBody>
      </p:sp>
      <p:graphicFrame>
        <p:nvGraphicFramePr>
          <p:cNvPr id="238" name=""/>
          <p:cNvGraphicFramePr/>
          <p:nvPr/>
        </p:nvGraphicFramePr>
        <p:xfrm>
          <a:off x="4495680" y="1828800"/>
          <a:ext cx="4343400" cy="4525920"/>
        </p:xfrm>
        <a:graphic>
          <a:graphicData uri="http://schemas.openxmlformats.org/drawingml/2006/table">
            <a:tbl>
              <a:tblPr/>
              <a:tblGrid>
                <a:gridCol w="2095920"/>
                <a:gridCol w="216000"/>
                <a:gridCol w="2031480"/>
              </a:tblGrid>
              <a:tr h="41112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Tier 1</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Tier 2</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Alameda</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Berkeley</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w="5760">
                      <a:solidFill>
                        <a:srgbClr val="ffffff"/>
                      </a:solidFill>
                      <a:prstDash val="solid"/>
                    </a:lnT>
                    <a:lnB>
                      <a:noFill/>
                    </a:lnB>
                    <a:noFill/>
                  </a:tcPr>
                </a:tc>
              </a:tr>
              <a:tr h="4129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Contra Costa</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Fresno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Long Beach</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Kern</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Los Angeles</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Orange</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Riverside</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Pasadena</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Sacramento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San Joaquin</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San Bernardino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San Mateo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r>
              <a:tr h="4129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San Diego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Santa Clara</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w="5760">
                      <a:solidFill>
                        <a:srgbClr val="ffffff"/>
                      </a:solidFill>
                      <a:prstDash val="solid"/>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San Francisco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a:noFill/>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r>
              <a:tr h="41112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Solano</a:t>
                      </a:r>
                      <a:endParaRPr b="0" lang="en-IN" sz="2000" strike="noStrike" u="none">
                        <a:solidFill>
                          <a:srgbClr val="ffffff"/>
                        </a:solidFill>
                        <a:effectLst/>
                        <a:uFillTx/>
                        <a:latin typeface="Times New Roman"/>
                      </a:endParaRPr>
                    </a:p>
                  </a:txBody>
                  <a:tcPr anchor="t" marL="90000" marR="90000">
                    <a:lnL w="5760">
                      <a:solidFill>
                        <a:srgbClr val="ffffff"/>
                      </a:solidFill>
                      <a:prstDash val="solid"/>
                    </a:lnL>
                    <a:lnR w="5760">
                      <a:solidFill>
                        <a:srgbClr val="ffffff"/>
                      </a:solidFill>
                      <a:prstDash val="solid"/>
                    </a:lnR>
                    <a:lnT>
                      <a:noFill/>
                    </a:lnT>
                    <a:lnB w="5760">
                      <a:solidFill>
                        <a:srgbClr val="ffffff"/>
                      </a:solidFill>
                      <a:prstDash val="solid"/>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w="5760">
                      <a:solidFill>
                        <a:srgbClr val="ffffff"/>
                      </a:solidFill>
                      <a:prstDash val="solid"/>
                    </a:lnL>
                    <a:lnR>
                      <a:noFill/>
                    </a:lnR>
                    <a:lnT>
                      <a:noFill/>
                    </a:lnT>
                    <a:lnB>
                      <a:noFill/>
                    </a:lnB>
                    <a:noFill/>
                  </a:tcPr>
                </a:tc>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r>
            </a:tbl>
          </a:graphicData>
        </a:graphic>
      </p:graphicFrame>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152280" y="151920"/>
            <a:ext cx="8763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African-American MSM at OA Funded C&amp;T Sites – Geographic Role</a:t>
            </a:r>
            <a:endParaRPr b="1" lang="en-IN" sz="3600" strike="noStrike" u="none">
              <a:solidFill>
                <a:srgbClr val="e5e5ff"/>
              </a:solidFill>
              <a:effectLst/>
              <a:uFillTx/>
              <a:latin typeface="Garamond"/>
            </a:endParaRPr>
          </a:p>
        </p:txBody>
      </p:sp>
      <p:graphicFrame>
        <p:nvGraphicFramePr>
          <p:cNvPr id="240" name=""/>
          <p:cNvGraphicFramePr/>
          <p:nvPr/>
        </p:nvGraphicFramePr>
        <p:xfrm>
          <a:off x="228600" y="1981080"/>
          <a:ext cx="4032360" cy="4267440"/>
        </p:xfrm>
        <a:graphic>
          <a:graphicData uri="http://schemas.openxmlformats.org/presentationml/2006/ole">
            <p:oleObj r:id="rId1" spid="">
              <p:embed/>
              <p:pic>
                <p:nvPicPr>
                  <p:cNvPr id="241" name="" descr=""/>
                  <p:cNvPicPr/>
                  <p:nvPr/>
                </p:nvPicPr>
                <p:blipFill>
                  <a:blip r:embed="rId2"/>
                  <a:stretch/>
                </p:blipFill>
                <p:spPr>
                  <a:xfrm>
                    <a:off x="228600" y="1981080"/>
                    <a:ext cx="4032360" cy="4267440"/>
                  </a:xfrm>
                  <a:prstGeom prst="rect">
                    <a:avLst/>
                  </a:prstGeom>
                  <a:solidFill>
                    <a:srgbClr val="ffffff"/>
                  </a:solidFill>
                  <a:ln w="0">
                    <a:noFill/>
                  </a:ln>
                </p:spPr>
              </p:pic>
            </p:oleObj>
          </a:graphicData>
        </a:graphic>
      </p:graphicFrame>
      <p:sp>
        <p:nvSpPr>
          <p:cNvPr id="242" name=""/>
          <p:cNvSpPr/>
          <p:nvPr/>
        </p:nvSpPr>
        <p:spPr>
          <a:xfrm>
            <a:off x="1371600" y="533412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2 10%</a:t>
            </a:r>
            <a:endParaRPr b="0" lang="en-IN" sz="1400" strike="noStrike" u="none">
              <a:solidFill>
                <a:srgbClr val="ffffff"/>
              </a:solidFill>
              <a:effectLst/>
              <a:uFillTx/>
              <a:latin typeface="Times New Roman"/>
            </a:endParaRPr>
          </a:p>
        </p:txBody>
      </p:sp>
      <p:sp>
        <p:nvSpPr>
          <p:cNvPr id="243" name=""/>
          <p:cNvSpPr/>
          <p:nvPr/>
        </p:nvSpPr>
        <p:spPr>
          <a:xfrm>
            <a:off x="304920" y="5715000"/>
            <a:ext cx="7617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3 3%</a:t>
            </a:r>
            <a:endParaRPr b="0" lang="en-IN" sz="1400" strike="noStrike" u="none">
              <a:solidFill>
                <a:srgbClr val="ffffff"/>
              </a:solidFill>
              <a:effectLst/>
              <a:uFillTx/>
              <a:latin typeface="Times New Roman"/>
            </a:endParaRPr>
          </a:p>
        </p:txBody>
      </p:sp>
      <p:sp>
        <p:nvSpPr>
          <p:cNvPr id="244" name=""/>
          <p:cNvSpPr/>
          <p:nvPr/>
        </p:nvSpPr>
        <p:spPr>
          <a:xfrm>
            <a:off x="2666880" y="3352680"/>
            <a:ext cx="914400" cy="632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1</a:t>
            </a:r>
            <a:endParaRPr b="0" lang="en-IN" sz="1400" strike="noStrike" u="none">
              <a:solidFill>
                <a:srgbClr val="ffffff"/>
              </a:solidFill>
              <a:effectLst/>
              <a:uFillTx/>
              <a:latin typeface="Times New Roman"/>
            </a:endParaRPr>
          </a:p>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87%</a:t>
            </a:r>
            <a:endParaRPr b="0" lang="en-IN" sz="1400" strike="noStrike" u="none">
              <a:solidFill>
                <a:srgbClr val="ffffff"/>
              </a:solidFill>
              <a:effectLst/>
              <a:uFillTx/>
              <a:latin typeface="Times New Roman"/>
            </a:endParaRPr>
          </a:p>
        </p:txBody>
      </p:sp>
      <p:sp>
        <p:nvSpPr>
          <p:cNvPr id="245" name=""/>
          <p:cNvSpPr/>
          <p:nvPr/>
        </p:nvSpPr>
        <p:spPr>
          <a:xfrm>
            <a:off x="1066680" y="205740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8307</a:t>
            </a:r>
            <a:endParaRPr b="0" lang="en-IN" sz="1400" strike="noStrike" u="none">
              <a:solidFill>
                <a:srgbClr val="ffffff"/>
              </a:solidFill>
              <a:effectLst/>
              <a:uFillTx/>
              <a:latin typeface="Times New Roman"/>
            </a:endParaRPr>
          </a:p>
        </p:txBody>
      </p:sp>
      <p:sp>
        <p:nvSpPr>
          <p:cNvPr id="246" name=""/>
          <p:cNvSpPr/>
          <p:nvPr/>
        </p:nvSpPr>
        <p:spPr>
          <a:xfrm>
            <a:off x="457200" y="137160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Tested</a:t>
            </a:r>
            <a:endParaRPr b="0" lang="en-IN" sz="2800" strike="noStrike" u="none">
              <a:solidFill>
                <a:srgbClr val="ffffff"/>
              </a:solidFill>
              <a:effectLst/>
              <a:uFillTx/>
              <a:latin typeface="Times New Roman"/>
            </a:endParaRPr>
          </a:p>
        </p:txBody>
      </p:sp>
      <p:sp>
        <p:nvSpPr>
          <p:cNvPr id="247" name=""/>
          <p:cNvSpPr/>
          <p:nvPr/>
        </p:nvSpPr>
        <p:spPr>
          <a:xfrm flipH="1">
            <a:off x="685440" y="5638680"/>
            <a:ext cx="228600" cy="152640"/>
          </a:xfrm>
          <a:prstGeom prst="line">
            <a:avLst/>
          </a:prstGeom>
          <a:ln cap="sq" w="19080">
            <a:solidFill>
              <a:srgbClr val="333399"/>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48" name=""/>
          <p:cNvSpPr/>
          <p:nvPr/>
        </p:nvSpPr>
        <p:spPr>
          <a:xfrm>
            <a:off x="4724280" y="1371600"/>
            <a:ext cx="35053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cc"/>
                </a:solidFill>
                <a:effectLst/>
                <a:uFillTx/>
                <a:latin typeface="Arial"/>
              </a:rPr>
              <a:t>Positive</a:t>
            </a:r>
            <a:endParaRPr b="0" lang="en-IN" sz="2800" strike="noStrike" u="none">
              <a:solidFill>
                <a:srgbClr val="ffffff"/>
              </a:solidFill>
              <a:effectLst/>
              <a:uFillTx/>
              <a:latin typeface="Times New Roman"/>
            </a:endParaRPr>
          </a:p>
        </p:txBody>
      </p:sp>
      <p:sp>
        <p:nvSpPr>
          <p:cNvPr id="249" name=""/>
          <p:cNvSpPr/>
          <p:nvPr/>
        </p:nvSpPr>
        <p:spPr>
          <a:xfrm>
            <a:off x="7162920" y="3276720"/>
            <a:ext cx="914400" cy="632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1</a:t>
            </a:r>
            <a:endParaRPr b="0" lang="en-IN" sz="1400" strike="noStrike" u="none">
              <a:solidFill>
                <a:srgbClr val="ffffff"/>
              </a:solidFill>
              <a:effectLst/>
              <a:uFillTx/>
              <a:latin typeface="Times New Roman"/>
            </a:endParaRPr>
          </a:p>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90.5%</a:t>
            </a:r>
            <a:endParaRPr b="0" lang="en-IN" sz="1400" strike="noStrike" u="none">
              <a:solidFill>
                <a:srgbClr val="ffffff"/>
              </a:solidFill>
              <a:effectLst/>
              <a:uFillTx/>
              <a:latin typeface="Times New Roman"/>
            </a:endParaRPr>
          </a:p>
        </p:txBody>
      </p:sp>
      <p:sp>
        <p:nvSpPr>
          <p:cNvPr id="250" name=""/>
          <p:cNvSpPr/>
          <p:nvPr/>
        </p:nvSpPr>
        <p:spPr>
          <a:xfrm>
            <a:off x="5562720" y="502920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2 7.9%</a:t>
            </a:r>
            <a:endParaRPr b="0" lang="en-IN" sz="1400" strike="noStrike" u="none">
              <a:solidFill>
                <a:srgbClr val="ffffff"/>
              </a:solidFill>
              <a:effectLst/>
              <a:uFillTx/>
              <a:latin typeface="Times New Roman"/>
            </a:endParaRPr>
          </a:p>
        </p:txBody>
      </p:sp>
      <p:sp>
        <p:nvSpPr>
          <p:cNvPr id="251" name=""/>
          <p:cNvSpPr/>
          <p:nvPr/>
        </p:nvSpPr>
        <p:spPr>
          <a:xfrm>
            <a:off x="4648320" y="5486400"/>
            <a:ext cx="76176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3 3%</a:t>
            </a:r>
            <a:endParaRPr b="0" lang="en-IN" sz="1400" strike="noStrike" u="none">
              <a:solidFill>
                <a:srgbClr val="ffffff"/>
              </a:solidFill>
              <a:effectLst/>
              <a:uFillTx/>
              <a:latin typeface="Times New Roman"/>
            </a:endParaRPr>
          </a:p>
        </p:txBody>
      </p:sp>
      <p:graphicFrame>
        <p:nvGraphicFramePr>
          <p:cNvPr id="252" name=""/>
          <p:cNvGraphicFramePr/>
          <p:nvPr/>
        </p:nvGraphicFramePr>
        <p:xfrm>
          <a:off x="4651200" y="1981080"/>
          <a:ext cx="4264200" cy="4267440"/>
        </p:xfrm>
        <a:graphic>
          <a:graphicData uri="http://schemas.openxmlformats.org/presentationml/2006/ole">
            <p:oleObj r:id="rId3" spid="">
              <p:embed/>
              <p:pic>
                <p:nvPicPr>
                  <p:cNvPr id="253" name="" descr=""/>
                  <p:cNvPicPr/>
                  <p:nvPr/>
                </p:nvPicPr>
                <p:blipFill>
                  <a:blip r:embed="rId4"/>
                  <a:stretch/>
                </p:blipFill>
                <p:spPr>
                  <a:xfrm>
                    <a:off x="4651200" y="1981080"/>
                    <a:ext cx="4264200" cy="4267440"/>
                  </a:xfrm>
                  <a:prstGeom prst="rect">
                    <a:avLst/>
                  </a:prstGeom>
                  <a:solidFill>
                    <a:srgbClr val="ffffff"/>
                  </a:solidFill>
                  <a:ln w="0">
                    <a:noFill/>
                  </a:ln>
                </p:spPr>
              </p:pic>
            </p:oleObj>
          </a:graphicData>
        </a:graphic>
      </p:graphicFrame>
      <p:sp>
        <p:nvSpPr>
          <p:cNvPr id="254" name=""/>
          <p:cNvSpPr/>
          <p:nvPr/>
        </p:nvSpPr>
        <p:spPr>
          <a:xfrm>
            <a:off x="7391520" y="3352680"/>
            <a:ext cx="914400" cy="6321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1</a:t>
            </a:r>
            <a:endParaRPr b="0" lang="en-IN" sz="1400" strike="noStrike" u="none">
              <a:solidFill>
                <a:srgbClr val="ffffff"/>
              </a:solidFill>
              <a:effectLst/>
              <a:uFillTx/>
              <a:latin typeface="Times New Roman"/>
            </a:endParaRPr>
          </a:p>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90.5%</a:t>
            </a:r>
            <a:endParaRPr b="0" lang="en-IN" sz="1400" strike="noStrike" u="none">
              <a:solidFill>
                <a:srgbClr val="ffffff"/>
              </a:solidFill>
              <a:effectLst/>
              <a:uFillTx/>
              <a:latin typeface="Times New Roman"/>
            </a:endParaRPr>
          </a:p>
        </p:txBody>
      </p:sp>
      <p:sp>
        <p:nvSpPr>
          <p:cNvPr id="255" name=""/>
          <p:cNvSpPr/>
          <p:nvPr/>
        </p:nvSpPr>
        <p:spPr>
          <a:xfrm>
            <a:off x="5638680" y="5257800"/>
            <a:ext cx="6858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2 7.9%</a:t>
            </a:r>
            <a:endParaRPr b="0" lang="en-IN" sz="1400" strike="noStrike" u="none">
              <a:solidFill>
                <a:srgbClr val="ffffff"/>
              </a:solidFill>
              <a:effectLst/>
              <a:uFillTx/>
              <a:latin typeface="Times New Roman"/>
            </a:endParaRPr>
          </a:p>
        </p:txBody>
      </p:sp>
      <p:sp>
        <p:nvSpPr>
          <p:cNvPr id="256" name=""/>
          <p:cNvSpPr/>
          <p:nvPr/>
        </p:nvSpPr>
        <p:spPr>
          <a:xfrm>
            <a:off x="4724280" y="5638680"/>
            <a:ext cx="76212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Tier 3 1.6%</a:t>
            </a:r>
            <a:endParaRPr b="0" lang="en-IN" sz="1400" strike="noStrike" u="none">
              <a:solidFill>
                <a:srgbClr val="ffffff"/>
              </a:solidFill>
              <a:effectLst/>
              <a:uFillTx/>
              <a:latin typeface="Times New Roman"/>
            </a:endParaRPr>
          </a:p>
        </p:txBody>
      </p:sp>
      <p:sp>
        <p:nvSpPr>
          <p:cNvPr id="257" name=""/>
          <p:cNvSpPr/>
          <p:nvPr/>
        </p:nvSpPr>
        <p:spPr>
          <a:xfrm>
            <a:off x="223560" y="6397560"/>
            <a:ext cx="63475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Prepared by:  Prevention Research and Evaluation Section, California DPH, Office of AIDS.</a:t>
            </a:r>
            <a:endParaRPr b="0" lang="en-IN" sz="1200" strike="noStrike" u="none">
              <a:solidFill>
                <a:srgbClr val="ffffff"/>
              </a:solidFill>
              <a:effectLst/>
              <a:uFillTx/>
              <a:latin typeface="Times New Roman"/>
            </a:endParaRPr>
          </a:p>
        </p:txBody>
      </p:sp>
      <p:sp>
        <p:nvSpPr>
          <p:cNvPr id="258" name=""/>
          <p:cNvSpPr/>
          <p:nvPr/>
        </p:nvSpPr>
        <p:spPr>
          <a:xfrm>
            <a:off x="5334120" y="205740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333399"/>
                </a:solidFill>
                <a:effectLst/>
                <a:uFillTx/>
                <a:latin typeface="Arial"/>
              </a:rPr>
              <a:t>No. = 621</a:t>
            </a:r>
            <a:endParaRPr b="0" lang="en-IN" sz="1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59" name="PlaceHolder 1"/>
          <p:cNvSpPr>
            <a:spLocks noGrp="1"/>
          </p:cNvSpPr>
          <p:nvPr>
            <p:ph type="title"/>
          </p:nvPr>
        </p:nvSpPr>
        <p:spPr>
          <a:xfrm>
            <a:off x="533520" y="533520"/>
            <a:ext cx="8229600" cy="113976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ff"/>
                </a:solidFill>
                <a:effectLst/>
                <a:uFillTx/>
                <a:latin typeface="Arial"/>
              </a:rPr>
              <a:t>Proportion of HIV+ Females Concentrated in Urban Areas</a:t>
            </a:r>
            <a:endParaRPr b="1" lang="en-IN" sz="4000" strike="noStrike" u="none">
              <a:solidFill>
                <a:srgbClr val="e5e5ff"/>
              </a:solidFill>
              <a:effectLst/>
              <a:uFillTx/>
              <a:latin typeface="Garamond"/>
            </a:endParaRPr>
          </a:p>
        </p:txBody>
      </p:sp>
      <p:graphicFrame>
        <p:nvGraphicFramePr>
          <p:cNvPr id="260" name=""/>
          <p:cNvGraphicFramePr/>
          <p:nvPr/>
        </p:nvGraphicFramePr>
        <p:xfrm>
          <a:off x="2438280" y="1523880"/>
          <a:ext cx="4218120" cy="3846600"/>
        </p:xfrm>
        <a:graphic>
          <a:graphicData uri="http://schemas.openxmlformats.org/presentationml/2006/ole">
            <p:oleObj r:id="rId1" spid="">
              <p:embed/>
              <p:pic>
                <p:nvPicPr>
                  <p:cNvPr id="261" name="" descr=""/>
                  <p:cNvPicPr/>
                  <p:nvPr/>
                </p:nvPicPr>
                <p:blipFill>
                  <a:blip r:embed="rId2"/>
                  <a:stretch/>
                </p:blipFill>
                <p:spPr>
                  <a:xfrm>
                    <a:off x="2438280" y="1523880"/>
                    <a:ext cx="4218120" cy="3846600"/>
                  </a:xfrm>
                  <a:prstGeom prst="rect">
                    <a:avLst/>
                  </a:prstGeom>
                  <a:noFill/>
                  <a:ln w="0">
                    <a:noFill/>
                  </a:ln>
                </p:spPr>
              </p:pic>
            </p:oleObj>
          </a:graphicData>
        </a:graphic>
      </p:graphicFrame>
      <p:graphicFrame>
        <p:nvGraphicFramePr>
          <p:cNvPr id="262" name=""/>
          <p:cNvGraphicFramePr/>
          <p:nvPr/>
        </p:nvGraphicFramePr>
        <p:xfrm>
          <a:off x="0" y="2743200"/>
          <a:ext cx="3281400" cy="2189160"/>
        </p:xfrm>
        <a:graphic>
          <a:graphicData uri="http://schemas.openxmlformats.org/presentationml/2006/ole">
            <p:oleObj r:id="rId3" spid="">
              <p:embed/>
              <p:pic>
                <p:nvPicPr>
                  <p:cNvPr id="263" name="" descr=""/>
                  <p:cNvPicPr/>
                  <p:nvPr/>
                </p:nvPicPr>
                <p:blipFill>
                  <a:blip r:embed="rId4"/>
                  <a:stretch/>
                </p:blipFill>
                <p:spPr>
                  <a:xfrm>
                    <a:off x="0" y="2743200"/>
                    <a:ext cx="3281400" cy="2189160"/>
                  </a:xfrm>
                  <a:prstGeom prst="rect">
                    <a:avLst/>
                  </a:prstGeom>
                  <a:noFill/>
                  <a:ln w="0">
                    <a:noFill/>
                  </a:ln>
                </p:spPr>
              </p:pic>
            </p:oleObj>
          </a:graphicData>
        </a:graphic>
      </p:graphicFrame>
      <p:graphicFrame>
        <p:nvGraphicFramePr>
          <p:cNvPr id="264" name=""/>
          <p:cNvGraphicFramePr/>
          <p:nvPr/>
        </p:nvGraphicFramePr>
        <p:xfrm>
          <a:off x="5638680" y="2743200"/>
          <a:ext cx="3205440" cy="2138400"/>
        </p:xfrm>
        <a:graphic>
          <a:graphicData uri="http://schemas.openxmlformats.org/presentationml/2006/ole">
            <p:oleObj r:id="rId5" spid="">
              <p:embed/>
              <p:pic>
                <p:nvPicPr>
                  <p:cNvPr id="265" name="" descr=""/>
                  <p:cNvPicPr/>
                  <p:nvPr/>
                </p:nvPicPr>
                <p:blipFill>
                  <a:blip r:embed="rId6"/>
                  <a:stretch/>
                </p:blipFill>
                <p:spPr>
                  <a:xfrm>
                    <a:off x="5638680" y="2743200"/>
                    <a:ext cx="3205440" cy="2138400"/>
                  </a:xfrm>
                  <a:prstGeom prst="rect">
                    <a:avLst/>
                  </a:prstGeom>
                  <a:noFill/>
                  <a:ln w="0">
                    <a:noFill/>
                  </a:ln>
                </p:spPr>
              </p:pic>
            </p:oleObj>
          </a:graphicData>
        </a:graphic>
      </p:graphicFrame>
      <p:sp>
        <p:nvSpPr>
          <p:cNvPr id="266" name=""/>
          <p:cNvSpPr/>
          <p:nvPr/>
        </p:nvSpPr>
        <p:spPr>
          <a:xfrm>
            <a:off x="223560" y="6397560"/>
            <a:ext cx="63475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Prepared by:  Prevention Research and Evaluation Section, California DPH, Office of AIDS.</a:t>
            </a:r>
            <a:endParaRPr b="0" lang="en-IN" sz="1200" strike="noStrike" u="none">
              <a:solidFill>
                <a:srgbClr val="ffffff"/>
              </a:solidFill>
              <a:effectLst/>
              <a:uFillTx/>
              <a:latin typeface="Times New Roman"/>
            </a:endParaRPr>
          </a:p>
        </p:txBody>
      </p:sp>
      <p:sp>
        <p:nvSpPr>
          <p:cNvPr id="267" name=""/>
          <p:cNvSpPr/>
          <p:nvPr/>
        </p:nvSpPr>
        <p:spPr>
          <a:xfrm>
            <a:off x="304920" y="6400800"/>
            <a:ext cx="84582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68" name=""/>
          <p:cNvSpPr/>
          <p:nvPr/>
        </p:nvSpPr>
        <p:spPr>
          <a:xfrm>
            <a:off x="1280160" y="3994200"/>
            <a:ext cx="796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Verdana"/>
              </a:rPr>
              <a:t>81%</a:t>
            </a:r>
            <a:endParaRPr b="0" lang="en-IN" sz="1800" strike="noStrike" u="none">
              <a:solidFill>
                <a:srgbClr val="ffffff"/>
              </a:solidFill>
              <a:effectLst/>
              <a:uFillTx/>
              <a:latin typeface="Times New Roman"/>
            </a:endParaRPr>
          </a:p>
        </p:txBody>
      </p:sp>
      <p:sp>
        <p:nvSpPr>
          <p:cNvPr id="269" name=""/>
          <p:cNvSpPr/>
          <p:nvPr/>
        </p:nvSpPr>
        <p:spPr>
          <a:xfrm>
            <a:off x="4099680" y="3994200"/>
            <a:ext cx="796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Verdana"/>
              </a:rPr>
              <a:t>72%</a:t>
            </a:r>
            <a:endParaRPr b="0" lang="en-IN" sz="1800" strike="noStrike" u="none">
              <a:solidFill>
                <a:srgbClr val="ffffff"/>
              </a:solidFill>
              <a:effectLst/>
              <a:uFillTx/>
              <a:latin typeface="Times New Roman"/>
            </a:endParaRPr>
          </a:p>
        </p:txBody>
      </p:sp>
      <p:sp>
        <p:nvSpPr>
          <p:cNvPr id="270" name=""/>
          <p:cNvSpPr/>
          <p:nvPr/>
        </p:nvSpPr>
        <p:spPr>
          <a:xfrm>
            <a:off x="6553800" y="3962520"/>
            <a:ext cx="796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Verdana"/>
              </a:rPr>
              <a:t>56%</a:t>
            </a:r>
            <a:endParaRPr b="0" lang="en-IN" sz="1800" strike="noStrike" u="none">
              <a:solidFill>
                <a:srgbClr val="ffffff"/>
              </a:solidFill>
              <a:effectLst/>
              <a:uFillTx/>
              <a:latin typeface="Times New Roman"/>
            </a:endParaRPr>
          </a:p>
        </p:txBody>
      </p:sp>
      <p:sp>
        <p:nvSpPr>
          <p:cNvPr id="271" name=""/>
          <p:cNvSpPr/>
          <p:nvPr/>
        </p:nvSpPr>
        <p:spPr>
          <a:xfrm>
            <a:off x="384120" y="2438280"/>
            <a:ext cx="23875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Verdana"/>
              </a:rPr>
              <a:t>African American</a:t>
            </a:r>
            <a:endParaRPr b="0" lang="en-IN" sz="1800" strike="noStrike" u="none">
              <a:solidFill>
                <a:srgbClr val="ffffff"/>
              </a:solidFill>
              <a:effectLst/>
              <a:uFillTx/>
              <a:latin typeface="Times New Roman"/>
            </a:endParaRPr>
          </a:p>
        </p:txBody>
      </p:sp>
      <p:sp>
        <p:nvSpPr>
          <p:cNvPr id="272" name=""/>
          <p:cNvSpPr/>
          <p:nvPr/>
        </p:nvSpPr>
        <p:spPr>
          <a:xfrm>
            <a:off x="3888000" y="2438280"/>
            <a:ext cx="9770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Verdana"/>
              </a:rPr>
              <a:t>Latina</a:t>
            </a:r>
            <a:endParaRPr b="0" lang="en-IN" sz="1800" strike="noStrike" u="none">
              <a:solidFill>
                <a:srgbClr val="ffffff"/>
              </a:solidFill>
              <a:effectLst/>
              <a:uFillTx/>
              <a:latin typeface="Times New Roman"/>
            </a:endParaRPr>
          </a:p>
        </p:txBody>
      </p:sp>
      <p:sp>
        <p:nvSpPr>
          <p:cNvPr id="273" name=""/>
          <p:cNvSpPr/>
          <p:nvPr/>
        </p:nvSpPr>
        <p:spPr>
          <a:xfrm>
            <a:off x="6783840" y="2438280"/>
            <a:ext cx="9356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Verdana"/>
              </a:rPr>
              <a:t>White</a:t>
            </a:r>
            <a:endParaRPr b="0" lang="en-IN" sz="1800" strike="noStrike" u="none">
              <a:solidFill>
                <a:srgbClr val="ffffff"/>
              </a:solidFill>
              <a:effectLst/>
              <a:uFillTx/>
              <a:latin typeface="Times New Roman"/>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74" name="PlaceHolder 1"/>
          <p:cNvSpPr>
            <a:spLocks noGrp="1"/>
          </p:cNvSpPr>
          <p:nvPr>
            <p:ph type="title"/>
          </p:nvPr>
        </p:nvSpPr>
        <p:spPr>
          <a:xfrm>
            <a:off x="0" y="380520"/>
            <a:ext cx="9144000" cy="83844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Arial"/>
              </a:rPr>
              <a:t>Female HIV-positivity: Urban vs. Non-urban</a:t>
            </a:r>
            <a:endParaRPr b="1" lang="en-IN" sz="3600" strike="noStrike" u="none">
              <a:solidFill>
                <a:srgbClr val="e5e5ff"/>
              </a:solidFill>
              <a:effectLst/>
              <a:uFillTx/>
              <a:latin typeface="Garamond"/>
            </a:endParaRPr>
          </a:p>
        </p:txBody>
      </p:sp>
      <p:graphicFrame>
        <p:nvGraphicFramePr>
          <p:cNvPr id="275" name=""/>
          <p:cNvGraphicFramePr/>
          <p:nvPr/>
        </p:nvGraphicFramePr>
        <p:xfrm>
          <a:off x="714240" y="1519200"/>
          <a:ext cx="7804440" cy="4792680"/>
        </p:xfrm>
        <a:graphic>
          <a:graphicData uri="http://schemas.openxmlformats.org/presentationml/2006/ole">
            <p:oleObj r:id="rId1" spid="">
              <p:embed/>
              <p:pic>
                <p:nvPicPr>
                  <p:cNvPr id="276" name="" descr=""/>
                  <p:cNvPicPr/>
                  <p:nvPr/>
                </p:nvPicPr>
                <p:blipFill>
                  <a:blip r:embed="rId2"/>
                  <a:stretch/>
                </p:blipFill>
                <p:spPr>
                  <a:xfrm>
                    <a:off x="714240" y="1519200"/>
                    <a:ext cx="7804440" cy="4792680"/>
                  </a:xfrm>
                  <a:prstGeom prst="rect">
                    <a:avLst/>
                  </a:prstGeom>
                  <a:noFill/>
                  <a:ln w="0">
                    <a:noFill/>
                  </a:ln>
                </p:spPr>
              </p:pic>
            </p:oleObj>
          </a:graphicData>
        </a:graphic>
      </p:graphicFrame>
      <p:sp>
        <p:nvSpPr>
          <p:cNvPr id="277" name=""/>
          <p:cNvSpPr/>
          <p:nvPr/>
        </p:nvSpPr>
        <p:spPr>
          <a:xfrm>
            <a:off x="223560" y="6397560"/>
            <a:ext cx="634752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Prepared by:  Prevention Research and Evaluation Section, California DPH, Office of AIDS.</a:t>
            </a:r>
            <a:endParaRPr b="0" lang="en-IN" sz="1200" strike="noStrike" u="none">
              <a:solidFill>
                <a:srgbClr val="ffffff"/>
              </a:solidFill>
              <a:effectLst/>
              <a:uFillTx/>
              <a:latin typeface="Times New Roman"/>
            </a:endParaRPr>
          </a:p>
        </p:txBody>
      </p:sp>
      <p:sp>
        <p:nvSpPr>
          <p:cNvPr id="278" name=""/>
          <p:cNvSpPr/>
          <p:nvPr/>
        </p:nvSpPr>
        <p:spPr>
          <a:xfrm>
            <a:off x="304920" y="6400800"/>
            <a:ext cx="84582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79" name=""/>
          <p:cNvSpPr/>
          <p:nvPr/>
        </p:nvSpPr>
        <p:spPr>
          <a:xfrm>
            <a:off x="4955400" y="2057400"/>
            <a:ext cx="8794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Verdana"/>
              </a:rPr>
              <a:t>P&lt;.01</a:t>
            </a:r>
            <a:endParaRPr b="0" lang="en-IN" sz="1800" strike="noStrike" u="none">
              <a:solidFill>
                <a:srgbClr val="ffffff"/>
              </a:solidFill>
              <a:effectLst/>
              <a:uFillTx/>
              <a:latin typeface="Times New Roman"/>
            </a:endParaRPr>
          </a:p>
        </p:txBody>
      </p:sp>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80"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281" name=""/>
          <p:cNvSpPr/>
          <p:nvPr/>
        </p:nvSpPr>
        <p:spPr>
          <a:xfrm>
            <a:off x="380880" y="304920"/>
            <a:ext cx="8529840" cy="34941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Delayed HIV Diagnosis</a:t>
            </a:r>
            <a:endParaRPr b="0" lang="en-IN" sz="5400" strike="noStrike" u="none">
              <a:solidFill>
                <a:srgbClr val="ffffff"/>
              </a:solidFill>
              <a:effectLst/>
              <a:uFillTx/>
              <a:latin typeface="Times New Roman"/>
            </a:endParaRPr>
          </a:p>
        </p:txBody>
      </p:sp>
      <p:pic>
        <p:nvPicPr>
          <p:cNvPr id="282" name="" descr=""/>
          <p:cNvPicPr/>
          <p:nvPr/>
        </p:nvPicPr>
        <p:blipFill>
          <a:blip r:embed="rId1"/>
          <a:stretch/>
        </p:blipFill>
        <p:spPr>
          <a:xfrm>
            <a:off x="228600" y="5562720"/>
            <a:ext cx="1270080" cy="1057320"/>
          </a:xfrm>
          <a:prstGeom prst="rect">
            <a:avLst/>
          </a:prstGeom>
          <a:noFill/>
          <a:ln w="0">
            <a:noFill/>
          </a:ln>
        </p:spPr>
      </p:pic>
      <p:pic>
        <p:nvPicPr>
          <p:cNvPr id="283" name="" descr=""/>
          <p:cNvPicPr/>
          <p:nvPr/>
        </p:nvPicPr>
        <p:blipFill>
          <a:blip r:embed="rId2"/>
          <a:stretch/>
        </p:blipFill>
        <p:spPr>
          <a:xfrm>
            <a:off x="7772400" y="5486400"/>
            <a:ext cx="1122480" cy="1143000"/>
          </a:xfrm>
          <a:prstGeom prst="rect">
            <a:avLst/>
          </a:prstGeom>
          <a:noFill/>
          <a:ln w="0">
            <a:noFill/>
          </a:ln>
        </p:spPr>
      </p:pic>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84" name="PlaceHolder 1"/>
          <p:cNvSpPr>
            <a:spLocks noGrp="1"/>
          </p:cNvSpPr>
          <p:nvPr>
            <p:ph type="title"/>
          </p:nvPr>
        </p:nvSpPr>
        <p:spPr>
          <a:xfrm>
            <a:off x="533520" y="22824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Time to AIDS diagnosis (in months) </a:t>
            </a:r>
            <a:br>
              <a:rPr sz="3600"/>
            </a:br>
            <a:r>
              <a:rPr b="1" lang="en-IN" sz="3600" strike="noStrike" u="none">
                <a:solidFill>
                  <a:srgbClr val="ffffff"/>
                </a:solidFill>
                <a:effectLst/>
                <a:uFillTx/>
                <a:latin typeface="Arial"/>
              </a:rPr>
              <a:t>from first HIV diagnosis in 2005</a:t>
            </a:r>
            <a:endParaRPr b="1" lang="en-IN" sz="3600" strike="noStrike" u="none">
              <a:solidFill>
                <a:srgbClr val="e5e5ff"/>
              </a:solidFill>
              <a:effectLst/>
              <a:uFillTx/>
              <a:latin typeface="Garamond"/>
            </a:endParaRPr>
          </a:p>
        </p:txBody>
      </p:sp>
      <p:sp>
        <p:nvSpPr>
          <p:cNvPr id="285" name=""/>
          <p:cNvSpPr/>
          <p:nvPr/>
        </p:nvSpPr>
        <p:spPr>
          <a:xfrm>
            <a:off x="228600" y="5257800"/>
            <a:ext cx="8610480" cy="1059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Garamond"/>
              </a:rPr>
              <a:t>Source: California Department of Public Health, Office of AIDS, HIV/AIDS Case Registry; data as of March 31, 2006. </a:t>
            </a:r>
            <a:endParaRPr b="0" lang="en-IN" sz="1800" strike="noStrike" u="none">
              <a:solidFill>
                <a:srgbClr val="ffffff"/>
              </a:solidFill>
              <a:effectLst/>
              <a:uFillTx/>
              <a:latin typeface="Times New Roman"/>
            </a:endParaRPr>
          </a:p>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Garamond"/>
              </a:rPr>
              <a:t>* Averaged over all race/ethnicities.</a:t>
            </a:r>
            <a:endParaRPr b="0" lang="en-IN" sz="1800" strike="noStrike" u="none">
              <a:solidFill>
                <a:srgbClr val="ffffff"/>
              </a:solidFill>
              <a:effectLst/>
              <a:uFillTx/>
              <a:latin typeface="Times New Roman"/>
            </a:endParaRPr>
          </a:p>
        </p:txBody>
      </p:sp>
      <p:graphicFrame>
        <p:nvGraphicFramePr>
          <p:cNvPr id="286" name=""/>
          <p:cNvGraphicFramePr/>
          <p:nvPr/>
        </p:nvGraphicFramePr>
        <p:xfrm>
          <a:off x="457200" y="1600200"/>
          <a:ext cx="8458200" cy="3429000"/>
        </p:xfrm>
        <a:graphic>
          <a:graphicData uri="http://schemas.openxmlformats.org/drawingml/2006/table">
            <a:tbl>
              <a:tblPr/>
              <a:tblGrid>
                <a:gridCol w="1600200"/>
                <a:gridCol w="762120"/>
                <a:gridCol w="1143000"/>
                <a:gridCol w="1371600"/>
                <a:gridCol w="304560"/>
                <a:gridCol w="762120"/>
                <a:gridCol w="1143000"/>
                <a:gridCol w="1371600"/>
              </a:tblGrid>
              <a:tr h="398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gridSpan="3">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Men</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gridSpan="3">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Women</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r>
              <a:tr h="7534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Median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75</a:t>
                      </a:r>
                      <a:r>
                        <a:rPr b="0" lang="en-IN" sz="2000" strike="noStrike" u="none" baseline="30000">
                          <a:solidFill>
                            <a:srgbClr val="ffffcc"/>
                          </a:solidFill>
                          <a:effectLst/>
                          <a:uFillTx/>
                          <a:latin typeface="Arial"/>
                        </a:rPr>
                        <a:t>th</a:t>
                      </a:r>
                      <a:r>
                        <a:rPr b="0" lang="en-IN" sz="2000" strike="noStrike" u="none">
                          <a:solidFill>
                            <a:srgbClr val="ffffcc"/>
                          </a:solidFill>
                          <a:effectLst/>
                          <a:uFillTx/>
                          <a:latin typeface="Arial"/>
                        </a:rPr>
                        <a:t> Percentile</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Median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75</a:t>
                      </a:r>
                      <a:r>
                        <a:rPr b="0" lang="en-IN" sz="2000" strike="noStrike" u="none" baseline="30000">
                          <a:solidFill>
                            <a:srgbClr val="ffffcc"/>
                          </a:solidFill>
                          <a:effectLst/>
                          <a:uFillTx/>
                          <a:latin typeface="Arial"/>
                        </a:rPr>
                        <a:t>th</a:t>
                      </a:r>
                      <a:r>
                        <a:rPr b="0" lang="en-IN" sz="2000" strike="noStrike" u="none">
                          <a:solidFill>
                            <a:srgbClr val="ffffcc"/>
                          </a:solidFill>
                          <a:effectLst/>
                          <a:uFillTx/>
                          <a:latin typeface="Arial"/>
                        </a:rPr>
                        <a:t> Percentile</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5036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Black</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444</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3</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59</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170</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37</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r>
              <a:tr h="4568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Asian</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69</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20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gridSpan="3">
                  <a:txBody>
                    <a:bodyPr lIns="90000" rIns="90000" tIns="46800" bIns="468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800" strike="noStrike" u="none">
                          <a:solidFill>
                            <a:srgbClr val="ffffcc"/>
                          </a:solidFill>
                          <a:effectLst/>
                          <a:uFillTx/>
                          <a:latin typeface="Arial"/>
                        </a:rPr>
                        <a:t>Excluded – small n</a:t>
                      </a:r>
                      <a:endParaRPr b="0" lang="en-IN" sz="1800" strike="noStrike" u="none">
                        <a:solidFill>
                          <a:srgbClr val="ffffff"/>
                        </a:solidFill>
                        <a:effectLst/>
                        <a:uFillTx/>
                        <a:latin typeface="Times New Roman"/>
                      </a:endParaRPr>
                    </a:p>
                  </a:txBody>
                  <a:tcPr anchor="t" marL="90000" marR="90000">
                    <a:lnL>
                      <a:noFill/>
                    </a:lnL>
                    <a:lnR>
                      <a:noFill/>
                    </a:lnR>
                    <a:lnT>
                      <a:noFill/>
                    </a:lnT>
                    <a:lnB>
                      <a:noFill/>
                    </a:lnB>
                    <a:no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r>
              <a:tr h="4424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Hispanic</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922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12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156</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1.5</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40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568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White</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959</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4</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63</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119</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30</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84</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r>
              <a:tr h="47016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Total</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1</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36</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2</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52.5</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87" name="PlaceHolder 1"/>
          <p:cNvSpPr>
            <a:spLocks noGrp="1"/>
          </p:cNvSpPr>
          <p:nvPr>
            <p:ph type="title"/>
          </p:nvPr>
        </p:nvSpPr>
        <p:spPr>
          <a:xfrm>
            <a:off x="533520" y="22824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Time to AIDS diagnosis (in months) </a:t>
            </a:r>
            <a:br>
              <a:rPr sz="3600"/>
            </a:br>
            <a:r>
              <a:rPr b="1" lang="en-IN" sz="3600" strike="noStrike" u="none">
                <a:solidFill>
                  <a:srgbClr val="ffffff"/>
                </a:solidFill>
                <a:effectLst/>
                <a:uFillTx/>
                <a:latin typeface="Arial"/>
              </a:rPr>
              <a:t>from first HIV diagnosis in 2005</a:t>
            </a:r>
            <a:endParaRPr b="1" lang="en-IN" sz="3600" strike="noStrike" u="none">
              <a:solidFill>
                <a:srgbClr val="e5e5ff"/>
              </a:solidFill>
              <a:effectLst/>
              <a:uFillTx/>
              <a:latin typeface="Garamond"/>
            </a:endParaRPr>
          </a:p>
        </p:txBody>
      </p:sp>
      <p:sp>
        <p:nvSpPr>
          <p:cNvPr id="288" name=""/>
          <p:cNvSpPr/>
          <p:nvPr/>
        </p:nvSpPr>
        <p:spPr>
          <a:xfrm>
            <a:off x="228600" y="5257800"/>
            <a:ext cx="8610480" cy="1059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Garamond"/>
              </a:rPr>
              <a:t>Source: California Department of Public Health, Office of AIDS, HIV/AIDS Case Registry; data as of March 31, 2006. </a:t>
            </a:r>
            <a:endParaRPr b="0" lang="en-IN" sz="1800" strike="noStrike" u="none">
              <a:solidFill>
                <a:srgbClr val="ffffff"/>
              </a:solidFill>
              <a:effectLst/>
              <a:uFillTx/>
              <a:latin typeface="Times New Roman"/>
            </a:endParaRPr>
          </a:p>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Garamond"/>
              </a:rPr>
              <a:t>* Averaged over all race/ethnicities.</a:t>
            </a:r>
            <a:endParaRPr b="0" lang="en-IN" sz="1800" strike="noStrike" u="none">
              <a:solidFill>
                <a:srgbClr val="ffffff"/>
              </a:solidFill>
              <a:effectLst/>
              <a:uFillTx/>
              <a:latin typeface="Times New Roman"/>
            </a:endParaRPr>
          </a:p>
        </p:txBody>
      </p:sp>
      <p:graphicFrame>
        <p:nvGraphicFramePr>
          <p:cNvPr id="289" name=""/>
          <p:cNvGraphicFramePr/>
          <p:nvPr/>
        </p:nvGraphicFramePr>
        <p:xfrm>
          <a:off x="457200" y="1600200"/>
          <a:ext cx="8458200" cy="3429000"/>
        </p:xfrm>
        <a:graphic>
          <a:graphicData uri="http://schemas.openxmlformats.org/drawingml/2006/table">
            <a:tbl>
              <a:tblPr/>
              <a:tblGrid>
                <a:gridCol w="1600200"/>
                <a:gridCol w="762120"/>
                <a:gridCol w="1143000"/>
                <a:gridCol w="1371600"/>
                <a:gridCol w="304560"/>
                <a:gridCol w="762120"/>
                <a:gridCol w="1143000"/>
                <a:gridCol w="1371600"/>
              </a:tblGrid>
              <a:tr h="3988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gridSpan="3">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Men</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gridSpan="3">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Women</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r>
              <a:tr h="75348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Median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75</a:t>
                      </a:r>
                      <a:r>
                        <a:rPr b="0" lang="en-IN" sz="2000" strike="noStrike" u="none" baseline="30000">
                          <a:solidFill>
                            <a:srgbClr val="ffffcc"/>
                          </a:solidFill>
                          <a:effectLst/>
                          <a:uFillTx/>
                          <a:latin typeface="Arial"/>
                        </a:rPr>
                        <a:t>th</a:t>
                      </a:r>
                      <a:r>
                        <a:rPr b="0" lang="en-IN" sz="2000" strike="noStrike" u="none">
                          <a:solidFill>
                            <a:srgbClr val="ffffcc"/>
                          </a:solidFill>
                          <a:effectLst/>
                          <a:uFillTx/>
                          <a:latin typeface="Arial"/>
                        </a:rPr>
                        <a:t> Percentile</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cc"/>
                          </a:solidFill>
                          <a:effectLst/>
                          <a:uFillTx/>
                          <a:latin typeface="Arial"/>
                        </a:rPr>
                        <a:t>Median</a:t>
                      </a:r>
                      <a:endParaRPr b="0" lang="en-IN" sz="2000" strike="noStrike" u="none">
                        <a:solidFill>
                          <a:srgbClr val="ffffff"/>
                        </a:solidFill>
                        <a:effectLst/>
                        <a:uFillTx/>
                        <a:latin typeface="Times New Roman"/>
                      </a:endParaRPr>
                    </a:p>
                  </a:txBody>
                  <a:tcPr anchor="ctr"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75</a:t>
                      </a:r>
                      <a:r>
                        <a:rPr b="0" lang="en-IN" sz="2000" strike="noStrike" u="none" baseline="30000">
                          <a:solidFill>
                            <a:srgbClr val="ffffcc"/>
                          </a:solidFill>
                          <a:effectLst/>
                          <a:uFillTx/>
                          <a:latin typeface="Arial"/>
                        </a:rPr>
                        <a:t>th</a:t>
                      </a:r>
                      <a:r>
                        <a:rPr b="0" lang="en-IN" sz="2000" strike="noStrike" u="none">
                          <a:solidFill>
                            <a:srgbClr val="ffffcc"/>
                          </a:solidFill>
                          <a:effectLst/>
                          <a:uFillTx/>
                          <a:latin typeface="Arial"/>
                        </a:rPr>
                        <a:t> Percentile</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r h="45036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Black</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444</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59</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170</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1</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37</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a:noFill/>
                    </a:lnB>
                    <a:noFill/>
                  </a:tcPr>
                </a:tc>
              </a:tr>
              <a:tr h="4568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Asian</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69</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20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gridSpan="3">
                  <a:txBody>
                    <a:bodyPr lIns="90000" rIns="90000" tIns="46800" bIns="468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800" strike="noStrike" u="none">
                          <a:solidFill>
                            <a:srgbClr val="ffffcc"/>
                          </a:solidFill>
                          <a:effectLst/>
                          <a:uFillTx/>
                          <a:latin typeface="Arial"/>
                        </a:rPr>
                        <a:t>Excluded – small n</a:t>
                      </a:r>
                      <a:endParaRPr b="0" lang="en-IN" sz="1800" strike="noStrike" u="none">
                        <a:solidFill>
                          <a:srgbClr val="ffffff"/>
                        </a:solidFill>
                        <a:effectLst/>
                        <a:uFillTx/>
                        <a:latin typeface="Times New Roman"/>
                      </a:endParaRPr>
                    </a:p>
                  </a:txBody>
                  <a:tcPr anchor="t" marL="90000" marR="90000">
                    <a:lnL>
                      <a:noFill/>
                    </a:lnL>
                    <a:lnR>
                      <a:noFill/>
                    </a:lnR>
                    <a:lnT>
                      <a:noFill/>
                    </a:lnT>
                    <a:lnB>
                      <a:noFill/>
                    </a:lnB>
                    <a:no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IN" sz="2400" strike="noStrike" u="none">
                        <a:solidFill>
                          <a:srgbClr val="ffffff"/>
                        </a:solidFill>
                        <a:effectLst/>
                        <a:uFillTx/>
                        <a:latin typeface="Times New Roman"/>
                      </a:endParaRPr>
                    </a:p>
                  </a:txBody>
                  <a:tcPr anchor="t" marL="90000" marR="90000">
                    <a:lnL>
                      <a:noFill/>
                    </a:lnL>
                    <a:lnR>
                      <a:noFill/>
                    </a:lnR>
                    <a:lnT>
                      <a:noFill/>
                    </a:lnT>
                    <a:lnB>
                      <a:noFill/>
                    </a:lnB>
                    <a:solidFill>
                      <a:srgbClr val="729fcf"/>
                    </a:solidFill>
                  </a:tcPr>
                </a:tc>
              </a:tr>
              <a:tr h="4424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Hispanic</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922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12</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156</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1.5</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40</a:t>
                      </a:r>
                      <a:endParaRPr b="0" lang="en-IN" sz="2000" strike="noStrike" u="none">
                        <a:solidFill>
                          <a:srgbClr val="ffffff"/>
                        </a:solidFill>
                        <a:effectLst/>
                        <a:uFillTx/>
                        <a:latin typeface="Times New Roman"/>
                      </a:endParaRPr>
                    </a:p>
                  </a:txBody>
                  <a:tcPr anchor="t" marL="90000" marR="90000">
                    <a:lnL>
                      <a:noFill/>
                    </a:lnL>
                    <a:lnR>
                      <a:noFill/>
                    </a:lnR>
                    <a:lnT>
                      <a:noFill/>
                    </a:lnT>
                    <a:lnB>
                      <a:noFill/>
                    </a:lnB>
                    <a:noFill/>
                  </a:tcPr>
                </a:tc>
              </a:tr>
              <a:tr h="4568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White</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959</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4</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63</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119</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30</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ea3800"/>
                          </a:solidFill>
                          <a:effectLst/>
                          <a:uFillTx/>
                          <a:latin typeface="Arial"/>
                        </a:rPr>
                        <a:t>84</a:t>
                      </a:r>
                      <a:endParaRPr b="0" lang="en-IN" sz="2000" strike="noStrike" u="none">
                        <a:solidFill>
                          <a:srgbClr val="ffffff"/>
                        </a:solidFill>
                        <a:effectLst/>
                        <a:uFillTx/>
                        <a:latin typeface="Times New Roman"/>
                      </a:endParaRPr>
                    </a:p>
                  </a:txBody>
                  <a:tcPr anchor="t" marL="90000" marR="90000">
                    <a:lnL>
                      <a:noFill/>
                    </a:lnL>
                    <a:lnR>
                      <a:noFill/>
                    </a:lnR>
                    <a:lnT>
                      <a:noFill/>
                    </a:lnT>
                    <a:lnB w="5760">
                      <a:solidFill>
                        <a:srgbClr val="ffffff"/>
                      </a:solidFill>
                      <a:prstDash val="solid"/>
                    </a:lnB>
                    <a:noFill/>
                  </a:tcPr>
                </a:tc>
              </a:tr>
              <a:tr h="47016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Total</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1</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36</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2</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52.5</a:t>
                      </a:r>
                      <a:endParaRPr b="0" lang="en-IN" sz="2000" strike="noStrike" u="none">
                        <a:solidFill>
                          <a:srgbClr val="ffffff"/>
                        </a:solidFill>
                        <a:effectLst/>
                        <a:uFillTx/>
                        <a:latin typeface="Times New Roman"/>
                      </a:endParaRPr>
                    </a:p>
                  </a:txBody>
                  <a:tcPr anchor="t" marL="90000" marR="90000">
                    <a:lnL>
                      <a:noFill/>
                    </a:lnL>
                    <a:lnR>
                      <a:noFill/>
                    </a:lnR>
                    <a:lnT w="5760">
                      <a:solidFill>
                        <a:srgbClr val="ffffff"/>
                      </a:solidFill>
                      <a:prstDash val="solid"/>
                    </a:lnT>
                    <a:lnB w="57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90"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291" name=""/>
          <p:cNvSpPr/>
          <p:nvPr/>
        </p:nvSpPr>
        <p:spPr>
          <a:xfrm>
            <a:off x="380880" y="304920"/>
            <a:ext cx="8529840" cy="34941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HIV/AIDS Care</a:t>
            </a:r>
            <a:endParaRPr b="0" lang="en-IN" sz="5400" strike="noStrike" u="none">
              <a:solidFill>
                <a:srgbClr val="ffffff"/>
              </a:solidFill>
              <a:effectLst/>
              <a:uFillTx/>
              <a:latin typeface="Times New Roman"/>
            </a:endParaRPr>
          </a:p>
        </p:txBody>
      </p:sp>
      <p:pic>
        <p:nvPicPr>
          <p:cNvPr id="292" name="" descr=""/>
          <p:cNvPicPr/>
          <p:nvPr/>
        </p:nvPicPr>
        <p:blipFill>
          <a:blip r:embed="rId1"/>
          <a:stretch/>
        </p:blipFill>
        <p:spPr>
          <a:xfrm>
            <a:off x="228600" y="5562720"/>
            <a:ext cx="1270080" cy="1057320"/>
          </a:xfrm>
          <a:prstGeom prst="rect">
            <a:avLst/>
          </a:prstGeom>
          <a:noFill/>
          <a:ln w="0">
            <a:noFill/>
          </a:ln>
        </p:spPr>
      </p:pic>
      <p:pic>
        <p:nvPicPr>
          <p:cNvPr id="293" name="" descr=""/>
          <p:cNvPicPr/>
          <p:nvPr/>
        </p:nvPicPr>
        <p:blipFill>
          <a:blip r:embed="rId2"/>
          <a:stretch/>
        </p:blipFill>
        <p:spPr>
          <a:xfrm>
            <a:off x="7772400" y="5486400"/>
            <a:ext cx="1122480" cy="1143000"/>
          </a:xfrm>
          <a:prstGeom prst="rect">
            <a:avLst/>
          </a:prstGeom>
          <a:noFill/>
          <a:ln w="0">
            <a:noFill/>
          </a:ln>
        </p:spPr>
      </p:pic>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graphicFrame>
        <p:nvGraphicFramePr>
          <p:cNvPr id="294" name=""/>
          <p:cNvGraphicFramePr/>
          <p:nvPr/>
        </p:nvGraphicFramePr>
        <p:xfrm>
          <a:off x="228600" y="1523880"/>
          <a:ext cx="8686800" cy="4388040"/>
        </p:xfrm>
        <a:graphic>
          <a:graphicData uri="http://schemas.openxmlformats.org/drawingml/2006/table">
            <a:tbl>
              <a:tblPr/>
              <a:tblGrid>
                <a:gridCol w="1447920"/>
                <a:gridCol w="838080"/>
                <a:gridCol w="914400"/>
                <a:gridCol w="906480"/>
                <a:gridCol w="820800"/>
                <a:gridCol w="952560"/>
                <a:gridCol w="1069920"/>
                <a:gridCol w="745920"/>
                <a:gridCol w="990720"/>
              </a:tblGrid>
              <a:tr h="1191240">
                <a:tc>
                  <a: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Program</a:t>
                      </a:r>
                      <a:endParaRPr b="0" lang="en-IN" sz="1800" strike="noStrike" u="none">
                        <a:solidFill>
                          <a:srgbClr val="ffffff"/>
                        </a:solidFill>
                        <a:effectLst/>
                        <a:uFillTx/>
                        <a:latin typeface="Times New Roman"/>
                      </a:endParaRPr>
                    </a:p>
                  </a:txBody>
                  <a:tcPr anchor="b" marL="90000" marR="90000">
                    <a:lnL w="1224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Year</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Total  (n)</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Total AA</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(n)</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AA</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AA Aged 15-25</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AA AIDS</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non-HIV</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AA MSM</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5760">
                      <a:solidFill>
                        <a:srgbClr val="000000"/>
                      </a:solidFill>
                      <a:prstDash val="solid"/>
                    </a:lnR>
                    <a:lnT w="12240">
                      <a:solidFill>
                        <a:srgbClr val="000000"/>
                      </a:solidFill>
                      <a:prstDash val="solid"/>
                    </a:lnT>
                    <a:lnB w="12240">
                      <a:solidFill>
                        <a:srgbClr val="000000"/>
                      </a:solidFill>
                      <a:prstDash val="solid"/>
                    </a:lnB>
                    <a:noFill/>
                  </a:tcPr>
                </a:tc>
                <a:tc>
                  <a: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AA Female</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cc"/>
                          </a:solidFill>
                          <a:effectLst/>
                          <a:uFillTx/>
                          <a:latin typeface="Arial"/>
                          <a:ea typeface="Arial"/>
                        </a:rPr>
                        <a:t>(%)</a:t>
                      </a:r>
                      <a:endParaRPr b="0" lang="en-IN" sz="1800" strike="noStrike" u="none">
                        <a:solidFill>
                          <a:srgbClr val="ffffff"/>
                        </a:solidFill>
                        <a:effectLst/>
                        <a:uFillTx/>
                        <a:latin typeface="Times New Roman"/>
                      </a:endParaRPr>
                    </a:p>
                  </a:txBody>
                  <a:tcPr anchor="b" marL="90000" marR="90000">
                    <a:lnL w="576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2600">
                <a:tc>
                  <a:txBody>
                    <a:bodyPr lIns="90000" rIns="90000" tIns="46800" bIns="4680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ADAP</a:t>
                      </a:r>
                      <a:endParaRPr b="0" lang="en-IN" sz="1800" strike="noStrike" u="none">
                        <a:solidFill>
                          <a:srgbClr val="ffffff"/>
                        </a:solidFill>
                        <a:effectLst/>
                        <a:uFillTx/>
                        <a:latin typeface="Times New Roman"/>
                      </a:endParaRPr>
                    </a:p>
                  </a:txBody>
                  <a:tcPr anchor="ctr" marL="90000" marR="90000">
                    <a:lnL w="1224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FY 06/07</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31,221</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4,392</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14.1</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3.4</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40.3</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1224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15.0</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12240">
                      <a:solidFill>
                        <a:srgbClr val="000000"/>
                      </a:solidFill>
                      <a:prstDash val="solid"/>
                    </a:lnR>
                    <a:lnT w="12240">
                      <a:solidFill>
                        <a:srgbClr val="000000"/>
                      </a:solidFill>
                      <a:prstDash val="solid"/>
                    </a:lnT>
                    <a:lnB w="5760">
                      <a:solidFill>
                        <a:srgbClr val="000000"/>
                      </a:solidFill>
                      <a:prstDash val="solid"/>
                    </a:lnB>
                    <a:noFill/>
                  </a:tcPr>
                </a:tc>
              </a:tr>
              <a:tr h="642600">
                <a:tc>
                  <a:txBody>
                    <a:bodyPr lIns="90000" rIns="90000" tIns="46800" bIns="4680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CMP</a:t>
                      </a:r>
                      <a:endParaRPr b="0" lang="en-IN" sz="1800" strike="noStrike" u="none">
                        <a:solidFill>
                          <a:srgbClr val="ffffff"/>
                        </a:solidFill>
                        <a:effectLst/>
                        <a:uFillTx/>
                        <a:latin typeface="Times New Roman"/>
                      </a:endParaRPr>
                    </a:p>
                  </a:txBody>
                  <a:tcPr anchor="ctr" marL="90000" marR="90000">
                    <a:lnL w="1224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FY 05/06</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1,760</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339</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19.3</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2.9</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30.0</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12240">
                      <a:solidFill>
                        <a:srgbClr val="000000"/>
                      </a:solidFill>
                      <a:prstDash val="solid"/>
                    </a:lnR>
                    <a:lnT w="5760">
                      <a:solidFill>
                        <a:srgbClr val="000000"/>
                      </a:solidFill>
                      <a:prstDash val="solid"/>
                    </a:lnT>
                    <a:lnB w="5760">
                      <a:solidFill>
                        <a:srgbClr val="000000"/>
                      </a:solidFill>
                      <a:prstDash val="solid"/>
                    </a:lnB>
                    <a:noFill/>
                  </a:tcPr>
                </a:tc>
              </a:tr>
              <a:tr h="642600">
                <a:tc>
                  <a:txBody>
                    <a:bodyPr lIns="90000" rIns="90000" tIns="46800" bIns="4680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EIP</a:t>
                      </a:r>
                      <a:endParaRPr b="0" lang="en-IN" sz="1800" strike="noStrike" u="none">
                        <a:solidFill>
                          <a:srgbClr val="ffffff"/>
                        </a:solidFill>
                        <a:effectLst/>
                        <a:uFillTx/>
                        <a:latin typeface="Times New Roman"/>
                      </a:endParaRPr>
                    </a:p>
                  </a:txBody>
                  <a:tcPr anchor="ctr" marL="90000" marR="90000">
                    <a:lnL w="1224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FY 05/06</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8,655</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1,714</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19.8</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4.3</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14.8</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32.6</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12240">
                      <a:solidFill>
                        <a:srgbClr val="000000"/>
                      </a:solidFill>
                      <a:prstDash val="solid"/>
                    </a:lnR>
                    <a:lnT w="5760">
                      <a:solidFill>
                        <a:srgbClr val="000000"/>
                      </a:solidFill>
                      <a:prstDash val="solid"/>
                    </a:lnT>
                    <a:lnB w="5760">
                      <a:solidFill>
                        <a:srgbClr val="000000"/>
                      </a:solidFill>
                      <a:prstDash val="solid"/>
                    </a:lnB>
                    <a:noFill/>
                  </a:tcPr>
                </a:tc>
              </a:tr>
              <a:tr h="642600">
                <a:tc>
                  <a:txBody>
                    <a:bodyPr lIns="90000" rIns="90000" tIns="46800" bIns="4680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CSP/CADR</a:t>
                      </a:r>
                      <a:endParaRPr b="0" lang="en-IN" sz="1800" strike="noStrike" u="none">
                        <a:solidFill>
                          <a:srgbClr val="ffffff"/>
                        </a:solidFill>
                        <a:effectLst/>
                        <a:uFillTx/>
                        <a:latin typeface="Times New Roman"/>
                      </a:endParaRPr>
                    </a:p>
                  </a:txBody>
                  <a:tcPr anchor="ctr" marL="90000" marR="90000">
                    <a:lnL w="1224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CY 2006</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41,191</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9,037</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21.9</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12240">
                      <a:solidFill>
                        <a:srgbClr val="000000"/>
                      </a:solidFill>
                      <a:prstDash val="solid"/>
                    </a:lnR>
                    <a:lnT w="5760">
                      <a:solidFill>
                        <a:srgbClr val="000000"/>
                      </a:solidFill>
                      <a:prstDash val="solid"/>
                    </a:lnT>
                    <a:lnB w="5760">
                      <a:solidFill>
                        <a:srgbClr val="000000"/>
                      </a:solidFill>
                      <a:prstDash val="solid"/>
                    </a:lnB>
                    <a:noFill/>
                  </a:tcPr>
                </a:tc>
              </a:tr>
              <a:tr h="642600">
                <a:tc>
                  <a:txBody>
                    <a:bodyPr lIns="90000" rIns="90000" tIns="46800" bIns="4680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CARE/HIPP</a:t>
                      </a:r>
                      <a:endParaRPr b="0" lang="en-IN" sz="1800" strike="noStrike" u="none">
                        <a:solidFill>
                          <a:srgbClr val="ffffff"/>
                        </a:solidFill>
                        <a:effectLst/>
                        <a:uFillTx/>
                        <a:latin typeface="Times New Roman"/>
                      </a:endParaRPr>
                    </a:p>
                  </a:txBody>
                  <a:tcPr anchor="ctr" marL="90000" marR="90000">
                    <a:lnL w="1224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FY 06/07</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337</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36</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10.7</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0.0</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n/a</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2240">
                      <a:solidFill>
                        <a:srgbClr val="000000"/>
                      </a:solidFill>
                      <a:prstDash val="solid"/>
                    </a:lnB>
                    <a:noFill/>
                  </a:tcPr>
                </a:tc>
                <a:tc>
                  <a: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cc"/>
                          </a:solidFill>
                          <a:effectLst/>
                          <a:uFillTx/>
                          <a:latin typeface="Arial"/>
                          <a:ea typeface="Arial"/>
                        </a:rPr>
                        <a:t>25.0</a:t>
                      </a:r>
                      <a:endParaRPr b="0" lang="en-IN" sz="1800" strike="noStrike" u="none">
                        <a:solidFill>
                          <a:srgbClr val="ffffff"/>
                        </a:solidFill>
                        <a:effectLst/>
                        <a:uFillTx/>
                        <a:latin typeface="Times New Roman"/>
                      </a:endParaRPr>
                    </a:p>
                  </a:txBody>
                  <a:tcPr anchor="ctr" marL="90000" marR="90000">
                    <a:lnL w="5760">
                      <a:solidFill>
                        <a:srgbClr val="000000"/>
                      </a:solidFill>
                      <a:prstDash val="solid"/>
                    </a:lnL>
                    <a:lnR w="12240">
                      <a:solidFill>
                        <a:srgbClr val="000000"/>
                      </a:solidFill>
                      <a:prstDash val="solid"/>
                    </a:lnR>
                    <a:lnT w="5760">
                      <a:solidFill>
                        <a:srgbClr val="000000"/>
                      </a:solidFill>
                      <a:prstDash val="solid"/>
                    </a:lnT>
                    <a:lnB w="12240">
                      <a:solidFill>
                        <a:srgbClr val="000000"/>
                      </a:solidFill>
                      <a:prstDash val="solid"/>
                    </a:lnB>
                    <a:noFill/>
                  </a:tcPr>
                </a:tc>
              </a:tr>
            </a:tbl>
          </a:graphicData>
        </a:graphic>
      </p:graphicFrame>
      <p:sp>
        <p:nvSpPr>
          <p:cNvPr id="295" name=""/>
          <p:cNvSpPr/>
          <p:nvPr/>
        </p:nvSpPr>
        <p:spPr>
          <a:xfrm>
            <a:off x="304920" y="6019920"/>
            <a:ext cx="5943600" cy="632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cc"/>
                </a:solidFill>
                <a:effectLst/>
                <a:uFillTx/>
                <a:latin typeface="Arial"/>
              </a:rPr>
              <a:t>- CMP age range is 13-24</a:t>
            </a:r>
            <a:endParaRPr b="0" lang="en-IN" sz="1400" strike="noStrike" u="none">
              <a:solidFill>
                <a:srgbClr val="ffffff"/>
              </a:solidFill>
              <a:effectLst/>
              <a:uFillTx/>
              <a:latin typeface="Times New Roman"/>
            </a:endParaRPr>
          </a:p>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cc"/>
                </a:solidFill>
                <a:effectLst/>
                <a:uFillTx/>
                <a:latin typeface="Arial"/>
              </a:rPr>
              <a:t>- CSP numbers include duplicated clients</a:t>
            </a:r>
            <a:endParaRPr b="0" lang="en-IN" sz="1400" strike="noStrike" u="none">
              <a:solidFill>
                <a:srgbClr val="ffffff"/>
              </a:solidFill>
              <a:effectLst/>
              <a:uFillTx/>
              <a:latin typeface="Times New Roman"/>
            </a:endParaRPr>
          </a:p>
        </p:txBody>
      </p:sp>
      <p:sp>
        <p:nvSpPr>
          <p:cNvPr id="296" name=""/>
          <p:cNvSpPr/>
          <p:nvPr/>
        </p:nvSpPr>
        <p:spPr>
          <a:xfrm>
            <a:off x="304920" y="304920"/>
            <a:ext cx="8458200" cy="7642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Arial"/>
              </a:rPr>
              <a:t>Care Program Client Statistics</a:t>
            </a:r>
            <a:endParaRPr b="0" lang="en-IN" sz="4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297"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298" name=""/>
          <p:cNvSpPr/>
          <p:nvPr/>
        </p:nvSpPr>
        <p:spPr>
          <a:xfrm>
            <a:off x="380880" y="304920"/>
            <a:ext cx="8529840" cy="312876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Office of AIDS Research</a:t>
            </a:r>
            <a:endParaRPr b="0" lang="en-IN" sz="5400" strike="noStrike" u="none">
              <a:solidFill>
                <a:srgbClr val="ffffff"/>
              </a:solidFill>
              <a:effectLst/>
              <a:uFillTx/>
              <a:latin typeface="Times New Roman"/>
            </a:endParaRPr>
          </a:p>
        </p:txBody>
      </p:sp>
      <p:pic>
        <p:nvPicPr>
          <p:cNvPr id="299" name="" descr=""/>
          <p:cNvPicPr/>
          <p:nvPr/>
        </p:nvPicPr>
        <p:blipFill>
          <a:blip r:embed="rId1"/>
          <a:stretch/>
        </p:blipFill>
        <p:spPr>
          <a:xfrm>
            <a:off x="228600" y="5562720"/>
            <a:ext cx="1270080" cy="1057320"/>
          </a:xfrm>
          <a:prstGeom prst="rect">
            <a:avLst/>
          </a:prstGeom>
          <a:noFill/>
          <a:ln w="0">
            <a:noFill/>
          </a:ln>
        </p:spPr>
      </p:pic>
      <p:pic>
        <p:nvPicPr>
          <p:cNvPr id="300" name="" descr=""/>
          <p:cNvPicPr/>
          <p:nvPr/>
        </p:nvPicPr>
        <p:blipFill>
          <a:blip r:embed="rId2"/>
          <a:stretch/>
        </p:blipFill>
        <p:spPr>
          <a:xfrm>
            <a:off x="7772400" y="5486400"/>
            <a:ext cx="1122480" cy="1143000"/>
          </a:xfrm>
          <a:prstGeom prst="rect">
            <a:avLst/>
          </a:prstGeom>
          <a:noFill/>
          <a:ln w="0">
            <a:noFill/>
          </a:ln>
        </p:spPr>
      </p:pic>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ff"/>
                </a:solidFill>
                <a:effectLst/>
                <a:uFillTx/>
                <a:latin typeface="Arial"/>
              </a:rPr>
              <a:t>Office of AIDS Research - Males</a:t>
            </a:r>
            <a:endParaRPr b="1" lang="en-IN" sz="4000" strike="noStrike" u="none">
              <a:solidFill>
                <a:srgbClr val="e5e5ff"/>
              </a:solidFill>
              <a:effectLst/>
              <a:uFillTx/>
              <a:latin typeface="Garamond"/>
            </a:endParaRPr>
          </a:p>
        </p:txBody>
      </p:sp>
      <p:sp>
        <p:nvSpPr>
          <p:cNvPr id="302" name="PlaceHolder 2"/>
          <p:cNvSpPr>
            <a:spLocks noGrp="1"/>
          </p:cNvSpPr>
          <p:nvPr>
            <p:ph/>
          </p:nvPr>
        </p:nvSpPr>
        <p:spPr>
          <a:xfrm>
            <a:off x="152280" y="1600200"/>
            <a:ext cx="8839440" cy="4952880"/>
          </a:xfrm>
          <a:prstGeom prst="rect">
            <a:avLst/>
          </a:prstGeom>
          <a:noFill/>
          <a:ln w="0">
            <a:noFill/>
          </a:ln>
        </p:spPr>
        <p:txBody>
          <a:bodyPr lIns="90000" rIns="90000" tIns="46800" bIns="46800" anchor="t">
            <a:normAutofit/>
          </a:bodyPr>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National HIV Behavioral Surveillance (NHBS) Project</a:t>
            </a:r>
            <a:endParaRPr b="0" lang="en-IN" sz="2400" strike="noStrike" u="none">
              <a:solidFill>
                <a:srgbClr val="ffffff"/>
              </a:solidFill>
              <a:effectLst/>
              <a:uFillTx/>
              <a:latin typeface="Garamond"/>
            </a:endParaRPr>
          </a:p>
          <a:p>
            <a:pPr lvl="1" marL="743040" indent="-285840">
              <a:lnSpc>
                <a:spcPct val="90000"/>
              </a:lnSpc>
              <a:spcBef>
                <a:spcPts val="499"/>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cc"/>
                </a:solidFill>
                <a:effectLst/>
                <a:uFillTx/>
                <a:latin typeface="Arial"/>
              </a:rPr>
              <a:t>Partners Project</a:t>
            </a:r>
            <a:endParaRPr b="0" lang="en-IN" sz="2000" strike="noStrike" u="none">
              <a:solidFill>
                <a:srgbClr val="ffffff"/>
              </a:solidFill>
              <a:effectLst/>
              <a:uFillTx/>
              <a:latin typeface="Garamond"/>
            </a:endParaRPr>
          </a:p>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Health Evaluation of Young Men (HEY Man) Study</a:t>
            </a:r>
            <a:endParaRPr b="0" lang="en-IN" sz="2400" strike="noStrike" u="none">
              <a:solidFill>
                <a:srgbClr val="ffffff"/>
              </a:solidFill>
              <a:effectLst/>
              <a:uFillTx/>
              <a:latin typeface="Garamond"/>
            </a:endParaRPr>
          </a:p>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Interpersonal/Social HIV Risk Among African American and White Male Inmates</a:t>
            </a:r>
            <a:endParaRPr b="0" lang="en-IN" sz="2400" strike="noStrike" u="none">
              <a:solidFill>
                <a:srgbClr val="ffffff"/>
              </a:solidFill>
              <a:effectLst/>
              <a:uFillTx/>
              <a:latin typeface="Garamond"/>
            </a:endParaRPr>
          </a:p>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Developing a Tailored Case Management Intervention for MSM (HOLLA)</a:t>
            </a:r>
            <a:endParaRPr b="0" lang="en-IN" sz="2400" strike="noStrike" u="none">
              <a:solidFill>
                <a:srgbClr val="ffffff"/>
              </a:solidFill>
              <a:effectLst/>
              <a:uFillTx/>
              <a:latin typeface="Garamond"/>
            </a:endParaRPr>
          </a:p>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HIV Prevention for African American Down Low Men (BRUTHAS)</a:t>
            </a:r>
            <a:endParaRPr b="0" lang="en-IN" sz="2400" strike="noStrike" u="none">
              <a:solidFill>
                <a:srgbClr val="ffffff"/>
              </a:solidFill>
              <a:effectLst/>
              <a:uFillTx/>
              <a:latin typeface="Garamond"/>
            </a:endParaRPr>
          </a:p>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HIV Prevention for African-American MSM Who Do Not Identify as Gay (MAALES)</a:t>
            </a:r>
            <a:endParaRPr b="0" lang="en-IN" sz="2400" strike="noStrike" u="none">
              <a:solidFill>
                <a:srgbClr val="ffffff"/>
              </a:solidFill>
              <a:effectLst/>
              <a:uFillTx/>
              <a:latin typeface="Garamond"/>
            </a:endParaRPr>
          </a:p>
          <a:p>
            <a:pPr marL="343080" indent="-343080">
              <a:lnSpc>
                <a:spcPct val="90000"/>
              </a:lnSpc>
              <a:spcBef>
                <a:spcPts val="601"/>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cc"/>
                </a:solidFill>
                <a:effectLst/>
                <a:uFillTx/>
                <a:latin typeface="Arial"/>
              </a:rPr>
              <a:t>Community Collaborative award for African-American MSM or African-American MSM who do not identify as gay</a:t>
            </a:r>
            <a:endParaRPr b="0" lang="en-IN" sz="2400" strike="noStrike" u="none">
              <a:solidFill>
                <a:srgbClr val="ffffff"/>
              </a:solidFill>
              <a:effectLst/>
              <a:uFillTx/>
              <a:latin typeface="Garamond"/>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303" name="PlaceHolder 1"/>
          <p:cNvSpPr>
            <a:spLocks noGrp="1"/>
          </p:cNvSpPr>
          <p:nvPr>
            <p:ph type="title"/>
          </p:nvPr>
        </p:nvSpPr>
        <p:spPr>
          <a:xfrm>
            <a:off x="152280" y="274320"/>
            <a:ext cx="8763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ff"/>
                </a:solidFill>
                <a:effectLst/>
                <a:uFillTx/>
                <a:latin typeface="Arial"/>
              </a:rPr>
              <a:t>Office of AIDS Research - Females</a:t>
            </a:r>
            <a:endParaRPr b="1" lang="en-IN" sz="4000" strike="noStrike" u="none">
              <a:solidFill>
                <a:srgbClr val="e5e5ff"/>
              </a:solidFill>
              <a:effectLst/>
              <a:uFillTx/>
              <a:latin typeface="Garamond"/>
            </a:endParaRPr>
          </a:p>
        </p:txBody>
      </p:sp>
      <p:sp>
        <p:nvSpPr>
          <p:cNvPr id="304" name="PlaceHolder 2"/>
          <p:cNvSpPr>
            <a:spLocks noGrp="1"/>
          </p:cNvSpPr>
          <p:nvPr>
            <p:ph/>
          </p:nvPr>
        </p:nvSpPr>
        <p:spPr>
          <a:xfrm>
            <a:off x="152280" y="1600200"/>
            <a:ext cx="8839440" cy="4952880"/>
          </a:xfrm>
          <a:prstGeom prst="rect">
            <a:avLst/>
          </a:prstGeom>
          <a:noFill/>
          <a:ln w="0">
            <a:noFill/>
          </a:ln>
        </p:spPr>
        <p:txBody>
          <a:bodyPr lIns="90000" rIns="90000" tIns="46800" bIns="46800" anchor="t">
            <a:normAutofit/>
          </a:bodyPr>
          <a:p>
            <a:pPr marL="343080" indent="-343080">
              <a:lnSpc>
                <a:spcPct val="100000"/>
              </a:lnSpc>
              <a:spcBef>
                <a:spcPts val="799"/>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cc"/>
                </a:solidFill>
                <a:effectLst/>
                <a:uFillTx/>
                <a:latin typeface="Arial"/>
              </a:rPr>
              <a:t>National HIV Behavioral Surveillance (NHBS) Project</a:t>
            </a:r>
            <a:endParaRPr b="0" lang="en-IN" sz="3200" strike="noStrike" u="none">
              <a:solidFill>
                <a:srgbClr val="ffffff"/>
              </a:solidFill>
              <a:effectLst/>
              <a:uFillTx/>
              <a:latin typeface="Garamond"/>
            </a:endParaRPr>
          </a:p>
          <a:p>
            <a:pPr lvl="1" marL="743040" indent="-285840">
              <a:lnSpc>
                <a:spcPct val="100000"/>
              </a:lnSpc>
              <a:spcBef>
                <a:spcPts val="700"/>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cc"/>
                </a:solidFill>
                <a:effectLst/>
                <a:uFillTx/>
                <a:latin typeface="Arial"/>
              </a:rPr>
              <a:t>Partners Project</a:t>
            </a:r>
            <a:endParaRPr b="0" lang="en-IN" sz="2800" strike="noStrike" u="none">
              <a:solidFill>
                <a:srgbClr val="ffffff"/>
              </a:solidFill>
              <a:effectLst/>
              <a:uFillTx/>
              <a:latin typeface="Garamond"/>
            </a:endParaRPr>
          </a:p>
          <a:p>
            <a:pPr marL="343080" indent="-343080">
              <a:lnSpc>
                <a:spcPct val="100000"/>
              </a:lnSpc>
              <a:spcBef>
                <a:spcPts val="799"/>
              </a:spcBef>
              <a:buClr>
                <a:srgbClr val="ea3800"/>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cc"/>
                </a:solidFill>
                <a:effectLst/>
                <a:uFillTx/>
                <a:latin typeface="Arial"/>
              </a:rPr>
              <a:t>Females of African American Legacy Empowering Self (FemAALES) Project: Reducing HIV Risk Behaviors and Increasing Sexual Communication Skills in African American Women with At-Risk Male Partners</a:t>
            </a:r>
            <a:endParaRPr b="0" lang="en-IN" sz="3200" strike="noStrike" u="none">
              <a:solidFill>
                <a:srgbClr val="ffffff"/>
              </a:solidFill>
              <a:effectLst/>
              <a:uFillTx/>
              <a:latin typeface="Garamond"/>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CHOICE Website – Intervention Dissemination</a:t>
            </a:r>
            <a:endParaRPr b="1" lang="en-IN" sz="3600" strike="noStrike" u="none">
              <a:solidFill>
                <a:srgbClr val="e5e5ff"/>
              </a:solidFill>
              <a:effectLst/>
              <a:uFillTx/>
              <a:latin typeface="Garamond"/>
            </a:endParaRPr>
          </a:p>
        </p:txBody>
      </p:sp>
      <p:pic>
        <p:nvPicPr>
          <p:cNvPr id="306" name="" descr=""/>
          <p:cNvPicPr/>
          <p:nvPr/>
        </p:nvPicPr>
        <p:blipFill>
          <a:blip r:embed="rId1"/>
          <a:stretch/>
        </p:blipFill>
        <p:spPr>
          <a:xfrm>
            <a:off x="1523880" y="1447920"/>
            <a:ext cx="6143760" cy="516384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30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CHOICE Website – Intervention Dissemination</a:t>
            </a:r>
            <a:endParaRPr b="1" lang="en-IN" sz="3600" strike="noStrike" u="none">
              <a:solidFill>
                <a:srgbClr val="e5e5ff"/>
              </a:solidFill>
              <a:effectLst/>
              <a:uFillTx/>
              <a:latin typeface="Garamond"/>
            </a:endParaRPr>
          </a:p>
        </p:txBody>
      </p:sp>
      <p:pic>
        <p:nvPicPr>
          <p:cNvPr id="308" name="" descr=""/>
          <p:cNvPicPr/>
          <p:nvPr/>
        </p:nvPicPr>
        <p:blipFill>
          <a:blip r:embed="rId1"/>
          <a:stretch/>
        </p:blipFill>
        <p:spPr>
          <a:xfrm>
            <a:off x="1676520" y="1447920"/>
            <a:ext cx="6261120" cy="525600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3399"/>
        </a:solidFill>
      </p:bgPr>
    </p:bg>
    <p:spTree>
      <p:nvGrpSpPr>
        <p:cNvPr id="1" name=""/>
        <p:cNvGrpSpPr/>
        <p:nvPr/>
      </p:nvGrpSpPr>
      <p:grpSpPr>
        <a:xfrm>
          <a:off x="0" y="0"/>
          <a:ext cx="0" cy="0"/>
          <a:chOff x="0" y="0"/>
          <a:chExt cx="0" cy="0"/>
        </a:xfrm>
      </p:grpSpPr>
      <p:sp>
        <p:nvSpPr>
          <p:cNvPr id="309" name="PlaceHolder 1"/>
          <p:cNvSpPr>
            <a:spLocks noGrp="1"/>
          </p:cNvSpPr>
          <p:nvPr>
            <p:ph type="subTitle"/>
          </p:nvPr>
        </p:nvSpPr>
        <p:spPr>
          <a:xfrm>
            <a:off x="761760" y="4723920"/>
            <a:ext cx="7848360" cy="1295640"/>
          </a:xfrm>
          <a:prstGeom prst="rect">
            <a:avLst/>
          </a:prstGeom>
          <a:noFill/>
          <a:ln w="0">
            <a:noFill/>
          </a:ln>
        </p:spPr>
        <p:txBody>
          <a:bodyPr lIns="90000" rIns="90000" tIns="46800" bIns="46800" anchor="t">
            <a:noAutofit/>
          </a:bodyPr>
          <a:p>
            <a:pPr algn="ctr">
              <a:lnSpc>
                <a:spcPct val="2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Office of AIDS</a:t>
            </a:r>
            <a:endParaRPr b="0" lang="en-IN" sz="2400" strike="noStrike" u="none">
              <a:solidFill>
                <a:srgbClr val="ffffff"/>
              </a:solidFill>
              <a:effectLst/>
              <a:uFillTx/>
              <a:latin typeface="Garamond"/>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cc"/>
                </a:solidFill>
                <a:effectLst/>
                <a:uFillTx/>
                <a:latin typeface="Arial"/>
              </a:rPr>
              <a:t>California Department of Public Health</a:t>
            </a:r>
            <a:endParaRPr b="0" lang="en-IN" sz="2400" strike="noStrike" u="none">
              <a:solidFill>
                <a:srgbClr val="ffffff"/>
              </a:solidFill>
              <a:effectLst/>
              <a:uFillTx/>
              <a:latin typeface="Garamond"/>
            </a:endParaRPr>
          </a:p>
          <a:p>
            <a:pPr algn="ctr">
              <a:lnSpc>
                <a:spcPts val="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Garamond"/>
            </a:endParaRPr>
          </a:p>
        </p:txBody>
      </p:sp>
      <p:sp>
        <p:nvSpPr>
          <p:cNvPr id="310" name=""/>
          <p:cNvSpPr/>
          <p:nvPr/>
        </p:nvSpPr>
        <p:spPr>
          <a:xfrm>
            <a:off x="380880" y="304920"/>
            <a:ext cx="8529840" cy="334800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Arial"/>
              </a:rPr>
              <a:t>HIV/AIDS Among African-Americans in California: </a:t>
            </a:r>
            <a:endParaRPr b="0" lang="en-IN" sz="44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600" strike="noStrike" u="none">
              <a:solidFill>
                <a:srgbClr val="ffffff"/>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ffffcc"/>
                </a:solidFill>
                <a:effectLst/>
                <a:uFillTx/>
                <a:latin typeface="Arial"/>
              </a:rPr>
              <a:t>Thank You</a:t>
            </a:r>
            <a:endParaRPr b="0" lang="en-IN" sz="5400" strike="noStrike" u="none">
              <a:solidFill>
                <a:srgbClr val="ffffff"/>
              </a:solidFill>
              <a:effectLst/>
              <a:uFillTx/>
              <a:latin typeface="Times New Roman"/>
            </a:endParaRPr>
          </a:p>
        </p:txBody>
      </p:sp>
      <p:pic>
        <p:nvPicPr>
          <p:cNvPr id="311" name="" descr=""/>
          <p:cNvPicPr/>
          <p:nvPr/>
        </p:nvPicPr>
        <p:blipFill>
          <a:blip r:embed="rId1"/>
          <a:stretch/>
        </p:blipFill>
        <p:spPr>
          <a:xfrm>
            <a:off x="228600" y="5562720"/>
            <a:ext cx="1270080" cy="1057320"/>
          </a:xfrm>
          <a:prstGeom prst="rect">
            <a:avLst/>
          </a:prstGeom>
          <a:noFill/>
          <a:ln w="0">
            <a:noFill/>
          </a:ln>
        </p:spPr>
      </p:pic>
      <p:pic>
        <p:nvPicPr>
          <p:cNvPr id="312" name="" descr=""/>
          <p:cNvPicPr/>
          <p:nvPr/>
        </p:nvPicPr>
        <p:blipFill>
          <a:blip r:embed="rId2"/>
          <a:stretch/>
        </p:blipFill>
        <p:spPr>
          <a:xfrm>
            <a:off x="7772400" y="5486400"/>
            <a:ext cx="1122480" cy="1143000"/>
          </a:xfrm>
          <a:prstGeom prst="rect">
            <a:avLst/>
          </a:prstGeom>
          <a:noFill/>
          <a:ln w="0">
            <a:noFill/>
          </a:ln>
        </p:spPr>
      </p:pic>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12204</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2001-02-15T15:26:04Z</dcterms:created>
  <dc:creator>Mi Chen</dc:creator>
  <dc:description/>
  <cp:keywords>OA HIV AIDS Office of AIDS African Americans Epidemiologic Data and Research Overview</cp:keywords>
  <dc:language>en-IN</dc:language>
  <cp:lastModifiedBy> Dept of Health Services</cp:lastModifiedBy>
  <cp:lastPrinted>2003-05-15T11:08:37Z</cp:lastPrinted>
  <dcterms:modified xsi:type="dcterms:W3CDTF">2008-09-18T16:05:35Z</dcterms:modified>
  <cp:revision>433</cp:revision>
  <dc:subject/>
  <dc:title>HIV/AIDS Among African Americans in CA: Epidemiologic Data and Research Overview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
  </property>
  <property fmtid="{D5CDD505-2E9C-101B-9397-08002B2CF9AE}" pid="3" name="ContentType">
    <vt:lpwstr>CDPH Document</vt:lpwstr>
  </property>
  <property fmtid="{D5CDD505-2E9C-101B-9397-08002B2CF9AE}" pid="4" name="HealthPubTopics">
    <vt:lpwstr>3;#</vt:lpwstr>
  </property>
  <property fmtid="{D5CDD505-2E9C-101B-9397-08002B2CF9AE}" pid="5" name="Language">
    <vt:lpwstr>English</vt:lpwstr>
  </property>
  <property fmtid="{D5CDD505-2E9C-101B-9397-08002B2CF9AE}" pid="6" name="Nav">
    <vt:lpwstr/>
  </property>
  <property fmtid="{D5CDD505-2E9C-101B-9397-08002B2CF9AE}" pid="7" name="Organization">
    <vt:lpwstr>241</vt:lpwstr>
  </property>
  <property fmtid="{D5CDD505-2E9C-101B-9397-08002B2CF9AE}" pid="8" name="Publication Type">
    <vt:lpwstr>23;#</vt:lpwstr>
  </property>
  <property fmtid="{D5CDD505-2E9C-101B-9397-08002B2CF9AE}" pid="9" name="PublishingContactName">
    <vt:lpwstr>ooa-web@cdph.ca.gov</vt:lpwstr>
  </property>
  <property fmtid="{D5CDD505-2E9C-101B-9397-08002B2CF9AE}" pid="10" name="PublishingExpirationDate">
    <vt:lpwstr/>
  </property>
  <property fmtid="{D5CDD505-2E9C-101B-9397-08002B2CF9AE}" pid="11" name="PublishingStartDate">
    <vt:lpwstr/>
  </property>
  <property fmtid="{D5CDD505-2E9C-101B-9397-08002B2CF9AE}" pid="12" name="Reading Level">
    <vt:lpwstr/>
  </property>
  <property fmtid="{D5CDD505-2E9C-101B-9397-08002B2CF9AE}" pid="13" name="Target Audience Group">
    <vt:lpwstr/>
  </property>
  <property fmtid="{D5CDD505-2E9C-101B-9397-08002B2CF9AE}" pid="14" name="TemplateUrl">
    <vt:lpwstr/>
  </property>
  <property fmtid="{D5CDD505-2E9C-101B-9397-08002B2CF9AE}" pid="15" name="Topics">
    <vt:lpwstr>24;#</vt:lpwstr>
  </property>
  <property fmtid="{D5CDD505-2E9C-101B-9397-08002B2CF9AE}" pid="16" name="_SharedFileIndex">
    <vt:lpwstr/>
  </property>
  <property fmtid="{D5CDD505-2E9C-101B-9397-08002B2CF9AE}" pid="17" name="_SourceUrl">
    <vt:lpwstr/>
  </property>
  <property fmtid="{D5CDD505-2E9C-101B-9397-08002B2CF9AE}" pid="18" name="display_urn:schemas-microsoft-com:office:office#Author">
    <vt:lpwstr>System Account</vt:lpwstr>
  </property>
  <property fmtid="{D5CDD505-2E9C-101B-9397-08002B2CF9AE}" pid="19" name="display_urn:schemas-microsoft-com:office:office#Editor">
    <vt:lpwstr>System Account</vt:lpwstr>
  </property>
  <property fmtid="{D5CDD505-2E9C-101B-9397-08002B2CF9AE}" pid="20" name="xd_ProgID">
    <vt:lpwstr/>
  </property>
  <property fmtid="{D5CDD505-2E9C-101B-9397-08002B2CF9AE}" pid="21" name="xd_Signature">
    <vt:lpwstr/>
  </property>
</Properties>
</file>