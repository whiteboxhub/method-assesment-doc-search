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presProps.xml" ContentType="application/vnd.openxmlformats-officedocument.presentationml.presProps+xml"/>
  <Override PartName="/ppt/media/image28.png" ContentType="image/png"/>
  <Override PartName="/ppt/media/image1.jpeg" ContentType="image/jpeg"/>
  <Override PartName="/ppt/media/image3.png" ContentType="image/png"/>
  <Override PartName="/ppt/media/image38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9.png" ContentType="image/png"/>
  <Override PartName="/ppt/media/image40.png" ContentType="image/png"/>
  <Override PartName="/ppt/media/image42.jpeg" ContentType="image/jpeg"/>
  <Override PartName="/ppt/media/image4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68A341-613E-4D29-BE91-D7A7203A20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CE2D9-1C1E-4749-ADC3-90E758C1F5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8BE2F-9A22-4556-A9D0-8E34F30191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E0F12F-DD52-4592-A615-FB133F7005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039896-D35F-4369-9AF8-44F0CB72D3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3276720" y="1371600"/>
            <a:ext cx="2628720" cy="24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0" y="4067280"/>
            <a:ext cx="9144000" cy="12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333399"/>
                </a:solidFill>
                <a:effectLst/>
                <a:uFillTx/>
                <a:latin typeface="Charcoal"/>
              </a:rPr>
              <a:t>Using the 2007 NECAP Reports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288065"/>
                </a:solidFill>
                <a:effectLst/>
                <a:uFillTx/>
                <a:latin typeface="Charcoal"/>
              </a:rPr>
              <a:t>February, 2008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228600" y="5767560"/>
            <a:ext cx="2666880" cy="714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6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New England Common Assessment Program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3"/>
          <a:stretch/>
        </p:blipFill>
        <p:spPr>
          <a:xfrm>
            <a:off x="7286760" y="5153040"/>
            <a:ext cx="1342800" cy="137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3821040" y="2590560"/>
            <a:ext cx="486576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Mary Ann Snider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Director of Assessment &amp; Accountability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 Department of Education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3" name=""/>
            <p:cNvSpPr/>
            <p:nvPr/>
          </p:nvSpPr>
          <p:spPr>
            <a:xfrm>
              <a:off x="533520" y="471600"/>
              <a:ext cx="8153280" cy="36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and Introductions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1192320" y="2265480"/>
            <a:ext cx="1866960" cy="190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AC4E9-415C-4B06-A90C-3E101CD313F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/>
          </p:nvPr>
        </p:nvSpPr>
        <p:spPr>
          <a:xfrm>
            <a:off x="0" y="1371240"/>
            <a:ext cx="9144000" cy="60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NECAP Service Center:</a:t>
            </a: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1-877-632-7774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" name=""/>
          <p:cNvGraphicFramePr/>
          <p:nvPr/>
        </p:nvGraphicFramePr>
        <p:xfrm>
          <a:off x="762120" y="2120760"/>
          <a:ext cx="7543800" cy="4280040"/>
        </p:xfrm>
        <a:graphic>
          <a:graphicData uri="http://schemas.openxmlformats.org/drawingml/2006/table">
            <a:tbl>
              <a:tblPr/>
              <a:tblGrid>
                <a:gridCol w="3771720"/>
                <a:gridCol w="3772080"/>
              </a:tblGrid>
              <a:tr h="1080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Tim Crockett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Assistant Vice-President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x2106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tcrockett@measuredprogress.org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Harold Stephens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Director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x2235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hstephens@measuredprogress.org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80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Amanda Smith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Manager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x2259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asmith@measuredprogress.org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Elliot Scharff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Manager – Science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x2126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escharff@measuredprogress.org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80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Josh Evans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Manager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x2244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jmevans@measuredprogress.org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Tina Haley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Assistant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x2427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chaley@measuredprogress.org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cfefe"/>
                    </a:solidFill>
                  </a:tcPr>
                </a:tc>
              </a:tr>
              <a:tr h="10807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Jennifer Varney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Assistant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x2115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jvarney@measuredprogress.org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Mellicent Friddell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NECAP Program Assistant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1-800-431-8901 x2355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mfriddell@measuredprogress.org 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solidFill>
                      <a:srgbClr val="fcfefe"/>
                    </a:solidFill>
                  </a:tcPr>
                </a:tc>
              </a:tr>
            </a:tbl>
          </a:graphicData>
        </a:graphic>
      </p:graphicFrame>
      <p:grpSp>
        <p:nvGrpSpPr>
          <p:cNvPr id="31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2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Welcome and Introductions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4D4A64-9464-41A6-89AF-53CBEEA0585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8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Guide to Using the 2007 NECAP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2438280" y="1143000"/>
            <a:ext cx="4241880" cy="54864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4FA8C6-CEFE-4EE5-BCF3-5143D4FF3AF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5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Purpose of the Workshop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/>
          </p:nvPr>
        </p:nvSpPr>
        <p:spPr>
          <a:xfrm>
            <a:off x="426600" y="1523520"/>
            <a:ext cx="8412120" cy="342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Review the different types of NECAP reports</a:t>
            </a:r>
            <a:br>
              <a:rPr sz="2800"/>
            </a:b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Discuss effective ways to analyze and interpret results data</a:t>
            </a:r>
            <a:br>
              <a:rPr sz="2800"/>
            </a:b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schools and districts an opportunity to share how they have analyzed results data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A902AC-EB95-4D9A-A591-F8CEF5FFE33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2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Involvement of Local Educators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/>
          </p:nvPr>
        </p:nvSpPr>
        <p:spPr>
          <a:xfrm>
            <a:off x="426600" y="1523880"/>
            <a:ext cx="841212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Development of Grade Level Expectations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 item review committees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Bias and sensitivity review committees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Classroom teacher judgment data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Standard setting panelists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Technical Advisory Committee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FBC6B8-CDC9-4858-A392-027ED288F85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FERPA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228600" y="1294920"/>
            <a:ext cx="8686800" cy="495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53960" indent="-45396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Family Educational Rights and Privacy Act (FERPA)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Access to individual student results is restricted to: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3920" indent="-2854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o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student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3920" indent="-2854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o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student’s parents/guardians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53920" indent="-2854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o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authorized school personnel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Superintendents and principals are responsible for maintaining the privacy and security of all student records.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Authorized school personnel shall have access to the records of students to whom they are providing services when such access is required in the performance of their official duties.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0">
              <a:lnSpc>
                <a:spcPct val="8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FERPA website: </a:t>
            </a:r>
            <a:r>
              <a:rPr b="1" lang="en-US" sz="20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http://www.ed.gov/policy/gen/guid/fpco/ferpa/index.html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D8F886-E103-490D-91C8-4D06EB22BE2A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6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Types of NECAP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"/>
          <p:cNvSpPr/>
          <p:nvPr/>
        </p:nvSpPr>
        <p:spPr>
          <a:xfrm>
            <a:off x="914400" y="1295280"/>
            <a:ext cx="7315200" cy="268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Student Report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Item Analysis Report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Results Report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Summary Report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Student Level Data Files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5B3E9A-A35A-4716-B62A-AD9EFA47BE3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73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Student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4834080" y="990720"/>
            <a:ext cx="3500280" cy="57592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822240" y="990720"/>
            <a:ext cx="3497400" cy="57592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A07197-F841-4BDE-B782-7A685927ABD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8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1066680" y="1219320"/>
            <a:ext cx="7010640" cy="54147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A320C4-EDAC-4D35-9D17-F9BB977D385D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8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Results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380880" y="4014720"/>
            <a:ext cx="3581640" cy="27669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4648320" y="4014720"/>
            <a:ext cx="3581280" cy="27669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95" name="" descr=""/>
          <p:cNvPicPr/>
          <p:nvPr/>
        </p:nvPicPr>
        <p:blipFill>
          <a:blip r:embed="rId3"/>
          <a:stretch/>
        </p:blipFill>
        <p:spPr>
          <a:xfrm>
            <a:off x="4648320" y="1143000"/>
            <a:ext cx="3581280" cy="27669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96" name="" descr=""/>
          <p:cNvPicPr/>
          <p:nvPr/>
        </p:nvPicPr>
        <p:blipFill>
          <a:blip r:embed="rId4"/>
          <a:stretch/>
        </p:blipFill>
        <p:spPr>
          <a:xfrm>
            <a:off x="380880" y="1143000"/>
            <a:ext cx="3583080" cy="27669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97" name="" descr=""/>
          <p:cNvPicPr/>
          <p:nvPr/>
        </p:nvPicPr>
        <p:blipFill>
          <a:blip r:embed="rId5"/>
          <a:stretch/>
        </p:blipFill>
        <p:spPr>
          <a:xfrm>
            <a:off x="1092240" y="1295280"/>
            <a:ext cx="6654600" cy="51404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F17859-211F-46D0-9BBA-65541939782C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path" presetID="49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 -0.33295 L 2.77778E-007 -1.15607E-007 E">
                                      <p:cBhvr>
                                        <p:cTn id="6" dur="2000" fill="hold"/>
                                        <p:tgtEl>
                                          <p:spTgt spid="9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nodeType="withEffect" fill="hold" presetClass="exit" presetID="53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8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out">
                                      <p:cBhvr additive="repl">
                                        <p:cTn id="1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00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Summary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2166840" y="1143000"/>
            <a:ext cx="4843440" cy="56386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70BAD-BCFB-4FE5-8379-850B53D56A1D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0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Student Level Data Files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"/>
          <p:cNvSpPr/>
          <p:nvPr/>
        </p:nvSpPr>
        <p:spPr>
          <a:xfrm>
            <a:off x="228600" y="1523880"/>
            <a:ext cx="86281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2500" lnSpcReduction="9999"/>
          </a:bodyPr>
          <a:p>
            <a:pPr marL="453960" indent="-45396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Contain: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demographic information for each student that was provided by the state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scaled score, achievement level, and subscores earned by each student in all content areas tested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Also contain: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Performance on released items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 questionnaire responses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reports data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F9F350-FFDF-45EF-9B5F-428534DB7E94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1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Accessing Your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"/>
          <p:cNvSpPr/>
          <p:nvPr/>
        </p:nvSpPr>
        <p:spPr>
          <a:xfrm>
            <a:off x="0" y="1371600"/>
            <a:ext cx="91440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1143000"/>
            <a:ext cx="9144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http://iservices.measuredprogress.org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457200" y="1752480"/>
            <a:ext cx="7848720" cy="498312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1066680" y="1752480"/>
            <a:ext cx="6629400" cy="502452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122" name=""/>
          <p:cNvSpPr/>
          <p:nvPr/>
        </p:nvSpPr>
        <p:spPr>
          <a:xfrm>
            <a:off x="228600" y="4419720"/>
            <a:ext cx="2819520" cy="1752480"/>
          </a:xfrm>
          <a:prstGeom prst="rightArrowCallout">
            <a:avLst>
              <a:gd name="adj1" fmla="val 14677"/>
              <a:gd name="adj2" fmla="val 18829"/>
              <a:gd name="adj3" fmla="val 26815"/>
              <a:gd name="adj4" fmla="val 66667"/>
            </a:avLst>
          </a:prstGeom>
          <a:solidFill>
            <a:srgbClr val="99cc00">
              <a:alpha val="80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Schools and Districts can download multiple reports at once.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1A2E61-FC9B-4D35-9626-F4278ACFB7B3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" dur="indefinite" restart="never" nodeType="tmRoot">
          <p:childTnLst>
            <p:seq>
              <p:cTn id="33" dur="indefinite" nodeType="mainSeq">
                <p:childTnLst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2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Using Your Data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28600" y="1295280"/>
            <a:ext cx="8305920" cy="47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Three essential questions…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How did we do?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What do the data tell us about parts of our program?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What do the data tell us about parts of our population?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We will begin exploring these questions today by…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Looking at the different school-level reports (group data)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Looking at the Item Analysis Report (primarily individual student data)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FFBB6-A9DB-4E68-B283-BE9A5F16E192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3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Essential Question #1 for Interpreting School Status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28600" y="1219320"/>
            <a:ext cx="81532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How did we do?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28600" y="1981080"/>
            <a:ext cx="6705720" cy="36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…compared to the district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…compared to the state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…compared to our own history (both total school and grade/cohort group)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…compared to what we would have predicted knowing our school’s programs and students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162920" y="1219320"/>
            <a:ext cx="1828800" cy="182880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Question #1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315580-734C-4B5B-A856-ACBCBCD89345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" dur="indefinite" restart="never" nodeType="tmRoot">
          <p:childTnLst>
            <p:seq>
              <p:cTn id="49" dur="indefinite" nodeType="mainSeq"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40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Essential Question #2 for Interpreting School Status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28600" y="1219320"/>
            <a:ext cx="678168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What do the data tell us about parts of our program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28600" y="2425680"/>
            <a:ext cx="6705720" cy="34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across the content areas?</a:t>
            </a:r>
            <a:br>
              <a:rPr sz="2200"/>
            </a:br>
            <a:br>
              <a:rPr sz="2200"/>
            </a:b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in the various sub-content areas?</a:t>
            </a:r>
            <a:br>
              <a:rPr sz="2200"/>
            </a:br>
            <a:br>
              <a:rPr sz="2200"/>
            </a:b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does the Item Analysis Report tell us about sub-content areas?</a:t>
            </a:r>
            <a:br>
              <a:rPr sz="2200"/>
            </a:br>
            <a:br>
              <a:rPr sz="2200"/>
            </a:b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our sub-content area and item-level performance compare to the district and state?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162920" y="1219320"/>
            <a:ext cx="1828800" cy="182880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Question #2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A4CD1-C0AB-4832-9F62-32519264300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" dur="indefinite" restart="never" nodeType="tmRoot">
          <p:childTnLst>
            <p:seq>
              <p:cTn id="59" dur="indefinite" nodeType="mainSeq"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4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Essential Question #3 for Interpreting School Status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3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228600" y="1219320"/>
            <a:ext cx="678168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What do the data tell us about parts of our population?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228600" y="2438280"/>
            <a:ext cx="6705720" cy="39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the various sub-groups perform relative to:</a:t>
            </a:r>
            <a:br>
              <a:rPr sz="2200"/>
            </a:b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a. the district?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b. the state?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c. the same sub-groups last year?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d. what we would have predicted knowing the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population?</a:t>
            </a:r>
            <a:br>
              <a:rPr sz="2000"/>
            </a:br>
            <a:br>
              <a:rPr sz="2200"/>
            </a:b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do the percentages of students in the various sub-groups compare to the district and state?</a:t>
            </a:r>
            <a:br>
              <a:rPr sz="2200"/>
            </a:br>
            <a:br>
              <a:rPr sz="2200"/>
            </a:br>
            <a:r>
              <a:rPr b="0" lang="en-IN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does the questionnaire data tell us about the sub-populations?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162920" y="1219320"/>
            <a:ext cx="1828800" cy="1828800"/>
          </a:xfrm>
          <a:prstGeom prst="foldedCorner">
            <a:avLst>
              <a:gd name="adj" fmla="val 12500"/>
            </a:avLst>
          </a:prstGeom>
          <a:solidFill>
            <a:srgbClr val="ffff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Question #3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19B0AA-83E1-4B61-9DEA-CC64E7A1954F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58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Before You Go Any Further…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2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228600" y="1295280"/>
            <a:ext cx="8534520" cy="537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33cc"/>
                </a:solidFill>
                <a:effectLst/>
                <a:uFillTx/>
                <a:latin typeface="Arial"/>
              </a:rPr>
              <a:t>What questions will you answer and for what audiences?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Based on what you know about your school’s programs and students, and how they have changed, what do you expect to see?  (For example, how would a specific year’s 5</a:t>
            </a:r>
            <a:r>
              <a:rPr b="0" lang="en-IN" sz="20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graders perform relative to 5</a:t>
            </a:r>
            <a:r>
              <a:rPr b="0" lang="en-IN" sz="20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graders from previous years?)</a:t>
            </a:r>
            <a:br>
              <a:rPr sz="2000"/>
            </a:b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What processes will you use to look at your reports?</a:t>
            </a:r>
            <a:br>
              <a:rPr sz="2000"/>
            </a:b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Will you look at teaching year or testing year reports?</a:t>
            </a:r>
            <a:br>
              <a:rPr sz="2000"/>
            </a:b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Who should participate in the discussions?</a:t>
            </a:r>
            <a:br>
              <a:rPr sz="2000"/>
            </a:b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How should you group the participants?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2896E3-7DFA-44A4-9569-D1AB6A91BF26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65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data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990720" y="1768320"/>
            <a:ext cx="7162560" cy="14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There are many ways to look at reports…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order to simplify this presentation, we will only show one of the processes you might use.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CC94FB-DC30-460F-BF72-DBCF03B66DA2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092240" y="1295280"/>
            <a:ext cx="6654600" cy="51404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grpSp>
        <p:nvGrpSpPr>
          <p:cNvPr id="172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73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371600" y="4343400"/>
            <a:ext cx="3886200" cy="1143000"/>
          </a:xfrm>
          <a:prstGeom prst="rightArrowCallout">
            <a:avLst>
              <a:gd name="adj1" fmla="val 25002"/>
              <a:gd name="adj2" fmla="val 25000"/>
              <a:gd name="adj3" fmla="val 56667"/>
              <a:gd name="adj4" fmla="val 66667"/>
            </a:avLst>
          </a:prstGeom>
          <a:solidFill>
            <a:srgbClr val="5d84ff">
              <a:alpha val="90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Schools can view reports for Testing Year (2007-08)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197CE6-3CAF-4103-83B1-5E7574E0560C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" dur="indefinite" restart="never" nodeType="tmRoot">
          <p:childTnLst>
            <p:seq>
              <p:cTn id="79" dur="indefinite" nodeType="mainSeq"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9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1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1066680" y="1295280"/>
            <a:ext cx="6654960" cy="51404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grpSp>
        <p:nvGrpSpPr>
          <p:cNvPr id="18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8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371600" y="4343400"/>
            <a:ext cx="3886200" cy="1143000"/>
          </a:xfrm>
          <a:prstGeom prst="rightArrowCallout">
            <a:avLst>
              <a:gd name="adj1" fmla="val 25002"/>
              <a:gd name="adj2" fmla="val 25000"/>
              <a:gd name="adj3" fmla="val 56667"/>
              <a:gd name="adj4" fmla="val 66667"/>
            </a:avLst>
          </a:prstGeom>
          <a:solidFill>
            <a:srgbClr val="5d84ff">
              <a:alpha val="90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 for Teaching Year (2006-07)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29D79C-6E57-409E-BBF9-B9927503BC06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5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88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762120" y="990720"/>
            <a:ext cx="7467480" cy="576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194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1A and 1B: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do compared to the district and the state?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838080" y="2514600"/>
            <a:ext cx="7315200" cy="198108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3E4D93-7391-4344-B5F8-E606AA664793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6" dur="indefinite" restart="never" nodeType="tmRoot">
          <p:childTnLst>
            <p:seq>
              <p:cTn id="107" dur="indefinite" nodeType="mainSeq"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nodeType="after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197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" descr=""/>
          <p:cNvPicPr/>
          <p:nvPr/>
        </p:nvPicPr>
        <p:blipFill>
          <a:blip r:embed="rId1"/>
          <a:stretch/>
        </p:blipFill>
        <p:spPr>
          <a:xfrm>
            <a:off x="762120" y="990720"/>
            <a:ext cx="7467480" cy="576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03" name=""/>
          <p:cNvSpPr/>
          <p:nvPr/>
        </p:nvSpPr>
        <p:spPr>
          <a:xfrm>
            <a:off x="838080" y="4572000"/>
            <a:ext cx="4191120" cy="18288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2A: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across the 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7E8CF7-B056-42D7-A46B-120890EF7495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nodeType="afterEffect" fill="hold" presetClass="entr" presetID="2" presetSubtype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0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Grade Level Summary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0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1" name=""/>
          <p:cNvGrpSpPr/>
          <p:nvPr/>
        </p:nvGrpSpPr>
        <p:grpSpPr>
          <a:xfrm>
            <a:off x="152280" y="1447920"/>
            <a:ext cx="8839440" cy="4038480"/>
            <a:chOff x="152280" y="1447920"/>
            <a:chExt cx="8839440" cy="4038480"/>
          </a:xfrm>
        </p:grpSpPr>
        <p:pic>
          <p:nvPicPr>
            <p:cNvPr id="212" name="" descr=""/>
            <p:cNvPicPr/>
            <p:nvPr/>
          </p:nvPicPr>
          <p:blipFill>
            <a:blip r:embed="rId1"/>
            <a:stretch/>
          </p:blipFill>
          <p:spPr>
            <a:xfrm>
              <a:off x="228600" y="1523880"/>
              <a:ext cx="8686800" cy="3859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3" name=""/>
            <p:cNvSpPr/>
            <p:nvPr/>
          </p:nvSpPr>
          <p:spPr>
            <a:xfrm>
              <a:off x="152280" y="1447920"/>
              <a:ext cx="8839440" cy="403848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"/>
          <p:cNvSpPr/>
          <p:nvPr/>
        </p:nvSpPr>
        <p:spPr>
          <a:xfrm>
            <a:off x="4495680" y="3200400"/>
            <a:ext cx="533520" cy="533520"/>
          </a:xfrm>
          <a:prstGeom prst="ellipse">
            <a:avLst/>
          </a:prstGeom>
          <a:noFill/>
          <a:ln w="381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5575320" y="3200400"/>
            <a:ext cx="533520" cy="533520"/>
          </a:xfrm>
          <a:prstGeom prst="ellipse">
            <a:avLst/>
          </a:prstGeom>
          <a:noFill/>
          <a:ln w="381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85800" y="1905120"/>
            <a:ext cx="3276720" cy="1218960"/>
          </a:xfrm>
          <a:prstGeom prst="rect">
            <a:avLst/>
          </a:prstGeom>
          <a:solidFill>
            <a:srgbClr val="69ff6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56% of the students in this school scored proficient or above on the grade 5 reading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495680" y="3938760"/>
            <a:ext cx="533520" cy="533160"/>
          </a:xfrm>
          <a:prstGeom prst="ellipse">
            <a:avLst/>
          </a:prstGeom>
          <a:noFill/>
          <a:ln w="5076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575320" y="3938760"/>
            <a:ext cx="533520" cy="533160"/>
          </a:xfrm>
          <a:prstGeom prst="ellipse">
            <a:avLst/>
          </a:prstGeom>
          <a:noFill/>
          <a:ln w="5076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3276720"/>
            <a:ext cx="3276720" cy="1218960"/>
          </a:xfrm>
          <a:prstGeom prst="rect">
            <a:avLst/>
          </a:prstGeom>
          <a:solidFill>
            <a:srgbClr val="ff69ff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52% of the students in this school scored proficient or above on the grade 5 mathematics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495680" y="4648320"/>
            <a:ext cx="533520" cy="533160"/>
          </a:xfrm>
          <a:prstGeom prst="ellipse">
            <a:avLst/>
          </a:prstGeom>
          <a:noFill/>
          <a:ln w="50760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575320" y="4648320"/>
            <a:ext cx="533520" cy="533160"/>
          </a:xfrm>
          <a:prstGeom prst="ellipse">
            <a:avLst/>
          </a:prstGeom>
          <a:noFill/>
          <a:ln w="50760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685800" y="4648320"/>
            <a:ext cx="3276720" cy="1218960"/>
          </a:xfrm>
          <a:prstGeom prst="rect">
            <a:avLst/>
          </a:prstGeom>
          <a:solidFill>
            <a:srgbClr val="ffa365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43% of the students in this school scored proficient or above on the grade 5 writing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191120" y="5334120"/>
            <a:ext cx="3886200" cy="12189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Does this data match what we know about the school’s program?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2A: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across the 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3D1B9B-E085-4DFF-89D8-8D0D96787BA4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6" dur="indefinite" restart="never" nodeType="tmRoot">
          <p:childTnLst>
            <p:seq>
              <p:cTn id="137" dur="indefinite" nodeType="mainSeq"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6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9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4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5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6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00"/>
                            </p:stCondLst>
                            <p:childTnLst>
                              <p:par>
                                <p:cTn id="159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1" dur="3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" dur="3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3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" dur="3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00"/>
                            </p:stCondLst>
                            <p:childTnLst>
                              <p:par>
                                <p:cTn id="166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8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0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6" dur="3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7" dur="3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3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" dur="3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00"/>
                            </p:stCondLst>
                            <p:childTnLst>
                              <p:par>
                                <p:cTn id="181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3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4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5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6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00"/>
                            </p:stCondLst>
                            <p:childTnLst>
                              <p:par>
                                <p:cTn id="188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0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8" dur="3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" dur="3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" dur="3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" dur="3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00"/>
                            </p:stCondLst>
                            <p:childTnLst>
                              <p:par>
                                <p:cTn id="203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5" dur="3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" dur="3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7" dur="3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" dur="3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600"/>
                            </p:stCondLst>
                            <p:childTnLst>
                              <p:par>
                                <p:cTn id="210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2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100"/>
                            </p:stCondLst>
                            <p:childTnLst>
                              <p:par>
                                <p:cTn id="217" nodeType="afterEffect" fill="hold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9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0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2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Grade Level Summary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762120" y="990720"/>
            <a:ext cx="7467480" cy="576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32" name=""/>
          <p:cNvSpPr/>
          <p:nvPr/>
        </p:nvSpPr>
        <p:spPr>
          <a:xfrm>
            <a:off x="2906640" y="5656320"/>
            <a:ext cx="274680" cy="274680"/>
          </a:xfrm>
          <a:prstGeom prst="ellipse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429000" y="5656320"/>
            <a:ext cx="274680" cy="274680"/>
          </a:xfrm>
          <a:prstGeom prst="ellipse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5218200" y="5668920"/>
            <a:ext cx="274680" cy="274680"/>
          </a:xfrm>
          <a:prstGeom prst="ellipse">
            <a:avLst/>
          </a:prstGeom>
          <a:noFill/>
          <a:ln w="2556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5486400" y="5668920"/>
            <a:ext cx="274680" cy="274680"/>
          </a:xfrm>
          <a:prstGeom prst="ellipse">
            <a:avLst/>
          </a:prstGeom>
          <a:noFill/>
          <a:ln w="2556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764400" y="5668920"/>
            <a:ext cx="274680" cy="274680"/>
          </a:xfrm>
          <a:prstGeom prst="ellipse">
            <a:avLst/>
          </a:prstGeom>
          <a:noFill/>
          <a:ln w="25560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020000" y="5668920"/>
            <a:ext cx="274680" cy="274680"/>
          </a:xfrm>
          <a:prstGeom prst="ellipse">
            <a:avLst/>
          </a:prstGeom>
          <a:noFill/>
          <a:ln w="25560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143000" y="3429000"/>
            <a:ext cx="2514600" cy="2057400"/>
          </a:xfrm>
          <a:prstGeom prst="rect">
            <a:avLst/>
          </a:prstGeom>
          <a:solidFill>
            <a:srgbClr val="69ff6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52% of the students in this school scored proficient or above on the grade 5 mathematics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3809880" y="3429000"/>
            <a:ext cx="2514600" cy="2057400"/>
          </a:xfrm>
          <a:prstGeom prst="rect">
            <a:avLst/>
          </a:prstGeom>
          <a:solidFill>
            <a:srgbClr val="ff69ff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48% of the students in this district scored proficient or above on the grade 5 mathematics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477120" y="3429000"/>
            <a:ext cx="2514600" cy="2057400"/>
          </a:xfrm>
          <a:prstGeom prst="rect">
            <a:avLst/>
          </a:prstGeom>
          <a:solidFill>
            <a:srgbClr val="ffa365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64% of the students in the state scored proficient or above on the grade 5 mathematics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143000" y="2057400"/>
            <a:ext cx="3657600" cy="12193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Does this data match what we know about the school’s program?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914400" y="5675400"/>
            <a:ext cx="7162920" cy="304560"/>
          </a:xfrm>
          <a:prstGeom prst="rect">
            <a:avLst/>
          </a:prstGeom>
          <a:solidFill>
            <a:srgbClr val="ffff00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5867280" y="1066680"/>
            <a:ext cx="320040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2A: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across a content area (compared to the district and the state)?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5941C-75BA-4813-B558-BDB7434CDDED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1" dur="indefinite" restart="never" nodeType="tmRoot">
          <p:childTnLst>
            <p:seq>
              <p:cTn id="222" dur="indefinite" nodeType="mainSeq"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7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8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9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9" dur="3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0" dur="3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1" dur="3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2" dur="3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300"/>
                            </p:stCondLst>
                            <p:childTnLst>
                              <p:par>
                                <p:cTn id="244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6" dur="3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" dur="3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8" dur="3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" dur="3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600"/>
                            </p:stCondLst>
                            <p:childTnLst>
                              <p:par>
                                <p:cTn id="251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3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4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9" dur="3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0" dur="3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1" dur="3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2" dur="3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300"/>
                            </p:stCondLst>
                            <p:childTnLst>
                              <p:par>
                                <p:cTn id="264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6" dur="3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7" dur="3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8" dur="3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9" dur="3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600"/>
                            </p:stCondLst>
                            <p:childTnLst>
                              <p:par>
                                <p:cTn id="271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3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9" dur="3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0" dur="3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1" dur="3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2" dur="3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300"/>
                            </p:stCondLst>
                            <p:childTnLst>
                              <p:par>
                                <p:cTn id="284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6" dur="3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7" dur="3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8" dur="3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9" dur="3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600"/>
                            </p:stCondLst>
                            <p:childTnLst>
                              <p:par>
                                <p:cTn id="291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4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9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0" dur="5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45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Content Area Results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9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838080" y="1012680"/>
            <a:ext cx="7467840" cy="576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51" name=""/>
          <p:cNvSpPr/>
          <p:nvPr/>
        </p:nvSpPr>
        <p:spPr>
          <a:xfrm>
            <a:off x="2819520" y="2133720"/>
            <a:ext cx="4876560" cy="9144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63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do compared to our own history?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20264-90DE-4923-B4FC-D8B66DE2831E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8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9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0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5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Content Area Results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9" name=""/>
          <p:cNvGrpSpPr/>
          <p:nvPr/>
        </p:nvGrpSpPr>
        <p:grpSpPr>
          <a:xfrm>
            <a:off x="76320" y="2422440"/>
            <a:ext cx="8991360" cy="1768680"/>
            <a:chOff x="76320" y="2422440"/>
            <a:chExt cx="8991360" cy="1768680"/>
          </a:xfrm>
        </p:grpSpPr>
        <p:pic>
          <p:nvPicPr>
            <p:cNvPr id="260" name="" descr=""/>
            <p:cNvPicPr/>
            <p:nvPr/>
          </p:nvPicPr>
          <p:blipFill>
            <a:blip r:embed="rId1"/>
            <a:stretch/>
          </p:blipFill>
          <p:spPr>
            <a:xfrm>
              <a:off x="76320" y="2422440"/>
              <a:ext cx="8915400" cy="1692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61" name=""/>
            <p:cNvSpPr/>
            <p:nvPr/>
          </p:nvSpPr>
          <p:spPr>
            <a:xfrm>
              <a:off x="76320" y="2438280"/>
              <a:ext cx="8991360" cy="175284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"/>
          <p:cNvSpPr/>
          <p:nvPr/>
        </p:nvSpPr>
        <p:spPr>
          <a:xfrm rot="5400000">
            <a:off x="5439240" y="3936240"/>
            <a:ext cx="662040" cy="304920"/>
          </a:xfrm>
          <a:prstGeom prst="leftArrow">
            <a:avLst>
              <a:gd name="adj1" fmla="val 50000"/>
              <a:gd name="adj2" fmla="val 54280"/>
            </a:avLst>
          </a:prstGeom>
          <a:solidFill>
            <a:srgbClr val="0099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 rot="5400000">
            <a:off x="6407640" y="3936240"/>
            <a:ext cx="662040" cy="304920"/>
          </a:xfrm>
          <a:prstGeom prst="leftArrow">
            <a:avLst>
              <a:gd name="adj1" fmla="val 50000"/>
              <a:gd name="adj2" fmla="val 54280"/>
            </a:avLst>
          </a:prstGeom>
          <a:solidFill>
            <a:srgbClr val="0099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 rot="16200000">
            <a:off x="5439600" y="2845080"/>
            <a:ext cx="662040" cy="304920"/>
          </a:xfrm>
          <a:prstGeom prst="leftArrow">
            <a:avLst>
              <a:gd name="adj1" fmla="val 50000"/>
              <a:gd name="adj2" fmla="val 54280"/>
            </a:avLst>
          </a:prstGeom>
          <a:solidFill>
            <a:srgbClr val="80008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 rot="16200000">
            <a:off x="6408000" y="2845080"/>
            <a:ext cx="662040" cy="304920"/>
          </a:xfrm>
          <a:prstGeom prst="leftArrow">
            <a:avLst>
              <a:gd name="adj1" fmla="val 50000"/>
              <a:gd name="adj2" fmla="val 54280"/>
            </a:avLst>
          </a:prstGeom>
          <a:solidFill>
            <a:srgbClr val="80008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4648320" y="4572000"/>
            <a:ext cx="3276360" cy="1219320"/>
          </a:xfrm>
          <a:prstGeom prst="rect">
            <a:avLst/>
          </a:prstGeom>
          <a:solidFill>
            <a:srgbClr val="69ff6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52% of this year’s fifth grade students scored proficient or above on the mathematics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228600" y="3505320"/>
            <a:ext cx="8610480" cy="191880"/>
          </a:xfrm>
          <a:prstGeom prst="rect">
            <a:avLst/>
          </a:prstGeom>
          <a:solidFill>
            <a:srgbClr val="00cc00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28600" y="3352680"/>
            <a:ext cx="8610480" cy="192240"/>
          </a:xfrm>
          <a:prstGeom prst="rect">
            <a:avLst/>
          </a:prstGeom>
          <a:solidFill>
            <a:srgbClr val="800080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28600" y="4267080"/>
            <a:ext cx="4191120" cy="12193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Does this confirm what we know about this year’s cohort of fifth grade students compared with last year’s cohort?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228600" y="5486400"/>
            <a:ext cx="4191120" cy="1143000"/>
          </a:xfrm>
          <a:prstGeom prst="rect">
            <a:avLst/>
          </a:prstGeom>
          <a:solidFill>
            <a:srgbClr val="ffda3b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big difference could be due to a cohort effect (stronger group vs. weaker group).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724280" y="1143000"/>
            <a:ext cx="3276720" cy="1219320"/>
          </a:xfrm>
          <a:prstGeom prst="rect">
            <a:avLst/>
          </a:prstGeom>
          <a:solidFill>
            <a:srgbClr val="ff69ff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67% of last year’s fifth grade students scored proficient or above on the mathematics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63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do compared to our own history?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8DEEFC-BA85-41CB-8106-5CFBAEFB574E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0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500"/>
                            </p:stCondLst>
                            <p:childTnLst>
                              <p:par>
                                <p:cTn id="325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7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0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3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3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3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1300"/>
                            </p:stCondLst>
                            <p:childTnLst>
                              <p:par>
                                <p:cTn id="342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4" dur="3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5" dur="3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1600"/>
                            </p:stCondLst>
                            <p:childTnLst>
                              <p:par>
                                <p:cTn id="347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9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0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1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2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1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1500"/>
                            </p:stCondLst>
                            <p:childTnLst>
                              <p:par>
                                <p:cTn id="363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3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3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1800"/>
                            </p:stCondLst>
                            <p:childTnLst>
                              <p:par>
                                <p:cTn id="368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3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3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2100"/>
                            </p:stCondLst>
                            <p:childTnLst>
                              <p:par>
                                <p:cTn id="373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5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6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7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8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82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000"/>
                            </p:stCondLst>
                            <p:childTnLst>
                              <p:par>
                                <p:cTn id="38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2000"/>
                            </p:stCondLst>
                            <p:childTnLst>
                              <p:par>
                                <p:cTn id="389" nodeType="afterEffect" fill="hold" presetClass="entr" presetID="1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7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Content Area Results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9" name=""/>
          <p:cNvGrpSpPr/>
          <p:nvPr/>
        </p:nvGrpSpPr>
        <p:grpSpPr>
          <a:xfrm>
            <a:off x="76320" y="2422440"/>
            <a:ext cx="8991360" cy="1768680"/>
            <a:chOff x="76320" y="2422440"/>
            <a:chExt cx="8991360" cy="1768680"/>
          </a:xfrm>
        </p:grpSpPr>
        <p:pic>
          <p:nvPicPr>
            <p:cNvPr id="280" name="" descr=""/>
            <p:cNvPicPr/>
            <p:nvPr/>
          </p:nvPicPr>
          <p:blipFill>
            <a:blip r:embed="rId1"/>
            <a:stretch/>
          </p:blipFill>
          <p:spPr>
            <a:xfrm>
              <a:off x="76320" y="2422440"/>
              <a:ext cx="8915400" cy="1692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1" name=""/>
            <p:cNvSpPr/>
            <p:nvPr/>
          </p:nvSpPr>
          <p:spPr>
            <a:xfrm>
              <a:off x="76320" y="2438280"/>
              <a:ext cx="8991360" cy="175284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2" name=""/>
          <p:cNvSpPr/>
          <p:nvPr/>
        </p:nvSpPr>
        <p:spPr>
          <a:xfrm>
            <a:off x="228600" y="3693960"/>
            <a:ext cx="8610480" cy="34452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1676520" y="4495680"/>
            <a:ext cx="5790960" cy="1828800"/>
          </a:xfrm>
          <a:prstGeom prst="rect">
            <a:avLst/>
          </a:prstGeom>
          <a:solidFill>
            <a:srgbClr val="ffff00">
              <a:alpha val="28000"/>
            </a:srgbClr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Cumulative Totals…</a:t>
            </a:r>
            <a:br>
              <a:rPr sz="1900"/>
            </a:br>
            <a:r>
              <a:rPr b="0" lang="en-IN" sz="1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information on multiple cohorts of students exposed to the program of instruction at a specific grade.  Caution should be used if the program of instruction has changed significantly.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2743200" y="1143000"/>
            <a:ext cx="3809880" cy="1143000"/>
          </a:xfrm>
          <a:prstGeom prst="rect">
            <a:avLst/>
          </a:prstGeom>
          <a:solidFill>
            <a:srgbClr val="ffda3b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better indicator of how we’re doing.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76320" y="1066680"/>
            <a:ext cx="2590560" cy="114300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do compared to our own history?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038E63-7DAF-4D8B-A1C9-2F61849DAC66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2" dur="indefinite" restart="never" nodeType="tmRoot">
          <p:childTnLst>
            <p:seq>
              <p:cTn id="393" dur="indefinite" nodeType="mainSeq"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8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9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1000"/>
                            </p:stCondLst>
                            <p:childTnLst>
                              <p:par>
                                <p:cTn id="40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2000"/>
                            </p:stCondLst>
                            <p:childTnLst>
                              <p:par>
                                <p:cTn id="41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4"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87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Content Area Results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" descr=""/>
          <p:cNvPicPr/>
          <p:nvPr/>
        </p:nvPicPr>
        <p:blipFill>
          <a:blip r:embed="rId1"/>
          <a:stretch/>
        </p:blipFill>
        <p:spPr>
          <a:xfrm>
            <a:off x="838080" y="1012680"/>
            <a:ext cx="7467840" cy="576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93" name=""/>
          <p:cNvSpPr/>
          <p:nvPr/>
        </p:nvSpPr>
        <p:spPr>
          <a:xfrm>
            <a:off x="2819520" y="4191120"/>
            <a:ext cx="5410080" cy="243828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2B: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in the various sub-content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F86CF-EA7A-423F-92DB-E2F3868CC8C8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5" dur="indefinite" restart="never" nodeType="tmRoot">
          <p:childTnLst>
            <p:seq>
              <p:cTn id="416" dur="indefinite" nodeType="mainSeq"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1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4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500"/>
                            </p:stCondLst>
                            <p:childTnLst>
                              <p:par>
                                <p:cTn id="426" nodeType="after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29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Content Area Results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0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1" name=""/>
          <p:cNvGrpSpPr/>
          <p:nvPr/>
        </p:nvGrpSpPr>
        <p:grpSpPr>
          <a:xfrm>
            <a:off x="76320" y="1981080"/>
            <a:ext cx="8991360" cy="4038480"/>
            <a:chOff x="76320" y="1981080"/>
            <a:chExt cx="8991360" cy="4038480"/>
          </a:xfrm>
        </p:grpSpPr>
        <p:pic>
          <p:nvPicPr>
            <p:cNvPr id="302" name="" descr=""/>
            <p:cNvPicPr/>
            <p:nvPr/>
          </p:nvPicPr>
          <p:blipFill>
            <a:blip r:embed="rId1"/>
            <a:stretch/>
          </p:blipFill>
          <p:spPr>
            <a:xfrm>
              <a:off x="152280" y="1981080"/>
              <a:ext cx="8763120" cy="39322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03" name=""/>
            <p:cNvSpPr/>
            <p:nvPr/>
          </p:nvSpPr>
          <p:spPr>
            <a:xfrm>
              <a:off x="76320" y="1981080"/>
              <a:ext cx="8991360" cy="403848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4" name=""/>
          <p:cNvSpPr/>
          <p:nvPr/>
        </p:nvSpPr>
        <p:spPr>
          <a:xfrm>
            <a:off x="228600" y="3200400"/>
            <a:ext cx="7238880" cy="380880"/>
          </a:xfrm>
          <a:prstGeom prst="rect">
            <a:avLst/>
          </a:prstGeom>
          <a:solidFill>
            <a:srgbClr val="ffff00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2133720" y="4572000"/>
            <a:ext cx="3276360" cy="1676520"/>
          </a:xfrm>
          <a:prstGeom prst="upArrowCallout">
            <a:avLst>
              <a:gd name="adj1" fmla="val 19888"/>
              <a:gd name="adj2" fmla="val 24428"/>
              <a:gd name="adj3" fmla="val 16037"/>
              <a:gd name="adj4" fmla="val 61687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 Possible Points includes both common and matrix items (not field-test). 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2B: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perform in the various sub-content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5562720" y="4952880"/>
            <a:ext cx="2361960" cy="1447920"/>
          </a:xfrm>
          <a:prstGeom prst="flowChartProcess">
            <a:avLst/>
          </a:prstGeom>
          <a:solidFill>
            <a:srgbClr val="e1cd3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Total Possible Points also represents the test’s balance of representation.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88166F-31B4-44FD-A629-6EC2F018F29B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0" dur="indefinite" restart="never" nodeType="tmRoot">
          <p:childTnLst>
            <p:seq>
              <p:cTn id="431" dur="indefinite" nodeType="mainSeq"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6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500"/>
                            </p:stCondLst>
                            <p:childTnLst>
                              <p:par>
                                <p:cTn id="438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0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1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2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3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500"/>
                            </p:stCondLst>
                            <p:childTnLst>
                              <p:par>
                                <p:cTn id="45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0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Results Report – Content Area Results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" descr=""/>
          <p:cNvPicPr/>
          <p:nvPr/>
        </p:nvPicPr>
        <p:blipFill>
          <a:blip r:embed="rId1"/>
          <a:stretch/>
        </p:blipFill>
        <p:spPr>
          <a:xfrm>
            <a:off x="38160" y="2082960"/>
            <a:ext cx="9029520" cy="39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"/>
          <p:cNvSpPr/>
          <p:nvPr/>
        </p:nvSpPr>
        <p:spPr>
          <a:xfrm>
            <a:off x="533520" y="1219320"/>
            <a:ext cx="80769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Please note: </a:t>
            </a: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Total Possible Points column is organized differently on the Reading Results Report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52280" y="3276720"/>
            <a:ext cx="3886200" cy="1371600"/>
          </a:xfrm>
          <a:prstGeom prst="rect">
            <a:avLst/>
          </a:prstGeom>
          <a:noFill/>
          <a:ln w="442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4495680" y="3276720"/>
            <a:ext cx="2971800" cy="1371600"/>
          </a:xfrm>
          <a:prstGeom prst="rect">
            <a:avLst/>
          </a:prstGeom>
          <a:solidFill>
            <a:srgbClr val="ff797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106 possible points are represented here – they are sorted by “Type of Text”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495680" y="4648320"/>
            <a:ext cx="2971800" cy="1371600"/>
          </a:xfrm>
          <a:prstGeom prst="rect">
            <a:avLst/>
          </a:prstGeom>
          <a:solidFill>
            <a:srgbClr val="ff797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same 106 possible points are represented here – they are sorted by “Level of Comprehension”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D32FA-1546-485A-A0E8-D3818D714653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8" dur="indefinite" restart="never" nodeType="tmRoot">
          <p:childTnLst>
            <p:seq>
              <p:cTn id="459" dur="indefinite" nodeType="mainSeq"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4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5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0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500"/>
                            </p:stCondLst>
                            <p:childTnLst>
                              <p:par>
                                <p:cTn id="47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7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500"/>
                            </p:stCondLst>
                            <p:childTnLst>
                              <p:par>
                                <p:cTn id="481" nodeType="after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006 1.7341E-007 L 3.33333E-006 0.19977 E">
                                      <p:cBhvr>
                                        <p:cTn id="482" dur="2000" fill="hold"/>
                                        <p:tgtEl>
                                          <p:spTgt spid="3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2500"/>
                            </p:stCondLst>
                            <p:childTnLst>
                              <p:par>
                                <p:cTn id="48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6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20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4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1"/>
          <a:stretch/>
        </p:blipFill>
        <p:spPr>
          <a:xfrm>
            <a:off x="990720" y="1143000"/>
            <a:ext cx="7086600" cy="5472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326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ffff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3B: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the various sub-groups compare to the district and state?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1066680" y="2133720"/>
            <a:ext cx="4343400" cy="335268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ED6A73-16BC-420A-9C22-499697008FFC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7" dur="indefinite" restart="never" nodeType="tmRoot">
          <p:childTnLst>
            <p:seq>
              <p:cTn id="488" dur="indefinite" nodeType="mainSeq"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3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4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5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6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2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3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4" name=""/>
          <p:cNvGrpSpPr/>
          <p:nvPr/>
        </p:nvGrpSpPr>
        <p:grpSpPr>
          <a:xfrm>
            <a:off x="228600" y="1066680"/>
            <a:ext cx="7467480" cy="5562720"/>
            <a:chOff x="228600" y="1066680"/>
            <a:chExt cx="7467480" cy="5562720"/>
          </a:xfrm>
        </p:grpSpPr>
        <p:pic>
          <p:nvPicPr>
            <p:cNvPr id="335" name="" descr=""/>
            <p:cNvPicPr/>
            <p:nvPr/>
          </p:nvPicPr>
          <p:blipFill>
            <a:blip r:embed="rId1"/>
            <a:stretch/>
          </p:blipFill>
          <p:spPr>
            <a:xfrm>
              <a:off x="304920" y="1066680"/>
              <a:ext cx="7315200" cy="5521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36" name=""/>
            <p:cNvSpPr/>
            <p:nvPr/>
          </p:nvSpPr>
          <p:spPr>
            <a:xfrm>
              <a:off x="228600" y="1143000"/>
              <a:ext cx="7467480" cy="5486400"/>
            </a:xfrm>
            <a:prstGeom prst="flowChartAlternateProcess">
              <a:avLst/>
            </a:prstGeom>
            <a:noFill/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7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ffff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3A: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the various sub-groups perform?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533520" y="3657600"/>
            <a:ext cx="6933960" cy="15228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533520" y="5715000"/>
            <a:ext cx="6933960" cy="15228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533520" y="2652840"/>
            <a:ext cx="6933960" cy="15228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542880" y="3510000"/>
            <a:ext cx="6934320" cy="15228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528480" y="5181480"/>
            <a:ext cx="6934320" cy="15264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5832360" y="3879720"/>
            <a:ext cx="3046680" cy="1262160"/>
          </a:xfrm>
          <a:prstGeom prst="rect">
            <a:avLst/>
          </a:prstGeom>
          <a:solidFill>
            <a:srgbClr val="c0c0c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Important Note: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Disaggregated results are not reported for sub-groups of less than 10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EE64A9-1052-4775-AF5E-0FA6BC7AEE79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3" dur="indefinite" restart="never" nodeType="tmRoot">
          <p:childTnLst>
            <p:seq>
              <p:cTn id="504" dur="indefinite" nodeType="mainSeq">
                <p:childTnLst>
                  <p:par>
                    <p:cTn id="505" fill="hold">
                      <p:stCondLst>
                        <p:cond delay="0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9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500"/>
                            </p:stCondLst>
                            <p:childTnLst>
                              <p:par>
                                <p:cTn id="511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3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4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5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6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1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2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500"/>
                            </p:stCondLst>
                            <p:childTnLst>
                              <p:par>
                                <p:cTn id="52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6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1000"/>
                            </p:stCondLst>
                            <p:childTnLst>
                              <p:par>
                                <p:cTn id="52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0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>
                            <p:stCondLst>
                              <p:cond delay="1500"/>
                            </p:stCondLst>
                            <p:childTnLst>
                              <p:par>
                                <p:cTn id="53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2000"/>
                            </p:stCondLst>
                            <p:childTnLst>
                              <p:par>
                                <p:cTn id="53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2500"/>
                            </p:stCondLst>
                            <p:childTnLst>
                              <p:par>
                                <p:cTn id="54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2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2211480" y="1127160"/>
            <a:ext cx="5073480" cy="535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"/>
          <p:cNvSpPr/>
          <p:nvPr/>
        </p:nvSpPr>
        <p:spPr>
          <a:xfrm>
            <a:off x="2733840" y="2106720"/>
            <a:ext cx="3327120" cy="3060720"/>
          </a:xfrm>
          <a:prstGeom prst="octagon">
            <a:avLst>
              <a:gd name="adj" fmla="val 29287"/>
            </a:avLst>
          </a:prstGeom>
          <a:solidFill>
            <a:srgbClr val="ff6161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Because this is a small school, and so many of the sub-groups are smaller than 10, this part of the report is not as useful.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2470320" y="3117960"/>
            <a:ext cx="3792240" cy="1017360"/>
          </a:xfrm>
          <a:prstGeom prst="rect">
            <a:avLst/>
          </a:prstGeom>
          <a:solidFill>
            <a:srgbClr val="00d200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But we can still look at district and state disaggregated results.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7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48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School-Level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2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2"/>
          <a:stretch/>
        </p:blipFill>
        <p:spPr>
          <a:xfrm>
            <a:off x="146160" y="1154160"/>
            <a:ext cx="2097000" cy="535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" descr=""/>
          <p:cNvPicPr/>
          <p:nvPr/>
        </p:nvPicPr>
        <p:blipFill>
          <a:blip r:embed="rId3"/>
          <a:stretch/>
        </p:blipFill>
        <p:spPr>
          <a:xfrm>
            <a:off x="2224080" y="1125360"/>
            <a:ext cx="2111400" cy="53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" descr=""/>
          <p:cNvPicPr/>
          <p:nvPr/>
        </p:nvPicPr>
        <p:blipFill>
          <a:blip r:embed="rId4"/>
          <a:stretch/>
        </p:blipFill>
        <p:spPr>
          <a:xfrm>
            <a:off x="4335480" y="1125360"/>
            <a:ext cx="2193840" cy="535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ffff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3A: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the various sub-groups perform?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2344680" y="2994120"/>
            <a:ext cx="1839960" cy="1817640"/>
          </a:xfrm>
          <a:prstGeom prst="rect">
            <a:avLst/>
          </a:prstGeom>
          <a:solidFill>
            <a:srgbClr val="69ff69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13% of the students with an IEP in this district scored proficient or above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4454640" y="2989440"/>
            <a:ext cx="1839960" cy="1817640"/>
          </a:xfrm>
          <a:prstGeom prst="rect">
            <a:avLst/>
          </a:prstGeom>
          <a:solidFill>
            <a:srgbClr val="f4cd6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7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20% of the students with an IEP in the state scored proficient or above</a:t>
            </a:r>
            <a:endParaRPr b="0" lang="en-IN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510240" y="2978280"/>
            <a:ext cx="1839960" cy="1817640"/>
          </a:xfrm>
          <a:prstGeom prst="rect">
            <a:avLst/>
          </a:prstGeom>
          <a:solidFill>
            <a:srgbClr val="ccffcc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Does this data match what we know about the district’s program?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399960" y="5124600"/>
            <a:ext cx="6094440" cy="145800"/>
          </a:xfrm>
          <a:prstGeom prst="rect">
            <a:avLst/>
          </a:prstGeom>
          <a:solidFill>
            <a:srgbClr val="ffff0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2649600" y="5056200"/>
            <a:ext cx="274680" cy="274680"/>
          </a:xfrm>
          <a:prstGeom prst="ellipse">
            <a:avLst/>
          </a:prstGeom>
          <a:noFill/>
          <a:ln w="381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2986200" y="5056200"/>
            <a:ext cx="274680" cy="274680"/>
          </a:xfrm>
          <a:prstGeom prst="ellipse">
            <a:avLst/>
          </a:prstGeom>
          <a:noFill/>
          <a:ln w="381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4759200" y="5051520"/>
            <a:ext cx="274680" cy="274680"/>
          </a:xfrm>
          <a:prstGeom prst="ellipse">
            <a:avLst/>
          </a:prstGeom>
          <a:noFill/>
          <a:ln w="381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5095800" y="5051520"/>
            <a:ext cx="274680" cy="274680"/>
          </a:xfrm>
          <a:prstGeom prst="ellipse">
            <a:avLst/>
          </a:prstGeom>
          <a:noFill/>
          <a:ln w="381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18E6A-EB2B-44B6-9191-862A47F755A5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3" dur="indefinite" restart="never" nodeType="tmRoot">
          <p:childTnLst>
            <p:seq>
              <p:cTn id="544" dur="indefinite" nodeType="mainSeq"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9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0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1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2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61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3" fill="hold">
                            <p:stCondLst>
                              <p:cond delay="500"/>
                            </p:stCondLst>
                            <p:childTnLst>
                              <p:par>
                                <p:cTn id="56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6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7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2" fill="hold">
                            <p:stCondLst>
                              <p:cond delay="500"/>
                            </p:stCondLst>
                            <p:childTnLst>
                              <p:par>
                                <p:cTn id="573" nodeType="after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574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7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9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0" dur="5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>
                            <p:stCondLst>
                              <p:cond delay="1500"/>
                            </p:stCondLst>
                            <p:childTnLst>
                              <p:par>
                                <p:cTn id="582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4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5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>
                            <p:stCondLst>
                              <p:cond delay="500"/>
                            </p:stCondLst>
                            <p:childTnLst>
                              <p:par>
                                <p:cTn id="592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4" dur="3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5" dur="3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6" dur="3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7" dur="3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800"/>
                            </p:stCondLst>
                            <p:childTnLst>
                              <p:par>
                                <p:cTn id="599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1" dur="3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2" dur="3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3" dur="3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4" dur="3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5" fill="hold">
                            <p:stCondLst>
                              <p:cond delay="1100"/>
                            </p:stCondLst>
                            <p:childTnLst>
                              <p:par>
                                <p:cTn id="606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08" dur="5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9" dur="5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0" fill="hold">
                      <p:stCondLst>
                        <p:cond delay="indefinite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4" dur="3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5" dur="3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6" dur="3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7" dur="3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300"/>
                            </p:stCondLst>
                            <p:childTnLst>
                              <p:par>
                                <p:cTn id="619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1" dur="3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2" dur="3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3" dur="3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4" dur="3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5" fill="hold">
                            <p:stCondLst>
                              <p:cond delay="600"/>
                            </p:stCondLst>
                            <p:childTnLst>
                              <p:par>
                                <p:cTn id="626" nodeType="after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8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9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0" fill="hold">
                      <p:stCondLst>
                        <p:cond delay="indefinite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nodeType="clickEffect" fill="hold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4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5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6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0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372" name=""/>
          <p:cNvSpPr/>
          <p:nvPr/>
        </p:nvSpPr>
        <p:spPr>
          <a:xfrm>
            <a:off x="914400" y="2133720"/>
            <a:ext cx="4800600" cy="13716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843200" y="3635280"/>
            <a:ext cx="3733560" cy="12193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part of the report gives specific information about the released items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9FB497-309F-435B-A729-D13111851D49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6" dur="indefinite" restart="never" nodeType="tmRoot">
          <p:childTnLst>
            <p:seq>
              <p:cTn id="637" dur="indefinite" nodeType="mainSeq">
                <p:childTnLst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click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2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3" dur="5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4" fill="hold">
                            <p:stCondLst>
                              <p:cond delay="500"/>
                            </p:stCondLst>
                            <p:childTnLst>
                              <p:par>
                                <p:cTn id="645" nodeType="afterEffect" fill="hold" presetClass="entr" presetID="1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75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9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0" name=""/>
          <p:cNvGrpSpPr/>
          <p:nvPr/>
        </p:nvGrpSpPr>
        <p:grpSpPr>
          <a:xfrm>
            <a:off x="152280" y="1676520"/>
            <a:ext cx="8839440" cy="2514600"/>
            <a:chOff x="152280" y="1676520"/>
            <a:chExt cx="8839440" cy="2514600"/>
          </a:xfrm>
        </p:grpSpPr>
        <p:pic>
          <p:nvPicPr>
            <p:cNvPr id="381" name="" descr=""/>
            <p:cNvPicPr/>
            <p:nvPr/>
          </p:nvPicPr>
          <p:blipFill>
            <a:blip r:embed="rId1"/>
            <a:stretch/>
          </p:blipFill>
          <p:spPr>
            <a:xfrm>
              <a:off x="228600" y="1747800"/>
              <a:ext cx="8601120" cy="236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2" name=""/>
            <p:cNvSpPr/>
            <p:nvPr/>
          </p:nvSpPr>
          <p:spPr>
            <a:xfrm>
              <a:off x="152280" y="1676520"/>
              <a:ext cx="8839440" cy="251460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2ED61B-9E84-435B-9FC8-4F45E919EB79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8" dur="indefinite" restart="never" nodeType="tmRoot">
          <p:childTnLst>
            <p:seq>
              <p:cTn id="649" dur="indefinite" nodeType="mainSeq">
                <p:childTnLst>
                  <p:par>
                    <p:cTn id="650" fill="hold">
                      <p:stCondLst>
                        <p:cond delay="0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8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8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390" name=""/>
          <p:cNvSpPr/>
          <p:nvPr/>
        </p:nvSpPr>
        <p:spPr>
          <a:xfrm>
            <a:off x="5867280" y="2362320"/>
            <a:ext cx="1295640" cy="41148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1828800" y="4191120"/>
            <a:ext cx="3733920" cy="12189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part of the report represents all of the items used to compute student scores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ADA37-45DF-461E-BAC3-E4332945A593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5" dur="indefinite" restart="never" nodeType="tmRoot">
          <p:childTnLst>
            <p:seq>
              <p:cTn id="656" dur="indefinite" nodeType="mainSeq">
                <p:childTnLst>
                  <p:par>
                    <p:cTn id="657" fill="hold">
                      <p:stCondLst>
                        <p:cond delay="0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nodeType="after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1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2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3" fill="hold">
                            <p:stCondLst>
                              <p:cond delay="500"/>
                            </p:stCondLst>
                            <p:childTnLst>
                              <p:par>
                                <p:cTn id="664" nodeType="afterEffect" fill="hold" presetClass="entr" presetID="1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393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"/>
          <p:cNvGrpSpPr/>
          <p:nvPr/>
        </p:nvGrpSpPr>
        <p:grpSpPr>
          <a:xfrm>
            <a:off x="3581280" y="1143000"/>
            <a:ext cx="1905120" cy="5486400"/>
            <a:chOff x="3581280" y="1143000"/>
            <a:chExt cx="1905120" cy="5486400"/>
          </a:xfrm>
        </p:grpSpPr>
        <p:pic>
          <p:nvPicPr>
            <p:cNvPr id="399" name="" descr=""/>
            <p:cNvPicPr/>
            <p:nvPr/>
          </p:nvPicPr>
          <p:blipFill>
            <a:blip r:embed="rId1"/>
            <a:stretch/>
          </p:blipFill>
          <p:spPr>
            <a:xfrm>
              <a:off x="3657600" y="1143000"/>
              <a:ext cx="1766880" cy="548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0" name=""/>
            <p:cNvSpPr/>
            <p:nvPr/>
          </p:nvSpPr>
          <p:spPr>
            <a:xfrm>
              <a:off x="3581280" y="1143000"/>
              <a:ext cx="1905120" cy="548640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633AB4-6E69-4C58-8D7A-8E5755DBF8BE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7" dur="indefinite" restart="never" nodeType="tmRoot">
          <p:childTnLst>
            <p:seq>
              <p:cTn id="668" dur="indefinite" nodeType="mainSeq">
                <p:childTnLst>
                  <p:par>
                    <p:cTn id="669" fill="hold">
                      <p:stCondLst>
                        <p:cond delay="0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3"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02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6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408" name=""/>
          <p:cNvSpPr/>
          <p:nvPr/>
        </p:nvSpPr>
        <p:spPr>
          <a:xfrm>
            <a:off x="1752480" y="5791320"/>
            <a:ext cx="3886200" cy="6858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1828800" y="4191120"/>
            <a:ext cx="3733920" cy="12189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part of the report </a:t>
            </a:r>
            <a:r>
              <a:rPr b="1" lang="en-IN" sz="18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does not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represent all of the items used to compute student scores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F652D2-2559-4A73-A469-85228ED74F4B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4" dur="indefinite" restart="never" nodeType="tmRoot">
          <p:childTnLst>
            <p:seq>
              <p:cTn id="675" dur="indefinite" nodeType="mainSeq">
                <p:childTnLst>
                  <p:par>
                    <p:cTn id="676" fill="hold">
                      <p:stCondLst>
                        <p:cond delay="0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nodeType="after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0" dur="5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1" dur="5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500"/>
                            </p:stCondLst>
                            <p:childTnLst>
                              <p:par>
                                <p:cTn id="683" nodeType="afterEffect" fill="hold" presetClass="entr" presetID="1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1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5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6" name=""/>
          <p:cNvGrpSpPr/>
          <p:nvPr/>
        </p:nvGrpSpPr>
        <p:grpSpPr>
          <a:xfrm>
            <a:off x="125280" y="2209680"/>
            <a:ext cx="8866440" cy="1447920"/>
            <a:chOff x="125280" y="2209680"/>
            <a:chExt cx="8866440" cy="1447920"/>
          </a:xfrm>
        </p:grpSpPr>
        <p:pic>
          <p:nvPicPr>
            <p:cNvPr id="417" name="" descr=""/>
            <p:cNvPicPr/>
            <p:nvPr/>
          </p:nvPicPr>
          <p:blipFill>
            <a:blip r:embed="rId1"/>
            <a:stretch/>
          </p:blipFill>
          <p:spPr>
            <a:xfrm>
              <a:off x="201600" y="2268360"/>
              <a:ext cx="8656560" cy="1389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8" name=""/>
            <p:cNvSpPr/>
            <p:nvPr/>
          </p:nvSpPr>
          <p:spPr>
            <a:xfrm>
              <a:off x="125280" y="2209680"/>
              <a:ext cx="8866440" cy="144792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9" name=""/>
          <p:cNvSpPr/>
          <p:nvPr/>
        </p:nvSpPr>
        <p:spPr>
          <a:xfrm>
            <a:off x="2057400" y="4114800"/>
            <a:ext cx="3657600" cy="1905120"/>
          </a:xfrm>
          <a:prstGeom prst="rect">
            <a:avLst/>
          </a:prstGeom>
          <a:solidFill>
            <a:srgbClr val="8afd7b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This school scored 33 percent lower than the state on item 3 – that’s probably significant and certainly worth a closer look.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3657600" y="2057400"/>
            <a:ext cx="380880" cy="1752480"/>
          </a:xfrm>
          <a:prstGeom prst="rect">
            <a:avLst/>
          </a:prstGeom>
          <a:noFill/>
          <a:ln w="6984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2D: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our item-level performance compare to the district and state?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DEFDC-CB2B-425F-A09E-7BF8DDD332B0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6" dur="indefinite" restart="never" nodeType="tmRoot">
          <p:childTnLst>
            <p:seq>
              <p:cTn id="687" dur="indefinite" nodeType="mainSeq">
                <p:childTnLst>
                  <p:par>
                    <p:cTn id="688" fill="hold">
                      <p:stCondLst>
                        <p:cond delay="0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par>
                                <p:cTn id="69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2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3" fill="hold">
                            <p:stCondLst>
                              <p:cond delay="500"/>
                            </p:stCondLst>
                            <p:childTnLst>
                              <p:par>
                                <p:cTn id="694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6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7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8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9" dur="5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0" fill="hold">
                      <p:stCondLst>
                        <p:cond delay="indefinite"/>
                      </p:stCondLst>
                      <p:childTnLst>
                        <p:par>
                          <p:cTn id="701" fill="hold">
                            <p:stCondLst>
                              <p:cond delay="0"/>
                            </p:stCondLst>
                            <p:childTnLst>
                              <p:par>
                                <p:cTn id="702" nodeType="click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4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5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6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7" dur="50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8" fill="hold">
                            <p:stCondLst>
                              <p:cond delay="500"/>
                            </p:stCondLst>
                            <p:childTnLst>
                              <p:par>
                                <p:cTn id="70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1"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2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28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429" name=""/>
          <p:cNvSpPr/>
          <p:nvPr/>
        </p:nvSpPr>
        <p:spPr>
          <a:xfrm>
            <a:off x="3276720" y="2286000"/>
            <a:ext cx="172800" cy="4114800"/>
          </a:xfrm>
          <a:prstGeom prst="rect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3429000" y="327672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3429000" y="3505320"/>
            <a:ext cx="228600" cy="91800"/>
          </a:xfrm>
          <a:prstGeom prst="leftArrow">
            <a:avLst>
              <a:gd name="adj1" fmla="val 50000"/>
              <a:gd name="adj2" fmla="val 62255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720" bIns="-72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3429000" y="365760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3429000" y="374652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3429000" y="411480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3429000" y="419112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3429000" y="4267080"/>
            <a:ext cx="228600" cy="90720"/>
          </a:xfrm>
          <a:prstGeom prst="leftArrow">
            <a:avLst>
              <a:gd name="adj1" fmla="val 50000"/>
              <a:gd name="adj2" fmla="val 62996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3429000" y="457200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3429000" y="464832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3429000" y="480060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429000" y="502920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4038480" y="3505320"/>
            <a:ext cx="2210040" cy="1904760"/>
          </a:xfrm>
          <a:prstGeom prst="rect">
            <a:avLst/>
          </a:prstGeom>
          <a:solidFill>
            <a:srgbClr val="ff7979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Over 80% of the students who answered item 3 wrong chose option A.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429000" y="525780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3429000" y="533412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3429000" y="5638680"/>
            <a:ext cx="228600" cy="90720"/>
          </a:xfrm>
          <a:prstGeom prst="leftArrow">
            <a:avLst>
              <a:gd name="adj1" fmla="val 50000"/>
              <a:gd name="adj2" fmla="val 62996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2D: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our item-level performance compare to the district and state?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D2E171-F4E3-44A9-9F9A-98976B4AC5C2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2" dur="indefinite" restart="never" nodeType="tmRoot">
          <p:childTnLst>
            <p:seq>
              <p:cTn id="713" dur="indefinite" nodeType="mainSeq"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8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9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0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1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2" fill="hold">
                      <p:stCondLst>
                        <p:cond delay="indefinite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6" dur="1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7" dur="10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fill="hold">
                            <p:stCondLst>
                              <p:cond delay="100"/>
                            </p:stCondLst>
                            <p:childTnLst>
                              <p:par>
                                <p:cTn id="72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1" dur="1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2" dur="1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fill="hold">
                            <p:stCondLst>
                              <p:cond delay="200"/>
                            </p:stCondLst>
                            <p:childTnLst>
                              <p:par>
                                <p:cTn id="734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6" dur="1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7" dur="10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8" fill="hold">
                            <p:stCondLst>
                              <p:cond delay="300"/>
                            </p:stCondLst>
                            <p:childTnLst>
                              <p:par>
                                <p:cTn id="73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1" dur="1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2" dur="100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3" fill="hold">
                            <p:stCondLst>
                              <p:cond delay="400"/>
                            </p:stCondLst>
                            <p:childTnLst>
                              <p:par>
                                <p:cTn id="744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6" dur="1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7" dur="1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8" fill="hold">
                            <p:stCondLst>
                              <p:cond delay="500"/>
                            </p:stCondLst>
                            <p:childTnLst>
                              <p:par>
                                <p:cTn id="74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1" dur="1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2" dur="100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3" fill="hold">
                            <p:stCondLst>
                              <p:cond delay="600"/>
                            </p:stCondLst>
                            <p:childTnLst>
                              <p:par>
                                <p:cTn id="754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6" dur="1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7" dur="1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700"/>
                            </p:stCondLst>
                            <p:childTnLst>
                              <p:par>
                                <p:cTn id="75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1" dur="1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2" dur="100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3" fill="hold">
                            <p:stCondLst>
                              <p:cond delay="800"/>
                            </p:stCondLst>
                            <p:childTnLst>
                              <p:par>
                                <p:cTn id="764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6" dur="1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7" dur="1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8" fill="hold">
                            <p:stCondLst>
                              <p:cond delay="900"/>
                            </p:stCondLst>
                            <p:childTnLst>
                              <p:par>
                                <p:cTn id="76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1" dur="1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2" dur="10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74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6" dur="1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7" dur="100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8" fill="hold">
                            <p:stCondLst>
                              <p:cond delay="1100"/>
                            </p:stCondLst>
                            <p:childTnLst>
                              <p:par>
                                <p:cTn id="77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1" dur="1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2" dur="1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3" fill="hold">
                            <p:stCondLst>
                              <p:cond delay="1200"/>
                            </p:stCondLst>
                            <p:childTnLst>
                              <p:par>
                                <p:cTn id="784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6" dur="1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7" dur="1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1300"/>
                            </p:stCondLst>
                            <p:childTnLst>
                              <p:par>
                                <p:cTn id="78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1" dur="1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2" dur="1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3" fill="hold">
                            <p:stCondLst>
                              <p:cond delay="1400"/>
                            </p:stCondLst>
                            <p:childTnLst>
                              <p:par>
                                <p:cTn id="79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6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47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2" name=""/>
          <p:cNvGrpSpPr/>
          <p:nvPr/>
        </p:nvGrpSpPr>
        <p:grpSpPr>
          <a:xfrm>
            <a:off x="152280" y="2362320"/>
            <a:ext cx="8839440" cy="2514600"/>
            <a:chOff x="152280" y="2362320"/>
            <a:chExt cx="8839440" cy="2514600"/>
          </a:xfrm>
        </p:grpSpPr>
        <p:pic>
          <p:nvPicPr>
            <p:cNvPr id="453" name="" descr=""/>
            <p:cNvPicPr/>
            <p:nvPr/>
          </p:nvPicPr>
          <p:blipFill>
            <a:blip r:embed="rId1"/>
            <a:stretch/>
          </p:blipFill>
          <p:spPr>
            <a:xfrm>
              <a:off x="228600" y="2433600"/>
              <a:ext cx="8601120" cy="2367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4" name=""/>
            <p:cNvSpPr/>
            <p:nvPr/>
          </p:nvSpPr>
          <p:spPr>
            <a:xfrm>
              <a:off x="152280" y="2362320"/>
              <a:ext cx="8839440" cy="251460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5" name=""/>
          <p:cNvSpPr/>
          <p:nvPr/>
        </p:nvSpPr>
        <p:spPr>
          <a:xfrm>
            <a:off x="4419720" y="2590920"/>
            <a:ext cx="380880" cy="1904760"/>
          </a:xfrm>
          <a:prstGeom prst="rect">
            <a:avLst/>
          </a:prstGeom>
          <a:noFill/>
          <a:ln w="6984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2D: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our item-level performance compare to the district and state?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228600" y="1219320"/>
            <a:ext cx="4343400" cy="838080"/>
          </a:xfrm>
          <a:prstGeom prst="rect">
            <a:avLst/>
          </a:prstGeom>
          <a:solidFill>
            <a:srgbClr val="dea0fa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 we know about this item?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209680" y="5029200"/>
            <a:ext cx="4800600" cy="1143000"/>
          </a:xfrm>
          <a:prstGeom prst="rect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information will help us use the Released Items Support Materials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23CAA8-45D9-4F0D-9271-006A8EB1277C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7" dur="indefinite" restart="never" nodeType="tmRoot">
          <p:childTnLst>
            <p:seq>
              <p:cTn id="798" dur="indefinite" nodeType="mainSeq">
                <p:childTnLst>
                  <p:par>
                    <p:cTn id="799" fill="hold">
                      <p:stCondLst>
                        <p:cond delay="0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id="801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03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4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5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6" dur="500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7" fill="hold">
                            <p:stCondLst>
                              <p:cond delay="500"/>
                            </p:stCondLst>
                            <p:childTnLst>
                              <p:par>
                                <p:cTn id="808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0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1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2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3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4" fill="hold">
                            <p:stCondLst>
                              <p:cond delay="1000"/>
                            </p:stCondLst>
                            <p:childTnLst>
                              <p:par>
                                <p:cTn id="815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7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8" dur="100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19"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0" fill="hold">
                      <p:stCondLst>
                        <p:cond delay="indefinite"/>
                      </p:stCondLst>
                      <p:childTnLst>
                        <p:par>
                          <p:cTn id="821" fill="hold">
                            <p:stCondLst>
                              <p:cond delay="0"/>
                            </p:stCondLst>
                            <p:childTnLst>
                              <p:par>
                                <p:cTn id="82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4" dur="10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5" dur="10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26"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60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Released Items Documents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4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" descr=""/>
          <p:cNvPicPr/>
          <p:nvPr/>
        </p:nvPicPr>
        <p:blipFill>
          <a:blip r:embed="rId1"/>
          <a:stretch/>
        </p:blipFill>
        <p:spPr>
          <a:xfrm>
            <a:off x="4800600" y="1295280"/>
            <a:ext cx="3830760" cy="49514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466" name="" descr=""/>
          <p:cNvPicPr/>
          <p:nvPr/>
        </p:nvPicPr>
        <p:blipFill>
          <a:blip r:embed="rId2"/>
          <a:stretch/>
        </p:blipFill>
        <p:spPr>
          <a:xfrm>
            <a:off x="533520" y="1295280"/>
            <a:ext cx="3828960" cy="49532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F3EBE5-6D7A-4D1B-971C-70B789E0F204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7" dur="indefinite" restart="never" nodeType="tmRoot">
          <p:childTnLst>
            <p:seq>
              <p:cTn id="828" dur="indefinite" nodeType="mainSeq">
                <p:childTnLst>
                  <p:par>
                    <p:cTn id="829" fill="hold">
                      <p:stCondLst>
                        <p:cond delay="0"/>
                      </p:stCondLst>
                      <p:childTnLst>
                        <p:par>
                          <p:cTn id="830" fill="hold">
                            <p:stCondLst>
                              <p:cond delay="0"/>
                            </p:stCondLst>
                            <p:childTnLst>
                              <p:par>
                                <p:cTn id="831" nodeType="withEffect" fill="hold" presetClass="entr" presetID="2" presetSubtype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3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5" nodeType="with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7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8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533520" y="1219320"/>
            <a:ext cx="6400800" cy="5418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grpSp>
        <p:nvGrpSpPr>
          <p:cNvPr id="46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6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Using the Released Items Support Materials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3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 rot="5400000">
            <a:off x="6286320" y="1485720"/>
            <a:ext cx="1600200" cy="2286000"/>
          </a:xfrm>
          <a:prstGeom prst="wedgeRectCallout">
            <a:avLst>
              <a:gd name="adj1" fmla="val -54069"/>
              <a:gd name="adj2" fmla="val 95416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0" rIns="46800" tIns="90000" bIns="90000" anchor="t" anchorCtr="1" vert="eaVert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how the school’s curriculum and instructional practices address this GLE.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 rot="5400000">
            <a:off x="5257080" y="2438280"/>
            <a:ext cx="990720" cy="3886200"/>
          </a:xfrm>
          <a:prstGeom prst="wedgeRectCallout">
            <a:avLst>
              <a:gd name="adj1" fmla="val -57856"/>
              <a:gd name="adj2" fmla="val 71606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0" rIns="46800" tIns="90000" bIns="90000" anchor="t" anchorCtr="1" vert="eaVert" rot="10800000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why so many students might have incorrectly selected option A. 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62788C-37C4-412F-97DD-85F4FCAD7ABE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9" dur="indefinite" restart="never" nodeType="tmRoot">
          <p:childTnLst>
            <p:seq>
              <p:cTn id="840" dur="indefinite" nodeType="mainSeq">
                <p:childTnLst>
                  <p:par>
                    <p:cTn id="841" fill="hold">
                      <p:stCondLst>
                        <p:cond delay="indefinite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5"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6"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47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8" fill="hold">
                            <p:stCondLst>
                              <p:cond delay="1000"/>
                            </p:stCondLst>
                            <p:childTnLst>
                              <p:par>
                                <p:cTn id="849" nodeType="after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1" dur="10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2" dur="10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53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77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483" name=""/>
          <p:cNvSpPr/>
          <p:nvPr/>
        </p:nvSpPr>
        <p:spPr>
          <a:xfrm>
            <a:off x="5867280" y="2362320"/>
            <a:ext cx="1295640" cy="41148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does the Item Analysis Report tell us about sub-content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A73B50-F3F8-419A-8C16-0AD00A0BD487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4" dur="indefinite" restart="never" nodeType="tmRoot">
          <p:childTnLst>
            <p:seq>
              <p:cTn id="855" dur="indefinite" nodeType="mainSeq">
                <p:childTnLst>
                  <p:par>
                    <p:cTn id="856" fill="hold">
                      <p:stCondLst>
                        <p:cond delay="0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0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1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2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3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4" fill="hold">
                            <p:stCondLst>
                              <p:cond delay="500"/>
                            </p:stCondLst>
                            <p:childTnLst>
                              <p:par>
                                <p:cTn id="865" nodeType="afterEffect" fill="hold" presetClass="entr" presetID="2" presetSubtype="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7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8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86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0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1" name=""/>
          <p:cNvGrpSpPr/>
          <p:nvPr/>
        </p:nvGrpSpPr>
        <p:grpSpPr>
          <a:xfrm>
            <a:off x="3581280" y="1143000"/>
            <a:ext cx="1905120" cy="5486400"/>
            <a:chOff x="3581280" y="1143000"/>
            <a:chExt cx="1905120" cy="5486400"/>
          </a:xfrm>
        </p:grpSpPr>
        <p:pic>
          <p:nvPicPr>
            <p:cNvPr id="492" name="" descr=""/>
            <p:cNvPicPr/>
            <p:nvPr/>
          </p:nvPicPr>
          <p:blipFill>
            <a:blip r:embed="rId1"/>
            <a:stretch/>
          </p:blipFill>
          <p:spPr>
            <a:xfrm>
              <a:off x="3657600" y="1143000"/>
              <a:ext cx="1766880" cy="5486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93" name=""/>
            <p:cNvSpPr/>
            <p:nvPr/>
          </p:nvSpPr>
          <p:spPr>
            <a:xfrm>
              <a:off x="3581280" y="1143000"/>
              <a:ext cx="1905120" cy="5486400"/>
            </a:xfrm>
            <a:prstGeom prst="flowChartAlternateProcess">
              <a:avLst/>
            </a:prstGeom>
            <a:noFill/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4" name=""/>
          <p:cNvSpPr/>
          <p:nvPr/>
        </p:nvSpPr>
        <p:spPr>
          <a:xfrm>
            <a:off x="5867280" y="3124080"/>
            <a:ext cx="2362320" cy="2819520"/>
          </a:xfrm>
          <a:prstGeom prst="wedgeRectCallout">
            <a:avLst>
              <a:gd name="adj1" fmla="val -107592"/>
              <a:gd name="adj2" fmla="val 55009"/>
            </a:avLst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can see that this school performed better than the district or the state on the “Geometry and Measurement” items throughout the test.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does the Item Analysis Report tell us about sub-content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191120" y="1371600"/>
            <a:ext cx="304560" cy="5181480"/>
          </a:xfrm>
          <a:prstGeom prst="rect">
            <a:avLst/>
          </a:prstGeom>
          <a:solidFill>
            <a:srgbClr val="ffff0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7AB802-5D64-4F67-A4C6-9F30B9EB7111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9" dur="indefinite" restart="never" nodeType="tmRoot">
          <p:childTnLst>
            <p:seq>
              <p:cTn id="870" dur="indefinite" nodeType="mainSeq">
                <p:childTnLst>
                  <p:par>
                    <p:cTn id="871" fill="hold">
                      <p:stCondLst>
                        <p:cond delay="0"/>
                      </p:stCondLst>
                      <p:childTnLst>
                        <p:par>
                          <p:cTn id="872" fill="hold">
                            <p:stCondLst>
                              <p:cond delay="0"/>
                            </p:stCondLst>
                            <p:childTnLst>
                              <p:par>
                                <p:cTn id="87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5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7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9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0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1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82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7"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89" nodeType="after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91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2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3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4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8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499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03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504" name=""/>
          <p:cNvSpPr/>
          <p:nvPr/>
        </p:nvSpPr>
        <p:spPr>
          <a:xfrm>
            <a:off x="3819600" y="2286000"/>
            <a:ext cx="164880" cy="4114800"/>
          </a:xfrm>
          <a:prstGeom prst="rect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4687920" y="2286000"/>
            <a:ext cx="165240" cy="4114800"/>
          </a:xfrm>
          <a:prstGeom prst="rect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5045040" y="2286000"/>
            <a:ext cx="165240" cy="4114800"/>
          </a:xfrm>
          <a:prstGeom prst="rect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124080" y="3276720"/>
            <a:ext cx="2667240" cy="1904760"/>
          </a:xfrm>
          <a:prstGeom prst="rect">
            <a:avLst/>
          </a:prstGeom>
          <a:solidFill>
            <a:srgbClr val="ff7979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Items 6, 11, and 13 all focus on the “Geometry and Measurement” content strand.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 rot="18789600">
            <a:off x="3840840" y="2255400"/>
            <a:ext cx="433440" cy="190440"/>
          </a:xfrm>
          <a:prstGeom prst="leftArrow">
            <a:avLst>
              <a:gd name="adj1" fmla="val 50000"/>
              <a:gd name="adj2" fmla="val 56900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 rot="18789600">
            <a:off x="4755240" y="2255400"/>
            <a:ext cx="433440" cy="190440"/>
          </a:xfrm>
          <a:prstGeom prst="leftArrow">
            <a:avLst>
              <a:gd name="adj1" fmla="val 50000"/>
              <a:gd name="adj2" fmla="val 56900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 rot="18789600">
            <a:off x="5133600" y="2257200"/>
            <a:ext cx="441360" cy="193680"/>
          </a:xfrm>
          <a:prstGeom prst="leftArrow">
            <a:avLst>
              <a:gd name="adj1" fmla="val 50000"/>
              <a:gd name="adj2" fmla="val 56970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does the Item Analysis Report tell us about sub-content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1752480" y="5791320"/>
            <a:ext cx="3886200" cy="68580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8619D-5136-4393-94E3-64E07E0179B2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5" dur="indefinite" restart="never" nodeType="tmRoot">
          <p:childTnLst>
            <p:seq>
              <p:cTn id="896" dur="indefinite" nodeType="mainSeq"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01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2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3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04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5" fill="hold">
                      <p:stCondLst>
                        <p:cond delay="indefinite"/>
                      </p:stCondLst>
                      <p:childTnLst>
                        <p:par>
                          <p:cTn id="906" fill="hold">
                            <p:stCondLst>
                              <p:cond delay="0"/>
                            </p:stCondLst>
                            <p:childTnLst>
                              <p:par>
                                <p:cTn id="9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9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0" fill="hold">
                            <p:stCondLst>
                              <p:cond delay="500"/>
                            </p:stCondLst>
                            <p:childTnLst>
                              <p:par>
                                <p:cTn id="91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3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1000"/>
                            </p:stCondLst>
                            <p:childTnLst>
                              <p:par>
                                <p:cTn id="91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7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8" fill="hold">
                            <p:stCondLst>
                              <p:cond delay="1500"/>
                            </p:stCondLst>
                            <p:childTnLst>
                              <p:par>
                                <p:cTn id="919" nodeType="after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1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2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3" fill="hold">
                            <p:stCondLst>
                              <p:cond delay="2000"/>
                            </p:stCondLst>
                            <p:childTnLst>
                              <p:par>
                                <p:cTn id="924" nodeType="after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6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7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8" fill="hold">
                            <p:stCondLst>
                              <p:cond delay="2500"/>
                            </p:stCondLst>
                            <p:childTnLst>
                              <p:par>
                                <p:cTn id="929" nodeType="after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1" dur="5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2" dur="5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3" fill="hold">
                            <p:stCondLst>
                              <p:cond delay="3000"/>
                            </p:stCondLst>
                            <p:childTnLst>
                              <p:par>
                                <p:cTn id="93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6"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nodeType="click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1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2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14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8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9" name=""/>
          <p:cNvGrpSpPr/>
          <p:nvPr/>
        </p:nvGrpSpPr>
        <p:grpSpPr>
          <a:xfrm>
            <a:off x="125280" y="2286000"/>
            <a:ext cx="8866440" cy="1905120"/>
            <a:chOff x="125280" y="2286000"/>
            <a:chExt cx="8866440" cy="1905120"/>
          </a:xfrm>
        </p:grpSpPr>
        <p:grpSp>
          <p:nvGrpSpPr>
            <p:cNvPr id="520" name=""/>
            <p:cNvGrpSpPr/>
            <p:nvPr/>
          </p:nvGrpSpPr>
          <p:grpSpPr>
            <a:xfrm>
              <a:off x="125280" y="2514600"/>
              <a:ext cx="8866440" cy="1447920"/>
              <a:chOff x="125280" y="2514600"/>
              <a:chExt cx="8866440" cy="1447920"/>
            </a:xfrm>
          </p:grpSpPr>
          <p:pic>
            <p:nvPicPr>
              <p:cNvPr id="521" name="" descr=""/>
              <p:cNvPicPr/>
              <p:nvPr/>
            </p:nvPicPr>
            <p:blipFill>
              <a:blip r:embed="rId1"/>
              <a:stretch/>
            </p:blipFill>
            <p:spPr>
              <a:xfrm>
                <a:off x="201600" y="2573280"/>
                <a:ext cx="8656560" cy="13892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522" name=""/>
              <p:cNvSpPr/>
              <p:nvPr/>
            </p:nvSpPr>
            <p:spPr>
              <a:xfrm>
                <a:off x="125280" y="2514600"/>
                <a:ext cx="8866440" cy="1447920"/>
              </a:xfrm>
              <a:prstGeom prst="flowChartAlternateProcess">
                <a:avLst/>
              </a:prstGeom>
              <a:noFill/>
              <a:ln w="381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3" name=""/>
            <p:cNvSpPr/>
            <p:nvPr/>
          </p:nvSpPr>
          <p:spPr>
            <a:xfrm>
              <a:off x="4807080" y="2286000"/>
              <a:ext cx="380880" cy="1905120"/>
            </a:xfrm>
            <a:prstGeom prst="rect">
              <a:avLst/>
            </a:prstGeom>
            <a:noFill/>
            <a:ln w="69840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"/>
            <p:cNvSpPr/>
            <p:nvPr/>
          </p:nvSpPr>
          <p:spPr>
            <a:xfrm>
              <a:off x="7521480" y="2286000"/>
              <a:ext cx="381240" cy="1905120"/>
            </a:xfrm>
            <a:prstGeom prst="rect">
              <a:avLst/>
            </a:prstGeom>
            <a:noFill/>
            <a:ln w="69840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"/>
            <p:cNvSpPr/>
            <p:nvPr/>
          </p:nvSpPr>
          <p:spPr>
            <a:xfrm>
              <a:off x="6745320" y="2286000"/>
              <a:ext cx="380880" cy="1905120"/>
            </a:xfrm>
            <a:prstGeom prst="rect">
              <a:avLst/>
            </a:prstGeom>
            <a:noFill/>
            <a:ln w="69840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6" name=""/>
          <p:cNvSpPr/>
          <p:nvPr/>
        </p:nvSpPr>
        <p:spPr>
          <a:xfrm>
            <a:off x="4572000" y="4419720"/>
            <a:ext cx="3505320" cy="1600200"/>
          </a:xfrm>
          <a:prstGeom prst="rect">
            <a:avLst/>
          </a:prstGeom>
          <a:solidFill>
            <a:srgbClr val="8afd7b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This school scored higher than the district and the state on “Geometry and Measurement” items 6, 11, and 13.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2C: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does the Item Analysis Report tell us about sub-content areas?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70C99D-BCEC-4EEB-80AE-B11E95C692D2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3" dur="indefinite" restart="never" nodeType="tmRoot">
          <p:childTnLst>
            <p:seq>
              <p:cTn id="944" dur="indefinite" nodeType="mainSeq"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9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0" fill="hold">
                            <p:stCondLst>
                              <p:cond delay="500"/>
                            </p:stCondLst>
                            <p:childTnLst>
                              <p:par>
                                <p:cTn id="951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53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4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5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6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7" fill="hold">
                            <p:stCondLst>
                              <p:cond delay="1000"/>
                            </p:stCondLst>
                            <p:childTnLst>
                              <p:par>
                                <p:cTn id="95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0"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" descr=""/>
          <p:cNvPicPr/>
          <p:nvPr/>
        </p:nvPicPr>
        <p:blipFill>
          <a:blip r:embed="rId1"/>
          <a:stretch/>
        </p:blipFill>
        <p:spPr>
          <a:xfrm>
            <a:off x="380880" y="4100400"/>
            <a:ext cx="6354720" cy="25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529" name="" descr=""/>
          <p:cNvPicPr/>
          <p:nvPr/>
        </p:nvPicPr>
        <p:blipFill>
          <a:blip r:embed="rId2"/>
          <a:stretch/>
        </p:blipFill>
        <p:spPr>
          <a:xfrm>
            <a:off x="5070600" y="1143000"/>
            <a:ext cx="3616200" cy="41878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grpSp>
        <p:nvGrpSpPr>
          <p:cNvPr id="53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3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Using the Released Items Documents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5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" descr=""/>
          <p:cNvPicPr/>
          <p:nvPr/>
        </p:nvPicPr>
        <p:blipFill>
          <a:blip r:embed="rId3"/>
          <a:stretch/>
        </p:blipFill>
        <p:spPr>
          <a:xfrm>
            <a:off x="380880" y="1143000"/>
            <a:ext cx="4498920" cy="2770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537" name=""/>
          <p:cNvSpPr/>
          <p:nvPr/>
        </p:nvSpPr>
        <p:spPr>
          <a:xfrm>
            <a:off x="609480" y="2438280"/>
            <a:ext cx="4267440" cy="1295640"/>
          </a:xfrm>
          <a:prstGeom prst="rect">
            <a:avLst/>
          </a:prstGeom>
          <a:solidFill>
            <a:srgbClr val="ff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Consider why the students were more successful in answering questions related to the “Geometry and Measurement” content strand. 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5029200" y="2438280"/>
            <a:ext cx="3429000" cy="99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is different about the way “Geometry and Measurement” is taught? 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5029200" y="3581280"/>
            <a:ext cx="3429000" cy="1219320"/>
          </a:xfrm>
          <a:prstGeom prst="rect">
            <a:avLst/>
          </a:prstGeom>
          <a:solidFill>
            <a:srgbClr val="cc9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 this information apply to areas of mathematics where students are not doing as well?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609480" y="3886200"/>
            <a:ext cx="4267440" cy="914400"/>
          </a:xfrm>
          <a:prstGeom prst="rect">
            <a:avLst/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What curriculum and instructional practices might have contributed to this success?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7DC582-56F8-466A-886D-C769ACCBB6D0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61" dur="indefinite" restart="never" nodeType="tmRoot">
          <p:childTnLst>
            <p:seq>
              <p:cTn id="962" dur="indefinite" nodeType="mainSeq">
                <p:childTnLst>
                  <p:par>
                    <p:cTn id="963" fill="hold">
                      <p:stCondLst>
                        <p:cond delay="indefinite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7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8" fill="hold">
                      <p:stCondLst>
                        <p:cond delay="indefinite"/>
                      </p:stCondLst>
                      <p:childTnLst>
                        <p:par>
                          <p:cTn id="969" fill="hold">
                            <p:stCondLst>
                              <p:cond delay="0"/>
                            </p:stCondLst>
                            <p:childTnLst>
                              <p:par>
                                <p:cTn id="9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2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indefinite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7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8" fill="hold">
                      <p:stCondLst>
                        <p:cond delay="indefinite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2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2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43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47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548" name=""/>
          <p:cNvSpPr/>
          <p:nvPr/>
        </p:nvSpPr>
        <p:spPr>
          <a:xfrm>
            <a:off x="5402160" y="2286000"/>
            <a:ext cx="165240" cy="4114800"/>
          </a:xfrm>
          <a:prstGeom prst="rect">
            <a:avLst/>
          </a:prstGeom>
          <a:noFill/>
          <a:ln w="25560">
            <a:solidFill>
              <a:srgbClr val="00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6477120" y="1066680"/>
            <a:ext cx="2590560" cy="1067040"/>
          </a:xfrm>
          <a:prstGeom prst="foldedCorner">
            <a:avLst>
              <a:gd name="adj" fmla="val 12500"/>
            </a:avLst>
          </a:prstGeom>
          <a:solidFill>
            <a:srgbClr val="c9c9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2D: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our item-level performance compare to the district and state?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5553000" y="3495600"/>
            <a:ext cx="228600" cy="90720"/>
          </a:xfrm>
          <a:prstGeom prst="leftArrow">
            <a:avLst>
              <a:gd name="adj1" fmla="val 50000"/>
              <a:gd name="adj2" fmla="val 62996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5553000" y="3591000"/>
            <a:ext cx="228600" cy="92160"/>
          </a:xfrm>
          <a:prstGeom prst="leftArrow">
            <a:avLst>
              <a:gd name="adj1" fmla="val 50000"/>
              <a:gd name="adj2" fmla="val 62012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720" bIns="-72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5553000" y="377208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5543640" y="3917880"/>
            <a:ext cx="228600" cy="90720"/>
          </a:xfrm>
          <a:prstGeom prst="leftArrow">
            <a:avLst>
              <a:gd name="adj1" fmla="val 50000"/>
              <a:gd name="adj2" fmla="val 62996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5543640" y="401004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5543640" y="4390920"/>
            <a:ext cx="228600" cy="90720"/>
          </a:xfrm>
          <a:prstGeom prst="leftArrow">
            <a:avLst>
              <a:gd name="adj1" fmla="val 50000"/>
              <a:gd name="adj2" fmla="val 62996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5543640" y="454356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5543640" y="4819680"/>
            <a:ext cx="228600" cy="90360"/>
          </a:xfrm>
          <a:prstGeom prst="leftArrow">
            <a:avLst>
              <a:gd name="adj1" fmla="val 50000"/>
              <a:gd name="adj2" fmla="val 63247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5543640" y="5267160"/>
            <a:ext cx="228600" cy="90720"/>
          </a:xfrm>
          <a:prstGeom prst="leftArrow">
            <a:avLst>
              <a:gd name="adj1" fmla="val 50000"/>
              <a:gd name="adj2" fmla="val 62996"/>
            </a:avLst>
          </a:prstGeom>
          <a:solidFill>
            <a:srgbClr val="ff0000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1440" bIns="-144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6029280" y="3610080"/>
            <a:ext cx="2685960" cy="1619280"/>
          </a:xfrm>
          <a:prstGeom prst="rect">
            <a:avLst/>
          </a:prstGeom>
          <a:solidFill>
            <a:srgbClr val="ff7979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Over one-third of the students received only partial credit for answering item 15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452B64-C33D-4108-8C29-CB7F45D546A8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3" dur="indefinite" restart="never" nodeType="tmRoot">
          <p:childTnLst>
            <p:seq>
              <p:cTn id="984" dur="indefinite" nodeType="mainSeq">
                <p:childTnLst>
                  <p:par>
                    <p:cTn id="985" fill="hold">
                      <p:stCondLst>
                        <p:cond delay="0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9" dur="5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0" dur="5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1" dur="5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2" dur="5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3" fill="hold">
                      <p:stCondLst>
                        <p:cond delay="indefinite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7" dur="1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1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9" fill="hold">
                            <p:stCondLst>
                              <p:cond delay="100"/>
                            </p:stCondLst>
                            <p:childTnLst>
                              <p:par>
                                <p:cTn id="1000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2" dur="1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3" dur="1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200"/>
                            </p:stCondLst>
                            <p:childTnLst>
                              <p:par>
                                <p:cTn id="1005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100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8" dur="100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9" fill="hold">
                            <p:stCondLst>
                              <p:cond delay="300"/>
                            </p:stCondLst>
                            <p:childTnLst>
                              <p:par>
                                <p:cTn id="1010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2" dur="1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3" dur="1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400"/>
                            </p:stCondLst>
                            <p:childTnLst>
                              <p:par>
                                <p:cTn id="1015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7" dur="1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8" dur="1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9" fill="hold">
                            <p:stCondLst>
                              <p:cond delay="500"/>
                            </p:stCondLst>
                            <p:childTnLst>
                              <p:par>
                                <p:cTn id="1020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2" dur="1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3" dur="1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4" fill="hold">
                            <p:stCondLst>
                              <p:cond delay="600"/>
                            </p:stCondLst>
                            <p:childTnLst>
                              <p:par>
                                <p:cTn id="1025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7" dur="1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8" dur="1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9" fill="hold">
                            <p:stCondLst>
                              <p:cond delay="700"/>
                            </p:stCondLst>
                            <p:childTnLst>
                              <p:par>
                                <p:cTn id="1030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2" dur="1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3" dur="1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800"/>
                            </p:stCondLst>
                            <p:childTnLst>
                              <p:par>
                                <p:cTn id="1035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7" dur="1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1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fill="hold">
                            <p:stCondLst>
                              <p:cond delay="900"/>
                            </p:stCondLst>
                            <p:childTnLst>
                              <p:par>
                                <p:cTn id="104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2"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6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Using the Released Items Support Materials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5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6" name="" descr=""/>
          <p:cNvPicPr/>
          <p:nvPr/>
        </p:nvPicPr>
        <p:blipFill>
          <a:blip r:embed="rId1"/>
          <a:stretch/>
        </p:blipFill>
        <p:spPr>
          <a:xfrm>
            <a:off x="76320" y="1155600"/>
            <a:ext cx="6476760" cy="5461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pic>
        <p:nvPicPr>
          <p:cNvPr id="567" name="" descr=""/>
          <p:cNvPicPr/>
          <p:nvPr/>
        </p:nvPicPr>
        <p:blipFill>
          <a:blip r:embed="rId2"/>
          <a:stretch/>
        </p:blipFill>
        <p:spPr>
          <a:xfrm>
            <a:off x="3581280" y="1868400"/>
            <a:ext cx="5484960" cy="1341360"/>
          </a:xfrm>
          <a:prstGeom prst="rect">
            <a:avLst/>
          </a:prstGeom>
          <a:noFill/>
          <a:ln w="19080">
            <a:solidFill>
              <a:srgbClr val="ff0000"/>
            </a:solidFill>
            <a:miter/>
          </a:ln>
        </p:spPr>
      </p:pic>
      <p:pic>
        <p:nvPicPr>
          <p:cNvPr id="568" name="" descr=""/>
          <p:cNvPicPr/>
          <p:nvPr/>
        </p:nvPicPr>
        <p:blipFill>
          <a:blip r:embed="rId3"/>
          <a:stretch/>
        </p:blipFill>
        <p:spPr>
          <a:xfrm>
            <a:off x="3581280" y="4581360"/>
            <a:ext cx="5486400" cy="1133640"/>
          </a:xfrm>
          <a:prstGeom prst="rect">
            <a:avLst/>
          </a:prstGeom>
          <a:noFill/>
          <a:ln w="19080">
            <a:solidFill>
              <a:srgbClr val="ff0000"/>
            </a:solidFill>
            <a:miter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5835CD-4E3D-4333-8D25-CE91D2903E89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3" dur="indefinite" restart="never" nodeType="tmRoot">
          <p:childTnLst>
            <p:seq>
              <p:cTn id="1044" dur="indefinite" nodeType="mainSeq">
                <p:childTnLst>
                  <p:par>
                    <p:cTn id="1045" fill="hold">
                      <p:stCondLst>
                        <p:cond delay="indefinite"/>
                      </p:stCondLst>
                      <p:childTnLst>
                        <p:par>
                          <p:cTn id="1046" fill="hold">
                            <p:stCondLst>
                              <p:cond delay="0"/>
                            </p:stCondLst>
                            <p:childTnLst>
                              <p:par>
                                <p:cTn id="1047" nodeType="clickEffect" fill="hold" presetClass="entr" presetID="2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9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0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1" nodeType="withEffect" fill="hold" presetClass="entr" presetID="2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3" dur="50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4" dur="500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70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Three Essential Questions Handout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4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5" name="" descr=""/>
          <p:cNvPicPr/>
          <p:nvPr/>
        </p:nvPicPr>
        <p:blipFill>
          <a:blip r:embed="rId1"/>
          <a:stretch/>
        </p:blipFill>
        <p:spPr>
          <a:xfrm>
            <a:off x="838080" y="1014480"/>
            <a:ext cx="7467840" cy="57672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</p:pic>
      <p:sp>
        <p:nvSpPr>
          <p:cNvPr id="576" name=""/>
          <p:cNvSpPr/>
          <p:nvPr/>
        </p:nvSpPr>
        <p:spPr>
          <a:xfrm>
            <a:off x="914400" y="2209680"/>
            <a:ext cx="4754520" cy="3703680"/>
          </a:xfrm>
          <a:prstGeom prst="flowChartAlternateProcess">
            <a:avLst/>
          </a:prstGeom>
          <a:noFill/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6705720" y="1066680"/>
            <a:ext cx="2361960" cy="137160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1D: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do compared to what we would have predicted knowing our school’s students?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E677DD-8B92-4A72-BCF1-C771DE83831C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5" dur="indefinite" restart="never" nodeType="tmRoot">
          <p:childTnLst>
            <p:seq>
              <p:cTn id="1056" dur="indefinite" nodeType="mainSeq">
                <p:childTnLst>
                  <p:par>
                    <p:cTn id="1057" fill="hold">
                      <p:stCondLst>
                        <p:cond delay="0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61" dur="5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2" dur="5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3" dur="5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4" dur="5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6" nodeType="afterEffect" fill="hold" presetClass="entr" presetID="2" presetSubtype="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8" dur="5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9" dur="5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" descr=""/>
          <p:cNvPicPr/>
          <p:nvPr/>
        </p:nvPicPr>
        <p:blipFill>
          <a:blip r:embed="rId1"/>
          <a:stretch/>
        </p:blipFill>
        <p:spPr>
          <a:xfrm>
            <a:off x="1073160" y="1195560"/>
            <a:ext cx="6840360" cy="535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0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81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Looking at the Item Analysis Report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5" name=""/>
          <p:cNvSpPr/>
          <p:nvPr/>
        </p:nvSpPr>
        <p:spPr>
          <a:xfrm>
            <a:off x="1109520" y="5151600"/>
            <a:ext cx="6847200" cy="145800"/>
          </a:xfrm>
          <a:prstGeom prst="rect">
            <a:avLst/>
          </a:prstGeom>
          <a:noFill/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1109520" y="3687840"/>
            <a:ext cx="6848640" cy="145800"/>
          </a:xfrm>
          <a:prstGeom prst="rect">
            <a:avLst/>
          </a:prstGeom>
          <a:noFill/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1109520" y="4734000"/>
            <a:ext cx="6847200" cy="145800"/>
          </a:xfrm>
          <a:prstGeom prst="rect">
            <a:avLst/>
          </a:prstGeom>
          <a:noFill/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3933720" y="2187720"/>
            <a:ext cx="2559240" cy="4230720"/>
          </a:xfrm>
          <a:prstGeom prst="rect">
            <a:avLst/>
          </a:prstGeom>
          <a:solidFill>
            <a:srgbClr val="00800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6515280" y="2187720"/>
            <a:ext cx="1258560" cy="4230720"/>
          </a:xfrm>
          <a:prstGeom prst="rect">
            <a:avLst/>
          </a:prstGeom>
          <a:solidFill>
            <a:srgbClr val="ff000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946080" y="1127160"/>
            <a:ext cx="7177320" cy="5472000"/>
          </a:xfrm>
          <a:prstGeom prst="flowChartAlternateProcess">
            <a:avLst/>
          </a:prstGeom>
          <a:noFill/>
          <a:ln w="381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76320" y="1066680"/>
            <a:ext cx="2361960" cy="1371600"/>
          </a:xfrm>
          <a:prstGeom prst="foldedCorner">
            <a:avLst>
              <a:gd name="adj" fmla="val 12500"/>
            </a:avLst>
          </a:prstGeom>
          <a:solidFill>
            <a:srgbClr val="ffb7b7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1D: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How did we do compared to what we would have predicted knowing our school’s students?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81C73-C9CF-4F37-8A93-F508F3B53652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70" dur="indefinite" restart="never" nodeType="tmRoot">
          <p:childTnLst>
            <p:seq>
              <p:cTn id="1071" dur="indefinite" nodeType="mainSeq">
                <p:childTnLst>
                  <p:par>
                    <p:cTn id="1072" fill="hold">
                      <p:stCondLst>
                        <p:cond delay="0"/>
                      </p:stCondLst>
                      <p:childTnLst>
                        <p:par>
                          <p:cTn id="1073" fill="hold">
                            <p:stCondLst>
                              <p:cond delay="0"/>
                            </p:stCondLst>
                            <p:childTnLst>
                              <p:par>
                                <p:cTn id="1074" nodeType="afterEffect" fill="hold" presetClass="entr" presetID="23" presetSubtype="3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76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7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#ppt_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8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79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#ppt_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indefinite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4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5" fill="hold">
                            <p:stCondLst>
                              <p:cond delay="500"/>
                            </p:stCondLst>
                            <p:childTnLst>
                              <p:par>
                                <p:cTn id="108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8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2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3" fill="hold">
                      <p:stCondLst>
                        <p:cond delay="indefinite"/>
                      </p:stCondLst>
                      <p:childTnLst>
                        <p:par>
                          <p:cTn id="1094" fill="hold">
                            <p:stCondLst>
                              <p:cond delay="0"/>
                            </p:stCondLst>
                            <p:childTnLst>
                              <p:par>
                                <p:cTn id="10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7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8" fill="hold">
                      <p:stCondLst>
                        <p:cond delay="indefinite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2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2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593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Small Group Activity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7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457200" y="1424160"/>
            <a:ext cx="8153280" cy="32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 at least one of the three essential questions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Select your target audience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Begin to answer the question by examining your data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 key findings or conclusions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Begin to discuss strategies for improvement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 prepared to share your findings with the large group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0748C-A90E-4BB3-BE03-90E53BE47FB0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600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Supporting Materials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4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304920" y="1447920"/>
            <a:ext cx="8628120" cy="46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Guide to Using the 2007 NECAP Reports</a:t>
            </a: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Companion PowerPoint presentation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Three Essential Questions handout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Grade Level Expectations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 Specifications documents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Released Items documents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Preparing Students for NECAP: Tips for Teachers to Share with Students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3960" indent="-45396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Technical Report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1E26F0-3C5D-4A1F-A09F-23875B6F881C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6" name=""/>
          <p:cNvGrpSpPr/>
          <p:nvPr/>
        </p:nvGrpSpPr>
        <p:grpSpPr>
          <a:xfrm>
            <a:off x="0" y="0"/>
            <a:ext cx="9144000" cy="1066680"/>
            <a:chOff x="0" y="0"/>
            <a:chExt cx="9144000" cy="1066680"/>
          </a:xfrm>
        </p:grpSpPr>
        <p:sp>
          <p:nvSpPr>
            <p:cNvPr id="607" name=""/>
            <p:cNvSpPr/>
            <p:nvPr/>
          </p:nvSpPr>
          <p:spPr>
            <a:xfrm>
              <a:off x="685800" y="623880"/>
              <a:ext cx="8153280" cy="36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"/>
            <p:cNvSpPr/>
            <p:nvPr/>
          </p:nvSpPr>
          <p:spPr>
            <a:xfrm>
              <a:off x="0" y="0"/>
              <a:ext cx="9144000" cy="152280"/>
            </a:xfrm>
            <a:prstGeom prst="rect">
              <a:avLst/>
            </a:prstGeom>
            <a:solidFill>
              <a:srgbClr val="99cc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0" y="76320"/>
              <a:ext cx="9144000" cy="304560"/>
            </a:xfrm>
            <a:prstGeom prst="rect">
              <a:avLst/>
            </a:prstGeom>
            <a:solidFill>
              <a:srgbClr val="99cc00">
                <a:alpha val="6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0" y="380880"/>
              <a:ext cx="9144000" cy="685800"/>
            </a:xfrm>
            <a:prstGeom prst="rect">
              <a:avLst/>
            </a:prstGeom>
            <a:solidFill>
              <a:srgbClr val="99cc00">
                <a:alpha val="3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Conclusion</a:t>
              </a: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1" name=""/>
          <p:cNvSpPr/>
          <p:nvPr/>
        </p:nvSpPr>
        <p:spPr>
          <a:xfrm>
            <a:off x="0" y="6705720"/>
            <a:ext cx="9144000" cy="152280"/>
          </a:xfrm>
          <a:prstGeom prst="rect">
            <a:avLst/>
          </a:prstGeom>
          <a:solidFill>
            <a:srgbClr val="99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3336840" y="1827360"/>
            <a:ext cx="5654880" cy="27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“Not everything that can be counted counts, and not everything that counts can be counted.”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~ Albert Einstein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3" name="" descr=""/>
          <p:cNvPicPr/>
          <p:nvPr/>
        </p:nvPicPr>
        <p:blipFill>
          <a:blip r:embed="rId1"/>
          <a:stretch/>
        </p:blipFill>
        <p:spPr>
          <a:xfrm>
            <a:off x="193680" y="1447920"/>
            <a:ext cx="2838600" cy="353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A4379B-C004-434B-ACC5-451CBF6F2CEC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2008-01-23T12:21:19Z</dcterms:created>
  <dc:creator>jmevans</dc:creator>
  <dc:description/>
  <dc:language>en-IN</dc:language>
  <cp:lastModifiedBy>jmevans</cp:lastModifiedBy>
  <dcterms:modified xsi:type="dcterms:W3CDTF">2008-02-01T13:59:08Z</dcterms:modified>
  <cp:revision>127</cp:revision>
  <dc:subject/>
  <dc:title>Slide 1</dc:title>
</cp:coreProperties>
</file>