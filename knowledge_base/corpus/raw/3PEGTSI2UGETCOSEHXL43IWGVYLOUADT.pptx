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4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68580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6368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15"/>
          </p:nvPr>
        </p:nvSpPr>
        <p:spPr>
          <a:xfrm>
            <a:off x="3884400" y="0"/>
            <a:ext cx="2971800" cy="46368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4400" strike="noStrike" u="none">
                <a:solidFill>
                  <a:srgbClr val="2b4c73"/>
                </a:solidFill>
                <a:effectLst/>
                <a:uFillTx/>
                <a:latin typeface="Calibri"/>
              </a:rPr>
              <a:t>Click to move the slide</a:t>
            </a:r>
            <a:endParaRPr b="0" lang="en-IN" sz="4400" strike="noStrike" u="none">
              <a:solidFill>
                <a:srgbClr val="2b4c73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6"/>
          </p:nvPr>
        </p:nvSpPr>
        <p:spPr>
          <a:xfrm>
            <a:off x="-3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b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7"/>
          </p:nvPr>
        </p:nvSpPr>
        <p:spPr>
          <a:xfrm>
            <a:off x="388440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EC224F28-C9DC-40DD-BA15-179D4317BCE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3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8E80987F-B54D-474F-AC1F-6CF7C92168C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6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5E5407CD-E2B8-4C84-958C-E7076269A71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9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F3581F2C-541B-4E1E-A5E4-2BCDD62D1BF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2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E789F2E4-E222-455C-A2DA-77AEDEA2ED9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5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55DF722B-EE04-41BB-A9FE-0F7838D564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8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86B323F1-B993-43A2-B497-28688CE9AFC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1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B529C720-CE83-4BD9-A066-1EC80E4D598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4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53F53A48-ACAF-483C-9252-4C4FE5B76F1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7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BFF431C6-3D70-4717-889F-659E146A9D3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  <a:ea typeface="ＭＳ Ｐゴシック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0" name="Slide Number Placeholder 3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1DE40BEA-BC2A-413B-9023-16A102C3C17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Box 2"/>
          <p:cNvSpPr/>
          <p:nvPr/>
        </p:nvSpPr>
        <p:spPr>
          <a:xfrm>
            <a:off x="3884760" y="8688240"/>
            <a:ext cx="29718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800" rIns="91800" anchor="b">
            <a:noAutofit/>
          </a:bodyPr>
          <a:p>
            <a:pPr algn="r">
              <a:tabLst>
                <a:tab algn="l" pos="0"/>
                <a:tab algn="l" pos="419040"/>
                <a:tab algn="l" pos="843120"/>
                <a:tab algn="l" pos="1265400"/>
                <a:tab algn="l" pos="1690560"/>
                <a:tab algn="l" pos="2111400"/>
                <a:tab algn="l" pos="2533680"/>
                <a:tab algn="l" pos="2955960"/>
                <a:tab algn="l" pos="3378240"/>
                <a:tab algn="l" pos="3801960"/>
                <a:tab algn="l" pos="4226040"/>
                <a:tab algn="l" pos="4648320"/>
                <a:tab algn="l" pos="5070600"/>
                <a:tab algn="l" pos="5492880"/>
                <a:tab algn="l" pos="5916600"/>
                <a:tab algn="l" pos="6338880"/>
                <a:tab algn="l" pos="6759720"/>
                <a:tab algn="l" pos="7184880"/>
                <a:tab algn="l" pos="7605720"/>
                <a:tab algn="l" pos="8029440"/>
                <a:tab algn="l" pos="8453520"/>
                <a:tab algn="l" pos="8834400"/>
                <a:tab algn="l" pos="9255240"/>
                <a:tab algn="l" pos="9675720"/>
                <a:tab algn="l" pos="10096560"/>
                <a:tab algn="l" pos="10517040"/>
                <a:tab algn="l" pos="10937880"/>
              </a:tabLst>
            </a:pPr>
            <a:fld id="{1E423A63-048C-4232-BB2C-F59B7F7B802C}" type="slidenum"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Box 3"/>
          <p:cNvSpPr/>
          <p:nvPr/>
        </p:nvSpPr>
        <p:spPr>
          <a:xfrm>
            <a:off x="0" y="8688240"/>
            <a:ext cx="29718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800" rIns="91800" anchor="b">
            <a:noAutofit/>
          </a:bodyPr>
          <a:p>
            <a:pPr>
              <a:tabLst>
                <a:tab algn="l" pos="0"/>
                <a:tab algn="l" pos="419040"/>
                <a:tab algn="l" pos="843120"/>
                <a:tab algn="l" pos="1265400"/>
                <a:tab algn="l" pos="1690560"/>
                <a:tab algn="l" pos="2111400"/>
                <a:tab algn="l" pos="2533680"/>
                <a:tab algn="l" pos="2955960"/>
                <a:tab algn="l" pos="3378240"/>
                <a:tab algn="l" pos="3801960"/>
                <a:tab algn="l" pos="4226040"/>
                <a:tab algn="l" pos="4648320"/>
                <a:tab algn="l" pos="5070600"/>
                <a:tab algn="l" pos="5492880"/>
                <a:tab algn="l" pos="5916600"/>
                <a:tab algn="l" pos="6338880"/>
                <a:tab algn="l" pos="6759720"/>
                <a:tab algn="l" pos="7184880"/>
                <a:tab algn="l" pos="7605720"/>
                <a:tab algn="l" pos="8029440"/>
                <a:tab algn="l" pos="8453520"/>
                <a:tab algn="l" pos="8834400"/>
                <a:tab algn="l" pos="9255240"/>
                <a:tab algn="l" pos="9675720"/>
                <a:tab algn="l" pos="10096560"/>
                <a:tab algn="l" pos="10517040"/>
                <a:tab algn="l" pos="1093788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Box 4"/>
          <p:cNvSpPr/>
          <p:nvPr/>
        </p:nvSpPr>
        <p:spPr>
          <a:xfrm>
            <a:off x="0" y="0"/>
            <a:ext cx="29718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800" rIns="91800" anchor="t">
            <a:noAutofit/>
          </a:bodyPr>
          <a:p>
            <a:pPr>
              <a:tabLst>
                <a:tab algn="l" pos="0"/>
                <a:tab algn="l" pos="419040"/>
                <a:tab algn="l" pos="843120"/>
                <a:tab algn="l" pos="1265400"/>
                <a:tab algn="l" pos="1690560"/>
                <a:tab algn="l" pos="2111400"/>
                <a:tab algn="l" pos="2533680"/>
                <a:tab algn="l" pos="2955960"/>
                <a:tab algn="l" pos="3378240"/>
                <a:tab algn="l" pos="3801960"/>
                <a:tab algn="l" pos="4226040"/>
                <a:tab algn="l" pos="4648320"/>
                <a:tab algn="l" pos="5070600"/>
                <a:tab algn="l" pos="5492880"/>
                <a:tab algn="l" pos="5916600"/>
                <a:tab algn="l" pos="6338880"/>
                <a:tab algn="l" pos="6759720"/>
                <a:tab algn="l" pos="7184880"/>
                <a:tab algn="l" pos="7605720"/>
                <a:tab algn="l" pos="8029440"/>
                <a:tab algn="l" pos="8453520"/>
                <a:tab algn="l" pos="8834400"/>
                <a:tab algn="l" pos="9255240"/>
                <a:tab algn="l" pos="9675720"/>
                <a:tab algn="l" pos="10096560"/>
                <a:tab algn="l" pos="10517040"/>
                <a:tab algn="l" pos="1093788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Box 5"/>
          <p:cNvSpPr/>
          <p:nvPr/>
        </p:nvSpPr>
        <p:spPr>
          <a:xfrm>
            <a:off x="3884760" y="0"/>
            <a:ext cx="29718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800" rIns="91800" anchor="t">
            <a:noAutofit/>
          </a:bodyPr>
          <a:p>
            <a:pPr algn="r">
              <a:tabLst>
                <a:tab algn="l" pos="0"/>
                <a:tab algn="l" pos="419040"/>
                <a:tab algn="l" pos="843120"/>
                <a:tab algn="l" pos="1265400"/>
                <a:tab algn="l" pos="1690560"/>
                <a:tab algn="l" pos="2111400"/>
                <a:tab algn="l" pos="2533680"/>
                <a:tab algn="l" pos="2955960"/>
                <a:tab algn="l" pos="3378240"/>
                <a:tab algn="l" pos="3801960"/>
                <a:tab algn="l" pos="4226040"/>
                <a:tab algn="l" pos="4648320"/>
                <a:tab algn="l" pos="5070600"/>
                <a:tab algn="l" pos="5492880"/>
                <a:tab algn="l" pos="5916600"/>
                <a:tab algn="l" pos="6338880"/>
                <a:tab algn="l" pos="6759720"/>
                <a:tab algn="l" pos="7184880"/>
                <a:tab algn="l" pos="7605720"/>
                <a:tab algn="l" pos="8029440"/>
                <a:tab algn="l" pos="8453520"/>
                <a:tab algn="l" pos="8834400"/>
                <a:tab algn="l" pos="9255240"/>
                <a:tab algn="l" pos="9675720"/>
                <a:tab algn="l" pos="10096560"/>
                <a:tab algn="l" pos="10517040"/>
                <a:tab algn="l" pos="10937880"/>
              </a:tabLst>
            </a:pPr>
            <a:fld id="{912D3719-5A6A-4307-8AC2-78518D6CC79B}" type="datetime"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03/06/25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Box 6"/>
          <p:cNvSpPr/>
          <p:nvPr/>
        </p:nvSpPr>
        <p:spPr>
          <a:xfrm>
            <a:off x="939960" y="696960"/>
            <a:ext cx="497664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tabLst>
                <a:tab algn="l" pos="0"/>
                <a:tab algn="l" pos="444600"/>
                <a:tab algn="l" pos="888840"/>
                <a:tab algn="l" pos="1333440"/>
                <a:tab algn="l" pos="1778040"/>
                <a:tab algn="l" pos="2222640"/>
                <a:tab algn="l" pos="2666880"/>
                <a:tab algn="l" pos="3111480"/>
                <a:tab algn="l" pos="3556080"/>
                <a:tab algn="l" pos="4000680"/>
                <a:tab algn="l" pos="4444920"/>
                <a:tab algn="l" pos="4889520"/>
                <a:tab algn="l" pos="5334120"/>
                <a:tab algn="l" pos="5778360"/>
                <a:tab algn="l" pos="6222960"/>
                <a:tab algn="l" pos="6667560"/>
                <a:tab algn="l" pos="7112160"/>
                <a:tab algn="l" pos="7556400"/>
                <a:tab algn="l" pos="8001000"/>
                <a:tab algn="l" pos="8445600"/>
                <a:tab algn="l" pos="888984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body"/>
          </p:nvPr>
        </p:nvSpPr>
        <p:spPr>
          <a:xfrm>
            <a:off x="685440" y="4344840"/>
            <a:ext cx="5473800" cy="41040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ctr" anchorCtr="1">
            <a:noAutofit/>
          </a:bodyPr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宋体"/>
              </a:rPr>
              <a:t>Utilisation accrue des donnees depuis les annees 2000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宋体"/>
              </a:rPr>
              <a:t>En plus des sondeurs et imageurs (ATOVS, AIRS, SEVIRI, IASI), donnees de diffusiometres (vents a la surface de la mer) et GPS spatial.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宋体"/>
              </a:rPr>
              <a:t>Les nouvelles generations d’instruments (IASI) font augmenter considerablement le nombre de donnees observees utilisees.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宋体"/>
              </a:rPr>
              <a:t>Ici, seulement le nombre de points d’observations, pas le nombre de donnees, qui a encore plus augmente: 1.5 million par reseau, dont plus d’1 million pour les satellites.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7"/>
          <p:cNvSpPr/>
          <p:nvPr/>
        </p:nvSpPr>
        <p:spPr>
          <a:xfrm>
            <a:off x="3884760" y="8831160"/>
            <a:ext cx="29718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520" rIns="92520" tIns="46080" bIns="46080" anchor="b">
            <a:noAutofit/>
          </a:bodyPr>
          <a:p>
            <a:pPr algn="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3DC753CF-E60F-4808-A913-EF745392D27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110484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  <a:ea typeface="ＭＳ Ｐゴシック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0">
    <p:bg>
      <p:bgPr>
        <a:gradFill rotWithShape="0">
          <a:gsLst>
            <a:gs pos="0">
              <a:srgbClr val="ffffff"/>
            </a:gs>
            <a:gs pos="100000">
              <a:srgbClr val="d4deff"/>
            </a:gs>
          </a:gsLst>
          <a:lin ang="2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8464680" y="6503760"/>
            <a:ext cx="51912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4f81bd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622883-8664-4803-B97D-1E0C6CD42906}" type="slidenum">
              <a:rPr b="0" lang="en-US" sz="14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2187720" y="6497280"/>
            <a:ext cx="310824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10th Symposium on Environmental Satellites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1">
    <p:bg>
      <p:bgPr>
        <a:gradFill rotWithShape="0">
          <a:gsLst>
            <a:gs pos="0">
              <a:srgbClr val="ffffff"/>
            </a:gs>
            <a:gs pos="100000">
              <a:srgbClr val="d4deff"/>
            </a:gs>
          </a:gsLst>
          <a:lin ang="2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>
          <a:xfrm>
            <a:off x="8464680" y="6503760"/>
            <a:ext cx="51912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4f81bd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D03010-4B60-4BAE-974E-2C046648F239}" type="slidenum">
              <a:rPr b="0" lang="en-US" sz="14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>
          <a:xfrm>
            <a:off x="2187720" y="6497280"/>
            <a:ext cx="310824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4f81bd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10th Symposium on Environmental Satellites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3">
    <p:bg>
      <p:bgPr>
        <a:gradFill rotWithShape="0">
          <a:gsLst>
            <a:gs pos="0">
              <a:srgbClr val="ffffff"/>
            </a:gs>
            <a:gs pos="100000">
              <a:srgbClr val="d4deff"/>
            </a:gs>
          </a:gsLst>
          <a:lin ang="2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5"/>
          </p:nvPr>
        </p:nvSpPr>
        <p:spPr>
          <a:xfrm>
            <a:off x="8464680" y="6503760"/>
            <a:ext cx="51912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4f81bd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B8B51E-D3B1-4F8B-8742-9818C658252F}" type="slidenum">
              <a:rPr b="0" lang="en-US" sz="10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6"/>
          </p:nvPr>
        </p:nvSpPr>
        <p:spPr>
          <a:xfrm>
            <a:off x="2187720" y="6497280"/>
            <a:ext cx="310824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10th Symposium on Environmental Satellites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6">
    <p:bg>
      <p:bgPr>
        <a:gradFill rotWithShape="0">
          <a:gsLst>
            <a:gs pos="0">
              <a:srgbClr val="ffffff"/>
            </a:gs>
            <a:gs pos="100000">
              <a:srgbClr val="d4deff"/>
            </a:gs>
          </a:gsLst>
          <a:lin ang="2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7"/>
          </p:nvPr>
        </p:nvSpPr>
        <p:spPr>
          <a:xfrm>
            <a:off x="8464680" y="6503760"/>
            <a:ext cx="51912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4f81bd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DB6601-531D-4E3A-9E72-940CE6ACC195}" type="slidenum">
              <a:rPr b="0" lang="en-US" sz="10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8"/>
          </p:nvPr>
        </p:nvSpPr>
        <p:spPr>
          <a:xfrm>
            <a:off x="2187720" y="6497280"/>
            <a:ext cx="3108240" cy="2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10th Symposium on Environmental Satellites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8">
    <p:bg>
      <p:bgPr>
        <a:gradFill rotWithShape="0">
          <a:gsLst>
            <a:gs pos="0">
              <a:srgbClr val="ffffff"/>
            </a:gs>
            <a:gs pos="100000">
              <a:srgbClr val="d4deff"/>
            </a:gs>
          </a:gsLst>
          <a:lin ang="2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35"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cc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9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10"/>
          </p:nvPr>
        </p:nvSpPr>
        <p:spPr>
          <a:xfrm>
            <a:off x="2895480" y="6324480"/>
            <a:ext cx="33530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10th Symposium on Environmental Satellites</a:t>
            </a:r>
            <a:endParaRPr b="0" lang="en-IN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11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26C7E1-F57E-4779-BE2B-31C343D6939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&lt;number&gt;</a:t>
            </a:fld>
            <a:endParaRPr b="0" lang="en-IN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4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 descr=""/>
          <p:cNvPicPr/>
          <p:nvPr/>
        </p:nvPicPr>
        <p:blipFill>
          <a:blip r:embed="rId3"/>
          <a:srcRect l="5264" t="13014" r="8782" b="22065"/>
          <a:stretch/>
        </p:blipFill>
        <p:spPr>
          <a:xfrm>
            <a:off x="6588000" y="6264360"/>
            <a:ext cx="2340000" cy="47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42560" y="274680"/>
            <a:ext cx="7272360" cy="70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68360" y="1557360"/>
            <a:ext cx="8205840" cy="446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2"/>
          </p:nvPr>
        </p:nvSpPr>
        <p:spPr>
          <a:xfrm>
            <a:off x="466560" y="6245280"/>
            <a:ext cx="187200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3"/>
          </p:nvPr>
        </p:nvSpPr>
        <p:spPr>
          <a:xfrm>
            <a:off x="2771280" y="6245280"/>
            <a:ext cx="2590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 Unicode MS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 Unicode MS"/>
              </a:rPr>
              <a:t>10th Symposium on Environmental Satellites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4"/>
          </p:nvPr>
        </p:nvSpPr>
        <p:spPr>
          <a:xfrm>
            <a:off x="8748720" y="-360"/>
            <a:ext cx="393840" cy="36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软雅黑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5711B6-F7F2-4943-AC8C-93CE3AC33EA0}" type="slidenum"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软雅黑"/>
              </a:rPr>
              <a:t>&lt;number&gt;</a:t>
            </a:fld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Title 3" descr=""/>
          <p:cNvPicPr/>
          <p:nvPr/>
        </p:nvPicPr>
        <p:blipFill>
          <a:blip r:embed="rId1"/>
          <a:stretch/>
        </p:blipFill>
        <p:spPr>
          <a:xfrm>
            <a:off x="719280" y="738360"/>
            <a:ext cx="7772400" cy="16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/>
          </p:nvPr>
        </p:nvSpPr>
        <p:spPr>
          <a:xfrm>
            <a:off x="554040" y="2906280"/>
            <a:ext cx="8177040" cy="327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a7d87"/>
                </a:solidFill>
                <a:effectLst/>
                <a:uFillTx/>
                <a:latin typeface="Calibri"/>
              </a:rPr>
              <a:t>Lars Peter Riishojgaard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indent="0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WIGOS Project Manager, WMO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indent="0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Chair, OPAG-IOS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indent="0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WMO Commission for Basic Systems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indent="0"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</p:txBody>
      </p:sp>
      <p:sp>
        <p:nvSpPr>
          <p:cNvPr id="28" name="Footer Placeholder 5"/>
          <p:cNvSpPr/>
          <p:nvPr/>
        </p:nvSpPr>
        <p:spPr>
          <a:xfrm>
            <a:off x="1558800" y="6504120"/>
            <a:ext cx="44560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lide Number Placeholder 6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CBFE5C-AD1A-4EC8-820A-C00E41E86D5E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/>
          </p:nvPr>
        </p:nvSpPr>
        <p:spPr>
          <a:xfrm>
            <a:off x="617040" y="1371240"/>
            <a:ext cx="799812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6974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A quick look at money and weather forecasting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002060"/>
              </a:buClr>
              <a:buFont typeface="Calibri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Anecdotally: A tale of two hurricanes</a:t>
            </a:r>
            <a:endParaRPr b="0" lang="en-IN" sz="28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002060"/>
              </a:buClr>
              <a:buFont typeface="Calibri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Macroscopically: weather, weather forecasting and the US economy</a:t>
            </a:r>
            <a:endParaRPr b="0" lang="en-IN" sz="28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6974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Enabling capabilities for weather prediction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002060"/>
              </a:buClr>
              <a:buFont typeface="Calibri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Role of NWP and NWP diagnostics</a:t>
            </a:r>
            <a:endParaRPr b="0" lang="en-IN" sz="28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6974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Impact of satellite data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006974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A dollar value on observations?</a:t>
            </a: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IN" sz="3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</p:txBody>
      </p:sp>
      <p:pic>
        <p:nvPicPr>
          <p:cNvPr id="31" name="Rectangle 3" descr=""/>
          <p:cNvPicPr/>
          <p:nvPr/>
        </p:nvPicPr>
        <p:blipFill>
          <a:blip r:embed="rId1"/>
          <a:stretch/>
        </p:blipFill>
        <p:spPr>
          <a:xfrm>
            <a:off x="1566720" y="285840"/>
            <a:ext cx="6034320" cy="96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Line 4"/>
          <p:cNvSpPr/>
          <p:nvPr/>
        </p:nvSpPr>
        <p:spPr>
          <a:xfrm>
            <a:off x="762120" y="1219320"/>
            <a:ext cx="769608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5"/>
          <p:cNvSpPr/>
          <p:nvPr/>
        </p:nvSpPr>
        <p:spPr>
          <a:xfrm>
            <a:off x="4424400" y="1139760"/>
            <a:ext cx="3074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ooter Placeholder 1"/>
          <p:cNvSpPr/>
          <p:nvPr/>
        </p:nvSpPr>
        <p:spPr>
          <a:xfrm>
            <a:off x="1455840" y="6504120"/>
            <a:ext cx="47782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CB5F58-8ED6-4045-9388-EFE4E9B7AD12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/>
          </p:nvPr>
        </p:nvSpPr>
        <p:spPr>
          <a:xfrm>
            <a:off x="810720" y="1493640"/>
            <a:ext cx="7844040" cy="4803480"/>
          </a:xfrm>
          <a:prstGeom prst="rect">
            <a:avLst/>
          </a:prstGeom>
          <a:noFill/>
          <a:ln w="0">
            <a:noFill/>
          </a:ln>
        </p:spPr>
        <p:txBody>
          <a:bodyPr lIns="68760" rIns="68760" tIns="34200" bIns="34200" anchor="t">
            <a:normAutofit/>
          </a:bodyPr>
          <a:p>
            <a:pPr marL="257040" indent="-257040">
              <a:lnSpc>
                <a:spcPct val="90000"/>
              </a:lnSpc>
              <a:spcBef>
                <a:spcPts val="550"/>
              </a:spcBef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0" lang="en-US" sz="22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Galveston Hurricane</a:t>
            </a:r>
            <a:endParaRPr b="0" lang="en-IN" sz="2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Landfall in Texas at 5 PM 09/08/1900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&gt; $500M (2008 dollars) in property damage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~10,000 fatalities (out of a population of ~40,000)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80008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No satellite data, no upper air network, no NWP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80008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Estimated Category 4 at landfall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marL="257040" indent="-257040">
              <a:lnSpc>
                <a:spcPct val="90000"/>
              </a:lnSpc>
              <a:spcBef>
                <a:spcPts val="550"/>
              </a:spcBef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0" lang="en-US" sz="22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Katrina</a:t>
            </a:r>
            <a:endParaRPr b="0" lang="en-IN" sz="22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Landfall (2nd) in Louisiana at 6 AM 08/29 2005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&gt; $90B in property damage (2008 dollars)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&gt; 1800 fatalities (out of a population of  ~1.5M)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80008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Extensive satellite and conventional observations, good forecast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Bef>
                <a:spcPts val="550"/>
              </a:spcBef>
              <a:buClr>
                <a:srgbClr val="80008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200" strike="noStrike" u="none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Category 3 at Landfall</a:t>
            </a:r>
            <a:endParaRPr b="0" lang="en-IN" sz="22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</p:txBody>
      </p:sp>
      <p:pic>
        <p:nvPicPr>
          <p:cNvPr id="37" name="Rectangle 3" descr=""/>
          <p:cNvPicPr/>
          <p:nvPr/>
        </p:nvPicPr>
        <p:blipFill>
          <a:blip r:embed="rId1"/>
          <a:stretch/>
        </p:blipFill>
        <p:spPr>
          <a:xfrm>
            <a:off x="1573200" y="285840"/>
            <a:ext cx="5772240" cy="96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Line 4"/>
          <p:cNvSpPr/>
          <p:nvPr/>
        </p:nvSpPr>
        <p:spPr>
          <a:xfrm>
            <a:off x="1573200" y="1139760"/>
            <a:ext cx="577224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ooter Placeholder 1"/>
          <p:cNvSpPr/>
          <p:nvPr/>
        </p:nvSpPr>
        <p:spPr>
          <a:xfrm>
            <a:off x="1274760" y="6516720"/>
            <a:ext cx="49593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078F19-2B14-4908-B296-84ABE99A60D3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1480680" y="1545840"/>
            <a:ext cx="6658200" cy="356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endParaRPr b="0" lang="en-US" sz="2400" strike="noStrike" u="none">
              <a:solidFill>
                <a:srgbClr val="006974"/>
              </a:solidFill>
              <a:effectLst/>
              <a:uFillTx/>
              <a:latin typeface="Times New Roman"/>
              <a:ea typeface="Times New Roman"/>
            </a:endParaRPr>
          </a:p>
        </p:txBody>
      </p:sp>
      <p:pic>
        <p:nvPicPr>
          <p:cNvPr id="43" name="Rectangle 3" descr=""/>
          <p:cNvPicPr/>
          <p:nvPr/>
        </p:nvPicPr>
        <p:blipFill>
          <a:blip r:embed="rId1"/>
          <a:stretch/>
        </p:blipFill>
        <p:spPr>
          <a:xfrm>
            <a:off x="1755720" y="55440"/>
            <a:ext cx="5772240" cy="96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Line 4"/>
          <p:cNvSpPr/>
          <p:nvPr/>
        </p:nvSpPr>
        <p:spPr>
          <a:xfrm>
            <a:off x="1757520" y="806400"/>
            <a:ext cx="577188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4" descr="Katrina_5_day_track_08262008_5PM"/>
          <p:cNvPicPr/>
          <p:nvPr/>
        </p:nvPicPr>
        <p:blipFill>
          <a:blip r:embed="rId2"/>
          <a:stretch/>
        </p:blipFill>
        <p:spPr>
          <a:xfrm>
            <a:off x="1176480" y="922320"/>
            <a:ext cx="7127640" cy="57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Footer Placeholder 1"/>
          <p:cNvSpPr/>
          <p:nvPr/>
        </p:nvSpPr>
        <p:spPr>
          <a:xfrm>
            <a:off x="2165400" y="6642000"/>
            <a:ext cx="45878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13B69E-5BFF-4B41-8C92-AF1BFE6CD76A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/>
          </p:nvPr>
        </p:nvSpPr>
        <p:spPr>
          <a:xfrm>
            <a:off x="604800" y="1712520"/>
            <a:ext cx="7894800" cy="4591080"/>
          </a:xfrm>
          <a:prstGeom prst="rect">
            <a:avLst/>
          </a:prstGeom>
          <a:noFill/>
          <a:ln w="0">
            <a:noFill/>
          </a:ln>
        </p:spPr>
        <p:txBody>
          <a:bodyPr lIns="68760" rIns="68760" tIns="34200" bIns="34200" anchor="t">
            <a:normAutofit/>
          </a:bodyPr>
          <a:p>
            <a:pPr marL="257040" indent="-257040">
              <a:lnSpc>
                <a:spcPct val="90000"/>
              </a:lnSpc>
              <a:spcAft>
                <a:spcPts val="1199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Department of Commerce: </a:t>
            </a:r>
            <a:r>
              <a:rPr b="1" lang="ja-JP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“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20% of overall US economy is weather sensitive</a:t>
            </a:r>
            <a:r>
              <a:rPr b="1" lang="ja-JP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”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: </a:t>
            </a:r>
            <a:r>
              <a:rPr b="1" i="1" lang="en-US" sz="2400" strike="noStrike" u="none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~$3 trillion/year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Aft>
                <a:spcPts val="1199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1" lang="en-US" sz="24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Impact to air and surface transportation, agriculture, construction, energy production and distribution, etc.</a:t>
            </a:r>
            <a:endParaRPr b="0" lang="en-IN" sz="24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marL="257040" indent="-257040">
              <a:lnSpc>
                <a:spcPct val="90000"/>
              </a:lnSpc>
              <a:spcAft>
                <a:spcPts val="1199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Assume that </a:t>
            </a:r>
            <a:r>
              <a:rPr b="1" lang="en-US" sz="2400" strike="noStrike" u="sng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half of this is </a:t>
            </a:r>
            <a:r>
              <a:rPr b="1" lang="ja-JP" sz="2400" strike="noStrike" u="sng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“</a:t>
            </a:r>
            <a:r>
              <a:rPr b="1" lang="en-US" sz="2400" strike="noStrike" u="sng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forecast sensitive</a:t>
            </a:r>
            <a:r>
              <a:rPr b="1" lang="ja-JP" sz="2400" strike="noStrike" u="sng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”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: </a:t>
            </a:r>
            <a:r>
              <a:rPr b="1" i="1" lang="en-US" sz="2400" strike="noStrike" u="none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$1.5 trillion/year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marL="257040" indent="-257040">
              <a:lnSpc>
                <a:spcPct val="90000"/>
              </a:lnSpc>
              <a:spcAft>
                <a:spcPts val="1199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Assume that the </a:t>
            </a:r>
            <a:r>
              <a:rPr b="1" lang="en-US" sz="2400" strike="noStrike" u="sng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potential savings due to weather forecasting amount to 5% 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of the </a:t>
            </a:r>
            <a:r>
              <a:rPr b="1" lang="ja-JP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“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forecast sensitive total</a:t>
            </a:r>
            <a:r>
              <a:rPr b="1" lang="ja-JP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”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: </a:t>
            </a:r>
            <a:r>
              <a:rPr b="1" i="1" lang="en-US" sz="2400" strike="noStrike" u="sng">
                <a:solidFill>
                  <a:srgbClr val="800080"/>
                </a:solidFill>
                <a:effectLst/>
                <a:uFillTx/>
                <a:latin typeface="Arial"/>
                <a:ea typeface="ＭＳ Ｐゴシック"/>
              </a:rPr>
              <a:t>~$75B/year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marL="25704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</p:txBody>
      </p:sp>
      <p:pic>
        <p:nvPicPr>
          <p:cNvPr id="50" name="Rectangle 3" descr=""/>
          <p:cNvPicPr/>
          <p:nvPr/>
        </p:nvPicPr>
        <p:blipFill>
          <a:blip r:embed="rId1"/>
          <a:stretch/>
        </p:blipFill>
        <p:spPr>
          <a:xfrm>
            <a:off x="682560" y="225360"/>
            <a:ext cx="7742160" cy="151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Line 4"/>
          <p:cNvSpPr/>
          <p:nvPr/>
        </p:nvSpPr>
        <p:spPr>
          <a:xfrm>
            <a:off x="1573200" y="1552680"/>
            <a:ext cx="577224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ooter Placeholder 1"/>
          <p:cNvSpPr/>
          <p:nvPr/>
        </p:nvSpPr>
        <p:spPr>
          <a:xfrm>
            <a:off x="2187720" y="6207120"/>
            <a:ext cx="4535280" cy="5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CE481F-7F53-46FD-96B9-2532C359BE65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682560" y="1450800"/>
            <a:ext cx="7894800" cy="4564080"/>
          </a:xfrm>
          <a:prstGeom prst="rect">
            <a:avLst/>
          </a:prstGeom>
          <a:noFill/>
          <a:ln w="0">
            <a:noFill/>
          </a:ln>
        </p:spPr>
        <p:txBody>
          <a:bodyPr lIns="68760" rIns="68760" tIns="34200" bIns="34200" anchor="t">
            <a:normAutofit/>
          </a:bodyPr>
          <a:p>
            <a:pPr marL="257040" indent="-257040">
              <a:lnSpc>
                <a:spcPct val="100000"/>
              </a:lnSpc>
              <a:spcAft>
                <a:spcPts val="201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Assume that the </a:t>
            </a:r>
            <a:r>
              <a:rPr b="1" lang="en-US" sz="2400" strike="noStrike" u="sng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savings are distributed linearly over the achieved forecast range</a:t>
            </a: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 for the global NWP system: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100000"/>
              </a:lnSpc>
              <a:spcAft>
                <a:spcPts val="201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1" lang="en-US" sz="24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0 h useful forecast range =&gt; $0 in savings</a:t>
            </a:r>
            <a:endParaRPr b="0" lang="en-IN" sz="24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100000"/>
              </a:lnSpc>
              <a:spcAft>
                <a:spcPts val="201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1" lang="en-US" sz="24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336 h useful forecast (two weeks maximum predictability) range =&gt; $75B in savings</a:t>
            </a:r>
            <a:endParaRPr b="0" lang="en-IN" sz="24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0">
              <a:lnSpc>
                <a:spcPct val="100000"/>
              </a:lnSpc>
              <a:spcAft>
                <a:spcPts val="201"/>
              </a:spcAft>
              <a:buNone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endParaRPr b="0" lang="en-IN" sz="24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marL="257040" indent="-257040">
              <a:lnSpc>
                <a:spcPct val="100000"/>
              </a:lnSpc>
              <a:spcAft>
                <a:spcPts val="201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This implies that the value to the United States economy of weather observations, dissemination, forecast products and services is </a:t>
            </a:r>
            <a:r>
              <a:rPr b="1" i="1" lang="en-US" sz="2400" strike="noStrike" u="sng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&gt;200M per hour of forecast range per year</a:t>
            </a:r>
            <a:r>
              <a:rPr b="1" lang="en-US" sz="2400" strike="noStrike" u="sng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!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marL="25704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</p:txBody>
      </p:sp>
      <p:pic>
        <p:nvPicPr>
          <p:cNvPr id="56" name="Rectangle 3" descr=""/>
          <p:cNvPicPr/>
          <p:nvPr/>
        </p:nvPicPr>
        <p:blipFill>
          <a:blip r:embed="rId1"/>
          <a:stretch/>
        </p:blipFill>
        <p:spPr>
          <a:xfrm>
            <a:off x="1755720" y="249120"/>
            <a:ext cx="5772240" cy="96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Line 4"/>
          <p:cNvSpPr/>
          <p:nvPr/>
        </p:nvSpPr>
        <p:spPr>
          <a:xfrm>
            <a:off x="1757520" y="1154160"/>
            <a:ext cx="577188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Footer Placeholder 1"/>
          <p:cNvSpPr/>
          <p:nvPr/>
        </p:nvSpPr>
        <p:spPr>
          <a:xfrm>
            <a:off x="2187720" y="6276960"/>
            <a:ext cx="43797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96390B-1319-4FFE-BDFD-5908C3475E4C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682560" y="1563480"/>
            <a:ext cx="7894800" cy="4514760"/>
          </a:xfrm>
          <a:prstGeom prst="rect">
            <a:avLst/>
          </a:prstGeom>
          <a:noFill/>
          <a:ln w="0">
            <a:noFill/>
          </a:ln>
        </p:spPr>
        <p:txBody>
          <a:bodyPr lIns="68760" rIns="68760" tIns="34200" bIns="342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amount of $75B/year is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one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estimate of the magnitude of the </a:t>
            </a:r>
            <a:r>
              <a:rPr b="0" lang="en-US" sz="2400" strike="noStrike" u="sng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total potential socioeconomic benefit of weather prediction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activities to the US economy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Scaling exercise, using World Bank (2011) numbers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: </a:t>
            </a:r>
            <a:endParaRPr b="0" lang="en-IN" sz="20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0000"/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Annual GDP of United States: ~$15T</a:t>
            </a:r>
            <a:endParaRPr b="0" lang="en-IN" sz="1600" strike="noStrike" u="none">
              <a:solidFill>
                <a:srgbClr val="31859c"/>
              </a:solidFill>
              <a:effectLst/>
              <a:uFillTx/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0000"/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Annual GDP of all nations combined: ~$70T</a:t>
            </a:r>
            <a:endParaRPr b="0" lang="en-IN" sz="1600" strike="noStrike" u="none">
              <a:solidFill>
                <a:srgbClr val="31859c"/>
              </a:solidFill>
              <a:effectLst/>
              <a:uFillTx/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Assuming</a:t>
            </a:r>
            <a:r>
              <a:rPr b="0" i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on average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(i)</a:t>
            </a:r>
            <a:r>
              <a:rPr b="0" i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equal sensitivity to weather, and (ii) equal potential benefits from ability to predict across all nations, we get an estimated </a:t>
            </a:r>
            <a:endParaRPr b="0" lang="en-IN" sz="20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	</a:t>
            </a:r>
            <a:r>
              <a:rPr b="0" lang="en-US" sz="2000" strike="noStrike" u="none">
                <a:solidFill>
                  <a:srgbClr val="d50060"/>
                </a:solidFill>
                <a:effectLst/>
                <a:uFillTx/>
                <a:latin typeface="Arial"/>
                <a:ea typeface="ＭＳ Ｐゴシック"/>
              </a:rPr>
              <a:t>$75B *($15T/$70T) = </a:t>
            </a:r>
            <a:r>
              <a:rPr b="1" lang="en-US" sz="2000" strike="noStrike" u="sng">
                <a:solidFill>
                  <a:srgbClr val="d50060"/>
                </a:solidFill>
                <a:effectLst/>
                <a:uFillTx/>
                <a:latin typeface="Arial"/>
                <a:ea typeface="ＭＳ Ｐゴシック"/>
              </a:rPr>
              <a:t>$350B</a:t>
            </a:r>
            <a:r>
              <a:rPr b="1" lang="en-US" sz="2000" strike="noStrike" u="none">
                <a:solidFill>
                  <a:srgbClr val="020202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as the total global potential benefit of weather prediction activities (indicating a likely range of $100B to $1T</a:t>
            </a:r>
            <a:endParaRPr b="0" lang="en-IN" sz="20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</p:txBody>
      </p:sp>
      <p:pic>
        <p:nvPicPr>
          <p:cNvPr id="62" name="Rectangle 3" descr=""/>
          <p:cNvPicPr/>
          <p:nvPr/>
        </p:nvPicPr>
        <p:blipFill>
          <a:blip r:embed="rId1"/>
          <a:stretch/>
        </p:blipFill>
        <p:spPr>
          <a:xfrm>
            <a:off x="1755720" y="262080"/>
            <a:ext cx="5870520" cy="86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Line 4"/>
          <p:cNvSpPr/>
          <p:nvPr/>
        </p:nvSpPr>
        <p:spPr>
          <a:xfrm>
            <a:off x="1757520" y="1154160"/>
            <a:ext cx="577188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ooter Placeholder 1"/>
          <p:cNvSpPr/>
          <p:nvPr/>
        </p:nvSpPr>
        <p:spPr>
          <a:xfrm>
            <a:off x="2187720" y="6504120"/>
            <a:ext cx="44956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21BFEF-50E9-4F1A-8B72-6609F4ACFC37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2" descr=""/>
          <p:cNvPicPr/>
          <p:nvPr/>
        </p:nvPicPr>
        <p:blipFill>
          <a:blip r:embed="rId1"/>
          <a:stretch/>
        </p:blipFill>
        <p:spPr>
          <a:xfrm>
            <a:off x="579600" y="1847880"/>
            <a:ext cx="7997760" cy="299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Rectangle 3" descr=""/>
          <p:cNvPicPr/>
          <p:nvPr/>
        </p:nvPicPr>
        <p:blipFill>
          <a:blip r:embed="rId2"/>
          <a:stretch/>
        </p:blipFill>
        <p:spPr>
          <a:xfrm>
            <a:off x="682560" y="249120"/>
            <a:ext cx="7894800" cy="151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Line 4"/>
          <p:cNvSpPr/>
          <p:nvPr/>
        </p:nvSpPr>
        <p:spPr>
          <a:xfrm>
            <a:off x="1573200" y="1565280"/>
            <a:ext cx="577224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"/>
          <p:cNvSpPr/>
          <p:nvPr/>
        </p:nvSpPr>
        <p:spPr>
          <a:xfrm>
            <a:off x="1866960" y="4686480"/>
            <a:ext cx="63882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1, 2 and 3 are of a </a:t>
            </a:r>
            <a:r>
              <a:rPr b="0" i="1" lang="en-US" sz="2400" strike="noStrike" u="sng">
                <a:solidFill>
                  <a:srgbClr val="000000"/>
                </a:solidFill>
                <a:effectLst/>
                <a:uFillTx/>
                <a:latin typeface="Times New Roman"/>
              </a:rPr>
              <a:t>foundational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nature, with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 representing the single largest expenditure, and 3  providing a powerful diagnostics capability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ooter Placeholder 1"/>
          <p:cNvSpPr/>
          <p:nvPr/>
        </p:nvSpPr>
        <p:spPr>
          <a:xfrm>
            <a:off x="2187720" y="6362640"/>
            <a:ext cx="483048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C94322-01C9-402A-AE55-66F79ED02B42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76160" y="21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ffff"/>
                </a:solidFill>
                <a:effectLst/>
                <a:uFillTx/>
                <a:latin typeface="Arial"/>
              </a:rPr>
              <a:t>NWP requirements for upper-air data coverage </a:t>
            </a:r>
            <a:endParaRPr b="0" lang="en-IN" sz="4400" strike="noStrike" u="none">
              <a:solidFill>
                <a:srgbClr val="cc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1027" descr=""/>
          <p:cNvPicPr/>
          <p:nvPr/>
        </p:nvPicPr>
        <p:blipFill>
          <a:blip r:embed="rId1"/>
          <a:stretch/>
        </p:blipFill>
        <p:spPr>
          <a:xfrm>
            <a:off x="1254240" y="1981080"/>
            <a:ext cx="6634080" cy="41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6"/>
          <p:cNvSpPr/>
          <p:nvPr/>
        </p:nvSpPr>
        <p:spPr>
          <a:xfrm>
            <a:off x="5232240" y="1473120"/>
            <a:ext cx="3657600" cy="1008720"/>
          </a:xfrm>
          <a:prstGeom prst="rect">
            <a:avLst/>
          </a:prstGeom>
          <a:solidFill>
            <a:srgbClr val="ccffcc"/>
          </a:solidFill>
          <a:ln w="25560">
            <a:solidFill>
              <a:srgbClr val="0077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20202"/>
                </a:solidFill>
                <a:effectLst/>
                <a:uFillTx/>
                <a:latin typeface="Arial"/>
                <a:ea typeface="ＭＳ Ｐゴシック"/>
              </a:rPr>
              <a:t>Hence the need for a </a:t>
            </a:r>
            <a:r>
              <a:rPr b="0" lang="en-US" sz="2000" strike="noStrike" u="sng">
                <a:solidFill>
                  <a:srgbClr val="020202"/>
                </a:solidFill>
                <a:effectLst/>
                <a:uFillTx/>
                <a:latin typeface="Arial"/>
                <a:ea typeface="ＭＳ Ｐゴシック"/>
              </a:rPr>
              <a:t>global</a:t>
            </a:r>
            <a:r>
              <a:rPr b="0" lang="en-US" sz="2000" strike="noStrike" u="none">
                <a:solidFill>
                  <a:srgbClr val="020202"/>
                </a:solidFill>
                <a:effectLst/>
                <a:uFillTx/>
                <a:latin typeface="Arial"/>
                <a:ea typeface="ＭＳ Ｐゴシック"/>
              </a:rPr>
              <a:t> observing system, irrespective of target location of forecast!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ooter Placeholder 2"/>
          <p:cNvSpPr/>
          <p:nvPr/>
        </p:nvSpPr>
        <p:spPr>
          <a:xfrm>
            <a:off x="2895480" y="6324480"/>
            <a:ext cx="33530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10th Symposium on Environmental Satellites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lide Number Placeholder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9D28A6-0843-41EE-A986-08EB3CC97E67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/>
          </p:nvPr>
        </p:nvSpPr>
        <p:spPr>
          <a:xfrm>
            <a:off x="682560" y="1563840"/>
            <a:ext cx="7894800" cy="3543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endParaRPr b="0" lang="en-US" sz="2400" strike="noStrike" u="none">
              <a:solidFill>
                <a:srgbClr val="00697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2338200" y="339480"/>
            <a:ext cx="4524120" cy="5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buNone/>
              <a:tabLst>
                <a:tab algn="l" pos="0"/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endParaRPr b="0" lang="en-US" sz="3200" strike="noStrike" u="none">
              <a:solidFill>
                <a:srgbClr val="00206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1" name="Line 4"/>
          <p:cNvSpPr/>
          <p:nvPr/>
        </p:nvSpPr>
        <p:spPr>
          <a:xfrm>
            <a:off x="1757520" y="1154160"/>
            <a:ext cx="5771880" cy="0"/>
          </a:xfrm>
          <a:prstGeom prst="line">
            <a:avLst/>
          </a:prstGeom>
          <a:ln w="572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4461480" y="1712880"/>
            <a:ext cx="276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5" descr="AMSUA 07252012.gif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Footer Placeholder 1"/>
          <p:cNvSpPr/>
          <p:nvPr/>
        </p:nvSpPr>
        <p:spPr>
          <a:xfrm>
            <a:off x="2187720" y="6545160"/>
            <a:ext cx="42256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851D4C-ADD2-42E4-B2EC-29C0B3A799A6}" type="slidenum">
              <a:rPr b="0" lang="en-US" sz="10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2" descr="C:\Users\Patrick\Desktop\File_Sedona\evol_obs_mens_util_oper.png"/>
          <p:cNvPicPr/>
          <p:nvPr/>
        </p:nvPicPr>
        <p:blipFill>
          <a:blip r:embed="rId1"/>
          <a:srcRect l="2739" t="6645" r="0" b="0"/>
          <a:stretch/>
        </p:blipFill>
        <p:spPr>
          <a:xfrm>
            <a:off x="0" y="1096920"/>
            <a:ext cx="8964720" cy="564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Line 3"/>
          <p:cNvSpPr/>
          <p:nvPr/>
        </p:nvSpPr>
        <p:spPr>
          <a:xfrm>
            <a:off x="6732720" y="1803240"/>
            <a:ext cx="1295280" cy="256572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Line 4"/>
          <p:cNvSpPr/>
          <p:nvPr/>
        </p:nvSpPr>
        <p:spPr>
          <a:xfrm>
            <a:off x="4978440" y="3716280"/>
            <a:ext cx="961920" cy="93672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Line 5"/>
          <p:cNvSpPr/>
          <p:nvPr/>
        </p:nvSpPr>
        <p:spPr>
          <a:xfrm>
            <a:off x="1403280" y="4826160"/>
            <a:ext cx="303120" cy="40608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6"/>
          <p:cNvSpPr/>
          <p:nvPr/>
        </p:nvSpPr>
        <p:spPr>
          <a:xfrm flipH="1">
            <a:off x="5795640" y="1319040"/>
            <a:ext cx="28440" cy="4464360"/>
          </a:xfrm>
          <a:prstGeom prst="line">
            <a:avLst/>
          </a:prstGeom>
          <a:ln w="36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Line 7"/>
          <p:cNvSpPr/>
          <p:nvPr/>
        </p:nvSpPr>
        <p:spPr>
          <a:xfrm>
            <a:off x="4284720" y="1346040"/>
            <a:ext cx="1440" cy="4434120"/>
          </a:xfrm>
          <a:prstGeom prst="line">
            <a:avLst/>
          </a:prstGeom>
          <a:ln w="36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611280" y="4368960"/>
            <a:ext cx="1066680" cy="457200"/>
          </a:xfrm>
          <a:prstGeom prst="rect">
            <a:avLst/>
          </a:prstGeom>
          <a:solidFill>
            <a:srgbClr val="0000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Box 9"/>
          <p:cNvSpPr/>
          <p:nvPr/>
        </p:nvSpPr>
        <p:spPr>
          <a:xfrm>
            <a:off x="684360" y="4419720"/>
            <a:ext cx="1035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ATOVS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Line 13"/>
          <p:cNvSpPr/>
          <p:nvPr/>
        </p:nvSpPr>
        <p:spPr>
          <a:xfrm>
            <a:off x="5003640" y="1301760"/>
            <a:ext cx="1800" cy="4479840"/>
          </a:xfrm>
          <a:prstGeom prst="line">
            <a:avLst/>
          </a:prstGeom>
          <a:ln w="36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" name="Groupe 3"/>
          <p:cNvGrpSpPr/>
          <p:nvPr/>
        </p:nvGrpSpPr>
        <p:grpSpPr>
          <a:xfrm>
            <a:off x="3924360" y="3284640"/>
            <a:ext cx="1141200" cy="457200"/>
            <a:chOff x="3924360" y="3284640"/>
            <a:chExt cx="1141200" cy="457200"/>
          </a:xfrm>
        </p:grpSpPr>
        <p:sp>
          <p:nvSpPr>
            <p:cNvPr id="96" name="Rectangle 10"/>
            <p:cNvSpPr/>
            <p:nvPr/>
          </p:nvSpPr>
          <p:spPr>
            <a:xfrm>
              <a:off x="3924360" y="3284640"/>
              <a:ext cx="1067040" cy="457200"/>
            </a:xfrm>
            <a:prstGeom prst="rect">
              <a:avLst/>
            </a:prstGeom>
            <a:solidFill>
              <a:srgbClr val="ff00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Text Box 11"/>
            <p:cNvSpPr/>
            <p:nvPr/>
          </p:nvSpPr>
          <p:spPr>
            <a:xfrm>
              <a:off x="4106520" y="3329640"/>
              <a:ext cx="959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AIRS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Line 15"/>
          <p:cNvSpPr/>
          <p:nvPr/>
        </p:nvSpPr>
        <p:spPr>
          <a:xfrm>
            <a:off x="6558120" y="2884320"/>
            <a:ext cx="1038240" cy="205740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Line 16"/>
          <p:cNvSpPr/>
          <p:nvPr/>
        </p:nvSpPr>
        <p:spPr>
          <a:xfrm>
            <a:off x="2700360" y="1330200"/>
            <a:ext cx="31680" cy="4507200"/>
          </a:xfrm>
          <a:prstGeom prst="line">
            <a:avLst/>
          </a:prstGeom>
          <a:ln w="36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Groupe 2"/>
          <p:cNvGrpSpPr/>
          <p:nvPr/>
        </p:nvGrpSpPr>
        <p:grpSpPr>
          <a:xfrm>
            <a:off x="1763640" y="4076640"/>
            <a:ext cx="1187640" cy="457200"/>
            <a:chOff x="1763640" y="4076640"/>
            <a:chExt cx="1187640" cy="457200"/>
          </a:xfrm>
        </p:grpSpPr>
        <p:sp>
          <p:nvSpPr>
            <p:cNvPr id="101" name="Rectangle 19"/>
            <p:cNvSpPr/>
            <p:nvPr/>
          </p:nvSpPr>
          <p:spPr>
            <a:xfrm>
              <a:off x="1763640" y="4076640"/>
              <a:ext cx="1067040" cy="457200"/>
            </a:xfrm>
            <a:prstGeom prst="rect">
              <a:avLst/>
            </a:prstGeom>
            <a:solidFill>
              <a:srgbClr val="80808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 Box 20"/>
            <p:cNvSpPr/>
            <p:nvPr/>
          </p:nvSpPr>
          <p:spPr>
            <a:xfrm>
              <a:off x="1915920" y="4121640"/>
              <a:ext cx="1035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1" lang="fr-FR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ＭＳ Ｐゴシック"/>
                </a:rPr>
                <a:t>SCAT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Line 21"/>
          <p:cNvSpPr/>
          <p:nvPr/>
        </p:nvSpPr>
        <p:spPr>
          <a:xfrm>
            <a:off x="2340000" y="4533840"/>
            <a:ext cx="414360" cy="71604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Groupe 6"/>
          <p:cNvGrpSpPr/>
          <p:nvPr/>
        </p:nvGrpSpPr>
        <p:grpSpPr>
          <a:xfrm>
            <a:off x="5952960" y="1346040"/>
            <a:ext cx="1175040" cy="457200"/>
            <a:chOff x="5952960" y="1346040"/>
            <a:chExt cx="1175040" cy="457200"/>
          </a:xfrm>
        </p:grpSpPr>
        <p:sp>
          <p:nvSpPr>
            <p:cNvPr id="105" name="Rectangle 17"/>
            <p:cNvSpPr/>
            <p:nvPr/>
          </p:nvSpPr>
          <p:spPr>
            <a:xfrm>
              <a:off x="5952960" y="1346040"/>
              <a:ext cx="1066320" cy="457200"/>
            </a:xfrm>
            <a:prstGeom prst="rect">
              <a:avLst/>
            </a:prstGeom>
            <a:solidFill>
              <a:srgbClr val="cc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Text Box 18"/>
            <p:cNvSpPr/>
            <p:nvPr/>
          </p:nvSpPr>
          <p:spPr>
            <a:xfrm>
              <a:off x="6169680" y="1409400"/>
              <a:ext cx="958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IASI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Rectangle 22"/>
          <p:cNvSpPr/>
          <p:nvPr/>
        </p:nvSpPr>
        <p:spPr>
          <a:xfrm>
            <a:off x="228600" y="5521320"/>
            <a:ext cx="8915400" cy="587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Box 23"/>
          <p:cNvSpPr/>
          <p:nvPr/>
        </p:nvSpPr>
        <p:spPr>
          <a:xfrm>
            <a:off x="642960" y="5554800"/>
            <a:ext cx="689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  <a:tab algn="l" pos="8985240"/>
                <a:tab algn="l" pos="9434520"/>
                <a:tab algn="l" pos="9883800"/>
                <a:tab algn="l" pos="10333080"/>
                <a:tab algn="l" pos="1078236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2002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Box 24"/>
          <p:cNvSpPr/>
          <p:nvPr/>
        </p:nvSpPr>
        <p:spPr>
          <a:xfrm>
            <a:off x="2268360" y="5529240"/>
            <a:ext cx="723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2004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Box 25"/>
          <p:cNvSpPr/>
          <p:nvPr/>
        </p:nvSpPr>
        <p:spPr>
          <a:xfrm>
            <a:off x="3924360" y="5533920"/>
            <a:ext cx="798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2006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Box 26"/>
          <p:cNvSpPr/>
          <p:nvPr/>
        </p:nvSpPr>
        <p:spPr>
          <a:xfrm>
            <a:off x="4727520" y="5514840"/>
            <a:ext cx="708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2007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Box 27"/>
          <p:cNvSpPr/>
          <p:nvPr/>
        </p:nvSpPr>
        <p:spPr>
          <a:xfrm>
            <a:off x="5580000" y="5529240"/>
            <a:ext cx="722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2008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roupe 4"/>
          <p:cNvGrpSpPr/>
          <p:nvPr/>
        </p:nvGrpSpPr>
        <p:grpSpPr>
          <a:xfrm>
            <a:off x="5181480" y="3048120"/>
            <a:ext cx="1123920" cy="457200"/>
            <a:chOff x="5181480" y="3048120"/>
            <a:chExt cx="1123920" cy="457200"/>
          </a:xfrm>
        </p:grpSpPr>
        <p:sp>
          <p:nvSpPr>
            <p:cNvPr id="114" name="Rectangle 28"/>
            <p:cNvSpPr/>
            <p:nvPr/>
          </p:nvSpPr>
          <p:spPr>
            <a:xfrm>
              <a:off x="5181480" y="3048120"/>
              <a:ext cx="1067040" cy="457200"/>
            </a:xfrm>
            <a:prstGeom prst="rect">
              <a:avLst/>
            </a:prstGeom>
            <a:solidFill>
              <a:srgbClr val="9900cc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 Box 29"/>
            <p:cNvSpPr/>
            <p:nvPr/>
          </p:nvSpPr>
          <p:spPr>
            <a:xfrm>
              <a:off x="5194080" y="3111480"/>
              <a:ext cx="1111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1" lang="fr-FR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ＭＳ Ｐゴシック"/>
                </a:rPr>
                <a:t>GPS-RO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6" name="Groupe 5"/>
          <p:cNvGrpSpPr/>
          <p:nvPr/>
        </p:nvGrpSpPr>
        <p:grpSpPr>
          <a:xfrm>
            <a:off x="5867280" y="2438280"/>
            <a:ext cx="1067040" cy="457200"/>
            <a:chOff x="5867280" y="2438280"/>
            <a:chExt cx="1067040" cy="457200"/>
          </a:xfrm>
        </p:grpSpPr>
        <p:sp>
          <p:nvSpPr>
            <p:cNvPr id="117" name="Rectangle 14"/>
            <p:cNvSpPr/>
            <p:nvPr/>
          </p:nvSpPr>
          <p:spPr>
            <a:xfrm>
              <a:off x="5867280" y="2438280"/>
              <a:ext cx="1067040" cy="457200"/>
            </a:xfrm>
            <a:prstGeom prst="rect">
              <a:avLst/>
            </a:prstGeom>
            <a:solidFill>
              <a:srgbClr val="00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Text Box 30"/>
            <p:cNvSpPr/>
            <p:nvPr/>
          </p:nvSpPr>
          <p:spPr>
            <a:xfrm>
              <a:off x="5943240" y="2485800"/>
              <a:ext cx="9590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449280"/>
                  <a:tab algn="l" pos="898560"/>
                  <a:tab algn="l" pos="1347840"/>
                  <a:tab algn="l" pos="1797120"/>
                  <a:tab algn="l" pos="2246400"/>
                  <a:tab algn="l" pos="2695680"/>
                  <a:tab algn="l" pos="3144960"/>
                  <a:tab algn="l" pos="3594240"/>
                  <a:tab algn="l" pos="4043520"/>
                  <a:tab algn="l" pos="449280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1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SEVIRI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" name="Line 32"/>
          <p:cNvSpPr/>
          <p:nvPr/>
        </p:nvSpPr>
        <p:spPr>
          <a:xfrm>
            <a:off x="7236000" y="1339920"/>
            <a:ext cx="12600" cy="4106880"/>
          </a:xfrm>
          <a:prstGeom prst="line">
            <a:avLst/>
          </a:prstGeom>
          <a:ln w="360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Line 31"/>
          <p:cNvSpPr/>
          <p:nvPr/>
        </p:nvSpPr>
        <p:spPr>
          <a:xfrm>
            <a:off x="6248520" y="3505320"/>
            <a:ext cx="554040" cy="61740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Box 33"/>
          <p:cNvSpPr/>
          <p:nvPr/>
        </p:nvSpPr>
        <p:spPr>
          <a:xfrm>
            <a:off x="7164360" y="5522760"/>
            <a:ext cx="720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2010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34"/>
          <p:cNvSpPr/>
          <p:nvPr/>
        </p:nvSpPr>
        <p:spPr>
          <a:xfrm>
            <a:off x="3378240" y="3962520"/>
            <a:ext cx="1079640" cy="457200"/>
          </a:xfrm>
          <a:prstGeom prst="rect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Box 35"/>
          <p:cNvSpPr/>
          <p:nvPr/>
        </p:nvSpPr>
        <p:spPr>
          <a:xfrm>
            <a:off x="3492360" y="4051440"/>
            <a:ext cx="76212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71000"/>
              </a:lnSpc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SSMI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6"/>
          <p:cNvSpPr/>
          <p:nvPr/>
        </p:nvSpPr>
        <p:spPr>
          <a:xfrm>
            <a:off x="3780000" y="4419720"/>
            <a:ext cx="606240" cy="73800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144080" y="260280"/>
            <a:ext cx="7272360" cy="70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Monthly Mean of No. Of Observations Daily in Global Model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4"/>
          <p:cNvSpPr/>
          <p:nvPr/>
        </p:nvSpPr>
        <p:spPr>
          <a:xfrm>
            <a:off x="7280280" y="1181160"/>
            <a:ext cx="1079640" cy="457200"/>
          </a:xfrm>
          <a:prstGeom prst="rect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Line 36"/>
          <p:cNvSpPr/>
          <p:nvPr/>
        </p:nvSpPr>
        <p:spPr>
          <a:xfrm>
            <a:off x="7682040" y="1638360"/>
            <a:ext cx="922320" cy="1359000"/>
          </a:xfrm>
          <a:prstGeom prst="line">
            <a:avLst/>
          </a:prstGeom>
          <a:ln w="36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Box 35"/>
          <p:cNvSpPr/>
          <p:nvPr/>
        </p:nvSpPr>
        <p:spPr>
          <a:xfrm>
            <a:off x="7280280" y="1282680"/>
            <a:ext cx="10796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71000"/>
              </a:lnSpc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SSMI/S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Box 33"/>
          <p:cNvSpPr/>
          <p:nvPr/>
        </p:nvSpPr>
        <p:spPr>
          <a:xfrm>
            <a:off x="8028000" y="5505480"/>
            <a:ext cx="720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2011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Footer Placeholder 2"/>
          <p:cNvSpPr/>
          <p:nvPr/>
        </p:nvSpPr>
        <p:spPr>
          <a:xfrm>
            <a:off x="2771640" y="6245280"/>
            <a:ext cx="259092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lide Number Placeholder 3"/>
          <p:cNvSpPr/>
          <p:nvPr/>
        </p:nvSpPr>
        <p:spPr>
          <a:xfrm>
            <a:off x="8748720" y="0"/>
            <a:ext cx="3938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70000" lnSpcReduction="1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5ACE85-F03E-4671-814C-F55C1A5B62F3}" type="slidenum"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 Unicode MS"/>
              </a:rPr>
              <a:t>&lt;number&gt;</a:t>
            </a:fld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Title 1" descr=""/>
          <p:cNvPicPr/>
          <p:nvPr/>
        </p:nvPicPr>
        <p:blipFill>
          <a:blip r:embed="rId1"/>
          <a:stretch/>
        </p:blipFill>
        <p:spPr>
          <a:xfrm>
            <a:off x="1371600" y="317520"/>
            <a:ext cx="7772400" cy="64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Chart 7" descr=""/>
          <p:cNvPicPr/>
          <p:nvPr/>
        </p:nvPicPr>
        <p:blipFill>
          <a:blip r:embed="rId2"/>
          <a:stretch/>
        </p:blipFill>
        <p:spPr>
          <a:xfrm>
            <a:off x="433440" y="907920"/>
            <a:ext cx="8424720" cy="52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6"/>
          <p:cNvSpPr/>
          <p:nvPr/>
        </p:nvSpPr>
        <p:spPr>
          <a:xfrm>
            <a:off x="7244640" y="2673360"/>
            <a:ext cx="1399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AMSU-A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Straight Arrow Connector 9"/>
          <p:cNvCxnSpPr/>
          <p:nvPr/>
        </p:nvCxnSpPr>
        <p:spPr>
          <a:xfrm flipH="1">
            <a:off x="7524360" y="3068280"/>
            <a:ext cx="216720" cy="28944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arrow" w="med"/>
          </a:ln>
        </p:spPr>
      </p:cxnSp>
      <p:sp>
        <p:nvSpPr>
          <p:cNvPr id="136" name="TextBox 10"/>
          <p:cNvSpPr/>
          <p:nvPr/>
        </p:nvSpPr>
        <p:spPr>
          <a:xfrm>
            <a:off x="2888640" y="2168640"/>
            <a:ext cx="1603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GNSS-RO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Straight Arrow Connector 12"/>
          <p:cNvCxnSpPr/>
          <p:nvPr/>
        </p:nvCxnSpPr>
        <p:spPr>
          <a:xfrm>
            <a:off x="3492000" y="2565360"/>
            <a:ext cx="288360" cy="28800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arrow" w="med"/>
          </a:ln>
        </p:spPr>
      </p:cxnSp>
      <p:sp>
        <p:nvSpPr>
          <p:cNvPr id="138" name="TextBox 15"/>
          <p:cNvSpPr/>
          <p:nvPr/>
        </p:nvSpPr>
        <p:spPr>
          <a:xfrm>
            <a:off x="4720680" y="2600280"/>
            <a:ext cx="773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IASI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Straight Arrow Connector 17"/>
          <p:cNvCxnSpPr/>
          <p:nvPr/>
        </p:nvCxnSpPr>
        <p:spPr>
          <a:xfrm flipH="1">
            <a:off x="4392360" y="2923200"/>
            <a:ext cx="396000" cy="14472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arrow" w="med"/>
          </a:ln>
        </p:spPr>
      </p:cxnSp>
      <p:sp>
        <p:nvSpPr>
          <p:cNvPr id="140" name="TextBox 18"/>
          <p:cNvSpPr/>
          <p:nvPr/>
        </p:nvSpPr>
        <p:spPr>
          <a:xfrm>
            <a:off x="5225400" y="2960640"/>
            <a:ext cx="909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AIRS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Straight Arrow Connector 20"/>
          <p:cNvCxnSpPr>
            <a:stCxn id="140" idx="1"/>
          </p:cNvCxnSpPr>
          <p:nvPr/>
        </p:nvCxnSpPr>
        <p:spPr>
          <a:xfrm flipH="1">
            <a:off x="4284000" y="3192480"/>
            <a:ext cx="935640" cy="92880"/>
          </a:xfrm>
          <a:prstGeom prst="straightConnector1">
            <a:avLst/>
          </a:prstGeom>
          <a:ln w="9360">
            <a:solidFill>
              <a:srgbClr val="000000"/>
            </a:solidFill>
            <a:miter/>
            <a:tailEnd len="med" type="arrow" w="med"/>
          </a:ln>
        </p:spPr>
      </p:cxnSp>
      <p:sp>
        <p:nvSpPr>
          <p:cNvPr id="142" name="TextBox 12"/>
          <p:cNvSpPr/>
          <p:nvPr/>
        </p:nvSpPr>
        <p:spPr>
          <a:xfrm>
            <a:off x="5257800" y="819000"/>
            <a:ext cx="5257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sng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From Healy et al. Sedona 2012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4" descr="summary_all+year+global+impact_per_anl.png"/>
          <p:cNvPicPr/>
          <p:nvPr/>
        </p:nvPicPr>
        <p:blipFill>
          <a:blip r:embed="rId1"/>
          <a:srcRect l="0" t="0" r="3301" b="0"/>
          <a:stretch/>
        </p:blipFill>
        <p:spPr>
          <a:xfrm>
            <a:off x="4475160" y="1797120"/>
            <a:ext cx="4476600" cy="326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8" descr="os_00Z_year.png"/>
          <p:cNvPicPr/>
          <p:nvPr/>
        </p:nvPicPr>
        <p:blipFill>
          <a:blip r:embed="rId2"/>
          <a:srcRect l="3298" t="0" r="591" b="4466"/>
          <a:stretch/>
        </p:blipFill>
        <p:spPr>
          <a:xfrm>
            <a:off x="168120" y="1758960"/>
            <a:ext cx="4249800" cy="326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5"/>
          <p:cNvSpPr/>
          <p:nvPr/>
        </p:nvSpPr>
        <p:spPr>
          <a:xfrm>
            <a:off x="431640" y="304920"/>
            <a:ext cx="8305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rPr>
              <a:t>FNMOC and GMAO Observation Impact Monitoring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2308320" y="757080"/>
            <a:ext cx="4651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rPr>
              <a:t>Current Operations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traight Connector 9"/>
          <p:cNvSpPr/>
          <p:nvPr/>
        </p:nvSpPr>
        <p:spPr>
          <a:xfrm>
            <a:off x="6684840" y="2779560"/>
            <a:ext cx="547920" cy="1800"/>
          </a:xfrm>
          <a:prstGeom prst="line">
            <a:avLst/>
          </a:prstGeom>
          <a:ln w="25560">
            <a:solidFill>
              <a:srgbClr val="ff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Straight Connector 10" descr=""/>
          <p:cNvPicPr/>
          <p:nvPr/>
        </p:nvPicPr>
        <p:blipFill>
          <a:blip r:embed="rId3"/>
          <a:stretch/>
        </p:blipFill>
        <p:spPr>
          <a:xfrm>
            <a:off x="658800" y="4078440"/>
            <a:ext cx="70632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Straight Connector 11" descr=""/>
          <p:cNvPicPr/>
          <p:nvPr/>
        </p:nvPicPr>
        <p:blipFill>
          <a:blip r:embed="rId4"/>
          <a:stretch/>
        </p:blipFill>
        <p:spPr>
          <a:xfrm>
            <a:off x="1682640" y="6022800"/>
            <a:ext cx="706680" cy="2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12"/>
          <p:cNvSpPr/>
          <p:nvPr/>
        </p:nvSpPr>
        <p:spPr>
          <a:xfrm>
            <a:off x="5224320" y="5111640"/>
            <a:ext cx="3168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0000ff"/>
                </a:solidFill>
                <a:effectLst/>
                <a:uFillTx/>
                <a:latin typeface="Times New Roman"/>
                <a:ea typeface="ＭＳ Ｐゴシック"/>
              </a:rPr>
              <a:t>http://gmao.gsfc.nasa.gov/products/forecasts/systems/fp/obs_impact/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787320" y="5111640"/>
            <a:ext cx="3168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0000ff"/>
                </a:solidFill>
                <a:effectLst/>
                <a:uFillTx/>
                <a:latin typeface="Times New Roman"/>
                <a:ea typeface="ＭＳ Ｐゴシック"/>
              </a:rPr>
              <a:t>http://www.nrlmry.navy.mil/obsens/fnmoc/obsens_main_od.html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4724280" y="1295280"/>
            <a:ext cx="41148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Gelaro et al. , Sedona May 2012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 Placeholder 3"/>
          <p:cNvSpPr/>
          <p:nvPr/>
        </p:nvSpPr>
        <p:spPr>
          <a:xfrm>
            <a:off x="6553080" y="63133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ＭＳ Ｐゴシック"/>
              </a:rPr>
              <a:t>14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4" descr="cordieoff_HGT_P500_G2NHX_00Z.png"/>
          <p:cNvPicPr/>
          <p:nvPr/>
        </p:nvPicPr>
        <p:blipFill>
          <a:blip r:embed="rId1"/>
          <a:srcRect l="0" t="8228" r="0" b="0"/>
          <a:stretch/>
        </p:blipFill>
        <p:spPr>
          <a:xfrm>
            <a:off x="0" y="1525680"/>
            <a:ext cx="4648320" cy="426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5" descr="cordieoff_HGT_P500_G2SHX_00Z.png"/>
          <p:cNvPicPr/>
          <p:nvPr/>
        </p:nvPicPr>
        <p:blipFill>
          <a:blip r:embed="rId2"/>
          <a:srcRect l="0" t="8228" r="0" b="0"/>
          <a:stretch/>
        </p:blipFill>
        <p:spPr>
          <a:xfrm>
            <a:off x="4495680" y="1525680"/>
            <a:ext cx="4648320" cy="4265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6" name="Group 8"/>
          <p:cNvGrpSpPr/>
          <p:nvPr/>
        </p:nvGrpSpPr>
        <p:grpSpPr>
          <a:xfrm>
            <a:off x="1244520" y="533520"/>
            <a:ext cx="6654960" cy="2532600"/>
            <a:chOff x="1244520" y="533520"/>
            <a:chExt cx="6654960" cy="2532600"/>
          </a:xfrm>
        </p:grpSpPr>
        <p:sp>
          <p:nvSpPr>
            <p:cNvPr id="157" name="TextBox 5"/>
            <p:cNvSpPr/>
            <p:nvPr/>
          </p:nvSpPr>
          <p:spPr>
            <a:xfrm>
              <a:off x="2438280" y="533520"/>
              <a:ext cx="426744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6"/>
            <p:cNvSpPr/>
            <p:nvPr/>
          </p:nvSpPr>
          <p:spPr>
            <a:xfrm>
              <a:off x="1244520" y="2667240"/>
              <a:ext cx="266688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Northern Hemisphere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7"/>
            <p:cNvSpPr/>
            <p:nvPr/>
          </p:nvSpPr>
          <p:spPr>
            <a:xfrm>
              <a:off x="5156280" y="2667240"/>
              <a:ext cx="27432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ＭＳ Ｐゴシック"/>
                </a:rPr>
                <a:t>Southern Hemisphere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0" name="TextBox 10"/>
          <p:cNvSpPr/>
          <p:nvPr/>
        </p:nvSpPr>
        <p:spPr>
          <a:xfrm>
            <a:off x="4343400" y="5715000"/>
            <a:ext cx="4876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Jung, 5</a:t>
            </a:r>
            <a:r>
              <a:rPr b="0" i="1" lang="en-US" sz="1600" strike="noStrike" u="none" baseline="30000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</a:t>
            </a:r>
            <a:r>
              <a:rPr b="0" i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WMO Impact Workshop, Sedona 2012)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Title 11" descr=""/>
          <p:cNvPicPr/>
          <p:nvPr/>
        </p:nvPicPr>
        <p:blipFill>
          <a:blip r:embed="rId3"/>
          <a:stretch/>
        </p:blipFill>
        <p:spPr>
          <a:xfrm>
            <a:off x="0" y="304920"/>
            <a:ext cx="9144000" cy="9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2"/>
          <p:cNvSpPr/>
          <p:nvPr/>
        </p:nvSpPr>
        <p:spPr>
          <a:xfrm>
            <a:off x="1419120" y="2492280"/>
            <a:ext cx="1673280" cy="642600"/>
          </a:xfrm>
          <a:prstGeom prst="rect">
            <a:avLst/>
          </a:prstGeom>
          <a:solidFill>
            <a:srgbClr val="ffb5bd"/>
          </a:solidFill>
          <a:ln w="31680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SAT: &gt; 24 h loss  of skill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5092560" y="2502000"/>
            <a:ext cx="1673280" cy="642600"/>
          </a:xfrm>
          <a:prstGeom prst="rect">
            <a:avLst/>
          </a:prstGeom>
          <a:solidFill>
            <a:srgbClr val="ffb5bd"/>
          </a:solidFill>
          <a:ln w="31680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SAT: &gt;60 h loss  of skill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Straight Arrow Connector 4"/>
          <p:cNvCxnSpPr/>
          <p:nvPr/>
        </p:nvCxnSpPr>
        <p:spPr>
          <a:xfrm flipV="1">
            <a:off x="3092400" y="2363040"/>
            <a:ext cx="542160" cy="129240"/>
          </a:xfrm>
          <a:prstGeom prst="straightConnector1">
            <a:avLst/>
          </a:prstGeom>
          <a:ln w="31680">
            <a:solidFill>
              <a:srgbClr val="ff0000"/>
            </a:solidFill>
            <a:miter/>
            <a:tailEnd len="med" type="triangle" w="lg"/>
          </a:ln>
        </p:spPr>
      </p:cxnSp>
      <p:cxnSp>
        <p:nvCxnSpPr>
          <p:cNvPr id="165" name="Straight Arrow Connector 6"/>
          <p:cNvCxnSpPr/>
          <p:nvPr/>
        </p:nvCxnSpPr>
        <p:spPr>
          <a:xfrm flipV="1">
            <a:off x="6765480" y="2363040"/>
            <a:ext cx="561240" cy="129240"/>
          </a:xfrm>
          <a:prstGeom prst="straightConnector1">
            <a:avLst/>
          </a:prstGeom>
          <a:ln w="31680">
            <a:solidFill>
              <a:srgbClr val="ff0000"/>
            </a:solidFill>
            <a:miter/>
            <a:tailEnd len="med" type="triangle" w="lg"/>
          </a:ln>
        </p:spPr>
      </p:cxnSp>
      <p:sp>
        <p:nvSpPr>
          <p:cNvPr id="166" name="Footer Placeholder 1"/>
          <p:cNvSpPr/>
          <p:nvPr/>
        </p:nvSpPr>
        <p:spPr>
          <a:xfrm>
            <a:off x="952560" y="6313320"/>
            <a:ext cx="43434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>
                <p:childTnLst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nodeType="clickEffect" fill="hold">
                      <p:stCondLst>
                        <p:cond delay="indefinite"/>
                      </p:stCondLst>
                      <p:childTnLst>
                        <p:par>
                          <p:cTn id="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Rectangle 2" descr=""/>
          <p:cNvPicPr/>
          <p:nvPr/>
        </p:nvPicPr>
        <p:blipFill>
          <a:blip r:embed="rId1"/>
          <a:stretch/>
        </p:blipFill>
        <p:spPr>
          <a:xfrm>
            <a:off x="689040" y="73080"/>
            <a:ext cx="7772400" cy="122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 txBox="1"/>
          <p:nvPr/>
        </p:nvSpPr>
        <p:spPr>
          <a:xfrm>
            <a:off x="685800" y="119844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257040" indent="-257040">
              <a:lnSpc>
                <a:spcPct val="90000"/>
              </a:lnSpc>
              <a:spcAft>
                <a:spcPts val="601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0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The economic impact of </a:t>
            </a:r>
            <a:r>
              <a:rPr b="0" i="1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weather</a:t>
            </a:r>
            <a:r>
              <a:rPr b="0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 is at least somewhat recognized and understood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Aft>
                <a:spcPts val="601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In contrast, the economic impact of </a:t>
            </a:r>
            <a:r>
              <a:rPr b="0" i="1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weather </a:t>
            </a:r>
            <a:r>
              <a:rPr b="0" i="1" lang="en-US" sz="2000" strike="noStrike" u="sng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prediction</a:t>
            </a:r>
            <a:r>
              <a:rPr b="0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 is generally not well studied and documented</a:t>
            </a:r>
            <a:endParaRPr b="0" lang="en-IN" sz="20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marL="257040" indent="-257040">
              <a:lnSpc>
                <a:spcPct val="90000"/>
              </a:lnSpc>
              <a:spcAft>
                <a:spcPts val="601"/>
              </a:spcAft>
              <a:buClr>
                <a:srgbClr val="006974"/>
              </a:buClr>
              <a:buFont typeface="Arial"/>
              <a:buChar char="•"/>
              <a:tabLst>
                <a:tab algn="l" pos="343080"/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</a:tabLst>
            </a:pPr>
            <a:r>
              <a:rPr b="0" lang="en-US" sz="2400" strike="noStrike" u="none">
                <a:solidFill>
                  <a:srgbClr val="006974"/>
                </a:solidFill>
                <a:effectLst/>
                <a:uFillTx/>
                <a:latin typeface="Arial"/>
                <a:ea typeface="ＭＳ Ｐゴシック"/>
              </a:rPr>
              <a:t>The cost of obtaining meteorological observations is generally understood only at the national level; no reliable cost estimates available at the global level</a:t>
            </a:r>
            <a:endParaRPr b="0" lang="en-IN" sz="2400" strike="noStrike" u="none">
              <a:solidFill>
                <a:srgbClr val="006974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Aft>
                <a:spcPts val="601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Assessment of the monetary value of meteorological observations is even less developed</a:t>
            </a:r>
            <a:endParaRPr b="0" lang="en-IN" sz="20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Aft>
                <a:spcPts val="601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r>
              <a:rPr b="0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By a rough estimate, the value to US economy likely in the range of </a:t>
            </a:r>
            <a:r>
              <a:rPr b="0" lang="en-US" sz="2000" strike="noStrike" u="sng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$5B/year or more for NWP alone</a:t>
            </a:r>
            <a:r>
              <a:rPr b="0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; this does </a:t>
            </a:r>
            <a:r>
              <a:rPr b="0" lang="en-US" sz="2000" strike="noStrike" u="sng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not</a:t>
            </a:r>
            <a:r>
              <a:rPr b="0" lang="en-US" sz="2000" strike="noStrike" u="none">
                <a:solidFill>
                  <a:srgbClr val="002060"/>
                </a:solidFill>
                <a:effectLst/>
                <a:uFillTx/>
                <a:latin typeface="Arial"/>
                <a:ea typeface="ＭＳ Ｐゴシック"/>
              </a:rPr>
              <a:t> measure the value of direct forecast applications, of climate, ocean, land surface, atmospheric composition measurements, or of improved scientific understanding</a:t>
            </a:r>
            <a:endParaRPr b="0" lang="en-IN" sz="20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  <a:p>
            <a:pPr lvl="1" marL="557280" indent="-214200">
              <a:lnSpc>
                <a:spcPct val="90000"/>
              </a:lnSpc>
              <a:spcAft>
                <a:spcPts val="601"/>
              </a:spcAft>
              <a:buClr>
                <a:srgbClr val="002060"/>
              </a:buClr>
              <a:buFont typeface="Calibri"/>
              <a:buChar char="–"/>
              <a:tabLst>
                <a:tab algn="l" pos="685800"/>
                <a:tab algn="l" pos="1028880"/>
                <a:tab algn="l" pos="1371600"/>
                <a:tab algn="l" pos="1714680"/>
                <a:tab algn="l" pos="2057400"/>
                <a:tab algn="l" pos="2400480"/>
                <a:tab algn="l" pos="2743200"/>
                <a:tab algn="l" pos="3086280"/>
                <a:tab algn="l" pos="3429000"/>
                <a:tab algn="l" pos="3772080"/>
                <a:tab algn="l" pos="4114800"/>
                <a:tab algn="l" pos="4457880"/>
                <a:tab algn="l" pos="4800600"/>
                <a:tab algn="l" pos="5143680"/>
                <a:tab algn="l" pos="5486400"/>
                <a:tab algn="l" pos="5829480"/>
                <a:tab algn="l" pos="6172200"/>
                <a:tab algn="l" pos="6515280"/>
                <a:tab algn="l" pos="6858000"/>
                <a:tab algn="l" pos="7201080"/>
              </a:tabLst>
            </a:pPr>
            <a:endParaRPr b="0" lang="en-IN" sz="2000" strike="noStrike" u="none">
              <a:solidFill>
                <a:srgbClr val="002060"/>
              </a:solidFill>
              <a:effectLst/>
              <a:uFillTx/>
              <a:latin typeface="Calibri"/>
            </a:endParaRPr>
          </a:p>
        </p:txBody>
      </p:sp>
      <p:sp>
        <p:nvSpPr>
          <p:cNvPr id="169" name="Footer Placeholder 1"/>
          <p:cNvSpPr/>
          <p:nvPr/>
        </p:nvSpPr>
        <p:spPr>
          <a:xfrm>
            <a:off x="1546200" y="6408720"/>
            <a:ext cx="488016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10th Symposium on Environmental Satellites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lide Number Placeholder 2"/>
          <p:cNvSpPr/>
          <p:nvPr/>
        </p:nvSpPr>
        <p:spPr>
          <a:xfrm>
            <a:off x="8464680" y="6504120"/>
            <a:ext cx="5191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FB3427-1F2C-4187-822D-31DF0E7ED659}" type="slidenum">
              <a:rPr b="0" lang="en-US" sz="1600" strike="noStrike" u="none">
                <a:solidFill>
                  <a:srgbClr val="4f81bd"/>
                </a:solidFill>
                <a:effectLst/>
                <a:uFillTx/>
                <a:latin typeface="Calibri"/>
              </a:rPr>
              <a:t>&lt;number&gt;</a:t>
            </a:fld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nodeType="clickEffect" fill="hold">
                      <p:stCondLst>
                        <p:cond delay="indefinite"/>
                      </p:stCondLst>
                      <p:childTnLst>
                        <p:par>
                          <p:cTn id="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nodeType="clickEffect" fill="hold">
                      <p:stCondLst>
                        <p:cond delay="indefinite"/>
                      </p:stCondLst>
                      <p:childTnLst>
                        <p:par>
                          <p:cTn id="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nodeType="clickEffect" fill="hold">
                      <p:stCondLst>
                        <p:cond delay="indefinite"/>
                      </p:stCondLst>
                      <p:childTnLst>
                        <p:par>
                          <p:cTn id="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8679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2012-01-13T06:31:03Z</dcterms:created>
  <dc:creator>Jake Crouch</dc:creator>
  <dc:description/>
  <dc:language>en-IN</dc:language>
  <cp:lastModifiedBy>Chris Daughtrey</cp:lastModifiedBy>
  <cp:lastPrinted>2012-01-19T07:48:51Z</cp:lastPrinted>
  <dcterms:modified xsi:type="dcterms:W3CDTF">2014-02-13T15:48:09Z</dcterms:modified>
  <cp:revision>334</cp:revision>
  <dc:subject/>
  <dc:title>PowerPoint Presentation</dc:title>
</cp:coreProperties>
</file>