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54.xml" ContentType="application/vnd.openxmlformats-officedocument.presentationml.notesSlide+xml"/>
  <Override PartName="/ppt/notesSlides/notesSlide2.xml" ContentType="application/vnd.openxmlformats-officedocument.presentationml.notesSlide+xml"/>
  <Override PartName="/ppt/notesSlides/notesSlide55.xml" ContentType="application/vnd.openxmlformats-officedocument.presentationml.notesSlide+xml"/>
  <Override PartName="/ppt/notesSlides/notesSlide3.xml" ContentType="application/vnd.openxmlformats-officedocument.presentationml.notesSlide+xml"/>
  <Override PartName="/ppt/notesSlides/notesSlide5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53.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54.xml.rels" ContentType="application/vnd.openxmlformats-package.relationships+xml"/>
  <Override PartName="/ppt/notesSlides/_rels/notesSlide45.xml.rels" ContentType="application/vnd.openxmlformats-package.relationships+xml"/>
  <Override PartName="/ppt/notesSlides/_rels/notesSlide2.xml.rels" ContentType="application/vnd.openxmlformats-package.relationships+xml"/>
  <Override PartName="/ppt/notesSlides/_rels/notesSlide55.xml.rels" ContentType="application/vnd.openxmlformats-package.relationships+xml"/>
  <Override PartName="/ppt/notesSlides/_rels/notesSlide3.xml.rels" ContentType="application/vnd.openxmlformats-package.relationships+xml"/>
  <Override PartName="/ppt/notesSlides/_rels/notesSlide46.xml.rels" ContentType="application/vnd.openxmlformats-package.relationships+xml"/>
  <Override PartName="/ppt/notesSlides/_rels/notesSlide56.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5.xml.rels" ContentType="application/vnd.openxmlformats-package.relationships+xml"/>
  <Override PartName="/ppt/notesSlides/_rels/notesSlide48.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embeddings/oleObject1.bin" ContentType="application/vnd.openxmlformats-officedocument.oleObject"/>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media/image1.jpeg" ContentType="image/jpeg"/>
  <Override PartName="/ppt/media/image2.png" ContentType="image/png"/>
  <Override PartName="/ppt/media/image3.jpeg" ContentType="image/jpeg"/>
  <Override PartName="/ppt/media/image4.wmf" ContentType="image/x-wmf"/>
  <Override PartName="/ppt/media/image5.png" ContentType="image/png"/>
  <Override PartName="/ppt/media/image6.wmf" ContentType="image/x-wmf"/>
  <Override PartName="/ppt/media/image7.wmf" ContentType="image/x-wmf"/>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Lst>
  <p:sldSz cx="9144000" cy="6858000"/>
  <p:notesSz cx="7008813"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
          <p:cNvSpPr/>
          <p:nvPr/>
        </p:nvSpPr>
        <p:spPr>
          <a:xfrm>
            <a:off x="0" y="0"/>
            <a:ext cx="7009200" cy="92952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13" name="PlaceHolder 1"/>
          <p:cNvSpPr>
            <a:spLocks noGrp="1"/>
          </p:cNvSpPr>
          <p:nvPr>
            <p:ph type="hdr"/>
          </p:nvPr>
        </p:nvSpPr>
        <p:spPr>
          <a:xfrm>
            <a:off x="0" y="0"/>
            <a:ext cx="3038400" cy="465120"/>
          </a:xfrm>
          <a:prstGeom prst="rect">
            <a:avLst/>
          </a:prstGeom>
          <a:noFill/>
          <a:ln w="0">
            <a:noFill/>
          </a:ln>
        </p:spPr>
        <p:txBody>
          <a:bodyPr lIns="93240" rIns="93240" tIns="46440" bIns="46440" anchor="t">
            <a:noAutofit/>
          </a:bodyPr>
          <a:p>
            <a:pPr indent="0">
              <a:buNone/>
            </a:pPr>
            <a:endParaRPr b="0" lang="en-IN" sz="2400" strike="noStrike" u="none">
              <a:solidFill>
                <a:srgbClr val="000000"/>
              </a:solidFill>
              <a:effectLst/>
              <a:uFillTx/>
              <a:latin typeface="Times New Roman"/>
            </a:endParaRPr>
          </a:p>
        </p:txBody>
      </p:sp>
      <p:sp>
        <p:nvSpPr>
          <p:cNvPr id="14" name="PlaceHolder 2"/>
          <p:cNvSpPr>
            <a:spLocks noGrp="1"/>
          </p:cNvSpPr>
          <p:nvPr>
            <p:ph type="dt" idx="7"/>
          </p:nvPr>
        </p:nvSpPr>
        <p:spPr>
          <a:xfrm>
            <a:off x="3970440" y="0"/>
            <a:ext cx="3038400" cy="465120"/>
          </a:xfrm>
          <a:prstGeom prst="rect">
            <a:avLst/>
          </a:prstGeom>
          <a:noFill/>
          <a:ln w="0">
            <a:noFill/>
          </a:ln>
        </p:spPr>
        <p:txBody>
          <a:bodyPr lIns="93240" rIns="93240" tIns="46440" bIns="46440" anchor="t">
            <a:noAutofit/>
          </a:bodyPr>
          <a:p>
            <a:pPr indent="0">
              <a:buNone/>
            </a:pPr>
            <a:endParaRPr b="0" lang="en-IN" sz="2400" strike="noStrike" u="none">
              <a:solidFill>
                <a:srgbClr val="000000"/>
              </a:solidFill>
              <a:effectLst/>
              <a:uFillTx/>
              <a:latin typeface="Times New Roman"/>
            </a:endParaRPr>
          </a:p>
        </p:txBody>
      </p:sp>
      <p:sp>
        <p:nvSpPr>
          <p:cNvPr id="15" name="PlaceHolder 3"/>
          <p:cNvSpPr>
            <a:spLocks noGrp="1"/>
          </p:cNvSpPr>
          <p:nvPr>
            <p:ph type="sldImg"/>
          </p:nvPr>
        </p:nvSpPr>
        <p:spPr>
          <a:xfrm>
            <a:off x="1181160" y="696960"/>
            <a:ext cx="4648320" cy="3486240"/>
          </a:xfrm>
          <a:prstGeom prst="rect">
            <a:avLst/>
          </a:prstGeom>
          <a:no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imes New Roman"/>
              </a:rPr>
              <a:t>Click to move the slide</a:t>
            </a:r>
            <a:endParaRPr b="0" lang="en-IN" sz="4400" strike="noStrike" u="none">
              <a:solidFill>
                <a:srgbClr val="ffffff"/>
              </a:solidFill>
              <a:effectLst/>
              <a:uFillTx/>
              <a:latin typeface="Times New Roman"/>
            </a:endParaRPr>
          </a:p>
        </p:txBody>
      </p:sp>
      <p:sp>
        <p:nvSpPr>
          <p:cNvPr id="16" name="PlaceHolder 4"/>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17" name="PlaceHolder 5"/>
          <p:cNvSpPr>
            <a:spLocks noGrp="1"/>
          </p:cNvSpPr>
          <p:nvPr>
            <p:ph type="ftr" idx="8"/>
          </p:nvPr>
        </p:nvSpPr>
        <p:spPr>
          <a:xfrm>
            <a:off x="0" y="8829720"/>
            <a:ext cx="3038400" cy="465120"/>
          </a:xfrm>
          <a:prstGeom prst="rect">
            <a:avLst/>
          </a:prstGeom>
          <a:noFill/>
          <a:ln w="0">
            <a:noFill/>
          </a:ln>
        </p:spPr>
        <p:txBody>
          <a:bodyPr lIns="93240" rIns="93240" tIns="46440" bIns="46440" anchor="b">
            <a:noAutofit/>
          </a:bodyPr>
          <a:p>
            <a:pPr indent="0">
              <a:buNone/>
            </a:pPr>
            <a:endParaRPr b="0" lang="en-IN" sz="2400" strike="noStrike" u="none">
              <a:solidFill>
                <a:srgbClr val="000000"/>
              </a:solidFill>
              <a:effectLst/>
              <a:uFillTx/>
              <a:latin typeface="Times New Roman"/>
            </a:endParaRPr>
          </a:p>
        </p:txBody>
      </p:sp>
      <p:sp>
        <p:nvSpPr>
          <p:cNvPr id="18" name="PlaceHolder 6"/>
          <p:cNvSpPr>
            <a:spLocks noGrp="1"/>
          </p:cNvSpPr>
          <p:nvPr>
            <p:ph type="sldNum" idx="9"/>
          </p:nvPr>
        </p:nvSpPr>
        <p:spPr>
          <a:xfrm>
            <a:off x="3970440" y="8829720"/>
            <a:ext cx="3038400" cy="465120"/>
          </a:xfrm>
          <a:prstGeom prst="rect">
            <a:avLst/>
          </a:prstGeom>
          <a:noFill/>
          <a:ln w="0">
            <a:noFill/>
          </a:ln>
        </p:spPr>
        <p:txBody>
          <a:bodyPr lIns="93240" rIns="93240" tIns="46440" bIns="46440" anchor="b">
            <a:noAutofit/>
          </a:bodyPr>
          <a:lstStyle>
            <a:lvl1pPr marL="216000"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defRPr b="0" lang="en-US" sz="1200" strike="noStrike" u="none">
                <a:solidFill>
                  <a:srgbClr val="000000"/>
                </a:solidFill>
                <a:effectLst/>
                <a:uFillTx/>
                <a:latin typeface="Times New Roman"/>
              </a:defRPr>
            </a:lvl1pPr>
          </a:lstStyle>
          <a:p>
            <a:pPr marL="216000"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7D820590-0C4C-428F-8416-8F098E488D0B}"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E8C1785E-FE5B-427B-A39F-182A883A163B}"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60" name="PlaceHolder 1"/>
          <p:cNvSpPr>
            <a:spLocks noGrp="1"/>
          </p:cNvSpPr>
          <p:nvPr>
            <p:ph type="sldImg"/>
          </p:nvPr>
        </p:nvSpPr>
        <p:spPr>
          <a:xfrm>
            <a:off x="1181160" y="696960"/>
            <a:ext cx="4648320" cy="3486240"/>
          </a:xfrm>
          <a:prstGeom prst="rect">
            <a:avLst/>
          </a:prstGeom>
          <a:ln w="0">
            <a:noFill/>
          </a:ln>
        </p:spPr>
      </p:sp>
      <p:sp>
        <p:nvSpPr>
          <p:cNvPr id="261"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AD960E7D-AEBB-49AD-AF9F-70A18110A35B}"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63" name="PlaceHolder 1"/>
          <p:cNvSpPr>
            <a:spLocks noGrp="1"/>
          </p:cNvSpPr>
          <p:nvPr>
            <p:ph type="sldImg"/>
          </p:nvPr>
        </p:nvSpPr>
        <p:spPr>
          <a:xfrm>
            <a:off x="1181160" y="696960"/>
            <a:ext cx="4648320" cy="3486240"/>
          </a:xfrm>
          <a:prstGeom prst="rect">
            <a:avLst/>
          </a:prstGeom>
          <a:ln w="0">
            <a:noFill/>
          </a:ln>
        </p:spPr>
      </p:sp>
      <p:sp>
        <p:nvSpPr>
          <p:cNvPr id="26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3F742C9-F5A4-4F9C-8A68-149354F2DEA6}"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66" name="PlaceHolder 1"/>
          <p:cNvSpPr>
            <a:spLocks noGrp="1"/>
          </p:cNvSpPr>
          <p:nvPr>
            <p:ph type="sldImg"/>
          </p:nvPr>
        </p:nvSpPr>
        <p:spPr>
          <a:xfrm>
            <a:off x="1181160" y="696960"/>
            <a:ext cx="4648320" cy="3486240"/>
          </a:xfrm>
          <a:prstGeom prst="rect">
            <a:avLst/>
          </a:prstGeom>
          <a:ln w="0">
            <a:noFill/>
          </a:ln>
        </p:spPr>
      </p:sp>
      <p:sp>
        <p:nvSpPr>
          <p:cNvPr id="267"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047F82A-BF17-411F-BE67-D0928F96A5EA}"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69" name="PlaceHolder 1"/>
          <p:cNvSpPr>
            <a:spLocks noGrp="1"/>
          </p:cNvSpPr>
          <p:nvPr>
            <p:ph type="sldImg"/>
          </p:nvPr>
        </p:nvSpPr>
        <p:spPr>
          <a:xfrm>
            <a:off x="1181160" y="696960"/>
            <a:ext cx="4648320" cy="3486240"/>
          </a:xfrm>
          <a:prstGeom prst="rect">
            <a:avLst/>
          </a:prstGeom>
          <a:ln w="0">
            <a:noFill/>
          </a:ln>
        </p:spPr>
      </p:sp>
      <p:sp>
        <p:nvSpPr>
          <p:cNvPr id="270"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337D010E-223D-430F-876B-706978E14B5D}"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72" name="PlaceHolder 1"/>
          <p:cNvSpPr>
            <a:spLocks noGrp="1"/>
          </p:cNvSpPr>
          <p:nvPr>
            <p:ph type="sldImg"/>
          </p:nvPr>
        </p:nvSpPr>
        <p:spPr>
          <a:xfrm>
            <a:off x="1181160" y="696960"/>
            <a:ext cx="4648320" cy="3486240"/>
          </a:xfrm>
          <a:prstGeom prst="rect">
            <a:avLst/>
          </a:prstGeom>
          <a:ln w="0">
            <a:noFill/>
          </a:ln>
        </p:spPr>
      </p:sp>
      <p:sp>
        <p:nvSpPr>
          <p:cNvPr id="273"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CAE0FD50-0E42-4EC7-9AAA-594E25503C0D}"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75" name="PlaceHolder 1"/>
          <p:cNvSpPr>
            <a:spLocks noGrp="1"/>
          </p:cNvSpPr>
          <p:nvPr>
            <p:ph type="sldImg"/>
          </p:nvPr>
        </p:nvSpPr>
        <p:spPr>
          <a:xfrm>
            <a:off x="1181160" y="696960"/>
            <a:ext cx="4648320" cy="3486240"/>
          </a:xfrm>
          <a:prstGeom prst="rect">
            <a:avLst/>
          </a:prstGeom>
          <a:ln w="0">
            <a:noFill/>
          </a:ln>
        </p:spPr>
      </p:sp>
      <p:sp>
        <p:nvSpPr>
          <p:cNvPr id="276"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E840BED9-54D3-46EB-B5AB-5403DF8C864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78" name="PlaceHolder 1"/>
          <p:cNvSpPr>
            <a:spLocks noGrp="1"/>
          </p:cNvSpPr>
          <p:nvPr>
            <p:ph type="sldImg"/>
          </p:nvPr>
        </p:nvSpPr>
        <p:spPr>
          <a:xfrm>
            <a:off x="1181160" y="696960"/>
            <a:ext cx="4648320" cy="3486240"/>
          </a:xfrm>
          <a:prstGeom prst="rect">
            <a:avLst/>
          </a:prstGeom>
          <a:ln w="0">
            <a:noFill/>
          </a:ln>
        </p:spPr>
      </p:sp>
      <p:sp>
        <p:nvSpPr>
          <p:cNvPr id="279"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F0E727DB-BC4F-45F3-8282-8ACD0E6E33C9}"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81" name="PlaceHolder 1"/>
          <p:cNvSpPr>
            <a:spLocks noGrp="1"/>
          </p:cNvSpPr>
          <p:nvPr>
            <p:ph type="sldImg"/>
          </p:nvPr>
        </p:nvSpPr>
        <p:spPr>
          <a:xfrm>
            <a:off x="1181160" y="696960"/>
            <a:ext cx="4648320" cy="3486240"/>
          </a:xfrm>
          <a:prstGeom prst="rect">
            <a:avLst/>
          </a:prstGeom>
          <a:ln w="0">
            <a:noFill/>
          </a:ln>
        </p:spPr>
      </p:sp>
      <p:sp>
        <p:nvSpPr>
          <p:cNvPr id="282"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1A5654BD-1838-4C9D-9D26-94542B1F3742}"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84" name="PlaceHolder 1"/>
          <p:cNvSpPr>
            <a:spLocks noGrp="1"/>
          </p:cNvSpPr>
          <p:nvPr>
            <p:ph type="sldImg"/>
          </p:nvPr>
        </p:nvSpPr>
        <p:spPr>
          <a:xfrm>
            <a:off x="1181160" y="696960"/>
            <a:ext cx="4648320" cy="3486240"/>
          </a:xfrm>
          <a:prstGeom prst="rect">
            <a:avLst/>
          </a:prstGeom>
          <a:ln w="0">
            <a:noFill/>
          </a:ln>
        </p:spPr>
      </p:sp>
      <p:sp>
        <p:nvSpPr>
          <p:cNvPr id="285"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CD72FE74-8B01-44A5-8D2F-2379DEE98E4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87" name="PlaceHolder 1"/>
          <p:cNvSpPr>
            <a:spLocks noGrp="1"/>
          </p:cNvSpPr>
          <p:nvPr>
            <p:ph type="sldImg"/>
          </p:nvPr>
        </p:nvSpPr>
        <p:spPr>
          <a:xfrm>
            <a:off x="1181160" y="696960"/>
            <a:ext cx="4648320" cy="3486240"/>
          </a:xfrm>
          <a:prstGeom prst="rect">
            <a:avLst/>
          </a:prstGeom>
          <a:ln w="0">
            <a:noFill/>
          </a:ln>
        </p:spPr>
      </p:sp>
      <p:sp>
        <p:nvSpPr>
          <p:cNvPr id="288"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FC5ED402-17A6-47A4-853E-4BA397422DA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90" name="PlaceHolder 1"/>
          <p:cNvSpPr>
            <a:spLocks noGrp="1"/>
          </p:cNvSpPr>
          <p:nvPr>
            <p:ph type="sldImg"/>
          </p:nvPr>
        </p:nvSpPr>
        <p:spPr>
          <a:xfrm>
            <a:off x="1181160" y="696960"/>
            <a:ext cx="4648320" cy="3486240"/>
          </a:xfrm>
          <a:prstGeom prst="rect">
            <a:avLst/>
          </a:prstGeom>
          <a:ln w="0">
            <a:noFill/>
          </a:ln>
        </p:spPr>
      </p:sp>
      <p:sp>
        <p:nvSpPr>
          <p:cNvPr id="291"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C91276EF-C447-4846-B51A-272DB74D8121}"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93" name="PlaceHolder 1"/>
          <p:cNvSpPr>
            <a:spLocks noGrp="1"/>
          </p:cNvSpPr>
          <p:nvPr>
            <p:ph type="sldImg"/>
          </p:nvPr>
        </p:nvSpPr>
        <p:spPr>
          <a:xfrm>
            <a:off x="1181160" y="696960"/>
            <a:ext cx="4648320" cy="3486240"/>
          </a:xfrm>
          <a:prstGeom prst="rect">
            <a:avLst/>
          </a:prstGeom>
          <a:ln w="0">
            <a:noFill/>
          </a:ln>
        </p:spPr>
      </p:sp>
      <p:sp>
        <p:nvSpPr>
          <p:cNvPr id="29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74F098C1-7C30-4C86-8810-25D85D98BED1}"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96" name="PlaceHolder 1"/>
          <p:cNvSpPr>
            <a:spLocks noGrp="1"/>
          </p:cNvSpPr>
          <p:nvPr>
            <p:ph type="sldImg"/>
          </p:nvPr>
        </p:nvSpPr>
        <p:spPr>
          <a:xfrm>
            <a:off x="1181160" y="696960"/>
            <a:ext cx="4648320" cy="3486240"/>
          </a:xfrm>
          <a:prstGeom prst="rect">
            <a:avLst/>
          </a:prstGeom>
          <a:ln w="0">
            <a:noFill/>
          </a:ln>
        </p:spPr>
      </p:sp>
      <p:sp>
        <p:nvSpPr>
          <p:cNvPr id="297"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891637F-8298-4F9E-8815-D4DA902A8A5C}"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299" name="PlaceHolder 1"/>
          <p:cNvSpPr>
            <a:spLocks noGrp="1"/>
          </p:cNvSpPr>
          <p:nvPr>
            <p:ph type="sldImg"/>
          </p:nvPr>
        </p:nvSpPr>
        <p:spPr>
          <a:xfrm>
            <a:off x="1181160" y="696960"/>
            <a:ext cx="4648320" cy="3486240"/>
          </a:xfrm>
          <a:prstGeom prst="rect">
            <a:avLst/>
          </a:prstGeom>
          <a:ln w="0">
            <a:noFill/>
          </a:ln>
        </p:spPr>
      </p:sp>
      <p:sp>
        <p:nvSpPr>
          <p:cNvPr id="300"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65E5161D-5E52-4E90-A2BE-5F4B72754F71}"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02" name="PlaceHolder 1"/>
          <p:cNvSpPr>
            <a:spLocks noGrp="1"/>
          </p:cNvSpPr>
          <p:nvPr>
            <p:ph type="sldImg"/>
          </p:nvPr>
        </p:nvSpPr>
        <p:spPr>
          <a:xfrm>
            <a:off x="1181160" y="696960"/>
            <a:ext cx="4648320" cy="3486240"/>
          </a:xfrm>
          <a:prstGeom prst="rect">
            <a:avLst/>
          </a:prstGeom>
          <a:ln w="0">
            <a:noFill/>
          </a:ln>
        </p:spPr>
      </p:sp>
      <p:sp>
        <p:nvSpPr>
          <p:cNvPr id="303"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8DD7259-C6F6-499E-8933-2455C8E8332F}"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05" name="PlaceHolder 1"/>
          <p:cNvSpPr>
            <a:spLocks noGrp="1"/>
          </p:cNvSpPr>
          <p:nvPr>
            <p:ph type="sldImg"/>
          </p:nvPr>
        </p:nvSpPr>
        <p:spPr>
          <a:xfrm>
            <a:off x="1181160" y="696960"/>
            <a:ext cx="4648320" cy="3486240"/>
          </a:xfrm>
          <a:prstGeom prst="rect">
            <a:avLst/>
          </a:prstGeom>
          <a:ln w="0">
            <a:noFill/>
          </a:ln>
        </p:spPr>
      </p:sp>
      <p:sp>
        <p:nvSpPr>
          <p:cNvPr id="306"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EBAFCB2-02E8-4274-9EB1-C45E1E5FE9BB}"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08" name="PlaceHolder 1"/>
          <p:cNvSpPr>
            <a:spLocks noGrp="1"/>
          </p:cNvSpPr>
          <p:nvPr>
            <p:ph type="sldImg"/>
          </p:nvPr>
        </p:nvSpPr>
        <p:spPr>
          <a:xfrm>
            <a:off x="1181160" y="696960"/>
            <a:ext cx="4648320" cy="3486240"/>
          </a:xfrm>
          <a:prstGeom prst="rect">
            <a:avLst/>
          </a:prstGeom>
          <a:ln w="0">
            <a:noFill/>
          </a:ln>
        </p:spPr>
      </p:sp>
      <p:sp>
        <p:nvSpPr>
          <p:cNvPr id="309"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11F94B34-07AE-49A8-A055-D989435E97CF}"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11" name="PlaceHolder 1"/>
          <p:cNvSpPr>
            <a:spLocks noGrp="1"/>
          </p:cNvSpPr>
          <p:nvPr>
            <p:ph type="sldImg"/>
          </p:nvPr>
        </p:nvSpPr>
        <p:spPr>
          <a:xfrm>
            <a:off x="1181160" y="696960"/>
            <a:ext cx="4648320" cy="3486240"/>
          </a:xfrm>
          <a:prstGeom prst="rect">
            <a:avLst/>
          </a:prstGeom>
          <a:ln w="0">
            <a:noFill/>
          </a:ln>
        </p:spPr>
      </p:sp>
      <p:sp>
        <p:nvSpPr>
          <p:cNvPr id="312"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B0823882-CA91-4D8D-A8DE-2D3B381E3110}"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14" name="PlaceHolder 1"/>
          <p:cNvSpPr>
            <a:spLocks noGrp="1"/>
          </p:cNvSpPr>
          <p:nvPr>
            <p:ph type="sldImg"/>
          </p:nvPr>
        </p:nvSpPr>
        <p:spPr>
          <a:xfrm>
            <a:off x="1181160" y="696960"/>
            <a:ext cx="4648320" cy="3486240"/>
          </a:xfrm>
          <a:prstGeom prst="rect">
            <a:avLst/>
          </a:prstGeom>
          <a:ln w="0">
            <a:noFill/>
          </a:ln>
        </p:spPr>
      </p:sp>
      <p:sp>
        <p:nvSpPr>
          <p:cNvPr id="315"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50258BAE-F361-4BEC-AE43-56A0FEB12C2D}"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17" name="PlaceHolder 1"/>
          <p:cNvSpPr>
            <a:spLocks noGrp="1"/>
          </p:cNvSpPr>
          <p:nvPr>
            <p:ph type="sldImg"/>
          </p:nvPr>
        </p:nvSpPr>
        <p:spPr>
          <a:xfrm>
            <a:off x="1181160" y="696960"/>
            <a:ext cx="4648320" cy="3486240"/>
          </a:xfrm>
          <a:prstGeom prst="rect">
            <a:avLst/>
          </a:prstGeom>
          <a:ln w="0">
            <a:noFill/>
          </a:ln>
        </p:spPr>
      </p:sp>
      <p:sp>
        <p:nvSpPr>
          <p:cNvPr id="318"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F7108CB0-825E-43C4-A4A1-A046CB37BD50}"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20" name="PlaceHolder 1"/>
          <p:cNvSpPr>
            <a:spLocks noGrp="1"/>
          </p:cNvSpPr>
          <p:nvPr>
            <p:ph type="sldImg"/>
          </p:nvPr>
        </p:nvSpPr>
        <p:spPr>
          <a:xfrm>
            <a:off x="1181160" y="696960"/>
            <a:ext cx="4648320" cy="3486240"/>
          </a:xfrm>
          <a:prstGeom prst="rect">
            <a:avLst/>
          </a:prstGeom>
          <a:ln w="0">
            <a:noFill/>
          </a:ln>
        </p:spPr>
      </p:sp>
      <p:sp>
        <p:nvSpPr>
          <p:cNvPr id="321"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86AA548D-1F85-435B-ADFD-40E2498508B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23" name="PlaceHolder 1"/>
          <p:cNvSpPr>
            <a:spLocks noGrp="1"/>
          </p:cNvSpPr>
          <p:nvPr>
            <p:ph type="sldImg"/>
          </p:nvPr>
        </p:nvSpPr>
        <p:spPr>
          <a:xfrm>
            <a:off x="1181160" y="696960"/>
            <a:ext cx="4648320" cy="3486240"/>
          </a:xfrm>
          <a:prstGeom prst="rect">
            <a:avLst/>
          </a:prstGeom>
          <a:ln w="0">
            <a:noFill/>
          </a:ln>
        </p:spPr>
      </p:sp>
      <p:sp>
        <p:nvSpPr>
          <p:cNvPr id="32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BC97D56D-1E53-4051-9694-B5A0A6AA49D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26" name="PlaceHolder 1"/>
          <p:cNvSpPr>
            <a:spLocks noGrp="1"/>
          </p:cNvSpPr>
          <p:nvPr>
            <p:ph type="sldImg"/>
          </p:nvPr>
        </p:nvSpPr>
        <p:spPr>
          <a:xfrm>
            <a:off x="1181160" y="696960"/>
            <a:ext cx="4648320" cy="3486240"/>
          </a:xfrm>
          <a:prstGeom prst="rect">
            <a:avLst/>
          </a:prstGeom>
          <a:ln w="0">
            <a:noFill/>
          </a:ln>
        </p:spPr>
      </p:sp>
      <p:sp>
        <p:nvSpPr>
          <p:cNvPr id="327"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F9F2C724-E0FC-4CAD-B094-9796B7D1AD64}"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29" name="PlaceHolder 1"/>
          <p:cNvSpPr>
            <a:spLocks noGrp="1"/>
          </p:cNvSpPr>
          <p:nvPr>
            <p:ph type="sldImg"/>
          </p:nvPr>
        </p:nvSpPr>
        <p:spPr>
          <a:xfrm>
            <a:off x="1181160" y="696960"/>
            <a:ext cx="4648320" cy="3486240"/>
          </a:xfrm>
          <a:prstGeom prst="rect">
            <a:avLst/>
          </a:prstGeom>
          <a:ln w="0">
            <a:noFill/>
          </a:ln>
        </p:spPr>
      </p:sp>
      <p:sp>
        <p:nvSpPr>
          <p:cNvPr id="330"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0C4EDCE2-DD81-4D32-834A-BEDA43A56936}"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32" name="PlaceHolder 1"/>
          <p:cNvSpPr>
            <a:spLocks noGrp="1"/>
          </p:cNvSpPr>
          <p:nvPr>
            <p:ph type="sldImg"/>
          </p:nvPr>
        </p:nvSpPr>
        <p:spPr>
          <a:xfrm>
            <a:off x="1181160" y="696960"/>
            <a:ext cx="4648320" cy="3486240"/>
          </a:xfrm>
          <a:prstGeom prst="rect">
            <a:avLst/>
          </a:prstGeom>
          <a:ln w="0">
            <a:noFill/>
          </a:ln>
        </p:spPr>
      </p:sp>
      <p:sp>
        <p:nvSpPr>
          <p:cNvPr id="333"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4015EF4B-37A6-4329-82C1-F2D9A14F43C3}"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35" name="PlaceHolder 1"/>
          <p:cNvSpPr>
            <a:spLocks noGrp="1"/>
          </p:cNvSpPr>
          <p:nvPr>
            <p:ph type="sldImg"/>
          </p:nvPr>
        </p:nvSpPr>
        <p:spPr>
          <a:xfrm>
            <a:off x="1181160" y="696960"/>
            <a:ext cx="4648320" cy="3486240"/>
          </a:xfrm>
          <a:prstGeom prst="rect">
            <a:avLst/>
          </a:prstGeom>
          <a:ln w="0">
            <a:noFill/>
          </a:ln>
        </p:spPr>
      </p:sp>
      <p:sp>
        <p:nvSpPr>
          <p:cNvPr id="336"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8920B76E-E4D5-48B7-A25F-325BDCCC4453}"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38" name="PlaceHolder 1"/>
          <p:cNvSpPr>
            <a:spLocks noGrp="1"/>
          </p:cNvSpPr>
          <p:nvPr>
            <p:ph type="sldImg"/>
          </p:nvPr>
        </p:nvSpPr>
        <p:spPr>
          <a:xfrm>
            <a:off x="1181160" y="696960"/>
            <a:ext cx="4648320" cy="3486240"/>
          </a:xfrm>
          <a:prstGeom prst="rect">
            <a:avLst/>
          </a:prstGeom>
          <a:ln w="0">
            <a:noFill/>
          </a:ln>
        </p:spPr>
      </p:sp>
      <p:sp>
        <p:nvSpPr>
          <p:cNvPr id="339"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0DCA4B44-1656-47FE-BF07-CA2B01C464A3}"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41" name="PlaceHolder 1"/>
          <p:cNvSpPr>
            <a:spLocks noGrp="1"/>
          </p:cNvSpPr>
          <p:nvPr>
            <p:ph type="sldImg"/>
          </p:nvPr>
        </p:nvSpPr>
        <p:spPr>
          <a:xfrm>
            <a:off x="1181160" y="696960"/>
            <a:ext cx="4648320" cy="3486240"/>
          </a:xfrm>
          <a:prstGeom prst="rect">
            <a:avLst/>
          </a:prstGeom>
          <a:ln w="0">
            <a:noFill/>
          </a:ln>
        </p:spPr>
      </p:sp>
      <p:sp>
        <p:nvSpPr>
          <p:cNvPr id="342"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5D114B35-5E2E-4055-A0CE-7B4B20F07B96}"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44" name="PlaceHolder 1"/>
          <p:cNvSpPr>
            <a:spLocks noGrp="1"/>
          </p:cNvSpPr>
          <p:nvPr>
            <p:ph type="sldImg"/>
          </p:nvPr>
        </p:nvSpPr>
        <p:spPr>
          <a:xfrm>
            <a:off x="1181160" y="696960"/>
            <a:ext cx="4648320" cy="3486240"/>
          </a:xfrm>
          <a:prstGeom prst="rect">
            <a:avLst/>
          </a:prstGeom>
          <a:ln w="0">
            <a:noFill/>
          </a:ln>
        </p:spPr>
      </p:sp>
      <p:sp>
        <p:nvSpPr>
          <p:cNvPr id="345"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69C5A1B1-0FAD-4DE5-A86E-F01A5FF3D607}"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47" name="PlaceHolder 1"/>
          <p:cNvSpPr>
            <a:spLocks noGrp="1"/>
          </p:cNvSpPr>
          <p:nvPr>
            <p:ph type="sldImg"/>
          </p:nvPr>
        </p:nvSpPr>
        <p:spPr>
          <a:xfrm>
            <a:off x="1181160" y="696960"/>
            <a:ext cx="4648320" cy="3486240"/>
          </a:xfrm>
          <a:prstGeom prst="rect">
            <a:avLst/>
          </a:prstGeom>
          <a:ln w="0">
            <a:noFill/>
          </a:ln>
        </p:spPr>
      </p:sp>
      <p:sp>
        <p:nvSpPr>
          <p:cNvPr id="348"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23132124-2BA6-4FCC-BA22-3AB95921F0CD}"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50" name="PlaceHolder 1"/>
          <p:cNvSpPr>
            <a:spLocks noGrp="1"/>
          </p:cNvSpPr>
          <p:nvPr>
            <p:ph type="sldImg"/>
          </p:nvPr>
        </p:nvSpPr>
        <p:spPr>
          <a:xfrm>
            <a:off x="1181160" y="696960"/>
            <a:ext cx="4648320" cy="3486240"/>
          </a:xfrm>
          <a:prstGeom prst="rect">
            <a:avLst/>
          </a:prstGeom>
          <a:ln w="0">
            <a:noFill/>
          </a:ln>
        </p:spPr>
      </p:sp>
      <p:sp>
        <p:nvSpPr>
          <p:cNvPr id="351"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7DD87F2E-7B4A-48CC-8C30-C8B4C011EB61}"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53" name="PlaceHolder 1"/>
          <p:cNvSpPr>
            <a:spLocks noGrp="1"/>
          </p:cNvSpPr>
          <p:nvPr>
            <p:ph type="sldImg"/>
          </p:nvPr>
        </p:nvSpPr>
        <p:spPr>
          <a:xfrm>
            <a:off x="1181160" y="696960"/>
            <a:ext cx="4648320" cy="3486240"/>
          </a:xfrm>
          <a:prstGeom prst="rect">
            <a:avLst/>
          </a:prstGeom>
          <a:ln w="0">
            <a:noFill/>
          </a:ln>
        </p:spPr>
      </p:sp>
      <p:sp>
        <p:nvSpPr>
          <p:cNvPr id="35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C297401-3776-48B6-9873-1E4EFF50CD14}"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56" name="PlaceHolder 1"/>
          <p:cNvSpPr>
            <a:spLocks noGrp="1"/>
          </p:cNvSpPr>
          <p:nvPr>
            <p:ph type="sldImg"/>
          </p:nvPr>
        </p:nvSpPr>
        <p:spPr>
          <a:xfrm>
            <a:off x="1181160" y="696960"/>
            <a:ext cx="4648320" cy="3486240"/>
          </a:xfrm>
          <a:prstGeom prst="rect">
            <a:avLst/>
          </a:prstGeom>
          <a:ln w="0">
            <a:noFill/>
          </a:ln>
        </p:spPr>
      </p:sp>
      <p:sp>
        <p:nvSpPr>
          <p:cNvPr id="357"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C22768B5-57C1-49F9-AE6B-1FC4C705E7A2}"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59" name="PlaceHolder 1"/>
          <p:cNvSpPr>
            <a:spLocks noGrp="1"/>
          </p:cNvSpPr>
          <p:nvPr>
            <p:ph type="sldImg"/>
          </p:nvPr>
        </p:nvSpPr>
        <p:spPr>
          <a:xfrm>
            <a:off x="1181160" y="696960"/>
            <a:ext cx="4648320" cy="3486240"/>
          </a:xfrm>
          <a:prstGeom prst="rect">
            <a:avLst/>
          </a:prstGeom>
          <a:ln w="0">
            <a:noFill/>
          </a:ln>
        </p:spPr>
      </p:sp>
      <p:sp>
        <p:nvSpPr>
          <p:cNvPr id="360"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08B549D9-9EE9-49FD-A557-AACC3D6FCC7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62" name="PlaceHolder 1"/>
          <p:cNvSpPr>
            <a:spLocks noGrp="1"/>
          </p:cNvSpPr>
          <p:nvPr>
            <p:ph type="sldImg"/>
          </p:nvPr>
        </p:nvSpPr>
        <p:spPr>
          <a:xfrm>
            <a:off x="1181160" y="696960"/>
            <a:ext cx="4648320" cy="3486240"/>
          </a:xfrm>
          <a:prstGeom prst="rect">
            <a:avLst/>
          </a:prstGeom>
          <a:ln w="0">
            <a:noFill/>
          </a:ln>
        </p:spPr>
      </p:sp>
      <p:sp>
        <p:nvSpPr>
          <p:cNvPr id="363"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F12D61F0-C18B-4CBA-850E-2E43BD934B73}"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65" name="PlaceHolder 1"/>
          <p:cNvSpPr>
            <a:spLocks noGrp="1"/>
          </p:cNvSpPr>
          <p:nvPr>
            <p:ph type="sldImg"/>
          </p:nvPr>
        </p:nvSpPr>
        <p:spPr>
          <a:xfrm>
            <a:off x="1181160" y="696960"/>
            <a:ext cx="4648320" cy="3486240"/>
          </a:xfrm>
          <a:prstGeom prst="rect">
            <a:avLst/>
          </a:prstGeom>
          <a:ln w="0">
            <a:noFill/>
          </a:ln>
        </p:spPr>
      </p:sp>
      <p:sp>
        <p:nvSpPr>
          <p:cNvPr id="366"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F1E3E6FD-AD52-475A-9E92-A76C610E9735}"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68" name="PlaceHolder 1"/>
          <p:cNvSpPr>
            <a:spLocks noGrp="1"/>
          </p:cNvSpPr>
          <p:nvPr>
            <p:ph type="sldImg"/>
          </p:nvPr>
        </p:nvSpPr>
        <p:spPr>
          <a:xfrm>
            <a:off x="1181160" y="696960"/>
            <a:ext cx="4648320" cy="3486240"/>
          </a:xfrm>
          <a:prstGeom prst="rect">
            <a:avLst/>
          </a:prstGeom>
          <a:ln w="0">
            <a:noFill/>
          </a:ln>
        </p:spPr>
      </p:sp>
      <p:sp>
        <p:nvSpPr>
          <p:cNvPr id="369"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5D9322BD-8576-46EC-886E-7E4481F0872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71" name="PlaceHolder 1"/>
          <p:cNvSpPr>
            <a:spLocks noGrp="1"/>
          </p:cNvSpPr>
          <p:nvPr>
            <p:ph type="sldImg"/>
          </p:nvPr>
        </p:nvSpPr>
        <p:spPr>
          <a:xfrm>
            <a:off x="1181160" y="696960"/>
            <a:ext cx="4648320" cy="3486240"/>
          </a:xfrm>
          <a:prstGeom prst="rect">
            <a:avLst/>
          </a:prstGeom>
          <a:ln w="0">
            <a:noFill/>
          </a:ln>
        </p:spPr>
      </p:sp>
      <p:sp>
        <p:nvSpPr>
          <p:cNvPr id="372"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71F97381-5EB5-46E8-B71F-69D32890BE82}"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74" name="PlaceHolder 1"/>
          <p:cNvSpPr>
            <a:spLocks noGrp="1"/>
          </p:cNvSpPr>
          <p:nvPr>
            <p:ph type="sldImg"/>
          </p:nvPr>
        </p:nvSpPr>
        <p:spPr>
          <a:xfrm>
            <a:off x="1181160" y="696960"/>
            <a:ext cx="4648320" cy="3486240"/>
          </a:xfrm>
          <a:prstGeom prst="rect">
            <a:avLst/>
          </a:prstGeom>
          <a:ln w="0">
            <a:noFill/>
          </a:ln>
        </p:spPr>
      </p:sp>
      <p:sp>
        <p:nvSpPr>
          <p:cNvPr id="375"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C9B293E1-6635-4321-9074-5C8809DD5EF3}"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77" name="PlaceHolder 1"/>
          <p:cNvSpPr>
            <a:spLocks noGrp="1"/>
          </p:cNvSpPr>
          <p:nvPr>
            <p:ph type="sldImg"/>
          </p:nvPr>
        </p:nvSpPr>
        <p:spPr>
          <a:xfrm>
            <a:off x="1181160" y="696960"/>
            <a:ext cx="4648320" cy="3486240"/>
          </a:xfrm>
          <a:prstGeom prst="rect">
            <a:avLst/>
          </a:prstGeom>
          <a:ln w="0">
            <a:noFill/>
          </a:ln>
        </p:spPr>
      </p:sp>
      <p:sp>
        <p:nvSpPr>
          <p:cNvPr id="378"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7E0BE288-649A-47F6-B1BB-ED36127E6D8A}"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80" name="PlaceHolder 1"/>
          <p:cNvSpPr>
            <a:spLocks noGrp="1"/>
          </p:cNvSpPr>
          <p:nvPr>
            <p:ph type="sldImg"/>
          </p:nvPr>
        </p:nvSpPr>
        <p:spPr>
          <a:xfrm>
            <a:off x="1181160" y="696960"/>
            <a:ext cx="4648320" cy="3486240"/>
          </a:xfrm>
          <a:prstGeom prst="rect">
            <a:avLst/>
          </a:prstGeom>
          <a:ln w="0">
            <a:noFill/>
          </a:ln>
        </p:spPr>
      </p:sp>
      <p:sp>
        <p:nvSpPr>
          <p:cNvPr id="381"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D53465EF-8AE1-4B66-BC6F-DEF16902A05C}"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83" name="PlaceHolder 1"/>
          <p:cNvSpPr>
            <a:spLocks noGrp="1"/>
          </p:cNvSpPr>
          <p:nvPr>
            <p:ph type="sldImg"/>
          </p:nvPr>
        </p:nvSpPr>
        <p:spPr>
          <a:xfrm>
            <a:off x="1181160" y="696960"/>
            <a:ext cx="4648320" cy="3486240"/>
          </a:xfrm>
          <a:prstGeom prst="rect">
            <a:avLst/>
          </a:prstGeom>
          <a:ln w="0">
            <a:noFill/>
          </a:ln>
        </p:spPr>
      </p:sp>
      <p:sp>
        <p:nvSpPr>
          <p:cNvPr id="38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9927CBD4-2D1A-4183-9990-5D03509F676D}"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86" name="PlaceHolder 1"/>
          <p:cNvSpPr>
            <a:spLocks noGrp="1"/>
          </p:cNvSpPr>
          <p:nvPr>
            <p:ph type="sldImg"/>
          </p:nvPr>
        </p:nvSpPr>
        <p:spPr>
          <a:xfrm>
            <a:off x="1181160" y="696960"/>
            <a:ext cx="4648320" cy="3486240"/>
          </a:xfrm>
          <a:prstGeom prst="rect">
            <a:avLst/>
          </a:prstGeom>
          <a:ln w="0">
            <a:noFill/>
          </a:ln>
        </p:spPr>
      </p:sp>
      <p:sp>
        <p:nvSpPr>
          <p:cNvPr id="387"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C1C62348-2A9D-494A-928B-CC5335A18EB9}"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89" name="PlaceHolder 1"/>
          <p:cNvSpPr>
            <a:spLocks noGrp="1"/>
          </p:cNvSpPr>
          <p:nvPr>
            <p:ph type="sldImg"/>
          </p:nvPr>
        </p:nvSpPr>
        <p:spPr>
          <a:xfrm>
            <a:off x="1181160" y="696960"/>
            <a:ext cx="4648320" cy="3486240"/>
          </a:xfrm>
          <a:prstGeom prst="rect">
            <a:avLst/>
          </a:prstGeom>
          <a:ln w="0">
            <a:noFill/>
          </a:ln>
        </p:spPr>
      </p:sp>
      <p:sp>
        <p:nvSpPr>
          <p:cNvPr id="390"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49195EE3-8E88-4AA6-9A8A-639D1AEB2D5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92" name="PlaceHolder 1"/>
          <p:cNvSpPr>
            <a:spLocks noGrp="1"/>
          </p:cNvSpPr>
          <p:nvPr>
            <p:ph type="sldImg"/>
          </p:nvPr>
        </p:nvSpPr>
        <p:spPr>
          <a:xfrm>
            <a:off x="1181160" y="696960"/>
            <a:ext cx="4648320" cy="3486240"/>
          </a:xfrm>
          <a:prstGeom prst="rect">
            <a:avLst/>
          </a:prstGeom>
          <a:ln w="0">
            <a:noFill/>
          </a:ln>
        </p:spPr>
      </p:sp>
      <p:sp>
        <p:nvSpPr>
          <p:cNvPr id="393"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1DEFB41B-B3F7-4809-980D-930D3665C4B2}"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95" name="PlaceHolder 1"/>
          <p:cNvSpPr>
            <a:spLocks noGrp="1"/>
          </p:cNvSpPr>
          <p:nvPr>
            <p:ph type="sldImg"/>
          </p:nvPr>
        </p:nvSpPr>
        <p:spPr>
          <a:xfrm>
            <a:off x="1181160" y="696960"/>
            <a:ext cx="4648320" cy="3486240"/>
          </a:xfrm>
          <a:prstGeom prst="rect">
            <a:avLst/>
          </a:prstGeom>
          <a:ln w="0">
            <a:noFill/>
          </a:ln>
        </p:spPr>
      </p:sp>
      <p:sp>
        <p:nvSpPr>
          <p:cNvPr id="396"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5795AB8D-2172-4CA2-A23C-3EFBFB5A600C}"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398" name="PlaceHolder 1"/>
          <p:cNvSpPr>
            <a:spLocks noGrp="1"/>
          </p:cNvSpPr>
          <p:nvPr>
            <p:ph type="sldImg"/>
          </p:nvPr>
        </p:nvSpPr>
        <p:spPr>
          <a:xfrm>
            <a:off x="1181160" y="696960"/>
            <a:ext cx="4648320" cy="3486240"/>
          </a:xfrm>
          <a:prstGeom prst="rect">
            <a:avLst/>
          </a:prstGeom>
          <a:ln w="0">
            <a:noFill/>
          </a:ln>
        </p:spPr>
      </p:sp>
      <p:sp>
        <p:nvSpPr>
          <p:cNvPr id="399"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BBC7834F-ABE8-446F-9D7B-2B3084957DC3}"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01" name="PlaceHolder 1"/>
          <p:cNvSpPr>
            <a:spLocks noGrp="1"/>
          </p:cNvSpPr>
          <p:nvPr>
            <p:ph type="sldImg"/>
          </p:nvPr>
        </p:nvSpPr>
        <p:spPr>
          <a:xfrm>
            <a:off x="1181160" y="696960"/>
            <a:ext cx="4648320" cy="3486240"/>
          </a:xfrm>
          <a:prstGeom prst="rect">
            <a:avLst/>
          </a:prstGeom>
          <a:ln w="0">
            <a:noFill/>
          </a:ln>
        </p:spPr>
      </p:sp>
      <p:sp>
        <p:nvSpPr>
          <p:cNvPr id="402"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E877489D-87F3-4EE0-8B31-AFC142CAEF99}"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04" name="PlaceHolder 1"/>
          <p:cNvSpPr>
            <a:spLocks noGrp="1"/>
          </p:cNvSpPr>
          <p:nvPr>
            <p:ph type="sldImg"/>
          </p:nvPr>
        </p:nvSpPr>
        <p:spPr>
          <a:xfrm>
            <a:off x="1181160" y="696960"/>
            <a:ext cx="4648320" cy="3486240"/>
          </a:xfrm>
          <a:prstGeom prst="rect">
            <a:avLst/>
          </a:prstGeom>
          <a:ln w="0">
            <a:noFill/>
          </a:ln>
        </p:spPr>
      </p:sp>
      <p:sp>
        <p:nvSpPr>
          <p:cNvPr id="405"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B52CFEE2-5580-435B-A52F-A21401E408A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0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C88E13D4-22EA-4CDB-B8C5-67D4535D2D7E}"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08" name="PlaceHolder 1"/>
          <p:cNvSpPr>
            <a:spLocks noGrp="1"/>
          </p:cNvSpPr>
          <p:nvPr>
            <p:ph type="sldImg"/>
          </p:nvPr>
        </p:nvSpPr>
        <p:spPr>
          <a:xfrm>
            <a:off x="1181160" y="696960"/>
            <a:ext cx="4648320" cy="3486240"/>
          </a:xfrm>
          <a:prstGeom prst="rect">
            <a:avLst/>
          </a:prstGeom>
          <a:ln w="0">
            <a:noFill/>
          </a:ln>
        </p:spPr>
      </p:sp>
      <p:sp>
        <p:nvSpPr>
          <p:cNvPr id="409"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39A67110-DEEF-49FC-AC86-82B537627BC0}"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11" name="PlaceHolder 1"/>
          <p:cNvSpPr>
            <a:spLocks noGrp="1"/>
          </p:cNvSpPr>
          <p:nvPr>
            <p:ph type="sldImg"/>
          </p:nvPr>
        </p:nvSpPr>
        <p:spPr>
          <a:xfrm>
            <a:off x="1181160" y="696960"/>
            <a:ext cx="4648320" cy="3486240"/>
          </a:xfrm>
          <a:prstGeom prst="rect">
            <a:avLst/>
          </a:prstGeom>
          <a:ln w="0">
            <a:noFill/>
          </a:ln>
        </p:spPr>
      </p:sp>
      <p:sp>
        <p:nvSpPr>
          <p:cNvPr id="412"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E04DB492-B323-412B-912C-16906582AF6D}"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14" name="PlaceHolder 1"/>
          <p:cNvSpPr>
            <a:spLocks noGrp="1"/>
          </p:cNvSpPr>
          <p:nvPr>
            <p:ph type="sldImg"/>
          </p:nvPr>
        </p:nvSpPr>
        <p:spPr>
          <a:xfrm>
            <a:off x="1181160" y="696960"/>
            <a:ext cx="4648320" cy="3486240"/>
          </a:xfrm>
          <a:prstGeom prst="rect">
            <a:avLst/>
          </a:prstGeom>
          <a:ln w="0">
            <a:noFill/>
          </a:ln>
        </p:spPr>
      </p:sp>
      <p:sp>
        <p:nvSpPr>
          <p:cNvPr id="415"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1D206105-74EE-4BDC-9F4D-8B05DF531F6C}"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17" name="PlaceHolder 1"/>
          <p:cNvSpPr>
            <a:spLocks noGrp="1"/>
          </p:cNvSpPr>
          <p:nvPr>
            <p:ph type="sldImg"/>
          </p:nvPr>
        </p:nvSpPr>
        <p:spPr>
          <a:xfrm>
            <a:off x="1181160" y="696960"/>
            <a:ext cx="4648320" cy="3486240"/>
          </a:xfrm>
          <a:prstGeom prst="rect">
            <a:avLst/>
          </a:prstGeom>
          <a:ln w="0">
            <a:noFill/>
          </a:ln>
        </p:spPr>
      </p:sp>
      <p:sp>
        <p:nvSpPr>
          <p:cNvPr id="418"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7CF2A96D-DDF7-4B76-8C1C-1B4B6010808E}"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20" name="PlaceHolder 1"/>
          <p:cNvSpPr>
            <a:spLocks noGrp="1"/>
          </p:cNvSpPr>
          <p:nvPr>
            <p:ph type="sldImg"/>
          </p:nvPr>
        </p:nvSpPr>
        <p:spPr>
          <a:xfrm>
            <a:off x="1181160" y="696960"/>
            <a:ext cx="4648320" cy="3486240"/>
          </a:xfrm>
          <a:prstGeom prst="rect">
            <a:avLst/>
          </a:prstGeom>
          <a:ln w="0">
            <a:noFill/>
          </a:ln>
        </p:spPr>
      </p:sp>
      <p:sp>
        <p:nvSpPr>
          <p:cNvPr id="421"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A4EB3D60-3663-4911-84EA-CE09C5C5EA41}"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23" name="PlaceHolder 1"/>
          <p:cNvSpPr>
            <a:spLocks noGrp="1"/>
          </p:cNvSpPr>
          <p:nvPr>
            <p:ph type="sldImg"/>
          </p:nvPr>
        </p:nvSpPr>
        <p:spPr>
          <a:xfrm>
            <a:off x="1181160" y="696960"/>
            <a:ext cx="4648320" cy="3486240"/>
          </a:xfrm>
          <a:prstGeom prst="rect">
            <a:avLst/>
          </a:prstGeom>
          <a:ln w="0">
            <a:noFill/>
          </a:ln>
        </p:spPr>
      </p:sp>
      <p:sp>
        <p:nvSpPr>
          <p:cNvPr id="42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286664E1-72A4-4461-A897-682B78D3C85E}"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26" name="PlaceHolder 1"/>
          <p:cNvSpPr>
            <a:spLocks noGrp="1"/>
          </p:cNvSpPr>
          <p:nvPr>
            <p:ph type="sldImg"/>
          </p:nvPr>
        </p:nvSpPr>
        <p:spPr>
          <a:xfrm>
            <a:off x="1181160" y="696960"/>
            <a:ext cx="4648320" cy="3486240"/>
          </a:xfrm>
          <a:prstGeom prst="rect">
            <a:avLst/>
          </a:prstGeom>
          <a:ln w="0">
            <a:noFill/>
          </a:ln>
        </p:spPr>
      </p:sp>
      <p:sp>
        <p:nvSpPr>
          <p:cNvPr id="427" name="PlaceHolder 2"/>
          <p:cNvSpPr>
            <a:spLocks noGrp="1"/>
          </p:cNvSpPr>
          <p:nvPr>
            <p:ph type="body"/>
          </p:nvPr>
        </p:nvSpPr>
        <p:spPr>
          <a:xfrm>
            <a:off x="934560" y="4416120"/>
            <a:ext cx="5140440" cy="41828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143000" y="609120"/>
            <a:ext cx="723888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imes New Roman"/>
              </a:rPr>
              <a:t>Click to edit the title text format</a:t>
            </a:r>
            <a:endParaRPr b="0" lang="en-IN" sz="4400" strike="noStrike" u="none">
              <a:solidFill>
                <a:srgbClr val="ffffff"/>
              </a:solidFill>
              <a:effectLst/>
              <a:uFillTx/>
              <a:latin typeface="Times New Roman"/>
            </a:endParaRPr>
          </a:p>
        </p:txBody>
      </p:sp>
      <p:sp>
        <p:nvSpPr>
          <p:cNvPr id="1" name="PlaceHolder 2"/>
          <p:cNvSpPr>
            <a:spLocks noGrp="1"/>
          </p:cNvSpPr>
          <p:nvPr>
            <p:ph type="body"/>
          </p:nvPr>
        </p:nvSpPr>
        <p:spPr>
          <a:xfrm>
            <a:off x="1143000" y="1904760"/>
            <a:ext cx="6934320" cy="3733560"/>
          </a:xfrm>
          <a:prstGeom prst="rect">
            <a:avLst/>
          </a:prstGeom>
          <a:noFill/>
          <a:ln w="0">
            <a:noFill/>
          </a:ln>
        </p:spPr>
        <p:txBody>
          <a:bodyPr lIns="90000" rIns="90000" tIns="46800" bIns="4680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Click to edit the outline text format</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Second Outline Level</a:t>
            </a:r>
            <a:endParaRPr b="0" lang="en-IN" sz="2400" strike="noStrike" u="none">
              <a:solidFill>
                <a:srgbClr val="000000"/>
              </a:solidFill>
              <a:effectLst/>
              <a:uFillTx/>
              <a:latin typeface="Arial"/>
            </a:endParaRPr>
          </a:p>
          <a:p>
            <a:pPr lvl="2" marL="11430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Third Outline Level</a:t>
            </a:r>
            <a:endParaRPr b="0" lang="en-IN" sz="2400" strike="noStrike" u="none">
              <a:solidFill>
                <a:srgbClr val="000000"/>
              </a:solidFill>
              <a:effectLst/>
              <a:uFillTx/>
              <a:latin typeface="Arial"/>
            </a:endParaRPr>
          </a:p>
          <a:p>
            <a:pPr lvl="3" marL="16002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Fourth Outline Level</a:t>
            </a:r>
            <a:endParaRPr b="0" lang="en-IN" sz="2400" strike="noStrike" u="none">
              <a:solidFill>
                <a:srgbClr val="000000"/>
              </a:solidFill>
              <a:effectLst/>
              <a:uFillTx/>
              <a:latin typeface="Arial"/>
            </a:endParaRPr>
          </a:p>
          <a:p>
            <a:pPr lvl="4" marL="20574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Fifth Outline Level</a:t>
            </a:r>
            <a:endParaRPr b="0" lang="en-IN" sz="2400" strike="noStrike" u="none">
              <a:solidFill>
                <a:srgbClr val="000000"/>
              </a:solidFill>
              <a:effectLst/>
              <a:uFillTx/>
              <a:latin typeface="Arial"/>
            </a:endParaRPr>
          </a:p>
          <a:p>
            <a:pPr lvl="5" marL="20574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Sixth Outline Level</a:t>
            </a:r>
            <a:endParaRPr b="0" lang="en-IN" sz="2400" strike="noStrike" u="none">
              <a:solidFill>
                <a:srgbClr val="000000"/>
              </a:solidFill>
              <a:effectLst/>
              <a:uFillTx/>
              <a:latin typeface="Arial"/>
            </a:endParaRPr>
          </a:p>
          <a:p>
            <a:pPr lvl="6" marL="20574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Seventh Outline Level</a:t>
            </a:r>
            <a:endParaRPr b="0" lang="en-IN" sz="2400" strike="noStrike" u="none">
              <a:solidFill>
                <a:srgbClr val="000000"/>
              </a:solidFill>
              <a:effectLst/>
              <a:uFillTx/>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671A970-8B15-464F-A597-AC57F4AAEAE6}" type="slidenum">
              <a:rPr b="0" lang="en-US"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pic>
        <p:nvPicPr>
          <p:cNvPr id="5" name="Picture 7" descr="ENCOMPASS_Indiana Logo_ver04_FINAL_LOGO_ONLY"/>
          <p:cNvPicPr/>
          <p:nvPr/>
        </p:nvPicPr>
        <p:blipFill>
          <a:blip r:embed="rId3"/>
          <a:stretch/>
        </p:blipFill>
        <p:spPr>
          <a:xfrm>
            <a:off x="0" y="0"/>
            <a:ext cx="1590840" cy="2057400"/>
          </a:xfrm>
          <a:prstGeom prst="rect">
            <a:avLst/>
          </a:prstGeom>
          <a:noFill/>
          <a:ln w="0">
            <a:noFill/>
          </a:ln>
        </p:spPr>
      </p:pic>
      <p:pic>
        <p:nvPicPr>
          <p:cNvPr id="6" name="Picture 8" descr="entap logo"/>
          <p:cNvPicPr/>
          <p:nvPr/>
        </p:nvPicPr>
        <p:blipFill>
          <a:blip r:embed="rId4"/>
          <a:stretch/>
        </p:blipFill>
        <p:spPr>
          <a:xfrm>
            <a:off x="7620120" y="228600"/>
            <a:ext cx="1352520" cy="57168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blipFill rotWithShape="0">
          <a:blip r:embed="rId2"/>
          <a:stretch/>
        </a:blip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143000" y="609120"/>
            <a:ext cx="723888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imes New Roman"/>
              </a:rPr>
              <a:t>Click to edit the title text format</a:t>
            </a:r>
            <a:endParaRPr b="0" lang="en-IN" sz="4400" strike="noStrike" u="none">
              <a:solidFill>
                <a:srgbClr val="ffffff"/>
              </a:solidFill>
              <a:effectLst/>
              <a:uFillTx/>
              <a:latin typeface="Times New Roman"/>
            </a:endParaRPr>
          </a:p>
        </p:txBody>
      </p:sp>
      <p:sp>
        <p:nvSpPr>
          <p:cNvPr id="8" name="PlaceHolder 2"/>
          <p:cNvSpPr>
            <a:spLocks noGrp="1"/>
          </p:cNvSpPr>
          <p:nvPr>
            <p:ph type="body"/>
          </p:nvPr>
        </p:nvSpPr>
        <p:spPr>
          <a:xfrm>
            <a:off x="1143000" y="1904760"/>
            <a:ext cx="6934320" cy="3733560"/>
          </a:xfrm>
          <a:prstGeom prst="rect">
            <a:avLst/>
          </a:prstGeom>
          <a:noFill/>
          <a:ln w="0">
            <a:noFill/>
          </a:ln>
        </p:spPr>
        <p:txBody>
          <a:bodyPr lIns="90000" rIns="90000" tIns="46800" bIns="4680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Click to edit the outline text format</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Second Outline Level</a:t>
            </a:r>
            <a:endParaRPr b="0" lang="en-IN" sz="2400" strike="noStrike" u="none">
              <a:solidFill>
                <a:srgbClr val="000000"/>
              </a:solidFill>
              <a:effectLst/>
              <a:uFillTx/>
              <a:latin typeface="Arial"/>
            </a:endParaRPr>
          </a:p>
          <a:p>
            <a:pPr lvl="2" marL="11430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Third Outline Level</a:t>
            </a:r>
            <a:endParaRPr b="0" lang="en-IN" sz="2400" strike="noStrike" u="none">
              <a:solidFill>
                <a:srgbClr val="000000"/>
              </a:solidFill>
              <a:effectLst/>
              <a:uFillTx/>
              <a:latin typeface="Arial"/>
            </a:endParaRPr>
          </a:p>
          <a:p>
            <a:pPr lvl="3" marL="16002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Fourth Outline Level</a:t>
            </a:r>
            <a:endParaRPr b="0" lang="en-IN" sz="2400" strike="noStrike" u="none">
              <a:solidFill>
                <a:srgbClr val="000000"/>
              </a:solidFill>
              <a:effectLst/>
              <a:uFillTx/>
              <a:latin typeface="Arial"/>
            </a:endParaRPr>
          </a:p>
          <a:p>
            <a:pPr lvl="4" marL="20574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Fifth Outline Level</a:t>
            </a:r>
            <a:endParaRPr b="0" lang="en-IN" sz="2400" strike="noStrike" u="none">
              <a:solidFill>
                <a:srgbClr val="000000"/>
              </a:solidFill>
              <a:effectLst/>
              <a:uFillTx/>
              <a:latin typeface="Arial"/>
            </a:endParaRPr>
          </a:p>
          <a:p>
            <a:pPr lvl="5" marL="20574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Sixth Outline Level</a:t>
            </a:r>
            <a:endParaRPr b="0" lang="en-IN" sz="2400" strike="noStrike" u="none">
              <a:solidFill>
                <a:srgbClr val="000000"/>
              </a:solidFill>
              <a:effectLst/>
              <a:uFillTx/>
              <a:latin typeface="Arial"/>
            </a:endParaRPr>
          </a:p>
          <a:p>
            <a:pPr lvl="6" marL="2057400" indent="-22860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Seventh Outline Level</a:t>
            </a:r>
            <a:endParaRPr b="0" lang="en-IN" sz="2400" strike="noStrike" u="none">
              <a:solidFill>
                <a:srgbClr val="000000"/>
              </a:solidFill>
              <a:effectLst/>
              <a:uFillTx/>
              <a:latin typeface="Arial"/>
            </a:endParaRPr>
          </a:p>
        </p:txBody>
      </p:sp>
      <p:sp>
        <p:nvSpPr>
          <p:cNvPr id="9" name="PlaceHolder 3"/>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 name="PlaceHolder 4"/>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1" name="PlaceHolder 5"/>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10EEDCC-63EB-4D47-9FEF-CE6CC830988B}" type="slidenum">
              <a:rPr b="0" lang="en-US"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4.wmf"/><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hyperlink" Target="https://myshare.in.gov/sba/encompass/default.aspx" TargetMode="External"/><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6.wmf"/><Relationship Id="rId3" Type="http://schemas.openxmlformats.org/officeDocument/2006/relationships/slideLayout" Target="../slideLayouts/slideLayout1.xml"/><Relationship Id="rId4"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hyperlink" Target="https://myshare.in.gov/sba/encompass/default.aspx" TargetMode="External"/><Relationship Id="rId2" Type="http://schemas.openxmlformats.org/officeDocument/2006/relationships/slideLayout" Target="../slideLayouts/slideLayout1.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7.wmf"/><Relationship Id="rId2" Type="http://schemas.openxmlformats.org/officeDocument/2006/relationships/slideLayout" Target="../slideLayouts/slideLayout1.xml"/><Relationship Id="rId3" Type="http://schemas.openxmlformats.org/officeDocument/2006/relationships/notesSlide" Target="../notesSlides/notesSlide5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3720"/>
            <a:ext cx="7772400" cy="8380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Intermediate Asset Management Training</a:t>
            </a:r>
            <a:endParaRPr b="0" lang="en-IN" sz="4000" strike="noStrike" u="none">
              <a:solidFill>
                <a:srgbClr val="ffffff"/>
              </a:solidFill>
              <a:effectLst/>
              <a:uFillTx/>
              <a:latin typeface="Times New Roman"/>
            </a:endParaRPr>
          </a:p>
        </p:txBody>
      </p:sp>
      <p:sp>
        <p:nvSpPr>
          <p:cNvPr id="20" name="PlaceHolder 2"/>
          <p:cNvSpPr>
            <a:spLocks noGrp="1"/>
          </p:cNvSpPr>
          <p:nvPr>
            <p:ph type="subTitle"/>
          </p:nvPr>
        </p:nvSpPr>
        <p:spPr>
          <a:xfrm>
            <a:off x="685800" y="3200040"/>
            <a:ext cx="7696080" cy="609480"/>
          </a:xfrm>
          <a:prstGeom prst="rect">
            <a:avLst/>
          </a:prstGeom>
          <a:noFill/>
          <a:ln w="0">
            <a:noFill/>
          </a:ln>
        </p:spPr>
        <p:txBody>
          <a:bodyPr lIns="91440" rIns="91440" tIns="45720" bIns="45720" anchor="t">
            <a:noAutofit/>
          </a:bodyPr>
          <a:p>
            <a:pPr indent="0" algn="ctr">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eaeaea"/>
                </a:solidFill>
                <a:effectLst/>
                <a:uFillTx/>
                <a:latin typeface="Arial"/>
              </a:rPr>
              <a:t>State of Indiana</a:t>
            </a:r>
            <a:endParaRPr b="0" lang="en-IN" sz="2400" strike="noStrike" u="none">
              <a:solidFill>
                <a:srgbClr val="000000"/>
              </a:solidFill>
              <a:effectLst/>
              <a:uFillTx/>
              <a:latin typeface="Arial"/>
            </a:endParaRPr>
          </a:p>
        </p:txBody>
      </p:sp>
      <p:pic>
        <p:nvPicPr>
          <p:cNvPr id="21" name="Picture 6" descr="ENCOMPASS_Indiana Logo_ver04_FINAL_LOGO_ONLY"/>
          <p:cNvPicPr/>
          <p:nvPr/>
        </p:nvPicPr>
        <p:blipFill>
          <a:blip r:embed="rId1"/>
          <a:stretch/>
        </p:blipFill>
        <p:spPr>
          <a:xfrm>
            <a:off x="0" y="0"/>
            <a:ext cx="1590840" cy="2057400"/>
          </a:xfrm>
          <a:prstGeom prst="rect">
            <a:avLst/>
          </a:prstGeom>
          <a:noFill/>
          <a:ln w="0">
            <a:noFill/>
          </a:ln>
        </p:spPr>
      </p:pic>
      <p:pic>
        <p:nvPicPr>
          <p:cNvPr id="22" name="Picture 7" descr="entap logo"/>
          <p:cNvPicPr/>
          <p:nvPr/>
        </p:nvPicPr>
        <p:blipFill>
          <a:blip r:embed="rId2"/>
          <a:stretch/>
        </p:blipFill>
        <p:spPr>
          <a:xfrm>
            <a:off x="7467480" y="228600"/>
            <a:ext cx="1352520" cy="571680"/>
          </a:xfrm>
          <a:prstGeom prst="rect">
            <a:avLst/>
          </a:prstGeom>
          <a:noFill/>
          <a:ln w="0">
            <a:noFill/>
          </a:ln>
        </p:spPr>
      </p:pic>
      <p:sp>
        <p:nvSpPr>
          <p:cNvPr id="23" name="Rectangle 8"/>
          <p:cNvSpPr/>
          <p:nvPr/>
        </p:nvSpPr>
        <p:spPr>
          <a:xfrm>
            <a:off x="1219320" y="5715000"/>
            <a:ext cx="6400800" cy="459720"/>
          </a:xfrm>
          <a:prstGeom prst="rect">
            <a:avLst/>
          </a:prstGeom>
          <a:noFill/>
          <a:ln w="0">
            <a:noFill/>
          </a:ln>
        </p:spPr>
        <p:style>
          <a:lnRef idx="0"/>
          <a:fillRef idx="0"/>
          <a:effectRef idx="0"/>
          <a:fontRef idx="minor"/>
        </p:style>
        <p:txBody>
          <a:bodyPr lIns="90000" rIns="90000" tIns="46800" bIns="46800" anchor="t">
            <a:spAutoFit/>
          </a:bodyPr>
          <a:p>
            <a:pP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eaeaea"/>
                </a:solidFill>
                <a:effectLst/>
                <a:uFillTx/>
                <a:latin typeface="Arial"/>
              </a:rPr>
              <a:t>Instructor:  Bob Hegyi</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2A155AC-8CC0-4C48-BAD1-4452829A2C5B}"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5"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Agenda</a:t>
            </a:r>
            <a:endParaRPr b="0" lang="en-IN" sz="4400" strike="noStrike" u="none">
              <a:solidFill>
                <a:srgbClr val="ffffff"/>
              </a:solidFill>
              <a:effectLst/>
              <a:uFillTx/>
              <a:latin typeface="Times New Roman"/>
            </a:endParaRPr>
          </a:p>
        </p:txBody>
      </p:sp>
      <p:sp>
        <p:nvSpPr>
          <p:cNvPr id="26" name="PlaceHolder 2"/>
          <p:cNvSpPr>
            <a:spLocks noGrp="1"/>
          </p:cNvSpPr>
          <p:nvPr>
            <p:ph/>
          </p:nvPr>
        </p:nvSpPr>
        <p:spPr>
          <a:xfrm>
            <a:off x="1143000" y="1904760"/>
            <a:ext cx="6934320" cy="41907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Welcome</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Expectations:</a:t>
            </a: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Manual Additions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Adjustments / Transfers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Retirement / Reinstatement</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Integration Process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Consolidation / Unitization</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Parent-Child Assets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Correcting ChartField Errors</a:t>
            </a:r>
            <a:endParaRPr b="0" lang="en-IN" sz="2000" strike="noStrike" u="none">
              <a:solidFill>
                <a:srgbClr val="000000"/>
              </a:solidFill>
              <a:effectLst/>
              <a:uFillTx/>
              <a:latin typeface="Arial"/>
            </a:endParaRPr>
          </a:p>
          <a:p>
            <a:pPr lvl="1" marL="74304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05E46C2-2403-4B28-9C1F-7750FBA75C04}"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8"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Expectations</a:t>
            </a:r>
            <a:endParaRPr b="0" lang="en-IN" sz="4400" strike="noStrike" u="none">
              <a:solidFill>
                <a:srgbClr val="ffffff"/>
              </a:solidFill>
              <a:effectLst/>
              <a:uFillTx/>
              <a:latin typeface="Times New Roman"/>
            </a:endParaRPr>
          </a:p>
        </p:txBody>
      </p:sp>
      <p:sp>
        <p:nvSpPr>
          <p:cNvPr id="29" name="PlaceHolder 2"/>
          <p:cNvSpPr>
            <a:spLocks noGrp="1"/>
          </p:cNvSpPr>
          <p:nvPr>
            <p:ph/>
          </p:nvPr>
        </p:nvSpPr>
        <p:spPr>
          <a:xfrm>
            <a:off x="1143000" y="1904760"/>
            <a:ext cx="6934320" cy="32763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Refresher course:</a:t>
            </a: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AM presentation and process demonstrations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PM open lab to complete exercises (optional)</a:t>
            </a:r>
            <a:endParaRPr b="0" lang="en-IN" sz="20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Using the system:</a:t>
            </a: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Primary focus will be on the ENCOMPASS system and changes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Training database used for demos / exercises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465F47-7822-497E-9B81-65657E656D59}"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31"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Training Materials</a:t>
            </a:r>
            <a:endParaRPr b="0" lang="en-IN" sz="4400" strike="noStrike" u="none">
              <a:solidFill>
                <a:srgbClr val="ffffff"/>
              </a:solidFill>
              <a:effectLst/>
              <a:uFillTx/>
              <a:latin typeface="Times New Roman"/>
            </a:endParaRPr>
          </a:p>
        </p:txBody>
      </p:sp>
      <p:sp>
        <p:nvSpPr>
          <p:cNvPr id="32" name="PlaceHolder 2"/>
          <p:cNvSpPr>
            <a:spLocks noGrp="1"/>
          </p:cNvSpPr>
          <p:nvPr>
            <p:ph/>
          </p:nvPr>
        </p:nvSpPr>
        <p:spPr>
          <a:xfrm>
            <a:off x="1143000" y="1904760"/>
            <a:ext cx="6934320" cy="33526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Presentation</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Exercises</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Participant Data sheet</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Training Manual </a:t>
            </a:r>
            <a:endParaRPr b="0" lang="en-IN" sz="2400" strike="noStrike" u="none">
              <a:solidFill>
                <a:srgbClr val="000000"/>
              </a:solidFill>
              <a:effectLst/>
              <a:uFillTx/>
              <a:latin typeface="Arial"/>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Materials available on ENCOMPASS website:</a:t>
            </a:r>
            <a:endParaRPr b="0" lang="en-IN" sz="2400" strike="noStrike" u="none">
              <a:solidFill>
                <a:srgbClr val="000000"/>
              </a:solidFill>
              <a:effectLst/>
              <a:uFillTx/>
              <a:latin typeface="Arial"/>
            </a:endParaRPr>
          </a:p>
          <a:p>
            <a:pPr lvl="1" marL="743040" indent="-28584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ENCOMPASS Documents &gt; Training &gt; Asset Management Class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4DB3A8E-1DD9-41A6-9D5C-E93E3821EBBD}"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34"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Ground Rules for Training</a:t>
            </a:r>
            <a:endParaRPr b="0" lang="en-IN" sz="4400" strike="noStrike" u="none">
              <a:solidFill>
                <a:srgbClr val="ffffff"/>
              </a:solidFill>
              <a:effectLst/>
              <a:uFillTx/>
              <a:latin typeface="Times New Roman"/>
            </a:endParaRPr>
          </a:p>
        </p:txBody>
      </p:sp>
      <p:sp>
        <p:nvSpPr>
          <p:cNvPr id="35" name="PlaceHolder 2"/>
          <p:cNvSpPr>
            <a:spLocks noGrp="1"/>
          </p:cNvSpPr>
          <p:nvPr>
            <p:ph/>
          </p:nvPr>
        </p:nvSpPr>
        <p:spPr>
          <a:xfrm>
            <a:off x="1143000" y="1904760"/>
            <a:ext cx="6934320" cy="38098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Please be on time.</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Put cell phones on vibrate.</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Forget about the “office.”</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Stay focused on “Learning the System.”</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No reading of emails.</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Ask questions.</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Limit sidebar conversations. </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Respect others.</a:t>
            </a:r>
            <a:endParaRPr b="0" lang="en-IN" sz="2400" strike="noStrike" u="none">
              <a:solidFill>
                <a:srgbClr val="000000"/>
              </a:solidFill>
              <a:effectLst/>
              <a:uFillTx/>
              <a:latin typeface="Arial"/>
            </a:endParaRPr>
          </a:p>
          <a:p>
            <a:pPr marL="343080" indent="0">
              <a:lnSpc>
                <a:spcPct val="125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685800" y="1904760"/>
            <a:ext cx="5410080" cy="106668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Chapter  1</a:t>
            </a:r>
            <a:br>
              <a:rPr sz="3200"/>
            </a:br>
            <a:r>
              <a:rPr b="0" lang="en-US" sz="3200" strike="noStrike" u="none">
                <a:solidFill>
                  <a:srgbClr val="ffffff"/>
                </a:solidFill>
                <a:effectLst/>
                <a:uFillTx/>
                <a:latin typeface="Times New Roman"/>
              </a:rPr>
              <a:t>Asset Management Overview</a:t>
            </a:r>
            <a:endParaRPr b="0" lang="en-IN" sz="3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3D19E3-0E6B-4DB3-97D0-878B0C65801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38"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AM Business Processes</a:t>
            </a:r>
            <a:endParaRPr b="0" lang="en-IN" sz="4400" strike="noStrike" u="none">
              <a:solidFill>
                <a:srgbClr val="ffffff"/>
              </a:solidFill>
              <a:effectLst/>
              <a:uFillTx/>
              <a:latin typeface="Times New Roman"/>
            </a:endParaRPr>
          </a:p>
        </p:txBody>
      </p:sp>
      <p:sp>
        <p:nvSpPr>
          <p:cNvPr id="39" name="PlaceHolder 2"/>
          <p:cNvSpPr>
            <a:spLocks noGrp="1"/>
          </p:cNvSpPr>
          <p:nvPr>
            <p:ph/>
          </p:nvPr>
        </p:nvSpPr>
        <p:spPr>
          <a:xfrm>
            <a:off x="1142640" y="1905120"/>
            <a:ext cx="7010280" cy="44956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trike="noStrike" u="none">
                <a:solidFill>
                  <a:srgbClr val="000000"/>
                </a:solidFill>
                <a:effectLst/>
                <a:uFillTx/>
                <a:latin typeface="Arial"/>
              </a:rPr>
              <a:t> </a:t>
            </a:r>
            <a:endParaRPr b="0" lang="en-IN" sz="2600" strike="noStrike" u="none">
              <a:solidFill>
                <a:srgbClr val="000000"/>
              </a:solidFill>
              <a:effectLst/>
              <a:uFillTx/>
              <a:latin typeface="Arial"/>
            </a:endParaRPr>
          </a:p>
        </p:txBody>
      </p:sp>
      <p:grpSp>
        <p:nvGrpSpPr>
          <p:cNvPr id="40" name="Group 321"/>
          <p:cNvGrpSpPr/>
          <p:nvPr/>
        </p:nvGrpSpPr>
        <p:grpSpPr>
          <a:xfrm>
            <a:off x="2286000" y="2003400"/>
            <a:ext cx="4952880" cy="4473720"/>
            <a:chOff x="2286000" y="2003400"/>
            <a:chExt cx="4952880" cy="4473720"/>
          </a:xfrm>
        </p:grpSpPr>
        <p:sp>
          <p:nvSpPr>
            <p:cNvPr id="41" name="AutoShape 322"/>
            <p:cNvSpPr/>
            <p:nvPr/>
          </p:nvSpPr>
          <p:spPr>
            <a:xfrm>
              <a:off x="2286000" y="2003400"/>
              <a:ext cx="4952880" cy="4473720"/>
            </a:xfrm>
            <a:prstGeom prst="rect">
              <a:avLst/>
            </a:prstGeom>
            <a:no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2" name="Rectangle 323"/>
            <p:cNvSpPr/>
            <p:nvPr/>
          </p:nvSpPr>
          <p:spPr>
            <a:xfrm>
              <a:off x="4067280" y="2028600"/>
              <a:ext cx="1207080" cy="756360"/>
            </a:xfrm>
            <a:prstGeom prst="rect">
              <a:avLst/>
            </a:prstGeom>
            <a:solidFill>
              <a:srgbClr val="ffc000"/>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3" name="Rectangle 324"/>
            <p:cNvSpPr/>
            <p:nvPr/>
          </p:nvSpPr>
          <p:spPr>
            <a:xfrm>
              <a:off x="4158720" y="2181600"/>
              <a:ext cx="93456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Purchase, Lease</a:t>
              </a:r>
              <a:r>
                <a:rPr b="1" lang="en-US" sz="900" strike="noStrike" u="none">
                  <a:solidFill>
                    <a:srgbClr val="000000"/>
                  </a:solidFill>
                  <a:effectLst/>
                  <a:uFillTx/>
                  <a:latin typeface="Arial"/>
                </a:rPr>
                <a:t>,</a:t>
              </a:r>
              <a:endParaRPr b="0" lang="en-IN" sz="900" strike="noStrike" u="none">
                <a:solidFill>
                  <a:srgbClr val="000000"/>
                </a:solidFill>
                <a:effectLst/>
                <a:uFillTx/>
                <a:latin typeface="Arial"/>
              </a:endParaRPr>
            </a:p>
          </p:txBody>
        </p:sp>
        <p:sp>
          <p:nvSpPr>
            <p:cNvPr id="44" name="Rectangle 325"/>
            <p:cNvSpPr/>
            <p:nvPr/>
          </p:nvSpPr>
          <p:spPr>
            <a:xfrm>
              <a:off x="4114080" y="2333160"/>
              <a:ext cx="10360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or </a:t>
              </a:r>
              <a:r>
                <a:rPr b="1" lang="en-US" sz="900" strike="noStrike" u="none">
                  <a:solidFill>
                    <a:srgbClr val="000000"/>
                  </a:solidFill>
                  <a:effectLst/>
                  <a:uFillTx/>
                  <a:latin typeface="Arial"/>
                </a:rPr>
                <a:t>Build Asset with</a:t>
              </a:r>
              <a:endParaRPr b="0" lang="en-IN" sz="900" strike="noStrike" u="none">
                <a:solidFill>
                  <a:srgbClr val="000000"/>
                </a:solidFill>
                <a:effectLst/>
                <a:uFillTx/>
                <a:latin typeface="Arial"/>
              </a:endParaRPr>
            </a:p>
          </p:txBody>
        </p:sp>
        <p:sp>
          <p:nvSpPr>
            <p:cNvPr id="45" name="Rectangle 326"/>
            <p:cNvSpPr/>
            <p:nvPr/>
          </p:nvSpPr>
          <p:spPr>
            <a:xfrm>
              <a:off x="4116600" y="2484360"/>
              <a:ext cx="1128240" cy="137880"/>
            </a:xfrm>
            <a:prstGeom prst="rect">
              <a:avLst/>
            </a:prstGeom>
            <a:noFill/>
            <a:ln w="0">
              <a:noFill/>
            </a:ln>
          </p:spPr>
          <p:style>
            <a:lnRef idx="0"/>
            <a:fillRef idx="0"/>
            <a:effectRef idx="0"/>
            <a:fontRef idx="minor"/>
          </p:style>
          <p:txBody>
            <a:bodyPr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Acquisition Details</a:t>
              </a:r>
              <a:endParaRPr b="0" lang="en-IN" sz="900" strike="noStrike" u="none">
                <a:solidFill>
                  <a:srgbClr val="000000"/>
                </a:solidFill>
                <a:effectLst/>
                <a:uFillTx/>
                <a:latin typeface="Arial"/>
              </a:endParaRPr>
            </a:p>
          </p:txBody>
        </p:sp>
        <p:sp>
          <p:nvSpPr>
            <p:cNvPr id="46" name="Line 327"/>
            <p:cNvSpPr/>
            <p:nvPr/>
          </p:nvSpPr>
          <p:spPr>
            <a:xfrm>
              <a:off x="5196240" y="2406600"/>
              <a:ext cx="182160" cy="720"/>
            </a:xfrm>
            <a:prstGeom prst="line">
              <a:avLst/>
            </a:prstGeom>
            <a:ln w="9000">
              <a:solidFill>
                <a:srgbClr val="9a9a9a"/>
              </a:solidFill>
              <a:miter/>
            </a:ln>
          </p:spPr>
          <p:style>
            <a:lnRef idx="0"/>
            <a:fillRef idx="0"/>
            <a:effectRef idx="0"/>
            <a:fontRef idx="minor"/>
          </p:style>
          <p:txBody>
            <a:bodyPr lIns="90000" rIns="90000" tIns="-46080" bIns="-46080" anchor="t">
              <a:noAutofit/>
            </a:bodyPr>
            <a:p>
              <a:endParaRPr b="0" lang="en-IN" sz="1800" strike="noStrike" u="none">
                <a:solidFill>
                  <a:srgbClr val="000000"/>
                </a:solidFill>
                <a:effectLst/>
                <a:uFillTx/>
                <a:latin typeface="Arial"/>
              </a:endParaRPr>
            </a:p>
          </p:txBody>
        </p:sp>
        <p:sp>
          <p:nvSpPr>
            <p:cNvPr id="47" name="Freeform 328"/>
            <p:cNvSpPr/>
            <p:nvPr/>
          </p:nvSpPr>
          <p:spPr>
            <a:xfrm>
              <a:off x="5357160" y="2361240"/>
              <a:ext cx="128880" cy="90720"/>
            </a:xfrm>
            <a:custGeom>
              <a:avLst/>
              <a:gdLst>
                <a:gd name="textAreaLeft" fmla="*/ 0 w 128880"/>
                <a:gd name="textAreaRight" fmla="*/ 129240 w 128880"/>
                <a:gd name="textAreaTop" fmla="*/ 0 h 90720"/>
                <a:gd name="textAreaBottom" fmla="*/ 91080 h 90720"/>
                <a:gd name="GluePoint1X" fmla="*/ 8950 w 130"/>
                <a:gd name="GluePoint1Y" fmla="*/ 65 h 130"/>
                <a:gd name="GluePoint2X" fmla="*/ 0 w 130"/>
                <a:gd name="GluePoint2Y" fmla="*/ 130 h 130"/>
                <a:gd name="GluePoint3X" fmla="*/ 152 w 130"/>
                <a:gd name="GluePoint3Y" fmla="*/ 123 h 130"/>
                <a:gd name="GluePoint4X" fmla="*/ 472 w 130"/>
                <a:gd name="GluePoint4Y" fmla="*/ 115 h 130"/>
                <a:gd name="GluePoint5X" fmla="*/ 622 w 130"/>
                <a:gd name="GluePoint5Y" fmla="*/ 108 h 130"/>
                <a:gd name="GluePoint6X" fmla="*/ 804 w 130"/>
                <a:gd name="GluePoint6Y" fmla="*/ 101 h 130"/>
                <a:gd name="GluePoint7X" fmla="*/ 804 w 130"/>
                <a:gd name="GluePoint7Y" fmla="*/ 94 h 130"/>
                <a:gd name="GluePoint8X" fmla="*/ 956 w 130"/>
                <a:gd name="GluePoint8Y" fmla="*/ 87 h 130"/>
                <a:gd name="GluePoint9X" fmla="*/ 956 w 130"/>
                <a:gd name="GluePoint9Y" fmla="*/ 77 h 130"/>
                <a:gd name="GluePoint10X" fmla="*/ 956 w 130"/>
                <a:gd name="GluePoint10Y" fmla="*/ 70 h 130"/>
                <a:gd name="GluePoint11X" fmla="*/ 956 w 130"/>
                <a:gd name="GluePoint11Y" fmla="*/ 63 h 130"/>
                <a:gd name="GluePoint12X" fmla="*/ 956 w 130"/>
                <a:gd name="GluePoint12Y" fmla="*/ 53 h 130"/>
                <a:gd name="GluePoint13X" fmla="*/ 956 w 130"/>
                <a:gd name="GluePoint13Y" fmla="*/ 46 h 130"/>
                <a:gd name="GluePoint14X" fmla="*/ 804 w 130"/>
                <a:gd name="GluePoint14Y" fmla="*/ 39 h 130"/>
                <a:gd name="GluePoint15X" fmla="*/ 804 w 130"/>
                <a:gd name="GluePoint15Y" fmla="*/ 31 h 130"/>
                <a:gd name="GluePoint16X" fmla="*/ 622 w 130"/>
                <a:gd name="GluePoint16Y" fmla="*/ 24 h 130"/>
                <a:gd name="GluePoint17X" fmla="*/ 472 w 130"/>
                <a:gd name="GluePoint17Y" fmla="*/ 14 h 130"/>
                <a:gd name="GluePoint18X" fmla="*/ 152 w 130"/>
                <a:gd name="GluePoint18Y" fmla="*/ 7 h 130"/>
                <a:gd name="GluePoint19X" fmla="*/ 0 w 130"/>
                <a:gd name="GluePoint19Y" fmla="*/ 0 h 130"/>
                <a:gd name="GluePoint20X" fmla="*/ 8950 w 130"/>
                <a:gd name="GluePoint20Y" fmla="*/ 65 h 1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30" h="130">
                  <a:moveTo>
                    <a:pt x="130" y="65"/>
                  </a:moveTo>
                  <a:lnTo>
                    <a:pt x="0" y="130"/>
                  </a:lnTo>
                  <a:lnTo>
                    <a:pt x="2" y="123"/>
                  </a:lnTo>
                  <a:lnTo>
                    <a:pt x="7" y="115"/>
                  </a:lnTo>
                  <a:lnTo>
                    <a:pt x="9" y="108"/>
                  </a:lnTo>
                  <a:lnTo>
                    <a:pt x="12" y="101"/>
                  </a:lnTo>
                  <a:lnTo>
                    <a:pt x="12" y="94"/>
                  </a:lnTo>
                  <a:lnTo>
                    <a:pt x="14" y="87"/>
                  </a:lnTo>
                  <a:lnTo>
                    <a:pt x="14" y="77"/>
                  </a:lnTo>
                  <a:lnTo>
                    <a:pt x="14" y="70"/>
                  </a:lnTo>
                  <a:lnTo>
                    <a:pt x="14" y="63"/>
                  </a:lnTo>
                  <a:lnTo>
                    <a:pt x="14" y="53"/>
                  </a:lnTo>
                  <a:lnTo>
                    <a:pt x="14" y="46"/>
                  </a:lnTo>
                  <a:lnTo>
                    <a:pt x="12" y="39"/>
                  </a:lnTo>
                  <a:lnTo>
                    <a:pt x="12" y="31"/>
                  </a:lnTo>
                  <a:lnTo>
                    <a:pt x="9" y="24"/>
                  </a:lnTo>
                  <a:lnTo>
                    <a:pt x="7" y="14"/>
                  </a:lnTo>
                  <a:lnTo>
                    <a:pt x="2" y="7"/>
                  </a:lnTo>
                  <a:lnTo>
                    <a:pt x="0" y="0"/>
                  </a:lnTo>
                  <a:lnTo>
                    <a:pt x="130" y="65"/>
                  </a:lnTo>
                  <a:close/>
                </a:path>
              </a:pathLst>
            </a:custGeom>
            <a:solidFill>
              <a:srgbClr val="9a9a9a"/>
            </a:solidFill>
            <a:ln w="0">
              <a:noFill/>
            </a:ln>
          </p:spPr>
          <p:style>
            <a:lnRef idx="0"/>
            <a:fillRef idx="0"/>
            <a:effectRef idx="0"/>
            <a:fontRef idx="minor"/>
          </p:style>
          <p:txBody>
            <a:bodyPr lIns="90000" rIns="90000" tIns="44280" bIns="442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8" name="Rectangle 329"/>
            <p:cNvSpPr/>
            <p:nvPr/>
          </p:nvSpPr>
          <p:spPr>
            <a:xfrm>
              <a:off x="5486040" y="2133360"/>
              <a:ext cx="1128240" cy="756360"/>
            </a:xfrm>
            <a:prstGeom prst="rect">
              <a:avLst/>
            </a:prstGeom>
            <a:solidFill>
              <a:srgbClr val="ffc000"/>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9" name="Rectangle 330"/>
            <p:cNvSpPr/>
            <p:nvPr/>
          </p:nvSpPr>
          <p:spPr>
            <a:xfrm>
              <a:off x="5558760" y="2181600"/>
              <a:ext cx="8773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Capitalize Asset</a:t>
              </a:r>
              <a:endParaRPr b="0" lang="en-IN" sz="900" strike="noStrike" u="none">
                <a:solidFill>
                  <a:srgbClr val="000000"/>
                </a:solidFill>
                <a:effectLst/>
                <a:uFillTx/>
                <a:latin typeface="Arial"/>
              </a:endParaRPr>
            </a:p>
          </p:txBody>
        </p:sp>
        <p:sp>
          <p:nvSpPr>
            <p:cNvPr id="50" name="Rectangle 331"/>
            <p:cNvSpPr/>
            <p:nvPr/>
          </p:nvSpPr>
          <p:spPr>
            <a:xfrm>
              <a:off x="5596920" y="2333160"/>
              <a:ext cx="8136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via Integration/</a:t>
              </a:r>
              <a:endParaRPr b="0" lang="en-IN" sz="900" strike="noStrike" u="none">
                <a:solidFill>
                  <a:srgbClr val="000000"/>
                </a:solidFill>
                <a:effectLst/>
                <a:uFillTx/>
                <a:latin typeface="Arial"/>
              </a:endParaRPr>
            </a:p>
          </p:txBody>
        </p:sp>
        <p:sp>
          <p:nvSpPr>
            <p:cNvPr id="51" name="Rectangle 332"/>
            <p:cNvSpPr/>
            <p:nvPr/>
          </p:nvSpPr>
          <p:spPr>
            <a:xfrm>
              <a:off x="5716080" y="2484360"/>
              <a:ext cx="5850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Interfacing</a:t>
              </a:r>
              <a:endParaRPr b="0" lang="en-IN" sz="900" strike="noStrike" u="none">
                <a:solidFill>
                  <a:srgbClr val="000000"/>
                </a:solidFill>
                <a:effectLst/>
                <a:uFillTx/>
                <a:latin typeface="Arial"/>
              </a:endParaRPr>
            </a:p>
          </p:txBody>
        </p:sp>
        <p:sp>
          <p:nvSpPr>
            <p:cNvPr id="52" name="Rectangle 333"/>
            <p:cNvSpPr/>
            <p:nvPr/>
          </p:nvSpPr>
          <p:spPr>
            <a:xfrm>
              <a:off x="5698440" y="3037320"/>
              <a:ext cx="1128960" cy="62964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3" name="Rectangle 334"/>
            <p:cNvSpPr/>
            <p:nvPr/>
          </p:nvSpPr>
          <p:spPr>
            <a:xfrm>
              <a:off x="5736600" y="3127320"/>
              <a:ext cx="9979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Track and Manage</a:t>
              </a:r>
              <a:endParaRPr b="0" lang="en-IN" sz="900" strike="noStrike" u="none">
                <a:solidFill>
                  <a:srgbClr val="000000"/>
                </a:solidFill>
                <a:effectLst/>
                <a:uFillTx/>
                <a:latin typeface="Arial"/>
              </a:endParaRPr>
            </a:p>
          </p:txBody>
        </p:sp>
        <p:sp>
          <p:nvSpPr>
            <p:cNvPr id="54" name="Rectangle 335"/>
            <p:cNvSpPr/>
            <p:nvPr/>
          </p:nvSpPr>
          <p:spPr>
            <a:xfrm>
              <a:off x="5946120" y="3277080"/>
              <a:ext cx="6166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Capital and</a:t>
              </a:r>
              <a:endParaRPr b="0" lang="en-IN" sz="900" strike="noStrike" u="none">
                <a:solidFill>
                  <a:srgbClr val="000000"/>
                </a:solidFill>
                <a:effectLst/>
                <a:uFillTx/>
                <a:latin typeface="Arial"/>
              </a:endParaRPr>
            </a:p>
          </p:txBody>
        </p:sp>
        <p:sp>
          <p:nvSpPr>
            <p:cNvPr id="55" name="Rectangle 336"/>
            <p:cNvSpPr/>
            <p:nvPr/>
          </p:nvSpPr>
          <p:spPr>
            <a:xfrm>
              <a:off x="5765400" y="3430080"/>
              <a:ext cx="95976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Operating Leases</a:t>
              </a:r>
              <a:endParaRPr b="0" lang="en-IN" sz="900" strike="noStrike" u="none">
                <a:solidFill>
                  <a:srgbClr val="000000"/>
                </a:solidFill>
                <a:effectLst/>
                <a:uFillTx/>
                <a:latin typeface="Arial"/>
              </a:endParaRPr>
            </a:p>
          </p:txBody>
        </p:sp>
        <p:sp>
          <p:nvSpPr>
            <p:cNvPr id="56" name="Rectangle 337"/>
            <p:cNvSpPr/>
            <p:nvPr/>
          </p:nvSpPr>
          <p:spPr>
            <a:xfrm>
              <a:off x="5824080" y="3919680"/>
              <a:ext cx="1128960" cy="379440"/>
            </a:xfrm>
            <a:prstGeom prst="rect">
              <a:avLst/>
            </a:prstGeom>
            <a:solidFill>
              <a:srgbClr val="ffc000"/>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7" name="Rectangle 338"/>
            <p:cNvSpPr/>
            <p:nvPr/>
          </p:nvSpPr>
          <p:spPr>
            <a:xfrm>
              <a:off x="6089400" y="3958920"/>
              <a:ext cx="5911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Adjust and</a:t>
              </a:r>
              <a:endParaRPr b="0" lang="en-IN" sz="900" strike="noStrike" u="none">
                <a:solidFill>
                  <a:srgbClr val="000000"/>
                </a:solidFill>
                <a:effectLst/>
                <a:uFillTx/>
                <a:latin typeface="Arial"/>
              </a:endParaRPr>
            </a:p>
          </p:txBody>
        </p:sp>
        <p:sp>
          <p:nvSpPr>
            <p:cNvPr id="58" name="Rectangle 339"/>
            <p:cNvSpPr/>
            <p:nvPr/>
          </p:nvSpPr>
          <p:spPr>
            <a:xfrm>
              <a:off x="5947560" y="4110480"/>
              <a:ext cx="864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Transfer Assets</a:t>
              </a:r>
              <a:endParaRPr b="0" lang="en-IN" sz="900" strike="noStrike" u="none">
                <a:solidFill>
                  <a:srgbClr val="000000"/>
                </a:solidFill>
                <a:effectLst/>
                <a:uFillTx/>
                <a:latin typeface="Arial"/>
              </a:endParaRPr>
            </a:p>
          </p:txBody>
        </p:sp>
        <p:sp>
          <p:nvSpPr>
            <p:cNvPr id="59" name="Rectangle 340"/>
            <p:cNvSpPr/>
            <p:nvPr/>
          </p:nvSpPr>
          <p:spPr>
            <a:xfrm>
              <a:off x="5824080" y="4551480"/>
              <a:ext cx="1128960" cy="37764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0" name="Rectangle 341"/>
            <p:cNvSpPr/>
            <p:nvPr/>
          </p:nvSpPr>
          <p:spPr>
            <a:xfrm>
              <a:off x="5893560" y="4590000"/>
              <a:ext cx="96624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Perform Financial</a:t>
              </a:r>
              <a:endParaRPr b="0" lang="en-IN" sz="900" strike="noStrike" u="none">
                <a:solidFill>
                  <a:srgbClr val="000000"/>
                </a:solidFill>
                <a:effectLst/>
                <a:uFillTx/>
                <a:latin typeface="Arial"/>
              </a:endParaRPr>
            </a:p>
          </p:txBody>
        </p:sp>
        <p:sp>
          <p:nvSpPr>
            <p:cNvPr id="61" name="Rectangle 342"/>
            <p:cNvSpPr/>
            <p:nvPr/>
          </p:nvSpPr>
          <p:spPr>
            <a:xfrm>
              <a:off x="6075360" y="4741200"/>
              <a:ext cx="6292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Accounting</a:t>
              </a:r>
              <a:endParaRPr b="0" lang="en-IN" sz="900" strike="noStrike" u="none">
                <a:solidFill>
                  <a:srgbClr val="000000"/>
                </a:solidFill>
                <a:effectLst/>
                <a:uFillTx/>
                <a:latin typeface="Arial"/>
              </a:endParaRPr>
            </a:p>
          </p:txBody>
        </p:sp>
        <p:sp>
          <p:nvSpPr>
            <p:cNvPr id="62" name="Rectangle 343"/>
            <p:cNvSpPr/>
            <p:nvPr/>
          </p:nvSpPr>
          <p:spPr>
            <a:xfrm>
              <a:off x="5698440" y="5181480"/>
              <a:ext cx="1128960" cy="37800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3" name="Rectangle 344"/>
            <p:cNvSpPr/>
            <p:nvPr/>
          </p:nvSpPr>
          <p:spPr>
            <a:xfrm>
              <a:off x="5917320" y="5222160"/>
              <a:ext cx="6678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Perform Tax</a:t>
              </a:r>
              <a:endParaRPr b="0" lang="en-IN" sz="900" strike="noStrike" u="none">
                <a:solidFill>
                  <a:srgbClr val="000000"/>
                </a:solidFill>
                <a:effectLst/>
                <a:uFillTx/>
                <a:latin typeface="Arial"/>
              </a:endParaRPr>
            </a:p>
          </p:txBody>
        </p:sp>
        <p:sp>
          <p:nvSpPr>
            <p:cNvPr id="64" name="Rectangle 345"/>
            <p:cNvSpPr/>
            <p:nvPr/>
          </p:nvSpPr>
          <p:spPr>
            <a:xfrm>
              <a:off x="5950800" y="5373000"/>
              <a:ext cx="6804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Cal</a:t>
              </a:r>
              <a:r>
                <a:rPr b="1" lang="en-US" sz="900" strike="noStrike" u="none">
                  <a:solidFill>
                    <a:srgbClr val="000000"/>
                  </a:solidFill>
                  <a:effectLst/>
                  <a:uFillTx/>
                  <a:latin typeface="Arial"/>
                </a:rPr>
                <a:t>c</a:t>
              </a:r>
              <a:r>
                <a:rPr b="1" lang="en-US" sz="900" strike="noStrike" u="none">
                  <a:solidFill>
                    <a:srgbClr val="000000"/>
                  </a:solidFill>
                  <a:effectLst/>
                  <a:uFillTx/>
                  <a:latin typeface="Arial"/>
                </a:rPr>
                <a:t>ulations</a:t>
              </a:r>
              <a:endParaRPr b="0" lang="en-IN" sz="900" strike="noStrike" u="none">
                <a:solidFill>
                  <a:srgbClr val="000000"/>
                </a:solidFill>
                <a:effectLst/>
                <a:uFillTx/>
                <a:latin typeface="Arial"/>
              </a:endParaRPr>
            </a:p>
          </p:txBody>
        </p:sp>
        <p:sp>
          <p:nvSpPr>
            <p:cNvPr id="65" name="Rectangle 346"/>
            <p:cNvSpPr/>
            <p:nvPr/>
          </p:nvSpPr>
          <p:spPr>
            <a:xfrm>
              <a:off x="5447880" y="5812200"/>
              <a:ext cx="1128240" cy="37800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6" name="Rectangle 347"/>
            <p:cNvSpPr/>
            <p:nvPr/>
          </p:nvSpPr>
          <p:spPr>
            <a:xfrm>
              <a:off x="5539680" y="5927760"/>
              <a:ext cx="9216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Produce Reports</a:t>
              </a:r>
              <a:endParaRPr b="0" lang="en-IN" sz="900" strike="noStrike" u="none">
                <a:solidFill>
                  <a:srgbClr val="000000"/>
                </a:solidFill>
                <a:effectLst/>
                <a:uFillTx/>
                <a:latin typeface="Arial"/>
              </a:endParaRPr>
            </a:p>
          </p:txBody>
        </p:sp>
        <p:sp>
          <p:nvSpPr>
            <p:cNvPr id="67" name="Rectangle 348"/>
            <p:cNvSpPr/>
            <p:nvPr/>
          </p:nvSpPr>
          <p:spPr>
            <a:xfrm>
              <a:off x="4067280" y="5812200"/>
              <a:ext cx="1128960" cy="37800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8" name="Rectangle 349"/>
            <p:cNvSpPr/>
            <p:nvPr/>
          </p:nvSpPr>
          <p:spPr>
            <a:xfrm>
              <a:off x="4152600" y="5851440"/>
              <a:ext cx="93456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Track Regulatory</a:t>
              </a:r>
              <a:endParaRPr b="0" lang="en-IN" sz="900" strike="noStrike" u="none">
                <a:solidFill>
                  <a:srgbClr val="000000"/>
                </a:solidFill>
                <a:effectLst/>
                <a:uFillTx/>
                <a:latin typeface="Arial"/>
              </a:endParaRPr>
            </a:p>
          </p:txBody>
        </p:sp>
        <p:sp>
          <p:nvSpPr>
            <p:cNvPr id="69" name="Rectangle 350"/>
            <p:cNvSpPr/>
            <p:nvPr/>
          </p:nvSpPr>
          <p:spPr>
            <a:xfrm>
              <a:off x="4300200" y="6001200"/>
              <a:ext cx="648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Compliance</a:t>
              </a:r>
              <a:endParaRPr b="0" lang="en-IN" sz="900" strike="noStrike" u="none">
                <a:solidFill>
                  <a:srgbClr val="000000"/>
                </a:solidFill>
                <a:effectLst/>
                <a:uFillTx/>
                <a:latin typeface="Arial"/>
              </a:endParaRPr>
            </a:p>
          </p:txBody>
        </p:sp>
        <p:sp>
          <p:nvSpPr>
            <p:cNvPr id="70" name="Rectangle 351"/>
            <p:cNvSpPr/>
            <p:nvPr/>
          </p:nvSpPr>
          <p:spPr>
            <a:xfrm>
              <a:off x="2687040" y="5812200"/>
              <a:ext cx="1128960" cy="37800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1" name="Rectangle 352"/>
            <p:cNvSpPr/>
            <p:nvPr/>
          </p:nvSpPr>
          <p:spPr>
            <a:xfrm>
              <a:off x="2769840" y="5851440"/>
              <a:ext cx="9280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Track Warranties</a:t>
              </a:r>
              <a:endParaRPr b="0" lang="en-IN" sz="900" strike="noStrike" u="none">
                <a:solidFill>
                  <a:srgbClr val="000000"/>
                </a:solidFill>
                <a:effectLst/>
                <a:uFillTx/>
                <a:latin typeface="Arial"/>
              </a:endParaRPr>
            </a:p>
          </p:txBody>
        </p:sp>
        <p:sp>
          <p:nvSpPr>
            <p:cNvPr id="72" name="Rectangle 353"/>
            <p:cNvSpPr/>
            <p:nvPr/>
          </p:nvSpPr>
          <p:spPr>
            <a:xfrm>
              <a:off x="2769840" y="6001200"/>
              <a:ext cx="9280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and Maintenance</a:t>
              </a:r>
              <a:endParaRPr b="0" lang="en-IN" sz="900" strike="noStrike" u="none">
                <a:solidFill>
                  <a:srgbClr val="000000"/>
                </a:solidFill>
                <a:effectLst/>
                <a:uFillTx/>
                <a:latin typeface="Arial"/>
              </a:endParaRPr>
            </a:p>
          </p:txBody>
        </p:sp>
        <p:sp>
          <p:nvSpPr>
            <p:cNvPr id="73" name="Rectangle 354"/>
            <p:cNvSpPr/>
            <p:nvPr/>
          </p:nvSpPr>
          <p:spPr>
            <a:xfrm>
              <a:off x="2436480" y="5055840"/>
              <a:ext cx="1128960" cy="50400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4" name="Rectangle 355"/>
            <p:cNvSpPr/>
            <p:nvPr/>
          </p:nvSpPr>
          <p:spPr>
            <a:xfrm>
              <a:off x="2547360" y="5080320"/>
              <a:ext cx="8773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Track Insurance</a:t>
              </a:r>
              <a:endParaRPr b="0" lang="en-IN" sz="900" strike="noStrike" u="none">
                <a:solidFill>
                  <a:srgbClr val="000000"/>
                </a:solidFill>
                <a:effectLst/>
                <a:uFillTx/>
                <a:latin typeface="Arial"/>
              </a:endParaRPr>
            </a:p>
          </p:txBody>
        </p:sp>
        <p:sp>
          <p:nvSpPr>
            <p:cNvPr id="75" name="Rectangle 356"/>
            <p:cNvSpPr/>
            <p:nvPr/>
          </p:nvSpPr>
          <p:spPr>
            <a:xfrm>
              <a:off x="2628360" y="5231880"/>
              <a:ext cx="7120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Replacement</a:t>
              </a:r>
              <a:endParaRPr b="0" lang="en-IN" sz="900" strike="noStrike" u="none">
                <a:solidFill>
                  <a:srgbClr val="000000"/>
                </a:solidFill>
                <a:effectLst/>
                <a:uFillTx/>
                <a:latin typeface="Arial"/>
              </a:endParaRPr>
            </a:p>
          </p:txBody>
        </p:sp>
        <p:sp>
          <p:nvSpPr>
            <p:cNvPr id="76" name="Rectangle 357"/>
            <p:cNvSpPr/>
            <p:nvPr/>
          </p:nvSpPr>
          <p:spPr>
            <a:xfrm>
              <a:off x="2839320" y="5383080"/>
              <a:ext cx="30564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Value</a:t>
              </a:r>
              <a:endParaRPr b="0" lang="en-IN" sz="900" strike="noStrike" u="none">
                <a:solidFill>
                  <a:srgbClr val="000000"/>
                </a:solidFill>
                <a:effectLst/>
                <a:uFillTx/>
                <a:latin typeface="Arial"/>
              </a:endParaRPr>
            </a:p>
          </p:txBody>
        </p:sp>
        <p:sp>
          <p:nvSpPr>
            <p:cNvPr id="77" name="Rectangle 358"/>
            <p:cNvSpPr/>
            <p:nvPr/>
          </p:nvSpPr>
          <p:spPr>
            <a:xfrm>
              <a:off x="2310840" y="4299480"/>
              <a:ext cx="1128960" cy="50400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8" name="Rectangle 359"/>
            <p:cNvSpPr/>
            <p:nvPr/>
          </p:nvSpPr>
          <p:spPr>
            <a:xfrm>
              <a:off x="2466360" y="4323600"/>
              <a:ext cx="80136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Track Physical</a:t>
              </a:r>
              <a:endParaRPr b="0" lang="en-IN" sz="900" strike="noStrike" u="none">
                <a:solidFill>
                  <a:srgbClr val="000000"/>
                </a:solidFill>
                <a:effectLst/>
                <a:uFillTx/>
                <a:latin typeface="Arial"/>
              </a:endParaRPr>
            </a:p>
          </p:txBody>
        </p:sp>
        <p:sp>
          <p:nvSpPr>
            <p:cNvPr id="79" name="Rectangle 360"/>
            <p:cNvSpPr/>
            <p:nvPr/>
          </p:nvSpPr>
          <p:spPr>
            <a:xfrm>
              <a:off x="2461680" y="4476960"/>
              <a:ext cx="8200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Asset Location</a:t>
              </a:r>
              <a:endParaRPr b="0" lang="en-IN" sz="900" strike="noStrike" u="none">
                <a:solidFill>
                  <a:srgbClr val="000000"/>
                </a:solidFill>
                <a:effectLst/>
                <a:uFillTx/>
                <a:latin typeface="Arial"/>
              </a:endParaRPr>
            </a:p>
          </p:txBody>
        </p:sp>
        <p:sp>
          <p:nvSpPr>
            <p:cNvPr id="80" name="Rectangle 361"/>
            <p:cNvSpPr/>
            <p:nvPr/>
          </p:nvSpPr>
          <p:spPr>
            <a:xfrm>
              <a:off x="2467800" y="4626360"/>
              <a:ext cx="7945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and Custodian</a:t>
              </a:r>
              <a:endParaRPr b="0" lang="en-IN" sz="900" strike="noStrike" u="none">
                <a:solidFill>
                  <a:srgbClr val="000000"/>
                </a:solidFill>
                <a:effectLst/>
                <a:uFillTx/>
                <a:latin typeface="Arial"/>
              </a:endParaRPr>
            </a:p>
          </p:txBody>
        </p:sp>
        <p:sp>
          <p:nvSpPr>
            <p:cNvPr id="81" name="Rectangle 362"/>
            <p:cNvSpPr/>
            <p:nvPr/>
          </p:nvSpPr>
          <p:spPr>
            <a:xfrm>
              <a:off x="2310840" y="3605040"/>
              <a:ext cx="1128960" cy="50400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2" name="Rectangle 363"/>
            <p:cNvSpPr/>
            <p:nvPr/>
          </p:nvSpPr>
          <p:spPr>
            <a:xfrm>
              <a:off x="2398320" y="3704400"/>
              <a:ext cx="93456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Perform Physical</a:t>
              </a:r>
              <a:endParaRPr b="0" lang="en-IN" sz="900" strike="noStrike" u="none">
                <a:solidFill>
                  <a:srgbClr val="000000"/>
                </a:solidFill>
                <a:effectLst/>
                <a:uFillTx/>
                <a:latin typeface="Arial"/>
              </a:endParaRPr>
            </a:p>
          </p:txBody>
        </p:sp>
        <p:sp>
          <p:nvSpPr>
            <p:cNvPr id="83" name="Rectangle 364"/>
            <p:cNvSpPr/>
            <p:nvPr/>
          </p:nvSpPr>
          <p:spPr>
            <a:xfrm>
              <a:off x="2615760" y="3857400"/>
              <a:ext cx="51516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Inventory</a:t>
              </a:r>
              <a:endParaRPr b="0" lang="en-IN" sz="900" strike="noStrike" u="none">
                <a:solidFill>
                  <a:srgbClr val="000000"/>
                </a:solidFill>
                <a:effectLst/>
                <a:uFillTx/>
                <a:latin typeface="Arial"/>
              </a:endParaRPr>
            </a:p>
          </p:txBody>
        </p:sp>
        <p:sp>
          <p:nvSpPr>
            <p:cNvPr id="84" name="Rectangle 365"/>
            <p:cNvSpPr/>
            <p:nvPr/>
          </p:nvSpPr>
          <p:spPr>
            <a:xfrm>
              <a:off x="2436480" y="2910600"/>
              <a:ext cx="1152000" cy="504000"/>
            </a:xfrm>
            <a:prstGeom prst="rect">
              <a:avLst/>
            </a:prstGeom>
            <a:solidFill>
              <a:srgbClr val="ffc000"/>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5" name="Rectangle 366"/>
            <p:cNvSpPr/>
            <p:nvPr/>
          </p:nvSpPr>
          <p:spPr>
            <a:xfrm>
              <a:off x="2709000" y="3012840"/>
              <a:ext cx="5598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Retire and</a:t>
              </a:r>
              <a:endParaRPr b="0" lang="en-IN" sz="900" strike="noStrike" u="none">
                <a:solidFill>
                  <a:srgbClr val="000000"/>
                </a:solidFill>
                <a:effectLst/>
                <a:uFillTx/>
                <a:latin typeface="Arial"/>
              </a:endParaRPr>
            </a:p>
          </p:txBody>
        </p:sp>
        <p:sp>
          <p:nvSpPr>
            <p:cNvPr id="86" name="Rectangle 367"/>
            <p:cNvSpPr/>
            <p:nvPr/>
          </p:nvSpPr>
          <p:spPr>
            <a:xfrm>
              <a:off x="2494800" y="3165840"/>
              <a:ext cx="9918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Dispose of Assets</a:t>
              </a:r>
              <a:endParaRPr b="0" lang="en-IN" sz="900" strike="noStrike" u="none">
                <a:solidFill>
                  <a:srgbClr val="000000"/>
                </a:solidFill>
                <a:effectLst/>
                <a:uFillTx/>
                <a:latin typeface="Arial"/>
              </a:endParaRPr>
            </a:p>
          </p:txBody>
        </p:sp>
        <p:sp>
          <p:nvSpPr>
            <p:cNvPr id="87" name="Rectangle 368"/>
            <p:cNvSpPr/>
            <p:nvPr/>
          </p:nvSpPr>
          <p:spPr>
            <a:xfrm>
              <a:off x="2687040" y="2154240"/>
              <a:ext cx="1128960" cy="504360"/>
            </a:xfrm>
            <a:prstGeom prst="rect">
              <a:avLst/>
            </a:prstGeom>
            <a:solidFill>
              <a:srgbClr val="ffff99"/>
            </a:solidFill>
            <a:ln w="900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8" name="Rectangle 369"/>
            <p:cNvSpPr/>
            <p:nvPr/>
          </p:nvSpPr>
          <p:spPr>
            <a:xfrm>
              <a:off x="2910960" y="2256120"/>
              <a:ext cx="65484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Plan Capital</a:t>
              </a:r>
              <a:endParaRPr b="0" lang="en-IN" sz="900" strike="noStrike" u="none">
                <a:solidFill>
                  <a:srgbClr val="000000"/>
                </a:solidFill>
                <a:effectLst/>
                <a:uFillTx/>
                <a:latin typeface="Arial"/>
              </a:endParaRPr>
            </a:p>
          </p:txBody>
        </p:sp>
        <p:sp>
          <p:nvSpPr>
            <p:cNvPr id="89" name="Rectangle 370"/>
            <p:cNvSpPr/>
            <p:nvPr/>
          </p:nvSpPr>
          <p:spPr>
            <a:xfrm>
              <a:off x="2913840" y="2409480"/>
              <a:ext cx="6865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000000"/>
                  </a:solidFill>
                  <a:effectLst/>
                  <a:uFillTx/>
                  <a:latin typeface="Arial"/>
                </a:rPr>
                <a:t>Acquisitions</a:t>
              </a:r>
              <a:endParaRPr b="0" lang="en-IN" sz="900" strike="noStrike" u="none">
                <a:solidFill>
                  <a:srgbClr val="000000"/>
                </a:solidFill>
                <a:effectLst/>
                <a:uFillTx/>
                <a:latin typeface="Arial"/>
              </a:endParaRPr>
            </a:p>
          </p:txBody>
        </p:sp>
        <p:sp>
          <p:nvSpPr>
            <p:cNvPr id="90" name="Line 371"/>
            <p:cNvSpPr/>
            <p:nvPr/>
          </p:nvSpPr>
          <p:spPr>
            <a:xfrm flipV="1">
              <a:off x="6389640" y="4299480"/>
              <a:ext cx="360" cy="18288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1" name="Freeform 372"/>
            <p:cNvSpPr/>
            <p:nvPr/>
          </p:nvSpPr>
          <p:spPr>
            <a:xfrm>
              <a:off x="6344280" y="4460760"/>
              <a:ext cx="89640" cy="90720"/>
            </a:xfrm>
            <a:custGeom>
              <a:avLst/>
              <a:gdLst>
                <a:gd name="textAreaLeft" fmla="*/ 0 w 89640"/>
                <a:gd name="textAreaRight" fmla="*/ 90000 w 89640"/>
                <a:gd name="textAreaTop" fmla="*/ 0 h 90720"/>
                <a:gd name="textAreaBottom" fmla="*/ 91080 h 90720"/>
                <a:gd name="GluePoint1X" fmla="*/ 65 w 129"/>
                <a:gd name="GluePoint1Y" fmla="*/ 130 h 130"/>
                <a:gd name="GluePoint2X" fmla="*/ 0 w 129"/>
                <a:gd name="GluePoint2Y" fmla="*/ 0 h 130"/>
                <a:gd name="GluePoint3X" fmla="*/ 7 w 129"/>
                <a:gd name="GluePoint3Y" fmla="*/ 2 h 130"/>
                <a:gd name="GluePoint4X" fmla="*/ 14 w 129"/>
                <a:gd name="GluePoint4Y" fmla="*/ 5 h 130"/>
                <a:gd name="GluePoint5X" fmla="*/ 21 w 129"/>
                <a:gd name="GluePoint5Y" fmla="*/ 7 h 130"/>
                <a:gd name="GluePoint6X" fmla="*/ 28 w 129"/>
                <a:gd name="GluePoint6Y" fmla="*/ 9 h 130"/>
                <a:gd name="GluePoint7X" fmla="*/ 36 w 129"/>
                <a:gd name="GluePoint7Y" fmla="*/ 12 h 130"/>
                <a:gd name="GluePoint8X" fmla="*/ 43 w 129"/>
                <a:gd name="GluePoint8Y" fmla="*/ 12 h 130"/>
                <a:gd name="GluePoint9X" fmla="*/ 53 w 129"/>
                <a:gd name="GluePoint9Y" fmla="*/ 14 h 130"/>
                <a:gd name="GluePoint10X" fmla="*/ 60 w 129"/>
                <a:gd name="GluePoint10Y" fmla="*/ 14 h 130"/>
                <a:gd name="GluePoint11X" fmla="*/ 67 w 129"/>
                <a:gd name="GluePoint11Y" fmla="*/ 14 h 130"/>
                <a:gd name="GluePoint12X" fmla="*/ 77 w 129"/>
                <a:gd name="GluePoint12Y" fmla="*/ 14 h 130"/>
                <a:gd name="GluePoint13X" fmla="*/ 84 w 129"/>
                <a:gd name="GluePoint13Y" fmla="*/ 12 h 130"/>
                <a:gd name="GluePoint14X" fmla="*/ 91 w 129"/>
                <a:gd name="GluePoint14Y" fmla="*/ 12 h 130"/>
                <a:gd name="GluePoint15X" fmla="*/ 98 w 129"/>
                <a:gd name="GluePoint15Y" fmla="*/ 9 h 130"/>
                <a:gd name="GluePoint16X" fmla="*/ 108 w 129"/>
                <a:gd name="GluePoint16Y" fmla="*/ 7 h 130"/>
                <a:gd name="GluePoint17X" fmla="*/ 115 w 129"/>
                <a:gd name="GluePoint17Y" fmla="*/ 5 h 130"/>
                <a:gd name="GluePoint18X" fmla="*/ 122 w 129"/>
                <a:gd name="GluePoint18Y" fmla="*/ 2 h 130"/>
                <a:gd name="GluePoint19X" fmla="*/ 129 w 129"/>
                <a:gd name="GluePoint19Y" fmla="*/ 0 h 130"/>
                <a:gd name="GluePoint20X" fmla="*/ 65 w 129"/>
                <a:gd name="GluePoint20Y" fmla="*/ 130 h 1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29" h="130">
                  <a:moveTo>
                    <a:pt x="65" y="130"/>
                  </a:moveTo>
                  <a:lnTo>
                    <a:pt x="0" y="0"/>
                  </a:lnTo>
                  <a:lnTo>
                    <a:pt x="7" y="2"/>
                  </a:lnTo>
                  <a:lnTo>
                    <a:pt x="14" y="5"/>
                  </a:lnTo>
                  <a:lnTo>
                    <a:pt x="21" y="7"/>
                  </a:lnTo>
                  <a:lnTo>
                    <a:pt x="28" y="9"/>
                  </a:lnTo>
                  <a:lnTo>
                    <a:pt x="36" y="12"/>
                  </a:lnTo>
                  <a:lnTo>
                    <a:pt x="43" y="12"/>
                  </a:lnTo>
                  <a:lnTo>
                    <a:pt x="53" y="14"/>
                  </a:lnTo>
                  <a:lnTo>
                    <a:pt x="60" y="14"/>
                  </a:lnTo>
                  <a:lnTo>
                    <a:pt x="67" y="14"/>
                  </a:lnTo>
                  <a:lnTo>
                    <a:pt x="77" y="14"/>
                  </a:lnTo>
                  <a:lnTo>
                    <a:pt x="84" y="12"/>
                  </a:lnTo>
                  <a:lnTo>
                    <a:pt x="91" y="12"/>
                  </a:lnTo>
                  <a:lnTo>
                    <a:pt x="98" y="9"/>
                  </a:lnTo>
                  <a:lnTo>
                    <a:pt x="108" y="7"/>
                  </a:lnTo>
                  <a:lnTo>
                    <a:pt x="115" y="5"/>
                  </a:lnTo>
                  <a:lnTo>
                    <a:pt x="122" y="2"/>
                  </a:lnTo>
                  <a:lnTo>
                    <a:pt x="129" y="0"/>
                  </a:lnTo>
                  <a:lnTo>
                    <a:pt x="65" y="130"/>
                  </a:lnTo>
                  <a:close/>
                </a:path>
              </a:pathLst>
            </a:custGeom>
            <a:solidFill>
              <a:srgbClr val="9a9a9a"/>
            </a:solidFill>
            <a:ln w="0">
              <a:noFill/>
            </a:ln>
          </p:spPr>
          <p:style>
            <a:lnRef idx="0"/>
            <a:fillRef idx="0"/>
            <a:effectRef idx="0"/>
            <a:fontRef idx="minor"/>
          </p:style>
          <p:txBody>
            <a:bodyPr lIns="90000" rIns="90000" tIns="44280" bIns="442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2" name="Line 373"/>
            <p:cNvSpPr/>
            <p:nvPr/>
          </p:nvSpPr>
          <p:spPr>
            <a:xfrm flipH="1">
              <a:off x="6293880" y="4929120"/>
              <a:ext cx="95400" cy="19008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3" name="Freeform 374"/>
            <p:cNvSpPr/>
            <p:nvPr/>
          </p:nvSpPr>
          <p:spPr>
            <a:xfrm>
              <a:off x="6263640" y="5078880"/>
              <a:ext cx="80640" cy="102600"/>
            </a:xfrm>
            <a:custGeom>
              <a:avLst/>
              <a:gdLst>
                <a:gd name="textAreaLeft" fmla="*/ 0 w 80640"/>
                <a:gd name="textAreaRight" fmla="*/ 81000 w 80640"/>
                <a:gd name="textAreaTop" fmla="*/ 0 h 102600"/>
                <a:gd name="textAreaBottom" fmla="*/ 102960 h 102600"/>
                <a:gd name="GluePoint1X" fmla="*/ 0 w 116"/>
                <a:gd name="GluePoint1Y" fmla="*/ 147 h 147"/>
                <a:gd name="GluePoint2X" fmla="*/ 0 w 116"/>
                <a:gd name="GluePoint2Y" fmla="*/ 0 h 147"/>
                <a:gd name="GluePoint3X" fmla="*/ 5 w 116"/>
                <a:gd name="GluePoint3Y" fmla="*/ 8 h 147"/>
                <a:gd name="GluePoint4X" fmla="*/ 10 w 116"/>
                <a:gd name="GluePoint4Y" fmla="*/ 12 h 147"/>
                <a:gd name="GluePoint5X" fmla="*/ 15 w 116"/>
                <a:gd name="GluePoint5Y" fmla="*/ 20 h 147"/>
                <a:gd name="GluePoint6X" fmla="*/ 22 w 116"/>
                <a:gd name="GluePoint6Y" fmla="*/ 25 h 147"/>
                <a:gd name="GluePoint7X" fmla="*/ 27 w 116"/>
                <a:gd name="GluePoint7Y" fmla="*/ 29 h 147"/>
                <a:gd name="GluePoint8X" fmla="*/ 34 w 116"/>
                <a:gd name="GluePoint8Y" fmla="*/ 34 h 147"/>
                <a:gd name="GluePoint9X" fmla="*/ 41 w 116"/>
                <a:gd name="GluePoint9Y" fmla="*/ 39 h 147"/>
                <a:gd name="GluePoint10X" fmla="*/ 48 w 116"/>
                <a:gd name="GluePoint10Y" fmla="*/ 41 h 147"/>
                <a:gd name="GluePoint11X" fmla="*/ 53 w 116"/>
                <a:gd name="GluePoint11Y" fmla="*/ 46 h 147"/>
                <a:gd name="GluePoint12X" fmla="*/ 60 w 116"/>
                <a:gd name="GluePoint12Y" fmla="*/ 49 h 147"/>
                <a:gd name="GluePoint13X" fmla="*/ 70 w 116"/>
                <a:gd name="GluePoint13Y" fmla="*/ 51 h 147"/>
                <a:gd name="GluePoint14X" fmla="*/ 77 w 116"/>
                <a:gd name="GluePoint14Y" fmla="*/ 53 h 147"/>
                <a:gd name="GluePoint15X" fmla="*/ 84 w 116"/>
                <a:gd name="GluePoint15Y" fmla="*/ 56 h 147"/>
                <a:gd name="GluePoint16X" fmla="*/ 92 w 116"/>
                <a:gd name="GluePoint16Y" fmla="*/ 58 h 147"/>
                <a:gd name="GluePoint17X" fmla="*/ 99 w 116"/>
                <a:gd name="GluePoint17Y" fmla="*/ 58 h 147"/>
                <a:gd name="GluePoint18X" fmla="*/ 108 w 116"/>
                <a:gd name="GluePoint18Y" fmla="*/ 58 h 147"/>
                <a:gd name="GluePoint19X" fmla="*/ 116 w 116"/>
                <a:gd name="GluePoint19Y" fmla="*/ 58 h 147"/>
                <a:gd name="GluePoint20X" fmla="*/ 0 w 116"/>
                <a:gd name="GluePoint20Y" fmla="*/ 147 h 1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16" h="147">
                  <a:moveTo>
                    <a:pt x="0" y="147"/>
                  </a:moveTo>
                  <a:lnTo>
                    <a:pt x="0" y="0"/>
                  </a:lnTo>
                  <a:lnTo>
                    <a:pt x="5" y="8"/>
                  </a:lnTo>
                  <a:lnTo>
                    <a:pt x="10" y="12"/>
                  </a:lnTo>
                  <a:lnTo>
                    <a:pt x="15" y="20"/>
                  </a:lnTo>
                  <a:lnTo>
                    <a:pt x="22" y="25"/>
                  </a:lnTo>
                  <a:lnTo>
                    <a:pt x="27" y="29"/>
                  </a:lnTo>
                  <a:lnTo>
                    <a:pt x="34" y="34"/>
                  </a:lnTo>
                  <a:lnTo>
                    <a:pt x="41" y="39"/>
                  </a:lnTo>
                  <a:lnTo>
                    <a:pt x="48" y="41"/>
                  </a:lnTo>
                  <a:lnTo>
                    <a:pt x="53" y="46"/>
                  </a:lnTo>
                  <a:lnTo>
                    <a:pt x="60" y="49"/>
                  </a:lnTo>
                  <a:lnTo>
                    <a:pt x="70" y="51"/>
                  </a:lnTo>
                  <a:lnTo>
                    <a:pt x="77" y="53"/>
                  </a:lnTo>
                  <a:lnTo>
                    <a:pt x="84" y="56"/>
                  </a:lnTo>
                  <a:lnTo>
                    <a:pt x="92" y="58"/>
                  </a:lnTo>
                  <a:lnTo>
                    <a:pt x="99" y="58"/>
                  </a:lnTo>
                  <a:lnTo>
                    <a:pt x="108" y="58"/>
                  </a:lnTo>
                  <a:lnTo>
                    <a:pt x="116" y="58"/>
                  </a:lnTo>
                  <a:lnTo>
                    <a:pt x="0" y="147"/>
                  </a:lnTo>
                  <a:close/>
                </a:path>
              </a:pathLst>
            </a:custGeom>
            <a:solidFill>
              <a:srgbClr val="9a9a9a"/>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4" name="Line 375"/>
            <p:cNvSpPr/>
            <p:nvPr/>
          </p:nvSpPr>
          <p:spPr>
            <a:xfrm flipH="1">
              <a:off x="6061320" y="5559840"/>
              <a:ext cx="201960" cy="20340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5" name="Freeform 376"/>
            <p:cNvSpPr/>
            <p:nvPr/>
          </p:nvSpPr>
          <p:spPr>
            <a:xfrm>
              <a:off x="6012720" y="5714280"/>
              <a:ext cx="95400" cy="97560"/>
            </a:xfrm>
            <a:custGeom>
              <a:avLst/>
              <a:gdLst>
                <a:gd name="textAreaLeft" fmla="*/ 0 w 95400"/>
                <a:gd name="textAreaRight" fmla="*/ 95760 w 95400"/>
                <a:gd name="textAreaTop" fmla="*/ 0 h 97560"/>
                <a:gd name="textAreaBottom" fmla="*/ 97920 h 97560"/>
                <a:gd name="GluePoint1X" fmla="*/ 0 w 137"/>
                <a:gd name="GluePoint1Y" fmla="*/ 140 h 140"/>
                <a:gd name="GluePoint2X" fmla="*/ 46 w 137"/>
                <a:gd name="GluePoint2Y" fmla="*/ 0 h 140"/>
                <a:gd name="GluePoint3X" fmla="*/ 48 w 137"/>
                <a:gd name="GluePoint3Y" fmla="*/ 7 h 140"/>
                <a:gd name="GluePoint4X" fmla="*/ 51 w 137"/>
                <a:gd name="GluePoint4Y" fmla="*/ 15 h 140"/>
                <a:gd name="GluePoint5X" fmla="*/ 55 w 137"/>
                <a:gd name="GluePoint5Y" fmla="*/ 22 h 140"/>
                <a:gd name="GluePoint6X" fmla="*/ 58 w 137"/>
                <a:gd name="GluePoint6Y" fmla="*/ 29 h 140"/>
                <a:gd name="GluePoint7X" fmla="*/ 63 w 137"/>
                <a:gd name="GluePoint7Y" fmla="*/ 36 h 140"/>
                <a:gd name="GluePoint8X" fmla="*/ 67 w 137"/>
                <a:gd name="GluePoint8Y" fmla="*/ 43 h 140"/>
                <a:gd name="GluePoint9X" fmla="*/ 72 w 137"/>
                <a:gd name="GluePoint9Y" fmla="*/ 48 h 140"/>
                <a:gd name="GluePoint10X" fmla="*/ 77 w 137"/>
                <a:gd name="GluePoint10Y" fmla="*/ 55 h 140"/>
                <a:gd name="GluePoint11X" fmla="*/ 84 w 137"/>
                <a:gd name="GluePoint11Y" fmla="*/ 60 h 140"/>
                <a:gd name="GluePoint12X" fmla="*/ 89 w 137"/>
                <a:gd name="GluePoint12Y" fmla="*/ 65 h 140"/>
                <a:gd name="GluePoint13X" fmla="*/ 96 w 137"/>
                <a:gd name="GluePoint13Y" fmla="*/ 70 h 140"/>
                <a:gd name="GluePoint14X" fmla="*/ 101 w 137"/>
                <a:gd name="GluePoint14Y" fmla="*/ 75 h 140"/>
                <a:gd name="GluePoint15X" fmla="*/ 108 w 137"/>
                <a:gd name="GluePoint15Y" fmla="*/ 80 h 140"/>
                <a:gd name="GluePoint16X" fmla="*/ 115 w 137"/>
                <a:gd name="GluePoint16Y" fmla="*/ 84 h 140"/>
                <a:gd name="GluePoint17X" fmla="*/ 123 w 137"/>
                <a:gd name="GluePoint17Y" fmla="*/ 87 h 140"/>
                <a:gd name="GluePoint18X" fmla="*/ 130 w 137"/>
                <a:gd name="GluePoint18Y" fmla="*/ 89 h 140"/>
                <a:gd name="GluePoint19X" fmla="*/ 137 w 137"/>
                <a:gd name="GluePoint19Y" fmla="*/ 94 h 140"/>
                <a:gd name="GluePoint20X" fmla="*/ 0 w 137"/>
                <a:gd name="GluePoint20Y" fmla="*/ 140 h 1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37" h="140">
                  <a:moveTo>
                    <a:pt x="0" y="140"/>
                  </a:moveTo>
                  <a:lnTo>
                    <a:pt x="46" y="0"/>
                  </a:lnTo>
                  <a:lnTo>
                    <a:pt x="48" y="7"/>
                  </a:lnTo>
                  <a:lnTo>
                    <a:pt x="51" y="15"/>
                  </a:lnTo>
                  <a:lnTo>
                    <a:pt x="55" y="22"/>
                  </a:lnTo>
                  <a:lnTo>
                    <a:pt x="58" y="29"/>
                  </a:lnTo>
                  <a:lnTo>
                    <a:pt x="63" y="36"/>
                  </a:lnTo>
                  <a:lnTo>
                    <a:pt x="67" y="43"/>
                  </a:lnTo>
                  <a:lnTo>
                    <a:pt x="72" y="48"/>
                  </a:lnTo>
                  <a:lnTo>
                    <a:pt x="77" y="55"/>
                  </a:lnTo>
                  <a:lnTo>
                    <a:pt x="84" y="60"/>
                  </a:lnTo>
                  <a:lnTo>
                    <a:pt x="89" y="65"/>
                  </a:lnTo>
                  <a:lnTo>
                    <a:pt x="96" y="70"/>
                  </a:lnTo>
                  <a:lnTo>
                    <a:pt x="101" y="75"/>
                  </a:lnTo>
                  <a:lnTo>
                    <a:pt x="108" y="80"/>
                  </a:lnTo>
                  <a:lnTo>
                    <a:pt x="115" y="84"/>
                  </a:lnTo>
                  <a:lnTo>
                    <a:pt x="123" y="87"/>
                  </a:lnTo>
                  <a:lnTo>
                    <a:pt x="130" y="89"/>
                  </a:lnTo>
                  <a:lnTo>
                    <a:pt x="137" y="94"/>
                  </a:lnTo>
                  <a:lnTo>
                    <a:pt x="0" y="140"/>
                  </a:lnTo>
                  <a:close/>
                </a:path>
              </a:pathLst>
            </a:custGeom>
            <a:solidFill>
              <a:srgbClr val="9a9a9a"/>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6" name="Line 377"/>
            <p:cNvSpPr/>
            <p:nvPr/>
          </p:nvSpPr>
          <p:spPr>
            <a:xfrm>
              <a:off x="5265360" y="6000120"/>
              <a:ext cx="182520" cy="720"/>
            </a:xfrm>
            <a:prstGeom prst="line">
              <a:avLst/>
            </a:prstGeom>
            <a:ln w="9000">
              <a:solidFill>
                <a:srgbClr val="9a9a9a"/>
              </a:solidFill>
              <a:miter/>
            </a:ln>
          </p:spPr>
          <p:style>
            <a:lnRef idx="0"/>
            <a:fillRef idx="0"/>
            <a:effectRef idx="0"/>
            <a:fontRef idx="minor"/>
          </p:style>
          <p:txBody>
            <a:bodyPr lIns="90000" rIns="90000" tIns="-46080" bIns="-46080" anchor="t">
              <a:noAutofit/>
            </a:bodyPr>
            <a:p>
              <a:endParaRPr b="0" lang="en-IN" sz="1800" strike="noStrike" u="none">
                <a:solidFill>
                  <a:srgbClr val="000000"/>
                </a:solidFill>
                <a:effectLst/>
                <a:uFillTx/>
                <a:latin typeface="Arial"/>
              </a:endParaRPr>
            </a:p>
          </p:txBody>
        </p:sp>
        <p:sp>
          <p:nvSpPr>
            <p:cNvPr id="97" name="Freeform 378"/>
            <p:cNvSpPr/>
            <p:nvPr/>
          </p:nvSpPr>
          <p:spPr>
            <a:xfrm>
              <a:off x="5196240" y="5954760"/>
              <a:ext cx="90360" cy="90720"/>
            </a:xfrm>
            <a:custGeom>
              <a:avLst/>
              <a:gdLst>
                <a:gd name="textAreaLeft" fmla="*/ 0 w 90360"/>
                <a:gd name="textAreaRight" fmla="*/ 90720 w 90360"/>
                <a:gd name="textAreaTop" fmla="*/ 0 h 90720"/>
                <a:gd name="textAreaBottom" fmla="*/ 91080 h 90720"/>
                <a:gd name="GluePoint1X" fmla="*/ 0 w 130"/>
                <a:gd name="GluePoint1Y" fmla="*/ 65 h 130"/>
                <a:gd name="GluePoint2X" fmla="*/ 130 w 130"/>
                <a:gd name="GluePoint2Y" fmla="*/ 0 h 130"/>
                <a:gd name="GluePoint3X" fmla="*/ 128 w 130"/>
                <a:gd name="GluePoint3Y" fmla="*/ 7 h 130"/>
                <a:gd name="GluePoint4X" fmla="*/ 123 w 130"/>
                <a:gd name="GluePoint4Y" fmla="*/ 14 h 130"/>
                <a:gd name="GluePoint5X" fmla="*/ 120 w 130"/>
                <a:gd name="GluePoint5Y" fmla="*/ 22 h 130"/>
                <a:gd name="GluePoint6X" fmla="*/ 120 w 130"/>
                <a:gd name="GluePoint6Y" fmla="*/ 29 h 130"/>
                <a:gd name="GluePoint7X" fmla="*/ 118 w 130"/>
                <a:gd name="GluePoint7Y" fmla="*/ 38 h 130"/>
                <a:gd name="GluePoint8X" fmla="*/ 116 w 130"/>
                <a:gd name="GluePoint8Y" fmla="*/ 46 h 130"/>
                <a:gd name="GluePoint9X" fmla="*/ 116 w 130"/>
                <a:gd name="GluePoint9Y" fmla="*/ 53 h 130"/>
                <a:gd name="GluePoint10X" fmla="*/ 116 w 130"/>
                <a:gd name="GluePoint10Y" fmla="*/ 60 h 130"/>
                <a:gd name="GluePoint11X" fmla="*/ 116 w 130"/>
                <a:gd name="GluePoint11Y" fmla="*/ 70 h 130"/>
                <a:gd name="GluePoint12X" fmla="*/ 116 w 130"/>
                <a:gd name="GluePoint12Y" fmla="*/ 77 h 130"/>
                <a:gd name="GluePoint13X" fmla="*/ 116 w 130"/>
                <a:gd name="GluePoint13Y" fmla="*/ 84 h 130"/>
                <a:gd name="GluePoint14X" fmla="*/ 118 w 130"/>
                <a:gd name="GluePoint14Y" fmla="*/ 94 h 130"/>
                <a:gd name="GluePoint15X" fmla="*/ 120 w 130"/>
                <a:gd name="GluePoint15Y" fmla="*/ 101 h 130"/>
                <a:gd name="GluePoint16X" fmla="*/ 120 w 130"/>
                <a:gd name="GluePoint16Y" fmla="*/ 108 h 130"/>
                <a:gd name="GluePoint17X" fmla="*/ 123 w 130"/>
                <a:gd name="GluePoint17Y" fmla="*/ 115 h 130"/>
                <a:gd name="GluePoint18X" fmla="*/ 128 w 130"/>
                <a:gd name="GluePoint18Y" fmla="*/ 123 h 130"/>
                <a:gd name="GluePoint19X" fmla="*/ 130 w 130"/>
                <a:gd name="GluePoint19Y" fmla="*/ 130 h 130"/>
                <a:gd name="GluePoint20X" fmla="*/ 0 w 130"/>
                <a:gd name="GluePoint20Y" fmla="*/ 65 h 1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30" h="130">
                  <a:moveTo>
                    <a:pt x="0" y="65"/>
                  </a:moveTo>
                  <a:lnTo>
                    <a:pt x="130" y="0"/>
                  </a:lnTo>
                  <a:lnTo>
                    <a:pt x="128" y="7"/>
                  </a:lnTo>
                  <a:lnTo>
                    <a:pt x="123" y="14"/>
                  </a:lnTo>
                  <a:lnTo>
                    <a:pt x="120" y="22"/>
                  </a:lnTo>
                  <a:lnTo>
                    <a:pt x="120" y="29"/>
                  </a:lnTo>
                  <a:lnTo>
                    <a:pt x="118" y="38"/>
                  </a:lnTo>
                  <a:lnTo>
                    <a:pt x="116" y="46"/>
                  </a:lnTo>
                  <a:lnTo>
                    <a:pt x="116" y="53"/>
                  </a:lnTo>
                  <a:lnTo>
                    <a:pt x="116" y="60"/>
                  </a:lnTo>
                  <a:lnTo>
                    <a:pt x="116" y="70"/>
                  </a:lnTo>
                  <a:lnTo>
                    <a:pt x="116" y="77"/>
                  </a:lnTo>
                  <a:lnTo>
                    <a:pt x="116" y="84"/>
                  </a:lnTo>
                  <a:lnTo>
                    <a:pt x="118" y="94"/>
                  </a:lnTo>
                  <a:lnTo>
                    <a:pt x="120" y="101"/>
                  </a:lnTo>
                  <a:lnTo>
                    <a:pt x="120" y="108"/>
                  </a:lnTo>
                  <a:lnTo>
                    <a:pt x="123" y="115"/>
                  </a:lnTo>
                  <a:lnTo>
                    <a:pt x="128" y="123"/>
                  </a:lnTo>
                  <a:lnTo>
                    <a:pt x="130" y="130"/>
                  </a:lnTo>
                  <a:lnTo>
                    <a:pt x="0" y="65"/>
                  </a:lnTo>
                  <a:close/>
                </a:path>
              </a:pathLst>
            </a:custGeom>
            <a:solidFill>
              <a:srgbClr val="9a9a9a"/>
            </a:solidFill>
            <a:ln w="0">
              <a:noFill/>
            </a:ln>
          </p:spPr>
          <p:style>
            <a:lnRef idx="0"/>
            <a:fillRef idx="0"/>
            <a:effectRef idx="0"/>
            <a:fontRef idx="minor"/>
          </p:style>
          <p:txBody>
            <a:bodyPr lIns="90000" rIns="90000" tIns="44280" bIns="442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98" name="Line 379"/>
            <p:cNvSpPr/>
            <p:nvPr/>
          </p:nvSpPr>
          <p:spPr>
            <a:xfrm>
              <a:off x="3885480" y="6000120"/>
              <a:ext cx="181800" cy="720"/>
            </a:xfrm>
            <a:prstGeom prst="line">
              <a:avLst/>
            </a:prstGeom>
            <a:ln w="9000">
              <a:solidFill>
                <a:srgbClr val="9a9a9a"/>
              </a:solidFill>
              <a:miter/>
            </a:ln>
          </p:spPr>
          <p:style>
            <a:lnRef idx="0"/>
            <a:fillRef idx="0"/>
            <a:effectRef idx="0"/>
            <a:fontRef idx="minor"/>
          </p:style>
          <p:txBody>
            <a:bodyPr lIns="90000" rIns="90000" tIns="-46080" bIns="-46080" anchor="t">
              <a:noAutofit/>
            </a:bodyPr>
            <a:p>
              <a:endParaRPr b="0" lang="en-IN" sz="1800" strike="noStrike" u="none">
                <a:solidFill>
                  <a:srgbClr val="000000"/>
                </a:solidFill>
                <a:effectLst/>
                <a:uFillTx/>
                <a:latin typeface="Arial"/>
              </a:endParaRPr>
            </a:p>
          </p:txBody>
        </p:sp>
        <p:sp>
          <p:nvSpPr>
            <p:cNvPr id="99" name="Freeform 380"/>
            <p:cNvSpPr/>
            <p:nvPr/>
          </p:nvSpPr>
          <p:spPr>
            <a:xfrm>
              <a:off x="3816360" y="5954760"/>
              <a:ext cx="90360" cy="90720"/>
            </a:xfrm>
            <a:custGeom>
              <a:avLst/>
              <a:gdLst>
                <a:gd name="textAreaLeft" fmla="*/ 0 w 90360"/>
                <a:gd name="textAreaRight" fmla="*/ 90720 w 90360"/>
                <a:gd name="textAreaTop" fmla="*/ 0 h 90720"/>
                <a:gd name="textAreaBottom" fmla="*/ 91080 h 90720"/>
                <a:gd name="GluePoint1X" fmla="*/ 0 w 130"/>
                <a:gd name="GluePoint1Y" fmla="*/ 65 h 130"/>
                <a:gd name="GluePoint2X" fmla="*/ 130 w 130"/>
                <a:gd name="GluePoint2Y" fmla="*/ 0 h 130"/>
                <a:gd name="GluePoint3X" fmla="*/ 128 w 130"/>
                <a:gd name="GluePoint3Y" fmla="*/ 7 h 130"/>
                <a:gd name="GluePoint4X" fmla="*/ 123 w 130"/>
                <a:gd name="GluePoint4Y" fmla="*/ 14 h 130"/>
                <a:gd name="GluePoint5X" fmla="*/ 120 w 130"/>
                <a:gd name="GluePoint5Y" fmla="*/ 22 h 130"/>
                <a:gd name="GluePoint6X" fmla="*/ 118 w 130"/>
                <a:gd name="GluePoint6Y" fmla="*/ 29 h 130"/>
                <a:gd name="GluePoint7X" fmla="*/ 118 w 130"/>
                <a:gd name="GluePoint7Y" fmla="*/ 38 h 130"/>
                <a:gd name="GluePoint8X" fmla="*/ 115 w 130"/>
                <a:gd name="GluePoint8Y" fmla="*/ 46 h 130"/>
                <a:gd name="GluePoint9X" fmla="*/ 115 w 130"/>
                <a:gd name="GluePoint9Y" fmla="*/ 53 h 130"/>
                <a:gd name="GluePoint10X" fmla="*/ 115 w 130"/>
                <a:gd name="GluePoint10Y" fmla="*/ 60 h 130"/>
                <a:gd name="GluePoint11X" fmla="*/ 115 w 130"/>
                <a:gd name="GluePoint11Y" fmla="*/ 70 h 130"/>
                <a:gd name="GluePoint12X" fmla="*/ 115 w 130"/>
                <a:gd name="GluePoint12Y" fmla="*/ 77 h 130"/>
                <a:gd name="GluePoint13X" fmla="*/ 115 w 130"/>
                <a:gd name="GluePoint13Y" fmla="*/ 84 h 130"/>
                <a:gd name="GluePoint14X" fmla="*/ 118 w 130"/>
                <a:gd name="GluePoint14Y" fmla="*/ 94 h 130"/>
                <a:gd name="GluePoint15X" fmla="*/ 118 w 130"/>
                <a:gd name="GluePoint15Y" fmla="*/ 101 h 130"/>
                <a:gd name="GluePoint16X" fmla="*/ 120 w 130"/>
                <a:gd name="GluePoint16Y" fmla="*/ 108 h 130"/>
                <a:gd name="GluePoint17X" fmla="*/ 123 w 130"/>
                <a:gd name="GluePoint17Y" fmla="*/ 115 h 130"/>
                <a:gd name="GluePoint18X" fmla="*/ 128 w 130"/>
                <a:gd name="GluePoint18Y" fmla="*/ 123 h 130"/>
                <a:gd name="GluePoint19X" fmla="*/ 130 w 130"/>
                <a:gd name="GluePoint19Y" fmla="*/ 130 h 130"/>
                <a:gd name="GluePoint20X" fmla="*/ 0 w 130"/>
                <a:gd name="GluePoint20Y" fmla="*/ 65 h 1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30" h="130">
                  <a:moveTo>
                    <a:pt x="0" y="65"/>
                  </a:moveTo>
                  <a:lnTo>
                    <a:pt x="130" y="0"/>
                  </a:lnTo>
                  <a:lnTo>
                    <a:pt x="128" y="7"/>
                  </a:lnTo>
                  <a:lnTo>
                    <a:pt x="123" y="14"/>
                  </a:lnTo>
                  <a:lnTo>
                    <a:pt x="120" y="22"/>
                  </a:lnTo>
                  <a:lnTo>
                    <a:pt x="118" y="29"/>
                  </a:lnTo>
                  <a:lnTo>
                    <a:pt x="118" y="38"/>
                  </a:lnTo>
                  <a:lnTo>
                    <a:pt x="115" y="46"/>
                  </a:lnTo>
                  <a:lnTo>
                    <a:pt x="115" y="53"/>
                  </a:lnTo>
                  <a:lnTo>
                    <a:pt x="115" y="60"/>
                  </a:lnTo>
                  <a:lnTo>
                    <a:pt x="115" y="70"/>
                  </a:lnTo>
                  <a:lnTo>
                    <a:pt x="115" y="77"/>
                  </a:lnTo>
                  <a:lnTo>
                    <a:pt x="115" y="84"/>
                  </a:lnTo>
                  <a:lnTo>
                    <a:pt x="118" y="94"/>
                  </a:lnTo>
                  <a:lnTo>
                    <a:pt x="118" y="101"/>
                  </a:lnTo>
                  <a:lnTo>
                    <a:pt x="120" y="108"/>
                  </a:lnTo>
                  <a:lnTo>
                    <a:pt x="123" y="115"/>
                  </a:lnTo>
                  <a:lnTo>
                    <a:pt x="128" y="123"/>
                  </a:lnTo>
                  <a:lnTo>
                    <a:pt x="130" y="130"/>
                  </a:lnTo>
                  <a:lnTo>
                    <a:pt x="0" y="65"/>
                  </a:lnTo>
                  <a:close/>
                </a:path>
              </a:pathLst>
            </a:custGeom>
            <a:solidFill>
              <a:srgbClr val="9a9a9a"/>
            </a:solidFill>
            <a:ln w="0">
              <a:noFill/>
            </a:ln>
          </p:spPr>
          <p:style>
            <a:lnRef idx="0"/>
            <a:fillRef idx="0"/>
            <a:effectRef idx="0"/>
            <a:fontRef idx="minor"/>
          </p:style>
          <p:txBody>
            <a:bodyPr lIns="90000" rIns="90000" tIns="44280" bIns="442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0" name="Line 381"/>
            <p:cNvSpPr/>
            <p:nvPr/>
          </p:nvSpPr>
          <p:spPr>
            <a:xfrm flipH="1" flipV="1">
              <a:off x="3048480" y="5608440"/>
              <a:ext cx="202680" cy="20340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1" name="Freeform 382"/>
            <p:cNvSpPr/>
            <p:nvPr/>
          </p:nvSpPr>
          <p:spPr>
            <a:xfrm>
              <a:off x="2999880" y="5559840"/>
              <a:ext cx="97200" cy="95760"/>
            </a:xfrm>
            <a:custGeom>
              <a:avLst/>
              <a:gdLst>
                <a:gd name="textAreaLeft" fmla="*/ 0 w 97200"/>
                <a:gd name="textAreaRight" fmla="*/ 97560 w 97200"/>
                <a:gd name="textAreaTop" fmla="*/ 0 h 95760"/>
                <a:gd name="textAreaBottom" fmla="*/ 96120 h 95760"/>
                <a:gd name="GluePoint1X" fmla="*/ 0 w 140"/>
                <a:gd name="GluePoint1Y" fmla="*/ 0 h 137"/>
                <a:gd name="GluePoint2X" fmla="*/ 48 w 140"/>
                <a:gd name="GluePoint2Y" fmla="*/ 137 h 137"/>
                <a:gd name="GluePoint3X" fmla="*/ 51 w 140"/>
                <a:gd name="GluePoint3Y" fmla="*/ 130 h 137"/>
                <a:gd name="GluePoint4X" fmla="*/ 53 w 140"/>
                <a:gd name="GluePoint4Y" fmla="*/ 123 h 137"/>
                <a:gd name="GluePoint5X" fmla="*/ 56 w 140"/>
                <a:gd name="GluePoint5Y" fmla="*/ 115 h 137"/>
                <a:gd name="GluePoint6X" fmla="*/ 60 w 140"/>
                <a:gd name="GluePoint6Y" fmla="*/ 108 h 137"/>
                <a:gd name="GluePoint7X" fmla="*/ 65 w 140"/>
                <a:gd name="GluePoint7Y" fmla="*/ 101 h 137"/>
                <a:gd name="GluePoint8X" fmla="*/ 70 w 140"/>
                <a:gd name="GluePoint8Y" fmla="*/ 94 h 137"/>
                <a:gd name="GluePoint9X" fmla="*/ 75 w 140"/>
                <a:gd name="GluePoint9Y" fmla="*/ 89 h 137"/>
                <a:gd name="GluePoint10X" fmla="*/ 80 w 140"/>
                <a:gd name="GluePoint10Y" fmla="*/ 82 h 137"/>
                <a:gd name="GluePoint11X" fmla="*/ 84 w 140"/>
                <a:gd name="GluePoint11Y" fmla="*/ 77 h 137"/>
                <a:gd name="GluePoint12X" fmla="*/ 92 w 140"/>
                <a:gd name="GluePoint12Y" fmla="*/ 72 h 137"/>
                <a:gd name="GluePoint13X" fmla="*/ 96 w 140"/>
                <a:gd name="GluePoint13Y" fmla="*/ 67 h 137"/>
                <a:gd name="GluePoint14X" fmla="*/ 104 w 140"/>
                <a:gd name="GluePoint14Y" fmla="*/ 63 h 137"/>
                <a:gd name="GluePoint15X" fmla="*/ 111 w 140"/>
                <a:gd name="GluePoint15Y" fmla="*/ 58 h 137"/>
                <a:gd name="GluePoint16X" fmla="*/ 118 w 140"/>
                <a:gd name="GluePoint16Y" fmla="*/ 55 h 137"/>
                <a:gd name="GluePoint17X" fmla="*/ 125 w 140"/>
                <a:gd name="GluePoint17Y" fmla="*/ 51 h 137"/>
                <a:gd name="GluePoint18X" fmla="*/ 132 w 140"/>
                <a:gd name="GluePoint18Y" fmla="*/ 48 h 137"/>
                <a:gd name="GluePoint19X" fmla="*/ 140 w 140"/>
                <a:gd name="GluePoint19Y" fmla="*/ 46 h 137"/>
                <a:gd name="GluePoint20X" fmla="*/ 0 w 140"/>
                <a:gd name="GluePoint20Y" fmla="*/ 0 h 13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40" h="137">
                  <a:moveTo>
                    <a:pt x="0" y="0"/>
                  </a:moveTo>
                  <a:lnTo>
                    <a:pt x="48" y="137"/>
                  </a:lnTo>
                  <a:lnTo>
                    <a:pt x="51" y="130"/>
                  </a:lnTo>
                  <a:lnTo>
                    <a:pt x="53" y="123"/>
                  </a:lnTo>
                  <a:lnTo>
                    <a:pt x="56" y="115"/>
                  </a:lnTo>
                  <a:lnTo>
                    <a:pt x="60" y="108"/>
                  </a:lnTo>
                  <a:lnTo>
                    <a:pt x="65" y="101"/>
                  </a:lnTo>
                  <a:lnTo>
                    <a:pt x="70" y="94"/>
                  </a:lnTo>
                  <a:lnTo>
                    <a:pt x="75" y="89"/>
                  </a:lnTo>
                  <a:lnTo>
                    <a:pt x="80" y="82"/>
                  </a:lnTo>
                  <a:lnTo>
                    <a:pt x="84" y="77"/>
                  </a:lnTo>
                  <a:lnTo>
                    <a:pt x="92" y="72"/>
                  </a:lnTo>
                  <a:lnTo>
                    <a:pt x="96" y="67"/>
                  </a:lnTo>
                  <a:lnTo>
                    <a:pt x="104" y="63"/>
                  </a:lnTo>
                  <a:lnTo>
                    <a:pt x="111" y="58"/>
                  </a:lnTo>
                  <a:lnTo>
                    <a:pt x="118" y="55"/>
                  </a:lnTo>
                  <a:lnTo>
                    <a:pt x="125" y="51"/>
                  </a:lnTo>
                  <a:lnTo>
                    <a:pt x="132" y="48"/>
                  </a:lnTo>
                  <a:lnTo>
                    <a:pt x="140" y="46"/>
                  </a:lnTo>
                  <a:lnTo>
                    <a:pt x="0" y="0"/>
                  </a:lnTo>
                  <a:close/>
                </a:path>
              </a:pathLst>
            </a:custGeom>
            <a:solidFill>
              <a:srgbClr val="9a9a9a"/>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2" name="Line 383"/>
            <p:cNvSpPr/>
            <p:nvPr/>
          </p:nvSpPr>
          <p:spPr>
            <a:xfrm flipH="1" flipV="1">
              <a:off x="2906280" y="4864320"/>
              <a:ext cx="93240" cy="19152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3" name="Freeform 384"/>
            <p:cNvSpPr/>
            <p:nvPr/>
          </p:nvSpPr>
          <p:spPr>
            <a:xfrm>
              <a:off x="2874600" y="4803480"/>
              <a:ext cx="82080" cy="100440"/>
            </a:xfrm>
            <a:custGeom>
              <a:avLst/>
              <a:gdLst>
                <a:gd name="textAreaLeft" fmla="*/ 0 w 82080"/>
                <a:gd name="textAreaRight" fmla="*/ 82440 w 82080"/>
                <a:gd name="textAreaTop" fmla="*/ 0 h 100440"/>
                <a:gd name="textAreaBottom" fmla="*/ 100800 h 100440"/>
                <a:gd name="GluePoint1X" fmla="*/ 0 w 118"/>
                <a:gd name="GluePoint1Y" fmla="*/ 0 h 144"/>
                <a:gd name="GluePoint2X" fmla="*/ 0 w 118"/>
                <a:gd name="GluePoint2Y" fmla="*/ 144 h 144"/>
                <a:gd name="GluePoint3X" fmla="*/ 5 w 118"/>
                <a:gd name="GluePoint3Y" fmla="*/ 137 h 144"/>
                <a:gd name="GluePoint4X" fmla="*/ 12 w 118"/>
                <a:gd name="GluePoint4Y" fmla="*/ 132 h 144"/>
                <a:gd name="GluePoint5X" fmla="*/ 17 w 118"/>
                <a:gd name="GluePoint5Y" fmla="*/ 128 h 144"/>
                <a:gd name="GluePoint6X" fmla="*/ 22 w 118"/>
                <a:gd name="GluePoint6Y" fmla="*/ 120 h 144"/>
                <a:gd name="GluePoint7X" fmla="*/ 29 w 118"/>
                <a:gd name="GluePoint7Y" fmla="*/ 116 h 144"/>
                <a:gd name="GluePoint8X" fmla="*/ 36 w 118"/>
                <a:gd name="GluePoint8Y" fmla="*/ 111 h 144"/>
                <a:gd name="GluePoint9X" fmla="*/ 41 w 118"/>
                <a:gd name="GluePoint9Y" fmla="*/ 108 h 144"/>
                <a:gd name="GluePoint10X" fmla="*/ 48 w 118"/>
                <a:gd name="GluePoint10Y" fmla="*/ 104 h 144"/>
                <a:gd name="GluePoint11X" fmla="*/ 56 w 118"/>
                <a:gd name="GluePoint11Y" fmla="*/ 99 h 144"/>
                <a:gd name="GluePoint12X" fmla="*/ 63 w 118"/>
                <a:gd name="GluePoint12Y" fmla="*/ 96 h 144"/>
                <a:gd name="GluePoint13X" fmla="*/ 70 w 118"/>
                <a:gd name="GluePoint13Y" fmla="*/ 94 h 144"/>
                <a:gd name="GluePoint14X" fmla="*/ 77 w 118"/>
                <a:gd name="GluePoint14Y" fmla="*/ 92 h 144"/>
                <a:gd name="GluePoint15X" fmla="*/ 87 w 118"/>
                <a:gd name="GluePoint15Y" fmla="*/ 89 h 144"/>
                <a:gd name="GluePoint16X" fmla="*/ 94 w 118"/>
                <a:gd name="GluePoint16Y" fmla="*/ 89 h 144"/>
                <a:gd name="GluePoint17X" fmla="*/ 101 w 118"/>
                <a:gd name="GluePoint17Y" fmla="*/ 87 h 144"/>
                <a:gd name="GluePoint18X" fmla="*/ 108 w 118"/>
                <a:gd name="GluePoint18Y" fmla="*/ 87 h 144"/>
                <a:gd name="GluePoint19X" fmla="*/ 118 w 118"/>
                <a:gd name="GluePoint19Y" fmla="*/ 87 h 144"/>
                <a:gd name="GluePoint20X" fmla="*/ 0 w 118"/>
                <a:gd name="GluePoint20Y" fmla="*/ 0 h 14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18" h="144">
                  <a:moveTo>
                    <a:pt x="0" y="0"/>
                  </a:moveTo>
                  <a:lnTo>
                    <a:pt x="0" y="144"/>
                  </a:lnTo>
                  <a:lnTo>
                    <a:pt x="5" y="137"/>
                  </a:lnTo>
                  <a:lnTo>
                    <a:pt x="12" y="132"/>
                  </a:lnTo>
                  <a:lnTo>
                    <a:pt x="17" y="128"/>
                  </a:lnTo>
                  <a:lnTo>
                    <a:pt x="22" y="120"/>
                  </a:lnTo>
                  <a:lnTo>
                    <a:pt x="29" y="116"/>
                  </a:lnTo>
                  <a:lnTo>
                    <a:pt x="36" y="111"/>
                  </a:lnTo>
                  <a:lnTo>
                    <a:pt x="41" y="108"/>
                  </a:lnTo>
                  <a:lnTo>
                    <a:pt x="48" y="104"/>
                  </a:lnTo>
                  <a:lnTo>
                    <a:pt x="56" y="99"/>
                  </a:lnTo>
                  <a:lnTo>
                    <a:pt x="63" y="96"/>
                  </a:lnTo>
                  <a:lnTo>
                    <a:pt x="70" y="94"/>
                  </a:lnTo>
                  <a:lnTo>
                    <a:pt x="77" y="92"/>
                  </a:lnTo>
                  <a:lnTo>
                    <a:pt x="87" y="89"/>
                  </a:lnTo>
                  <a:lnTo>
                    <a:pt x="94" y="89"/>
                  </a:lnTo>
                  <a:lnTo>
                    <a:pt x="101" y="87"/>
                  </a:lnTo>
                  <a:lnTo>
                    <a:pt x="108" y="87"/>
                  </a:lnTo>
                  <a:lnTo>
                    <a:pt x="118" y="87"/>
                  </a:lnTo>
                  <a:lnTo>
                    <a:pt x="0" y="0"/>
                  </a:lnTo>
                  <a:close/>
                </a:path>
              </a:pathLst>
            </a:custGeom>
            <a:solidFill>
              <a:srgbClr val="9a9a9a"/>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4" name="Line 385"/>
            <p:cNvSpPr/>
            <p:nvPr/>
          </p:nvSpPr>
          <p:spPr>
            <a:xfrm flipV="1">
              <a:off x="2874600" y="4178520"/>
              <a:ext cx="720" cy="12096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5" name="Freeform 386"/>
            <p:cNvSpPr/>
            <p:nvPr/>
          </p:nvSpPr>
          <p:spPr>
            <a:xfrm>
              <a:off x="2829240" y="4109040"/>
              <a:ext cx="90360" cy="90720"/>
            </a:xfrm>
            <a:custGeom>
              <a:avLst/>
              <a:gdLst>
                <a:gd name="textAreaLeft" fmla="*/ 0 w 90360"/>
                <a:gd name="textAreaRight" fmla="*/ 90720 w 90360"/>
                <a:gd name="textAreaTop" fmla="*/ 0 h 90720"/>
                <a:gd name="textAreaBottom" fmla="*/ 91080 h 90720"/>
                <a:gd name="GluePoint1X" fmla="*/ 65 w 130"/>
                <a:gd name="GluePoint1Y" fmla="*/ 0 h 130"/>
                <a:gd name="GluePoint2X" fmla="*/ 0 w 130"/>
                <a:gd name="GluePoint2Y" fmla="*/ 130 h 130"/>
                <a:gd name="GluePoint3X" fmla="*/ 8 w 130"/>
                <a:gd name="GluePoint3Y" fmla="*/ 128 h 130"/>
                <a:gd name="GluePoint4X" fmla="*/ 15 w 130"/>
                <a:gd name="GluePoint4Y" fmla="*/ 123 h 130"/>
                <a:gd name="GluePoint5X" fmla="*/ 24 w 130"/>
                <a:gd name="GluePoint5Y" fmla="*/ 121 h 130"/>
                <a:gd name="GluePoint6X" fmla="*/ 32 w 130"/>
                <a:gd name="GluePoint6Y" fmla="*/ 118 h 130"/>
                <a:gd name="GluePoint7X" fmla="*/ 39 w 130"/>
                <a:gd name="GluePoint7Y" fmla="*/ 118 h 130"/>
                <a:gd name="GluePoint8X" fmla="*/ 46 w 130"/>
                <a:gd name="GluePoint8Y" fmla="*/ 116 h 130"/>
                <a:gd name="GluePoint9X" fmla="*/ 53 w 130"/>
                <a:gd name="GluePoint9Y" fmla="*/ 116 h 130"/>
                <a:gd name="GluePoint10X" fmla="*/ 63 w 130"/>
                <a:gd name="GluePoint10Y" fmla="*/ 116 h 130"/>
                <a:gd name="GluePoint11X" fmla="*/ 70 w 130"/>
                <a:gd name="GluePoint11Y" fmla="*/ 116 h 130"/>
                <a:gd name="GluePoint12X" fmla="*/ 77 w 130"/>
                <a:gd name="GluePoint12Y" fmla="*/ 116 h 130"/>
                <a:gd name="GluePoint13X" fmla="*/ 87 w 130"/>
                <a:gd name="GluePoint13Y" fmla="*/ 116 h 130"/>
                <a:gd name="GluePoint14X" fmla="*/ 94 w 130"/>
                <a:gd name="GluePoint14Y" fmla="*/ 118 h 130"/>
                <a:gd name="GluePoint15X" fmla="*/ 101 w 130"/>
                <a:gd name="GluePoint15Y" fmla="*/ 118 h 130"/>
                <a:gd name="GluePoint16X" fmla="*/ 108 w 130"/>
                <a:gd name="GluePoint16Y" fmla="*/ 121 h 130"/>
                <a:gd name="GluePoint17X" fmla="*/ 116 w 130"/>
                <a:gd name="GluePoint17Y" fmla="*/ 123 h 130"/>
                <a:gd name="GluePoint18X" fmla="*/ 123 w 130"/>
                <a:gd name="GluePoint18Y" fmla="*/ 128 h 130"/>
                <a:gd name="GluePoint19X" fmla="*/ 130 w 130"/>
                <a:gd name="GluePoint19Y" fmla="*/ 130 h 130"/>
                <a:gd name="GluePoint20X" fmla="*/ 65 w 130"/>
                <a:gd name="GluePoint20Y" fmla="*/ 0 h 1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30" h="130">
                  <a:moveTo>
                    <a:pt x="65" y="0"/>
                  </a:moveTo>
                  <a:lnTo>
                    <a:pt x="0" y="130"/>
                  </a:lnTo>
                  <a:lnTo>
                    <a:pt x="8" y="128"/>
                  </a:lnTo>
                  <a:lnTo>
                    <a:pt x="15" y="123"/>
                  </a:lnTo>
                  <a:lnTo>
                    <a:pt x="24" y="121"/>
                  </a:lnTo>
                  <a:lnTo>
                    <a:pt x="32" y="118"/>
                  </a:lnTo>
                  <a:lnTo>
                    <a:pt x="39" y="118"/>
                  </a:lnTo>
                  <a:lnTo>
                    <a:pt x="46" y="116"/>
                  </a:lnTo>
                  <a:lnTo>
                    <a:pt x="53" y="116"/>
                  </a:lnTo>
                  <a:lnTo>
                    <a:pt x="63" y="116"/>
                  </a:lnTo>
                  <a:lnTo>
                    <a:pt x="70" y="116"/>
                  </a:lnTo>
                  <a:lnTo>
                    <a:pt x="77" y="116"/>
                  </a:lnTo>
                  <a:lnTo>
                    <a:pt x="87" y="116"/>
                  </a:lnTo>
                  <a:lnTo>
                    <a:pt x="94" y="118"/>
                  </a:lnTo>
                  <a:lnTo>
                    <a:pt x="101" y="118"/>
                  </a:lnTo>
                  <a:lnTo>
                    <a:pt x="108" y="121"/>
                  </a:lnTo>
                  <a:lnTo>
                    <a:pt x="116" y="123"/>
                  </a:lnTo>
                  <a:lnTo>
                    <a:pt x="123" y="128"/>
                  </a:lnTo>
                  <a:lnTo>
                    <a:pt x="130" y="130"/>
                  </a:lnTo>
                  <a:lnTo>
                    <a:pt x="65" y="0"/>
                  </a:lnTo>
                  <a:close/>
                </a:path>
              </a:pathLst>
            </a:custGeom>
            <a:solidFill>
              <a:srgbClr val="9a9a9a"/>
            </a:solidFill>
            <a:ln w="0">
              <a:noFill/>
            </a:ln>
          </p:spPr>
          <p:style>
            <a:lnRef idx="0"/>
            <a:fillRef idx="0"/>
            <a:effectRef idx="0"/>
            <a:fontRef idx="minor"/>
          </p:style>
          <p:txBody>
            <a:bodyPr lIns="90000" rIns="90000" tIns="44280" bIns="442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6" name="Line 387"/>
            <p:cNvSpPr/>
            <p:nvPr/>
          </p:nvSpPr>
          <p:spPr>
            <a:xfrm flipV="1">
              <a:off x="2874600" y="3471840"/>
              <a:ext cx="88920" cy="13284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7" name="Freeform 388"/>
            <p:cNvSpPr/>
            <p:nvPr/>
          </p:nvSpPr>
          <p:spPr>
            <a:xfrm>
              <a:off x="2913480" y="3414600"/>
              <a:ext cx="86400" cy="101160"/>
            </a:xfrm>
            <a:custGeom>
              <a:avLst/>
              <a:gdLst>
                <a:gd name="textAreaLeft" fmla="*/ 0 w 86400"/>
                <a:gd name="textAreaRight" fmla="*/ 86760 w 86400"/>
                <a:gd name="textAreaTop" fmla="*/ 0 h 101160"/>
                <a:gd name="textAreaBottom" fmla="*/ 101520 h 101160"/>
                <a:gd name="GluePoint1X" fmla="*/ 124 w 124"/>
                <a:gd name="GluePoint1Y" fmla="*/ 0 h 145"/>
                <a:gd name="GluePoint2X" fmla="*/ 0 w 124"/>
                <a:gd name="GluePoint2Y" fmla="*/ 73 h 145"/>
                <a:gd name="GluePoint3X" fmla="*/ 7 w 124"/>
                <a:gd name="GluePoint3Y" fmla="*/ 75 h 145"/>
                <a:gd name="GluePoint4X" fmla="*/ 14 w 124"/>
                <a:gd name="GluePoint4Y" fmla="*/ 77 h 145"/>
                <a:gd name="GluePoint5X" fmla="*/ 24 w 124"/>
                <a:gd name="GluePoint5Y" fmla="*/ 77 h 145"/>
                <a:gd name="GluePoint6X" fmla="*/ 31 w 124"/>
                <a:gd name="GluePoint6Y" fmla="*/ 80 h 145"/>
                <a:gd name="GluePoint7X" fmla="*/ 38 w 124"/>
                <a:gd name="GluePoint7Y" fmla="*/ 85 h 145"/>
                <a:gd name="GluePoint8X" fmla="*/ 45 w 124"/>
                <a:gd name="GluePoint8Y" fmla="*/ 87 h 145"/>
                <a:gd name="GluePoint9X" fmla="*/ 52 w 124"/>
                <a:gd name="GluePoint9Y" fmla="*/ 92 h 145"/>
                <a:gd name="GluePoint10X" fmla="*/ 60 w 124"/>
                <a:gd name="GluePoint10Y" fmla="*/ 94 h 145"/>
                <a:gd name="GluePoint11X" fmla="*/ 64 w 124"/>
                <a:gd name="GluePoint11Y" fmla="*/ 99 h 145"/>
                <a:gd name="GluePoint12X" fmla="*/ 72 w 124"/>
                <a:gd name="GluePoint12Y" fmla="*/ 104 h 145"/>
                <a:gd name="GluePoint13X" fmla="*/ 79 w 124"/>
                <a:gd name="GluePoint13Y" fmla="*/ 109 h 145"/>
                <a:gd name="GluePoint14X" fmla="*/ 84 w 124"/>
                <a:gd name="GluePoint14Y" fmla="*/ 113 h 145"/>
                <a:gd name="GluePoint15X" fmla="*/ 88 w 124"/>
                <a:gd name="GluePoint15Y" fmla="*/ 121 h 145"/>
                <a:gd name="GluePoint16X" fmla="*/ 93 w 124"/>
                <a:gd name="GluePoint16Y" fmla="*/ 125 h 145"/>
                <a:gd name="GluePoint17X" fmla="*/ 98 w 124"/>
                <a:gd name="GluePoint17Y" fmla="*/ 133 h 145"/>
                <a:gd name="GluePoint18X" fmla="*/ 103 w 124"/>
                <a:gd name="GluePoint18Y" fmla="*/ 140 h 145"/>
                <a:gd name="GluePoint19X" fmla="*/ 108 w 124"/>
                <a:gd name="GluePoint19Y" fmla="*/ 145 h 145"/>
                <a:gd name="GluePoint20X" fmla="*/ 124 w 124"/>
                <a:gd name="GluePoint20Y" fmla="*/ 0 h 1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24" h="145">
                  <a:moveTo>
                    <a:pt x="124" y="0"/>
                  </a:moveTo>
                  <a:lnTo>
                    <a:pt x="0" y="73"/>
                  </a:lnTo>
                  <a:lnTo>
                    <a:pt x="7" y="75"/>
                  </a:lnTo>
                  <a:lnTo>
                    <a:pt x="14" y="77"/>
                  </a:lnTo>
                  <a:lnTo>
                    <a:pt x="24" y="77"/>
                  </a:lnTo>
                  <a:lnTo>
                    <a:pt x="31" y="80"/>
                  </a:lnTo>
                  <a:lnTo>
                    <a:pt x="38" y="85"/>
                  </a:lnTo>
                  <a:lnTo>
                    <a:pt x="45" y="87"/>
                  </a:lnTo>
                  <a:lnTo>
                    <a:pt x="52" y="92"/>
                  </a:lnTo>
                  <a:lnTo>
                    <a:pt x="60" y="94"/>
                  </a:lnTo>
                  <a:lnTo>
                    <a:pt x="64" y="99"/>
                  </a:lnTo>
                  <a:lnTo>
                    <a:pt x="72" y="104"/>
                  </a:lnTo>
                  <a:lnTo>
                    <a:pt x="79" y="109"/>
                  </a:lnTo>
                  <a:lnTo>
                    <a:pt x="84" y="113"/>
                  </a:lnTo>
                  <a:lnTo>
                    <a:pt x="88" y="121"/>
                  </a:lnTo>
                  <a:lnTo>
                    <a:pt x="93" y="125"/>
                  </a:lnTo>
                  <a:lnTo>
                    <a:pt x="98" y="133"/>
                  </a:lnTo>
                  <a:lnTo>
                    <a:pt x="103" y="140"/>
                  </a:lnTo>
                  <a:lnTo>
                    <a:pt x="108" y="145"/>
                  </a:lnTo>
                  <a:lnTo>
                    <a:pt x="124" y="0"/>
                  </a:lnTo>
                  <a:close/>
                </a:path>
              </a:pathLst>
            </a:custGeom>
            <a:solidFill>
              <a:srgbClr val="9a9a9a"/>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8" name="Line 389"/>
            <p:cNvSpPr/>
            <p:nvPr/>
          </p:nvSpPr>
          <p:spPr>
            <a:xfrm flipV="1">
              <a:off x="2999880" y="2706840"/>
              <a:ext cx="203760" cy="20340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9" name="Freeform 390"/>
            <p:cNvSpPr/>
            <p:nvPr/>
          </p:nvSpPr>
          <p:spPr>
            <a:xfrm>
              <a:off x="3156120" y="2658960"/>
              <a:ext cx="95400" cy="96840"/>
            </a:xfrm>
            <a:custGeom>
              <a:avLst/>
              <a:gdLst>
                <a:gd name="textAreaLeft" fmla="*/ 0 w 95400"/>
                <a:gd name="textAreaRight" fmla="*/ 95760 w 95400"/>
                <a:gd name="textAreaTop" fmla="*/ 0 h 96840"/>
                <a:gd name="textAreaBottom" fmla="*/ 97200 h 96840"/>
                <a:gd name="GluePoint1X" fmla="*/ 137 w 137"/>
                <a:gd name="GluePoint1Y" fmla="*/ 0 h 139"/>
                <a:gd name="GluePoint2X" fmla="*/ 0 w 137"/>
                <a:gd name="GluePoint2Y" fmla="*/ 45 h 139"/>
                <a:gd name="GluePoint3X" fmla="*/ 7 w 137"/>
                <a:gd name="GluePoint3Y" fmla="*/ 50 h 139"/>
                <a:gd name="GluePoint4X" fmla="*/ 14 w 137"/>
                <a:gd name="GluePoint4Y" fmla="*/ 52 h 139"/>
                <a:gd name="GluePoint5X" fmla="*/ 21 w 137"/>
                <a:gd name="GluePoint5Y" fmla="*/ 55 h 139"/>
                <a:gd name="GluePoint6X" fmla="*/ 29 w 137"/>
                <a:gd name="GluePoint6Y" fmla="*/ 60 h 139"/>
                <a:gd name="GluePoint7X" fmla="*/ 36 w 137"/>
                <a:gd name="GluePoint7Y" fmla="*/ 65 h 139"/>
                <a:gd name="GluePoint8X" fmla="*/ 43 w 137"/>
                <a:gd name="GluePoint8Y" fmla="*/ 69 h 139"/>
                <a:gd name="GluePoint9X" fmla="*/ 48 w 137"/>
                <a:gd name="GluePoint9Y" fmla="*/ 74 h 139"/>
                <a:gd name="GluePoint10X" fmla="*/ 55 w 137"/>
                <a:gd name="GluePoint10Y" fmla="*/ 79 h 139"/>
                <a:gd name="GluePoint11X" fmla="*/ 60 w 137"/>
                <a:gd name="GluePoint11Y" fmla="*/ 84 h 139"/>
                <a:gd name="GluePoint12X" fmla="*/ 65 w 137"/>
                <a:gd name="GluePoint12Y" fmla="*/ 91 h 139"/>
                <a:gd name="GluePoint13X" fmla="*/ 69 w 137"/>
                <a:gd name="GluePoint13Y" fmla="*/ 96 h 139"/>
                <a:gd name="GluePoint14X" fmla="*/ 74 w 137"/>
                <a:gd name="GluePoint14Y" fmla="*/ 103 h 139"/>
                <a:gd name="GluePoint15X" fmla="*/ 79 w 137"/>
                <a:gd name="GluePoint15Y" fmla="*/ 110 h 139"/>
                <a:gd name="GluePoint16X" fmla="*/ 81 w 137"/>
                <a:gd name="GluePoint16Y" fmla="*/ 117 h 139"/>
                <a:gd name="GluePoint17X" fmla="*/ 86 w 137"/>
                <a:gd name="GluePoint17Y" fmla="*/ 125 h 139"/>
                <a:gd name="GluePoint18X" fmla="*/ 89 w 137"/>
                <a:gd name="GluePoint18Y" fmla="*/ 132 h 139"/>
                <a:gd name="GluePoint19X" fmla="*/ 91 w 137"/>
                <a:gd name="GluePoint19Y" fmla="*/ 139 h 139"/>
                <a:gd name="GluePoint20X" fmla="*/ 137 w 137"/>
                <a:gd name="GluePoint20Y" fmla="*/ 0 h 1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37" h="139">
                  <a:moveTo>
                    <a:pt x="137" y="0"/>
                  </a:moveTo>
                  <a:lnTo>
                    <a:pt x="0" y="45"/>
                  </a:lnTo>
                  <a:lnTo>
                    <a:pt x="7" y="50"/>
                  </a:lnTo>
                  <a:lnTo>
                    <a:pt x="14" y="52"/>
                  </a:lnTo>
                  <a:lnTo>
                    <a:pt x="21" y="55"/>
                  </a:lnTo>
                  <a:lnTo>
                    <a:pt x="29" y="60"/>
                  </a:lnTo>
                  <a:lnTo>
                    <a:pt x="36" y="65"/>
                  </a:lnTo>
                  <a:lnTo>
                    <a:pt x="43" y="69"/>
                  </a:lnTo>
                  <a:lnTo>
                    <a:pt x="48" y="74"/>
                  </a:lnTo>
                  <a:lnTo>
                    <a:pt x="55" y="79"/>
                  </a:lnTo>
                  <a:lnTo>
                    <a:pt x="60" y="84"/>
                  </a:lnTo>
                  <a:lnTo>
                    <a:pt x="65" y="91"/>
                  </a:lnTo>
                  <a:lnTo>
                    <a:pt x="69" y="96"/>
                  </a:lnTo>
                  <a:lnTo>
                    <a:pt x="74" y="103"/>
                  </a:lnTo>
                  <a:lnTo>
                    <a:pt x="79" y="110"/>
                  </a:lnTo>
                  <a:lnTo>
                    <a:pt x="81" y="117"/>
                  </a:lnTo>
                  <a:lnTo>
                    <a:pt x="86" y="125"/>
                  </a:lnTo>
                  <a:lnTo>
                    <a:pt x="89" y="132"/>
                  </a:lnTo>
                  <a:lnTo>
                    <a:pt x="91" y="139"/>
                  </a:lnTo>
                  <a:lnTo>
                    <a:pt x="137" y="0"/>
                  </a:lnTo>
                  <a:close/>
                </a:path>
              </a:pathLst>
            </a:custGeom>
            <a:solidFill>
              <a:srgbClr val="9a9a9a"/>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10" name="Line 391"/>
            <p:cNvSpPr/>
            <p:nvPr/>
          </p:nvSpPr>
          <p:spPr>
            <a:xfrm>
              <a:off x="3816360" y="2406600"/>
              <a:ext cx="182520" cy="720"/>
            </a:xfrm>
            <a:prstGeom prst="line">
              <a:avLst/>
            </a:prstGeom>
            <a:ln w="9000">
              <a:solidFill>
                <a:srgbClr val="9a9a9a"/>
              </a:solidFill>
              <a:miter/>
            </a:ln>
          </p:spPr>
          <p:style>
            <a:lnRef idx="0"/>
            <a:fillRef idx="0"/>
            <a:effectRef idx="0"/>
            <a:fontRef idx="minor"/>
          </p:style>
          <p:txBody>
            <a:bodyPr lIns="90000" rIns="90000" tIns="-46080" bIns="-46080" anchor="t">
              <a:noAutofit/>
            </a:bodyPr>
            <a:p>
              <a:endParaRPr b="0" lang="en-IN" sz="1800" strike="noStrike" u="none">
                <a:solidFill>
                  <a:srgbClr val="000000"/>
                </a:solidFill>
                <a:effectLst/>
                <a:uFillTx/>
                <a:latin typeface="Arial"/>
              </a:endParaRPr>
            </a:p>
          </p:txBody>
        </p:sp>
        <p:sp>
          <p:nvSpPr>
            <p:cNvPr id="111" name="Freeform 392"/>
            <p:cNvSpPr/>
            <p:nvPr/>
          </p:nvSpPr>
          <p:spPr>
            <a:xfrm>
              <a:off x="3977280" y="2361240"/>
              <a:ext cx="89640" cy="90720"/>
            </a:xfrm>
            <a:custGeom>
              <a:avLst/>
              <a:gdLst>
                <a:gd name="textAreaLeft" fmla="*/ 0 w 89640"/>
                <a:gd name="textAreaRight" fmla="*/ 90000 w 89640"/>
                <a:gd name="textAreaTop" fmla="*/ 0 h 90720"/>
                <a:gd name="textAreaBottom" fmla="*/ 91080 h 90720"/>
                <a:gd name="GluePoint1X" fmla="*/ 129 w 129"/>
                <a:gd name="GluePoint1Y" fmla="*/ 65 h 130"/>
                <a:gd name="GluePoint2X" fmla="*/ 0 w 129"/>
                <a:gd name="GluePoint2Y" fmla="*/ 130 h 130"/>
                <a:gd name="GluePoint3X" fmla="*/ 2 w 129"/>
                <a:gd name="GluePoint3Y" fmla="*/ 123 h 130"/>
                <a:gd name="GluePoint4X" fmla="*/ 7 w 129"/>
                <a:gd name="GluePoint4Y" fmla="*/ 115 h 130"/>
                <a:gd name="GluePoint5X" fmla="*/ 9 w 129"/>
                <a:gd name="GluePoint5Y" fmla="*/ 108 h 130"/>
                <a:gd name="GluePoint6X" fmla="*/ 12 w 129"/>
                <a:gd name="GluePoint6Y" fmla="*/ 101 h 130"/>
                <a:gd name="GluePoint7X" fmla="*/ 12 w 129"/>
                <a:gd name="GluePoint7Y" fmla="*/ 94 h 130"/>
                <a:gd name="GluePoint8X" fmla="*/ 14 w 129"/>
                <a:gd name="GluePoint8Y" fmla="*/ 87 h 130"/>
                <a:gd name="GluePoint9X" fmla="*/ 14 w 129"/>
                <a:gd name="GluePoint9Y" fmla="*/ 77 h 130"/>
                <a:gd name="GluePoint10X" fmla="*/ 14 w 129"/>
                <a:gd name="GluePoint10Y" fmla="*/ 70 h 130"/>
                <a:gd name="GluePoint11X" fmla="*/ 14 w 129"/>
                <a:gd name="GluePoint11Y" fmla="*/ 63 h 130"/>
                <a:gd name="GluePoint12X" fmla="*/ 14 w 129"/>
                <a:gd name="GluePoint12Y" fmla="*/ 53 h 130"/>
                <a:gd name="GluePoint13X" fmla="*/ 14 w 129"/>
                <a:gd name="GluePoint13Y" fmla="*/ 46 h 130"/>
                <a:gd name="GluePoint14X" fmla="*/ 12 w 129"/>
                <a:gd name="GluePoint14Y" fmla="*/ 39 h 130"/>
                <a:gd name="GluePoint15X" fmla="*/ 12 w 129"/>
                <a:gd name="GluePoint15Y" fmla="*/ 31 h 130"/>
                <a:gd name="GluePoint16X" fmla="*/ 9 w 129"/>
                <a:gd name="GluePoint16Y" fmla="*/ 24 h 130"/>
                <a:gd name="GluePoint17X" fmla="*/ 7 w 129"/>
                <a:gd name="GluePoint17Y" fmla="*/ 14 h 130"/>
                <a:gd name="GluePoint18X" fmla="*/ 2 w 129"/>
                <a:gd name="GluePoint18Y" fmla="*/ 7 h 130"/>
                <a:gd name="GluePoint19X" fmla="*/ 0 w 129"/>
                <a:gd name="GluePoint19Y" fmla="*/ 0 h 130"/>
                <a:gd name="GluePoint20X" fmla="*/ 129 w 129"/>
                <a:gd name="GluePoint20Y" fmla="*/ 65 h 1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29" h="130">
                  <a:moveTo>
                    <a:pt x="129" y="65"/>
                  </a:moveTo>
                  <a:lnTo>
                    <a:pt x="0" y="130"/>
                  </a:lnTo>
                  <a:lnTo>
                    <a:pt x="2" y="123"/>
                  </a:lnTo>
                  <a:lnTo>
                    <a:pt x="7" y="115"/>
                  </a:lnTo>
                  <a:lnTo>
                    <a:pt x="9" y="108"/>
                  </a:lnTo>
                  <a:lnTo>
                    <a:pt x="12" y="101"/>
                  </a:lnTo>
                  <a:lnTo>
                    <a:pt x="12" y="94"/>
                  </a:lnTo>
                  <a:lnTo>
                    <a:pt x="14" y="87"/>
                  </a:lnTo>
                  <a:lnTo>
                    <a:pt x="14" y="77"/>
                  </a:lnTo>
                  <a:lnTo>
                    <a:pt x="14" y="70"/>
                  </a:lnTo>
                  <a:lnTo>
                    <a:pt x="14" y="63"/>
                  </a:lnTo>
                  <a:lnTo>
                    <a:pt x="14" y="53"/>
                  </a:lnTo>
                  <a:lnTo>
                    <a:pt x="14" y="46"/>
                  </a:lnTo>
                  <a:lnTo>
                    <a:pt x="12" y="39"/>
                  </a:lnTo>
                  <a:lnTo>
                    <a:pt x="12" y="31"/>
                  </a:lnTo>
                  <a:lnTo>
                    <a:pt x="9" y="24"/>
                  </a:lnTo>
                  <a:lnTo>
                    <a:pt x="7" y="14"/>
                  </a:lnTo>
                  <a:lnTo>
                    <a:pt x="2" y="7"/>
                  </a:lnTo>
                  <a:lnTo>
                    <a:pt x="0" y="0"/>
                  </a:lnTo>
                  <a:lnTo>
                    <a:pt x="129" y="65"/>
                  </a:lnTo>
                  <a:close/>
                </a:path>
              </a:pathLst>
            </a:custGeom>
            <a:solidFill>
              <a:srgbClr val="9a9a9a"/>
            </a:solidFill>
            <a:ln w="0">
              <a:noFill/>
            </a:ln>
          </p:spPr>
          <p:style>
            <a:lnRef idx="0"/>
            <a:fillRef idx="0"/>
            <a:effectRef idx="0"/>
            <a:fontRef idx="minor"/>
          </p:style>
          <p:txBody>
            <a:bodyPr lIns="90000" rIns="90000" tIns="44280" bIns="442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12" name="Line 393"/>
            <p:cNvSpPr/>
            <p:nvPr/>
          </p:nvSpPr>
          <p:spPr>
            <a:xfrm flipH="1" flipV="1">
              <a:off x="6095880" y="2895480"/>
              <a:ext cx="119520" cy="9432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3" name="Freeform 394"/>
            <p:cNvSpPr/>
            <p:nvPr/>
          </p:nvSpPr>
          <p:spPr>
            <a:xfrm>
              <a:off x="6166800" y="2940840"/>
              <a:ext cx="96840" cy="96480"/>
            </a:xfrm>
            <a:custGeom>
              <a:avLst/>
              <a:gdLst>
                <a:gd name="textAreaLeft" fmla="*/ 0 w 96840"/>
                <a:gd name="textAreaRight" fmla="*/ 97200 w 96840"/>
                <a:gd name="textAreaTop" fmla="*/ 0 h 96480"/>
                <a:gd name="textAreaBottom" fmla="*/ 96840 h 96480"/>
                <a:gd name="GluePoint1X" fmla="*/ 139 w 139"/>
                <a:gd name="GluePoint1Y" fmla="*/ 138 h 138"/>
                <a:gd name="GluePoint2X" fmla="*/ 0 w 139"/>
                <a:gd name="GluePoint2Y" fmla="*/ 92 h 138"/>
                <a:gd name="GluePoint3X" fmla="*/ 7 w 139"/>
                <a:gd name="GluePoint3Y" fmla="*/ 89 h 138"/>
                <a:gd name="GluePoint4X" fmla="*/ 17 w 139"/>
                <a:gd name="GluePoint4Y" fmla="*/ 87 h 138"/>
                <a:gd name="GluePoint5X" fmla="*/ 22 w 139"/>
                <a:gd name="GluePoint5Y" fmla="*/ 82 h 138"/>
                <a:gd name="GluePoint6X" fmla="*/ 29 w 139"/>
                <a:gd name="GluePoint6Y" fmla="*/ 80 h 138"/>
                <a:gd name="GluePoint7X" fmla="*/ 36 w 139"/>
                <a:gd name="GluePoint7Y" fmla="*/ 75 h 138"/>
                <a:gd name="GluePoint8X" fmla="*/ 43 w 139"/>
                <a:gd name="GluePoint8Y" fmla="*/ 70 h 138"/>
                <a:gd name="GluePoint9X" fmla="*/ 48 w 139"/>
                <a:gd name="GluePoint9Y" fmla="*/ 65 h 138"/>
                <a:gd name="GluePoint10X" fmla="*/ 55 w 139"/>
                <a:gd name="GluePoint10Y" fmla="*/ 61 h 138"/>
                <a:gd name="GluePoint11X" fmla="*/ 60 w 139"/>
                <a:gd name="GluePoint11Y" fmla="*/ 56 h 138"/>
                <a:gd name="GluePoint12X" fmla="*/ 65 w 139"/>
                <a:gd name="GluePoint12Y" fmla="*/ 49 h 138"/>
                <a:gd name="GluePoint13X" fmla="*/ 70 w 139"/>
                <a:gd name="GluePoint13Y" fmla="*/ 44 h 138"/>
                <a:gd name="GluePoint14X" fmla="*/ 75 w 139"/>
                <a:gd name="GluePoint14Y" fmla="*/ 37 h 138"/>
                <a:gd name="GluePoint15X" fmla="*/ 79 w 139"/>
                <a:gd name="GluePoint15Y" fmla="*/ 29 h 138"/>
                <a:gd name="GluePoint16X" fmla="*/ 84 w 139"/>
                <a:gd name="GluePoint16Y" fmla="*/ 22 h 138"/>
                <a:gd name="GluePoint17X" fmla="*/ 87 w 139"/>
                <a:gd name="GluePoint17Y" fmla="*/ 15 h 138"/>
                <a:gd name="GluePoint18X" fmla="*/ 89 w 139"/>
                <a:gd name="GluePoint18Y" fmla="*/ 8 h 138"/>
                <a:gd name="GluePoint19X" fmla="*/ 94 w 139"/>
                <a:gd name="GluePoint19Y" fmla="*/ 0 h 138"/>
                <a:gd name="GluePoint20X" fmla="*/ 139 w 139"/>
                <a:gd name="GluePoint20Y" fmla="*/ 138 h 13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39" h="138">
                  <a:moveTo>
                    <a:pt x="139" y="138"/>
                  </a:moveTo>
                  <a:lnTo>
                    <a:pt x="0" y="92"/>
                  </a:lnTo>
                  <a:lnTo>
                    <a:pt x="7" y="89"/>
                  </a:lnTo>
                  <a:lnTo>
                    <a:pt x="17" y="87"/>
                  </a:lnTo>
                  <a:lnTo>
                    <a:pt x="22" y="82"/>
                  </a:lnTo>
                  <a:lnTo>
                    <a:pt x="29" y="80"/>
                  </a:lnTo>
                  <a:lnTo>
                    <a:pt x="36" y="75"/>
                  </a:lnTo>
                  <a:lnTo>
                    <a:pt x="43" y="70"/>
                  </a:lnTo>
                  <a:lnTo>
                    <a:pt x="48" y="65"/>
                  </a:lnTo>
                  <a:lnTo>
                    <a:pt x="55" y="61"/>
                  </a:lnTo>
                  <a:lnTo>
                    <a:pt x="60" y="56"/>
                  </a:lnTo>
                  <a:lnTo>
                    <a:pt x="65" y="49"/>
                  </a:lnTo>
                  <a:lnTo>
                    <a:pt x="70" y="44"/>
                  </a:lnTo>
                  <a:lnTo>
                    <a:pt x="75" y="37"/>
                  </a:lnTo>
                  <a:lnTo>
                    <a:pt x="79" y="29"/>
                  </a:lnTo>
                  <a:lnTo>
                    <a:pt x="84" y="22"/>
                  </a:lnTo>
                  <a:lnTo>
                    <a:pt x="87" y="15"/>
                  </a:lnTo>
                  <a:lnTo>
                    <a:pt x="89" y="8"/>
                  </a:lnTo>
                  <a:lnTo>
                    <a:pt x="94" y="0"/>
                  </a:lnTo>
                  <a:lnTo>
                    <a:pt x="139" y="138"/>
                  </a:lnTo>
                  <a:close/>
                </a:path>
              </a:pathLst>
            </a:custGeom>
            <a:solidFill>
              <a:srgbClr val="9a9a9a"/>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14" name="Line 395"/>
            <p:cNvSpPr/>
            <p:nvPr/>
          </p:nvSpPr>
          <p:spPr>
            <a:xfrm flipH="1" flipV="1">
              <a:off x="6263280" y="3667320"/>
              <a:ext cx="93960" cy="191520"/>
            </a:xfrm>
            <a:prstGeom prst="line">
              <a:avLst/>
            </a:prstGeom>
            <a:ln w="9000">
              <a:solidFill>
                <a:srgbClr val="9a9a9a"/>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5" name="Freeform 396"/>
            <p:cNvSpPr/>
            <p:nvPr/>
          </p:nvSpPr>
          <p:spPr>
            <a:xfrm>
              <a:off x="6307560" y="3818160"/>
              <a:ext cx="82080" cy="101160"/>
            </a:xfrm>
            <a:custGeom>
              <a:avLst/>
              <a:gdLst>
                <a:gd name="textAreaLeft" fmla="*/ 0 w 82080"/>
                <a:gd name="textAreaRight" fmla="*/ 82440 w 82080"/>
                <a:gd name="textAreaTop" fmla="*/ 0 h 101160"/>
                <a:gd name="textAreaBottom" fmla="*/ 101520 h 101160"/>
                <a:gd name="GluePoint1X" fmla="*/ 118 w 118"/>
                <a:gd name="GluePoint1Y" fmla="*/ 145 h 145"/>
                <a:gd name="GluePoint2X" fmla="*/ 0 w 118"/>
                <a:gd name="GluePoint2Y" fmla="*/ 58 h 145"/>
                <a:gd name="GluePoint3X" fmla="*/ 9 w 118"/>
                <a:gd name="GluePoint3Y" fmla="*/ 58 h 145"/>
                <a:gd name="GluePoint4X" fmla="*/ 17 w 118"/>
                <a:gd name="GluePoint4Y" fmla="*/ 58 h 145"/>
                <a:gd name="GluePoint5X" fmla="*/ 24 w 118"/>
                <a:gd name="GluePoint5Y" fmla="*/ 56 h 145"/>
                <a:gd name="GluePoint6X" fmla="*/ 31 w 118"/>
                <a:gd name="GluePoint6Y" fmla="*/ 56 h 145"/>
                <a:gd name="GluePoint7X" fmla="*/ 41 w 118"/>
                <a:gd name="GluePoint7Y" fmla="*/ 53 h 145"/>
                <a:gd name="GluePoint8X" fmla="*/ 48 w 118"/>
                <a:gd name="GluePoint8Y" fmla="*/ 51 h 145"/>
                <a:gd name="GluePoint9X" fmla="*/ 55 w 118"/>
                <a:gd name="GluePoint9Y" fmla="*/ 48 h 145"/>
                <a:gd name="GluePoint10X" fmla="*/ 62 w 118"/>
                <a:gd name="GluePoint10Y" fmla="*/ 46 h 145"/>
                <a:gd name="GluePoint11X" fmla="*/ 69 w 118"/>
                <a:gd name="GluePoint11Y" fmla="*/ 41 h 145"/>
                <a:gd name="GluePoint12X" fmla="*/ 77 w 118"/>
                <a:gd name="GluePoint12Y" fmla="*/ 36 h 145"/>
                <a:gd name="GluePoint13X" fmla="*/ 81 w 118"/>
                <a:gd name="GluePoint13Y" fmla="*/ 34 h 145"/>
                <a:gd name="GluePoint14X" fmla="*/ 89 w 118"/>
                <a:gd name="GluePoint14Y" fmla="*/ 29 h 145"/>
                <a:gd name="GluePoint15X" fmla="*/ 96 w 118"/>
                <a:gd name="GluePoint15Y" fmla="*/ 24 h 145"/>
                <a:gd name="GluePoint16X" fmla="*/ 101 w 118"/>
                <a:gd name="GluePoint16Y" fmla="*/ 17 h 145"/>
                <a:gd name="GluePoint17X" fmla="*/ 106 w 118"/>
                <a:gd name="GluePoint17Y" fmla="*/ 12 h 145"/>
                <a:gd name="GluePoint18X" fmla="*/ 113 w 118"/>
                <a:gd name="GluePoint18Y" fmla="*/ 8 h 145"/>
                <a:gd name="GluePoint19X" fmla="*/ 118 w 118"/>
                <a:gd name="GluePoint19Y" fmla="*/ 0 h 145"/>
                <a:gd name="GluePoint20X" fmla="*/ 118 w 118"/>
                <a:gd name="GluePoint20Y" fmla="*/ 145 h 1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18" h="145">
                  <a:moveTo>
                    <a:pt x="118" y="145"/>
                  </a:moveTo>
                  <a:lnTo>
                    <a:pt x="0" y="58"/>
                  </a:lnTo>
                  <a:lnTo>
                    <a:pt x="9" y="58"/>
                  </a:lnTo>
                  <a:lnTo>
                    <a:pt x="17" y="58"/>
                  </a:lnTo>
                  <a:lnTo>
                    <a:pt x="24" y="56"/>
                  </a:lnTo>
                  <a:lnTo>
                    <a:pt x="31" y="56"/>
                  </a:lnTo>
                  <a:lnTo>
                    <a:pt x="41" y="53"/>
                  </a:lnTo>
                  <a:lnTo>
                    <a:pt x="48" y="51"/>
                  </a:lnTo>
                  <a:lnTo>
                    <a:pt x="55" y="48"/>
                  </a:lnTo>
                  <a:lnTo>
                    <a:pt x="62" y="46"/>
                  </a:lnTo>
                  <a:lnTo>
                    <a:pt x="69" y="41"/>
                  </a:lnTo>
                  <a:lnTo>
                    <a:pt x="77" y="36"/>
                  </a:lnTo>
                  <a:lnTo>
                    <a:pt x="81" y="34"/>
                  </a:lnTo>
                  <a:lnTo>
                    <a:pt x="89" y="29"/>
                  </a:lnTo>
                  <a:lnTo>
                    <a:pt x="96" y="24"/>
                  </a:lnTo>
                  <a:lnTo>
                    <a:pt x="101" y="17"/>
                  </a:lnTo>
                  <a:lnTo>
                    <a:pt x="106" y="12"/>
                  </a:lnTo>
                  <a:lnTo>
                    <a:pt x="113" y="8"/>
                  </a:lnTo>
                  <a:lnTo>
                    <a:pt x="118" y="0"/>
                  </a:lnTo>
                  <a:lnTo>
                    <a:pt x="118" y="145"/>
                  </a:lnTo>
                  <a:close/>
                </a:path>
              </a:pathLst>
            </a:custGeom>
            <a:solidFill>
              <a:srgbClr val="9a9a9a"/>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5ABC6E-F122-40F1-874A-CAE942313440}"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17"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AM Process Flow</a:t>
            </a:r>
            <a:endParaRPr b="0" lang="en-IN" sz="4000" strike="noStrike" u="none">
              <a:solidFill>
                <a:srgbClr val="ffffff"/>
              </a:solidFill>
              <a:effectLst/>
              <a:uFillTx/>
              <a:latin typeface="Times New Roman"/>
            </a:endParaRPr>
          </a:p>
        </p:txBody>
      </p:sp>
      <p:sp>
        <p:nvSpPr>
          <p:cNvPr id="118" name="PlaceHolder 2"/>
          <p:cNvSpPr>
            <a:spLocks noGrp="1"/>
          </p:cNvSpPr>
          <p:nvPr>
            <p:ph/>
          </p:nvPr>
        </p:nvSpPr>
        <p:spPr>
          <a:xfrm>
            <a:off x="1143000" y="1904760"/>
            <a:ext cx="6934320" cy="47242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endParaRPr b="0" lang="en-IN" sz="2400" strike="noStrike" u="none">
              <a:solidFill>
                <a:srgbClr val="000000"/>
              </a:solidFill>
              <a:effectLst/>
              <a:uFillTx/>
              <a:latin typeface="Arial"/>
            </a:endParaRPr>
          </a:p>
        </p:txBody>
      </p:sp>
      <p:sp>
        <p:nvSpPr>
          <p:cNvPr id="119" name="Rectangle 9"/>
          <p:cNvSpPr/>
          <p:nvPr/>
        </p:nvSpPr>
        <p:spPr>
          <a:xfrm>
            <a:off x="0" y="-800280"/>
            <a:ext cx="9144000" cy="360"/>
          </a:xfrm>
          <a:prstGeom prst="rect">
            <a:avLst/>
          </a:prstGeom>
          <a:noFill/>
          <a:ln w="0">
            <a:noFill/>
          </a:ln>
        </p:spPr>
        <p:style>
          <a:lnRef idx="0"/>
          <a:fillRef idx="0"/>
          <a:effectRef idx="0"/>
          <a:fontRef idx="minor"/>
        </p:style>
        <p:txBody>
          <a:bodyPr wrap="none" lIns="90000" rIns="90000" tIns="-46440" bIns="-4644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aphicFrame>
        <p:nvGraphicFramePr>
          <p:cNvPr id="120" name="Object 8"/>
          <p:cNvGraphicFramePr/>
          <p:nvPr/>
        </p:nvGraphicFramePr>
        <p:xfrm>
          <a:off x="2743200" y="1219320"/>
          <a:ext cx="3343320" cy="8458200"/>
        </p:xfrm>
        <a:graphic>
          <a:graphicData uri="http://schemas.openxmlformats.org/presentationml/2006/ole">
            <p:oleObj r:id="rId1" spid="">
              <p:embed/>
              <p:pic>
                <p:nvPicPr>
                  <p:cNvPr id="121" name="Object 8" descr=""/>
                  <p:cNvPicPr/>
                  <p:nvPr/>
                </p:nvPicPr>
                <p:blipFill>
                  <a:blip r:embed="rId2"/>
                  <a:stretch/>
                </p:blipFill>
                <p:spPr>
                  <a:xfrm>
                    <a:off x="2743200" y="1219320"/>
                    <a:ext cx="3343320" cy="845820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D9AF668-4329-44C2-A78C-BC325CA59FFA}"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23"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Data Tables</a:t>
            </a:r>
            <a:endParaRPr b="0" lang="en-IN" sz="4400" strike="noStrike" u="none">
              <a:solidFill>
                <a:srgbClr val="ffffff"/>
              </a:solidFill>
              <a:effectLst/>
              <a:uFillTx/>
              <a:latin typeface="Times New Roman"/>
            </a:endParaRPr>
          </a:p>
        </p:txBody>
      </p:sp>
      <p:sp>
        <p:nvSpPr>
          <p:cNvPr id="124" name="PlaceHolder 2"/>
          <p:cNvSpPr>
            <a:spLocks noGrp="1"/>
          </p:cNvSpPr>
          <p:nvPr>
            <p:ph/>
          </p:nvPr>
        </p:nvSpPr>
        <p:spPr>
          <a:xfrm>
            <a:off x="609480" y="1828800"/>
            <a:ext cx="7925040" cy="464832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endParaRPr b="0" lang="en-IN" sz="2400" strike="noStrike" u="none">
              <a:solidFill>
                <a:srgbClr val="000000"/>
              </a:solidFill>
              <a:effectLst/>
              <a:uFillTx/>
              <a:latin typeface="Arial"/>
            </a:endParaRPr>
          </a:p>
        </p:txBody>
      </p:sp>
      <p:graphicFrame>
        <p:nvGraphicFramePr>
          <p:cNvPr id="125" name=""/>
          <p:cNvGraphicFramePr/>
          <p:nvPr/>
        </p:nvGraphicFramePr>
        <p:xfrm>
          <a:off x="685800" y="1905120"/>
          <a:ext cx="7696080" cy="4478040"/>
        </p:xfrm>
        <a:graphic>
          <a:graphicData uri="http://schemas.openxmlformats.org/drawingml/2006/table">
            <a:tbl>
              <a:tblPr/>
              <a:tblGrid>
                <a:gridCol w="1415880"/>
                <a:gridCol w="1417680"/>
                <a:gridCol w="2359080"/>
                <a:gridCol w="2503440"/>
              </a:tblGrid>
              <a:tr h="304560">
                <a:tc>
                  <a: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Arial"/>
                          <a:ea typeface="Times New Roman"/>
                        </a:rPr>
                        <a:t>Component</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000000"/>
                    </a:solidFill>
                  </a:tcPr>
                </a:tc>
                <a:tc>
                  <a: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Arial"/>
                          <a:ea typeface="Times New Roman"/>
                        </a:rPr>
                        <a:t>Table</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000000"/>
                    </a:solidFill>
                  </a:tcPr>
                </a:tc>
                <a:tc>
                  <a: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Arial"/>
                          <a:ea typeface="Times New Roman"/>
                        </a:rPr>
                        <a:t>Navigation to View</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000000"/>
                    </a:solidFill>
                  </a:tcPr>
                </a:tc>
                <a:tc>
                  <a: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Arial"/>
                          <a:ea typeface="Times New Roman"/>
                        </a:rPr>
                        <a:t>Description</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000000"/>
                    </a:solidFill>
                  </a:tcPr>
                </a:tc>
              </a:tr>
              <a:tr h="962280">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Asset Basic Information</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Arial"/>
                          <a:ea typeface="Times New Roman"/>
                        </a:rPr>
                        <a:t>A</a:t>
                      </a:r>
                      <a:r>
                        <a:rPr b="0" lang="en-US" sz="1200" strike="noStrike" u="none">
                          <a:solidFill>
                            <a:srgbClr val="000000"/>
                          </a:solidFill>
                          <a:effectLst/>
                          <a:uFillTx/>
                          <a:latin typeface="Arial"/>
                          <a:ea typeface="Times New Roman"/>
                        </a:rPr>
                        <a:t>sset</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Asset Management &gt; Owned Assets &gt; Basic Add</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Physical information (non-financial) such as Description, Tag Number, Status &amp; Manufacturer Information</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r>
              <a:tr h="963360">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Asset Book Definition</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Arial"/>
                          <a:ea typeface="Times New Roman"/>
                        </a:rPr>
                        <a:t>B</a:t>
                      </a:r>
                      <a:r>
                        <a:rPr b="0" lang="en-US" sz="1200" strike="noStrike" u="none">
                          <a:solidFill>
                            <a:srgbClr val="000000"/>
                          </a:solidFill>
                          <a:effectLst/>
                          <a:uFillTx/>
                          <a:latin typeface="Arial"/>
                          <a:ea typeface="Times New Roman"/>
                        </a:rPr>
                        <a:t>ook</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Asset Management &gt; Owned Assets &gt; Asset Book Information &gt; Define Depr Criteria</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Depreciation Rules, such as Method, Life, In Service Date, Convention</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r>
              <a:tr h="749520">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Asset Cost Adjust/ Transfer</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Arial"/>
                          <a:ea typeface="Times New Roman"/>
                        </a:rPr>
                        <a:t>C</a:t>
                      </a:r>
                      <a:r>
                        <a:rPr b="0" lang="en-US" sz="1200" strike="noStrike" u="none">
                          <a:solidFill>
                            <a:srgbClr val="000000"/>
                          </a:solidFill>
                          <a:effectLst/>
                          <a:uFillTx/>
                          <a:latin typeface="Arial"/>
                          <a:ea typeface="Times New Roman"/>
                        </a:rPr>
                        <a:t>ost</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Asset Management &gt; Financial Transactions &gt; Cost Adjust/Transfer &gt; Asset</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Financial information such as Cost, Quantity, ChartFields, Category</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r>
              <a:tr h="961920">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Asset Depreciation</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Arial"/>
                          <a:ea typeface="Times New Roman"/>
                        </a:rPr>
                        <a:t>D</a:t>
                      </a:r>
                      <a:r>
                        <a:rPr b="0" lang="en-US" sz="1200" strike="noStrike" u="none">
                          <a:solidFill>
                            <a:srgbClr val="000000"/>
                          </a:solidFill>
                          <a:effectLst/>
                          <a:uFillTx/>
                          <a:latin typeface="Arial"/>
                          <a:ea typeface="Times New Roman"/>
                        </a:rPr>
                        <a:t>epreciation</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Asset Management &gt; Review Cost/Depr Activity &gt; Asset Depreciation</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Results of depreciation such as Accumulated Depreciation and Depreciation Adjustments</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r>
              <a:tr h="536400">
                <a:tc gridSpan="4">
                  <a: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ea typeface="Times New Roman"/>
                        </a:rPr>
                        <a:t>Any activity to the tables above (A, B, or C) creates Open Transactions.  Running Depreciation (AMDPCALC) updates the Depreciation table  (D):</a:t>
                      </a:r>
                      <a:endParaRPr b="0" lang="en-IN" sz="12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hMerge="1">
                  <a:txBody>
                    <a:bodyPr lIns="90000" rIns="90000" tIns="45000" bIns="45000" anchor="t">
                      <a:noAutofit/>
                    </a:bodyPr>
                    <a:p>
                      <a:endParaRPr b="0" lang="en-IN"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IN"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IN"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5CD4A1D-C983-4241-A038-A45D717A770F}"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27"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Integration Points</a:t>
            </a:r>
            <a:endParaRPr b="0" lang="en-IN" sz="4400" strike="noStrike" u="none">
              <a:solidFill>
                <a:srgbClr val="ffffff"/>
              </a:solidFill>
              <a:effectLst/>
              <a:uFillTx/>
              <a:latin typeface="Times New Roman"/>
            </a:endParaRPr>
          </a:p>
        </p:txBody>
      </p:sp>
      <p:sp>
        <p:nvSpPr>
          <p:cNvPr id="128" name="PlaceHolder 2"/>
          <p:cNvSpPr>
            <a:spLocks noGrp="1"/>
          </p:cNvSpPr>
          <p:nvPr>
            <p:ph/>
          </p:nvPr>
        </p:nvSpPr>
        <p:spPr>
          <a:xfrm>
            <a:off x="1143000" y="1905120"/>
            <a:ext cx="6934320" cy="40384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eProcurment (Requisitions / Purchase Orders) </a:t>
            </a:r>
            <a:endParaRPr b="0" lang="en-IN" sz="20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Sends key information:  Category Code, Profile ID</a:t>
            </a:r>
            <a:endParaRPr b="0" lang="en-IN" sz="1600" strike="noStrike" u="none">
              <a:solidFill>
                <a:srgbClr val="000000"/>
              </a:solidFill>
              <a:effectLst/>
              <a:uFillTx/>
              <a:latin typeface="Arial"/>
            </a:endParaRPr>
          </a:p>
          <a:p>
            <a:pPr marL="343080" indent="-34308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PO Receipts</a:t>
            </a:r>
            <a:endParaRPr b="0" lang="en-IN" sz="20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a:t>
            </a:r>
            <a:r>
              <a:rPr b="0" lang="en-US" sz="1600" strike="noStrike" u="none">
                <a:solidFill>
                  <a:srgbClr val="000000"/>
                </a:solidFill>
                <a:effectLst/>
                <a:uFillTx/>
                <a:latin typeface="Arial"/>
              </a:rPr>
              <a:t>ends non-financial information:  Tag Number, Location, Custodian, Serial Number, Manufacturer ID, Model Number</a:t>
            </a:r>
            <a:endParaRPr b="0" lang="en-IN" sz="1600" strike="noStrike" u="none">
              <a:solidFill>
                <a:srgbClr val="000000"/>
              </a:solidFill>
              <a:effectLst/>
              <a:uFillTx/>
              <a:latin typeface="Arial"/>
            </a:endParaRPr>
          </a:p>
          <a:p>
            <a:pPr marL="343080" indent="-34308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Accounts Payable</a:t>
            </a:r>
            <a:endParaRPr b="0" lang="en-IN" sz="20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Sends financial information:  Acquisition Date, Cost, Chartfield Values</a:t>
            </a:r>
            <a:endParaRPr b="0" lang="en-IN" sz="1600" strike="noStrike" u="none">
              <a:solidFill>
                <a:srgbClr val="000000"/>
              </a:solidFill>
              <a:effectLst/>
              <a:uFillTx/>
              <a:latin typeface="Arial"/>
            </a:endParaRPr>
          </a:p>
          <a:p>
            <a:pPr marL="343080" indent="-34308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Projects</a:t>
            </a:r>
            <a:endParaRPr b="0" lang="en-IN" sz="20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Sends Asset Transactions for Capital Projects</a:t>
            </a:r>
            <a:endParaRPr b="0" lang="en-IN" sz="1600" strike="noStrike" u="none">
              <a:solidFill>
                <a:srgbClr val="000000"/>
              </a:solidFill>
              <a:effectLst/>
              <a:uFillTx/>
              <a:latin typeface="Arial"/>
            </a:endParaRPr>
          </a:p>
          <a:p>
            <a:pPr marL="343080" indent="-34308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General Ledger </a:t>
            </a:r>
            <a:endParaRPr b="0" lang="en-IN" sz="20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Receives input from AM to create Journal Entries for: Additions, Adjustments, Retirements, Depreciation</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685800" y="1905120"/>
            <a:ext cx="4648320" cy="9144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Chapter  3</a:t>
            </a:r>
            <a:br>
              <a:rPr sz="3200"/>
            </a:br>
            <a:r>
              <a:rPr b="0" lang="en-US" sz="3200" strike="noStrike" u="none">
                <a:solidFill>
                  <a:srgbClr val="ffffff"/>
                </a:solidFill>
                <a:effectLst/>
                <a:uFillTx/>
                <a:latin typeface="Times New Roman"/>
              </a:rPr>
              <a:t>Manually Adding Assets</a:t>
            </a:r>
            <a:endParaRPr b="0" lang="en-IN" sz="3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80B345B-CC8D-4D85-8B0E-C3D7D9F20889}"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31"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All Assets</a:t>
            </a:r>
            <a:endParaRPr b="0" lang="en-IN" sz="4400" strike="noStrike" u="none">
              <a:solidFill>
                <a:srgbClr val="ffffff"/>
              </a:solidFill>
              <a:effectLst/>
              <a:uFillTx/>
              <a:latin typeface="Times New Roman"/>
            </a:endParaRPr>
          </a:p>
        </p:txBody>
      </p:sp>
      <p:sp>
        <p:nvSpPr>
          <p:cNvPr id="132" name="PlaceHolder 2"/>
          <p:cNvSpPr>
            <a:spLocks noGrp="1"/>
          </p:cNvSpPr>
          <p:nvPr>
            <p:ph/>
          </p:nvPr>
        </p:nvSpPr>
        <p:spPr>
          <a:xfrm>
            <a:off x="990720" y="1905120"/>
            <a:ext cx="7315200" cy="35812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Assets must be entered into ENCOMPASS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Valued at $500 or Greater</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Agencies can (optional) enter assets valued at less than $500</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Assets must include the following information:</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Tag Number</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Location</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Custodian (active employee listed in HR)</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Chartfields (Fund, Department, Program, Bud Ref.)</a:t>
            </a:r>
            <a:endParaRPr b="0" lang="en-IN" sz="1800" strike="noStrike" u="none">
              <a:solidFill>
                <a:srgbClr val="000000"/>
              </a:solidFill>
              <a:effectLst/>
              <a:uFillTx/>
              <a:latin typeface="Arial"/>
            </a:endParaRPr>
          </a:p>
          <a:p>
            <a:pPr lvl="2" marL="1143000" indent="-228600">
              <a:spcBef>
                <a:spcPts val="400"/>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Agencies may require additional fields: Project, Product, Locality</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0506258-0EB1-4D6E-94D3-526ED67B089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34"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All Assets</a:t>
            </a:r>
            <a:endParaRPr b="0" lang="en-IN" sz="4400" strike="noStrike" u="none">
              <a:solidFill>
                <a:srgbClr val="ffffff"/>
              </a:solidFill>
              <a:effectLst/>
              <a:uFillTx/>
              <a:latin typeface="Times New Roman"/>
            </a:endParaRPr>
          </a:p>
        </p:txBody>
      </p:sp>
      <p:sp>
        <p:nvSpPr>
          <p:cNvPr id="135" name="PlaceHolder 2"/>
          <p:cNvSpPr>
            <a:spLocks noGrp="1"/>
          </p:cNvSpPr>
          <p:nvPr>
            <p:ph/>
          </p:nvPr>
        </p:nvSpPr>
        <p:spPr>
          <a:xfrm>
            <a:off x="914400" y="1904760"/>
            <a:ext cx="7391520" cy="32763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The State requires all Assets be acquired via Procurement Applications </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Assets will be added via the Integration Process: Purchasing, Receiving, Accounts Payable</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Basic Add </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Used in limited situations</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Express Add</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No longer used</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78AED87-B967-460D-B7C7-1518F639D6E4}"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37"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Workflow</a:t>
            </a:r>
            <a:endParaRPr b="0" lang="en-IN" sz="4400" strike="noStrike" u="none">
              <a:solidFill>
                <a:srgbClr val="ffffff"/>
              </a:solidFill>
              <a:effectLst/>
              <a:uFillTx/>
              <a:latin typeface="Times New Roman"/>
            </a:endParaRPr>
          </a:p>
        </p:txBody>
      </p:sp>
      <p:sp>
        <p:nvSpPr>
          <p:cNvPr id="138" name="PlaceHolder 2"/>
          <p:cNvSpPr>
            <a:spLocks noGrp="1"/>
          </p:cNvSpPr>
          <p:nvPr>
            <p:ph/>
          </p:nvPr>
        </p:nvSpPr>
        <p:spPr>
          <a:xfrm>
            <a:off x="1143000" y="1904760"/>
            <a:ext cx="6934320" cy="38862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All Financial Transactions require Financial Asset Manager (FAM) approval:</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Basic Adds</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Adjustments/Transfers</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Retirements/Reinstatements</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Assets valued at $20,000 and greater will require Auditor of State approval:</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Exception:  Retirements</a:t>
            </a:r>
            <a:endParaRPr b="0" lang="en-IN" sz="1800" strike="noStrike" u="none">
              <a:solidFill>
                <a:srgbClr val="000000"/>
              </a:solidFill>
              <a:effectLst/>
              <a:uFillTx/>
              <a:latin typeface="Arial"/>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	</a:t>
            </a:r>
            <a:r>
              <a:rPr b="0" lang="en-US" sz="1800" strike="noStrike" u="none">
                <a:solidFill>
                  <a:srgbClr val="000000"/>
                </a:solidFill>
                <a:effectLst/>
                <a:uFillTx/>
                <a:latin typeface="Arial"/>
              </a:rPr>
              <a:t>Note - if a transaction is denied, the AM Entry User receives an email with the FAM’s denial comments.</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8BF126D-6879-4A4A-A7AC-09F9072F52F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40"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Basic Add</a:t>
            </a:r>
            <a:endParaRPr b="0" lang="en-IN" sz="4400" strike="noStrike" u="none">
              <a:solidFill>
                <a:srgbClr val="ffffff"/>
              </a:solidFill>
              <a:effectLst/>
              <a:uFillTx/>
              <a:latin typeface="Times New Roman"/>
            </a:endParaRPr>
          </a:p>
        </p:txBody>
      </p:sp>
      <p:sp>
        <p:nvSpPr>
          <p:cNvPr id="141" name="PlaceHolder 2"/>
          <p:cNvSpPr>
            <a:spLocks noGrp="1"/>
          </p:cNvSpPr>
          <p:nvPr>
            <p:ph/>
          </p:nvPr>
        </p:nvSpPr>
        <p:spPr>
          <a:xfrm>
            <a:off x="1143000" y="1904760"/>
            <a:ext cx="6934320" cy="41907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Only to be used in specific circumstances:</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Donated Assets</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Surplus acquired Assets</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Assets discovered during inventory</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Transaction Date = In Service Date</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Assets are sent to the AM Approver by clicking the “Submit Workflow” button</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Assets are capitalized automatically by the final approval</a:t>
            </a:r>
            <a:endParaRPr b="0" lang="en-IN" sz="2400" strike="noStrike" u="none">
              <a:solidFill>
                <a:srgbClr val="000000"/>
              </a:solidFill>
              <a:effectLst/>
              <a:uFillTx/>
              <a:latin typeface="Arial"/>
            </a:endParaRPr>
          </a:p>
          <a:p>
            <a:pPr marL="34308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r>
              <a:rPr b="0" lang="en-US" sz="1800" strike="noStrike" u="none">
                <a:solidFill>
                  <a:srgbClr val="000000"/>
                </a:solidFill>
                <a:effectLst/>
                <a:uFillTx/>
                <a:latin typeface="Arial"/>
              </a:rPr>
              <a:t>Note - Asset Status can be reviewed by using the Review Approvals page.</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FA7044-4CAA-41A6-9CFF-8696F8C8C74D}"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43"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Basic Add – Required Info.</a:t>
            </a:r>
            <a:endParaRPr b="0" lang="en-IN" sz="4400" strike="noStrike" u="none">
              <a:solidFill>
                <a:srgbClr val="ffffff"/>
              </a:solidFill>
              <a:effectLst/>
              <a:uFillTx/>
              <a:latin typeface="Times New Roman"/>
            </a:endParaRPr>
          </a:p>
        </p:txBody>
      </p:sp>
      <p:sp>
        <p:nvSpPr>
          <p:cNvPr id="144" name="PlaceHolder 2"/>
          <p:cNvSpPr>
            <a:spLocks noGrp="1"/>
          </p:cNvSpPr>
          <p:nvPr>
            <p:ph/>
          </p:nvPr>
        </p:nvSpPr>
        <p:spPr>
          <a:xfrm>
            <a:off x="1143000" y="1904760"/>
            <a:ext cx="6934320" cy="43434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Profile ID </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Defaults in:  Asset Class, Book, Category, Depreciation</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Acquisition, Placement, and In Service dates</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Purchased Amount</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Tag number *</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Last 3 digits of Agency’s BU and affixed Bar Code </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Location *</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 7 digit alpha‑numeric field defined by the Agency</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Custodian *</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The person responsible for (or primary user) of the asset</a:t>
            </a:r>
            <a:endParaRPr b="0" lang="en-IN" sz="1800" strike="noStrike" u="none">
              <a:solidFill>
                <a:srgbClr val="000000"/>
              </a:solidFill>
              <a:effectLst/>
              <a:uFillTx/>
              <a:latin typeface="Arial"/>
            </a:endParaRPr>
          </a:p>
          <a:p>
            <a:pPr marL="34308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r>
              <a:rPr b="0" lang="en-US" sz="2400" strike="noStrike" u="none">
                <a:solidFill>
                  <a:srgbClr val="000000"/>
                </a:solidFill>
                <a:effectLst/>
                <a:uFillTx/>
                <a:latin typeface="Arial"/>
              </a:rPr>
              <a:t>*  </a:t>
            </a:r>
            <a:r>
              <a:rPr b="0" lang="en-US" sz="1800" strike="noStrike" u="none">
                <a:solidFill>
                  <a:srgbClr val="000000"/>
                </a:solidFill>
                <a:effectLst/>
                <a:uFillTx/>
                <a:latin typeface="Arial"/>
              </a:rPr>
              <a:t>Required for all Assets valued at $500 or greater</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C87D988-1578-465D-8A57-191CDCAB0E2A}"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46"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Update: Physical Attributes</a:t>
            </a:r>
            <a:endParaRPr b="0" lang="en-IN" sz="4400" strike="noStrike" u="none">
              <a:solidFill>
                <a:srgbClr val="ffffff"/>
              </a:solidFill>
              <a:effectLst/>
              <a:uFillTx/>
              <a:latin typeface="Times New Roman"/>
            </a:endParaRPr>
          </a:p>
        </p:txBody>
      </p:sp>
      <p:sp>
        <p:nvSpPr>
          <p:cNvPr id="147" name="PlaceHolder 2"/>
          <p:cNvSpPr>
            <a:spLocks noGrp="1"/>
          </p:cNvSpPr>
          <p:nvPr>
            <p:ph/>
          </p:nvPr>
        </p:nvSpPr>
        <p:spPr>
          <a:xfrm>
            <a:off x="1143000" y="1905120"/>
            <a:ext cx="6934320" cy="36576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Physical Attributes are changed via Basic Add</a:t>
            </a:r>
            <a:endParaRPr b="0" lang="en-IN" sz="2400" strike="noStrike" u="none">
              <a:solidFill>
                <a:srgbClr val="000000"/>
              </a:solidFill>
              <a:effectLst/>
              <a:uFillTx/>
              <a:latin typeface="Arial"/>
            </a:endParaRPr>
          </a:p>
          <a:p>
            <a:pPr marL="343080" indent="-343080">
              <a:spcBef>
                <a:spcPts val="2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 </a:t>
            </a:r>
            <a:endParaRPr b="0" lang="en-IN" sz="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Changes to Location and Custodian</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Insert new Effective Dated Row to update, and maintain history.</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If Effective Sequence field has a value of 1 or higher, click on the Include History button to view Effective Dated Rows.</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Changes to Tag Number and Description</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Replace current value with new value.</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A9EF99-D40C-484B-99B5-BEC3C44D22E3}"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49"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Copy an Asset</a:t>
            </a:r>
            <a:endParaRPr b="0" lang="en-IN" sz="4400" strike="noStrike" u="none">
              <a:solidFill>
                <a:srgbClr val="ffffff"/>
              </a:solidFill>
              <a:effectLst/>
              <a:uFillTx/>
              <a:latin typeface="Times New Roman"/>
            </a:endParaRPr>
          </a:p>
        </p:txBody>
      </p:sp>
      <p:sp>
        <p:nvSpPr>
          <p:cNvPr id="150" name="PlaceHolder 2"/>
          <p:cNvSpPr>
            <a:spLocks noGrp="1"/>
          </p:cNvSpPr>
          <p:nvPr>
            <p:ph/>
          </p:nvPr>
        </p:nvSpPr>
        <p:spPr>
          <a:xfrm>
            <a:off x="1143000" y="1905120"/>
            <a:ext cx="6934320" cy="39621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Copy an Asset can be used when:</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There are multiple number of Assets to be added.</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The asset shares similar Physical and Financial information to the original Asset.</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Copy an Asset Options: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Select the information to be copied.</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Change the Physical and Financial information as needed.</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New Asset IDs are automatically assigned</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Other adjustments can be made via Basic Add or Adjustment pages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733A103-ADC2-4D33-B827-1E4E1E4CC8A3}"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52"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Asset Search Utility</a:t>
            </a:r>
            <a:endParaRPr b="0" lang="en-IN" sz="4400" strike="noStrike" u="none">
              <a:solidFill>
                <a:srgbClr val="ffffff"/>
              </a:solidFill>
              <a:effectLst/>
              <a:uFillTx/>
              <a:latin typeface="Times New Roman"/>
            </a:endParaRPr>
          </a:p>
        </p:txBody>
      </p:sp>
      <p:sp>
        <p:nvSpPr>
          <p:cNvPr id="153" name="PlaceHolder 2"/>
          <p:cNvSpPr>
            <a:spLocks noGrp="1"/>
          </p:cNvSpPr>
          <p:nvPr>
            <p:ph/>
          </p:nvPr>
        </p:nvSpPr>
        <p:spPr>
          <a:xfrm>
            <a:off x="990720" y="1905120"/>
            <a:ext cx="7315200" cy="40384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Assets entered in the system can be located using the Search Utility</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Criteria that can be used to locate assets include:</a:t>
            </a: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600" strike="noStrike" u="none">
                <a:solidFill>
                  <a:srgbClr val="000000"/>
                </a:solidFill>
                <a:effectLst/>
                <a:uFillTx/>
                <a:latin typeface="Arial"/>
              </a:rPr>
              <a:t>	</a:t>
            </a:r>
            <a:r>
              <a:rPr b="1" i="1" lang="en-US" sz="1600" strike="noStrike" u="none">
                <a:solidFill>
                  <a:srgbClr val="000000"/>
                </a:solidFill>
                <a:effectLst/>
                <a:uFillTx/>
                <a:latin typeface="Arial"/>
              </a:rPr>
              <a:t>	</a:t>
            </a:r>
            <a:r>
              <a:rPr b="1" i="1" lang="en-US" sz="1600" strike="noStrike" u="none">
                <a:solidFill>
                  <a:srgbClr val="000000"/>
                </a:solidFill>
                <a:effectLst/>
                <a:uFillTx/>
                <a:latin typeface="Arial"/>
              </a:rPr>
              <a:t>Navigation:   Asset Management &gt; Search for an Asset</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pic>
        <p:nvPicPr>
          <p:cNvPr id="154" name="Picture 7" descr="Asset Search.png"/>
          <p:cNvPicPr/>
          <p:nvPr/>
        </p:nvPicPr>
        <p:blipFill>
          <a:blip r:embed="rId1"/>
          <a:stretch/>
        </p:blipFill>
        <p:spPr>
          <a:xfrm>
            <a:off x="1219320" y="3352680"/>
            <a:ext cx="6818040" cy="15066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C861950-E521-4A81-93F5-E9834DA3ACC4}"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56"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Demo and Exercises</a:t>
            </a:r>
            <a:endParaRPr b="0" lang="en-IN" sz="4400" strike="noStrike" u="none">
              <a:solidFill>
                <a:srgbClr val="ffffff"/>
              </a:solidFill>
              <a:effectLst/>
              <a:uFillTx/>
              <a:latin typeface="Times New Roman"/>
            </a:endParaRPr>
          </a:p>
        </p:txBody>
      </p:sp>
      <p:sp>
        <p:nvSpPr>
          <p:cNvPr id="157" name="PlaceHolder 2"/>
          <p:cNvSpPr>
            <a:spLocks noGrp="1"/>
          </p:cNvSpPr>
          <p:nvPr>
            <p:ph/>
          </p:nvPr>
        </p:nvSpPr>
        <p:spPr>
          <a:xfrm>
            <a:off x="990720" y="1904760"/>
            <a:ext cx="7315200" cy="43434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Are there any questions?</a:t>
            </a:r>
            <a:endParaRPr b="0" lang="en-IN" sz="2800" strike="noStrike" u="none">
              <a:solidFill>
                <a:srgbClr val="000000"/>
              </a:solidFill>
              <a:effectLst/>
              <a:uFillTx/>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Demonstration</a:t>
            </a:r>
            <a:endParaRPr b="0" lang="en-IN" sz="2800" strike="noStrike" u="none">
              <a:solidFill>
                <a:srgbClr val="000000"/>
              </a:solidFill>
              <a:effectLst/>
              <a:uFillTx/>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Exercises</a:t>
            </a:r>
            <a:endParaRPr b="0" lang="en-IN" sz="28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1 – Add an Asset</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2 – Change Custodian</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3 – Change Location</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4 – Change the Description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685800" y="1904760"/>
            <a:ext cx="7848720" cy="144756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Chapter  4</a:t>
            </a:r>
            <a:br>
              <a:rPr sz="3200"/>
            </a:br>
            <a:r>
              <a:rPr b="0" lang="en-US" sz="3200" strike="noStrike" u="none">
                <a:solidFill>
                  <a:srgbClr val="ffffff"/>
                </a:solidFill>
                <a:effectLst/>
                <a:uFillTx/>
                <a:latin typeface="Times New Roman"/>
              </a:rPr>
              <a:t>Adjusting, Recategorizing and Transferring Assets</a:t>
            </a:r>
            <a:endParaRPr b="0" lang="en-IN" sz="3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9181243-23AE-48E5-8FB5-0BD0D140578C}"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60"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Adjust Assets</a:t>
            </a:r>
            <a:endParaRPr b="0" lang="en-IN" sz="4400" strike="noStrike" u="none">
              <a:solidFill>
                <a:srgbClr val="ffffff"/>
              </a:solidFill>
              <a:effectLst/>
              <a:uFillTx/>
              <a:latin typeface="Times New Roman"/>
            </a:endParaRPr>
          </a:p>
        </p:txBody>
      </p:sp>
      <p:sp>
        <p:nvSpPr>
          <p:cNvPr id="161" name="PlaceHolder 2"/>
          <p:cNvSpPr>
            <a:spLocks noGrp="1"/>
          </p:cNvSpPr>
          <p:nvPr>
            <p:ph/>
          </p:nvPr>
        </p:nvSpPr>
        <p:spPr>
          <a:xfrm>
            <a:off x="990720" y="1905120"/>
            <a:ext cx="7315200" cy="40384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Adjustments are necessary to:</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Update Asset Records</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Correct Errors </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Add newly received information</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Common types of adjustments include:</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Add a new cost row</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Adjust the total cost</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Recategorize an asset</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Transfer an asset to another Department, Business Unit, etc.</a:t>
            </a:r>
            <a:endParaRPr b="0" lang="en-IN" sz="1800" strike="noStrike" u="none">
              <a:solidFill>
                <a:srgbClr val="000000"/>
              </a:solidFill>
              <a:effectLst/>
              <a:uFillTx/>
              <a:latin typeface="Arial"/>
            </a:endParaRPr>
          </a:p>
          <a:p>
            <a:pPr lvl="1" marL="74304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28584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Note – Financial changes cannot be made via Basic Add pages once the asset has been capitalized.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AD0C9EA-5A61-4B91-A776-FF062C711698}"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63"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Transfer/Adjustment Steps</a:t>
            </a:r>
            <a:endParaRPr b="0" lang="en-IN" sz="4400" strike="noStrike" u="none">
              <a:solidFill>
                <a:srgbClr val="ffffff"/>
              </a:solidFill>
              <a:effectLst/>
              <a:uFillTx/>
              <a:latin typeface="Times New Roman"/>
            </a:endParaRPr>
          </a:p>
        </p:txBody>
      </p:sp>
      <p:sp>
        <p:nvSpPr>
          <p:cNvPr id="164" name="PlaceHolder 2"/>
          <p:cNvSpPr>
            <a:spLocks noGrp="1"/>
          </p:cNvSpPr>
          <p:nvPr>
            <p:ph/>
          </p:nvPr>
        </p:nvSpPr>
        <p:spPr>
          <a:xfrm>
            <a:off x="1066320" y="1905120"/>
            <a:ext cx="7162920" cy="31240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The State of Indiana uses a three-step process to transfer/adjust assets:</a:t>
            </a:r>
            <a:endParaRPr b="0" lang="en-IN" sz="2400" strike="noStrike" u="none">
              <a:solidFill>
                <a:srgbClr val="000000"/>
              </a:solidFill>
              <a:effectLst/>
              <a:uFillTx/>
              <a:latin typeface="Arial"/>
            </a:endParaRPr>
          </a:p>
          <a:p>
            <a:pPr marL="343080" indent="0">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Step 1:  Enter the Asset Transfer/Adjustment</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Step 2:  Approval by Financial Asset Manager</a:t>
            </a:r>
            <a:endParaRPr b="0" lang="en-IN" sz="2000" strike="noStrike" u="none">
              <a:solidFill>
                <a:srgbClr val="000000"/>
              </a:solidFill>
              <a:effectLst/>
              <a:uFillTx/>
              <a:latin typeface="Arial"/>
            </a:endParaRPr>
          </a:p>
          <a:p>
            <a:pPr lvl="4" marL="2057400" indent="-228600">
              <a:spcBef>
                <a:spcPts val="451"/>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 AOS, for assets valued at $20,000 or greater</a:t>
            </a:r>
            <a:endParaRPr b="0" lang="en-IN" sz="18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Step 3:  Run the Finalization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365414-43A5-45D3-B859-8D92C5854FB3}"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66"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Transfers/Adjustments</a:t>
            </a:r>
            <a:endParaRPr b="0" lang="en-IN" sz="4400" strike="noStrike" u="none">
              <a:solidFill>
                <a:srgbClr val="ffffff"/>
              </a:solidFill>
              <a:effectLst/>
              <a:uFillTx/>
              <a:latin typeface="Times New Roman"/>
            </a:endParaRPr>
          </a:p>
        </p:txBody>
      </p:sp>
      <p:sp>
        <p:nvSpPr>
          <p:cNvPr id="167" name="PlaceHolder 2"/>
          <p:cNvSpPr>
            <a:spLocks noGrp="1"/>
          </p:cNvSpPr>
          <p:nvPr>
            <p:ph/>
          </p:nvPr>
        </p:nvSpPr>
        <p:spPr>
          <a:xfrm>
            <a:off x="838080" y="1904760"/>
            <a:ext cx="7391520" cy="41907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 are not updated until:</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All necessary approvals have been received</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Finalization has been processed</a:t>
            </a:r>
            <a:endParaRPr b="0" lang="en-IN" sz="1800" strike="noStrike" u="none">
              <a:solidFill>
                <a:srgbClr val="000000"/>
              </a:solidFill>
              <a:effectLst/>
              <a:uFillTx/>
              <a:latin typeface="Arial"/>
            </a:endParaRPr>
          </a:p>
          <a:p>
            <a:pPr lvl="4" marL="2057400" indent="-228600">
              <a:spcBef>
                <a:spcPts val="400"/>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Additional changes can not be made until the previous changes have been approved, denied or finalized.</a:t>
            </a:r>
            <a:endParaRPr b="0" lang="en-IN" sz="16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Changes are updated on the Cost History pages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Not via Basic Add pages</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 Changes must be sent to the AM Approver </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Click on the “Submit Workflow” button</a:t>
            </a:r>
            <a:endParaRPr b="0" lang="en-IN" sz="1800" strike="noStrike" u="none">
              <a:solidFill>
                <a:srgbClr val="000000"/>
              </a:solidFill>
              <a:effectLst/>
              <a:uFillTx/>
              <a:latin typeface="Arial"/>
            </a:endParaRPr>
          </a:p>
          <a:p>
            <a:pPr marL="34308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r>
              <a:rPr b="0" lang="en-US" sz="1800" strike="noStrike" u="none">
                <a:solidFill>
                  <a:srgbClr val="000000"/>
                </a:solidFill>
                <a:effectLst/>
                <a:uFillTx/>
                <a:latin typeface="Arial"/>
              </a:rPr>
              <a:t>Note - Asset Status can be reviewed by using the Review Approvals page.</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A12B4BE-B01A-4A29-89B7-5025A48CF44C}"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69"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Transfer Policy</a:t>
            </a:r>
            <a:endParaRPr b="0" lang="en-IN" sz="4400" strike="noStrike" u="none">
              <a:solidFill>
                <a:srgbClr val="ffffff"/>
              </a:solidFill>
              <a:effectLst/>
              <a:uFillTx/>
              <a:latin typeface="Times New Roman"/>
            </a:endParaRPr>
          </a:p>
        </p:txBody>
      </p:sp>
      <p:sp>
        <p:nvSpPr>
          <p:cNvPr id="170" name="PlaceHolder 2"/>
          <p:cNvSpPr>
            <a:spLocks noGrp="1"/>
          </p:cNvSpPr>
          <p:nvPr>
            <p:ph/>
          </p:nvPr>
        </p:nvSpPr>
        <p:spPr>
          <a:xfrm>
            <a:off x="1143000" y="1905120"/>
            <a:ext cx="6934320" cy="32004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State of Indiana Transfer Policy:</a:t>
            </a:r>
            <a:endParaRPr b="0" lang="en-IN" sz="28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All transfers, sales, retirements and other disposals of capital assets must be processed and approved by the State Surplus Property division of IDOA by submitting Form 13812, Notification of Surplus State-Owned Property.</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C5098E2-9C4F-4708-B65C-B8FA1281CA21}"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72"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Transfers</a:t>
            </a:r>
            <a:endParaRPr b="0" lang="en-IN" sz="4400" strike="noStrike" u="none">
              <a:solidFill>
                <a:srgbClr val="ffffff"/>
              </a:solidFill>
              <a:effectLst/>
              <a:uFillTx/>
              <a:latin typeface="Times New Roman"/>
            </a:endParaRPr>
          </a:p>
        </p:txBody>
      </p:sp>
      <p:sp>
        <p:nvSpPr>
          <p:cNvPr id="173" name="PlaceHolder 2"/>
          <p:cNvSpPr>
            <a:spLocks noGrp="1"/>
          </p:cNvSpPr>
          <p:nvPr>
            <p:ph/>
          </p:nvPr>
        </p:nvSpPr>
        <p:spPr>
          <a:xfrm>
            <a:off x="1143000" y="1905120"/>
            <a:ext cx="6934320" cy="32004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IntraUnit Transfer</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Transfer an Asset within a Business Unit, typically used to update Chartfield values. </a:t>
            </a:r>
            <a:endParaRPr b="0" lang="en-IN" sz="1800" strike="noStrike" u="none">
              <a:solidFill>
                <a:srgbClr val="000000"/>
              </a:solidFill>
              <a:effectLst/>
              <a:uFillTx/>
              <a:latin typeface="Arial"/>
            </a:endParaRPr>
          </a:p>
          <a:p>
            <a:pPr lvl="4" marL="2057400" indent="-228600">
              <a:spcBef>
                <a:spcPts val="400"/>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Fund, Department, Program,  Project, etc.</a:t>
            </a:r>
            <a:endParaRPr b="0" lang="en-IN" sz="16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InterUnit Transfer</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Transfer an Asset to another Business Unit.</a:t>
            </a:r>
            <a:endParaRPr b="0" lang="en-IN" sz="1800" strike="noStrike" u="none">
              <a:solidFill>
                <a:srgbClr val="000000"/>
              </a:solidFill>
              <a:effectLst/>
              <a:uFillTx/>
              <a:latin typeface="Arial"/>
            </a:endParaRPr>
          </a:p>
          <a:p>
            <a:pPr lvl="4" marL="2057400" indent="-228600">
              <a:spcBef>
                <a:spcPts val="400"/>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The chartfield values of receiving Business Unit are required to enter transaction.</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38B9E5-73F1-48EE-B864-11C37F0258B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75"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Viewing Cost History</a:t>
            </a:r>
            <a:endParaRPr b="0" lang="en-IN" sz="4400" strike="noStrike" u="none">
              <a:solidFill>
                <a:srgbClr val="ffffff"/>
              </a:solidFill>
              <a:effectLst/>
              <a:uFillTx/>
              <a:latin typeface="Times New Roman"/>
            </a:endParaRPr>
          </a:p>
        </p:txBody>
      </p:sp>
      <p:sp>
        <p:nvSpPr>
          <p:cNvPr id="176" name="PlaceHolder 2"/>
          <p:cNvSpPr>
            <a:spLocks noGrp="1"/>
          </p:cNvSpPr>
          <p:nvPr>
            <p:ph/>
          </p:nvPr>
        </p:nvSpPr>
        <p:spPr>
          <a:xfrm>
            <a:off x="1143000" y="1905120"/>
            <a:ext cx="6934320" cy="36576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Cost History displays information for capitalized and non-capitalized assets</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List pages:  shows history of asset’s transactions</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Detail pages:  shows detailed information regarding financial transactions</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Cost History displays all financial transactions that occurred to after the asset was capitalized  </a:t>
            </a:r>
            <a:endParaRPr b="0" lang="en-IN" sz="2400" strike="noStrike" u="none">
              <a:solidFill>
                <a:srgbClr val="000000"/>
              </a:solidFill>
              <a:effectLst/>
              <a:uFillTx/>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lvl="1" marL="743040" indent="-28584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Note - Basic Add only shows cost information from the time the asset was capitalized.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E73670F-1990-4110-9511-41DF26A69F5E}"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78"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Demo and Exercises</a:t>
            </a:r>
            <a:endParaRPr b="0" lang="en-IN" sz="4400" strike="noStrike" u="none">
              <a:solidFill>
                <a:srgbClr val="ffffff"/>
              </a:solidFill>
              <a:effectLst/>
              <a:uFillTx/>
              <a:latin typeface="Times New Roman"/>
            </a:endParaRPr>
          </a:p>
        </p:txBody>
      </p:sp>
      <p:sp>
        <p:nvSpPr>
          <p:cNvPr id="179" name="PlaceHolder 2"/>
          <p:cNvSpPr>
            <a:spLocks noGrp="1"/>
          </p:cNvSpPr>
          <p:nvPr>
            <p:ph/>
          </p:nvPr>
        </p:nvSpPr>
        <p:spPr>
          <a:xfrm>
            <a:off x="990720" y="1905120"/>
            <a:ext cx="7315200" cy="44956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Are there any questions?</a:t>
            </a:r>
            <a:endParaRPr b="0" lang="en-IN" sz="2800" strike="noStrike" u="none">
              <a:solidFill>
                <a:srgbClr val="000000"/>
              </a:solidFill>
              <a:effectLst/>
              <a:uFillTx/>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Demonstration</a:t>
            </a:r>
            <a:endParaRPr b="0" lang="en-IN" sz="2800" strike="noStrike" u="none">
              <a:solidFill>
                <a:srgbClr val="000000"/>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Exercises</a:t>
            </a:r>
            <a:endParaRPr b="0" lang="en-IN" sz="28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5 – Cost Adjustment</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6 – Recategorize</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7 – IntraUnit Transfer </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8 – InterUnit Transfer</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685440" y="1905120"/>
            <a:ext cx="7924680" cy="9144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Chapter  5</a:t>
            </a:r>
            <a:br>
              <a:rPr sz="3200"/>
            </a:br>
            <a:r>
              <a:rPr b="0" lang="en-US" sz="3200" strike="noStrike" u="none">
                <a:solidFill>
                  <a:srgbClr val="ffffff"/>
                </a:solidFill>
                <a:effectLst/>
                <a:uFillTx/>
                <a:latin typeface="Times New Roman"/>
              </a:rPr>
              <a:t>Retiring and Reinstating Assets</a:t>
            </a:r>
            <a:endParaRPr b="0" lang="en-IN" sz="3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D3217E1-5838-4485-97D1-5B68E298B4E7}"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82"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Retirement Policy</a:t>
            </a:r>
            <a:endParaRPr b="0" lang="en-IN" sz="4400" strike="noStrike" u="none">
              <a:solidFill>
                <a:srgbClr val="ffffff"/>
              </a:solidFill>
              <a:effectLst/>
              <a:uFillTx/>
              <a:latin typeface="Times New Roman"/>
            </a:endParaRPr>
          </a:p>
        </p:txBody>
      </p:sp>
      <p:sp>
        <p:nvSpPr>
          <p:cNvPr id="183" name="PlaceHolder 2"/>
          <p:cNvSpPr>
            <a:spLocks noGrp="1"/>
          </p:cNvSpPr>
          <p:nvPr>
            <p:ph/>
          </p:nvPr>
        </p:nvSpPr>
        <p:spPr>
          <a:xfrm>
            <a:off x="1143000" y="1905120"/>
            <a:ext cx="6934320" cy="31240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Assets are considered retired if disposed of in any of the following ways: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Sent to State Surplus (property division)</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Traded In </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Scrapped</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Sold at Public Auction</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Sold to Local Unit of Government </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Stolen (reported to Capital Police prior to processing) </a:t>
            </a:r>
            <a:endParaRPr b="0" lang="en-IN" sz="1800" strike="noStrike" u="none">
              <a:solidFill>
                <a:srgbClr val="000000"/>
              </a:solidFill>
              <a:effectLst/>
              <a:uFillTx/>
              <a:latin typeface="Arial"/>
            </a:endParaRPr>
          </a:p>
          <a:p>
            <a:pPr lvl="1" marL="743040"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A76D109-5B58-426A-8839-6B82C2AAF8BD}"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85"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Types of Retirement</a:t>
            </a:r>
            <a:endParaRPr b="0" lang="en-IN" sz="4400" strike="noStrike" u="none">
              <a:solidFill>
                <a:srgbClr val="ffffff"/>
              </a:solidFill>
              <a:effectLst/>
              <a:uFillTx/>
              <a:latin typeface="Times New Roman"/>
            </a:endParaRPr>
          </a:p>
        </p:txBody>
      </p:sp>
      <p:sp>
        <p:nvSpPr>
          <p:cNvPr id="186" name="PlaceHolder 2"/>
          <p:cNvSpPr>
            <a:spLocks noGrp="1"/>
          </p:cNvSpPr>
          <p:nvPr>
            <p:ph/>
          </p:nvPr>
        </p:nvSpPr>
        <p:spPr>
          <a:xfrm>
            <a:off x="1142640" y="1905120"/>
            <a:ext cx="7086600" cy="36576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Three 3 basic types of retirements: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Full, when all quantities &amp; costs of an asset are retired</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Partial, when only a portion of the quantities &amp; costs of an asset are retired.  (NOT used by SOI)</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Prior Period, when an asset is retired in a prior accounting period but not recorded until next period</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Reinstatements can occur at any time, and are used: </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To correct errors</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To place an asset back into service</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0ED7879-532F-409F-940B-46F8EDD4413E}"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88"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Retirement Options</a:t>
            </a:r>
            <a:endParaRPr b="0" lang="en-IN" sz="4400" strike="noStrike" u="none">
              <a:solidFill>
                <a:srgbClr val="ffffff"/>
              </a:solidFill>
              <a:effectLst/>
              <a:uFillTx/>
              <a:latin typeface="Times New Roman"/>
            </a:endParaRPr>
          </a:p>
        </p:txBody>
      </p:sp>
      <p:sp>
        <p:nvSpPr>
          <p:cNvPr id="189" name="PlaceHolder 2"/>
          <p:cNvSpPr>
            <a:spLocks noGrp="1"/>
          </p:cNvSpPr>
          <p:nvPr>
            <p:ph/>
          </p:nvPr>
        </p:nvSpPr>
        <p:spPr>
          <a:xfrm>
            <a:off x="685800" y="1905120"/>
            <a:ext cx="7848720" cy="44193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The State of Indiana uses the following retirement options: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Casualty Loss</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Disposal Due to Theft - (police report filed)</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Duplicate Asset </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Missing Asset</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Retirement by Sale</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Scrapped Asset  - (no value to surplus)</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State Surplus </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Traded In for Another Asset</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Accounting entries are automatically generated based on the retirement option selected</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1C9298E-DF59-4AB8-842C-DBC31F2F2067}"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91"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Retirement Warning</a:t>
            </a:r>
            <a:endParaRPr b="0" lang="en-IN" sz="4400" strike="noStrike" u="none">
              <a:solidFill>
                <a:srgbClr val="ffffff"/>
              </a:solidFill>
              <a:effectLst/>
              <a:uFillTx/>
              <a:latin typeface="Times New Roman"/>
            </a:endParaRPr>
          </a:p>
        </p:txBody>
      </p:sp>
      <p:sp>
        <p:nvSpPr>
          <p:cNvPr id="192" name="PlaceHolder 2"/>
          <p:cNvSpPr>
            <a:spLocks noGrp="1"/>
          </p:cNvSpPr>
          <p:nvPr>
            <p:ph/>
          </p:nvPr>
        </p:nvSpPr>
        <p:spPr>
          <a:xfrm>
            <a:off x="685800" y="1904760"/>
            <a:ext cx="7848720" cy="34290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Retirements – cautionary notes: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Assets can be retired, even if unprocessed Financial Transactions exist </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Once retired, Financial Transactions can not be Finalized</a:t>
            </a:r>
            <a:endParaRPr b="0" lang="en-IN" sz="1800" strike="noStrike" u="none">
              <a:solidFill>
                <a:srgbClr val="000000"/>
              </a:solidFill>
              <a:effectLst/>
              <a:uFillTx/>
              <a:latin typeface="Arial"/>
            </a:endParaRPr>
          </a:p>
          <a:p>
            <a:pPr lvl="1" marL="743040"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Verify all Financial Transactions have a status of “Completed” prior to retiring any asset</a:t>
            </a:r>
            <a:endParaRPr b="0" lang="en-IN" sz="2400" strike="noStrike" u="none">
              <a:solidFill>
                <a:srgbClr val="000000"/>
              </a:solidFill>
              <a:effectLst/>
              <a:uFillTx/>
              <a:latin typeface="Arial"/>
            </a:endParaRPr>
          </a:p>
          <a:p>
            <a:pPr marL="343080" indent="0">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28584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600" strike="noStrike" u="none">
                <a:solidFill>
                  <a:srgbClr val="000000"/>
                </a:solidFill>
                <a:effectLst/>
                <a:uFillTx/>
                <a:latin typeface="Arial"/>
              </a:rPr>
              <a:t>Navigation:  Asset Management &gt; Asset Transactions &gt; Financial Transactions &gt; Review Transfer/Adj. Approvals</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BBA608-5465-4A41-B3F3-0D77A31B4171}"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94"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Reinstating Assets</a:t>
            </a:r>
            <a:endParaRPr b="0" lang="en-IN" sz="4400" strike="noStrike" u="none">
              <a:solidFill>
                <a:srgbClr val="ffffff"/>
              </a:solidFill>
              <a:effectLst/>
              <a:uFillTx/>
              <a:latin typeface="Times New Roman"/>
            </a:endParaRPr>
          </a:p>
        </p:txBody>
      </p:sp>
      <p:sp>
        <p:nvSpPr>
          <p:cNvPr id="195" name="PlaceHolder 2"/>
          <p:cNvSpPr>
            <a:spLocks noGrp="1"/>
          </p:cNvSpPr>
          <p:nvPr>
            <p:ph/>
          </p:nvPr>
        </p:nvSpPr>
        <p:spPr>
          <a:xfrm>
            <a:off x="1142640" y="1905120"/>
            <a:ext cx="7086600" cy="30477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Reinstatement can be used on retired Assets: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To correct errors</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To place an asset back in service</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When reinstatement occurs: </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All journal entries created for retired asset are reversed</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If depreciation has not processed for the retired asset, reinstatement will remove the RET transaction from the  Cost table</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84A9920-72F0-4FBF-A0CC-6241CABD247E}"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97"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Retirements/Reinstatements</a:t>
            </a:r>
            <a:endParaRPr b="0" lang="en-IN" sz="4400" strike="noStrike" u="none">
              <a:solidFill>
                <a:srgbClr val="ffffff"/>
              </a:solidFill>
              <a:effectLst/>
              <a:uFillTx/>
              <a:latin typeface="Times New Roman"/>
            </a:endParaRPr>
          </a:p>
        </p:txBody>
      </p:sp>
      <p:sp>
        <p:nvSpPr>
          <p:cNvPr id="198" name="PlaceHolder 2"/>
          <p:cNvSpPr>
            <a:spLocks noGrp="1"/>
          </p:cNvSpPr>
          <p:nvPr>
            <p:ph/>
          </p:nvPr>
        </p:nvSpPr>
        <p:spPr>
          <a:xfrm>
            <a:off x="990360" y="1904760"/>
            <a:ext cx="7467480" cy="34290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When the Retirement/Reinstatement is saved:</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Asset status is immediately changed</a:t>
            </a:r>
            <a:endParaRPr b="0" lang="en-IN" sz="1800" strike="noStrike" u="none">
              <a:solidFill>
                <a:srgbClr val="000000"/>
              </a:solidFill>
              <a:effectLst/>
              <a:uFillTx/>
              <a:latin typeface="Arial"/>
            </a:endParaRPr>
          </a:p>
          <a:p>
            <a:pPr lvl="2" marL="1143000" indent="-228600">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Retirement – status changes to “Disposed”</a:t>
            </a:r>
            <a:endParaRPr b="0" lang="en-IN" sz="1400" strike="noStrike" u="none">
              <a:solidFill>
                <a:srgbClr val="000000"/>
              </a:solidFill>
              <a:effectLst/>
              <a:uFillTx/>
              <a:latin typeface="Arial"/>
            </a:endParaRPr>
          </a:p>
          <a:p>
            <a:pPr lvl="2" marL="1143000" indent="-228600">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Reinstatement – status changes to “In Service”</a:t>
            </a:r>
            <a:endParaRPr b="0" lang="en-IN" sz="1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Asset is automatically placed into workflow </a:t>
            </a:r>
            <a:endParaRPr b="0" lang="en-IN" sz="1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If the retirement/reinstatement is denied:</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Asset status does not automatically return to previous status</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AM Entry must take necessary action to change the status</a:t>
            </a:r>
            <a:endParaRPr b="0" lang="en-IN" sz="1800" strike="noStrike" u="none">
              <a:solidFill>
                <a:srgbClr val="000000"/>
              </a:solidFill>
              <a:effectLst/>
              <a:uFillTx/>
              <a:latin typeface="Arial"/>
            </a:endParaRPr>
          </a:p>
          <a:p>
            <a:pPr lvl="2" marL="1143000" indent="-228600">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Denied Retirement = Reinstate the asset</a:t>
            </a:r>
            <a:endParaRPr b="0" lang="en-IN" sz="1400" strike="noStrike" u="none">
              <a:solidFill>
                <a:srgbClr val="000000"/>
              </a:solidFill>
              <a:effectLst/>
              <a:uFillTx/>
              <a:latin typeface="Arial"/>
            </a:endParaRPr>
          </a:p>
          <a:p>
            <a:pPr lvl="2" marL="1143000" indent="-228600">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Denied Reinstatement = Retire the asset</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AAD3A66-C633-43DC-B26D-00713724F33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00"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Disposal Worksheet</a:t>
            </a:r>
            <a:endParaRPr b="0" lang="en-IN" sz="4400" strike="noStrike" u="none">
              <a:solidFill>
                <a:srgbClr val="ffffff"/>
              </a:solidFill>
              <a:effectLst/>
              <a:uFillTx/>
              <a:latin typeface="Times New Roman"/>
            </a:endParaRPr>
          </a:p>
        </p:txBody>
      </p:sp>
      <p:sp>
        <p:nvSpPr>
          <p:cNvPr id="201" name="PlaceHolder 2"/>
          <p:cNvSpPr>
            <a:spLocks noGrp="1"/>
          </p:cNvSpPr>
          <p:nvPr>
            <p:ph/>
          </p:nvPr>
        </p:nvSpPr>
        <p:spPr>
          <a:xfrm>
            <a:off x="990360" y="1905120"/>
            <a:ext cx="7467480" cy="36576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Disposal Worksheet is used to:</a:t>
            </a: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Dispose of several assets at one time</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Dispose of assets that have common data, such as: </a:t>
            </a:r>
            <a:r>
              <a:rPr b="1" lang="en-US" sz="1800" strike="noStrike" u="none">
                <a:solidFill>
                  <a:srgbClr val="000000"/>
                </a:solidFill>
                <a:effectLst/>
                <a:uFillTx/>
                <a:latin typeface="Arial"/>
              </a:rPr>
              <a:t>P</a:t>
            </a:r>
            <a:r>
              <a:rPr b="0" lang="en-US" sz="2000" strike="noStrike" u="none">
                <a:solidFill>
                  <a:srgbClr val="000000"/>
                </a:solidFill>
                <a:effectLst/>
                <a:uFillTx/>
                <a:latin typeface="Arial"/>
              </a:rPr>
              <a:t>rofile ID, Category, Department, etc.</a:t>
            </a:r>
            <a:endParaRPr b="0" lang="en-IN" sz="20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Three step process:</a:t>
            </a:r>
            <a:endParaRPr b="0" lang="en-IN" sz="24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Select Assets for Disposal</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Approve Disposal Worksheet</a:t>
            </a:r>
            <a:endParaRPr b="0" lang="en-IN" sz="1800" strike="noStrike" u="none">
              <a:solidFill>
                <a:srgbClr val="000000"/>
              </a:solidFill>
              <a:effectLst/>
              <a:uFillTx/>
              <a:latin typeface="Arial"/>
            </a:endParaRPr>
          </a:p>
          <a:p>
            <a:pPr lvl="1" marL="743040" indent="-28584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Process the Transaction Loader</a:t>
            </a:r>
            <a:endParaRPr b="0" lang="en-IN" sz="1800" strike="noStrike" u="none">
              <a:solidFill>
                <a:srgbClr val="000000"/>
              </a:solidFill>
              <a:effectLst/>
              <a:uFillTx/>
              <a:latin typeface="Arial"/>
            </a:endParaRPr>
          </a:p>
          <a:p>
            <a:pPr lvl="2" marL="1143000" indent="-228600">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Locate the Interface ID</a:t>
            </a:r>
            <a:endParaRPr b="0" lang="en-IN" sz="1400" strike="noStrike" u="none">
              <a:solidFill>
                <a:srgbClr val="000000"/>
              </a:solidFill>
              <a:effectLst/>
              <a:uFillTx/>
              <a:latin typeface="Arial"/>
            </a:endParaRPr>
          </a:p>
          <a:p>
            <a:pPr lvl="2" marL="1143000" indent="-228600">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Process the Transaction Loader</a:t>
            </a:r>
            <a:endParaRPr b="0" lang="en-IN" sz="1400" strike="noStrike" u="none">
              <a:solidFill>
                <a:srgbClr val="000000"/>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C723188-3262-41C4-AA91-6C2D58C0D111}"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03"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Demo and Exercises</a:t>
            </a:r>
            <a:endParaRPr b="0" lang="en-IN" sz="4400" strike="noStrike" u="none">
              <a:solidFill>
                <a:srgbClr val="ffffff"/>
              </a:solidFill>
              <a:effectLst/>
              <a:uFillTx/>
              <a:latin typeface="Times New Roman"/>
            </a:endParaRPr>
          </a:p>
        </p:txBody>
      </p:sp>
      <p:sp>
        <p:nvSpPr>
          <p:cNvPr id="204" name="PlaceHolder 2"/>
          <p:cNvSpPr>
            <a:spLocks noGrp="1"/>
          </p:cNvSpPr>
          <p:nvPr>
            <p:ph/>
          </p:nvPr>
        </p:nvSpPr>
        <p:spPr>
          <a:xfrm>
            <a:off x="990720" y="1905120"/>
            <a:ext cx="7315200" cy="39621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Are there any questions?</a:t>
            </a:r>
            <a:endParaRPr b="0" lang="en-IN" sz="2800" strike="noStrike" u="none">
              <a:solidFill>
                <a:srgbClr val="000000"/>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Demonstration</a:t>
            </a:r>
            <a:endParaRPr b="0" lang="en-IN" sz="2800" strike="noStrike" u="none">
              <a:solidFill>
                <a:srgbClr val="000000"/>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Exercises</a:t>
            </a:r>
            <a:endParaRPr b="0" lang="en-IN" sz="28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9 – Retire an Asset</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 10 – Reinstate an Asset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685440" y="1905120"/>
            <a:ext cx="8001000" cy="9144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Chapter  2</a:t>
            </a:r>
            <a:br>
              <a:rPr sz="3200"/>
            </a:br>
            <a:r>
              <a:rPr b="0" lang="en-US" sz="3200" strike="noStrike" u="none">
                <a:solidFill>
                  <a:srgbClr val="ffffff"/>
                </a:solidFill>
                <a:effectLst/>
                <a:uFillTx/>
                <a:latin typeface="Times New Roman"/>
              </a:rPr>
              <a:t>Integrating with PeopleSoft Procurement</a:t>
            </a:r>
            <a:endParaRPr b="0" lang="en-IN" sz="3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FFAA52-E4D7-4448-88B9-1F1D56C669B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07"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Asset Details</a:t>
            </a:r>
            <a:endParaRPr b="0" lang="en-IN" sz="4400" strike="noStrike" u="none">
              <a:solidFill>
                <a:srgbClr val="ffffff"/>
              </a:solidFill>
              <a:effectLst/>
              <a:uFillTx/>
              <a:latin typeface="Times New Roman"/>
            </a:endParaRPr>
          </a:p>
        </p:txBody>
      </p:sp>
      <p:sp>
        <p:nvSpPr>
          <p:cNvPr id="208" name="PlaceHolder 2"/>
          <p:cNvSpPr>
            <a:spLocks noGrp="1"/>
          </p:cNvSpPr>
          <p:nvPr>
            <p:ph/>
          </p:nvPr>
        </p:nvSpPr>
        <p:spPr>
          <a:xfrm>
            <a:off x="1143000" y="1904760"/>
            <a:ext cx="6934320" cy="37335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 Information Tab can be found on:</a:t>
            </a:r>
            <a:endParaRPr b="0" lang="en-IN" sz="2400" strike="noStrike" u="none">
              <a:solidFill>
                <a:srgbClr val="000000"/>
              </a:solidFill>
              <a:effectLst/>
              <a:uFillTx/>
              <a:latin typeface="Arial"/>
            </a:endParaRPr>
          </a:p>
          <a:p>
            <a:pPr lvl="1" marL="743040" indent="-28584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Requisition, Purchasing, Receiving and Accounts Payable pages</a:t>
            </a:r>
            <a:endParaRPr b="0" lang="en-IN" sz="20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 Information Tab contains:</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Business Unit, Asset ID and Profile ID</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PO Receipt pages contains:</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Tag Number, Location and Custodian</a:t>
            </a:r>
            <a:endParaRPr b="0" lang="en-IN" sz="1800" strike="noStrike" u="none">
              <a:solidFill>
                <a:srgbClr val="000000"/>
              </a:solidFill>
              <a:effectLst/>
              <a:uFillTx/>
              <a:latin typeface="Arial"/>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r>
              <a:rPr b="0" lang="en-US" sz="1800" strike="noStrike" u="none">
                <a:solidFill>
                  <a:srgbClr val="000000"/>
                </a:solidFill>
                <a:effectLst/>
                <a:uFillTx/>
                <a:latin typeface="Arial"/>
              </a:rPr>
              <a:t>Note – Asset Information will default in from the interfacing modules.  However, interfaced data can be overwritten.</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B58CA1F-B2A6-49BC-93D2-F2BB67C7600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10"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Appendix</a:t>
            </a:r>
            <a:endParaRPr b="0" lang="en-IN" sz="4000" strike="noStrike" u="none">
              <a:solidFill>
                <a:srgbClr val="ffffff"/>
              </a:solidFill>
              <a:effectLst/>
              <a:uFillTx/>
              <a:latin typeface="Times New Roman"/>
            </a:endParaRPr>
          </a:p>
        </p:txBody>
      </p:sp>
      <p:sp>
        <p:nvSpPr>
          <p:cNvPr id="211" name="PlaceHolder 2"/>
          <p:cNvSpPr>
            <a:spLocks noGrp="1"/>
          </p:cNvSpPr>
          <p:nvPr>
            <p:ph/>
          </p:nvPr>
        </p:nvSpPr>
        <p:spPr>
          <a:xfrm>
            <a:off x="990360" y="1905120"/>
            <a:ext cx="7391160" cy="3962160"/>
          </a:xfrm>
          <a:prstGeom prst="rect">
            <a:avLst/>
          </a:prstGeom>
          <a:solidFill>
            <a:srgbClr val="eaeaea">
              <a:alpha val="90000"/>
            </a:srgbClr>
          </a:solidFill>
          <a:ln w="31680">
            <a:solidFill>
              <a:srgbClr val="ffffff"/>
            </a:solidFill>
            <a:miter/>
          </a:ln>
        </p:spPr>
        <p:txBody>
          <a:bodyPr lIns="91440" rIns="91440" tIns="45720" bIns="45720" anchor="t">
            <a:normAutofit/>
          </a:bodyPr>
          <a:p>
            <a:pPr marL="380880" indent="-3808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 manual contains an appendix detailing where Asset Information is located for:</a:t>
            </a:r>
            <a:endParaRPr b="0" lang="en-IN" sz="2400" strike="noStrike" u="none">
              <a:solidFill>
                <a:srgbClr val="000000"/>
              </a:solidFill>
              <a:effectLst/>
              <a:uFillTx/>
              <a:latin typeface="Arial"/>
            </a:endParaRPr>
          </a:p>
          <a:p>
            <a:pPr lvl="1" marL="800280" indent="-34308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Requisition</a:t>
            </a:r>
            <a:endParaRPr b="0" lang="en-IN" sz="1800" strike="noStrike" u="none">
              <a:solidFill>
                <a:srgbClr val="000000"/>
              </a:solidFill>
              <a:effectLst/>
              <a:uFillTx/>
              <a:latin typeface="Arial"/>
            </a:endParaRPr>
          </a:p>
          <a:p>
            <a:pPr lvl="1" marL="800280" indent="-34308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Purchase Order</a:t>
            </a:r>
            <a:endParaRPr b="0" lang="en-IN" sz="1800" strike="noStrike" u="none">
              <a:solidFill>
                <a:srgbClr val="000000"/>
              </a:solidFill>
              <a:effectLst/>
              <a:uFillTx/>
              <a:latin typeface="Arial"/>
            </a:endParaRPr>
          </a:p>
          <a:p>
            <a:pPr lvl="1" marL="800280" indent="-34308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Receipt</a:t>
            </a:r>
            <a:endParaRPr b="0" lang="en-IN" sz="1800" strike="noStrike" u="none">
              <a:solidFill>
                <a:srgbClr val="000000"/>
              </a:solidFill>
              <a:effectLst/>
              <a:uFillTx/>
              <a:latin typeface="Arial"/>
            </a:endParaRPr>
          </a:p>
          <a:p>
            <a:pPr lvl="1" marL="800280" indent="-34308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Voucher</a:t>
            </a:r>
            <a:endParaRPr b="0" lang="en-IN" sz="1800" strike="noStrike" u="none">
              <a:solidFill>
                <a:srgbClr val="000000"/>
              </a:solidFill>
              <a:effectLst/>
              <a:uFillTx/>
              <a:latin typeface="Arial"/>
            </a:endParaRPr>
          </a:p>
          <a:p>
            <a:pPr marL="380880" indent="-3808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 manual is located on the ENCOMPASS Website, along with the other training materials:</a:t>
            </a:r>
            <a:endParaRPr b="0" lang="en-IN" sz="2400" strike="noStrike" u="none">
              <a:solidFill>
                <a:srgbClr val="000000"/>
              </a:solidFill>
              <a:effectLst/>
              <a:uFillTx/>
              <a:latin typeface="Arial"/>
            </a:endParaRPr>
          </a:p>
          <a:p>
            <a:pPr lvl="1" marL="800280" indent="-34308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sng">
                <a:solidFill>
                  <a:srgbClr val="009999"/>
                </a:solidFill>
                <a:effectLst/>
                <a:uFillTx/>
                <a:latin typeface="Arial"/>
                <a:hlinkClick r:id="rId1"/>
              </a:rPr>
              <a:t>https://myshare.in.gov/sba/encompass/default.aspx</a:t>
            </a:r>
            <a:endParaRPr b="0" lang="en-IN" sz="1800" strike="noStrike" u="none">
              <a:solidFill>
                <a:srgbClr val="000000"/>
              </a:solidFill>
              <a:effectLst/>
              <a:uFillTx/>
              <a:latin typeface="Arial"/>
            </a:endParaRPr>
          </a:p>
          <a:p>
            <a:pPr lvl="1" marL="800280" indent="-34308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AP Training documents: ENCOMPASS &gt; ENCOMPASS Documents &gt; Training &gt; Asset Management Class &gt; AM Course Manuals</a:t>
            </a:r>
            <a:endParaRPr b="0" lang="en-IN" sz="1800" strike="noStrike" u="none">
              <a:solidFill>
                <a:srgbClr val="000000"/>
              </a:solidFill>
              <a:effectLst/>
              <a:uFillTx/>
              <a:latin typeface="Arial"/>
            </a:endParaRPr>
          </a:p>
          <a:p>
            <a:pPr lvl="1" marL="800280" indent="0">
              <a:lnSpc>
                <a:spcPct val="90000"/>
              </a:lnSpc>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6970B47-9B6F-44A8-B5D8-1AE31CE67FB6}"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13"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Interfaces</a:t>
            </a:r>
            <a:endParaRPr b="0" lang="en-IN" sz="4400" strike="noStrike" u="none">
              <a:solidFill>
                <a:srgbClr val="ffffff"/>
              </a:solidFill>
              <a:effectLst/>
              <a:uFillTx/>
              <a:latin typeface="Times New Roman"/>
            </a:endParaRPr>
          </a:p>
        </p:txBody>
      </p:sp>
      <p:sp>
        <p:nvSpPr>
          <p:cNvPr id="214" name="PlaceHolder 2"/>
          <p:cNvSpPr>
            <a:spLocks noGrp="1"/>
          </p:cNvSpPr>
          <p:nvPr>
            <p:ph/>
          </p:nvPr>
        </p:nvSpPr>
        <p:spPr>
          <a:xfrm>
            <a:off x="1143000" y="1905120"/>
            <a:ext cx="6934320" cy="41148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Asset Status created by the Interface:</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PO Receipt adds the Asset Status of “Received (Not in Service)”</a:t>
            </a:r>
            <a:endParaRPr b="0" lang="en-IN" sz="18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AP Voucher automatically capitalizes the asset for the voucher amount and changes the Asset Status to “In Service”</a:t>
            </a:r>
            <a:endParaRPr b="0" lang="en-IN" sz="1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Interfaces process automatically</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AM Entry Users can process the interfaces manually</a:t>
            </a:r>
            <a:endParaRPr b="0" lang="en-IN" sz="1800" strike="noStrike" u="none">
              <a:solidFill>
                <a:srgbClr val="000000"/>
              </a:solidFill>
              <a:effectLst/>
              <a:uFillTx/>
              <a:latin typeface="Arial"/>
            </a:endParaRPr>
          </a:p>
          <a:p>
            <a:pPr lvl="1" marL="74304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Four steps to interface Receipts/Vouchers into Asset Management:</a:t>
            </a:r>
            <a:endParaRPr b="0" lang="en-IN" sz="2400" strike="noStrike" u="none">
              <a:solidFill>
                <a:srgbClr val="000000"/>
              </a:solidFill>
              <a:effectLst/>
              <a:uFillTx/>
              <a:latin typeface="Arial"/>
            </a:endParaRPr>
          </a:p>
          <a:p>
            <a:pPr lvl="1" marL="743040" indent="-28584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Pre-Interface tables, Interface Loader, Consolidate /  Unitize, and Transaction Loader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Slide Number Placeholder 6"/>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F50B68F-3746-42CB-8105-3D4722D4508C}"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16"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Integration Process Flow</a:t>
            </a:r>
            <a:br>
              <a:rPr sz="4400"/>
            </a:br>
            <a:endParaRPr b="0" lang="en-IN" sz="4400" strike="noStrike" u="none">
              <a:solidFill>
                <a:srgbClr val="ffffff"/>
              </a:solidFill>
              <a:effectLst/>
              <a:uFillTx/>
              <a:latin typeface="Times New Roman"/>
            </a:endParaRPr>
          </a:p>
        </p:txBody>
      </p:sp>
      <p:sp>
        <p:nvSpPr>
          <p:cNvPr id="217" name="PlaceHolder 2"/>
          <p:cNvSpPr>
            <a:spLocks noGrp="1"/>
          </p:cNvSpPr>
          <p:nvPr>
            <p:ph/>
          </p:nvPr>
        </p:nvSpPr>
        <p:spPr>
          <a:xfrm>
            <a:off x="914400" y="1904760"/>
            <a:ext cx="7391520" cy="43434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 </a:t>
            </a:r>
            <a:endParaRPr b="0" lang="en-IN" sz="2000" strike="noStrike" u="none">
              <a:solidFill>
                <a:srgbClr val="000000"/>
              </a:solidFill>
              <a:effectLst/>
              <a:uFillTx/>
              <a:latin typeface="Arial"/>
            </a:endParaRPr>
          </a:p>
        </p:txBody>
      </p:sp>
      <p:graphicFrame>
        <p:nvGraphicFramePr>
          <p:cNvPr id="218" name="Object 4"/>
          <p:cNvGraphicFramePr/>
          <p:nvPr/>
        </p:nvGraphicFramePr>
        <p:xfrm>
          <a:off x="1066680" y="1981080"/>
          <a:ext cx="7010640" cy="4253040"/>
        </p:xfrm>
        <a:graphic>
          <a:graphicData uri="http://schemas.openxmlformats.org/presentationml/2006/ole">
            <p:oleObj r:id="rId1" spid="">
              <p:embed/>
              <p:pic>
                <p:nvPicPr>
                  <p:cNvPr id="219" name="Object 4" descr=""/>
                  <p:cNvPicPr/>
                  <p:nvPr/>
                </p:nvPicPr>
                <p:blipFill>
                  <a:blip r:embed="rId2"/>
                  <a:stretch/>
                </p:blipFill>
                <p:spPr>
                  <a:xfrm>
                    <a:off x="1066680" y="1981080"/>
                    <a:ext cx="7010640" cy="425304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446CB7-C600-49B5-B65D-C0B6F7223802}"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21"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Integration</a:t>
            </a:r>
            <a:endParaRPr b="0" lang="en-IN" sz="4400" strike="noStrike" u="none">
              <a:solidFill>
                <a:srgbClr val="ffffff"/>
              </a:solidFill>
              <a:effectLst/>
              <a:uFillTx/>
              <a:latin typeface="Times New Roman"/>
            </a:endParaRPr>
          </a:p>
        </p:txBody>
      </p:sp>
      <p:sp>
        <p:nvSpPr>
          <p:cNvPr id="222" name="PlaceHolder 2"/>
          <p:cNvSpPr>
            <a:spLocks noGrp="1"/>
          </p:cNvSpPr>
          <p:nvPr>
            <p:ph/>
          </p:nvPr>
        </p:nvSpPr>
        <p:spPr>
          <a:xfrm>
            <a:off x="837720" y="1905120"/>
            <a:ext cx="7543800" cy="39621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Four integration steps involved:</a:t>
            </a: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Step 1 involves pushing the Receipt or Voucher information from Procurement into AM.  It will process automatically.</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Step 2 is the Interface Loader.  It pulls information from the Pre-Interface table and populates the Physical and Financial tables.  It will process automatically.</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Step 3 is Consolidation/Unitization.  This is manually controlled and must be processed prior to Step 4.</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Step 4 is the Transaction Loader.  It creates the asset.  It will process automatically.</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C524B5E-77F5-4008-9D5F-FCFE52C1E212}"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24"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Consolidate / Unitize</a:t>
            </a:r>
            <a:endParaRPr b="0" lang="en-IN" sz="4400" strike="noStrike" u="none">
              <a:solidFill>
                <a:srgbClr val="ffffff"/>
              </a:solidFill>
              <a:effectLst/>
              <a:uFillTx/>
              <a:latin typeface="Times New Roman"/>
            </a:endParaRPr>
          </a:p>
        </p:txBody>
      </p:sp>
      <p:sp>
        <p:nvSpPr>
          <p:cNvPr id="225" name="PlaceHolder 2"/>
          <p:cNvSpPr>
            <a:spLocks noGrp="1"/>
          </p:cNvSpPr>
          <p:nvPr>
            <p:ph/>
          </p:nvPr>
        </p:nvSpPr>
        <p:spPr>
          <a:xfrm>
            <a:off x="1143000" y="1904760"/>
            <a:ext cx="6934320" cy="34290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Consolidation is used to combine several components into a single asset. </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Unitization is used to convert asset lines from PO Receipts or Vouchers with multiple asset quantities into separate assets having a quantity of one.</a:t>
            </a: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Consolidation / Unitization must be completed prior to processing the Transaction Loader.</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CE53FB3-030C-4816-AB52-6D7362328461}"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27"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Demo and Exercises</a:t>
            </a:r>
            <a:endParaRPr b="0" lang="en-IN" sz="4400" strike="noStrike" u="none">
              <a:solidFill>
                <a:srgbClr val="ffffff"/>
              </a:solidFill>
              <a:effectLst/>
              <a:uFillTx/>
              <a:latin typeface="Times New Roman"/>
            </a:endParaRPr>
          </a:p>
        </p:txBody>
      </p:sp>
      <p:sp>
        <p:nvSpPr>
          <p:cNvPr id="228" name="PlaceHolder 2"/>
          <p:cNvSpPr>
            <a:spLocks noGrp="1"/>
          </p:cNvSpPr>
          <p:nvPr>
            <p:ph/>
          </p:nvPr>
        </p:nvSpPr>
        <p:spPr>
          <a:xfrm>
            <a:off x="990720" y="1905120"/>
            <a:ext cx="7315200" cy="40384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Are there any questions?</a:t>
            </a: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Demonstration</a:t>
            </a: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Exercises</a:t>
            </a: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Exercise 11 – Unitization of Assets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Exercise 12 – Consolidation of Assts</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	</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685440" y="1904760"/>
            <a:ext cx="7924680" cy="99036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Chapter  6</a:t>
            </a:r>
            <a:br>
              <a:rPr sz="3200"/>
            </a:br>
            <a:r>
              <a:rPr b="0" lang="en-US" sz="3200" strike="noStrike" u="none">
                <a:solidFill>
                  <a:srgbClr val="ffffff"/>
                </a:solidFill>
                <a:effectLst/>
                <a:uFillTx/>
                <a:latin typeface="Times New Roman"/>
              </a:rPr>
              <a:t>Maintaining Parent-Child Assets</a:t>
            </a:r>
            <a:endParaRPr b="0" lang="en-IN" sz="3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09E848-8DE4-40DA-9352-7986738C6C0E}"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31"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Parent-Child Asset </a:t>
            </a:r>
            <a:br>
              <a:rPr sz="4000"/>
            </a:br>
            <a:r>
              <a:rPr b="0" lang="en-US" sz="4000" strike="noStrike" u="none">
                <a:solidFill>
                  <a:srgbClr val="ffffff"/>
                </a:solidFill>
                <a:effectLst/>
                <a:uFillTx/>
                <a:latin typeface="Times New Roman"/>
              </a:rPr>
              <a:t>Relationships</a:t>
            </a:r>
            <a:endParaRPr b="0" lang="en-IN" sz="4000" strike="noStrike" u="none">
              <a:solidFill>
                <a:srgbClr val="ffffff"/>
              </a:solidFill>
              <a:effectLst/>
              <a:uFillTx/>
              <a:latin typeface="Times New Roman"/>
            </a:endParaRPr>
          </a:p>
        </p:txBody>
      </p:sp>
      <p:sp>
        <p:nvSpPr>
          <p:cNvPr id="232" name="PlaceHolder 2"/>
          <p:cNvSpPr>
            <a:spLocks noGrp="1"/>
          </p:cNvSpPr>
          <p:nvPr>
            <p:ph/>
          </p:nvPr>
        </p:nvSpPr>
        <p:spPr>
          <a:xfrm>
            <a:off x="990720" y="1905120"/>
            <a:ext cx="7315200" cy="4114800"/>
          </a:xfrm>
          <a:prstGeom prst="rect">
            <a:avLst/>
          </a:prstGeom>
          <a:solidFill>
            <a:srgbClr val="eaeaea">
              <a:alpha val="90000"/>
            </a:srgbClr>
          </a:solidFill>
          <a:ln w="31680">
            <a:solidFill>
              <a:srgbClr val="ffffff"/>
            </a:solidFill>
            <a:miter/>
          </a:ln>
        </p:spPr>
        <p:txBody>
          <a:bodyPr lIns="91440" rIns="91440" tIns="45720" bIns="45720" anchor="t">
            <a:normAutofit/>
          </a:bodyPr>
          <a:p>
            <a:pPr marL="457200" indent="-457200">
              <a:lnSpc>
                <a:spcPct val="8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Parent-Child Assets:</a:t>
            </a:r>
            <a:endParaRPr b="0" lang="en-IN" sz="2400" strike="noStrike" u="none">
              <a:solidFill>
                <a:srgbClr val="000000"/>
              </a:solidFill>
              <a:effectLst/>
              <a:uFillTx/>
              <a:latin typeface="Arial"/>
            </a:endParaRPr>
          </a:p>
          <a:p>
            <a:pPr lvl="1" marL="838080" indent="-380880">
              <a:lnSpc>
                <a:spcPct val="8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Grouped together for processing and reporting</a:t>
            </a:r>
            <a:endParaRPr b="0" lang="en-IN" sz="2000" strike="noStrike" u="none">
              <a:solidFill>
                <a:srgbClr val="000000"/>
              </a:solidFill>
              <a:effectLst/>
              <a:uFillTx/>
              <a:latin typeface="Arial"/>
            </a:endParaRPr>
          </a:p>
          <a:p>
            <a:pPr lvl="1" marL="838080" indent="-380880">
              <a:lnSpc>
                <a:spcPct val="8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Three methods of grouping assets:</a:t>
            </a:r>
            <a:endParaRPr b="0" lang="en-IN" sz="2000" strike="noStrike" u="none">
              <a:solidFill>
                <a:srgbClr val="000000"/>
              </a:solidFill>
              <a:effectLst/>
              <a:uFillTx/>
              <a:latin typeface="Arial"/>
            </a:endParaRPr>
          </a:p>
          <a:p>
            <a:pPr lvl="2" marL="1257480" indent="-343080">
              <a:lnSpc>
                <a:spcPct val="80000"/>
              </a:lnSpc>
              <a:spcBef>
                <a:spcPts val="451"/>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Single asset with multiple acquisition detail lines for each component</a:t>
            </a:r>
            <a:endParaRPr b="0" lang="en-IN" sz="1800" strike="noStrike" u="none">
              <a:solidFill>
                <a:srgbClr val="000000"/>
              </a:solidFill>
              <a:effectLst/>
              <a:uFillTx/>
              <a:latin typeface="Arial"/>
            </a:endParaRPr>
          </a:p>
          <a:p>
            <a:pPr lvl="2" marL="1257480" indent="-343080">
              <a:lnSpc>
                <a:spcPct val="80000"/>
              </a:lnSpc>
              <a:spcBef>
                <a:spcPts val="451"/>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One component designated as the parent with the remaining components as child assets</a:t>
            </a:r>
            <a:endParaRPr b="0" lang="en-IN" sz="1800" strike="noStrike" u="none">
              <a:solidFill>
                <a:srgbClr val="000000"/>
              </a:solidFill>
              <a:effectLst/>
              <a:uFillTx/>
              <a:latin typeface="Arial"/>
            </a:endParaRPr>
          </a:p>
          <a:p>
            <a:pPr lvl="2" marL="1257480" indent="-343080">
              <a:lnSpc>
                <a:spcPct val="80000"/>
              </a:lnSpc>
              <a:spcBef>
                <a:spcPts val="400"/>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Parent only asset with each component as a child asset</a:t>
            </a:r>
            <a:r>
              <a:rPr b="0" lang="en-US" sz="1600" strike="noStrike" u="none">
                <a:solidFill>
                  <a:srgbClr val="000000"/>
                </a:solidFill>
                <a:effectLst/>
                <a:uFillTx/>
                <a:latin typeface="Arial"/>
              </a:rPr>
              <a:t> </a:t>
            </a:r>
            <a:endParaRPr b="0" lang="en-IN" sz="1600" strike="noStrike" u="none">
              <a:solidFill>
                <a:srgbClr val="000000"/>
              </a:solidFill>
              <a:effectLst/>
              <a:uFillTx/>
              <a:latin typeface="Arial"/>
            </a:endParaRPr>
          </a:p>
          <a:p>
            <a:pPr lvl="2" marL="1257480" indent="0">
              <a:lnSpc>
                <a:spcPct val="80000"/>
              </a:lnSpc>
              <a:spcBef>
                <a:spcPts val="201"/>
              </a:spcBef>
              <a:buNone/>
              <a:tabLst>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838080" indent="-380880">
              <a:lnSpc>
                <a:spcPct val="8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Each component can have its own cost, depreciation, and physical information</a:t>
            </a:r>
            <a:endParaRPr b="0" lang="en-IN" sz="2000" strike="noStrike" u="none">
              <a:solidFill>
                <a:srgbClr val="000000"/>
              </a:solidFill>
              <a:effectLst/>
              <a:uFillTx/>
              <a:latin typeface="Arial"/>
            </a:endParaRPr>
          </a:p>
          <a:p>
            <a:pPr marL="457200" indent="-45720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 </a:t>
            </a:r>
            <a:endParaRPr b="0" lang="en-IN" sz="1600" strike="noStrike" u="none">
              <a:solidFill>
                <a:srgbClr val="000000"/>
              </a:solidFill>
              <a:effectLst/>
              <a:uFillTx/>
              <a:latin typeface="Arial"/>
            </a:endParaRPr>
          </a:p>
          <a:p>
            <a:pPr marL="457200" indent="-45720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457200" indent="-45720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600" strike="noStrike" u="none">
                <a:solidFill>
                  <a:srgbClr val="000000"/>
                </a:solidFill>
                <a:effectLst/>
                <a:uFillTx/>
                <a:latin typeface="Arial"/>
              </a:rPr>
              <a:t>Navigation:  Asset Management &gt; Asset Transactions &gt; Parent-Child </a:t>
            </a:r>
            <a:r>
              <a:rPr b="1" i="1" lang="en-US" sz="1600" strike="noStrike" u="none">
                <a:solidFill>
                  <a:srgbClr val="000000"/>
                </a:solidFill>
                <a:effectLst/>
                <a:uFillTx/>
                <a:latin typeface="Arial"/>
              </a:rPr>
              <a:t>	</a:t>
            </a:r>
            <a:r>
              <a:rPr b="1" i="1" lang="en-US" sz="1600" strike="noStrike" u="none">
                <a:solidFill>
                  <a:srgbClr val="000000"/>
                </a:solidFill>
                <a:effectLst/>
                <a:uFillTx/>
                <a:latin typeface="Arial"/>
              </a:rPr>
              <a:t>     Relationship &gt; Review Parent - Child </a:t>
            </a:r>
            <a:endParaRPr b="0" lang="en-IN" sz="1600" strike="noStrike" u="none">
              <a:solidFill>
                <a:srgbClr val="000000"/>
              </a:solidFill>
              <a:effectLst/>
              <a:uFillTx/>
              <a:latin typeface="Arial"/>
            </a:endParaRPr>
          </a:p>
          <a:p>
            <a:pPr marL="457200" indent="0">
              <a:lnSpc>
                <a:spcPct val="8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3349E6A-D8F5-495D-B4E7-1E30C8123662}"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34"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Adding Parent-Child Assets</a:t>
            </a:r>
            <a:endParaRPr b="0" lang="en-IN" sz="4000" strike="noStrike" u="none">
              <a:solidFill>
                <a:srgbClr val="ffffff"/>
              </a:solidFill>
              <a:effectLst/>
              <a:uFillTx/>
              <a:latin typeface="Times New Roman"/>
            </a:endParaRPr>
          </a:p>
        </p:txBody>
      </p:sp>
      <p:sp>
        <p:nvSpPr>
          <p:cNvPr id="235" name="PlaceHolder 2"/>
          <p:cNvSpPr>
            <a:spLocks noGrp="1"/>
          </p:cNvSpPr>
          <p:nvPr>
            <p:ph/>
          </p:nvPr>
        </p:nvSpPr>
        <p:spPr>
          <a:xfrm>
            <a:off x="1143000" y="1904760"/>
            <a:ext cx="6934320" cy="29718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Parent-Child Assets are added via Basic Add</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Parent Asset must be established prior to assigning any Child Assets </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Child Assets can have a cost and depreciation independent of the Parent</a:t>
            </a: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Once established, special security is required to change a Parent-Child designation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38D3F00-5E32-41F8-8D39-4594D2DE7CC6}"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37"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Retiring Parent-Child Assets</a:t>
            </a:r>
            <a:endParaRPr b="0" lang="en-IN" sz="4400" strike="noStrike" u="none">
              <a:solidFill>
                <a:srgbClr val="ffffff"/>
              </a:solidFill>
              <a:effectLst/>
              <a:uFillTx/>
              <a:latin typeface="Times New Roman"/>
            </a:endParaRPr>
          </a:p>
        </p:txBody>
      </p:sp>
      <p:sp>
        <p:nvSpPr>
          <p:cNvPr id="238" name="PlaceHolder 2"/>
          <p:cNvSpPr>
            <a:spLocks noGrp="1"/>
          </p:cNvSpPr>
          <p:nvPr>
            <p:ph/>
          </p:nvPr>
        </p:nvSpPr>
        <p:spPr>
          <a:xfrm>
            <a:off x="1143000" y="1904760"/>
            <a:ext cx="6934320" cy="297180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Parent-Child Assets can be retired by:</a:t>
            </a: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Retiring the parent and all child assets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Retiring the parent and some child assets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Retiring just the child assets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Retiring just some of the child assets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Slide Number Placeholder 3"/>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02809B3-1963-4106-A835-24D43B300E9C}"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40"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Demonstration</a:t>
            </a:r>
            <a:endParaRPr b="0" lang="en-IN" sz="4400" strike="noStrike" u="none">
              <a:solidFill>
                <a:srgbClr val="ffffff"/>
              </a:solidFill>
              <a:effectLst/>
              <a:uFillTx/>
              <a:latin typeface="Times New Roman"/>
            </a:endParaRPr>
          </a:p>
        </p:txBody>
      </p:sp>
      <p:sp>
        <p:nvSpPr>
          <p:cNvPr id="241" name=""/>
          <p:cNvSpPr txBox="1"/>
          <p:nvPr/>
        </p:nvSpPr>
        <p:spPr>
          <a:xfrm>
            <a:off x="990720" y="1905120"/>
            <a:ext cx="7315200" cy="4038480"/>
          </a:xfrm>
          <a:prstGeom prst="rect">
            <a:avLst/>
          </a:prstGeom>
          <a:solidFill>
            <a:srgbClr val="eaeaea">
              <a:alpha val="90000"/>
            </a:srgbClr>
          </a:solidFill>
          <a:ln w="31680">
            <a:solidFill>
              <a:srgbClr val="ffffff"/>
            </a:solidFill>
            <a:miter/>
          </a:ln>
        </p:spPr>
        <p:txBody>
          <a:bodyPr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Are there any questions?</a:t>
            </a:r>
            <a:endParaRPr b="0" lang="en-IN" sz="2800" strike="noStrike" u="none">
              <a:solidFill>
                <a:srgbClr val="000000"/>
              </a:solidFill>
              <a:effectLst/>
              <a:uFillTx/>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Demonstration</a:t>
            </a:r>
            <a:endParaRPr b="0" lang="en-IN" sz="2800" strike="noStrike" u="none">
              <a:solidFill>
                <a:srgbClr val="000000"/>
              </a:solidFill>
              <a:effectLst/>
              <a:uFillTx/>
              <a:latin typeface="Arial"/>
            </a:endParaRPr>
          </a:p>
        </p:txBody>
      </p:sp>
      <p:sp>
        <p:nvSpPr>
          <p:cNvPr id="242"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61B2850-889C-493C-8647-EACF85FDA6E7}"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685440" y="1904760"/>
            <a:ext cx="7924680" cy="99036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Chapter  7</a:t>
            </a:r>
            <a:br>
              <a:rPr sz="3200"/>
            </a:br>
            <a:r>
              <a:rPr b="0" lang="en-US" sz="3200" strike="noStrike" u="none">
                <a:solidFill>
                  <a:srgbClr val="ffffff"/>
                </a:solidFill>
                <a:effectLst/>
                <a:uFillTx/>
                <a:latin typeface="Times New Roman"/>
              </a:rPr>
              <a:t>Correcting ChartField Errors</a:t>
            </a:r>
            <a:endParaRPr b="0" lang="en-IN" sz="3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11C4E4-0E57-4A67-9EE6-7DAF4CDD66B7}"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45"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ChartField Edit</a:t>
            </a:r>
            <a:endParaRPr b="0" lang="en-IN" sz="4000" strike="noStrike" u="none">
              <a:solidFill>
                <a:srgbClr val="ffffff"/>
              </a:solidFill>
              <a:effectLst/>
              <a:uFillTx/>
              <a:latin typeface="Times New Roman"/>
            </a:endParaRPr>
          </a:p>
        </p:txBody>
      </p:sp>
      <p:sp>
        <p:nvSpPr>
          <p:cNvPr id="246" name="PlaceHolder 2"/>
          <p:cNvSpPr>
            <a:spLocks noGrp="1"/>
          </p:cNvSpPr>
          <p:nvPr>
            <p:ph/>
          </p:nvPr>
        </p:nvSpPr>
        <p:spPr>
          <a:xfrm>
            <a:off x="1143000" y="1905120"/>
            <a:ext cx="6934320" cy="39621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 custom Chartfield Edit process was created to run after Accounting Entries are created to:</a:t>
            </a: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Validate ChartField values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Validate Chartfield combinations</a:t>
            </a: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Flag any Chartfield errors</a:t>
            </a:r>
            <a:endParaRPr b="0" lang="en-IN" sz="2000" strike="noStrike" u="none">
              <a:solidFill>
                <a:srgbClr val="000000"/>
              </a:solidFill>
              <a:effectLst/>
              <a:uFillTx/>
              <a:latin typeface="Arial"/>
            </a:endParaRPr>
          </a:p>
          <a:p>
            <a:pPr lvl="1" marL="743040" indent="0">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Line errors must be correct in order to post accounting information to General Ledger</a:t>
            </a:r>
            <a:endParaRPr b="0" lang="en-IN" sz="2400" strike="noStrike" u="none">
              <a:solidFill>
                <a:srgbClr val="000000"/>
              </a:solidFill>
              <a:effectLst/>
              <a:uFillTx/>
              <a:latin typeface="Arial"/>
            </a:endParaRPr>
          </a:p>
          <a:p>
            <a:pPr marL="343080" indent="0">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r>
              <a:rPr b="0" lang="en-US" sz="1800" strike="noStrike" u="none">
                <a:solidFill>
                  <a:srgbClr val="000000"/>
                </a:solidFill>
                <a:effectLst/>
                <a:uFillTx/>
                <a:latin typeface="Arial"/>
              </a:rPr>
              <a:t>Note – Agencies are responsibility for reviewing and correcting any identified ChartField errors at the end of each month.</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3A1F745-23F7-4A1A-BE82-C24C7A26FA34}"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48"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Demonstration</a:t>
            </a:r>
            <a:endParaRPr b="0" lang="en-IN" sz="4400" strike="noStrike" u="none">
              <a:solidFill>
                <a:srgbClr val="ffffff"/>
              </a:solidFill>
              <a:effectLst/>
              <a:uFillTx/>
              <a:latin typeface="Times New Roman"/>
            </a:endParaRPr>
          </a:p>
        </p:txBody>
      </p:sp>
      <p:sp>
        <p:nvSpPr>
          <p:cNvPr id="249" name="PlaceHolder 2"/>
          <p:cNvSpPr>
            <a:spLocks noGrp="1"/>
          </p:cNvSpPr>
          <p:nvPr>
            <p:ph/>
          </p:nvPr>
        </p:nvSpPr>
        <p:spPr>
          <a:xfrm>
            <a:off x="990720" y="1905120"/>
            <a:ext cx="7315200" cy="403848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Are there any questions?</a:t>
            </a:r>
            <a:endParaRPr b="0" lang="en-IN" sz="2800" strike="noStrike" u="none">
              <a:solidFill>
                <a:srgbClr val="000000"/>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Demonstration</a:t>
            </a:r>
            <a:endParaRPr b="0" lang="en-IN" sz="2800" strike="noStrike" u="none">
              <a:solidFill>
                <a:srgbClr val="000000"/>
              </a:solidFill>
              <a:effectLst/>
              <a:uFillTx/>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1890455-C702-4AA0-8DB8-44A83E896054}"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51"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Post Go Live Support</a:t>
            </a:r>
            <a:endParaRPr b="0" lang="en-IN" sz="4000" strike="noStrike" u="none">
              <a:solidFill>
                <a:srgbClr val="ffffff"/>
              </a:solidFill>
              <a:effectLst/>
              <a:uFillTx/>
              <a:latin typeface="Times New Roman"/>
            </a:endParaRPr>
          </a:p>
        </p:txBody>
      </p:sp>
      <p:sp>
        <p:nvSpPr>
          <p:cNvPr id="252" name="PlaceHolder 2"/>
          <p:cNvSpPr>
            <a:spLocks noGrp="1"/>
          </p:cNvSpPr>
          <p:nvPr>
            <p:ph/>
          </p:nvPr>
        </p:nvSpPr>
        <p:spPr>
          <a:xfrm>
            <a:off x="990360" y="1904760"/>
            <a:ext cx="7391160" cy="3352680"/>
          </a:xfrm>
          <a:prstGeom prst="rect">
            <a:avLst/>
          </a:prstGeom>
          <a:solidFill>
            <a:srgbClr val="eaeaea">
              <a:alpha val="90000"/>
            </a:srgbClr>
          </a:solidFill>
          <a:ln w="31680">
            <a:solidFill>
              <a:srgbClr val="ffffff"/>
            </a:solidFill>
            <a:miter/>
          </a:ln>
        </p:spPr>
        <p:txBody>
          <a:bodyPr lIns="91440" rIns="91440" tIns="45720" bIns="45720" anchor="t">
            <a:normAutofit/>
          </a:bodyPr>
          <a:p>
            <a:pPr marL="380880" indent="-3808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Post Go Live Support</a:t>
            </a:r>
            <a:endParaRPr b="0" lang="en-IN" sz="2400" strike="noStrike" u="none">
              <a:solidFill>
                <a:srgbClr val="000000"/>
              </a:solidFill>
              <a:effectLst/>
              <a:uFillTx/>
              <a:latin typeface="Arial"/>
            </a:endParaRPr>
          </a:p>
          <a:p>
            <a:pPr lvl="1" marL="8002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“Report an Issue” link on the Sign In page </a:t>
            </a:r>
            <a:endParaRPr b="0" lang="en-IN" sz="2000" strike="noStrike" u="none">
              <a:solidFill>
                <a:srgbClr val="000000"/>
              </a:solidFill>
              <a:effectLst/>
              <a:uFillTx/>
              <a:latin typeface="Arial"/>
            </a:endParaRPr>
          </a:p>
          <a:p>
            <a:pPr lvl="1" marL="8002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“Report an Issue” link under the ENCOMPASS menu </a:t>
            </a:r>
            <a:endParaRPr b="0" lang="en-IN" sz="2000" strike="noStrike" u="none">
              <a:solidFill>
                <a:srgbClr val="000000"/>
              </a:solidFill>
              <a:effectLst/>
              <a:uFillTx/>
              <a:latin typeface="Arial"/>
            </a:endParaRPr>
          </a:p>
          <a:p>
            <a:pPr lvl="1" marL="800280" indent="-34308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Call 317-234-HELP to create a helpdesk ticket</a:t>
            </a:r>
            <a:endParaRPr b="0" lang="en-IN" sz="2000" strike="noStrike" u="none">
              <a:solidFill>
                <a:srgbClr val="000000"/>
              </a:solidFill>
              <a:effectLst/>
              <a:uFillTx/>
              <a:latin typeface="Arial"/>
            </a:endParaRPr>
          </a:p>
          <a:p>
            <a:pPr lvl="1" marL="8002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80880" indent="-38088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Encompass Website</a:t>
            </a:r>
            <a:endParaRPr b="0" lang="en-IN" sz="2000" strike="noStrike" u="none">
              <a:solidFill>
                <a:srgbClr val="000000"/>
              </a:solidFill>
              <a:effectLst/>
              <a:uFillTx/>
              <a:latin typeface="Arial"/>
            </a:endParaRPr>
          </a:p>
          <a:p>
            <a:pPr lvl="1" marL="800280" indent="-34308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sng">
                <a:solidFill>
                  <a:srgbClr val="009999"/>
                </a:solidFill>
                <a:effectLst/>
                <a:uFillTx/>
                <a:latin typeface="Arial"/>
                <a:hlinkClick r:id="rId1"/>
              </a:rPr>
              <a:t>https://myshare.in.gov/sba/encompass/default.aspx</a:t>
            </a:r>
            <a:endParaRPr b="0" lang="en-IN" sz="1800" strike="noStrike" u="none">
              <a:solidFill>
                <a:srgbClr val="000000"/>
              </a:solidFill>
              <a:effectLst/>
              <a:uFillTx/>
              <a:latin typeface="Arial"/>
            </a:endParaRPr>
          </a:p>
          <a:p>
            <a:pPr lvl="1" marL="800280" indent="-343080">
              <a:lnSpc>
                <a:spcPct val="9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AP Training documents: ENCOMPASS &gt; ENCOMPASS Documents &gt; Training &gt; Asset Management Class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0B18347-C0F7-4573-8053-86C32E9A8D4D}"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54" name="PlaceHolder 1"/>
          <p:cNvSpPr>
            <a:spLocks noGrp="1"/>
          </p:cNvSpPr>
          <p:nvPr>
            <p:ph type="title"/>
          </p:nvPr>
        </p:nvSpPr>
        <p:spPr>
          <a:xfrm>
            <a:off x="1143000" y="609120"/>
            <a:ext cx="723888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Evaluations</a:t>
            </a:r>
            <a:endParaRPr b="0" lang="en-IN" sz="4400" strike="noStrike" u="none">
              <a:solidFill>
                <a:srgbClr val="ffffff"/>
              </a:solidFill>
              <a:effectLst/>
              <a:uFillTx/>
              <a:latin typeface="Times New Roman"/>
            </a:endParaRPr>
          </a:p>
        </p:txBody>
      </p:sp>
      <p:sp>
        <p:nvSpPr>
          <p:cNvPr id="255" name="PlaceHolder 2"/>
          <p:cNvSpPr>
            <a:spLocks noGrp="1"/>
          </p:cNvSpPr>
          <p:nvPr>
            <p:ph/>
          </p:nvPr>
        </p:nvSpPr>
        <p:spPr>
          <a:xfrm>
            <a:off x="1142640" y="1904760"/>
            <a:ext cx="7162920" cy="2819160"/>
          </a:xfrm>
          <a:prstGeom prst="rect">
            <a:avLst/>
          </a:prstGeom>
          <a:solidFill>
            <a:srgbClr val="eaeaea">
              <a:alpha val="90000"/>
            </a:srgbClr>
          </a:solidFill>
          <a:ln w="31680">
            <a:solidFill>
              <a:srgbClr val="ffffff"/>
            </a:solidFill>
            <a:miter/>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Arial"/>
              </a:rPr>
              <a:t>Course evaluation</a:t>
            </a:r>
            <a:endParaRPr b="0" lang="en-IN" sz="28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Please be honest</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Provide suggestions for improvements </a:t>
            </a:r>
            <a:endParaRPr b="0" lang="en-IN" sz="2400" strike="noStrike" u="none">
              <a:solidFill>
                <a:srgbClr val="000000"/>
              </a:solidFill>
              <a:effectLst/>
              <a:uFillTx/>
              <a:latin typeface="Arial"/>
            </a:endParaRPr>
          </a:p>
          <a:p>
            <a:pPr lvl="1" marL="743040" indent="-28584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Evaluations are used to adjust the class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Slide Number Placeholder 5"/>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C13DE25-E8D4-47EA-9B8A-1E4205CA9F39}"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57" name="PlaceHolder 1"/>
          <p:cNvSpPr>
            <a:spLocks noGrp="1"/>
          </p:cNvSpPr>
          <p:nvPr>
            <p:ph type="title"/>
          </p:nvPr>
        </p:nvSpPr>
        <p:spPr>
          <a:xfrm>
            <a:off x="380520" y="609480"/>
            <a:ext cx="8458200" cy="9144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trike="noStrike" u="none">
              <a:solidFill>
                <a:srgbClr val="ffffff"/>
              </a:solidFill>
              <a:effectLst/>
              <a:uFillTx/>
              <a:latin typeface="Times New Roman"/>
            </a:endParaRPr>
          </a:p>
        </p:txBody>
      </p:sp>
      <p:pic>
        <p:nvPicPr>
          <p:cNvPr id="258" name="Picture 4" descr="MCj01052180000[1]"/>
          <p:cNvPicPr/>
          <p:nvPr/>
        </p:nvPicPr>
        <p:blipFill>
          <a:blip r:embed="rId1"/>
          <a:stretch/>
        </p:blipFill>
        <p:spPr>
          <a:xfrm>
            <a:off x="2209680" y="990720"/>
            <a:ext cx="4489560" cy="51814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8763</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2007-11-15T08:52:26Z</dcterms:created>
  <dc:creator>Lori</dc:creator>
  <dc:description/>
  <dc:language>en-IN</dc:language>
  <cp:lastModifiedBy>patron</cp:lastModifiedBy>
  <dcterms:modified xsi:type="dcterms:W3CDTF">2009-11-20T11:04:04Z</dcterms:modified>
  <cp:revision>220</cp:revision>
  <dc:subject/>
  <dc:title>FINANCIAL SUNRISE</dc:title>
</cp:coreProperties>
</file>