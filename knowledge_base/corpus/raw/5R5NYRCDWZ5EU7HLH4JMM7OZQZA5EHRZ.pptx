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slideLayouts/slideLayout1.xml" ContentType="application/vnd.openxmlformats-officedocument.presentationml.slideLayout+xml"/>
  <Override PartName="/ppt/slideLayouts/_rels/slideLayout1.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_rels/slide1.xml.rels" ContentType="application/vnd.openxmlformats-package.relationships+xml"/>
  <Override PartName="/ppt/presProps.xml" ContentType="application/vnd.openxmlformats-officedocument.presentationml.presProps+xml"/>
  <Override PartName="/ppt/media/image1.wmf" ContentType="image/x-wmf"/>
  <Override PartName="/ppt/media/image4.jpeg" ContentType="image/jpeg"/>
  <Override PartName="/ppt/media/image2.jpeg" ContentType="image/jpeg"/>
  <Override PartName="/ppt/media/image8.png" ContentType="image/png"/>
  <Override PartName="/ppt/media/image3.jpeg" ContentType="image/jpeg"/>
  <Override PartName="/ppt/media/image5.jpeg" ContentType="image/jpeg"/>
  <Override PartName="/ppt/media/image6.jpeg" ContentType="image/jpeg"/>
  <Override PartName="/ppt/media/image7.jpeg" ContentType="image/jpeg"/>
  <Override PartName="/ppt/media/image9.wmf" ContentType="image/x-wmf"/>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9144000" cy="6858000"/>
  <p:notesSz cx="7008813" cy="9294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70079AE1-ADD5-44D1-B31A-E005B5529777}" type="slidenum">
              <a:t>&lt;#&gt;</a:t>
            </a:fld>
          </a:p>
        </p:txBody>
      </p:sp>
      <p:sp>
        <p:nvSpPr>
          <p:cNvPr id="4" name="PlaceHolder 3"/>
          <p:cNvSpPr>
            <a:spLocks noGrp="1"/>
          </p:cNvSpPr>
          <p:nvPr>
            <p:ph type="dt" idx="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Arial"/>
              </a:rPr>
              <a:t>Click to edit the title text format</a:t>
            </a:r>
            <a:endParaRPr b="0" lang="en-IN" sz="4400" strike="noStrike" u="none">
              <a:solidFill>
                <a:srgbClr val="000000"/>
              </a:solidFill>
              <a:effectLst/>
              <a:uFillTx/>
              <a:latin typeface="Arial"/>
            </a:endParaRPr>
          </a:p>
        </p:txBody>
      </p:sp>
      <p:sp>
        <p:nvSpPr>
          <p:cNvPr id="1"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Click to edit the outline text format</a:t>
            </a:r>
            <a:endParaRPr b="0" lang="en-IN" sz="3200" strike="noStrike" u="none">
              <a:solidFill>
                <a:srgbClr val="000000"/>
              </a:solidFill>
              <a:effectLst/>
              <a:uFillTx/>
              <a:latin typeface="Arial"/>
            </a:endParaRPr>
          </a:p>
          <a:p>
            <a:pPr lvl="1" marL="743040" indent="-28584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Second Outline Level</a:t>
            </a:r>
            <a:endParaRPr b="0" lang="en-IN" sz="3200" strike="noStrike" u="none">
              <a:solidFill>
                <a:srgbClr val="000000"/>
              </a:solidFill>
              <a:effectLst/>
              <a:uFillTx/>
              <a:latin typeface="Arial"/>
            </a:endParaRPr>
          </a:p>
          <a:p>
            <a:pPr lvl="2" marL="11430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Third Outline Level</a:t>
            </a:r>
            <a:endParaRPr b="0" lang="en-IN" sz="3200" strike="noStrike" u="none">
              <a:solidFill>
                <a:srgbClr val="000000"/>
              </a:solidFill>
              <a:effectLst/>
              <a:uFillTx/>
              <a:latin typeface="Arial"/>
            </a:endParaRPr>
          </a:p>
          <a:p>
            <a:pPr lvl="3" marL="16002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Fourth Outline Level</a:t>
            </a:r>
            <a:endParaRPr b="0" lang="en-IN" sz="3200" strike="noStrike" u="none">
              <a:solidFill>
                <a:srgbClr val="000000"/>
              </a:solidFill>
              <a:effectLst/>
              <a:uFillTx/>
              <a:latin typeface="Arial"/>
            </a:endParaRPr>
          </a:p>
          <a:p>
            <a:pPr lvl="4"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Fifth Outline Level</a:t>
            </a:r>
            <a:endParaRPr b="0" lang="en-IN" sz="3200" strike="noStrike" u="none">
              <a:solidFill>
                <a:srgbClr val="000000"/>
              </a:solidFill>
              <a:effectLst/>
              <a:uFillTx/>
              <a:latin typeface="Arial"/>
            </a:endParaRPr>
          </a:p>
          <a:p>
            <a:pPr lvl="5"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Sixth Outline Level</a:t>
            </a:r>
            <a:endParaRPr b="0" lang="en-IN" sz="3200" strike="noStrike" u="none">
              <a:solidFill>
                <a:srgbClr val="000000"/>
              </a:solidFill>
              <a:effectLst/>
              <a:uFillTx/>
              <a:latin typeface="Arial"/>
            </a:endParaRPr>
          </a:p>
          <a:p>
            <a:pPr lvl="6"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Seventh Outline Level</a:t>
            </a:r>
            <a:endParaRPr b="0" lang="en-IN" sz="3200" strike="noStrike" u="none">
              <a:solidFill>
                <a:srgbClr val="000000"/>
              </a:solidFill>
              <a:effectLst/>
              <a:uFillTx/>
              <a:latin typeface="Arial"/>
            </a:endParaRPr>
          </a:p>
        </p:txBody>
      </p:sp>
      <p:sp>
        <p:nvSpPr>
          <p:cNvPr id="2"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Arial"/>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&lt;date/time&gt;</a:t>
            </a:r>
            <a:endParaRPr b="0" lang="en-IN" sz="1400" strike="noStrike" u="none">
              <a:solidFill>
                <a:srgbClr val="000000"/>
              </a:solidFill>
              <a:effectLst/>
              <a:uFillTx/>
              <a:latin typeface="Arial"/>
            </a:endParaRPr>
          </a:p>
        </p:txBody>
      </p:sp>
      <p:sp>
        <p:nvSpPr>
          <p:cNvPr id="3"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Arial"/>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&lt;footer&gt;</a:t>
            </a:r>
            <a:endParaRPr b="0" lang="en-IN" sz="1400" strike="noStrike" u="none">
              <a:solidFill>
                <a:srgbClr val="000000"/>
              </a:solidFill>
              <a:effectLst/>
              <a:uFillTx/>
              <a:latin typeface="Arial"/>
            </a:endParaRPr>
          </a:p>
        </p:txBody>
      </p:sp>
      <p:sp>
        <p:nvSpPr>
          <p:cNvPr id="4"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00B6732-D544-444B-8FBF-D053905FC301}" type="slidenum">
              <a:rPr b="0" lang="en-IN"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wmf"/><Relationship Id="rId2" Type="http://schemas.openxmlformats.org/officeDocument/2006/relationships/image" Target="../media/image2.jpe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7.jpeg"/><Relationship Id="rId8" Type="http://schemas.openxmlformats.org/officeDocument/2006/relationships/image" Target="../media/image8.png"/><Relationship Id="rId9" Type="http://schemas.openxmlformats.org/officeDocument/2006/relationships/hyperlink" Target="file:///I:/Presentations/Documents%20and%20Settings/LAVER/Desktop/acronym.ppt" TargetMode="External"/><Relationship Id="rId10" Type="http://schemas.openxmlformats.org/officeDocument/2006/relationships/image" Target="../media/image9.wmf"/><Relationship Id="rId1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 name=""/>
          <p:cNvSpPr/>
          <p:nvPr/>
        </p:nvSpPr>
        <p:spPr>
          <a:xfrm>
            <a:off x="6934320" y="4800600"/>
            <a:ext cx="2057400" cy="1905120"/>
          </a:xfrm>
          <a:prstGeom prst="rect">
            <a:avLst/>
          </a:prstGeom>
          <a:solidFill>
            <a:srgbClr val="ccffff"/>
          </a:solidFill>
          <a:ln w="12600">
            <a:solidFill>
              <a:srgbClr val="3366ff"/>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6" name=""/>
          <p:cNvSpPr/>
          <p:nvPr/>
        </p:nvSpPr>
        <p:spPr>
          <a:xfrm>
            <a:off x="6934320" y="3048120"/>
            <a:ext cx="2057400" cy="1600200"/>
          </a:xfrm>
          <a:prstGeom prst="rect">
            <a:avLst/>
          </a:prstGeom>
          <a:solidFill>
            <a:srgbClr val="ccffff"/>
          </a:solidFill>
          <a:ln w="12600">
            <a:solidFill>
              <a:srgbClr val="3366ff"/>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7" name=""/>
          <p:cNvSpPr/>
          <p:nvPr/>
        </p:nvSpPr>
        <p:spPr>
          <a:xfrm>
            <a:off x="6934320" y="762120"/>
            <a:ext cx="2057400" cy="2133360"/>
          </a:xfrm>
          <a:prstGeom prst="rect">
            <a:avLst/>
          </a:prstGeom>
          <a:solidFill>
            <a:srgbClr val="ccffff"/>
          </a:solidFill>
          <a:ln w="12600">
            <a:solidFill>
              <a:srgbClr val="3366ff"/>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8" name=""/>
          <p:cNvSpPr/>
          <p:nvPr/>
        </p:nvSpPr>
        <p:spPr>
          <a:xfrm>
            <a:off x="4648320" y="4800600"/>
            <a:ext cx="2057400" cy="1905120"/>
          </a:xfrm>
          <a:prstGeom prst="rect">
            <a:avLst/>
          </a:prstGeom>
          <a:solidFill>
            <a:srgbClr val="ccffff"/>
          </a:solidFill>
          <a:ln w="12600">
            <a:solidFill>
              <a:srgbClr val="3366ff"/>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9" name=""/>
          <p:cNvSpPr/>
          <p:nvPr/>
        </p:nvSpPr>
        <p:spPr>
          <a:xfrm>
            <a:off x="4648320" y="2666880"/>
            <a:ext cx="2057400" cy="1981440"/>
          </a:xfrm>
          <a:prstGeom prst="rect">
            <a:avLst/>
          </a:prstGeom>
          <a:solidFill>
            <a:srgbClr val="ccffff"/>
          </a:solidFill>
          <a:ln w="12600">
            <a:solidFill>
              <a:srgbClr val="3366ff"/>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0" name=""/>
          <p:cNvSpPr/>
          <p:nvPr/>
        </p:nvSpPr>
        <p:spPr>
          <a:xfrm>
            <a:off x="4648320" y="762120"/>
            <a:ext cx="2057400" cy="1752480"/>
          </a:xfrm>
          <a:prstGeom prst="rect">
            <a:avLst/>
          </a:prstGeom>
          <a:solidFill>
            <a:srgbClr val="ccffff"/>
          </a:solidFill>
          <a:ln w="12600">
            <a:solidFill>
              <a:srgbClr val="3366ff"/>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1" name=""/>
          <p:cNvSpPr/>
          <p:nvPr/>
        </p:nvSpPr>
        <p:spPr>
          <a:xfrm>
            <a:off x="2362320" y="4419720"/>
            <a:ext cx="2057400" cy="2286000"/>
          </a:xfrm>
          <a:prstGeom prst="rect">
            <a:avLst/>
          </a:prstGeom>
          <a:solidFill>
            <a:srgbClr val="ccffff"/>
          </a:solidFill>
          <a:ln w="12600">
            <a:solidFill>
              <a:srgbClr val="3366ff"/>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2" name=""/>
          <p:cNvSpPr/>
          <p:nvPr/>
        </p:nvSpPr>
        <p:spPr>
          <a:xfrm>
            <a:off x="2362320" y="762120"/>
            <a:ext cx="2057400" cy="3504960"/>
          </a:xfrm>
          <a:prstGeom prst="rect">
            <a:avLst/>
          </a:prstGeom>
          <a:solidFill>
            <a:srgbClr val="ccffff"/>
          </a:solidFill>
          <a:ln w="12600">
            <a:solidFill>
              <a:srgbClr val="3366ff"/>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3" name=""/>
          <p:cNvSpPr/>
          <p:nvPr/>
        </p:nvSpPr>
        <p:spPr>
          <a:xfrm>
            <a:off x="152280" y="4419720"/>
            <a:ext cx="2057400" cy="2286000"/>
          </a:xfrm>
          <a:prstGeom prst="rect">
            <a:avLst/>
          </a:prstGeom>
          <a:solidFill>
            <a:srgbClr val="ccffff"/>
          </a:solidFill>
          <a:ln w="12600">
            <a:solidFill>
              <a:srgbClr val="3366ff"/>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4" name=""/>
          <p:cNvSpPr/>
          <p:nvPr/>
        </p:nvSpPr>
        <p:spPr>
          <a:xfrm>
            <a:off x="152280" y="2133720"/>
            <a:ext cx="2057400" cy="2133360"/>
          </a:xfrm>
          <a:prstGeom prst="rect">
            <a:avLst/>
          </a:prstGeom>
          <a:solidFill>
            <a:srgbClr val="ccffff"/>
          </a:solidFill>
          <a:ln w="12600">
            <a:solidFill>
              <a:srgbClr val="3366ff"/>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5" name=""/>
          <p:cNvSpPr/>
          <p:nvPr/>
        </p:nvSpPr>
        <p:spPr>
          <a:xfrm>
            <a:off x="152280" y="762120"/>
            <a:ext cx="2057400" cy="1218960"/>
          </a:xfrm>
          <a:prstGeom prst="rect">
            <a:avLst/>
          </a:prstGeom>
          <a:solidFill>
            <a:srgbClr val="ccffff"/>
          </a:solidFill>
          <a:ln w="12600">
            <a:solidFill>
              <a:srgbClr val="3366ff"/>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6" name=""/>
          <p:cNvSpPr/>
          <p:nvPr/>
        </p:nvSpPr>
        <p:spPr>
          <a:xfrm>
            <a:off x="1676520" y="380880"/>
            <a:ext cx="6095880" cy="93960"/>
          </a:xfrm>
          <a:prstGeom prst="rect">
            <a:avLst/>
          </a:prstGeom>
          <a:noFill/>
          <a:ln w="0">
            <a:noFill/>
          </a:ln>
        </p:spPr>
        <p:style>
          <a:lnRef idx="0"/>
          <a:fillRef idx="0"/>
          <a:effectRef idx="0"/>
          <a:fontRef idx="minor"/>
        </p:style>
        <p:txBody>
          <a:bodyPr lIns="18360" rIns="18360" tIns="9000" bIns="9000" anchor="t">
            <a:spAutoFit/>
          </a:bodyPr>
          <a:p>
            <a:pPr algn="ctr">
              <a:lnSpc>
                <a:spcPct val="70000"/>
              </a:lnSpc>
              <a:spcBef>
                <a:spcPts val="437"/>
              </a:spcBef>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endParaRPr b="0" lang="en-IN" sz="1800" strike="noStrike" u="none">
              <a:solidFill>
                <a:srgbClr val="000000"/>
              </a:solidFill>
              <a:effectLst/>
              <a:uFillTx/>
              <a:latin typeface="Arial"/>
            </a:endParaRPr>
          </a:p>
        </p:txBody>
      </p:sp>
      <p:sp>
        <p:nvSpPr>
          <p:cNvPr id="17" name=""/>
          <p:cNvSpPr/>
          <p:nvPr/>
        </p:nvSpPr>
        <p:spPr>
          <a:xfrm>
            <a:off x="228600" y="782640"/>
            <a:ext cx="1981080" cy="1105560"/>
          </a:xfrm>
          <a:prstGeom prst="rect">
            <a:avLst/>
          </a:prstGeom>
          <a:noFill/>
          <a:ln w="0">
            <a:noFill/>
          </a:ln>
        </p:spPr>
        <p:style>
          <a:lnRef idx="0"/>
          <a:fillRef idx="0"/>
          <a:effectRef idx="0"/>
          <a:fontRef idx="minor"/>
        </p:style>
        <p:txBody>
          <a:bodyPr lIns="18360" rIns="18360" tIns="18360" bIns="18360" anchor="t">
            <a:spAutoFit/>
          </a:bodyPr>
          <a:p>
            <a:pPr>
              <a:lnSpc>
                <a:spcPct val="110000"/>
              </a:lnSpc>
              <a:spcBef>
                <a:spcPts val="437"/>
              </a:spcBef>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1" lang="en-IN" sz="700" strike="noStrike" u="none">
                <a:solidFill>
                  <a:srgbClr val="000000"/>
                </a:solidFill>
                <a:effectLst/>
                <a:uFillTx/>
                <a:latin typeface="Times New Roman"/>
                <a:ea typeface="Times New Roman"/>
              </a:rPr>
              <a:t>1.  Introduction</a:t>
            </a:r>
            <a:endParaRPr b="0" lang="en-IN" sz="700" strike="noStrike" u="none">
              <a:solidFill>
                <a:srgbClr val="000000"/>
              </a:solidFill>
              <a:effectLst/>
              <a:uFillTx/>
              <a:latin typeface="Arial"/>
            </a:endParaRPr>
          </a:p>
          <a:p>
            <a:pPr>
              <a:lnSpc>
                <a:spcPct val="110000"/>
              </a:lnSpc>
              <a:spcBef>
                <a:spcPts val="374"/>
              </a:spcBef>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Since 1995, the National Environmental Prediction Center (NCEP) has been producing real time ocean analysis and reanalysis using Ocean Data Assimilation System (ODAS, traditionally referred to as RA6) (Ji et al. 1995). The new Global Ocean Data Assimilation System (GODAS) was developed to be the replacement for RA6, and to provide oceanic initial conditions for the global Climate Forecast System (CFS) newly developed at NCEP (Behringer and Xue 2004).</a:t>
            </a:r>
            <a:endParaRPr b="0" lang="en-IN" sz="600" strike="noStrike" u="none">
              <a:solidFill>
                <a:srgbClr val="000000"/>
              </a:solidFill>
              <a:effectLst/>
              <a:uFillTx/>
              <a:latin typeface="Arial"/>
            </a:endParaRPr>
          </a:p>
        </p:txBody>
      </p:sp>
      <p:sp>
        <p:nvSpPr>
          <p:cNvPr id="18" name=""/>
          <p:cNvSpPr/>
          <p:nvPr/>
        </p:nvSpPr>
        <p:spPr>
          <a:xfrm>
            <a:off x="2133720" y="81000"/>
            <a:ext cx="4876560" cy="568800"/>
          </a:xfrm>
          <a:prstGeom prst="rect">
            <a:avLst/>
          </a:prstGeom>
          <a:noFill/>
          <a:ln w="0">
            <a:noFill/>
          </a:ln>
        </p:spPr>
        <p:style>
          <a:lnRef idx="0"/>
          <a:fillRef idx="0"/>
          <a:effectRef idx="0"/>
          <a:fontRef idx="minor"/>
        </p:style>
        <p:txBody>
          <a:bodyPr lIns="18360" rIns="18360" tIns="9000" bIns="9000" anchor="t">
            <a:spAutoFit/>
          </a:bodyPr>
          <a:p>
            <a:pPr algn="ctr">
              <a:lnSpc>
                <a:spcPct val="70000"/>
              </a:lnSpc>
              <a:spcBef>
                <a:spcPts val="125"/>
              </a:spcBef>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endParaRPr b="0" lang="en-IN" sz="200" strike="noStrike" u="none">
              <a:solidFill>
                <a:srgbClr val="000000"/>
              </a:solidFill>
              <a:effectLst/>
              <a:uFillTx/>
              <a:latin typeface="Arial"/>
            </a:endParaRPr>
          </a:p>
          <a:p>
            <a:pPr algn="ctr">
              <a:lnSpc>
                <a:spcPct val="10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1" lang="en-IN" sz="1100" strike="noStrike" u="none">
                <a:solidFill>
                  <a:srgbClr val="ff3300"/>
                </a:solidFill>
                <a:effectLst/>
                <a:uFillTx/>
                <a:latin typeface="Times New Roman"/>
                <a:ea typeface="Times New Roman"/>
              </a:rPr>
              <a:t>A Web Site of Global Ocean Data Assimilation System (GODAS)</a:t>
            </a:r>
            <a:endParaRPr b="0" lang="en-IN" sz="1100" strike="noStrike" u="none">
              <a:solidFill>
                <a:srgbClr val="000000"/>
              </a:solidFill>
              <a:effectLst/>
              <a:uFillTx/>
              <a:latin typeface="Arial"/>
            </a:endParaRPr>
          </a:p>
          <a:p>
            <a:pPr algn="ct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1" lang="en-IN" sz="900" strike="noStrike" u="none">
                <a:solidFill>
                  <a:srgbClr val="0000ff"/>
                </a:solidFill>
                <a:effectLst/>
                <a:uFillTx/>
                <a:latin typeface="Times New Roman"/>
                <a:ea typeface="Times New Roman"/>
              </a:rPr>
              <a:t>http://www.cpc.ncep.noaa.gov/products/GODAS</a:t>
            </a:r>
            <a:endParaRPr b="0" lang="en-IN" sz="900" strike="noStrike" u="none">
              <a:solidFill>
                <a:srgbClr val="000000"/>
              </a:solidFill>
              <a:effectLst/>
              <a:uFillTx/>
              <a:latin typeface="Arial"/>
            </a:endParaRPr>
          </a:p>
          <a:p>
            <a:pPr algn="ct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1" i="1" lang="en-IN" sz="600" strike="noStrike" u="none">
                <a:solidFill>
                  <a:srgbClr val="000000"/>
                </a:solidFill>
                <a:effectLst/>
                <a:uFillTx/>
                <a:latin typeface="Times New Roman"/>
                <a:ea typeface="Times New Roman"/>
              </a:rPr>
              <a:t>Boyin Huang, Yan Xue, and David Behringer</a:t>
            </a:r>
            <a:endParaRPr b="0" lang="en-IN" sz="600" strike="noStrike" u="none">
              <a:solidFill>
                <a:srgbClr val="000000"/>
              </a:solidFill>
              <a:effectLst/>
              <a:uFillTx/>
              <a:latin typeface="Arial"/>
            </a:endParaRPr>
          </a:p>
          <a:p>
            <a:pPr algn="ct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rPr>
              <a:t>Climate Prediction Center/NCEP/NOAA</a:t>
            </a:r>
            <a:endParaRPr b="0" lang="en-IN" sz="600" strike="noStrike" u="none">
              <a:solidFill>
                <a:srgbClr val="000000"/>
              </a:solidFill>
              <a:effectLst/>
              <a:uFillTx/>
              <a:latin typeface="Arial"/>
            </a:endParaRPr>
          </a:p>
        </p:txBody>
      </p:sp>
      <p:pic>
        <p:nvPicPr>
          <p:cNvPr id="19" name="" descr=""/>
          <p:cNvPicPr/>
          <p:nvPr/>
        </p:nvPicPr>
        <p:blipFill>
          <a:blip r:embed="rId1"/>
          <a:stretch/>
        </p:blipFill>
        <p:spPr>
          <a:xfrm>
            <a:off x="444600" y="190440"/>
            <a:ext cx="393480" cy="433440"/>
          </a:xfrm>
          <a:prstGeom prst="rect">
            <a:avLst/>
          </a:prstGeom>
          <a:noFill/>
          <a:ln w="0">
            <a:noFill/>
          </a:ln>
        </p:spPr>
      </p:pic>
      <p:sp>
        <p:nvSpPr>
          <p:cNvPr id="20" name=""/>
          <p:cNvSpPr/>
          <p:nvPr/>
        </p:nvSpPr>
        <p:spPr>
          <a:xfrm>
            <a:off x="2438280" y="4495680"/>
            <a:ext cx="1905120" cy="806760"/>
          </a:xfrm>
          <a:prstGeom prst="rect">
            <a:avLst/>
          </a:prstGeom>
          <a:noFill/>
          <a:ln w="0">
            <a:noFill/>
          </a:ln>
        </p:spPr>
        <p:style>
          <a:lnRef idx="0"/>
          <a:fillRef idx="0"/>
          <a:effectRef idx="0"/>
          <a:fontRef idx="minor"/>
        </p:style>
        <p:txBody>
          <a:bodyPr lIns="18360" rIns="18360" tIns="18360" bIns="18360" anchor="t">
            <a:spAutoFit/>
          </a:bodyPr>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1" lang="en-IN" sz="700" strike="noStrike" u="none">
                <a:solidFill>
                  <a:srgbClr val="000000"/>
                </a:solidFill>
                <a:effectLst/>
                <a:uFillTx/>
                <a:latin typeface="Times New Roman"/>
                <a:ea typeface="Times New Roman"/>
              </a:rPr>
              <a:t>5. GODAS web site</a:t>
            </a:r>
            <a:endParaRPr b="0" lang="en-IN" sz="7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endParaRPr b="0" lang="en-IN" sz="3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The GODAS web site </a:t>
            </a:r>
            <a:r>
              <a:rPr b="0" lang="en-IN" sz="600" strike="noStrike" u="none">
                <a:solidFill>
                  <a:srgbClr val="0000ff"/>
                </a:solidFill>
                <a:effectLst/>
                <a:uFillTx/>
                <a:latin typeface="Times New Roman"/>
                <a:ea typeface="Times New Roman"/>
              </a:rPr>
              <a:t>http://www.cpc.ncep.noaa.gov/products/GODAS</a:t>
            </a:r>
            <a:r>
              <a:rPr b="0" lang="en-IN" sz="600" strike="noStrike" u="none">
                <a:solidFill>
                  <a:srgbClr val="000000"/>
                </a:solidFill>
                <a:effectLst/>
                <a:uFillTx/>
                <a:latin typeface="Times New Roman"/>
                <a:ea typeface="Times New Roman"/>
              </a:rPr>
              <a:t> is designed for users to easily access visualized GODAS products. Users can browse the web site and select appropriate variables such as shown below. Users can access original binary data at</a:t>
            </a:r>
            <a:endParaRPr b="0" lang="en-IN" sz="6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ff"/>
                </a:solidFill>
                <a:effectLst/>
                <a:uFillTx/>
                <a:latin typeface="Times New Roman"/>
                <a:ea typeface="Times New Roman"/>
              </a:rPr>
              <a:t>http://cfs.ncep.noaa.gov/cfs/godas</a:t>
            </a:r>
            <a:r>
              <a:rPr b="0" lang="en-IN" sz="600" strike="noStrike" u="none">
                <a:solidFill>
                  <a:srgbClr val="000000"/>
                </a:solidFill>
                <a:effectLst/>
                <a:uFillTx/>
                <a:latin typeface="Times New Roman"/>
                <a:ea typeface="Times New Roman"/>
              </a:rPr>
              <a:t> </a:t>
            </a:r>
            <a:endParaRPr b="0" lang="en-IN" sz="600" strike="noStrike" u="none">
              <a:solidFill>
                <a:srgbClr val="000000"/>
              </a:solidFill>
              <a:effectLst/>
              <a:uFillTx/>
              <a:latin typeface="Arial"/>
            </a:endParaRPr>
          </a:p>
        </p:txBody>
      </p:sp>
      <p:sp>
        <p:nvSpPr>
          <p:cNvPr id="21" name=""/>
          <p:cNvSpPr/>
          <p:nvPr/>
        </p:nvSpPr>
        <p:spPr>
          <a:xfrm>
            <a:off x="7010280" y="3105000"/>
            <a:ext cx="1905120" cy="1239480"/>
          </a:xfrm>
          <a:prstGeom prst="rect">
            <a:avLst/>
          </a:prstGeom>
          <a:noFill/>
          <a:ln w="0">
            <a:noFill/>
          </a:ln>
        </p:spPr>
        <p:style>
          <a:lnRef idx="0"/>
          <a:fillRef idx="0"/>
          <a:effectRef idx="0"/>
          <a:fontRef idx="minor"/>
        </p:style>
        <p:txBody>
          <a:bodyPr lIns="18360" rIns="18360" tIns="18360" bIns="18360" anchor="t">
            <a:spAutoFit/>
          </a:bodyPr>
          <a:p>
            <a:pPr>
              <a:lnSpc>
                <a:spcPct val="10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1" lang="en-IN" sz="700" strike="noStrike" u="none">
                <a:solidFill>
                  <a:srgbClr val="000000"/>
                </a:solidFill>
                <a:effectLst/>
                <a:uFillTx/>
                <a:latin typeface="Times New Roman"/>
                <a:ea typeface="Times New Roman"/>
              </a:rPr>
              <a:t>8. Summary</a:t>
            </a:r>
            <a:r>
              <a:rPr b="0" lang="en-IN" sz="700" strike="noStrike" u="none">
                <a:solidFill>
                  <a:srgbClr val="000000"/>
                </a:solidFill>
                <a:effectLst/>
                <a:uFillTx/>
                <a:latin typeface="Times New Roman"/>
                <a:ea typeface="Times New Roman"/>
              </a:rPr>
              <a:t> </a:t>
            </a:r>
            <a:endParaRPr b="0" lang="en-IN" sz="700" strike="noStrike" u="none">
              <a:solidFill>
                <a:srgbClr val="000000"/>
              </a:solidFill>
              <a:effectLst/>
              <a:uFillTx/>
              <a:latin typeface="Arial"/>
            </a:endParaRPr>
          </a:p>
          <a:p>
            <a:pPr>
              <a:lnSpc>
                <a:spcPct val="10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endParaRPr b="0" lang="en-IN" sz="3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The GODAS web site is sponsored by Office of Climate Observation of NOAA, and is intended to</a:t>
            </a:r>
            <a:endParaRPr b="0" lang="en-IN" sz="600" strike="noStrike" u="none">
              <a:solidFill>
                <a:srgbClr val="000000"/>
              </a:solidFill>
              <a:effectLst/>
              <a:uFillTx/>
              <a:latin typeface="Arial"/>
            </a:endParaRPr>
          </a:p>
          <a:p>
            <a:pPr>
              <a:lnSpc>
                <a:spcPct val="110000"/>
              </a:lnSpc>
              <a:buClr>
                <a:srgbClr val="000000"/>
              </a:buClr>
              <a:buFont typeface="Times New Roman"/>
              <a:buChar char="•"/>
              <a:tabLst>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Gain a broader dissemination of GODAS data products</a:t>
            </a:r>
            <a:endParaRPr b="0" lang="en-IN" sz="600" strike="noStrike" u="none">
              <a:solidFill>
                <a:srgbClr val="000000"/>
              </a:solidFill>
              <a:effectLst/>
              <a:uFillTx/>
              <a:latin typeface="Arial"/>
            </a:endParaRPr>
          </a:p>
          <a:p>
            <a:pPr>
              <a:lnSpc>
                <a:spcPct val="110000"/>
              </a:lnSpc>
              <a:buClr>
                <a:srgbClr val="000000"/>
              </a:buClr>
              <a:buFont typeface="Times New Roman"/>
              <a:buChar char="•"/>
              <a:tabLst>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Provide real-time monitoring of ocean climate variability</a:t>
            </a:r>
            <a:endParaRPr b="0" lang="en-IN" sz="600" strike="noStrike" u="none">
              <a:solidFill>
                <a:srgbClr val="000000"/>
              </a:solidFill>
              <a:effectLst/>
              <a:uFillTx/>
              <a:latin typeface="Arial"/>
            </a:endParaRPr>
          </a:p>
          <a:p>
            <a:pPr>
              <a:lnSpc>
                <a:spcPct val="110000"/>
              </a:lnSpc>
              <a:buClr>
                <a:srgbClr val="000000"/>
              </a:buClr>
              <a:buFont typeface="Times New Roman"/>
              <a:buChar char="•"/>
              <a:tabLst>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Assess effectiveness of ocean observing system </a:t>
            </a:r>
            <a:endParaRPr b="0" lang="en-IN" sz="600" strike="noStrike" u="none">
              <a:solidFill>
                <a:srgbClr val="000000"/>
              </a:solidFill>
              <a:effectLst/>
              <a:uFillTx/>
              <a:latin typeface="Arial"/>
            </a:endParaRPr>
          </a:p>
          <a:p>
            <a:pPr>
              <a:lnSpc>
                <a:spcPct val="110000"/>
              </a:lnSpc>
              <a:buClr>
                <a:srgbClr val="000000"/>
              </a:buClr>
              <a:buFont typeface="Times New Roman"/>
              <a:buChar char="•"/>
              <a:tabLst>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Compare with other ocean analyses</a:t>
            </a:r>
            <a:endParaRPr b="0" lang="en-IN" sz="600" strike="noStrike" u="none">
              <a:solidFill>
                <a:srgbClr val="000000"/>
              </a:solidFill>
              <a:effectLst/>
              <a:uFillTx/>
              <a:latin typeface="Arial"/>
            </a:endParaRPr>
          </a:p>
          <a:p>
            <a:pPr>
              <a:lnSpc>
                <a:spcPct val="10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endParaRPr b="0" lang="en-IN" sz="3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Please visit the GODAS web site at http://www.cpc.ncep.noaa.gov/products/GODAS, and contact boyin.huang@noaa.gov, yan.xue@noaa.gov, or david.behringer@noaa.gov for more information.</a:t>
            </a:r>
            <a:endParaRPr b="0" lang="en-IN" sz="600" strike="noStrike" u="none">
              <a:solidFill>
                <a:srgbClr val="000000"/>
              </a:solidFill>
              <a:effectLst/>
              <a:uFillTx/>
              <a:latin typeface="Arial"/>
            </a:endParaRPr>
          </a:p>
        </p:txBody>
      </p:sp>
      <p:sp>
        <p:nvSpPr>
          <p:cNvPr id="22" name=""/>
          <p:cNvSpPr/>
          <p:nvPr/>
        </p:nvSpPr>
        <p:spPr>
          <a:xfrm>
            <a:off x="228600" y="2158920"/>
            <a:ext cx="1981080" cy="2012040"/>
          </a:xfrm>
          <a:prstGeom prst="rect">
            <a:avLst/>
          </a:prstGeom>
          <a:noFill/>
          <a:ln w="0">
            <a:noFill/>
          </a:ln>
        </p:spPr>
        <p:style>
          <a:lnRef idx="0"/>
          <a:fillRef idx="0"/>
          <a:effectRef idx="0"/>
          <a:fontRef idx="minor"/>
        </p:style>
        <p:txBody>
          <a:bodyPr lIns="18360" rIns="18360" tIns="18360" bIns="18360" anchor="t">
            <a:spAutoFit/>
          </a:bodyPr>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1" lang="en-IN" sz="700" strike="noStrike" u="none">
                <a:solidFill>
                  <a:srgbClr val="000000"/>
                </a:solidFill>
                <a:effectLst/>
                <a:uFillTx/>
                <a:latin typeface="Times New Roman"/>
                <a:ea typeface="Times New Roman"/>
              </a:rPr>
              <a:t>2. GODAS</a:t>
            </a:r>
            <a:endParaRPr b="0" lang="en-IN" sz="7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endParaRPr b="0" lang="en-IN" sz="3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a:t>
            </a:r>
            <a:r>
              <a:rPr b="0" lang="en-IN" sz="600" strike="noStrike" u="none">
                <a:solidFill>
                  <a:srgbClr val="000000"/>
                </a:solidFill>
                <a:effectLst/>
                <a:uFillTx/>
                <a:latin typeface="Times New Roman"/>
                <a:ea typeface="Times New Roman"/>
              </a:rPr>
              <a:t>The GODAS is based on the GFDL MOM3. The model domain extends from 70°S to 65°N and has a resolution of 1° by 1° enhanced to 1/3° between 10ºS and 10ºN. The model has 40 levels with a 10 meter resolution in the upper 200 meters.</a:t>
            </a:r>
            <a:endParaRPr b="0" lang="en-IN" sz="6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a:t>
            </a:r>
            <a:r>
              <a:rPr b="0" lang="en-IN" sz="600" strike="noStrike" u="none">
                <a:solidFill>
                  <a:srgbClr val="000000"/>
                </a:solidFill>
                <a:effectLst/>
                <a:uFillTx/>
                <a:latin typeface="Times New Roman"/>
                <a:ea typeface="Times New Roman"/>
              </a:rPr>
              <a:t>The GODAS is forced by the momentum flux, heat flux and fresh water flux from the NCEP atmospheric Reanalysis 2 (R2). In addition the temperature in the top model level is relaxed to weekly analyses of observed sea surface temperature (SST), while the surface salinity is relaxed to annual salinity climatology.</a:t>
            </a:r>
            <a:endParaRPr b="0" lang="en-IN" sz="6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a:t>
            </a:r>
            <a:r>
              <a:rPr b="0" lang="en-IN" sz="600" strike="noStrike" u="none">
                <a:solidFill>
                  <a:srgbClr val="000000"/>
                </a:solidFill>
                <a:effectLst/>
                <a:uFillTx/>
                <a:latin typeface="Times New Roman"/>
                <a:ea typeface="Times New Roman"/>
              </a:rPr>
              <a:t>The GODAS assimilates temperature profiles from XBTs, TAO/TRITON/PIRATA moorings, and Argo profiling floats. It also assimilates synthetic salinity profiles. The assimilation method is the 3DVAR scheme.</a:t>
            </a:r>
            <a:endParaRPr b="0" lang="en-IN" sz="6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a:t>
            </a:r>
            <a:r>
              <a:rPr b="0" lang="en-IN" sz="600" strike="noStrike" u="none">
                <a:solidFill>
                  <a:srgbClr val="000000"/>
                </a:solidFill>
                <a:effectLst/>
                <a:uFillTx/>
                <a:latin typeface="Times New Roman"/>
                <a:ea typeface="Times New Roman"/>
              </a:rPr>
              <a:t>Comparing with observations, the temperature in GODAS is better than that in RA6, and the sea surface height in GODAS between 1990 and 2003 is as good as or better than that in RA6. </a:t>
            </a:r>
            <a:endParaRPr b="0" lang="en-IN" sz="600" strike="noStrike" u="none">
              <a:solidFill>
                <a:srgbClr val="000000"/>
              </a:solidFill>
              <a:effectLst/>
              <a:uFillTx/>
              <a:latin typeface="Arial"/>
            </a:endParaRPr>
          </a:p>
        </p:txBody>
      </p:sp>
      <p:sp>
        <p:nvSpPr>
          <p:cNvPr id="23" name=""/>
          <p:cNvSpPr/>
          <p:nvPr/>
        </p:nvSpPr>
        <p:spPr>
          <a:xfrm>
            <a:off x="228600" y="4486320"/>
            <a:ext cx="1981080" cy="2112120"/>
          </a:xfrm>
          <a:prstGeom prst="rect">
            <a:avLst/>
          </a:prstGeom>
          <a:noFill/>
          <a:ln w="0">
            <a:noFill/>
          </a:ln>
        </p:spPr>
        <p:style>
          <a:lnRef idx="0"/>
          <a:fillRef idx="0"/>
          <a:effectRef idx="0"/>
          <a:fontRef idx="minor"/>
        </p:style>
        <p:txBody>
          <a:bodyPr lIns="18360" rIns="18360" tIns="18360" bIns="18360" anchor="t">
            <a:spAutoFit/>
          </a:bodyPr>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1" lang="en-IN" sz="700" strike="noStrike" u="none">
                <a:solidFill>
                  <a:srgbClr val="000000"/>
                </a:solidFill>
                <a:effectLst/>
                <a:uFillTx/>
                <a:latin typeface="Times New Roman"/>
                <a:ea typeface="Times New Roman"/>
              </a:rPr>
              <a:t>3. GODAS products</a:t>
            </a:r>
            <a:endParaRPr b="0" lang="en-IN" sz="7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endParaRPr b="0" lang="en-IN" sz="3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The GODAS web site provides </a:t>
            </a:r>
            <a:endParaRPr b="0" lang="en-IN" sz="600" strike="noStrike" u="none">
              <a:solidFill>
                <a:srgbClr val="000000"/>
              </a:solidFill>
              <a:effectLst/>
              <a:uFillTx/>
              <a:latin typeface="Arial"/>
            </a:endParaRPr>
          </a:p>
          <a:p>
            <a:pPr>
              <a:lnSpc>
                <a:spcPct val="110000"/>
              </a:lnSpc>
              <a:buClr>
                <a:srgbClr val="000000"/>
              </a:buClr>
              <a:buFont typeface="Times New Roman"/>
              <a:buChar char="•"/>
              <a:tabLst>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2-Dimensional surface and other oceanic variables such as  </a:t>
            </a:r>
            <a:endParaRPr b="0" lang="en-IN" sz="6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winds, surface net heat flux, freshwater flux, SST, mixed </a:t>
            </a:r>
            <a:endParaRPr b="0" lang="en-IN" sz="6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layer depth, 20ºC isotherm depth, sea level height, heat </a:t>
            </a:r>
            <a:endParaRPr b="0" lang="en-IN" sz="6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content of upper 300-meter, etc.</a:t>
            </a:r>
            <a:endParaRPr b="0" lang="en-IN" sz="600" strike="noStrike" u="none">
              <a:solidFill>
                <a:srgbClr val="000000"/>
              </a:solidFill>
              <a:effectLst/>
              <a:uFillTx/>
              <a:latin typeface="Arial"/>
            </a:endParaRPr>
          </a:p>
          <a:p>
            <a:pPr>
              <a:lnSpc>
                <a:spcPct val="110000"/>
              </a:lnSpc>
              <a:buClr>
                <a:srgbClr val="000000"/>
              </a:buClr>
              <a:buFont typeface="Times New Roman"/>
              <a:buChar char="•"/>
              <a:tabLst>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3-Dimensional ocean temperature, zonal current, and </a:t>
            </a:r>
            <a:endParaRPr b="0" lang="en-IN" sz="6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meridional current.</a:t>
            </a:r>
            <a:endParaRPr b="0" lang="en-IN" sz="6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endParaRPr b="0" lang="en-IN" sz="3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The GODAS products are categorized into</a:t>
            </a:r>
            <a:endParaRPr b="0" lang="en-IN" sz="600" strike="noStrike" u="none">
              <a:solidFill>
                <a:srgbClr val="000000"/>
              </a:solidFill>
              <a:effectLst/>
              <a:uFillTx/>
              <a:latin typeface="Arial"/>
            </a:endParaRPr>
          </a:p>
          <a:p>
            <a:pPr>
              <a:lnSpc>
                <a:spcPct val="110000"/>
              </a:lnSpc>
              <a:buClr>
                <a:srgbClr val="000000"/>
              </a:buClr>
              <a:buFont typeface="Times New Roman"/>
              <a:buChar char="•"/>
              <a:tabLst>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Monthly (January-December) and annual climatology. </a:t>
            </a:r>
            <a:endParaRPr b="0" lang="en-IN" sz="600" strike="noStrike" u="none">
              <a:solidFill>
                <a:srgbClr val="000000"/>
              </a:solidFill>
              <a:effectLst/>
              <a:uFillTx/>
              <a:latin typeface="Arial"/>
            </a:endParaRPr>
          </a:p>
          <a:p>
            <a:pPr>
              <a:lnSpc>
                <a:spcPct val="110000"/>
              </a:lnSpc>
              <a:buClr>
                <a:srgbClr val="000000"/>
              </a:buClr>
              <a:buFont typeface="Times New Roman"/>
              <a:buChar char="•"/>
              <a:tabLst>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Monthly averages from January 1979 to September 2005, and</a:t>
            </a:r>
            <a:endParaRPr b="0" lang="en-IN" sz="600" strike="noStrike" u="none">
              <a:solidFill>
                <a:srgbClr val="000000"/>
              </a:solidFill>
              <a:effectLst/>
              <a:uFillTx/>
              <a:latin typeface="Arial"/>
            </a:endParaRPr>
          </a:p>
          <a:p>
            <a:pPr>
              <a:lnSpc>
                <a:spcPct val="110000"/>
              </a:lnSpc>
              <a:buClr>
                <a:srgbClr val="000000"/>
              </a:buClr>
              <a:buFont typeface="Times New Roman"/>
              <a:buChar char="•"/>
              <a:tabLst>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Pentad averages from January 1979 to September 2005.</a:t>
            </a:r>
            <a:endParaRPr b="0" lang="en-IN" sz="6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endParaRPr b="0" lang="en-IN" sz="3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The web site visualized these products at </a:t>
            </a:r>
            <a:endParaRPr b="0" lang="en-IN" sz="600" strike="noStrike" u="none">
              <a:solidFill>
                <a:srgbClr val="000000"/>
              </a:solidFill>
              <a:effectLst/>
              <a:uFillTx/>
              <a:latin typeface="Arial"/>
            </a:endParaRPr>
          </a:p>
          <a:p>
            <a:pPr>
              <a:lnSpc>
                <a:spcPct val="110000"/>
              </a:lnSpc>
              <a:buClr>
                <a:srgbClr val="000000"/>
              </a:buClr>
              <a:buFont typeface="Times New Roman"/>
              <a:buChar char="•"/>
              <a:tabLst>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Ocean surface (longitude-latitude plots), </a:t>
            </a:r>
            <a:endParaRPr b="0" lang="en-IN" sz="600" strike="noStrike" u="none">
              <a:solidFill>
                <a:srgbClr val="000000"/>
              </a:solidFill>
              <a:effectLst/>
              <a:uFillTx/>
              <a:latin typeface="Arial"/>
            </a:endParaRPr>
          </a:p>
          <a:p>
            <a:pPr>
              <a:lnSpc>
                <a:spcPct val="110000"/>
              </a:lnSpc>
              <a:buClr>
                <a:srgbClr val="000000"/>
              </a:buClr>
              <a:buFont typeface="Times New Roman"/>
              <a:buChar char="•"/>
              <a:tabLst>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Latitudinal sections (longitude-depth and longitude-time </a:t>
            </a:r>
            <a:endParaRPr b="0" lang="en-IN" sz="6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plots), </a:t>
            </a:r>
            <a:endParaRPr b="0" lang="en-IN" sz="600" strike="noStrike" u="none">
              <a:solidFill>
                <a:srgbClr val="000000"/>
              </a:solidFill>
              <a:effectLst/>
              <a:uFillTx/>
              <a:latin typeface="Arial"/>
            </a:endParaRPr>
          </a:p>
          <a:p>
            <a:pPr>
              <a:lnSpc>
                <a:spcPct val="110000"/>
              </a:lnSpc>
              <a:buClr>
                <a:srgbClr val="000000"/>
              </a:buClr>
              <a:buFont typeface="Times New Roman"/>
              <a:buChar char="•"/>
              <a:tabLst>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Longitudinal sections and zonal averages (latitude-depth </a:t>
            </a:r>
            <a:endParaRPr b="0" lang="en-IN" sz="6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plots). </a:t>
            </a:r>
            <a:endParaRPr b="0" lang="en-IN" sz="600" strike="noStrike" u="none">
              <a:solidFill>
                <a:srgbClr val="000000"/>
              </a:solidFill>
              <a:effectLst/>
              <a:uFillTx/>
              <a:latin typeface="Arial"/>
            </a:endParaRPr>
          </a:p>
          <a:p>
            <a:pPr>
              <a:lnSpc>
                <a:spcPct val="110000"/>
              </a:lnSpc>
              <a:buClr>
                <a:srgbClr val="000000"/>
              </a:buClr>
              <a:buFont typeface="Times New Roman"/>
              <a:buChar char="•"/>
              <a:tabLst>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 Animations of these plots.</a:t>
            </a:r>
            <a:endParaRPr b="0" lang="en-IN" sz="600" strike="noStrike" u="none">
              <a:solidFill>
                <a:srgbClr val="000000"/>
              </a:solidFill>
              <a:effectLst/>
              <a:uFillTx/>
              <a:latin typeface="Arial"/>
            </a:endParaRPr>
          </a:p>
        </p:txBody>
      </p:sp>
      <p:sp>
        <p:nvSpPr>
          <p:cNvPr id="24" name=""/>
          <p:cNvSpPr/>
          <p:nvPr/>
        </p:nvSpPr>
        <p:spPr>
          <a:xfrm>
            <a:off x="1828800" y="6400800"/>
            <a:ext cx="7086600" cy="0"/>
          </a:xfrm>
          <a:prstGeom prst="line">
            <a:avLst/>
          </a:prstGeom>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5" name=""/>
          <p:cNvSpPr/>
          <p:nvPr/>
        </p:nvSpPr>
        <p:spPr>
          <a:xfrm>
            <a:off x="4724280" y="2692440"/>
            <a:ext cx="1905120" cy="806760"/>
          </a:xfrm>
          <a:prstGeom prst="rect">
            <a:avLst/>
          </a:prstGeom>
          <a:noFill/>
          <a:ln w="0">
            <a:noFill/>
          </a:ln>
        </p:spPr>
        <p:style>
          <a:lnRef idx="0"/>
          <a:fillRef idx="0"/>
          <a:effectRef idx="0"/>
          <a:fontRef idx="minor"/>
        </p:style>
        <p:txBody>
          <a:bodyPr lIns="18360" rIns="18360" tIns="18360" bIns="18360" anchor="t">
            <a:spAutoFit/>
          </a:bodyPr>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1" lang="en-IN" sz="700" strike="noStrike" u="none">
                <a:solidFill>
                  <a:srgbClr val="000000"/>
                </a:solidFill>
                <a:effectLst/>
                <a:uFillTx/>
                <a:latin typeface="Times New Roman"/>
                <a:ea typeface="Times New Roman"/>
              </a:rPr>
              <a:t>7.1. GODAS validation-1</a:t>
            </a:r>
            <a:endParaRPr b="0" lang="en-IN" sz="7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endParaRPr b="0" lang="en-IN" sz="3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The GODAS products exhibit certain biases. The climatological annual SST anomalies indicate SST deviations from Optimal Interpolation SST were less than 0.2ºC in most of the tropical oceans. However, cold biases can be identified in the tropics oceans, and warm biases are strong in the coastal oceans and the Southern Ocean.</a:t>
            </a:r>
            <a:endParaRPr b="0" lang="en-IN" sz="600" strike="noStrike" u="none">
              <a:solidFill>
                <a:srgbClr val="000000"/>
              </a:solidFill>
              <a:effectLst/>
              <a:uFillTx/>
              <a:latin typeface="Arial"/>
            </a:endParaRPr>
          </a:p>
        </p:txBody>
      </p:sp>
      <p:pic>
        <p:nvPicPr>
          <p:cNvPr id="26" name="" descr=""/>
          <p:cNvPicPr/>
          <p:nvPr/>
        </p:nvPicPr>
        <p:blipFill>
          <a:blip r:embed="rId2"/>
          <a:srcRect l="8356" t="10817" r="6086" b="7878"/>
          <a:stretch/>
        </p:blipFill>
        <p:spPr>
          <a:xfrm>
            <a:off x="4870440" y="3529080"/>
            <a:ext cx="1454040" cy="1068480"/>
          </a:xfrm>
          <a:prstGeom prst="rect">
            <a:avLst/>
          </a:prstGeom>
          <a:noFill/>
          <a:ln w="0">
            <a:noFill/>
          </a:ln>
        </p:spPr>
      </p:pic>
      <p:sp>
        <p:nvSpPr>
          <p:cNvPr id="27" name=""/>
          <p:cNvSpPr/>
          <p:nvPr/>
        </p:nvSpPr>
        <p:spPr>
          <a:xfrm>
            <a:off x="4724280" y="4800600"/>
            <a:ext cx="1905120" cy="715680"/>
          </a:xfrm>
          <a:prstGeom prst="rect">
            <a:avLst/>
          </a:prstGeom>
          <a:noFill/>
          <a:ln w="0">
            <a:noFill/>
          </a:ln>
        </p:spPr>
        <p:style>
          <a:lnRef idx="0"/>
          <a:fillRef idx="0"/>
          <a:effectRef idx="0"/>
          <a:fontRef idx="minor"/>
        </p:style>
        <p:txBody>
          <a:bodyPr lIns="18360" rIns="18360" tIns="18360" bIns="18360" anchor="t">
            <a:spAutoFit/>
          </a:bodyPr>
          <a:p>
            <a:pPr>
              <a:lnSpc>
                <a:spcPct val="15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1" lang="en-IN" sz="700" strike="noStrike" u="none">
                <a:solidFill>
                  <a:srgbClr val="000000"/>
                </a:solidFill>
                <a:effectLst/>
                <a:uFillTx/>
                <a:latin typeface="Times New Roman"/>
                <a:ea typeface="Times New Roman"/>
              </a:rPr>
              <a:t>7.2. GODAS validation-2</a:t>
            </a:r>
            <a:endParaRPr b="0" lang="en-IN" sz="7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endParaRPr b="0" lang="en-IN" sz="1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The biases may be time-dependent. As indicated below, tropical surface oceans of the GODAS exhibits warm biases before 1990 and cold biases after 1990, which might be associated with large increases in TAO observations as proposed by Xue and Behringer (2005).</a:t>
            </a:r>
            <a:endParaRPr b="0" lang="en-IN" sz="600" strike="noStrike" u="none">
              <a:solidFill>
                <a:srgbClr val="000000"/>
              </a:solidFill>
              <a:effectLst/>
              <a:uFillTx/>
              <a:latin typeface="Arial"/>
            </a:endParaRPr>
          </a:p>
        </p:txBody>
      </p:sp>
      <p:pic>
        <p:nvPicPr>
          <p:cNvPr id="28" name="" descr=""/>
          <p:cNvPicPr/>
          <p:nvPr/>
        </p:nvPicPr>
        <p:blipFill>
          <a:blip r:embed="rId3"/>
          <a:srcRect l="6812" t="9757" r="6812" b="5879"/>
          <a:stretch/>
        </p:blipFill>
        <p:spPr>
          <a:xfrm>
            <a:off x="4894200" y="5549760"/>
            <a:ext cx="1481040" cy="1119240"/>
          </a:xfrm>
          <a:prstGeom prst="rect">
            <a:avLst/>
          </a:prstGeom>
          <a:noFill/>
          <a:ln w="0">
            <a:noFill/>
          </a:ln>
        </p:spPr>
      </p:pic>
      <p:sp>
        <p:nvSpPr>
          <p:cNvPr id="29" name=""/>
          <p:cNvSpPr/>
          <p:nvPr/>
        </p:nvSpPr>
        <p:spPr>
          <a:xfrm>
            <a:off x="7010280" y="762120"/>
            <a:ext cx="1905120" cy="721800"/>
          </a:xfrm>
          <a:prstGeom prst="rect">
            <a:avLst/>
          </a:prstGeom>
          <a:noFill/>
          <a:ln w="0">
            <a:noFill/>
          </a:ln>
        </p:spPr>
        <p:style>
          <a:lnRef idx="0"/>
          <a:fillRef idx="0"/>
          <a:effectRef idx="0"/>
          <a:fontRef idx="minor"/>
        </p:style>
        <p:txBody>
          <a:bodyPr lIns="18360" rIns="18360" tIns="18360" bIns="18360" anchor="t">
            <a:spAutoFit/>
          </a:bodyPr>
          <a:p>
            <a:pPr>
              <a:lnSpc>
                <a:spcPct val="15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1" lang="en-IN" sz="700" strike="noStrike" u="none">
                <a:solidFill>
                  <a:srgbClr val="000000"/>
                </a:solidFill>
                <a:effectLst/>
                <a:uFillTx/>
                <a:latin typeface="Times New Roman"/>
                <a:ea typeface="Times New Roman"/>
              </a:rPr>
              <a:t>7.3. GODAS validation-3</a:t>
            </a:r>
            <a:endParaRPr b="0" lang="en-IN" sz="700" strike="noStrike" u="none">
              <a:solidFill>
                <a:srgbClr val="000000"/>
              </a:solidFill>
              <a:effectLst/>
              <a:uFillTx/>
              <a:latin typeface="Arial"/>
            </a:endParaRPr>
          </a:p>
          <a:p>
            <a:pPr>
              <a:lnSpc>
                <a:spcPct val="15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endParaRPr b="0" lang="en-IN" sz="1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The biases may also be season-dependent. The SST deviations from OISST near 50ºN indicate the North Pacific is generally colder in winter and warmer in summer than observations. Similar biases were also found in the North Atlantic and the Southern Ocean.</a:t>
            </a:r>
            <a:endParaRPr b="0" lang="en-IN" sz="600" strike="noStrike" u="none">
              <a:solidFill>
                <a:srgbClr val="000000"/>
              </a:solidFill>
              <a:effectLst/>
              <a:uFillTx/>
              <a:latin typeface="Arial"/>
            </a:endParaRPr>
          </a:p>
        </p:txBody>
      </p:sp>
      <p:pic>
        <p:nvPicPr>
          <p:cNvPr id="30" name="" descr=""/>
          <p:cNvPicPr/>
          <p:nvPr/>
        </p:nvPicPr>
        <p:blipFill>
          <a:blip r:embed="rId4"/>
          <a:srcRect l="6812" t="8818" r="6086" b="5879"/>
          <a:stretch/>
        </p:blipFill>
        <p:spPr>
          <a:xfrm>
            <a:off x="7162920" y="1608120"/>
            <a:ext cx="1498320" cy="1135080"/>
          </a:xfrm>
          <a:prstGeom prst="rect">
            <a:avLst/>
          </a:prstGeom>
          <a:noFill/>
          <a:ln w="0">
            <a:noFill/>
          </a:ln>
        </p:spPr>
      </p:pic>
      <p:sp>
        <p:nvSpPr>
          <p:cNvPr id="31" name=""/>
          <p:cNvSpPr/>
          <p:nvPr/>
        </p:nvSpPr>
        <p:spPr>
          <a:xfrm>
            <a:off x="4724280" y="762120"/>
            <a:ext cx="1905120" cy="616680"/>
          </a:xfrm>
          <a:prstGeom prst="rect">
            <a:avLst/>
          </a:prstGeom>
          <a:noFill/>
          <a:ln w="0">
            <a:noFill/>
          </a:ln>
        </p:spPr>
        <p:style>
          <a:lnRef idx="0"/>
          <a:fillRef idx="0"/>
          <a:effectRef idx="0"/>
          <a:fontRef idx="minor"/>
        </p:style>
        <p:txBody>
          <a:bodyPr lIns="18360" rIns="18360" tIns="18360" bIns="18360" anchor="t">
            <a:spAutoFit/>
          </a:bodyPr>
          <a:p>
            <a:pPr>
              <a:lnSpc>
                <a:spcPct val="12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1" lang="en-IN" sz="700" strike="noStrike" u="none">
                <a:solidFill>
                  <a:srgbClr val="000000"/>
                </a:solidFill>
                <a:effectLst/>
                <a:uFillTx/>
                <a:latin typeface="Times New Roman"/>
                <a:ea typeface="Times New Roman"/>
              </a:rPr>
              <a:t>6. Web site updated at real-time</a:t>
            </a:r>
            <a:endParaRPr b="0" lang="en-IN" sz="7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endParaRPr b="0" lang="en-IN" sz="3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Visualized monthly and pentad averages are updated at real-time as indicated in the following example for 20ºC isotherm depth anomaly in 2005, where east-propagating Kelvin wave activities were evident.</a:t>
            </a:r>
            <a:endParaRPr b="0" lang="en-IN" sz="600" strike="noStrike" u="none">
              <a:solidFill>
                <a:srgbClr val="000000"/>
              </a:solidFill>
              <a:effectLst/>
              <a:uFillTx/>
              <a:latin typeface="Arial"/>
            </a:endParaRPr>
          </a:p>
        </p:txBody>
      </p:sp>
      <p:pic>
        <p:nvPicPr>
          <p:cNvPr id="32" name="" descr=""/>
          <p:cNvPicPr/>
          <p:nvPr/>
        </p:nvPicPr>
        <p:blipFill>
          <a:blip r:embed="rId5"/>
          <a:srcRect l="8356" t="9757" r="4541" b="5879"/>
          <a:stretch/>
        </p:blipFill>
        <p:spPr>
          <a:xfrm>
            <a:off x="4876920" y="1371600"/>
            <a:ext cx="1490400" cy="1114560"/>
          </a:xfrm>
          <a:prstGeom prst="rect">
            <a:avLst/>
          </a:prstGeom>
          <a:noFill/>
          <a:ln w="0">
            <a:noFill/>
          </a:ln>
        </p:spPr>
      </p:pic>
      <p:sp>
        <p:nvSpPr>
          <p:cNvPr id="33" name=""/>
          <p:cNvSpPr/>
          <p:nvPr/>
        </p:nvSpPr>
        <p:spPr>
          <a:xfrm>
            <a:off x="2408400" y="777960"/>
            <a:ext cx="1935000" cy="806760"/>
          </a:xfrm>
          <a:prstGeom prst="rect">
            <a:avLst/>
          </a:prstGeom>
          <a:noFill/>
          <a:ln w="0">
            <a:noFill/>
          </a:ln>
        </p:spPr>
        <p:style>
          <a:lnRef idx="0"/>
          <a:fillRef idx="0"/>
          <a:effectRef idx="0"/>
          <a:fontRef idx="minor"/>
        </p:style>
        <p:txBody>
          <a:bodyPr lIns="18360" rIns="18360" tIns="18360" bIns="18360" anchor="t">
            <a:spAutoFit/>
          </a:bodyPr>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1" lang="en-IN" sz="700" strike="noStrike" u="none">
                <a:solidFill>
                  <a:srgbClr val="000000"/>
                </a:solidFill>
                <a:effectLst/>
                <a:uFillTx/>
                <a:latin typeface="Times New Roman"/>
                <a:ea typeface="Times New Roman"/>
              </a:rPr>
              <a:t>4. Temperature profiles assimilated in GODAS</a:t>
            </a:r>
            <a:endParaRPr b="0" lang="en-IN" sz="7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endParaRPr b="0" lang="en-IN" sz="300" strike="noStrike" u="none">
              <a:solidFill>
                <a:srgbClr val="000000"/>
              </a:solidFill>
              <a:effectLst/>
              <a:uFillTx/>
              <a:latin typeface="Arial"/>
            </a:endParaRPr>
          </a:p>
          <a:p>
            <a:pPr>
              <a:lnSpc>
                <a:spcPct val="11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To show users the effectiveness of ocean observing system, temperature profile distributions and counts from XBT, TAO/TRITON/PIRATA, and Argo observations used in GODAS are illustrated in the following examples: the profile distribution in 2004 and profile counts from 1979 to 2005 at five latitudinal bands. </a:t>
            </a:r>
            <a:endParaRPr b="0" lang="en-IN" sz="600" strike="noStrike" u="none">
              <a:solidFill>
                <a:srgbClr val="000000"/>
              </a:solidFill>
              <a:effectLst/>
              <a:uFillTx/>
              <a:latin typeface="Arial"/>
            </a:endParaRPr>
          </a:p>
        </p:txBody>
      </p:sp>
      <p:pic>
        <p:nvPicPr>
          <p:cNvPr id="34" name="" descr=""/>
          <p:cNvPicPr/>
          <p:nvPr/>
        </p:nvPicPr>
        <p:blipFill>
          <a:blip r:embed="rId6"/>
          <a:srcRect l="8356" t="6818" r="4541" b="11757"/>
          <a:stretch/>
        </p:blipFill>
        <p:spPr>
          <a:xfrm>
            <a:off x="2590920" y="1600200"/>
            <a:ext cx="1581120" cy="1141560"/>
          </a:xfrm>
          <a:prstGeom prst="rect">
            <a:avLst/>
          </a:prstGeom>
          <a:noFill/>
          <a:ln w="0">
            <a:noFill/>
          </a:ln>
        </p:spPr>
      </p:pic>
      <p:pic>
        <p:nvPicPr>
          <p:cNvPr id="35" name="" descr=""/>
          <p:cNvPicPr/>
          <p:nvPr/>
        </p:nvPicPr>
        <p:blipFill>
          <a:blip r:embed="rId7"/>
          <a:srcRect l="8824" t="9817" r="8939" b="25000"/>
          <a:stretch/>
        </p:blipFill>
        <p:spPr>
          <a:xfrm>
            <a:off x="2712960" y="2778120"/>
            <a:ext cx="1401840" cy="1438200"/>
          </a:xfrm>
          <a:prstGeom prst="rect">
            <a:avLst/>
          </a:prstGeom>
          <a:noFill/>
          <a:ln w="0">
            <a:noFill/>
          </a:ln>
        </p:spPr>
      </p:pic>
      <p:sp>
        <p:nvSpPr>
          <p:cNvPr id="36" name=""/>
          <p:cNvSpPr/>
          <p:nvPr/>
        </p:nvSpPr>
        <p:spPr>
          <a:xfrm rot="16200000">
            <a:off x="1987560" y="3476520"/>
            <a:ext cx="1239120" cy="1854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600" strike="noStrike" u="none">
                <a:solidFill>
                  <a:srgbClr val="000000"/>
                </a:solidFill>
                <a:effectLst/>
                <a:uFillTx/>
                <a:latin typeface="Arial"/>
              </a:rPr>
              <a:t>Temperature profile numbers</a:t>
            </a:r>
            <a:endParaRPr b="0" lang="en-IN" sz="600" strike="noStrike" u="none">
              <a:solidFill>
                <a:srgbClr val="000000"/>
              </a:solidFill>
              <a:effectLst/>
              <a:uFillTx/>
              <a:latin typeface="Arial"/>
            </a:endParaRPr>
          </a:p>
        </p:txBody>
      </p:sp>
      <p:sp>
        <p:nvSpPr>
          <p:cNvPr id="37" name=""/>
          <p:cNvSpPr/>
          <p:nvPr/>
        </p:nvSpPr>
        <p:spPr>
          <a:xfrm>
            <a:off x="7010280" y="4876920"/>
            <a:ext cx="1905120" cy="1469520"/>
          </a:xfrm>
          <a:prstGeom prst="rect">
            <a:avLst/>
          </a:prstGeom>
          <a:noFill/>
          <a:ln w="0">
            <a:noFill/>
          </a:ln>
        </p:spPr>
        <p:style>
          <a:lnRef idx="0"/>
          <a:fillRef idx="0"/>
          <a:effectRef idx="0"/>
          <a:fontRef idx="minor"/>
        </p:style>
        <p:txBody>
          <a:bodyPr lIns="18360" rIns="18360" tIns="18360" bIns="18360" anchor="t">
            <a:spAutoFit/>
          </a:bodyPr>
          <a:p>
            <a:pPr marL="114480" indent="-114480">
              <a:lnSpc>
                <a:spcPct val="10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1" lang="en-IN" sz="700" strike="noStrike" u="none">
                <a:solidFill>
                  <a:srgbClr val="000000"/>
                </a:solidFill>
                <a:effectLst/>
                <a:uFillTx/>
                <a:latin typeface="Times New Roman"/>
                <a:ea typeface="Times New Roman"/>
              </a:rPr>
              <a:t>References</a:t>
            </a:r>
            <a:endParaRPr b="0" lang="en-IN" sz="700" strike="noStrike" u="none">
              <a:solidFill>
                <a:srgbClr val="000000"/>
              </a:solidFill>
              <a:effectLst/>
              <a:uFillTx/>
              <a:latin typeface="Arial"/>
            </a:endParaRPr>
          </a:p>
          <a:p>
            <a:pPr marL="114480" indent="-114480">
              <a:lnSpc>
                <a:spcPct val="10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endParaRPr b="0" lang="en-IN" sz="300" strike="noStrike" u="none">
              <a:solidFill>
                <a:srgbClr val="000000"/>
              </a:solidFill>
              <a:effectLst/>
              <a:uFillTx/>
              <a:latin typeface="Arial"/>
            </a:endParaRPr>
          </a:p>
          <a:p>
            <a:pPr marL="114480" indent="-114480">
              <a:lnSpc>
                <a:spcPct val="10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Behringer, D.W., and Y. Xue, 2004: Evaluation of the global ocean data assimilation system at NCEP: The Pacific Ocean. Eighth Symposium on Integrated Observing and Assimilation Systems for Atmosphere, Oceans, and Land Surface, AMS 84th Annual Meeting, Washington State Convention and Trade Center, Seattle, Washington, 11-15.</a:t>
            </a:r>
            <a:endParaRPr b="0" lang="en-IN" sz="600" strike="noStrike" u="none">
              <a:solidFill>
                <a:srgbClr val="000000"/>
              </a:solidFill>
              <a:effectLst/>
              <a:uFillTx/>
              <a:latin typeface="Arial"/>
            </a:endParaRPr>
          </a:p>
          <a:p>
            <a:pPr marL="114480" indent="-114480">
              <a:lnSpc>
                <a:spcPct val="10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endParaRPr b="0" lang="en-IN" sz="300" strike="noStrike" u="none">
              <a:solidFill>
                <a:srgbClr val="000000"/>
              </a:solidFill>
              <a:effectLst/>
              <a:uFillTx/>
              <a:latin typeface="Arial"/>
            </a:endParaRPr>
          </a:p>
          <a:p>
            <a:pPr marL="114480" indent="-114480">
              <a:lnSpc>
                <a:spcPct val="10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Ji, M., A. Leetmaa, and J. Derber, 1995: An ocean analysis system for seasonal to interannual climate studies. Mon. Wea. Rev., 123, 460-481.</a:t>
            </a:r>
            <a:endParaRPr b="0" lang="en-IN" sz="600" strike="noStrike" u="none">
              <a:solidFill>
                <a:srgbClr val="000000"/>
              </a:solidFill>
              <a:effectLst/>
              <a:uFillTx/>
              <a:latin typeface="Arial"/>
            </a:endParaRPr>
          </a:p>
          <a:p>
            <a:pPr marL="114480" indent="-114480">
              <a:lnSpc>
                <a:spcPct val="10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endParaRPr b="0" lang="en-IN" sz="300" strike="noStrike" u="none">
              <a:solidFill>
                <a:srgbClr val="000000"/>
              </a:solidFill>
              <a:effectLst/>
              <a:uFillTx/>
              <a:latin typeface="Arial"/>
            </a:endParaRPr>
          </a:p>
          <a:p>
            <a:pPr marL="114480" indent="-114480">
              <a:lnSpc>
                <a:spcPct val="100000"/>
              </a:lnSpc>
              <a:tabLst>
                <a:tab algn="l" pos="0"/>
                <a:tab algn="l" pos="182520"/>
                <a:tab algn="l" pos="365040"/>
                <a:tab algn="l" pos="547560"/>
                <a:tab algn="l" pos="730080"/>
                <a:tab algn="l" pos="912960"/>
                <a:tab algn="l" pos="1095480"/>
                <a:tab algn="l" pos="1278000"/>
                <a:tab algn="l" pos="1460520"/>
                <a:tab algn="l" pos="1643040"/>
                <a:tab algn="l" pos="1825560"/>
                <a:tab algn="l" pos="2008080"/>
                <a:tab algn="l" pos="2190600"/>
                <a:tab algn="l" pos="2373480"/>
                <a:tab algn="l" pos="2556000"/>
                <a:tab algn="l" pos="2738520"/>
                <a:tab algn="l" pos="2921040"/>
                <a:tab algn="l" pos="3103560"/>
                <a:tab algn="l" pos="3286080"/>
                <a:tab algn="l" pos="3468600"/>
                <a:tab algn="l" pos="3651120"/>
              </a:tabLst>
            </a:pPr>
            <a:r>
              <a:rPr b="0" lang="en-IN" sz="600" strike="noStrike" u="none">
                <a:solidFill>
                  <a:srgbClr val="000000"/>
                </a:solidFill>
                <a:effectLst/>
                <a:uFillTx/>
                <a:latin typeface="Times New Roman"/>
                <a:ea typeface="Times New Roman"/>
              </a:rPr>
              <a:t>Xue, Y., and Behringer, D.W., 2005: Operational global ocean data assimilation system at NCEP, to be submitted to BAMS.</a:t>
            </a:r>
            <a:endParaRPr b="0" lang="en-IN" sz="600" strike="noStrike" u="none">
              <a:solidFill>
                <a:srgbClr val="000000"/>
              </a:solidFill>
              <a:effectLst/>
              <a:uFillTx/>
              <a:latin typeface="Arial"/>
            </a:endParaRPr>
          </a:p>
        </p:txBody>
      </p:sp>
      <p:pic>
        <p:nvPicPr>
          <p:cNvPr id="38" name="" descr=""/>
          <p:cNvPicPr/>
          <p:nvPr/>
        </p:nvPicPr>
        <p:blipFill>
          <a:blip r:embed="rId8"/>
          <a:srcRect l="8299" t="12268" r="18299" b="22268"/>
          <a:stretch/>
        </p:blipFill>
        <p:spPr>
          <a:xfrm>
            <a:off x="2514600" y="5543640"/>
            <a:ext cx="1682640" cy="1125360"/>
          </a:xfrm>
          <a:prstGeom prst="rect">
            <a:avLst/>
          </a:prstGeom>
          <a:noFill/>
          <a:ln w="0">
            <a:noFill/>
          </a:ln>
        </p:spPr>
      </p:pic>
      <p:pic>
        <p:nvPicPr>
          <p:cNvPr id="39" name="" descr="">
            <a:hlinkClick r:id="rId9"/>
          </p:cNvPr>
          <p:cNvPicPr/>
          <p:nvPr/>
        </p:nvPicPr>
        <p:blipFill>
          <a:blip r:embed="rId10"/>
          <a:stretch/>
        </p:blipFill>
        <p:spPr>
          <a:xfrm>
            <a:off x="8196120" y="158760"/>
            <a:ext cx="520920" cy="52056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3169</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2004-05-04T08:04:41Z</dcterms:created>
  <dc:creator>Lihang Zhou</dc:creator>
  <dc:description/>
  <dc:language>en-IN</dc:language>
  <cp:lastModifiedBy>hboyin</cp:lastModifiedBy>
  <dcterms:modified xsi:type="dcterms:W3CDTF">2005-10-11T11:43:27Z</dcterms:modified>
  <cp:revision>169</cp:revision>
  <dc:subject/>
  <dc:title>Slide 1</dc:title>
</cp:coreProperties>
</file>