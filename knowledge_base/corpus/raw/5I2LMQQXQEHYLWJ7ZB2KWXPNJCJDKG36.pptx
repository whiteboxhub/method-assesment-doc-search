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4.xml" ContentType="application/vnd.openxmlformats-officedocument.presentationml.notesSlide+xml"/>
  <Override PartName="/ppt/notesSlides/notesSlide1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_rels/notesSlide12.xml.rels" ContentType="application/vnd.openxmlformats-package.relationships+xml"/>
  <Override PartName="/ppt/notesSlides/_rels/notesSlide4.xml.rels" ContentType="application/vnd.openxmlformats-package.relationships+xml"/>
  <Override PartName="/ppt/notesSlides/_rels/notesSlide16.xml.rels" ContentType="application/vnd.openxmlformats-package.relationships+xml"/>
  <Override PartName="/ppt/notesSlides/_rels/notesSlide5.xml.rels" ContentType="application/vnd.openxmlformats-package.relationships+xml"/>
  <Override PartName="/ppt/notesSlides/_rels/notesSlide17.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media/image1.wmf" ContentType="image/x-wmf"/>
  <Override PartName="/ppt/media/image2.wmf" ContentType="image/x-wmf"/>
  <Override PartName="/ppt/media/image3.wmf" ContentType="image/x-wmf"/>
  <Override PartName="/ppt/media/image4.wmf" ContentType="image/x-wmf"/>
  <Override PartName="/ppt/media/image5.wmf" ContentType="image/x-wmf"/>
  <Override PartName="/ppt/media/image6.wmf" ContentType="image/x-wmf"/>
  <Override PartName="/ppt/media/image7.wmf" ContentType="image/x-wmf"/>
  <Override PartName="/ppt/media/image8.wmf" ContentType="image/x-wmf"/>
  <Override PartName="/ppt/media/image9.wmf" ContentType="image/x-wmf"/>
  <Override PartName="/ppt/media/image10.wmf" ContentType="image/x-wmf"/>
  <Override PartName="/ppt/media/image11.wmf" ContentType="image/x-wmf"/>
  <Override PartName="/ppt/media/image12.wmf" ContentType="image/x-wmf"/>
  <Override PartName="/ppt/media/image13.wmf" ContentType="image/x-wmf"/>
  <Override PartName="/ppt/media/image14.wmf" ContentType="image/x-wmf"/>
  <Override PartName="/ppt/media/image15.wmf" ContentType="image/x-wmf"/>
  <Override PartName="/ppt/media/image16.wmf" ContentType="image/x-wmf"/>
  <Override PartName="/ppt/media/image17.wmf" ContentType="image/x-wmf"/>
  <Override PartName="/ppt/media/image18.wmf" ContentType="image/x-wmf"/>
  <Override PartName="/ppt/media/image19.wmf" ContentType="image/x-wmf"/>
  <Override PartName="/ppt/media/image20.wmf" ContentType="image/x-wmf"/>
  <Override PartName="/ppt/media/image21.wmf" ContentType="image/x-wmf"/>
  <Override PartName="/ppt/media/image22.wmf" ContentType="image/x-wmf"/>
  <Override PartName="/ppt/media/image23.wmf" ContentType="image/x-wmf"/>
  <Override PartName="/ppt/media/image24.wmf" ContentType="image/x-wmf"/>
  <Override PartName="/ppt/media/image25.wmf" ContentType="image/x-wmf"/>
  <Override PartName="/ppt/media/image26.wmf" ContentType="image/x-wmf"/>
  <Override PartName="/ppt/media/image27.wmf" ContentType="image/x-wmf"/>
  <Override PartName="/ppt/media/image28.wmf" ContentType="image/x-wmf"/>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9144000" cy="6858000"/>
  <p:notesSz cx="6858000" cy="9294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
          <p:cNvSpPr/>
          <p:nvPr/>
        </p:nvSpPr>
        <p:spPr>
          <a:xfrm>
            <a:off x="0" y="0"/>
            <a:ext cx="6858000" cy="9295200"/>
          </a:xfrm>
          <a:prstGeom prst="rect">
            <a:avLst/>
          </a:prstGeom>
          <a:solidFill>
            <a:srgbClr val="ffffff"/>
          </a:solidFill>
          <a:ln w="0">
            <a:noFill/>
          </a:ln>
        </p:spPr>
        <p:txBody>
          <a:bodyPr lIns="90000" rIns="90000" tIns="45000" bIns="45000" anchor="ctr" anchorCtr="1">
            <a:noAutofit/>
          </a:bodyPr>
          <a:p>
            <a:endParaRPr b="0" lang="en-IN" sz="1800" strike="noStrike" u="none">
              <a:solidFill>
                <a:srgbClr val="000000"/>
              </a:solidFill>
              <a:effectLst/>
              <a:uFillTx/>
              <a:latin typeface="Arial"/>
            </a:endParaRPr>
          </a:p>
        </p:txBody>
      </p:sp>
      <p:sp>
        <p:nvSpPr>
          <p:cNvPr id="16" name="PlaceHolder 1"/>
          <p:cNvSpPr>
            <a:spLocks noGrp="1"/>
          </p:cNvSpPr>
          <p:nvPr>
            <p:ph type="hdr"/>
          </p:nvPr>
        </p:nvSpPr>
        <p:spPr>
          <a:xfrm>
            <a:off x="-360" y="0"/>
            <a:ext cx="2971800" cy="46512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&lt;header&gt;</a:t>
            </a:r>
            <a:endParaRPr b="0" lang="en-IN" sz="1200" strike="noStrike" u="none">
              <a:solidFill>
                <a:srgbClr val="000000"/>
              </a:solidFill>
              <a:effectLst/>
              <a:uFillTx/>
              <a:latin typeface="Arial"/>
            </a:endParaRPr>
          </a:p>
        </p:txBody>
      </p:sp>
      <p:sp>
        <p:nvSpPr>
          <p:cNvPr id="17" name="PlaceHolder 2"/>
          <p:cNvSpPr>
            <a:spLocks noGrp="1"/>
          </p:cNvSpPr>
          <p:nvPr>
            <p:ph type="dt" idx="4"/>
          </p:nvPr>
        </p:nvSpPr>
        <p:spPr>
          <a:xfrm>
            <a:off x="3884400" y="0"/>
            <a:ext cx="2971800" cy="46512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&lt;date/time&gt;</a:t>
            </a:r>
            <a:endParaRPr b="0" lang="en-IN" sz="1200" strike="noStrike" u="none">
              <a:solidFill>
                <a:srgbClr val="000000"/>
              </a:solidFill>
              <a:effectLst/>
              <a:uFillTx/>
              <a:latin typeface="Arial"/>
            </a:endParaRPr>
          </a:p>
        </p:txBody>
      </p:sp>
      <p:sp>
        <p:nvSpPr>
          <p:cNvPr id="18" name="PlaceHolder 3"/>
          <p:cNvSpPr>
            <a:spLocks noGrp="1"/>
          </p:cNvSpPr>
          <p:nvPr>
            <p:ph type="sldImg"/>
          </p:nvPr>
        </p:nvSpPr>
        <p:spPr>
          <a:xfrm>
            <a:off x="1104840" y="696960"/>
            <a:ext cx="4648320" cy="3486240"/>
          </a:xfrm>
          <a:prstGeom prst="rect">
            <a:avLst/>
          </a:prstGeom>
          <a:solidFill>
            <a:srgbClr val="ffffff"/>
          </a:solidFill>
          <a:ln w="936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Arial"/>
              </a:rPr>
              <a:t>Click to move the slide</a:t>
            </a:r>
            <a:endParaRPr b="0" lang="en-IN" sz="4400" strike="noStrike" u="none">
              <a:solidFill>
                <a:srgbClr val="000000"/>
              </a:solidFill>
              <a:effectLst/>
              <a:uFillTx/>
              <a:latin typeface="Arial"/>
            </a:endParaRPr>
          </a:p>
        </p:txBody>
      </p:sp>
      <p:sp>
        <p:nvSpPr>
          <p:cNvPr id="19" name="PlaceHolder 4"/>
          <p:cNvSpPr>
            <a:spLocks noGrp="1"/>
          </p:cNvSpPr>
          <p:nvPr>
            <p:ph type="body"/>
          </p:nvPr>
        </p:nvSpPr>
        <p:spPr>
          <a:xfrm>
            <a:off x="685800" y="4416120"/>
            <a:ext cx="5486400" cy="418284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Click to edit the notes format</a:t>
            </a:r>
            <a:endParaRPr b="0" lang="en-IN" sz="1200" strike="noStrike" u="none">
              <a:solidFill>
                <a:srgbClr val="000000"/>
              </a:solidFill>
              <a:effectLst/>
              <a:uFillTx/>
              <a:latin typeface="Arial"/>
            </a:endParaRPr>
          </a:p>
        </p:txBody>
      </p:sp>
      <p:sp>
        <p:nvSpPr>
          <p:cNvPr id="20" name="PlaceHolder 5"/>
          <p:cNvSpPr>
            <a:spLocks noGrp="1"/>
          </p:cNvSpPr>
          <p:nvPr>
            <p:ph type="ftr" idx="5"/>
          </p:nvPr>
        </p:nvSpPr>
        <p:spPr>
          <a:xfrm>
            <a:off x="-360" y="8829720"/>
            <a:ext cx="2971800" cy="465120"/>
          </a:xfrm>
          <a:prstGeom prst="rect">
            <a:avLst/>
          </a:prstGeom>
          <a:noFill/>
          <a:ln w="0">
            <a:noFill/>
          </a:ln>
        </p:spPr>
        <p:txBody>
          <a:bodyPr lIns="90000" rIns="90000" tIns="46800" bIns="46800" anchor="b">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Arial"/>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&lt;footer&gt;</a:t>
            </a:r>
            <a:endParaRPr b="0" lang="en-IN" sz="1200" strike="noStrike" u="none">
              <a:solidFill>
                <a:srgbClr val="000000"/>
              </a:solidFill>
              <a:effectLst/>
              <a:uFillTx/>
              <a:latin typeface="Arial"/>
            </a:endParaRPr>
          </a:p>
        </p:txBody>
      </p:sp>
      <p:sp>
        <p:nvSpPr>
          <p:cNvPr id="21" name="PlaceHolder 6"/>
          <p:cNvSpPr>
            <a:spLocks noGrp="1"/>
          </p:cNvSpPr>
          <p:nvPr>
            <p:ph type="sldNum" idx="6"/>
          </p:nvPr>
        </p:nvSpPr>
        <p:spPr>
          <a:xfrm>
            <a:off x="3884400" y="8829720"/>
            <a:ext cx="2971800" cy="46512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D1DC8EC-AE45-445E-AD5F-C1B8B3D7DAE4}" type="slidenum">
              <a:rPr b="0" lang="en-US" sz="1200" strike="noStrike" u="none">
                <a:solidFill>
                  <a:srgbClr val="000000"/>
                </a:solidFill>
                <a:effectLst/>
                <a:uFillTx/>
                <a:latin typeface="Arial"/>
              </a:rPr>
              <a:t>&lt;number&gt;</a:t>
            </a:fld>
            <a:endParaRPr b="0" lang="en-IN" sz="1200" strike="noStrike" u="none">
              <a:solidFill>
                <a:srgbClr val="000000"/>
              </a:solidFill>
              <a:effectLst/>
              <a:uFillTx/>
              <a:latin typeface="Arial"/>
            </a:endParaRPr>
          </a:p>
        </p:txBody>
      </p:sp>
    </p:spTree>
  </p:cSld>
  <p:clrMap bg1="lt1" bg2="lt2" tx1="dk1" tx2="dk2" accent1="accent1" accent2="accent2" accent3="accent3" accent4="accent4" accent5="accent5" accent6="accent6" hlink="hlink" folHlink="folHlink"/>
</p:notesMaster>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sldImg"/>
          </p:nvPr>
        </p:nvSpPr>
        <p:spPr>
          <a:xfrm>
            <a:off x="1104840" y="696960"/>
            <a:ext cx="4648320" cy="3486240"/>
          </a:xfrm>
          <a:prstGeom prst="rect">
            <a:avLst/>
          </a:prstGeom>
          <a:ln w="0">
            <a:noFill/>
          </a:ln>
        </p:spPr>
      </p:sp>
      <p:sp>
        <p:nvSpPr>
          <p:cNvPr id="374" name="PlaceHolder 2"/>
          <p:cNvSpPr>
            <a:spLocks noGrp="1"/>
          </p:cNvSpPr>
          <p:nvPr>
            <p:ph type="body"/>
          </p:nvPr>
        </p:nvSpPr>
        <p:spPr>
          <a:xfrm>
            <a:off x="685800" y="4417560"/>
            <a:ext cx="5486400" cy="4181400"/>
          </a:xfrm>
          <a:prstGeom prst="rect">
            <a:avLst/>
          </a:prstGeom>
          <a:noFill/>
          <a:ln w="0">
            <a:noFill/>
          </a:ln>
        </p:spPr>
        <p:txBody>
          <a:bodyPr lIns="90000" rIns="90000" tIns="46800" bIns="46800" anchor="t">
            <a:noAutofit/>
          </a:bodyPr>
          <a:p>
            <a:pPr marL="177840" indent="-17784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Notes:</a:t>
            </a:r>
            <a:endParaRPr b="0" lang="en-IN" sz="1200" strike="noStrike" u="none">
              <a:solidFill>
                <a:srgbClr val="000000"/>
              </a:solidFill>
              <a:effectLst/>
              <a:uFillTx/>
              <a:latin typeface="Arial"/>
            </a:endParaRPr>
          </a:p>
          <a:p>
            <a:pPr marL="177840" indent="-17784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Plan &amp; Align Workforce is the foundation for the remaining four key HRM functions.</a:t>
            </a:r>
            <a:endParaRPr b="0" lang="en-IN" sz="1200" strike="noStrike" u="none">
              <a:solidFill>
                <a:srgbClr val="000000"/>
              </a:solidFill>
              <a:effectLst/>
              <a:uFillTx/>
              <a:latin typeface="Arial"/>
            </a:endParaRPr>
          </a:p>
          <a:p>
            <a:pPr marL="177840" indent="-17784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Ideally, each agency should have a comprehensive workforce plan that aligns staffing levels and competencies with business priorities, and identifies strategies to close workforce gaps. Most agencies do not have a workforce plan (a key reason WA did not get an A on Grading of the States). A future action step is to institute workforce planning in the state.</a:t>
            </a:r>
            <a:endParaRPr b="0" lang="en-IN" sz="1200" strike="noStrike" u="none">
              <a:solidFill>
                <a:srgbClr val="000000"/>
              </a:solidFill>
              <a:effectLst/>
              <a:uFillTx/>
              <a:latin typeface="Arial"/>
            </a:endParaRPr>
          </a:p>
          <a:p>
            <a:pPr marL="177840" indent="-17784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77840" indent="-17784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Right now, as a starting point, managers need to know what their HRM responsibilities and performance expectations are. This includes an understanding of the master agreement provisions and new HR policies. Of the XX agencies with represented employees that responded to our inquiry, XX had trained the majority of their managers on those provisions.</a:t>
            </a:r>
            <a:endParaRPr b="0" lang="en-IN" sz="1200" strike="noStrike" u="none">
              <a:solidFill>
                <a:srgbClr val="000000"/>
              </a:solidFill>
              <a:effectLst/>
              <a:uFillTx/>
              <a:latin typeface="Arial"/>
            </a:endParaRPr>
          </a:p>
          <a:p>
            <a:pPr marL="177840" indent="-17784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77840" indent="-17784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Next, a management accountability system needs to be in place. At this point, our best measure is whether managers are receiving performance evaluations. However, what needs to happen is implementation of the Managers HRM Report Card, so that those meaasures are incorporated in the evaluations.</a:t>
            </a:r>
            <a:endParaRPr b="0" lang="en-IN" sz="12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1104840" y="696960"/>
            <a:ext cx="4648320" cy="3486240"/>
          </a:xfrm>
          <a:prstGeom prst="rect">
            <a:avLst/>
          </a:prstGeom>
          <a:ln w="0">
            <a:noFill/>
          </a:ln>
        </p:spPr>
      </p:sp>
      <p:sp>
        <p:nvSpPr>
          <p:cNvPr id="376" name="PlaceHolder 2"/>
          <p:cNvSpPr>
            <a:spLocks noGrp="1"/>
          </p:cNvSpPr>
          <p:nvPr>
            <p:ph type="body"/>
          </p:nvPr>
        </p:nvSpPr>
        <p:spPr>
          <a:xfrm>
            <a:off x="685800" y="4417560"/>
            <a:ext cx="5486400" cy="4181400"/>
          </a:xfrm>
          <a:prstGeom prst="rect">
            <a:avLst/>
          </a:prstGeom>
          <a:noFill/>
          <a:ln w="0">
            <a:noFill/>
          </a:ln>
        </p:spPr>
        <p:txBody>
          <a:bodyPr lIns="90000" rIns="90000" tIns="46800" bIns="46800" anchor="t">
            <a:noAutofit/>
          </a:bodyPr>
          <a:p>
            <a:pPr marL="177840" indent="-17784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Arial"/>
              </a:rPr>
              <a:t>Notes:</a:t>
            </a:r>
            <a:endParaRPr b="0" lang="en-IN" sz="1200" strike="noStrike" u="none">
              <a:solidFill>
                <a:srgbClr val="000000"/>
              </a:solidFill>
              <a:effectLst/>
              <a:uFillTx/>
              <a:latin typeface="Arial"/>
            </a:endParaRPr>
          </a:p>
          <a:p>
            <a:pPr marL="177840" indent="-17784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Plan &amp; Align Workforce is the foundation for the remaining four key HRM functions.</a:t>
            </a:r>
            <a:endParaRPr b="0" lang="en-IN" sz="1200" strike="noStrike" u="none">
              <a:solidFill>
                <a:srgbClr val="000000"/>
              </a:solidFill>
              <a:effectLst/>
              <a:uFillTx/>
              <a:latin typeface="Arial"/>
            </a:endParaRPr>
          </a:p>
          <a:p>
            <a:pPr marL="177840" indent="-17784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Ideally, each agency should have a comprehensive workforce plan that aligns staffing levels and competencies with business priorities, and identifies strategies to close workforce gaps. Most agencies do not have a workforce plan (a key reason WA did not get an A on Grading of the States). A future action step is to institute workforce planning in the state.</a:t>
            </a:r>
            <a:endParaRPr b="0" lang="en-IN" sz="1200" strike="noStrike" u="none">
              <a:solidFill>
                <a:srgbClr val="000000"/>
              </a:solidFill>
              <a:effectLst/>
              <a:uFillTx/>
              <a:latin typeface="Arial"/>
            </a:endParaRPr>
          </a:p>
          <a:p>
            <a:pPr marL="177840" indent="-17784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77840" indent="-17784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Right now, as a starting point, managers need to know what their HRM responsibilities and performance expectations are. This includes an understanding of the master agreement provisions and new HR policies. Of the XX agencies with represented employees that responded to our inquiry, XX had trained the majority of their managers on those provisions.</a:t>
            </a:r>
            <a:endParaRPr b="0" lang="en-IN" sz="1200" strike="noStrike" u="none">
              <a:solidFill>
                <a:srgbClr val="000000"/>
              </a:solidFill>
              <a:effectLst/>
              <a:uFillTx/>
              <a:latin typeface="Arial"/>
            </a:endParaRPr>
          </a:p>
          <a:p>
            <a:pPr marL="177840" indent="-17784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77840" indent="-17784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Next, a management accountability system needs to be in place. At this point, our best measure is whether managers are receiving performance evaluations. However, what needs to happen is implementation of the Managers HRM Report Card, so that those meaasures are incorporated in the evaluations.</a:t>
            </a:r>
            <a:endParaRPr b="0" lang="en-IN" sz="12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Img"/>
          </p:nvPr>
        </p:nvSpPr>
        <p:spPr>
          <a:xfrm>
            <a:off x="1104840" y="696960"/>
            <a:ext cx="4648320" cy="3486240"/>
          </a:xfrm>
          <a:prstGeom prst="rect">
            <a:avLst/>
          </a:prstGeom>
          <a:ln w="0">
            <a:noFill/>
          </a:ln>
        </p:spPr>
      </p:sp>
      <p:sp>
        <p:nvSpPr>
          <p:cNvPr id="378" name="PlaceHolder 2"/>
          <p:cNvSpPr>
            <a:spLocks noGrp="1"/>
          </p:cNvSpPr>
          <p:nvPr>
            <p:ph type="body"/>
          </p:nvPr>
        </p:nvSpPr>
        <p:spPr>
          <a:xfrm>
            <a:off x="685800" y="4417560"/>
            <a:ext cx="5486400" cy="4181400"/>
          </a:xfrm>
          <a:prstGeom prst="rect">
            <a:avLst/>
          </a:prstGeom>
          <a:noFill/>
          <a:ln w="0">
            <a:noFill/>
          </a:ln>
        </p:spPr>
        <p:txBody>
          <a:bodyPr lIns="90000" rIns="90000" tIns="46800" bIns="46800" anchor="t">
            <a:noAutofit/>
          </a:bodyPr>
          <a:p>
            <a:pPr marL="228600" indent="-22860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Notes:</a:t>
            </a:r>
            <a:endParaRPr b="0" lang="en-IN" sz="12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sldImg"/>
          </p:nvPr>
        </p:nvSpPr>
        <p:spPr>
          <a:xfrm>
            <a:off x="1104840" y="696960"/>
            <a:ext cx="4648320" cy="3486240"/>
          </a:xfrm>
          <a:prstGeom prst="rect">
            <a:avLst/>
          </a:prstGeom>
          <a:ln w="0">
            <a:noFill/>
          </a:ln>
        </p:spPr>
      </p:sp>
      <p:sp>
        <p:nvSpPr>
          <p:cNvPr id="380" name="PlaceHolder 2"/>
          <p:cNvSpPr>
            <a:spLocks noGrp="1"/>
          </p:cNvSpPr>
          <p:nvPr>
            <p:ph type="body"/>
          </p:nvPr>
        </p:nvSpPr>
        <p:spPr>
          <a:xfrm>
            <a:off x="685800" y="4417560"/>
            <a:ext cx="5486400" cy="41814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Notes: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1104840" y="696960"/>
            <a:ext cx="4648320" cy="3486240"/>
          </a:xfrm>
          <a:prstGeom prst="rect">
            <a:avLst/>
          </a:prstGeom>
          <a:ln w="0">
            <a:noFill/>
          </a:ln>
        </p:spPr>
      </p:sp>
      <p:sp>
        <p:nvSpPr>
          <p:cNvPr id="382" name="PlaceHolder 2"/>
          <p:cNvSpPr>
            <a:spLocks noGrp="1"/>
          </p:cNvSpPr>
          <p:nvPr>
            <p:ph type="body"/>
          </p:nvPr>
        </p:nvSpPr>
        <p:spPr>
          <a:xfrm>
            <a:off x="685800" y="4417560"/>
            <a:ext cx="5486400" cy="41814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Notes: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1104840" y="696960"/>
            <a:ext cx="4646520" cy="3484440"/>
          </a:xfrm>
          <a:prstGeom prst="rect">
            <a:avLst/>
          </a:prstGeom>
          <a:ln w="0">
            <a:noFill/>
          </a:ln>
        </p:spPr>
      </p:sp>
      <p:sp>
        <p:nvSpPr>
          <p:cNvPr id="384" name="PlaceHolder 2"/>
          <p:cNvSpPr>
            <a:spLocks noGrp="1"/>
          </p:cNvSpPr>
          <p:nvPr>
            <p:ph type="body"/>
          </p:nvPr>
        </p:nvSpPr>
        <p:spPr>
          <a:xfrm>
            <a:off x="685800" y="4419720"/>
            <a:ext cx="5486400" cy="41796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Notes: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Trend Factors: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808080"/>
                </a:solidFill>
                <a:effectLst/>
                <a:uFillTx/>
                <a:latin typeface="Arial"/>
              </a:rPr>
              <a:t>HRISD</a:t>
            </a:r>
            <a:r>
              <a:rPr b="1" lang="en-IN" sz="1200" strike="noStrike" u="none">
                <a:solidFill>
                  <a:srgbClr val="000000"/>
                </a:solidFill>
                <a:effectLst/>
                <a:uFillTx/>
                <a:latin typeface="Arial"/>
              </a:rPr>
              <a:t> </a:t>
            </a:r>
            <a:r>
              <a:rPr b="0" lang="en-IN" sz="1200" strike="noStrike" u="none">
                <a:solidFill>
                  <a:srgbClr val="000000"/>
                </a:solidFill>
                <a:effectLst/>
                <a:uFillTx/>
                <a:latin typeface="Arial"/>
              </a:rPr>
              <a:t>– Project ending – if c</a:t>
            </a:r>
            <a:r>
              <a:rPr b="0" lang="en-IN" sz="1200" strike="noStrike" u="none">
                <a:solidFill>
                  <a:srgbClr val="808080"/>
                </a:solidFill>
                <a:effectLst/>
                <a:uFillTx/>
                <a:latin typeface="Arial"/>
              </a:rPr>
              <a:t>urrent trend continues = 8% by end of FY06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99cc00"/>
                </a:solidFill>
                <a:effectLst/>
                <a:uFillTx/>
                <a:latin typeface="Arial"/>
              </a:rPr>
              <a:t>DIR</a:t>
            </a:r>
            <a:r>
              <a:rPr b="1" lang="en-IN" sz="1200" strike="noStrike" u="none">
                <a:solidFill>
                  <a:srgbClr val="000000"/>
                </a:solidFill>
                <a:effectLst/>
                <a:uFillTx/>
                <a:latin typeface="Arial"/>
              </a:rPr>
              <a:t> </a:t>
            </a:r>
            <a:r>
              <a:rPr b="0" lang="en-IN" sz="1200" strike="noStrike" u="none">
                <a:solidFill>
                  <a:srgbClr val="000000"/>
                </a:solidFill>
                <a:effectLst/>
                <a:uFillTx/>
                <a:latin typeface="Arial"/>
              </a:rPr>
              <a:t>– Change in leadership – if c</a:t>
            </a:r>
            <a:r>
              <a:rPr b="0" lang="en-IN" sz="1200" strike="noStrike" u="none">
                <a:solidFill>
                  <a:srgbClr val="808080"/>
                </a:solidFill>
                <a:effectLst/>
                <a:uFillTx/>
                <a:latin typeface="Arial"/>
              </a:rPr>
              <a:t>urrent trend continues = 7%  by end of FY06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9999"/>
                </a:solidFill>
                <a:effectLst/>
                <a:uFillTx/>
                <a:latin typeface="Arial"/>
              </a:rPr>
              <a:t>CERS </a:t>
            </a:r>
            <a:r>
              <a:rPr b="1" lang="en-IN" sz="1200" strike="noStrike" u="none">
                <a:solidFill>
                  <a:srgbClr val="000000"/>
                </a:solidFill>
                <a:effectLst/>
                <a:uFillTx/>
                <a:latin typeface="Arial"/>
              </a:rPr>
              <a:t>&amp; </a:t>
            </a:r>
            <a:r>
              <a:rPr b="1" lang="en-IN" sz="1200" strike="noStrike" u="none">
                <a:solidFill>
                  <a:srgbClr val="00ffff"/>
                </a:solidFill>
                <a:effectLst/>
                <a:uFillTx/>
                <a:latin typeface="Arial"/>
              </a:rPr>
              <a:t>PSD</a:t>
            </a:r>
            <a:r>
              <a:rPr b="1" lang="en-IN" sz="1200" strike="noStrike" u="none">
                <a:solidFill>
                  <a:srgbClr val="000000"/>
                </a:solidFill>
                <a:effectLst/>
                <a:uFillTx/>
                <a:latin typeface="Arial"/>
              </a:rPr>
              <a:t> - </a:t>
            </a:r>
            <a:r>
              <a:rPr b="0" lang="en-IN" sz="1200" strike="noStrike" u="none">
                <a:solidFill>
                  <a:srgbClr val="000000"/>
                </a:solidFill>
                <a:effectLst/>
                <a:uFillTx/>
                <a:latin typeface="Arial"/>
              </a:rPr>
              <a:t>Reorganized – if c</a:t>
            </a:r>
            <a:r>
              <a:rPr b="0" lang="en-IN" sz="1200" strike="noStrike" u="none">
                <a:solidFill>
                  <a:srgbClr val="808080"/>
                </a:solidFill>
                <a:effectLst/>
                <a:uFillTx/>
                <a:latin typeface="Arial"/>
              </a:rPr>
              <a:t>urrent trend continues = 4% by end of FY06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990033"/>
                </a:solidFill>
                <a:effectLst/>
                <a:uFillTx/>
                <a:latin typeface="Arial"/>
              </a:rPr>
              <a:t>ASD</a:t>
            </a:r>
            <a:r>
              <a:rPr b="1" lang="en-IN" sz="1200" strike="noStrike" u="none">
                <a:solidFill>
                  <a:srgbClr val="000000"/>
                </a:solidFill>
                <a:effectLst/>
                <a:uFillTx/>
                <a:latin typeface="Arial"/>
              </a:rPr>
              <a:t> </a:t>
            </a:r>
            <a:r>
              <a:rPr b="0" lang="en-IN" sz="1200" strike="noStrike" u="none">
                <a:solidFill>
                  <a:srgbClr val="000000"/>
                </a:solidFill>
                <a:effectLst/>
                <a:uFillTx/>
                <a:latin typeface="Arial"/>
              </a:rPr>
              <a:t>Stable and low rate – if c</a:t>
            </a:r>
            <a:r>
              <a:rPr b="0" lang="en-IN" sz="1200" strike="noStrike" u="none">
                <a:solidFill>
                  <a:srgbClr val="808080"/>
                </a:solidFill>
                <a:effectLst/>
                <a:uFillTx/>
                <a:latin typeface="Arial"/>
              </a:rPr>
              <a:t>urrent trend continues = .33%  by end of FY06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6600"/>
                </a:solidFill>
                <a:effectLst/>
                <a:uFillTx/>
                <a:latin typeface="Arial"/>
              </a:rPr>
              <a:t>OEDS</a:t>
            </a:r>
            <a:r>
              <a:rPr b="0" lang="en-IN" sz="1200" strike="noStrike" u="none">
                <a:solidFill>
                  <a:srgbClr val="000000"/>
                </a:solidFill>
                <a:effectLst/>
                <a:uFillTx/>
                <a:latin typeface="Arial"/>
              </a:rPr>
              <a:t> – Stable and low rate – if c</a:t>
            </a:r>
            <a:r>
              <a:rPr b="0" lang="en-IN" sz="1200" strike="noStrike" u="none">
                <a:solidFill>
                  <a:srgbClr val="808080"/>
                </a:solidFill>
                <a:effectLst/>
                <a:uFillTx/>
                <a:latin typeface="Arial"/>
              </a:rPr>
              <a:t>urrent trend continues = 1.5% by end of FY06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sldImg"/>
          </p:nvPr>
        </p:nvSpPr>
        <p:spPr>
          <a:xfrm>
            <a:off x="1104840" y="696960"/>
            <a:ext cx="4646520" cy="3484440"/>
          </a:xfrm>
          <a:prstGeom prst="rect">
            <a:avLst/>
          </a:prstGeom>
          <a:ln w="0">
            <a:noFill/>
          </a:ln>
        </p:spPr>
      </p:sp>
      <p:sp>
        <p:nvSpPr>
          <p:cNvPr id="386" name="PlaceHolder 2"/>
          <p:cNvSpPr>
            <a:spLocks noGrp="1"/>
          </p:cNvSpPr>
          <p:nvPr>
            <p:ph type="body"/>
          </p:nvPr>
        </p:nvSpPr>
        <p:spPr>
          <a:xfrm>
            <a:off x="685800" y="4419720"/>
            <a:ext cx="5486400" cy="41796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Notes: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Trend Factors: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808080"/>
                </a:solidFill>
                <a:effectLst/>
                <a:uFillTx/>
                <a:latin typeface="Arial"/>
              </a:rPr>
              <a:t>HRISD</a:t>
            </a:r>
            <a:r>
              <a:rPr b="1" lang="en-IN" sz="1200" strike="noStrike" u="none">
                <a:solidFill>
                  <a:srgbClr val="000000"/>
                </a:solidFill>
                <a:effectLst/>
                <a:uFillTx/>
                <a:latin typeface="Arial"/>
              </a:rPr>
              <a:t> </a:t>
            </a:r>
            <a:r>
              <a:rPr b="0" lang="en-IN" sz="1200" strike="noStrike" u="none">
                <a:solidFill>
                  <a:srgbClr val="000000"/>
                </a:solidFill>
                <a:effectLst/>
                <a:uFillTx/>
                <a:latin typeface="Arial"/>
              </a:rPr>
              <a:t>– Project ending – if c</a:t>
            </a:r>
            <a:r>
              <a:rPr b="0" lang="en-IN" sz="1200" strike="noStrike" u="none">
                <a:solidFill>
                  <a:srgbClr val="808080"/>
                </a:solidFill>
                <a:effectLst/>
                <a:uFillTx/>
                <a:latin typeface="Arial"/>
              </a:rPr>
              <a:t>urrent trend continues = 8% by end of FY06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99cc00"/>
                </a:solidFill>
                <a:effectLst/>
                <a:uFillTx/>
                <a:latin typeface="Arial"/>
              </a:rPr>
              <a:t>DIR</a:t>
            </a:r>
            <a:r>
              <a:rPr b="1" lang="en-IN" sz="1200" strike="noStrike" u="none">
                <a:solidFill>
                  <a:srgbClr val="000000"/>
                </a:solidFill>
                <a:effectLst/>
                <a:uFillTx/>
                <a:latin typeface="Arial"/>
              </a:rPr>
              <a:t> </a:t>
            </a:r>
            <a:r>
              <a:rPr b="0" lang="en-IN" sz="1200" strike="noStrike" u="none">
                <a:solidFill>
                  <a:srgbClr val="000000"/>
                </a:solidFill>
                <a:effectLst/>
                <a:uFillTx/>
                <a:latin typeface="Arial"/>
              </a:rPr>
              <a:t>– Change in leadership – if c</a:t>
            </a:r>
            <a:r>
              <a:rPr b="0" lang="en-IN" sz="1200" strike="noStrike" u="none">
                <a:solidFill>
                  <a:srgbClr val="808080"/>
                </a:solidFill>
                <a:effectLst/>
                <a:uFillTx/>
                <a:latin typeface="Arial"/>
              </a:rPr>
              <a:t>urrent trend continues = 7%  by end of FY06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9999"/>
                </a:solidFill>
                <a:effectLst/>
                <a:uFillTx/>
                <a:latin typeface="Arial"/>
              </a:rPr>
              <a:t>CERS </a:t>
            </a:r>
            <a:r>
              <a:rPr b="1" lang="en-IN" sz="1200" strike="noStrike" u="none">
                <a:solidFill>
                  <a:srgbClr val="000000"/>
                </a:solidFill>
                <a:effectLst/>
                <a:uFillTx/>
                <a:latin typeface="Arial"/>
              </a:rPr>
              <a:t>&amp; </a:t>
            </a:r>
            <a:r>
              <a:rPr b="1" lang="en-IN" sz="1200" strike="noStrike" u="none">
                <a:solidFill>
                  <a:srgbClr val="00ffff"/>
                </a:solidFill>
                <a:effectLst/>
                <a:uFillTx/>
                <a:latin typeface="Arial"/>
              </a:rPr>
              <a:t>PSD</a:t>
            </a:r>
            <a:r>
              <a:rPr b="1" lang="en-IN" sz="1200" strike="noStrike" u="none">
                <a:solidFill>
                  <a:srgbClr val="000000"/>
                </a:solidFill>
                <a:effectLst/>
                <a:uFillTx/>
                <a:latin typeface="Arial"/>
              </a:rPr>
              <a:t> - </a:t>
            </a:r>
            <a:r>
              <a:rPr b="0" lang="en-IN" sz="1200" strike="noStrike" u="none">
                <a:solidFill>
                  <a:srgbClr val="000000"/>
                </a:solidFill>
                <a:effectLst/>
                <a:uFillTx/>
                <a:latin typeface="Arial"/>
              </a:rPr>
              <a:t>Reorganized – if c</a:t>
            </a:r>
            <a:r>
              <a:rPr b="0" lang="en-IN" sz="1200" strike="noStrike" u="none">
                <a:solidFill>
                  <a:srgbClr val="808080"/>
                </a:solidFill>
                <a:effectLst/>
                <a:uFillTx/>
                <a:latin typeface="Arial"/>
              </a:rPr>
              <a:t>urrent trend continues = 4% by end of FY06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990033"/>
                </a:solidFill>
                <a:effectLst/>
                <a:uFillTx/>
                <a:latin typeface="Arial"/>
              </a:rPr>
              <a:t>ASD</a:t>
            </a:r>
            <a:r>
              <a:rPr b="1" lang="en-IN" sz="1200" strike="noStrike" u="none">
                <a:solidFill>
                  <a:srgbClr val="000000"/>
                </a:solidFill>
                <a:effectLst/>
                <a:uFillTx/>
                <a:latin typeface="Arial"/>
              </a:rPr>
              <a:t> </a:t>
            </a:r>
            <a:r>
              <a:rPr b="0" lang="en-IN" sz="1200" strike="noStrike" u="none">
                <a:solidFill>
                  <a:srgbClr val="000000"/>
                </a:solidFill>
                <a:effectLst/>
                <a:uFillTx/>
                <a:latin typeface="Arial"/>
              </a:rPr>
              <a:t>Stable and low rate – if c</a:t>
            </a:r>
            <a:r>
              <a:rPr b="0" lang="en-IN" sz="1200" strike="noStrike" u="none">
                <a:solidFill>
                  <a:srgbClr val="808080"/>
                </a:solidFill>
                <a:effectLst/>
                <a:uFillTx/>
                <a:latin typeface="Arial"/>
              </a:rPr>
              <a:t>urrent trend continues = .33%  by end of FY06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6600"/>
                </a:solidFill>
                <a:effectLst/>
                <a:uFillTx/>
                <a:latin typeface="Arial"/>
              </a:rPr>
              <a:t>OEDS</a:t>
            </a:r>
            <a:r>
              <a:rPr b="0" lang="en-IN" sz="1200" strike="noStrike" u="none">
                <a:solidFill>
                  <a:srgbClr val="000000"/>
                </a:solidFill>
                <a:effectLst/>
                <a:uFillTx/>
                <a:latin typeface="Arial"/>
              </a:rPr>
              <a:t> – Stable and low rate – if c</a:t>
            </a:r>
            <a:r>
              <a:rPr b="0" lang="en-IN" sz="1200" strike="noStrike" u="none">
                <a:solidFill>
                  <a:srgbClr val="808080"/>
                </a:solidFill>
                <a:effectLst/>
                <a:uFillTx/>
                <a:latin typeface="Arial"/>
              </a:rPr>
              <a:t>urrent trend continues = 1.5% by end of FY06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000000"/>
              </a:solidFill>
              <a:effectLst/>
              <a:uFillTx/>
              <a:latin typeface="Arial"/>
            </a:endParaRPr>
          </a:p>
        </p:txBody>
      </p:sp>
      <p:sp>
        <p:nvSpPr>
          <p:cNvPr id="6" name="PlaceHolder 2"/>
          <p:cNvSpPr>
            <a:spLocks noGrp="1"/>
          </p:cNvSpPr>
          <p:nvPr>
            <p:ph type="subTitle"/>
          </p:nvPr>
        </p:nvSpPr>
        <p:spPr>
          <a:xfrm>
            <a:off x="457200" y="1600200"/>
            <a:ext cx="8229600" cy="4525920"/>
          </a:xfrm>
          <a:prstGeom prst="rect">
            <a:avLst/>
          </a:prstGeom>
          <a:noFill/>
          <a:ln w="0">
            <a:noFill/>
          </a:ln>
        </p:spPr>
        <p:txBody>
          <a:bodyPr lIns="0" rIns="0" tIns="0" bIns="0" anchor="ctr">
            <a:spAutoFit/>
          </a:bodyPr>
          <a:p>
            <a:pPr indent="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E0982DF2-489F-4621-9ADC-1FED226B5AA2}"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000000"/>
              </a:solidFill>
              <a:effectLst/>
              <a:uFillTx/>
              <a:latin typeface="Arial"/>
            </a:endParaRPr>
          </a:p>
        </p:txBody>
      </p:sp>
      <p:sp>
        <p:nvSpPr>
          <p:cNvPr id="8"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p:txBody>
      </p:sp>
      <p:sp>
        <p:nvSpPr>
          <p:cNvPr id="9"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3FF115CE-6F6F-49F6-9264-3ECD62E0F8A2}"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000000"/>
              </a:solidFill>
              <a:effectLst/>
              <a:uFillTx/>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F1D2F184-2F8B-475B-963F-40E63CF5D35A}"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chart" preserve="1">
  <p:cSld name="Defaul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000000"/>
              </a:solidFill>
              <a:effectLst/>
              <a:uFillTx/>
              <a:latin typeface="Arial"/>
            </a:endParaRPr>
          </a:p>
        </p:txBody>
      </p:sp>
      <p:sp>
        <p:nvSpPr>
          <p:cNvPr id="12"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9A9A599-B101-4F22-BE63-579B887EF57C}"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5692AF51-6280-4B2E-881B-BAF96D2CB478}"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000000"/>
              </a:solidFill>
              <a:effectLst/>
              <a:uFillTx/>
              <a:latin typeface="Arial"/>
            </a:endParaRPr>
          </a:p>
        </p:txBody>
      </p:sp>
      <p:sp>
        <p:nvSpPr>
          <p:cNvPr id="14"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8C35BF2-D67E-4501-B700-68C0A4275492}" type="slidenum">
              <a:t>&lt;#&gt;</a:t>
            </a:fld>
          </a:p>
        </p:txBody>
      </p:sp>
      <p:sp>
        <p:nvSpPr>
          <p:cNvPr id="6" name="PlaceHolder 5"/>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Arial"/>
              </a:rPr>
              <a:t>Click to edit the title text format</a:t>
            </a:r>
            <a:endParaRPr b="0" lang="en-IN" sz="4400" strike="noStrike" u="none">
              <a:solidFill>
                <a:srgbClr val="000000"/>
              </a:solidFill>
              <a:effectLst/>
              <a:uFillTx/>
              <a:latin typeface="Arial"/>
            </a:endParaRPr>
          </a:p>
        </p:txBody>
      </p:sp>
      <p:sp>
        <p:nvSpPr>
          <p:cNvPr id="1"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Click to edit the outline text format</a:t>
            </a:r>
            <a:endParaRPr b="0" lang="en-IN" sz="3200" strike="noStrike" u="none">
              <a:solidFill>
                <a:srgbClr val="000000"/>
              </a:solidFill>
              <a:effectLst/>
              <a:uFillTx/>
              <a:latin typeface="Arial"/>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Second Outline Level</a:t>
            </a:r>
            <a:endParaRPr b="0" lang="en-IN" sz="3200" strike="noStrike" u="none">
              <a:solidFill>
                <a:srgbClr val="000000"/>
              </a:solidFill>
              <a:effectLst/>
              <a:uFillTx/>
              <a:latin typeface="Arial"/>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Third Outline Level</a:t>
            </a:r>
            <a:endParaRPr b="0" lang="en-IN" sz="3200" strike="noStrike" u="none">
              <a:solidFill>
                <a:srgbClr val="000000"/>
              </a:solidFill>
              <a:effectLst/>
              <a:uFillTx/>
              <a:latin typeface="Arial"/>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Fourth Outline Level</a:t>
            </a:r>
            <a:endParaRPr b="0" lang="en-IN" sz="3200" strike="noStrike" u="none">
              <a:solidFill>
                <a:srgbClr val="000000"/>
              </a:solidFill>
              <a:effectLst/>
              <a:uFillTx/>
              <a:latin typeface="Arial"/>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Fifth Outline Level</a:t>
            </a:r>
            <a:endParaRPr b="0" lang="en-IN" sz="3200" strike="noStrike" u="none">
              <a:solidFill>
                <a:srgbClr val="000000"/>
              </a:solidFill>
              <a:effectLst/>
              <a:uFillTx/>
              <a:latin typeface="Arial"/>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Sixth Outline Level</a:t>
            </a:r>
            <a:endParaRPr b="0" lang="en-IN" sz="3200" strike="noStrike" u="none">
              <a:solidFill>
                <a:srgbClr val="000000"/>
              </a:solidFill>
              <a:effectLst/>
              <a:uFillTx/>
              <a:latin typeface="Arial"/>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Seventh Outline Level</a:t>
            </a:r>
            <a:endParaRPr b="0" lang="en-IN" sz="3200" strike="noStrike" u="none">
              <a:solidFill>
                <a:srgbClr val="000000"/>
              </a:solidFill>
              <a:effectLst/>
              <a:uFillTx/>
              <a:latin typeface="Arial"/>
            </a:endParaRPr>
          </a:p>
        </p:txBody>
      </p:sp>
      <p:sp>
        <p:nvSpPr>
          <p:cNvPr id="2"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&lt;date/time&gt;</a:t>
            </a:r>
            <a:endParaRPr b="0" lang="en-IN" sz="1400" strike="noStrike" u="none">
              <a:solidFill>
                <a:srgbClr val="000000"/>
              </a:solidFill>
              <a:effectLst/>
              <a:uFillTx/>
              <a:latin typeface="Arial"/>
            </a:endParaRPr>
          </a:p>
        </p:txBody>
      </p:sp>
      <p:sp>
        <p:nvSpPr>
          <p:cNvPr id="3"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&lt;footer&gt;</a:t>
            </a:r>
            <a:endParaRPr b="0" lang="en-IN" sz="1400" strike="noStrike" u="none">
              <a:solidFill>
                <a:srgbClr val="000000"/>
              </a:solidFill>
              <a:effectLst/>
              <a:uFillTx/>
              <a:latin typeface="Arial"/>
            </a:endParaRPr>
          </a:p>
        </p:txBody>
      </p:sp>
      <p:sp>
        <p:nvSpPr>
          <p:cNvPr id="4" name="PlaceHolder 5"/>
          <p:cNvSpPr>
            <a:spLocks noGrp="1"/>
          </p:cNvSpPr>
          <p:nvPr>
            <p:ph type="sldNum" idx="3"/>
          </p:nvPr>
        </p:nvSpPr>
        <p:spPr>
          <a:xfrm>
            <a:off x="6934320" y="6381360"/>
            <a:ext cx="2133360" cy="47628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8D45654-2F1A-4553-B902-A258C9DB7B54}" type="slidenum">
              <a:rPr b="0" lang="en-IN"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wmf"/><Relationship Id="rId3" Type="http://schemas.openxmlformats.org/officeDocument/2006/relationships/oleObject" Target="../embeddings/oleObject2.bin"/><Relationship Id="rId4" Type="http://schemas.openxmlformats.org/officeDocument/2006/relationships/image" Target="../media/image2.wmf"/><Relationship Id="rId5" Type="http://schemas.openxmlformats.org/officeDocument/2006/relationships/slideLayout" Target="../slideLayouts/slideLayout5.xml"/><Relationship Id="rId6"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3.wmf"/><Relationship Id="rId3" Type="http://schemas.openxmlformats.org/officeDocument/2006/relationships/oleObject" Target="../embeddings/oleObject2.bin"/><Relationship Id="rId4" Type="http://schemas.openxmlformats.org/officeDocument/2006/relationships/image" Target="../media/image4.wmf"/><Relationship Id="rId5" Type="http://schemas.openxmlformats.org/officeDocument/2006/relationships/oleObject" Target="../embeddings/oleObject3.bin"/><Relationship Id="rId6" Type="http://schemas.openxmlformats.org/officeDocument/2006/relationships/image" Target="../media/image5.wmf"/><Relationship Id="rId7" Type="http://schemas.openxmlformats.org/officeDocument/2006/relationships/oleObject" Target="../embeddings/oleObject4.bin"/><Relationship Id="rId8" Type="http://schemas.openxmlformats.org/officeDocument/2006/relationships/image" Target="../media/image6.wmf"/><Relationship Id="rId9" Type="http://schemas.openxmlformats.org/officeDocument/2006/relationships/oleObject" Target="../embeddings/oleObject5.bin"/><Relationship Id="rId10" Type="http://schemas.openxmlformats.org/officeDocument/2006/relationships/image" Target="../media/image7.wmf"/><Relationship Id="rId11" Type="http://schemas.openxmlformats.org/officeDocument/2006/relationships/oleObject" Target="../embeddings/oleObject6.bin"/><Relationship Id="rId12" Type="http://schemas.openxmlformats.org/officeDocument/2006/relationships/image" Target="../media/image8.wmf"/><Relationship Id="rId13" Type="http://schemas.openxmlformats.org/officeDocument/2006/relationships/oleObject" Target="../embeddings/oleObject7.bin"/><Relationship Id="rId14" Type="http://schemas.openxmlformats.org/officeDocument/2006/relationships/image" Target="../media/image9.wmf"/><Relationship Id="rId15"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0.wmf"/><Relationship Id="rId3" Type="http://schemas.openxmlformats.org/officeDocument/2006/relationships/oleObject" Target="../embeddings/oleObject2.bin"/><Relationship Id="rId4" Type="http://schemas.openxmlformats.org/officeDocument/2006/relationships/image" Target="../media/image11.wmf"/><Relationship Id="rId5" Type="http://schemas.openxmlformats.org/officeDocument/2006/relationships/oleObject" Target="../embeddings/oleObject3.bin"/><Relationship Id="rId6" Type="http://schemas.openxmlformats.org/officeDocument/2006/relationships/image" Target="../media/image12.wmf"/><Relationship Id="rId7"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3.wmf"/><Relationship Id="rId3"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4.wmf"/><Relationship Id="rId3"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5.wmf"/><Relationship Id="rId3" Type="http://schemas.openxmlformats.org/officeDocument/2006/relationships/oleObject" Target="../embeddings/oleObject2.bin"/><Relationship Id="rId4" Type="http://schemas.openxmlformats.org/officeDocument/2006/relationships/image" Target="../media/image16.wmf"/><Relationship Id="rId5" Type="http://schemas.openxmlformats.org/officeDocument/2006/relationships/slideLayout" Target="../slideLayouts/slideLayout6.xml"/><Relationship Id="rId6"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7.wmf"/><Relationship Id="rId3" Type="http://schemas.openxmlformats.org/officeDocument/2006/relationships/oleObject" Target="../embeddings/oleObject2.bin"/><Relationship Id="rId4" Type="http://schemas.openxmlformats.org/officeDocument/2006/relationships/image" Target="../media/image18.wmf"/><Relationship Id="rId5" Type="http://schemas.openxmlformats.org/officeDocument/2006/relationships/oleObject" Target="../embeddings/oleObject3.bin"/><Relationship Id="rId6" Type="http://schemas.openxmlformats.org/officeDocument/2006/relationships/image" Target="../media/image19.wmf"/><Relationship Id="rId7" Type="http://schemas.openxmlformats.org/officeDocument/2006/relationships/oleObject" Target="../embeddings/oleObject4.bin"/><Relationship Id="rId8" Type="http://schemas.openxmlformats.org/officeDocument/2006/relationships/image" Target="../media/image20.wmf"/><Relationship Id="rId9" Type="http://schemas.openxmlformats.org/officeDocument/2006/relationships/slideLayout" Target="../slideLayouts/slideLayout6.xml"/>
</Relationships>
</file>

<file path=ppt/slides/_rels/slide1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21.wmf"/><Relationship Id="rId3" Type="http://schemas.openxmlformats.org/officeDocument/2006/relationships/slideLayout" Target="../slideLayouts/slideLayout6.xml"/>
</Relationships>
</file>

<file path=ppt/slides/_rels/slide1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22.wmf"/><Relationship Id="rId3" Type="http://schemas.openxmlformats.org/officeDocument/2006/relationships/oleObject" Target="../embeddings/oleObject2.bin"/><Relationship Id="rId4" Type="http://schemas.openxmlformats.org/officeDocument/2006/relationships/image" Target="../media/image23.wmf"/><Relationship Id="rId5" Type="http://schemas.openxmlformats.org/officeDocument/2006/relationships/oleObject" Target="../embeddings/oleObject3.bin"/><Relationship Id="rId6" Type="http://schemas.openxmlformats.org/officeDocument/2006/relationships/image" Target="../media/image24.wmf"/><Relationship Id="rId7" Type="http://schemas.openxmlformats.org/officeDocument/2006/relationships/slideLayout" Target="../slideLayouts/slideLayout6.xml"/><Relationship Id="rId8"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25.wmf"/><Relationship Id="rId3" Type="http://schemas.openxmlformats.org/officeDocument/2006/relationships/oleObject" Target="../embeddings/oleObject2.bin"/><Relationship Id="rId4" Type="http://schemas.openxmlformats.org/officeDocument/2006/relationships/image" Target="../media/image26.wmf"/><Relationship Id="rId5" Type="http://schemas.openxmlformats.org/officeDocument/2006/relationships/slideLayout" Target="../slideLayouts/slideLayout5.xml"/><Relationship Id="rId6"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27.wmf"/><Relationship Id="rId3" Type="http://schemas.openxmlformats.org/officeDocument/2006/relationships/oleObject" Target="../embeddings/oleObject2.bin"/><Relationship Id="rId4" Type="http://schemas.openxmlformats.org/officeDocument/2006/relationships/image" Target="../media/image28.wmf"/><Relationship Id="rId5" Type="http://schemas.openxmlformats.org/officeDocument/2006/relationships/slideLayout" Target="../slideLayouts/slideLayout5.xml"/><Relationship Id="rId6"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685800" y="2285640"/>
            <a:ext cx="8229600" cy="1143000"/>
          </a:xfrm>
          <a:prstGeom prst="rect">
            <a:avLst/>
          </a:prstGeom>
          <a:noFill/>
          <a:ln w="0">
            <a:noFill/>
          </a:ln>
        </p:spPr>
        <p:txBody>
          <a:bodyPr lIns="90000" rIns="90000" tIns="46800" bIns="46800" anchor="ctr">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Black"/>
              </a:rPr>
              <a:t>State of Washington</a:t>
            </a:r>
            <a:br>
              <a:rPr sz="2000"/>
            </a:br>
            <a:r>
              <a:rPr b="0" lang="en-IN" sz="2800" strike="noStrike" u="none">
                <a:solidFill>
                  <a:srgbClr val="000000"/>
                </a:solidFill>
                <a:effectLst/>
                <a:uFillTx/>
                <a:latin typeface="Arial Black"/>
              </a:rPr>
              <a:t>Gambling Commission</a:t>
            </a:r>
            <a:br>
              <a:rPr sz="2800"/>
            </a:br>
            <a:br>
              <a:rPr sz="2800"/>
            </a:br>
            <a:r>
              <a:rPr b="0" lang="en-IN" sz="2800" strike="noStrike" u="none">
                <a:solidFill>
                  <a:srgbClr val="000000"/>
                </a:solidFill>
                <a:effectLst/>
                <a:uFillTx/>
                <a:latin typeface="Arial Black"/>
              </a:rPr>
              <a:t>Human Resource Management Report</a:t>
            </a:r>
            <a:endParaRPr b="0" lang="en-IN" sz="2800" strike="noStrike" u="none">
              <a:solidFill>
                <a:srgbClr val="000000"/>
              </a:solidFill>
              <a:effectLst/>
              <a:uFillTx/>
              <a:latin typeface="Arial"/>
            </a:endParaRPr>
          </a:p>
        </p:txBody>
      </p:sp>
      <p:sp>
        <p:nvSpPr>
          <p:cNvPr id="23" name="PlaceHolder 2"/>
          <p:cNvSpPr>
            <a:spLocks noGrp="1"/>
          </p:cNvSpPr>
          <p:nvPr>
            <p:ph type="subTitle"/>
          </p:nvPr>
        </p:nvSpPr>
        <p:spPr>
          <a:xfrm>
            <a:off x="838080" y="5638320"/>
            <a:ext cx="6400800" cy="838440"/>
          </a:xfrm>
          <a:prstGeom prst="rect">
            <a:avLst/>
          </a:prstGeom>
          <a:noFill/>
          <a:ln w="0">
            <a:noFill/>
          </a:ln>
        </p:spPr>
        <p:txBody>
          <a:bodyPr lIns="90000" rIns="90000" tIns="46800" bIns="46800" anchor="t">
            <a:noAutofit/>
          </a:bodyPr>
          <a:p>
            <a:pPr indent="0">
              <a:spcBef>
                <a:spcPts val="3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October  2006</a:t>
            </a:r>
            <a:endParaRPr b="0" lang="en-IN" sz="1400" strike="noStrike" u="none">
              <a:solidFill>
                <a:srgbClr val="000000"/>
              </a:solidFill>
              <a:effectLst/>
              <a:uFillTx/>
              <a:latin typeface="Arial"/>
            </a:endParaRPr>
          </a:p>
          <a:p>
            <a:pPr indent="0">
              <a:spcBef>
                <a:spcPts val="3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p:txBody>
      </p:sp>
      <p:sp>
        <p:nvSpPr>
          <p:cNvPr id="24" name=""/>
          <p:cNvSpPr/>
          <p:nvPr/>
        </p:nvSpPr>
        <p:spPr>
          <a:xfrm>
            <a:off x="6019920" y="5257800"/>
            <a:ext cx="3047760" cy="13741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rPr>
              <a:t>Note: This is the recommended standard format provided by DOP as of 8-8-06. Agencies may supplement this format to meet unique needs, as long as the minimum information shown in this format is included. For the report due in October 2006, agencies may use previous versions of the reporting format, if desired.</a:t>
            </a:r>
            <a:endParaRPr b="0" lang="en-IN"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 name=""/>
          <p:cNvSpPr/>
          <p:nvPr/>
        </p:nvSpPr>
        <p:spPr>
          <a:xfrm>
            <a:off x="4572000" y="6248520"/>
            <a:ext cx="0" cy="22860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6" name="PlaceHolder 1"/>
          <p:cNvSpPr>
            <a:spLocks noGrp="1"/>
          </p:cNvSpPr>
          <p:nvPr>
            <p:ph type="title"/>
          </p:nvPr>
        </p:nvSpPr>
        <p:spPr>
          <a:xfrm>
            <a:off x="762120" y="228600"/>
            <a:ext cx="7619760" cy="914400"/>
          </a:xfrm>
          <a:prstGeom prst="rect">
            <a:avLst/>
          </a:prstGeom>
          <a:noFill/>
          <a:ln w="0">
            <a:noFill/>
          </a:ln>
        </p:spPr>
        <p:txBody>
          <a:bodyPr lIns="90000" rIns="90000" tIns="46800" bIns="46800" anchor="ctr">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Black"/>
              </a:rPr>
              <a:t>Logic Model</a:t>
            </a:r>
            <a:br>
              <a:rPr sz="1800"/>
            </a:br>
            <a:r>
              <a:rPr b="0" lang="en-IN" sz="1800" strike="noStrike" u="none">
                <a:solidFill>
                  <a:srgbClr val="000000"/>
                </a:solidFill>
                <a:effectLst/>
                <a:uFillTx/>
                <a:latin typeface="Arial Black"/>
              </a:rPr>
              <a:t>Managers Accountability for Workforce Management</a:t>
            </a:r>
            <a:endParaRPr b="0" lang="en-IN" sz="1800" strike="noStrike" u="none">
              <a:solidFill>
                <a:srgbClr val="000000"/>
              </a:solidFill>
              <a:effectLst/>
              <a:uFillTx/>
              <a:latin typeface="Arial"/>
            </a:endParaRPr>
          </a:p>
        </p:txBody>
      </p:sp>
      <p:sp>
        <p:nvSpPr>
          <p:cNvPr id="27" name=""/>
          <p:cNvSpPr/>
          <p:nvPr/>
        </p:nvSpPr>
        <p:spPr>
          <a:xfrm>
            <a:off x="228600" y="1219320"/>
            <a:ext cx="1600200" cy="460440"/>
          </a:xfrm>
          <a:prstGeom prst="rect">
            <a:avLst/>
          </a:prstGeom>
          <a:solidFill>
            <a:srgbClr val="003300"/>
          </a:solidFill>
          <a:ln w="19080">
            <a:solidFill>
              <a:srgbClr val="000000"/>
            </a:solidFill>
            <a:miter/>
          </a:ln>
        </p:spPr>
        <p:style>
          <a:lnRef idx="0"/>
          <a:fillRef idx="0"/>
          <a:effectRef idx="0"/>
          <a:fontRef idx="minor"/>
        </p:style>
        <p:txBody>
          <a:bodyPr lIns="69480" rIns="69480" tIns="34920" bIns="34920" anchor="t">
            <a:spAutoFit/>
          </a:bodyPr>
          <a:p>
            <a:pPr algn="ctr">
              <a:lnSpc>
                <a:spcPct val="80000"/>
              </a:lnSpc>
              <a:spcBef>
                <a:spcPts val="100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600" strike="noStrike" u="none">
                <a:solidFill>
                  <a:srgbClr val="ffffff"/>
                </a:solidFill>
                <a:effectLst/>
                <a:uFillTx/>
                <a:latin typeface="Arial Narrow"/>
              </a:rPr>
              <a:t>Plan &amp; Align Workforce</a:t>
            </a:r>
            <a:endParaRPr b="0" lang="en-IN" sz="1600" strike="noStrike" u="none">
              <a:solidFill>
                <a:srgbClr val="000000"/>
              </a:solidFill>
              <a:effectLst/>
              <a:uFillTx/>
              <a:latin typeface="Arial"/>
            </a:endParaRPr>
          </a:p>
        </p:txBody>
      </p:sp>
      <p:sp>
        <p:nvSpPr>
          <p:cNvPr id="28" name=""/>
          <p:cNvSpPr/>
          <p:nvPr/>
        </p:nvSpPr>
        <p:spPr>
          <a:xfrm>
            <a:off x="3772080" y="1219320"/>
            <a:ext cx="1600200" cy="460440"/>
          </a:xfrm>
          <a:prstGeom prst="rect">
            <a:avLst/>
          </a:prstGeom>
          <a:solidFill>
            <a:srgbClr val="000099"/>
          </a:solidFill>
          <a:ln w="19080">
            <a:solidFill>
              <a:srgbClr val="000000"/>
            </a:solidFill>
            <a:miter/>
          </a:ln>
        </p:spPr>
        <p:style>
          <a:lnRef idx="0"/>
          <a:fillRef idx="0"/>
          <a:effectRef idx="0"/>
          <a:fontRef idx="minor"/>
        </p:style>
        <p:txBody>
          <a:bodyPr lIns="69480" rIns="69480" tIns="34920" bIns="34920" anchor="t">
            <a:spAutoFit/>
          </a:bodyPr>
          <a:p>
            <a:pPr algn="ctr">
              <a:lnSpc>
                <a:spcPct val="80000"/>
              </a:lnSpc>
              <a:spcBef>
                <a:spcPts val="100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600" strike="noStrike" u="none">
                <a:solidFill>
                  <a:srgbClr val="ffffff"/>
                </a:solidFill>
                <a:effectLst/>
                <a:uFillTx/>
                <a:latin typeface="Arial Narrow"/>
              </a:rPr>
              <a:t>Deploy</a:t>
            </a:r>
            <a:br>
              <a:rPr sz="1600"/>
            </a:br>
            <a:r>
              <a:rPr b="1" lang="en-IN" sz="1600" strike="noStrike" u="none">
                <a:solidFill>
                  <a:srgbClr val="ffffff"/>
                </a:solidFill>
                <a:effectLst/>
                <a:uFillTx/>
                <a:latin typeface="Arial Narrow"/>
              </a:rPr>
              <a:t>Workforce</a:t>
            </a:r>
            <a:endParaRPr b="0" lang="en-IN" sz="1600" strike="noStrike" u="none">
              <a:solidFill>
                <a:srgbClr val="000000"/>
              </a:solidFill>
              <a:effectLst/>
              <a:uFillTx/>
              <a:latin typeface="Arial"/>
            </a:endParaRPr>
          </a:p>
        </p:txBody>
      </p:sp>
      <p:sp>
        <p:nvSpPr>
          <p:cNvPr id="29" name=""/>
          <p:cNvSpPr/>
          <p:nvPr/>
        </p:nvSpPr>
        <p:spPr>
          <a:xfrm>
            <a:off x="7353360" y="1219320"/>
            <a:ext cx="1600200" cy="460440"/>
          </a:xfrm>
          <a:prstGeom prst="rect">
            <a:avLst/>
          </a:prstGeom>
          <a:solidFill>
            <a:srgbClr val="4d006c"/>
          </a:solidFill>
          <a:ln w="19080">
            <a:solidFill>
              <a:srgbClr val="000000"/>
            </a:solidFill>
            <a:miter/>
          </a:ln>
        </p:spPr>
        <p:style>
          <a:lnRef idx="0"/>
          <a:fillRef idx="0"/>
          <a:effectRef idx="0"/>
          <a:fontRef idx="minor"/>
        </p:style>
        <p:txBody>
          <a:bodyPr lIns="69480" rIns="69480" tIns="34920" bIns="34920" anchor="t">
            <a:spAutoFit/>
          </a:bodyPr>
          <a:p>
            <a:pPr algn="ctr">
              <a:lnSpc>
                <a:spcPct val="80000"/>
              </a:lnSpc>
              <a:spcBef>
                <a:spcPts val="100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600" strike="noStrike" u="none">
                <a:solidFill>
                  <a:srgbClr val="ffffff"/>
                </a:solidFill>
                <a:effectLst/>
                <a:uFillTx/>
                <a:latin typeface="Arial Narrow"/>
              </a:rPr>
              <a:t>Reinforce Performance</a:t>
            </a:r>
            <a:endParaRPr b="0" lang="en-IN" sz="1600" strike="noStrike" u="none">
              <a:solidFill>
                <a:srgbClr val="000000"/>
              </a:solidFill>
              <a:effectLst/>
              <a:uFillTx/>
              <a:latin typeface="Arial"/>
            </a:endParaRPr>
          </a:p>
        </p:txBody>
      </p:sp>
      <p:sp>
        <p:nvSpPr>
          <p:cNvPr id="30" name=""/>
          <p:cNvSpPr/>
          <p:nvPr/>
        </p:nvSpPr>
        <p:spPr>
          <a:xfrm>
            <a:off x="5448240" y="1219320"/>
            <a:ext cx="1600200" cy="460440"/>
          </a:xfrm>
          <a:prstGeom prst="rect">
            <a:avLst/>
          </a:prstGeom>
          <a:solidFill>
            <a:srgbClr val="663300"/>
          </a:solidFill>
          <a:ln w="19080">
            <a:solidFill>
              <a:srgbClr val="000000"/>
            </a:solidFill>
            <a:miter/>
          </a:ln>
        </p:spPr>
        <p:style>
          <a:lnRef idx="0"/>
          <a:fillRef idx="0"/>
          <a:effectRef idx="0"/>
          <a:fontRef idx="minor"/>
        </p:style>
        <p:txBody>
          <a:bodyPr lIns="69480" rIns="69480" tIns="34920" bIns="34920" anchor="t">
            <a:spAutoFit/>
          </a:bodyPr>
          <a:p>
            <a:pPr algn="ctr">
              <a:lnSpc>
                <a:spcPct val="80000"/>
              </a:lnSpc>
              <a:spcBef>
                <a:spcPts val="100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600" strike="noStrike" u="none">
                <a:solidFill>
                  <a:srgbClr val="ffffff"/>
                </a:solidFill>
                <a:effectLst/>
                <a:uFillTx/>
                <a:latin typeface="Arial Narrow"/>
              </a:rPr>
              <a:t>Develop Workforce</a:t>
            </a:r>
            <a:endParaRPr b="0" lang="en-IN" sz="1600" strike="noStrike" u="none">
              <a:solidFill>
                <a:srgbClr val="000000"/>
              </a:solidFill>
              <a:effectLst/>
              <a:uFillTx/>
              <a:latin typeface="Arial"/>
            </a:endParaRPr>
          </a:p>
        </p:txBody>
      </p:sp>
      <p:sp>
        <p:nvSpPr>
          <p:cNvPr id="31" name=""/>
          <p:cNvSpPr/>
          <p:nvPr/>
        </p:nvSpPr>
        <p:spPr>
          <a:xfrm>
            <a:off x="2057400" y="1219320"/>
            <a:ext cx="1600200" cy="460440"/>
          </a:xfrm>
          <a:prstGeom prst="rect">
            <a:avLst/>
          </a:prstGeom>
          <a:solidFill>
            <a:srgbClr val="800000"/>
          </a:solidFill>
          <a:ln w="19080">
            <a:solidFill>
              <a:srgbClr val="000000"/>
            </a:solidFill>
            <a:miter/>
          </a:ln>
        </p:spPr>
        <p:style>
          <a:lnRef idx="0"/>
          <a:fillRef idx="0"/>
          <a:effectRef idx="0"/>
          <a:fontRef idx="minor"/>
        </p:style>
        <p:txBody>
          <a:bodyPr lIns="69480" rIns="69480" tIns="34920" bIns="34920" anchor="t">
            <a:spAutoFit/>
          </a:bodyPr>
          <a:p>
            <a:pPr algn="ctr">
              <a:lnSpc>
                <a:spcPct val="80000"/>
              </a:lnSpc>
              <a:spcBef>
                <a:spcPts val="100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600" strike="noStrike" u="none">
                <a:solidFill>
                  <a:srgbClr val="ffffff"/>
                </a:solidFill>
                <a:effectLst/>
                <a:uFillTx/>
                <a:latin typeface="Arial Narrow"/>
              </a:rPr>
              <a:t>Hire</a:t>
            </a:r>
            <a:br>
              <a:rPr sz="1600"/>
            </a:br>
            <a:r>
              <a:rPr b="1" lang="en-IN" sz="1600" strike="noStrike" u="none">
                <a:solidFill>
                  <a:srgbClr val="ffffff"/>
                </a:solidFill>
                <a:effectLst/>
                <a:uFillTx/>
                <a:latin typeface="Arial Narrow"/>
              </a:rPr>
              <a:t>Workforce</a:t>
            </a:r>
            <a:endParaRPr b="0" lang="en-IN" sz="1600" strike="noStrike" u="none">
              <a:solidFill>
                <a:srgbClr val="000000"/>
              </a:solidFill>
              <a:effectLst/>
              <a:uFillTx/>
              <a:latin typeface="Arial"/>
            </a:endParaRPr>
          </a:p>
        </p:txBody>
      </p:sp>
      <p:sp>
        <p:nvSpPr>
          <p:cNvPr id="32" name=""/>
          <p:cNvSpPr/>
          <p:nvPr/>
        </p:nvSpPr>
        <p:spPr>
          <a:xfrm>
            <a:off x="152280" y="1905120"/>
            <a:ext cx="1828800" cy="873720"/>
          </a:xfrm>
          <a:prstGeom prst="rect">
            <a:avLst/>
          </a:prstGeom>
          <a:solidFill>
            <a:srgbClr val="c4e0be"/>
          </a:solidFill>
          <a:ln w="28440">
            <a:solidFill>
              <a:srgbClr val="003300"/>
            </a:solidFill>
            <a:miter/>
          </a:ln>
        </p:spPr>
        <p:style>
          <a:lnRef idx="0"/>
          <a:fillRef idx="0"/>
          <a:effectRef idx="0"/>
          <a:fontRef idx="minor"/>
        </p:style>
        <p:txBody>
          <a:bodyPr lIns="69480" rIns="69480" tIns="34920" bIns="34920" anchor="t">
            <a:spAutoFit/>
          </a:bodyPr>
          <a:p>
            <a:pPr>
              <a:lnSpc>
                <a:spcPct val="110000"/>
              </a:lnSpc>
              <a:spcBef>
                <a:spcPts val="75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200" strike="noStrike" u="none">
                <a:solidFill>
                  <a:srgbClr val="000000"/>
                </a:solidFill>
                <a:effectLst/>
                <a:uFillTx/>
                <a:latin typeface="Arial Narrow"/>
              </a:rPr>
              <a:t>Articulation of managers HRM accountabilities. HR policies. Workforce planning. Job classes &amp; salaries assigned. </a:t>
            </a:r>
            <a:endParaRPr b="0" lang="en-IN" sz="1200" strike="noStrike" u="none">
              <a:solidFill>
                <a:srgbClr val="000000"/>
              </a:solidFill>
              <a:effectLst/>
              <a:uFillTx/>
              <a:latin typeface="Arial"/>
            </a:endParaRPr>
          </a:p>
        </p:txBody>
      </p:sp>
      <p:sp>
        <p:nvSpPr>
          <p:cNvPr id="33" name=""/>
          <p:cNvSpPr/>
          <p:nvPr/>
        </p:nvSpPr>
        <p:spPr>
          <a:xfrm>
            <a:off x="2057400" y="1905120"/>
            <a:ext cx="1600200" cy="1074600"/>
          </a:xfrm>
          <a:prstGeom prst="rect">
            <a:avLst/>
          </a:prstGeom>
          <a:solidFill>
            <a:srgbClr val="ffd1d1"/>
          </a:solidFill>
          <a:ln w="28440">
            <a:solidFill>
              <a:srgbClr val="800000"/>
            </a:solidFill>
            <a:miter/>
          </a:ln>
        </p:spPr>
        <p:style>
          <a:lnRef idx="0"/>
          <a:fillRef idx="0"/>
          <a:effectRef idx="0"/>
          <a:fontRef idx="minor"/>
        </p:style>
        <p:txBody>
          <a:bodyPr lIns="69480" rIns="69480" tIns="34920" bIns="34920" anchor="t">
            <a:spAutoFit/>
          </a:bodyPr>
          <a:p>
            <a:pPr>
              <a:lnSpc>
                <a:spcPct val="110000"/>
              </a:lnSpc>
              <a:spcBef>
                <a:spcPts val="75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US" sz="1200" strike="noStrike" u="none">
                <a:solidFill>
                  <a:srgbClr val="000000"/>
                </a:solidFill>
                <a:effectLst/>
                <a:uFillTx/>
                <a:latin typeface="Arial Narrow"/>
              </a:rPr>
              <a:t>Qualified candidate pools, interviews &amp; reference checks. Job offers. Appts &amp; per-</a:t>
            </a:r>
            <a:br>
              <a:rPr sz="1200"/>
            </a:br>
            <a:r>
              <a:rPr b="0" lang="en-US" sz="1200" strike="noStrike" u="none">
                <a:solidFill>
                  <a:srgbClr val="000000"/>
                </a:solidFill>
                <a:effectLst/>
                <a:uFillTx/>
                <a:latin typeface="Arial Narrow"/>
              </a:rPr>
              <a:t>formance monitoring. </a:t>
            </a:r>
            <a:endParaRPr b="0" lang="en-IN" sz="1200" strike="noStrike" u="none">
              <a:solidFill>
                <a:srgbClr val="000000"/>
              </a:solidFill>
              <a:effectLst/>
              <a:uFillTx/>
              <a:latin typeface="Arial"/>
            </a:endParaRPr>
          </a:p>
        </p:txBody>
      </p:sp>
      <p:sp>
        <p:nvSpPr>
          <p:cNvPr id="34" name=""/>
          <p:cNvSpPr/>
          <p:nvPr/>
        </p:nvSpPr>
        <p:spPr>
          <a:xfrm>
            <a:off x="3809880" y="1905120"/>
            <a:ext cx="1600200" cy="1057320"/>
          </a:xfrm>
          <a:prstGeom prst="rect">
            <a:avLst/>
          </a:prstGeom>
          <a:solidFill>
            <a:srgbClr val="ddddff"/>
          </a:solidFill>
          <a:ln w="28440">
            <a:solidFill>
              <a:srgbClr val="000099"/>
            </a:solidFill>
            <a:miter/>
          </a:ln>
        </p:spPr>
        <p:style>
          <a:lnRef idx="0"/>
          <a:fillRef idx="0"/>
          <a:effectRef idx="0"/>
          <a:fontRef idx="minor"/>
        </p:style>
        <p:txBody>
          <a:bodyPr lIns="69480" rIns="69480" tIns="34920" bIns="34920" anchor="t">
            <a:spAutoFit/>
          </a:bodyPr>
          <a:p>
            <a:pPr>
              <a:lnSpc>
                <a:spcPct val="90000"/>
              </a:lnSpc>
              <a:spcBef>
                <a:spcPts val="75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200" strike="noStrike" u="none">
                <a:solidFill>
                  <a:srgbClr val="000000"/>
                </a:solidFill>
                <a:effectLst/>
                <a:uFillTx/>
                <a:latin typeface="Arial Narrow"/>
              </a:rPr>
              <a:t>Work assignments&amp; requirements defined. Positive workplace environment created. Coaching, feedback, corrections. </a:t>
            </a:r>
            <a:endParaRPr b="0" lang="en-IN" sz="1200" strike="noStrike" u="none">
              <a:solidFill>
                <a:srgbClr val="000000"/>
              </a:solidFill>
              <a:effectLst/>
              <a:uFillTx/>
              <a:latin typeface="Arial"/>
            </a:endParaRPr>
          </a:p>
        </p:txBody>
      </p:sp>
      <p:sp>
        <p:nvSpPr>
          <p:cNvPr id="35" name=""/>
          <p:cNvSpPr/>
          <p:nvPr/>
        </p:nvSpPr>
        <p:spPr>
          <a:xfrm>
            <a:off x="5486400" y="1905120"/>
            <a:ext cx="1600200" cy="1074600"/>
          </a:xfrm>
          <a:prstGeom prst="rect">
            <a:avLst/>
          </a:prstGeom>
          <a:solidFill>
            <a:srgbClr val="e8cebe"/>
          </a:solidFill>
          <a:ln w="28440">
            <a:solidFill>
              <a:srgbClr val="663300"/>
            </a:solidFill>
            <a:miter/>
          </a:ln>
        </p:spPr>
        <p:style>
          <a:lnRef idx="0"/>
          <a:fillRef idx="0"/>
          <a:effectRef idx="0"/>
          <a:fontRef idx="minor"/>
        </p:style>
        <p:txBody>
          <a:bodyPr lIns="69480" rIns="69480" tIns="34920" bIns="34920" anchor="t">
            <a:spAutoFit/>
          </a:bodyPr>
          <a:p>
            <a:pPr>
              <a:lnSpc>
                <a:spcPct val="110000"/>
              </a:lnSpc>
              <a:spcBef>
                <a:spcPts val="75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200" strike="noStrike" u="none">
                <a:solidFill>
                  <a:srgbClr val="000000"/>
                </a:solidFill>
                <a:effectLst/>
                <a:uFillTx/>
                <a:latin typeface="Arial Narrow"/>
              </a:rPr>
              <a:t>Individual development plans. Time/ resources for training. Continuous learning environment created. </a:t>
            </a:r>
            <a:endParaRPr b="0" lang="en-IN" sz="1200" strike="noStrike" u="none">
              <a:solidFill>
                <a:srgbClr val="000000"/>
              </a:solidFill>
              <a:effectLst/>
              <a:uFillTx/>
              <a:latin typeface="Arial"/>
            </a:endParaRPr>
          </a:p>
        </p:txBody>
      </p:sp>
      <p:sp>
        <p:nvSpPr>
          <p:cNvPr id="36" name=""/>
          <p:cNvSpPr/>
          <p:nvPr/>
        </p:nvSpPr>
        <p:spPr>
          <a:xfrm>
            <a:off x="7238880" y="1905120"/>
            <a:ext cx="1752840" cy="892800"/>
          </a:xfrm>
          <a:prstGeom prst="rect">
            <a:avLst/>
          </a:prstGeom>
          <a:solidFill>
            <a:srgbClr val="f0ddff"/>
          </a:solidFill>
          <a:ln w="28440">
            <a:solidFill>
              <a:srgbClr val="4d006c"/>
            </a:solidFill>
            <a:miter/>
          </a:ln>
        </p:spPr>
        <p:style>
          <a:lnRef idx="0"/>
          <a:fillRef idx="0"/>
          <a:effectRef idx="0"/>
          <a:fontRef idx="minor"/>
        </p:style>
        <p:txBody>
          <a:bodyPr lIns="69480" rIns="69480" tIns="34920" bIns="34920" anchor="t">
            <a:spAutoFit/>
          </a:bodyPr>
          <a:p>
            <a:pPr>
              <a:lnSpc>
                <a:spcPct val="90000"/>
              </a:lnSpc>
              <a:spcBef>
                <a:spcPts val="75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200" strike="noStrike" u="none">
                <a:solidFill>
                  <a:srgbClr val="000000"/>
                </a:solidFill>
                <a:effectLst/>
                <a:uFillTx/>
                <a:latin typeface="Arial Narrow"/>
              </a:rPr>
              <a:t>Clear performance expectations linked to orgn’al goals &amp; measures. Regular performance appraisals. Recognition. Discipline.</a:t>
            </a:r>
            <a:endParaRPr b="0" lang="en-IN" sz="1200" strike="noStrike" u="none">
              <a:solidFill>
                <a:srgbClr val="000000"/>
              </a:solidFill>
              <a:effectLst/>
              <a:uFillTx/>
              <a:latin typeface="Arial"/>
            </a:endParaRPr>
          </a:p>
        </p:txBody>
      </p:sp>
      <p:sp>
        <p:nvSpPr>
          <p:cNvPr id="37" name=""/>
          <p:cNvSpPr/>
          <p:nvPr/>
        </p:nvSpPr>
        <p:spPr>
          <a:xfrm>
            <a:off x="152280" y="3200400"/>
            <a:ext cx="1828800" cy="984600"/>
          </a:xfrm>
          <a:prstGeom prst="rect">
            <a:avLst/>
          </a:prstGeom>
          <a:solidFill>
            <a:srgbClr val="c4e0be"/>
          </a:solidFill>
          <a:ln w="28440">
            <a:solidFill>
              <a:srgbClr val="003300"/>
            </a:solidFill>
            <a:miter/>
          </a:ln>
        </p:spPr>
        <p:style>
          <a:lnRef idx="0"/>
          <a:fillRef idx="0"/>
          <a:effectRef idx="0"/>
          <a:fontRef idx="minor"/>
        </p:style>
        <p:txBody>
          <a:bodyPr lIns="69480" rIns="69480" tIns="34920" bIns="34920" anchor="t">
            <a:spAutoFit/>
          </a:bodyPr>
          <a:p>
            <a:pPr>
              <a:lnSpc>
                <a:spcPct val="100000"/>
              </a:lnSpc>
              <a:spcBef>
                <a:spcPts val="75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200" strike="noStrike" u="none">
                <a:solidFill>
                  <a:srgbClr val="000000"/>
                </a:solidFill>
                <a:effectLst/>
                <a:uFillTx/>
                <a:latin typeface="Arial Narrow"/>
              </a:rPr>
              <a:t>Staffing levels &amp; competencies aligned with agency priorities.  Mgr’s HRM accountabilities are understood.</a:t>
            </a:r>
            <a:endParaRPr b="0" lang="en-IN" sz="1200" strike="noStrike" u="none">
              <a:solidFill>
                <a:srgbClr val="000000"/>
              </a:solidFill>
              <a:effectLst/>
              <a:uFillTx/>
              <a:latin typeface="Arial"/>
            </a:endParaRPr>
          </a:p>
        </p:txBody>
      </p:sp>
      <p:sp>
        <p:nvSpPr>
          <p:cNvPr id="38" name=""/>
          <p:cNvSpPr/>
          <p:nvPr/>
        </p:nvSpPr>
        <p:spPr>
          <a:xfrm>
            <a:off x="2057400" y="3200400"/>
            <a:ext cx="1600200" cy="984600"/>
          </a:xfrm>
          <a:prstGeom prst="rect">
            <a:avLst/>
          </a:prstGeom>
          <a:solidFill>
            <a:srgbClr val="ffd1d1"/>
          </a:solidFill>
          <a:ln w="28440">
            <a:solidFill>
              <a:srgbClr val="800000"/>
            </a:solidFill>
            <a:miter/>
          </a:ln>
        </p:spPr>
        <p:style>
          <a:lnRef idx="0"/>
          <a:fillRef idx="0"/>
          <a:effectRef idx="0"/>
          <a:fontRef idx="minor"/>
        </p:style>
        <p:txBody>
          <a:bodyPr lIns="69480" rIns="69480" tIns="34920" bIns="34920" anchor="t">
            <a:spAutoFit/>
          </a:bodyPr>
          <a:p>
            <a:pPr>
              <a:lnSpc>
                <a:spcPct val="100000"/>
              </a:lnSpc>
              <a:spcBef>
                <a:spcPts val="75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200" strike="noStrike" u="none">
                <a:solidFill>
                  <a:srgbClr val="000000"/>
                </a:solidFill>
                <a:effectLst/>
                <a:uFillTx/>
                <a:latin typeface="Arial Narrow"/>
              </a:rPr>
              <a:t>Best candidate hired &amp; reviewed during appointment period. Successful performers retained.</a:t>
            </a:r>
            <a:endParaRPr b="0" lang="en-IN" sz="1200" strike="noStrike" u="none">
              <a:solidFill>
                <a:srgbClr val="000000"/>
              </a:solidFill>
              <a:effectLst/>
              <a:uFillTx/>
              <a:latin typeface="Arial"/>
            </a:endParaRPr>
          </a:p>
        </p:txBody>
      </p:sp>
      <p:sp>
        <p:nvSpPr>
          <p:cNvPr id="39" name=""/>
          <p:cNvSpPr/>
          <p:nvPr/>
        </p:nvSpPr>
        <p:spPr>
          <a:xfrm>
            <a:off x="3809880" y="3200400"/>
            <a:ext cx="1600200" cy="947160"/>
          </a:xfrm>
          <a:prstGeom prst="rect">
            <a:avLst/>
          </a:prstGeom>
          <a:solidFill>
            <a:srgbClr val="ddddff"/>
          </a:solidFill>
          <a:ln w="28440">
            <a:solidFill>
              <a:srgbClr val="000099"/>
            </a:solidFill>
            <a:miter/>
          </a:ln>
        </p:spPr>
        <p:style>
          <a:lnRef idx="0"/>
          <a:fillRef idx="0"/>
          <a:effectRef idx="0"/>
          <a:fontRef idx="minor"/>
        </p:style>
        <p:txBody>
          <a:bodyPr lIns="69480" rIns="69480" tIns="34920" bIns="34920" anchor="t">
            <a:spAutoFit/>
          </a:bodyPr>
          <a:p>
            <a:pPr>
              <a:lnSpc>
                <a:spcPct val="80000"/>
              </a:lnSpc>
              <a:spcBef>
                <a:spcPts val="75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200" strike="noStrike" u="none">
                <a:solidFill>
                  <a:srgbClr val="000000"/>
                </a:solidFill>
                <a:effectLst/>
                <a:uFillTx/>
                <a:latin typeface="Arial Narrow"/>
              </a:rPr>
              <a:t>Workplace is safe, gives capacity to perform, &amp; fosters productive relations. Staff know job rqmts, how they’re doing, &amp; are supported.</a:t>
            </a:r>
            <a:endParaRPr b="0" lang="en-IN" sz="1200" strike="noStrike" u="none">
              <a:solidFill>
                <a:srgbClr val="000000"/>
              </a:solidFill>
              <a:effectLst/>
              <a:uFillTx/>
              <a:latin typeface="Arial"/>
            </a:endParaRPr>
          </a:p>
        </p:txBody>
      </p:sp>
      <p:sp>
        <p:nvSpPr>
          <p:cNvPr id="40" name=""/>
          <p:cNvSpPr/>
          <p:nvPr/>
        </p:nvSpPr>
        <p:spPr>
          <a:xfrm>
            <a:off x="5486400" y="3200400"/>
            <a:ext cx="1600200" cy="984600"/>
          </a:xfrm>
          <a:prstGeom prst="rect">
            <a:avLst/>
          </a:prstGeom>
          <a:solidFill>
            <a:srgbClr val="e8cebe"/>
          </a:solidFill>
          <a:ln w="28440">
            <a:solidFill>
              <a:srgbClr val="663300"/>
            </a:solidFill>
            <a:miter/>
          </a:ln>
        </p:spPr>
        <p:style>
          <a:lnRef idx="0"/>
          <a:fillRef idx="0"/>
          <a:effectRef idx="0"/>
          <a:fontRef idx="minor"/>
        </p:style>
        <p:txBody>
          <a:bodyPr lIns="69480" rIns="69480" tIns="34920" bIns="34920" anchor="t">
            <a:spAutoFit/>
          </a:bodyPr>
          <a:p>
            <a:pPr>
              <a:lnSpc>
                <a:spcPct val="100000"/>
              </a:lnSpc>
              <a:spcBef>
                <a:spcPts val="75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200" strike="noStrike" u="none">
                <a:solidFill>
                  <a:srgbClr val="000000"/>
                </a:solidFill>
                <a:effectLst/>
                <a:uFillTx/>
                <a:latin typeface="Arial Narrow"/>
              </a:rPr>
              <a:t>Learning environment created. Employees are engaged in develop-</a:t>
            </a:r>
            <a:br>
              <a:rPr sz="1200"/>
            </a:br>
            <a:r>
              <a:rPr b="0" lang="en-IN" sz="1200" strike="noStrike" u="none">
                <a:solidFill>
                  <a:srgbClr val="000000"/>
                </a:solidFill>
                <a:effectLst/>
                <a:uFillTx/>
                <a:latin typeface="Arial Narrow"/>
              </a:rPr>
              <a:t>ment opportunities &amp; seek to learn.</a:t>
            </a:r>
            <a:endParaRPr b="0" lang="en-IN" sz="1200" strike="noStrike" u="none">
              <a:solidFill>
                <a:srgbClr val="000000"/>
              </a:solidFill>
              <a:effectLst/>
              <a:uFillTx/>
              <a:latin typeface="Arial"/>
            </a:endParaRPr>
          </a:p>
        </p:txBody>
      </p:sp>
      <p:sp>
        <p:nvSpPr>
          <p:cNvPr id="41" name=""/>
          <p:cNvSpPr/>
          <p:nvPr/>
        </p:nvSpPr>
        <p:spPr>
          <a:xfrm>
            <a:off x="7238880" y="3200400"/>
            <a:ext cx="1752840" cy="984600"/>
          </a:xfrm>
          <a:prstGeom prst="rect">
            <a:avLst/>
          </a:prstGeom>
          <a:solidFill>
            <a:srgbClr val="f0ddff"/>
          </a:solidFill>
          <a:ln w="28440">
            <a:solidFill>
              <a:srgbClr val="4d006c"/>
            </a:solidFill>
            <a:miter/>
          </a:ln>
        </p:spPr>
        <p:style>
          <a:lnRef idx="0"/>
          <a:fillRef idx="0"/>
          <a:effectRef idx="0"/>
          <a:fontRef idx="minor"/>
        </p:style>
        <p:txBody>
          <a:bodyPr lIns="69480" rIns="69480" tIns="34920" bIns="34920" anchor="t">
            <a:spAutoFit/>
          </a:bodyPr>
          <a:p>
            <a:pPr>
              <a:lnSpc>
                <a:spcPct val="100000"/>
              </a:lnSpc>
              <a:spcBef>
                <a:spcPts val="75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200" strike="noStrike" u="none">
                <a:solidFill>
                  <a:srgbClr val="000000"/>
                </a:solidFill>
                <a:effectLst/>
                <a:uFillTx/>
                <a:latin typeface="Arial Narrow"/>
              </a:rPr>
              <a:t>Employees know how performance contributes to success of orgn. Strong performance rewarded; poor performance eliminated</a:t>
            </a:r>
            <a:endParaRPr b="0" lang="en-IN" sz="1200" strike="noStrike" u="none">
              <a:solidFill>
                <a:srgbClr val="000000"/>
              </a:solidFill>
              <a:effectLst/>
              <a:uFillTx/>
              <a:latin typeface="Arial"/>
            </a:endParaRPr>
          </a:p>
        </p:txBody>
      </p:sp>
      <p:sp>
        <p:nvSpPr>
          <p:cNvPr id="42" name=""/>
          <p:cNvSpPr/>
          <p:nvPr/>
        </p:nvSpPr>
        <p:spPr>
          <a:xfrm>
            <a:off x="152280" y="4419720"/>
            <a:ext cx="1828800" cy="783000"/>
          </a:xfrm>
          <a:prstGeom prst="rect">
            <a:avLst/>
          </a:prstGeom>
          <a:solidFill>
            <a:srgbClr val="c4e0be"/>
          </a:solidFill>
          <a:ln w="28440">
            <a:solidFill>
              <a:srgbClr val="003300"/>
            </a:solidFill>
            <a:miter/>
          </a:ln>
        </p:spPr>
        <p:style>
          <a:lnRef idx="0"/>
          <a:fillRef idx="0"/>
          <a:effectRef idx="0"/>
          <a:fontRef idx="minor"/>
        </p:style>
        <p:txBody>
          <a:bodyPr lIns="69480" rIns="69480" tIns="34920" bIns="34920" anchor="t">
            <a:spAutoFit/>
          </a:bodyPr>
          <a:p>
            <a:pPr>
              <a:lnSpc>
                <a:spcPct val="130000"/>
              </a:lnSpc>
              <a:spcBef>
                <a:spcPts val="75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200" strike="noStrike" u="none">
                <a:solidFill>
                  <a:srgbClr val="000000"/>
                </a:solidFill>
                <a:effectLst/>
                <a:uFillTx/>
                <a:latin typeface="Arial Narrow"/>
              </a:rPr>
              <a:t>Foundation is in place to build and sustain a productive, high performing workforce.</a:t>
            </a:r>
            <a:endParaRPr b="0" lang="en-IN" sz="1200" strike="noStrike" u="none">
              <a:solidFill>
                <a:srgbClr val="000000"/>
              </a:solidFill>
              <a:effectLst/>
              <a:uFillTx/>
              <a:latin typeface="Arial"/>
            </a:endParaRPr>
          </a:p>
        </p:txBody>
      </p:sp>
      <p:sp>
        <p:nvSpPr>
          <p:cNvPr id="43" name=""/>
          <p:cNvSpPr/>
          <p:nvPr/>
        </p:nvSpPr>
        <p:spPr>
          <a:xfrm>
            <a:off x="2057400" y="4419720"/>
            <a:ext cx="1600200" cy="618840"/>
          </a:xfrm>
          <a:prstGeom prst="rect">
            <a:avLst/>
          </a:prstGeom>
          <a:solidFill>
            <a:srgbClr val="ffd1d1"/>
          </a:solidFill>
          <a:ln w="28440">
            <a:solidFill>
              <a:srgbClr val="800000"/>
            </a:solidFill>
            <a:miter/>
          </a:ln>
        </p:spPr>
        <p:style>
          <a:lnRef idx="0"/>
          <a:fillRef idx="0"/>
          <a:effectRef idx="0"/>
          <a:fontRef idx="minor"/>
        </p:style>
        <p:txBody>
          <a:bodyPr lIns="69480" rIns="69480" tIns="34920" bIns="34920" anchor="t">
            <a:spAutoFit/>
          </a:bodyPr>
          <a:p>
            <a:pPr>
              <a:lnSpc>
                <a:spcPct val="100000"/>
              </a:lnSpc>
              <a:spcBef>
                <a:spcPts val="75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200" strike="noStrike" u="none">
                <a:solidFill>
                  <a:srgbClr val="000000"/>
                </a:solidFill>
                <a:effectLst/>
                <a:uFillTx/>
                <a:latin typeface="Arial Narrow"/>
              </a:rPr>
              <a:t>The right people are in the right job at the right time.</a:t>
            </a:r>
            <a:br>
              <a:rPr sz="1200"/>
            </a:br>
            <a:endParaRPr b="0" lang="en-IN" sz="1200" strike="noStrike" u="none">
              <a:solidFill>
                <a:srgbClr val="000000"/>
              </a:solidFill>
              <a:effectLst/>
              <a:uFillTx/>
              <a:latin typeface="Arial"/>
            </a:endParaRPr>
          </a:p>
        </p:txBody>
      </p:sp>
      <p:sp>
        <p:nvSpPr>
          <p:cNvPr id="44" name=""/>
          <p:cNvSpPr/>
          <p:nvPr/>
        </p:nvSpPr>
        <p:spPr>
          <a:xfrm>
            <a:off x="3809880" y="4419720"/>
            <a:ext cx="1600200" cy="618840"/>
          </a:xfrm>
          <a:prstGeom prst="rect">
            <a:avLst/>
          </a:prstGeom>
          <a:solidFill>
            <a:srgbClr val="ddddff"/>
          </a:solidFill>
          <a:ln w="28440">
            <a:solidFill>
              <a:srgbClr val="000099"/>
            </a:solidFill>
            <a:miter/>
          </a:ln>
        </p:spPr>
        <p:style>
          <a:lnRef idx="0"/>
          <a:fillRef idx="0"/>
          <a:effectRef idx="0"/>
          <a:fontRef idx="minor"/>
        </p:style>
        <p:txBody>
          <a:bodyPr lIns="69480" rIns="69480" tIns="34920" bIns="34920" anchor="t">
            <a:spAutoFit/>
          </a:bodyPr>
          <a:p>
            <a:pPr>
              <a:lnSpc>
                <a:spcPct val="100000"/>
              </a:lnSpc>
              <a:spcBef>
                <a:spcPts val="75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200" strike="noStrike" u="none">
                <a:solidFill>
                  <a:srgbClr val="000000"/>
                </a:solidFill>
                <a:effectLst/>
                <a:uFillTx/>
                <a:latin typeface="Arial Narrow"/>
              </a:rPr>
              <a:t>Time &amp; talent is used effectively. Employees are motivated &amp; productive.</a:t>
            </a:r>
            <a:endParaRPr b="0" lang="en-IN" sz="1200" strike="noStrike" u="none">
              <a:solidFill>
                <a:srgbClr val="000000"/>
              </a:solidFill>
              <a:effectLst/>
              <a:uFillTx/>
              <a:latin typeface="Arial"/>
            </a:endParaRPr>
          </a:p>
        </p:txBody>
      </p:sp>
      <p:sp>
        <p:nvSpPr>
          <p:cNvPr id="45" name=""/>
          <p:cNvSpPr/>
          <p:nvPr/>
        </p:nvSpPr>
        <p:spPr>
          <a:xfrm>
            <a:off x="5486400" y="4419720"/>
            <a:ext cx="1600200" cy="618840"/>
          </a:xfrm>
          <a:prstGeom prst="rect">
            <a:avLst/>
          </a:prstGeom>
          <a:solidFill>
            <a:srgbClr val="e8cebe"/>
          </a:solidFill>
          <a:ln w="28440">
            <a:solidFill>
              <a:srgbClr val="663300"/>
            </a:solidFill>
            <a:miter/>
          </a:ln>
        </p:spPr>
        <p:style>
          <a:lnRef idx="0"/>
          <a:fillRef idx="0"/>
          <a:effectRef idx="0"/>
          <a:fontRef idx="minor"/>
        </p:style>
        <p:txBody>
          <a:bodyPr lIns="69480" rIns="69480" tIns="34920" bIns="34920" anchor="t">
            <a:spAutoFit/>
          </a:bodyPr>
          <a:p>
            <a:pPr>
              <a:lnSpc>
                <a:spcPct val="100000"/>
              </a:lnSpc>
              <a:spcBef>
                <a:spcPts val="75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200" strike="noStrike" u="none">
                <a:solidFill>
                  <a:srgbClr val="000000"/>
                </a:solidFill>
                <a:effectLst/>
                <a:uFillTx/>
                <a:latin typeface="Arial Narrow"/>
              </a:rPr>
              <a:t>Employees have competencies for present job &amp; career advancement</a:t>
            </a:r>
            <a:endParaRPr b="0" lang="en-IN" sz="1200" strike="noStrike" u="none">
              <a:solidFill>
                <a:srgbClr val="000000"/>
              </a:solidFill>
              <a:effectLst/>
              <a:uFillTx/>
              <a:latin typeface="Arial"/>
            </a:endParaRPr>
          </a:p>
        </p:txBody>
      </p:sp>
      <p:sp>
        <p:nvSpPr>
          <p:cNvPr id="46" name=""/>
          <p:cNvSpPr/>
          <p:nvPr/>
        </p:nvSpPr>
        <p:spPr>
          <a:xfrm>
            <a:off x="7238880" y="4419720"/>
            <a:ext cx="1752840" cy="801720"/>
          </a:xfrm>
          <a:prstGeom prst="rect">
            <a:avLst/>
          </a:prstGeom>
          <a:solidFill>
            <a:srgbClr val="f0ddff"/>
          </a:solidFill>
          <a:ln w="28440">
            <a:solidFill>
              <a:srgbClr val="4d006c"/>
            </a:solidFill>
            <a:miter/>
          </a:ln>
        </p:spPr>
        <p:style>
          <a:lnRef idx="0"/>
          <a:fillRef idx="0"/>
          <a:effectRef idx="0"/>
          <a:fontRef idx="minor"/>
        </p:style>
        <p:txBody>
          <a:bodyPr lIns="69480" rIns="69480" tIns="34920" bIns="34920" anchor="t">
            <a:spAutoFit/>
          </a:bodyPr>
          <a:p>
            <a:pPr>
              <a:lnSpc>
                <a:spcPct val="100000"/>
              </a:lnSpc>
              <a:spcBef>
                <a:spcPts val="75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1200" strike="noStrike" u="none">
                <a:solidFill>
                  <a:srgbClr val="000000"/>
                </a:solidFill>
                <a:effectLst/>
                <a:uFillTx/>
                <a:latin typeface="Arial Narrow"/>
              </a:rPr>
              <a:t>Successful performance is differentiated &amp; strengthened. Employees are held accountable.</a:t>
            </a:r>
            <a:endParaRPr b="0" lang="en-IN" sz="1200" strike="noStrike" u="none">
              <a:solidFill>
                <a:srgbClr val="000000"/>
              </a:solidFill>
              <a:effectLst/>
              <a:uFillTx/>
              <a:latin typeface="Arial"/>
            </a:endParaRPr>
          </a:p>
        </p:txBody>
      </p:sp>
      <p:sp>
        <p:nvSpPr>
          <p:cNvPr id="47" name=""/>
          <p:cNvSpPr/>
          <p:nvPr/>
        </p:nvSpPr>
        <p:spPr>
          <a:xfrm>
            <a:off x="914400" y="5486400"/>
            <a:ext cx="7315200" cy="706320"/>
          </a:xfrm>
          <a:prstGeom prst="rect">
            <a:avLst/>
          </a:prstGeom>
          <a:solidFill>
            <a:srgbClr val="ffcc00"/>
          </a:solidFill>
          <a:ln w="76320">
            <a:solidFill>
              <a:srgbClr val="ffcc00"/>
            </a:solidFill>
            <a:miter/>
          </a:ln>
        </p:spPr>
        <p:style>
          <a:lnRef idx="0"/>
          <a:fillRef idx="0"/>
          <a:effectRef idx="0"/>
          <a:fontRef idx="minor"/>
        </p:style>
        <p:txBody>
          <a:bodyPr lIns="69480" rIns="69480" tIns="34920" bIns="34920" anchor="t">
            <a:spAutoFit/>
          </a:bodyPr>
          <a:p>
            <a:pPr marL="171360" indent="-171360" algn="ctr">
              <a:lnSpc>
                <a:spcPct val="75000"/>
              </a:lnSpc>
              <a:spcBef>
                <a:spcPts val="612"/>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400" strike="noStrike" u="none">
                <a:solidFill>
                  <a:srgbClr val="000000"/>
                </a:solidFill>
                <a:effectLst/>
                <a:uFillTx/>
                <a:latin typeface="Arial Narrow"/>
              </a:rPr>
              <a:t>State government has workforce depth &amp; breadth needed for present and future success</a:t>
            </a:r>
            <a:endParaRPr b="0" lang="en-IN" sz="1400" strike="noStrike" u="none">
              <a:solidFill>
                <a:srgbClr val="000000"/>
              </a:solidFill>
              <a:effectLst/>
              <a:uFillTx/>
              <a:latin typeface="Arial"/>
            </a:endParaRPr>
          </a:p>
          <a:p>
            <a:pPr marL="171360" indent="-171360" algn="ctr">
              <a:lnSpc>
                <a:spcPct val="75000"/>
              </a:lnSpc>
              <a:spcBef>
                <a:spcPts val="612"/>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400" strike="noStrike" u="none">
                <a:solidFill>
                  <a:srgbClr val="000000"/>
                </a:solidFill>
                <a:effectLst/>
                <a:uFillTx/>
                <a:latin typeface="Arial Narrow"/>
              </a:rPr>
              <a:t>Employees are committed to the work they do &amp; the goals of the organization</a:t>
            </a:r>
            <a:endParaRPr b="0" lang="en-IN" sz="1400" strike="noStrike" u="none">
              <a:solidFill>
                <a:srgbClr val="000000"/>
              </a:solidFill>
              <a:effectLst/>
              <a:uFillTx/>
              <a:latin typeface="Arial"/>
            </a:endParaRPr>
          </a:p>
          <a:p>
            <a:pPr marL="171360" indent="-171360" algn="ctr">
              <a:lnSpc>
                <a:spcPct val="75000"/>
              </a:lnSpc>
              <a:spcBef>
                <a:spcPts val="612"/>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400" strike="noStrike" u="none">
                <a:solidFill>
                  <a:srgbClr val="000000"/>
                </a:solidFill>
                <a:effectLst/>
                <a:uFillTx/>
                <a:latin typeface="Arial Narrow"/>
              </a:rPr>
              <a:t>Productive, successful employees are retained</a:t>
            </a:r>
            <a:endParaRPr b="0" lang="en-IN" sz="1400" strike="noStrike" u="none">
              <a:solidFill>
                <a:srgbClr val="000000"/>
              </a:solidFill>
              <a:effectLst/>
              <a:uFillTx/>
              <a:latin typeface="Arial"/>
            </a:endParaRPr>
          </a:p>
        </p:txBody>
      </p:sp>
      <p:sp>
        <p:nvSpPr>
          <p:cNvPr id="48" name=""/>
          <p:cNvSpPr/>
          <p:nvPr/>
        </p:nvSpPr>
        <p:spPr>
          <a:xfrm>
            <a:off x="685800" y="6477120"/>
            <a:ext cx="7696080" cy="253080"/>
          </a:xfrm>
          <a:prstGeom prst="rect">
            <a:avLst/>
          </a:prstGeom>
          <a:solidFill>
            <a:srgbClr val="ffffff"/>
          </a:solidFill>
          <a:ln w="9360">
            <a:solidFill>
              <a:srgbClr val="000000"/>
            </a:solidFill>
            <a:miter/>
          </a:ln>
        </p:spPr>
        <p:style>
          <a:lnRef idx="0"/>
          <a:fillRef idx="0"/>
          <a:effectRef idx="0"/>
          <a:fontRef idx="minor"/>
        </p:style>
        <p:txBody>
          <a:bodyPr lIns="69480" rIns="69480" tIns="34920" bIns="34920" anchor="t">
            <a:spAutoFit/>
          </a:bodyPr>
          <a:p>
            <a:pPr algn="ctr">
              <a:lnSpc>
                <a:spcPct val="100000"/>
              </a:lnSpc>
              <a:spcBef>
                <a:spcPts val="75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1" lang="en-IN" sz="1200" strike="noStrike" u="none">
                <a:solidFill>
                  <a:srgbClr val="000000"/>
                </a:solidFill>
                <a:effectLst/>
                <a:uFillTx/>
                <a:latin typeface="Arial Narrow"/>
              </a:rPr>
              <a:t>Agencies are better enabled to successfully carry out their mission. The citizens receive efficient government services.</a:t>
            </a:r>
            <a:endParaRPr b="0" lang="en-IN" sz="1200" strike="noStrike" u="none">
              <a:solidFill>
                <a:srgbClr val="000000"/>
              </a:solidFill>
              <a:effectLst/>
              <a:uFillTx/>
              <a:latin typeface="Arial"/>
            </a:endParaRPr>
          </a:p>
        </p:txBody>
      </p:sp>
      <p:sp>
        <p:nvSpPr>
          <p:cNvPr id="49" name=""/>
          <p:cNvSpPr/>
          <p:nvPr/>
        </p:nvSpPr>
        <p:spPr>
          <a:xfrm>
            <a:off x="990720" y="1676520"/>
            <a:ext cx="0" cy="22860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0" name=""/>
          <p:cNvSpPr/>
          <p:nvPr/>
        </p:nvSpPr>
        <p:spPr>
          <a:xfrm>
            <a:off x="8153280" y="1676520"/>
            <a:ext cx="0" cy="22860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1" name=""/>
          <p:cNvSpPr/>
          <p:nvPr/>
        </p:nvSpPr>
        <p:spPr>
          <a:xfrm>
            <a:off x="6248520" y="1676520"/>
            <a:ext cx="0" cy="22860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2" name=""/>
          <p:cNvSpPr/>
          <p:nvPr/>
        </p:nvSpPr>
        <p:spPr>
          <a:xfrm>
            <a:off x="4572000" y="1676520"/>
            <a:ext cx="0" cy="22860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3" name=""/>
          <p:cNvSpPr/>
          <p:nvPr/>
        </p:nvSpPr>
        <p:spPr>
          <a:xfrm>
            <a:off x="2895480" y="1676520"/>
            <a:ext cx="0" cy="22860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4" name=""/>
          <p:cNvSpPr/>
          <p:nvPr/>
        </p:nvSpPr>
        <p:spPr>
          <a:xfrm>
            <a:off x="990720" y="3048120"/>
            <a:ext cx="0" cy="15228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5" name=""/>
          <p:cNvSpPr/>
          <p:nvPr/>
        </p:nvSpPr>
        <p:spPr>
          <a:xfrm>
            <a:off x="8153280" y="3048120"/>
            <a:ext cx="0" cy="15228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6" name=""/>
          <p:cNvSpPr/>
          <p:nvPr/>
        </p:nvSpPr>
        <p:spPr>
          <a:xfrm>
            <a:off x="6238800" y="3048120"/>
            <a:ext cx="0" cy="15228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7" name=""/>
          <p:cNvSpPr/>
          <p:nvPr/>
        </p:nvSpPr>
        <p:spPr>
          <a:xfrm>
            <a:off x="4552920" y="3048120"/>
            <a:ext cx="0" cy="15228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8" name=""/>
          <p:cNvSpPr/>
          <p:nvPr/>
        </p:nvSpPr>
        <p:spPr>
          <a:xfrm>
            <a:off x="2895480" y="3048120"/>
            <a:ext cx="0" cy="15228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9" name=""/>
          <p:cNvSpPr/>
          <p:nvPr/>
        </p:nvSpPr>
        <p:spPr>
          <a:xfrm>
            <a:off x="990720" y="4267080"/>
            <a:ext cx="0" cy="15264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0" name=""/>
          <p:cNvSpPr/>
          <p:nvPr/>
        </p:nvSpPr>
        <p:spPr>
          <a:xfrm>
            <a:off x="2895480" y="4267080"/>
            <a:ext cx="0" cy="15264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1" name=""/>
          <p:cNvSpPr/>
          <p:nvPr/>
        </p:nvSpPr>
        <p:spPr>
          <a:xfrm>
            <a:off x="4572000" y="4267080"/>
            <a:ext cx="0" cy="15264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2" name=""/>
          <p:cNvSpPr/>
          <p:nvPr/>
        </p:nvSpPr>
        <p:spPr>
          <a:xfrm>
            <a:off x="6261120" y="4267080"/>
            <a:ext cx="0" cy="15264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3" name=""/>
          <p:cNvSpPr/>
          <p:nvPr/>
        </p:nvSpPr>
        <p:spPr>
          <a:xfrm>
            <a:off x="8153280" y="4267080"/>
            <a:ext cx="0" cy="15264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4" name=""/>
          <p:cNvSpPr/>
          <p:nvPr/>
        </p:nvSpPr>
        <p:spPr>
          <a:xfrm>
            <a:off x="990720" y="5257800"/>
            <a:ext cx="0" cy="22860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5" name=""/>
          <p:cNvSpPr/>
          <p:nvPr/>
        </p:nvSpPr>
        <p:spPr>
          <a:xfrm>
            <a:off x="2895480" y="5257800"/>
            <a:ext cx="0" cy="22860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6" name=""/>
          <p:cNvSpPr/>
          <p:nvPr/>
        </p:nvSpPr>
        <p:spPr>
          <a:xfrm>
            <a:off x="4584600" y="5257800"/>
            <a:ext cx="0" cy="22860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7" name=""/>
          <p:cNvSpPr/>
          <p:nvPr/>
        </p:nvSpPr>
        <p:spPr>
          <a:xfrm>
            <a:off x="6248520" y="5257800"/>
            <a:ext cx="0" cy="22860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8" name=""/>
          <p:cNvSpPr/>
          <p:nvPr/>
        </p:nvSpPr>
        <p:spPr>
          <a:xfrm>
            <a:off x="8153280" y="5257800"/>
            <a:ext cx="0" cy="22860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 name="PlaceHolder 2"/>
          <p:cNvSpPr>
            <a:spLocks noGrp="1"/>
          </p:cNvSpPr>
          <p:nvPr>
            <p:ph type="sldNum" idx="3"/>
          </p:nvPr>
        </p:nvSpPr>
        <p:spPr/>
        <p:txBody>
          <a:bodyPr/>
          <a:p>
            <a:fld id="{2A1405CB-0E83-4DAD-B45B-2F7319515ECA}"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533520" y="228600"/>
            <a:ext cx="7542000" cy="657360"/>
          </a:xfrm>
          <a:prstGeom prst="rect">
            <a:avLst/>
          </a:prstGeom>
          <a:noFill/>
          <a:ln w="0">
            <a:noFill/>
          </a:ln>
        </p:spPr>
        <p:txBody>
          <a:bodyPr lIns="90000" rIns="90000" tIns="46800" bIns="46800" anchor="ctr">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Black"/>
              </a:rPr>
              <a:t>Human Resource Management Report</a:t>
            </a:r>
            <a:br>
              <a:rPr sz="2000"/>
            </a:br>
            <a:r>
              <a:rPr b="0" lang="en-IN" sz="2400" strike="noStrike" u="none">
                <a:solidFill>
                  <a:srgbClr val="000000"/>
                </a:solidFill>
                <a:effectLst/>
                <a:uFillTx/>
                <a:latin typeface="Arial Black"/>
              </a:rPr>
              <a:t>Standard Performance Measures</a:t>
            </a:r>
            <a:endParaRPr b="0" lang="en-IN" sz="2400" strike="noStrike" u="none">
              <a:solidFill>
                <a:srgbClr val="000000"/>
              </a:solidFill>
              <a:effectLst/>
              <a:uFillTx/>
              <a:latin typeface="Arial"/>
            </a:endParaRPr>
          </a:p>
        </p:txBody>
      </p:sp>
      <p:sp>
        <p:nvSpPr>
          <p:cNvPr id="70" name="PlaceHolder 2"/>
          <p:cNvSpPr>
            <a:spLocks noGrp="1"/>
          </p:cNvSpPr>
          <p:nvPr>
            <p:ph/>
          </p:nvPr>
        </p:nvSpPr>
        <p:spPr>
          <a:xfrm>
            <a:off x="1599840" y="1066680"/>
            <a:ext cx="6095880" cy="5562720"/>
          </a:xfrm>
          <a:prstGeom prst="rect">
            <a:avLst/>
          </a:prstGeom>
          <a:noFill/>
          <a:ln w="0">
            <a:noFill/>
          </a:ln>
        </p:spPr>
        <p:txBody>
          <a:bodyPr lIns="90000" rIns="90000" tIns="46800" bIns="46800" anchor="t">
            <a:normAutofit lnSpcReduction="9999"/>
          </a:bodyPr>
          <a:p>
            <a:pPr marL="231840" indent="-231840">
              <a:lnSpc>
                <a:spcPct val="70000"/>
              </a:lnSpc>
              <a:spcBef>
                <a:spcPts val="400"/>
              </a:spcBef>
              <a:buClr>
                <a:srgbClr val="000000"/>
              </a:buClr>
              <a:buFont typeface="Arial Narrow"/>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Percent current position/competencies descriptions</a:t>
            </a:r>
            <a:endParaRPr b="0" lang="en-IN" sz="1600" strike="noStrike" u="none">
              <a:solidFill>
                <a:srgbClr val="000000"/>
              </a:solidFill>
              <a:effectLst/>
              <a:uFillTx/>
              <a:latin typeface="Arial"/>
            </a:endParaRPr>
          </a:p>
          <a:p>
            <a:pPr marL="231840" indent="-231840">
              <a:lnSpc>
                <a:spcPct val="70000"/>
              </a:lnSpc>
              <a:spcBef>
                <a:spcPts val="400"/>
              </a:spcBef>
              <a:buClr>
                <a:srgbClr val="000000"/>
              </a:buClr>
              <a:buFont typeface="Arial Narrow"/>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Percent supervisors with current performance expectations for workforce management</a:t>
            </a:r>
            <a:endParaRPr b="0" lang="en-IN" sz="1600" strike="noStrike" u="none">
              <a:solidFill>
                <a:srgbClr val="000000"/>
              </a:solidFill>
              <a:effectLst/>
              <a:uFillTx/>
              <a:latin typeface="Arial"/>
            </a:endParaRPr>
          </a:p>
          <a:p>
            <a:pPr marL="231840" indent="-231840">
              <a:lnSpc>
                <a:spcPct val="7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marL="231840" indent="-231840">
              <a:lnSpc>
                <a:spcPct val="70000"/>
              </a:lnSpc>
              <a:spcBef>
                <a:spcPts val="400"/>
              </a:spcBef>
              <a:buClr>
                <a:srgbClr val="000000"/>
              </a:buClr>
              <a:buFont typeface="Arial Narrow"/>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Time-to-fill funded vacancies</a:t>
            </a:r>
            <a:endParaRPr b="0" lang="en-IN" sz="1600" strike="noStrike" u="none">
              <a:solidFill>
                <a:srgbClr val="000000"/>
              </a:solidFill>
              <a:effectLst/>
              <a:uFillTx/>
              <a:latin typeface="Arial"/>
            </a:endParaRPr>
          </a:p>
          <a:p>
            <a:pPr marL="231840" indent="-231840">
              <a:lnSpc>
                <a:spcPct val="70000"/>
              </a:lnSpc>
              <a:spcBef>
                <a:spcPts val="400"/>
              </a:spcBef>
              <a:buClr>
                <a:srgbClr val="000000"/>
              </a:buClr>
              <a:buFont typeface="Arial Narrow"/>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Percent satisfaction with candidate quality New Hire-to-Promotional ratio</a:t>
            </a:r>
            <a:endParaRPr b="0" lang="en-IN" sz="1600" strike="noStrike" u="none">
              <a:solidFill>
                <a:srgbClr val="000000"/>
              </a:solidFill>
              <a:effectLst/>
              <a:uFillTx/>
              <a:latin typeface="Arial"/>
            </a:endParaRPr>
          </a:p>
          <a:p>
            <a:pPr marL="231840" indent="-231840">
              <a:lnSpc>
                <a:spcPct val="70000"/>
              </a:lnSpc>
              <a:spcBef>
                <a:spcPts val="400"/>
              </a:spcBef>
              <a:buClr>
                <a:srgbClr val="000000"/>
              </a:buClr>
              <a:buFont typeface="Arial Narrow"/>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Percent turnover during review period</a:t>
            </a:r>
            <a:endParaRPr b="0" lang="en-IN" sz="1600" strike="noStrike" u="none">
              <a:solidFill>
                <a:srgbClr val="000000"/>
              </a:solidFill>
              <a:effectLst/>
              <a:uFillTx/>
              <a:latin typeface="Arial"/>
            </a:endParaRPr>
          </a:p>
          <a:p>
            <a:pPr marL="231840" indent="-231840">
              <a:lnSpc>
                <a:spcPct val="7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231840" indent="-231840">
              <a:lnSpc>
                <a:spcPct val="70000"/>
              </a:lnSpc>
              <a:spcBef>
                <a:spcPts val="2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900" strike="noStrike" u="none">
              <a:solidFill>
                <a:srgbClr val="000000"/>
              </a:solidFill>
              <a:effectLst/>
              <a:uFillTx/>
              <a:latin typeface="Arial"/>
            </a:endParaRPr>
          </a:p>
          <a:p>
            <a:pPr marL="231840" indent="-231840">
              <a:lnSpc>
                <a:spcPct val="70000"/>
              </a:lnSpc>
              <a:spcBef>
                <a:spcPts val="400"/>
              </a:spcBef>
              <a:buClr>
                <a:srgbClr val="000000"/>
              </a:buClr>
              <a:buFont typeface="Arial Narrow"/>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Percent employees with current performance expectations</a:t>
            </a:r>
            <a:endParaRPr b="0" lang="en-IN" sz="1600" strike="noStrike" u="none">
              <a:solidFill>
                <a:srgbClr val="000000"/>
              </a:solidFill>
              <a:effectLst/>
              <a:uFillTx/>
              <a:latin typeface="Arial"/>
            </a:endParaRPr>
          </a:p>
          <a:p>
            <a:pPr marL="231840" indent="-231840">
              <a:lnSpc>
                <a:spcPct val="70000"/>
              </a:lnSpc>
              <a:spcBef>
                <a:spcPts val="400"/>
              </a:spcBef>
              <a:buClr>
                <a:srgbClr val="000000"/>
              </a:buClr>
              <a:buFont typeface="Arial Narrow"/>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Employee survey ratings on “productive workplace” questions</a:t>
            </a:r>
            <a:endParaRPr b="0" lang="en-IN" sz="1600" strike="noStrike" u="none">
              <a:solidFill>
                <a:srgbClr val="000000"/>
              </a:solidFill>
              <a:effectLst/>
              <a:uFillTx/>
              <a:latin typeface="Arial"/>
            </a:endParaRPr>
          </a:p>
          <a:p>
            <a:pPr marL="231840" indent="-231840">
              <a:lnSpc>
                <a:spcPct val="70000"/>
              </a:lnSpc>
              <a:spcBef>
                <a:spcPts val="400"/>
              </a:spcBef>
              <a:buClr>
                <a:srgbClr val="000000"/>
              </a:buClr>
              <a:buFont typeface="Arial Narrow"/>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Leave usage (sick, LWOP, unscheduled leave) </a:t>
            </a:r>
            <a:endParaRPr b="0" lang="en-IN" sz="1600" strike="noStrike" u="none">
              <a:solidFill>
                <a:srgbClr val="000000"/>
              </a:solidFill>
              <a:effectLst/>
              <a:uFillTx/>
              <a:latin typeface="Arial"/>
            </a:endParaRPr>
          </a:p>
          <a:p>
            <a:pPr marL="231840" indent="-231840">
              <a:lnSpc>
                <a:spcPct val="70000"/>
              </a:lnSpc>
              <a:spcBef>
                <a:spcPts val="400"/>
              </a:spcBef>
              <a:buClr>
                <a:srgbClr val="000000"/>
              </a:buClr>
              <a:buFont typeface="Arial Narrow"/>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Overtime usage </a:t>
            </a:r>
            <a:endParaRPr b="0" lang="en-IN" sz="1600" strike="noStrike" u="none">
              <a:solidFill>
                <a:srgbClr val="000000"/>
              </a:solidFill>
              <a:effectLst/>
              <a:uFillTx/>
              <a:latin typeface="Arial"/>
            </a:endParaRPr>
          </a:p>
          <a:p>
            <a:pPr marL="231840" indent="-231840">
              <a:lnSpc>
                <a:spcPct val="70000"/>
              </a:lnSpc>
              <a:spcBef>
                <a:spcPts val="400"/>
              </a:spcBef>
              <a:buClr>
                <a:srgbClr val="000000"/>
              </a:buClr>
              <a:buFont typeface="Arial Narrow"/>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Number &amp; type of non-disciplinary grievances </a:t>
            </a:r>
            <a:endParaRPr b="0" lang="en-IN" sz="1600" strike="noStrike" u="none">
              <a:solidFill>
                <a:srgbClr val="000000"/>
              </a:solidFill>
              <a:effectLst/>
              <a:uFillTx/>
              <a:latin typeface="Arial"/>
            </a:endParaRPr>
          </a:p>
          <a:p>
            <a:pPr marL="231840" indent="0">
              <a:lnSpc>
                <a:spcPct val="70000"/>
              </a:lnSpc>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231840" indent="-231840">
              <a:lnSpc>
                <a:spcPct val="70000"/>
              </a:lnSpc>
              <a:spcBef>
                <a:spcPts val="300"/>
              </a:spcBef>
              <a:buClr>
                <a:srgbClr val="000000"/>
              </a:buClr>
              <a:buFont typeface="Arial Narrow"/>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Percent employees with current annual individual development plans </a:t>
            </a:r>
            <a:endParaRPr b="0" lang="en-IN" sz="1600" strike="noStrike" u="none">
              <a:solidFill>
                <a:srgbClr val="000000"/>
              </a:solidFill>
              <a:effectLst/>
              <a:uFillTx/>
              <a:latin typeface="Arial"/>
            </a:endParaRPr>
          </a:p>
          <a:p>
            <a:pPr marL="231840" indent="-231840">
              <a:lnSpc>
                <a:spcPct val="70000"/>
              </a:lnSpc>
              <a:spcBef>
                <a:spcPts val="400"/>
              </a:spcBef>
              <a:buClr>
                <a:srgbClr val="000000"/>
              </a:buClr>
              <a:buFont typeface="Arial Narrow"/>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Employee survey ratings on “learning/development” questions </a:t>
            </a:r>
            <a:endParaRPr b="0" lang="en-IN" sz="1600" strike="noStrike" u="none">
              <a:solidFill>
                <a:srgbClr val="000000"/>
              </a:solidFill>
              <a:effectLst/>
              <a:uFillTx/>
              <a:latin typeface="Arial"/>
            </a:endParaRPr>
          </a:p>
          <a:p>
            <a:pPr marL="231840" indent="0">
              <a:lnSpc>
                <a:spcPct val="70000"/>
              </a:lnSpc>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231840" indent="-231840">
              <a:lnSpc>
                <a:spcPct val="7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231840" indent="-231840">
              <a:lnSpc>
                <a:spcPct val="70000"/>
              </a:lnSpc>
              <a:spcBef>
                <a:spcPts val="400"/>
              </a:spcBef>
              <a:buClr>
                <a:srgbClr val="000000"/>
              </a:buClr>
              <a:buFont typeface="Arial Narrow"/>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Percent current performance evaluations </a:t>
            </a:r>
            <a:endParaRPr b="0" lang="en-IN" sz="1600" strike="noStrike" u="none">
              <a:solidFill>
                <a:srgbClr val="000000"/>
              </a:solidFill>
              <a:effectLst/>
              <a:uFillTx/>
              <a:latin typeface="Arial"/>
            </a:endParaRPr>
          </a:p>
          <a:p>
            <a:pPr marL="231840" indent="-231840">
              <a:lnSpc>
                <a:spcPct val="70000"/>
              </a:lnSpc>
              <a:spcBef>
                <a:spcPts val="400"/>
              </a:spcBef>
              <a:buClr>
                <a:srgbClr val="000000"/>
              </a:buClr>
              <a:buFont typeface="Arial Narrow"/>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Employee survey ratings on “performance accountability” questions </a:t>
            </a:r>
            <a:endParaRPr b="0" lang="en-IN" sz="1600" strike="noStrike" u="none">
              <a:solidFill>
                <a:srgbClr val="000000"/>
              </a:solidFill>
              <a:effectLst/>
              <a:uFillTx/>
              <a:latin typeface="Arial"/>
            </a:endParaRPr>
          </a:p>
          <a:p>
            <a:pPr marL="231840" indent="-231840">
              <a:lnSpc>
                <a:spcPct val="70000"/>
              </a:lnSpc>
              <a:spcBef>
                <a:spcPts val="400"/>
              </a:spcBef>
              <a:buClr>
                <a:srgbClr val="000000"/>
              </a:buClr>
              <a:buFont typeface="Arial Narrow"/>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Number/type of disciplinary issues, actions, appeals disposition </a:t>
            </a:r>
            <a:endParaRPr b="0" lang="en-IN" sz="1600" strike="noStrike" u="none">
              <a:solidFill>
                <a:srgbClr val="000000"/>
              </a:solidFill>
              <a:effectLst/>
              <a:uFillTx/>
              <a:latin typeface="Arial"/>
            </a:endParaRPr>
          </a:p>
          <a:p>
            <a:pPr marL="231840" indent="0">
              <a:lnSpc>
                <a:spcPct val="70000"/>
              </a:lnSpc>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231840" indent="-231840">
              <a:lnSpc>
                <a:spcPct val="70000"/>
              </a:lnSpc>
              <a:spcBef>
                <a:spcPts val="400"/>
              </a:spcBef>
              <a:buClr>
                <a:srgbClr val="000000"/>
              </a:buClr>
              <a:buFont typeface="Arial Narrow"/>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Turnover rates and types (e.g., retirement, resignation, etc.) </a:t>
            </a:r>
            <a:endParaRPr b="0" lang="en-IN" sz="1600" strike="noStrike" u="none">
              <a:solidFill>
                <a:srgbClr val="000000"/>
              </a:solidFill>
              <a:effectLst/>
              <a:uFillTx/>
              <a:latin typeface="Arial"/>
            </a:endParaRPr>
          </a:p>
          <a:p>
            <a:pPr marL="231840" indent="-231840">
              <a:lnSpc>
                <a:spcPct val="70000"/>
              </a:lnSpc>
              <a:spcBef>
                <a:spcPts val="400"/>
              </a:spcBef>
              <a:buClr>
                <a:srgbClr val="000000"/>
              </a:buClr>
              <a:buFont typeface="Arial Narrow"/>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Turnover rate of key occupational categories and of workforce diversity </a:t>
            </a:r>
            <a:endParaRPr b="0" lang="en-IN" sz="1600" strike="noStrike" u="none">
              <a:solidFill>
                <a:srgbClr val="000000"/>
              </a:solidFill>
              <a:effectLst/>
              <a:uFillTx/>
              <a:latin typeface="Arial"/>
            </a:endParaRPr>
          </a:p>
          <a:p>
            <a:pPr marL="231840" indent="-231840">
              <a:lnSpc>
                <a:spcPct val="70000"/>
              </a:lnSpc>
              <a:spcBef>
                <a:spcPts val="400"/>
              </a:spcBef>
              <a:buClr>
                <a:srgbClr val="000000"/>
              </a:buClr>
              <a:buFont typeface="Arial Narrow"/>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Employee survey ratings on “commitment” questions</a:t>
            </a:r>
            <a:endParaRPr b="0" lang="en-IN" sz="1600" strike="noStrike" u="none">
              <a:solidFill>
                <a:srgbClr val="000000"/>
              </a:solidFill>
              <a:effectLst/>
              <a:uFillTx/>
              <a:latin typeface="Arial"/>
            </a:endParaRPr>
          </a:p>
        </p:txBody>
      </p:sp>
      <p:sp>
        <p:nvSpPr>
          <p:cNvPr id="71" name=""/>
          <p:cNvSpPr/>
          <p:nvPr/>
        </p:nvSpPr>
        <p:spPr>
          <a:xfrm>
            <a:off x="7620120" y="1905120"/>
            <a:ext cx="1447560" cy="3409560"/>
          </a:xfrm>
          <a:prstGeom prst="rect">
            <a:avLst/>
          </a:prstGeom>
          <a:noFill/>
          <a:ln w="9360">
            <a:solidFill>
              <a:srgbClr val="808080"/>
            </a:solidFill>
            <a:miter/>
          </a:ln>
        </p:spPr>
        <p:style>
          <a:lnRef idx="0"/>
          <a:fillRef idx="0"/>
          <a:effectRef idx="0"/>
          <a:fontRef idx="minor"/>
        </p:style>
        <p:txBody>
          <a:bodyPr lIns="90000" rIns="90000" tIns="46800" bIns="46800" anchor="t">
            <a:spAutoFit/>
          </a:bodyPr>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Narrow"/>
              </a:rPr>
              <a:t>Measures to add in the future:</a:t>
            </a:r>
            <a:endParaRPr b="0" lang="en-IN" sz="1200" strike="noStrike" u="none">
              <a:solidFill>
                <a:srgbClr val="000000"/>
              </a:solidFill>
              <a:effectLst/>
              <a:uFillTx/>
              <a:latin typeface="Arial"/>
            </a:endParaRPr>
          </a:p>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rPr>
              <a:t>Current workforce plans that align staff with business priorities</a:t>
            </a:r>
            <a:endParaRPr b="0" lang="en-IN" sz="1200" strike="noStrike" u="none">
              <a:solidFill>
                <a:srgbClr val="000000"/>
              </a:solidFill>
              <a:effectLst/>
              <a:uFillTx/>
              <a:latin typeface="Arial"/>
            </a:endParaRPr>
          </a:p>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rPr>
              <a:t>Safety and Workers Compensation measures</a:t>
            </a:r>
            <a:endParaRPr b="0" lang="en-IN" sz="1200" strike="noStrike" u="none">
              <a:solidFill>
                <a:srgbClr val="000000"/>
              </a:solidFill>
              <a:effectLst/>
              <a:uFillTx/>
              <a:latin typeface="Arial"/>
            </a:endParaRPr>
          </a:p>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rPr>
              <a:t>Competency gap analysis measure</a:t>
            </a:r>
            <a:endParaRPr b="0" lang="en-IN" sz="1200" strike="noStrike" u="none">
              <a:solidFill>
                <a:srgbClr val="000000"/>
              </a:solidFill>
              <a:effectLst/>
              <a:uFillTx/>
              <a:latin typeface="Arial"/>
            </a:endParaRPr>
          </a:p>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rPr>
              <a:t>Recognition/reward measure</a:t>
            </a:r>
            <a:endParaRPr b="0" lang="en-IN" sz="1200" strike="noStrike" u="none">
              <a:solidFill>
                <a:srgbClr val="000000"/>
              </a:solidFill>
              <a:effectLst/>
              <a:uFillTx/>
              <a:latin typeface="Arial"/>
            </a:endParaRPr>
          </a:p>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rPr>
              <a:t>Others to be determined</a:t>
            </a:r>
            <a:endParaRPr b="0" lang="en-IN" sz="1200" strike="noStrike" u="none">
              <a:solidFill>
                <a:srgbClr val="000000"/>
              </a:solidFill>
              <a:effectLst/>
              <a:uFillTx/>
              <a:latin typeface="Arial"/>
            </a:endParaRPr>
          </a:p>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grpSp>
        <p:nvGrpSpPr>
          <p:cNvPr id="72" name=""/>
          <p:cNvGrpSpPr/>
          <p:nvPr/>
        </p:nvGrpSpPr>
        <p:grpSpPr>
          <a:xfrm>
            <a:off x="125280" y="1143000"/>
            <a:ext cx="1474920" cy="5500440"/>
            <a:chOff x="125280" y="1143000"/>
            <a:chExt cx="1474920" cy="5500440"/>
          </a:xfrm>
        </p:grpSpPr>
        <p:sp>
          <p:nvSpPr>
            <p:cNvPr id="73" name=""/>
            <p:cNvSpPr/>
            <p:nvPr/>
          </p:nvSpPr>
          <p:spPr>
            <a:xfrm>
              <a:off x="125280" y="5195880"/>
              <a:ext cx="1447920" cy="533160"/>
            </a:xfrm>
            <a:prstGeom prst="rect">
              <a:avLst/>
            </a:prstGeom>
            <a:solidFill>
              <a:srgbClr val="4d006c"/>
            </a:solidFill>
            <a:ln w="28440">
              <a:solidFill>
                <a:srgbClr val="000000"/>
              </a:solidFill>
              <a:miter/>
            </a:ln>
          </p:spPr>
          <p:style>
            <a:lnRef idx="0"/>
            <a:fillRef idx="0"/>
            <a:effectRef idx="0"/>
            <a:fontRef idx="minor"/>
          </p:style>
          <p:txBody>
            <a:bodyPr lIns="45720" rIns="4572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Arial Black"/>
                </a:rPr>
                <a:t>Reinforce Performance</a:t>
              </a:r>
              <a:endParaRPr b="0" lang="en-IN" sz="1400" strike="noStrike" u="none">
                <a:solidFill>
                  <a:srgbClr val="000000"/>
                </a:solidFill>
                <a:effectLst/>
                <a:uFillTx/>
                <a:latin typeface="Arial"/>
              </a:endParaRPr>
            </a:p>
          </p:txBody>
        </p:sp>
        <p:sp>
          <p:nvSpPr>
            <p:cNvPr id="74" name=""/>
            <p:cNvSpPr/>
            <p:nvPr/>
          </p:nvSpPr>
          <p:spPr>
            <a:xfrm>
              <a:off x="152280" y="1143000"/>
              <a:ext cx="1447920" cy="533160"/>
            </a:xfrm>
            <a:prstGeom prst="rect">
              <a:avLst/>
            </a:prstGeom>
            <a:solidFill>
              <a:srgbClr val="003300"/>
            </a:solidFill>
            <a:ln w="28440">
              <a:solidFill>
                <a:srgbClr val="000000"/>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Arial Black"/>
                </a:rPr>
                <a:t>Plan &amp; Align Workforce</a:t>
              </a:r>
              <a:endParaRPr b="0" lang="en-IN" sz="1400" strike="noStrike" u="none">
                <a:solidFill>
                  <a:srgbClr val="000000"/>
                </a:solidFill>
                <a:effectLst/>
                <a:uFillTx/>
                <a:latin typeface="Arial"/>
              </a:endParaRPr>
            </a:p>
          </p:txBody>
        </p:sp>
        <p:sp>
          <p:nvSpPr>
            <p:cNvPr id="75" name=""/>
            <p:cNvSpPr/>
            <p:nvPr/>
          </p:nvSpPr>
          <p:spPr>
            <a:xfrm>
              <a:off x="125280" y="2033640"/>
              <a:ext cx="1447920" cy="533160"/>
            </a:xfrm>
            <a:prstGeom prst="rect">
              <a:avLst/>
            </a:prstGeom>
            <a:solidFill>
              <a:srgbClr val="800000"/>
            </a:solidFill>
            <a:ln w="28440">
              <a:solidFill>
                <a:srgbClr val="000000"/>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Arial Black"/>
                </a:rPr>
                <a:t>Hire Workforce</a:t>
              </a:r>
              <a:endParaRPr b="0" lang="en-IN" sz="1400" strike="noStrike" u="none">
                <a:solidFill>
                  <a:srgbClr val="000000"/>
                </a:solidFill>
                <a:effectLst/>
                <a:uFillTx/>
                <a:latin typeface="Arial"/>
              </a:endParaRPr>
            </a:p>
          </p:txBody>
        </p:sp>
        <p:sp>
          <p:nvSpPr>
            <p:cNvPr id="76" name=""/>
            <p:cNvSpPr/>
            <p:nvPr/>
          </p:nvSpPr>
          <p:spPr>
            <a:xfrm>
              <a:off x="125280" y="3214440"/>
              <a:ext cx="1447920" cy="533520"/>
            </a:xfrm>
            <a:prstGeom prst="rect">
              <a:avLst/>
            </a:prstGeom>
            <a:solidFill>
              <a:srgbClr val="000066"/>
            </a:solidFill>
            <a:ln w="28440">
              <a:solidFill>
                <a:srgbClr val="000000"/>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Arial Black"/>
                </a:rPr>
                <a:t>Deploy Workforce</a:t>
              </a:r>
              <a:endParaRPr b="0" lang="en-IN" sz="1400" strike="noStrike" u="none">
                <a:solidFill>
                  <a:srgbClr val="000000"/>
                </a:solidFill>
                <a:effectLst/>
                <a:uFillTx/>
                <a:latin typeface="Arial"/>
              </a:endParaRPr>
            </a:p>
          </p:txBody>
        </p:sp>
        <p:sp>
          <p:nvSpPr>
            <p:cNvPr id="77" name=""/>
            <p:cNvSpPr/>
            <p:nvPr/>
          </p:nvSpPr>
          <p:spPr>
            <a:xfrm>
              <a:off x="125280" y="4281480"/>
              <a:ext cx="1447920" cy="533160"/>
            </a:xfrm>
            <a:prstGeom prst="rect">
              <a:avLst/>
            </a:prstGeom>
            <a:solidFill>
              <a:srgbClr val="663300"/>
            </a:solidFill>
            <a:ln w="28440">
              <a:solidFill>
                <a:srgbClr val="000000"/>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Arial Black"/>
                </a:rPr>
                <a:t>Develop Workforce</a:t>
              </a:r>
              <a:endParaRPr b="0" lang="en-IN" sz="1400" strike="noStrike" u="none">
                <a:solidFill>
                  <a:srgbClr val="000000"/>
                </a:solidFill>
                <a:effectLst/>
                <a:uFillTx/>
                <a:latin typeface="Arial"/>
              </a:endParaRPr>
            </a:p>
          </p:txBody>
        </p:sp>
        <p:sp>
          <p:nvSpPr>
            <p:cNvPr id="78" name=""/>
            <p:cNvSpPr/>
            <p:nvPr/>
          </p:nvSpPr>
          <p:spPr>
            <a:xfrm>
              <a:off x="125280" y="6110280"/>
              <a:ext cx="1447920" cy="533160"/>
            </a:xfrm>
            <a:prstGeom prst="rect">
              <a:avLst/>
            </a:prstGeom>
            <a:solidFill>
              <a:srgbClr val="ffcc00"/>
            </a:solidFill>
            <a:ln w="28440">
              <a:solidFill>
                <a:srgbClr val="000000"/>
              </a:solidFill>
              <a:miter/>
            </a:ln>
          </p:spPr>
          <p:style>
            <a:lnRef idx="0"/>
            <a:fillRef idx="0"/>
            <a:effectRef idx="0"/>
            <a:fontRef idx="minor"/>
          </p:style>
          <p:txBody>
            <a:bodyPr lIns="45720" rIns="4572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Black"/>
                </a:rPr>
                <a:t>Ultimate Outcomes</a:t>
              </a:r>
              <a:endParaRPr b="0" lang="en-IN" sz="1400" strike="noStrike" u="none">
                <a:solidFill>
                  <a:srgbClr val="000000"/>
                </a:solidFill>
                <a:effectLst/>
                <a:uFillTx/>
                <a:latin typeface="Arial"/>
              </a:endParaRPr>
            </a:p>
          </p:txBody>
        </p:sp>
      </p:grpSp>
      <p:sp>
        <p:nvSpPr>
          <p:cNvPr id="4" name="PlaceHolder 3"/>
          <p:cNvSpPr>
            <a:spLocks noGrp="1"/>
          </p:cNvSpPr>
          <p:nvPr>
            <p:ph type="sldNum" idx="3"/>
          </p:nvPr>
        </p:nvSpPr>
        <p:spPr/>
        <p:txBody>
          <a:bodyPr/>
          <a:p>
            <a:fld id="{DCC7679A-8BA0-4396-B0D9-DF637CCBE663}"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
          <p:cNvSpPr/>
          <p:nvPr/>
        </p:nvSpPr>
        <p:spPr>
          <a:xfrm>
            <a:off x="0" y="914400"/>
            <a:ext cx="2286000" cy="304920"/>
          </a:xfrm>
          <a:prstGeom prst="rect">
            <a:avLst/>
          </a:prstGeom>
          <a:solidFill>
            <a:srgbClr val="ffff66"/>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80" name=""/>
          <p:cNvSpPr/>
          <p:nvPr/>
        </p:nvSpPr>
        <p:spPr>
          <a:xfrm>
            <a:off x="0" y="685800"/>
            <a:ext cx="2514600" cy="1905120"/>
          </a:xfrm>
          <a:prstGeom prst="rect">
            <a:avLst/>
          </a:prstGeom>
          <a:noFill/>
          <a:ln w="0">
            <a:noFill/>
          </a:ln>
        </p:spPr>
        <p:style>
          <a:lnRef idx="0"/>
          <a:fillRef idx="0"/>
          <a:effectRef idx="0"/>
          <a:fontRef idx="minor"/>
        </p:style>
        <p:txBody>
          <a:bodyPr lIns="90000" rIns="90000" tIns="46800" bIns="46800" anchor="t">
            <a:normAutofit/>
          </a:bodyPr>
          <a:p>
            <a:pPr marL="228600" indent="-228600">
              <a:lnSpc>
                <a:spcPct val="10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3300"/>
                </a:solidFill>
                <a:effectLst/>
                <a:uFillTx/>
                <a:latin typeface="Arial Black"/>
              </a:rPr>
              <a:t>Performance Measures </a:t>
            </a:r>
            <a:endParaRPr b="0" lang="en-IN" sz="1100" strike="noStrike" u="none">
              <a:solidFill>
                <a:srgbClr val="000000"/>
              </a:solidFill>
              <a:effectLst/>
              <a:uFillTx/>
              <a:latin typeface="Arial"/>
            </a:endParaRPr>
          </a:p>
          <a:p>
            <a:pPr marL="228600" indent="-228600">
              <a:lnSpc>
                <a:spcPct val="100000"/>
              </a:lnSpc>
              <a:spcBef>
                <a:spcPts val="275"/>
              </a:spcBef>
              <a:buClr>
                <a:srgbClr val="0033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3300"/>
                </a:solidFill>
                <a:effectLst/>
                <a:uFillTx/>
                <a:latin typeface="Arial Narrow"/>
              </a:rPr>
              <a:t>Percent current position/competency descriptions</a:t>
            </a:r>
            <a:endParaRPr b="0" lang="en-IN" sz="1100" strike="noStrike" u="none">
              <a:solidFill>
                <a:srgbClr val="000000"/>
              </a:solidFill>
              <a:effectLst/>
              <a:uFillTx/>
              <a:latin typeface="Arial"/>
            </a:endParaRPr>
          </a:p>
          <a:p>
            <a:pPr marL="228600" indent="-228600">
              <a:lnSpc>
                <a:spcPct val="100000"/>
              </a:lnSpc>
              <a:spcBef>
                <a:spcPts val="275"/>
              </a:spcBef>
              <a:buClr>
                <a:srgbClr val="0033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3300"/>
                </a:solidFill>
                <a:effectLst/>
                <a:uFillTx/>
                <a:latin typeface="Arial Narrow"/>
              </a:rPr>
              <a:t>Percent supervisors with current performance expectations for workforce management</a:t>
            </a:r>
            <a:endParaRPr b="0" lang="en-IN" sz="1100" strike="noStrike" u="none">
              <a:solidFill>
                <a:srgbClr val="000000"/>
              </a:solidFill>
              <a:effectLst/>
              <a:uFillTx/>
              <a:latin typeface="Arial"/>
            </a:endParaRPr>
          </a:p>
          <a:p>
            <a:pPr marL="228600" indent="-228600">
              <a:lnSpc>
                <a:spcPct val="10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p:txBody>
      </p:sp>
      <p:sp>
        <p:nvSpPr>
          <p:cNvPr id="81" name=""/>
          <p:cNvSpPr/>
          <p:nvPr/>
        </p:nvSpPr>
        <p:spPr>
          <a:xfrm>
            <a:off x="0" y="0"/>
            <a:ext cx="9144000" cy="618840"/>
          </a:xfrm>
          <a:prstGeom prst="rect">
            <a:avLst/>
          </a:prstGeom>
          <a:gradFill rotWithShape="0">
            <a:gsLst>
              <a:gs pos="0">
                <a:srgbClr val="ffffff"/>
              </a:gs>
              <a:gs pos="100000">
                <a:srgbClr val="003300"/>
              </a:gs>
            </a:gsLst>
            <a:lin ang="10800000"/>
          </a:gradFill>
          <a:ln w="0">
            <a:noFill/>
          </a:ln>
        </p:spPr>
        <p:style>
          <a:lnRef idx="0"/>
          <a:fillRef idx="0"/>
          <a:effectRef idx="0"/>
          <a:fontRef idx="minor"/>
        </p:style>
        <p:txBody>
          <a:bodyPr lIns="69480" rIns="69480" tIns="34920" bIns="34920" anchor="t">
            <a:spAutoFit/>
          </a:bodyPr>
          <a:p>
            <a:pPr>
              <a:lnSpc>
                <a:spcPct val="150000"/>
              </a:lnSpc>
              <a:spcBef>
                <a:spcPts val="1500"/>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2000" strike="noStrike" u="none">
                <a:solidFill>
                  <a:srgbClr val="ffffff"/>
                </a:solidFill>
                <a:effectLst/>
                <a:uFillTx/>
                <a:latin typeface="Arial Black"/>
              </a:rPr>
              <a:t>Plan &amp; Align Workforce</a:t>
            </a:r>
            <a:r>
              <a:rPr b="0" lang="en-IN" sz="2400" strike="noStrike" u="none">
                <a:solidFill>
                  <a:srgbClr val="ffffff"/>
                </a:solidFill>
                <a:effectLst/>
                <a:uFillTx/>
                <a:latin typeface="Arial Black"/>
              </a:rPr>
              <a:t> |</a:t>
            </a:r>
            <a:endParaRPr b="0" lang="en-IN" sz="2400" strike="noStrike" u="none">
              <a:solidFill>
                <a:srgbClr val="000000"/>
              </a:solidFill>
              <a:effectLst/>
              <a:uFillTx/>
              <a:latin typeface="Arial"/>
            </a:endParaRPr>
          </a:p>
        </p:txBody>
      </p:sp>
      <p:sp>
        <p:nvSpPr>
          <p:cNvPr id="82" name=""/>
          <p:cNvSpPr/>
          <p:nvPr/>
        </p:nvSpPr>
        <p:spPr>
          <a:xfrm>
            <a:off x="0" y="0"/>
            <a:ext cx="27432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c0c0c0"/>
                </a:solidFill>
                <a:effectLst/>
                <a:uFillTx/>
                <a:latin typeface="Arial Black"/>
              </a:rPr>
              <a:t>HR Management Report category:</a:t>
            </a:r>
            <a:endParaRPr b="0" lang="en-IN" sz="1000" strike="noStrike" u="none">
              <a:solidFill>
                <a:srgbClr val="000000"/>
              </a:solidFill>
              <a:effectLst/>
              <a:uFillTx/>
              <a:latin typeface="Arial"/>
            </a:endParaRPr>
          </a:p>
        </p:txBody>
      </p:sp>
      <p:sp>
        <p:nvSpPr>
          <p:cNvPr id="83" name="PlaceHolder 1"/>
          <p:cNvSpPr>
            <a:spLocks noGrp="1"/>
          </p:cNvSpPr>
          <p:nvPr>
            <p:ph type="title"/>
          </p:nvPr>
        </p:nvSpPr>
        <p:spPr>
          <a:xfrm>
            <a:off x="3504960" y="-360"/>
            <a:ext cx="5638680" cy="685800"/>
          </a:xfrm>
          <a:prstGeom prst="rect">
            <a:avLst/>
          </a:prstGeom>
          <a:noFill/>
          <a:ln w="0">
            <a:noFill/>
          </a:ln>
        </p:spPr>
        <p:txBody>
          <a:bodyPr lIns="90000" rIns="90000" tIns="46800" bIns="46800" anchor="ctr">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3300"/>
                </a:solidFill>
                <a:effectLst/>
                <a:uFillTx/>
                <a:latin typeface="Arial Black"/>
              </a:rPr>
              <a:t>Overall foundation &amp; management accountability system to build &amp; sustain a high performing workforce</a:t>
            </a:r>
            <a:endParaRPr b="0" lang="en-IN" sz="1400" strike="noStrike" u="none">
              <a:solidFill>
                <a:srgbClr val="000000"/>
              </a:solidFill>
              <a:effectLst/>
              <a:uFillTx/>
              <a:latin typeface="Arial"/>
            </a:endParaRPr>
          </a:p>
        </p:txBody>
      </p:sp>
      <p:sp>
        <p:nvSpPr>
          <p:cNvPr id="84" name=""/>
          <p:cNvSpPr/>
          <p:nvPr/>
        </p:nvSpPr>
        <p:spPr>
          <a:xfrm>
            <a:off x="2590920" y="717480"/>
            <a:ext cx="2590560" cy="1384200"/>
          </a:xfrm>
          <a:prstGeom prst="rect">
            <a:avLst/>
          </a:prstGeom>
          <a:noFill/>
          <a:ln w="28440">
            <a:solidFill>
              <a:srgbClr val="003300"/>
            </a:solidFill>
            <a:miter/>
          </a:ln>
        </p:spPr>
        <p:style>
          <a:lnRef idx="0"/>
          <a:fillRef idx="0"/>
          <a:effectRef idx="0"/>
          <a:fontRef idx="minor"/>
        </p:style>
        <p:txBody>
          <a:bodyPr lIns="90000" rIns="90000" tIns="46800" bIns="46800" anchor="t">
            <a:sp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Agency-wide Percent Current Position &amp; Competency Descriptions</a:t>
            </a:r>
            <a:endParaRPr b="0" lang="en-IN" sz="1200" strike="noStrike" u="none">
              <a:solidFill>
                <a:srgbClr val="000000"/>
              </a:solidFill>
              <a:effectLst/>
              <a:uFillTx/>
              <a:latin typeface="Arial"/>
            </a:endParaRPr>
          </a:p>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73%</a:t>
            </a:r>
            <a:endParaRPr b="0" lang="en-IN" sz="1600" strike="noStrike" u="none">
              <a:solidFill>
                <a:srgbClr val="000000"/>
              </a:solidFill>
              <a:effectLst/>
              <a:uFillTx/>
              <a:latin typeface="Arial"/>
            </a:endParaRPr>
          </a:p>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
        <p:nvSpPr>
          <p:cNvPr id="85" name=""/>
          <p:cNvSpPr/>
          <p:nvPr/>
        </p:nvSpPr>
        <p:spPr>
          <a:xfrm>
            <a:off x="838080" y="2743200"/>
            <a:ext cx="3733920" cy="246600"/>
          </a:xfrm>
          <a:prstGeom prst="rect">
            <a:avLst/>
          </a:prstGeom>
          <a:no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SPACE  FOR AGENCY’S DISCRETIONARY USE</a:t>
            </a:r>
            <a:endParaRPr b="0" lang="en-IN" sz="1000" strike="noStrike" u="none">
              <a:solidFill>
                <a:srgbClr val="000000"/>
              </a:solidFill>
              <a:effectLst/>
              <a:uFillTx/>
              <a:latin typeface="Arial"/>
            </a:endParaRPr>
          </a:p>
        </p:txBody>
      </p:sp>
      <p:sp>
        <p:nvSpPr>
          <p:cNvPr id="86" name=""/>
          <p:cNvSpPr/>
          <p:nvPr/>
        </p:nvSpPr>
        <p:spPr>
          <a:xfrm>
            <a:off x="6553080" y="685800"/>
            <a:ext cx="2438640" cy="2781360"/>
          </a:xfrm>
          <a:prstGeom prst="rect">
            <a:avLst/>
          </a:prstGeom>
          <a:noFill/>
          <a:ln w="28440">
            <a:solidFill>
              <a:srgbClr val="003300"/>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Analysis:</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87" name=""/>
          <p:cNvSpPr/>
          <p:nvPr/>
        </p:nvSpPr>
        <p:spPr>
          <a:xfrm>
            <a:off x="6553080" y="3809880"/>
            <a:ext cx="2438640" cy="2503080"/>
          </a:xfrm>
          <a:prstGeom prst="rect">
            <a:avLst/>
          </a:prstGeom>
          <a:noFill/>
          <a:ln w="28440">
            <a:solidFill>
              <a:srgbClr val="003300"/>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Action Steps:</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3" name="PlaceHolder 2"/>
          <p:cNvSpPr>
            <a:spLocks noGrp="1"/>
          </p:cNvSpPr>
          <p:nvPr>
            <p:ph type="sldNum" idx="3"/>
          </p:nvPr>
        </p:nvSpPr>
        <p:spPr/>
        <p:txBody>
          <a:bodyPr/>
          <a:p>
            <a:fld id="{F94DD9AA-A771-4A8B-BE85-A878B9FDD553}"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
          <p:cNvSpPr/>
          <p:nvPr/>
        </p:nvSpPr>
        <p:spPr>
          <a:xfrm>
            <a:off x="0" y="1371600"/>
            <a:ext cx="2057400" cy="457200"/>
          </a:xfrm>
          <a:prstGeom prst="rect">
            <a:avLst/>
          </a:prstGeom>
          <a:solidFill>
            <a:srgbClr val="ffff66"/>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89" name=""/>
          <p:cNvSpPr/>
          <p:nvPr/>
        </p:nvSpPr>
        <p:spPr>
          <a:xfrm>
            <a:off x="0" y="685800"/>
            <a:ext cx="2133720" cy="1600200"/>
          </a:xfrm>
          <a:prstGeom prst="rect">
            <a:avLst/>
          </a:prstGeom>
          <a:noFill/>
          <a:ln w="0">
            <a:noFill/>
          </a:ln>
        </p:spPr>
        <p:style>
          <a:lnRef idx="0"/>
          <a:fillRef idx="0"/>
          <a:effectRef idx="0"/>
          <a:fontRef idx="minor"/>
        </p:style>
        <p:txBody>
          <a:bodyPr lIns="90000" rIns="90000" tIns="46800" bIns="46800" anchor="t">
            <a:normAutofit/>
          </a:bodyPr>
          <a:p>
            <a:pPr marL="228600" indent="-228600">
              <a:lnSpc>
                <a:spcPct val="10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3300"/>
                </a:solidFill>
                <a:effectLst/>
                <a:uFillTx/>
                <a:latin typeface="Arial Black"/>
              </a:rPr>
              <a:t>Performance Measures </a:t>
            </a:r>
            <a:endParaRPr b="0" lang="en-IN" sz="1100" strike="noStrike" u="none">
              <a:solidFill>
                <a:srgbClr val="000000"/>
              </a:solidFill>
              <a:effectLst/>
              <a:uFillTx/>
              <a:latin typeface="Arial"/>
            </a:endParaRPr>
          </a:p>
          <a:p>
            <a:pPr marL="228600" indent="-228600">
              <a:lnSpc>
                <a:spcPct val="100000"/>
              </a:lnSpc>
              <a:spcBef>
                <a:spcPts val="275"/>
              </a:spcBef>
              <a:buClr>
                <a:srgbClr val="0033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3300"/>
                </a:solidFill>
                <a:effectLst/>
                <a:uFillTx/>
                <a:latin typeface="Arial Narrow"/>
              </a:rPr>
              <a:t>Percent current position/competency descriptions</a:t>
            </a:r>
            <a:endParaRPr b="0" lang="en-IN" sz="1100" strike="noStrike" u="none">
              <a:solidFill>
                <a:srgbClr val="000000"/>
              </a:solidFill>
              <a:effectLst/>
              <a:uFillTx/>
              <a:latin typeface="Arial"/>
            </a:endParaRPr>
          </a:p>
          <a:p>
            <a:pPr marL="228600" indent="-228600">
              <a:lnSpc>
                <a:spcPct val="100000"/>
              </a:lnSpc>
              <a:spcBef>
                <a:spcPts val="275"/>
              </a:spcBef>
              <a:buClr>
                <a:srgbClr val="0033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3300"/>
                </a:solidFill>
                <a:effectLst/>
                <a:uFillTx/>
                <a:latin typeface="Arial Narrow"/>
              </a:rPr>
              <a:t>Percent supervisors with current performance expectations for workforce management</a:t>
            </a:r>
            <a:endParaRPr b="0" lang="en-IN" sz="1100" strike="noStrike" u="none">
              <a:solidFill>
                <a:srgbClr val="000000"/>
              </a:solidFill>
              <a:effectLst/>
              <a:uFillTx/>
              <a:latin typeface="Arial"/>
            </a:endParaRPr>
          </a:p>
          <a:p>
            <a:pPr marL="228600" indent="-228600">
              <a:lnSpc>
                <a:spcPct val="10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p:txBody>
      </p:sp>
      <p:sp>
        <p:nvSpPr>
          <p:cNvPr id="90" name=""/>
          <p:cNvSpPr/>
          <p:nvPr/>
        </p:nvSpPr>
        <p:spPr>
          <a:xfrm>
            <a:off x="0" y="0"/>
            <a:ext cx="9144000" cy="618840"/>
          </a:xfrm>
          <a:prstGeom prst="rect">
            <a:avLst/>
          </a:prstGeom>
          <a:gradFill rotWithShape="0">
            <a:gsLst>
              <a:gs pos="0">
                <a:srgbClr val="ffffff"/>
              </a:gs>
              <a:gs pos="100000">
                <a:srgbClr val="003300"/>
              </a:gs>
            </a:gsLst>
            <a:lin ang="10800000"/>
          </a:gradFill>
          <a:ln w="0">
            <a:noFill/>
          </a:ln>
        </p:spPr>
        <p:style>
          <a:lnRef idx="0"/>
          <a:fillRef idx="0"/>
          <a:effectRef idx="0"/>
          <a:fontRef idx="minor"/>
        </p:style>
        <p:txBody>
          <a:bodyPr lIns="69480" rIns="69480" tIns="34920" bIns="34920" anchor="t">
            <a:spAutoFit/>
          </a:bodyPr>
          <a:p>
            <a:pPr>
              <a:lnSpc>
                <a:spcPct val="150000"/>
              </a:lnSpc>
              <a:spcBef>
                <a:spcPts val="1500"/>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2000" strike="noStrike" u="none">
                <a:solidFill>
                  <a:srgbClr val="ffffff"/>
                </a:solidFill>
                <a:effectLst/>
                <a:uFillTx/>
                <a:latin typeface="Arial Black"/>
              </a:rPr>
              <a:t>Plan &amp; Align Workforce</a:t>
            </a:r>
            <a:r>
              <a:rPr b="0" lang="en-IN" sz="2400" strike="noStrike" u="none">
                <a:solidFill>
                  <a:srgbClr val="ffffff"/>
                </a:solidFill>
                <a:effectLst/>
                <a:uFillTx/>
                <a:latin typeface="Arial Black"/>
              </a:rPr>
              <a:t> |</a:t>
            </a:r>
            <a:endParaRPr b="0" lang="en-IN" sz="2400" strike="noStrike" u="none">
              <a:solidFill>
                <a:srgbClr val="000000"/>
              </a:solidFill>
              <a:effectLst/>
              <a:uFillTx/>
              <a:latin typeface="Arial"/>
            </a:endParaRPr>
          </a:p>
        </p:txBody>
      </p:sp>
      <p:sp>
        <p:nvSpPr>
          <p:cNvPr id="91" name=""/>
          <p:cNvSpPr/>
          <p:nvPr/>
        </p:nvSpPr>
        <p:spPr>
          <a:xfrm>
            <a:off x="0" y="0"/>
            <a:ext cx="27432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c0c0c0"/>
                </a:solidFill>
                <a:effectLst/>
                <a:uFillTx/>
                <a:latin typeface="Arial Black"/>
              </a:rPr>
              <a:t>HR Management Report category:</a:t>
            </a:r>
            <a:endParaRPr b="0" lang="en-IN" sz="1000" strike="noStrike" u="none">
              <a:solidFill>
                <a:srgbClr val="000000"/>
              </a:solidFill>
              <a:effectLst/>
              <a:uFillTx/>
              <a:latin typeface="Arial"/>
            </a:endParaRPr>
          </a:p>
        </p:txBody>
      </p:sp>
      <p:sp>
        <p:nvSpPr>
          <p:cNvPr id="92" name="PlaceHolder 1"/>
          <p:cNvSpPr>
            <a:spLocks noGrp="1"/>
          </p:cNvSpPr>
          <p:nvPr>
            <p:ph type="title"/>
          </p:nvPr>
        </p:nvSpPr>
        <p:spPr>
          <a:xfrm>
            <a:off x="3504960" y="-360"/>
            <a:ext cx="5638680" cy="685800"/>
          </a:xfrm>
          <a:prstGeom prst="rect">
            <a:avLst/>
          </a:prstGeom>
          <a:noFill/>
          <a:ln w="0">
            <a:noFill/>
          </a:ln>
        </p:spPr>
        <p:txBody>
          <a:bodyPr lIns="90000" rIns="90000" tIns="46800" bIns="46800" anchor="ctr">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3300"/>
                </a:solidFill>
                <a:effectLst/>
                <a:uFillTx/>
                <a:latin typeface="Arial Black"/>
              </a:rPr>
              <a:t>Overall foundation &amp; management accountability system to build &amp; sustain a high performing workforce</a:t>
            </a:r>
            <a:endParaRPr b="0" lang="en-IN" sz="1400" strike="noStrike" u="none">
              <a:solidFill>
                <a:srgbClr val="000000"/>
              </a:solidFill>
              <a:effectLst/>
              <a:uFillTx/>
              <a:latin typeface="Arial"/>
            </a:endParaRPr>
          </a:p>
        </p:txBody>
      </p:sp>
      <p:sp>
        <p:nvSpPr>
          <p:cNvPr id="93" name=""/>
          <p:cNvSpPr/>
          <p:nvPr/>
        </p:nvSpPr>
        <p:spPr>
          <a:xfrm>
            <a:off x="2362320" y="717480"/>
            <a:ext cx="2971800" cy="1013400"/>
          </a:xfrm>
          <a:prstGeom prst="rect">
            <a:avLst/>
          </a:prstGeom>
          <a:noFill/>
          <a:ln w="28440">
            <a:solidFill>
              <a:srgbClr val="003300"/>
            </a:solidFill>
            <a:miter/>
          </a:ln>
        </p:spPr>
        <p:style>
          <a:lnRef idx="0"/>
          <a:fillRef idx="0"/>
          <a:effectRef idx="0"/>
          <a:fontRef idx="minor"/>
        </p:style>
        <p:txBody>
          <a:bodyPr lIns="90000" rIns="90000" tIns="46800" bIns="46800" anchor="t">
            <a:sp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Percent supervisors with current performance expectations for workforce management</a:t>
            </a:r>
            <a:endParaRPr b="0" lang="en-IN" sz="1200" strike="noStrike" u="none">
              <a:solidFill>
                <a:srgbClr val="000000"/>
              </a:solidFill>
              <a:effectLst/>
              <a:uFillTx/>
              <a:latin typeface="Arial"/>
            </a:endParaRPr>
          </a:p>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100%</a:t>
            </a:r>
            <a:endParaRPr b="0" lang="en-IN" sz="1600" strike="noStrike" u="none">
              <a:solidFill>
                <a:srgbClr val="000000"/>
              </a:solidFill>
              <a:effectLst/>
              <a:uFillTx/>
              <a:latin typeface="Arial"/>
            </a:endParaRPr>
          </a:p>
        </p:txBody>
      </p:sp>
      <p:sp>
        <p:nvSpPr>
          <p:cNvPr id="94" name=""/>
          <p:cNvSpPr/>
          <p:nvPr/>
        </p:nvSpPr>
        <p:spPr>
          <a:xfrm>
            <a:off x="838080" y="2743200"/>
            <a:ext cx="3733920" cy="246600"/>
          </a:xfrm>
          <a:prstGeom prst="rect">
            <a:avLst/>
          </a:prstGeom>
          <a:no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SPACE FOR AGENCY’S DISCRETIONARY USE</a:t>
            </a:r>
            <a:endParaRPr b="0" lang="en-IN" sz="1000" strike="noStrike" u="none">
              <a:solidFill>
                <a:srgbClr val="000000"/>
              </a:solidFill>
              <a:effectLst/>
              <a:uFillTx/>
              <a:latin typeface="Arial"/>
            </a:endParaRPr>
          </a:p>
        </p:txBody>
      </p:sp>
      <p:sp>
        <p:nvSpPr>
          <p:cNvPr id="95" name=""/>
          <p:cNvSpPr/>
          <p:nvPr/>
        </p:nvSpPr>
        <p:spPr>
          <a:xfrm>
            <a:off x="6553080" y="685800"/>
            <a:ext cx="2438640" cy="2781360"/>
          </a:xfrm>
          <a:prstGeom prst="rect">
            <a:avLst/>
          </a:prstGeom>
          <a:noFill/>
          <a:ln w="28440">
            <a:solidFill>
              <a:srgbClr val="003300"/>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Analysis:</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96" name=""/>
          <p:cNvSpPr/>
          <p:nvPr/>
        </p:nvSpPr>
        <p:spPr>
          <a:xfrm>
            <a:off x="6553080" y="3809880"/>
            <a:ext cx="2438640" cy="2503080"/>
          </a:xfrm>
          <a:prstGeom prst="rect">
            <a:avLst/>
          </a:prstGeom>
          <a:noFill/>
          <a:ln w="28440">
            <a:solidFill>
              <a:srgbClr val="003300"/>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Action Steps:</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3" name="PlaceHolder 2"/>
          <p:cNvSpPr>
            <a:spLocks noGrp="1"/>
          </p:cNvSpPr>
          <p:nvPr>
            <p:ph type="sldNum" idx="3"/>
          </p:nvPr>
        </p:nvSpPr>
        <p:spPr/>
        <p:txBody>
          <a:bodyPr/>
          <a:p>
            <a:fld id="{55F165C6-5332-49C1-940B-B77A090A9BA1}"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97" name=""/>
          <p:cNvGraphicFramePr/>
          <p:nvPr/>
        </p:nvGraphicFramePr>
        <p:xfrm>
          <a:off x="2819520" y="4762440"/>
          <a:ext cx="3504960" cy="1067040"/>
        </p:xfrm>
        <a:graphic>
          <a:graphicData uri="http://schemas.openxmlformats.org/presentationml/2006/ole">
            <p:oleObj r:id="rId1" spid="">
              <p:embed/>
              <p:pic>
                <p:nvPicPr>
                  <p:cNvPr id="98" name="" descr=""/>
                  <p:cNvPicPr/>
                  <p:nvPr/>
                </p:nvPicPr>
                <p:blipFill>
                  <a:blip r:embed="rId2"/>
                  <a:stretch/>
                </p:blipFill>
                <p:spPr>
                  <a:xfrm>
                    <a:off x="2819520" y="4762440"/>
                    <a:ext cx="3504960" cy="1067040"/>
                  </a:xfrm>
                  <a:prstGeom prst="rect">
                    <a:avLst/>
                  </a:prstGeom>
                  <a:noFill/>
                  <a:ln w="0">
                    <a:noFill/>
                  </a:ln>
                </p:spPr>
              </p:pic>
            </p:oleObj>
          </a:graphicData>
        </a:graphic>
      </p:graphicFrame>
      <p:sp>
        <p:nvSpPr>
          <p:cNvPr id="99" name=""/>
          <p:cNvSpPr/>
          <p:nvPr/>
        </p:nvSpPr>
        <p:spPr>
          <a:xfrm>
            <a:off x="0" y="990720"/>
            <a:ext cx="2438280" cy="914400"/>
          </a:xfrm>
          <a:prstGeom prst="rect">
            <a:avLst/>
          </a:prstGeom>
          <a:solidFill>
            <a:srgbClr val="ffff66"/>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00" name=""/>
          <p:cNvSpPr/>
          <p:nvPr/>
        </p:nvSpPr>
        <p:spPr>
          <a:xfrm>
            <a:off x="0" y="685800"/>
            <a:ext cx="2514600" cy="1295280"/>
          </a:xfrm>
          <a:prstGeom prst="rect">
            <a:avLst/>
          </a:prstGeom>
          <a:noFill/>
          <a:ln w="0">
            <a:noFill/>
          </a:ln>
        </p:spPr>
        <p:style>
          <a:lnRef idx="0"/>
          <a:fillRef idx="0"/>
          <a:effectRef idx="0"/>
          <a:fontRef idx="minor"/>
        </p:style>
        <p:txBody>
          <a:bodyPr lIns="90000" rIns="90000" tIns="46800" bIns="46800" anchor="t">
            <a:normAutofit/>
          </a:bodyPr>
          <a:p>
            <a:pPr marL="230040" indent="-230040">
              <a:lnSpc>
                <a:spcPct val="10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800000"/>
                </a:solidFill>
                <a:effectLst/>
                <a:uFillTx/>
                <a:latin typeface="Arial Black"/>
              </a:rPr>
              <a:t>Performance Measures</a:t>
            </a:r>
            <a:endParaRPr b="0" lang="en-IN" sz="1100" strike="noStrike" u="none">
              <a:solidFill>
                <a:srgbClr val="000000"/>
              </a:solidFill>
              <a:effectLst/>
              <a:uFillTx/>
              <a:latin typeface="Arial"/>
            </a:endParaRPr>
          </a:p>
          <a:p>
            <a:pPr marL="230040" indent="-230040">
              <a:lnSpc>
                <a:spcPct val="100000"/>
              </a:lnSpc>
              <a:spcBef>
                <a:spcPts val="275"/>
              </a:spcBef>
              <a:buClr>
                <a:srgbClr val="8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800000"/>
                </a:solidFill>
                <a:effectLst/>
                <a:uFillTx/>
                <a:latin typeface="Arial Narrow"/>
              </a:rPr>
              <a:t>Days to fill vacancies</a:t>
            </a:r>
            <a:endParaRPr b="0" lang="en-IN" sz="1100" strike="noStrike" u="none">
              <a:solidFill>
                <a:srgbClr val="000000"/>
              </a:solidFill>
              <a:effectLst/>
              <a:uFillTx/>
              <a:latin typeface="Arial"/>
            </a:endParaRPr>
          </a:p>
          <a:p>
            <a:pPr marL="230040" indent="-230040">
              <a:lnSpc>
                <a:spcPct val="100000"/>
              </a:lnSpc>
              <a:spcBef>
                <a:spcPts val="275"/>
              </a:spcBef>
              <a:buClr>
                <a:srgbClr val="8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800000"/>
                </a:solidFill>
                <a:effectLst/>
                <a:uFillTx/>
                <a:latin typeface="Arial Narrow"/>
              </a:rPr>
              <a:t>% satisfaction with candidate quality</a:t>
            </a:r>
            <a:endParaRPr b="0" lang="en-IN" sz="1100" strike="noStrike" u="none">
              <a:solidFill>
                <a:srgbClr val="000000"/>
              </a:solidFill>
              <a:effectLst/>
              <a:uFillTx/>
              <a:latin typeface="Arial"/>
            </a:endParaRPr>
          </a:p>
          <a:p>
            <a:pPr marL="230040" indent="-230040">
              <a:lnSpc>
                <a:spcPct val="100000"/>
              </a:lnSpc>
              <a:spcBef>
                <a:spcPts val="275"/>
              </a:spcBef>
              <a:buClr>
                <a:srgbClr val="8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800000"/>
                </a:solidFill>
                <a:effectLst/>
                <a:uFillTx/>
                <a:latin typeface="Arial Narrow"/>
              </a:rPr>
              <a:t>% new hires; % promotional hires</a:t>
            </a:r>
            <a:endParaRPr b="0" lang="en-IN" sz="1100" strike="noStrike" u="none">
              <a:solidFill>
                <a:srgbClr val="000000"/>
              </a:solidFill>
              <a:effectLst/>
              <a:uFillTx/>
              <a:latin typeface="Arial"/>
            </a:endParaRPr>
          </a:p>
          <a:p>
            <a:pPr marL="230040" indent="-230040">
              <a:lnSpc>
                <a:spcPct val="100000"/>
              </a:lnSpc>
              <a:spcBef>
                <a:spcPts val="275"/>
              </a:spcBef>
              <a:buClr>
                <a:srgbClr val="8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800000"/>
                </a:solidFill>
                <a:effectLst/>
                <a:uFillTx/>
                <a:latin typeface="Arial Narrow"/>
              </a:rPr>
              <a:t>% separation during review period</a:t>
            </a:r>
            <a:endParaRPr b="0" lang="en-IN" sz="1100" strike="noStrike" u="none">
              <a:solidFill>
                <a:srgbClr val="000000"/>
              </a:solidFill>
              <a:effectLst/>
              <a:uFillTx/>
              <a:latin typeface="Arial"/>
            </a:endParaRPr>
          </a:p>
        </p:txBody>
      </p:sp>
      <p:sp>
        <p:nvSpPr>
          <p:cNvPr id="101" name=""/>
          <p:cNvSpPr/>
          <p:nvPr/>
        </p:nvSpPr>
        <p:spPr>
          <a:xfrm>
            <a:off x="380880" y="4343400"/>
            <a:ext cx="2286000" cy="1447920"/>
          </a:xfrm>
          <a:prstGeom prst="rect">
            <a:avLst/>
          </a:prstGeom>
          <a:solidFill>
            <a:srgbClr val="ffffff"/>
          </a:solidFill>
          <a:ln w="28440">
            <a:solidFill>
              <a:srgbClr val="8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02" name=""/>
          <p:cNvSpPr/>
          <p:nvPr/>
        </p:nvSpPr>
        <p:spPr>
          <a:xfrm>
            <a:off x="380880" y="4343400"/>
            <a:ext cx="2362320" cy="410760"/>
          </a:xfrm>
          <a:prstGeom prst="rect">
            <a:avLst/>
          </a:prstGeom>
          <a:noFill/>
          <a:ln w="0">
            <a:noFill/>
          </a:ln>
        </p:spPr>
        <p:style>
          <a:lnRef idx="0"/>
          <a:fillRef idx="0"/>
          <a:effectRef idx="0"/>
          <a:fontRef idx="minor"/>
        </p:style>
        <p:txBody>
          <a:bodyPr lIns="90000" rIns="90000" tIns="46800" bIns="46800" anchor="t">
            <a:spAutoFit/>
          </a:bodyPr>
          <a:p>
            <a:pPr algn="ctr">
              <a:lnSpc>
                <a:spcPct val="8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Narrow"/>
              </a:rPr>
              <a:t>Candidate Quality</a:t>
            </a:r>
            <a:br>
              <a:rPr sz="1400"/>
            </a:br>
            <a:r>
              <a:rPr b="1" lang="en-IN" sz="1200" strike="noStrike" u="none">
                <a:solidFill>
                  <a:srgbClr val="000000"/>
                </a:solidFill>
                <a:effectLst/>
                <a:uFillTx/>
                <a:latin typeface="Arial Narrow"/>
              </a:rPr>
              <a:t>(managers’ satisfaction rating)</a:t>
            </a:r>
            <a:endParaRPr b="0" lang="en-IN" sz="1200" strike="noStrike" u="none">
              <a:solidFill>
                <a:srgbClr val="000000"/>
              </a:solidFill>
              <a:effectLst/>
              <a:uFillTx/>
              <a:latin typeface="Arial"/>
            </a:endParaRPr>
          </a:p>
        </p:txBody>
      </p:sp>
      <p:grpSp>
        <p:nvGrpSpPr>
          <p:cNvPr id="103" name=""/>
          <p:cNvGrpSpPr/>
          <p:nvPr/>
        </p:nvGrpSpPr>
        <p:grpSpPr>
          <a:xfrm>
            <a:off x="380880" y="2590920"/>
            <a:ext cx="2286000" cy="1523520"/>
            <a:chOff x="380880" y="2590920"/>
            <a:chExt cx="2286000" cy="1523520"/>
          </a:xfrm>
        </p:grpSpPr>
        <p:sp>
          <p:nvSpPr>
            <p:cNvPr id="104" name=""/>
            <p:cNvSpPr/>
            <p:nvPr/>
          </p:nvSpPr>
          <p:spPr>
            <a:xfrm>
              <a:off x="380880" y="2590920"/>
              <a:ext cx="2286000" cy="1523520"/>
            </a:xfrm>
            <a:prstGeom prst="rect">
              <a:avLst/>
            </a:prstGeom>
            <a:solidFill>
              <a:srgbClr val="ffffff"/>
            </a:solidFill>
            <a:ln w="28440">
              <a:solidFill>
                <a:srgbClr val="8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05" name=""/>
            <p:cNvSpPr/>
            <p:nvPr/>
          </p:nvSpPr>
          <p:spPr>
            <a:xfrm>
              <a:off x="777240" y="2590920"/>
              <a:ext cx="139248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Narrow"/>
                </a:rPr>
                <a:t>Days to Fill Vacancies</a:t>
              </a:r>
              <a:endParaRPr b="0" lang="en-IN" sz="1400" strike="noStrike" u="none">
                <a:solidFill>
                  <a:srgbClr val="000000"/>
                </a:solidFill>
                <a:effectLst/>
                <a:uFillTx/>
                <a:latin typeface="Arial"/>
              </a:endParaRPr>
            </a:p>
          </p:txBody>
        </p:sp>
      </p:grpSp>
      <p:sp>
        <p:nvSpPr>
          <p:cNvPr id="106" name=""/>
          <p:cNvSpPr/>
          <p:nvPr/>
        </p:nvSpPr>
        <p:spPr>
          <a:xfrm>
            <a:off x="0" y="0"/>
            <a:ext cx="9144000" cy="618840"/>
          </a:xfrm>
          <a:prstGeom prst="rect">
            <a:avLst/>
          </a:prstGeom>
          <a:gradFill rotWithShape="0">
            <a:gsLst>
              <a:gs pos="0">
                <a:srgbClr val="ffffff"/>
              </a:gs>
              <a:gs pos="100000">
                <a:srgbClr val="800000"/>
              </a:gs>
            </a:gsLst>
            <a:lin ang="10800000"/>
          </a:gradFill>
          <a:ln w="0">
            <a:noFill/>
          </a:ln>
        </p:spPr>
        <p:style>
          <a:lnRef idx="0"/>
          <a:fillRef idx="0"/>
          <a:effectRef idx="0"/>
          <a:fontRef idx="minor"/>
        </p:style>
        <p:txBody>
          <a:bodyPr lIns="69480" rIns="69480" tIns="34920" bIns="34920" anchor="t">
            <a:spAutoFit/>
          </a:bodyPr>
          <a:p>
            <a:pPr>
              <a:lnSpc>
                <a:spcPct val="150000"/>
              </a:lnSpc>
              <a:spcBef>
                <a:spcPts val="1500"/>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2400" strike="noStrike" u="none">
                <a:solidFill>
                  <a:srgbClr val="ffffff"/>
                </a:solidFill>
                <a:effectLst/>
                <a:uFillTx/>
                <a:latin typeface="Arial Black"/>
              </a:rPr>
              <a:t>Hire Workforce |</a:t>
            </a:r>
            <a:endParaRPr b="0" lang="en-IN" sz="2400" strike="noStrike" u="none">
              <a:solidFill>
                <a:srgbClr val="000000"/>
              </a:solidFill>
              <a:effectLst/>
              <a:uFillTx/>
              <a:latin typeface="Arial"/>
            </a:endParaRPr>
          </a:p>
        </p:txBody>
      </p:sp>
      <p:sp>
        <p:nvSpPr>
          <p:cNvPr id="107" name=""/>
          <p:cNvSpPr/>
          <p:nvPr/>
        </p:nvSpPr>
        <p:spPr>
          <a:xfrm>
            <a:off x="2895480" y="228600"/>
            <a:ext cx="5562720" cy="3376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800000"/>
                </a:solidFill>
                <a:effectLst/>
                <a:uFillTx/>
                <a:latin typeface="Arial Black"/>
              </a:rPr>
              <a:t>Right People in the Right Job at the Right Time</a:t>
            </a:r>
            <a:endParaRPr b="0" lang="en-IN" sz="1600" strike="noStrike" u="none">
              <a:solidFill>
                <a:srgbClr val="000000"/>
              </a:solidFill>
              <a:effectLst/>
              <a:uFillTx/>
              <a:latin typeface="Arial"/>
            </a:endParaRPr>
          </a:p>
        </p:txBody>
      </p:sp>
      <p:sp>
        <p:nvSpPr>
          <p:cNvPr id="108" name=""/>
          <p:cNvSpPr/>
          <p:nvPr/>
        </p:nvSpPr>
        <p:spPr>
          <a:xfrm>
            <a:off x="838080" y="3276720"/>
            <a:ext cx="1371600" cy="642600"/>
          </a:xfrm>
          <a:prstGeom prst="rect">
            <a:avLst/>
          </a:prstGeom>
          <a:solidFill>
            <a:srgbClr val="800000"/>
          </a:solid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Narrow"/>
              </a:rPr>
              <a:t>This data will be reported by agencies to DOP in April 2007 </a:t>
            </a:r>
            <a:endParaRPr b="0" lang="en-IN" sz="1200" strike="noStrike" u="none">
              <a:solidFill>
                <a:srgbClr val="000000"/>
              </a:solidFill>
              <a:effectLst/>
              <a:uFillTx/>
              <a:latin typeface="Arial"/>
            </a:endParaRPr>
          </a:p>
        </p:txBody>
      </p:sp>
      <p:sp>
        <p:nvSpPr>
          <p:cNvPr id="109" name=""/>
          <p:cNvSpPr/>
          <p:nvPr/>
        </p:nvSpPr>
        <p:spPr>
          <a:xfrm>
            <a:off x="838080" y="4952880"/>
            <a:ext cx="1371600" cy="642600"/>
          </a:xfrm>
          <a:prstGeom prst="rect">
            <a:avLst/>
          </a:prstGeom>
          <a:solidFill>
            <a:srgbClr val="800000"/>
          </a:solidFill>
          <a:ln w="9360">
            <a:solidFill>
              <a:srgbClr val="000000"/>
            </a:solidFill>
            <a:miter/>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Narrow"/>
              </a:rPr>
              <a:t>This data will be reported by agencies to DOP in April 2007</a:t>
            </a:r>
            <a:endParaRPr b="0" lang="en-IN" sz="1200" strike="noStrike" u="none">
              <a:solidFill>
                <a:srgbClr val="000000"/>
              </a:solidFill>
              <a:effectLst/>
              <a:uFillTx/>
              <a:latin typeface="Arial"/>
            </a:endParaRPr>
          </a:p>
        </p:txBody>
      </p:sp>
      <p:sp>
        <p:nvSpPr>
          <p:cNvPr id="110" name=""/>
          <p:cNvSpPr/>
          <p:nvPr/>
        </p:nvSpPr>
        <p:spPr>
          <a:xfrm>
            <a:off x="2781360" y="1486080"/>
            <a:ext cx="358128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sng">
                <a:solidFill>
                  <a:srgbClr val="000000"/>
                </a:solidFill>
                <a:effectLst/>
                <a:uFillTx/>
                <a:latin typeface="Arial Narrow"/>
              </a:rPr>
              <a:t>Hiring Balance  -  FY 2006</a:t>
            </a:r>
            <a:endParaRPr b="0" lang="en-IN" sz="1400" strike="noStrike" u="none">
              <a:solidFill>
                <a:srgbClr val="000000"/>
              </a:solidFill>
              <a:effectLst/>
              <a:uFillTx/>
              <a:latin typeface="Arial"/>
            </a:endParaRPr>
          </a:p>
        </p:txBody>
      </p:sp>
      <p:sp>
        <p:nvSpPr>
          <p:cNvPr id="111" name=""/>
          <p:cNvSpPr/>
          <p:nvPr/>
        </p:nvSpPr>
        <p:spPr>
          <a:xfrm>
            <a:off x="0" y="0"/>
            <a:ext cx="27432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c0c0c0"/>
                </a:solidFill>
                <a:effectLst/>
                <a:uFillTx/>
                <a:latin typeface="Arial Black"/>
              </a:rPr>
              <a:t>HR Management Report category:</a:t>
            </a:r>
            <a:endParaRPr b="0" lang="en-IN" sz="1000" strike="noStrike" u="none">
              <a:solidFill>
                <a:srgbClr val="000000"/>
              </a:solidFill>
              <a:effectLst/>
              <a:uFillTx/>
              <a:latin typeface="Arial"/>
            </a:endParaRPr>
          </a:p>
        </p:txBody>
      </p:sp>
      <p:sp>
        <p:nvSpPr>
          <p:cNvPr id="112" name=""/>
          <p:cNvSpPr/>
          <p:nvPr/>
        </p:nvSpPr>
        <p:spPr>
          <a:xfrm>
            <a:off x="3886200" y="5257800"/>
            <a:ext cx="45720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Times New Roman"/>
              </a:rPr>
              <a:t>*</a:t>
            </a:r>
            <a:endParaRPr b="0" lang="en-IN" sz="1200" strike="noStrike" u="none">
              <a:solidFill>
                <a:srgbClr val="000000"/>
              </a:solidFill>
              <a:effectLst/>
              <a:uFillTx/>
              <a:latin typeface="Arial"/>
            </a:endParaRPr>
          </a:p>
        </p:txBody>
      </p:sp>
      <p:sp>
        <p:nvSpPr>
          <p:cNvPr id="113" name=""/>
          <p:cNvSpPr/>
          <p:nvPr/>
        </p:nvSpPr>
        <p:spPr>
          <a:xfrm>
            <a:off x="5562720" y="6613560"/>
            <a:ext cx="358128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Other = </a:t>
            </a:r>
            <a:r>
              <a:rPr b="0" lang="en-IN" sz="900" strike="noStrike" u="none">
                <a:solidFill>
                  <a:srgbClr val="000000"/>
                </a:solidFill>
                <a:effectLst/>
                <a:uFillTx/>
                <a:latin typeface="Arial Narrow"/>
              </a:rPr>
              <a:t>transfers, demotions, reassignments, movement in lieu of RIF, etc.</a:t>
            </a:r>
            <a:endParaRPr b="0" lang="en-IN" sz="900" strike="noStrike" u="none">
              <a:solidFill>
                <a:srgbClr val="000000"/>
              </a:solidFill>
              <a:effectLst/>
              <a:uFillTx/>
              <a:latin typeface="Arial"/>
            </a:endParaRPr>
          </a:p>
        </p:txBody>
      </p:sp>
      <p:sp>
        <p:nvSpPr>
          <p:cNvPr id="114" name=""/>
          <p:cNvSpPr/>
          <p:nvPr/>
        </p:nvSpPr>
        <p:spPr>
          <a:xfrm>
            <a:off x="3200400" y="4610160"/>
            <a:ext cx="274320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sng">
                <a:solidFill>
                  <a:srgbClr val="000000"/>
                </a:solidFill>
                <a:effectLst/>
                <a:uFillTx/>
                <a:latin typeface="Arial Narrow"/>
              </a:rPr>
              <a:t>Separation during Review Period</a:t>
            </a:r>
            <a:endParaRPr b="0" lang="en-IN" sz="1400" strike="noStrike" u="none">
              <a:solidFill>
                <a:srgbClr val="000000"/>
              </a:solidFill>
              <a:effectLst/>
              <a:uFillTx/>
              <a:latin typeface="Arial"/>
            </a:endParaRPr>
          </a:p>
        </p:txBody>
      </p:sp>
      <p:sp>
        <p:nvSpPr>
          <p:cNvPr id="115" name=""/>
          <p:cNvSpPr/>
          <p:nvPr/>
        </p:nvSpPr>
        <p:spPr>
          <a:xfrm>
            <a:off x="7010280" y="6172200"/>
            <a:ext cx="3812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a:t>
            </a:r>
            <a:endParaRPr b="0" lang="en-IN" sz="1200" strike="noStrike" u="none">
              <a:solidFill>
                <a:srgbClr val="000000"/>
              </a:solidFill>
              <a:effectLst/>
              <a:uFillTx/>
              <a:latin typeface="Arial"/>
            </a:endParaRPr>
          </a:p>
        </p:txBody>
      </p:sp>
      <p:sp>
        <p:nvSpPr>
          <p:cNvPr id="116" name=""/>
          <p:cNvSpPr/>
          <p:nvPr/>
        </p:nvSpPr>
        <p:spPr>
          <a:xfrm>
            <a:off x="2819520" y="1486080"/>
            <a:ext cx="3581280" cy="4343400"/>
          </a:xfrm>
          <a:prstGeom prst="rect">
            <a:avLst/>
          </a:prstGeom>
          <a:noFill/>
          <a:ln w="38160">
            <a:solidFill>
              <a:srgbClr val="8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17" name=""/>
          <p:cNvSpPr/>
          <p:nvPr/>
        </p:nvSpPr>
        <p:spPr>
          <a:xfrm>
            <a:off x="5562720" y="5492880"/>
            <a:ext cx="838080" cy="338040"/>
          </a:xfrm>
          <a:prstGeom prst="rect">
            <a:avLst/>
          </a:prstGeom>
          <a:noFill/>
          <a:ln w="0">
            <a:noFill/>
          </a:ln>
        </p:spPr>
        <p:style>
          <a:lnRef idx="0"/>
          <a:fillRef idx="0"/>
          <a:effectRef idx="0"/>
          <a:fontRef idx="minor"/>
        </p:style>
        <p:txBody>
          <a:bodyPr lIns="90000" rIns="90000" tIns="46800" bIns="46800" anchor="t">
            <a:spAutoFit/>
          </a:bodyPr>
          <a:p>
            <a:pPr algn="ctr">
              <a:lnSpc>
                <a:spcPct val="8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Released</a:t>
            </a:r>
            <a:endParaRPr b="0" lang="en-IN" sz="1000" strike="noStrike" u="none">
              <a:solidFill>
                <a:srgbClr val="000000"/>
              </a:solidFill>
              <a:effectLst/>
              <a:uFillTx/>
              <a:latin typeface="Arial"/>
            </a:endParaRPr>
          </a:p>
          <a:p>
            <a:pPr algn="ctr">
              <a:lnSpc>
                <a:spcPct val="8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Voluntary</a:t>
            </a:r>
            <a:endParaRPr b="0" lang="en-IN" sz="1000" strike="noStrike" u="none">
              <a:solidFill>
                <a:srgbClr val="000000"/>
              </a:solidFill>
              <a:effectLst/>
              <a:uFillTx/>
              <a:latin typeface="Arial"/>
            </a:endParaRPr>
          </a:p>
        </p:txBody>
      </p:sp>
      <p:sp>
        <p:nvSpPr>
          <p:cNvPr id="118" name=""/>
          <p:cNvSpPr/>
          <p:nvPr/>
        </p:nvSpPr>
        <p:spPr>
          <a:xfrm>
            <a:off x="1752480" y="6172200"/>
            <a:ext cx="3049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a:t>
            </a:r>
            <a:endParaRPr b="0" lang="en-IN" sz="1200" strike="noStrike" u="none">
              <a:solidFill>
                <a:srgbClr val="000000"/>
              </a:solidFill>
              <a:effectLst/>
              <a:uFillTx/>
              <a:latin typeface="Arial"/>
            </a:endParaRPr>
          </a:p>
        </p:txBody>
      </p:sp>
      <p:sp>
        <p:nvSpPr>
          <p:cNvPr id="119" name=""/>
          <p:cNvSpPr/>
          <p:nvPr/>
        </p:nvSpPr>
        <p:spPr>
          <a:xfrm>
            <a:off x="6553080" y="685800"/>
            <a:ext cx="2438640" cy="3218760"/>
          </a:xfrm>
          <a:prstGeom prst="rect">
            <a:avLst/>
          </a:prstGeom>
          <a:noFill/>
          <a:ln w="28440">
            <a:solidFill>
              <a:srgbClr val="800000"/>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Analysis:</a:t>
            </a: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Of the 21 appointments, 8 were internal promotions which is a positive indicator of growth and development opportunities within. All 6  exempt appointments were special agent in-training hires caused by an average agent turnover rate.</a:t>
            </a: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There has been no probationary or trial service separations during this period.</a:t>
            </a: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120" name=""/>
          <p:cNvSpPr/>
          <p:nvPr/>
        </p:nvSpPr>
        <p:spPr>
          <a:xfrm>
            <a:off x="6553080" y="3809880"/>
            <a:ext cx="2438640" cy="1477440"/>
          </a:xfrm>
          <a:prstGeom prst="rect">
            <a:avLst/>
          </a:prstGeom>
          <a:noFill/>
          <a:ln w="28440">
            <a:solidFill>
              <a:srgbClr val="800000"/>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Action Steps:</a:t>
            </a: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The balance of hires is appropriate for the size and function of our agency.  </a:t>
            </a: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121" name=""/>
          <p:cNvSpPr/>
          <p:nvPr/>
        </p:nvSpPr>
        <p:spPr>
          <a:xfrm>
            <a:off x="3817800" y="2895480"/>
            <a:ext cx="762120" cy="3992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Other (3,926)</a:t>
            </a:r>
            <a:endParaRPr b="0" lang="en-IN" sz="1000" strike="noStrike" u="none">
              <a:solidFill>
                <a:srgbClr val="000000"/>
              </a:solidFill>
              <a:effectLst/>
              <a:uFillTx/>
              <a:latin typeface="Arial"/>
            </a:endParaRPr>
          </a:p>
        </p:txBody>
      </p:sp>
      <p:graphicFrame>
        <p:nvGraphicFramePr>
          <p:cNvPr id="122" name=""/>
          <p:cNvGraphicFramePr/>
          <p:nvPr/>
        </p:nvGraphicFramePr>
        <p:xfrm>
          <a:off x="2800440" y="1866960"/>
          <a:ext cx="3541680" cy="2666880"/>
        </p:xfrm>
        <a:graphic>
          <a:graphicData uri="http://schemas.openxmlformats.org/presentationml/2006/ole">
            <p:oleObj r:id="rId3" spid="">
              <p:embed/>
              <p:pic>
                <p:nvPicPr>
                  <p:cNvPr id="123" name="" descr=""/>
                  <p:cNvPicPr/>
                  <p:nvPr/>
                </p:nvPicPr>
                <p:blipFill>
                  <a:blip r:embed="rId4"/>
                  <a:stretch/>
                </p:blipFill>
                <p:spPr>
                  <a:xfrm>
                    <a:off x="2800440" y="1866960"/>
                    <a:ext cx="3541680" cy="2666880"/>
                  </a:xfrm>
                  <a:prstGeom prst="rect">
                    <a:avLst/>
                  </a:prstGeom>
                  <a:noFill/>
                  <a:ln w="0">
                    <a:noFill/>
                  </a:ln>
                </p:spPr>
              </p:pic>
            </p:oleObj>
          </a:graphicData>
        </a:graphic>
      </p:graphicFrame>
      <p:sp>
        <p:nvSpPr>
          <p:cNvPr id="124" name=""/>
          <p:cNvSpPr/>
          <p:nvPr/>
        </p:nvSpPr>
        <p:spPr>
          <a:xfrm>
            <a:off x="3276720" y="1790640"/>
            <a:ext cx="259056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Narrow"/>
              </a:rPr>
              <a:t>Total of 21 appointments</a:t>
            </a:r>
            <a:endParaRPr b="0" lang="en-IN" sz="1400" strike="noStrike" u="none">
              <a:solidFill>
                <a:srgbClr val="000000"/>
              </a:solidFill>
              <a:effectLst/>
              <a:uFillTx/>
              <a:latin typeface="Arial"/>
            </a:endParaRPr>
          </a:p>
        </p:txBody>
      </p:sp>
      <p:grpSp>
        <p:nvGrpSpPr>
          <p:cNvPr id="125" name=""/>
          <p:cNvGrpSpPr/>
          <p:nvPr/>
        </p:nvGrpSpPr>
        <p:grpSpPr>
          <a:xfrm>
            <a:off x="304920" y="6095520"/>
            <a:ext cx="2133360" cy="612360"/>
            <a:chOff x="304920" y="6095520"/>
            <a:chExt cx="2133360" cy="612360"/>
          </a:xfrm>
        </p:grpSpPr>
        <p:sp>
          <p:nvSpPr>
            <p:cNvPr id="126" name=""/>
            <p:cNvSpPr/>
            <p:nvPr/>
          </p:nvSpPr>
          <p:spPr>
            <a:xfrm>
              <a:off x="304920" y="6308640"/>
              <a:ext cx="1752480" cy="399240"/>
            </a:xfrm>
            <a:prstGeom prst="rect">
              <a:avLst/>
            </a:prstGeom>
            <a:noFill/>
            <a:ln w="9360">
              <a:solidFill>
                <a:srgbClr val="000000"/>
              </a:solidFill>
              <a:miter/>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Double click on charts to add your agency’s data</a:t>
              </a:r>
              <a:endParaRPr b="0" lang="en-IN" sz="1000" strike="noStrike" u="none">
                <a:solidFill>
                  <a:srgbClr val="000000"/>
                </a:solidFill>
                <a:effectLst/>
                <a:uFillTx/>
                <a:latin typeface="Arial"/>
              </a:endParaRPr>
            </a:p>
          </p:txBody>
        </p:sp>
        <p:sp>
          <p:nvSpPr>
            <p:cNvPr id="127" name=""/>
            <p:cNvSpPr/>
            <p:nvPr/>
          </p:nvSpPr>
          <p:spPr>
            <a:xfrm flipV="1">
              <a:off x="1981080" y="6095520"/>
              <a:ext cx="457200" cy="22860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
        <p:nvSpPr>
          <p:cNvPr id="2" name="PlaceHolder 1"/>
          <p:cNvSpPr>
            <a:spLocks noGrp="1"/>
          </p:cNvSpPr>
          <p:nvPr>
            <p:ph type="sldNum" idx="3"/>
          </p:nvPr>
        </p:nvSpPr>
        <p:spPr/>
        <p:txBody>
          <a:bodyPr/>
          <a:p>
            <a:fld id="{28D1B95D-07B9-442B-8AD9-EB0A2958DDF1}"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
          <p:cNvSpPr/>
          <p:nvPr/>
        </p:nvSpPr>
        <p:spPr>
          <a:xfrm>
            <a:off x="0" y="990720"/>
            <a:ext cx="2209680" cy="304560"/>
          </a:xfrm>
          <a:prstGeom prst="rect">
            <a:avLst/>
          </a:prstGeom>
          <a:solidFill>
            <a:srgbClr val="ffff66"/>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29" name=""/>
          <p:cNvSpPr/>
          <p:nvPr/>
        </p:nvSpPr>
        <p:spPr>
          <a:xfrm>
            <a:off x="0" y="685800"/>
            <a:ext cx="2209680" cy="1905120"/>
          </a:xfrm>
          <a:prstGeom prst="rect">
            <a:avLst/>
          </a:prstGeom>
          <a:noFill/>
          <a:ln w="0">
            <a:noFill/>
          </a:ln>
        </p:spPr>
        <p:style>
          <a:lnRef idx="0"/>
          <a:fillRef idx="0"/>
          <a:effectRef idx="0"/>
          <a:fontRef idx="minor"/>
        </p:style>
        <p:txBody>
          <a:bodyPr lIns="90000" rIns="90000" tIns="46800" bIns="46800" anchor="t">
            <a:normAutofit/>
          </a:bodyPr>
          <a:p>
            <a:pPr marL="228600" indent="-228600">
              <a:lnSpc>
                <a:spcPct val="10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Black"/>
              </a:rPr>
              <a:t>Performance Measures </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Percent employees with current performance expectations</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Employee survey ratings on “productive workplace” questions</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Overtime usage</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Sick leave usage Number &amp; type of non-disciplinary grievances and disposition</a:t>
            </a:r>
            <a:endParaRPr b="0" lang="en-IN" sz="1100" strike="noStrike" u="none">
              <a:solidFill>
                <a:srgbClr val="000000"/>
              </a:solidFill>
              <a:effectLst/>
              <a:uFillTx/>
              <a:latin typeface="Arial"/>
            </a:endParaRPr>
          </a:p>
        </p:txBody>
      </p:sp>
      <p:sp>
        <p:nvSpPr>
          <p:cNvPr id="130" name=""/>
          <p:cNvSpPr/>
          <p:nvPr/>
        </p:nvSpPr>
        <p:spPr>
          <a:xfrm>
            <a:off x="0" y="0"/>
            <a:ext cx="9144000" cy="618840"/>
          </a:xfrm>
          <a:prstGeom prst="rect">
            <a:avLst/>
          </a:prstGeom>
          <a:gradFill rotWithShape="0">
            <a:gsLst>
              <a:gs pos="0">
                <a:srgbClr val="ffffff"/>
              </a:gs>
              <a:gs pos="100000">
                <a:srgbClr val="000099"/>
              </a:gs>
            </a:gsLst>
            <a:lin ang="10800000"/>
          </a:gradFill>
          <a:ln w="0">
            <a:noFill/>
          </a:ln>
        </p:spPr>
        <p:style>
          <a:lnRef idx="0"/>
          <a:fillRef idx="0"/>
          <a:effectRef idx="0"/>
          <a:fontRef idx="minor"/>
        </p:style>
        <p:txBody>
          <a:bodyPr lIns="69480" rIns="69480" tIns="34920" bIns="34920" anchor="t">
            <a:spAutoFit/>
          </a:bodyPr>
          <a:p>
            <a:pPr>
              <a:lnSpc>
                <a:spcPct val="150000"/>
              </a:lnSpc>
              <a:spcBef>
                <a:spcPts val="1500"/>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2400" strike="noStrike" u="none">
                <a:solidFill>
                  <a:srgbClr val="ffffff"/>
                </a:solidFill>
                <a:effectLst/>
                <a:uFillTx/>
                <a:latin typeface="Arial Black"/>
              </a:rPr>
              <a:t>Deploy Workforce |</a:t>
            </a:r>
            <a:endParaRPr b="0" lang="en-IN" sz="2400" strike="noStrike" u="none">
              <a:solidFill>
                <a:srgbClr val="000000"/>
              </a:solidFill>
              <a:effectLst/>
              <a:uFillTx/>
              <a:latin typeface="Arial"/>
            </a:endParaRPr>
          </a:p>
        </p:txBody>
      </p:sp>
      <p:sp>
        <p:nvSpPr>
          <p:cNvPr id="131" name=""/>
          <p:cNvSpPr/>
          <p:nvPr/>
        </p:nvSpPr>
        <p:spPr>
          <a:xfrm>
            <a:off x="3276720" y="0"/>
            <a:ext cx="5562360" cy="5814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99"/>
                </a:solidFill>
                <a:effectLst/>
                <a:uFillTx/>
                <a:latin typeface="Arial Black"/>
              </a:rPr>
              <a:t>Employee time and talent is used effectively. Employees motivated.</a:t>
            </a:r>
            <a:endParaRPr b="0" lang="en-IN" sz="1600" strike="noStrike" u="none">
              <a:solidFill>
                <a:srgbClr val="000000"/>
              </a:solidFill>
              <a:effectLst/>
              <a:uFillTx/>
              <a:latin typeface="Arial"/>
            </a:endParaRPr>
          </a:p>
        </p:txBody>
      </p:sp>
      <p:sp>
        <p:nvSpPr>
          <p:cNvPr id="132" name=""/>
          <p:cNvSpPr/>
          <p:nvPr/>
        </p:nvSpPr>
        <p:spPr>
          <a:xfrm>
            <a:off x="0" y="0"/>
            <a:ext cx="27432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c0c0c0"/>
                </a:solidFill>
                <a:effectLst/>
                <a:uFillTx/>
                <a:latin typeface="Arial Black"/>
              </a:rPr>
              <a:t>HR Management Report category:</a:t>
            </a:r>
            <a:endParaRPr b="0" lang="en-IN" sz="1000" strike="noStrike" u="none">
              <a:solidFill>
                <a:srgbClr val="000000"/>
              </a:solidFill>
              <a:effectLst/>
              <a:uFillTx/>
              <a:latin typeface="Arial"/>
            </a:endParaRPr>
          </a:p>
        </p:txBody>
      </p:sp>
      <p:sp>
        <p:nvSpPr>
          <p:cNvPr id="133" name=""/>
          <p:cNvSpPr/>
          <p:nvPr/>
        </p:nvSpPr>
        <p:spPr>
          <a:xfrm>
            <a:off x="2895480" y="685800"/>
            <a:ext cx="2971800" cy="830520"/>
          </a:xfrm>
          <a:prstGeom prst="rect">
            <a:avLst/>
          </a:prstGeom>
          <a:noFill/>
          <a:ln w="28440">
            <a:solidFill>
              <a:srgbClr val="000099"/>
            </a:solidFill>
            <a:miter/>
          </a:ln>
        </p:spPr>
        <p:style>
          <a:lnRef idx="0"/>
          <a:fillRef idx="0"/>
          <a:effectRef idx="0"/>
          <a:fontRef idx="minor"/>
        </p:style>
        <p:txBody>
          <a:bodyPr lIns="90000" rIns="90000" tIns="46800" bIns="46800" anchor="t">
            <a:sp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Percent employees with current performance expectations </a:t>
            </a:r>
            <a:endParaRPr b="0" lang="en-IN" sz="1200" strike="noStrike" u="none">
              <a:solidFill>
                <a:srgbClr val="000000"/>
              </a:solidFill>
              <a:effectLst/>
              <a:uFillTx/>
              <a:latin typeface="Arial"/>
            </a:endParaRPr>
          </a:p>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90%</a:t>
            </a:r>
            <a:endParaRPr b="0" lang="en-IN" sz="1600" strike="noStrike" u="none">
              <a:solidFill>
                <a:srgbClr val="000000"/>
              </a:solidFill>
              <a:effectLst/>
              <a:uFillTx/>
              <a:latin typeface="Arial"/>
            </a:endParaRPr>
          </a:p>
        </p:txBody>
      </p:sp>
      <p:sp>
        <p:nvSpPr>
          <p:cNvPr id="134" name=""/>
          <p:cNvSpPr/>
          <p:nvPr/>
        </p:nvSpPr>
        <p:spPr>
          <a:xfrm>
            <a:off x="838080" y="2743200"/>
            <a:ext cx="3733920" cy="246600"/>
          </a:xfrm>
          <a:prstGeom prst="rect">
            <a:avLst/>
          </a:prstGeom>
          <a:no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SPACE FOR AGENCY’S DISCRETIONARY USE</a:t>
            </a:r>
            <a:endParaRPr b="0" lang="en-IN" sz="1000" strike="noStrike" u="none">
              <a:solidFill>
                <a:srgbClr val="000000"/>
              </a:solidFill>
              <a:effectLst/>
              <a:uFillTx/>
              <a:latin typeface="Arial"/>
            </a:endParaRPr>
          </a:p>
        </p:txBody>
      </p:sp>
      <p:sp>
        <p:nvSpPr>
          <p:cNvPr id="135" name=""/>
          <p:cNvSpPr/>
          <p:nvPr/>
        </p:nvSpPr>
        <p:spPr>
          <a:xfrm>
            <a:off x="6553080" y="685800"/>
            <a:ext cx="2133720" cy="2781360"/>
          </a:xfrm>
          <a:prstGeom prst="rect">
            <a:avLst/>
          </a:prstGeom>
          <a:noFill/>
          <a:ln w="28440">
            <a:solidFill>
              <a:srgbClr val="000099"/>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Analysis:</a:t>
            </a: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136" name=""/>
          <p:cNvSpPr/>
          <p:nvPr/>
        </p:nvSpPr>
        <p:spPr>
          <a:xfrm>
            <a:off x="6553080" y="3778200"/>
            <a:ext cx="2133720" cy="2781360"/>
          </a:xfrm>
          <a:prstGeom prst="rect">
            <a:avLst/>
          </a:prstGeom>
          <a:noFill/>
          <a:ln w="28440">
            <a:solidFill>
              <a:srgbClr val="000099"/>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Action Steps:</a:t>
            </a: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8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33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2" name="PlaceHolder 1"/>
          <p:cNvSpPr>
            <a:spLocks noGrp="1"/>
          </p:cNvSpPr>
          <p:nvPr>
            <p:ph type="sldNum" idx="3"/>
          </p:nvPr>
        </p:nvSpPr>
        <p:spPr/>
        <p:txBody>
          <a:bodyPr/>
          <a:p>
            <a:fld id="{CB7BE95E-A5DF-4CB5-89D1-8C67E0F9F377}"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7" name=""/>
          <p:cNvSpPr/>
          <p:nvPr/>
        </p:nvSpPr>
        <p:spPr>
          <a:xfrm>
            <a:off x="0" y="1295280"/>
            <a:ext cx="2362320" cy="381240"/>
          </a:xfrm>
          <a:prstGeom prst="rect">
            <a:avLst/>
          </a:prstGeom>
          <a:solidFill>
            <a:srgbClr val="ffff66"/>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38" name=""/>
          <p:cNvSpPr/>
          <p:nvPr/>
        </p:nvSpPr>
        <p:spPr>
          <a:xfrm>
            <a:off x="0" y="685800"/>
            <a:ext cx="2514600" cy="1752480"/>
          </a:xfrm>
          <a:prstGeom prst="rect">
            <a:avLst/>
          </a:prstGeom>
          <a:noFill/>
          <a:ln w="0">
            <a:noFill/>
          </a:ln>
        </p:spPr>
        <p:style>
          <a:lnRef idx="0"/>
          <a:fillRef idx="0"/>
          <a:effectRef idx="0"/>
          <a:fontRef idx="minor"/>
        </p:style>
        <p:txBody>
          <a:bodyPr lIns="90000" rIns="90000" tIns="46800" bIns="46800" anchor="t">
            <a:normAutofit/>
          </a:bodyPr>
          <a:p>
            <a:pPr marL="228600" indent="-228600">
              <a:lnSpc>
                <a:spcPct val="10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Black"/>
              </a:rPr>
              <a:t>Performance Measures </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Percent employees with current performance expectations</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Employee survey ratings on “productive workplace” questions</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Overtime usage</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Sick leave usage Number &amp; type of non-disciplinary grievances and disposition</a:t>
            </a:r>
            <a:endParaRPr b="0" lang="en-IN" sz="1100" strike="noStrike" u="none">
              <a:solidFill>
                <a:srgbClr val="000000"/>
              </a:solidFill>
              <a:effectLst/>
              <a:uFillTx/>
              <a:latin typeface="Arial"/>
            </a:endParaRPr>
          </a:p>
        </p:txBody>
      </p:sp>
      <p:sp>
        <p:nvSpPr>
          <p:cNvPr id="139" name=""/>
          <p:cNvSpPr/>
          <p:nvPr/>
        </p:nvSpPr>
        <p:spPr>
          <a:xfrm>
            <a:off x="0" y="0"/>
            <a:ext cx="9144000" cy="618840"/>
          </a:xfrm>
          <a:prstGeom prst="rect">
            <a:avLst/>
          </a:prstGeom>
          <a:gradFill rotWithShape="0">
            <a:gsLst>
              <a:gs pos="0">
                <a:srgbClr val="ffffff"/>
              </a:gs>
              <a:gs pos="100000">
                <a:srgbClr val="000099"/>
              </a:gs>
            </a:gsLst>
            <a:lin ang="10800000"/>
          </a:gradFill>
          <a:ln w="0">
            <a:noFill/>
          </a:ln>
        </p:spPr>
        <p:style>
          <a:lnRef idx="0"/>
          <a:fillRef idx="0"/>
          <a:effectRef idx="0"/>
          <a:fontRef idx="minor"/>
        </p:style>
        <p:txBody>
          <a:bodyPr lIns="69480" rIns="69480" tIns="34920" bIns="34920" anchor="t">
            <a:spAutoFit/>
          </a:bodyPr>
          <a:p>
            <a:pPr>
              <a:lnSpc>
                <a:spcPct val="150000"/>
              </a:lnSpc>
              <a:spcBef>
                <a:spcPts val="1500"/>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2400" strike="noStrike" u="none">
                <a:solidFill>
                  <a:srgbClr val="ffffff"/>
                </a:solidFill>
                <a:effectLst/>
                <a:uFillTx/>
                <a:latin typeface="Arial Black"/>
              </a:rPr>
              <a:t>Deploy Workforce |</a:t>
            </a:r>
            <a:endParaRPr b="0" lang="en-IN" sz="2400" strike="noStrike" u="none">
              <a:solidFill>
                <a:srgbClr val="000000"/>
              </a:solidFill>
              <a:effectLst/>
              <a:uFillTx/>
              <a:latin typeface="Arial"/>
            </a:endParaRPr>
          </a:p>
        </p:txBody>
      </p:sp>
      <p:sp>
        <p:nvSpPr>
          <p:cNvPr id="140" name=""/>
          <p:cNvSpPr/>
          <p:nvPr/>
        </p:nvSpPr>
        <p:spPr>
          <a:xfrm>
            <a:off x="3276720" y="0"/>
            <a:ext cx="5562360" cy="5814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99"/>
                </a:solidFill>
                <a:effectLst/>
                <a:uFillTx/>
                <a:latin typeface="Arial Black"/>
              </a:rPr>
              <a:t>Employee time and talent is used effectively. Employees motivated.</a:t>
            </a:r>
            <a:endParaRPr b="0" lang="en-IN" sz="1600" strike="noStrike" u="none">
              <a:solidFill>
                <a:srgbClr val="000000"/>
              </a:solidFill>
              <a:effectLst/>
              <a:uFillTx/>
              <a:latin typeface="Arial"/>
            </a:endParaRPr>
          </a:p>
        </p:txBody>
      </p:sp>
      <p:sp>
        <p:nvSpPr>
          <p:cNvPr id="141" name=""/>
          <p:cNvSpPr/>
          <p:nvPr/>
        </p:nvSpPr>
        <p:spPr>
          <a:xfrm>
            <a:off x="0" y="0"/>
            <a:ext cx="27432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c0c0c0"/>
                </a:solidFill>
                <a:effectLst/>
                <a:uFillTx/>
                <a:latin typeface="Arial Black"/>
              </a:rPr>
              <a:t>HR Management Report category:</a:t>
            </a:r>
            <a:endParaRPr b="0" lang="en-IN" sz="1000" strike="noStrike" u="none">
              <a:solidFill>
                <a:srgbClr val="000000"/>
              </a:solidFill>
              <a:effectLst/>
              <a:uFillTx/>
              <a:latin typeface="Arial"/>
            </a:endParaRPr>
          </a:p>
        </p:txBody>
      </p:sp>
      <p:grpSp>
        <p:nvGrpSpPr>
          <p:cNvPr id="142" name=""/>
          <p:cNvGrpSpPr/>
          <p:nvPr/>
        </p:nvGrpSpPr>
        <p:grpSpPr>
          <a:xfrm>
            <a:off x="2362320" y="685800"/>
            <a:ext cx="4775040" cy="4226040"/>
            <a:chOff x="2362320" y="685800"/>
            <a:chExt cx="4775040" cy="4226040"/>
          </a:xfrm>
        </p:grpSpPr>
        <p:sp>
          <p:nvSpPr>
            <p:cNvPr id="143" name=""/>
            <p:cNvSpPr/>
            <p:nvPr/>
          </p:nvSpPr>
          <p:spPr>
            <a:xfrm>
              <a:off x="2362320" y="685800"/>
              <a:ext cx="4114800" cy="4073400"/>
            </a:xfrm>
            <a:prstGeom prst="rect">
              <a:avLst/>
            </a:prstGeom>
            <a:solidFill>
              <a:srgbClr val="ffffff"/>
            </a:solidFill>
            <a:ln w="28440">
              <a:solidFill>
                <a:srgbClr val="000099"/>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44" name=""/>
            <p:cNvSpPr/>
            <p:nvPr/>
          </p:nvSpPr>
          <p:spPr>
            <a:xfrm>
              <a:off x="2362320" y="1027080"/>
              <a:ext cx="4647960" cy="34491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Narrow"/>
                </a:rPr>
                <a:t>Q4. I know what is expected of me at work. (4.3)</a:t>
              </a: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Narrow"/>
                </a:rPr>
                <a:t>Q1. I have opportunity to give input on decisions affecting my work. (4.0)</a:t>
              </a: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Narrow"/>
                </a:rPr>
                <a:t>Q2. I receive the information I need to do my job effectively. (4.0)</a:t>
              </a: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Narrow"/>
                </a:rPr>
                <a:t>Q6. I have the tools and resources I need to do my job effectively. (4.1)</a:t>
              </a: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Narrow"/>
                </a:rPr>
                <a:t>Q7. My supervisor treats me with dignity and respect. (4.6)</a:t>
              </a: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Narrow"/>
                </a:rPr>
                <a:t>Q8. My supervisor gives me ongoing feedback that helps me improve</a:t>
              </a:r>
              <a:br>
                <a:rPr sz="1100"/>
              </a:br>
              <a:r>
                <a:rPr b="0" lang="en-IN" sz="1100" strike="noStrike" u="none">
                  <a:solidFill>
                    <a:srgbClr val="000000"/>
                  </a:solidFill>
                  <a:effectLst/>
                  <a:uFillTx/>
                  <a:latin typeface="Arial Narrow"/>
                </a:rPr>
                <a:t> my performance. (3.9)</a:t>
              </a: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Narrow"/>
                </a:rPr>
                <a:t>Q9. I receive recognition for a job well done. (3.9)</a:t>
              </a:r>
              <a:endParaRPr b="0" lang="en-IN" sz="1100" strike="noStrike" u="none">
                <a:solidFill>
                  <a:srgbClr val="000000"/>
                </a:solidFill>
                <a:effectLst/>
                <a:uFillTx/>
                <a:latin typeface="Arial"/>
              </a:endParaRPr>
            </a:p>
          </p:txBody>
        </p:sp>
        <p:sp>
          <p:nvSpPr>
            <p:cNvPr id="145" name=""/>
            <p:cNvSpPr/>
            <p:nvPr/>
          </p:nvSpPr>
          <p:spPr>
            <a:xfrm>
              <a:off x="2590920" y="685800"/>
              <a:ext cx="3581280" cy="3992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Black"/>
                </a:rPr>
                <a:t>Do employees have the day-to-day support </a:t>
              </a:r>
              <a:br>
                <a:rPr sz="1000"/>
              </a:br>
              <a:r>
                <a:rPr b="0" lang="en-IN" sz="1000" strike="noStrike" u="none">
                  <a:solidFill>
                    <a:srgbClr val="000000"/>
                  </a:solidFill>
                  <a:effectLst/>
                  <a:uFillTx/>
                  <a:latin typeface="Arial Black"/>
                </a:rPr>
                <a:t>needed to enable successful job performance?</a:t>
              </a:r>
              <a:endParaRPr b="0" lang="en-IN" sz="1000" strike="noStrike" u="none">
                <a:solidFill>
                  <a:srgbClr val="000000"/>
                </a:solidFill>
                <a:effectLst/>
                <a:uFillTx/>
                <a:latin typeface="Arial"/>
              </a:endParaRPr>
            </a:p>
          </p:txBody>
        </p:sp>
        <p:graphicFrame>
          <p:nvGraphicFramePr>
            <p:cNvPr id="146" name=""/>
            <p:cNvGraphicFramePr/>
            <p:nvPr/>
          </p:nvGraphicFramePr>
          <p:xfrm>
            <a:off x="2590920" y="1054080"/>
            <a:ext cx="4546440" cy="625320"/>
          </p:xfrm>
          <a:graphic>
            <a:graphicData uri="http://schemas.openxmlformats.org/presentationml/2006/ole">
              <p:oleObj r:id="rId1" spid="">
                <p:embed/>
                <p:pic>
                  <p:nvPicPr>
                    <p:cNvPr id="147" name="" descr=""/>
                    <p:cNvPicPr/>
                    <p:nvPr/>
                  </p:nvPicPr>
                  <p:blipFill>
                    <a:blip r:embed="rId2"/>
                    <a:stretch/>
                  </p:blipFill>
                  <p:spPr>
                    <a:xfrm>
                      <a:off x="2590920" y="1054080"/>
                      <a:ext cx="4546440" cy="625320"/>
                    </a:xfrm>
                    <a:prstGeom prst="rect">
                      <a:avLst/>
                    </a:prstGeom>
                    <a:noFill/>
                    <a:ln w="0">
                      <a:noFill/>
                    </a:ln>
                  </p:spPr>
                </p:pic>
              </p:oleObj>
            </a:graphicData>
          </a:graphic>
        </p:graphicFrame>
        <p:graphicFrame>
          <p:nvGraphicFramePr>
            <p:cNvPr id="148" name=""/>
            <p:cNvGraphicFramePr/>
            <p:nvPr/>
          </p:nvGraphicFramePr>
          <p:xfrm>
            <a:off x="2590920" y="1563840"/>
            <a:ext cx="4546440" cy="628560"/>
          </p:xfrm>
          <a:graphic>
            <a:graphicData uri="http://schemas.openxmlformats.org/presentationml/2006/ole">
              <p:oleObj r:id="rId3" spid="">
                <p:embed/>
                <p:pic>
                  <p:nvPicPr>
                    <p:cNvPr id="149" name="" descr=""/>
                    <p:cNvPicPr/>
                    <p:nvPr/>
                  </p:nvPicPr>
                  <p:blipFill>
                    <a:blip r:embed="rId4"/>
                    <a:stretch/>
                  </p:blipFill>
                  <p:spPr>
                    <a:xfrm>
                      <a:off x="2590920" y="1563840"/>
                      <a:ext cx="4546440" cy="628560"/>
                    </a:xfrm>
                    <a:prstGeom prst="rect">
                      <a:avLst/>
                    </a:prstGeom>
                    <a:noFill/>
                    <a:ln w="0">
                      <a:noFill/>
                    </a:ln>
                  </p:spPr>
                </p:pic>
              </p:oleObj>
            </a:graphicData>
          </a:graphic>
        </p:graphicFrame>
        <p:graphicFrame>
          <p:nvGraphicFramePr>
            <p:cNvPr id="150" name=""/>
            <p:cNvGraphicFramePr/>
            <p:nvPr/>
          </p:nvGraphicFramePr>
          <p:xfrm>
            <a:off x="2590920" y="2074680"/>
            <a:ext cx="4546440" cy="627120"/>
          </p:xfrm>
          <a:graphic>
            <a:graphicData uri="http://schemas.openxmlformats.org/presentationml/2006/ole">
              <p:oleObj r:id="rId5" spid="">
                <p:embed/>
                <p:pic>
                  <p:nvPicPr>
                    <p:cNvPr id="151" name="" descr=""/>
                    <p:cNvPicPr/>
                    <p:nvPr/>
                  </p:nvPicPr>
                  <p:blipFill>
                    <a:blip r:embed="rId6"/>
                    <a:stretch/>
                  </p:blipFill>
                  <p:spPr>
                    <a:xfrm>
                      <a:off x="2590920" y="2074680"/>
                      <a:ext cx="4546440" cy="627120"/>
                    </a:xfrm>
                    <a:prstGeom prst="rect">
                      <a:avLst/>
                    </a:prstGeom>
                    <a:noFill/>
                    <a:ln w="0">
                      <a:noFill/>
                    </a:ln>
                  </p:spPr>
                </p:pic>
              </p:oleObj>
            </a:graphicData>
          </a:graphic>
        </p:graphicFrame>
        <p:graphicFrame>
          <p:nvGraphicFramePr>
            <p:cNvPr id="152" name=""/>
            <p:cNvGraphicFramePr/>
            <p:nvPr/>
          </p:nvGraphicFramePr>
          <p:xfrm>
            <a:off x="2590920" y="2549520"/>
            <a:ext cx="4546440" cy="628560"/>
          </p:xfrm>
          <a:graphic>
            <a:graphicData uri="http://schemas.openxmlformats.org/presentationml/2006/ole">
              <p:oleObj r:id="rId7" spid="">
                <p:embed/>
                <p:pic>
                  <p:nvPicPr>
                    <p:cNvPr id="153" name="" descr=""/>
                    <p:cNvPicPr/>
                    <p:nvPr/>
                  </p:nvPicPr>
                  <p:blipFill>
                    <a:blip r:embed="rId8"/>
                    <a:stretch/>
                  </p:blipFill>
                  <p:spPr>
                    <a:xfrm>
                      <a:off x="2590920" y="2549520"/>
                      <a:ext cx="4546440" cy="628560"/>
                    </a:xfrm>
                    <a:prstGeom prst="rect">
                      <a:avLst/>
                    </a:prstGeom>
                    <a:noFill/>
                    <a:ln w="0">
                      <a:noFill/>
                    </a:ln>
                  </p:spPr>
                </p:pic>
              </p:oleObj>
            </a:graphicData>
          </a:graphic>
        </p:graphicFrame>
        <p:graphicFrame>
          <p:nvGraphicFramePr>
            <p:cNvPr id="154" name=""/>
            <p:cNvGraphicFramePr/>
            <p:nvPr/>
          </p:nvGraphicFramePr>
          <p:xfrm>
            <a:off x="2590920" y="3149640"/>
            <a:ext cx="4546440" cy="627120"/>
          </p:xfrm>
          <a:graphic>
            <a:graphicData uri="http://schemas.openxmlformats.org/presentationml/2006/ole">
              <p:oleObj r:id="rId9" spid="">
                <p:embed/>
                <p:pic>
                  <p:nvPicPr>
                    <p:cNvPr id="155" name="" descr=""/>
                    <p:cNvPicPr/>
                    <p:nvPr/>
                  </p:nvPicPr>
                  <p:blipFill>
                    <a:blip r:embed="rId10"/>
                    <a:stretch/>
                  </p:blipFill>
                  <p:spPr>
                    <a:xfrm>
                      <a:off x="2590920" y="3149640"/>
                      <a:ext cx="4546440" cy="627120"/>
                    </a:xfrm>
                    <a:prstGeom prst="rect">
                      <a:avLst/>
                    </a:prstGeom>
                    <a:noFill/>
                    <a:ln w="0">
                      <a:noFill/>
                    </a:ln>
                  </p:spPr>
                </p:pic>
              </p:oleObj>
            </a:graphicData>
          </a:graphic>
        </p:graphicFrame>
        <p:graphicFrame>
          <p:nvGraphicFramePr>
            <p:cNvPr id="156" name=""/>
            <p:cNvGraphicFramePr/>
            <p:nvPr/>
          </p:nvGraphicFramePr>
          <p:xfrm>
            <a:off x="2590920" y="3749760"/>
            <a:ext cx="4546440" cy="628560"/>
          </p:xfrm>
          <a:graphic>
            <a:graphicData uri="http://schemas.openxmlformats.org/presentationml/2006/ole">
              <p:oleObj r:id="rId11" spid="">
                <p:embed/>
                <p:pic>
                  <p:nvPicPr>
                    <p:cNvPr id="157" name="" descr=""/>
                    <p:cNvPicPr/>
                    <p:nvPr/>
                  </p:nvPicPr>
                  <p:blipFill>
                    <a:blip r:embed="rId12"/>
                    <a:stretch/>
                  </p:blipFill>
                  <p:spPr>
                    <a:xfrm>
                      <a:off x="2590920" y="3749760"/>
                      <a:ext cx="4546440" cy="628560"/>
                    </a:xfrm>
                    <a:prstGeom prst="rect">
                      <a:avLst/>
                    </a:prstGeom>
                    <a:noFill/>
                    <a:ln w="0">
                      <a:noFill/>
                    </a:ln>
                  </p:spPr>
                </p:pic>
              </p:oleObj>
            </a:graphicData>
          </a:graphic>
        </p:graphicFrame>
        <p:graphicFrame>
          <p:nvGraphicFramePr>
            <p:cNvPr id="158" name=""/>
            <p:cNvGraphicFramePr/>
            <p:nvPr/>
          </p:nvGraphicFramePr>
          <p:xfrm>
            <a:off x="2590920" y="4286160"/>
            <a:ext cx="4546440" cy="625680"/>
          </p:xfrm>
          <a:graphic>
            <a:graphicData uri="http://schemas.openxmlformats.org/presentationml/2006/ole">
              <p:oleObj r:id="rId13" spid="">
                <p:embed/>
                <p:pic>
                  <p:nvPicPr>
                    <p:cNvPr id="159" name="" descr=""/>
                    <p:cNvPicPr/>
                    <p:nvPr/>
                  </p:nvPicPr>
                  <p:blipFill>
                    <a:blip r:embed="rId14"/>
                    <a:stretch/>
                  </p:blipFill>
                  <p:spPr>
                    <a:xfrm>
                      <a:off x="2590920" y="4286160"/>
                      <a:ext cx="4546440" cy="625680"/>
                    </a:xfrm>
                    <a:prstGeom prst="rect">
                      <a:avLst/>
                    </a:prstGeom>
                    <a:noFill/>
                    <a:ln w="0">
                      <a:noFill/>
                    </a:ln>
                  </p:spPr>
                </p:pic>
              </p:oleObj>
            </a:graphicData>
          </a:graphic>
        </p:graphicFrame>
      </p:grpSp>
      <p:sp>
        <p:nvSpPr>
          <p:cNvPr id="160" name=""/>
          <p:cNvSpPr/>
          <p:nvPr/>
        </p:nvSpPr>
        <p:spPr>
          <a:xfrm>
            <a:off x="457200" y="2514600"/>
            <a:ext cx="1828800" cy="696600"/>
          </a:xfrm>
          <a:prstGeom prst="rect">
            <a:avLst/>
          </a:prstGeom>
          <a:solidFill>
            <a:srgbClr val="ffffff"/>
          </a:solidFill>
          <a:ln w="28440">
            <a:solidFill>
              <a:srgbClr val="000099"/>
            </a:solidFill>
            <a:miter/>
          </a:ln>
        </p:spPr>
        <p:style>
          <a:lnRef idx="0"/>
          <a:fillRef idx="0"/>
          <a:effectRef idx="0"/>
          <a:fontRef idx="minor"/>
        </p:style>
        <p:txBody>
          <a:bodyPr lIns="90000" rIns="90000" tIns="46800" bIns="46800" anchor="t">
            <a:spAutoFit/>
          </a:bodyPr>
          <a:p>
            <a:pPr>
              <a:lnSpc>
                <a:spcPct val="11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Narrow"/>
              </a:rPr>
              <a:t>Overall average score for “productive workplace” questions is 4.1%</a:t>
            </a:r>
            <a:endParaRPr b="0" lang="en-IN" sz="1200" strike="noStrike" u="none">
              <a:solidFill>
                <a:srgbClr val="000000"/>
              </a:solidFill>
              <a:effectLst/>
              <a:uFillTx/>
              <a:latin typeface="Arial"/>
            </a:endParaRPr>
          </a:p>
        </p:txBody>
      </p:sp>
      <p:sp>
        <p:nvSpPr>
          <p:cNvPr id="161" name=""/>
          <p:cNvSpPr/>
          <p:nvPr/>
        </p:nvSpPr>
        <p:spPr>
          <a:xfrm>
            <a:off x="6858000" y="685800"/>
            <a:ext cx="2057400" cy="1930680"/>
          </a:xfrm>
          <a:prstGeom prst="rect">
            <a:avLst/>
          </a:prstGeom>
          <a:noFill/>
          <a:ln w="28440">
            <a:solidFill>
              <a:srgbClr val="000099"/>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Analysis:</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While we appear successful in showing respect and providing clear expectations, we can improve in areas of feedback and recognition.</a:t>
            </a: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162" name=""/>
          <p:cNvSpPr/>
          <p:nvPr/>
        </p:nvSpPr>
        <p:spPr>
          <a:xfrm>
            <a:off x="6858000" y="2743200"/>
            <a:ext cx="2057400" cy="2121480"/>
          </a:xfrm>
          <a:prstGeom prst="rect">
            <a:avLst/>
          </a:prstGeom>
          <a:noFill/>
          <a:ln w="28440">
            <a:solidFill>
              <a:srgbClr val="000099"/>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Action Steps:</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Review recognition program for meaningful tools &amp; effectiveness.</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Review communication methods for practices and potential gaps</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163" name=""/>
          <p:cNvSpPr/>
          <p:nvPr/>
        </p:nvSpPr>
        <p:spPr>
          <a:xfrm>
            <a:off x="380880" y="5257800"/>
            <a:ext cx="3733920" cy="246600"/>
          </a:xfrm>
          <a:prstGeom prst="rect">
            <a:avLst/>
          </a:prstGeom>
          <a:no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SPACE FOR AGENCY’S DISCRETIONARY USE</a:t>
            </a:r>
            <a:endParaRPr b="0" lang="en-IN" sz="1000" strike="noStrike" u="none">
              <a:solidFill>
                <a:srgbClr val="000000"/>
              </a:solidFill>
              <a:effectLst/>
              <a:uFillTx/>
              <a:latin typeface="Arial"/>
            </a:endParaRPr>
          </a:p>
        </p:txBody>
      </p:sp>
      <p:sp>
        <p:nvSpPr>
          <p:cNvPr id="164" name=""/>
          <p:cNvSpPr/>
          <p:nvPr/>
        </p:nvSpPr>
        <p:spPr>
          <a:xfrm>
            <a:off x="762120" y="3962520"/>
            <a:ext cx="1523880" cy="551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Narrow"/>
              </a:rPr>
              <a:t>DOUBLE CLICK ON THE BAR CHARTS TO ENTER YOUR AGENCY’S DATA</a:t>
            </a:r>
            <a:endParaRPr b="0" lang="en-IN" sz="1000" strike="noStrike" u="none">
              <a:solidFill>
                <a:srgbClr val="000000"/>
              </a:solidFill>
              <a:effectLst/>
              <a:uFillTx/>
              <a:latin typeface="Arial"/>
            </a:endParaRPr>
          </a:p>
        </p:txBody>
      </p:sp>
      <p:sp>
        <p:nvSpPr>
          <p:cNvPr id="2" name="PlaceHolder 1"/>
          <p:cNvSpPr>
            <a:spLocks noGrp="1"/>
          </p:cNvSpPr>
          <p:nvPr>
            <p:ph type="sldNum" idx="3"/>
          </p:nvPr>
        </p:nvSpPr>
        <p:spPr/>
        <p:txBody>
          <a:bodyPr/>
          <a:p>
            <a:fld id="{50941B3B-B2EE-4E76-B379-6F299219A5D9}"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5" name=""/>
          <p:cNvSpPr/>
          <p:nvPr/>
        </p:nvSpPr>
        <p:spPr>
          <a:xfrm>
            <a:off x="0" y="1600200"/>
            <a:ext cx="1981080" cy="304920"/>
          </a:xfrm>
          <a:prstGeom prst="rect">
            <a:avLst/>
          </a:prstGeom>
          <a:solidFill>
            <a:srgbClr val="ffff66"/>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66" name=""/>
          <p:cNvSpPr/>
          <p:nvPr/>
        </p:nvSpPr>
        <p:spPr>
          <a:xfrm>
            <a:off x="0" y="685800"/>
            <a:ext cx="2133720" cy="1752480"/>
          </a:xfrm>
          <a:prstGeom prst="rect">
            <a:avLst/>
          </a:prstGeom>
          <a:noFill/>
          <a:ln w="0">
            <a:noFill/>
          </a:ln>
        </p:spPr>
        <p:style>
          <a:lnRef idx="0"/>
          <a:fillRef idx="0"/>
          <a:effectRef idx="0"/>
          <a:fontRef idx="minor"/>
        </p:style>
        <p:txBody>
          <a:bodyPr lIns="90000" rIns="90000" tIns="46800" bIns="46800" anchor="t">
            <a:normAutofit fontScale="92500" lnSpcReduction="9999"/>
          </a:bodyPr>
          <a:p>
            <a:pPr marL="228600" indent="-228600">
              <a:lnSpc>
                <a:spcPct val="10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Black"/>
              </a:rPr>
              <a:t>Performance Measures </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Percent employees with current performance expectations</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Employee survey ratings on “productive workplace” questions</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Overtime usage</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Sick leave usage</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Number &amp; type of non-disciplinary grievances and disposition</a:t>
            </a:r>
            <a:endParaRPr b="0" lang="en-IN" sz="1100" strike="noStrike" u="none">
              <a:solidFill>
                <a:srgbClr val="000000"/>
              </a:solidFill>
              <a:effectLst/>
              <a:uFillTx/>
              <a:latin typeface="Arial"/>
            </a:endParaRPr>
          </a:p>
        </p:txBody>
      </p:sp>
      <p:sp>
        <p:nvSpPr>
          <p:cNvPr id="167" name=""/>
          <p:cNvSpPr/>
          <p:nvPr/>
        </p:nvSpPr>
        <p:spPr>
          <a:xfrm>
            <a:off x="0" y="0"/>
            <a:ext cx="9144000" cy="618840"/>
          </a:xfrm>
          <a:prstGeom prst="rect">
            <a:avLst/>
          </a:prstGeom>
          <a:gradFill rotWithShape="0">
            <a:gsLst>
              <a:gs pos="0">
                <a:srgbClr val="ffffff"/>
              </a:gs>
              <a:gs pos="100000">
                <a:srgbClr val="000099"/>
              </a:gs>
            </a:gsLst>
            <a:lin ang="10800000"/>
          </a:gradFill>
          <a:ln w="0">
            <a:noFill/>
          </a:ln>
        </p:spPr>
        <p:style>
          <a:lnRef idx="0"/>
          <a:fillRef idx="0"/>
          <a:effectRef idx="0"/>
          <a:fontRef idx="minor"/>
        </p:style>
        <p:txBody>
          <a:bodyPr lIns="69480" rIns="69480" tIns="34920" bIns="34920" anchor="t">
            <a:spAutoFit/>
          </a:bodyPr>
          <a:p>
            <a:pPr>
              <a:lnSpc>
                <a:spcPct val="150000"/>
              </a:lnSpc>
              <a:spcBef>
                <a:spcPts val="1500"/>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2400" strike="noStrike" u="none">
                <a:solidFill>
                  <a:srgbClr val="ffffff"/>
                </a:solidFill>
                <a:effectLst/>
                <a:uFillTx/>
                <a:latin typeface="Arial Black"/>
              </a:rPr>
              <a:t>Deploy Workforce |</a:t>
            </a:r>
            <a:endParaRPr b="0" lang="en-IN" sz="2400" strike="noStrike" u="none">
              <a:solidFill>
                <a:srgbClr val="000000"/>
              </a:solidFill>
              <a:effectLst/>
              <a:uFillTx/>
              <a:latin typeface="Arial"/>
            </a:endParaRPr>
          </a:p>
        </p:txBody>
      </p:sp>
      <p:sp>
        <p:nvSpPr>
          <p:cNvPr id="168" name=""/>
          <p:cNvSpPr/>
          <p:nvPr/>
        </p:nvSpPr>
        <p:spPr>
          <a:xfrm>
            <a:off x="3276720" y="0"/>
            <a:ext cx="5562360" cy="5814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99"/>
                </a:solidFill>
                <a:effectLst/>
                <a:uFillTx/>
                <a:latin typeface="Arial Black"/>
              </a:rPr>
              <a:t>Employee time and talent is used effectively. Employees motivated.</a:t>
            </a:r>
            <a:endParaRPr b="0" lang="en-IN" sz="1600" strike="noStrike" u="none">
              <a:solidFill>
                <a:srgbClr val="000000"/>
              </a:solidFill>
              <a:effectLst/>
              <a:uFillTx/>
              <a:latin typeface="Arial"/>
            </a:endParaRPr>
          </a:p>
        </p:txBody>
      </p:sp>
      <p:sp>
        <p:nvSpPr>
          <p:cNvPr id="169" name=""/>
          <p:cNvSpPr/>
          <p:nvPr/>
        </p:nvSpPr>
        <p:spPr>
          <a:xfrm>
            <a:off x="0" y="0"/>
            <a:ext cx="27432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c0c0c0"/>
                </a:solidFill>
                <a:effectLst/>
                <a:uFillTx/>
                <a:latin typeface="Arial Black"/>
              </a:rPr>
              <a:t>HR Management Report category:</a:t>
            </a:r>
            <a:endParaRPr b="0" lang="en-IN" sz="1000" strike="noStrike" u="none">
              <a:solidFill>
                <a:srgbClr val="000000"/>
              </a:solidFill>
              <a:effectLst/>
              <a:uFillTx/>
              <a:latin typeface="Arial"/>
            </a:endParaRPr>
          </a:p>
        </p:txBody>
      </p:sp>
      <p:sp>
        <p:nvSpPr>
          <p:cNvPr id="170" name=""/>
          <p:cNvSpPr/>
          <p:nvPr/>
        </p:nvSpPr>
        <p:spPr>
          <a:xfrm>
            <a:off x="6553080" y="685800"/>
            <a:ext cx="2362320" cy="2224800"/>
          </a:xfrm>
          <a:prstGeom prst="rect">
            <a:avLst/>
          </a:prstGeom>
          <a:noFill/>
          <a:ln w="28440">
            <a:solidFill>
              <a:srgbClr val="000099"/>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Analysis/Action Steps:</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graphicFrame>
        <p:nvGraphicFramePr>
          <p:cNvPr id="171" name=""/>
          <p:cNvGraphicFramePr/>
          <p:nvPr/>
        </p:nvGraphicFramePr>
        <p:xfrm>
          <a:off x="304920" y="3124080"/>
          <a:ext cx="3733560" cy="3200400"/>
        </p:xfrm>
        <a:graphic>
          <a:graphicData uri="http://schemas.openxmlformats.org/presentationml/2006/ole">
            <p:oleObj r:id="rId1" spid="">
              <p:embed/>
              <p:pic>
                <p:nvPicPr>
                  <p:cNvPr id="172" name="" descr=""/>
                  <p:cNvPicPr/>
                  <p:nvPr/>
                </p:nvPicPr>
                <p:blipFill>
                  <a:blip r:embed="rId2"/>
                  <a:stretch/>
                </p:blipFill>
                <p:spPr>
                  <a:xfrm>
                    <a:off x="304920" y="3124080"/>
                    <a:ext cx="3733560" cy="3200400"/>
                  </a:xfrm>
                  <a:prstGeom prst="rect">
                    <a:avLst/>
                  </a:prstGeom>
                  <a:noFill/>
                  <a:ln w="0">
                    <a:noFill/>
                  </a:ln>
                </p:spPr>
              </p:pic>
            </p:oleObj>
          </a:graphicData>
        </a:graphic>
      </p:graphicFrame>
      <p:graphicFrame>
        <p:nvGraphicFramePr>
          <p:cNvPr id="173" name=""/>
          <p:cNvGraphicFramePr/>
          <p:nvPr/>
        </p:nvGraphicFramePr>
        <p:xfrm>
          <a:off x="2590920" y="609480"/>
          <a:ext cx="3593880" cy="2590920"/>
        </p:xfrm>
        <a:graphic>
          <a:graphicData uri="http://schemas.openxmlformats.org/presentationml/2006/ole">
            <p:oleObj r:id="rId3" spid="">
              <p:embed/>
              <p:pic>
                <p:nvPicPr>
                  <p:cNvPr id="174" name="" descr=""/>
                  <p:cNvPicPr/>
                  <p:nvPr/>
                </p:nvPicPr>
                <p:blipFill>
                  <a:blip r:embed="rId4"/>
                  <a:stretch/>
                </p:blipFill>
                <p:spPr>
                  <a:xfrm>
                    <a:off x="2590920" y="609480"/>
                    <a:ext cx="3593880" cy="2590920"/>
                  </a:xfrm>
                  <a:prstGeom prst="rect">
                    <a:avLst/>
                  </a:prstGeom>
                  <a:noFill/>
                  <a:ln w="0">
                    <a:noFill/>
                  </a:ln>
                </p:spPr>
              </p:pic>
            </p:oleObj>
          </a:graphicData>
        </a:graphic>
      </p:graphicFrame>
      <p:sp>
        <p:nvSpPr>
          <p:cNvPr id="175" name=""/>
          <p:cNvSpPr/>
          <p:nvPr/>
        </p:nvSpPr>
        <p:spPr>
          <a:xfrm>
            <a:off x="2971800" y="685800"/>
            <a:ext cx="289548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Narrow"/>
              </a:rPr>
              <a:t>Agency Overtime Costs</a:t>
            </a:r>
            <a:endParaRPr b="0" lang="en-IN" sz="1400" strike="noStrike" u="none">
              <a:solidFill>
                <a:srgbClr val="000000"/>
              </a:solidFill>
              <a:effectLst/>
              <a:uFillTx/>
              <a:latin typeface="Arial"/>
            </a:endParaRPr>
          </a:p>
        </p:txBody>
      </p:sp>
      <p:sp>
        <p:nvSpPr>
          <p:cNvPr id="176" name=""/>
          <p:cNvSpPr/>
          <p:nvPr/>
        </p:nvSpPr>
        <p:spPr>
          <a:xfrm>
            <a:off x="2514600" y="685800"/>
            <a:ext cx="3657600" cy="2209680"/>
          </a:xfrm>
          <a:prstGeom prst="rect">
            <a:avLst/>
          </a:prstGeom>
          <a:noFill/>
          <a:ln w="38160">
            <a:solidFill>
              <a:srgbClr val="333399"/>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graphicFrame>
        <p:nvGraphicFramePr>
          <p:cNvPr id="177" name=""/>
          <p:cNvGraphicFramePr/>
          <p:nvPr/>
        </p:nvGraphicFramePr>
        <p:xfrm>
          <a:off x="4876920" y="3124080"/>
          <a:ext cx="3809880" cy="3200400"/>
        </p:xfrm>
        <a:graphic>
          <a:graphicData uri="http://schemas.openxmlformats.org/presentationml/2006/ole">
            <p:oleObj r:id="rId5" spid="">
              <p:embed/>
              <p:pic>
                <p:nvPicPr>
                  <p:cNvPr id="178" name="" descr=""/>
                  <p:cNvPicPr/>
                  <p:nvPr/>
                </p:nvPicPr>
                <p:blipFill>
                  <a:blip r:embed="rId6"/>
                  <a:stretch/>
                </p:blipFill>
                <p:spPr>
                  <a:xfrm>
                    <a:off x="4876920" y="3124080"/>
                    <a:ext cx="3809880" cy="3200400"/>
                  </a:xfrm>
                  <a:prstGeom prst="rect">
                    <a:avLst/>
                  </a:prstGeom>
                  <a:noFill/>
                  <a:ln w="0">
                    <a:noFill/>
                  </a:ln>
                </p:spPr>
              </p:pic>
            </p:oleObj>
          </a:graphicData>
        </a:graphic>
      </p:graphicFrame>
      <p:sp>
        <p:nvSpPr>
          <p:cNvPr id="179" name=""/>
          <p:cNvSpPr/>
          <p:nvPr/>
        </p:nvSpPr>
        <p:spPr>
          <a:xfrm>
            <a:off x="4952880" y="3048120"/>
            <a:ext cx="3962520" cy="3276360"/>
          </a:xfrm>
          <a:prstGeom prst="rect">
            <a:avLst/>
          </a:prstGeom>
          <a:noFill/>
          <a:ln w="28440">
            <a:solidFill>
              <a:srgbClr val="000099"/>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80" name=""/>
          <p:cNvSpPr/>
          <p:nvPr/>
        </p:nvSpPr>
        <p:spPr>
          <a:xfrm>
            <a:off x="304920" y="3048120"/>
            <a:ext cx="3962160" cy="3276360"/>
          </a:xfrm>
          <a:prstGeom prst="rect">
            <a:avLst/>
          </a:prstGeom>
          <a:noFill/>
          <a:ln w="28440">
            <a:solidFill>
              <a:srgbClr val="000099"/>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81" name=""/>
          <p:cNvSpPr/>
          <p:nvPr/>
        </p:nvSpPr>
        <p:spPr>
          <a:xfrm>
            <a:off x="990720" y="3048120"/>
            <a:ext cx="289548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Narrow"/>
              </a:rPr>
              <a:t>Average Overtime Hours (per capita)</a:t>
            </a:r>
            <a:endParaRPr b="0" lang="en-IN" sz="1400" strike="noStrike" u="none">
              <a:solidFill>
                <a:srgbClr val="000000"/>
              </a:solidFill>
              <a:effectLst/>
              <a:uFillTx/>
              <a:latin typeface="Arial"/>
            </a:endParaRPr>
          </a:p>
        </p:txBody>
      </p:sp>
      <p:sp>
        <p:nvSpPr>
          <p:cNvPr id="182" name=""/>
          <p:cNvSpPr/>
          <p:nvPr/>
        </p:nvSpPr>
        <p:spPr>
          <a:xfrm>
            <a:off x="5486400" y="3048120"/>
            <a:ext cx="289548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Narrow"/>
              </a:rPr>
              <a:t>Percent Employees Getting Overtime</a:t>
            </a:r>
            <a:endParaRPr b="0" lang="en-IN" sz="1400" strike="noStrike" u="none">
              <a:solidFill>
                <a:srgbClr val="000000"/>
              </a:solidFill>
              <a:effectLst/>
              <a:uFillTx/>
              <a:latin typeface="Arial"/>
            </a:endParaRPr>
          </a:p>
        </p:txBody>
      </p:sp>
      <p:sp>
        <p:nvSpPr>
          <p:cNvPr id="183" name=""/>
          <p:cNvSpPr/>
          <p:nvPr/>
        </p:nvSpPr>
        <p:spPr>
          <a:xfrm>
            <a:off x="2666880" y="6477120"/>
            <a:ext cx="38862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Narrow"/>
              </a:rPr>
              <a:t>DOUBLE CLICK ON THE CHARTS TO ENTER YOUR AGENCY’S DATA</a:t>
            </a:r>
            <a:endParaRPr b="0" lang="en-IN" sz="1000" strike="noStrike" u="none">
              <a:solidFill>
                <a:srgbClr val="000000"/>
              </a:solidFill>
              <a:effectLst/>
              <a:uFillTx/>
              <a:latin typeface="Arial"/>
            </a:endParaRPr>
          </a:p>
        </p:txBody>
      </p:sp>
      <p:sp>
        <p:nvSpPr>
          <p:cNvPr id="2" name="PlaceHolder 1"/>
          <p:cNvSpPr>
            <a:spLocks noGrp="1"/>
          </p:cNvSpPr>
          <p:nvPr>
            <p:ph type="sldNum" idx="3"/>
          </p:nvPr>
        </p:nvSpPr>
        <p:spPr/>
        <p:txBody>
          <a:bodyPr/>
          <a:p>
            <a:fld id="{23DF9B3B-E7A0-4B05-824D-8EB842EF2A3D}"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4" name=""/>
          <p:cNvSpPr/>
          <p:nvPr/>
        </p:nvSpPr>
        <p:spPr>
          <a:xfrm>
            <a:off x="0" y="1905120"/>
            <a:ext cx="1981080" cy="152280"/>
          </a:xfrm>
          <a:prstGeom prst="rect">
            <a:avLst/>
          </a:prstGeom>
          <a:solidFill>
            <a:srgbClr val="ffff66"/>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85" name=""/>
          <p:cNvSpPr/>
          <p:nvPr/>
        </p:nvSpPr>
        <p:spPr>
          <a:xfrm>
            <a:off x="0" y="685800"/>
            <a:ext cx="2133720" cy="1752480"/>
          </a:xfrm>
          <a:prstGeom prst="rect">
            <a:avLst/>
          </a:prstGeom>
          <a:noFill/>
          <a:ln w="0">
            <a:noFill/>
          </a:ln>
        </p:spPr>
        <p:style>
          <a:lnRef idx="0"/>
          <a:fillRef idx="0"/>
          <a:effectRef idx="0"/>
          <a:fontRef idx="minor"/>
        </p:style>
        <p:txBody>
          <a:bodyPr lIns="90000" rIns="90000" tIns="46800" bIns="46800" anchor="t">
            <a:normAutofit fontScale="92500" lnSpcReduction="9999"/>
          </a:bodyPr>
          <a:p>
            <a:pPr marL="228600" indent="-228600">
              <a:lnSpc>
                <a:spcPct val="10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Black"/>
              </a:rPr>
              <a:t>Performance Measures </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Percent employees with current performance expectations</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Employee survey ratings on “productive workplace” questions</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Overtime usage</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Sick leave usage</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Number &amp; type of non-disciplinary grievances and disposition</a:t>
            </a:r>
            <a:endParaRPr b="0" lang="en-IN" sz="1100" strike="noStrike" u="none">
              <a:solidFill>
                <a:srgbClr val="000000"/>
              </a:solidFill>
              <a:effectLst/>
              <a:uFillTx/>
              <a:latin typeface="Arial"/>
            </a:endParaRPr>
          </a:p>
        </p:txBody>
      </p:sp>
      <p:sp>
        <p:nvSpPr>
          <p:cNvPr id="186" name=""/>
          <p:cNvSpPr/>
          <p:nvPr/>
        </p:nvSpPr>
        <p:spPr>
          <a:xfrm>
            <a:off x="0" y="0"/>
            <a:ext cx="9144000" cy="618840"/>
          </a:xfrm>
          <a:prstGeom prst="rect">
            <a:avLst/>
          </a:prstGeom>
          <a:gradFill rotWithShape="0">
            <a:gsLst>
              <a:gs pos="0">
                <a:srgbClr val="ffffff"/>
              </a:gs>
              <a:gs pos="100000">
                <a:srgbClr val="000099"/>
              </a:gs>
            </a:gsLst>
            <a:lin ang="10800000"/>
          </a:gradFill>
          <a:ln w="0">
            <a:noFill/>
          </a:ln>
        </p:spPr>
        <p:style>
          <a:lnRef idx="0"/>
          <a:fillRef idx="0"/>
          <a:effectRef idx="0"/>
          <a:fontRef idx="minor"/>
        </p:style>
        <p:txBody>
          <a:bodyPr lIns="69480" rIns="69480" tIns="34920" bIns="34920" anchor="t">
            <a:spAutoFit/>
          </a:bodyPr>
          <a:p>
            <a:pPr>
              <a:lnSpc>
                <a:spcPct val="150000"/>
              </a:lnSpc>
              <a:spcBef>
                <a:spcPts val="1500"/>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2400" strike="noStrike" u="none">
                <a:solidFill>
                  <a:srgbClr val="ffffff"/>
                </a:solidFill>
                <a:effectLst/>
                <a:uFillTx/>
                <a:latin typeface="Arial Black"/>
              </a:rPr>
              <a:t>Deploy Workforce |</a:t>
            </a:r>
            <a:endParaRPr b="0" lang="en-IN" sz="2400" strike="noStrike" u="none">
              <a:solidFill>
                <a:srgbClr val="000000"/>
              </a:solidFill>
              <a:effectLst/>
              <a:uFillTx/>
              <a:latin typeface="Arial"/>
            </a:endParaRPr>
          </a:p>
        </p:txBody>
      </p:sp>
      <p:sp>
        <p:nvSpPr>
          <p:cNvPr id="187" name=""/>
          <p:cNvSpPr/>
          <p:nvPr/>
        </p:nvSpPr>
        <p:spPr>
          <a:xfrm>
            <a:off x="3276720" y="0"/>
            <a:ext cx="5562360" cy="5814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99"/>
                </a:solidFill>
                <a:effectLst/>
                <a:uFillTx/>
                <a:latin typeface="Arial Black"/>
              </a:rPr>
              <a:t>Employee time and talent is used effectively. Employees motivated.</a:t>
            </a:r>
            <a:endParaRPr b="0" lang="en-IN" sz="1600" strike="noStrike" u="none">
              <a:solidFill>
                <a:srgbClr val="000000"/>
              </a:solidFill>
              <a:effectLst/>
              <a:uFillTx/>
              <a:latin typeface="Arial"/>
            </a:endParaRPr>
          </a:p>
        </p:txBody>
      </p:sp>
      <p:sp>
        <p:nvSpPr>
          <p:cNvPr id="188" name=""/>
          <p:cNvSpPr/>
          <p:nvPr/>
        </p:nvSpPr>
        <p:spPr>
          <a:xfrm>
            <a:off x="0" y="0"/>
            <a:ext cx="27432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c0c0c0"/>
                </a:solidFill>
                <a:effectLst/>
                <a:uFillTx/>
                <a:latin typeface="Arial Black"/>
              </a:rPr>
              <a:t>HR Management Report category:</a:t>
            </a:r>
            <a:endParaRPr b="0" lang="en-IN" sz="1000" strike="noStrike" u="none">
              <a:solidFill>
                <a:srgbClr val="000000"/>
              </a:solidFill>
              <a:effectLst/>
              <a:uFillTx/>
              <a:latin typeface="Arial"/>
            </a:endParaRPr>
          </a:p>
        </p:txBody>
      </p:sp>
      <p:sp>
        <p:nvSpPr>
          <p:cNvPr id="189" name=""/>
          <p:cNvSpPr/>
          <p:nvPr/>
        </p:nvSpPr>
        <p:spPr>
          <a:xfrm>
            <a:off x="6553080" y="685800"/>
            <a:ext cx="2362320" cy="2224800"/>
          </a:xfrm>
          <a:prstGeom prst="rect">
            <a:avLst/>
          </a:prstGeom>
          <a:noFill/>
          <a:ln w="28440">
            <a:solidFill>
              <a:srgbClr val="000099"/>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Analysis/Action Steps:</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graphicFrame>
        <p:nvGraphicFramePr>
          <p:cNvPr id="190" name=""/>
          <p:cNvGraphicFramePr/>
          <p:nvPr/>
        </p:nvGraphicFramePr>
        <p:xfrm>
          <a:off x="2209680" y="1143000"/>
          <a:ext cx="3962520" cy="3200400"/>
        </p:xfrm>
        <a:graphic>
          <a:graphicData uri="http://schemas.openxmlformats.org/presentationml/2006/ole">
            <p:oleObj r:id="rId1" spid="">
              <p:embed/>
              <p:pic>
                <p:nvPicPr>
                  <p:cNvPr id="191" name="" descr=""/>
                  <p:cNvPicPr/>
                  <p:nvPr/>
                </p:nvPicPr>
                <p:blipFill>
                  <a:blip r:embed="rId2"/>
                  <a:stretch/>
                </p:blipFill>
                <p:spPr>
                  <a:xfrm>
                    <a:off x="2209680" y="1143000"/>
                    <a:ext cx="3962520" cy="3200400"/>
                  </a:xfrm>
                  <a:prstGeom prst="rect">
                    <a:avLst/>
                  </a:prstGeom>
                  <a:noFill/>
                  <a:ln w="0">
                    <a:noFill/>
                  </a:ln>
                </p:spPr>
              </p:pic>
            </p:oleObj>
          </a:graphicData>
        </a:graphic>
      </p:graphicFrame>
      <p:sp>
        <p:nvSpPr>
          <p:cNvPr id="192" name=""/>
          <p:cNvSpPr/>
          <p:nvPr/>
        </p:nvSpPr>
        <p:spPr>
          <a:xfrm>
            <a:off x="2209680" y="685800"/>
            <a:ext cx="4191120" cy="3505320"/>
          </a:xfrm>
          <a:prstGeom prst="rect">
            <a:avLst/>
          </a:prstGeom>
          <a:noFill/>
          <a:ln w="28440">
            <a:solidFill>
              <a:srgbClr val="000099"/>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93" name=""/>
          <p:cNvSpPr/>
          <p:nvPr/>
        </p:nvSpPr>
        <p:spPr>
          <a:xfrm>
            <a:off x="2819520" y="685800"/>
            <a:ext cx="2895480" cy="4600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Narrow"/>
              </a:rPr>
              <a:t>Average Sick Leave Use</a:t>
            </a:r>
            <a:br>
              <a:rPr sz="1400"/>
            </a:br>
            <a:r>
              <a:rPr b="0" lang="en-IN" sz="1000" strike="noStrike" u="none">
                <a:solidFill>
                  <a:srgbClr val="000000"/>
                </a:solidFill>
                <a:effectLst/>
                <a:uFillTx/>
                <a:latin typeface="Arial Narrow"/>
              </a:rPr>
              <a:t>(per capita)</a:t>
            </a:r>
            <a:endParaRPr b="0" lang="en-IN" sz="1000" strike="noStrike" u="none">
              <a:solidFill>
                <a:srgbClr val="000000"/>
              </a:solidFill>
              <a:effectLst/>
              <a:uFillTx/>
              <a:latin typeface="Arial"/>
            </a:endParaRPr>
          </a:p>
        </p:txBody>
      </p:sp>
      <p:sp>
        <p:nvSpPr>
          <p:cNvPr id="194" name=""/>
          <p:cNvSpPr/>
          <p:nvPr/>
        </p:nvSpPr>
        <p:spPr>
          <a:xfrm>
            <a:off x="304920" y="3124080"/>
            <a:ext cx="1523880" cy="551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Narrow"/>
              </a:rPr>
              <a:t>DOUBLE CLICK ON THE CHART TO ENTER YOUR AGENCY’S DATA</a:t>
            </a:r>
            <a:endParaRPr b="0" lang="en-IN" sz="1000" strike="noStrike" u="none">
              <a:solidFill>
                <a:srgbClr val="000000"/>
              </a:solidFill>
              <a:effectLst/>
              <a:uFillTx/>
              <a:latin typeface="Arial"/>
            </a:endParaRPr>
          </a:p>
        </p:txBody>
      </p:sp>
      <p:grpSp>
        <p:nvGrpSpPr>
          <p:cNvPr id="195" name=""/>
          <p:cNvGrpSpPr/>
          <p:nvPr/>
        </p:nvGrpSpPr>
        <p:grpSpPr>
          <a:xfrm>
            <a:off x="304920" y="4724280"/>
            <a:ext cx="6705000" cy="1524240"/>
            <a:chOff x="304920" y="4724280"/>
            <a:chExt cx="6705000" cy="1524240"/>
          </a:xfrm>
        </p:grpSpPr>
        <p:sp>
          <p:nvSpPr>
            <p:cNvPr id="196" name=""/>
            <p:cNvSpPr/>
            <p:nvPr/>
          </p:nvSpPr>
          <p:spPr>
            <a:xfrm>
              <a:off x="5940360" y="5910120"/>
              <a:ext cx="1069560" cy="33804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97" name=""/>
            <p:cNvSpPr/>
            <p:nvPr/>
          </p:nvSpPr>
          <p:spPr>
            <a:xfrm>
              <a:off x="5197680" y="5910120"/>
              <a:ext cx="742320" cy="338040"/>
            </a:xfrm>
            <a:prstGeom prst="rect">
              <a:avLst/>
            </a:prstGeom>
            <a:noFill/>
            <a:ln w="0">
              <a:noFill/>
            </a:ln>
          </p:spPr>
          <p:style>
            <a:lnRef idx="0"/>
            <a:fillRef idx="0"/>
            <a:effectRef idx="0"/>
            <a:fontRef idx="minor"/>
          </p:style>
          <p:txBody>
            <a:bodyPr lIns="90000" rIns="90000" tIns="46800" bIns="46800" anchor="t">
              <a:normAutofit fontScale="85000" lnSpcReduction="9999"/>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98" name=""/>
            <p:cNvSpPr/>
            <p:nvPr/>
          </p:nvSpPr>
          <p:spPr>
            <a:xfrm>
              <a:off x="4439160" y="5910120"/>
              <a:ext cx="758520" cy="33804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99" name=""/>
            <p:cNvSpPr/>
            <p:nvPr/>
          </p:nvSpPr>
          <p:spPr>
            <a:xfrm>
              <a:off x="3401640" y="5910120"/>
              <a:ext cx="1037520" cy="33804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200" name=""/>
            <p:cNvSpPr/>
            <p:nvPr/>
          </p:nvSpPr>
          <p:spPr>
            <a:xfrm>
              <a:off x="2658600" y="5910120"/>
              <a:ext cx="743040" cy="338040"/>
            </a:xfrm>
            <a:prstGeom prst="rect">
              <a:avLst/>
            </a:prstGeom>
            <a:noFill/>
            <a:ln w="0">
              <a:noFill/>
            </a:ln>
          </p:spPr>
          <p:style>
            <a:lnRef idx="0"/>
            <a:fillRef idx="0"/>
            <a:effectRef idx="0"/>
            <a:fontRef idx="minor"/>
          </p:style>
          <p:txBody>
            <a:bodyPr lIns="90000" rIns="90000" tIns="46800" bIns="46800" anchor="t">
              <a:normAutofit fontScale="85000" lnSpcReduction="9999"/>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201" name=""/>
            <p:cNvSpPr/>
            <p:nvPr/>
          </p:nvSpPr>
          <p:spPr>
            <a:xfrm>
              <a:off x="1929600" y="5910120"/>
              <a:ext cx="728640" cy="33804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202" name=""/>
            <p:cNvSpPr/>
            <p:nvPr/>
          </p:nvSpPr>
          <p:spPr>
            <a:xfrm>
              <a:off x="304920" y="5910120"/>
              <a:ext cx="1624680" cy="338040"/>
            </a:xfrm>
            <a:prstGeom prst="rect">
              <a:avLst/>
            </a:prstGeom>
            <a:noFill/>
            <a:ln w="0">
              <a:noFill/>
            </a:ln>
          </p:spPr>
          <p:style>
            <a:lnRef idx="0"/>
            <a:fillRef idx="0"/>
            <a:effectRef idx="0"/>
            <a:fontRef idx="minor"/>
          </p:style>
          <p:txBody>
            <a:bodyPr lIns="90000" rIns="90000" tIns="46800" bIns="46800" anchor="t">
              <a:normAutofit fontScale="85000" lnSpcReduction="9999"/>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203" name=""/>
            <p:cNvSpPr/>
            <p:nvPr/>
          </p:nvSpPr>
          <p:spPr>
            <a:xfrm>
              <a:off x="5940360" y="5655240"/>
              <a:ext cx="1069560" cy="25452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333399"/>
                  </a:solidFill>
                  <a:effectLst/>
                  <a:uFillTx/>
                  <a:latin typeface="Arial Narrow"/>
                  <a:ea typeface="Arial"/>
                </a:rPr>
                <a:t>72%</a:t>
              </a:r>
              <a:endParaRPr b="0" lang="en-IN" sz="12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204" name=""/>
            <p:cNvSpPr/>
            <p:nvPr/>
          </p:nvSpPr>
          <p:spPr>
            <a:xfrm>
              <a:off x="5197680" y="5655240"/>
              <a:ext cx="742320" cy="25452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333399"/>
                  </a:solidFill>
                  <a:effectLst/>
                  <a:uFillTx/>
                  <a:latin typeface="Arial Narrow"/>
                  <a:ea typeface="Arial"/>
                </a:rPr>
                <a:t>hours</a:t>
              </a:r>
              <a:endParaRPr b="0" lang="en-IN" sz="1200" strike="noStrike" u="none">
                <a:solidFill>
                  <a:srgbClr val="000000"/>
                </a:solidFill>
                <a:effectLst/>
                <a:uFillTx/>
                <a:latin typeface="Arial"/>
              </a:endParaRPr>
            </a:p>
          </p:txBody>
        </p:sp>
        <p:sp>
          <p:nvSpPr>
            <p:cNvPr id="205" name=""/>
            <p:cNvSpPr/>
            <p:nvPr/>
          </p:nvSpPr>
          <p:spPr>
            <a:xfrm>
              <a:off x="4439160" y="5655240"/>
              <a:ext cx="758520" cy="25452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333399"/>
                  </a:solidFill>
                  <a:effectLst/>
                  <a:uFillTx/>
                  <a:latin typeface="Arial Narrow"/>
                  <a:ea typeface="Arial"/>
                </a:rPr>
                <a:t>22.4</a:t>
              </a:r>
              <a:endParaRPr b="0" lang="en-IN" sz="1200" strike="noStrike" u="none">
                <a:solidFill>
                  <a:srgbClr val="000000"/>
                </a:solidFill>
                <a:effectLst/>
                <a:uFillTx/>
                <a:latin typeface="Arial"/>
              </a:endParaRPr>
            </a:p>
          </p:txBody>
        </p:sp>
        <p:sp>
          <p:nvSpPr>
            <p:cNvPr id="206" name=""/>
            <p:cNvSpPr/>
            <p:nvPr/>
          </p:nvSpPr>
          <p:spPr>
            <a:xfrm>
              <a:off x="3401640" y="5655240"/>
              <a:ext cx="1037520" cy="25452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333399"/>
                  </a:solidFill>
                  <a:effectLst/>
                  <a:uFillTx/>
                  <a:latin typeface="Arial Narrow"/>
                  <a:ea typeface="Arial"/>
                </a:rPr>
                <a:t>71%</a:t>
              </a:r>
              <a:endParaRPr b="0" lang="en-IN" sz="1200" strike="noStrike" u="none">
                <a:solidFill>
                  <a:srgbClr val="000000"/>
                </a:solidFill>
                <a:effectLst/>
                <a:uFillTx/>
                <a:latin typeface="Arial"/>
              </a:endParaRPr>
            </a:p>
          </p:txBody>
        </p:sp>
        <p:sp>
          <p:nvSpPr>
            <p:cNvPr id="207" name=""/>
            <p:cNvSpPr/>
            <p:nvPr/>
          </p:nvSpPr>
          <p:spPr>
            <a:xfrm>
              <a:off x="2658600" y="5655240"/>
              <a:ext cx="743040" cy="25452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333399"/>
                  </a:solidFill>
                  <a:effectLst/>
                  <a:uFillTx/>
                  <a:latin typeface="Arial Narrow"/>
                  <a:ea typeface="Arial"/>
                </a:rPr>
                <a:t>hours</a:t>
              </a:r>
              <a:endParaRPr b="0" lang="en-IN" sz="1200" strike="noStrike" u="none">
                <a:solidFill>
                  <a:srgbClr val="000000"/>
                </a:solidFill>
                <a:effectLst/>
                <a:uFillTx/>
                <a:latin typeface="Arial"/>
              </a:endParaRPr>
            </a:p>
          </p:txBody>
        </p:sp>
        <p:sp>
          <p:nvSpPr>
            <p:cNvPr id="208" name=""/>
            <p:cNvSpPr/>
            <p:nvPr/>
          </p:nvSpPr>
          <p:spPr>
            <a:xfrm>
              <a:off x="1929600" y="5655240"/>
              <a:ext cx="728640" cy="25452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333399"/>
                  </a:solidFill>
                  <a:effectLst/>
                  <a:uFillTx/>
                  <a:latin typeface="Arial Narrow"/>
                  <a:ea typeface="Arial"/>
                </a:rPr>
                <a:t>12.6</a:t>
              </a:r>
              <a:endParaRPr b="0" lang="en-IN" sz="1200" strike="noStrike" u="none">
                <a:solidFill>
                  <a:srgbClr val="000000"/>
                </a:solidFill>
                <a:effectLst/>
                <a:uFillTx/>
                <a:latin typeface="Arial"/>
              </a:endParaRPr>
            </a:p>
          </p:txBody>
        </p:sp>
        <p:sp>
          <p:nvSpPr>
            <p:cNvPr id="209" name=""/>
            <p:cNvSpPr/>
            <p:nvPr/>
          </p:nvSpPr>
          <p:spPr>
            <a:xfrm>
              <a:off x="304920" y="5655240"/>
              <a:ext cx="1624680" cy="25452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333399"/>
                  </a:solidFill>
                  <a:effectLst/>
                  <a:uFillTx/>
                  <a:latin typeface="Arial Narrow"/>
                  <a:ea typeface="Arial"/>
                </a:rPr>
                <a:t>Gambling Commission</a:t>
              </a:r>
              <a:endParaRPr b="0" lang="en-IN" sz="1200" strike="noStrike" u="none">
                <a:solidFill>
                  <a:srgbClr val="000000"/>
                </a:solidFill>
                <a:effectLst/>
                <a:uFillTx/>
                <a:latin typeface="Arial"/>
              </a:endParaRPr>
            </a:p>
          </p:txBody>
        </p:sp>
        <p:sp>
          <p:nvSpPr>
            <p:cNvPr id="210" name=""/>
            <p:cNvSpPr/>
            <p:nvPr/>
          </p:nvSpPr>
          <p:spPr>
            <a:xfrm>
              <a:off x="5940360" y="5400720"/>
              <a:ext cx="1069560" cy="25452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ea typeface="Arial"/>
                </a:rPr>
                <a:t>95%</a:t>
              </a:r>
              <a:endParaRPr b="0" lang="en-IN" sz="1200" strike="noStrike" u="none">
                <a:solidFill>
                  <a:srgbClr val="000000"/>
                </a:solidFill>
                <a:effectLst/>
                <a:uFillTx/>
                <a:latin typeface="Arial"/>
              </a:endParaRPr>
            </a:p>
          </p:txBody>
        </p:sp>
        <p:sp>
          <p:nvSpPr>
            <p:cNvPr id="211" name=""/>
            <p:cNvSpPr/>
            <p:nvPr/>
          </p:nvSpPr>
          <p:spPr>
            <a:xfrm>
              <a:off x="5197680" y="5400720"/>
              <a:ext cx="742320" cy="25452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ea typeface="Arial"/>
                </a:rPr>
                <a:t>hours</a:t>
              </a:r>
              <a:endParaRPr b="0" lang="en-IN" sz="1200" strike="noStrike" u="none">
                <a:solidFill>
                  <a:srgbClr val="000000"/>
                </a:solidFill>
                <a:effectLst/>
                <a:uFillTx/>
                <a:latin typeface="Arial"/>
              </a:endParaRPr>
            </a:p>
          </p:txBody>
        </p:sp>
        <p:sp>
          <p:nvSpPr>
            <p:cNvPr id="212" name=""/>
            <p:cNvSpPr/>
            <p:nvPr/>
          </p:nvSpPr>
          <p:spPr>
            <a:xfrm>
              <a:off x="4439160" y="5400720"/>
              <a:ext cx="758520" cy="25452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ea typeface="Arial"/>
                </a:rPr>
                <a:t>22.9</a:t>
              </a:r>
              <a:endParaRPr b="0" lang="en-IN" sz="1200" strike="noStrike" u="none">
                <a:solidFill>
                  <a:srgbClr val="000000"/>
                </a:solidFill>
                <a:effectLst/>
                <a:uFillTx/>
                <a:latin typeface="Arial"/>
              </a:endParaRPr>
            </a:p>
          </p:txBody>
        </p:sp>
        <p:sp>
          <p:nvSpPr>
            <p:cNvPr id="213" name=""/>
            <p:cNvSpPr/>
            <p:nvPr/>
          </p:nvSpPr>
          <p:spPr>
            <a:xfrm>
              <a:off x="3401640" y="5400720"/>
              <a:ext cx="1037520" cy="25452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ea typeface="Arial"/>
                </a:rPr>
                <a:t>74%</a:t>
              </a:r>
              <a:endParaRPr b="0" lang="en-IN" sz="1200" strike="noStrike" u="none">
                <a:solidFill>
                  <a:srgbClr val="000000"/>
                </a:solidFill>
                <a:effectLst/>
                <a:uFillTx/>
                <a:latin typeface="Arial"/>
              </a:endParaRPr>
            </a:p>
          </p:txBody>
        </p:sp>
        <p:sp>
          <p:nvSpPr>
            <p:cNvPr id="214" name=""/>
            <p:cNvSpPr/>
            <p:nvPr/>
          </p:nvSpPr>
          <p:spPr>
            <a:xfrm>
              <a:off x="2658600" y="5400720"/>
              <a:ext cx="743040" cy="25452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ea typeface="Arial"/>
                </a:rPr>
                <a:t>hours</a:t>
              </a:r>
              <a:endParaRPr b="0" lang="en-IN" sz="1200" strike="noStrike" u="none">
                <a:solidFill>
                  <a:srgbClr val="000000"/>
                </a:solidFill>
                <a:effectLst/>
                <a:uFillTx/>
                <a:latin typeface="Arial"/>
              </a:endParaRPr>
            </a:p>
          </p:txBody>
        </p:sp>
        <p:sp>
          <p:nvSpPr>
            <p:cNvPr id="215" name=""/>
            <p:cNvSpPr/>
            <p:nvPr/>
          </p:nvSpPr>
          <p:spPr>
            <a:xfrm>
              <a:off x="1929600" y="5400720"/>
              <a:ext cx="728640" cy="25452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ea typeface="Arial"/>
                </a:rPr>
                <a:t>17.9</a:t>
              </a:r>
              <a:endParaRPr b="0" lang="en-IN" sz="1200" strike="noStrike" u="none">
                <a:solidFill>
                  <a:srgbClr val="000000"/>
                </a:solidFill>
                <a:effectLst/>
                <a:uFillTx/>
                <a:latin typeface="Arial"/>
              </a:endParaRPr>
            </a:p>
          </p:txBody>
        </p:sp>
        <p:sp>
          <p:nvSpPr>
            <p:cNvPr id="216" name=""/>
            <p:cNvSpPr/>
            <p:nvPr/>
          </p:nvSpPr>
          <p:spPr>
            <a:xfrm>
              <a:off x="304920" y="5400720"/>
              <a:ext cx="1624680" cy="25452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ea typeface="Arial"/>
                </a:rPr>
                <a:t>Statewide</a:t>
              </a:r>
              <a:endParaRPr b="0" lang="en-IN" sz="1200" strike="noStrike" u="none">
                <a:solidFill>
                  <a:srgbClr val="000000"/>
                </a:solidFill>
                <a:effectLst/>
                <a:uFillTx/>
                <a:latin typeface="Arial"/>
              </a:endParaRPr>
            </a:p>
          </p:txBody>
        </p:sp>
        <p:sp>
          <p:nvSpPr>
            <p:cNvPr id="217" name=""/>
            <p:cNvSpPr/>
            <p:nvPr/>
          </p:nvSpPr>
          <p:spPr>
            <a:xfrm>
              <a:off x="5940360" y="4978440"/>
              <a:ext cx="1069560" cy="42228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ea typeface="Arial"/>
                </a:rPr>
                <a:t>% of Earned Sick Leave</a:t>
              </a:r>
              <a:endParaRPr b="0" lang="en-IN" sz="1200" strike="noStrike" u="none">
                <a:solidFill>
                  <a:srgbClr val="000000"/>
                </a:solidFill>
                <a:effectLst/>
                <a:uFillTx/>
                <a:latin typeface="Arial"/>
              </a:endParaRPr>
            </a:p>
          </p:txBody>
        </p:sp>
        <p:sp>
          <p:nvSpPr>
            <p:cNvPr id="218" name=""/>
            <p:cNvSpPr/>
            <p:nvPr/>
          </p:nvSpPr>
          <p:spPr>
            <a:xfrm>
              <a:off x="4439160" y="4978440"/>
              <a:ext cx="1501200" cy="42228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ea typeface="Arial"/>
                </a:rPr>
                <a:t>Ave. Sick Leave Hours Used per Qtr*</a:t>
              </a:r>
              <a:endParaRPr b="0" lang="en-IN" sz="1200" strike="noStrike" u="none">
                <a:solidFill>
                  <a:srgbClr val="000000"/>
                </a:solidFill>
                <a:effectLst/>
                <a:uFillTx/>
                <a:latin typeface="Arial"/>
              </a:endParaRPr>
            </a:p>
          </p:txBody>
        </p:sp>
        <p:sp>
          <p:nvSpPr>
            <p:cNvPr id="219" name=""/>
            <p:cNvSpPr/>
            <p:nvPr/>
          </p:nvSpPr>
          <p:spPr>
            <a:xfrm>
              <a:off x="3401640" y="4978440"/>
              <a:ext cx="1037520" cy="42228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ea typeface="Arial"/>
                </a:rPr>
                <a:t>% of Earned Sick Leave</a:t>
              </a:r>
              <a:endParaRPr b="0" lang="en-IN" sz="1200" strike="noStrike" u="none">
                <a:solidFill>
                  <a:srgbClr val="000000"/>
                </a:solidFill>
                <a:effectLst/>
                <a:uFillTx/>
                <a:latin typeface="Arial"/>
              </a:endParaRPr>
            </a:p>
          </p:txBody>
        </p:sp>
        <p:sp>
          <p:nvSpPr>
            <p:cNvPr id="220" name=""/>
            <p:cNvSpPr/>
            <p:nvPr/>
          </p:nvSpPr>
          <p:spPr>
            <a:xfrm>
              <a:off x="1929600" y="4978440"/>
              <a:ext cx="1471680" cy="42228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ea typeface="Arial"/>
                </a:rPr>
                <a:t>Ave. Sick Leave Hours Used per Qtr*</a:t>
              </a:r>
              <a:endParaRPr b="0" lang="en-IN" sz="1200" strike="noStrike" u="none">
                <a:solidFill>
                  <a:srgbClr val="000000"/>
                </a:solidFill>
                <a:effectLst/>
                <a:uFillTx/>
                <a:latin typeface="Arial"/>
              </a:endParaRPr>
            </a:p>
          </p:txBody>
        </p:sp>
        <p:sp>
          <p:nvSpPr>
            <p:cNvPr id="221" name=""/>
            <p:cNvSpPr/>
            <p:nvPr/>
          </p:nvSpPr>
          <p:spPr>
            <a:xfrm>
              <a:off x="304920" y="4978440"/>
              <a:ext cx="1624680" cy="422280"/>
            </a:xfrm>
            <a:prstGeom prst="rect">
              <a:avLst/>
            </a:prstGeom>
            <a:noFill/>
            <a:ln w="0">
              <a:noFill/>
            </a:ln>
          </p:spPr>
          <p:style>
            <a:lnRef idx="0"/>
            <a:fillRef idx="0"/>
            <a:effectRef idx="0"/>
            <a:fontRef idx="minor"/>
          </p:style>
          <p:txBody>
            <a:bodyPr lIns="90000" rIns="90000" tIns="46800" bIns="46800" anchor="t">
              <a:norm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ea typeface="Arial"/>
                </a:rPr>
                <a:t> </a:t>
              </a:r>
              <a:endParaRPr b="0" lang="en-IN" sz="1200" strike="noStrike" u="none">
                <a:solidFill>
                  <a:srgbClr val="000000"/>
                </a:solidFill>
                <a:effectLst/>
                <a:uFillTx/>
                <a:latin typeface="Arial"/>
              </a:endParaRPr>
            </a:p>
          </p:txBody>
        </p:sp>
        <p:sp>
          <p:nvSpPr>
            <p:cNvPr id="222" name=""/>
            <p:cNvSpPr/>
            <p:nvPr/>
          </p:nvSpPr>
          <p:spPr>
            <a:xfrm>
              <a:off x="4439160" y="4724280"/>
              <a:ext cx="2570760" cy="25416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Narrow"/>
                  <a:ea typeface="Arial"/>
                </a:rPr>
                <a:t>Just Those Who Took Sick Leave</a:t>
              </a:r>
              <a:endParaRPr b="0" lang="en-IN" sz="1200" strike="noStrike" u="none">
                <a:solidFill>
                  <a:srgbClr val="000000"/>
                </a:solidFill>
                <a:effectLst/>
                <a:uFillTx/>
                <a:latin typeface="Arial"/>
              </a:endParaRPr>
            </a:p>
          </p:txBody>
        </p:sp>
        <p:sp>
          <p:nvSpPr>
            <p:cNvPr id="223" name=""/>
            <p:cNvSpPr/>
            <p:nvPr/>
          </p:nvSpPr>
          <p:spPr>
            <a:xfrm>
              <a:off x="1929600" y="4724280"/>
              <a:ext cx="2509200" cy="25416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Narrow"/>
                  <a:ea typeface="Arial"/>
                </a:rPr>
                <a:t>Per Capita Sick Leave Use</a:t>
              </a:r>
              <a:endParaRPr b="0" lang="en-IN" sz="1200" strike="noStrike" u="none">
                <a:solidFill>
                  <a:srgbClr val="000000"/>
                </a:solidFill>
                <a:effectLst/>
                <a:uFillTx/>
                <a:latin typeface="Arial"/>
              </a:endParaRPr>
            </a:p>
          </p:txBody>
        </p:sp>
        <p:sp>
          <p:nvSpPr>
            <p:cNvPr id="224" name=""/>
            <p:cNvSpPr/>
            <p:nvPr/>
          </p:nvSpPr>
          <p:spPr>
            <a:xfrm>
              <a:off x="304920" y="4724280"/>
              <a:ext cx="1624680" cy="254160"/>
            </a:xfrm>
            <a:prstGeom prst="rect">
              <a:avLst/>
            </a:prstGeom>
            <a:noFill/>
            <a:ln w="0">
              <a:noFill/>
            </a:ln>
          </p:spPr>
          <p:style>
            <a:lnRef idx="0"/>
            <a:fillRef idx="0"/>
            <a:effectRef idx="0"/>
            <a:fontRef idx="minor"/>
          </p:style>
          <p:txBody>
            <a:bodyPr lIns="90000" rIns="90000" tIns="46800" bIns="46800" anchor="t">
              <a:normAutofit fontScale="85000" lnSpcReduction="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ea typeface="Arial"/>
                </a:rPr>
                <a:t> </a:t>
              </a:r>
              <a:endParaRPr b="0" lang="en-IN" sz="1200" strike="noStrike" u="none">
                <a:solidFill>
                  <a:srgbClr val="000000"/>
                </a:solidFill>
                <a:effectLst/>
                <a:uFillTx/>
                <a:latin typeface="Arial"/>
              </a:endParaRPr>
            </a:p>
          </p:txBody>
        </p:sp>
        <p:sp>
          <p:nvSpPr>
            <p:cNvPr id="225" name=""/>
            <p:cNvSpPr/>
            <p:nvPr/>
          </p:nvSpPr>
          <p:spPr>
            <a:xfrm>
              <a:off x="304920" y="4724280"/>
              <a:ext cx="6705000" cy="0"/>
            </a:xfrm>
            <a:prstGeom prst="line">
              <a:avLst/>
            </a:prstGeom>
            <a:ln cap="rnd" w="1260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26" name=""/>
            <p:cNvSpPr/>
            <p:nvPr/>
          </p:nvSpPr>
          <p:spPr>
            <a:xfrm>
              <a:off x="304920" y="6248520"/>
              <a:ext cx="6705000" cy="0"/>
            </a:xfrm>
            <a:prstGeom prst="line">
              <a:avLst/>
            </a:prstGeom>
            <a:ln cap="rnd" w="1260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27" name=""/>
            <p:cNvSpPr/>
            <p:nvPr/>
          </p:nvSpPr>
          <p:spPr>
            <a:xfrm>
              <a:off x="304920" y="4724280"/>
              <a:ext cx="0" cy="1524240"/>
            </a:xfrm>
            <a:prstGeom prst="line">
              <a:avLst/>
            </a:prstGeom>
            <a:ln cap="rnd" w="1260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28" name=""/>
            <p:cNvSpPr/>
            <p:nvPr/>
          </p:nvSpPr>
          <p:spPr>
            <a:xfrm>
              <a:off x="7009920" y="4724280"/>
              <a:ext cx="0" cy="1524240"/>
            </a:xfrm>
            <a:prstGeom prst="line">
              <a:avLst/>
            </a:prstGeom>
            <a:ln cap="rnd" w="1260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29" name=""/>
            <p:cNvSpPr/>
            <p:nvPr/>
          </p:nvSpPr>
          <p:spPr>
            <a:xfrm>
              <a:off x="1929600" y="4724280"/>
              <a:ext cx="0" cy="1524240"/>
            </a:xfrm>
            <a:prstGeom prst="line">
              <a:avLst/>
            </a:prstGeom>
            <a:ln cap="rnd" w="1260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30" name=""/>
            <p:cNvSpPr/>
            <p:nvPr/>
          </p:nvSpPr>
          <p:spPr>
            <a:xfrm>
              <a:off x="4439160" y="4724280"/>
              <a:ext cx="0" cy="1524240"/>
            </a:xfrm>
            <a:prstGeom prst="line">
              <a:avLst/>
            </a:prstGeom>
            <a:ln cap="rnd" w="1260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31" name=""/>
            <p:cNvSpPr/>
            <p:nvPr/>
          </p:nvSpPr>
          <p:spPr>
            <a:xfrm>
              <a:off x="304920" y="5400720"/>
              <a:ext cx="6705000" cy="0"/>
            </a:xfrm>
            <a:prstGeom prst="line">
              <a:avLst/>
            </a:prstGeom>
            <a:ln cap="rnd" w="1260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
        <p:nvSpPr>
          <p:cNvPr id="232" name=""/>
          <p:cNvSpPr/>
          <p:nvPr/>
        </p:nvSpPr>
        <p:spPr>
          <a:xfrm>
            <a:off x="457200" y="6324480"/>
            <a:ext cx="22860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Average since July 03</a:t>
            </a:r>
            <a:endParaRPr b="0" lang="en-IN" sz="1000" strike="noStrike" u="none">
              <a:solidFill>
                <a:srgbClr val="000000"/>
              </a:solidFill>
              <a:effectLst/>
              <a:uFillTx/>
              <a:latin typeface="Arial"/>
            </a:endParaRPr>
          </a:p>
        </p:txBody>
      </p:sp>
      <p:sp>
        <p:nvSpPr>
          <p:cNvPr id="2" name="PlaceHolder 1"/>
          <p:cNvSpPr>
            <a:spLocks noGrp="1"/>
          </p:cNvSpPr>
          <p:nvPr>
            <p:ph type="sldNum" idx="3"/>
          </p:nvPr>
        </p:nvSpPr>
        <p:spPr/>
        <p:txBody>
          <a:bodyPr/>
          <a:p>
            <a:fld id="{7A0C16C3-E5C3-43B8-91AB-BE4DD7839F64}"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3" name=""/>
          <p:cNvSpPr/>
          <p:nvPr/>
        </p:nvSpPr>
        <p:spPr>
          <a:xfrm>
            <a:off x="0" y="2209680"/>
            <a:ext cx="2057400" cy="533520"/>
          </a:xfrm>
          <a:prstGeom prst="rect">
            <a:avLst/>
          </a:prstGeom>
          <a:solidFill>
            <a:srgbClr val="ffff66"/>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234" name=""/>
          <p:cNvSpPr/>
          <p:nvPr/>
        </p:nvSpPr>
        <p:spPr>
          <a:xfrm>
            <a:off x="0" y="685800"/>
            <a:ext cx="2057400" cy="1752480"/>
          </a:xfrm>
          <a:prstGeom prst="rect">
            <a:avLst/>
          </a:prstGeom>
          <a:noFill/>
          <a:ln w="0">
            <a:noFill/>
          </a:ln>
        </p:spPr>
        <p:style>
          <a:lnRef idx="0"/>
          <a:fillRef idx="0"/>
          <a:effectRef idx="0"/>
          <a:fontRef idx="minor"/>
        </p:style>
        <p:txBody>
          <a:bodyPr lIns="90000" rIns="90000" tIns="46800" bIns="46800" anchor="t">
            <a:normAutofit fontScale="92500" lnSpcReduction="9999"/>
          </a:bodyPr>
          <a:p>
            <a:pPr marL="228600" indent="-228600">
              <a:lnSpc>
                <a:spcPct val="10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Black"/>
              </a:rPr>
              <a:t>Performance Measures </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Percent employees with current performance expectations</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Employee survey ratings on “productive workplace” questions</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Overtime usage</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Sick leave usage</a:t>
            </a:r>
            <a:endParaRPr b="0" lang="en-IN" sz="1100" strike="noStrike" u="none">
              <a:solidFill>
                <a:srgbClr val="000000"/>
              </a:solidFill>
              <a:effectLst/>
              <a:uFillTx/>
              <a:latin typeface="Arial"/>
            </a:endParaRPr>
          </a:p>
          <a:p>
            <a:pPr marL="228600" indent="-228600">
              <a:lnSpc>
                <a:spcPct val="100000"/>
              </a:lnSpc>
              <a:spcBef>
                <a:spcPts val="275"/>
              </a:spcBef>
              <a:buClr>
                <a:srgbClr val="333399"/>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99"/>
                </a:solidFill>
                <a:effectLst/>
                <a:uFillTx/>
                <a:latin typeface="Arial Narrow"/>
              </a:rPr>
              <a:t>Number &amp; type of non-disciplinary grievances and disposition</a:t>
            </a:r>
            <a:endParaRPr b="0" lang="en-IN" sz="1100" strike="noStrike" u="none">
              <a:solidFill>
                <a:srgbClr val="000000"/>
              </a:solidFill>
              <a:effectLst/>
              <a:uFillTx/>
              <a:latin typeface="Arial"/>
            </a:endParaRPr>
          </a:p>
        </p:txBody>
      </p:sp>
      <p:sp>
        <p:nvSpPr>
          <p:cNvPr id="235" name=""/>
          <p:cNvSpPr/>
          <p:nvPr/>
        </p:nvSpPr>
        <p:spPr>
          <a:xfrm>
            <a:off x="0" y="0"/>
            <a:ext cx="9144000" cy="618840"/>
          </a:xfrm>
          <a:prstGeom prst="rect">
            <a:avLst/>
          </a:prstGeom>
          <a:gradFill rotWithShape="0">
            <a:gsLst>
              <a:gs pos="0">
                <a:srgbClr val="ffffff"/>
              </a:gs>
              <a:gs pos="100000">
                <a:srgbClr val="000099"/>
              </a:gs>
            </a:gsLst>
            <a:lin ang="10800000"/>
          </a:gradFill>
          <a:ln w="0">
            <a:noFill/>
          </a:ln>
        </p:spPr>
        <p:style>
          <a:lnRef idx="0"/>
          <a:fillRef idx="0"/>
          <a:effectRef idx="0"/>
          <a:fontRef idx="minor"/>
        </p:style>
        <p:txBody>
          <a:bodyPr lIns="69480" rIns="69480" tIns="34920" bIns="34920" anchor="t">
            <a:spAutoFit/>
          </a:bodyPr>
          <a:p>
            <a:pPr>
              <a:lnSpc>
                <a:spcPct val="150000"/>
              </a:lnSpc>
              <a:spcBef>
                <a:spcPts val="1500"/>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2400" strike="noStrike" u="none">
                <a:solidFill>
                  <a:srgbClr val="ffffff"/>
                </a:solidFill>
                <a:effectLst/>
                <a:uFillTx/>
                <a:latin typeface="Arial Black"/>
              </a:rPr>
              <a:t>Deploy Workforce |</a:t>
            </a:r>
            <a:endParaRPr b="0" lang="en-IN" sz="2400" strike="noStrike" u="none">
              <a:solidFill>
                <a:srgbClr val="000000"/>
              </a:solidFill>
              <a:effectLst/>
              <a:uFillTx/>
              <a:latin typeface="Arial"/>
            </a:endParaRPr>
          </a:p>
        </p:txBody>
      </p:sp>
      <p:sp>
        <p:nvSpPr>
          <p:cNvPr id="236" name=""/>
          <p:cNvSpPr/>
          <p:nvPr/>
        </p:nvSpPr>
        <p:spPr>
          <a:xfrm>
            <a:off x="3276720" y="0"/>
            <a:ext cx="5562360" cy="5814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99"/>
                </a:solidFill>
                <a:effectLst/>
                <a:uFillTx/>
                <a:latin typeface="Arial Black"/>
              </a:rPr>
              <a:t>Employee time and talent is used effectively. Employees motivated.</a:t>
            </a:r>
            <a:endParaRPr b="0" lang="en-IN" sz="1600" strike="noStrike" u="none">
              <a:solidFill>
                <a:srgbClr val="000000"/>
              </a:solidFill>
              <a:effectLst/>
              <a:uFillTx/>
              <a:latin typeface="Arial"/>
            </a:endParaRPr>
          </a:p>
        </p:txBody>
      </p:sp>
      <p:sp>
        <p:nvSpPr>
          <p:cNvPr id="237" name=""/>
          <p:cNvSpPr/>
          <p:nvPr/>
        </p:nvSpPr>
        <p:spPr>
          <a:xfrm>
            <a:off x="0" y="0"/>
            <a:ext cx="27432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c0c0c0"/>
                </a:solidFill>
                <a:effectLst/>
                <a:uFillTx/>
                <a:latin typeface="Arial Black"/>
              </a:rPr>
              <a:t>HR Management Report category:</a:t>
            </a:r>
            <a:endParaRPr b="0" lang="en-IN" sz="1000" strike="noStrike" u="none">
              <a:solidFill>
                <a:srgbClr val="000000"/>
              </a:solidFill>
              <a:effectLst/>
              <a:uFillTx/>
              <a:latin typeface="Arial"/>
            </a:endParaRPr>
          </a:p>
        </p:txBody>
      </p:sp>
      <p:sp>
        <p:nvSpPr>
          <p:cNvPr id="238" name=""/>
          <p:cNvSpPr/>
          <p:nvPr/>
        </p:nvSpPr>
        <p:spPr>
          <a:xfrm>
            <a:off x="6019920" y="3809880"/>
            <a:ext cx="2895480" cy="2056680"/>
          </a:xfrm>
          <a:prstGeom prst="rect">
            <a:avLst/>
          </a:prstGeom>
          <a:noFill/>
          <a:ln w="28440">
            <a:solidFill>
              <a:srgbClr val="000099"/>
            </a:solidFill>
            <a:miter/>
          </a:ln>
        </p:spPr>
        <p:style>
          <a:lnRef idx="0"/>
          <a:fillRef idx="0"/>
          <a:effectRef idx="0"/>
          <a:fontRef idx="minor"/>
        </p:style>
        <p:txBody>
          <a:bodyPr lIns="90000" rIns="90000" tIns="46800" bIns="46800" anchor="t">
            <a:spAutoFit/>
          </a:bodyPr>
          <a:p>
            <a:pPr marL="168120" indent="-168120"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Narrow"/>
              </a:rPr>
              <a:t>Grievance Disposition</a:t>
            </a:r>
            <a:endParaRPr b="0" lang="en-IN" sz="14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Our agency is non-represented. The charts reflect three (3) non-disciplinary actions during this past fiscal year – all on attendance.  There have been no formal complaints filed.  </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239" name=""/>
          <p:cNvSpPr/>
          <p:nvPr/>
        </p:nvSpPr>
        <p:spPr>
          <a:xfrm>
            <a:off x="2209680" y="685800"/>
            <a:ext cx="5486400" cy="2971800"/>
          </a:xfrm>
          <a:prstGeom prst="rect">
            <a:avLst/>
          </a:prstGeom>
          <a:noFill/>
          <a:ln w="28440">
            <a:solidFill>
              <a:srgbClr val="000099"/>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240" name=""/>
          <p:cNvSpPr/>
          <p:nvPr/>
        </p:nvSpPr>
        <p:spPr>
          <a:xfrm>
            <a:off x="3352680" y="762120"/>
            <a:ext cx="289584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Narrow"/>
              </a:rPr>
              <a:t>Number of Grievances</a:t>
            </a:r>
            <a:endParaRPr b="0" lang="en-IN" sz="1400" strike="noStrike" u="none">
              <a:solidFill>
                <a:srgbClr val="000000"/>
              </a:solidFill>
              <a:effectLst/>
              <a:uFillTx/>
              <a:latin typeface="Arial"/>
            </a:endParaRPr>
          </a:p>
        </p:txBody>
      </p:sp>
      <p:sp>
        <p:nvSpPr>
          <p:cNvPr id="241" name=""/>
          <p:cNvSpPr/>
          <p:nvPr/>
        </p:nvSpPr>
        <p:spPr>
          <a:xfrm>
            <a:off x="609480" y="3124080"/>
            <a:ext cx="1524240" cy="551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Narrow"/>
              </a:rPr>
              <a:t>DOUBLE CLICK ON THE CHART TO ENTER YOUR AGENCY’S DATA</a:t>
            </a:r>
            <a:endParaRPr b="0" lang="en-IN" sz="1000" strike="noStrike" u="none">
              <a:solidFill>
                <a:srgbClr val="000000"/>
              </a:solidFill>
              <a:effectLst/>
              <a:uFillTx/>
              <a:latin typeface="Arial"/>
            </a:endParaRPr>
          </a:p>
        </p:txBody>
      </p:sp>
      <p:graphicFrame>
        <p:nvGraphicFramePr>
          <p:cNvPr id="242" name=""/>
          <p:cNvGraphicFramePr/>
          <p:nvPr/>
        </p:nvGraphicFramePr>
        <p:xfrm>
          <a:off x="2286000" y="838080"/>
          <a:ext cx="5257800" cy="2895840"/>
        </p:xfrm>
        <a:graphic>
          <a:graphicData uri="http://schemas.openxmlformats.org/presentationml/2006/ole">
            <p:oleObj r:id="rId1" spid="">
              <p:embed/>
              <p:pic>
                <p:nvPicPr>
                  <p:cNvPr id="243" name="" descr=""/>
                  <p:cNvPicPr/>
                  <p:nvPr/>
                </p:nvPicPr>
                <p:blipFill>
                  <a:blip r:embed="rId2"/>
                  <a:stretch/>
                </p:blipFill>
                <p:spPr>
                  <a:xfrm>
                    <a:off x="2286000" y="838080"/>
                    <a:ext cx="5257800" cy="2895840"/>
                  </a:xfrm>
                  <a:prstGeom prst="rect">
                    <a:avLst/>
                  </a:prstGeom>
                  <a:noFill/>
                  <a:ln w="0">
                    <a:noFill/>
                  </a:ln>
                </p:spPr>
              </p:pic>
            </p:oleObj>
          </a:graphicData>
        </a:graphic>
      </p:graphicFrame>
      <p:sp>
        <p:nvSpPr>
          <p:cNvPr id="244" name=""/>
          <p:cNvSpPr/>
          <p:nvPr/>
        </p:nvSpPr>
        <p:spPr>
          <a:xfrm>
            <a:off x="304920" y="3809880"/>
            <a:ext cx="5486400" cy="2819520"/>
          </a:xfrm>
          <a:prstGeom prst="rect">
            <a:avLst/>
          </a:prstGeom>
          <a:solidFill>
            <a:srgbClr val="ffffff"/>
          </a:solidFill>
          <a:ln w="381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245" name=""/>
          <p:cNvSpPr/>
          <p:nvPr/>
        </p:nvSpPr>
        <p:spPr>
          <a:xfrm>
            <a:off x="304920" y="4152960"/>
            <a:ext cx="1407960" cy="2426040"/>
          </a:xfrm>
          <a:prstGeom prst="rect">
            <a:avLst/>
          </a:prstGeom>
          <a:noFill/>
          <a:ln w="0">
            <a:noFill/>
          </a:ln>
        </p:spPr>
        <p:style>
          <a:lnRef idx="0"/>
          <a:fillRef idx="0"/>
          <a:effectRef idx="0"/>
          <a:fontRef idx="minor"/>
        </p:style>
        <p:txBody>
          <a:bodyPr lIns="90000" rIns="90000" tIns="46800" bIns="46800" anchor="t">
            <a:spAutoFit/>
          </a:bodyPr>
          <a:p>
            <a:pPr>
              <a:lnSpc>
                <a:spcPct val="90000"/>
              </a:lnSpc>
              <a:spcAft>
                <a:spcPts val="6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Narrow"/>
              </a:rPr>
              <a:t>Discipline</a:t>
            </a:r>
            <a:endParaRPr b="0" lang="en-IN" sz="1200" strike="noStrike" u="none">
              <a:solidFill>
                <a:srgbClr val="000000"/>
              </a:solidFill>
              <a:effectLst/>
              <a:uFillTx/>
              <a:latin typeface="Arial"/>
            </a:endParaRPr>
          </a:p>
          <a:p>
            <a:pPr>
              <a:lnSpc>
                <a:spcPct val="90000"/>
              </a:lnSpc>
              <a:spcAft>
                <a:spcPts val="6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Narrow"/>
              </a:rPr>
              <a:t>Compensation</a:t>
            </a:r>
            <a:endParaRPr b="0" lang="en-IN" sz="1200" strike="noStrike" u="none">
              <a:solidFill>
                <a:srgbClr val="000000"/>
              </a:solidFill>
              <a:effectLst/>
              <a:uFillTx/>
              <a:latin typeface="Arial"/>
            </a:endParaRPr>
          </a:p>
          <a:p>
            <a:pPr>
              <a:lnSpc>
                <a:spcPct val="90000"/>
              </a:lnSpc>
              <a:spcAft>
                <a:spcPts val="6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Narrow"/>
              </a:rPr>
              <a:t>Overtime</a:t>
            </a:r>
            <a:endParaRPr b="0" lang="en-IN" sz="1200" strike="noStrike" u="none">
              <a:solidFill>
                <a:srgbClr val="000000"/>
              </a:solidFill>
              <a:effectLst/>
              <a:uFillTx/>
              <a:latin typeface="Arial"/>
            </a:endParaRPr>
          </a:p>
          <a:p>
            <a:pPr>
              <a:lnSpc>
                <a:spcPct val="90000"/>
              </a:lnSpc>
              <a:spcAft>
                <a:spcPts val="6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Narrow"/>
              </a:rPr>
              <a:t>Work Hours</a:t>
            </a:r>
            <a:endParaRPr b="0" lang="en-IN" sz="1200" strike="noStrike" u="none">
              <a:solidFill>
                <a:srgbClr val="000000"/>
              </a:solidFill>
              <a:effectLst/>
              <a:uFillTx/>
              <a:latin typeface="Arial"/>
            </a:endParaRPr>
          </a:p>
          <a:p>
            <a:pPr>
              <a:lnSpc>
                <a:spcPct val="90000"/>
              </a:lnSpc>
              <a:spcAft>
                <a:spcPts val="6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Narrow"/>
              </a:rPr>
              <a:t>Bid System</a:t>
            </a:r>
            <a:endParaRPr b="0" lang="en-IN" sz="1200" strike="noStrike" u="none">
              <a:solidFill>
                <a:srgbClr val="000000"/>
              </a:solidFill>
              <a:effectLst/>
              <a:uFillTx/>
              <a:latin typeface="Arial"/>
            </a:endParaRPr>
          </a:p>
          <a:p>
            <a:pPr>
              <a:lnSpc>
                <a:spcPct val="90000"/>
              </a:lnSpc>
              <a:spcAft>
                <a:spcPts val="6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Narrow"/>
              </a:rPr>
              <a:t>Leave</a:t>
            </a:r>
            <a:endParaRPr b="0" lang="en-IN" sz="1200" strike="noStrike" u="none">
              <a:solidFill>
                <a:srgbClr val="000000"/>
              </a:solidFill>
              <a:effectLst/>
              <a:uFillTx/>
              <a:latin typeface="Arial"/>
            </a:endParaRPr>
          </a:p>
          <a:p>
            <a:pPr>
              <a:lnSpc>
                <a:spcPct val="90000"/>
              </a:lnSpc>
              <a:spcAft>
                <a:spcPts val="6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Narrow"/>
              </a:rPr>
              <a:t>Hiring/Appts</a:t>
            </a:r>
            <a:endParaRPr b="0" lang="en-IN" sz="1200" strike="noStrike" u="none">
              <a:solidFill>
                <a:srgbClr val="000000"/>
              </a:solidFill>
              <a:effectLst/>
              <a:uFillTx/>
              <a:latin typeface="Arial"/>
            </a:endParaRPr>
          </a:p>
          <a:p>
            <a:pPr>
              <a:lnSpc>
                <a:spcPct val="90000"/>
              </a:lnSpc>
              <a:spcAft>
                <a:spcPts val="6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Narrow"/>
              </a:rPr>
              <a:t>Non-discrimination</a:t>
            </a:r>
            <a:endParaRPr b="0" lang="en-IN" sz="1200" strike="noStrike" u="none">
              <a:solidFill>
                <a:srgbClr val="000000"/>
              </a:solidFill>
              <a:effectLst/>
              <a:uFillTx/>
              <a:latin typeface="Arial"/>
            </a:endParaRPr>
          </a:p>
          <a:p>
            <a:pPr>
              <a:lnSpc>
                <a:spcPct val="90000"/>
              </a:lnSpc>
              <a:spcAft>
                <a:spcPts val="6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Narrow"/>
              </a:rPr>
              <a:t>Management Rights</a:t>
            </a:r>
            <a:endParaRPr b="0" lang="en-IN" sz="1200" strike="noStrike" u="none">
              <a:solidFill>
                <a:srgbClr val="000000"/>
              </a:solidFill>
              <a:effectLst/>
              <a:uFillTx/>
              <a:latin typeface="Arial"/>
            </a:endParaRPr>
          </a:p>
          <a:p>
            <a:pPr>
              <a:lnSpc>
                <a:spcPct val="90000"/>
              </a:lnSpc>
              <a:spcAft>
                <a:spcPts val="6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Narrow"/>
              </a:rPr>
              <a:t>All other</a:t>
            </a:r>
            <a:endParaRPr b="0" lang="en-IN" sz="1200" strike="noStrike" u="none">
              <a:solidFill>
                <a:srgbClr val="000000"/>
              </a:solidFill>
              <a:effectLst/>
              <a:uFillTx/>
              <a:latin typeface="Arial"/>
            </a:endParaRPr>
          </a:p>
        </p:txBody>
      </p:sp>
      <p:sp>
        <p:nvSpPr>
          <p:cNvPr id="246" name=""/>
          <p:cNvSpPr/>
          <p:nvPr/>
        </p:nvSpPr>
        <p:spPr>
          <a:xfrm>
            <a:off x="1600200" y="3809880"/>
            <a:ext cx="304812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Narrow"/>
              </a:rPr>
              <a:t>Type of Grievances (July 05 – May 06)</a:t>
            </a:r>
            <a:endParaRPr b="0" lang="en-IN" sz="1400" strike="noStrike" u="none">
              <a:solidFill>
                <a:srgbClr val="000000"/>
              </a:solidFill>
              <a:effectLst/>
              <a:uFillTx/>
              <a:latin typeface="Arial"/>
            </a:endParaRPr>
          </a:p>
        </p:txBody>
      </p:sp>
      <p:sp>
        <p:nvSpPr>
          <p:cNvPr id="2" name="PlaceHolder 1"/>
          <p:cNvSpPr>
            <a:spLocks noGrp="1"/>
          </p:cNvSpPr>
          <p:nvPr>
            <p:ph type="sldNum" idx="3"/>
          </p:nvPr>
        </p:nvSpPr>
        <p:spPr/>
        <p:txBody>
          <a:bodyPr/>
          <a:p>
            <a:fld id="{571BC369-1F50-4BE5-A2D2-FA25490CC4B7}"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7" name=""/>
          <p:cNvSpPr/>
          <p:nvPr/>
        </p:nvSpPr>
        <p:spPr>
          <a:xfrm>
            <a:off x="0" y="914400"/>
            <a:ext cx="1905120" cy="990720"/>
          </a:xfrm>
          <a:prstGeom prst="rect">
            <a:avLst/>
          </a:prstGeom>
          <a:solidFill>
            <a:srgbClr val="ffff66"/>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248" name="PlaceHolder 1"/>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p:txBody>
      </p:sp>
      <p:sp>
        <p:nvSpPr>
          <p:cNvPr id="249" name=""/>
          <p:cNvSpPr/>
          <p:nvPr/>
        </p:nvSpPr>
        <p:spPr>
          <a:xfrm>
            <a:off x="7174080" y="5943600"/>
            <a:ext cx="89352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Narrow"/>
              </a:rPr>
              <a:t>94%</a:t>
            </a:r>
            <a:endParaRPr b="0" lang="en-IN" sz="1200" strike="noStrike" u="none">
              <a:solidFill>
                <a:srgbClr val="000000"/>
              </a:solidFill>
              <a:effectLst/>
              <a:uFillTx/>
              <a:latin typeface="Arial"/>
            </a:endParaRPr>
          </a:p>
        </p:txBody>
      </p:sp>
      <p:sp>
        <p:nvSpPr>
          <p:cNvPr id="250" name=""/>
          <p:cNvSpPr/>
          <p:nvPr/>
        </p:nvSpPr>
        <p:spPr>
          <a:xfrm>
            <a:off x="0" y="0"/>
            <a:ext cx="9144000" cy="618840"/>
          </a:xfrm>
          <a:prstGeom prst="rect">
            <a:avLst/>
          </a:prstGeom>
          <a:gradFill rotWithShape="0">
            <a:gsLst>
              <a:gs pos="0">
                <a:srgbClr val="ffffff"/>
              </a:gs>
              <a:gs pos="100000">
                <a:srgbClr val="663300"/>
              </a:gs>
            </a:gsLst>
            <a:lin ang="10800000"/>
          </a:gradFill>
          <a:ln w="0">
            <a:noFill/>
          </a:ln>
        </p:spPr>
        <p:style>
          <a:lnRef idx="0"/>
          <a:fillRef idx="0"/>
          <a:effectRef idx="0"/>
          <a:fontRef idx="minor"/>
        </p:style>
        <p:txBody>
          <a:bodyPr lIns="69480" rIns="69480" tIns="34920" bIns="34920" anchor="t">
            <a:spAutoFit/>
          </a:bodyPr>
          <a:p>
            <a:pPr>
              <a:lnSpc>
                <a:spcPct val="150000"/>
              </a:lnSpc>
              <a:spcBef>
                <a:spcPts val="1500"/>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2400" strike="noStrike" u="none">
                <a:solidFill>
                  <a:srgbClr val="ffffff"/>
                </a:solidFill>
                <a:effectLst/>
                <a:uFillTx/>
                <a:latin typeface="Arial Black"/>
              </a:rPr>
              <a:t>Develop Workforce |</a:t>
            </a:r>
            <a:endParaRPr b="0" lang="en-IN" sz="2400" strike="noStrike" u="none">
              <a:solidFill>
                <a:srgbClr val="000000"/>
              </a:solidFill>
              <a:effectLst/>
              <a:uFillTx/>
              <a:latin typeface="Arial"/>
            </a:endParaRPr>
          </a:p>
        </p:txBody>
      </p:sp>
      <p:sp>
        <p:nvSpPr>
          <p:cNvPr id="251" name="PlaceHolder 2"/>
          <p:cNvSpPr>
            <a:spLocks noGrp="1"/>
          </p:cNvSpPr>
          <p:nvPr>
            <p:ph type="title"/>
          </p:nvPr>
        </p:nvSpPr>
        <p:spPr>
          <a:xfrm>
            <a:off x="3505320" y="-360"/>
            <a:ext cx="5333760" cy="762120"/>
          </a:xfrm>
          <a:prstGeom prst="rect">
            <a:avLst/>
          </a:prstGeom>
          <a:noFill/>
          <a:ln w="0">
            <a:noFill/>
          </a:ln>
        </p:spPr>
        <p:txBody>
          <a:bodyPr lIns="90000" rIns="90000" tIns="46800" bIns="46800" anchor="ctr">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663300"/>
                </a:solidFill>
                <a:effectLst/>
                <a:uFillTx/>
                <a:latin typeface="Arial Black"/>
              </a:rPr>
              <a:t>Employees have competencies for present job and future advancement</a:t>
            </a:r>
            <a:endParaRPr b="0" lang="en-IN" sz="1400" strike="noStrike" u="none">
              <a:solidFill>
                <a:srgbClr val="000000"/>
              </a:solidFill>
              <a:effectLst/>
              <a:uFillTx/>
              <a:latin typeface="Arial"/>
            </a:endParaRPr>
          </a:p>
        </p:txBody>
      </p:sp>
      <p:sp>
        <p:nvSpPr>
          <p:cNvPr id="252" name=""/>
          <p:cNvSpPr/>
          <p:nvPr/>
        </p:nvSpPr>
        <p:spPr>
          <a:xfrm>
            <a:off x="0" y="685800"/>
            <a:ext cx="1905120" cy="1143000"/>
          </a:xfrm>
          <a:prstGeom prst="rect">
            <a:avLst/>
          </a:prstGeom>
          <a:noFill/>
          <a:ln w="0">
            <a:noFill/>
          </a:ln>
        </p:spPr>
        <p:style>
          <a:lnRef idx="0"/>
          <a:fillRef idx="0"/>
          <a:effectRef idx="0"/>
          <a:fontRef idx="minor"/>
        </p:style>
        <p:txBody>
          <a:bodyPr lIns="90000" rIns="90000" tIns="46800" bIns="46800" anchor="t">
            <a:normAutofit fontScale="92500" lnSpcReduction="9999"/>
          </a:bodyPr>
          <a:p>
            <a:pPr marL="228600" indent="-228600">
              <a:lnSpc>
                <a:spcPct val="10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663300"/>
                </a:solidFill>
                <a:effectLst/>
                <a:uFillTx/>
                <a:latin typeface="Arial Black"/>
              </a:rPr>
              <a:t>Performance Measures </a:t>
            </a:r>
            <a:endParaRPr b="0" lang="en-IN" sz="1000" strike="noStrike" u="none">
              <a:solidFill>
                <a:srgbClr val="000000"/>
              </a:solidFill>
              <a:effectLst/>
              <a:uFillTx/>
              <a:latin typeface="Arial"/>
            </a:endParaRPr>
          </a:p>
          <a:p>
            <a:pPr marL="228600" indent="-228600">
              <a:lnSpc>
                <a:spcPct val="100000"/>
              </a:lnSpc>
              <a:spcBef>
                <a:spcPts val="249"/>
              </a:spcBef>
              <a:buClr>
                <a:srgbClr val="6633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663300"/>
                </a:solidFill>
                <a:effectLst/>
                <a:uFillTx/>
                <a:latin typeface="Arial Narrow"/>
              </a:rPr>
              <a:t>Percent employees with current annual individual development plans</a:t>
            </a:r>
            <a:endParaRPr b="0" lang="en-IN" sz="1000" strike="noStrike" u="none">
              <a:solidFill>
                <a:srgbClr val="000000"/>
              </a:solidFill>
              <a:effectLst/>
              <a:uFillTx/>
              <a:latin typeface="Arial"/>
            </a:endParaRPr>
          </a:p>
          <a:p>
            <a:pPr marL="228600" indent="-228600">
              <a:lnSpc>
                <a:spcPct val="100000"/>
              </a:lnSpc>
              <a:spcBef>
                <a:spcPts val="249"/>
              </a:spcBef>
              <a:buClr>
                <a:srgbClr val="6633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663300"/>
                </a:solidFill>
                <a:effectLst/>
                <a:uFillTx/>
                <a:latin typeface="Arial Narrow"/>
              </a:rPr>
              <a:t>Employee survey ratings on “learning &amp; development” questions</a:t>
            </a:r>
            <a:endParaRPr b="0" lang="en-IN" sz="1000" strike="noStrike" u="none">
              <a:solidFill>
                <a:srgbClr val="000000"/>
              </a:solidFill>
              <a:effectLst/>
              <a:uFillTx/>
              <a:latin typeface="Arial"/>
            </a:endParaRPr>
          </a:p>
          <a:p>
            <a:pPr marL="228600" indent="-228600">
              <a:lnSpc>
                <a:spcPct val="10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253" name=""/>
          <p:cNvSpPr/>
          <p:nvPr/>
        </p:nvSpPr>
        <p:spPr>
          <a:xfrm>
            <a:off x="0" y="0"/>
            <a:ext cx="27432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c0c0c0"/>
                </a:solidFill>
                <a:effectLst/>
                <a:uFillTx/>
                <a:latin typeface="Arial Black"/>
              </a:rPr>
              <a:t>HR Management Report category:</a:t>
            </a:r>
            <a:endParaRPr b="0" lang="en-IN" sz="1000" strike="noStrike" u="none">
              <a:solidFill>
                <a:srgbClr val="000000"/>
              </a:solidFill>
              <a:effectLst/>
              <a:uFillTx/>
              <a:latin typeface="Arial"/>
            </a:endParaRPr>
          </a:p>
        </p:txBody>
      </p:sp>
      <p:grpSp>
        <p:nvGrpSpPr>
          <p:cNvPr id="254" name=""/>
          <p:cNvGrpSpPr/>
          <p:nvPr/>
        </p:nvGrpSpPr>
        <p:grpSpPr>
          <a:xfrm>
            <a:off x="1981080" y="1981080"/>
            <a:ext cx="4851360" cy="2209680"/>
            <a:chOff x="1981080" y="1981080"/>
            <a:chExt cx="4851360" cy="2209680"/>
          </a:xfrm>
        </p:grpSpPr>
        <p:grpSp>
          <p:nvGrpSpPr>
            <p:cNvPr id="255" name=""/>
            <p:cNvGrpSpPr/>
            <p:nvPr/>
          </p:nvGrpSpPr>
          <p:grpSpPr>
            <a:xfrm>
              <a:off x="1981080" y="1981080"/>
              <a:ext cx="4851360" cy="2075400"/>
              <a:chOff x="1981080" y="1981080"/>
              <a:chExt cx="4851360" cy="2075400"/>
            </a:xfrm>
          </p:grpSpPr>
          <p:sp>
            <p:nvSpPr>
              <p:cNvPr id="256" name=""/>
              <p:cNvSpPr/>
              <p:nvPr/>
            </p:nvSpPr>
            <p:spPr>
              <a:xfrm>
                <a:off x="1981080" y="2361960"/>
                <a:ext cx="4533840" cy="14360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Narrow"/>
                  </a:rPr>
                  <a:t>Q5. I have opportunities at work to learn and grow. (3.9)</a:t>
                </a: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Narrow"/>
                  </a:rPr>
                  <a:t>Q8. My supervisor gives me ongoing feedback that helps me improve</a:t>
                </a:r>
                <a:br>
                  <a:rPr sz="1100"/>
                </a:br>
                <a:r>
                  <a:rPr b="0" lang="en-IN" sz="1100" strike="noStrike" u="none">
                    <a:solidFill>
                      <a:srgbClr val="000000"/>
                    </a:solidFill>
                    <a:effectLst/>
                    <a:uFillTx/>
                    <a:latin typeface="Arial Narrow"/>
                  </a:rPr>
                  <a:t> my performance. (3.9)</a:t>
                </a: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p:txBody>
          </p:sp>
          <p:sp>
            <p:nvSpPr>
              <p:cNvPr id="257" name=""/>
              <p:cNvSpPr/>
              <p:nvPr/>
            </p:nvSpPr>
            <p:spPr>
              <a:xfrm>
                <a:off x="2006640" y="1981080"/>
                <a:ext cx="4012920" cy="362520"/>
              </a:xfrm>
              <a:prstGeom prst="rect">
                <a:avLst/>
              </a:prstGeom>
              <a:noFill/>
              <a:ln w="0">
                <a:noFill/>
              </a:ln>
            </p:spPr>
            <p:style>
              <a:lnRef idx="0"/>
              <a:fillRef idx="0"/>
              <a:effectRef idx="0"/>
              <a:fontRef idx="minor"/>
            </p:style>
            <p:txBody>
              <a:bodyPr lIns="90000" rIns="90000" tIns="46800" bIns="46800" anchor="t">
                <a:spAutoFit/>
              </a:bodyPr>
              <a:p>
                <a:pPr algn="ctr">
                  <a:lnSpc>
                    <a:spcPct val="8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Black"/>
                  </a:rPr>
                  <a:t>Employee perceptions on</a:t>
                </a:r>
                <a:br>
                  <a:rPr sz="1100"/>
                </a:br>
                <a:r>
                  <a:rPr b="0" lang="en-IN" sz="1100" strike="noStrike" u="none">
                    <a:solidFill>
                      <a:srgbClr val="000000"/>
                    </a:solidFill>
                    <a:effectLst/>
                    <a:uFillTx/>
                    <a:latin typeface="Arial Black"/>
                  </a:rPr>
                  <a:t>learning and development</a:t>
                </a:r>
                <a:endParaRPr b="0" lang="en-IN" sz="1100" strike="noStrike" u="none">
                  <a:solidFill>
                    <a:srgbClr val="000000"/>
                  </a:solidFill>
                  <a:effectLst/>
                  <a:uFillTx/>
                  <a:latin typeface="Arial"/>
                </a:endParaRPr>
              </a:p>
            </p:txBody>
          </p:sp>
          <p:graphicFrame>
            <p:nvGraphicFramePr>
              <p:cNvPr id="258" name=""/>
              <p:cNvGraphicFramePr/>
              <p:nvPr/>
            </p:nvGraphicFramePr>
            <p:xfrm>
              <a:off x="2286000" y="2361960"/>
              <a:ext cx="4546440" cy="763560"/>
            </p:xfrm>
            <a:graphic>
              <a:graphicData uri="http://schemas.openxmlformats.org/presentationml/2006/ole">
                <p:oleObj r:id="rId1" spid="">
                  <p:embed/>
                  <p:pic>
                    <p:nvPicPr>
                      <p:cNvPr id="259" name="" descr=""/>
                      <p:cNvPicPr/>
                      <p:nvPr/>
                    </p:nvPicPr>
                    <p:blipFill>
                      <a:blip r:embed="rId2"/>
                      <a:stretch/>
                    </p:blipFill>
                    <p:spPr>
                      <a:xfrm>
                        <a:off x="2286000" y="2361960"/>
                        <a:ext cx="4546440" cy="763560"/>
                      </a:xfrm>
                      <a:prstGeom prst="rect">
                        <a:avLst/>
                      </a:prstGeom>
                      <a:noFill/>
                      <a:ln w="0">
                        <a:noFill/>
                      </a:ln>
                    </p:spPr>
                  </p:pic>
                </p:oleObj>
              </a:graphicData>
            </a:graphic>
          </p:graphicFrame>
          <p:graphicFrame>
            <p:nvGraphicFramePr>
              <p:cNvPr id="260" name=""/>
              <p:cNvGraphicFramePr/>
              <p:nvPr/>
            </p:nvGraphicFramePr>
            <p:xfrm>
              <a:off x="2286000" y="3200400"/>
              <a:ext cx="4546440" cy="765000"/>
            </p:xfrm>
            <a:graphic>
              <a:graphicData uri="http://schemas.openxmlformats.org/presentationml/2006/ole">
                <p:oleObj r:id="rId3" spid="">
                  <p:embed/>
                  <p:pic>
                    <p:nvPicPr>
                      <p:cNvPr id="261" name="" descr=""/>
                      <p:cNvPicPr/>
                      <p:nvPr/>
                    </p:nvPicPr>
                    <p:blipFill>
                      <a:blip r:embed="rId4"/>
                      <a:stretch/>
                    </p:blipFill>
                    <p:spPr>
                      <a:xfrm>
                        <a:off x="2286000" y="3200400"/>
                        <a:ext cx="4546440" cy="765000"/>
                      </a:xfrm>
                      <a:prstGeom prst="rect">
                        <a:avLst/>
                      </a:prstGeom>
                      <a:noFill/>
                      <a:ln w="0">
                        <a:noFill/>
                      </a:ln>
                    </p:spPr>
                  </p:pic>
                </p:oleObj>
              </a:graphicData>
            </a:graphic>
          </p:graphicFrame>
          <p:grpSp>
            <p:nvGrpSpPr>
              <p:cNvPr id="262" name=""/>
              <p:cNvGrpSpPr/>
              <p:nvPr/>
            </p:nvGrpSpPr>
            <p:grpSpPr>
              <a:xfrm>
                <a:off x="1981080" y="3809880"/>
                <a:ext cx="4267080" cy="246600"/>
                <a:chOff x="1981080" y="3809880"/>
                <a:chExt cx="4267080" cy="246600"/>
              </a:xfrm>
            </p:grpSpPr>
            <p:sp>
              <p:nvSpPr>
                <p:cNvPr id="263" name=""/>
                <p:cNvSpPr/>
                <p:nvPr/>
              </p:nvSpPr>
              <p:spPr>
                <a:xfrm>
                  <a:off x="1981080" y="3809880"/>
                  <a:ext cx="70956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800000"/>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Never</a:t>
                  </a:r>
                  <a:endParaRPr b="0" lang="en-IN" sz="1000" strike="noStrike" u="none">
                    <a:solidFill>
                      <a:srgbClr val="000000"/>
                    </a:solidFill>
                    <a:effectLst/>
                    <a:uFillTx/>
                    <a:latin typeface="Arial"/>
                  </a:endParaRPr>
                </a:p>
              </p:txBody>
            </p:sp>
            <p:sp>
              <p:nvSpPr>
                <p:cNvPr id="264" name=""/>
                <p:cNvSpPr/>
                <p:nvPr/>
              </p:nvSpPr>
              <p:spPr>
                <a:xfrm>
                  <a:off x="2666880" y="3809880"/>
                  <a:ext cx="83808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cc0000"/>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Seldom</a:t>
                  </a:r>
                  <a:endParaRPr b="0" lang="en-IN" sz="1000" strike="noStrike" u="none">
                    <a:solidFill>
                      <a:srgbClr val="000000"/>
                    </a:solidFill>
                    <a:effectLst/>
                    <a:uFillTx/>
                    <a:latin typeface="Arial"/>
                  </a:endParaRPr>
                </a:p>
              </p:txBody>
            </p:sp>
            <p:sp>
              <p:nvSpPr>
                <p:cNvPr id="265" name=""/>
                <p:cNvSpPr/>
                <p:nvPr/>
              </p:nvSpPr>
              <p:spPr>
                <a:xfrm>
                  <a:off x="3476520" y="3809880"/>
                  <a:ext cx="112392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ffff00"/>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Occasionally</a:t>
                  </a:r>
                  <a:endParaRPr b="0" lang="en-IN" sz="1000" strike="noStrike" u="none">
                    <a:solidFill>
                      <a:srgbClr val="000000"/>
                    </a:solidFill>
                    <a:effectLst/>
                    <a:uFillTx/>
                    <a:latin typeface="Arial"/>
                  </a:endParaRPr>
                </a:p>
              </p:txBody>
            </p:sp>
            <p:sp>
              <p:nvSpPr>
                <p:cNvPr id="266" name=""/>
                <p:cNvSpPr/>
                <p:nvPr/>
              </p:nvSpPr>
              <p:spPr>
                <a:xfrm>
                  <a:off x="4572000" y="3809880"/>
                  <a:ext cx="9144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99ccff"/>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Usually</a:t>
                  </a:r>
                  <a:endParaRPr b="0" lang="en-IN" sz="1000" strike="noStrike" u="none">
                    <a:solidFill>
                      <a:srgbClr val="000000"/>
                    </a:solidFill>
                    <a:effectLst/>
                    <a:uFillTx/>
                    <a:latin typeface="Arial"/>
                  </a:endParaRPr>
                </a:p>
              </p:txBody>
            </p:sp>
            <p:sp>
              <p:nvSpPr>
                <p:cNvPr id="267" name=""/>
                <p:cNvSpPr/>
                <p:nvPr/>
              </p:nvSpPr>
              <p:spPr>
                <a:xfrm>
                  <a:off x="5440320" y="3809880"/>
                  <a:ext cx="80784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0066ff"/>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Always</a:t>
                  </a:r>
                  <a:endParaRPr b="0" lang="en-IN" sz="1000" strike="noStrike" u="none">
                    <a:solidFill>
                      <a:srgbClr val="000000"/>
                    </a:solidFill>
                    <a:effectLst/>
                    <a:uFillTx/>
                    <a:latin typeface="Arial"/>
                  </a:endParaRPr>
                </a:p>
              </p:txBody>
            </p:sp>
          </p:grpSp>
        </p:grpSp>
        <p:sp>
          <p:nvSpPr>
            <p:cNvPr id="268" name=""/>
            <p:cNvSpPr/>
            <p:nvPr/>
          </p:nvSpPr>
          <p:spPr>
            <a:xfrm>
              <a:off x="1981080" y="1981080"/>
              <a:ext cx="4267080" cy="2209680"/>
            </a:xfrm>
            <a:prstGeom prst="rect">
              <a:avLst/>
            </a:prstGeom>
            <a:noFill/>
            <a:ln w="28440">
              <a:solidFill>
                <a:srgbClr val="6633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grpSp>
      <p:sp>
        <p:nvSpPr>
          <p:cNvPr id="269" name=""/>
          <p:cNvSpPr/>
          <p:nvPr/>
        </p:nvSpPr>
        <p:spPr>
          <a:xfrm>
            <a:off x="6553080" y="685800"/>
            <a:ext cx="2362320" cy="2224800"/>
          </a:xfrm>
          <a:prstGeom prst="rect">
            <a:avLst/>
          </a:prstGeom>
          <a:noFill/>
          <a:ln w="28440">
            <a:solidFill>
              <a:srgbClr val="663300"/>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Analysis:</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270" name=""/>
          <p:cNvSpPr/>
          <p:nvPr/>
        </p:nvSpPr>
        <p:spPr>
          <a:xfrm>
            <a:off x="6553080" y="3048120"/>
            <a:ext cx="2362320" cy="1668240"/>
          </a:xfrm>
          <a:prstGeom prst="rect">
            <a:avLst/>
          </a:prstGeom>
          <a:noFill/>
          <a:ln w="28440">
            <a:solidFill>
              <a:srgbClr val="663300"/>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Action Steps:</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271" name=""/>
          <p:cNvSpPr/>
          <p:nvPr/>
        </p:nvSpPr>
        <p:spPr>
          <a:xfrm>
            <a:off x="2819520" y="914400"/>
            <a:ext cx="2971800" cy="830520"/>
          </a:xfrm>
          <a:prstGeom prst="rect">
            <a:avLst/>
          </a:prstGeom>
          <a:noFill/>
          <a:ln w="28440">
            <a:solidFill>
              <a:srgbClr val="663300"/>
            </a:solidFill>
            <a:miter/>
          </a:ln>
        </p:spPr>
        <p:style>
          <a:lnRef idx="0"/>
          <a:fillRef idx="0"/>
          <a:effectRef idx="0"/>
          <a:fontRef idx="minor"/>
        </p:style>
        <p:txBody>
          <a:bodyPr lIns="90000" rIns="90000" tIns="46800" bIns="46800" anchor="t">
            <a:sp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Percent employees with current Individual Development Plans </a:t>
            </a:r>
            <a:endParaRPr b="0" lang="en-IN" sz="1200" strike="noStrike" u="none">
              <a:solidFill>
                <a:srgbClr val="000000"/>
              </a:solidFill>
              <a:effectLst/>
              <a:uFillTx/>
              <a:latin typeface="Arial"/>
            </a:endParaRPr>
          </a:p>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90%</a:t>
            </a:r>
            <a:endParaRPr b="0" lang="en-IN" sz="1600" strike="noStrike" u="none">
              <a:solidFill>
                <a:srgbClr val="000000"/>
              </a:solidFill>
              <a:effectLst/>
              <a:uFillTx/>
              <a:latin typeface="Arial"/>
            </a:endParaRPr>
          </a:p>
        </p:txBody>
      </p:sp>
      <p:sp>
        <p:nvSpPr>
          <p:cNvPr id="272" name=""/>
          <p:cNvSpPr/>
          <p:nvPr/>
        </p:nvSpPr>
        <p:spPr>
          <a:xfrm>
            <a:off x="152280" y="1981080"/>
            <a:ext cx="1676520" cy="897480"/>
          </a:xfrm>
          <a:prstGeom prst="rect">
            <a:avLst/>
          </a:prstGeom>
          <a:solidFill>
            <a:srgbClr val="ffffff"/>
          </a:solidFill>
          <a:ln w="28440">
            <a:solidFill>
              <a:srgbClr val="663300"/>
            </a:solidFill>
            <a:miter/>
          </a:ln>
        </p:spPr>
        <p:style>
          <a:lnRef idx="0"/>
          <a:fillRef idx="0"/>
          <a:effectRef idx="0"/>
          <a:fontRef idx="minor"/>
        </p:style>
        <p:txBody>
          <a:bodyPr lIns="90000" rIns="90000" tIns="46800" bIns="46800" anchor="t">
            <a:spAutoFit/>
          </a:bodyPr>
          <a:p>
            <a:pPr>
              <a:lnSpc>
                <a:spcPct val="11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Narrow"/>
              </a:rPr>
              <a:t>Overall average score for “Learning &amp; Development” questions is 3.9%</a:t>
            </a:r>
            <a:endParaRPr b="0" lang="en-IN" sz="1200" strike="noStrike" u="none">
              <a:solidFill>
                <a:srgbClr val="000000"/>
              </a:solidFill>
              <a:effectLst/>
              <a:uFillTx/>
              <a:latin typeface="Arial"/>
            </a:endParaRPr>
          </a:p>
        </p:txBody>
      </p:sp>
      <p:sp>
        <p:nvSpPr>
          <p:cNvPr id="273" name=""/>
          <p:cNvSpPr/>
          <p:nvPr/>
        </p:nvSpPr>
        <p:spPr>
          <a:xfrm>
            <a:off x="380880" y="5257800"/>
            <a:ext cx="3733920" cy="246600"/>
          </a:xfrm>
          <a:prstGeom prst="rect">
            <a:avLst/>
          </a:prstGeom>
          <a:noFill/>
          <a:ln w="0">
            <a:noFill/>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SPACE FOR AGENCY’S DISCRETIONARY USE</a:t>
            </a:r>
            <a:endParaRPr b="0" lang="en-IN" sz="1000" strike="noStrike" u="none">
              <a:solidFill>
                <a:srgbClr val="000000"/>
              </a:solidFill>
              <a:effectLst/>
              <a:uFillTx/>
              <a:latin typeface="Arial"/>
            </a:endParaRPr>
          </a:p>
        </p:txBody>
      </p:sp>
      <p:sp>
        <p:nvSpPr>
          <p:cNvPr id="274" name=""/>
          <p:cNvSpPr/>
          <p:nvPr/>
        </p:nvSpPr>
        <p:spPr>
          <a:xfrm>
            <a:off x="228600" y="3687840"/>
            <a:ext cx="1523880" cy="551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Narrow"/>
              </a:rPr>
              <a:t>DOUBLE CLICK ON THE BAR CHARTS TO ENTER YOUR AGENCY’S DATA</a:t>
            </a:r>
            <a:endParaRPr b="0" lang="en-IN" sz="1000" strike="noStrike" u="none">
              <a:solidFill>
                <a:srgbClr val="000000"/>
              </a:solidFill>
              <a:effectLst/>
              <a:uFillTx/>
              <a:latin typeface="Arial"/>
            </a:endParaRPr>
          </a:p>
        </p:txBody>
      </p:sp>
      <p:sp>
        <p:nvSpPr>
          <p:cNvPr id="4" name="PlaceHolder 3"/>
          <p:cNvSpPr>
            <a:spLocks noGrp="1"/>
          </p:cNvSpPr>
          <p:nvPr>
            <p:ph type="sldNum" idx="3"/>
          </p:nvPr>
        </p:nvSpPr>
        <p:spPr/>
        <p:txBody>
          <a:bodyPr/>
          <a:p>
            <a:fld id="{B27E95F9-C6E0-4E5D-BCAB-B1D9F1D70278}"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5" name=""/>
          <p:cNvSpPr/>
          <p:nvPr/>
        </p:nvSpPr>
        <p:spPr>
          <a:xfrm>
            <a:off x="0" y="914400"/>
            <a:ext cx="1828800" cy="903240"/>
          </a:xfrm>
          <a:prstGeom prst="rect">
            <a:avLst/>
          </a:prstGeom>
          <a:solidFill>
            <a:srgbClr val="ffff66"/>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276" name=""/>
          <p:cNvSpPr/>
          <p:nvPr/>
        </p:nvSpPr>
        <p:spPr>
          <a:xfrm>
            <a:off x="0" y="685800"/>
            <a:ext cx="1981080" cy="1447920"/>
          </a:xfrm>
          <a:prstGeom prst="rect">
            <a:avLst/>
          </a:prstGeom>
          <a:noFill/>
          <a:ln w="0">
            <a:noFill/>
          </a:ln>
        </p:spPr>
        <p:style>
          <a:lnRef idx="0"/>
          <a:fillRef idx="0"/>
          <a:effectRef idx="0"/>
          <a:fontRef idx="minor"/>
        </p:style>
        <p:txBody>
          <a:bodyPr lIns="90000" rIns="90000" tIns="46800" bIns="46800" anchor="t">
            <a:normAutofit fontScale="92500" lnSpcReduction="9999"/>
          </a:bodyPr>
          <a:p>
            <a:pPr marL="228600" indent="-228600">
              <a:lnSpc>
                <a:spcPct val="10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4d006c"/>
                </a:solidFill>
                <a:effectLst/>
                <a:uFillTx/>
                <a:latin typeface="Arial Black"/>
              </a:rPr>
              <a:t>Performance Measures</a:t>
            </a:r>
            <a:endParaRPr b="0" lang="en-IN" sz="1000" strike="noStrike" u="none">
              <a:solidFill>
                <a:srgbClr val="000000"/>
              </a:solidFill>
              <a:effectLst/>
              <a:uFillTx/>
              <a:latin typeface="Arial"/>
            </a:endParaRPr>
          </a:p>
          <a:p>
            <a:pPr marL="228600" indent="-228600">
              <a:lnSpc>
                <a:spcPct val="100000"/>
              </a:lnSpc>
              <a:spcBef>
                <a:spcPts val="249"/>
              </a:spcBef>
              <a:buClr>
                <a:srgbClr val="660066"/>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4d006c"/>
                </a:solidFill>
                <a:effectLst/>
                <a:uFillTx/>
                <a:latin typeface="Arial Narrow"/>
              </a:rPr>
              <a:t>Percent employees and managers with current annual performance evaluations</a:t>
            </a:r>
            <a:endParaRPr b="0" lang="en-IN" sz="1000" strike="noStrike" u="none">
              <a:solidFill>
                <a:srgbClr val="000000"/>
              </a:solidFill>
              <a:effectLst/>
              <a:uFillTx/>
              <a:latin typeface="Arial"/>
            </a:endParaRPr>
          </a:p>
          <a:p>
            <a:pPr marL="228600" indent="-228600">
              <a:lnSpc>
                <a:spcPct val="100000"/>
              </a:lnSpc>
              <a:spcBef>
                <a:spcPts val="249"/>
              </a:spcBef>
              <a:buClr>
                <a:srgbClr val="660066"/>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4d006c"/>
                </a:solidFill>
                <a:effectLst/>
                <a:uFillTx/>
                <a:latin typeface="Arial Narrow"/>
              </a:rPr>
              <a:t>Employee survey ratings on “performance and accountability” questions</a:t>
            </a:r>
            <a:endParaRPr b="0" lang="en-IN" sz="1000" strike="noStrike" u="none">
              <a:solidFill>
                <a:srgbClr val="000000"/>
              </a:solidFill>
              <a:effectLst/>
              <a:uFillTx/>
              <a:latin typeface="Arial"/>
            </a:endParaRPr>
          </a:p>
          <a:p>
            <a:pPr marL="228600" indent="-228600">
              <a:lnSpc>
                <a:spcPct val="100000"/>
              </a:lnSpc>
              <a:spcBef>
                <a:spcPts val="249"/>
              </a:spcBef>
              <a:buClr>
                <a:srgbClr val="660066"/>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4d006c"/>
                </a:solidFill>
                <a:effectLst/>
                <a:uFillTx/>
                <a:latin typeface="Arial Narrow"/>
              </a:rPr>
              <a:t>Number and type of disciplinary issues, actions, appeals disposition</a:t>
            </a:r>
            <a:endParaRPr b="0" lang="en-IN" sz="1000" strike="noStrike" u="none">
              <a:solidFill>
                <a:srgbClr val="000000"/>
              </a:solidFill>
              <a:effectLst/>
              <a:uFillTx/>
              <a:latin typeface="Arial"/>
            </a:endParaRPr>
          </a:p>
        </p:txBody>
      </p:sp>
      <p:sp>
        <p:nvSpPr>
          <p:cNvPr id="277" name=""/>
          <p:cNvSpPr/>
          <p:nvPr/>
        </p:nvSpPr>
        <p:spPr>
          <a:xfrm>
            <a:off x="0" y="0"/>
            <a:ext cx="9144000" cy="618840"/>
          </a:xfrm>
          <a:prstGeom prst="rect">
            <a:avLst/>
          </a:prstGeom>
          <a:gradFill rotWithShape="0">
            <a:gsLst>
              <a:gs pos="0">
                <a:srgbClr val="ffffff"/>
              </a:gs>
              <a:gs pos="100000">
                <a:srgbClr val="4d006c"/>
              </a:gs>
            </a:gsLst>
            <a:lin ang="10800000"/>
          </a:gradFill>
          <a:ln w="0">
            <a:noFill/>
          </a:ln>
        </p:spPr>
        <p:style>
          <a:lnRef idx="0"/>
          <a:fillRef idx="0"/>
          <a:effectRef idx="0"/>
          <a:fontRef idx="minor"/>
        </p:style>
        <p:txBody>
          <a:bodyPr lIns="69480" rIns="69480" tIns="34920" bIns="34920" anchor="t">
            <a:spAutoFit/>
          </a:bodyPr>
          <a:p>
            <a:pPr>
              <a:lnSpc>
                <a:spcPct val="150000"/>
              </a:lnSpc>
              <a:spcBef>
                <a:spcPts val="1500"/>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2400" strike="noStrike" u="none">
                <a:solidFill>
                  <a:srgbClr val="ffffff"/>
                </a:solidFill>
                <a:effectLst/>
                <a:uFillTx/>
                <a:latin typeface="Arial Black"/>
              </a:rPr>
              <a:t>Reinforce Performance |</a:t>
            </a:r>
            <a:endParaRPr b="0" lang="en-IN" sz="2400" strike="noStrike" u="none">
              <a:solidFill>
                <a:srgbClr val="000000"/>
              </a:solidFill>
              <a:effectLst/>
              <a:uFillTx/>
              <a:latin typeface="Arial"/>
            </a:endParaRPr>
          </a:p>
        </p:txBody>
      </p:sp>
      <p:sp>
        <p:nvSpPr>
          <p:cNvPr id="278" name="PlaceHolder 1"/>
          <p:cNvSpPr>
            <a:spLocks noGrp="1"/>
          </p:cNvSpPr>
          <p:nvPr>
            <p:ph type="title"/>
          </p:nvPr>
        </p:nvSpPr>
        <p:spPr>
          <a:xfrm>
            <a:off x="4191120" y="-360"/>
            <a:ext cx="4952880" cy="762120"/>
          </a:xfrm>
          <a:prstGeom prst="rect">
            <a:avLst/>
          </a:prstGeom>
          <a:noFill/>
          <a:ln w="0">
            <a:noFill/>
          </a:ln>
        </p:spPr>
        <p:txBody>
          <a:bodyPr lIns="90000" rIns="90000" tIns="46800" bIns="46800" anchor="ctr">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4d006c"/>
                </a:solidFill>
                <a:effectLst/>
                <a:uFillTx/>
                <a:latin typeface="Arial Black"/>
              </a:rPr>
              <a:t>Successful performance is differentiated &amp; strengthened. Employees are held accountable.</a:t>
            </a:r>
            <a:endParaRPr b="0" lang="en-IN" sz="1400" strike="noStrike" u="none">
              <a:solidFill>
                <a:srgbClr val="000000"/>
              </a:solidFill>
              <a:effectLst/>
              <a:uFillTx/>
              <a:latin typeface="Arial"/>
            </a:endParaRPr>
          </a:p>
        </p:txBody>
      </p:sp>
      <p:sp>
        <p:nvSpPr>
          <p:cNvPr id="279" name=""/>
          <p:cNvSpPr/>
          <p:nvPr/>
        </p:nvSpPr>
        <p:spPr>
          <a:xfrm>
            <a:off x="0" y="0"/>
            <a:ext cx="27432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c0c0c0"/>
                </a:solidFill>
                <a:effectLst/>
                <a:uFillTx/>
                <a:latin typeface="Arial Black"/>
              </a:rPr>
              <a:t>HR Management Report category:</a:t>
            </a:r>
            <a:endParaRPr b="0" lang="en-IN" sz="1000" strike="noStrike" u="none">
              <a:solidFill>
                <a:srgbClr val="000000"/>
              </a:solidFill>
              <a:effectLst/>
              <a:uFillTx/>
              <a:latin typeface="Arial"/>
            </a:endParaRPr>
          </a:p>
        </p:txBody>
      </p:sp>
      <p:sp>
        <p:nvSpPr>
          <p:cNvPr id="280" name=""/>
          <p:cNvSpPr/>
          <p:nvPr/>
        </p:nvSpPr>
        <p:spPr>
          <a:xfrm>
            <a:off x="152280" y="2819520"/>
            <a:ext cx="1447920" cy="1100520"/>
          </a:xfrm>
          <a:prstGeom prst="rect">
            <a:avLst/>
          </a:prstGeom>
          <a:solidFill>
            <a:srgbClr val="ffffff"/>
          </a:solidFill>
          <a:ln w="28440">
            <a:solidFill>
              <a:srgbClr val="4d006c"/>
            </a:solidFill>
            <a:miter/>
          </a:ln>
        </p:spPr>
        <p:style>
          <a:lnRef idx="0"/>
          <a:fillRef idx="0"/>
          <a:effectRef idx="0"/>
          <a:fontRef idx="minor"/>
        </p:style>
        <p:txBody>
          <a:bodyPr lIns="90000" rIns="90000" tIns="46800" bIns="46800" anchor="t">
            <a:spAutoFit/>
          </a:bodyPr>
          <a:p>
            <a:pPr>
              <a:lnSpc>
                <a:spcPct val="11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Black"/>
              </a:rPr>
              <a:t>Overall average score for “performance &amp; accountability” questions is 4.02%</a:t>
            </a:r>
            <a:endParaRPr b="0" lang="en-IN" sz="1000" strike="noStrike" u="none">
              <a:solidFill>
                <a:srgbClr val="000000"/>
              </a:solidFill>
              <a:effectLst/>
              <a:uFillTx/>
              <a:latin typeface="Arial"/>
            </a:endParaRPr>
          </a:p>
        </p:txBody>
      </p:sp>
      <p:sp>
        <p:nvSpPr>
          <p:cNvPr id="281" name=""/>
          <p:cNvSpPr/>
          <p:nvPr/>
        </p:nvSpPr>
        <p:spPr>
          <a:xfrm>
            <a:off x="1906560" y="2567160"/>
            <a:ext cx="4495680" cy="21420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Narrow"/>
              </a:rPr>
              <a:t>Q3. I know how my work contributes to the goals of my agency. (4.2)</a:t>
            </a: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Narrow"/>
              </a:rPr>
              <a:t>Q10. My performance evaluation provides me with meaningful information about my performance. (3.7)</a:t>
            </a: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Narrow"/>
              </a:rPr>
              <a:t>Q11. My supervisor holds me and my co-workers accountable for performance. (4.3)</a:t>
            </a: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Narrow"/>
              </a:rPr>
              <a:t>Q9. I receive recognition for a job well done (3.9)</a:t>
            </a: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p:txBody>
      </p:sp>
      <p:sp>
        <p:nvSpPr>
          <p:cNvPr id="282" name=""/>
          <p:cNvSpPr/>
          <p:nvPr/>
        </p:nvSpPr>
        <p:spPr>
          <a:xfrm>
            <a:off x="1906560" y="1905120"/>
            <a:ext cx="4495680" cy="3079800"/>
          </a:xfrm>
          <a:prstGeom prst="rect">
            <a:avLst/>
          </a:prstGeom>
          <a:noFill/>
          <a:ln w="28440">
            <a:solidFill>
              <a:srgbClr val="4d006c"/>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283" name=""/>
          <p:cNvSpPr/>
          <p:nvPr/>
        </p:nvSpPr>
        <p:spPr>
          <a:xfrm>
            <a:off x="2036880" y="2054160"/>
            <a:ext cx="4365360" cy="4294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Black"/>
              </a:rPr>
              <a:t>Do employees see a meaningful linkage between their performance and the success of the organization?</a:t>
            </a:r>
            <a:endParaRPr b="0" lang="en-IN" sz="1100" strike="noStrike" u="none">
              <a:solidFill>
                <a:srgbClr val="000000"/>
              </a:solidFill>
              <a:effectLst/>
              <a:uFillTx/>
              <a:latin typeface="Arial"/>
            </a:endParaRPr>
          </a:p>
        </p:txBody>
      </p:sp>
      <p:graphicFrame>
        <p:nvGraphicFramePr>
          <p:cNvPr id="284" name=""/>
          <p:cNvGraphicFramePr/>
          <p:nvPr/>
        </p:nvGraphicFramePr>
        <p:xfrm>
          <a:off x="2287440" y="3795840"/>
          <a:ext cx="4546800" cy="601560"/>
        </p:xfrm>
        <a:graphic>
          <a:graphicData uri="http://schemas.openxmlformats.org/presentationml/2006/ole">
            <p:oleObj r:id="rId1" spid="">
              <p:embed/>
              <p:pic>
                <p:nvPicPr>
                  <p:cNvPr id="285" name="" descr=""/>
                  <p:cNvPicPr/>
                  <p:nvPr/>
                </p:nvPicPr>
                <p:blipFill>
                  <a:blip r:embed="rId2"/>
                  <a:stretch/>
                </p:blipFill>
                <p:spPr>
                  <a:xfrm>
                    <a:off x="2287440" y="3795840"/>
                    <a:ext cx="4546800" cy="601560"/>
                  </a:xfrm>
                  <a:prstGeom prst="rect">
                    <a:avLst/>
                  </a:prstGeom>
                  <a:noFill/>
                  <a:ln w="0">
                    <a:noFill/>
                  </a:ln>
                </p:spPr>
              </p:pic>
            </p:oleObj>
          </a:graphicData>
        </a:graphic>
      </p:graphicFrame>
      <p:graphicFrame>
        <p:nvGraphicFramePr>
          <p:cNvPr id="286" name=""/>
          <p:cNvGraphicFramePr/>
          <p:nvPr/>
        </p:nvGraphicFramePr>
        <p:xfrm>
          <a:off x="2287440" y="2624040"/>
          <a:ext cx="4570560" cy="601920"/>
        </p:xfrm>
        <a:graphic>
          <a:graphicData uri="http://schemas.openxmlformats.org/presentationml/2006/ole">
            <p:oleObj r:id="rId3" spid="">
              <p:embed/>
              <p:pic>
                <p:nvPicPr>
                  <p:cNvPr id="287" name="" descr=""/>
                  <p:cNvPicPr/>
                  <p:nvPr/>
                </p:nvPicPr>
                <p:blipFill>
                  <a:blip r:embed="rId4"/>
                  <a:stretch/>
                </p:blipFill>
                <p:spPr>
                  <a:xfrm>
                    <a:off x="2287440" y="2624040"/>
                    <a:ext cx="4570560" cy="601920"/>
                  </a:xfrm>
                  <a:prstGeom prst="rect">
                    <a:avLst/>
                  </a:prstGeom>
                  <a:noFill/>
                  <a:ln w="0">
                    <a:noFill/>
                  </a:ln>
                </p:spPr>
              </p:pic>
            </p:oleObj>
          </a:graphicData>
        </a:graphic>
      </p:graphicFrame>
      <p:graphicFrame>
        <p:nvGraphicFramePr>
          <p:cNvPr id="288" name=""/>
          <p:cNvGraphicFramePr/>
          <p:nvPr/>
        </p:nvGraphicFramePr>
        <p:xfrm>
          <a:off x="2286000" y="3276720"/>
          <a:ext cx="4570560" cy="604800"/>
        </p:xfrm>
        <a:graphic>
          <a:graphicData uri="http://schemas.openxmlformats.org/presentationml/2006/ole">
            <p:oleObj r:id="rId5" spid="">
              <p:embed/>
              <p:pic>
                <p:nvPicPr>
                  <p:cNvPr id="289" name="" descr=""/>
                  <p:cNvPicPr/>
                  <p:nvPr/>
                </p:nvPicPr>
                <p:blipFill>
                  <a:blip r:embed="rId6"/>
                  <a:stretch/>
                </p:blipFill>
                <p:spPr>
                  <a:xfrm>
                    <a:off x="2286000" y="3276720"/>
                    <a:ext cx="4570560" cy="604800"/>
                  </a:xfrm>
                  <a:prstGeom prst="rect">
                    <a:avLst/>
                  </a:prstGeom>
                  <a:noFill/>
                  <a:ln w="0">
                    <a:noFill/>
                  </a:ln>
                </p:spPr>
              </p:pic>
            </p:oleObj>
          </a:graphicData>
        </a:graphic>
      </p:graphicFrame>
      <p:graphicFrame>
        <p:nvGraphicFramePr>
          <p:cNvPr id="290" name=""/>
          <p:cNvGraphicFramePr/>
          <p:nvPr/>
        </p:nvGraphicFramePr>
        <p:xfrm>
          <a:off x="2287440" y="4324320"/>
          <a:ext cx="4570560" cy="601560"/>
        </p:xfrm>
        <a:graphic>
          <a:graphicData uri="http://schemas.openxmlformats.org/presentationml/2006/ole">
            <p:oleObj r:id="rId7" spid="">
              <p:embed/>
              <p:pic>
                <p:nvPicPr>
                  <p:cNvPr id="291" name="" descr=""/>
                  <p:cNvPicPr/>
                  <p:nvPr/>
                </p:nvPicPr>
                <p:blipFill>
                  <a:blip r:embed="rId8"/>
                  <a:stretch/>
                </p:blipFill>
                <p:spPr>
                  <a:xfrm>
                    <a:off x="2287440" y="4324320"/>
                    <a:ext cx="4570560" cy="601560"/>
                  </a:xfrm>
                  <a:prstGeom prst="rect">
                    <a:avLst/>
                  </a:prstGeom>
                  <a:noFill/>
                  <a:ln w="0">
                    <a:noFill/>
                  </a:ln>
                </p:spPr>
              </p:pic>
            </p:oleObj>
          </a:graphicData>
        </a:graphic>
      </p:graphicFrame>
      <p:grpSp>
        <p:nvGrpSpPr>
          <p:cNvPr id="292" name=""/>
          <p:cNvGrpSpPr/>
          <p:nvPr/>
        </p:nvGrpSpPr>
        <p:grpSpPr>
          <a:xfrm>
            <a:off x="2058840" y="4764240"/>
            <a:ext cx="4267080" cy="246600"/>
            <a:chOff x="2058840" y="4764240"/>
            <a:chExt cx="4267080" cy="246600"/>
          </a:xfrm>
        </p:grpSpPr>
        <p:sp>
          <p:nvSpPr>
            <p:cNvPr id="293" name=""/>
            <p:cNvSpPr/>
            <p:nvPr/>
          </p:nvSpPr>
          <p:spPr>
            <a:xfrm>
              <a:off x="2058840" y="4764240"/>
              <a:ext cx="70956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800000"/>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Never</a:t>
              </a:r>
              <a:endParaRPr b="0" lang="en-IN" sz="1000" strike="noStrike" u="none">
                <a:solidFill>
                  <a:srgbClr val="000000"/>
                </a:solidFill>
                <a:effectLst/>
                <a:uFillTx/>
                <a:latin typeface="Arial"/>
              </a:endParaRPr>
            </a:p>
          </p:txBody>
        </p:sp>
        <p:sp>
          <p:nvSpPr>
            <p:cNvPr id="294" name=""/>
            <p:cNvSpPr/>
            <p:nvPr/>
          </p:nvSpPr>
          <p:spPr>
            <a:xfrm>
              <a:off x="2744640" y="4764240"/>
              <a:ext cx="83808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cc0000"/>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Seldom</a:t>
              </a:r>
              <a:endParaRPr b="0" lang="en-IN" sz="1000" strike="noStrike" u="none">
                <a:solidFill>
                  <a:srgbClr val="000000"/>
                </a:solidFill>
                <a:effectLst/>
                <a:uFillTx/>
                <a:latin typeface="Arial"/>
              </a:endParaRPr>
            </a:p>
          </p:txBody>
        </p:sp>
        <p:sp>
          <p:nvSpPr>
            <p:cNvPr id="295" name=""/>
            <p:cNvSpPr/>
            <p:nvPr/>
          </p:nvSpPr>
          <p:spPr>
            <a:xfrm>
              <a:off x="3554280" y="4764240"/>
              <a:ext cx="112392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ffff00"/>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Occasionally</a:t>
              </a:r>
              <a:endParaRPr b="0" lang="en-IN" sz="1000" strike="noStrike" u="none">
                <a:solidFill>
                  <a:srgbClr val="000000"/>
                </a:solidFill>
                <a:effectLst/>
                <a:uFillTx/>
                <a:latin typeface="Arial"/>
              </a:endParaRPr>
            </a:p>
          </p:txBody>
        </p:sp>
        <p:sp>
          <p:nvSpPr>
            <p:cNvPr id="296" name=""/>
            <p:cNvSpPr/>
            <p:nvPr/>
          </p:nvSpPr>
          <p:spPr>
            <a:xfrm>
              <a:off x="4649760" y="4764240"/>
              <a:ext cx="9144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99ccff"/>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Usually</a:t>
              </a:r>
              <a:endParaRPr b="0" lang="en-IN" sz="1000" strike="noStrike" u="none">
                <a:solidFill>
                  <a:srgbClr val="000000"/>
                </a:solidFill>
                <a:effectLst/>
                <a:uFillTx/>
                <a:latin typeface="Arial"/>
              </a:endParaRPr>
            </a:p>
          </p:txBody>
        </p:sp>
        <p:sp>
          <p:nvSpPr>
            <p:cNvPr id="297" name=""/>
            <p:cNvSpPr/>
            <p:nvPr/>
          </p:nvSpPr>
          <p:spPr>
            <a:xfrm>
              <a:off x="5518080" y="4764240"/>
              <a:ext cx="80784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0066ff"/>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Always</a:t>
              </a:r>
              <a:endParaRPr b="0" lang="en-IN" sz="1000" strike="noStrike" u="none">
                <a:solidFill>
                  <a:srgbClr val="000000"/>
                </a:solidFill>
                <a:effectLst/>
                <a:uFillTx/>
                <a:latin typeface="Arial"/>
              </a:endParaRPr>
            </a:p>
          </p:txBody>
        </p:sp>
      </p:grpSp>
      <p:sp>
        <p:nvSpPr>
          <p:cNvPr id="298" name=""/>
          <p:cNvSpPr/>
          <p:nvPr/>
        </p:nvSpPr>
        <p:spPr>
          <a:xfrm>
            <a:off x="2666880" y="914400"/>
            <a:ext cx="2971800" cy="830520"/>
          </a:xfrm>
          <a:prstGeom prst="rect">
            <a:avLst/>
          </a:prstGeom>
          <a:noFill/>
          <a:ln w="28440">
            <a:solidFill>
              <a:srgbClr val="4d006c"/>
            </a:solidFill>
            <a:miter/>
          </a:ln>
        </p:spPr>
        <p:style>
          <a:lnRef idx="0"/>
          <a:fillRef idx="0"/>
          <a:effectRef idx="0"/>
          <a:fontRef idx="minor"/>
        </p:style>
        <p:txBody>
          <a:bodyPr lIns="90000" rIns="90000" tIns="46800" bIns="46800" anchor="t">
            <a:sp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Percent employees with current performance evaluations </a:t>
            </a:r>
            <a:endParaRPr b="0" lang="en-IN" sz="1200" strike="noStrike" u="none">
              <a:solidFill>
                <a:srgbClr val="000000"/>
              </a:solidFill>
              <a:effectLst/>
              <a:uFillTx/>
              <a:latin typeface="Arial"/>
            </a:endParaRPr>
          </a:p>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Narrow"/>
              </a:rPr>
              <a:t>90%</a:t>
            </a:r>
            <a:endParaRPr b="0" lang="en-IN" sz="1600" strike="noStrike" u="none">
              <a:solidFill>
                <a:srgbClr val="000000"/>
              </a:solidFill>
              <a:effectLst/>
              <a:uFillTx/>
              <a:latin typeface="Arial"/>
            </a:endParaRPr>
          </a:p>
        </p:txBody>
      </p:sp>
      <p:sp>
        <p:nvSpPr>
          <p:cNvPr id="299" name=""/>
          <p:cNvSpPr/>
          <p:nvPr/>
        </p:nvSpPr>
        <p:spPr>
          <a:xfrm>
            <a:off x="6553080" y="838080"/>
            <a:ext cx="2514600" cy="2781360"/>
          </a:xfrm>
          <a:prstGeom prst="rect">
            <a:avLst/>
          </a:prstGeom>
          <a:noFill/>
          <a:ln w="28440">
            <a:solidFill>
              <a:srgbClr val="4d006c"/>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Analysis:</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300" name=""/>
          <p:cNvSpPr/>
          <p:nvPr/>
        </p:nvSpPr>
        <p:spPr>
          <a:xfrm>
            <a:off x="6553080" y="3809880"/>
            <a:ext cx="2514600" cy="2503080"/>
          </a:xfrm>
          <a:prstGeom prst="rect">
            <a:avLst/>
          </a:prstGeom>
          <a:noFill/>
          <a:ln w="28440">
            <a:solidFill>
              <a:srgbClr val="4d006c"/>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Action Steps:</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301" name=""/>
          <p:cNvSpPr/>
          <p:nvPr/>
        </p:nvSpPr>
        <p:spPr>
          <a:xfrm>
            <a:off x="228600" y="4952880"/>
            <a:ext cx="1523880" cy="551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Narrow"/>
              </a:rPr>
              <a:t>DOUBLE CLICK ON THE BAR CHARTS TO ENTER YOUR AGENCY’S DATA</a:t>
            </a:r>
            <a:endParaRPr b="0" lang="en-IN" sz="1000" strike="noStrike" u="none">
              <a:solidFill>
                <a:srgbClr val="000000"/>
              </a:solidFill>
              <a:effectLst/>
              <a:uFillTx/>
              <a:latin typeface="Arial"/>
            </a:endParaRPr>
          </a:p>
        </p:txBody>
      </p:sp>
      <p:sp>
        <p:nvSpPr>
          <p:cNvPr id="3" name="PlaceHolder 2"/>
          <p:cNvSpPr>
            <a:spLocks noGrp="1"/>
          </p:cNvSpPr>
          <p:nvPr>
            <p:ph type="sldNum" idx="3"/>
          </p:nvPr>
        </p:nvSpPr>
        <p:spPr/>
        <p:txBody>
          <a:bodyPr/>
          <a:p>
            <a:fld id="{F235F384-ACF7-4052-9184-6ADC7315598D}"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2" name=""/>
          <p:cNvSpPr/>
          <p:nvPr/>
        </p:nvSpPr>
        <p:spPr>
          <a:xfrm>
            <a:off x="0" y="1905120"/>
            <a:ext cx="1828800" cy="457200"/>
          </a:xfrm>
          <a:prstGeom prst="rect">
            <a:avLst/>
          </a:prstGeom>
          <a:solidFill>
            <a:srgbClr val="ffff66"/>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303" name=""/>
          <p:cNvSpPr/>
          <p:nvPr/>
        </p:nvSpPr>
        <p:spPr>
          <a:xfrm>
            <a:off x="0" y="685800"/>
            <a:ext cx="1981080" cy="1447920"/>
          </a:xfrm>
          <a:prstGeom prst="rect">
            <a:avLst/>
          </a:prstGeom>
          <a:noFill/>
          <a:ln w="0">
            <a:noFill/>
          </a:ln>
        </p:spPr>
        <p:style>
          <a:lnRef idx="0"/>
          <a:fillRef idx="0"/>
          <a:effectRef idx="0"/>
          <a:fontRef idx="minor"/>
        </p:style>
        <p:txBody>
          <a:bodyPr lIns="90000" rIns="90000" tIns="46800" bIns="46800" anchor="t">
            <a:normAutofit fontScale="92500" lnSpcReduction="9999"/>
          </a:bodyPr>
          <a:p>
            <a:pPr marL="228600" indent="-228600">
              <a:lnSpc>
                <a:spcPct val="10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4d006c"/>
                </a:solidFill>
                <a:effectLst/>
                <a:uFillTx/>
                <a:latin typeface="Arial Black"/>
              </a:rPr>
              <a:t>Performance Measures</a:t>
            </a:r>
            <a:endParaRPr b="0" lang="en-IN" sz="1000" strike="noStrike" u="none">
              <a:solidFill>
                <a:srgbClr val="000000"/>
              </a:solidFill>
              <a:effectLst/>
              <a:uFillTx/>
              <a:latin typeface="Arial"/>
            </a:endParaRPr>
          </a:p>
          <a:p>
            <a:pPr marL="228600" indent="-228600">
              <a:lnSpc>
                <a:spcPct val="100000"/>
              </a:lnSpc>
              <a:spcBef>
                <a:spcPts val="249"/>
              </a:spcBef>
              <a:buClr>
                <a:srgbClr val="660066"/>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4d006c"/>
                </a:solidFill>
                <a:effectLst/>
                <a:uFillTx/>
                <a:latin typeface="Arial Narrow"/>
              </a:rPr>
              <a:t>Percent employees and managers with current annual performance evaluations</a:t>
            </a:r>
            <a:endParaRPr b="0" lang="en-IN" sz="1000" strike="noStrike" u="none">
              <a:solidFill>
                <a:srgbClr val="000000"/>
              </a:solidFill>
              <a:effectLst/>
              <a:uFillTx/>
              <a:latin typeface="Arial"/>
            </a:endParaRPr>
          </a:p>
          <a:p>
            <a:pPr marL="228600" indent="-228600">
              <a:lnSpc>
                <a:spcPct val="100000"/>
              </a:lnSpc>
              <a:spcBef>
                <a:spcPts val="249"/>
              </a:spcBef>
              <a:buClr>
                <a:srgbClr val="660066"/>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4d006c"/>
                </a:solidFill>
                <a:effectLst/>
                <a:uFillTx/>
                <a:latin typeface="Arial Narrow"/>
              </a:rPr>
              <a:t>Employee survey ratings on “performance and accountability” questions</a:t>
            </a:r>
            <a:endParaRPr b="0" lang="en-IN" sz="1000" strike="noStrike" u="none">
              <a:solidFill>
                <a:srgbClr val="000000"/>
              </a:solidFill>
              <a:effectLst/>
              <a:uFillTx/>
              <a:latin typeface="Arial"/>
            </a:endParaRPr>
          </a:p>
          <a:p>
            <a:pPr marL="228600" indent="-228600">
              <a:lnSpc>
                <a:spcPct val="100000"/>
              </a:lnSpc>
              <a:spcBef>
                <a:spcPts val="249"/>
              </a:spcBef>
              <a:buClr>
                <a:srgbClr val="660066"/>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4d006c"/>
                </a:solidFill>
                <a:effectLst/>
                <a:uFillTx/>
                <a:latin typeface="Arial Narrow"/>
              </a:rPr>
              <a:t>Number and type of disciplinary issues, actions, appeals disposition</a:t>
            </a:r>
            <a:endParaRPr b="0" lang="en-IN" sz="1000" strike="noStrike" u="none">
              <a:solidFill>
                <a:srgbClr val="000000"/>
              </a:solidFill>
              <a:effectLst/>
              <a:uFillTx/>
              <a:latin typeface="Arial"/>
            </a:endParaRPr>
          </a:p>
        </p:txBody>
      </p:sp>
      <p:sp>
        <p:nvSpPr>
          <p:cNvPr id="304" name=""/>
          <p:cNvSpPr/>
          <p:nvPr/>
        </p:nvSpPr>
        <p:spPr>
          <a:xfrm>
            <a:off x="0" y="0"/>
            <a:ext cx="9144000" cy="618840"/>
          </a:xfrm>
          <a:prstGeom prst="rect">
            <a:avLst/>
          </a:prstGeom>
          <a:gradFill rotWithShape="0">
            <a:gsLst>
              <a:gs pos="0">
                <a:srgbClr val="ffffff"/>
              </a:gs>
              <a:gs pos="100000">
                <a:srgbClr val="4d006c"/>
              </a:gs>
            </a:gsLst>
            <a:lin ang="10800000"/>
          </a:gradFill>
          <a:ln w="0">
            <a:noFill/>
          </a:ln>
        </p:spPr>
        <p:style>
          <a:lnRef idx="0"/>
          <a:fillRef idx="0"/>
          <a:effectRef idx="0"/>
          <a:fontRef idx="minor"/>
        </p:style>
        <p:txBody>
          <a:bodyPr lIns="69480" rIns="69480" tIns="34920" bIns="34920" anchor="t">
            <a:spAutoFit/>
          </a:bodyPr>
          <a:p>
            <a:pPr>
              <a:lnSpc>
                <a:spcPct val="150000"/>
              </a:lnSpc>
              <a:spcBef>
                <a:spcPts val="1500"/>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2400" strike="noStrike" u="none">
                <a:solidFill>
                  <a:srgbClr val="ffffff"/>
                </a:solidFill>
                <a:effectLst/>
                <a:uFillTx/>
                <a:latin typeface="Arial Black"/>
              </a:rPr>
              <a:t>Reinforce Performance |</a:t>
            </a:r>
            <a:endParaRPr b="0" lang="en-IN" sz="2400" strike="noStrike" u="none">
              <a:solidFill>
                <a:srgbClr val="000000"/>
              </a:solidFill>
              <a:effectLst/>
              <a:uFillTx/>
              <a:latin typeface="Arial"/>
            </a:endParaRPr>
          </a:p>
        </p:txBody>
      </p:sp>
      <p:sp>
        <p:nvSpPr>
          <p:cNvPr id="305" name="PlaceHolder 1"/>
          <p:cNvSpPr>
            <a:spLocks noGrp="1"/>
          </p:cNvSpPr>
          <p:nvPr>
            <p:ph type="title"/>
          </p:nvPr>
        </p:nvSpPr>
        <p:spPr>
          <a:xfrm>
            <a:off x="4191120" y="-360"/>
            <a:ext cx="4952880" cy="762120"/>
          </a:xfrm>
          <a:prstGeom prst="rect">
            <a:avLst/>
          </a:prstGeom>
          <a:noFill/>
          <a:ln w="0">
            <a:noFill/>
          </a:ln>
        </p:spPr>
        <p:txBody>
          <a:bodyPr lIns="90000" rIns="90000" tIns="46800" bIns="46800" anchor="ctr">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4d006c"/>
                </a:solidFill>
                <a:effectLst/>
                <a:uFillTx/>
                <a:latin typeface="Arial Black"/>
              </a:rPr>
              <a:t>Successful performance is differentiated &amp; strengthened. Employees are held accountable.</a:t>
            </a:r>
            <a:endParaRPr b="0" lang="en-IN" sz="1400" strike="noStrike" u="none">
              <a:solidFill>
                <a:srgbClr val="000000"/>
              </a:solidFill>
              <a:effectLst/>
              <a:uFillTx/>
              <a:latin typeface="Arial"/>
            </a:endParaRPr>
          </a:p>
        </p:txBody>
      </p:sp>
      <p:sp>
        <p:nvSpPr>
          <p:cNvPr id="306" name=""/>
          <p:cNvSpPr/>
          <p:nvPr/>
        </p:nvSpPr>
        <p:spPr>
          <a:xfrm>
            <a:off x="0" y="0"/>
            <a:ext cx="27432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c0c0c0"/>
                </a:solidFill>
                <a:effectLst/>
                <a:uFillTx/>
                <a:latin typeface="Arial Black"/>
              </a:rPr>
              <a:t>HR Management Report category:</a:t>
            </a:r>
            <a:endParaRPr b="0" lang="en-IN" sz="1000" strike="noStrike" u="none">
              <a:solidFill>
                <a:srgbClr val="000000"/>
              </a:solidFill>
              <a:effectLst/>
              <a:uFillTx/>
              <a:latin typeface="Arial"/>
            </a:endParaRPr>
          </a:p>
        </p:txBody>
      </p:sp>
      <p:sp>
        <p:nvSpPr>
          <p:cNvPr id="307" name=""/>
          <p:cNvSpPr/>
          <p:nvPr/>
        </p:nvSpPr>
        <p:spPr>
          <a:xfrm>
            <a:off x="6858000" y="838080"/>
            <a:ext cx="2209680" cy="2781360"/>
          </a:xfrm>
          <a:prstGeom prst="rect">
            <a:avLst/>
          </a:prstGeom>
          <a:noFill/>
          <a:ln w="28440">
            <a:solidFill>
              <a:srgbClr val="4d006c"/>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Analysis:</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308" name=""/>
          <p:cNvSpPr/>
          <p:nvPr/>
        </p:nvSpPr>
        <p:spPr>
          <a:xfrm>
            <a:off x="6858000" y="3809880"/>
            <a:ext cx="2209680" cy="2503080"/>
          </a:xfrm>
          <a:prstGeom prst="rect">
            <a:avLst/>
          </a:prstGeom>
          <a:noFill/>
          <a:ln w="28440">
            <a:solidFill>
              <a:srgbClr val="4d006c"/>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Action Steps:</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309" name=""/>
          <p:cNvSpPr/>
          <p:nvPr/>
        </p:nvSpPr>
        <p:spPr>
          <a:xfrm>
            <a:off x="2514600" y="838080"/>
            <a:ext cx="3430440" cy="4597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Narrow"/>
              </a:rPr>
              <a:t>Formal Disciplinary Actions, Appeals, Grievances</a:t>
            </a:r>
            <a:br>
              <a:rPr sz="1200"/>
            </a:br>
            <a:r>
              <a:rPr b="1" lang="en-IN" sz="1200" strike="noStrike" u="none">
                <a:solidFill>
                  <a:srgbClr val="000000"/>
                </a:solidFill>
                <a:effectLst/>
                <a:uFillTx/>
                <a:latin typeface="Arial Narrow"/>
              </a:rPr>
              <a:t>FY 2006 to date (July 1, 2005- February 28, 2006)</a:t>
            </a:r>
            <a:endParaRPr b="0" lang="en-IN" sz="1200" strike="noStrike" u="none">
              <a:solidFill>
                <a:srgbClr val="000000"/>
              </a:solidFill>
              <a:effectLst/>
              <a:uFillTx/>
              <a:latin typeface="Arial"/>
            </a:endParaRPr>
          </a:p>
        </p:txBody>
      </p:sp>
      <p:sp>
        <p:nvSpPr>
          <p:cNvPr id="310" name=""/>
          <p:cNvSpPr/>
          <p:nvPr/>
        </p:nvSpPr>
        <p:spPr>
          <a:xfrm>
            <a:off x="1981080" y="838080"/>
            <a:ext cx="4724640" cy="3124440"/>
          </a:xfrm>
          <a:prstGeom prst="rect">
            <a:avLst/>
          </a:prstGeom>
          <a:noFill/>
          <a:ln w="38160">
            <a:solidFill>
              <a:srgbClr val="4d006c"/>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graphicFrame>
        <p:nvGraphicFramePr>
          <p:cNvPr id="311" name=""/>
          <p:cNvGraphicFramePr/>
          <p:nvPr/>
        </p:nvGraphicFramePr>
        <p:xfrm>
          <a:off x="2057400" y="1295280"/>
          <a:ext cx="4838760" cy="2438640"/>
        </p:xfrm>
        <a:graphic>
          <a:graphicData uri="http://schemas.openxmlformats.org/presentationml/2006/ole">
            <p:oleObj r:id="rId1" spid="">
              <p:embed/>
              <p:pic>
                <p:nvPicPr>
                  <p:cNvPr id="312" name="" descr=""/>
                  <p:cNvPicPr/>
                  <p:nvPr/>
                </p:nvPicPr>
                <p:blipFill>
                  <a:blip r:embed="rId2"/>
                  <a:stretch/>
                </p:blipFill>
                <p:spPr>
                  <a:xfrm>
                    <a:off x="2057400" y="1295280"/>
                    <a:ext cx="4838760" cy="2438640"/>
                  </a:xfrm>
                  <a:prstGeom prst="rect">
                    <a:avLst/>
                  </a:prstGeom>
                  <a:noFill/>
                  <a:ln w="0">
                    <a:noFill/>
                  </a:ln>
                </p:spPr>
              </p:pic>
            </p:oleObj>
          </a:graphicData>
        </a:graphic>
      </p:graphicFrame>
      <p:sp>
        <p:nvSpPr>
          <p:cNvPr id="313" name=""/>
          <p:cNvSpPr/>
          <p:nvPr/>
        </p:nvSpPr>
        <p:spPr>
          <a:xfrm>
            <a:off x="685800" y="4267080"/>
            <a:ext cx="2590920" cy="1851120"/>
          </a:xfrm>
          <a:prstGeom prst="rect">
            <a:avLst/>
          </a:prstGeom>
          <a:noFill/>
          <a:ln w="38160">
            <a:solidFill>
              <a:srgbClr val="4d006c"/>
            </a:solidFill>
            <a:miter/>
          </a:ln>
        </p:spPr>
        <p:style>
          <a:lnRef idx="0"/>
          <a:fillRef idx="0"/>
          <a:effectRef idx="0"/>
          <a:fontRef idx="minor"/>
        </p:style>
        <p:txBody>
          <a:bodyPr lIns="90000" rIns="90000" tIns="46800" bIns="46800" anchor="t">
            <a:sp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Narrow"/>
              </a:rPr>
              <a:t>Issues Leading to Disciplinary Action</a:t>
            </a:r>
            <a:endParaRPr b="0" lang="en-IN" sz="1200" strike="noStrike" u="none">
              <a:solidFill>
                <a:srgbClr val="000000"/>
              </a:solidFill>
              <a:effectLst/>
              <a:uFillTx/>
              <a:latin typeface="Arial"/>
            </a:endParaRPr>
          </a:p>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rPr>
              <a:t>The agency had no formal disciplinary actions or appeals during this time period.</a:t>
            </a:r>
            <a:endParaRPr b="0" lang="en-IN" sz="1200" strike="noStrike" u="none">
              <a:solidFill>
                <a:srgbClr val="000000"/>
              </a:solidFill>
              <a:effectLst/>
              <a:uFillTx/>
              <a:latin typeface="Arial"/>
            </a:endParaRPr>
          </a:p>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314" name=""/>
          <p:cNvSpPr/>
          <p:nvPr/>
        </p:nvSpPr>
        <p:spPr>
          <a:xfrm>
            <a:off x="3505320" y="4267080"/>
            <a:ext cx="2590560" cy="1851120"/>
          </a:xfrm>
          <a:prstGeom prst="rect">
            <a:avLst/>
          </a:prstGeom>
          <a:noFill/>
          <a:ln w="38160">
            <a:solidFill>
              <a:srgbClr val="4d006c"/>
            </a:solidFill>
            <a:miter/>
          </a:ln>
        </p:spPr>
        <p:style>
          <a:lnRef idx="0"/>
          <a:fillRef idx="0"/>
          <a:effectRef idx="0"/>
          <a:fontRef idx="minor"/>
        </p:style>
        <p:txBody>
          <a:bodyPr lIns="90000" rIns="90000" tIns="46800" bIns="46800" anchor="t">
            <a:sp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Narrow"/>
              </a:rPr>
              <a:t>Disposition of Disciplinary-related Grievances or Appeals</a:t>
            </a:r>
            <a:endParaRPr b="0" lang="en-IN" sz="1200" strike="noStrike" u="none">
              <a:solidFill>
                <a:srgbClr val="000000"/>
              </a:solidFill>
              <a:effectLst/>
              <a:uFillTx/>
              <a:latin typeface="Arial"/>
            </a:endParaRPr>
          </a:p>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315" name=""/>
          <p:cNvSpPr/>
          <p:nvPr/>
        </p:nvSpPr>
        <p:spPr>
          <a:xfrm>
            <a:off x="2057400" y="3718080"/>
            <a:ext cx="327672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Non-represented employees     ** Represented employees</a:t>
            </a:r>
            <a:endParaRPr b="0" lang="en-IN" sz="1000" strike="noStrike" u="none">
              <a:solidFill>
                <a:srgbClr val="000000"/>
              </a:solidFill>
              <a:effectLst/>
              <a:uFillTx/>
              <a:latin typeface="Arial"/>
            </a:endParaRPr>
          </a:p>
        </p:txBody>
      </p:sp>
      <p:sp>
        <p:nvSpPr>
          <p:cNvPr id="316" name=""/>
          <p:cNvSpPr/>
          <p:nvPr/>
        </p:nvSpPr>
        <p:spPr>
          <a:xfrm>
            <a:off x="609480" y="3124080"/>
            <a:ext cx="1524240" cy="551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Narrow"/>
              </a:rPr>
              <a:t>DOUBLE CLICK ON THE CHART TO ENTER YOUR AGENCY’S DATA</a:t>
            </a:r>
            <a:endParaRPr b="0" lang="en-IN" sz="1000" strike="noStrike" u="none">
              <a:solidFill>
                <a:srgbClr val="000000"/>
              </a:solidFill>
              <a:effectLst/>
              <a:uFillTx/>
              <a:latin typeface="Arial"/>
            </a:endParaRPr>
          </a:p>
        </p:txBody>
      </p:sp>
      <p:sp>
        <p:nvSpPr>
          <p:cNvPr id="3" name="PlaceHolder 2"/>
          <p:cNvSpPr>
            <a:spLocks noGrp="1"/>
          </p:cNvSpPr>
          <p:nvPr>
            <p:ph type="sldNum" idx="3"/>
          </p:nvPr>
        </p:nvSpPr>
        <p:spPr/>
        <p:txBody>
          <a:bodyPr/>
          <a:p>
            <a:fld id="{9A4D18C3-808B-440B-9E44-203D029D128E}"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7" name=""/>
          <p:cNvSpPr/>
          <p:nvPr/>
        </p:nvSpPr>
        <p:spPr>
          <a:xfrm>
            <a:off x="0" y="1744560"/>
            <a:ext cx="1981080" cy="293760"/>
          </a:xfrm>
          <a:prstGeom prst="rect">
            <a:avLst/>
          </a:prstGeom>
          <a:solidFill>
            <a:srgbClr val="ffff66"/>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318" name=""/>
          <p:cNvSpPr/>
          <p:nvPr/>
        </p:nvSpPr>
        <p:spPr>
          <a:xfrm>
            <a:off x="0" y="0"/>
            <a:ext cx="9144000" cy="1431000"/>
          </a:xfrm>
          <a:prstGeom prst="rect">
            <a:avLst/>
          </a:prstGeom>
          <a:gradFill rotWithShape="0">
            <a:gsLst>
              <a:gs pos="0">
                <a:srgbClr val="ffffff"/>
              </a:gs>
              <a:gs pos="100000">
                <a:srgbClr val="ffcc00"/>
              </a:gs>
            </a:gsLst>
            <a:lin ang="10800000"/>
          </a:gradFill>
          <a:ln w="0">
            <a:noFill/>
          </a:ln>
        </p:spPr>
        <p:style>
          <a:lnRef idx="0"/>
          <a:fillRef idx="0"/>
          <a:effectRef idx="0"/>
          <a:fontRef idx="minor"/>
        </p:style>
        <p:txBody>
          <a:bodyPr lIns="69480" rIns="69480" tIns="34920" bIns="34920" anchor="t">
            <a:spAutoFit/>
          </a:bodyPr>
          <a:p>
            <a:pPr>
              <a:lnSpc>
                <a:spcPct val="170000"/>
              </a:lnSpc>
              <a:spcBef>
                <a:spcPts val="1500"/>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2400" strike="noStrike" u="none">
                <a:solidFill>
                  <a:srgbClr val="000000"/>
                </a:solidFill>
                <a:effectLst/>
                <a:uFillTx/>
                <a:latin typeface="Arial Black"/>
              </a:rPr>
              <a:t>Ultimate Outcomes</a:t>
            </a:r>
            <a:endParaRPr b="0" lang="en-IN" sz="2400" strike="noStrike" u="none">
              <a:solidFill>
                <a:srgbClr val="000000"/>
              </a:solidFill>
              <a:effectLst/>
              <a:uFillTx/>
              <a:latin typeface="Arial"/>
            </a:endParaRPr>
          </a:p>
          <a:p>
            <a:pPr>
              <a:lnSpc>
                <a:spcPct val="150000"/>
              </a:lnSpc>
              <a:spcBef>
                <a:spcPts val="1500"/>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2400" strike="noStrike" u="none">
                <a:solidFill>
                  <a:srgbClr val="000000"/>
                </a:solidFill>
                <a:effectLst/>
                <a:uFillTx/>
                <a:latin typeface="Arial Black"/>
              </a:rPr>
              <a:t> </a:t>
            </a:r>
            <a:endParaRPr b="0" lang="en-IN" sz="2400" strike="noStrike" u="none">
              <a:solidFill>
                <a:srgbClr val="000000"/>
              </a:solidFill>
              <a:effectLst/>
              <a:uFillTx/>
              <a:latin typeface="Arial"/>
            </a:endParaRPr>
          </a:p>
        </p:txBody>
      </p:sp>
      <p:sp>
        <p:nvSpPr>
          <p:cNvPr id="319" name=""/>
          <p:cNvSpPr/>
          <p:nvPr/>
        </p:nvSpPr>
        <p:spPr>
          <a:xfrm>
            <a:off x="3657600" y="52560"/>
            <a:ext cx="5486400" cy="1193400"/>
          </a:xfrm>
          <a:prstGeom prst="rect">
            <a:avLst/>
          </a:prstGeom>
          <a:noFill/>
          <a:ln w="0">
            <a:noFill/>
          </a:ln>
        </p:spPr>
        <p:style>
          <a:lnRef idx="0"/>
          <a:fillRef idx="0"/>
          <a:effectRef idx="0"/>
          <a:fontRef idx="minor"/>
        </p:style>
        <p:txBody>
          <a:bodyPr lIns="90000" rIns="90000" tIns="46800" bIns="46800" anchor="t">
            <a:spAutoFit/>
          </a:bodyPr>
          <a:p>
            <a:pPr>
              <a:lnSpc>
                <a:spcPct val="90000"/>
              </a:lnSpc>
              <a:spcBef>
                <a:spcPts val="81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300" strike="noStrike" u="none">
                <a:solidFill>
                  <a:srgbClr val="000000"/>
                </a:solidFill>
                <a:effectLst/>
                <a:uFillTx/>
                <a:latin typeface="Arial Black"/>
              </a:rPr>
              <a:t>State has workforce breadth &amp; depth for present &amp; future success.</a:t>
            </a:r>
            <a:endParaRPr b="0" lang="en-IN" sz="1300" strike="noStrike" u="none">
              <a:solidFill>
                <a:srgbClr val="000000"/>
              </a:solidFill>
              <a:effectLst/>
              <a:uFillTx/>
              <a:latin typeface="Arial"/>
            </a:endParaRPr>
          </a:p>
          <a:p>
            <a:pPr>
              <a:lnSpc>
                <a:spcPct val="90000"/>
              </a:lnSpc>
              <a:spcBef>
                <a:spcPts val="81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300" strike="noStrike" u="none">
                <a:solidFill>
                  <a:srgbClr val="000000"/>
                </a:solidFill>
                <a:effectLst/>
                <a:uFillTx/>
                <a:latin typeface="Arial Black"/>
              </a:rPr>
              <a:t>Employees are committed to the work they do and the goals of the organization.</a:t>
            </a:r>
            <a:endParaRPr b="0" lang="en-IN" sz="1300" strike="noStrike" u="none">
              <a:solidFill>
                <a:srgbClr val="000000"/>
              </a:solidFill>
              <a:effectLst/>
              <a:uFillTx/>
              <a:latin typeface="Arial"/>
            </a:endParaRPr>
          </a:p>
          <a:p>
            <a:pPr>
              <a:lnSpc>
                <a:spcPct val="90000"/>
              </a:lnSpc>
              <a:spcBef>
                <a:spcPts val="81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300" strike="noStrike" u="none">
                <a:solidFill>
                  <a:srgbClr val="000000"/>
                </a:solidFill>
                <a:effectLst/>
                <a:uFillTx/>
                <a:latin typeface="Arial Black"/>
              </a:rPr>
              <a:t>Successful, productive employees are retained.</a:t>
            </a:r>
            <a:endParaRPr b="0" lang="en-IN" sz="1300" strike="noStrike" u="none">
              <a:solidFill>
                <a:srgbClr val="000000"/>
              </a:solidFill>
              <a:effectLst/>
              <a:uFillTx/>
              <a:latin typeface="Arial"/>
            </a:endParaRPr>
          </a:p>
        </p:txBody>
      </p:sp>
      <p:sp>
        <p:nvSpPr>
          <p:cNvPr id="320" name=""/>
          <p:cNvSpPr/>
          <p:nvPr/>
        </p:nvSpPr>
        <p:spPr>
          <a:xfrm>
            <a:off x="0" y="1449360"/>
            <a:ext cx="2057400" cy="1219320"/>
          </a:xfrm>
          <a:prstGeom prst="rect">
            <a:avLst/>
          </a:prstGeom>
          <a:noFill/>
          <a:ln w="0">
            <a:noFill/>
          </a:ln>
        </p:spPr>
        <p:style>
          <a:lnRef idx="0"/>
          <a:fillRef idx="0"/>
          <a:effectRef idx="0"/>
          <a:fontRef idx="minor"/>
        </p:style>
        <p:txBody>
          <a:bodyPr lIns="90000" rIns="90000" tIns="46800" bIns="46800" anchor="t">
            <a:normAutofit fontScale="77500" lnSpcReduction="19999"/>
          </a:bodyPr>
          <a:p>
            <a:pPr marL="228600" indent="-228600">
              <a:lnSpc>
                <a:spcPct val="10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Black"/>
              </a:rPr>
              <a:t>Performance Measures</a:t>
            </a:r>
            <a:endParaRPr b="0" lang="en-IN" sz="1000" strike="noStrike" u="none">
              <a:solidFill>
                <a:srgbClr val="000000"/>
              </a:solidFill>
              <a:effectLst/>
              <a:uFillTx/>
              <a:latin typeface="Arial"/>
            </a:endParaRPr>
          </a:p>
          <a:p>
            <a:pPr marL="228600" indent="-228600">
              <a:lnSpc>
                <a:spcPct val="100000"/>
              </a:lnSpc>
              <a:spcBef>
                <a:spcPts val="37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Employee survey ratings on “commitment” questions</a:t>
            </a:r>
            <a:endParaRPr b="0" lang="en-IN" sz="1000" strike="noStrike" u="none">
              <a:solidFill>
                <a:srgbClr val="000000"/>
              </a:solidFill>
              <a:effectLst/>
              <a:uFillTx/>
              <a:latin typeface="Arial"/>
            </a:endParaRPr>
          </a:p>
          <a:p>
            <a:pPr marL="228600" indent="-228600">
              <a:lnSpc>
                <a:spcPct val="100000"/>
              </a:lnSpc>
              <a:spcBef>
                <a:spcPts val="37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Turnover rates and types (e.g., retirement, resignation, etc.)</a:t>
            </a:r>
            <a:endParaRPr b="0" lang="en-IN" sz="1000" strike="noStrike" u="none">
              <a:solidFill>
                <a:srgbClr val="000000"/>
              </a:solidFill>
              <a:effectLst/>
              <a:uFillTx/>
              <a:latin typeface="Arial"/>
            </a:endParaRPr>
          </a:p>
          <a:p>
            <a:pPr marL="228600" indent="-228600">
              <a:lnSpc>
                <a:spcPct val="100000"/>
              </a:lnSpc>
              <a:spcBef>
                <a:spcPts val="37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Turnover rate of key occupational categories  - </a:t>
            </a:r>
            <a:r>
              <a:rPr b="1" lang="en-IN" sz="1000" strike="noStrike" u="none">
                <a:solidFill>
                  <a:srgbClr val="000000"/>
                </a:solidFill>
                <a:effectLst/>
                <a:uFillTx/>
                <a:latin typeface="Arial Narrow"/>
              </a:rPr>
              <a:t>TBD</a:t>
            </a:r>
            <a:endParaRPr b="0" lang="en-IN" sz="1000" strike="noStrike" u="none">
              <a:solidFill>
                <a:srgbClr val="000000"/>
              </a:solidFill>
              <a:effectLst/>
              <a:uFillTx/>
              <a:latin typeface="Arial"/>
            </a:endParaRPr>
          </a:p>
          <a:p>
            <a:pPr marL="228600" indent="-228600">
              <a:lnSpc>
                <a:spcPct val="100000"/>
              </a:lnSpc>
              <a:spcBef>
                <a:spcPts val="37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Diversity profile [&amp; turnover TBD]</a:t>
            </a:r>
            <a:endParaRPr b="0" lang="en-IN" sz="1000" strike="noStrike" u="none">
              <a:solidFill>
                <a:srgbClr val="000000"/>
              </a:solidFill>
              <a:effectLst/>
              <a:uFillTx/>
              <a:latin typeface="Arial"/>
            </a:endParaRPr>
          </a:p>
        </p:txBody>
      </p:sp>
      <p:sp>
        <p:nvSpPr>
          <p:cNvPr id="321" name=""/>
          <p:cNvSpPr/>
          <p:nvPr/>
        </p:nvSpPr>
        <p:spPr>
          <a:xfrm>
            <a:off x="0" y="0"/>
            <a:ext cx="27432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c0c0c0"/>
                </a:solidFill>
                <a:effectLst/>
                <a:uFillTx/>
                <a:latin typeface="Arial Black"/>
              </a:rPr>
              <a:t>HR Management Report category:</a:t>
            </a:r>
            <a:endParaRPr b="0" lang="en-IN" sz="1000" strike="noStrike" u="none">
              <a:solidFill>
                <a:srgbClr val="000000"/>
              </a:solidFill>
              <a:effectLst/>
              <a:uFillTx/>
              <a:latin typeface="Arial"/>
            </a:endParaRPr>
          </a:p>
        </p:txBody>
      </p:sp>
      <p:sp>
        <p:nvSpPr>
          <p:cNvPr id="322" name=""/>
          <p:cNvSpPr/>
          <p:nvPr/>
        </p:nvSpPr>
        <p:spPr>
          <a:xfrm>
            <a:off x="3581280" y="152280"/>
            <a:ext cx="0" cy="1067040"/>
          </a:xfrm>
          <a:prstGeom prst="line">
            <a:avLst/>
          </a:prstGeom>
          <a:ln w="2844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323" name=""/>
          <p:cNvGrpSpPr/>
          <p:nvPr/>
        </p:nvGrpSpPr>
        <p:grpSpPr>
          <a:xfrm>
            <a:off x="2438280" y="1600200"/>
            <a:ext cx="4927680" cy="2620800"/>
            <a:chOff x="2438280" y="1600200"/>
            <a:chExt cx="4927680" cy="2620800"/>
          </a:xfrm>
        </p:grpSpPr>
        <p:sp>
          <p:nvSpPr>
            <p:cNvPr id="324" name=""/>
            <p:cNvSpPr/>
            <p:nvPr/>
          </p:nvSpPr>
          <p:spPr>
            <a:xfrm>
              <a:off x="2438280" y="2171520"/>
              <a:ext cx="4648320" cy="16466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Narrow"/>
                </a:rPr>
                <a:t>Q3. I know how my job contributes to the goals of my agency. (4.1)</a:t>
              </a: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spcBef>
                  <a:spcPts val="337"/>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Narrow"/>
                </a:rPr>
                <a:t>Q12. I know how my agency measures its success. (3.4)</a:t>
              </a: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Narrow"/>
                </a:rPr>
                <a:t>Q9. I receive recognition for a job well done (3.3)</a:t>
              </a:r>
              <a:endParaRPr b="0" lang="en-IN"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000000"/>
                </a:solidFill>
                <a:effectLst/>
                <a:uFillTx/>
                <a:latin typeface="Arial"/>
              </a:endParaRPr>
            </a:p>
          </p:txBody>
        </p:sp>
        <p:sp>
          <p:nvSpPr>
            <p:cNvPr id="325" name=""/>
            <p:cNvSpPr/>
            <p:nvPr/>
          </p:nvSpPr>
          <p:spPr>
            <a:xfrm>
              <a:off x="2438280" y="1600200"/>
              <a:ext cx="4267080" cy="2620800"/>
            </a:xfrm>
            <a:prstGeom prst="rect">
              <a:avLst/>
            </a:prstGeom>
            <a:noFill/>
            <a:ln w="28440">
              <a:solidFill>
                <a:srgbClr val="0000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326" name=""/>
            <p:cNvSpPr/>
            <p:nvPr/>
          </p:nvSpPr>
          <p:spPr>
            <a:xfrm>
              <a:off x="2705040" y="1733400"/>
              <a:ext cx="3886200" cy="2617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000000"/>
                  </a:solidFill>
                  <a:effectLst/>
                  <a:uFillTx/>
                  <a:latin typeface="Arial Black"/>
                </a:rPr>
                <a:t>Indicators of Employee Commitment</a:t>
              </a:r>
              <a:endParaRPr b="0" lang="en-IN" sz="1100" strike="noStrike" u="none">
                <a:solidFill>
                  <a:srgbClr val="000000"/>
                </a:solidFill>
                <a:effectLst/>
                <a:uFillTx/>
                <a:latin typeface="Arial"/>
              </a:endParaRPr>
            </a:p>
          </p:txBody>
        </p:sp>
        <p:graphicFrame>
          <p:nvGraphicFramePr>
            <p:cNvPr id="327" name=""/>
            <p:cNvGraphicFramePr/>
            <p:nvPr/>
          </p:nvGraphicFramePr>
          <p:xfrm>
            <a:off x="2819160" y="2246040"/>
            <a:ext cx="4546800" cy="599760"/>
          </p:xfrm>
          <a:graphic>
            <a:graphicData uri="http://schemas.openxmlformats.org/presentationml/2006/ole">
              <p:oleObj r:id="rId1" spid="">
                <p:embed/>
                <p:pic>
                  <p:nvPicPr>
                    <p:cNvPr id="328" name="" descr=""/>
                    <p:cNvPicPr/>
                    <p:nvPr/>
                  </p:nvPicPr>
                  <p:blipFill>
                    <a:blip r:embed="rId2"/>
                    <a:stretch/>
                  </p:blipFill>
                  <p:spPr>
                    <a:xfrm>
                      <a:off x="2819160" y="2246040"/>
                      <a:ext cx="4546800" cy="599760"/>
                    </a:xfrm>
                    <a:prstGeom prst="rect">
                      <a:avLst/>
                    </a:prstGeom>
                    <a:noFill/>
                    <a:ln w="0">
                      <a:noFill/>
                    </a:ln>
                  </p:spPr>
                </p:pic>
              </p:oleObj>
            </a:graphicData>
          </a:graphic>
        </p:graphicFrame>
        <p:graphicFrame>
          <p:nvGraphicFramePr>
            <p:cNvPr id="329" name=""/>
            <p:cNvGraphicFramePr/>
            <p:nvPr/>
          </p:nvGraphicFramePr>
          <p:xfrm>
            <a:off x="2819160" y="2803320"/>
            <a:ext cx="4546800" cy="604440"/>
          </p:xfrm>
          <a:graphic>
            <a:graphicData uri="http://schemas.openxmlformats.org/presentationml/2006/ole">
              <p:oleObj r:id="rId3" spid="">
                <p:embed/>
                <p:pic>
                  <p:nvPicPr>
                    <p:cNvPr id="330" name="" descr=""/>
                    <p:cNvPicPr/>
                    <p:nvPr/>
                  </p:nvPicPr>
                  <p:blipFill>
                    <a:blip r:embed="rId4"/>
                    <a:stretch/>
                  </p:blipFill>
                  <p:spPr>
                    <a:xfrm>
                      <a:off x="2819160" y="2803320"/>
                      <a:ext cx="4546800" cy="604440"/>
                    </a:xfrm>
                    <a:prstGeom prst="rect">
                      <a:avLst/>
                    </a:prstGeom>
                    <a:noFill/>
                    <a:ln w="0">
                      <a:noFill/>
                    </a:ln>
                  </p:spPr>
                </p:pic>
              </p:oleObj>
            </a:graphicData>
          </a:graphic>
        </p:graphicFrame>
        <p:graphicFrame>
          <p:nvGraphicFramePr>
            <p:cNvPr id="331" name=""/>
            <p:cNvGraphicFramePr/>
            <p:nvPr/>
          </p:nvGraphicFramePr>
          <p:xfrm>
            <a:off x="2819160" y="3400200"/>
            <a:ext cx="4546800" cy="601200"/>
          </p:xfrm>
          <a:graphic>
            <a:graphicData uri="http://schemas.openxmlformats.org/presentationml/2006/ole">
              <p:oleObj r:id="rId5" spid="">
                <p:embed/>
                <p:pic>
                  <p:nvPicPr>
                    <p:cNvPr id="332" name="" descr=""/>
                    <p:cNvPicPr/>
                    <p:nvPr/>
                  </p:nvPicPr>
                  <p:blipFill>
                    <a:blip r:embed="rId6"/>
                    <a:stretch/>
                  </p:blipFill>
                  <p:spPr>
                    <a:xfrm>
                      <a:off x="2819160" y="3400200"/>
                      <a:ext cx="4546800" cy="601200"/>
                    </a:xfrm>
                    <a:prstGeom prst="rect">
                      <a:avLst/>
                    </a:prstGeom>
                    <a:noFill/>
                    <a:ln w="0">
                      <a:noFill/>
                    </a:ln>
                  </p:spPr>
                </p:pic>
              </p:oleObj>
            </a:graphicData>
          </a:graphic>
        </p:graphicFrame>
      </p:grpSp>
      <p:sp>
        <p:nvSpPr>
          <p:cNvPr id="333" name=""/>
          <p:cNvSpPr/>
          <p:nvPr/>
        </p:nvSpPr>
        <p:spPr>
          <a:xfrm>
            <a:off x="152280" y="3168720"/>
            <a:ext cx="2133720" cy="765000"/>
          </a:xfrm>
          <a:prstGeom prst="rect">
            <a:avLst/>
          </a:prstGeom>
          <a:solidFill>
            <a:srgbClr val="ffffff"/>
          </a:solidFill>
          <a:ln w="28440">
            <a:solidFill>
              <a:srgbClr val="000000"/>
            </a:solidFill>
            <a:miter/>
          </a:ln>
        </p:spPr>
        <p:style>
          <a:lnRef idx="0"/>
          <a:fillRef idx="0"/>
          <a:effectRef idx="0"/>
          <a:fontRef idx="minor"/>
        </p:style>
        <p:txBody>
          <a:bodyPr lIns="90000" rIns="90000" tIns="46800" bIns="46800" anchor="t">
            <a:spAutoFit/>
          </a:bodyPr>
          <a:p>
            <a:pPr>
              <a:lnSpc>
                <a:spcPct val="11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Black"/>
              </a:rPr>
              <a:t>Overall average score for “performance &amp; accountability” questions is 3.6%</a:t>
            </a:r>
            <a:endParaRPr b="0" lang="en-IN" sz="1000" strike="noStrike" u="none">
              <a:solidFill>
                <a:srgbClr val="000000"/>
              </a:solidFill>
              <a:effectLst/>
              <a:uFillTx/>
              <a:latin typeface="Arial"/>
            </a:endParaRPr>
          </a:p>
        </p:txBody>
      </p:sp>
      <p:grpSp>
        <p:nvGrpSpPr>
          <p:cNvPr id="334" name=""/>
          <p:cNvGrpSpPr/>
          <p:nvPr/>
        </p:nvGrpSpPr>
        <p:grpSpPr>
          <a:xfrm>
            <a:off x="2590920" y="3962520"/>
            <a:ext cx="4267080" cy="246600"/>
            <a:chOff x="2590920" y="3962520"/>
            <a:chExt cx="4267080" cy="246600"/>
          </a:xfrm>
        </p:grpSpPr>
        <p:sp>
          <p:nvSpPr>
            <p:cNvPr id="335" name=""/>
            <p:cNvSpPr/>
            <p:nvPr/>
          </p:nvSpPr>
          <p:spPr>
            <a:xfrm>
              <a:off x="2590920" y="3962520"/>
              <a:ext cx="70956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800000"/>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Never</a:t>
              </a:r>
              <a:endParaRPr b="0" lang="en-IN" sz="1000" strike="noStrike" u="none">
                <a:solidFill>
                  <a:srgbClr val="000000"/>
                </a:solidFill>
                <a:effectLst/>
                <a:uFillTx/>
                <a:latin typeface="Arial"/>
              </a:endParaRPr>
            </a:p>
          </p:txBody>
        </p:sp>
        <p:sp>
          <p:nvSpPr>
            <p:cNvPr id="336" name=""/>
            <p:cNvSpPr/>
            <p:nvPr/>
          </p:nvSpPr>
          <p:spPr>
            <a:xfrm>
              <a:off x="3276720" y="3962520"/>
              <a:ext cx="83808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cc0000"/>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Seldom</a:t>
              </a:r>
              <a:endParaRPr b="0" lang="en-IN" sz="1000" strike="noStrike" u="none">
                <a:solidFill>
                  <a:srgbClr val="000000"/>
                </a:solidFill>
                <a:effectLst/>
                <a:uFillTx/>
                <a:latin typeface="Arial"/>
              </a:endParaRPr>
            </a:p>
          </p:txBody>
        </p:sp>
        <p:sp>
          <p:nvSpPr>
            <p:cNvPr id="337" name=""/>
            <p:cNvSpPr/>
            <p:nvPr/>
          </p:nvSpPr>
          <p:spPr>
            <a:xfrm>
              <a:off x="4086360" y="3962520"/>
              <a:ext cx="112392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ffff00"/>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Occasionally</a:t>
              </a:r>
              <a:endParaRPr b="0" lang="en-IN" sz="1000" strike="noStrike" u="none">
                <a:solidFill>
                  <a:srgbClr val="000000"/>
                </a:solidFill>
                <a:effectLst/>
                <a:uFillTx/>
                <a:latin typeface="Arial"/>
              </a:endParaRPr>
            </a:p>
          </p:txBody>
        </p:sp>
        <p:sp>
          <p:nvSpPr>
            <p:cNvPr id="338" name=""/>
            <p:cNvSpPr/>
            <p:nvPr/>
          </p:nvSpPr>
          <p:spPr>
            <a:xfrm>
              <a:off x="5181840" y="3962520"/>
              <a:ext cx="9144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99ccff"/>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Usually</a:t>
              </a:r>
              <a:endParaRPr b="0" lang="en-IN" sz="1000" strike="noStrike" u="none">
                <a:solidFill>
                  <a:srgbClr val="000000"/>
                </a:solidFill>
                <a:effectLst/>
                <a:uFillTx/>
                <a:latin typeface="Arial"/>
              </a:endParaRPr>
            </a:p>
          </p:txBody>
        </p:sp>
        <p:sp>
          <p:nvSpPr>
            <p:cNvPr id="339" name=""/>
            <p:cNvSpPr/>
            <p:nvPr/>
          </p:nvSpPr>
          <p:spPr>
            <a:xfrm>
              <a:off x="6050160" y="3962520"/>
              <a:ext cx="80784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buClr>
                  <a:srgbClr val="0066ff"/>
                </a:buClr>
                <a:buSzPct val="13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Always</a:t>
              </a:r>
              <a:endParaRPr b="0" lang="en-IN" sz="1000" strike="noStrike" u="none">
                <a:solidFill>
                  <a:srgbClr val="000000"/>
                </a:solidFill>
                <a:effectLst/>
                <a:uFillTx/>
                <a:latin typeface="Arial"/>
              </a:endParaRPr>
            </a:p>
          </p:txBody>
        </p:sp>
      </p:grpSp>
      <p:sp>
        <p:nvSpPr>
          <p:cNvPr id="340" name=""/>
          <p:cNvSpPr/>
          <p:nvPr/>
        </p:nvSpPr>
        <p:spPr>
          <a:xfrm>
            <a:off x="838080" y="4267080"/>
            <a:ext cx="1524240" cy="551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Narrow"/>
              </a:rPr>
              <a:t>DOUBLE CLICK ON THE BAR CHARTS TO ENTER YOUR AGENCY’S DATA</a:t>
            </a:r>
            <a:endParaRPr b="0" lang="en-IN" sz="1000" strike="noStrike" u="none">
              <a:solidFill>
                <a:srgbClr val="000000"/>
              </a:solidFill>
              <a:effectLst/>
              <a:uFillTx/>
              <a:latin typeface="Arial"/>
            </a:endParaRPr>
          </a:p>
        </p:txBody>
      </p:sp>
      <p:sp>
        <p:nvSpPr>
          <p:cNvPr id="341" name=""/>
          <p:cNvSpPr/>
          <p:nvPr/>
        </p:nvSpPr>
        <p:spPr>
          <a:xfrm>
            <a:off x="6858000" y="1600200"/>
            <a:ext cx="2209680" cy="1946520"/>
          </a:xfrm>
          <a:prstGeom prst="rect">
            <a:avLst/>
          </a:prstGeom>
          <a:noFill/>
          <a:ln w="28440">
            <a:solidFill>
              <a:srgbClr val="000000"/>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Analysis:</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p:txBody>
      </p:sp>
      <p:sp>
        <p:nvSpPr>
          <p:cNvPr id="342" name=""/>
          <p:cNvSpPr/>
          <p:nvPr/>
        </p:nvSpPr>
        <p:spPr>
          <a:xfrm>
            <a:off x="6858000" y="3809880"/>
            <a:ext cx="2209680" cy="2503080"/>
          </a:xfrm>
          <a:prstGeom prst="rect">
            <a:avLst/>
          </a:prstGeom>
          <a:noFill/>
          <a:ln w="28440">
            <a:solidFill>
              <a:srgbClr val="000000"/>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Action Steps:</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2" name="PlaceHolder 1"/>
          <p:cNvSpPr>
            <a:spLocks noGrp="1"/>
          </p:cNvSpPr>
          <p:nvPr>
            <p:ph type="sldNum" idx="3"/>
          </p:nvPr>
        </p:nvSpPr>
        <p:spPr/>
        <p:txBody>
          <a:bodyPr/>
          <a:p>
            <a:fld id="{AADD4AA3-BA9D-49E2-A878-0726678DE9CC}"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3" name=""/>
          <p:cNvSpPr/>
          <p:nvPr/>
        </p:nvSpPr>
        <p:spPr>
          <a:xfrm>
            <a:off x="0" y="1295280"/>
            <a:ext cx="1981080" cy="293760"/>
          </a:xfrm>
          <a:prstGeom prst="rect">
            <a:avLst/>
          </a:prstGeom>
          <a:solidFill>
            <a:srgbClr val="ffff66"/>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graphicFrame>
        <p:nvGraphicFramePr>
          <p:cNvPr id="344" name=""/>
          <p:cNvGraphicFramePr/>
          <p:nvPr/>
        </p:nvGraphicFramePr>
        <p:xfrm>
          <a:off x="2057400" y="3809880"/>
          <a:ext cx="4648320" cy="3048120"/>
        </p:xfrm>
        <a:graphic>
          <a:graphicData uri="http://schemas.openxmlformats.org/presentationml/2006/ole">
            <p:oleObj r:id="rId1" spid="">
              <p:embed/>
              <p:pic>
                <p:nvPicPr>
                  <p:cNvPr id="345" name="" descr=""/>
                  <p:cNvPicPr/>
                  <p:nvPr/>
                </p:nvPicPr>
                <p:blipFill>
                  <a:blip r:embed="rId2"/>
                  <a:stretch/>
                </p:blipFill>
                <p:spPr>
                  <a:xfrm>
                    <a:off x="2057400" y="3809880"/>
                    <a:ext cx="4648320" cy="3048120"/>
                  </a:xfrm>
                  <a:prstGeom prst="rect">
                    <a:avLst/>
                  </a:prstGeom>
                  <a:noFill/>
                  <a:ln w="0">
                    <a:noFill/>
                  </a:ln>
                </p:spPr>
              </p:pic>
            </p:oleObj>
          </a:graphicData>
        </a:graphic>
      </p:graphicFrame>
      <p:sp>
        <p:nvSpPr>
          <p:cNvPr id="346" name=""/>
          <p:cNvSpPr/>
          <p:nvPr/>
        </p:nvSpPr>
        <p:spPr>
          <a:xfrm>
            <a:off x="2971800" y="3733920"/>
            <a:ext cx="320040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Narrow"/>
              </a:rPr>
              <a:t>Agency Workforce Turnover Breakdown</a:t>
            </a:r>
            <a:endParaRPr b="0" lang="en-IN" sz="1400" strike="noStrike" u="none">
              <a:solidFill>
                <a:srgbClr val="000000"/>
              </a:solidFill>
              <a:effectLst/>
              <a:uFillTx/>
              <a:latin typeface="Arial"/>
            </a:endParaRPr>
          </a:p>
        </p:txBody>
      </p:sp>
      <p:sp>
        <p:nvSpPr>
          <p:cNvPr id="347" name=""/>
          <p:cNvSpPr/>
          <p:nvPr/>
        </p:nvSpPr>
        <p:spPr>
          <a:xfrm>
            <a:off x="0" y="0"/>
            <a:ext cx="9144000" cy="618840"/>
          </a:xfrm>
          <a:prstGeom prst="rect">
            <a:avLst/>
          </a:prstGeom>
          <a:solidFill>
            <a:srgbClr val="ffcc00"/>
          </a:solidFill>
          <a:ln w="28440">
            <a:solidFill>
              <a:srgbClr val="000000"/>
            </a:solidFill>
            <a:miter/>
          </a:ln>
        </p:spPr>
        <p:style>
          <a:lnRef idx="0"/>
          <a:fillRef idx="0"/>
          <a:effectRef idx="0"/>
          <a:fontRef idx="minor"/>
        </p:style>
        <p:txBody>
          <a:bodyPr lIns="69480" rIns="69480" tIns="34920" bIns="34920" anchor="t">
            <a:spAutoFit/>
          </a:bodyPr>
          <a:p>
            <a:pPr>
              <a:lnSpc>
                <a:spcPct val="150000"/>
              </a:lnSpc>
              <a:spcBef>
                <a:spcPts val="75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2400" strike="noStrike" u="none">
                <a:solidFill>
                  <a:srgbClr val="000000"/>
                </a:solidFill>
                <a:effectLst/>
                <a:uFillTx/>
                <a:latin typeface="Arial Black"/>
              </a:rPr>
              <a:t>Ultimate Outcomes | </a:t>
            </a:r>
            <a:r>
              <a:rPr b="0" lang="en-IN" sz="1200" strike="noStrike" u="none">
                <a:solidFill>
                  <a:srgbClr val="000000"/>
                </a:solidFill>
                <a:effectLst/>
                <a:uFillTx/>
                <a:latin typeface="Arial Black"/>
              </a:rPr>
              <a:t>continued</a:t>
            </a:r>
            <a:endParaRPr b="0" lang="en-IN" sz="1200" strike="noStrike" u="none">
              <a:solidFill>
                <a:srgbClr val="000000"/>
              </a:solidFill>
              <a:effectLst/>
              <a:uFillTx/>
              <a:latin typeface="Arial"/>
            </a:endParaRPr>
          </a:p>
        </p:txBody>
      </p:sp>
      <p:sp>
        <p:nvSpPr>
          <p:cNvPr id="348" name=""/>
          <p:cNvSpPr/>
          <p:nvPr/>
        </p:nvSpPr>
        <p:spPr>
          <a:xfrm>
            <a:off x="0" y="0"/>
            <a:ext cx="27432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808080"/>
                </a:solidFill>
                <a:effectLst/>
                <a:uFillTx/>
                <a:latin typeface="Arial Black"/>
              </a:rPr>
              <a:t>HR Management Report category:</a:t>
            </a:r>
            <a:endParaRPr b="0" lang="en-IN" sz="1000" strike="noStrike" u="none">
              <a:solidFill>
                <a:srgbClr val="000000"/>
              </a:solidFill>
              <a:effectLst/>
              <a:uFillTx/>
              <a:latin typeface="Arial"/>
            </a:endParaRPr>
          </a:p>
        </p:txBody>
      </p:sp>
      <p:sp>
        <p:nvSpPr>
          <p:cNvPr id="349" name=""/>
          <p:cNvSpPr/>
          <p:nvPr/>
        </p:nvSpPr>
        <p:spPr>
          <a:xfrm>
            <a:off x="380880" y="4800600"/>
            <a:ext cx="914400" cy="36684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350" name=""/>
          <p:cNvSpPr/>
          <p:nvPr/>
        </p:nvSpPr>
        <p:spPr>
          <a:xfrm>
            <a:off x="3428640" y="914400"/>
            <a:ext cx="1756800" cy="5209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Narrow"/>
              </a:rPr>
              <a:t>Agency-wide Turnover</a:t>
            </a:r>
            <a:br>
              <a:rPr sz="1400"/>
            </a:br>
            <a:r>
              <a:rPr b="1" lang="en-IN" sz="1400" strike="noStrike" u="none">
                <a:solidFill>
                  <a:srgbClr val="000000"/>
                </a:solidFill>
                <a:effectLst/>
                <a:uFillTx/>
                <a:latin typeface="Arial Narrow"/>
              </a:rPr>
              <a:t>[</a:t>
            </a:r>
            <a:r>
              <a:rPr b="0" lang="en-IN" sz="1400" strike="noStrike" u="none">
                <a:solidFill>
                  <a:srgbClr val="000000"/>
                </a:solidFill>
                <a:effectLst/>
                <a:uFillTx/>
                <a:latin typeface="Arial Narrow"/>
              </a:rPr>
              <a:t>leaving agency]</a:t>
            </a:r>
            <a:endParaRPr b="0" lang="en-IN" sz="1400" strike="noStrike" u="none">
              <a:solidFill>
                <a:srgbClr val="000000"/>
              </a:solidFill>
              <a:effectLst/>
              <a:uFillTx/>
              <a:latin typeface="Arial"/>
            </a:endParaRPr>
          </a:p>
        </p:txBody>
      </p:sp>
      <p:graphicFrame>
        <p:nvGraphicFramePr>
          <p:cNvPr id="351" name=""/>
          <p:cNvGraphicFramePr/>
          <p:nvPr/>
        </p:nvGraphicFramePr>
        <p:xfrm>
          <a:off x="2286000" y="914400"/>
          <a:ext cx="4343400" cy="2800440"/>
        </p:xfrm>
        <a:graphic>
          <a:graphicData uri="http://schemas.openxmlformats.org/presentationml/2006/ole">
            <p:oleObj r:id="rId3" spid="">
              <p:embed/>
              <p:pic>
                <p:nvPicPr>
                  <p:cNvPr id="352" name="" descr=""/>
                  <p:cNvPicPr/>
                  <p:nvPr/>
                </p:nvPicPr>
                <p:blipFill>
                  <a:blip r:embed="rId4"/>
                  <a:stretch/>
                </p:blipFill>
                <p:spPr>
                  <a:xfrm>
                    <a:off x="2286000" y="914400"/>
                    <a:ext cx="4343400" cy="2800440"/>
                  </a:xfrm>
                  <a:prstGeom prst="rect">
                    <a:avLst/>
                  </a:prstGeom>
                  <a:noFill/>
                  <a:ln w="0">
                    <a:noFill/>
                  </a:ln>
                </p:spPr>
              </p:pic>
            </p:oleObj>
          </a:graphicData>
        </a:graphic>
      </p:graphicFrame>
      <p:sp>
        <p:nvSpPr>
          <p:cNvPr id="353" name=""/>
          <p:cNvSpPr/>
          <p:nvPr/>
        </p:nvSpPr>
        <p:spPr>
          <a:xfrm>
            <a:off x="0" y="685800"/>
            <a:ext cx="2057400" cy="1219320"/>
          </a:xfrm>
          <a:prstGeom prst="rect">
            <a:avLst/>
          </a:prstGeom>
          <a:noFill/>
          <a:ln w="0">
            <a:noFill/>
          </a:ln>
        </p:spPr>
        <p:style>
          <a:lnRef idx="0"/>
          <a:fillRef idx="0"/>
          <a:effectRef idx="0"/>
          <a:fontRef idx="minor"/>
        </p:style>
        <p:txBody>
          <a:bodyPr lIns="90000" rIns="90000" tIns="46800" bIns="46800" anchor="t">
            <a:normAutofit fontScale="77500" lnSpcReduction="19999"/>
          </a:bodyPr>
          <a:p>
            <a:pPr marL="228600" indent="-228600">
              <a:lnSpc>
                <a:spcPct val="10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Black"/>
              </a:rPr>
              <a:t>Performance Measures</a:t>
            </a:r>
            <a:endParaRPr b="0" lang="en-IN" sz="1000" strike="noStrike" u="none">
              <a:solidFill>
                <a:srgbClr val="000000"/>
              </a:solidFill>
              <a:effectLst/>
              <a:uFillTx/>
              <a:latin typeface="Arial"/>
            </a:endParaRPr>
          </a:p>
          <a:p>
            <a:pPr marL="228600" indent="-228600">
              <a:lnSpc>
                <a:spcPct val="100000"/>
              </a:lnSpc>
              <a:spcBef>
                <a:spcPts val="37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Employee survey ratings on “commitment” questions</a:t>
            </a:r>
            <a:endParaRPr b="0" lang="en-IN" sz="1000" strike="noStrike" u="none">
              <a:solidFill>
                <a:srgbClr val="000000"/>
              </a:solidFill>
              <a:effectLst/>
              <a:uFillTx/>
              <a:latin typeface="Arial"/>
            </a:endParaRPr>
          </a:p>
          <a:p>
            <a:pPr marL="228600" indent="-228600">
              <a:lnSpc>
                <a:spcPct val="100000"/>
              </a:lnSpc>
              <a:spcBef>
                <a:spcPts val="37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Turnover rates and types (e.g., retirement, resignation, etc.)</a:t>
            </a:r>
            <a:endParaRPr b="0" lang="en-IN" sz="1000" strike="noStrike" u="none">
              <a:solidFill>
                <a:srgbClr val="000000"/>
              </a:solidFill>
              <a:effectLst/>
              <a:uFillTx/>
              <a:latin typeface="Arial"/>
            </a:endParaRPr>
          </a:p>
          <a:p>
            <a:pPr marL="228600" indent="-228600">
              <a:lnSpc>
                <a:spcPct val="100000"/>
              </a:lnSpc>
              <a:spcBef>
                <a:spcPts val="37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Turnover rate of key occupational categories  - </a:t>
            </a:r>
            <a:r>
              <a:rPr b="1" lang="en-IN" sz="1000" strike="noStrike" u="none">
                <a:solidFill>
                  <a:srgbClr val="000000"/>
                </a:solidFill>
                <a:effectLst/>
                <a:uFillTx/>
                <a:latin typeface="Arial Narrow"/>
              </a:rPr>
              <a:t>TBD</a:t>
            </a:r>
            <a:endParaRPr b="0" lang="en-IN" sz="1000" strike="noStrike" u="none">
              <a:solidFill>
                <a:srgbClr val="000000"/>
              </a:solidFill>
              <a:effectLst/>
              <a:uFillTx/>
              <a:latin typeface="Arial"/>
            </a:endParaRPr>
          </a:p>
          <a:p>
            <a:pPr marL="228600" indent="-228600">
              <a:lnSpc>
                <a:spcPct val="100000"/>
              </a:lnSpc>
              <a:spcBef>
                <a:spcPts val="37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Diversity profile [&amp; turnover TBD]</a:t>
            </a:r>
            <a:endParaRPr b="0" lang="en-IN" sz="1000" strike="noStrike" u="none">
              <a:solidFill>
                <a:srgbClr val="000000"/>
              </a:solidFill>
              <a:effectLst/>
              <a:uFillTx/>
              <a:latin typeface="Arial"/>
            </a:endParaRPr>
          </a:p>
        </p:txBody>
      </p:sp>
      <p:sp>
        <p:nvSpPr>
          <p:cNvPr id="354" name=""/>
          <p:cNvSpPr/>
          <p:nvPr/>
        </p:nvSpPr>
        <p:spPr>
          <a:xfrm>
            <a:off x="2133720" y="3733920"/>
            <a:ext cx="4724280" cy="2971800"/>
          </a:xfrm>
          <a:prstGeom prst="rect">
            <a:avLst/>
          </a:prstGeom>
          <a:noFill/>
          <a:ln w="2844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355" name=""/>
          <p:cNvSpPr/>
          <p:nvPr/>
        </p:nvSpPr>
        <p:spPr>
          <a:xfrm>
            <a:off x="2133720" y="914400"/>
            <a:ext cx="4724280" cy="2743200"/>
          </a:xfrm>
          <a:prstGeom prst="rect">
            <a:avLst/>
          </a:prstGeom>
          <a:noFill/>
          <a:ln w="2844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356" name=""/>
          <p:cNvSpPr/>
          <p:nvPr/>
        </p:nvSpPr>
        <p:spPr>
          <a:xfrm>
            <a:off x="380880" y="3382920"/>
            <a:ext cx="1524240" cy="551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Narrow"/>
              </a:rPr>
              <a:t>DOUBLE CLICK ON THE CHARTS TO ENTER YOUR AGENCY’S DATA</a:t>
            </a:r>
            <a:endParaRPr b="0" lang="en-IN" sz="1000" strike="noStrike" u="none">
              <a:solidFill>
                <a:srgbClr val="000000"/>
              </a:solidFill>
              <a:effectLst/>
              <a:uFillTx/>
              <a:latin typeface="Arial"/>
            </a:endParaRPr>
          </a:p>
        </p:txBody>
      </p:sp>
      <p:sp>
        <p:nvSpPr>
          <p:cNvPr id="357" name=""/>
          <p:cNvSpPr/>
          <p:nvPr/>
        </p:nvSpPr>
        <p:spPr>
          <a:xfrm>
            <a:off x="7010280" y="914400"/>
            <a:ext cx="2057400" cy="1946520"/>
          </a:xfrm>
          <a:prstGeom prst="rect">
            <a:avLst/>
          </a:prstGeom>
          <a:noFill/>
          <a:ln w="28440">
            <a:solidFill>
              <a:srgbClr val="000000"/>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Analysis:</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p:txBody>
      </p:sp>
      <p:sp>
        <p:nvSpPr>
          <p:cNvPr id="358" name=""/>
          <p:cNvSpPr/>
          <p:nvPr/>
        </p:nvSpPr>
        <p:spPr>
          <a:xfrm>
            <a:off x="7010280" y="3124080"/>
            <a:ext cx="2057400" cy="2503080"/>
          </a:xfrm>
          <a:prstGeom prst="rect">
            <a:avLst/>
          </a:prstGeom>
          <a:noFill/>
          <a:ln w="28440">
            <a:solidFill>
              <a:srgbClr val="000000"/>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Action Steps:</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2" name="PlaceHolder 1"/>
          <p:cNvSpPr>
            <a:spLocks noGrp="1"/>
          </p:cNvSpPr>
          <p:nvPr>
            <p:ph type="sldNum" idx="3"/>
          </p:nvPr>
        </p:nvSpPr>
        <p:spPr/>
        <p:txBody>
          <a:bodyPr/>
          <a:p>
            <a:fld id="{611B3DE7-4B18-41C8-AF85-9DC07AFD8920}"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359" name=""/>
          <p:cNvGraphicFramePr/>
          <p:nvPr/>
        </p:nvGraphicFramePr>
        <p:xfrm>
          <a:off x="4724280" y="228600"/>
          <a:ext cx="4267440" cy="4078440"/>
        </p:xfrm>
        <a:graphic>
          <a:graphicData uri="http://schemas.openxmlformats.org/presentationml/2006/ole">
            <p:oleObj r:id="rId1" spid="">
              <p:embed/>
              <p:pic>
                <p:nvPicPr>
                  <p:cNvPr id="360" name="" descr=""/>
                  <p:cNvPicPr/>
                  <p:nvPr/>
                </p:nvPicPr>
                <p:blipFill>
                  <a:blip r:embed="rId2"/>
                  <a:stretch/>
                </p:blipFill>
                <p:spPr>
                  <a:xfrm>
                    <a:off x="4724280" y="228600"/>
                    <a:ext cx="4267440" cy="4078440"/>
                  </a:xfrm>
                  <a:prstGeom prst="rect">
                    <a:avLst/>
                  </a:prstGeom>
                  <a:noFill/>
                  <a:ln w="0">
                    <a:noFill/>
                  </a:ln>
                </p:spPr>
              </p:pic>
            </p:oleObj>
          </a:graphicData>
        </a:graphic>
      </p:graphicFrame>
      <p:graphicFrame>
        <p:nvGraphicFramePr>
          <p:cNvPr id="361" name=""/>
          <p:cNvGraphicFramePr/>
          <p:nvPr/>
        </p:nvGraphicFramePr>
        <p:xfrm>
          <a:off x="4952880" y="3200400"/>
          <a:ext cx="4114800" cy="4078440"/>
        </p:xfrm>
        <a:graphic>
          <a:graphicData uri="http://schemas.openxmlformats.org/presentationml/2006/ole">
            <p:oleObj r:id="rId3" spid="">
              <p:embed/>
              <p:pic>
                <p:nvPicPr>
                  <p:cNvPr id="362" name="" descr=""/>
                  <p:cNvPicPr/>
                  <p:nvPr/>
                </p:nvPicPr>
                <p:blipFill>
                  <a:blip r:embed="rId4"/>
                  <a:stretch/>
                </p:blipFill>
                <p:spPr>
                  <a:xfrm>
                    <a:off x="4952880" y="3200400"/>
                    <a:ext cx="4114800" cy="4078440"/>
                  </a:xfrm>
                  <a:prstGeom prst="rect">
                    <a:avLst/>
                  </a:prstGeom>
                  <a:noFill/>
                  <a:ln w="0">
                    <a:noFill/>
                  </a:ln>
                </p:spPr>
              </p:pic>
            </p:oleObj>
          </a:graphicData>
        </a:graphic>
      </p:graphicFrame>
      <p:sp>
        <p:nvSpPr>
          <p:cNvPr id="363" name=""/>
          <p:cNvSpPr/>
          <p:nvPr/>
        </p:nvSpPr>
        <p:spPr>
          <a:xfrm>
            <a:off x="0" y="1981080"/>
            <a:ext cx="1981080" cy="228600"/>
          </a:xfrm>
          <a:prstGeom prst="rect">
            <a:avLst/>
          </a:prstGeom>
          <a:solidFill>
            <a:srgbClr val="ffff66"/>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364" name=""/>
          <p:cNvSpPr/>
          <p:nvPr/>
        </p:nvSpPr>
        <p:spPr>
          <a:xfrm>
            <a:off x="0" y="685800"/>
            <a:ext cx="2057400" cy="1219320"/>
          </a:xfrm>
          <a:prstGeom prst="rect">
            <a:avLst/>
          </a:prstGeom>
          <a:noFill/>
          <a:ln w="0">
            <a:noFill/>
          </a:ln>
        </p:spPr>
        <p:style>
          <a:lnRef idx="0"/>
          <a:fillRef idx="0"/>
          <a:effectRef idx="0"/>
          <a:fontRef idx="minor"/>
        </p:style>
        <p:txBody>
          <a:bodyPr lIns="90000" rIns="90000" tIns="46800" bIns="46800" anchor="t">
            <a:normAutofit fontScale="77500" lnSpcReduction="19999"/>
          </a:bodyPr>
          <a:p>
            <a:pPr marL="228600" indent="-228600">
              <a:lnSpc>
                <a:spcPct val="10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Black"/>
              </a:rPr>
              <a:t>Performance Measures</a:t>
            </a:r>
            <a:endParaRPr b="0" lang="en-IN" sz="1000" strike="noStrike" u="none">
              <a:solidFill>
                <a:srgbClr val="000000"/>
              </a:solidFill>
              <a:effectLst/>
              <a:uFillTx/>
              <a:latin typeface="Arial"/>
            </a:endParaRPr>
          </a:p>
          <a:p>
            <a:pPr marL="228600" indent="-228600">
              <a:lnSpc>
                <a:spcPct val="100000"/>
              </a:lnSpc>
              <a:spcBef>
                <a:spcPts val="37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Employee survey ratings on “commitment” questions</a:t>
            </a:r>
            <a:endParaRPr b="0" lang="en-IN" sz="1000" strike="noStrike" u="none">
              <a:solidFill>
                <a:srgbClr val="000000"/>
              </a:solidFill>
              <a:effectLst/>
              <a:uFillTx/>
              <a:latin typeface="Arial"/>
            </a:endParaRPr>
          </a:p>
          <a:p>
            <a:pPr marL="228600" indent="-228600">
              <a:lnSpc>
                <a:spcPct val="100000"/>
              </a:lnSpc>
              <a:spcBef>
                <a:spcPts val="37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Turnover rates and types (e.g., retirement, resignation, etc.)</a:t>
            </a:r>
            <a:endParaRPr b="0" lang="en-IN" sz="1000" strike="noStrike" u="none">
              <a:solidFill>
                <a:srgbClr val="000000"/>
              </a:solidFill>
              <a:effectLst/>
              <a:uFillTx/>
              <a:latin typeface="Arial"/>
            </a:endParaRPr>
          </a:p>
          <a:p>
            <a:pPr marL="228600" indent="-228600">
              <a:lnSpc>
                <a:spcPct val="100000"/>
              </a:lnSpc>
              <a:spcBef>
                <a:spcPts val="37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Turnover rate of key occupational categories  - </a:t>
            </a:r>
            <a:r>
              <a:rPr b="1" lang="en-IN" sz="1000" strike="noStrike" u="none">
                <a:solidFill>
                  <a:srgbClr val="000000"/>
                </a:solidFill>
                <a:effectLst/>
                <a:uFillTx/>
                <a:latin typeface="Arial Narrow"/>
              </a:rPr>
              <a:t>TBD</a:t>
            </a:r>
            <a:endParaRPr b="0" lang="en-IN" sz="1000" strike="noStrike" u="none">
              <a:solidFill>
                <a:srgbClr val="000000"/>
              </a:solidFill>
              <a:effectLst/>
              <a:uFillTx/>
              <a:latin typeface="Arial"/>
            </a:endParaRPr>
          </a:p>
          <a:p>
            <a:pPr marL="228600" indent="-228600">
              <a:lnSpc>
                <a:spcPct val="100000"/>
              </a:lnSpc>
              <a:spcBef>
                <a:spcPts val="374"/>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Narrow"/>
              </a:rPr>
              <a:t> Diversity profile [&amp; turnover TBD]</a:t>
            </a:r>
            <a:endParaRPr b="0" lang="en-IN" sz="1000" strike="noStrike" u="none">
              <a:solidFill>
                <a:srgbClr val="000000"/>
              </a:solidFill>
              <a:effectLst/>
              <a:uFillTx/>
              <a:latin typeface="Arial"/>
            </a:endParaRPr>
          </a:p>
        </p:txBody>
      </p:sp>
      <p:sp>
        <p:nvSpPr>
          <p:cNvPr id="365" name=""/>
          <p:cNvSpPr/>
          <p:nvPr/>
        </p:nvSpPr>
        <p:spPr>
          <a:xfrm>
            <a:off x="0" y="0"/>
            <a:ext cx="9144000" cy="618840"/>
          </a:xfrm>
          <a:prstGeom prst="rect">
            <a:avLst/>
          </a:prstGeom>
          <a:solidFill>
            <a:srgbClr val="ffcc00"/>
          </a:solidFill>
          <a:ln w="28440">
            <a:solidFill>
              <a:srgbClr val="000000"/>
            </a:solidFill>
            <a:miter/>
          </a:ln>
        </p:spPr>
        <p:style>
          <a:lnRef idx="0"/>
          <a:fillRef idx="0"/>
          <a:effectRef idx="0"/>
          <a:fontRef idx="minor"/>
        </p:style>
        <p:txBody>
          <a:bodyPr lIns="69480" rIns="69480" tIns="34920" bIns="34920" anchor="t">
            <a:spAutoFit/>
          </a:bodyPr>
          <a:p>
            <a:pPr>
              <a:lnSpc>
                <a:spcPct val="150000"/>
              </a:lnSpc>
              <a:spcBef>
                <a:spcPts val="751"/>
              </a:spcBef>
              <a:tabLst>
                <a:tab algn="l" pos="0"/>
                <a:tab algn="l" pos="695160"/>
                <a:tab algn="l" pos="1390680"/>
                <a:tab algn="l" pos="2085840"/>
                <a:tab algn="l" pos="2781360"/>
                <a:tab algn="l" pos="3476520"/>
                <a:tab algn="l" pos="4172040"/>
                <a:tab algn="l" pos="4867200"/>
                <a:tab algn="l" pos="5562720"/>
                <a:tab algn="l" pos="6257880"/>
                <a:tab algn="l" pos="6953400"/>
                <a:tab algn="l" pos="7648560"/>
                <a:tab algn="l" pos="8344080"/>
                <a:tab algn="l" pos="9039240"/>
                <a:tab algn="l" pos="9734400"/>
                <a:tab algn="l" pos="10429920"/>
              </a:tabLst>
            </a:pPr>
            <a:r>
              <a:rPr b="0" lang="en-IN" sz="2400" strike="noStrike" u="none">
                <a:solidFill>
                  <a:srgbClr val="000000"/>
                </a:solidFill>
                <a:effectLst/>
                <a:uFillTx/>
                <a:latin typeface="Arial Black"/>
              </a:rPr>
              <a:t>Ultimate Outcomes | </a:t>
            </a:r>
            <a:r>
              <a:rPr b="0" lang="en-IN" sz="1200" strike="noStrike" u="none">
                <a:solidFill>
                  <a:srgbClr val="000000"/>
                </a:solidFill>
                <a:effectLst/>
                <a:uFillTx/>
                <a:latin typeface="Arial Black"/>
              </a:rPr>
              <a:t>continued</a:t>
            </a:r>
            <a:endParaRPr b="0" lang="en-IN" sz="1200" strike="noStrike" u="none">
              <a:solidFill>
                <a:srgbClr val="000000"/>
              </a:solidFill>
              <a:effectLst/>
              <a:uFillTx/>
              <a:latin typeface="Arial"/>
            </a:endParaRPr>
          </a:p>
        </p:txBody>
      </p:sp>
      <p:sp>
        <p:nvSpPr>
          <p:cNvPr id="366" name=""/>
          <p:cNvSpPr/>
          <p:nvPr/>
        </p:nvSpPr>
        <p:spPr>
          <a:xfrm>
            <a:off x="0" y="0"/>
            <a:ext cx="27432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808080"/>
                </a:solidFill>
                <a:effectLst/>
                <a:uFillTx/>
                <a:latin typeface="Arial Black"/>
              </a:rPr>
              <a:t>HR Management Report category:</a:t>
            </a:r>
            <a:endParaRPr b="0" lang="en-IN" sz="1000" strike="noStrike" u="none">
              <a:solidFill>
                <a:srgbClr val="000000"/>
              </a:solidFill>
              <a:effectLst/>
              <a:uFillTx/>
              <a:latin typeface="Arial"/>
            </a:endParaRPr>
          </a:p>
        </p:txBody>
      </p:sp>
      <p:sp>
        <p:nvSpPr>
          <p:cNvPr id="367" name=""/>
          <p:cNvSpPr/>
          <p:nvPr/>
        </p:nvSpPr>
        <p:spPr>
          <a:xfrm>
            <a:off x="380880" y="4800600"/>
            <a:ext cx="914400" cy="36684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368" name=""/>
          <p:cNvSpPr/>
          <p:nvPr/>
        </p:nvSpPr>
        <p:spPr>
          <a:xfrm>
            <a:off x="3886200" y="1432080"/>
            <a:ext cx="1523880" cy="551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Narrow"/>
              </a:rPr>
              <a:t>DOUBLE CLICK ON THE CHART TO ENTER YOUR AGENCY’S DATA</a:t>
            </a:r>
            <a:endParaRPr b="0" lang="en-IN" sz="1000" strike="noStrike" u="none">
              <a:solidFill>
                <a:srgbClr val="000000"/>
              </a:solidFill>
              <a:effectLst/>
              <a:uFillTx/>
              <a:latin typeface="Arial"/>
            </a:endParaRPr>
          </a:p>
        </p:txBody>
      </p:sp>
      <p:sp>
        <p:nvSpPr>
          <p:cNvPr id="369" name=""/>
          <p:cNvSpPr/>
          <p:nvPr/>
        </p:nvSpPr>
        <p:spPr>
          <a:xfrm>
            <a:off x="152280" y="4844880"/>
            <a:ext cx="3429000" cy="1668240"/>
          </a:xfrm>
          <a:prstGeom prst="rect">
            <a:avLst/>
          </a:prstGeom>
          <a:noFill/>
          <a:ln w="28440">
            <a:solidFill>
              <a:srgbClr val="000000"/>
            </a:solidFill>
            <a:miter/>
          </a:ln>
        </p:spPr>
        <p:style>
          <a:lnRef idx="0"/>
          <a:fillRef idx="0"/>
          <a:effectRef idx="0"/>
          <a:fontRef idx="minor"/>
        </p:style>
        <p:txBody>
          <a:bodyPr lIns="90000" rIns="90000" tIns="46800" bIns="46800" anchor="t">
            <a:spAutoFit/>
          </a:bodyPr>
          <a:p>
            <a:pPr marL="168120" indent="-168120">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Black"/>
              </a:rPr>
              <a:t>Notes:</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buClr>
                <a:srgbClr val="0000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XXX</a:t>
            </a:r>
            <a:endParaRPr b="0" lang="en-IN" sz="1200" strike="noStrike" u="none">
              <a:solidFill>
                <a:srgbClr val="000000"/>
              </a:solidFill>
              <a:effectLst/>
              <a:uFillTx/>
              <a:latin typeface="Arial"/>
            </a:endParaRPr>
          </a:p>
          <a:p>
            <a:pPr marL="168120" indent="-16812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
        <p:nvSpPr>
          <p:cNvPr id="370" name=""/>
          <p:cNvSpPr/>
          <p:nvPr/>
        </p:nvSpPr>
        <p:spPr>
          <a:xfrm>
            <a:off x="152280" y="2612880"/>
            <a:ext cx="3429000" cy="2059920"/>
          </a:xfrm>
          <a:prstGeom prst="rect">
            <a:avLst/>
          </a:prstGeom>
          <a:noFill/>
          <a:ln w="28440">
            <a:solidFill>
              <a:srgbClr val="000000"/>
            </a:solidFill>
            <a:miter/>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Narrow"/>
              </a:rPr>
              <a:t>Diversity Profile</a:t>
            </a:r>
            <a:r>
              <a:rPr b="1" lang="en-IN" sz="1200" strike="noStrike" u="none">
                <a:solidFill>
                  <a:srgbClr val="000000"/>
                </a:solidFill>
                <a:effectLst/>
                <a:uFillTx/>
                <a:latin typeface="Arial Narrow"/>
              </a:rPr>
              <a:t>     </a:t>
            </a:r>
            <a:r>
              <a:rPr b="1" lang="en-IN" sz="1200" strike="noStrike" u="none">
                <a:solidFill>
                  <a:srgbClr val="000000"/>
                </a:solidFill>
                <a:effectLst/>
                <a:uFillTx/>
                <a:latin typeface="Arial Narrow"/>
              </a:rPr>
              <a:t>	</a:t>
            </a:r>
            <a:r>
              <a:rPr b="1" lang="en-IN" sz="1200" strike="noStrike" u="none">
                <a:solidFill>
                  <a:srgbClr val="000000"/>
                </a:solidFill>
                <a:effectLst/>
                <a:uFillTx/>
                <a:latin typeface="Arial Narrow"/>
              </a:rPr>
              <a:t> [</a:t>
            </a:r>
            <a:r>
              <a:rPr b="1" lang="en-IN" sz="1400" strike="noStrike" u="none">
                <a:solidFill>
                  <a:srgbClr val="000000"/>
                </a:solidFill>
                <a:effectLst/>
                <a:uFillTx/>
                <a:latin typeface="Arial Narrow"/>
              </a:rPr>
              <a:t>Agency]</a:t>
            </a:r>
            <a:r>
              <a:rPr b="1" lang="en-IN" sz="1400" strike="noStrike" u="none">
                <a:solidFill>
                  <a:srgbClr val="000000"/>
                </a:solidFill>
                <a:effectLst/>
                <a:uFillTx/>
                <a:latin typeface="Arial Narrow"/>
              </a:rPr>
              <a:t>	</a:t>
            </a:r>
            <a:r>
              <a:rPr b="1" lang="en-IN" sz="1400" strike="noStrike" u="none">
                <a:solidFill>
                  <a:srgbClr val="000000"/>
                </a:solidFill>
                <a:effectLst/>
                <a:uFillTx/>
                <a:latin typeface="Arial Narrow"/>
              </a:rPr>
              <a:t>State</a:t>
            </a:r>
            <a:endParaRPr b="0" lang="en-IN" sz="1400" strike="noStrike" u="none">
              <a:solidFill>
                <a:srgbClr val="000000"/>
              </a:solidFill>
              <a:effectLst/>
              <a:uFillTx/>
              <a:latin typeface="Arial"/>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rPr>
              <a:t>Women</a:t>
            </a:r>
            <a:r>
              <a:rPr b="0" lang="en-IN" sz="1200" strike="noStrike" u="none">
                <a:solidFill>
                  <a:srgbClr val="000000"/>
                </a:solidFill>
                <a:effectLst/>
                <a:uFillTx/>
                <a:latin typeface="Arial Narrow"/>
              </a:rPr>
              <a:t>	</a:t>
            </a:r>
            <a:r>
              <a:rPr b="0" lang="en-IN" sz="1200" strike="noStrike" u="none">
                <a:solidFill>
                  <a:srgbClr val="000000"/>
                </a:solidFill>
                <a:effectLst/>
                <a:uFillTx/>
                <a:latin typeface="Arial Narrow"/>
              </a:rPr>
              <a:t>	</a:t>
            </a:r>
            <a:r>
              <a:rPr b="0" lang="en-IN" sz="1200" strike="noStrike" u="none">
                <a:solidFill>
                  <a:srgbClr val="000000"/>
                </a:solidFill>
                <a:effectLst/>
                <a:uFillTx/>
                <a:latin typeface="Arial Narrow"/>
              </a:rPr>
              <a:t>   47%</a:t>
            </a:r>
            <a:r>
              <a:rPr b="0" lang="en-IN" sz="1200" strike="noStrike" u="none">
                <a:solidFill>
                  <a:srgbClr val="000000"/>
                </a:solidFill>
                <a:effectLst/>
                <a:uFillTx/>
                <a:latin typeface="Arial Narrow"/>
              </a:rPr>
              <a:t>	</a:t>
            </a:r>
            <a:r>
              <a:rPr b="0" lang="en-IN" sz="1200" strike="noStrike" u="none">
                <a:solidFill>
                  <a:srgbClr val="000000"/>
                </a:solidFill>
                <a:effectLst/>
                <a:uFillTx/>
                <a:latin typeface="Arial Narrow"/>
              </a:rPr>
              <a:t>   52%</a:t>
            </a:r>
            <a:endParaRPr b="0" lang="en-IN" sz="1200" strike="noStrike" u="none">
              <a:solidFill>
                <a:srgbClr val="000000"/>
              </a:solidFill>
              <a:effectLst/>
              <a:uFillTx/>
              <a:latin typeface="Arial"/>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rPr>
              <a:t>Persons with disabilities</a:t>
            </a:r>
            <a:r>
              <a:rPr b="0" lang="en-IN" sz="1200" strike="noStrike" u="none">
                <a:solidFill>
                  <a:srgbClr val="000000"/>
                </a:solidFill>
                <a:effectLst/>
                <a:uFillTx/>
                <a:latin typeface="Arial Narrow"/>
              </a:rPr>
              <a:t>	</a:t>
            </a:r>
            <a:r>
              <a:rPr b="0" lang="en-IN" sz="1200" strike="noStrike" u="none">
                <a:solidFill>
                  <a:srgbClr val="000000"/>
                </a:solidFill>
                <a:effectLst/>
                <a:uFillTx/>
                <a:latin typeface="Arial Narrow"/>
              </a:rPr>
              <a:t>   2.4%</a:t>
            </a:r>
            <a:r>
              <a:rPr b="0" lang="en-IN" sz="1200" strike="noStrike" u="none">
                <a:solidFill>
                  <a:srgbClr val="000000"/>
                </a:solidFill>
                <a:effectLst/>
                <a:uFillTx/>
                <a:latin typeface="Arial Narrow"/>
              </a:rPr>
              <a:t>	</a:t>
            </a:r>
            <a:r>
              <a:rPr b="0" lang="en-IN" sz="1200" strike="noStrike" u="none">
                <a:solidFill>
                  <a:srgbClr val="000000"/>
                </a:solidFill>
                <a:effectLst/>
                <a:uFillTx/>
                <a:latin typeface="Arial Narrow"/>
              </a:rPr>
              <a:t>    5%</a:t>
            </a:r>
            <a:endParaRPr b="0" lang="en-IN" sz="1200" strike="noStrike" u="none">
              <a:solidFill>
                <a:srgbClr val="000000"/>
              </a:solidFill>
              <a:effectLst/>
              <a:uFillTx/>
              <a:latin typeface="Arial"/>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rPr>
              <a:t>Vietnam Veterans</a:t>
            </a:r>
            <a:r>
              <a:rPr b="0" lang="en-IN" sz="1200" strike="noStrike" u="none">
                <a:solidFill>
                  <a:srgbClr val="000000"/>
                </a:solidFill>
                <a:effectLst/>
                <a:uFillTx/>
                <a:latin typeface="Arial Narrow"/>
              </a:rPr>
              <a:t>	</a:t>
            </a:r>
            <a:r>
              <a:rPr b="0" lang="en-IN" sz="1200" strike="noStrike" u="none">
                <a:solidFill>
                  <a:srgbClr val="000000"/>
                </a:solidFill>
                <a:effectLst/>
                <a:uFillTx/>
                <a:latin typeface="Arial Narrow"/>
              </a:rPr>
              <a:t>   6.5%</a:t>
            </a:r>
            <a:r>
              <a:rPr b="0" lang="en-IN" sz="1200" strike="noStrike" u="none">
                <a:solidFill>
                  <a:srgbClr val="000000"/>
                </a:solidFill>
                <a:effectLst/>
                <a:uFillTx/>
                <a:latin typeface="Arial Narrow"/>
              </a:rPr>
              <a:t>	</a:t>
            </a:r>
            <a:r>
              <a:rPr b="0" lang="en-IN" sz="1200" strike="noStrike" u="none">
                <a:solidFill>
                  <a:srgbClr val="000000"/>
                </a:solidFill>
                <a:effectLst/>
                <a:uFillTx/>
                <a:latin typeface="Arial Narrow"/>
              </a:rPr>
              <a:t>    7%</a:t>
            </a:r>
            <a:endParaRPr b="0" lang="en-IN" sz="1200" strike="noStrike" u="none">
              <a:solidFill>
                <a:srgbClr val="000000"/>
              </a:solidFill>
              <a:effectLst/>
              <a:uFillTx/>
              <a:latin typeface="Arial"/>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rPr>
              <a:t>Disabled Veterans</a:t>
            </a:r>
            <a:r>
              <a:rPr b="0" lang="en-IN" sz="1200" strike="noStrike" u="none">
                <a:solidFill>
                  <a:srgbClr val="000000"/>
                </a:solidFill>
                <a:effectLst/>
                <a:uFillTx/>
                <a:latin typeface="Arial Narrow"/>
              </a:rPr>
              <a:t>	</a:t>
            </a:r>
            <a:r>
              <a:rPr b="0" lang="en-IN" sz="1200" strike="noStrike" u="none">
                <a:solidFill>
                  <a:srgbClr val="000000"/>
                </a:solidFill>
                <a:effectLst/>
                <a:uFillTx/>
                <a:latin typeface="Arial Narrow"/>
              </a:rPr>
              <a:t>   1.8% </a:t>
            </a:r>
            <a:r>
              <a:rPr b="0" lang="en-IN" sz="1200" strike="noStrike" u="none">
                <a:solidFill>
                  <a:srgbClr val="000000"/>
                </a:solidFill>
                <a:effectLst/>
                <a:uFillTx/>
                <a:latin typeface="Arial Narrow"/>
              </a:rPr>
              <a:t>	</a:t>
            </a:r>
            <a:r>
              <a:rPr b="0" lang="en-IN" sz="1200" strike="noStrike" u="none">
                <a:solidFill>
                  <a:srgbClr val="000000"/>
                </a:solidFill>
                <a:effectLst/>
                <a:uFillTx/>
                <a:latin typeface="Arial Narrow"/>
              </a:rPr>
              <a:t>    2%</a:t>
            </a:r>
            <a:endParaRPr b="0" lang="en-IN" sz="1200" strike="noStrike" u="none">
              <a:solidFill>
                <a:srgbClr val="000000"/>
              </a:solidFill>
              <a:effectLst/>
              <a:uFillTx/>
              <a:latin typeface="Arial"/>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rPr>
              <a:t>Persons over 40</a:t>
            </a:r>
            <a:r>
              <a:rPr b="0" lang="en-IN" sz="1200" strike="noStrike" u="none">
                <a:solidFill>
                  <a:srgbClr val="000000"/>
                </a:solidFill>
                <a:effectLst/>
                <a:uFillTx/>
                <a:latin typeface="Arial Narrow"/>
              </a:rPr>
              <a:t>	</a:t>
            </a:r>
            <a:r>
              <a:rPr b="0" lang="en-IN" sz="1200" strike="noStrike" u="none">
                <a:solidFill>
                  <a:srgbClr val="000000"/>
                </a:solidFill>
                <a:effectLst/>
                <a:uFillTx/>
                <a:latin typeface="Arial Narrow"/>
              </a:rPr>
              <a:t>	</a:t>
            </a:r>
            <a:r>
              <a:rPr b="0" lang="en-IN" sz="1200" strike="noStrike" u="none">
                <a:solidFill>
                  <a:srgbClr val="000000"/>
                </a:solidFill>
                <a:effectLst/>
                <a:uFillTx/>
                <a:latin typeface="Arial Narrow"/>
              </a:rPr>
              <a:t>    54%</a:t>
            </a:r>
            <a:r>
              <a:rPr b="0" lang="en-IN" sz="1200" strike="noStrike" u="none">
                <a:solidFill>
                  <a:srgbClr val="000000"/>
                </a:solidFill>
                <a:effectLst/>
                <a:uFillTx/>
                <a:latin typeface="Arial Narrow"/>
              </a:rPr>
              <a:t>	</a:t>
            </a:r>
            <a:r>
              <a:rPr b="0" lang="en-IN" sz="1200" strike="noStrike" u="none">
                <a:solidFill>
                  <a:srgbClr val="000000"/>
                </a:solidFill>
                <a:effectLst/>
                <a:uFillTx/>
                <a:latin typeface="Arial Narrow"/>
              </a:rPr>
              <a:t>   76%</a:t>
            </a:r>
            <a:endParaRPr b="0" lang="en-IN" sz="1200" strike="noStrike" u="none">
              <a:solidFill>
                <a:srgbClr val="000000"/>
              </a:solidFill>
              <a:effectLst/>
              <a:uFillTx/>
              <a:latin typeface="Arial"/>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Narrow"/>
              </a:rPr>
              <a:t>People of color</a:t>
            </a:r>
            <a:r>
              <a:rPr b="0" lang="en-IN" sz="1200" strike="noStrike" u="none">
                <a:solidFill>
                  <a:srgbClr val="000000"/>
                </a:solidFill>
                <a:effectLst/>
                <a:uFillTx/>
                <a:latin typeface="Arial Narrow"/>
              </a:rPr>
              <a:t>	</a:t>
            </a:r>
            <a:r>
              <a:rPr b="0" lang="en-IN" sz="1200" strike="noStrike" u="none">
                <a:solidFill>
                  <a:srgbClr val="000000"/>
                </a:solidFill>
                <a:effectLst/>
                <a:uFillTx/>
                <a:latin typeface="Arial Narrow"/>
              </a:rPr>
              <a:t>	</a:t>
            </a:r>
            <a:r>
              <a:rPr b="0" lang="en-IN" sz="1200" strike="noStrike" u="none">
                <a:solidFill>
                  <a:srgbClr val="000000"/>
                </a:solidFill>
                <a:effectLst/>
                <a:uFillTx/>
                <a:latin typeface="Arial Narrow"/>
              </a:rPr>
              <a:t>  15.5%</a:t>
            </a:r>
            <a:r>
              <a:rPr b="0" lang="en-IN" sz="1200" strike="noStrike" u="none">
                <a:solidFill>
                  <a:srgbClr val="000000"/>
                </a:solidFill>
                <a:effectLst/>
                <a:uFillTx/>
                <a:latin typeface="Arial Narrow"/>
              </a:rPr>
              <a:t>	</a:t>
            </a:r>
            <a:r>
              <a:rPr b="0" lang="en-IN" sz="1200" strike="noStrike" u="none">
                <a:solidFill>
                  <a:srgbClr val="000000"/>
                </a:solidFill>
                <a:effectLst/>
                <a:uFillTx/>
                <a:latin typeface="Arial Narrow"/>
              </a:rPr>
              <a:t>17.5%</a:t>
            </a:r>
            <a:endParaRPr b="0" lang="en-IN" sz="1200" strike="noStrike" u="none">
              <a:solidFill>
                <a:srgbClr val="000000"/>
              </a:solidFill>
              <a:effectLst/>
              <a:uFillTx/>
              <a:latin typeface="Arial"/>
            </a:endParaRPr>
          </a:p>
        </p:txBody>
      </p:sp>
      <p:sp>
        <p:nvSpPr>
          <p:cNvPr id="371" name=""/>
          <p:cNvSpPr/>
          <p:nvPr/>
        </p:nvSpPr>
        <p:spPr>
          <a:xfrm>
            <a:off x="5943600" y="1066680"/>
            <a:ext cx="2438280" cy="30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Narrow"/>
              </a:rPr>
              <a:t>Gambling Commission</a:t>
            </a:r>
            <a:endParaRPr b="0" lang="en-IN" sz="1400" strike="noStrike" u="none">
              <a:solidFill>
                <a:srgbClr val="000000"/>
              </a:solidFill>
              <a:effectLst/>
              <a:uFillTx/>
              <a:latin typeface="Arial"/>
            </a:endParaRPr>
          </a:p>
        </p:txBody>
      </p:sp>
      <p:sp>
        <p:nvSpPr>
          <p:cNvPr id="372" name=""/>
          <p:cNvSpPr/>
          <p:nvPr/>
        </p:nvSpPr>
        <p:spPr>
          <a:xfrm>
            <a:off x="6400800" y="4038480"/>
            <a:ext cx="198108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Narrow"/>
              </a:rPr>
              <a:t>WA State Government</a:t>
            </a:r>
            <a:endParaRPr b="0" lang="en-IN" sz="1400" strike="noStrike" u="none">
              <a:solidFill>
                <a:srgbClr val="000000"/>
              </a:solidFill>
              <a:effectLst/>
              <a:uFillTx/>
              <a:latin typeface="Arial"/>
            </a:endParaRPr>
          </a:p>
        </p:txBody>
      </p:sp>
      <p:sp>
        <p:nvSpPr>
          <p:cNvPr id="2" name="PlaceHolder 1"/>
          <p:cNvSpPr>
            <a:spLocks noGrp="1"/>
          </p:cNvSpPr>
          <p:nvPr>
            <p:ph type="sldNum" idx="3"/>
          </p:nvPr>
        </p:nvSpPr>
        <p:spPr/>
        <p:txBody>
          <a:bodyPr/>
          <a:p>
            <a:fld id="{26A9087D-B7A5-4F20-BEAD-0BB1E7B5F4F0}" type="slidenum">
              <a:t>17</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26723</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2006-01-25T08:50:49Z</dcterms:created>
  <dc:creator>JuliaG</dc:creator>
  <dc:description/>
  <dc:language>en-IN</dc:language>
  <cp:lastModifiedBy>SherriH</cp:lastModifiedBy>
  <dcterms:modified xsi:type="dcterms:W3CDTF">2006-12-07T14:10:45Z</dcterms:modified>
  <cp:revision>47</cp:revision>
  <dc:subject/>
  <dc:title>Slide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ublishingExpirationDate">
    <vt:lpwstr/>
  </property>
  <property fmtid="{D5CDD505-2E9C-101B-9397-08002B2CF9AE}" pid="3" name="PublishingStartDate">
    <vt:lpwstr/>
  </property>
  <property fmtid="{D5CDD505-2E9C-101B-9397-08002B2CF9AE}" pid="4" name="TemplateUrl">
    <vt:lpwstr/>
  </property>
  <property fmtid="{D5CDD505-2E9C-101B-9397-08002B2CF9AE}" pid="5" name="_SharedFileIndex">
    <vt:lpwstr/>
  </property>
  <property fmtid="{D5CDD505-2E9C-101B-9397-08002B2CF9AE}" pid="6" name="_SourceUrl">
    <vt:lpwstr/>
  </property>
  <property fmtid="{D5CDD505-2E9C-101B-9397-08002B2CF9AE}" pid="7" name="display_urn:schemas-microsoft-com:office:office#Author">
    <vt:lpwstr>System Account</vt:lpwstr>
  </property>
  <property fmtid="{D5CDD505-2E9C-101B-9397-08002B2CF9AE}" pid="8" name="display_urn:schemas-microsoft-com:office:office#Editor">
    <vt:lpwstr>System Account</vt:lpwstr>
  </property>
  <property fmtid="{D5CDD505-2E9C-101B-9397-08002B2CF9AE}" pid="9" name="xd_ProgID">
    <vt:lpwstr/>
  </property>
  <property fmtid="{D5CDD505-2E9C-101B-9397-08002B2CF9AE}" pid="10" name="xd_Signature">
    <vt:lpwstr/>
  </property>
</Properties>
</file>