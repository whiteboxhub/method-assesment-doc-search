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media/image1.png" ContentType="image/png"/>
  <Override PartName="/ppt/media/image2.wmf" ContentType="image/x-wmf"/>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28"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29" name="PlaceHolder 2"/>
          <p:cNvSpPr>
            <a:spLocks noGrp="1"/>
          </p:cNvSpPr>
          <p:nvPr>
            <p:ph type="dt" idx="7"/>
          </p:nvPr>
        </p:nvSpPr>
        <p:spPr>
          <a:xfrm>
            <a:off x="3884400" y="0"/>
            <a:ext cx="2971800" cy="457200"/>
          </a:xfrm>
          <a:prstGeom prst="rect">
            <a:avLst/>
          </a:prstGeom>
          <a:noFill/>
          <a:ln w="0">
            <a:noFill/>
          </a:ln>
        </p:spPr>
        <p:txBody>
          <a:bodyPr lIns="90000" rIns="90000" tIns="46800" bIns="4680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30" name="PlaceHolder 3"/>
          <p:cNvSpPr>
            <a:spLocks noGrp="1"/>
          </p:cNvSpPr>
          <p:nvPr>
            <p:ph type="sldImg"/>
          </p:nvPr>
        </p:nvSpPr>
        <p:spPr>
          <a:xfrm>
            <a:off x="1143000" y="685440"/>
            <a:ext cx="4572000" cy="3429000"/>
          </a:xfrm>
          <a:prstGeom prst="rect">
            <a:avLst/>
          </a:prstGeom>
          <a:solidFill>
            <a:srgbClr val="ffffff"/>
          </a:solidFill>
          <a:ln w="9360">
            <a:solidFill>
              <a:srgbClr val="000000"/>
            </a:solidFill>
            <a:miter/>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move the slide</a:t>
            </a:r>
            <a:endParaRPr b="0" lang="en-IN" sz="4400" strike="noStrike" u="none">
              <a:solidFill>
                <a:srgbClr val="333399"/>
              </a:solidFill>
              <a:effectLst/>
              <a:uFillTx/>
              <a:latin typeface="Tahoma"/>
            </a:endParaRPr>
          </a:p>
        </p:txBody>
      </p:sp>
      <p:sp>
        <p:nvSpPr>
          <p:cNvPr id="31"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32" name="PlaceHolder 5"/>
          <p:cNvSpPr>
            <a:spLocks noGrp="1"/>
          </p:cNvSpPr>
          <p:nvPr>
            <p:ph type="ftr" idx="8"/>
          </p:nvPr>
        </p:nvSpPr>
        <p:spPr>
          <a:xfrm>
            <a:off x="-360" y="8685360"/>
            <a:ext cx="2971800" cy="457200"/>
          </a:xfrm>
          <a:prstGeom prst="rect">
            <a:avLst/>
          </a:prstGeom>
          <a:noFill/>
          <a:ln w="0">
            <a:noFill/>
          </a:ln>
        </p:spPr>
        <p:txBody>
          <a:bodyPr lIns="90000" rIns="90000" tIns="46800" bIns="4680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33" name="PlaceHolder 6"/>
          <p:cNvSpPr>
            <a:spLocks noGrp="1"/>
          </p:cNvSpPr>
          <p:nvPr>
            <p:ph type="sldNum" idx="9"/>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969C64D-9B85-483C-AED0-461D67E160D7}"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sldImg"/>
          </p:nvPr>
        </p:nvSpPr>
        <p:spPr>
          <a:xfrm>
            <a:off x="1143000" y="685800"/>
            <a:ext cx="4572000" cy="3429000"/>
          </a:xfrm>
          <a:prstGeom prst="rect">
            <a:avLst/>
          </a:prstGeom>
          <a:ln w="0">
            <a:noFill/>
          </a:ln>
        </p:spPr>
      </p:sp>
      <p:sp>
        <p:nvSpPr>
          <p:cNvPr id="53"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 new Federal Employees Dental and Vision Insurance Program (FEDVIP) will be available to eligible technicians, retirees, and their eligible family members.  FEHB providers do not currently offer anything more than restorative work.  No preventative care.  FEDVIP does pay for preventative care.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This new Program allows dental and vision insurance to be purchased on a group basis which means competitive premiums and no pre-existing condition limitations.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 member pays the entire premium.</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Premiums for enrolled Federal and Postal employees will be withheld from salary on a pre-tax basis.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sldImg"/>
          </p:nvPr>
        </p:nvSpPr>
        <p:spPr>
          <a:xfrm>
            <a:off x="1143000" y="685800"/>
            <a:ext cx="4572000" cy="3429000"/>
          </a:xfrm>
          <a:prstGeom prst="rect">
            <a:avLst/>
          </a:prstGeom>
          <a:ln w="0">
            <a:noFill/>
          </a:ln>
        </p:spPr>
      </p:sp>
      <p:sp>
        <p:nvSpPr>
          <p:cNvPr id="55"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Eligible individuals can enroll in a dental plan and/or a vision plan. </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Employees must be eligible for the FEHB Program in order to be eligible to enroll in FEDVIP. It does not matter if they are actually enrolled in FEHB - eligibility is the key. Annuitants are eligible to enroll in FEDVIP no matter what their FEHB status is.</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They may enroll in a plan for </a:t>
            </a:r>
            <a:r>
              <a:rPr b="1" lang="en-IN" sz="1000" strike="noStrike" u="none">
                <a:solidFill>
                  <a:srgbClr val="000000"/>
                </a:solidFill>
                <a:effectLst/>
                <a:uFillTx/>
                <a:latin typeface="Arial"/>
              </a:rPr>
              <a:t>Self-only, Self plus one, </a:t>
            </a:r>
            <a:r>
              <a:rPr b="0" lang="en-IN" sz="1000" strike="noStrike" u="none">
                <a:solidFill>
                  <a:srgbClr val="000000"/>
                </a:solidFill>
                <a:effectLst/>
                <a:uFillTx/>
                <a:latin typeface="Arial"/>
              </a:rPr>
              <a:t>or </a:t>
            </a:r>
            <a:r>
              <a:rPr b="1" lang="en-IN" sz="1000" strike="noStrike" u="none">
                <a:solidFill>
                  <a:srgbClr val="000000"/>
                </a:solidFill>
                <a:effectLst/>
                <a:uFillTx/>
                <a:latin typeface="Arial"/>
              </a:rPr>
              <a:t>Self and family </a:t>
            </a:r>
            <a:r>
              <a:rPr b="0" lang="en-IN" sz="1000" strike="noStrike" u="none">
                <a:solidFill>
                  <a:srgbClr val="000000"/>
                </a:solidFill>
                <a:effectLst/>
                <a:uFillTx/>
                <a:latin typeface="Arial"/>
              </a:rPr>
              <a:t>coverage. Eligible family members include an enrollee's spouse and unmarried dependent children under the age of 22, or if age 22 or older, incapable of self-support. The rules for family members' eligibility are the same as they are for the FEHB Program.</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Question: Who is NOT eligible to enroll in FEDVIP?</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Answer:</a:t>
            </a:r>
            <a:r>
              <a:rPr b="0" lang="en-IN" sz="1000" strike="noStrike" u="none">
                <a:solidFill>
                  <a:srgbClr val="000000"/>
                </a:solidFill>
                <a:effectLst/>
                <a:uFillTx/>
                <a:latin typeface="Arial"/>
              </a:rPr>
              <a:t> The following people are not eligible to enroll in FEDVIP, regardless of FEHB eligibility or receipt of an annuity or portion of an annuity.</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deferred annuitants, </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former spouses of employees or annuitants, </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FEHB temporary continuation of coverage (TCC) enrollees, </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temporary employees who are: </a:t>
            </a:r>
            <a:endParaRPr b="0" lang="en-IN" sz="1000" strike="noStrike" u="none">
              <a:solidFill>
                <a:srgbClr val="000000"/>
              </a:solidFill>
              <a:effectLst/>
              <a:uFillTx/>
              <a:latin typeface="Arial"/>
            </a:endParaRPr>
          </a:p>
          <a:p>
            <a:pPr lvl="2" marL="914400" indent="0">
              <a:spcBef>
                <a:spcPts val="374"/>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serving under an appointment limited to one year or less and have not completed at least one year of current continuous employment, excluding any break in service of 5 days or less; or </a:t>
            </a:r>
            <a:endParaRPr b="0" lang="en-IN" sz="1000" strike="noStrike" u="none">
              <a:solidFill>
                <a:srgbClr val="000000"/>
              </a:solidFill>
              <a:effectLst/>
              <a:uFillTx/>
              <a:latin typeface="Arial"/>
            </a:endParaRPr>
          </a:p>
          <a:p>
            <a:pPr lvl="2" marL="914400" indent="0">
              <a:spcBef>
                <a:spcPts val="374"/>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expected to work less than 6 months in each year. </a:t>
            </a:r>
            <a:endParaRPr b="0" lang="en-IN" sz="1000" strike="noStrike" u="none">
              <a:solidFill>
                <a:srgbClr val="000000"/>
              </a:solidFill>
              <a:effectLst/>
              <a:uFillTx/>
              <a:latin typeface="Arial"/>
            </a:endParaRPr>
          </a:p>
          <a:p>
            <a:pPr lvl="1" marL="457200"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sldImg"/>
          </p:nvPr>
        </p:nvSpPr>
        <p:spPr>
          <a:xfrm>
            <a:off x="1143000" y="685800"/>
            <a:ext cx="4572000" cy="3429000"/>
          </a:xfrm>
          <a:prstGeom prst="rect">
            <a:avLst/>
          </a:prstGeom>
          <a:ln w="0">
            <a:noFill/>
          </a:ln>
        </p:spPr>
      </p:sp>
      <p:sp>
        <p:nvSpPr>
          <p:cNvPr id="57"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marL="228600" indent="-22860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Question: What enrollment types are available?</a:t>
            </a:r>
            <a:endParaRPr b="0" lang="en-IN" sz="1200" strike="noStrike" u="none">
              <a:solidFill>
                <a:srgbClr val="000000"/>
              </a:solidFill>
              <a:effectLst/>
              <a:uFillTx/>
              <a:latin typeface="Arial"/>
            </a:endParaRPr>
          </a:p>
          <a:p>
            <a:pPr marL="228600" indent="-22860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Answer:</a:t>
            </a:r>
            <a:r>
              <a:rPr b="0" lang="en-IN" sz="1200" strike="noStrike" u="none">
                <a:solidFill>
                  <a:srgbClr val="000000"/>
                </a:solidFill>
                <a:effectLst/>
                <a:uFillTx/>
                <a:latin typeface="Arial"/>
              </a:rPr>
              <a:t> An eligible individual may choose one of the following enrollment options:</a:t>
            </a:r>
            <a:endParaRPr b="0" lang="en-IN" sz="1200" strike="noStrike" u="none">
              <a:solidFill>
                <a:srgbClr val="000000"/>
              </a:solidFill>
              <a:effectLst/>
              <a:uFillTx/>
              <a:latin typeface="Arial"/>
            </a:endParaRPr>
          </a:p>
          <a:p>
            <a:pPr marL="228600" indent="-22860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Self Only, which covers only the enrolled employee or annuitant; </a:t>
            </a:r>
            <a:endParaRPr b="0" lang="en-IN" sz="1200" strike="noStrike" u="none">
              <a:solidFill>
                <a:srgbClr val="000000"/>
              </a:solidFill>
              <a:effectLst/>
              <a:uFillTx/>
              <a:latin typeface="Arial"/>
            </a:endParaRPr>
          </a:p>
          <a:p>
            <a:pPr marL="228600" indent="-22860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Self Plus One, which covers the enrolled employee or annuitant plus one eligible family member specified by the enrollee; or </a:t>
            </a:r>
            <a:endParaRPr b="0" lang="en-IN" sz="1200" strike="noStrike" u="none">
              <a:solidFill>
                <a:srgbClr val="000000"/>
              </a:solidFill>
              <a:effectLst/>
              <a:uFillTx/>
              <a:latin typeface="Arial"/>
            </a:endParaRPr>
          </a:p>
          <a:p>
            <a:pPr marL="228600" indent="-22860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Self and Family, which covers the enrolled employee or annuitant and all eligible family members. </a:t>
            </a:r>
            <a:endParaRPr b="0" lang="en-IN" sz="1200" strike="noStrike" u="none">
              <a:solidFill>
                <a:srgbClr val="000000"/>
              </a:solidFill>
              <a:effectLst/>
              <a:uFillTx/>
              <a:latin typeface="Arial"/>
            </a:endParaRPr>
          </a:p>
          <a:p>
            <a:pPr marL="228600" indent="-22860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sldImg"/>
          </p:nvPr>
        </p:nvSpPr>
        <p:spPr>
          <a:xfrm>
            <a:off x="1143000" y="685800"/>
            <a:ext cx="4572000" cy="3429000"/>
          </a:xfrm>
          <a:prstGeom prst="rect">
            <a:avLst/>
          </a:prstGeom>
          <a:ln w="0">
            <a:noFill/>
          </a:ln>
        </p:spPr>
      </p:sp>
      <p:sp>
        <p:nvSpPr>
          <p:cNvPr id="59"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Online at www.benefeds.com</a:t>
            </a:r>
            <a:endParaRPr b="0" lang="en-IN" sz="1200" strike="noStrike" u="none">
              <a:solidFill>
                <a:srgbClr val="000000"/>
              </a:solidFill>
              <a:effectLst/>
              <a:uFillTx/>
              <a:latin typeface="Arial"/>
            </a:endParaRPr>
          </a:p>
          <a:p>
            <a:pPr lvl="2" marL="914400" indent="0">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For newhires:</a:t>
            </a:r>
            <a:endParaRPr b="0" lang="en-IN" sz="1200" strike="noStrike" u="none">
              <a:solidFill>
                <a:srgbClr val="000000"/>
              </a:solidFill>
              <a:effectLst/>
              <a:uFillTx/>
              <a:latin typeface="Arial"/>
            </a:endParaRPr>
          </a:p>
          <a:p>
            <a:pPr lvl="3" marL="1371600" indent="0">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Need hire date</a:t>
            </a:r>
            <a:endParaRPr b="0" lang="en-IN" sz="1200" strike="noStrike" u="none">
              <a:solidFill>
                <a:srgbClr val="000000"/>
              </a:solidFill>
              <a:effectLst/>
              <a:uFillTx/>
              <a:latin typeface="Arial"/>
            </a:endParaRPr>
          </a:p>
          <a:p>
            <a:pPr lvl="3" marL="1371600" indent="0">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Agency ID</a:t>
            </a:r>
            <a:endParaRPr b="0" lang="en-IN" sz="1200" strike="noStrike" u="none">
              <a:solidFill>
                <a:srgbClr val="000000"/>
              </a:solidFill>
              <a:effectLst/>
              <a:uFillTx/>
              <a:latin typeface="Arial"/>
            </a:endParaRPr>
          </a:p>
          <a:p>
            <a:pPr lvl="4" marL="1828800" indent="0">
              <a:spcBef>
                <a:spcPts val="451"/>
              </a:spcBef>
              <a:buNone/>
              <a:tabLst>
                <a:tab algn="l" pos="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Air – Department of the Air Force</a:t>
            </a:r>
            <a:endParaRPr b="0" lang="en-IN" sz="1200" strike="noStrike" u="none">
              <a:solidFill>
                <a:srgbClr val="000000"/>
              </a:solidFill>
              <a:effectLst/>
              <a:uFillTx/>
              <a:latin typeface="Arial"/>
            </a:endParaRPr>
          </a:p>
          <a:p>
            <a:pPr lvl="4" marL="1828800" indent="0">
              <a:spcBef>
                <a:spcPts val="451"/>
              </a:spcBef>
              <a:buNone/>
              <a:tabLst>
                <a:tab algn="l" pos="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Payroll ID 97380100</a:t>
            </a:r>
            <a:endParaRPr b="0" lang="en-IN" sz="1200" strike="noStrike" u="none">
              <a:solidFill>
                <a:srgbClr val="000000"/>
              </a:solidFill>
              <a:effectLst/>
              <a:uFillTx/>
              <a:latin typeface="Arial"/>
            </a:endParaRPr>
          </a:p>
          <a:p>
            <a:pPr lvl="4" marL="1828800" indent="0">
              <a:spcBef>
                <a:spcPts val="451"/>
              </a:spcBef>
              <a:buNone/>
              <a:tabLst>
                <a:tab algn="l" pos="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Army – Department of the Army</a:t>
            </a:r>
            <a:endParaRPr b="0" lang="en-IN" sz="1200" strike="noStrike" u="none">
              <a:solidFill>
                <a:srgbClr val="000000"/>
              </a:solidFill>
              <a:effectLst/>
              <a:uFillTx/>
              <a:latin typeface="Arial"/>
            </a:endParaRPr>
          </a:p>
          <a:p>
            <a:pPr lvl="4" marL="1828800" indent="0">
              <a:spcBef>
                <a:spcPts val="451"/>
              </a:spcBef>
              <a:buNone/>
              <a:tabLst>
                <a:tab algn="l" pos="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Payroll ID 97380800</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a:off x="417600" y="1098720"/>
            <a:ext cx="438120" cy="474480"/>
          </a:xfrm>
          <a:prstGeom prst="rect">
            <a:avLst/>
          </a:prstGeom>
          <a:solidFill>
            <a:srgbClr val="ffcf01"/>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 name=""/>
          <p:cNvSpPr/>
          <p:nvPr/>
        </p:nvSpPr>
        <p:spPr>
          <a:xfrm>
            <a:off x="800280" y="1098720"/>
            <a:ext cx="328320" cy="474480"/>
          </a:xfrm>
          <a:prstGeom prst="rect">
            <a:avLst/>
          </a:prstGeom>
          <a:gradFill rotWithShape="0">
            <a:gsLst>
              <a:gs pos="0">
                <a:srgbClr val="ffffff"/>
              </a:gs>
              <a:gs pos="100000">
                <a:srgbClr val="ffcf01"/>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 name=""/>
          <p:cNvSpPr/>
          <p:nvPr/>
        </p:nvSpPr>
        <p:spPr>
          <a:xfrm>
            <a:off x="541440" y="1521000"/>
            <a:ext cx="422280" cy="474480"/>
          </a:xfrm>
          <a:prstGeom prst="rect">
            <a:avLst/>
          </a:prstGeom>
          <a:solidFill>
            <a:srgbClr val="3333c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
          <p:cNvSpPr/>
          <p:nvPr/>
        </p:nvSpPr>
        <p:spPr>
          <a:xfrm>
            <a:off x="911160" y="1521000"/>
            <a:ext cx="368280" cy="474480"/>
          </a:xfrm>
          <a:prstGeom prst="rect">
            <a:avLst/>
          </a:prstGeom>
          <a:gradFill rotWithShape="0">
            <a:gsLst>
              <a:gs pos="0">
                <a:srgbClr val="ffffff"/>
              </a:gs>
              <a:gs pos="100000">
                <a:srgbClr val="3333cc"/>
              </a:gs>
            </a:gsLst>
            <a:lin ang="108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 name=""/>
          <p:cNvSpPr/>
          <p:nvPr/>
        </p:nvSpPr>
        <p:spPr>
          <a:xfrm>
            <a:off x="127080" y="1447920"/>
            <a:ext cx="560160" cy="422280"/>
          </a:xfrm>
          <a:prstGeom prst="rect">
            <a:avLst/>
          </a:prstGeom>
          <a:gradFill rotWithShape="0">
            <a:gsLst>
              <a:gs pos="0">
                <a:srgbClr val="ff0000"/>
              </a:gs>
              <a:gs pos="100000">
                <a:srgbClr val="ffffff"/>
              </a:gs>
            </a:gsLst>
            <a:lin ang="8100000"/>
          </a:gra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 name=""/>
          <p:cNvSpPr/>
          <p:nvPr/>
        </p:nvSpPr>
        <p:spPr>
          <a:xfrm>
            <a:off x="762120" y="990720"/>
            <a:ext cx="31680" cy="1052280"/>
          </a:xfrm>
          <a:prstGeom prst="rect">
            <a:avLst/>
          </a:prstGeom>
          <a:solidFill>
            <a:srgbClr val="1c1c1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6" name=""/>
          <p:cNvSpPr/>
          <p:nvPr/>
        </p:nvSpPr>
        <p:spPr>
          <a:xfrm>
            <a:off x="442800" y="1781280"/>
            <a:ext cx="8226360" cy="31680"/>
          </a:xfrm>
          <a:prstGeom prst="rect">
            <a:avLst/>
          </a:prstGeom>
          <a:gradFill rotWithShape="0">
            <a:gsLst>
              <a:gs pos="0">
                <a:srgbClr val="ffffff"/>
              </a:gs>
              <a:gs pos="100000">
                <a:srgbClr val="1c1c1c"/>
              </a:gs>
            </a:gsLst>
            <a:lin ang="10800000"/>
          </a:gradFill>
          <a:ln w="0">
            <a:noFill/>
          </a:ln>
        </p:spPr>
        <p:style>
          <a:lnRef idx="0"/>
          <a:fillRef idx="0"/>
          <a:effectRef idx="0"/>
          <a:fontRef idx="minor"/>
        </p:style>
        <p:txBody>
          <a:bodyPr wrap="none" lIns="90000" rIns="90000" tIns="-15120" bIns="-1512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edit the title text format</a:t>
            </a:r>
            <a:endParaRPr b="0" lang="en-IN" sz="4400" strike="noStrike" u="none">
              <a:solidFill>
                <a:srgbClr val="333399"/>
              </a:solidFill>
              <a:effectLst/>
              <a:uFillTx/>
              <a:latin typeface="Tahoma"/>
            </a:endParaRPr>
          </a:p>
        </p:txBody>
      </p:sp>
      <p:sp>
        <p:nvSpPr>
          <p:cNvPr id="8" name="PlaceHolder 2"/>
          <p:cNvSpPr>
            <a:spLocks noGrp="1"/>
          </p:cNvSpPr>
          <p:nvPr>
            <p:ph type="body"/>
          </p:nvPr>
        </p:nvSpPr>
        <p:spPr>
          <a:xfrm>
            <a:off x="1182600" y="201780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Click to edit the outline text format</a:t>
            </a:r>
            <a:endParaRPr b="0" lang="en-IN" sz="3200" strike="noStrike" u="none">
              <a:solidFill>
                <a:srgbClr val="000000"/>
              </a:solidFill>
              <a:effectLst/>
              <a:uFillTx/>
              <a:latin typeface="Tahoma"/>
            </a:endParaRPr>
          </a:p>
          <a:p>
            <a:pPr lvl="1" marL="743040" indent="-285840">
              <a:spcBef>
                <a:spcPts val="7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Second Outline Level</a:t>
            </a:r>
            <a:endParaRPr b="0" lang="en-IN" sz="3200" strike="noStrike" u="none">
              <a:solidFill>
                <a:srgbClr val="000000"/>
              </a:solidFill>
              <a:effectLst/>
              <a:uFillTx/>
              <a:latin typeface="Tahoma"/>
            </a:endParaRPr>
          </a:p>
          <a:p>
            <a:pPr lvl="2" marL="1143000" indent="-228600">
              <a:spcBef>
                <a:spcPts val="799"/>
              </a:spcBef>
              <a:buClr>
                <a:srgbClr val="3333cc"/>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Third Outline Level</a:t>
            </a:r>
            <a:endParaRPr b="0" lang="en-IN" sz="3200" strike="noStrike" u="none">
              <a:solidFill>
                <a:srgbClr val="000000"/>
              </a:solidFill>
              <a:effectLst/>
              <a:uFillTx/>
              <a:latin typeface="Tahoma"/>
            </a:endParaRPr>
          </a:p>
          <a:p>
            <a:pPr lvl="3" marL="1600200" indent="-228600">
              <a:spcBef>
                <a:spcPts val="799"/>
              </a:spcBef>
              <a:buClr>
                <a:srgbClr val="ffcf01"/>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Fourth Outline Level</a:t>
            </a:r>
            <a:endParaRPr b="0" lang="en-IN" sz="3200" strike="noStrike" u="none">
              <a:solidFill>
                <a:srgbClr val="000000"/>
              </a:solidFill>
              <a:effectLst/>
              <a:uFillTx/>
              <a:latin typeface="Tahoma"/>
            </a:endParaRPr>
          </a:p>
          <a:p>
            <a:pPr lvl="4" marL="2057400" indent="-228600">
              <a:spcBef>
                <a:spcPts val="799"/>
              </a:spcBef>
              <a:buClr>
                <a:srgbClr val="00e4a8"/>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Fifth Outline Level</a:t>
            </a:r>
            <a:endParaRPr b="0" lang="en-IN" sz="3200" strike="noStrike" u="none">
              <a:solidFill>
                <a:srgbClr val="000000"/>
              </a:solidFill>
              <a:effectLst/>
              <a:uFillTx/>
              <a:latin typeface="Tahoma"/>
            </a:endParaRPr>
          </a:p>
          <a:p>
            <a:pPr lvl="5"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Sixth Outline Level</a:t>
            </a:r>
            <a:endParaRPr b="0" lang="en-IN" sz="3200" strike="noStrike" u="none">
              <a:solidFill>
                <a:srgbClr val="000000"/>
              </a:solidFill>
              <a:effectLst/>
              <a:uFillTx/>
              <a:latin typeface="Tahoma"/>
            </a:endParaRPr>
          </a:p>
          <a:p>
            <a:pPr lvl="6" marL="2057400" indent="-228600">
              <a:spcBef>
                <a:spcPts val="7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Seventh Outline Level</a:t>
            </a:r>
            <a:endParaRPr b="0" lang="en-IN" sz="3200" strike="noStrike" u="none">
              <a:solidFill>
                <a:srgbClr val="000000"/>
              </a:solidFill>
              <a:effectLst/>
              <a:uFillTx/>
              <a:latin typeface="Tahoma"/>
            </a:endParaRPr>
          </a:p>
        </p:txBody>
      </p:sp>
      <p:sp>
        <p:nvSpPr>
          <p:cNvPr id="9" name="PlaceHolder 3"/>
          <p:cNvSpPr>
            <a:spLocks noGrp="1"/>
          </p:cNvSpPr>
          <p:nvPr>
            <p:ph type="dt" idx="1"/>
          </p:nvPr>
        </p:nvSpPr>
        <p:spPr>
          <a:xfrm>
            <a:off x="1162080" y="6243480"/>
            <a:ext cx="19051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&lt;date/time&gt;</a:t>
            </a:r>
            <a:endParaRPr b="0" lang="en-IN" sz="1400" strike="noStrike" u="none">
              <a:solidFill>
                <a:srgbClr val="000000"/>
              </a:solidFill>
              <a:effectLst/>
              <a:uFillTx/>
              <a:latin typeface="Times New Roman"/>
            </a:endParaRPr>
          </a:p>
        </p:txBody>
      </p:sp>
      <p:sp>
        <p:nvSpPr>
          <p:cNvPr id="10" name="PlaceHolder 4"/>
          <p:cNvSpPr>
            <a:spLocks noGrp="1"/>
          </p:cNvSpPr>
          <p:nvPr>
            <p:ph type="ftr" idx="2"/>
          </p:nvPr>
        </p:nvSpPr>
        <p:spPr>
          <a:xfrm>
            <a:off x="3657240" y="6243480"/>
            <a:ext cx="289548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ahoma"/>
              </a:rPr>
              <a:t>&lt;footer&gt;</a:t>
            </a:r>
            <a:endParaRPr b="0" lang="en-IN" sz="1400" strike="noStrike" u="none">
              <a:solidFill>
                <a:srgbClr val="000000"/>
              </a:solidFill>
              <a:effectLst/>
              <a:uFillTx/>
              <a:latin typeface="Times New Roman"/>
            </a:endParaRPr>
          </a:p>
        </p:txBody>
      </p:sp>
      <p:sp>
        <p:nvSpPr>
          <p:cNvPr id="11" name="PlaceHolder 5"/>
          <p:cNvSpPr>
            <a:spLocks noGrp="1"/>
          </p:cNvSpPr>
          <p:nvPr>
            <p:ph type="sldNum" idx="3"/>
          </p:nvPr>
        </p:nvSpPr>
        <p:spPr>
          <a:xfrm>
            <a:off x="7041960" y="6243480"/>
            <a:ext cx="190476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ahom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7D6DACD-FCDF-43A7-9F66-DA53281433E9}" type="slidenum">
              <a:rPr b="0" lang="en-US" sz="1400" strike="noStrike" u="none">
                <a:solidFill>
                  <a:srgbClr val="000000"/>
                </a:solidFill>
                <a:effectLst/>
                <a:uFillTx/>
                <a:latin typeface="Tahoma"/>
              </a:rPr>
              <a:t>&lt;number&gt;</a:t>
            </a:fld>
            <a:endParaRPr b="0" lang="en-IN" sz="14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bg>
      <p:bgPr>
        <a:solidFill>
          <a:srgbClr val="ffffff"/>
        </a:solidFill>
      </p:bgPr>
    </p:bg>
    <p:spTree>
      <p:nvGrpSpPr>
        <p:cNvPr id="1" name=""/>
        <p:cNvGrpSpPr/>
        <p:nvPr/>
      </p:nvGrpSpPr>
      <p:grpSpPr>
        <a:xfrm>
          <a:off x="0" y="0"/>
          <a:ext cx="0" cy="0"/>
          <a:chOff x="0" y="0"/>
          <a:chExt cx="0" cy="0"/>
        </a:xfrm>
      </p:grpSpPr>
      <p:grpSp>
        <p:nvGrpSpPr>
          <p:cNvPr id="12" name=""/>
          <p:cNvGrpSpPr/>
          <p:nvPr/>
        </p:nvGrpSpPr>
        <p:grpSpPr>
          <a:xfrm>
            <a:off x="0" y="2438280"/>
            <a:ext cx="9009000" cy="1052640"/>
            <a:chOff x="0" y="2438280"/>
            <a:chExt cx="9009000" cy="1052640"/>
          </a:xfrm>
        </p:grpSpPr>
        <p:grpSp>
          <p:nvGrpSpPr>
            <p:cNvPr id="13" name=""/>
            <p:cNvGrpSpPr/>
            <p:nvPr/>
          </p:nvGrpSpPr>
          <p:grpSpPr>
            <a:xfrm>
              <a:off x="290520" y="2546280"/>
              <a:ext cx="711360" cy="474840"/>
              <a:chOff x="290520" y="2546280"/>
              <a:chExt cx="711360" cy="474840"/>
            </a:xfrm>
          </p:grpSpPr>
          <p:sp>
            <p:nvSpPr>
              <p:cNvPr id="14" name=""/>
              <p:cNvSpPr/>
              <p:nvPr/>
            </p:nvSpPr>
            <p:spPr>
              <a:xfrm>
                <a:off x="290520" y="2546280"/>
                <a:ext cx="437400" cy="474840"/>
              </a:xfrm>
              <a:prstGeom prst="rect">
                <a:avLst/>
              </a:prstGeom>
              <a:solidFill>
                <a:srgbClr val="3333cc"/>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5" name=""/>
              <p:cNvSpPr/>
              <p:nvPr/>
            </p:nvSpPr>
            <p:spPr>
              <a:xfrm>
                <a:off x="673560" y="2546280"/>
                <a:ext cx="328320" cy="474840"/>
              </a:xfrm>
              <a:prstGeom prst="rect">
                <a:avLst/>
              </a:prstGeom>
              <a:gradFill rotWithShape="0">
                <a:gsLst>
                  <a:gs pos="0">
                    <a:srgbClr val="ffffff"/>
                  </a:gs>
                  <a:gs pos="100000">
                    <a:srgbClr val="3333cc"/>
                  </a:gs>
                </a:gsLst>
                <a:lin ang="10800000"/>
              </a:gra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pSp>
        <p:grpSp>
          <p:nvGrpSpPr>
            <p:cNvPr id="16" name=""/>
            <p:cNvGrpSpPr/>
            <p:nvPr/>
          </p:nvGrpSpPr>
          <p:grpSpPr>
            <a:xfrm>
              <a:off x="414360" y="2968560"/>
              <a:ext cx="737640" cy="474840"/>
              <a:chOff x="414360" y="2968560"/>
              <a:chExt cx="737640" cy="474840"/>
            </a:xfrm>
          </p:grpSpPr>
          <p:sp>
            <p:nvSpPr>
              <p:cNvPr id="17" name=""/>
              <p:cNvSpPr/>
              <p:nvPr/>
            </p:nvSpPr>
            <p:spPr>
              <a:xfrm>
                <a:off x="414360" y="2968560"/>
                <a:ext cx="421560" cy="474840"/>
              </a:xfrm>
              <a:prstGeom prst="rect">
                <a:avLst/>
              </a:prstGeom>
              <a:solidFill>
                <a:srgbClr val="ffcf01"/>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8" name=""/>
              <p:cNvSpPr/>
              <p:nvPr/>
            </p:nvSpPr>
            <p:spPr>
              <a:xfrm>
                <a:off x="783000" y="2968560"/>
                <a:ext cx="369000" cy="474840"/>
              </a:xfrm>
              <a:prstGeom prst="rect">
                <a:avLst/>
              </a:prstGeom>
              <a:gradFill rotWithShape="0">
                <a:gsLst>
                  <a:gs pos="0">
                    <a:srgbClr val="ffffff"/>
                  </a:gs>
                  <a:gs pos="100000">
                    <a:srgbClr val="ffcf01"/>
                  </a:gs>
                </a:gsLst>
                <a:lin ang="10800000"/>
              </a:gra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pSp>
        <p:sp>
          <p:nvSpPr>
            <p:cNvPr id="19" name=""/>
            <p:cNvSpPr/>
            <p:nvPr/>
          </p:nvSpPr>
          <p:spPr>
            <a:xfrm>
              <a:off x="0" y="2895480"/>
              <a:ext cx="560520" cy="422280"/>
            </a:xfrm>
            <a:prstGeom prst="rect">
              <a:avLst/>
            </a:prstGeom>
            <a:gradFill rotWithShape="0">
              <a:gsLst>
                <a:gs pos="0">
                  <a:srgbClr val="ff0000"/>
                </a:gs>
                <a:gs pos="100000">
                  <a:srgbClr val="ffffff"/>
                </a:gs>
              </a:gsLst>
              <a:lin ang="8100000"/>
            </a:gra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0" name=""/>
            <p:cNvSpPr/>
            <p:nvPr/>
          </p:nvSpPr>
          <p:spPr>
            <a:xfrm>
              <a:off x="635040" y="2438280"/>
              <a:ext cx="31680" cy="1052640"/>
            </a:xfrm>
            <a:prstGeom prst="rect">
              <a:avLst/>
            </a:prstGeom>
            <a:solidFill>
              <a:srgbClr val="1c1c1c"/>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1" name=""/>
            <p:cNvSpPr/>
            <p:nvPr/>
          </p:nvSpPr>
          <p:spPr>
            <a:xfrm flipV="1">
              <a:off x="316080" y="3260520"/>
              <a:ext cx="8692920" cy="55440"/>
            </a:xfrm>
            <a:prstGeom prst="rect">
              <a:avLst/>
            </a:prstGeom>
            <a:gradFill rotWithShape="0">
              <a:gsLst>
                <a:gs pos="0">
                  <a:srgbClr val="ffffff"/>
                </a:gs>
                <a:gs pos="100000">
                  <a:srgbClr val="1c1c1c"/>
                </a:gs>
              </a:gsLst>
              <a:lin ang="10800000"/>
            </a:gradFill>
            <a:ln w="0">
              <a:noFill/>
            </a:ln>
          </p:spPr>
          <p:style>
            <a:lnRef idx="0"/>
            <a:fillRef idx="0"/>
            <a:effectRef idx="0"/>
            <a:fontRef idx="minor"/>
          </p:style>
          <p:txBody>
            <a:bodyPr wrap="none" lIns="90000" rIns="90000" tIns="8640" bIns="8640" anchor="ctr">
              <a:noAutofit/>
            </a:bodyPr>
            <a:p>
              <a:endParaRPr b="0" lang="en-IN" sz="1800" strike="noStrike" u="none">
                <a:solidFill>
                  <a:srgbClr val="000000"/>
                </a:solidFill>
                <a:effectLst/>
                <a:uFillTx/>
                <a:latin typeface="Arial"/>
              </a:endParaRPr>
            </a:p>
          </p:txBody>
        </p:sp>
      </p:grpSp>
      <p:sp>
        <p:nvSpPr>
          <p:cNvPr id="22" name="PlaceHolder 1"/>
          <p:cNvSpPr>
            <a:spLocks noGrp="1"/>
          </p:cNvSpPr>
          <p:nvPr>
            <p:ph type="title"/>
          </p:nvPr>
        </p:nvSpPr>
        <p:spPr>
          <a:xfrm>
            <a:off x="990720" y="1676160"/>
            <a:ext cx="7772400" cy="14619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Click to edit the title text format</a:t>
            </a:r>
            <a:endParaRPr b="0" lang="en-IN" sz="4400" strike="noStrike" u="none">
              <a:solidFill>
                <a:srgbClr val="333399"/>
              </a:solidFill>
              <a:effectLst/>
              <a:uFillTx/>
              <a:latin typeface="Tahoma"/>
            </a:endParaRPr>
          </a:p>
        </p:txBody>
      </p:sp>
      <p:sp>
        <p:nvSpPr>
          <p:cNvPr id="23" name="PlaceHolder 2"/>
          <p:cNvSpPr>
            <a:spLocks noGrp="1"/>
          </p:cNvSpPr>
          <p:nvPr>
            <p:ph type="dt" idx="4"/>
          </p:nvPr>
        </p:nvSpPr>
        <p:spPr>
          <a:xfrm>
            <a:off x="990360" y="6248520"/>
            <a:ext cx="190476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1c1c1c"/>
                </a:solidFill>
                <a:effectLst/>
                <a:uFillTx/>
                <a:latin typeface="Tahom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1c1c1c"/>
                </a:solidFill>
                <a:effectLst/>
                <a:uFillTx/>
                <a:latin typeface="Tahoma"/>
              </a:rPr>
              <a:t>&lt;date/time&gt;</a:t>
            </a:r>
            <a:endParaRPr b="0" lang="en-IN" sz="1400" strike="noStrike" u="none">
              <a:solidFill>
                <a:srgbClr val="000000"/>
              </a:solidFill>
              <a:effectLst/>
              <a:uFillTx/>
              <a:latin typeface="Times New Roman"/>
            </a:endParaRPr>
          </a:p>
        </p:txBody>
      </p:sp>
      <p:sp>
        <p:nvSpPr>
          <p:cNvPr id="24" name="PlaceHolder 3"/>
          <p:cNvSpPr>
            <a:spLocks noGrp="1"/>
          </p:cNvSpPr>
          <p:nvPr>
            <p:ph type="ftr" idx="5"/>
          </p:nvPr>
        </p:nvSpPr>
        <p:spPr>
          <a:xfrm>
            <a:off x="3428640" y="6248520"/>
            <a:ext cx="289548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1c1c1c"/>
                </a:solidFill>
                <a:effectLst/>
                <a:uFillTx/>
                <a:latin typeface="Tahom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1c1c1c"/>
                </a:solidFill>
                <a:effectLst/>
                <a:uFillTx/>
                <a:latin typeface="Tahoma"/>
              </a:rPr>
              <a:t>&lt;footer&gt;</a:t>
            </a:r>
            <a:endParaRPr b="0" lang="en-IN" sz="1400" strike="noStrike" u="none">
              <a:solidFill>
                <a:srgbClr val="000000"/>
              </a:solidFill>
              <a:effectLst/>
              <a:uFillTx/>
              <a:latin typeface="Times New Roman"/>
            </a:endParaRPr>
          </a:p>
        </p:txBody>
      </p:sp>
      <p:sp>
        <p:nvSpPr>
          <p:cNvPr id="25" name="PlaceHolder 4"/>
          <p:cNvSpPr>
            <a:spLocks noGrp="1"/>
          </p:cNvSpPr>
          <p:nvPr>
            <p:ph type="sldNum" idx="6"/>
          </p:nvPr>
        </p:nvSpPr>
        <p:spPr>
          <a:xfrm>
            <a:off x="6858000" y="6248520"/>
            <a:ext cx="19051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1c1c1c"/>
                </a:solidFill>
                <a:effectLst/>
                <a:uFillTx/>
                <a:latin typeface="Tahom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8EEBC7-1863-48A3-843F-6459598A8FB8}" type="slidenum">
              <a:rPr b="0" lang="en-US" sz="1400" strike="noStrike" u="none">
                <a:solidFill>
                  <a:srgbClr val="1c1c1c"/>
                </a:solidFill>
                <a:effectLst/>
                <a:uFillTx/>
                <a:latin typeface="Tahoma"/>
              </a:rPr>
              <a:t>&lt;number&gt;</a:t>
            </a:fld>
            <a:endParaRPr b="0" lang="en-IN" sz="1400" strike="noStrike" u="none">
              <a:solidFill>
                <a:srgbClr val="000000"/>
              </a:solidFill>
              <a:effectLst/>
              <a:uFillTx/>
              <a:latin typeface="Times New Roman"/>
            </a:endParaRPr>
          </a:p>
        </p:txBody>
      </p:sp>
      <p:sp>
        <p:nvSpPr>
          <p:cNvPr id="2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indent="0"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Click to edit the outline text format</a:t>
            </a:r>
            <a:endParaRPr b="0" lang="en-IN" sz="3200" strike="noStrike" u="none">
              <a:solidFill>
                <a:srgbClr val="000000"/>
              </a:solidFill>
              <a:effectLst/>
              <a:uFillTx/>
              <a:latin typeface="Tahoma"/>
            </a:endParaRPr>
          </a:p>
          <a:p>
            <a:pPr lvl="1" marL="457200" indent="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Second Outline Level</a:t>
            </a:r>
            <a:endParaRPr b="0" lang="en-IN" sz="2800" strike="noStrike" u="none">
              <a:solidFill>
                <a:srgbClr val="000000"/>
              </a:solidFill>
              <a:effectLst/>
              <a:uFillTx/>
              <a:latin typeface="Tahoma"/>
            </a:endParaRPr>
          </a:p>
          <a:p>
            <a:pPr lvl="2" marL="914400" algn="ctr">
              <a:spcBef>
                <a:spcPts val="601"/>
              </a:spcBef>
              <a:buClr>
                <a:srgbClr val="3333cc"/>
              </a:buClr>
              <a:buSzPct val="50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ahoma"/>
              </a:rPr>
              <a:t>Third Outline Level</a:t>
            </a:r>
            <a:endParaRPr b="0" lang="en-IN" sz="2400" strike="noStrike" u="none">
              <a:solidFill>
                <a:srgbClr val="000000"/>
              </a:solidFill>
              <a:effectLst/>
              <a:uFillTx/>
              <a:latin typeface="Tahoma"/>
            </a:endParaRPr>
          </a:p>
          <a:p>
            <a:pPr lvl="3" marL="1371600" algn="ctr">
              <a:spcBef>
                <a:spcPts val="499"/>
              </a:spcBef>
              <a:buClr>
                <a:srgbClr val="ffcf01"/>
              </a:buClr>
              <a:buSzPct val="55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Fourth Outline Level</a:t>
            </a:r>
            <a:endParaRPr b="0" lang="en-IN" sz="2000" strike="noStrike" u="none">
              <a:solidFill>
                <a:srgbClr val="000000"/>
              </a:solidFill>
              <a:effectLst/>
              <a:uFillTx/>
              <a:latin typeface="Tahoma"/>
            </a:endParaRPr>
          </a:p>
          <a:p>
            <a:pPr lvl="4" marL="1828800" algn="ctr">
              <a:spcBef>
                <a:spcPts val="499"/>
              </a:spcBef>
              <a:buClr>
                <a:srgbClr val="00e4a8"/>
              </a:buClr>
              <a:buSzPct val="50000"/>
              <a:buFont typeface="Wingdings" charset="2"/>
              <a:buChar char=""/>
              <a:tabLst>
                <a:tab algn="l" pos="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Fifth Outline Level</a:t>
            </a:r>
            <a:endParaRPr b="0" lang="en-IN" sz="2000" strike="noStrike" u="none">
              <a:solidFill>
                <a:srgbClr val="000000"/>
              </a:solidFill>
              <a:effectLst/>
              <a:uFillTx/>
              <a:latin typeface="Tahoma"/>
            </a:endParaRPr>
          </a:p>
          <a:p>
            <a:pPr lvl="5" marL="1828800">
              <a:spcBef>
                <a:spcPts val="4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Sixth Outline Level</a:t>
            </a:r>
            <a:endParaRPr b="0" lang="en-IN" sz="2000" strike="noStrike" u="none">
              <a:solidFill>
                <a:srgbClr val="000000"/>
              </a:solidFill>
              <a:effectLst/>
              <a:uFillTx/>
              <a:latin typeface="Tahoma"/>
            </a:endParaRPr>
          </a:p>
          <a:p>
            <a:pPr lvl="6" marL="1828800">
              <a:spcBef>
                <a:spcPts val="499"/>
              </a:spcBef>
              <a:buClr>
                <a:srgbClr val="000000"/>
              </a:buClr>
              <a:buSzPct val="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Seventh Outline Level</a:t>
            </a:r>
            <a:endParaRPr b="0" lang="en-IN" sz="2000" strike="noStrike" u="none">
              <a:solidFill>
                <a:srgbClr val="000000"/>
              </a:solidFill>
              <a:effectLst/>
              <a:uFillTx/>
              <a:latin typeface="Tahoma"/>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http://www.benefeds.com/" TargetMode="External"/><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wmf"/><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990720" y="1676160"/>
            <a:ext cx="7772400" cy="14619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333399"/>
                </a:solidFill>
                <a:effectLst/>
                <a:uFillTx/>
                <a:latin typeface="Tahoma"/>
              </a:rPr>
              <a:t>Federal Employee Dental &amp; Vision Insurance Progam (FEDVIP)</a:t>
            </a:r>
            <a:endParaRPr b="0" lang="en-IN" sz="4000" strike="noStrike" u="none">
              <a:solidFill>
                <a:srgbClr val="333399"/>
              </a:solidFill>
              <a:effectLst/>
              <a:uFillTx/>
              <a:latin typeface="Tahoma"/>
            </a:endParaRPr>
          </a:p>
        </p:txBody>
      </p:sp>
      <p:sp>
        <p:nvSpPr>
          <p:cNvPr id="3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TSgt Howard Bentley</a:t>
            </a:r>
            <a:endParaRPr b="0" lang="en-IN" sz="3200" strike="noStrike" u="none">
              <a:solidFill>
                <a:srgbClr val="000000"/>
              </a:solidFill>
              <a:effectLst/>
              <a:uFillTx/>
              <a:latin typeface="Tahoma"/>
            </a:endParaRPr>
          </a:p>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Human Resources Specialist</a:t>
            </a:r>
            <a:endParaRPr b="0" lang="en-IN" sz="3200" strike="noStrike" u="none">
              <a:solidFill>
                <a:srgbClr val="000000"/>
              </a:solidFill>
              <a:effectLst/>
              <a:uFillTx/>
              <a:latin typeface="Tahoma"/>
            </a:endParaRPr>
          </a:p>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CAJS J1-HR-CS</a:t>
            </a:r>
            <a:endParaRPr b="0" lang="en-IN" sz="3200" strike="noStrike" u="none">
              <a:solidFill>
                <a:srgbClr val="000000"/>
              </a:solidFill>
              <a:effectLst/>
              <a:uFillTx/>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FEDVIP</a:t>
            </a:r>
            <a:endParaRPr b="0" lang="en-IN" sz="4400" strike="noStrike" u="none">
              <a:solidFill>
                <a:srgbClr val="333399"/>
              </a:solidFill>
              <a:effectLst/>
              <a:uFillTx/>
              <a:latin typeface="Tahoma"/>
            </a:endParaRPr>
          </a:p>
        </p:txBody>
      </p:sp>
      <p:sp>
        <p:nvSpPr>
          <p:cNvPr id="37" name="PlaceHolder 2"/>
          <p:cNvSpPr>
            <a:spLocks noGrp="1"/>
          </p:cNvSpPr>
          <p:nvPr>
            <p:ph/>
          </p:nvPr>
        </p:nvSpPr>
        <p:spPr>
          <a:xfrm>
            <a:off x="1182600" y="2017800"/>
            <a:ext cx="7772400" cy="4114800"/>
          </a:xfrm>
          <a:prstGeom prst="rect">
            <a:avLst/>
          </a:prstGeom>
          <a:noFill/>
          <a:ln w="0">
            <a:noFill/>
          </a:ln>
        </p:spPr>
        <p:txBody>
          <a:bodyPr lIns="90000" rIns="90000" tIns="46800" bIns="46800" anchor="t">
            <a:normAutofit/>
          </a:bodyPr>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Agenda</a:t>
            </a:r>
            <a:endParaRPr b="0" lang="en-IN" sz="32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Basics</a:t>
            </a: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Eligibility </a:t>
            </a: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Types of plans</a:t>
            </a: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Enrolling</a:t>
            </a: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Website</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FEDVIP - Basics</a:t>
            </a:r>
            <a:endParaRPr b="0" lang="en-IN" sz="4400" strike="noStrike" u="none">
              <a:solidFill>
                <a:srgbClr val="333399"/>
              </a:solidFill>
              <a:effectLst/>
              <a:uFillTx/>
              <a:latin typeface="Tahoma"/>
            </a:endParaRPr>
          </a:p>
        </p:txBody>
      </p:sp>
      <p:sp>
        <p:nvSpPr>
          <p:cNvPr id="39" name="PlaceHolder 2"/>
          <p:cNvSpPr>
            <a:spLocks noGrp="1"/>
          </p:cNvSpPr>
          <p:nvPr>
            <p:ph/>
          </p:nvPr>
        </p:nvSpPr>
        <p:spPr>
          <a:xfrm>
            <a:off x="1182600" y="2017800"/>
            <a:ext cx="7772400" cy="4114800"/>
          </a:xfrm>
          <a:prstGeom prst="rect">
            <a:avLst/>
          </a:prstGeom>
          <a:noFill/>
          <a:ln w="0">
            <a:noFill/>
          </a:ln>
        </p:spPr>
        <p:txBody>
          <a:bodyPr lIns="90000" rIns="90000" tIns="46800" bIns="46800" anchor="t">
            <a:normAutofit/>
          </a:bodyPr>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Provides Dental &amp;/or Vision Coverage</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No pre-existing conditions</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Premiums are via pre-tax Contributions</a:t>
            </a:r>
            <a:endParaRPr b="0" lang="en-IN" sz="2800" strike="noStrike" u="none">
              <a:solidFill>
                <a:srgbClr val="000000"/>
              </a:solidFill>
              <a:effectLst/>
              <a:uFillTx/>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FEDVIP - Eligibility </a:t>
            </a:r>
            <a:endParaRPr b="0" lang="en-IN" sz="4400" strike="noStrike" u="none">
              <a:solidFill>
                <a:srgbClr val="333399"/>
              </a:solidFill>
              <a:effectLst/>
              <a:uFillTx/>
              <a:latin typeface="Tahoma"/>
            </a:endParaRPr>
          </a:p>
        </p:txBody>
      </p:sp>
      <p:sp>
        <p:nvSpPr>
          <p:cNvPr id="41" name="PlaceHolder 2"/>
          <p:cNvSpPr>
            <a:spLocks noGrp="1"/>
          </p:cNvSpPr>
          <p:nvPr>
            <p:ph/>
          </p:nvPr>
        </p:nvSpPr>
        <p:spPr>
          <a:xfrm>
            <a:off x="1182600" y="2017800"/>
            <a:ext cx="7772400" cy="4114800"/>
          </a:xfrm>
          <a:prstGeom prst="rect">
            <a:avLst/>
          </a:prstGeom>
          <a:noFill/>
          <a:ln w="0">
            <a:noFill/>
          </a:ln>
        </p:spPr>
        <p:txBody>
          <a:bodyPr lIns="90000" rIns="90000" tIns="46800" bIns="46800" anchor="t">
            <a:normAutofit/>
          </a:bodyPr>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Eligible for FEHB = Eligible for FEDVIP</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Enroll in Dental and/or Vision</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Technician and immediate family</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Children</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FEDVIP - Types of plans</a:t>
            </a:r>
            <a:endParaRPr b="0" lang="en-IN" sz="4400" strike="noStrike" u="none">
              <a:solidFill>
                <a:srgbClr val="333399"/>
              </a:solidFill>
              <a:effectLst/>
              <a:uFillTx/>
              <a:latin typeface="Tahoma"/>
            </a:endParaRPr>
          </a:p>
        </p:txBody>
      </p:sp>
      <p:sp>
        <p:nvSpPr>
          <p:cNvPr id="43" name="PlaceHolder 2"/>
          <p:cNvSpPr>
            <a:spLocks noGrp="1"/>
          </p:cNvSpPr>
          <p:nvPr>
            <p:ph/>
          </p:nvPr>
        </p:nvSpPr>
        <p:spPr>
          <a:xfrm>
            <a:off x="1182600" y="2017800"/>
            <a:ext cx="7772400" cy="4114800"/>
          </a:xfrm>
          <a:prstGeom prst="rect">
            <a:avLst/>
          </a:prstGeom>
          <a:noFill/>
          <a:ln w="0">
            <a:noFill/>
          </a:ln>
        </p:spPr>
        <p:txBody>
          <a:bodyPr lIns="90000" rIns="90000" tIns="46800" bIns="46800" anchor="t">
            <a:normAutofit/>
          </a:bodyPr>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Self Only </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Self Plus One </a:t>
            </a:r>
            <a:endParaRPr b="0" lang="en-IN" sz="2800" strike="noStrike" u="none">
              <a:solidFill>
                <a:srgbClr val="000000"/>
              </a:solidFill>
              <a:effectLst/>
              <a:uFillTx/>
              <a:latin typeface="Tahoma"/>
            </a:endParaRPr>
          </a:p>
          <a:p>
            <a:pPr lvl="1" marL="74304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ahoma"/>
            </a:endParaRPr>
          </a:p>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ahoma"/>
              </a:rPr>
              <a:t>Self and Family</a:t>
            </a:r>
            <a:endParaRPr b="0" lang="en-IN" sz="2800" strike="noStrike" u="none">
              <a:solidFill>
                <a:srgbClr val="000000"/>
              </a:solidFill>
              <a:effectLst/>
              <a:uFillTx/>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FEDVIP - Enrolling</a:t>
            </a:r>
            <a:endParaRPr b="0" lang="en-IN" sz="4400" strike="noStrike" u="none">
              <a:solidFill>
                <a:srgbClr val="333399"/>
              </a:solidFill>
              <a:effectLst/>
              <a:uFillTx/>
              <a:latin typeface="Tahoma"/>
            </a:endParaRPr>
          </a:p>
        </p:txBody>
      </p:sp>
      <p:sp>
        <p:nvSpPr>
          <p:cNvPr id="45" name="PlaceHolder 2"/>
          <p:cNvSpPr>
            <a:spLocks noGrp="1"/>
          </p:cNvSpPr>
          <p:nvPr>
            <p:ph/>
          </p:nvPr>
        </p:nvSpPr>
        <p:spPr>
          <a:xfrm>
            <a:off x="1182600" y="2017800"/>
            <a:ext cx="7772400" cy="4114800"/>
          </a:xfrm>
          <a:prstGeom prst="rect">
            <a:avLst/>
          </a:prstGeom>
          <a:noFill/>
          <a:ln w="0">
            <a:noFill/>
          </a:ln>
        </p:spPr>
        <p:txBody>
          <a:bodyPr lIns="90000" rIns="90000" tIns="46800" bIns="46800" anchor="t">
            <a:normAutofit/>
          </a:bodyPr>
          <a:p>
            <a:pPr lvl="1" marL="743040" indent="-285840">
              <a:spcBef>
                <a:spcPts val="700"/>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0000"/>
                </a:solidFill>
                <a:effectLst/>
                <a:uFillTx/>
                <a:latin typeface="Tahoma"/>
              </a:rPr>
              <a:t>Online at </a:t>
            </a:r>
            <a:r>
              <a:rPr b="0" lang="en-US" sz="2800" strike="noStrike" u="sng">
                <a:solidFill>
                  <a:srgbClr val="ff0000"/>
                </a:solidFill>
                <a:effectLst/>
                <a:uFillTx/>
                <a:latin typeface="Tahoma"/>
                <a:hlinkClick r:id="rId1"/>
              </a:rPr>
              <a:t>www.benefeds.com</a:t>
            </a:r>
            <a:endParaRPr b="0" lang="en-IN" sz="2800" strike="noStrike" u="none">
              <a:solidFill>
                <a:srgbClr val="000000"/>
              </a:solidFill>
              <a:effectLst/>
              <a:uFillTx/>
              <a:latin typeface="Tahoma"/>
            </a:endParaRPr>
          </a:p>
          <a:p>
            <a:pPr lvl="2" marL="1143000" indent="-228600">
              <a:spcBef>
                <a:spcPts val="601"/>
              </a:spcBef>
              <a:buClr>
                <a:srgbClr val="3333cc"/>
              </a:buClr>
              <a:buSzPct val="5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Tahoma"/>
              </a:rPr>
              <a:t>For newhires:</a:t>
            </a:r>
            <a:endParaRPr b="0" lang="en-IN" sz="2400" strike="noStrike" u="none">
              <a:solidFill>
                <a:srgbClr val="000000"/>
              </a:solidFill>
              <a:effectLst/>
              <a:uFillTx/>
              <a:latin typeface="Tahoma"/>
            </a:endParaRPr>
          </a:p>
          <a:p>
            <a:pPr lvl="3" marL="1600200" indent="-228600">
              <a:spcBef>
                <a:spcPts val="499"/>
              </a:spcBef>
              <a:buClr>
                <a:srgbClr val="ffcf01"/>
              </a:buClr>
              <a:buSzPct val="5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Need hire date</a:t>
            </a:r>
            <a:endParaRPr b="0" lang="en-IN" sz="2000" strike="noStrike" u="none">
              <a:solidFill>
                <a:srgbClr val="000000"/>
              </a:solidFill>
              <a:effectLst/>
              <a:uFillTx/>
              <a:latin typeface="Tahoma"/>
            </a:endParaRPr>
          </a:p>
          <a:p>
            <a:pPr lvl="3" marL="1600200" indent="-228600">
              <a:spcBef>
                <a:spcPts val="499"/>
              </a:spcBef>
              <a:buClr>
                <a:srgbClr val="ffcf01"/>
              </a:buClr>
              <a:buSzPct val="5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Agency ID</a:t>
            </a:r>
            <a:endParaRPr b="0" lang="en-IN" sz="2000" strike="noStrike" u="none">
              <a:solidFill>
                <a:srgbClr val="000000"/>
              </a:solidFill>
              <a:effectLst/>
              <a:uFillTx/>
              <a:latin typeface="Tahoma"/>
            </a:endParaRPr>
          </a:p>
          <a:p>
            <a:pPr lvl="4" marL="2057400" indent="-228600">
              <a:spcBef>
                <a:spcPts val="499"/>
              </a:spcBef>
              <a:buClr>
                <a:srgbClr val="00e4a8"/>
              </a:buClr>
              <a:buSzPct val="50000"/>
              <a:buFont typeface="Wingdings" charset="2"/>
              <a:buChar char=""/>
              <a:tabLst>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Air – Department of the Air Force</a:t>
            </a:r>
            <a:endParaRPr b="0" lang="en-IN" sz="2000" strike="noStrike" u="none">
              <a:solidFill>
                <a:srgbClr val="000000"/>
              </a:solidFill>
              <a:effectLst/>
              <a:uFillTx/>
              <a:latin typeface="Tahoma"/>
            </a:endParaRPr>
          </a:p>
          <a:p>
            <a:pPr lvl="4" marL="2057400" indent="-228600">
              <a:spcBef>
                <a:spcPts val="499"/>
              </a:spcBef>
              <a:buClr>
                <a:srgbClr val="00e4a8"/>
              </a:buClr>
              <a:buSzPct val="50000"/>
              <a:buFont typeface="Wingdings" charset="2"/>
              <a:buChar char=""/>
              <a:tabLst>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Payroll ID 97380100</a:t>
            </a:r>
            <a:endParaRPr b="0" lang="en-IN" sz="2000" strike="noStrike" u="none">
              <a:solidFill>
                <a:srgbClr val="000000"/>
              </a:solidFill>
              <a:effectLst/>
              <a:uFillTx/>
              <a:latin typeface="Tahoma"/>
            </a:endParaRPr>
          </a:p>
          <a:p>
            <a:pPr lvl="4" marL="2057400" indent="-228600">
              <a:spcBef>
                <a:spcPts val="499"/>
              </a:spcBef>
              <a:buClr>
                <a:srgbClr val="00e4a8"/>
              </a:buClr>
              <a:buSzPct val="50000"/>
              <a:buFont typeface="Wingdings" charset="2"/>
              <a:buChar char=""/>
              <a:tabLst>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Army – Department of the Army</a:t>
            </a:r>
            <a:endParaRPr b="0" lang="en-IN" sz="2000" strike="noStrike" u="none">
              <a:solidFill>
                <a:srgbClr val="000000"/>
              </a:solidFill>
              <a:effectLst/>
              <a:uFillTx/>
              <a:latin typeface="Tahoma"/>
            </a:endParaRPr>
          </a:p>
          <a:p>
            <a:pPr lvl="4" marL="2057400" indent="-228600">
              <a:spcBef>
                <a:spcPts val="499"/>
              </a:spcBef>
              <a:buClr>
                <a:srgbClr val="00e4a8"/>
              </a:buClr>
              <a:buSzPct val="50000"/>
              <a:buFont typeface="Wingdings" charset="2"/>
              <a:buChar char=""/>
              <a:tabLst>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Payroll ID 97380800</a:t>
            </a:r>
            <a:endParaRPr b="0" lang="en-IN" sz="2000" strike="noStrike" u="none">
              <a:solidFill>
                <a:srgbClr val="000000"/>
              </a:solidFill>
              <a:effectLst/>
              <a:uFillTx/>
              <a:latin typeface="Tahoma"/>
            </a:endParaRPr>
          </a:p>
          <a:p>
            <a:pPr lvl="4" marL="2057400" indent="-228600">
              <a:spcBef>
                <a:spcPts val="499"/>
              </a:spcBef>
              <a:buNone/>
              <a:tabLst>
                <a:tab algn="l" pos="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a:p>
            <a:pPr lvl="4" marL="2057400" indent="-228600">
              <a:spcBef>
                <a:spcPts val="499"/>
              </a:spcBef>
              <a:buNone/>
              <a:tabLst>
                <a:tab algn="l" pos="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a:p>
            <a:pPr lvl="4" marL="2057400" indent="0">
              <a:spcBef>
                <a:spcPts val="499"/>
              </a:spcBef>
              <a:buNone/>
              <a:tabLst>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FEDVIP – Common Problems</a:t>
            </a:r>
            <a:endParaRPr b="0" lang="en-IN" sz="4400" strike="noStrike" u="none">
              <a:solidFill>
                <a:srgbClr val="333399"/>
              </a:solidFill>
              <a:effectLst/>
              <a:uFillTx/>
              <a:latin typeface="Tahoma"/>
            </a:endParaRPr>
          </a:p>
        </p:txBody>
      </p:sp>
      <p:sp>
        <p:nvSpPr>
          <p:cNvPr id="47" name="PlaceHolder 2"/>
          <p:cNvSpPr>
            <a:spLocks noGrp="1"/>
          </p:cNvSpPr>
          <p:nvPr>
            <p:ph/>
          </p:nvPr>
        </p:nvSpPr>
        <p:spPr>
          <a:xfrm>
            <a:off x="1182600" y="2017800"/>
            <a:ext cx="7772400" cy="4114800"/>
          </a:xfrm>
          <a:prstGeom prst="rect">
            <a:avLst/>
          </a:prstGeom>
          <a:noFill/>
          <a:ln w="0">
            <a:noFill/>
          </a:ln>
        </p:spPr>
        <p:txBody>
          <a:bodyPr lIns="90000" rIns="90000" tIns="46800" bIns="46800" anchor="t">
            <a:normAutofit/>
          </a:bodyPr>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Trying to find the form to enroll</a:t>
            </a:r>
            <a:endParaRPr b="0" lang="en-IN" sz="3200" strike="noStrike" u="none">
              <a:solidFill>
                <a:srgbClr val="000000"/>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ahoma"/>
            </a:endParaRPr>
          </a:p>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Trying to use the SF 2809 to enroll</a:t>
            </a:r>
            <a:endParaRPr b="0" lang="en-IN" sz="3200" strike="noStrike" u="none">
              <a:solidFill>
                <a:srgbClr val="000000"/>
              </a:solidFill>
              <a:effectLst/>
              <a:uFillTx/>
              <a:latin typeface="Tahoma"/>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ahoma"/>
            </a:endParaRPr>
          </a:p>
          <a:p>
            <a:pPr marL="343080" indent="-343080">
              <a:spcBef>
                <a:spcPts val="7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ahoma"/>
              </a:rPr>
              <a:t>Wrong/can’t find Payroll ID number</a:t>
            </a:r>
            <a:endParaRPr b="0" lang="en-IN" sz="3200" strike="noStrike" u="none">
              <a:solidFill>
                <a:srgbClr val="000000"/>
              </a:solidFill>
              <a:effectLst/>
              <a:uFillTx/>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FEDVIP - Website</a:t>
            </a:r>
            <a:endParaRPr b="0" lang="en-IN" sz="4400" strike="noStrike" u="none">
              <a:solidFill>
                <a:srgbClr val="333399"/>
              </a:solidFill>
              <a:effectLst/>
              <a:uFillTx/>
              <a:latin typeface="Tahoma"/>
            </a:endParaRPr>
          </a:p>
        </p:txBody>
      </p:sp>
      <p:pic>
        <p:nvPicPr>
          <p:cNvPr id="49" name="" descr=""/>
          <p:cNvPicPr/>
          <p:nvPr/>
        </p:nvPicPr>
        <p:blipFill>
          <a:blip r:embed="rId1"/>
          <a:srcRect l="0" t="14521" r="1982" b="37953"/>
          <a:stretch/>
        </p:blipFill>
        <p:spPr>
          <a:xfrm>
            <a:off x="457200" y="2209680"/>
            <a:ext cx="8077320" cy="29368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1150560" y="214200"/>
            <a:ext cx="7792920" cy="146232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Tahoma"/>
              </a:rPr>
              <a:t>FEDVIP - Questions</a:t>
            </a:r>
            <a:endParaRPr b="0" lang="en-IN" sz="4400" strike="noStrike" u="none">
              <a:solidFill>
                <a:srgbClr val="333399"/>
              </a:solidFill>
              <a:effectLst/>
              <a:uFillTx/>
              <a:latin typeface="Tahoma"/>
            </a:endParaRPr>
          </a:p>
        </p:txBody>
      </p:sp>
      <p:pic>
        <p:nvPicPr>
          <p:cNvPr id="51" name="" descr=""/>
          <p:cNvPicPr/>
          <p:nvPr/>
        </p:nvPicPr>
        <p:blipFill>
          <a:blip r:embed="rId1"/>
          <a:stretch/>
        </p:blipFill>
        <p:spPr>
          <a:xfrm>
            <a:off x="3759120" y="2514600"/>
            <a:ext cx="1625760" cy="18288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160</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2006-09-05T15:31:12Z</dcterms:created>
  <dc:creator>Howard Bentley</dc:creator>
  <dc:description/>
  <dc:language>en-IN</dc:language>
  <cp:lastModifiedBy>howard.f.bentley</cp:lastModifiedBy>
  <dcterms:modified xsi:type="dcterms:W3CDTF">2008-12-08T09:02:56Z</dcterms:modified>
  <cp:revision>10</cp:revision>
  <dc:subject/>
  <dc:title>Thrift Savings Plan (TSP)</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roval Level">
    <vt:lpwstr/>
  </property>
  <property fmtid="{D5CDD505-2E9C-101B-9397-08002B2CF9AE}" pid="3" name="Assigned To">
    <vt:lpwstr/>
  </property>
  <property fmtid="{D5CDD505-2E9C-101B-9397-08002B2CF9AE}" pid="4" name="Categories">
    <vt:lpwstr/>
  </property>
  <property fmtid="{D5CDD505-2E9C-101B-9397-08002B2CF9AE}" pid="5" name="Keywords">
    <vt:lpwstr/>
  </property>
  <property fmtid="{D5CDD505-2E9C-101B-9397-08002B2CF9AE}" pid="6" name="PublishingExpirationDate">
    <vt:lpwstr/>
  </property>
  <property fmtid="{D5CDD505-2E9C-101B-9397-08002B2CF9AE}" pid="7" name="PublishingStartDate">
    <vt:lpwstr/>
  </property>
  <property fmtid="{D5CDD505-2E9C-101B-9397-08002B2CF9AE}" pid="8" name="Slides">
    <vt:lpwstr>9</vt:lpwstr>
  </property>
  <property fmtid="{D5CDD505-2E9C-101B-9397-08002B2CF9AE}" pid="9" name="Subject">
    <vt:lpwstr/>
  </property>
  <property fmtid="{D5CDD505-2E9C-101B-9397-08002B2CF9AE}" pid="10" name="TemplateUrl">
    <vt:lpwstr/>
  </property>
  <property fmtid="{D5CDD505-2E9C-101B-9397-08002B2CF9AE}" pid="11" name="_Author">
    <vt:lpwstr>Howard Bentley</vt:lpwstr>
  </property>
  <property fmtid="{D5CDD505-2E9C-101B-9397-08002B2CF9AE}" pid="12" name="_Category">
    <vt:lpwstr/>
  </property>
  <property fmtid="{D5CDD505-2E9C-101B-9397-08002B2CF9AE}" pid="13" name="_Comments">
    <vt:lpwstr/>
  </property>
  <property fmtid="{D5CDD505-2E9C-101B-9397-08002B2CF9AE}" pid="14" name="_SharedFileIndex">
    <vt:lpwstr/>
  </property>
  <property fmtid="{D5CDD505-2E9C-101B-9397-08002B2CF9AE}" pid="15" name="_SourceUrl">
    <vt:lpwstr/>
  </property>
  <property fmtid="{D5CDD505-2E9C-101B-9397-08002B2CF9AE}" pid="16" name="display_urn:schemas-microsoft-com:office:office#Author">
    <vt:lpwstr>System Account</vt:lpwstr>
  </property>
  <property fmtid="{D5CDD505-2E9C-101B-9397-08002B2CF9AE}" pid="17" name="display_urn:schemas-microsoft-com:office:office#Editor">
    <vt:lpwstr>System Account</vt:lpwstr>
  </property>
  <property fmtid="{D5CDD505-2E9C-101B-9397-08002B2CF9AE}" pid="18" name="xd_ProgID">
    <vt:lpwstr/>
  </property>
  <property fmtid="{D5CDD505-2E9C-101B-9397-08002B2CF9AE}" pid="19" name="xd_Signature">
    <vt:lpwstr/>
  </property>
</Properties>
</file>