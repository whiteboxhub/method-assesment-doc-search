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21333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4581DE-1915-4A35-81A6-03FEF26910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685800" y="609480"/>
            <a:ext cx="7772400" cy="114300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85800" y="21333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19999"/>
          </a:bodyPr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8000640" y="6324120"/>
            <a:ext cx="6858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i="1" lang="en-US" sz="800" strike="noStrike" u="non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&lt;footer&gt;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629040" y="6324480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i="1" lang="en-US" sz="800" strike="noStrike" u="non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E7FB11-BF77-4EFD-AB7E-EBF1FD411DA6}" type="slidenum">
              <a:rPr b="1" i="1" lang="en-US" sz="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85800" y="6324480"/>
            <a:ext cx="7467480" cy="152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3333cc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57200" y="5105520"/>
            <a:ext cx="78487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673200" y="6296040"/>
            <a:ext cx="74041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HACCP for CNPs </a:t>
            </a:r>
            <a:endParaRPr b="0" lang="en-IN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Chapter 6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5800" y="2437920"/>
            <a:ext cx="784872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PRINCIPLE #3</a:t>
            </a:r>
            <a:endParaRPr b="0" lang="en-IN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ESTABLISH CRITICAL LIMITS</a:t>
            </a:r>
            <a:endParaRPr b="0" lang="en-IN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pyramidcopy" descr=""/>
          <p:cNvPicPr/>
          <p:nvPr/>
        </p:nvPicPr>
        <p:blipFill>
          <a:blip r:embed="rId1"/>
          <a:stretch/>
        </p:blipFill>
        <p:spPr>
          <a:xfrm>
            <a:off x="0" y="0"/>
            <a:ext cx="2155680" cy="220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1CB181-B693-4883-9B6B-AD30074828C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371600"/>
          </a:xfrm>
          <a:prstGeom prst="rect">
            <a:avLst/>
          </a:prstGeom>
          <a:solidFill>
            <a:srgbClr val="0000cc"/>
          </a:solidFill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Your Knowledge?</a:t>
            </a:r>
            <a:br>
              <a:rPr sz="4000"/>
            </a:b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(T or F)</a:t>
            </a:r>
            <a:endParaRPr b="1" lang="en-IN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6840" y="1752120"/>
            <a:ext cx="8001000" cy="48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914400" indent="-45720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critical limit is a measurable but simple and clearly written direction to take specific action.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critical limit need not be established for each identified CCP.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Critical limits most used in child nutrition programs are related to time/ temperature.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Critical limits are based on scientific data, regulations and other information.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Critical limits must be appropriate for the food and equipment in your operation.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13653D-CD19-46E0-91E3-060AC69EC25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Objectives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5800" y="2133720"/>
            <a:ext cx="78487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 able to: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Define Critical Limits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 the difference between a CCP and a critical limit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 4 characteristics that make critical limits effective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Identify good sources for critical limits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Write critical limits for the CCPs in your operation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C3889F-2D34-489F-8DC8-0EFBEEA336A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2730240"/>
            <a:ext cx="7848720" cy="32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Typically, minimum and/or maximum times and temperatures that must be met to keep food safe at the CCPs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Boundaries of safety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FBDEC0-753D-4F0E-A150-DF4E3A5C8B9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Effective Critical Limits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5800" y="2208240"/>
            <a:ext cx="7848720" cy="373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Measurable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Based on scientific data, food regulations, and expert advice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Appropriate for the food and equipment in your operation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993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Clear and easy to follow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B654E-FEB5-4021-80E9-21325D3B1F4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Ex:  A. Hamburger Patties</a:t>
            </a:r>
            <a:endParaRPr b="1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380880" y="914400"/>
          <a:ext cx="8458200" cy="4038120"/>
        </p:xfrm>
        <a:graphic>
          <a:graphicData uri="http://schemas.openxmlformats.org/drawingml/2006/table">
            <a:tbl>
              <a:tblPr/>
              <a:tblGrid>
                <a:gridCol w="1524240"/>
                <a:gridCol w="1828800"/>
                <a:gridCol w="1600200"/>
                <a:gridCol w="1904760"/>
                <a:gridCol w="1600200"/>
              </a:tblGrid>
              <a:tr h="9316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of Kitchen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7604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Satellite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Hamburger patties, delivered </a:t>
                      </a: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cooked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Receiving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Receive at 140</a:t>
                      </a:r>
                      <a:r>
                        <a:rPr b="0" lang="en-IN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3460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2DB7A2-1F21-4E67-89EE-AE3AD04C9FD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"/>
          <p:cNvGraphicFramePr/>
          <p:nvPr/>
        </p:nvGraphicFramePr>
        <p:xfrm>
          <a:off x="228600" y="1066680"/>
          <a:ext cx="8686800" cy="4495680"/>
        </p:xfrm>
        <a:graphic>
          <a:graphicData uri="http://schemas.openxmlformats.org/drawingml/2006/table">
            <a:tbl>
              <a:tblPr/>
              <a:tblGrid>
                <a:gridCol w="1371600"/>
                <a:gridCol w="1676520"/>
                <a:gridCol w="1371600"/>
                <a:gridCol w="2620800"/>
                <a:gridCol w="1646280"/>
              </a:tblGrid>
              <a:tr h="10544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of Kitchen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25012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Satellite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Hamburger patties, delivered raw,</a:t>
                      </a: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frozen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 to an internal product temperature of 155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for at least 15 seconds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9399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25" name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Ex:  A. Hamburger Patties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438B4-6432-43FF-BB85-E58E42A044D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"/>
          <p:cNvGraphicFramePr/>
          <p:nvPr/>
        </p:nvGraphicFramePr>
        <p:xfrm>
          <a:off x="228600" y="838080"/>
          <a:ext cx="8610480" cy="4267080"/>
        </p:xfrm>
        <a:graphic>
          <a:graphicData uri="http://schemas.openxmlformats.org/drawingml/2006/table">
            <a:tbl>
              <a:tblPr/>
              <a:tblGrid>
                <a:gridCol w="1447920"/>
                <a:gridCol w="1676160"/>
                <a:gridCol w="1295640"/>
                <a:gridCol w="2438280"/>
                <a:gridCol w="1752480"/>
              </a:tblGrid>
              <a:tr h="8690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of Kitchen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2411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Full-Service Kitchen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Hamburger patties, raw,</a:t>
                      </a: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frozen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 to an internal product temperature of 155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for at least 15 seconds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9864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27" name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Ex:  A. Hamburger Patties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E421B-8856-42D3-AC61-20BEBA64DAD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"/>
          <p:cNvGraphicFramePr/>
          <p:nvPr/>
        </p:nvGraphicFramePr>
        <p:xfrm>
          <a:off x="0" y="838080"/>
          <a:ext cx="9144000" cy="5677200"/>
        </p:xfrm>
        <a:graphic>
          <a:graphicData uri="http://schemas.openxmlformats.org/drawingml/2006/table">
            <a:tbl>
              <a:tblPr/>
              <a:tblGrid>
                <a:gridCol w="1447920"/>
                <a:gridCol w="1752480"/>
                <a:gridCol w="1600200"/>
                <a:gridCol w="2859120"/>
                <a:gridCol w="1484280"/>
              </a:tblGrid>
              <a:tr h="79452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of Kitchen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8453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Central Kitchen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Hamburger patties, raw,</a:t>
                      </a:r>
                      <a:r>
                        <a:rPr b="1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frozen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 to an internal product temperature of 155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for at least 15 seconds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4950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5422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Transport-ing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3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during transporting period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29" name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Ex:  A. Hamburger Patties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BB2C34-DCD4-4588-A96E-1730BA12E403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Ex:  B. Ground Beef Chili</a:t>
            </a:r>
            <a:endParaRPr b="1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" name=""/>
          <p:cNvGraphicFramePr/>
          <p:nvPr/>
        </p:nvGraphicFramePr>
        <p:xfrm>
          <a:off x="152280" y="838080"/>
          <a:ext cx="8839440" cy="5486400"/>
        </p:xfrm>
        <a:graphic>
          <a:graphicData uri="http://schemas.openxmlformats.org/drawingml/2006/table">
            <a:tbl>
              <a:tblPr/>
              <a:tblGrid>
                <a:gridCol w="1219320"/>
                <a:gridCol w="1828800"/>
                <a:gridCol w="1295280"/>
                <a:gridCol w="2895840"/>
                <a:gridCol w="1600200"/>
              </a:tblGrid>
              <a:tr h="7642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of Kitchen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CCPs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5181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Central Kitchen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Ground Beef Chili, made from scratch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Cooking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Cook to an internal product temperature of 155</a:t>
                      </a:r>
                      <a:r>
                        <a:rPr b="0" lang="en-IN" sz="22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for at least 15 seconds.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32040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Cooling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 temperature should be lowered from 140</a:t>
                      </a:r>
                      <a:r>
                        <a:rPr b="0" lang="en-IN" sz="22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-70</a:t>
                      </a:r>
                      <a:r>
                        <a:rPr b="0" lang="en-IN" sz="22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within 2 hours and from 70</a:t>
                      </a:r>
                      <a:r>
                        <a:rPr b="0" lang="en-IN" sz="22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-41</a:t>
                      </a:r>
                      <a:r>
                        <a:rPr b="0" lang="en-IN" sz="22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below within 4 hours for a total of 6 hours or less.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4AED15-7E3B-4950-B12B-7650DE23442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"/>
          <p:cNvGraphicFramePr/>
          <p:nvPr/>
        </p:nvGraphicFramePr>
        <p:xfrm>
          <a:off x="0" y="838080"/>
          <a:ext cx="8991720" cy="4354560"/>
        </p:xfrm>
        <a:graphic>
          <a:graphicData uri="http://schemas.openxmlformats.org/drawingml/2006/table">
            <a:tbl>
              <a:tblPr/>
              <a:tblGrid>
                <a:gridCol w="1371600"/>
                <a:gridCol w="1523880"/>
                <a:gridCol w="1371600"/>
                <a:gridCol w="3276720"/>
                <a:gridCol w="1447920"/>
              </a:tblGrid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of Kitchen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9720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Satellite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Ground Beef Chili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Reheat-ing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Reheat, within 2 hours, to an internal product temperature of 165</a:t>
                      </a:r>
                      <a:r>
                        <a:rPr b="0" lang="en-IN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for at least 15 seconds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5570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after reheating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33" name="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Ex:  B. Ground Beef Chili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00502D-09A8-4B14-9114-E5234132FDE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62120" y="-360"/>
            <a:ext cx="777240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Critical Limits Form</a:t>
            </a:r>
            <a:endParaRPr b="1" lang="en-IN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"/>
          <p:cNvGraphicFramePr/>
          <p:nvPr/>
        </p:nvGraphicFramePr>
        <p:xfrm>
          <a:off x="228600" y="1066680"/>
          <a:ext cx="8686800" cy="4571640"/>
        </p:xfrm>
        <a:graphic>
          <a:graphicData uri="http://schemas.openxmlformats.org/drawingml/2006/table">
            <a:tbl>
              <a:tblPr/>
              <a:tblGrid>
                <a:gridCol w="1673280"/>
                <a:gridCol w="612720"/>
                <a:gridCol w="4343400"/>
                <a:gridCol w="2057400"/>
              </a:tblGrid>
              <a:tr h="825480"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Date: </a:t>
                      </a:r>
                      <a:r>
                        <a:rPr b="0" lang="en-US" sz="24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7/31/00           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872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3333cc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Person Deciding on CL: </a:t>
                      </a:r>
                      <a:r>
                        <a:rPr b="0" lang="en-IN" sz="24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Maria Hernandez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3333cc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59720">
                <a:tc gridSpan="4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Product:</a:t>
                      </a:r>
                      <a:r>
                        <a:rPr b="0" lang="en-IN" sz="24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</a:t>
                      </a:r>
                      <a:r>
                        <a:rPr b="1" lang="en-IN" sz="24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Ground Beef Chili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130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CCP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872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Critical Limits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57860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Reheating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872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Reheat, within 2 hours, to an internal product temperature of 165</a:t>
                      </a:r>
                      <a:r>
                        <a:rPr b="0" lang="en-IN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for at least 15 seconds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  <a:tr h="10947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872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 food at 140</a:t>
                      </a:r>
                      <a:r>
                        <a:rPr b="0" lang="en-IN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</a:t>
                      </a: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 or above after reheating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1999 FDA Food Code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837300-2DB1-437E-AA1E-A941C2FABA0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Activity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8487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Discussion Questions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Review Questions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Case Study (FSD) (See next slide)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Activity:  Establishing Critical Limits (FSD) Tuna Salad Sandwich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Activity:  Establishing Critical Limits (FSD) Beef Taco Filling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spcBef>
                <a:spcPts val="700"/>
              </a:spcBef>
              <a:buClr>
                <a:srgbClr val="ff993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Homework:  Establishing Critical Limits (FSD)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AD0AD6-5354-44A3-ACEC-9C8E8EC0A349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3333c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Case Study (FSD)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38224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Monroe Middle School has a satellite kitchen with cooking facilities. It receives tuna casseroles cold from a central kitchen. The cook follows the instructions in the recipe: “Cook 45 minutes at 350</a:t>
            </a:r>
            <a:r>
              <a:rPr b="0" lang="en-IN" sz="3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IN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F.” When the cook receives the casseroles, she puts them in a preheated oven. What is wrong with this? What are your suggestions?</a:t>
            </a:r>
            <a:endParaRPr b="0" lang="en-IN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Ch 6-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F51D84-40AA-4368-B4FB-61B66EEBA76F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2000-11-29T07:23:05Z</dcterms:created>
  <dc:creator>Bob Holcombe</dc:creator>
  <dc:description/>
  <dc:language>en-IN</dc:language>
  <cp:lastModifiedBy>kmarston</cp:lastModifiedBy>
  <cp:lastPrinted>2000-11-29T10:53:58Z</cp:lastPrinted>
  <dcterms:modified xsi:type="dcterms:W3CDTF">2005-12-20T06:37:51Z</dcterms:modified>
  <cp:revision>37</cp:revision>
  <dc:subject/>
  <dc:title>No Slide Title</dc:title>
</cp:coreProperties>
</file>