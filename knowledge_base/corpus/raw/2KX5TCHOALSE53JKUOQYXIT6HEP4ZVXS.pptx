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media/image1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/>
  <p:notesSz cx="6858000" cy="9294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0040" indent="-230040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79320" indent="-285480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79640" indent="-228600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487520" indent="-228600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33480" indent="-228600">
              <a:spcBef>
                <a:spcPts val="601"/>
              </a:spcBef>
              <a:buClr>
                <a:srgbClr val="007fd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833480" indent="-22860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833480" indent="-22860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rPr>
              <a:t>October 2007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1E9456-091F-4CDC-BB1D-80461EE84D52}" type="slidenum">
              <a: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"/>
          <p:cNvSpPr/>
          <p:nvPr/>
        </p:nvSpPr>
        <p:spPr>
          <a:xfrm flipH="1">
            <a:off x="2759040" y="1598760"/>
            <a:ext cx="36561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40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 flipH="1">
            <a:off x="2759040" y="5919840"/>
            <a:ext cx="36561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" descr=""/>
          <p:cNvPicPr/>
          <p:nvPr/>
        </p:nvPicPr>
        <p:blipFill>
          <a:blip r:embed="rId2"/>
          <a:stretch/>
        </p:blipFill>
        <p:spPr>
          <a:xfrm>
            <a:off x="3370320" y="6076800"/>
            <a:ext cx="2344680" cy="641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bl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0040" indent="-230040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79320" indent="-285480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79640" indent="-228600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487520" indent="-228600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33480" indent="-228600">
              <a:spcBef>
                <a:spcPts val="601"/>
              </a:spcBef>
              <a:buClr>
                <a:srgbClr val="007fd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833480" indent="-22860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833480" indent="-22860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rPr>
              <a:t>October 2007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1183C4-E0EB-4D69-9D9E-E219A1A15CF7}" type="slidenum">
              <a: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 flipH="1">
            <a:off x="2759040" y="1598760"/>
            <a:ext cx="36561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40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 flipH="1">
            <a:off x="2759040" y="5919840"/>
            <a:ext cx="36561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2"/>
          <a:stretch/>
        </p:blipFill>
        <p:spPr>
          <a:xfrm>
            <a:off x="3370320" y="6076800"/>
            <a:ext cx="2344680" cy="641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body"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0040" indent="-230040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79320" indent="-285480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79640" indent="-228600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487520" indent="-228600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33480" indent="-228600">
              <a:spcBef>
                <a:spcPts val="601"/>
              </a:spcBef>
              <a:buClr>
                <a:srgbClr val="007fd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833480" indent="-22860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833480" indent="-228600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rPr>
              <a:t>October 2007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272C30-B0DD-4558-B06A-D6BCB1F7AA61}" type="slidenum">
              <a: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 flipH="1">
            <a:off x="2759040" y="1598760"/>
            <a:ext cx="36561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40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flipH="1">
            <a:off x="2759040" y="5919840"/>
            <a:ext cx="36561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" descr=""/>
          <p:cNvPicPr/>
          <p:nvPr/>
        </p:nvPicPr>
        <p:blipFill>
          <a:blip r:embed="rId2"/>
          <a:stretch/>
        </p:blipFill>
        <p:spPr>
          <a:xfrm>
            <a:off x="3370320" y="6076800"/>
            <a:ext cx="2344680" cy="641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dt" idx="10"/>
          </p:nvPr>
        </p:nvSpPr>
        <p:spPr>
          <a:xfrm>
            <a:off x="617400" y="623088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1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2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CBCBBE-5B21-410D-82B8-47821A2EDA15}" type="slidenum">
              <a:rPr b="0" lang="en-US" sz="1400" strike="noStrike" u="none">
                <a:solidFill>
                  <a:srgbClr val="007fd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603360" y="1403280"/>
            <a:ext cx="80769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 flipH="1">
            <a:off x="603360" y="5961240"/>
            <a:ext cx="80769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title"/>
          </p:nvPr>
        </p:nvSpPr>
        <p:spPr>
          <a:xfrm>
            <a:off x="685800" y="177588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pic>
        <p:nvPicPr>
          <p:cNvPr id="30" name="" descr=""/>
          <p:cNvPicPr/>
          <p:nvPr/>
        </p:nvPicPr>
        <p:blipFill>
          <a:blip r:embed="rId2"/>
          <a:stretch/>
        </p:blipFill>
        <p:spPr>
          <a:xfrm>
            <a:off x="2576520" y="228600"/>
            <a:ext cx="3959280" cy="10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  <a:p>
            <a:pPr lvl="1" marL="393840" indent="0" algn="ctr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851040" algn="ctr">
              <a:spcBef>
                <a:spcPts val="451"/>
              </a:spcBef>
              <a:buClr>
                <a:srgbClr val="007fd0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58920" algn="ctr">
              <a:spcBef>
                <a:spcPts val="400"/>
              </a:spcBef>
              <a:buClr>
                <a:srgbClr val="007fd0"/>
              </a:buClr>
              <a:buFont typeface="Arial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604880" algn="ctr">
              <a:spcBef>
                <a:spcPts val="349"/>
              </a:spcBef>
              <a:buClr>
                <a:srgbClr val="007fd0"/>
              </a:buClr>
              <a:buFont typeface="Arial"/>
              <a:buChar char="»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604880">
              <a:spcBef>
                <a:spcPts val="34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604880">
              <a:spcBef>
                <a:spcPts val="34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05960" y="2342880"/>
            <a:ext cx="78282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Overview of Sustainability </a:t>
            </a:r>
            <a:br>
              <a:rPr sz="3600"/>
            </a:br>
            <a:r>
              <a:rPr b="1" lang="en-US" sz="36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Policy Issues</a:t>
            </a:r>
            <a:endParaRPr b="1" lang="en-IN" sz="36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2412720" y="3733920"/>
            <a:ext cx="431964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CMAP Board of Directors</a:t>
            </a:r>
            <a:endParaRPr b="0" lang="en-IN" sz="20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October 10, 2007</a:t>
            </a:r>
            <a:endParaRPr b="0" lang="en-IN" sz="20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Elements of Regional Snapshot</a:t>
            </a:r>
            <a:br>
              <a:rPr sz="2800"/>
            </a:br>
            <a:r>
              <a:rPr b="1" lang="en-US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on Sustainability</a:t>
            </a: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80920" y="1838160"/>
            <a:ext cx="7196400" cy="38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0040" indent="-230040">
              <a:spcBef>
                <a:spcPts val="901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Make staff recommendations to CMAP Board and committees: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79320" indent="-285480">
              <a:spcBef>
                <a:spcPts val="901"/>
              </a:spcBef>
              <a:buClr>
                <a:srgbClr val="007fd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Define and conceptualize </a:t>
            </a:r>
            <a:r>
              <a:rPr b="0" i="1" lang="en-I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sustainability</a:t>
            </a: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so that it can be applied to Regional Comprehensive Plan (among other activities)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79320" indent="-285480">
              <a:spcBef>
                <a:spcPts val="901"/>
              </a:spcBef>
              <a:buClr>
                <a:srgbClr val="007fd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Develop indicators to measure sustainability.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79320" indent="-285480">
              <a:spcBef>
                <a:spcPts val="901"/>
              </a:spcBef>
              <a:buClr>
                <a:srgbClr val="007fd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Identify major policy issues on which guidance is needed.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09CBC8-94D6-4CF2-A60E-557E1E223A41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Sustainability Definitions</a:t>
            </a: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880560" y="1838160"/>
            <a:ext cx="7348680" cy="38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0040" indent="-230040">
              <a:spcBef>
                <a:spcPts val="901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Brundtland Commission: To meet the needs of the present without compromising the ability of future generations to meet their own needs.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901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3E: Seeking to achieve economic, environmental, and social equity goals simultaneously.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901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Capital-based: preserving or increasing stock of natural capital, financial capital, manufactured capital, human capital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0">
              <a:spcBef>
                <a:spcPts val="9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7EB253-FEDF-4E80-A916-76C917856028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88840" y="479160"/>
            <a:ext cx="756936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Recommended Principles in Definition of Sustainability</a:t>
            </a: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grpSp>
        <p:nvGrpSpPr>
          <p:cNvPr id="39" name=""/>
          <p:cNvGrpSpPr/>
          <p:nvPr/>
        </p:nvGrpSpPr>
        <p:grpSpPr>
          <a:xfrm>
            <a:off x="838080" y="2057400"/>
            <a:ext cx="7492680" cy="2819160"/>
            <a:chOff x="838080" y="2057400"/>
            <a:chExt cx="7492680" cy="2819160"/>
          </a:xfrm>
        </p:grpSpPr>
        <p:grpSp>
          <p:nvGrpSpPr>
            <p:cNvPr id="40" name=""/>
            <p:cNvGrpSpPr/>
            <p:nvPr/>
          </p:nvGrpSpPr>
          <p:grpSpPr>
            <a:xfrm>
              <a:off x="843480" y="2061360"/>
              <a:ext cx="7481160" cy="2810520"/>
              <a:chOff x="843480" y="2061360"/>
              <a:chExt cx="7481160" cy="2810520"/>
            </a:xfrm>
          </p:grpSpPr>
          <p:grpSp>
            <p:nvGrpSpPr>
              <p:cNvPr id="41" name=""/>
              <p:cNvGrpSpPr/>
              <p:nvPr/>
            </p:nvGrpSpPr>
            <p:grpSpPr>
              <a:xfrm>
                <a:off x="843480" y="2061360"/>
                <a:ext cx="3740040" cy="745560"/>
                <a:chOff x="843480" y="2061360"/>
                <a:chExt cx="3740040" cy="745560"/>
              </a:xfrm>
            </p:grpSpPr>
            <p:sp>
              <p:nvSpPr>
                <p:cNvPr id="42" name=""/>
                <p:cNvSpPr/>
                <p:nvPr/>
              </p:nvSpPr>
              <p:spPr>
                <a:xfrm>
                  <a:off x="957960" y="2061360"/>
                  <a:ext cx="3511080" cy="745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IN" sz="1800" strike="noStrike" u="none">
                      <a:solidFill>
                        <a:srgbClr val="007fd0"/>
                      </a:solidFill>
                      <a:effectLst/>
                      <a:uFillTx/>
                      <a:latin typeface="Arial"/>
                      <a:ea typeface="Arial"/>
                    </a:rPr>
                    <a:t>Future Conditions</a:t>
                  </a:r>
                  <a:endParaRPr b="0" lang="en-IN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" name=""/>
                <p:cNvSpPr/>
                <p:nvPr/>
              </p:nvSpPr>
              <p:spPr>
                <a:xfrm>
                  <a:off x="843480" y="2061360"/>
                  <a:ext cx="3740040" cy="74556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4" name=""/>
              <p:cNvGrpSpPr/>
              <p:nvPr/>
            </p:nvGrpSpPr>
            <p:grpSpPr>
              <a:xfrm>
                <a:off x="4583880" y="2061360"/>
                <a:ext cx="3740760" cy="745560"/>
                <a:chOff x="4583880" y="2061360"/>
                <a:chExt cx="3740760" cy="745560"/>
              </a:xfrm>
            </p:grpSpPr>
            <p:sp>
              <p:nvSpPr>
                <p:cNvPr id="45" name=""/>
                <p:cNvSpPr/>
                <p:nvPr/>
              </p:nvSpPr>
              <p:spPr>
                <a:xfrm>
                  <a:off x="4698360" y="2061360"/>
                  <a:ext cx="3511080" cy="745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IN" sz="1800" strike="noStrike" u="none">
                      <a:solidFill>
                        <a:srgbClr val="007fd0"/>
                      </a:solidFill>
                      <a:effectLst/>
                      <a:uFillTx/>
                      <a:latin typeface="Arial"/>
                      <a:ea typeface="Arial"/>
                    </a:rPr>
                    <a:t>Present Conditions</a:t>
                  </a:r>
                  <a:endParaRPr b="0" lang="en-IN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IN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" name=""/>
                <p:cNvSpPr/>
                <p:nvPr/>
              </p:nvSpPr>
              <p:spPr>
                <a:xfrm>
                  <a:off x="4583880" y="2061360"/>
                  <a:ext cx="3740760" cy="74556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47" name=""/>
              <p:cNvGrpSpPr/>
              <p:nvPr/>
            </p:nvGrpSpPr>
            <p:grpSpPr>
              <a:xfrm>
                <a:off x="843480" y="2807280"/>
                <a:ext cx="3740040" cy="917640"/>
                <a:chOff x="843480" y="2807280"/>
                <a:chExt cx="3740040" cy="917640"/>
              </a:xfrm>
            </p:grpSpPr>
            <p:sp>
              <p:nvSpPr>
                <p:cNvPr id="48" name=""/>
                <p:cNvSpPr/>
                <p:nvPr/>
              </p:nvSpPr>
              <p:spPr>
                <a:xfrm>
                  <a:off x="957960" y="2807280"/>
                  <a:ext cx="3511080" cy="91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Protect environment and improve natural resources for future generations.</a:t>
                  </a:r>
                  <a:endParaRPr b="0" lang="en-IN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IN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" name=""/>
                <p:cNvSpPr/>
                <p:nvPr/>
              </p:nvSpPr>
              <p:spPr>
                <a:xfrm>
                  <a:off x="843480" y="2807280"/>
                  <a:ext cx="3740040" cy="9176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0" name=""/>
              <p:cNvGrpSpPr/>
              <p:nvPr/>
            </p:nvGrpSpPr>
            <p:grpSpPr>
              <a:xfrm>
                <a:off x="4583880" y="2807280"/>
                <a:ext cx="3740760" cy="917640"/>
                <a:chOff x="4583880" y="2807280"/>
                <a:chExt cx="3740760" cy="917640"/>
              </a:xfrm>
            </p:grpSpPr>
            <p:sp>
              <p:nvSpPr>
                <p:cNvPr id="51" name=""/>
                <p:cNvSpPr/>
                <p:nvPr/>
              </p:nvSpPr>
              <p:spPr>
                <a:xfrm>
                  <a:off x="4698360" y="2807280"/>
                  <a:ext cx="3511080" cy="91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Improve economic performance and quality of life for individuals.</a:t>
                  </a:r>
                  <a:endParaRPr b="0" lang="en-IN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IN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" name=""/>
                <p:cNvSpPr/>
                <p:nvPr/>
              </p:nvSpPr>
              <p:spPr>
                <a:xfrm>
                  <a:off x="4583880" y="2807280"/>
                  <a:ext cx="3740760" cy="9176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3" name=""/>
              <p:cNvGrpSpPr/>
              <p:nvPr/>
            </p:nvGrpSpPr>
            <p:grpSpPr>
              <a:xfrm>
                <a:off x="843480" y="3725280"/>
                <a:ext cx="3740040" cy="1146600"/>
                <a:chOff x="843480" y="3725280"/>
                <a:chExt cx="3740040" cy="1146600"/>
              </a:xfrm>
            </p:grpSpPr>
            <p:sp>
              <p:nvSpPr>
                <p:cNvPr id="54" name=""/>
                <p:cNvSpPr/>
                <p:nvPr/>
              </p:nvSpPr>
              <p:spPr>
                <a:xfrm>
                  <a:off x="957960" y="3725280"/>
                  <a:ext cx="3511080" cy="1146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Preserve the value of human and man-made capital for future generations.</a:t>
                  </a:r>
                  <a:endParaRPr b="0" lang="en-IN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" name=""/>
                <p:cNvSpPr/>
                <p:nvPr/>
              </p:nvSpPr>
              <p:spPr>
                <a:xfrm>
                  <a:off x="843480" y="3725280"/>
                  <a:ext cx="3740040" cy="114660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6" name=""/>
              <p:cNvGrpSpPr/>
              <p:nvPr/>
            </p:nvGrpSpPr>
            <p:grpSpPr>
              <a:xfrm>
                <a:off x="4583880" y="3725280"/>
                <a:ext cx="3740760" cy="1146600"/>
                <a:chOff x="4583880" y="3725280"/>
                <a:chExt cx="3740760" cy="1146600"/>
              </a:xfrm>
            </p:grpSpPr>
            <p:sp>
              <p:nvSpPr>
                <p:cNvPr id="57" name=""/>
                <p:cNvSpPr/>
                <p:nvPr/>
              </p:nvSpPr>
              <p:spPr>
                <a:xfrm>
                  <a:off x="4698360" y="3725280"/>
                  <a:ext cx="3511080" cy="1146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pPr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Ensure a fair distribution of life-quality.</a:t>
                  </a:r>
                  <a:r>
                    <a:rPr b="0" lang="en-IN" sz="2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Times New Roman"/>
                    </a:rPr>
                    <a:t> </a:t>
                  </a:r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" name=""/>
                <p:cNvSpPr/>
                <p:nvPr/>
              </p:nvSpPr>
              <p:spPr>
                <a:xfrm>
                  <a:off x="4583880" y="3725280"/>
                  <a:ext cx="3740760" cy="114660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59" name=""/>
            <p:cNvSpPr/>
            <p:nvPr/>
          </p:nvSpPr>
          <p:spPr>
            <a:xfrm>
              <a:off x="838080" y="2057400"/>
              <a:ext cx="7492680" cy="2819160"/>
            </a:xfrm>
            <a:prstGeom prst="rect">
              <a:avLst/>
            </a:prstGeom>
            <a:noFill/>
            <a:ln w="7920">
              <a:solidFill>
                <a:srgbClr val="a0a0a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688C08-B0EE-4B33-9FE3-E59F7C5F6C76}" type="slidenum">
              <a:t>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Protect environment and improve natural resources for future generations.</a:t>
            </a:r>
            <a:br>
              <a:rPr sz="2800"/>
            </a:b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914040" y="1904760"/>
            <a:ext cx="7348680" cy="383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0040" indent="-230040">
              <a:lnSpc>
                <a:spcPct val="85000"/>
              </a:lnSpc>
              <a:spcBef>
                <a:spcPts val="15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Major policy implications of addressing this principle: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Measure environmental impacts of new development induced by infrastructure investment.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Improve overall natural resource base – provide “offsets” for natural resource loss by compensation in other areas.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lnSpc>
                <a:spcPct val="85000"/>
              </a:lnSpc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Address air quality beyond Clean Air Act requirements.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Include water quality and supply, habitat fragmentation, and other measures as indicators in scenario evaluation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D45683-8620-4FF8-B43F-7E756B460BC0}" type="slidenum">
              <a:t>5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120" y="479160"/>
            <a:ext cx="800100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Indicators – Protect environment and improve natural resources for future generations.</a:t>
            </a: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3" name=""/>
          <p:cNvGraphicFramePr/>
          <p:nvPr/>
        </p:nvGraphicFramePr>
        <p:xfrm>
          <a:off x="804960" y="1838160"/>
          <a:ext cx="7729560" cy="3625920"/>
        </p:xfrm>
        <a:graphic>
          <a:graphicData uri="http://schemas.openxmlformats.org/drawingml/2006/table">
            <a:tbl>
              <a:tblPr/>
              <a:tblGrid>
                <a:gridCol w="2624040"/>
                <a:gridCol w="2895480"/>
                <a:gridCol w="1067040"/>
                <a:gridCol w="1143000"/>
              </a:tblGrid>
              <a:tr h="45360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Measure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Units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Type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Direction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</a:tr>
              <a:tr h="45360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Ground surface hardening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Percent impervious by watershed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Threshold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Down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36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Natural resource damage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Group of several measures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Down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060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[Habitat fragmentation TBD]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[TBD]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[TBD]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[TBD]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84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Greenhouse gas emissions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MMTCO</a:t>
                      </a:r>
                      <a:r>
                        <a:rPr b="0" lang="en-IN" sz="1400" strike="noStrike" u="none" baseline="-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2</a:t>
                      </a: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Target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Down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060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Environmental Footprint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Acres per person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Down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096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Petroleum consumption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Millions of gallons per year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Down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060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[Air quality TBD]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[TBD]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[TBD]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[TBD]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060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Total energy use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Trillions of British Thermal Units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Down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084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Water use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Use/yield ratio; millions of gallons /day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Threshold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Optimized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DF8570-AAB3-4B42-8138-28E00ED14725}" type="slidenum">
              <a:t>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Improve economic performance and quality of life for individuals.</a:t>
            </a:r>
            <a:br>
              <a:rPr sz="2800"/>
            </a:b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1904760"/>
            <a:ext cx="7500960" cy="383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0040" indent="-230040">
              <a:lnSpc>
                <a:spcPct val="85000"/>
              </a:lnSpc>
              <a:spcBef>
                <a:spcPts val="15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Major policy implications of addressing this principle: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Address economic development by increasing employment and raising income.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Target infrastructure investments partly on the basis of the economic development potential they would support.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Consider non-capital means of increasing productivity (such as workforce development).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Consider effects of tax policy on development, and address alternative taxation possibilities through scenario evaluation. 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5F5A69-59E3-4F3D-9008-44EE75B4D610}" type="slidenum">
              <a:t>7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762120" y="457200"/>
            <a:ext cx="77724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Indicators – Improve economic performance and quality of life for individuals.</a:t>
            </a: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7" name=""/>
          <p:cNvGraphicFramePr/>
          <p:nvPr/>
        </p:nvGraphicFramePr>
        <p:xfrm>
          <a:off x="880920" y="1838160"/>
          <a:ext cx="7410600" cy="3240360"/>
        </p:xfrm>
        <a:graphic>
          <a:graphicData uri="http://schemas.openxmlformats.org/drawingml/2006/table">
            <a:tbl>
              <a:tblPr/>
              <a:tblGrid>
                <a:gridCol w="2516400"/>
                <a:gridCol w="2774880"/>
                <a:gridCol w="1023840"/>
                <a:gridCol w="1095480"/>
              </a:tblGrid>
              <a:tr h="4654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Measure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Units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Type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Direction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</a:tr>
              <a:tr h="45720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Total factor productivity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Percent change from baseline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Up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620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Wage growth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Percent change from baseline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Up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312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Employment growth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Percent change from baseline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Up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58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Aggregate fiscal capacity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Equalized assessed value + taxable sales ($)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Up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312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Trip length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Miles, minutes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Down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34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Hours of delay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Hours per year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Down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58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Availability of transportation modes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Percent of total trips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Up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D17869-7185-4051-9404-6AD088A7FE4B}" type="slidenum">
              <a:t>8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Preserve the value of human and man-made capital for future generations.</a:t>
            </a: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0040" indent="-230040">
              <a:lnSpc>
                <a:spcPct val="85000"/>
              </a:lnSpc>
              <a:spcBef>
                <a:spcPts val="15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Major policy implications of addressing this principle: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Consider well-being and needs of future generations when determining maintenance and reinvestment priorities.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Utilize life cycle costing to assess potential major capital investments.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Commit to efficient urban form as a long-term solution.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B2C508-327E-4E70-97AB-34355F74B7EF}" type="slidenum">
              <a:t>9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  <p:timing>
    <p:tnLst>
      <p:par>
        <p:cTn id="45" dur="indefinite" restart="never" nodeType="tmRoot">
          <p:childTnLst>
            <p:seq>
              <p:cTn id="46" dur="indefinite" nodeType="mainSeq">
                <p:childTnLst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5800" y="380880"/>
            <a:ext cx="7848720" cy="9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Indicators – Preserve the value of human and man-made capital for future generations.</a:t>
            </a: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1" name=""/>
          <p:cNvGraphicFramePr/>
          <p:nvPr/>
        </p:nvGraphicFramePr>
        <p:xfrm>
          <a:off x="880920" y="2328840"/>
          <a:ext cx="7410600" cy="1633680"/>
        </p:xfrm>
        <a:graphic>
          <a:graphicData uri="http://schemas.openxmlformats.org/drawingml/2006/table">
            <a:tbl>
              <a:tblPr/>
              <a:tblGrid>
                <a:gridCol w="3005280"/>
                <a:gridCol w="2286000"/>
                <a:gridCol w="1023840"/>
                <a:gridCol w="1095480"/>
              </a:tblGrid>
              <a:tr h="4654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Measure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Units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Type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Direction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</a:tr>
              <a:tr h="45720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Roadway in disrepair</a:t>
                      </a:r>
                      <a:endParaRPr b="0" lang="en-IN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Miles</a:t>
                      </a:r>
                      <a:endParaRPr b="0" lang="en-IN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Down</a:t>
                      </a:r>
                      <a:endParaRPr b="0" lang="en-IN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620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Bridges in disrepair</a:t>
                      </a:r>
                      <a:endParaRPr b="0" lang="en-IN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Number</a:t>
                      </a:r>
                      <a:endParaRPr b="0" lang="en-IN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Down</a:t>
                      </a:r>
                      <a:endParaRPr b="0" lang="en-IN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480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Condition of transit assets</a:t>
                      </a:r>
                      <a:endParaRPr b="0" lang="en-IN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USDOT rating index</a:t>
                      </a:r>
                      <a:endParaRPr b="0" lang="en-IN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Up</a:t>
                      </a:r>
                      <a:endParaRPr b="0" lang="en-IN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88C55D-997E-4358-BB96-9EFC654F8D35}" type="slidenum">
              <a:t>10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Ensure a fair distribution of life-quality.</a:t>
            </a: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0040" indent="-230040">
              <a:lnSpc>
                <a:spcPct val="85000"/>
              </a:lnSpc>
              <a:spcBef>
                <a:spcPts val="15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Major policy implications of addressing this principle: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“vertical equity” concept – judge the distribution of the goods of society from the most disadvantaged stratum of society.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Continue previous efforts by CATS in the 2030 RTP to consider level of service improvements by minority and income status.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Address non-transportation equity outcomes for households (income distribution) and taxing districts (tax base distribution)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0">
              <a:lnSpc>
                <a:spcPct val="85000"/>
              </a:lnSpc>
              <a:spcBef>
                <a:spcPts val="12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D28ED1-F7AC-4EF8-9B33-2F9AACB3ED60}" type="slidenum">
              <a:t>11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  <p:timing>
    <p:tnLst>
      <p:par>
        <p:cTn id="63" dur="indefinite" restart="never" nodeType="tmRoot">
          <p:childTnLst>
            <p:seq>
              <p:cTn id="64" dur="indefinite" nodeType="mainSeq">
                <p:childTnLst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Indicators – Ensure a fair distribution of life-quality.</a:t>
            </a: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5" name=""/>
          <p:cNvGraphicFramePr/>
          <p:nvPr/>
        </p:nvGraphicFramePr>
        <p:xfrm>
          <a:off x="880920" y="1838160"/>
          <a:ext cx="7410600" cy="2935440"/>
        </p:xfrm>
        <a:graphic>
          <a:graphicData uri="http://schemas.openxmlformats.org/drawingml/2006/table">
            <a:tbl>
              <a:tblPr/>
              <a:tblGrid>
                <a:gridCol w="2548080"/>
                <a:gridCol w="2895480"/>
                <a:gridCol w="871560"/>
                <a:gridCol w="1095480"/>
              </a:tblGrid>
              <a:tr h="5176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Measure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Units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Type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Direction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</a:tr>
              <a:tr h="50976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Gini for income distribution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to 1 scale, no units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Down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940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Gini for municipal tax base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 to 1 scale, no units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Down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976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Access to transit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Percent of total trips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Up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58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Access to jobs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Percent jobs within given commute distance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Up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296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Trip length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Miles, minutes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Relative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Down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87CA66-83E1-459B-82FC-6949C6F46F93}" type="slidenum">
              <a:t>12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“Cross-Cutting” Issue: Climate Change</a:t>
            </a: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80560" y="1837800"/>
            <a:ext cx="7410600" cy="341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0040" indent="-230040">
              <a:lnSpc>
                <a:spcPct val="85000"/>
              </a:lnSpc>
              <a:spcBef>
                <a:spcPts val="15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Major policy implications of addressing climate change: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Apply strategies to mitigate climate change by reducing greenhouse gas emissions.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Consider strategies that reduce VMT (alternative transportation, land use policies) but also go beyond this to energy consumption and production.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Targets for greenhouse gas emission reductions should be explored during scenario analysis.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680BAA-690D-48B0-B677-25A09A904956}" type="slidenum">
              <a:t>13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“Cross-Cutting” Issue: Resources and Energy</a:t>
            </a: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0040" indent="-230040">
              <a:spcBef>
                <a:spcPts val="15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Major policy implications of addressing energy use, reliance on fossil fuels, and water supply: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Explore use of alternative fuels and alternative energy sources through scenario evaluation.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Increase energy efficiency through land use and transportation, but also improve construction standards or increase the region’s commitment to green building.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125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water supply as a consideration in determining where growth should be directed.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15A334-6BB8-4605-B0C6-AD14209AEBE5}" type="slidenum">
              <a:t>14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7720" y="457200"/>
            <a:ext cx="7394760" cy="9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“Cross-Cutting” Issue: Adaptive Governance</a:t>
            </a:r>
            <a:endParaRPr b="1" lang="en-IN" sz="28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0040" indent="-23004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Policy implications of addressing adaptive governance: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Ensure that local capacity exists to respond to future threats (such as climate change) by learning from the experiences of other localities.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1250"/>
              </a:spcBef>
              <a:buClr>
                <a:srgbClr val="007fd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CMAP should serve as a regional resource on climate change and its potential impacts.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457F01-4CD6-4F9F-B624-AA584A2026C6}" type="slidenum">
              <a:t>15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Questions?</a:t>
            </a:r>
            <a:endParaRPr b="1" lang="en-IN" sz="4000" strike="noStrike" u="non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0040" indent="-23004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Jesse Elam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7fd0"/>
                </a:solidFill>
                <a:effectLst/>
                <a:uFillTx/>
                <a:latin typeface="Arial"/>
              </a:rPr>
              <a:t>jelam@cmap.illinois.gov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312.386.8688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http://www.nipc.org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4D5E63-D7F5-4D7E-BC82-FA580346097E}" type="slidenum">
              <a:t>16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>April 12, 2005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12483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2004-12-07T13:32:47Z</dcterms:created>
  <dc:creator>Jesse Elam</dc:creator>
  <dc:description/>
  <dc:language>en-IN</dc:language>
  <cp:lastModifiedBy>bdean</cp:lastModifiedBy>
  <cp:lastPrinted>2004-12-07T13:43:17Z</cp:lastPrinted>
  <dcterms:modified xsi:type="dcterms:W3CDTF">2007-10-10T09:51:22Z</dcterms:modified>
  <cp:revision>637</cp:revision>
  <dc:subject/>
  <dc:title>Overview of Snapshot Report on Sustainability</dc:title>
</cp:coreProperties>
</file>