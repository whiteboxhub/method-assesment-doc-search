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media/image1.jpeg" ContentType="image/jpeg"/>
  <Override PartName="/ppt/media/image2.jpeg" ContentType="image/jpeg"/>
  <Override PartName="/ppt/media/image7.wmf" ContentType="image/x-wmf"/>
  <Override PartName="/ppt/media/image3.wmf" ContentType="image/x-wmf"/>
  <Override PartName="/ppt/media/image4.wmf" ContentType="image/x-wmf"/>
  <Override PartName="/ppt/media/image5.wmf" ContentType="image/x-wmf"/>
  <Override PartName="/ppt/media/image6.wmf" ContentType="image/x-wmf"/>
  <Override PartName="/ppt/media/image8.wmf" ContentType="image/x-wmf"/>
  <Override PartName="/ppt/media/image9.wmf" ContentType="image/x-wmf"/>
  <Override PartName="/ppt/media/image10.wmf" ContentType="image/x-wmf"/>
  <Override PartName="/ppt/media/image11.wmf" ContentType="image/x-wmf"/>
  <Override PartName="/ppt/media/image12.wmf" ContentType="image/x-wmf"/>
  <Override PartName="/ppt/media/image13.wmf" ContentType="image/x-wmf"/>
  <Override PartName="/ppt/media/image14.wmf" ContentType="image/x-wmf"/>
  <Override PartName="/ppt/media/image15.wmf" ContentType="image/x-wmf"/>
  <Override PartName="/ppt/media/image16.wmf" ContentType="image/x-wmf"/>
  <Override PartName="/ppt/media/image17.wmf" ContentType="image/x-wmf"/>
  <Override PartName="/ppt/media/image18.wmf" ContentType="image/x-wmf"/>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i="1" lang="en-IN" sz="1800" strike="noStrike" u="none">
              <a:solidFill>
                <a:srgbClr val="000000"/>
              </a:solidFill>
              <a:effectLst/>
              <a:uFillTx/>
              <a:latin typeface="Arial"/>
            </a:endParaRPr>
          </a:p>
        </p:txBody>
      </p:sp>
      <p:sp>
        <p:nvSpPr>
          <p:cNvPr id="5" name="PlaceHolder 1"/>
          <p:cNvSpPr>
            <a:spLocks noGrp="1"/>
          </p:cNvSpPr>
          <p:nvPr>
            <p:ph type="hdr"/>
          </p:nvPr>
        </p:nvSpPr>
        <p:spPr>
          <a:xfrm>
            <a:off x="-360" y="0"/>
            <a:ext cx="2971800" cy="45720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6" name="PlaceHolder 2"/>
          <p:cNvSpPr>
            <a:spLocks noGrp="1"/>
          </p:cNvSpPr>
          <p:nvPr>
            <p:ph type="dt" idx="2"/>
          </p:nvPr>
        </p:nvSpPr>
        <p:spPr>
          <a:xfrm>
            <a:off x="3884400" y="0"/>
            <a:ext cx="2971800" cy="45720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7"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Arial"/>
              </a:rPr>
              <a:t>Click to move the slide</a:t>
            </a:r>
            <a:endParaRPr b="0" lang="en-IN" sz="4400" strike="noStrike" u="none">
              <a:solidFill>
                <a:srgbClr val="333399"/>
              </a:solidFill>
              <a:effectLst/>
              <a:uFillTx/>
              <a:latin typeface="Arial"/>
            </a:endParaRPr>
          </a:p>
        </p:txBody>
      </p:sp>
      <p:sp>
        <p:nvSpPr>
          <p:cNvPr id="8" name="PlaceHolder 4"/>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9" name="PlaceHolder 5"/>
          <p:cNvSpPr>
            <a:spLocks noGrp="1"/>
          </p:cNvSpPr>
          <p:nvPr>
            <p:ph type="ftr" idx="3"/>
          </p:nvPr>
        </p:nvSpPr>
        <p:spPr>
          <a:xfrm>
            <a:off x="-360" y="8685360"/>
            <a:ext cx="2971800" cy="457200"/>
          </a:xfrm>
          <a:prstGeom prst="rect">
            <a:avLst/>
          </a:prstGeom>
          <a:noFill/>
          <a:ln w="0">
            <a:noFill/>
          </a:ln>
        </p:spPr>
        <p:txBody>
          <a:bodyPr lIns="91440" rIns="91440" tIns="45720" bIns="4572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0" name="PlaceHolder 6"/>
          <p:cNvSpPr>
            <a:spLocks noGrp="1"/>
          </p:cNvSpPr>
          <p:nvPr>
            <p:ph type="sldNum" idx="4"/>
          </p:nvPr>
        </p:nvSpPr>
        <p:spPr>
          <a:xfrm>
            <a:off x="3884400" y="8685360"/>
            <a:ext cx="2971800" cy="457200"/>
          </a:xfrm>
          <a:prstGeom prst="rect">
            <a:avLst/>
          </a:prstGeom>
          <a:noFill/>
          <a:ln w="0">
            <a:noFill/>
          </a:ln>
        </p:spPr>
        <p:txBody>
          <a:bodyPr lIns="91440" rIns="91440" tIns="45720" bIns="4572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3578A8-8CBF-483B-80F0-F12A3EFA712B}" type="slidenum">
              <a:rPr b="0" lang="en-US" sz="1200" strike="noStrike" u="none">
                <a:solidFill>
                  <a:srgbClr val="000000"/>
                </a:solidFill>
                <a:effectLst/>
                <a:uFillTx/>
                <a:latin typeface="Arial"/>
              </a:rPr>
              <a:t>&lt;number&gt;</a:t>
            </a:fld>
            <a:endParaRPr b="0" i="1" lang="en-IN" sz="1200" strike="noStrike" u="non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Rectangle 7"/>
          <p:cNvSpPr/>
          <p:nvPr/>
        </p:nvSpPr>
        <p:spPr>
          <a:xfrm>
            <a:off x="3884760" y="8685360"/>
            <a:ext cx="2971800" cy="45720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3EC2647-74D5-4A4E-8C93-96254353035E}" type="slidenum">
              <a:rPr b="0" lang="en-US" sz="1200" strike="noStrike" u="none">
                <a:solidFill>
                  <a:srgbClr val="000000"/>
                </a:solidFill>
                <a:effectLst/>
                <a:uFillTx/>
                <a:latin typeface="Arial"/>
              </a:rPr>
              <a:t>&lt;number&gt;</a:t>
            </a:fld>
            <a:endParaRPr b="0" i="1" lang="en-IN" sz="1200" strike="noStrike" u="none">
              <a:solidFill>
                <a:srgbClr val="000000"/>
              </a:solidFill>
              <a:effectLst/>
              <a:uFillTx/>
              <a:latin typeface="Arial"/>
            </a:endParaRPr>
          </a:p>
        </p:txBody>
      </p:sp>
      <p:sp>
        <p:nvSpPr>
          <p:cNvPr id="410" name="PlaceHolder 1"/>
          <p:cNvSpPr>
            <a:spLocks noGrp="1"/>
          </p:cNvSpPr>
          <p:nvPr>
            <p:ph type="sldImg"/>
          </p:nvPr>
        </p:nvSpPr>
        <p:spPr>
          <a:xfrm>
            <a:off x="1143000" y="685800"/>
            <a:ext cx="4572000" cy="3429000"/>
          </a:xfrm>
          <a:prstGeom prst="rect">
            <a:avLst/>
          </a:prstGeom>
          <a:ln w="0">
            <a:noFill/>
          </a:ln>
        </p:spPr>
      </p:sp>
      <p:sp>
        <p:nvSpPr>
          <p:cNvPr id="411" name="PlaceHolder 2"/>
          <p:cNvSpPr>
            <a:spLocks noGrp="1"/>
          </p:cNvSpPr>
          <p:nvPr>
            <p:ph type="body"/>
          </p:nvPr>
        </p:nvSpPr>
        <p:spPr>
          <a:xfrm>
            <a:off x="914400" y="4343400"/>
            <a:ext cx="5029200" cy="4114800"/>
          </a:xfrm>
          <a:prstGeom prst="rect">
            <a:avLst/>
          </a:prstGeom>
          <a:noFill/>
          <a:ln w="0">
            <a:noFill/>
          </a:ln>
        </p:spPr>
        <p:txBody>
          <a:bodyPr lIns="91440" rIns="91440" tIns="45720" bIns="45720" anchor="t">
            <a:noAutofit/>
          </a:bodyPr>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 For those of you who don’t know me, my name is Brett Vu. I attended the 5-month long workshop in the Diversity Leadership Course. </a:t>
            </a: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 As one of the action of the DLG was to meet with the DEOB and have a outline of how we can improve diversity here at Ames. </a:t>
            </a: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 In the October, I presented a 15 minute presentation, introducing what we learned in the class, and asking for a hour-long meeting to present our “PROPOSAL.”</a:t>
            </a: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 So here we are, and this is what we would like to present to you.</a:t>
            </a: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NEXT SLIDE</a:t>
            </a:r>
            <a:endParaRPr b="0" lang="en-IN" sz="14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Rectangle 7"/>
          <p:cNvSpPr/>
          <p:nvPr/>
        </p:nvSpPr>
        <p:spPr>
          <a:xfrm>
            <a:off x="3884760" y="8685360"/>
            <a:ext cx="2971800" cy="45720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5C043CB-2D4B-46A7-9C2A-17939013282E}" type="slidenum">
              <a:rPr b="0" lang="en-US" sz="1200" strike="noStrike" u="none">
                <a:solidFill>
                  <a:srgbClr val="000000"/>
                </a:solidFill>
                <a:effectLst/>
                <a:uFillTx/>
                <a:latin typeface="Arial"/>
              </a:rPr>
              <a:t>&lt;number&gt;</a:t>
            </a:fld>
            <a:endParaRPr b="0" i="1" lang="en-IN" sz="1200" strike="noStrike" u="none">
              <a:solidFill>
                <a:srgbClr val="000000"/>
              </a:solidFill>
              <a:effectLst/>
              <a:uFillTx/>
              <a:latin typeface="Arial"/>
            </a:endParaRPr>
          </a:p>
        </p:txBody>
      </p:sp>
      <p:sp>
        <p:nvSpPr>
          <p:cNvPr id="413" name="PlaceHolder 1"/>
          <p:cNvSpPr>
            <a:spLocks noGrp="1"/>
          </p:cNvSpPr>
          <p:nvPr>
            <p:ph type="sldImg"/>
          </p:nvPr>
        </p:nvSpPr>
        <p:spPr>
          <a:xfrm>
            <a:off x="1143000" y="685800"/>
            <a:ext cx="4572000" cy="3429000"/>
          </a:xfrm>
          <a:prstGeom prst="rect">
            <a:avLst/>
          </a:prstGeom>
          <a:ln w="0">
            <a:noFill/>
          </a:ln>
        </p:spPr>
      </p:sp>
      <p:sp>
        <p:nvSpPr>
          <p:cNvPr id="414"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Notable Subgroup differences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Notable Subgroup Differences</a:t>
            </a:r>
            <a:endParaRPr b="0" lang="en-IN" sz="12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Rectangle 7"/>
          <p:cNvSpPr/>
          <p:nvPr/>
        </p:nvSpPr>
        <p:spPr>
          <a:xfrm>
            <a:off x="3884760" y="8685360"/>
            <a:ext cx="2971800" cy="45720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299C35C-A19E-4C0F-8ECE-D9BB917EEFAB}" type="slidenum">
              <a:rPr b="0" lang="en-US" sz="1200" strike="noStrike" u="none">
                <a:solidFill>
                  <a:srgbClr val="000000"/>
                </a:solidFill>
                <a:effectLst/>
                <a:uFillTx/>
                <a:latin typeface="Arial"/>
              </a:rPr>
              <a:t>&lt;number&gt;</a:t>
            </a:fld>
            <a:endParaRPr b="0" i="1" lang="en-IN" sz="1200" strike="noStrike" u="none">
              <a:solidFill>
                <a:srgbClr val="000000"/>
              </a:solidFill>
              <a:effectLst/>
              <a:uFillTx/>
              <a:latin typeface="Arial"/>
            </a:endParaRPr>
          </a:p>
        </p:txBody>
      </p:sp>
      <p:sp>
        <p:nvSpPr>
          <p:cNvPr id="416" name="PlaceHolder 1"/>
          <p:cNvSpPr>
            <a:spLocks noGrp="1"/>
          </p:cNvSpPr>
          <p:nvPr>
            <p:ph type="sldImg"/>
          </p:nvPr>
        </p:nvSpPr>
        <p:spPr>
          <a:xfrm>
            <a:off x="1143000" y="685800"/>
            <a:ext cx="4572000" cy="3429000"/>
          </a:xfrm>
          <a:prstGeom prst="rect">
            <a:avLst/>
          </a:prstGeom>
          <a:ln w="0">
            <a:noFill/>
          </a:ln>
        </p:spPr>
      </p:sp>
      <p:sp>
        <p:nvSpPr>
          <p:cNvPr id="41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Rectangle 7"/>
          <p:cNvSpPr/>
          <p:nvPr/>
        </p:nvSpPr>
        <p:spPr>
          <a:xfrm>
            <a:off x="3884760" y="8685360"/>
            <a:ext cx="2971800" cy="457200"/>
          </a:xfrm>
          <a:prstGeom prst="rect">
            <a:avLst/>
          </a:prstGeom>
          <a:noFill/>
          <a:ln w="0">
            <a:noFill/>
          </a:ln>
        </p:spPr>
        <p:style>
          <a:lnRef idx="0"/>
          <a:fillRef idx="0"/>
          <a:effectRef idx="0"/>
          <a:fontRef idx="minor"/>
        </p:style>
        <p:txBody>
          <a:bodyPr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1428374-BAFF-4318-B7DC-AE4342BE1947}" type="slidenum">
              <a:rPr b="0" lang="en-US" sz="1200" strike="noStrike" u="none">
                <a:solidFill>
                  <a:srgbClr val="000000"/>
                </a:solidFill>
                <a:effectLst/>
                <a:uFillTx/>
                <a:latin typeface="Arial"/>
              </a:rPr>
              <a:t>&lt;number&gt;</a:t>
            </a:fld>
            <a:endParaRPr b="0" i="1" lang="en-IN" sz="1200" strike="noStrike" u="none">
              <a:solidFill>
                <a:srgbClr val="000000"/>
              </a:solidFill>
              <a:effectLst/>
              <a:uFillTx/>
              <a:latin typeface="Arial"/>
            </a:endParaRPr>
          </a:p>
        </p:txBody>
      </p:sp>
      <p:sp>
        <p:nvSpPr>
          <p:cNvPr id="419" name="PlaceHolder 1"/>
          <p:cNvSpPr>
            <a:spLocks noGrp="1"/>
          </p:cNvSpPr>
          <p:nvPr>
            <p:ph type="sldImg"/>
          </p:nvPr>
        </p:nvSpPr>
        <p:spPr>
          <a:xfrm>
            <a:off x="1143000" y="685800"/>
            <a:ext cx="4572000" cy="3429000"/>
          </a:xfrm>
          <a:prstGeom prst="rect">
            <a:avLst/>
          </a:prstGeom>
          <a:ln w="0">
            <a:noFill/>
          </a:ln>
        </p:spPr>
      </p:sp>
      <p:sp>
        <p:nvSpPr>
          <p:cNvPr id="42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7AF3C7BA-98B1-4B6B-AC79-3D16339FD813}"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914040"/>
            <a:ext cx="8229600" cy="50004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Arial"/>
              </a:rPr>
              <a:t>Click to edit the title text format</a:t>
            </a:r>
            <a:endParaRPr b="0" lang="en-IN" sz="4400" strike="noStrike" u="none">
              <a:solidFill>
                <a:srgbClr val="333399"/>
              </a:solidFill>
              <a:effectLst/>
              <a:uFillTx/>
              <a:latin typeface="Arial"/>
            </a:endParaRPr>
          </a:p>
        </p:txBody>
      </p:sp>
      <p:sp>
        <p:nvSpPr>
          <p:cNvPr id="1" name="PlaceHolder 2"/>
          <p:cNvSpPr>
            <a:spLocks noGrp="1"/>
          </p:cNvSpPr>
          <p:nvPr>
            <p:ph type="body"/>
          </p:nvPr>
        </p:nvSpPr>
        <p:spPr>
          <a:xfrm>
            <a:off x="457200" y="1731600"/>
            <a:ext cx="8229600" cy="45925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pic>
        <p:nvPicPr>
          <p:cNvPr id="2" name="Picture 15" descr=""/>
          <p:cNvPicPr/>
          <p:nvPr/>
        </p:nvPicPr>
        <p:blipFill>
          <a:blip r:embed="rId2"/>
          <a:stretch/>
        </p:blipFill>
        <p:spPr>
          <a:xfrm>
            <a:off x="-1440" y="0"/>
            <a:ext cx="9145440" cy="749160"/>
          </a:xfrm>
          <a:prstGeom prst="rect">
            <a:avLst/>
          </a:prstGeom>
          <a:noFill/>
          <a:ln w="0">
            <a:noFill/>
          </a:ln>
        </p:spPr>
      </p:pic>
      <p:sp>
        <p:nvSpPr>
          <p:cNvPr id="3" name="PlaceHolder 3"/>
          <p:cNvSpPr>
            <a:spLocks noGrp="1"/>
          </p:cNvSpPr>
          <p:nvPr>
            <p:ph type="sldNum" idx="1"/>
          </p:nvPr>
        </p:nvSpPr>
        <p:spPr>
          <a:xfrm>
            <a:off x="7086600" y="6248520"/>
            <a:ext cx="1905120" cy="45720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1" lang="en-IN" sz="1400" strike="noStrike" u="none">
                <a:solidFill>
                  <a:srgbClr val="333399"/>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2338553-A7CA-4CA5-991C-FB80B8767D6D}"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4.wmf"/><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5.wmf"/><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6.wmf"/><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7.wmf"/><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12.wmf"/><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13.wmf"/><Relationship Id="rId2"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14.wmf"/><Relationship Id="rId2"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image" Target="../media/image15.wmf"/><Relationship Id="rId2"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image" Target="../media/image16.wmf"/><Relationship Id="rId2"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image" Target="../media/image18.wmf"/><Relationship Id="rId2"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ACB8420-8F60-4582-9B6E-F3776BDE9ED1}"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pic>
        <p:nvPicPr>
          <p:cNvPr id="12" name="Picture 2" descr=""/>
          <p:cNvPicPr/>
          <p:nvPr/>
        </p:nvPicPr>
        <p:blipFill>
          <a:blip r:embed="rId1"/>
          <a:stretch/>
        </p:blipFill>
        <p:spPr>
          <a:xfrm>
            <a:off x="-1440" y="0"/>
            <a:ext cx="9145440" cy="6859440"/>
          </a:xfrm>
          <a:prstGeom prst="rect">
            <a:avLst/>
          </a:prstGeom>
          <a:noFill/>
          <a:ln w="0">
            <a:noFill/>
          </a:ln>
        </p:spPr>
      </p:pic>
      <p:sp>
        <p:nvSpPr>
          <p:cNvPr id="13" name="Rectangle 5"/>
          <p:cNvSpPr/>
          <p:nvPr/>
        </p:nvSpPr>
        <p:spPr>
          <a:xfrm>
            <a:off x="1066680" y="1600200"/>
            <a:ext cx="7391520" cy="3324960"/>
          </a:xfrm>
          <a:prstGeom prst="rect">
            <a:avLst/>
          </a:prstGeom>
          <a:noFill/>
          <a:ln w="0">
            <a:noFill/>
          </a:ln>
          <a:effectLst>
            <a:outerShdw dist="17819" dir="2700000" blurRad="0" rotWithShape="0">
              <a:srgbClr val="000000"/>
            </a:outerShdw>
          </a:effectLst>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trike="noStrike" u="none">
                <a:solidFill>
                  <a:srgbClr val="ffffff"/>
                </a:solidFill>
                <a:effectLst/>
                <a:uFillTx/>
                <a:latin typeface="AGaramond"/>
              </a:rPr>
              <a:t>2007 Diversity Assessment</a:t>
            </a:r>
            <a:endParaRPr b="0" i="1" lang="en-IN" sz="44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ffffff"/>
                </a:solidFill>
                <a:effectLst/>
                <a:uFillTx/>
                <a:latin typeface="AGaramond"/>
              </a:rPr>
              <a:t>NASA Ames Research Center</a:t>
            </a:r>
            <a:endParaRPr b="0" i="1" lang="en-IN" sz="32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ffffff"/>
                </a:solidFill>
                <a:effectLst/>
                <a:uFillTx/>
                <a:latin typeface="AGaramond"/>
              </a:rPr>
              <a:t>Presentation to the DEOB</a:t>
            </a:r>
            <a:endParaRPr b="0" i="1" lang="en-IN" sz="32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32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ffffff"/>
                </a:solidFill>
                <a:effectLst/>
                <a:uFillTx/>
                <a:latin typeface="AGaramond"/>
              </a:rPr>
              <a:t>Westat Research Corporation</a:t>
            </a:r>
            <a:endParaRPr b="0" i="1" lang="en-IN" sz="2800" strike="noStrike" u="none">
              <a:solidFill>
                <a:srgbClr val="000000"/>
              </a:solidFill>
              <a:effectLst/>
              <a:uFillTx/>
              <a:latin typeface="Arial"/>
            </a:endParaRPr>
          </a:p>
        </p:txBody>
      </p:sp>
      <p:sp>
        <p:nvSpPr>
          <p:cNvPr id="14" name="Rectangle 6"/>
          <p:cNvSpPr/>
          <p:nvPr/>
        </p:nvSpPr>
        <p:spPr>
          <a:xfrm>
            <a:off x="2895480" y="5791320"/>
            <a:ext cx="3429000" cy="398880"/>
          </a:xfrm>
          <a:prstGeom prst="rect">
            <a:avLst/>
          </a:prstGeom>
          <a:noFill/>
          <a:ln w="0">
            <a:noFill/>
          </a:ln>
          <a:effectLst>
            <a:outerShdw dist="17819" dir="2700000" blurRad="0" rotWithShape="0">
              <a:srgbClr val="000000">
                <a:alpha val="50000"/>
              </a:srgbClr>
            </a:outerShdw>
          </a:effectLst>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February 26, 2008</a:t>
            </a:r>
            <a:endParaRPr b="0" i="1"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C7DA76-1B68-418D-8313-A5878865D85E}"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16" name="PlaceHolder 1"/>
          <p:cNvSpPr>
            <a:spLocks noGrp="1"/>
          </p:cNvSpPr>
          <p:nvPr>
            <p:ph type="title"/>
          </p:nvPr>
        </p:nvSpPr>
        <p:spPr>
          <a:xfrm>
            <a:off x="457200" y="990720"/>
            <a:ext cx="8229600" cy="76176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333399"/>
                </a:solidFill>
                <a:effectLst/>
                <a:uFillTx/>
                <a:latin typeface="Arial"/>
              </a:rPr>
              <a:t>Agenda</a:t>
            </a:r>
            <a:endParaRPr b="0" lang="en-IN" sz="4000" strike="noStrike" u="none">
              <a:solidFill>
                <a:srgbClr val="333399"/>
              </a:solidFill>
              <a:effectLst/>
              <a:uFillTx/>
              <a:latin typeface="Arial"/>
            </a:endParaRPr>
          </a:p>
        </p:txBody>
      </p:sp>
      <p:sp>
        <p:nvSpPr>
          <p:cNvPr id="17" name="PlaceHolder 2"/>
          <p:cNvSpPr>
            <a:spLocks noGrp="1"/>
          </p:cNvSpPr>
          <p:nvPr>
            <p:ph/>
          </p:nvPr>
        </p:nvSpPr>
        <p:spPr>
          <a:xfrm>
            <a:off x="990360" y="1905120"/>
            <a:ext cx="7010280" cy="4114800"/>
          </a:xfrm>
          <a:prstGeom prst="rect">
            <a:avLst/>
          </a:prstGeom>
          <a:noFill/>
          <a:ln w="0">
            <a:noFill/>
          </a:ln>
        </p:spPr>
        <p:txBody>
          <a:bodyPr lIns="91440" rIns="91440" tIns="45720" bIns="45720" anchor="t">
            <a:normAutofit/>
          </a:bodyPr>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Introduction </a:t>
            </a:r>
            <a:endParaRPr b="0" lang="en-IN" sz="28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Presentation of Survey Findings</a:t>
            </a:r>
            <a:endParaRPr b="0" lang="en-IN" sz="28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Question and Answer</a:t>
            </a:r>
            <a:endParaRPr b="0" lang="en-IN" sz="28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Action Team Recommendations</a:t>
            </a:r>
            <a:endParaRPr b="0" lang="en-IN" sz="28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Conclusion</a:t>
            </a:r>
            <a:endParaRPr b="0" lang="en-IN" sz="2800" strike="noStrike" u="none">
              <a:solidFill>
                <a:srgbClr val="000000"/>
              </a:solidFill>
              <a:effectLst/>
              <a:uFillTx/>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059C5DB-A6A5-4F85-933D-EB5345ABB117}"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19" name="PlaceHolder 1"/>
          <p:cNvSpPr>
            <a:spLocks noGrp="1"/>
          </p:cNvSpPr>
          <p:nvPr>
            <p:ph type="title"/>
          </p:nvPr>
        </p:nvSpPr>
        <p:spPr>
          <a:xfrm>
            <a:off x="457200" y="109980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Arial"/>
              </a:rPr>
              <a:t>Assessment Team Goals</a:t>
            </a:r>
            <a:endParaRPr b="0" lang="en-IN" sz="4400" strike="noStrike" u="none">
              <a:solidFill>
                <a:srgbClr val="333399"/>
              </a:solidFill>
              <a:effectLst/>
              <a:uFillTx/>
              <a:latin typeface="Arial"/>
            </a:endParaRPr>
          </a:p>
        </p:txBody>
      </p:sp>
      <p:sp>
        <p:nvSpPr>
          <p:cNvPr id="20" name="PlaceHolder 2"/>
          <p:cNvSpPr>
            <a:spLocks noGrp="1"/>
          </p:cNvSpPr>
          <p:nvPr>
            <p:ph/>
          </p:nvPr>
        </p:nvSpPr>
        <p:spPr>
          <a:xfrm>
            <a:off x="457200" y="2057040"/>
            <a:ext cx="8229600" cy="3352680"/>
          </a:xfrm>
          <a:prstGeom prst="rect">
            <a:avLst/>
          </a:prstGeom>
          <a:noFill/>
          <a:ln w="0">
            <a:noFill/>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Establish baseline and review of “where we are at the Center”</a:t>
            </a:r>
            <a:endParaRPr b="0" lang="en-IN" sz="24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Conduct periodic assessments of Ames workforce’s:</a:t>
            </a:r>
            <a:endParaRPr b="0" lang="en-IN" sz="2400" strike="noStrike" u="none">
              <a:solidFill>
                <a:srgbClr val="000000"/>
              </a:solidFill>
              <a:effectLst/>
              <a:uFillTx/>
              <a:latin typeface="Arial"/>
            </a:endParaRPr>
          </a:p>
          <a:p>
            <a:pPr lvl="1" marL="743040" indent="-28584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a:t>
            </a:r>
            <a:r>
              <a:rPr b="0" lang="en-IN" sz="2000" strike="noStrike" u="none">
                <a:solidFill>
                  <a:srgbClr val="000000"/>
                </a:solidFill>
                <a:effectLst/>
                <a:uFillTx/>
                <a:latin typeface="Arial"/>
              </a:rPr>
              <a:t>1. Understanding and definition of Diversity</a:t>
            </a:r>
            <a:endParaRPr b="0" lang="en-IN" sz="2000" strike="noStrike" u="none">
              <a:solidFill>
                <a:srgbClr val="000000"/>
              </a:solidFill>
              <a:effectLst/>
              <a:uFillTx/>
              <a:latin typeface="Arial"/>
            </a:endParaRPr>
          </a:p>
          <a:p>
            <a:pPr lvl="1" marL="743040" indent="-28584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a:t>
            </a:r>
            <a:r>
              <a:rPr b="0" lang="en-IN" sz="2000" strike="noStrike" u="none">
                <a:solidFill>
                  <a:srgbClr val="000000"/>
                </a:solidFill>
                <a:effectLst/>
                <a:uFillTx/>
                <a:latin typeface="Arial"/>
              </a:rPr>
              <a:t>2. Awareness of Diversity</a:t>
            </a:r>
            <a:endParaRPr b="0" lang="en-IN" sz="2000" strike="noStrike" u="none">
              <a:solidFill>
                <a:srgbClr val="000000"/>
              </a:solidFill>
              <a:effectLst/>
              <a:uFillTx/>
              <a:latin typeface="Arial"/>
            </a:endParaRPr>
          </a:p>
          <a:p>
            <a:pPr lvl="1" marL="743040" indent="-28584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a:t>
            </a:r>
            <a:r>
              <a:rPr b="0" lang="en-IN" sz="2000" strike="noStrike" u="none">
                <a:solidFill>
                  <a:srgbClr val="000000"/>
                </a:solidFill>
                <a:effectLst/>
                <a:uFillTx/>
                <a:latin typeface="Arial"/>
              </a:rPr>
              <a:t>3. Support for the Center’s Diversity Program</a:t>
            </a:r>
            <a:endParaRPr b="0" lang="en-IN" sz="2000" strike="noStrike" u="none">
              <a:solidFill>
                <a:srgbClr val="000000"/>
              </a:solidFill>
              <a:effectLst/>
              <a:uFillTx/>
              <a:latin typeface="Arial"/>
            </a:endParaRPr>
          </a:p>
          <a:p>
            <a:pPr lvl="1" marL="743040" indent="-28584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a:t>
            </a:r>
            <a:r>
              <a:rPr b="0" lang="en-IN" sz="2000" strike="noStrike" u="none">
                <a:solidFill>
                  <a:srgbClr val="000000"/>
                </a:solidFill>
                <a:effectLst/>
                <a:uFillTx/>
                <a:latin typeface="Arial"/>
              </a:rPr>
              <a:t>4. Workplace climate / culture</a:t>
            </a:r>
            <a:endParaRPr b="0" lang="en-IN" sz="2000" strike="noStrike" u="none">
              <a:solidFill>
                <a:srgbClr val="000000"/>
              </a:solidFill>
              <a:effectLst/>
              <a:uFillTx/>
              <a:latin typeface="Arial"/>
            </a:endParaRPr>
          </a:p>
          <a:p>
            <a:pPr lvl="1" marL="743040" indent="-28584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a:t>
            </a:r>
            <a:r>
              <a:rPr b="0" lang="en-IN" sz="2000" strike="noStrike" u="none">
                <a:solidFill>
                  <a:srgbClr val="000000"/>
                </a:solidFill>
                <a:effectLst/>
                <a:uFillTx/>
                <a:latin typeface="Arial"/>
              </a:rPr>
              <a:t>5. Perception of the Center and/or co-worker support of diversity</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A797A60-F689-4114-B9BC-FA4969046241}"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2" name="PlaceHolder 1"/>
          <p:cNvSpPr>
            <a:spLocks noGrp="1"/>
          </p:cNvSpPr>
          <p:nvPr>
            <p:ph type="title"/>
          </p:nvPr>
        </p:nvSpPr>
        <p:spPr>
          <a:xfrm>
            <a:off x="457200" y="109980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Arial"/>
              </a:rPr>
              <a:t>Assessment Team</a:t>
            </a:r>
            <a:endParaRPr b="0" lang="en-IN" sz="4400" strike="noStrike" u="none">
              <a:solidFill>
                <a:srgbClr val="333399"/>
              </a:solidFill>
              <a:effectLst/>
              <a:uFillTx/>
              <a:latin typeface="Arial"/>
            </a:endParaRPr>
          </a:p>
        </p:txBody>
      </p:sp>
      <p:sp>
        <p:nvSpPr>
          <p:cNvPr id="23" name="PlaceHolder 2"/>
          <p:cNvSpPr>
            <a:spLocks noGrp="1"/>
          </p:cNvSpPr>
          <p:nvPr>
            <p:ph/>
          </p:nvPr>
        </p:nvSpPr>
        <p:spPr>
          <a:xfrm>
            <a:off x="838080" y="1884240"/>
            <a:ext cx="7315200" cy="4592880"/>
          </a:xfrm>
          <a:prstGeom prst="rect">
            <a:avLst/>
          </a:prstGeom>
          <a:noFill/>
          <a:ln w="0">
            <a:noFill/>
          </a:ln>
        </p:spPr>
        <p:txBody>
          <a:bodyPr lIns="91440" rIns="91440" tIns="45720" bIns="4572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Lead – Brett Vu (Code C)</a:t>
            </a:r>
            <a:endParaRPr b="0" lang="en-IN" sz="24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Westat POC – David Morse (Code D)</a:t>
            </a:r>
            <a:endParaRPr b="0" lang="en-IN" sz="24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Ames Assessment Team Members</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Darlene Gross (Code C)</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Barbara Miller (Code D)</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Jeff Berlin (Code H)</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Sandy Olliges (Code Q)</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Christine Munroe (Code J)</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Mike Liu (Code Q)</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7802B5F-04E8-4CAC-AD04-FF670E9BFAB7}"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5" name="Rectangle 2"/>
          <p:cNvSpPr/>
          <p:nvPr/>
        </p:nvSpPr>
        <p:spPr>
          <a:xfrm>
            <a:off x="457200" y="762120"/>
            <a:ext cx="8229600" cy="91440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333399"/>
                </a:solidFill>
                <a:effectLst/>
                <a:uFillTx/>
                <a:latin typeface="Arial"/>
                <a:ea typeface="ＭＳ Ｐゴシック"/>
              </a:rPr>
              <a:t>Westat Research Corporation</a:t>
            </a:r>
            <a:endParaRPr b="0" i="1" lang="en-IN" sz="4400" strike="noStrike" u="none">
              <a:solidFill>
                <a:srgbClr val="000000"/>
              </a:solidFill>
              <a:effectLst/>
              <a:uFillTx/>
              <a:latin typeface="Arial"/>
            </a:endParaRPr>
          </a:p>
        </p:txBody>
      </p:sp>
      <p:sp>
        <p:nvSpPr>
          <p:cNvPr id="26" name="Rectangle 3"/>
          <p:cNvSpPr/>
          <p:nvPr/>
        </p:nvSpPr>
        <p:spPr>
          <a:xfrm>
            <a:off x="457200" y="1676520"/>
            <a:ext cx="8229600" cy="4876560"/>
          </a:xfrm>
          <a:prstGeom prst="rect">
            <a:avLst/>
          </a:prstGeom>
          <a:no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ea typeface="ＭＳ Ｐゴシック"/>
              </a:rPr>
              <a:t>Company Profile</a:t>
            </a:r>
            <a:endParaRPr b="0" i="1" lang="en-IN" sz="20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ea typeface="ＭＳ Ｐゴシック"/>
              </a:rPr>
              <a:t>  </a:t>
            </a:r>
            <a:r>
              <a:rPr b="0" lang="en-US" sz="1800" strike="noStrike" u="none">
                <a:solidFill>
                  <a:srgbClr val="000000"/>
                </a:solidFill>
                <a:effectLst/>
                <a:uFillTx/>
                <a:latin typeface="Arial"/>
                <a:ea typeface="ＭＳ Ｐゴシック"/>
              </a:rPr>
              <a:t>An Employee-owned Research Corporation</a:t>
            </a:r>
            <a:endParaRPr b="0" i="1" lang="en-IN" sz="18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Leading Survey Research Organization - Established in 1961</a:t>
            </a:r>
            <a:endParaRPr b="0" i="1" lang="en-IN" sz="18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Headquarters in Rockville, Maryland (more than 1,900 headquarters </a:t>
            </a:r>
            <a:endParaRPr b="0" i="1" lang="en-IN" sz="1800" strike="noStrike" u="none">
              <a:solidFill>
                <a:srgbClr val="000000"/>
              </a:solidFill>
              <a:effectLst/>
              <a:uFillTx/>
              <a:latin typeface="Arial"/>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employees)</a:t>
            </a:r>
            <a:endParaRPr b="0" i="1" lang="en-IN" sz="18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Areas of Expertise: Survey, statistical, and analytical methods, program </a:t>
            </a:r>
            <a:endParaRPr b="0" i="1" lang="en-IN" sz="1800" strike="noStrike" u="none">
              <a:solidFill>
                <a:srgbClr val="000000"/>
              </a:solidFill>
              <a:effectLst/>
              <a:uFillTx/>
              <a:latin typeface="Arial"/>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evaluation, qualitative studies (e.g., cognitive pretests of surveys, focus </a:t>
            </a:r>
            <a:endParaRPr b="0" i="1" lang="en-IN" sz="1800" strike="noStrike" u="none">
              <a:solidFill>
                <a:srgbClr val="000000"/>
              </a:solidFill>
              <a:effectLst/>
              <a:uFillTx/>
              <a:latin typeface="Arial"/>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groups, in-depth interviews, and website usability studies), clinical trials, </a:t>
            </a:r>
            <a:endParaRPr b="0" i="1" lang="en-IN" sz="1800" strike="noStrike" u="none">
              <a:solidFill>
                <a:srgbClr val="000000"/>
              </a:solidFill>
              <a:effectLst/>
              <a:uFillTx/>
              <a:latin typeface="Arial"/>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and custom research</a:t>
            </a:r>
            <a:endParaRPr b="0" i="1" lang="en-IN" sz="18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Clients: Federal agencies, businesses, foundations, and state and local </a:t>
            </a:r>
            <a:endParaRPr b="0" i="1" lang="en-IN" sz="1800" strike="noStrike" u="none">
              <a:solidFill>
                <a:srgbClr val="000000"/>
              </a:solidFill>
              <a:effectLst/>
              <a:uFillTx/>
              <a:latin typeface="Arial"/>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governments</a:t>
            </a:r>
            <a:endParaRPr b="0" i="1" lang="en-IN" sz="1800" strike="noStrike" u="none">
              <a:solidFill>
                <a:srgbClr val="000000"/>
              </a:solidFill>
              <a:effectLst/>
              <a:uFillTx/>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Arial"/>
                <a:ea typeface="ＭＳ Ｐゴシック"/>
              </a:rPr>
              <a:t>Westat Presenters</a:t>
            </a:r>
            <a:endParaRPr b="0" i="1" lang="en-IN" sz="20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ea typeface="ＭＳ Ｐゴシック"/>
              </a:rPr>
              <a:t>  </a:t>
            </a:r>
            <a:r>
              <a:rPr b="0" lang="en-US" sz="1800" strike="noStrike" u="none">
                <a:solidFill>
                  <a:srgbClr val="000000"/>
                </a:solidFill>
                <a:effectLst/>
                <a:uFillTx/>
                <a:latin typeface="Arial"/>
                <a:ea typeface="ＭＳ Ｐゴシック"/>
              </a:rPr>
              <a:t>Michele Harmon, Ph.D. – Project Director, NASA Ames Diversity Study</a:t>
            </a:r>
            <a:endParaRPr b="0" i="1" lang="en-IN" sz="18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Marty Franklin, M.A. – Graduate Certificate in Survey Methodology – </a:t>
            </a:r>
            <a:endParaRPr b="0" i="1" lang="en-IN" sz="1800" strike="noStrike" u="none">
              <a:solidFill>
                <a:srgbClr val="000000"/>
              </a:solidFill>
              <a:effectLst/>
              <a:uFillTx/>
              <a:latin typeface="Arial"/>
            </a:endParaRPr>
          </a:p>
          <a:p>
            <a:pPr lvl="1" marL="45720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ＭＳ Ｐゴシック"/>
              </a:rPr>
              <a:t>   Project Manager of the NASA Ames Diversity Study</a:t>
            </a:r>
            <a:endParaRPr b="0" i="1"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Slide Number Placeholder 2"/>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5D3D46-3BF4-4F1C-9B25-3A1151782F51}"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8" name="PlaceHolder 1"/>
          <p:cNvSpPr>
            <a:spLocks noGrp="1"/>
          </p:cNvSpPr>
          <p:nvPr>
            <p:ph type="title"/>
          </p:nvPr>
        </p:nvSpPr>
        <p:spPr>
          <a:xfrm>
            <a:off x="457200" y="2666520"/>
            <a:ext cx="8229600" cy="114300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333399"/>
                </a:solidFill>
                <a:effectLst/>
                <a:uFillTx/>
                <a:latin typeface="Arial"/>
              </a:rPr>
              <a:t>Research Methodology</a:t>
            </a:r>
            <a:endParaRPr b="0" lang="en-IN" sz="4400" strike="noStrike" u="none">
              <a:solidFill>
                <a:srgbClr val="333399"/>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1B45C14-4EFE-4081-9944-9AA448B1863D}"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0" name="PlaceHolder 1"/>
          <p:cNvSpPr>
            <a:spLocks noGrp="1"/>
          </p:cNvSpPr>
          <p:nvPr>
            <p:ph type="title"/>
          </p:nvPr>
        </p:nvSpPr>
        <p:spPr>
          <a:xfrm>
            <a:off x="457200" y="914400"/>
            <a:ext cx="8229600" cy="9144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Research Methodology</a:t>
            </a:r>
            <a:br>
              <a:rPr sz="2400"/>
            </a:br>
            <a:br>
              <a:rPr sz="1200"/>
            </a:br>
            <a:r>
              <a:rPr b="1" lang="en-IN" sz="2400" strike="noStrike" u="none">
                <a:solidFill>
                  <a:srgbClr val="333399"/>
                </a:solidFill>
                <a:effectLst/>
                <a:uFillTx/>
                <a:latin typeface="Arial"/>
              </a:rPr>
              <a:t>Questionnaire</a:t>
            </a:r>
            <a:endParaRPr b="0" lang="en-IN" sz="2400" strike="noStrike" u="none">
              <a:solidFill>
                <a:srgbClr val="333399"/>
              </a:solidFill>
              <a:effectLst/>
              <a:uFillTx/>
              <a:latin typeface="Arial"/>
            </a:endParaRPr>
          </a:p>
        </p:txBody>
      </p:sp>
      <p:sp>
        <p:nvSpPr>
          <p:cNvPr id="31" name="PlaceHolder 2"/>
          <p:cNvSpPr>
            <a:spLocks noGrp="1"/>
          </p:cNvSpPr>
          <p:nvPr>
            <p:ph/>
          </p:nvPr>
        </p:nvSpPr>
        <p:spPr>
          <a:xfrm>
            <a:off x="457200" y="1676160"/>
            <a:ext cx="8305920" cy="4724280"/>
          </a:xfrm>
          <a:prstGeom prst="rect">
            <a:avLst/>
          </a:prstGeom>
          <a:noFill/>
          <a:ln w="0">
            <a:noFill/>
          </a:ln>
        </p:spPr>
        <p:txBody>
          <a:bodyPr lIns="91440" rIns="91440" tIns="45720" bIns="45720" anchor="t">
            <a:normAutofit lnSpcReduction="9999"/>
          </a:bodyPr>
          <a:p>
            <a:pPr lvl="1" marL="74304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lvl="1" marL="743040" indent="-285840">
              <a:lnSpc>
                <a:spcPct val="90000"/>
              </a:lnSpc>
              <a:spcBef>
                <a:spcPts val="499"/>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75 close-ended items</a:t>
            </a:r>
            <a:endParaRPr b="0" lang="en-IN" sz="2000" strike="noStrike" u="none">
              <a:solidFill>
                <a:srgbClr val="000000"/>
              </a:solidFill>
              <a:effectLst/>
              <a:uFillTx/>
              <a:latin typeface="Arial"/>
            </a:endParaRPr>
          </a:p>
          <a:p>
            <a:pPr lvl="2" marL="1143000" indent="-228600">
              <a:lnSpc>
                <a:spcPct val="90000"/>
              </a:lnSpc>
              <a:spcBef>
                <a:spcPts val="499"/>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65 content area items</a:t>
            </a:r>
            <a:endParaRPr b="0" lang="en-IN" sz="2000" strike="noStrike" u="none">
              <a:solidFill>
                <a:srgbClr val="000000"/>
              </a:solidFill>
              <a:effectLst/>
              <a:uFillTx/>
              <a:latin typeface="Arial"/>
            </a:endParaRPr>
          </a:p>
          <a:p>
            <a:pPr lvl="3" marL="1600200" indent="-228600">
              <a:lnSpc>
                <a:spcPct val="90000"/>
              </a:lnSpc>
              <a:spcBef>
                <a:spcPts val="451"/>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5 items:</a:t>
            </a:r>
            <a:r>
              <a:rPr b="0" lang="en-IN" sz="1800" strike="noStrike" u="none">
                <a:solidFill>
                  <a:srgbClr val="000000"/>
                </a:solidFill>
                <a:effectLst/>
                <a:uFillTx/>
                <a:latin typeface="Arial"/>
              </a:rPr>
              <a:t> Understanding diversity and its benefits</a:t>
            </a:r>
            <a:endParaRPr b="0" lang="en-IN" sz="1800" strike="noStrike" u="none">
              <a:solidFill>
                <a:srgbClr val="000000"/>
              </a:solidFill>
              <a:effectLst/>
              <a:uFillTx/>
              <a:latin typeface="Arial"/>
            </a:endParaRPr>
          </a:p>
          <a:p>
            <a:pPr lvl="3" marL="1600200" indent="-228600">
              <a:lnSpc>
                <a:spcPct val="90000"/>
              </a:lnSpc>
              <a:spcBef>
                <a:spcPts val="451"/>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19 items:</a:t>
            </a:r>
            <a:r>
              <a:rPr b="0" lang="en-IN" sz="1800" strike="noStrike" u="none">
                <a:solidFill>
                  <a:srgbClr val="000000"/>
                </a:solidFill>
                <a:effectLst/>
                <a:uFillTx/>
                <a:latin typeface="Arial"/>
              </a:rPr>
              <a:t> Perceptions regarding the culture of diversity</a:t>
            </a:r>
            <a:endParaRPr b="0" lang="en-IN" sz="1800" strike="noStrike" u="none">
              <a:solidFill>
                <a:srgbClr val="000000"/>
              </a:solidFill>
              <a:effectLst/>
              <a:uFillTx/>
              <a:latin typeface="Arial"/>
            </a:endParaRPr>
          </a:p>
          <a:p>
            <a:pPr lvl="3" marL="1600200" indent="-228600">
              <a:lnSpc>
                <a:spcPct val="90000"/>
              </a:lnSpc>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at NASA Ames </a:t>
            </a:r>
            <a:endParaRPr b="0" lang="en-IN" sz="1800" strike="noStrike" u="none">
              <a:solidFill>
                <a:srgbClr val="000000"/>
              </a:solidFill>
              <a:effectLst/>
              <a:uFillTx/>
              <a:latin typeface="Arial"/>
            </a:endParaRPr>
          </a:p>
          <a:p>
            <a:pPr lvl="3" marL="1600200" indent="-228600">
              <a:lnSpc>
                <a:spcPct val="90000"/>
              </a:lnSpc>
              <a:spcBef>
                <a:spcPts val="451"/>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29 items</a:t>
            </a:r>
            <a:r>
              <a:rPr b="0" lang="en-IN" sz="1800" strike="noStrike" u="none">
                <a:solidFill>
                  <a:srgbClr val="000000"/>
                </a:solidFill>
                <a:effectLst/>
                <a:uFillTx/>
                <a:latin typeface="Arial"/>
              </a:rPr>
              <a:t>: Employees’ perceptions about their own experiences  </a:t>
            </a:r>
            <a:endParaRPr b="0" lang="en-IN" sz="1800" strike="noStrike" u="none">
              <a:solidFill>
                <a:srgbClr val="000000"/>
              </a:solidFill>
              <a:effectLst/>
              <a:uFillTx/>
              <a:latin typeface="Arial"/>
            </a:endParaRPr>
          </a:p>
          <a:p>
            <a:pPr lvl="3" marL="1600200" indent="-228600">
              <a:lnSpc>
                <a:spcPct val="90000"/>
              </a:lnSpc>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at NASA Ames</a:t>
            </a:r>
            <a:endParaRPr b="0" lang="en-IN" sz="1800" strike="noStrike" u="none">
              <a:solidFill>
                <a:srgbClr val="000000"/>
              </a:solidFill>
              <a:effectLst/>
              <a:uFillTx/>
              <a:latin typeface="Arial"/>
            </a:endParaRPr>
          </a:p>
          <a:p>
            <a:pPr lvl="3" marL="1600200" indent="-228600">
              <a:lnSpc>
                <a:spcPct val="90000"/>
              </a:lnSpc>
              <a:spcBef>
                <a:spcPts val="451"/>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6 items</a:t>
            </a:r>
            <a:r>
              <a:rPr b="0" lang="en-IN" sz="1800" strike="noStrike" u="none">
                <a:solidFill>
                  <a:srgbClr val="000000"/>
                </a:solidFill>
                <a:effectLst/>
                <a:uFillTx/>
                <a:latin typeface="Arial"/>
              </a:rPr>
              <a:t>: Awareness of NASA Ames policies and initiatives to </a:t>
            </a:r>
            <a:endParaRPr b="0" lang="en-IN" sz="1800" strike="noStrike" u="none">
              <a:solidFill>
                <a:srgbClr val="000000"/>
              </a:solidFill>
              <a:effectLst/>
              <a:uFillTx/>
              <a:latin typeface="Arial"/>
            </a:endParaRPr>
          </a:p>
          <a:p>
            <a:pPr lvl="3" marL="1600200" indent="-228600">
              <a:lnSpc>
                <a:spcPct val="90000"/>
              </a:lnSpc>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promote diversity</a:t>
            </a:r>
            <a:endParaRPr b="0" lang="en-IN" sz="1800" strike="noStrike" u="none">
              <a:solidFill>
                <a:srgbClr val="000000"/>
              </a:solidFill>
              <a:effectLst/>
              <a:uFillTx/>
              <a:latin typeface="Arial"/>
            </a:endParaRPr>
          </a:p>
          <a:p>
            <a:pPr lvl="3" marL="1600200" indent="-228600">
              <a:lnSpc>
                <a:spcPct val="90000"/>
              </a:lnSpc>
              <a:spcBef>
                <a:spcPts val="451"/>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8 items:</a:t>
            </a:r>
            <a:r>
              <a:rPr b="0" lang="en-IN" sz="1800" strike="noStrike" u="none">
                <a:solidFill>
                  <a:srgbClr val="000000"/>
                </a:solidFill>
                <a:effectLst/>
                <a:uFillTx/>
                <a:latin typeface="Arial"/>
              </a:rPr>
              <a:t> Effectiveness in creating an inclusive work  </a:t>
            </a:r>
            <a:endParaRPr b="0" lang="en-IN" sz="1800" strike="noStrike" u="none">
              <a:solidFill>
                <a:srgbClr val="000000"/>
              </a:solidFill>
              <a:effectLst/>
              <a:uFillTx/>
              <a:latin typeface="Arial"/>
            </a:endParaRPr>
          </a:p>
          <a:p>
            <a:pPr lvl="3" marL="1600200" indent="-228600">
              <a:lnSpc>
                <a:spcPct val="90000"/>
              </a:lnSpc>
              <a:spcBef>
                <a:spcPts val="451"/>
              </a:spcBef>
              <a:buNone/>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environment </a:t>
            </a:r>
            <a:endParaRPr b="0" lang="en-IN" sz="1800" strike="noStrike" u="none">
              <a:solidFill>
                <a:srgbClr val="000000"/>
              </a:solidFill>
              <a:effectLst/>
              <a:uFillTx/>
              <a:latin typeface="Arial"/>
            </a:endParaRPr>
          </a:p>
          <a:p>
            <a:pPr lvl="2" marL="1143000" indent="-228600">
              <a:lnSpc>
                <a:spcPct val="90000"/>
              </a:lnSpc>
              <a:spcBef>
                <a:spcPts val="499"/>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10 demographic items</a:t>
            </a:r>
            <a:endParaRPr b="0" lang="en-IN" sz="2000" strike="noStrike" u="none">
              <a:solidFill>
                <a:srgbClr val="000000"/>
              </a:solidFill>
              <a:effectLst/>
              <a:uFillTx/>
              <a:latin typeface="Arial"/>
            </a:endParaRPr>
          </a:p>
          <a:p>
            <a:pPr lvl="1" marL="743040" indent="-285840">
              <a:lnSpc>
                <a:spcPct val="90000"/>
              </a:lnSpc>
              <a:spcBef>
                <a:spcPts val="499"/>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2 open-ended items</a:t>
            </a:r>
            <a:endParaRPr b="0" lang="en-IN" sz="2000" strike="noStrike" u="none">
              <a:solidFill>
                <a:srgbClr val="000000"/>
              </a:solidFill>
              <a:effectLst/>
              <a:uFillTx/>
              <a:latin typeface="Arial"/>
            </a:endParaRPr>
          </a:p>
          <a:p>
            <a:pPr lvl="1" marL="743040" indent="-285840">
              <a:lnSpc>
                <a:spcPct val="90000"/>
              </a:lnSpc>
              <a:spcBef>
                <a:spcPts val="499"/>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Estimated completion time = 10 to15 minutes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58AEC2-A5D7-47C1-A847-818E4A560EA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3" name="PlaceHolder 1"/>
          <p:cNvSpPr>
            <a:spLocks noGrp="1"/>
          </p:cNvSpPr>
          <p:nvPr>
            <p:ph type="title"/>
          </p:nvPr>
        </p:nvSpPr>
        <p:spPr>
          <a:xfrm>
            <a:off x="457200" y="1219320"/>
            <a:ext cx="8229600" cy="83808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Research Methodology</a:t>
            </a:r>
            <a:br>
              <a:rPr sz="2400"/>
            </a:br>
            <a:br>
              <a:rPr sz="2400"/>
            </a:br>
            <a:r>
              <a:rPr b="1" lang="en-IN" sz="2400" strike="noStrike" u="none">
                <a:solidFill>
                  <a:srgbClr val="333399"/>
                </a:solidFill>
                <a:effectLst/>
                <a:uFillTx/>
                <a:latin typeface="Arial"/>
              </a:rPr>
              <a:t>Survey Administration</a:t>
            </a:r>
            <a:endParaRPr b="0" lang="en-IN" sz="2400" strike="noStrike" u="none">
              <a:solidFill>
                <a:srgbClr val="333399"/>
              </a:solidFill>
              <a:effectLst/>
              <a:uFillTx/>
              <a:latin typeface="Arial"/>
            </a:endParaRPr>
          </a:p>
        </p:txBody>
      </p:sp>
      <p:sp>
        <p:nvSpPr>
          <p:cNvPr id="34" name="PlaceHolder 2"/>
          <p:cNvSpPr>
            <a:spLocks noGrp="1"/>
          </p:cNvSpPr>
          <p:nvPr>
            <p:ph/>
          </p:nvPr>
        </p:nvSpPr>
        <p:spPr>
          <a:xfrm>
            <a:off x="761760" y="2514240"/>
            <a:ext cx="7391160" cy="3505320"/>
          </a:xfrm>
          <a:prstGeom prst="rect">
            <a:avLst/>
          </a:prstGeom>
          <a:noFill/>
          <a:ln w="0">
            <a:noFill/>
          </a:ln>
        </p:spPr>
        <p:txBody>
          <a:bodyPr lIns="91440" rIns="91440" tIns="45720" bIns="45720" anchor="t">
            <a:normAutofit/>
          </a:bodyPr>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Administered electronically (email with web link and strong password)</a:t>
            </a:r>
            <a:endParaRPr b="0" lang="en-IN" sz="2000" strike="noStrike" u="none">
              <a:solidFill>
                <a:srgbClr val="000000"/>
              </a:solidFill>
              <a:effectLst/>
              <a:uFillTx/>
              <a:latin typeface="Arial"/>
            </a:endParaRPr>
          </a:p>
          <a:p>
            <a:pPr lvl="1" marL="743040" indent="-285840">
              <a:spcBef>
                <a:spcPts val="499"/>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October 18, 2007 – December 7, 2007</a:t>
            </a:r>
            <a:endParaRPr b="0" lang="en-IN" sz="2000" strike="noStrike" u="none">
              <a:solidFill>
                <a:srgbClr val="000000"/>
              </a:solidFill>
              <a:effectLst/>
              <a:uFillTx/>
              <a:latin typeface="Arial"/>
            </a:endParaRPr>
          </a:p>
          <a:p>
            <a:pPr lvl="1" marL="743040" indent="-28584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Each respondent was contacted up to seven times</a:t>
            </a:r>
            <a:endParaRPr b="0" lang="en-IN" sz="2000" strike="noStrike" u="none">
              <a:solidFill>
                <a:srgbClr val="000000"/>
              </a:solidFill>
              <a:effectLst/>
              <a:uFillTx/>
              <a:latin typeface="Arial"/>
            </a:endParaRPr>
          </a:p>
          <a:p>
            <a:pPr lvl="1" marL="743040" indent="-285840">
              <a:spcBef>
                <a:spcPts val="499"/>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Pre-notification email</a:t>
            </a:r>
            <a:endParaRPr b="0" lang="en-IN" sz="2000" strike="noStrike" u="none">
              <a:solidFill>
                <a:srgbClr val="000000"/>
              </a:solidFill>
              <a:effectLst/>
              <a:uFillTx/>
              <a:latin typeface="Arial"/>
            </a:endParaRPr>
          </a:p>
          <a:p>
            <a:pPr lvl="1" marL="743040" indent="-285840">
              <a:spcBef>
                <a:spcPts val="499"/>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Email survey invitation</a:t>
            </a:r>
            <a:endParaRPr b="0" lang="en-IN" sz="2000" strike="noStrike" u="none">
              <a:solidFill>
                <a:srgbClr val="000000"/>
              </a:solidFill>
              <a:effectLst/>
              <a:uFillTx/>
              <a:latin typeface="Arial"/>
            </a:endParaRPr>
          </a:p>
          <a:p>
            <a:pPr lvl="1" marL="743040" indent="-285840">
              <a:spcBef>
                <a:spcPts val="499"/>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Up to 5 reminder emails</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B2F9775-BC6E-4339-A935-BFE76C38B7B5}"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6" name="PlaceHolder 1"/>
          <p:cNvSpPr>
            <a:spLocks noGrp="1"/>
          </p:cNvSpPr>
          <p:nvPr>
            <p:ph type="title"/>
          </p:nvPr>
        </p:nvSpPr>
        <p:spPr>
          <a:xfrm>
            <a:off x="457200" y="837720"/>
            <a:ext cx="8229600" cy="12193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Research Methodology</a:t>
            </a:r>
            <a:br>
              <a:rPr sz="2400"/>
            </a:br>
            <a:br>
              <a:rPr sz="2400"/>
            </a:br>
            <a:r>
              <a:rPr b="1" lang="en-IN" sz="2400" strike="noStrike" u="none">
                <a:solidFill>
                  <a:srgbClr val="333399"/>
                </a:solidFill>
                <a:effectLst/>
                <a:uFillTx/>
                <a:latin typeface="Arial"/>
              </a:rPr>
              <a:t>Sample and Response Rate</a:t>
            </a:r>
            <a:endParaRPr b="0" lang="en-IN" sz="2400" strike="noStrike" u="none">
              <a:solidFill>
                <a:srgbClr val="333399"/>
              </a:solidFill>
              <a:effectLst/>
              <a:uFillTx/>
              <a:latin typeface="Arial"/>
            </a:endParaRPr>
          </a:p>
        </p:txBody>
      </p:sp>
      <p:sp>
        <p:nvSpPr>
          <p:cNvPr id="37" name="PlaceHolder 2"/>
          <p:cNvSpPr>
            <a:spLocks noGrp="1"/>
          </p:cNvSpPr>
          <p:nvPr>
            <p:ph/>
          </p:nvPr>
        </p:nvSpPr>
        <p:spPr>
          <a:xfrm>
            <a:off x="838080" y="2666520"/>
            <a:ext cx="7391520" cy="2971800"/>
          </a:xfrm>
          <a:prstGeom prst="rect">
            <a:avLst/>
          </a:prstGeom>
          <a:noFill/>
          <a:ln w="0">
            <a:noFill/>
          </a:ln>
        </p:spPr>
        <p:txBody>
          <a:bodyPr lIns="91440" rIns="91440" tIns="45720" bIns="45720" anchor="t">
            <a:normAutofit/>
          </a:bodyPr>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Sample</a:t>
            </a:r>
            <a:endParaRPr b="0" lang="en-IN" sz="2000" strike="noStrike" u="none">
              <a:solidFill>
                <a:srgbClr val="000000"/>
              </a:solidFill>
              <a:effectLst/>
              <a:uFillTx/>
              <a:latin typeface="Arial"/>
            </a:endParaRPr>
          </a:p>
          <a:p>
            <a:pPr lvl="1" marL="743040" indent="-28584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Census of all full-time and part-time NASA Ames civil service employees in mid-October 2007</a:t>
            </a:r>
            <a:endParaRPr b="0" lang="en-IN" sz="2000" strike="noStrike" u="none">
              <a:solidFill>
                <a:srgbClr val="000000"/>
              </a:solidFill>
              <a:effectLst/>
              <a:uFillTx/>
              <a:latin typeface="Arial"/>
            </a:endParaRPr>
          </a:p>
          <a:p>
            <a:pPr lvl="1" marL="743040" indent="-28584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N = 1,260 employees</a:t>
            </a:r>
            <a:endParaRPr b="0" lang="en-IN" sz="2000" strike="noStrike" u="none">
              <a:solidFill>
                <a:srgbClr val="000000"/>
              </a:solidFill>
              <a:effectLst/>
              <a:uFillTx/>
              <a:latin typeface="Arial"/>
            </a:endParaRPr>
          </a:p>
          <a:p>
            <a:pPr lvl="1" marL="743040" indent="-28584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Response Rate</a:t>
            </a:r>
            <a:endParaRPr b="0" lang="en-IN" sz="2000" strike="noStrike" u="none">
              <a:solidFill>
                <a:srgbClr val="000000"/>
              </a:solidFill>
              <a:effectLst/>
              <a:uFillTx/>
              <a:latin typeface="Arial"/>
            </a:endParaRPr>
          </a:p>
          <a:p>
            <a:pPr lvl="1" marL="743040" indent="-28584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Of the 1,259 eligible employees, 637 responded to the survey for a response rate of 50.6%</a:t>
            </a:r>
            <a:endParaRPr b="0" lang="en-IN" sz="2000" strike="noStrike" u="none">
              <a:solidFill>
                <a:srgbClr val="000000"/>
              </a:solidFill>
              <a:effectLst/>
              <a:uFillTx/>
              <a:latin typeface="Arial"/>
            </a:endParaRPr>
          </a:p>
          <a:p>
            <a:pPr marL="343080" indent="0">
              <a:lnSpc>
                <a:spcPct val="90000"/>
              </a:lnSpc>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433D233-E8D4-435D-B05F-C75D4906887D}"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9" name="PlaceHolder 1"/>
          <p:cNvSpPr>
            <a:spLocks noGrp="1"/>
          </p:cNvSpPr>
          <p:nvPr>
            <p:ph type="title"/>
          </p:nvPr>
        </p:nvSpPr>
        <p:spPr>
          <a:xfrm>
            <a:off x="457200" y="837720"/>
            <a:ext cx="8229600" cy="2336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Respondent Profile</a:t>
            </a:r>
            <a:endParaRPr b="0" lang="en-IN" sz="2000" strike="noStrike" u="none">
              <a:solidFill>
                <a:srgbClr val="333399"/>
              </a:solidFill>
              <a:effectLst/>
              <a:uFillTx/>
              <a:latin typeface="Arial"/>
            </a:endParaRPr>
          </a:p>
        </p:txBody>
      </p:sp>
      <p:grpSp>
        <p:nvGrpSpPr>
          <p:cNvPr id="40" name="Group 1026"/>
          <p:cNvGrpSpPr/>
          <p:nvPr/>
        </p:nvGrpSpPr>
        <p:grpSpPr>
          <a:xfrm>
            <a:off x="881280" y="1009800"/>
            <a:ext cx="6440400" cy="5529240"/>
            <a:chOff x="881280" y="1009800"/>
            <a:chExt cx="6440400" cy="5529240"/>
          </a:xfrm>
        </p:grpSpPr>
        <p:sp>
          <p:nvSpPr>
            <p:cNvPr id="41" name="AutoShape 1025"/>
            <p:cNvSpPr/>
            <p:nvPr/>
          </p:nvSpPr>
          <p:spPr>
            <a:xfrm>
              <a:off x="1219320" y="1009800"/>
              <a:ext cx="6095880" cy="5529240"/>
            </a:xfrm>
            <a:prstGeom prst="rect">
              <a:avLst/>
            </a:prstGeom>
            <a:noFill/>
            <a:ln w="0">
              <a:no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42" name="Rectangle 1027"/>
            <p:cNvSpPr/>
            <p:nvPr/>
          </p:nvSpPr>
          <p:spPr>
            <a:xfrm>
              <a:off x="881280" y="1128960"/>
              <a:ext cx="644040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Figure 1a. Comparison of Survey Respondents with NASA Ames Population</a:t>
              </a:r>
              <a:endParaRPr b="0" i="1" lang="en-IN" sz="1400" strike="noStrike" u="none">
                <a:solidFill>
                  <a:srgbClr val="000000"/>
                </a:solidFill>
                <a:effectLst/>
                <a:uFillTx/>
                <a:latin typeface="Arial"/>
              </a:endParaRPr>
            </a:p>
          </p:txBody>
        </p:sp>
        <p:sp>
          <p:nvSpPr>
            <p:cNvPr id="43" name="Rectangle 1028"/>
            <p:cNvSpPr/>
            <p:nvPr/>
          </p:nvSpPr>
          <p:spPr>
            <a:xfrm>
              <a:off x="4166640" y="1467360"/>
              <a:ext cx="21603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   NASA Ames Population</a:t>
              </a:r>
              <a:endParaRPr b="0" i="1" lang="en-IN" sz="1400" strike="noStrike" u="none">
                <a:solidFill>
                  <a:srgbClr val="000000"/>
                </a:solidFill>
                <a:effectLst/>
                <a:uFillTx/>
                <a:latin typeface="Arial"/>
              </a:endParaRPr>
            </a:p>
          </p:txBody>
        </p:sp>
        <p:sp>
          <p:nvSpPr>
            <p:cNvPr id="44" name="Rectangle 1029"/>
            <p:cNvSpPr/>
            <p:nvPr/>
          </p:nvSpPr>
          <p:spPr>
            <a:xfrm>
              <a:off x="4193280" y="1602720"/>
              <a:ext cx="168552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        Characteristics</a:t>
              </a:r>
              <a:endParaRPr b="0" i="1" lang="en-IN" sz="1400" strike="noStrike" u="none">
                <a:solidFill>
                  <a:srgbClr val="000000"/>
                </a:solidFill>
                <a:effectLst/>
                <a:uFillTx/>
                <a:latin typeface="Arial"/>
              </a:endParaRPr>
            </a:p>
          </p:txBody>
        </p:sp>
        <p:sp>
          <p:nvSpPr>
            <p:cNvPr id="45" name="Rectangle 1030"/>
            <p:cNvSpPr/>
            <p:nvPr/>
          </p:nvSpPr>
          <p:spPr>
            <a:xfrm>
              <a:off x="1212120" y="2396880"/>
              <a:ext cx="6249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Gender</a:t>
              </a:r>
              <a:endParaRPr b="0" i="1" lang="en-IN" sz="1400" strike="noStrike" u="none">
                <a:solidFill>
                  <a:srgbClr val="000000"/>
                </a:solidFill>
                <a:effectLst/>
                <a:uFillTx/>
                <a:latin typeface="Arial"/>
              </a:endParaRPr>
            </a:p>
          </p:txBody>
        </p:sp>
        <p:sp>
          <p:nvSpPr>
            <p:cNvPr id="46" name="Rectangle 1031"/>
            <p:cNvSpPr/>
            <p:nvPr/>
          </p:nvSpPr>
          <p:spPr>
            <a:xfrm>
              <a:off x="1188720" y="3914280"/>
              <a:ext cx="103140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Supervisory</a:t>
              </a:r>
              <a:endParaRPr b="0" i="1" lang="en-IN" sz="1400" strike="noStrike" u="none">
                <a:solidFill>
                  <a:srgbClr val="000000"/>
                </a:solidFill>
                <a:effectLst/>
                <a:uFillTx/>
                <a:latin typeface="Arial"/>
              </a:endParaRPr>
            </a:p>
          </p:txBody>
        </p:sp>
        <p:sp>
          <p:nvSpPr>
            <p:cNvPr id="47" name="Rectangle 1032"/>
            <p:cNvSpPr/>
            <p:nvPr/>
          </p:nvSpPr>
          <p:spPr>
            <a:xfrm>
              <a:off x="1216080" y="4052520"/>
              <a:ext cx="545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Status</a:t>
              </a:r>
              <a:endParaRPr b="0" i="1" lang="en-IN" sz="1400" strike="noStrike" u="none">
                <a:solidFill>
                  <a:srgbClr val="000000"/>
                </a:solidFill>
                <a:effectLst/>
                <a:uFillTx/>
                <a:latin typeface="Arial"/>
              </a:endParaRPr>
            </a:p>
          </p:txBody>
        </p:sp>
        <p:sp>
          <p:nvSpPr>
            <p:cNvPr id="48" name="Rectangle 1033"/>
            <p:cNvSpPr/>
            <p:nvPr/>
          </p:nvSpPr>
          <p:spPr>
            <a:xfrm>
              <a:off x="1206360" y="5294880"/>
              <a:ext cx="73728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Length of </a:t>
              </a:r>
              <a:endParaRPr b="0" i="1" lang="en-IN" sz="1200" strike="noStrike" u="none">
                <a:solidFill>
                  <a:srgbClr val="000000"/>
                </a:solidFill>
                <a:effectLst/>
                <a:uFillTx/>
                <a:latin typeface="Arial"/>
              </a:endParaRPr>
            </a:p>
          </p:txBody>
        </p:sp>
        <p:sp>
          <p:nvSpPr>
            <p:cNvPr id="49" name="Rectangle 1034"/>
            <p:cNvSpPr/>
            <p:nvPr/>
          </p:nvSpPr>
          <p:spPr>
            <a:xfrm>
              <a:off x="1195560" y="5432760"/>
              <a:ext cx="93240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Service with </a:t>
              </a:r>
              <a:endParaRPr b="0" i="1" lang="en-IN" sz="1200" strike="noStrike" u="none">
                <a:solidFill>
                  <a:srgbClr val="000000"/>
                </a:solidFill>
                <a:effectLst/>
                <a:uFillTx/>
                <a:latin typeface="Arial"/>
              </a:endParaRPr>
            </a:p>
          </p:txBody>
        </p:sp>
        <p:sp>
          <p:nvSpPr>
            <p:cNvPr id="50" name="Rectangle 1035"/>
            <p:cNvSpPr/>
            <p:nvPr/>
          </p:nvSpPr>
          <p:spPr>
            <a:xfrm>
              <a:off x="1195560" y="5568120"/>
              <a:ext cx="93240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NASA Ames </a:t>
              </a:r>
              <a:endParaRPr b="0" i="1" lang="en-IN" sz="1200" strike="noStrike" u="none">
                <a:solidFill>
                  <a:srgbClr val="000000"/>
                </a:solidFill>
                <a:effectLst/>
                <a:uFillTx/>
                <a:latin typeface="Arial"/>
              </a:endParaRPr>
            </a:p>
          </p:txBody>
        </p:sp>
        <p:sp>
          <p:nvSpPr>
            <p:cNvPr id="51" name="Rectangle 1036"/>
            <p:cNvSpPr/>
            <p:nvPr/>
          </p:nvSpPr>
          <p:spPr>
            <a:xfrm>
              <a:off x="1208880" y="5707800"/>
              <a:ext cx="68688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Research</a:t>
              </a:r>
              <a:endParaRPr b="0" i="1" lang="en-IN" sz="1200" strike="noStrike" u="none">
                <a:solidFill>
                  <a:srgbClr val="000000"/>
                </a:solidFill>
                <a:effectLst/>
                <a:uFillTx/>
                <a:latin typeface="Arial"/>
              </a:endParaRPr>
            </a:p>
          </p:txBody>
        </p:sp>
        <p:sp>
          <p:nvSpPr>
            <p:cNvPr id="52" name="Rectangle 1037"/>
            <p:cNvSpPr/>
            <p:nvPr/>
          </p:nvSpPr>
          <p:spPr>
            <a:xfrm>
              <a:off x="1220040" y="5845680"/>
              <a:ext cx="48348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Center</a:t>
              </a:r>
              <a:endParaRPr b="0" i="1" lang="en-IN" sz="1200" strike="noStrike" u="none">
                <a:solidFill>
                  <a:srgbClr val="000000"/>
                </a:solidFill>
                <a:effectLst/>
                <a:uFillTx/>
                <a:latin typeface="Arial"/>
              </a:endParaRPr>
            </a:p>
          </p:txBody>
        </p:sp>
        <p:sp>
          <p:nvSpPr>
            <p:cNvPr id="53" name="Rectangle 1038"/>
            <p:cNvSpPr/>
            <p:nvPr/>
          </p:nvSpPr>
          <p:spPr>
            <a:xfrm>
              <a:off x="2459160" y="1467360"/>
              <a:ext cx="1724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Survey Respondent </a:t>
              </a:r>
              <a:endParaRPr b="0" i="1" lang="en-IN" sz="1400" strike="noStrike" u="none">
                <a:solidFill>
                  <a:srgbClr val="000000"/>
                </a:solidFill>
                <a:effectLst/>
                <a:uFillTx/>
                <a:latin typeface="Arial"/>
              </a:endParaRPr>
            </a:p>
          </p:txBody>
        </p:sp>
        <p:sp>
          <p:nvSpPr>
            <p:cNvPr id="54" name="Rectangle 1039"/>
            <p:cNvSpPr/>
            <p:nvPr/>
          </p:nvSpPr>
          <p:spPr>
            <a:xfrm>
              <a:off x="2629800" y="1602720"/>
              <a:ext cx="12891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Characteristics</a:t>
              </a:r>
              <a:endParaRPr b="0" i="1" lang="en-IN" sz="1400" strike="noStrike" u="none">
                <a:solidFill>
                  <a:srgbClr val="000000"/>
                </a:solidFill>
                <a:effectLst/>
                <a:uFillTx/>
                <a:latin typeface="Arial"/>
              </a:endParaRPr>
            </a:p>
          </p:txBody>
        </p:sp>
        <p:sp>
          <p:nvSpPr>
            <p:cNvPr id="55" name="Line 1040"/>
            <p:cNvSpPr/>
            <p:nvPr/>
          </p:nvSpPr>
          <p:spPr>
            <a:xfrm>
              <a:off x="1219320" y="1147680"/>
              <a:ext cx="1080" cy="539100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56" name="Rectangle 1041"/>
            <p:cNvSpPr/>
            <p:nvPr/>
          </p:nvSpPr>
          <p:spPr>
            <a:xfrm>
              <a:off x="1219320" y="1147680"/>
              <a:ext cx="11880" cy="5391000"/>
            </a:xfrm>
            <a:prstGeom prst="rect">
              <a:avLst/>
            </a:prstGeom>
            <a:solidFill>
              <a:srgbClr val="000000"/>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57" name="Line 1042"/>
            <p:cNvSpPr/>
            <p:nvPr/>
          </p:nvSpPr>
          <p:spPr>
            <a:xfrm>
              <a:off x="7302960" y="1158840"/>
              <a:ext cx="1080" cy="537984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58" name="Rectangle 1043"/>
            <p:cNvSpPr/>
            <p:nvPr/>
          </p:nvSpPr>
          <p:spPr>
            <a:xfrm>
              <a:off x="7302960" y="1158840"/>
              <a:ext cx="11880" cy="5379840"/>
            </a:xfrm>
            <a:prstGeom prst="rect">
              <a:avLst/>
            </a:prstGeom>
            <a:solidFill>
              <a:srgbClr val="000000"/>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59" name="Line 1044"/>
            <p:cNvSpPr/>
            <p:nvPr/>
          </p:nvSpPr>
          <p:spPr>
            <a:xfrm>
              <a:off x="1231200" y="1147680"/>
              <a:ext cx="6083640" cy="1080"/>
            </a:xfrm>
            <a:prstGeom prst="line">
              <a:avLst/>
            </a:prstGeom>
            <a:ln w="0">
              <a:solidFill>
                <a:srgbClr val="000000"/>
              </a:solidFill>
            </a:ln>
          </p:spPr>
          <p:style>
            <a:lnRef idx="0"/>
            <a:fillRef idx="0"/>
            <a:effectRef idx="0"/>
            <a:fontRef idx="minor"/>
          </p:style>
          <p:txBody>
            <a:bodyPr lIns="90000" rIns="90000" tIns="-45720" bIns="-45720" anchor="t">
              <a:noAutofit/>
            </a:bodyPr>
            <a:p>
              <a:endParaRPr b="0" i="1" lang="en-IN" sz="1800" strike="noStrike" u="none">
                <a:solidFill>
                  <a:srgbClr val="000000"/>
                </a:solidFill>
                <a:effectLst/>
                <a:uFillTx/>
                <a:latin typeface="Arial"/>
              </a:endParaRPr>
            </a:p>
          </p:txBody>
        </p:sp>
        <p:sp>
          <p:nvSpPr>
            <p:cNvPr id="60" name="Rectangle 1045"/>
            <p:cNvSpPr/>
            <p:nvPr/>
          </p:nvSpPr>
          <p:spPr>
            <a:xfrm>
              <a:off x="1231200" y="1147680"/>
              <a:ext cx="6083640" cy="11160"/>
            </a:xfrm>
            <a:prstGeom prst="rect">
              <a:avLst/>
            </a:prstGeom>
            <a:solidFill>
              <a:srgbClr val="000000"/>
            </a:solidFill>
            <a:ln w="0">
              <a:noFill/>
            </a:ln>
          </p:spPr>
          <p:style>
            <a:lnRef idx="0"/>
            <a:fillRef idx="0"/>
            <a:effectRef idx="0"/>
            <a:fontRef idx="minor"/>
          </p:style>
          <p:txBody>
            <a:bodyPr lIns="90000" rIns="90000" tIns="-35640" bIns="-356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61" name="Line 1046"/>
            <p:cNvSpPr/>
            <p:nvPr/>
          </p:nvSpPr>
          <p:spPr>
            <a:xfrm>
              <a:off x="1231200" y="6527520"/>
              <a:ext cx="608364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i="1" lang="en-IN" sz="1800" strike="noStrike" u="none">
                <a:solidFill>
                  <a:srgbClr val="000000"/>
                </a:solidFill>
                <a:effectLst/>
                <a:uFillTx/>
                <a:latin typeface="Arial"/>
              </a:endParaRPr>
            </a:p>
          </p:txBody>
        </p:sp>
        <p:sp>
          <p:nvSpPr>
            <p:cNvPr id="62" name="Rectangle 1047"/>
            <p:cNvSpPr/>
            <p:nvPr/>
          </p:nvSpPr>
          <p:spPr>
            <a:xfrm>
              <a:off x="1231200" y="6527520"/>
              <a:ext cx="6083640" cy="11160"/>
            </a:xfrm>
            <a:prstGeom prst="rect">
              <a:avLst/>
            </a:prstGeom>
            <a:solidFill>
              <a:srgbClr val="000000"/>
            </a:solidFill>
            <a:ln w="0">
              <a:noFill/>
            </a:ln>
          </p:spPr>
          <p:style>
            <a:lnRef idx="0"/>
            <a:fillRef idx="0"/>
            <a:effectRef idx="0"/>
            <a:fontRef idx="minor"/>
          </p:style>
          <p:txBody>
            <a:bodyPr lIns="90000" rIns="90000" tIns="-35640" bIns="-356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63" name="Rectangle 1048"/>
            <p:cNvSpPr/>
            <p:nvPr/>
          </p:nvSpPr>
          <p:spPr>
            <a:xfrm>
              <a:off x="4260960" y="4908960"/>
              <a:ext cx="2976840" cy="127728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64" name="Line 1049"/>
            <p:cNvSpPr/>
            <p:nvPr/>
          </p:nvSpPr>
          <p:spPr>
            <a:xfrm flipV="1">
              <a:off x="5317920" y="5055480"/>
              <a:ext cx="1080" cy="4903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65" name="Line 1050"/>
            <p:cNvSpPr/>
            <p:nvPr/>
          </p:nvSpPr>
          <p:spPr>
            <a:xfrm flipV="1">
              <a:off x="5317920" y="5055480"/>
              <a:ext cx="1080" cy="4903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66" name="Line 1051"/>
            <p:cNvSpPr/>
            <p:nvPr/>
          </p:nvSpPr>
          <p:spPr>
            <a:xfrm flipV="1">
              <a:off x="5317920" y="5055480"/>
              <a:ext cx="1080" cy="4903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67" name="Line 1052"/>
            <p:cNvSpPr/>
            <p:nvPr/>
          </p:nvSpPr>
          <p:spPr>
            <a:xfrm flipV="1">
              <a:off x="5317920" y="5055480"/>
              <a:ext cx="1080" cy="4903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68" name="Rectangle 1053"/>
            <p:cNvSpPr/>
            <p:nvPr/>
          </p:nvSpPr>
          <p:spPr>
            <a:xfrm>
              <a:off x="6351840" y="5177880"/>
              <a:ext cx="813240" cy="960480"/>
            </a:xfrm>
            <a:prstGeom prst="rect">
              <a:avLst/>
            </a:prstGeom>
            <a:solidFill>
              <a:srgbClr val="ffff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69" name="Rectangle 1054"/>
            <p:cNvSpPr/>
            <p:nvPr/>
          </p:nvSpPr>
          <p:spPr>
            <a:xfrm>
              <a:off x="6412320" y="5216040"/>
              <a:ext cx="57240" cy="54720"/>
            </a:xfrm>
            <a:prstGeom prst="rect">
              <a:avLst/>
            </a:prstGeom>
            <a:solidFill>
              <a:srgbClr val="99ccff"/>
            </a:solidFill>
            <a:ln w="0">
              <a:solidFill>
                <a:srgbClr val="000000"/>
              </a:solidFill>
            </a:ln>
          </p:spPr>
          <p:style>
            <a:lnRef idx="0"/>
            <a:fillRef idx="0"/>
            <a:effectRef idx="0"/>
            <a:fontRef idx="minor"/>
          </p:style>
          <p:txBody>
            <a:bodyPr lIns="90000" rIns="90000" tIns="7920" bIns="792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70" name="Rectangle 1055"/>
            <p:cNvSpPr/>
            <p:nvPr/>
          </p:nvSpPr>
          <p:spPr>
            <a:xfrm>
              <a:off x="6452640" y="5194800"/>
              <a:ext cx="7441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5 years or less</a:t>
              </a:r>
              <a:endParaRPr b="0" i="1" lang="en-IN" sz="900" strike="noStrike" u="none">
                <a:solidFill>
                  <a:srgbClr val="000000"/>
                </a:solidFill>
                <a:effectLst/>
                <a:uFillTx/>
                <a:latin typeface="Arial"/>
              </a:endParaRPr>
            </a:p>
          </p:txBody>
        </p:sp>
        <p:sp>
          <p:nvSpPr>
            <p:cNvPr id="71" name="Rectangle 1056"/>
            <p:cNvSpPr/>
            <p:nvPr/>
          </p:nvSpPr>
          <p:spPr>
            <a:xfrm>
              <a:off x="6412320" y="5456880"/>
              <a:ext cx="57240" cy="53640"/>
            </a:xfrm>
            <a:prstGeom prst="rect">
              <a:avLst/>
            </a:prstGeom>
            <a:solidFill>
              <a:srgbClr val="993366"/>
            </a:solidFill>
            <a:ln w="0">
              <a:solidFill>
                <a:srgbClr val="000000"/>
              </a:solidFill>
            </a:ln>
          </p:spPr>
          <p:style>
            <a:lnRef idx="0"/>
            <a:fillRef idx="0"/>
            <a:effectRef idx="0"/>
            <a:fontRef idx="minor"/>
          </p:style>
          <p:txBody>
            <a:bodyPr lIns="90000" rIns="90000" tIns="6840" bIns="68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72" name="Rectangle 1057"/>
            <p:cNvSpPr/>
            <p:nvPr/>
          </p:nvSpPr>
          <p:spPr>
            <a:xfrm>
              <a:off x="6456600" y="5434560"/>
              <a:ext cx="6616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6 to 10 years</a:t>
              </a:r>
              <a:endParaRPr b="0" i="1" lang="en-IN" sz="900" strike="noStrike" u="none">
                <a:solidFill>
                  <a:srgbClr val="000000"/>
                </a:solidFill>
                <a:effectLst/>
                <a:uFillTx/>
                <a:latin typeface="Arial"/>
              </a:endParaRPr>
            </a:p>
          </p:txBody>
        </p:sp>
        <p:sp>
          <p:nvSpPr>
            <p:cNvPr id="73" name="Rectangle 1058"/>
            <p:cNvSpPr/>
            <p:nvPr/>
          </p:nvSpPr>
          <p:spPr>
            <a:xfrm>
              <a:off x="6412320" y="5696640"/>
              <a:ext cx="57240" cy="53280"/>
            </a:xfrm>
            <a:prstGeom prst="rect">
              <a:avLst/>
            </a:prstGeom>
            <a:solidFill>
              <a:srgbClr val="000080"/>
            </a:solidFill>
            <a:ln w="0">
              <a:solidFill>
                <a:srgbClr val="000000"/>
              </a:solidFill>
            </a:ln>
          </p:spPr>
          <p:style>
            <a:lnRef idx="0"/>
            <a:fillRef idx="0"/>
            <a:effectRef idx="0"/>
            <a:fontRef idx="minor"/>
          </p:style>
          <p:txBody>
            <a:bodyPr lIns="90000" rIns="90000" tIns="6480" bIns="64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74" name="Rectangle 1059"/>
            <p:cNvSpPr/>
            <p:nvPr/>
          </p:nvSpPr>
          <p:spPr>
            <a:xfrm>
              <a:off x="6453000" y="5675400"/>
              <a:ext cx="72504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11 to 20 years</a:t>
              </a:r>
              <a:endParaRPr b="0" i="1" lang="en-IN" sz="900" strike="noStrike" u="none">
                <a:solidFill>
                  <a:srgbClr val="000000"/>
                </a:solidFill>
                <a:effectLst/>
                <a:uFillTx/>
                <a:latin typeface="Arial"/>
              </a:endParaRPr>
            </a:p>
          </p:txBody>
        </p:sp>
        <p:sp>
          <p:nvSpPr>
            <p:cNvPr id="75" name="Rectangle 1060"/>
            <p:cNvSpPr/>
            <p:nvPr/>
          </p:nvSpPr>
          <p:spPr>
            <a:xfrm>
              <a:off x="6412320" y="5934600"/>
              <a:ext cx="57240" cy="53640"/>
            </a:xfrm>
            <a:prstGeom prst="rect">
              <a:avLst/>
            </a:prstGeom>
            <a:solidFill>
              <a:srgbClr val="ffffcc"/>
            </a:solidFill>
            <a:ln w="0">
              <a:solidFill>
                <a:srgbClr val="000000"/>
              </a:solidFill>
            </a:ln>
          </p:spPr>
          <p:style>
            <a:lnRef idx="0"/>
            <a:fillRef idx="0"/>
            <a:effectRef idx="0"/>
            <a:fontRef idx="minor"/>
          </p:style>
          <p:txBody>
            <a:bodyPr lIns="90000" rIns="90000" tIns="6840" bIns="68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76" name="Rectangle 1061"/>
            <p:cNvSpPr/>
            <p:nvPr/>
          </p:nvSpPr>
          <p:spPr>
            <a:xfrm>
              <a:off x="6456600" y="5913360"/>
              <a:ext cx="6742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More than 20</a:t>
              </a:r>
              <a:endParaRPr b="0" i="1" lang="en-IN" sz="900" strike="noStrike" u="none">
                <a:solidFill>
                  <a:srgbClr val="000000"/>
                </a:solidFill>
                <a:effectLst/>
                <a:uFillTx/>
                <a:latin typeface="Arial"/>
              </a:endParaRPr>
            </a:p>
          </p:txBody>
        </p:sp>
        <p:sp>
          <p:nvSpPr>
            <p:cNvPr id="77" name="Rectangle 1062"/>
            <p:cNvSpPr/>
            <p:nvPr/>
          </p:nvSpPr>
          <p:spPr>
            <a:xfrm>
              <a:off x="6478200" y="6017400"/>
              <a:ext cx="2800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years</a:t>
              </a:r>
              <a:endParaRPr b="0" i="1" lang="en-IN" sz="900" strike="noStrike" u="none">
                <a:solidFill>
                  <a:srgbClr val="000000"/>
                </a:solidFill>
                <a:effectLst/>
                <a:uFillTx/>
                <a:latin typeface="Arial"/>
              </a:endParaRPr>
            </a:p>
          </p:txBody>
        </p:sp>
        <p:sp>
          <p:nvSpPr>
            <p:cNvPr id="78" name="Rectangle 1063"/>
            <p:cNvSpPr/>
            <p:nvPr/>
          </p:nvSpPr>
          <p:spPr>
            <a:xfrm>
              <a:off x="3882960" y="4827240"/>
              <a:ext cx="2229840" cy="151272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79" name="Freeform 1064"/>
            <p:cNvSpPr/>
            <p:nvPr/>
          </p:nvSpPr>
          <p:spPr>
            <a:xfrm>
              <a:off x="4952160" y="5107320"/>
              <a:ext cx="345600" cy="441000"/>
            </a:xfrm>
            <a:custGeom>
              <a:avLst/>
              <a:gdLst>
                <a:gd name="textAreaLeft" fmla="*/ 0 w 345600"/>
                <a:gd name="textAreaRight" fmla="*/ 345960 w 345600"/>
                <a:gd name="textAreaTop" fmla="*/ 0 h 441000"/>
                <a:gd name="textAreaBottom" fmla="*/ 441360 h 441000"/>
                <a:gd name="GluePoint1X" fmla="*/ 218 w 241"/>
                <a:gd name="GluePoint1Y" fmla="*/ 95 h 330"/>
                <a:gd name="GluePoint2X" fmla="*/ 0 w 241"/>
                <a:gd name="GluePoint2Y" fmla="*/ 1 h 330"/>
                <a:gd name="GluePoint3X" fmla="*/ 0 w 241"/>
                <a:gd name="GluePoint3Y" fmla="*/ 1 h 330"/>
                <a:gd name="GluePoint4X" fmla="*/ 0 w 241"/>
                <a:gd name="GluePoint4Y" fmla="*/ 297 h 330"/>
                <a:gd name="GluePoint5X" fmla="*/ 218 w 241"/>
                <a:gd name="GluePoint5Y" fmla="*/ 95 h 33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41" h="330">
                  <a:moveTo>
                    <a:pt x="241" y="105"/>
                  </a:moveTo>
                  <a:cubicBezTo>
                    <a:pt x="179" y="38"/>
                    <a:pt x="91" y="1"/>
                    <a:pt x="0" y="1"/>
                  </a:cubicBezTo>
                  <a:cubicBezTo>
                    <a:pt x="0" y="0"/>
                    <a:pt x="0" y="1"/>
                    <a:pt x="0" y="1"/>
                  </a:cubicBezTo>
                  <a:lnTo>
                    <a:pt x="0" y="330"/>
                  </a:lnTo>
                  <a:lnTo>
                    <a:pt x="241" y="105"/>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80" name="Freeform 1065"/>
            <p:cNvSpPr/>
            <p:nvPr/>
          </p:nvSpPr>
          <p:spPr>
            <a:xfrm>
              <a:off x="4952160" y="5247000"/>
              <a:ext cx="474480" cy="528120"/>
            </a:xfrm>
            <a:custGeom>
              <a:avLst/>
              <a:gdLst>
                <a:gd name="textAreaLeft" fmla="*/ 0 w 474480"/>
                <a:gd name="textAreaRight" fmla="*/ 474840 w 474480"/>
                <a:gd name="textAreaTop" fmla="*/ 0 h 528120"/>
                <a:gd name="textAreaBottom" fmla="*/ 528480 h 528120"/>
                <a:gd name="GluePoint1X" fmla="*/ 256 w 330"/>
                <a:gd name="GluePoint1Y" fmla="*/ 357 h 394"/>
                <a:gd name="GluePoint2X" fmla="*/ 299 w 330"/>
                <a:gd name="GluePoint2Y" fmla="*/ 204 h 394"/>
                <a:gd name="GluePoint3X" fmla="*/ 218 w 330"/>
                <a:gd name="GluePoint3Y" fmla="*/ 0 h 394"/>
                <a:gd name="GluePoint4X" fmla="*/ 0 w 330"/>
                <a:gd name="GluePoint4Y" fmla="*/ 204 h 394"/>
                <a:gd name="GluePoint5X" fmla="*/ 256 w 330"/>
                <a:gd name="GluePoint5Y" fmla="*/ 357 h 394"/>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30" h="394">
                  <a:moveTo>
                    <a:pt x="283" y="394"/>
                  </a:moveTo>
                  <a:cubicBezTo>
                    <a:pt x="313" y="343"/>
                    <a:pt x="330" y="285"/>
                    <a:pt x="330" y="225"/>
                  </a:cubicBezTo>
                  <a:cubicBezTo>
                    <a:pt x="330" y="142"/>
                    <a:pt x="298" y="61"/>
                    <a:pt x="241" y="0"/>
                  </a:cubicBezTo>
                  <a:lnTo>
                    <a:pt x="0" y="225"/>
                  </a:lnTo>
                  <a:lnTo>
                    <a:pt x="283" y="394"/>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81" name="Freeform 1066"/>
            <p:cNvSpPr/>
            <p:nvPr/>
          </p:nvSpPr>
          <p:spPr>
            <a:xfrm>
              <a:off x="4673880" y="5548680"/>
              <a:ext cx="684720" cy="442080"/>
            </a:xfrm>
            <a:custGeom>
              <a:avLst/>
              <a:gdLst>
                <a:gd name="textAreaLeft" fmla="*/ 0 w 684720"/>
                <a:gd name="textAreaRight" fmla="*/ 685080 w 684720"/>
                <a:gd name="textAreaTop" fmla="*/ 0 h 442080"/>
                <a:gd name="textAreaBottom" fmla="*/ 442440 h 442080"/>
                <a:gd name="GluePoint1X" fmla="*/ 0 w 477"/>
                <a:gd name="GluePoint1Y" fmla="*/ 241 h 330"/>
                <a:gd name="GluePoint2X" fmla="*/ 175 w 477"/>
                <a:gd name="GluePoint2Y" fmla="*/ 299 h 330"/>
                <a:gd name="GluePoint3X" fmla="*/ 430 w 477"/>
                <a:gd name="GluePoint3Y" fmla="*/ 153 h 330"/>
                <a:gd name="GluePoint4X" fmla="*/ 175 w 477"/>
                <a:gd name="GluePoint4Y" fmla="*/ 0 h 330"/>
                <a:gd name="GluePoint5X" fmla="*/ 0 w 477"/>
                <a:gd name="GluePoint5Y" fmla="*/ 241 h 33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77" h="330">
                  <a:moveTo>
                    <a:pt x="0" y="266"/>
                  </a:moveTo>
                  <a:cubicBezTo>
                    <a:pt x="56" y="307"/>
                    <a:pt x="124" y="330"/>
                    <a:pt x="194" y="330"/>
                  </a:cubicBezTo>
                  <a:cubicBezTo>
                    <a:pt x="310" y="329"/>
                    <a:pt x="417" y="269"/>
                    <a:pt x="477" y="169"/>
                  </a:cubicBezTo>
                  <a:lnTo>
                    <a:pt x="194" y="0"/>
                  </a:lnTo>
                  <a:lnTo>
                    <a:pt x="0" y="266"/>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82" name="Freeform 1067"/>
            <p:cNvSpPr/>
            <p:nvPr/>
          </p:nvSpPr>
          <p:spPr>
            <a:xfrm>
              <a:off x="4478760" y="5107320"/>
              <a:ext cx="473400" cy="797040"/>
            </a:xfrm>
            <a:custGeom>
              <a:avLst/>
              <a:gdLst>
                <a:gd name="textAreaLeft" fmla="*/ 0 w 473400"/>
                <a:gd name="textAreaRight" fmla="*/ 473760 w 473400"/>
                <a:gd name="textAreaTop" fmla="*/ 0 h 797040"/>
                <a:gd name="textAreaBottom" fmla="*/ 797400 h 797040"/>
                <a:gd name="GluePoint1X" fmla="*/ 297 w 330"/>
                <a:gd name="GluePoint1Y" fmla="*/ 0 h 595"/>
                <a:gd name="GluePoint2X" fmla="*/ 1 w 330"/>
                <a:gd name="GluePoint2Y" fmla="*/ 298 h 595"/>
                <a:gd name="GluePoint3X" fmla="*/ 122 w 330"/>
                <a:gd name="GluePoint3Y" fmla="*/ 538 h 595"/>
                <a:gd name="GluePoint4X" fmla="*/ 297 w 330"/>
                <a:gd name="GluePoint4Y" fmla="*/ 298 h 595"/>
                <a:gd name="GluePoint5X" fmla="*/ 297 w 330"/>
                <a:gd name="GluePoint5Y" fmla="*/ 0 h 59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30" h="595">
                  <a:moveTo>
                    <a:pt x="330" y="0"/>
                  </a:moveTo>
                  <a:cubicBezTo>
                    <a:pt x="148" y="0"/>
                    <a:pt x="1" y="147"/>
                    <a:pt x="1" y="329"/>
                  </a:cubicBezTo>
                  <a:cubicBezTo>
                    <a:pt x="0" y="434"/>
                    <a:pt x="51" y="533"/>
                    <a:pt x="136" y="595"/>
                  </a:cubicBezTo>
                  <a:lnTo>
                    <a:pt x="330" y="329"/>
                  </a:lnTo>
                  <a:lnTo>
                    <a:pt x="330" y="0"/>
                  </a:lnTo>
                  <a:close/>
                </a:path>
              </a:pathLst>
            </a:custGeom>
            <a:solidFill>
              <a:srgbClr val="ffffcc"/>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83" name="Rectangle 1068"/>
            <p:cNvSpPr/>
            <p:nvPr/>
          </p:nvSpPr>
          <p:spPr>
            <a:xfrm>
              <a:off x="5146560" y="50004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13%</a:t>
              </a:r>
              <a:endParaRPr b="0" i="1" lang="en-IN" sz="800" strike="noStrike" u="none">
                <a:solidFill>
                  <a:srgbClr val="000000"/>
                </a:solidFill>
                <a:effectLst/>
                <a:uFillTx/>
                <a:latin typeface="Arial"/>
              </a:endParaRPr>
            </a:p>
          </p:txBody>
        </p:sp>
        <p:sp>
          <p:nvSpPr>
            <p:cNvPr id="84" name="Rectangle 1069"/>
            <p:cNvSpPr/>
            <p:nvPr/>
          </p:nvSpPr>
          <p:spPr>
            <a:xfrm>
              <a:off x="5439600" y="54414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21%</a:t>
              </a:r>
              <a:endParaRPr b="0" i="1" lang="en-IN" sz="800" strike="noStrike" u="none">
                <a:solidFill>
                  <a:srgbClr val="000000"/>
                </a:solidFill>
                <a:effectLst/>
                <a:uFillTx/>
                <a:latin typeface="Arial"/>
              </a:endParaRPr>
            </a:p>
          </p:txBody>
        </p:sp>
        <p:sp>
          <p:nvSpPr>
            <p:cNvPr id="85" name="Rectangle 1070"/>
            <p:cNvSpPr/>
            <p:nvPr/>
          </p:nvSpPr>
          <p:spPr>
            <a:xfrm>
              <a:off x="5018040" y="602028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26%</a:t>
              </a:r>
              <a:endParaRPr b="0" i="1" lang="en-IN" sz="800" strike="noStrike" u="none">
                <a:solidFill>
                  <a:srgbClr val="000000"/>
                </a:solidFill>
                <a:effectLst/>
                <a:uFillTx/>
                <a:latin typeface="Arial"/>
              </a:endParaRPr>
            </a:p>
          </p:txBody>
        </p:sp>
        <p:sp>
          <p:nvSpPr>
            <p:cNvPr id="86" name="Rectangle 1071"/>
            <p:cNvSpPr/>
            <p:nvPr/>
          </p:nvSpPr>
          <p:spPr>
            <a:xfrm>
              <a:off x="4270320" y="53330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40%</a:t>
              </a:r>
              <a:endParaRPr b="0" i="1" lang="en-IN" sz="800" strike="noStrike" u="none">
                <a:solidFill>
                  <a:srgbClr val="000000"/>
                </a:solidFill>
                <a:effectLst/>
                <a:uFillTx/>
                <a:latin typeface="Arial"/>
              </a:endParaRPr>
            </a:p>
          </p:txBody>
        </p:sp>
        <p:sp>
          <p:nvSpPr>
            <p:cNvPr id="87" name="Freeform 1072"/>
            <p:cNvSpPr/>
            <p:nvPr/>
          </p:nvSpPr>
          <p:spPr>
            <a:xfrm>
              <a:off x="3159000" y="5137200"/>
              <a:ext cx="339840" cy="428400"/>
            </a:xfrm>
            <a:custGeom>
              <a:avLst/>
              <a:gdLst>
                <a:gd name="textAreaLeft" fmla="*/ 0 w 339840"/>
                <a:gd name="textAreaRight" fmla="*/ 340200 w 339840"/>
                <a:gd name="textAreaTop" fmla="*/ 0 h 428400"/>
                <a:gd name="textAreaBottom" fmla="*/ 428760 h 428400"/>
                <a:gd name="GluePoint1X" fmla="*/ 215 w 236"/>
                <a:gd name="GluePoint1Y" fmla="*/ 95 h 319"/>
                <a:gd name="GluePoint2X" fmla="*/ 0 w 236"/>
                <a:gd name="GluePoint2Y" fmla="*/ 1 h 319"/>
                <a:gd name="GluePoint3X" fmla="*/ 0 w 236"/>
                <a:gd name="GluePoint3Y" fmla="*/ 1 h 319"/>
                <a:gd name="GluePoint4X" fmla="*/ 0 w 236"/>
                <a:gd name="GluePoint4Y" fmla="*/ 290 h 319"/>
                <a:gd name="GluePoint5X" fmla="*/ 215 w 236"/>
                <a:gd name="GluePoint5Y" fmla="*/ 95 h 3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36" h="319">
                  <a:moveTo>
                    <a:pt x="236" y="105"/>
                  </a:moveTo>
                  <a:cubicBezTo>
                    <a:pt x="176" y="38"/>
                    <a:pt x="90" y="1"/>
                    <a:pt x="0" y="1"/>
                  </a:cubicBezTo>
                  <a:cubicBezTo>
                    <a:pt x="0" y="0"/>
                    <a:pt x="0" y="1"/>
                    <a:pt x="0" y="1"/>
                  </a:cubicBezTo>
                  <a:lnTo>
                    <a:pt x="0" y="319"/>
                  </a:lnTo>
                  <a:lnTo>
                    <a:pt x="236" y="105"/>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88" name="Freeform 1073"/>
            <p:cNvSpPr/>
            <p:nvPr/>
          </p:nvSpPr>
          <p:spPr>
            <a:xfrm>
              <a:off x="3159000" y="5277960"/>
              <a:ext cx="457920" cy="512640"/>
            </a:xfrm>
            <a:custGeom>
              <a:avLst/>
              <a:gdLst>
                <a:gd name="textAreaLeft" fmla="*/ 0 w 457920"/>
                <a:gd name="textAreaRight" fmla="*/ 458280 w 457920"/>
                <a:gd name="textAreaTop" fmla="*/ 0 h 512640"/>
                <a:gd name="textAreaBottom" fmla="*/ 513000 h 512640"/>
                <a:gd name="GluePoint1X" fmla="*/ 243 w 319"/>
                <a:gd name="GluePoint1Y" fmla="*/ 346 h 383"/>
                <a:gd name="GluePoint2X" fmla="*/ 288 w 319"/>
                <a:gd name="GluePoint2Y" fmla="*/ 193 h 383"/>
                <a:gd name="GluePoint3X" fmla="*/ 213 w 319"/>
                <a:gd name="GluePoint3Y" fmla="*/ 0 h 383"/>
                <a:gd name="GluePoint4X" fmla="*/ 0 w 319"/>
                <a:gd name="GluePoint4Y" fmla="*/ 193 h 383"/>
                <a:gd name="GluePoint5X" fmla="*/ 243 w 319"/>
                <a:gd name="GluePoint5Y" fmla="*/ 346 h 383"/>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19" h="383">
                  <a:moveTo>
                    <a:pt x="270" y="383"/>
                  </a:moveTo>
                  <a:cubicBezTo>
                    <a:pt x="302" y="332"/>
                    <a:pt x="319" y="274"/>
                    <a:pt x="319" y="214"/>
                  </a:cubicBezTo>
                  <a:cubicBezTo>
                    <a:pt x="319" y="135"/>
                    <a:pt x="289" y="59"/>
                    <a:pt x="236" y="0"/>
                  </a:cubicBezTo>
                  <a:lnTo>
                    <a:pt x="0" y="214"/>
                  </a:lnTo>
                  <a:lnTo>
                    <a:pt x="270" y="383"/>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89" name="Freeform 1074"/>
            <p:cNvSpPr/>
            <p:nvPr/>
          </p:nvSpPr>
          <p:spPr>
            <a:xfrm>
              <a:off x="2802240" y="5565600"/>
              <a:ext cx="745200" cy="426600"/>
            </a:xfrm>
            <a:custGeom>
              <a:avLst/>
              <a:gdLst>
                <a:gd name="textAreaLeft" fmla="*/ 0 w 745200"/>
                <a:gd name="textAreaRight" fmla="*/ 745560 w 745200"/>
                <a:gd name="textAreaTop" fmla="*/ 0 h 426600"/>
                <a:gd name="textAreaBottom" fmla="*/ 426960 h 426600"/>
                <a:gd name="GluePoint1X" fmla="*/ 0 w 518"/>
                <a:gd name="GluePoint1Y" fmla="*/ 180 h 319"/>
                <a:gd name="GluePoint2X" fmla="*/ 225 w 518"/>
                <a:gd name="GluePoint2Y" fmla="*/ 288 h 319"/>
                <a:gd name="GluePoint3X" fmla="*/ 469 w 518"/>
                <a:gd name="GluePoint3Y" fmla="*/ 153 h 319"/>
                <a:gd name="GluePoint4X" fmla="*/ 225 w 518"/>
                <a:gd name="GluePoint4Y" fmla="*/ 0 h 319"/>
                <a:gd name="GluePoint5X" fmla="*/ 0 w 518"/>
                <a:gd name="GluePoint5Y" fmla="*/ 180 h 3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18" h="319">
                  <a:moveTo>
                    <a:pt x="0" y="200"/>
                  </a:moveTo>
                  <a:cubicBezTo>
                    <a:pt x="60" y="275"/>
                    <a:pt x="152" y="319"/>
                    <a:pt x="248" y="319"/>
                  </a:cubicBezTo>
                  <a:cubicBezTo>
                    <a:pt x="358" y="318"/>
                    <a:pt x="460" y="262"/>
                    <a:pt x="518" y="169"/>
                  </a:cubicBezTo>
                  <a:lnTo>
                    <a:pt x="248" y="0"/>
                  </a:lnTo>
                  <a:lnTo>
                    <a:pt x="0" y="200"/>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90" name="Freeform 1075"/>
            <p:cNvSpPr/>
            <p:nvPr/>
          </p:nvSpPr>
          <p:spPr>
            <a:xfrm>
              <a:off x="2701080" y="5138280"/>
              <a:ext cx="457920" cy="694440"/>
            </a:xfrm>
            <a:custGeom>
              <a:avLst/>
              <a:gdLst>
                <a:gd name="textAreaLeft" fmla="*/ 0 w 457920"/>
                <a:gd name="textAreaRight" fmla="*/ 458280 w 457920"/>
                <a:gd name="textAreaTop" fmla="*/ 0 h 694440"/>
                <a:gd name="textAreaBottom" fmla="*/ 694800 h 694440"/>
                <a:gd name="GluePoint1X" fmla="*/ 288 w 319"/>
                <a:gd name="GluePoint1Y" fmla="*/ 0 h 518"/>
                <a:gd name="GluePoint2X" fmla="*/ 1 w 319"/>
                <a:gd name="GluePoint2Y" fmla="*/ 288 h 518"/>
                <a:gd name="GluePoint3X" fmla="*/ 64 w 319"/>
                <a:gd name="GluePoint3Y" fmla="*/ 469 h 518"/>
                <a:gd name="GluePoint4X" fmla="*/ 288 w 319"/>
                <a:gd name="GluePoint4Y" fmla="*/ 288 h 518"/>
                <a:gd name="GluePoint5X" fmla="*/ 288 w 319"/>
                <a:gd name="GluePoint5Y" fmla="*/ 0 h 518"/>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19" h="518">
                  <a:moveTo>
                    <a:pt x="319" y="0"/>
                  </a:moveTo>
                  <a:cubicBezTo>
                    <a:pt x="143" y="0"/>
                    <a:pt x="1" y="142"/>
                    <a:pt x="1" y="318"/>
                  </a:cubicBezTo>
                  <a:cubicBezTo>
                    <a:pt x="0" y="391"/>
                    <a:pt x="25" y="461"/>
                    <a:pt x="71" y="518"/>
                  </a:cubicBezTo>
                  <a:lnTo>
                    <a:pt x="319" y="318"/>
                  </a:lnTo>
                  <a:lnTo>
                    <a:pt x="319" y="0"/>
                  </a:lnTo>
                  <a:close/>
                </a:path>
              </a:pathLst>
            </a:custGeom>
            <a:solidFill>
              <a:srgbClr val="ffffcc"/>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91" name="Rectangle 1076"/>
            <p:cNvSpPr/>
            <p:nvPr/>
          </p:nvSpPr>
          <p:spPr>
            <a:xfrm>
              <a:off x="3355560" y="50342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13%</a:t>
              </a:r>
              <a:endParaRPr b="0" i="1" lang="en-IN" sz="800" strike="noStrike" u="none">
                <a:solidFill>
                  <a:srgbClr val="000000"/>
                </a:solidFill>
                <a:effectLst/>
                <a:uFillTx/>
                <a:latin typeface="Arial"/>
              </a:endParaRPr>
            </a:p>
          </p:txBody>
        </p:sp>
        <p:sp>
          <p:nvSpPr>
            <p:cNvPr id="92" name="Rectangle 1077"/>
            <p:cNvSpPr/>
            <p:nvPr/>
          </p:nvSpPr>
          <p:spPr>
            <a:xfrm>
              <a:off x="3632400" y="54666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21%</a:t>
              </a:r>
              <a:endParaRPr b="0" i="1" lang="en-IN" sz="800" strike="noStrike" u="none">
                <a:solidFill>
                  <a:srgbClr val="000000"/>
                </a:solidFill>
                <a:effectLst/>
                <a:uFillTx/>
                <a:latin typeface="Arial"/>
              </a:endParaRPr>
            </a:p>
          </p:txBody>
        </p:sp>
        <p:sp>
          <p:nvSpPr>
            <p:cNvPr id="93" name="Rectangle 1078"/>
            <p:cNvSpPr/>
            <p:nvPr/>
          </p:nvSpPr>
          <p:spPr>
            <a:xfrm>
              <a:off x="3108960" y="602856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30%</a:t>
              </a:r>
              <a:endParaRPr b="0" i="1" lang="en-IN" sz="800" strike="noStrike" u="none">
                <a:solidFill>
                  <a:srgbClr val="000000"/>
                </a:solidFill>
                <a:effectLst/>
                <a:uFillTx/>
                <a:latin typeface="Arial"/>
              </a:endParaRPr>
            </a:p>
          </p:txBody>
        </p:sp>
        <p:sp>
          <p:nvSpPr>
            <p:cNvPr id="94" name="Rectangle 1079"/>
            <p:cNvSpPr/>
            <p:nvPr/>
          </p:nvSpPr>
          <p:spPr>
            <a:xfrm>
              <a:off x="2513520" y="52920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36%</a:t>
              </a:r>
              <a:endParaRPr b="0" i="1" lang="en-IN" sz="800" strike="noStrike" u="none">
                <a:solidFill>
                  <a:srgbClr val="000000"/>
                </a:solidFill>
                <a:effectLst/>
                <a:uFillTx/>
                <a:latin typeface="Arial"/>
              </a:endParaRPr>
            </a:p>
          </p:txBody>
        </p:sp>
        <p:sp>
          <p:nvSpPr>
            <p:cNvPr id="95" name="Line 1080"/>
            <p:cNvSpPr/>
            <p:nvPr/>
          </p:nvSpPr>
          <p:spPr>
            <a:xfrm flipV="1">
              <a:off x="6845040" y="4049640"/>
              <a:ext cx="1080" cy="54720"/>
            </a:xfrm>
            <a:prstGeom prst="line">
              <a:avLst/>
            </a:prstGeom>
            <a:ln w="0">
              <a:solidFill>
                <a:srgbClr val="000000"/>
              </a:solidFill>
            </a:ln>
          </p:spPr>
          <p:style>
            <a:lnRef idx="0"/>
            <a:fillRef idx="0"/>
            <a:effectRef idx="0"/>
            <a:fontRef idx="minor"/>
          </p:style>
          <p:txBody>
            <a:bodyPr lIns="90000" rIns="90000" tIns="7920" bIns="7920" anchor="t">
              <a:noAutofit/>
            </a:bodyPr>
            <a:p>
              <a:endParaRPr b="0" i="1" lang="en-IN" sz="1800" strike="noStrike" u="none">
                <a:solidFill>
                  <a:srgbClr val="000000"/>
                </a:solidFill>
                <a:effectLst/>
                <a:uFillTx/>
                <a:latin typeface="Arial"/>
              </a:endParaRPr>
            </a:p>
          </p:txBody>
        </p:sp>
        <p:sp>
          <p:nvSpPr>
            <p:cNvPr id="96" name="Line 1081"/>
            <p:cNvSpPr/>
            <p:nvPr/>
          </p:nvSpPr>
          <p:spPr>
            <a:xfrm flipV="1">
              <a:off x="6845040" y="4049640"/>
              <a:ext cx="1080" cy="54720"/>
            </a:xfrm>
            <a:prstGeom prst="line">
              <a:avLst/>
            </a:prstGeom>
            <a:ln w="0">
              <a:solidFill>
                <a:srgbClr val="000000"/>
              </a:solidFill>
            </a:ln>
          </p:spPr>
          <p:style>
            <a:lnRef idx="0"/>
            <a:fillRef idx="0"/>
            <a:effectRef idx="0"/>
            <a:fontRef idx="minor"/>
          </p:style>
          <p:txBody>
            <a:bodyPr lIns="90000" rIns="90000" tIns="7920" bIns="7920" anchor="t">
              <a:noAutofit/>
            </a:bodyPr>
            <a:p>
              <a:endParaRPr b="0" i="1" lang="en-IN" sz="1800" strike="noStrike" u="none">
                <a:solidFill>
                  <a:srgbClr val="000000"/>
                </a:solidFill>
                <a:effectLst/>
                <a:uFillTx/>
                <a:latin typeface="Arial"/>
              </a:endParaRPr>
            </a:p>
          </p:txBody>
        </p:sp>
        <p:sp>
          <p:nvSpPr>
            <p:cNvPr id="97" name="Rectangle 1082"/>
            <p:cNvSpPr/>
            <p:nvPr/>
          </p:nvSpPr>
          <p:spPr>
            <a:xfrm>
              <a:off x="6280920" y="3915720"/>
              <a:ext cx="823680" cy="281520"/>
            </a:xfrm>
            <a:prstGeom prst="rect">
              <a:avLst/>
            </a:prstGeom>
            <a:solidFill>
              <a:srgbClr val="ffff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98" name="Rectangle 1083"/>
            <p:cNvSpPr/>
            <p:nvPr/>
          </p:nvSpPr>
          <p:spPr>
            <a:xfrm>
              <a:off x="6315480" y="3959640"/>
              <a:ext cx="57240" cy="53280"/>
            </a:xfrm>
            <a:prstGeom prst="rect">
              <a:avLst/>
            </a:prstGeom>
            <a:solidFill>
              <a:srgbClr val="99ccff"/>
            </a:solidFill>
            <a:ln w="0">
              <a:solidFill>
                <a:srgbClr val="000000"/>
              </a:solidFill>
            </a:ln>
          </p:spPr>
          <p:style>
            <a:lnRef idx="0"/>
            <a:fillRef idx="0"/>
            <a:effectRef idx="0"/>
            <a:fontRef idx="minor"/>
          </p:style>
          <p:txBody>
            <a:bodyPr lIns="90000" rIns="90000" tIns="6480" bIns="64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99" name="Rectangle 1084"/>
            <p:cNvSpPr/>
            <p:nvPr/>
          </p:nvSpPr>
          <p:spPr>
            <a:xfrm>
              <a:off x="6352920" y="3936960"/>
              <a:ext cx="79488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Non-Supervisor</a:t>
              </a:r>
              <a:endParaRPr b="0" i="1" lang="en-IN" sz="900" strike="noStrike" u="none">
                <a:solidFill>
                  <a:srgbClr val="000000"/>
                </a:solidFill>
                <a:effectLst/>
                <a:uFillTx/>
                <a:latin typeface="Arial"/>
              </a:endParaRPr>
            </a:p>
          </p:txBody>
        </p:sp>
        <p:sp>
          <p:nvSpPr>
            <p:cNvPr id="100" name="Rectangle 1085"/>
            <p:cNvSpPr/>
            <p:nvPr/>
          </p:nvSpPr>
          <p:spPr>
            <a:xfrm>
              <a:off x="6315480" y="4100400"/>
              <a:ext cx="57240" cy="53280"/>
            </a:xfrm>
            <a:prstGeom prst="rect">
              <a:avLst/>
            </a:prstGeom>
            <a:solidFill>
              <a:srgbClr val="993366"/>
            </a:solidFill>
            <a:ln w="0">
              <a:solidFill>
                <a:srgbClr val="000000"/>
              </a:solidFill>
            </a:ln>
          </p:spPr>
          <p:style>
            <a:lnRef idx="0"/>
            <a:fillRef idx="0"/>
            <a:effectRef idx="0"/>
            <a:fontRef idx="minor"/>
          </p:style>
          <p:txBody>
            <a:bodyPr lIns="90000" rIns="90000" tIns="6480" bIns="64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01" name="Rectangle 1086"/>
            <p:cNvSpPr/>
            <p:nvPr/>
          </p:nvSpPr>
          <p:spPr>
            <a:xfrm>
              <a:off x="6366240" y="4077720"/>
              <a:ext cx="5472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Supervisor</a:t>
              </a:r>
              <a:endParaRPr b="0" i="1" lang="en-IN" sz="900" strike="noStrike" u="none">
                <a:solidFill>
                  <a:srgbClr val="000000"/>
                </a:solidFill>
                <a:effectLst/>
                <a:uFillTx/>
                <a:latin typeface="Arial"/>
              </a:endParaRPr>
            </a:p>
          </p:txBody>
        </p:sp>
        <p:sp>
          <p:nvSpPr>
            <p:cNvPr id="102" name="Rectangle 1087"/>
            <p:cNvSpPr/>
            <p:nvPr/>
          </p:nvSpPr>
          <p:spPr>
            <a:xfrm>
              <a:off x="2475360" y="1773000"/>
              <a:ext cx="4412880" cy="178884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03" name="Line 1088"/>
            <p:cNvSpPr/>
            <p:nvPr/>
          </p:nvSpPr>
          <p:spPr>
            <a:xfrm flipV="1">
              <a:off x="4424400" y="1818000"/>
              <a:ext cx="1080" cy="71244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04" name="Rectangle 1090"/>
            <p:cNvSpPr/>
            <p:nvPr/>
          </p:nvSpPr>
          <p:spPr>
            <a:xfrm>
              <a:off x="6374520" y="2374560"/>
              <a:ext cx="482040" cy="281520"/>
            </a:xfrm>
            <a:prstGeom prst="rect">
              <a:avLst/>
            </a:prstGeom>
            <a:solidFill>
              <a:srgbClr val="ffff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05" name="Rectangle 1091"/>
            <p:cNvSpPr/>
            <p:nvPr/>
          </p:nvSpPr>
          <p:spPr>
            <a:xfrm>
              <a:off x="6409440" y="2416680"/>
              <a:ext cx="57240" cy="53280"/>
            </a:xfrm>
            <a:prstGeom prst="rect">
              <a:avLst/>
            </a:prstGeom>
            <a:solidFill>
              <a:srgbClr val="99ccff"/>
            </a:solidFill>
            <a:ln w="0">
              <a:solidFill>
                <a:srgbClr val="000000"/>
              </a:solidFill>
            </a:ln>
          </p:spPr>
          <p:style>
            <a:lnRef idx="0"/>
            <a:fillRef idx="0"/>
            <a:effectRef idx="0"/>
            <a:fontRef idx="minor"/>
          </p:style>
          <p:txBody>
            <a:bodyPr lIns="90000" rIns="90000" tIns="6480" bIns="64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06" name="Rectangle 1092"/>
            <p:cNvSpPr/>
            <p:nvPr/>
          </p:nvSpPr>
          <p:spPr>
            <a:xfrm>
              <a:off x="6477480" y="2395800"/>
              <a:ext cx="2484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Male</a:t>
              </a:r>
              <a:endParaRPr b="0" i="1" lang="en-IN" sz="900" strike="noStrike" u="none">
                <a:solidFill>
                  <a:srgbClr val="000000"/>
                </a:solidFill>
                <a:effectLst/>
                <a:uFillTx/>
                <a:latin typeface="Arial"/>
              </a:endParaRPr>
            </a:p>
          </p:txBody>
        </p:sp>
        <p:sp>
          <p:nvSpPr>
            <p:cNvPr id="107" name="Rectangle 1093"/>
            <p:cNvSpPr/>
            <p:nvPr/>
          </p:nvSpPr>
          <p:spPr>
            <a:xfrm>
              <a:off x="6409440" y="2557800"/>
              <a:ext cx="57240" cy="53280"/>
            </a:xfrm>
            <a:prstGeom prst="rect">
              <a:avLst/>
            </a:prstGeom>
            <a:solidFill>
              <a:srgbClr val="993366"/>
            </a:solidFill>
            <a:ln w="0">
              <a:solidFill>
                <a:srgbClr val="000000"/>
              </a:solidFill>
            </a:ln>
          </p:spPr>
          <p:style>
            <a:lnRef idx="0"/>
            <a:fillRef idx="0"/>
            <a:effectRef idx="0"/>
            <a:fontRef idx="minor"/>
          </p:style>
          <p:txBody>
            <a:bodyPr lIns="90000" rIns="90000" tIns="6480" bIns="64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08" name="Rectangle 1094"/>
            <p:cNvSpPr/>
            <p:nvPr/>
          </p:nvSpPr>
          <p:spPr>
            <a:xfrm>
              <a:off x="6469200" y="2536560"/>
              <a:ext cx="3819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000000"/>
                  </a:solidFill>
                  <a:effectLst/>
                  <a:uFillTx/>
                  <a:latin typeface="Arial"/>
                </a:rPr>
                <a:t>Female</a:t>
              </a:r>
              <a:endParaRPr b="0" i="1" lang="en-IN" sz="900" strike="noStrike" u="none">
                <a:solidFill>
                  <a:srgbClr val="000000"/>
                </a:solidFill>
                <a:effectLst/>
                <a:uFillTx/>
                <a:latin typeface="Arial"/>
              </a:endParaRPr>
            </a:p>
          </p:txBody>
        </p:sp>
        <p:sp>
          <p:nvSpPr>
            <p:cNvPr id="109" name="Rectangle 1095"/>
            <p:cNvSpPr/>
            <p:nvPr/>
          </p:nvSpPr>
          <p:spPr>
            <a:xfrm>
              <a:off x="2041560" y="1880280"/>
              <a:ext cx="2173680" cy="154656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10" name="Freeform 1096"/>
            <p:cNvSpPr/>
            <p:nvPr/>
          </p:nvSpPr>
          <p:spPr>
            <a:xfrm>
              <a:off x="2793240" y="2112480"/>
              <a:ext cx="784440" cy="838080"/>
            </a:xfrm>
            <a:custGeom>
              <a:avLst/>
              <a:gdLst>
                <a:gd name="textAreaLeft" fmla="*/ 0 w 784440"/>
                <a:gd name="textAreaRight" fmla="*/ 784800 w 784440"/>
                <a:gd name="textAreaTop" fmla="*/ 0 h 838080"/>
                <a:gd name="textAreaBottom" fmla="*/ 838440 h 838080"/>
                <a:gd name="GluePoint1X" fmla="*/ 0 w 546"/>
                <a:gd name="GluePoint1Y" fmla="*/ 470 h 626"/>
                <a:gd name="GluePoint2X" fmla="*/ 210 w 546"/>
                <a:gd name="GluePoint2Y" fmla="*/ 566 h 626"/>
                <a:gd name="GluePoint3X" fmla="*/ 493 w 546"/>
                <a:gd name="GluePoint3Y" fmla="*/ 283 h 626"/>
                <a:gd name="GluePoint4X" fmla="*/ 210 w 546"/>
                <a:gd name="GluePoint4Y" fmla="*/ 0 h 626"/>
                <a:gd name="GluePoint5X" fmla="*/ 210 w 546"/>
                <a:gd name="GluePoint5Y" fmla="*/ 283 h 626"/>
                <a:gd name="GluePoint6X" fmla="*/ 0 w 546"/>
                <a:gd name="GluePoint6Y" fmla="*/ 470 h 62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46" h="626">
                  <a:moveTo>
                    <a:pt x="0" y="521"/>
                  </a:moveTo>
                  <a:cubicBezTo>
                    <a:pt x="59" y="588"/>
                    <a:pt x="144" y="626"/>
                    <a:pt x="233" y="626"/>
                  </a:cubicBezTo>
                  <a:cubicBezTo>
                    <a:pt x="405" y="626"/>
                    <a:pt x="546" y="485"/>
                    <a:pt x="546" y="313"/>
                  </a:cubicBezTo>
                  <a:cubicBezTo>
                    <a:pt x="546" y="140"/>
                    <a:pt x="405" y="0"/>
                    <a:pt x="233" y="0"/>
                  </a:cubicBezTo>
                  <a:lnTo>
                    <a:pt x="233" y="313"/>
                  </a:lnTo>
                  <a:lnTo>
                    <a:pt x="0" y="521"/>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11" name="Freeform 1097"/>
            <p:cNvSpPr/>
            <p:nvPr/>
          </p:nvSpPr>
          <p:spPr>
            <a:xfrm>
              <a:off x="2676600" y="2112480"/>
              <a:ext cx="450360" cy="697320"/>
            </a:xfrm>
            <a:custGeom>
              <a:avLst/>
              <a:gdLst>
                <a:gd name="textAreaLeft" fmla="*/ 0 w 450360"/>
                <a:gd name="textAreaRight" fmla="*/ 450720 w 450360"/>
                <a:gd name="textAreaTop" fmla="*/ 0 h 697320"/>
                <a:gd name="textAreaBottom" fmla="*/ 697680 h 697320"/>
                <a:gd name="GluePoint1X" fmla="*/ 282 w 314"/>
                <a:gd name="GluePoint1Y" fmla="*/ 0 h 521"/>
                <a:gd name="GluePoint2X" fmla="*/ 1 w 314"/>
                <a:gd name="GluePoint2Y" fmla="*/ 281 h 521"/>
                <a:gd name="GluePoint3X" fmla="*/ 73 w 314"/>
                <a:gd name="GluePoint3Y" fmla="*/ 470 h 521"/>
                <a:gd name="GluePoint4X" fmla="*/ 283 w 314"/>
                <a:gd name="GluePoint4Y" fmla="*/ 282 h 521"/>
                <a:gd name="GluePoint5X" fmla="*/ 282 w 314"/>
                <a:gd name="GluePoint5Y" fmla="*/ 0 h 52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14" h="521">
                  <a:moveTo>
                    <a:pt x="313" y="0"/>
                  </a:moveTo>
                  <a:cubicBezTo>
                    <a:pt x="141" y="0"/>
                    <a:pt x="1" y="140"/>
                    <a:pt x="1" y="312"/>
                  </a:cubicBezTo>
                  <a:cubicBezTo>
                    <a:pt x="0" y="390"/>
                    <a:pt x="29" y="464"/>
                    <a:pt x="81" y="521"/>
                  </a:cubicBezTo>
                  <a:lnTo>
                    <a:pt x="314" y="313"/>
                  </a:lnTo>
                  <a:lnTo>
                    <a:pt x="313" y="0"/>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12" name="Rectangle 1098"/>
            <p:cNvSpPr/>
            <p:nvPr/>
          </p:nvSpPr>
          <p:spPr>
            <a:xfrm>
              <a:off x="3550680" y="268596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63%</a:t>
              </a:r>
              <a:endParaRPr b="0" i="1" lang="en-IN" sz="800" strike="noStrike" u="none">
                <a:solidFill>
                  <a:srgbClr val="000000"/>
                </a:solidFill>
                <a:effectLst/>
                <a:uFillTx/>
                <a:latin typeface="Arial"/>
              </a:endParaRPr>
            </a:p>
          </p:txBody>
        </p:sp>
        <p:sp>
          <p:nvSpPr>
            <p:cNvPr id="113" name="Rectangle 1099"/>
            <p:cNvSpPr/>
            <p:nvPr/>
          </p:nvSpPr>
          <p:spPr>
            <a:xfrm>
              <a:off x="2487960" y="226908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37%</a:t>
              </a:r>
              <a:endParaRPr b="0" i="1" lang="en-IN" sz="800" strike="noStrike" u="none">
                <a:solidFill>
                  <a:srgbClr val="000000"/>
                </a:solidFill>
                <a:effectLst/>
                <a:uFillTx/>
                <a:latin typeface="Arial"/>
              </a:endParaRPr>
            </a:p>
          </p:txBody>
        </p:sp>
        <p:sp>
          <p:nvSpPr>
            <p:cNvPr id="114" name="Rectangle 1100"/>
            <p:cNvSpPr/>
            <p:nvPr/>
          </p:nvSpPr>
          <p:spPr>
            <a:xfrm>
              <a:off x="2455920" y="3245400"/>
              <a:ext cx="2173680" cy="156204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15" name="Freeform 1101"/>
            <p:cNvSpPr/>
            <p:nvPr/>
          </p:nvSpPr>
          <p:spPr>
            <a:xfrm>
              <a:off x="2670480" y="3598920"/>
              <a:ext cx="914400" cy="852120"/>
            </a:xfrm>
            <a:custGeom>
              <a:avLst/>
              <a:gdLst>
                <a:gd name="textAreaLeft" fmla="*/ 0 w 914400"/>
                <a:gd name="textAreaRight" fmla="*/ 914760 w 914400"/>
                <a:gd name="textAreaTop" fmla="*/ 0 h 852120"/>
                <a:gd name="textAreaBottom" fmla="*/ 852480 h 852120"/>
                <a:gd name="GluePoint1X" fmla="*/ 47 w 636"/>
                <a:gd name="GluePoint1Y" fmla="*/ 131 h 636"/>
                <a:gd name="GluePoint2X" fmla="*/ 0 w 636"/>
                <a:gd name="GluePoint2Y" fmla="*/ 287 h 636"/>
                <a:gd name="GluePoint3X" fmla="*/ 288 w 636"/>
                <a:gd name="GluePoint3Y" fmla="*/ 576 h 636"/>
                <a:gd name="GluePoint4X" fmla="*/ 576 w 636"/>
                <a:gd name="GluePoint4Y" fmla="*/ 288 h 636"/>
                <a:gd name="GluePoint5X" fmla="*/ 288 w 636"/>
                <a:gd name="GluePoint5Y" fmla="*/ 0 h 636"/>
                <a:gd name="GluePoint6X" fmla="*/ 288 w 636"/>
                <a:gd name="GluePoint6Y" fmla="*/ 288 h 636"/>
                <a:gd name="GluePoint7X" fmla="*/ 47 w 636"/>
                <a:gd name="GluePoint7Y" fmla="*/ 131 h 63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636" h="636">
                  <a:moveTo>
                    <a:pt x="51" y="145"/>
                  </a:moveTo>
                  <a:cubicBezTo>
                    <a:pt x="17" y="196"/>
                    <a:pt x="0" y="256"/>
                    <a:pt x="0" y="317"/>
                  </a:cubicBezTo>
                  <a:cubicBezTo>
                    <a:pt x="0" y="493"/>
                    <a:pt x="142" y="636"/>
                    <a:pt x="318" y="636"/>
                  </a:cubicBezTo>
                  <a:cubicBezTo>
                    <a:pt x="493" y="636"/>
                    <a:pt x="636" y="493"/>
                    <a:pt x="636" y="318"/>
                  </a:cubicBezTo>
                  <a:cubicBezTo>
                    <a:pt x="636" y="142"/>
                    <a:pt x="493" y="0"/>
                    <a:pt x="318" y="0"/>
                  </a:cubicBezTo>
                  <a:lnTo>
                    <a:pt x="318" y="318"/>
                  </a:lnTo>
                  <a:lnTo>
                    <a:pt x="51" y="145"/>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16" name="Freeform 1102"/>
            <p:cNvSpPr/>
            <p:nvPr/>
          </p:nvSpPr>
          <p:spPr>
            <a:xfrm>
              <a:off x="2743200" y="3598920"/>
              <a:ext cx="383760" cy="425160"/>
            </a:xfrm>
            <a:custGeom>
              <a:avLst/>
              <a:gdLst>
                <a:gd name="textAreaLeft" fmla="*/ 0 w 383760"/>
                <a:gd name="textAreaRight" fmla="*/ 384120 w 383760"/>
                <a:gd name="textAreaTop" fmla="*/ 0 h 425160"/>
                <a:gd name="textAreaBottom" fmla="*/ 425520 h 425160"/>
                <a:gd name="GluePoint1X" fmla="*/ 241 w 267"/>
                <a:gd name="GluePoint1Y" fmla="*/ 0 h 318"/>
                <a:gd name="GluePoint2X" fmla="*/ 0 w 267"/>
                <a:gd name="GluePoint2Y" fmla="*/ 131 h 318"/>
                <a:gd name="GluePoint3X" fmla="*/ 242 w 267"/>
                <a:gd name="GluePoint3Y" fmla="*/ 287 h 318"/>
                <a:gd name="GluePoint4X" fmla="*/ 241 w 267"/>
                <a:gd name="GluePoint4Y" fmla="*/ 0 h 31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7" h="318">
                  <a:moveTo>
                    <a:pt x="266" y="0"/>
                  </a:moveTo>
                  <a:cubicBezTo>
                    <a:pt x="159" y="0"/>
                    <a:pt x="58" y="54"/>
                    <a:pt x="0" y="145"/>
                  </a:cubicBezTo>
                  <a:lnTo>
                    <a:pt x="267" y="318"/>
                  </a:lnTo>
                  <a:lnTo>
                    <a:pt x="266" y="0"/>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17" name="Rectangle 1103"/>
            <p:cNvSpPr/>
            <p:nvPr/>
          </p:nvSpPr>
          <p:spPr>
            <a:xfrm>
              <a:off x="3357360" y="44298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84%</a:t>
              </a:r>
              <a:endParaRPr b="0" i="1" lang="en-IN" sz="800" strike="noStrike" u="none">
                <a:solidFill>
                  <a:srgbClr val="000000"/>
                </a:solidFill>
                <a:effectLst/>
                <a:uFillTx/>
                <a:latin typeface="Arial"/>
              </a:endParaRPr>
            </a:p>
          </p:txBody>
        </p:sp>
        <p:sp>
          <p:nvSpPr>
            <p:cNvPr id="118" name="Rectangle 1104"/>
            <p:cNvSpPr/>
            <p:nvPr/>
          </p:nvSpPr>
          <p:spPr>
            <a:xfrm>
              <a:off x="2681280" y="35100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16%</a:t>
              </a:r>
              <a:endParaRPr b="0" i="1" lang="en-IN" sz="800" strike="noStrike" u="none">
                <a:solidFill>
                  <a:srgbClr val="000000"/>
                </a:solidFill>
                <a:effectLst/>
                <a:uFillTx/>
                <a:latin typeface="Arial"/>
              </a:endParaRPr>
            </a:p>
          </p:txBody>
        </p:sp>
        <p:sp>
          <p:nvSpPr>
            <p:cNvPr id="119" name="Rectangle 1105"/>
            <p:cNvSpPr/>
            <p:nvPr/>
          </p:nvSpPr>
          <p:spPr>
            <a:xfrm>
              <a:off x="3787920" y="1880280"/>
              <a:ext cx="2324880" cy="154656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20" name="Freeform 1106"/>
            <p:cNvSpPr/>
            <p:nvPr/>
          </p:nvSpPr>
          <p:spPr>
            <a:xfrm>
              <a:off x="4528800" y="2129400"/>
              <a:ext cx="852480" cy="826920"/>
            </a:xfrm>
            <a:custGeom>
              <a:avLst/>
              <a:gdLst>
                <a:gd name="textAreaLeft" fmla="*/ 0 w 852480"/>
                <a:gd name="textAreaRight" fmla="*/ 852840 w 852480"/>
                <a:gd name="textAreaTop" fmla="*/ 0 h 826920"/>
                <a:gd name="textAreaBottom" fmla="*/ 827280 h 826920"/>
                <a:gd name="GluePoint1X" fmla="*/ 0 w 593"/>
                <a:gd name="GluePoint1Y" fmla="*/ 387 h 618"/>
                <a:gd name="GluePoint2X" fmla="*/ 257 w 593"/>
                <a:gd name="GluePoint2Y" fmla="*/ 558 h 618"/>
                <a:gd name="GluePoint3X" fmla="*/ 536 w 593"/>
                <a:gd name="GluePoint3Y" fmla="*/ 279 h 618"/>
                <a:gd name="GluePoint4X" fmla="*/ 257 w 593"/>
                <a:gd name="GluePoint4Y" fmla="*/ 1 h 618"/>
                <a:gd name="GluePoint5X" fmla="*/ 257 w 593"/>
                <a:gd name="GluePoint5Y" fmla="*/ 1 h 618"/>
                <a:gd name="GluePoint6X" fmla="*/ 257 w 593"/>
                <a:gd name="GluePoint6Y" fmla="*/ 279 h 618"/>
                <a:gd name="GluePoint7X" fmla="*/ 0 w 593"/>
                <a:gd name="GluePoint7Y" fmla="*/ 387 h 6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93" h="618">
                  <a:moveTo>
                    <a:pt x="0" y="428"/>
                  </a:moveTo>
                  <a:cubicBezTo>
                    <a:pt x="48" y="543"/>
                    <a:pt x="160" y="618"/>
                    <a:pt x="284" y="618"/>
                  </a:cubicBezTo>
                  <a:cubicBezTo>
                    <a:pt x="454" y="618"/>
                    <a:pt x="593" y="479"/>
                    <a:pt x="593" y="309"/>
                  </a:cubicBezTo>
                  <a:cubicBezTo>
                    <a:pt x="593" y="139"/>
                    <a:pt x="454" y="1"/>
                    <a:pt x="284" y="1"/>
                  </a:cubicBezTo>
                  <a:cubicBezTo>
                    <a:pt x="284" y="0"/>
                    <a:pt x="284" y="1"/>
                    <a:pt x="284" y="1"/>
                  </a:cubicBezTo>
                  <a:lnTo>
                    <a:pt x="284" y="309"/>
                  </a:lnTo>
                  <a:lnTo>
                    <a:pt x="0" y="428"/>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21" name="Freeform 1107"/>
            <p:cNvSpPr/>
            <p:nvPr/>
          </p:nvSpPr>
          <p:spPr>
            <a:xfrm>
              <a:off x="4492440" y="2130840"/>
              <a:ext cx="444600" cy="571680"/>
            </a:xfrm>
            <a:custGeom>
              <a:avLst/>
              <a:gdLst>
                <a:gd name="textAreaLeft" fmla="*/ 0 w 444600"/>
                <a:gd name="textAreaRight" fmla="*/ 444960 w 444600"/>
                <a:gd name="textAreaTop" fmla="*/ 0 h 571680"/>
                <a:gd name="textAreaBottom" fmla="*/ 572040 h 571680"/>
                <a:gd name="GluePoint1X" fmla="*/ 280 w 309"/>
                <a:gd name="GluePoint1Y" fmla="*/ 0 h 427"/>
                <a:gd name="GluePoint2X" fmla="*/ 1 w 309"/>
                <a:gd name="GluePoint2Y" fmla="*/ 279 h 427"/>
                <a:gd name="GluePoint3X" fmla="*/ 23 w 309"/>
                <a:gd name="GluePoint3Y" fmla="*/ 386 h 427"/>
                <a:gd name="GluePoint4X" fmla="*/ 280 w 309"/>
                <a:gd name="GluePoint4Y" fmla="*/ 279 h 427"/>
                <a:gd name="GluePoint5X" fmla="*/ 280 w 309"/>
                <a:gd name="GluePoint5Y" fmla="*/ 0 h 42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9" h="427">
                  <a:moveTo>
                    <a:pt x="309" y="0"/>
                  </a:moveTo>
                  <a:cubicBezTo>
                    <a:pt x="138" y="0"/>
                    <a:pt x="1" y="138"/>
                    <a:pt x="1" y="308"/>
                  </a:cubicBezTo>
                  <a:cubicBezTo>
                    <a:pt x="0" y="349"/>
                    <a:pt x="9" y="390"/>
                    <a:pt x="25" y="427"/>
                  </a:cubicBezTo>
                  <a:lnTo>
                    <a:pt x="309" y="308"/>
                  </a:lnTo>
                  <a:lnTo>
                    <a:pt x="309" y="0"/>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22" name="Rectangle 1108"/>
            <p:cNvSpPr/>
            <p:nvPr/>
          </p:nvSpPr>
          <p:spPr>
            <a:xfrm>
              <a:off x="5321880" y="27716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68%</a:t>
              </a:r>
              <a:endParaRPr b="0" i="1" lang="en-IN" sz="800" strike="noStrike" u="none">
                <a:solidFill>
                  <a:srgbClr val="000000"/>
                </a:solidFill>
                <a:effectLst/>
                <a:uFillTx/>
                <a:latin typeface="Arial"/>
              </a:endParaRPr>
            </a:p>
          </p:txBody>
        </p:sp>
        <p:sp>
          <p:nvSpPr>
            <p:cNvPr id="123" name="Rectangle 1109"/>
            <p:cNvSpPr/>
            <p:nvPr/>
          </p:nvSpPr>
          <p:spPr>
            <a:xfrm>
              <a:off x="4336920" y="220968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32%</a:t>
              </a:r>
              <a:endParaRPr b="0" i="1" lang="en-IN" sz="800" strike="noStrike" u="none">
                <a:solidFill>
                  <a:srgbClr val="000000"/>
                </a:solidFill>
                <a:effectLst/>
                <a:uFillTx/>
                <a:latin typeface="Arial"/>
              </a:endParaRPr>
            </a:p>
          </p:txBody>
        </p:sp>
        <p:sp>
          <p:nvSpPr>
            <p:cNvPr id="124" name="Rectangle 1110"/>
            <p:cNvSpPr/>
            <p:nvPr/>
          </p:nvSpPr>
          <p:spPr>
            <a:xfrm>
              <a:off x="3827160" y="3293280"/>
              <a:ext cx="2267280" cy="156204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25" name="Freeform 1111"/>
            <p:cNvSpPr/>
            <p:nvPr/>
          </p:nvSpPr>
          <p:spPr>
            <a:xfrm>
              <a:off x="4492440" y="3590280"/>
              <a:ext cx="910080" cy="849240"/>
            </a:xfrm>
            <a:custGeom>
              <a:avLst/>
              <a:gdLst>
                <a:gd name="textAreaLeft" fmla="*/ 0 w 910080"/>
                <a:gd name="textAreaRight" fmla="*/ 910440 w 910080"/>
                <a:gd name="textAreaTop" fmla="*/ 0 h 849240"/>
                <a:gd name="textAreaBottom" fmla="*/ 849600 h 849240"/>
                <a:gd name="GluePoint1X" fmla="*/ 38 w 633"/>
                <a:gd name="GluePoint1Y" fmla="*/ 144 h 634"/>
                <a:gd name="GluePoint2X" fmla="*/ 0 w 633"/>
                <a:gd name="GluePoint2Y" fmla="*/ 287 h 634"/>
                <a:gd name="GluePoint3X" fmla="*/ 286 w 633"/>
                <a:gd name="GluePoint3Y" fmla="*/ 574 h 634"/>
                <a:gd name="GluePoint4X" fmla="*/ 573 w 633"/>
                <a:gd name="GluePoint4Y" fmla="*/ 287 h 634"/>
                <a:gd name="GluePoint5X" fmla="*/ 286 w 633"/>
                <a:gd name="GluePoint5Y" fmla="*/ 1 h 634"/>
                <a:gd name="GluePoint6X" fmla="*/ 286 w 633"/>
                <a:gd name="GluePoint6Y" fmla="*/ 1 h 634"/>
                <a:gd name="GluePoint7X" fmla="*/ 286 w 633"/>
                <a:gd name="GluePoint7Y" fmla="*/ 287 h 634"/>
                <a:gd name="GluePoint8X" fmla="*/ 38 w 633"/>
                <a:gd name="GluePoint8Y" fmla="*/ 144 h 6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633" h="634">
                  <a:moveTo>
                    <a:pt x="42" y="159"/>
                  </a:moveTo>
                  <a:cubicBezTo>
                    <a:pt x="14" y="207"/>
                    <a:pt x="0" y="261"/>
                    <a:pt x="0" y="317"/>
                  </a:cubicBezTo>
                  <a:cubicBezTo>
                    <a:pt x="0" y="492"/>
                    <a:pt x="141" y="634"/>
                    <a:pt x="316" y="634"/>
                  </a:cubicBezTo>
                  <a:cubicBezTo>
                    <a:pt x="491" y="634"/>
                    <a:pt x="633" y="492"/>
                    <a:pt x="633" y="317"/>
                  </a:cubicBezTo>
                  <a:cubicBezTo>
                    <a:pt x="633" y="142"/>
                    <a:pt x="491" y="1"/>
                    <a:pt x="316" y="1"/>
                  </a:cubicBezTo>
                  <a:cubicBezTo>
                    <a:pt x="316" y="0"/>
                    <a:pt x="316" y="1"/>
                    <a:pt x="316" y="1"/>
                  </a:cubicBezTo>
                  <a:lnTo>
                    <a:pt x="316" y="317"/>
                  </a:lnTo>
                  <a:lnTo>
                    <a:pt x="42" y="159"/>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26" name="Freeform 1112"/>
            <p:cNvSpPr/>
            <p:nvPr/>
          </p:nvSpPr>
          <p:spPr>
            <a:xfrm>
              <a:off x="4552560" y="3591720"/>
              <a:ext cx="394560" cy="423720"/>
            </a:xfrm>
            <a:custGeom>
              <a:avLst/>
              <a:gdLst>
                <a:gd name="textAreaLeft" fmla="*/ 0 w 394560"/>
                <a:gd name="textAreaRight" fmla="*/ 394920 w 394560"/>
                <a:gd name="textAreaTop" fmla="*/ 0 h 423720"/>
                <a:gd name="textAreaBottom" fmla="*/ 424080 h 423720"/>
                <a:gd name="GluePoint1X" fmla="*/ 249 w 274"/>
                <a:gd name="GluePoint1Y" fmla="*/ 0 h 316"/>
                <a:gd name="GluePoint2X" fmla="*/ 0 w 274"/>
                <a:gd name="GluePoint2Y" fmla="*/ 144 h 316"/>
                <a:gd name="GluePoint3X" fmla="*/ 249 w 274"/>
                <a:gd name="GluePoint3Y" fmla="*/ 287 h 316"/>
                <a:gd name="GluePoint4X" fmla="*/ 249 w 274"/>
                <a:gd name="GluePoint4Y" fmla="*/ 0 h 31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74" h="316">
                  <a:moveTo>
                    <a:pt x="274" y="0"/>
                  </a:moveTo>
                  <a:cubicBezTo>
                    <a:pt x="161" y="0"/>
                    <a:pt x="56" y="60"/>
                    <a:pt x="0" y="158"/>
                  </a:cubicBezTo>
                  <a:lnTo>
                    <a:pt x="274" y="316"/>
                  </a:lnTo>
                  <a:lnTo>
                    <a:pt x="274" y="0"/>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27" name="Rectangle 1113"/>
            <p:cNvSpPr/>
            <p:nvPr/>
          </p:nvSpPr>
          <p:spPr>
            <a:xfrm>
              <a:off x="5185080" y="442008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83%</a:t>
              </a:r>
              <a:endParaRPr b="0" i="1" lang="en-IN" sz="800" strike="noStrike" u="none">
                <a:solidFill>
                  <a:srgbClr val="000000"/>
                </a:solidFill>
                <a:effectLst/>
                <a:uFillTx/>
                <a:latin typeface="Arial"/>
              </a:endParaRPr>
            </a:p>
          </p:txBody>
        </p:sp>
        <p:sp>
          <p:nvSpPr>
            <p:cNvPr id="128" name="Rectangle 1114"/>
            <p:cNvSpPr/>
            <p:nvPr/>
          </p:nvSpPr>
          <p:spPr>
            <a:xfrm>
              <a:off x="4494960" y="35042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17%</a:t>
              </a:r>
              <a:endParaRPr b="0" i="1" lang="en-IN" sz="8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68F140-26A5-48F1-B9C3-02581BF6ACC5}"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130" name="PlaceHolder 1"/>
          <p:cNvSpPr>
            <a:spLocks noGrp="1"/>
          </p:cNvSpPr>
          <p:nvPr>
            <p:ph type="title"/>
          </p:nvPr>
        </p:nvSpPr>
        <p:spPr>
          <a:xfrm>
            <a:off x="457200" y="762120"/>
            <a:ext cx="8229600" cy="23328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Respondent Profile (continued)</a:t>
            </a:r>
            <a:endParaRPr b="0" lang="en-IN" sz="2000" strike="noStrike" u="none">
              <a:solidFill>
                <a:srgbClr val="333399"/>
              </a:solidFill>
              <a:effectLst/>
              <a:uFillTx/>
              <a:latin typeface="Arial"/>
            </a:endParaRPr>
          </a:p>
        </p:txBody>
      </p:sp>
      <p:grpSp>
        <p:nvGrpSpPr>
          <p:cNvPr id="131" name="Group 1270"/>
          <p:cNvGrpSpPr/>
          <p:nvPr/>
        </p:nvGrpSpPr>
        <p:grpSpPr>
          <a:xfrm>
            <a:off x="1447920" y="990720"/>
            <a:ext cx="6413400" cy="5773320"/>
            <a:chOff x="1447920" y="990720"/>
            <a:chExt cx="6413400" cy="5773320"/>
          </a:xfrm>
        </p:grpSpPr>
        <p:sp>
          <p:nvSpPr>
            <p:cNvPr id="132" name="Rectangle 1271"/>
            <p:cNvSpPr/>
            <p:nvPr/>
          </p:nvSpPr>
          <p:spPr>
            <a:xfrm>
              <a:off x="1476360" y="990720"/>
              <a:ext cx="638496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Figure 1b. Comparison of Survey Respondents with NASA Ames Population (continued)</a:t>
              </a:r>
              <a:endParaRPr b="0" i="1" lang="en-IN" sz="1200" strike="noStrike" u="none">
                <a:solidFill>
                  <a:srgbClr val="000000"/>
                </a:solidFill>
                <a:effectLst/>
                <a:uFillTx/>
                <a:latin typeface="Arial"/>
              </a:endParaRPr>
            </a:p>
          </p:txBody>
        </p:sp>
        <p:sp>
          <p:nvSpPr>
            <p:cNvPr id="133" name="Rectangle 1272"/>
            <p:cNvSpPr/>
            <p:nvPr/>
          </p:nvSpPr>
          <p:spPr>
            <a:xfrm>
              <a:off x="4482360" y="1351440"/>
              <a:ext cx="15328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   NASA Ames Population</a:t>
              </a:r>
              <a:endParaRPr b="0" i="1" lang="en-IN" sz="1000" strike="noStrike" u="none">
                <a:solidFill>
                  <a:srgbClr val="000000"/>
                </a:solidFill>
                <a:effectLst/>
                <a:uFillTx/>
                <a:latin typeface="Arial"/>
              </a:endParaRPr>
            </a:p>
          </p:txBody>
        </p:sp>
        <p:sp>
          <p:nvSpPr>
            <p:cNvPr id="134" name="Rectangle 1273"/>
            <p:cNvSpPr/>
            <p:nvPr/>
          </p:nvSpPr>
          <p:spPr>
            <a:xfrm>
              <a:off x="4481640" y="1497960"/>
              <a:ext cx="116064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       Characteristics</a:t>
              </a:r>
              <a:endParaRPr b="0" i="1" lang="en-IN" sz="1000" strike="noStrike" u="none">
                <a:solidFill>
                  <a:srgbClr val="000000"/>
                </a:solidFill>
                <a:effectLst/>
                <a:uFillTx/>
                <a:latin typeface="Arial"/>
              </a:endParaRPr>
            </a:p>
          </p:txBody>
        </p:sp>
        <p:sp>
          <p:nvSpPr>
            <p:cNvPr id="135" name="Rectangle 1274"/>
            <p:cNvSpPr/>
            <p:nvPr/>
          </p:nvSpPr>
          <p:spPr>
            <a:xfrm>
              <a:off x="1476000" y="2374920"/>
              <a:ext cx="28872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Age</a:t>
              </a:r>
              <a:endParaRPr b="0" i="1" lang="en-IN" sz="1200" strike="noStrike" u="none">
                <a:solidFill>
                  <a:srgbClr val="000000"/>
                </a:solidFill>
                <a:effectLst/>
                <a:uFillTx/>
                <a:latin typeface="Arial"/>
              </a:endParaRPr>
            </a:p>
          </p:txBody>
        </p:sp>
        <p:sp>
          <p:nvSpPr>
            <p:cNvPr id="136" name="Rectangle 1275"/>
            <p:cNvSpPr/>
            <p:nvPr/>
          </p:nvSpPr>
          <p:spPr>
            <a:xfrm>
              <a:off x="1476360" y="4128120"/>
              <a:ext cx="1050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Race/Ethnicity</a:t>
              </a:r>
              <a:endParaRPr b="0" i="1" lang="en-IN" sz="1200" strike="noStrike" u="none">
                <a:solidFill>
                  <a:srgbClr val="000000"/>
                </a:solidFill>
                <a:effectLst/>
                <a:uFillTx/>
                <a:latin typeface="Arial"/>
              </a:endParaRPr>
            </a:p>
          </p:txBody>
        </p:sp>
        <p:sp>
          <p:nvSpPr>
            <p:cNvPr id="137" name="Rectangle 1276"/>
            <p:cNvSpPr/>
            <p:nvPr/>
          </p:nvSpPr>
          <p:spPr>
            <a:xfrm>
              <a:off x="1476360" y="5730840"/>
              <a:ext cx="80496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Non-White </a:t>
              </a:r>
              <a:endParaRPr b="0" i="1" lang="en-IN" sz="1200" strike="noStrike" u="none">
                <a:solidFill>
                  <a:srgbClr val="000000"/>
                </a:solidFill>
                <a:effectLst/>
                <a:uFillTx/>
                <a:latin typeface="Arial"/>
              </a:endParaRPr>
            </a:p>
          </p:txBody>
        </p:sp>
        <p:sp>
          <p:nvSpPr>
            <p:cNvPr id="138" name="Rectangle 1277"/>
            <p:cNvSpPr/>
            <p:nvPr/>
          </p:nvSpPr>
          <p:spPr>
            <a:xfrm>
              <a:off x="1475640" y="5924880"/>
              <a:ext cx="66132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Breakout</a:t>
              </a:r>
              <a:endParaRPr b="0" i="1" lang="en-IN" sz="1200" strike="noStrike" u="none">
                <a:solidFill>
                  <a:srgbClr val="000000"/>
                </a:solidFill>
                <a:effectLst/>
                <a:uFillTx/>
                <a:latin typeface="Arial"/>
              </a:endParaRPr>
            </a:p>
          </p:txBody>
        </p:sp>
        <p:sp>
          <p:nvSpPr>
            <p:cNvPr id="139" name="Rectangle 1278"/>
            <p:cNvSpPr/>
            <p:nvPr/>
          </p:nvSpPr>
          <p:spPr>
            <a:xfrm>
              <a:off x="2770920" y="1351440"/>
              <a:ext cx="122364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Survey Respondent </a:t>
              </a:r>
              <a:endParaRPr b="0" i="1" lang="en-IN" sz="1000" strike="noStrike" u="none">
                <a:solidFill>
                  <a:srgbClr val="000000"/>
                </a:solidFill>
                <a:effectLst/>
                <a:uFillTx/>
                <a:latin typeface="Arial"/>
              </a:endParaRPr>
            </a:p>
          </p:txBody>
        </p:sp>
        <p:sp>
          <p:nvSpPr>
            <p:cNvPr id="140" name="Rectangle 1279"/>
            <p:cNvSpPr/>
            <p:nvPr/>
          </p:nvSpPr>
          <p:spPr>
            <a:xfrm>
              <a:off x="2914560" y="1497960"/>
              <a:ext cx="91476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000000"/>
                  </a:solidFill>
                  <a:effectLst/>
                  <a:uFillTx/>
                  <a:latin typeface="Arial"/>
                </a:rPr>
                <a:t>Characteristics</a:t>
              </a:r>
              <a:endParaRPr b="0" i="1" lang="en-IN" sz="1000" strike="noStrike" u="none">
                <a:solidFill>
                  <a:srgbClr val="000000"/>
                </a:solidFill>
                <a:effectLst/>
                <a:uFillTx/>
                <a:latin typeface="Arial"/>
              </a:endParaRPr>
            </a:p>
          </p:txBody>
        </p:sp>
        <p:sp>
          <p:nvSpPr>
            <p:cNvPr id="141" name="Line 1280"/>
            <p:cNvSpPr/>
            <p:nvPr/>
          </p:nvSpPr>
          <p:spPr>
            <a:xfrm>
              <a:off x="1447920" y="1197360"/>
              <a:ext cx="1080" cy="556668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42" name="Rectangle 1281"/>
            <p:cNvSpPr/>
            <p:nvPr/>
          </p:nvSpPr>
          <p:spPr>
            <a:xfrm>
              <a:off x="1447920" y="1197360"/>
              <a:ext cx="11160" cy="5566680"/>
            </a:xfrm>
            <a:prstGeom prst="rect">
              <a:avLst/>
            </a:prstGeom>
            <a:solidFill>
              <a:srgbClr val="000000"/>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43" name="Line 1282"/>
            <p:cNvSpPr/>
            <p:nvPr/>
          </p:nvSpPr>
          <p:spPr>
            <a:xfrm>
              <a:off x="7456320" y="1208880"/>
              <a:ext cx="1080" cy="555516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44" name="Rectangle 1283"/>
            <p:cNvSpPr/>
            <p:nvPr/>
          </p:nvSpPr>
          <p:spPr>
            <a:xfrm>
              <a:off x="7456320" y="1208880"/>
              <a:ext cx="11160" cy="5555160"/>
            </a:xfrm>
            <a:prstGeom prst="rect">
              <a:avLst/>
            </a:prstGeom>
            <a:solidFill>
              <a:srgbClr val="000000"/>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45" name="Line 1284"/>
            <p:cNvSpPr/>
            <p:nvPr/>
          </p:nvSpPr>
          <p:spPr>
            <a:xfrm>
              <a:off x="1459080" y="1197360"/>
              <a:ext cx="6008400" cy="1080"/>
            </a:xfrm>
            <a:prstGeom prst="line">
              <a:avLst/>
            </a:prstGeom>
            <a:ln w="0">
              <a:solidFill>
                <a:srgbClr val="000000"/>
              </a:solidFill>
            </a:ln>
          </p:spPr>
          <p:style>
            <a:lnRef idx="0"/>
            <a:fillRef idx="0"/>
            <a:effectRef idx="0"/>
            <a:fontRef idx="minor"/>
          </p:style>
          <p:txBody>
            <a:bodyPr lIns="90000" rIns="90000" tIns="-45720" bIns="-45720" anchor="t">
              <a:noAutofit/>
            </a:bodyPr>
            <a:p>
              <a:endParaRPr b="0" i="1" lang="en-IN" sz="1800" strike="noStrike" u="none">
                <a:solidFill>
                  <a:srgbClr val="000000"/>
                </a:solidFill>
                <a:effectLst/>
                <a:uFillTx/>
                <a:latin typeface="Arial"/>
              </a:endParaRPr>
            </a:p>
          </p:txBody>
        </p:sp>
        <p:sp>
          <p:nvSpPr>
            <p:cNvPr id="146" name="Rectangle 1285"/>
            <p:cNvSpPr/>
            <p:nvPr/>
          </p:nvSpPr>
          <p:spPr>
            <a:xfrm>
              <a:off x="1459080" y="1197360"/>
              <a:ext cx="6008400" cy="11160"/>
            </a:xfrm>
            <a:prstGeom prst="rect">
              <a:avLst/>
            </a:prstGeom>
            <a:solidFill>
              <a:srgbClr val="000000"/>
            </a:solidFill>
            <a:ln w="0">
              <a:noFill/>
            </a:ln>
          </p:spPr>
          <p:style>
            <a:lnRef idx="0"/>
            <a:fillRef idx="0"/>
            <a:effectRef idx="0"/>
            <a:fontRef idx="minor"/>
          </p:style>
          <p:txBody>
            <a:bodyPr lIns="90000" rIns="90000" tIns="-35640" bIns="-356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47" name="Line 1286"/>
            <p:cNvSpPr/>
            <p:nvPr/>
          </p:nvSpPr>
          <p:spPr>
            <a:xfrm>
              <a:off x="1459080" y="6752880"/>
              <a:ext cx="6008400" cy="1080"/>
            </a:xfrm>
            <a:prstGeom prst="line">
              <a:avLst/>
            </a:prstGeom>
            <a:ln w="0">
              <a:solidFill>
                <a:srgbClr val="000000"/>
              </a:solidFill>
            </a:ln>
          </p:spPr>
          <p:style>
            <a:lnRef idx="0"/>
            <a:fillRef idx="0"/>
            <a:effectRef idx="0"/>
            <a:fontRef idx="minor"/>
          </p:style>
          <p:txBody>
            <a:bodyPr lIns="90000" rIns="90000" tIns="-45720" bIns="-45720" anchor="t">
              <a:noAutofit/>
            </a:bodyPr>
            <a:p>
              <a:endParaRPr b="0" i="1" lang="en-IN" sz="1800" strike="noStrike" u="none">
                <a:solidFill>
                  <a:srgbClr val="000000"/>
                </a:solidFill>
                <a:effectLst/>
                <a:uFillTx/>
                <a:latin typeface="Arial"/>
              </a:endParaRPr>
            </a:p>
          </p:txBody>
        </p:sp>
        <p:sp>
          <p:nvSpPr>
            <p:cNvPr id="148" name="Rectangle 1287"/>
            <p:cNvSpPr/>
            <p:nvPr/>
          </p:nvSpPr>
          <p:spPr>
            <a:xfrm>
              <a:off x="1459080" y="6752880"/>
              <a:ext cx="6008400" cy="11160"/>
            </a:xfrm>
            <a:prstGeom prst="rect">
              <a:avLst/>
            </a:prstGeom>
            <a:solidFill>
              <a:srgbClr val="000000"/>
            </a:solidFill>
            <a:ln w="0">
              <a:noFill/>
            </a:ln>
          </p:spPr>
          <p:style>
            <a:lnRef idx="0"/>
            <a:fillRef idx="0"/>
            <a:effectRef idx="0"/>
            <a:fontRef idx="minor"/>
          </p:style>
          <p:txBody>
            <a:bodyPr lIns="90000" rIns="90000" tIns="-35640" bIns="-356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49" name="Line 1288"/>
            <p:cNvSpPr/>
            <p:nvPr/>
          </p:nvSpPr>
          <p:spPr>
            <a:xfrm flipV="1">
              <a:off x="6609600" y="5379480"/>
              <a:ext cx="1440" cy="5317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50" name="Line 1289"/>
            <p:cNvSpPr/>
            <p:nvPr/>
          </p:nvSpPr>
          <p:spPr>
            <a:xfrm flipV="1">
              <a:off x="6609600" y="5379480"/>
              <a:ext cx="1440" cy="5317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51" name="Line 1290"/>
            <p:cNvSpPr/>
            <p:nvPr/>
          </p:nvSpPr>
          <p:spPr>
            <a:xfrm flipV="1">
              <a:off x="6609600" y="5379480"/>
              <a:ext cx="1440" cy="5317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52" name="Line 1291"/>
            <p:cNvSpPr/>
            <p:nvPr/>
          </p:nvSpPr>
          <p:spPr>
            <a:xfrm flipV="1">
              <a:off x="6609600" y="5379480"/>
              <a:ext cx="1440" cy="5317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53" name="Rectangle 1292"/>
            <p:cNvSpPr/>
            <p:nvPr/>
          </p:nvSpPr>
          <p:spPr>
            <a:xfrm>
              <a:off x="6247440" y="5334480"/>
              <a:ext cx="861120" cy="946440"/>
            </a:xfrm>
            <a:prstGeom prst="rect">
              <a:avLst/>
            </a:prstGeom>
            <a:solidFill>
              <a:srgbClr val="ffff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54" name="Rectangle 1293"/>
            <p:cNvSpPr/>
            <p:nvPr/>
          </p:nvSpPr>
          <p:spPr>
            <a:xfrm>
              <a:off x="6296040" y="5366880"/>
              <a:ext cx="56880" cy="56880"/>
            </a:xfrm>
            <a:prstGeom prst="rect">
              <a:avLst/>
            </a:prstGeom>
            <a:solidFill>
              <a:srgbClr val="99ccff"/>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55" name="Rectangle 1294"/>
            <p:cNvSpPr/>
            <p:nvPr/>
          </p:nvSpPr>
          <p:spPr>
            <a:xfrm>
              <a:off x="6374160" y="5344560"/>
              <a:ext cx="25056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Black</a:t>
              </a:r>
              <a:endParaRPr b="0" i="1" lang="en-IN" sz="800" strike="noStrike" u="none">
                <a:solidFill>
                  <a:srgbClr val="000000"/>
                </a:solidFill>
                <a:effectLst/>
                <a:uFillTx/>
                <a:latin typeface="Arial"/>
              </a:endParaRPr>
            </a:p>
          </p:txBody>
        </p:sp>
        <p:sp>
          <p:nvSpPr>
            <p:cNvPr id="156" name="Rectangle 1295"/>
            <p:cNvSpPr/>
            <p:nvPr/>
          </p:nvSpPr>
          <p:spPr>
            <a:xfrm>
              <a:off x="6296040" y="5602320"/>
              <a:ext cx="56880" cy="56880"/>
            </a:xfrm>
            <a:prstGeom prst="rect">
              <a:avLst/>
            </a:prstGeom>
            <a:solidFill>
              <a:srgbClr val="993366"/>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57" name="Rectangle 1296"/>
            <p:cNvSpPr/>
            <p:nvPr/>
          </p:nvSpPr>
          <p:spPr>
            <a:xfrm>
              <a:off x="6373440" y="5579280"/>
              <a:ext cx="3924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Hispanic</a:t>
              </a:r>
              <a:endParaRPr b="0" i="1" lang="en-IN" sz="800" strike="noStrike" u="none">
                <a:solidFill>
                  <a:srgbClr val="000000"/>
                </a:solidFill>
                <a:effectLst/>
                <a:uFillTx/>
                <a:latin typeface="Arial"/>
              </a:endParaRPr>
            </a:p>
          </p:txBody>
        </p:sp>
        <p:sp>
          <p:nvSpPr>
            <p:cNvPr id="158" name="Rectangle 1297"/>
            <p:cNvSpPr/>
            <p:nvPr/>
          </p:nvSpPr>
          <p:spPr>
            <a:xfrm>
              <a:off x="6296040" y="5840280"/>
              <a:ext cx="56880" cy="56880"/>
            </a:xfrm>
            <a:prstGeom prst="rect">
              <a:avLst/>
            </a:prstGeom>
            <a:solidFill>
              <a:srgbClr val="000080"/>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59" name="Rectangle 1298"/>
            <p:cNvSpPr/>
            <p:nvPr/>
          </p:nvSpPr>
          <p:spPr>
            <a:xfrm>
              <a:off x="6373080" y="5817600"/>
              <a:ext cx="58536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Asian/Pacific</a:t>
              </a:r>
              <a:endParaRPr b="0" i="1" lang="en-IN" sz="800" strike="noStrike" u="none">
                <a:solidFill>
                  <a:srgbClr val="000000"/>
                </a:solidFill>
                <a:effectLst/>
                <a:uFillTx/>
                <a:latin typeface="Arial"/>
              </a:endParaRPr>
            </a:p>
          </p:txBody>
        </p:sp>
        <p:sp>
          <p:nvSpPr>
            <p:cNvPr id="160" name="Rectangle 1299"/>
            <p:cNvSpPr/>
            <p:nvPr/>
          </p:nvSpPr>
          <p:spPr>
            <a:xfrm>
              <a:off x="6374520" y="5927400"/>
              <a:ext cx="36396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Islander</a:t>
              </a:r>
              <a:endParaRPr b="0" i="1" lang="en-IN" sz="800" strike="noStrike" u="none">
                <a:solidFill>
                  <a:srgbClr val="000000"/>
                </a:solidFill>
                <a:effectLst/>
                <a:uFillTx/>
                <a:latin typeface="Arial"/>
              </a:endParaRPr>
            </a:p>
          </p:txBody>
        </p:sp>
        <p:sp>
          <p:nvSpPr>
            <p:cNvPr id="161" name="Rectangle 1300"/>
            <p:cNvSpPr/>
            <p:nvPr/>
          </p:nvSpPr>
          <p:spPr>
            <a:xfrm>
              <a:off x="6296040" y="6075720"/>
              <a:ext cx="56880" cy="56880"/>
            </a:xfrm>
            <a:prstGeom prst="rect">
              <a:avLst/>
            </a:prstGeom>
            <a:solidFill>
              <a:srgbClr val="ffffcc"/>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62" name="Rectangle 1301"/>
            <p:cNvSpPr/>
            <p:nvPr/>
          </p:nvSpPr>
          <p:spPr>
            <a:xfrm>
              <a:off x="6373440" y="6052680"/>
              <a:ext cx="74988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Native American</a:t>
              </a:r>
              <a:endParaRPr b="0" i="1" lang="en-IN" sz="800" strike="noStrike" u="none">
                <a:solidFill>
                  <a:srgbClr val="000000"/>
                </a:solidFill>
                <a:effectLst/>
                <a:uFillTx/>
                <a:latin typeface="Arial"/>
              </a:endParaRPr>
            </a:p>
          </p:txBody>
        </p:sp>
        <p:sp>
          <p:nvSpPr>
            <p:cNvPr id="163" name="Line 1302"/>
            <p:cNvSpPr/>
            <p:nvPr/>
          </p:nvSpPr>
          <p:spPr>
            <a:xfrm flipV="1">
              <a:off x="6437160" y="3807360"/>
              <a:ext cx="1080" cy="59004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64" name="Line 1303"/>
            <p:cNvSpPr/>
            <p:nvPr/>
          </p:nvSpPr>
          <p:spPr>
            <a:xfrm flipV="1">
              <a:off x="6437160" y="3807360"/>
              <a:ext cx="1080" cy="59004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65" name="Line 1304"/>
            <p:cNvSpPr/>
            <p:nvPr/>
          </p:nvSpPr>
          <p:spPr>
            <a:xfrm flipV="1">
              <a:off x="6437160" y="3807360"/>
              <a:ext cx="1080" cy="59004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66" name="Line 1305"/>
            <p:cNvSpPr/>
            <p:nvPr/>
          </p:nvSpPr>
          <p:spPr>
            <a:xfrm flipV="1">
              <a:off x="6437160" y="3807360"/>
              <a:ext cx="1080" cy="59004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67" name="Rectangle 1306"/>
            <p:cNvSpPr/>
            <p:nvPr/>
          </p:nvSpPr>
          <p:spPr>
            <a:xfrm>
              <a:off x="6239160" y="3811680"/>
              <a:ext cx="654120" cy="595800"/>
            </a:xfrm>
            <a:prstGeom prst="rect">
              <a:avLst/>
            </a:prstGeom>
            <a:solidFill>
              <a:srgbClr val="ffff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68" name="Rectangle 1307"/>
            <p:cNvSpPr/>
            <p:nvPr/>
          </p:nvSpPr>
          <p:spPr>
            <a:xfrm>
              <a:off x="6273360" y="3857400"/>
              <a:ext cx="56880" cy="55440"/>
            </a:xfrm>
            <a:prstGeom prst="rect">
              <a:avLst/>
            </a:prstGeom>
            <a:solidFill>
              <a:srgbClr val="99ccff"/>
            </a:solidFill>
            <a:ln w="0">
              <a:solidFill>
                <a:srgbClr val="000000"/>
              </a:solidFill>
            </a:ln>
          </p:spPr>
          <p:style>
            <a:lnRef idx="0"/>
            <a:fillRef idx="0"/>
            <a:effectRef idx="0"/>
            <a:fontRef idx="minor"/>
          </p:style>
          <p:txBody>
            <a:bodyPr lIns="90000" rIns="90000" tIns="8640" bIns="86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69" name="Rectangle 1308"/>
            <p:cNvSpPr/>
            <p:nvPr/>
          </p:nvSpPr>
          <p:spPr>
            <a:xfrm>
              <a:off x="6352200" y="3834720"/>
              <a:ext cx="4831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Non-White</a:t>
              </a:r>
              <a:endParaRPr b="0" i="1" lang="en-IN" sz="800" strike="noStrike" u="none">
                <a:solidFill>
                  <a:srgbClr val="000000"/>
                </a:solidFill>
                <a:effectLst/>
                <a:uFillTx/>
                <a:latin typeface="Arial"/>
              </a:endParaRPr>
            </a:p>
          </p:txBody>
        </p:sp>
        <p:sp>
          <p:nvSpPr>
            <p:cNvPr id="170" name="Rectangle 1309"/>
            <p:cNvSpPr/>
            <p:nvPr/>
          </p:nvSpPr>
          <p:spPr>
            <a:xfrm>
              <a:off x="6273360" y="4005720"/>
              <a:ext cx="56880" cy="56880"/>
            </a:xfrm>
            <a:prstGeom prst="rect">
              <a:avLst/>
            </a:prstGeom>
            <a:solidFill>
              <a:srgbClr val="993366"/>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71" name="Rectangle 1310"/>
            <p:cNvSpPr/>
            <p:nvPr/>
          </p:nvSpPr>
          <p:spPr>
            <a:xfrm>
              <a:off x="6354000" y="3982680"/>
              <a:ext cx="2617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White</a:t>
              </a:r>
              <a:endParaRPr b="0" i="1" lang="en-IN" sz="800" strike="noStrike" u="none">
                <a:solidFill>
                  <a:srgbClr val="000000"/>
                </a:solidFill>
                <a:effectLst/>
                <a:uFillTx/>
                <a:latin typeface="Arial"/>
              </a:endParaRPr>
            </a:p>
          </p:txBody>
        </p:sp>
        <p:sp>
          <p:nvSpPr>
            <p:cNvPr id="172" name="Rectangle 1311"/>
            <p:cNvSpPr/>
            <p:nvPr/>
          </p:nvSpPr>
          <p:spPr>
            <a:xfrm>
              <a:off x="6273360" y="4155480"/>
              <a:ext cx="56880" cy="56880"/>
            </a:xfrm>
            <a:prstGeom prst="rect">
              <a:avLst/>
            </a:prstGeom>
            <a:solidFill>
              <a:srgbClr val="000080"/>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73" name="Rectangle 1312"/>
            <p:cNvSpPr/>
            <p:nvPr/>
          </p:nvSpPr>
          <p:spPr>
            <a:xfrm>
              <a:off x="6352920" y="4132440"/>
              <a:ext cx="46044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Multiracial</a:t>
              </a:r>
              <a:endParaRPr b="0" i="1" lang="en-IN" sz="800" strike="noStrike" u="none">
                <a:solidFill>
                  <a:srgbClr val="000000"/>
                </a:solidFill>
                <a:effectLst/>
                <a:uFillTx/>
                <a:latin typeface="Arial"/>
              </a:endParaRPr>
            </a:p>
          </p:txBody>
        </p:sp>
        <p:sp>
          <p:nvSpPr>
            <p:cNvPr id="174" name="Rectangle 1313"/>
            <p:cNvSpPr/>
            <p:nvPr/>
          </p:nvSpPr>
          <p:spPr>
            <a:xfrm>
              <a:off x="6273360" y="4303800"/>
              <a:ext cx="56880" cy="56880"/>
            </a:xfrm>
            <a:prstGeom prst="rect">
              <a:avLst/>
            </a:prstGeom>
            <a:solidFill>
              <a:srgbClr val="ffffcc"/>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75" name="Rectangle 1314"/>
            <p:cNvSpPr/>
            <p:nvPr/>
          </p:nvSpPr>
          <p:spPr>
            <a:xfrm>
              <a:off x="6352200" y="4280760"/>
              <a:ext cx="53424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Unspecified</a:t>
              </a:r>
              <a:endParaRPr b="0" i="1" lang="en-IN" sz="800" strike="noStrike" u="none">
                <a:solidFill>
                  <a:srgbClr val="000000"/>
                </a:solidFill>
                <a:effectLst/>
                <a:uFillTx/>
                <a:latin typeface="Arial"/>
              </a:endParaRPr>
            </a:p>
          </p:txBody>
        </p:sp>
        <p:sp>
          <p:nvSpPr>
            <p:cNvPr id="176" name="Rectangle 1315"/>
            <p:cNvSpPr/>
            <p:nvPr/>
          </p:nvSpPr>
          <p:spPr>
            <a:xfrm>
              <a:off x="4368600" y="1803240"/>
              <a:ext cx="2771280" cy="138816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77" name="Line 1316"/>
            <p:cNvSpPr/>
            <p:nvPr/>
          </p:nvSpPr>
          <p:spPr>
            <a:xfrm flipV="1">
              <a:off x="6528240" y="2188080"/>
              <a:ext cx="1080" cy="35460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78" name="Line 1317"/>
            <p:cNvSpPr/>
            <p:nvPr/>
          </p:nvSpPr>
          <p:spPr>
            <a:xfrm flipV="1">
              <a:off x="6528240" y="2188080"/>
              <a:ext cx="1080" cy="35460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79" name="Line 1318"/>
            <p:cNvSpPr/>
            <p:nvPr/>
          </p:nvSpPr>
          <p:spPr>
            <a:xfrm flipV="1">
              <a:off x="6528240" y="2188080"/>
              <a:ext cx="1080" cy="35460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80" name="Line 1319"/>
            <p:cNvSpPr/>
            <p:nvPr/>
          </p:nvSpPr>
          <p:spPr>
            <a:xfrm flipV="1">
              <a:off x="6528240" y="2188080"/>
              <a:ext cx="1080" cy="35460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181" name="Rectangle 1320"/>
            <p:cNvSpPr/>
            <p:nvPr/>
          </p:nvSpPr>
          <p:spPr>
            <a:xfrm>
              <a:off x="6179040" y="2159640"/>
              <a:ext cx="874800" cy="595800"/>
            </a:xfrm>
            <a:prstGeom prst="rect">
              <a:avLst/>
            </a:prstGeom>
            <a:solidFill>
              <a:srgbClr val="ffff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82" name="Rectangle 1321"/>
            <p:cNvSpPr/>
            <p:nvPr/>
          </p:nvSpPr>
          <p:spPr>
            <a:xfrm>
              <a:off x="6213240" y="2205360"/>
              <a:ext cx="56880" cy="55440"/>
            </a:xfrm>
            <a:prstGeom prst="rect">
              <a:avLst/>
            </a:prstGeom>
            <a:solidFill>
              <a:srgbClr val="99ccff"/>
            </a:solidFill>
            <a:ln w="0">
              <a:solidFill>
                <a:srgbClr val="000000"/>
              </a:solidFill>
            </a:ln>
          </p:spPr>
          <p:style>
            <a:lnRef idx="0"/>
            <a:fillRef idx="0"/>
            <a:effectRef idx="0"/>
            <a:fontRef idx="minor"/>
          </p:style>
          <p:txBody>
            <a:bodyPr lIns="90000" rIns="90000" tIns="8640" bIns="86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83" name="Rectangle 1322"/>
            <p:cNvSpPr/>
            <p:nvPr/>
          </p:nvSpPr>
          <p:spPr>
            <a:xfrm>
              <a:off x="6292440" y="2182320"/>
              <a:ext cx="72144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29 years or less</a:t>
              </a:r>
              <a:endParaRPr b="0" i="1" lang="en-IN" sz="800" strike="noStrike" u="none">
                <a:solidFill>
                  <a:srgbClr val="000000"/>
                </a:solidFill>
                <a:effectLst/>
                <a:uFillTx/>
                <a:latin typeface="Arial"/>
              </a:endParaRPr>
            </a:p>
          </p:txBody>
        </p:sp>
        <p:sp>
          <p:nvSpPr>
            <p:cNvPr id="184" name="Rectangle 1323"/>
            <p:cNvSpPr/>
            <p:nvPr/>
          </p:nvSpPr>
          <p:spPr>
            <a:xfrm>
              <a:off x="6213240" y="2353320"/>
              <a:ext cx="56880" cy="56880"/>
            </a:xfrm>
            <a:prstGeom prst="rect">
              <a:avLst/>
            </a:prstGeom>
            <a:solidFill>
              <a:srgbClr val="993366"/>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85" name="Rectangle 1324"/>
            <p:cNvSpPr/>
            <p:nvPr/>
          </p:nvSpPr>
          <p:spPr>
            <a:xfrm>
              <a:off x="6292800" y="2331000"/>
              <a:ext cx="64764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30 to 39 years</a:t>
              </a:r>
              <a:endParaRPr b="0" i="1" lang="en-IN" sz="800" strike="noStrike" u="none">
                <a:solidFill>
                  <a:srgbClr val="000000"/>
                </a:solidFill>
                <a:effectLst/>
                <a:uFillTx/>
                <a:latin typeface="Arial"/>
              </a:endParaRPr>
            </a:p>
          </p:txBody>
        </p:sp>
        <p:sp>
          <p:nvSpPr>
            <p:cNvPr id="186" name="Rectangle 1325"/>
            <p:cNvSpPr/>
            <p:nvPr/>
          </p:nvSpPr>
          <p:spPr>
            <a:xfrm>
              <a:off x="6213240" y="2503080"/>
              <a:ext cx="56880" cy="55440"/>
            </a:xfrm>
            <a:prstGeom prst="rect">
              <a:avLst/>
            </a:prstGeom>
            <a:solidFill>
              <a:srgbClr val="000080"/>
            </a:solidFill>
            <a:ln w="0">
              <a:solidFill>
                <a:srgbClr val="000000"/>
              </a:solidFill>
            </a:ln>
          </p:spPr>
          <p:style>
            <a:lnRef idx="0"/>
            <a:fillRef idx="0"/>
            <a:effectRef idx="0"/>
            <a:fontRef idx="minor"/>
          </p:style>
          <p:txBody>
            <a:bodyPr lIns="90000" rIns="90000" tIns="8640" bIns="864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87" name="Rectangle 1326"/>
            <p:cNvSpPr/>
            <p:nvPr/>
          </p:nvSpPr>
          <p:spPr>
            <a:xfrm>
              <a:off x="6292800" y="2480400"/>
              <a:ext cx="64764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40 to 49 years</a:t>
              </a:r>
              <a:endParaRPr b="0" i="1" lang="en-IN" sz="800" strike="noStrike" u="none">
                <a:solidFill>
                  <a:srgbClr val="000000"/>
                </a:solidFill>
                <a:effectLst/>
                <a:uFillTx/>
                <a:latin typeface="Arial"/>
              </a:endParaRPr>
            </a:p>
          </p:txBody>
        </p:sp>
        <p:sp>
          <p:nvSpPr>
            <p:cNvPr id="188" name="Rectangle 1327"/>
            <p:cNvSpPr/>
            <p:nvPr/>
          </p:nvSpPr>
          <p:spPr>
            <a:xfrm>
              <a:off x="6213240" y="2651400"/>
              <a:ext cx="56880" cy="56880"/>
            </a:xfrm>
            <a:prstGeom prst="rect">
              <a:avLst/>
            </a:prstGeom>
            <a:solidFill>
              <a:srgbClr val="ffffcc"/>
            </a:solidFill>
            <a:ln w="0">
              <a:solidFill>
                <a:srgbClr val="000000"/>
              </a:solidFill>
            </a:ln>
          </p:spPr>
          <p:style>
            <a:lnRef idx="0"/>
            <a:fillRef idx="0"/>
            <a:effectRef idx="0"/>
            <a:fontRef idx="minor"/>
          </p:style>
          <p:txBody>
            <a:bodyPr lIns="90000" rIns="90000" tIns="10080" bIns="1008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89" name="Rectangle 1328"/>
            <p:cNvSpPr/>
            <p:nvPr/>
          </p:nvSpPr>
          <p:spPr>
            <a:xfrm>
              <a:off x="6292440" y="2628720"/>
              <a:ext cx="77256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50 years or more</a:t>
              </a:r>
              <a:endParaRPr b="0" i="1" lang="en-IN" sz="800" strike="noStrike" u="none">
                <a:solidFill>
                  <a:srgbClr val="000000"/>
                </a:solidFill>
                <a:effectLst/>
                <a:uFillTx/>
                <a:latin typeface="Arial"/>
              </a:endParaRPr>
            </a:p>
          </p:txBody>
        </p:sp>
        <p:sp>
          <p:nvSpPr>
            <p:cNvPr id="190" name="Rectangle 1329"/>
            <p:cNvSpPr/>
            <p:nvPr/>
          </p:nvSpPr>
          <p:spPr>
            <a:xfrm>
              <a:off x="2223360" y="1681920"/>
              <a:ext cx="2284560" cy="166356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91" name="Freeform 1330"/>
            <p:cNvSpPr/>
            <p:nvPr/>
          </p:nvSpPr>
          <p:spPr>
            <a:xfrm>
              <a:off x="3364920" y="2057040"/>
              <a:ext cx="123480" cy="456120"/>
            </a:xfrm>
            <a:custGeom>
              <a:avLst/>
              <a:gdLst>
                <a:gd name="textAreaLeft" fmla="*/ 0 w 123480"/>
                <a:gd name="textAreaRight" fmla="*/ 123840 w 123480"/>
                <a:gd name="textAreaTop" fmla="*/ 0 h 456120"/>
                <a:gd name="textAreaBottom" fmla="*/ 456480 h 456120"/>
                <a:gd name="GluePoint1X" fmla="*/ 87 w 87"/>
                <a:gd name="GluePoint1Y" fmla="*/ 12 h 321"/>
                <a:gd name="GluePoint2X" fmla="*/ 0 w 87"/>
                <a:gd name="GluePoint2Y" fmla="*/ 0 h 321"/>
                <a:gd name="GluePoint3X" fmla="*/ 0 w 87"/>
                <a:gd name="GluePoint3Y" fmla="*/ 319 h 321"/>
                <a:gd name="GluePoint4X" fmla="*/ 87 w 87"/>
                <a:gd name="GluePoint4Y" fmla="*/ 12 h 32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7" h="321">
                  <a:moveTo>
                    <a:pt x="87" y="12"/>
                  </a:moveTo>
                  <a:cubicBezTo>
                    <a:pt x="59" y="4"/>
                    <a:pt x="29" y="0"/>
                    <a:pt x="0" y="0"/>
                  </a:cubicBezTo>
                  <a:lnTo>
                    <a:pt x="0" y="321"/>
                  </a:lnTo>
                  <a:lnTo>
                    <a:pt x="87" y="12"/>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92" name="Freeform 1331"/>
            <p:cNvSpPr/>
            <p:nvPr/>
          </p:nvSpPr>
          <p:spPr>
            <a:xfrm>
              <a:off x="3364920" y="2074320"/>
              <a:ext cx="376200" cy="438840"/>
            </a:xfrm>
            <a:custGeom>
              <a:avLst/>
              <a:gdLst>
                <a:gd name="textAreaLeft" fmla="*/ 0 w 376200"/>
                <a:gd name="textAreaRight" fmla="*/ 376560 w 376200"/>
                <a:gd name="textAreaTop" fmla="*/ 0 h 438840"/>
                <a:gd name="textAreaBottom" fmla="*/ 439200 h 438840"/>
                <a:gd name="GluePoint1X" fmla="*/ 263 w 265"/>
                <a:gd name="GluePoint1Y" fmla="*/ 129 h 309"/>
                <a:gd name="GluePoint2X" fmla="*/ 87 w 265"/>
                <a:gd name="GluePoint2Y" fmla="*/ 0 h 309"/>
                <a:gd name="GluePoint3X" fmla="*/ 0 w 265"/>
                <a:gd name="GluePoint3Y" fmla="*/ 307 h 309"/>
                <a:gd name="GluePoint4X" fmla="*/ 263 w 265"/>
                <a:gd name="GluePoint4Y" fmla="*/ 129 h 30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5" h="309">
                  <a:moveTo>
                    <a:pt x="265" y="129"/>
                  </a:moveTo>
                  <a:cubicBezTo>
                    <a:pt x="223" y="66"/>
                    <a:pt x="160" y="20"/>
                    <a:pt x="87" y="0"/>
                  </a:cubicBezTo>
                  <a:lnTo>
                    <a:pt x="0" y="309"/>
                  </a:lnTo>
                  <a:lnTo>
                    <a:pt x="265" y="129"/>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93" name="Freeform 1332"/>
            <p:cNvSpPr/>
            <p:nvPr/>
          </p:nvSpPr>
          <p:spPr>
            <a:xfrm>
              <a:off x="3364920" y="2256480"/>
              <a:ext cx="456120" cy="711360"/>
            </a:xfrm>
            <a:custGeom>
              <a:avLst/>
              <a:gdLst>
                <a:gd name="textAreaLeft" fmla="*/ 0 w 456120"/>
                <a:gd name="textAreaRight" fmla="*/ 456480 w 456120"/>
                <a:gd name="textAreaTop" fmla="*/ 0 h 711360"/>
                <a:gd name="textAreaBottom" fmla="*/ 711720 h 711360"/>
                <a:gd name="GluePoint1X" fmla="*/ 0 w 321"/>
                <a:gd name="GluePoint1Y" fmla="*/ 497 h 501"/>
                <a:gd name="GluePoint2X" fmla="*/ 319 w 321"/>
                <a:gd name="GluePoint2Y" fmla="*/ 178 h 501"/>
                <a:gd name="GluePoint3X" fmla="*/ 263 w 321"/>
                <a:gd name="GluePoint3Y" fmla="*/ 0 h 501"/>
                <a:gd name="GluePoint4X" fmla="*/ 0 w 321"/>
                <a:gd name="GluePoint4Y" fmla="*/ 178 h 501"/>
                <a:gd name="GluePoint5X" fmla="*/ 0 w 321"/>
                <a:gd name="GluePoint5Y" fmla="*/ 497 h 50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21" h="501">
                  <a:moveTo>
                    <a:pt x="0" y="501"/>
                  </a:moveTo>
                  <a:cubicBezTo>
                    <a:pt x="177" y="500"/>
                    <a:pt x="321" y="357"/>
                    <a:pt x="321" y="180"/>
                  </a:cubicBezTo>
                  <a:cubicBezTo>
                    <a:pt x="321" y="115"/>
                    <a:pt x="301" y="53"/>
                    <a:pt x="265" y="0"/>
                  </a:cubicBezTo>
                  <a:lnTo>
                    <a:pt x="0" y="180"/>
                  </a:lnTo>
                  <a:lnTo>
                    <a:pt x="0" y="501"/>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94" name="Freeform 1333"/>
            <p:cNvSpPr/>
            <p:nvPr/>
          </p:nvSpPr>
          <p:spPr>
            <a:xfrm>
              <a:off x="2908800" y="2057040"/>
              <a:ext cx="456120" cy="910800"/>
            </a:xfrm>
            <a:custGeom>
              <a:avLst/>
              <a:gdLst>
                <a:gd name="textAreaLeft" fmla="*/ 0 w 456120"/>
                <a:gd name="textAreaRight" fmla="*/ 456480 w 456120"/>
                <a:gd name="textAreaTop" fmla="*/ 0 h 910800"/>
                <a:gd name="textAreaBottom" fmla="*/ 911160 h 910800"/>
                <a:gd name="GluePoint1X" fmla="*/ 318 w 321"/>
                <a:gd name="GluePoint1Y" fmla="*/ 0 h 642"/>
                <a:gd name="GluePoint2X" fmla="*/ 0 w 321"/>
                <a:gd name="GluePoint2Y" fmla="*/ 318 h 642"/>
                <a:gd name="GluePoint3X" fmla="*/ 319 w 321"/>
                <a:gd name="GluePoint3Y" fmla="*/ 636 h 642"/>
                <a:gd name="GluePoint4X" fmla="*/ 319 w 321"/>
                <a:gd name="GluePoint4Y" fmla="*/ 319 h 642"/>
                <a:gd name="GluePoint5X" fmla="*/ 318 w 321"/>
                <a:gd name="GluePoint5Y" fmla="*/ 0 h 64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21" h="642">
                  <a:moveTo>
                    <a:pt x="320" y="0"/>
                  </a:moveTo>
                  <a:cubicBezTo>
                    <a:pt x="143" y="0"/>
                    <a:pt x="0" y="143"/>
                    <a:pt x="0" y="320"/>
                  </a:cubicBezTo>
                  <a:cubicBezTo>
                    <a:pt x="0" y="498"/>
                    <a:pt x="143" y="642"/>
                    <a:pt x="321" y="642"/>
                  </a:cubicBezTo>
                  <a:lnTo>
                    <a:pt x="321" y="321"/>
                  </a:lnTo>
                  <a:lnTo>
                    <a:pt x="320" y="0"/>
                  </a:lnTo>
                  <a:close/>
                </a:path>
              </a:pathLst>
            </a:custGeom>
            <a:solidFill>
              <a:srgbClr val="ffffcc"/>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195" name="Rectangle 1334"/>
            <p:cNvSpPr/>
            <p:nvPr/>
          </p:nvSpPr>
          <p:spPr>
            <a:xfrm>
              <a:off x="3396960" y="1908720"/>
              <a:ext cx="1483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5%</a:t>
              </a:r>
              <a:endParaRPr b="0" i="1" lang="en-IN" sz="800" strike="noStrike" u="none">
                <a:solidFill>
                  <a:srgbClr val="000000"/>
                </a:solidFill>
                <a:effectLst/>
                <a:uFillTx/>
                <a:latin typeface="Arial"/>
              </a:endParaRPr>
            </a:p>
          </p:txBody>
        </p:sp>
        <p:sp>
          <p:nvSpPr>
            <p:cNvPr id="196" name="Rectangle 1335"/>
            <p:cNvSpPr/>
            <p:nvPr/>
          </p:nvSpPr>
          <p:spPr>
            <a:xfrm>
              <a:off x="3652920" y="19944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11%</a:t>
              </a:r>
              <a:endParaRPr b="0" i="1" lang="en-IN" sz="800" strike="noStrike" u="none">
                <a:solidFill>
                  <a:srgbClr val="000000"/>
                </a:solidFill>
                <a:effectLst/>
                <a:uFillTx/>
                <a:latin typeface="Arial"/>
              </a:endParaRPr>
            </a:p>
          </p:txBody>
        </p:sp>
        <p:sp>
          <p:nvSpPr>
            <p:cNvPr id="197" name="Rectangle 1336"/>
            <p:cNvSpPr/>
            <p:nvPr/>
          </p:nvSpPr>
          <p:spPr>
            <a:xfrm>
              <a:off x="3792600" y="27198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35%</a:t>
              </a:r>
              <a:endParaRPr b="0" i="1" lang="en-IN" sz="800" strike="noStrike" u="none">
                <a:solidFill>
                  <a:srgbClr val="000000"/>
                </a:solidFill>
                <a:effectLst/>
                <a:uFillTx/>
                <a:latin typeface="Arial"/>
              </a:endParaRPr>
            </a:p>
          </p:txBody>
        </p:sp>
        <p:sp>
          <p:nvSpPr>
            <p:cNvPr id="198" name="Rectangle 1337"/>
            <p:cNvSpPr/>
            <p:nvPr/>
          </p:nvSpPr>
          <p:spPr>
            <a:xfrm>
              <a:off x="2691360" y="245628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49%</a:t>
              </a:r>
              <a:endParaRPr b="0" i="1" lang="en-IN" sz="800" strike="noStrike" u="none">
                <a:solidFill>
                  <a:srgbClr val="000000"/>
                </a:solidFill>
                <a:effectLst/>
                <a:uFillTx/>
                <a:latin typeface="Arial"/>
              </a:endParaRPr>
            </a:p>
          </p:txBody>
        </p:sp>
        <p:sp>
          <p:nvSpPr>
            <p:cNvPr id="199" name="Freeform 1338"/>
            <p:cNvSpPr/>
            <p:nvPr/>
          </p:nvSpPr>
          <p:spPr>
            <a:xfrm>
              <a:off x="5126760" y="2085480"/>
              <a:ext cx="131040" cy="447480"/>
            </a:xfrm>
            <a:custGeom>
              <a:avLst/>
              <a:gdLst>
                <a:gd name="textAreaLeft" fmla="*/ 0 w 131040"/>
                <a:gd name="textAreaRight" fmla="*/ 131400 w 131040"/>
                <a:gd name="textAreaTop" fmla="*/ 0 h 447480"/>
                <a:gd name="textAreaBottom" fmla="*/ 447840 h 447480"/>
                <a:gd name="GluePoint1X" fmla="*/ 92 w 92"/>
                <a:gd name="GluePoint1Y" fmla="*/ 13 h 315"/>
                <a:gd name="GluePoint2X" fmla="*/ 0 w 92"/>
                <a:gd name="GluePoint2Y" fmla="*/ 0 h 315"/>
                <a:gd name="GluePoint3X" fmla="*/ 0 w 92"/>
                <a:gd name="GluePoint3Y" fmla="*/ 313 h 315"/>
                <a:gd name="GluePoint4X" fmla="*/ 92 w 92"/>
                <a:gd name="GluePoint4Y" fmla="*/ 13 h 3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2" h="315">
                  <a:moveTo>
                    <a:pt x="92" y="13"/>
                  </a:moveTo>
                  <a:cubicBezTo>
                    <a:pt x="62" y="4"/>
                    <a:pt x="31" y="0"/>
                    <a:pt x="0" y="0"/>
                  </a:cubicBezTo>
                  <a:lnTo>
                    <a:pt x="0" y="315"/>
                  </a:lnTo>
                  <a:lnTo>
                    <a:pt x="92" y="13"/>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00" name="Freeform 1339"/>
            <p:cNvSpPr/>
            <p:nvPr/>
          </p:nvSpPr>
          <p:spPr>
            <a:xfrm>
              <a:off x="5126760" y="2103840"/>
              <a:ext cx="364680" cy="429120"/>
            </a:xfrm>
            <a:custGeom>
              <a:avLst/>
              <a:gdLst>
                <a:gd name="textAreaLeft" fmla="*/ 0 w 364680"/>
                <a:gd name="textAreaRight" fmla="*/ 365040 w 364680"/>
                <a:gd name="textAreaTop" fmla="*/ 0 h 429120"/>
                <a:gd name="textAreaBottom" fmla="*/ 429480 h 429120"/>
                <a:gd name="GluePoint1X" fmla="*/ 255 w 257"/>
                <a:gd name="GluePoint1Y" fmla="*/ 121 h 302"/>
                <a:gd name="GluePoint2X" fmla="*/ 92 w 257"/>
                <a:gd name="GluePoint2Y" fmla="*/ 0 h 302"/>
                <a:gd name="GluePoint3X" fmla="*/ 0 w 257"/>
                <a:gd name="GluePoint3Y" fmla="*/ 300 h 302"/>
                <a:gd name="GluePoint4X" fmla="*/ 255 w 257"/>
                <a:gd name="GluePoint4Y" fmla="*/ 121 h 3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57" h="302">
                  <a:moveTo>
                    <a:pt x="257" y="121"/>
                  </a:moveTo>
                  <a:cubicBezTo>
                    <a:pt x="217" y="63"/>
                    <a:pt x="159" y="21"/>
                    <a:pt x="92" y="0"/>
                  </a:cubicBezTo>
                  <a:lnTo>
                    <a:pt x="0" y="302"/>
                  </a:lnTo>
                  <a:lnTo>
                    <a:pt x="257" y="121"/>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01" name="Freeform 1340"/>
            <p:cNvSpPr/>
            <p:nvPr/>
          </p:nvSpPr>
          <p:spPr>
            <a:xfrm>
              <a:off x="5126760" y="2275200"/>
              <a:ext cx="447480" cy="702720"/>
            </a:xfrm>
            <a:custGeom>
              <a:avLst/>
              <a:gdLst>
                <a:gd name="textAreaLeft" fmla="*/ 0 w 447480"/>
                <a:gd name="textAreaRight" fmla="*/ 447840 w 447480"/>
                <a:gd name="textAreaTop" fmla="*/ 0 h 702720"/>
                <a:gd name="textAreaBottom" fmla="*/ 703080 h 702720"/>
                <a:gd name="GluePoint1X" fmla="*/ 4 w 315"/>
                <a:gd name="GluePoint1Y" fmla="*/ 491 h 495"/>
                <a:gd name="GluePoint2X" fmla="*/ 313 w 315"/>
                <a:gd name="GluePoint2Y" fmla="*/ 179 h 495"/>
                <a:gd name="GluePoint3X" fmla="*/ 255 w 315"/>
                <a:gd name="GluePoint3Y" fmla="*/ 0 h 495"/>
                <a:gd name="GluePoint4X" fmla="*/ 0 w 315"/>
                <a:gd name="GluePoint4Y" fmla="*/ 179 h 495"/>
                <a:gd name="GluePoint5X" fmla="*/ 4 w 315"/>
                <a:gd name="GluePoint5Y" fmla="*/ 491 h 495"/>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15" h="495">
                  <a:moveTo>
                    <a:pt x="4" y="495"/>
                  </a:moveTo>
                  <a:cubicBezTo>
                    <a:pt x="176" y="493"/>
                    <a:pt x="315" y="353"/>
                    <a:pt x="315" y="181"/>
                  </a:cubicBezTo>
                  <a:cubicBezTo>
                    <a:pt x="315" y="116"/>
                    <a:pt x="295" y="53"/>
                    <a:pt x="257" y="0"/>
                  </a:cubicBezTo>
                  <a:lnTo>
                    <a:pt x="0" y="181"/>
                  </a:lnTo>
                  <a:lnTo>
                    <a:pt x="4" y="495"/>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02" name="Freeform 1341"/>
            <p:cNvSpPr/>
            <p:nvPr/>
          </p:nvSpPr>
          <p:spPr>
            <a:xfrm>
              <a:off x="4680720" y="2085480"/>
              <a:ext cx="451800" cy="893520"/>
            </a:xfrm>
            <a:custGeom>
              <a:avLst/>
              <a:gdLst>
                <a:gd name="textAreaLeft" fmla="*/ 0 w 451800"/>
                <a:gd name="textAreaRight" fmla="*/ 452160 w 451800"/>
                <a:gd name="textAreaTop" fmla="*/ 0 h 893520"/>
                <a:gd name="textAreaBottom" fmla="*/ 893880 h 893520"/>
                <a:gd name="GluePoint1X" fmla="*/ 310 w 319"/>
                <a:gd name="GluePoint1Y" fmla="*/ 0 h 630"/>
                <a:gd name="GluePoint2X" fmla="*/ 0 w 319"/>
                <a:gd name="GluePoint2Y" fmla="*/ 312 h 630"/>
                <a:gd name="GluePoint3X" fmla="*/ 311 w 319"/>
                <a:gd name="GluePoint3Y" fmla="*/ 624 h 630"/>
                <a:gd name="GluePoint4X" fmla="*/ 315 w 319"/>
                <a:gd name="GluePoint4Y" fmla="*/ 623 h 630"/>
                <a:gd name="GluePoint5X" fmla="*/ 311 w 319"/>
                <a:gd name="GluePoint5Y" fmla="*/ 313 h 630"/>
                <a:gd name="GluePoint6X" fmla="*/ 310 w 319"/>
                <a:gd name="GluePoint6Y" fmla="*/ 0 h 63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19" h="630">
                  <a:moveTo>
                    <a:pt x="314" y="0"/>
                  </a:moveTo>
                  <a:cubicBezTo>
                    <a:pt x="141" y="0"/>
                    <a:pt x="0" y="141"/>
                    <a:pt x="0" y="314"/>
                  </a:cubicBezTo>
                  <a:cubicBezTo>
                    <a:pt x="0" y="488"/>
                    <a:pt x="141" y="630"/>
                    <a:pt x="315" y="630"/>
                  </a:cubicBezTo>
                  <a:cubicBezTo>
                    <a:pt x="316" y="630"/>
                    <a:pt x="318" y="629"/>
                    <a:pt x="319" y="629"/>
                  </a:cubicBezTo>
                  <a:lnTo>
                    <a:pt x="315" y="315"/>
                  </a:lnTo>
                  <a:lnTo>
                    <a:pt x="314" y="0"/>
                  </a:lnTo>
                  <a:close/>
                </a:path>
              </a:pathLst>
            </a:custGeom>
            <a:solidFill>
              <a:srgbClr val="ffffcc"/>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03" name="Rectangle 1342"/>
            <p:cNvSpPr/>
            <p:nvPr/>
          </p:nvSpPr>
          <p:spPr>
            <a:xfrm>
              <a:off x="5157720" y="1938600"/>
              <a:ext cx="1483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5%</a:t>
              </a:r>
              <a:endParaRPr b="0" i="1" lang="en-IN" sz="800" strike="noStrike" u="none">
                <a:solidFill>
                  <a:srgbClr val="000000"/>
                </a:solidFill>
                <a:effectLst/>
                <a:uFillTx/>
                <a:latin typeface="Arial"/>
              </a:endParaRPr>
            </a:p>
          </p:txBody>
        </p:sp>
        <p:sp>
          <p:nvSpPr>
            <p:cNvPr id="204" name="Rectangle 1343"/>
            <p:cNvSpPr/>
            <p:nvPr/>
          </p:nvSpPr>
          <p:spPr>
            <a:xfrm>
              <a:off x="5410440" y="20228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11%</a:t>
              </a:r>
              <a:endParaRPr b="0" i="1" lang="en-IN" sz="800" strike="noStrike" u="none">
                <a:solidFill>
                  <a:srgbClr val="000000"/>
                </a:solidFill>
                <a:effectLst/>
                <a:uFillTx/>
                <a:latin typeface="Arial"/>
              </a:endParaRPr>
            </a:p>
          </p:txBody>
        </p:sp>
        <p:sp>
          <p:nvSpPr>
            <p:cNvPr id="205" name="Rectangle 1344"/>
            <p:cNvSpPr/>
            <p:nvPr/>
          </p:nvSpPr>
          <p:spPr>
            <a:xfrm>
              <a:off x="5550120" y="272556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34%</a:t>
              </a:r>
              <a:endParaRPr b="0" i="1" lang="en-IN" sz="800" strike="noStrike" u="none">
                <a:solidFill>
                  <a:srgbClr val="000000"/>
                </a:solidFill>
                <a:effectLst/>
                <a:uFillTx/>
                <a:latin typeface="Arial"/>
              </a:endParaRPr>
            </a:p>
          </p:txBody>
        </p:sp>
        <p:sp>
          <p:nvSpPr>
            <p:cNvPr id="206" name="Rectangle 1345"/>
            <p:cNvSpPr/>
            <p:nvPr/>
          </p:nvSpPr>
          <p:spPr>
            <a:xfrm>
              <a:off x="4462920" y="248472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50%</a:t>
              </a:r>
              <a:endParaRPr b="0" i="1" lang="en-IN" sz="800" strike="noStrike" u="none">
                <a:solidFill>
                  <a:srgbClr val="000000"/>
                </a:solidFill>
                <a:effectLst/>
                <a:uFillTx/>
                <a:latin typeface="Arial"/>
              </a:endParaRPr>
            </a:p>
          </p:txBody>
        </p:sp>
        <p:sp>
          <p:nvSpPr>
            <p:cNvPr id="207" name="Rectangle 1346"/>
            <p:cNvSpPr/>
            <p:nvPr/>
          </p:nvSpPr>
          <p:spPr>
            <a:xfrm>
              <a:off x="2147760" y="3436920"/>
              <a:ext cx="2483280" cy="59256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08" name="Rectangle 1351"/>
            <p:cNvSpPr/>
            <p:nvPr/>
          </p:nvSpPr>
          <p:spPr>
            <a:xfrm>
              <a:off x="4126320" y="3436920"/>
              <a:ext cx="1800000" cy="592560"/>
            </a:xfrm>
            <a:prstGeom prst="rect">
              <a:avLst/>
            </a:prstGeom>
            <a:solidFill>
              <a:srgbClr val="ffffff"/>
            </a:solid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09" name="Freeform 1356"/>
            <p:cNvSpPr/>
            <p:nvPr/>
          </p:nvSpPr>
          <p:spPr>
            <a:xfrm>
              <a:off x="3336480" y="5314320"/>
              <a:ext cx="423000" cy="448920"/>
            </a:xfrm>
            <a:custGeom>
              <a:avLst/>
              <a:gdLst>
                <a:gd name="textAreaLeft" fmla="*/ 0 w 423000"/>
                <a:gd name="textAreaRight" fmla="*/ 423360 w 423000"/>
                <a:gd name="textAreaTop" fmla="*/ 0 h 448920"/>
                <a:gd name="textAreaBottom" fmla="*/ 449280 h 448920"/>
                <a:gd name="GluePoint1X" fmla="*/ 296 w 298"/>
                <a:gd name="GluePoint1Y" fmla="*/ 211 h 316"/>
                <a:gd name="GluePoint2X" fmla="*/ 0 w 298"/>
                <a:gd name="GluePoint2Y" fmla="*/ 0 h 316"/>
                <a:gd name="GluePoint3X" fmla="*/ 0 w 298"/>
                <a:gd name="GluePoint3Y" fmla="*/ 314 h 316"/>
                <a:gd name="GluePoint4X" fmla="*/ 296 w 298"/>
                <a:gd name="GluePoint4Y" fmla="*/ 211 h 31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8" h="316">
                  <a:moveTo>
                    <a:pt x="298" y="213"/>
                  </a:moveTo>
                  <a:cubicBezTo>
                    <a:pt x="254" y="85"/>
                    <a:pt x="134" y="0"/>
                    <a:pt x="0" y="0"/>
                  </a:cubicBezTo>
                  <a:lnTo>
                    <a:pt x="0" y="316"/>
                  </a:lnTo>
                  <a:lnTo>
                    <a:pt x="298" y="213"/>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10" name="Freeform 1357"/>
            <p:cNvSpPr/>
            <p:nvPr/>
          </p:nvSpPr>
          <p:spPr>
            <a:xfrm>
              <a:off x="3336480" y="5616720"/>
              <a:ext cx="448920" cy="480240"/>
            </a:xfrm>
            <a:custGeom>
              <a:avLst/>
              <a:gdLst>
                <a:gd name="textAreaLeft" fmla="*/ 0 w 448920"/>
                <a:gd name="textAreaRight" fmla="*/ 449280 w 448920"/>
                <a:gd name="textAreaTop" fmla="*/ 0 h 480240"/>
                <a:gd name="textAreaBottom" fmla="*/ 480600 h 480240"/>
                <a:gd name="GluePoint1X" fmla="*/ 209 w 316"/>
                <a:gd name="GluePoint1Y" fmla="*/ 336 h 338"/>
                <a:gd name="GluePoint2X" fmla="*/ 314 w 316"/>
                <a:gd name="GluePoint2Y" fmla="*/ 103 h 338"/>
                <a:gd name="GluePoint3X" fmla="*/ 296 w 316"/>
                <a:gd name="GluePoint3Y" fmla="*/ 0 h 338"/>
                <a:gd name="GluePoint4X" fmla="*/ 0 w 316"/>
                <a:gd name="GluePoint4Y" fmla="*/ 103 h 338"/>
                <a:gd name="GluePoint5X" fmla="*/ 209 w 316"/>
                <a:gd name="GluePoint5Y" fmla="*/ 336 h 338"/>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16" h="338">
                  <a:moveTo>
                    <a:pt x="211" y="338"/>
                  </a:moveTo>
                  <a:cubicBezTo>
                    <a:pt x="277" y="278"/>
                    <a:pt x="316" y="192"/>
                    <a:pt x="316" y="103"/>
                  </a:cubicBezTo>
                  <a:cubicBezTo>
                    <a:pt x="316" y="67"/>
                    <a:pt x="310" y="33"/>
                    <a:pt x="298" y="0"/>
                  </a:cubicBezTo>
                  <a:lnTo>
                    <a:pt x="0" y="103"/>
                  </a:lnTo>
                  <a:lnTo>
                    <a:pt x="211" y="338"/>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11" name="Freeform 1358"/>
            <p:cNvSpPr/>
            <p:nvPr/>
          </p:nvSpPr>
          <p:spPr>
            <a:xfrm>
              <a:off x="2887200" y="5318640"/>
              <a:ext cx="748440" cy="893520"/>
            </a:xfrm>
            <a:custGeom>
              <a:avLst/>
              <a:gdLst>
                <a:gd name="textAreaLeft" fmla="*/ 0 w 748440"/>
                <a:gd name="textAreaRight" fmla="*/ 748800 w 748440"/>
                <a:gd name="textAreaTop" fmla="*/ 0 h 893520"/>
                <a:gd name="textAreaBottom" fmla="*/ 893880 h 893520"/>
                <a:gd name="GluePoint1X" fmla="*/ 264 w 527"/>
                <a:gd name="GluePoint1Y" fmla="*/ 0 h 629"/>
                <a:gd name="GluePoint2X" fmla="*/ 0 w 527"/>
                <a:gd name="GluePoint2Y" fmla="*/ 310 h 629"/>
                <a:gd name="GluePoint3X" fmla="*/ 314 w 527"/>
                <a:gd name="GluePoint3Y" fmla="*/ 625 h 629"/>
                <a:gd name="GluePoint4X" fmla="*/ 523 w 527"/>
                <a:gd name="GluePoint4Y" fmla="*/ 544 h 629"/>
                <a:gd name="GluePoint5X" fmla="*/ 314 w 527"/>
                <a:gd name="GluePoint5Y" fmla="*/ 311 h 629"/>
                <a:gd name="GluePoint6X" fmla="*/ 264 w 527"/>
                <a:gd name="GluePoint6Y" fmla="*/ 0 h 62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27" h="629">
                  <a:moveTo>
                    <a:pt x="266" y="0"/>
                  </a:moveTo>
                  <a:cubicBezTo>
                    <a:pt x="113" y="24"/>
                    <a:pt x="0" y="157"/>
                    <a:pt x="0" y="312"/>
                  </a:cubicBezTo>
                  <a:cubicBezTo>
                    <a:pt x="0" y="487"/>
                    <a:pt x="141" y="629"/>
                    <a:pt x="316" y="629"/>
                  </a:cubicBezTo>
                  <a:cubicBezTo>
                    <a:pt x="393" y="629"/>
                    <a:pt x="469" y="600"/>
                    <a:pt x="527" y="548"/>
                  </a:cubicBezTo>
                  <a:lnTo>
                    <a:pt x="316" y="313"/>
                  </a:lnTo>
                  <a:lnTo>
                    <a:pt x="266" y="0"/>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12" name="Freeform 1359"/>
            <p:cNvSpPr/>
            <p:nvPr/>
          </p:nvSpPr>
          <p:spPr>
            <a:xfrm>
              <a:off x="3265200" y="5314320"/>
              <a:ext cx="71280" cy="448920"/>
            </a:xfrm>
            <a:custGeom>
              <a:avLst/>
              <a:gdLst>
                <a:gd name="textAreaLeft" fmla="*/ 0 w 71280"/>
                <a:gd name="textAreaRight" fmla="*/ 71640 w 71280"/>
                <a:gd name="textAreaTop" fmla="*/ 0 h 448920"/>
                <a:gd name="textAreaBottom" fmla="*/ 449280 h 448920"/>
                <a:gd name="GluePoint1X" fmla="*/ 49 w 50"/>
                <a:gd name="GluePoint1Y" fmla="*/ 0 h 316"/>
                <a:gd name="GluePoint2X" fmla="*/ 0 w 50"/>
                <a:gd name="GluePoint2Y" fmla="*/ 3 h 316"/>
                <a:gd name="GluePoint3X" fmla="*/ 50 w 50"/>
                <a:gd name="GluePoint3Y" fmla="*/ 314 h 316"/>
                <a:gd name="GluePoint4X" fmla="*/ 49 w 50"/>
                <a:gd name="GluePoint4Y" fmla="*/ 0 h 31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0" h="316">
                  <a:moveTo>
                    <a:pt x="49" y="0"/>
                  </a:moveTo>
                  <a:cubicBezTo>
                    <a:pt x="33" y="0"/>
                    <a:pt x="17" y="1"/>
                    <a:pt x="0" y="3"/>
                  </a:cubicBezTo>
                  <a:lnTo>
                    <a:pt x="50" y="316"/>
                  </a:lnTo>
                  <a:lnTo>
                    <a:pt x="49" y="0"/>
                  </a:lnTo>
                  <a:close/>
                </a:path>
              </a:pathLst>
            </a:custGeom>
            <a:solidFill>
              <a:srgbClr val="ffffcc"/>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13" name="Rectangle 1360"/>
            <p:cNvSpPr/>
            <p:nvPr/>
          </p:nvSpPr>
          <p:spPr>
            <a:xfrm>
              <a:off x="3613680" y="524880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20%</a:t>
              </a:r>
              <a:endParaRPr b="0" i="1" lang="en-IN" sz="800" strike="noStrike" u="none">
                <a:solidFill>
                  <a:srgbClr val="000000"/>
                </a:solidFill>
                <a:effectLst/>
                <a:uFillTx/>
                <a:latin typeface="Arial"/>
              </a:endParaRPr>
            </a:p>
          </p:txBody>
        </p:sp>
        <p:sp>
          <p:nvSpPr>
            <p:cNvPr id="214" name="Rectangle 1361"/>
            <p:cNvSpPr/>
            <p:nvPr/>
          </p:nvSpPr>
          <p:spPr>
            <a:xfrm>
              <a:off x="3797640" y="583776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19%</a:t>
              </a:r>
              <a:endParaRPr b="0" i="1" lang="en-IN" sz="800" strike="noStrike" u="none">
                <a:solidFill>
                  <a:srgbClr val="000000"/>
                </a:solidFill>
                <a:effectLst/>
                <a:uFillTx/>
                <a:latin typeface="Arial"/>
              </a:endParaRPr>
            </a:p>
          </p:txBody>
        </p:sp>
        <p:sp>
          <p:nvSpPr>
            <p:cNvPr id="215" name="Rectangle 1362"/>
            <p:cNvSpPr/>
            <p:nvPr/>
          </p:nvSpPr>
          <p:spPr>
            <a:xfrm>
              <a:off x="2718360" y="59486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58%</a:t>
              </a:r>
              <a:endParaRPr b="0" i="1" lang="en-IN" sz="800" strike="noStrike" u="none">
                <a:solidFill>
                  <a:srgbClr val="000000"/>
                </a:solidFill>
                <a:effectLst/>
                <a:uFillTx/>
                <a:latin typeface="Arial"/>
              </a:endParaRPr>
            </a:p>
          </p:txBody>
        </p:sp>
        <p:sp>
          <p:nvSpPr>
            <p:cNvPr id="216" name="Rectangle 1363"/>
            <p:cNvSpPr/>
            <p:nvPr/>
          </p:nvSpPr>
          <p:spPr>
            <a:xfrm>
              <a:off x="3202920" y="5166360"/>
              <a:ext cx="1483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a:t>
              </a:r>
              <a:endParaRPr b="0" i="1" lang="en-IN" sz="800" strike="noStrike" u="none">
                <a:solidFill>
                  <a:srgbClr val="000000"/>
                </a:solidFill>
                <a:effectLst/>
                <a:uFillTx/>
                <a:latin typeface="Arial"/>
              </a:endParaRPr>
            </a:p>
          </p:txBody>
        </p:sp>
        <p:sp>
          <p:nvSpPr>
            <p:cNvPr id="217" name="Freeform 1364"/>
            <p:cNvSpPr/>
            <p:nvPr/>
          </p:nvSpPr>
          <p:spPr>
            <a:xfrm>
              <a:off x="5148360" y="5335560"/>
              <a:ext cx="354600" cy="440280"/>
            </a:xfrm>
            <a:custGeom>
              <a:avLst/>
              <a:gdLst>
                <a:gd name="textAreaLeft" fmla="*/ 0 w 354600"/>
                <a:gd name="textAreaRight" fmla="*/ 354960 w 354600"/>
                <a:gd name="textAreaTop" fmla="*/ 0 h 440280"/>
                <a:gd name="textAreaBottom" fmla="*/ 440640 h 440280"/>
                <a:gd name="GluePoint1X" fmla="*/ 248 w 250"/>
                <a:gd name="GluePoint1Y" fmla="*/ 127 h 310"/>
                <a:gd name="GluePoint2X" fmla="*/ 0 w 250"/>
                <a:gd name="GluePoint2Y" fmla="*/ 1 h 310"/>
                <a:gd name="GluePoint3X" fmla="*/ 0 w 250"/>
                <a:gd name="GluePoint3Y" fmla="*/ 1 h 310"/>
                <a:gd name="GluePoint4X" fmla="*/ 0 w 250"/>
                <a:gd name="GluePoint4Y" fmla="*/ 308 h 310"/>
                <a:gd name="GluePoint5X" fmla="*/ 248 w 250"/>
                <a:gd name="GluePoint5Y" fmla="*/ 127 h 31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50" h="310">
                  <a:moveTo>
                    <a:pt x="250" y="127"/>
                  </a:moveTo>
                  <a:cubicBezTo>
                    <a:pt x="192" y="48"/>
                    <a:pt x="99" y="1"/>
                    <a:pt x="0" y="1"/>
                  </a:cubicBezTo>
                  <a:cubicBezTo>
                    <a:pt x="0" y="0"/>
                    <a:pt x="0" y="1"/>
                    <a:pt x="0" y="1"/>
                  </a:cubicBezTo>
                  <a:lnTo>
                    <a:pt x="0" y="310"/>
                  </a:lnTo>
                  <a:lnTo>
                    <a:pt x="250" y="127"/>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18" name="Freeform 1365"/>
            <p:cNvSpPr/>
            <p:nvPr/>
          </p:nvSpPr>
          <p:spPr>
            <a:xfrm>
              <a:off x="5148360" y="5516640"/>
              <a:ext cx="440280" cy="564480"/>
            </a:xfrm>
            <a:custGeom>
              <a:avLst/>
              <a:gdLst>
                <a:gd name="textAreaLeft" fmla="*/ 0 w 440280"/>
                <a:gd name="textAreaRight" fmla="*/ 440640 w 440280"/>
                <a:gd name="textAreaTop" fmla="*/ 0 h 564480"/>
                <a:gd name="textAreaBottom" fmla="*/ 564840 h 564480"/>
                <a:gd name="GluePoint1X" fmla="*/ 220 w 310"/>
                <a:gd name="GluePoint1Y" fmla="*/ 394 h 398"/>
                <a:gd name="GluePoint2X" fmla="*/ 308 w 310"/>
                <a:gd name="GluePoint2Y" fmla="*/ 181 h 398"/>
                <a:gd name="GluePoint3X" fmla="*/ 248 w 310"/>
                <a:gd name="GluePoint3Y" fmla="*/ 0 h 398"/>
                <a:gd name="GluePoint4X" fmla="*/ 0 w 310"/>
                <a:gd name="GluePoint4Y" fmla="*/ 181 h 398"/>
                <a:gd name="GluePoint5X" fmla="*/ 220 w 310"/>
                <a:gd name="GluePoint5Y" fmla="*/ 394 h 398"/>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10" h="398">
                  <a:moveTo>
                    <a:pt x="222" y="398"/>
                  </a:moveTo>
                  <a:cubicBezTo>
                    <a:pt x="278" y="341"/>
                    <a:pt x="310" y="263"/>
                    <a:pt x="310" y="183"/>
                  </a:cubicBezTo>
                  <a:cubicBezTo>
                    <a:pt x="310" y="117"/>
                    <a:pt x="289" y="53"/>
                    <a:pt x="250" y="0"/>
                  </a:cubicBezTo>
                  <a:lnTo>
                    <a:pt x="0" y="183"/>
                  </a:lnTo>
                  <a:lnTo>
                    <a:pt x="222" y="398"/>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19" name="Freeform 1366"/>
            <p:cNvSpPr/>
            <p:nvPr/>
          </p:nvSpPr>
          <p:spPr>
            <a:xfrm>
              <a:off x="4710960" y="5344560"/>
              <a:ext cx="752400" cy="872280"/>
            </a:xfrm>
            <a:custGeom>
              <a:avLst/>
              <a:gdLst>
                <a:gd name="textAreaLeft" fmla="*/ 0 w 752400"/>
                <a:gd name="textAreaRight" fmla="*/ 752760 w 752400"/>
                <a:gd name="textAreaTop" fmla="*/ 0 h 872280"/>
                <a:gd name="textAreaBottom" fmla="*/ 872640 h 872280"/>
                <a:gd name="GluePoint1X" fmla="*/ 247 w 531"/>
                <a:gd name="GluePoint1Y" fmla="*/ 0 h 614"/>
                <a:gd name="GluePoint2X" fmla="*/ 0 w 531"/>
                <a:gd name="GluePoint2Y" fmla="*/ 302 h 614"/>
                <a:gd name="GluePoint3X" fmla="*/ 305 w 531"/>
                <a:gd name="GluePoint3Y" fmla="*/ 610 h 614"/>
                <a:gd name="GluePoint4X" fmla="*/ 525 w 531"/>
                <a:gd name="GluePoint4Y" fmla="*/ 515 h 614"/>
                <a:gd name="GluePoint5X" fmla="*/ 305 w 531"/>
                <a:gd name="GluePoint5Y" fmla="*/ 302 h 614"/>
                <a:gd name="GluePoint6X" fmla="*/ 247 w 531"/>
                <a:gd name="GluePoint6Y" fmla="*/ 0 h 61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31" h="614">
                  <a:moveTo>
                    <a:pt x="249" y="0"/>
                  </a:moveTo>
                  <a:cubicBezTo>
                    <a:pt x="104" y="29"/>
                    <a:pt x="0" y="156"/>
                    <a:pt x="0" y="304"/>
                  </a:cubicBezTo>
                  <a:cubicBezTo>
                    <a:pt x="0" y="475"/>
                    <a:pt x="138" y="614"/>
                    <a:pt x="309" y="614"/>
                  </a:cubicBezTo>
                  <a:cubicBezTo>
                    <a:pt x="393" y="614"/>
                    <a:pt x="473" y="580"/>
                    <a:pt x="531" y="519"/>
                  </a:cubicBezTo>
                  <a:lnTo>
                    <a:pt x="309" y="304"/>
                  </a:lnTo>
                  <a:lnTo>
                    <a:pt x="249" y="0"/>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20" name="Freeform 1367"/>
            <p:cNvSpPr/>
            <p:nvPr/>
          </p:nvSpPr>
          <p:spPr>
            <a:xfrm>
              <a:off x="5064120" y="5337360"/>
              <a:ext cx="83880" cy="438840"/>
            </a:xfrm>
            <a:custGeom>
              <a:avLst/>
              <a:gdLst>
                <a:gd name="textAreaLeft" fmla="*/ 0 w 83880"/>
                <a:gd name="textAreaRight" fmla="*/ 84240 w 83880"/>
                <a:gd name="textAreaTop" fmla="*/ 0 h 438840"/>
                <a:gd name="textAreaBottom" fmla="*/ 439200 h 438840"/>
                <a:gd name="GluePoint1X" fmla="*/ 58 w 60"/>
                <a:gd name="GluePoint1Y" fmla="*/ 0 h 309"/>
                <a:gd name="GluePoint2X" fmla="*/ 0 w 60"/>
                <a:gd name="GluePoint2Y" fmla="*/ 5 h 309"/>
                <a:gd name="GluePoint3X" fmla="*/ 58 w 60"/>
                <a:gd name="GluePoint3Y" fmla="*/ 307 h 309"/>
                <a:gd name="GluePoint4X" fmla="*/ 58 w 60"/>
                <a:gd name="GluePoint4Y" fmla="*/ 0 h 30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0" h="309">
                  <a:moveTo>
                    <a:pt x="60" y="0"/>
                  </a:moveTo>
                  <a:cubicBezTo>
                    <a:pt x="40" y="0"/>
                    <a:pt x="20" y="1"/>
                    <a:pt x="0" y="5"/>
                  </a:cubicBezTo>
                  <a:lnTo>
                    <a:pt x="60" y="309"/>
                  </a:lnTo>
                  <a:lnTo>
                    <a:pt x="60" y="0"/>
                  </a:lnTo>
                  <a:close/>
                </a:path>
              </a:pathLst>
            </a:custGeom>
            <a:solidFill>
              <a:srgbClr val="ffffcc"/>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21" name="Rectangle 1368"/>
            <p:cNvSpPr/>
            <p:nvPr/>
          </p:nvSpPr>
          <p:spPr>
            <a:xfrm>
              <a:off x="5369400" y="523728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15%</a:t>
              </a:r>
              <a:endParaRPr b="0" i="1" lang="en-IN" sz="800" strike="noStrike" u="none">
                <a:solidFill>
                  <a:srgbClr val="000000"/>
                </a:solidFill>
                <a:effectLst/>
                <a:uFillTx/>
                <a:latin typeface="Arial"/>
              </a:endParaRPr>
            </a:p>
          </p:txBody>
        </p:sp>
        <p:sp>
          <p:nvSpPr>
            <p:cNvPr id="222" name="Rectangle 1369"/>
            <p:cNvSpPr/>
            <p:nvPr/>
          </p:nvSpPr>
          <p:spPr>
            <a:xfrm>
              <a:off x="5615280" y="575928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22%</a:t>
              </a:r>
              <a:endParaRPr b="0" i="1" lang="en-IN" sz="800" strike="noStrike" u="none">
                <a:solidFill>
                  <a:srgbClr val="000000"/>
                </a:solidFill>
                <a:effectLst/>
                <a:uFillTx/>
                <a:latin typeface="Arial"/>
              </a:endParaRPr>
            </a:p>
          </p:txBody>
        </p:sp>
        <p:sp>
          <p:nvSpPr>
            <p:cNvPr id="223" name="Rectangle 1370"/>
            <p:cNvSpPr/>
            <p:nvPr/>
          </p:nvSpPr>
          <p:spPr>
            <a:xfrm>
              <a:off x="4548960" y="59846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60%</a:t>
              </a:r>
              <a:endParaRPr b="0" i="1" lang="en-IN" sz="800" strike="noStrike" u="none">
                <a:solidFill>
                  <a:srgbClr val="000000"/>
                </a:solidFill>
                <a:effectLst/>
                <a:uFillTx/>
                <a:latin typeface="Arial"/>
              </a:endParaRPr>
            </a:p>
          </p:txBody>
        </p:sp>
        <p:sp>
          <p:nvSpPr>
            <p:cNvPr id="224" name="Rectangle 1371"/>
            <p:cNvSpPr/>
            <p:nvPr/>
          </p:nvSpPr>
          <p:spPr>
            <a:xfrm>
              <a:off x="5010120" y="5190480"/>
              <a:ext cx="1483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a:t>
              </a:r>
              <a:endParaRPr b="0" i="1" lang="en-IN" sz="800" strike="noStrike" u="none">
                <a:solidFill>
                  <a:srgbClr val="000000"/>
                </a:solidFill>
                <a:effectLst/>
                <a:uFillTx/>
                <a:latin typeface="Arial"/>
              </a:endParaRPr>
            </a:p>
          </p:txBody>
        </p:sp>
        <p:sp>
          <p:nvSpPr>
            <p:cNvPr id="225" name="Freeform 1372"/>
            <p:cNvSpPr/>
            <p:nvPr/>
          </p:nvSpPr>
          <p:spPr>
            <a:xfrm>
              <a:off x="3402000" y="3807720"/>
              <a:ext cx="429120" cy="590040"/>
            </a:xfrm>
            <a:custGeom>
              <a:avLst/>
              <a:gdLst>
                <a:gd name="textAreaLeft" fmla="*/ 0 w 429120"/>
                <a:gd name="textAreaRight" fmla="*/ 429480 w 429120"/>
                <a:gd name="textAreaTop" fmla="*/ 0 h 590040"/>
                <a:gd name="textAreaBottom" fmla="*/ 590400 h 590040"/>
                <a:gd name="GluePoint1X" fmla="*/ 276 w 303"/>
                <a:gd name="GluePoint1Y" fmla="*/ 412 h 416"/>
                <a:gd name="GluePoint2X" fmla="*/ 299 w 303"/>
                <a:gd name="GluePoint2Y" fmla="*/ 301 h 416"/>
                <a:gd name="GluePoint3X" fmla="*/ 0 w 303"/>
                <a:gd name="GluePoint3Y" fmla="*/ 0 h 416"/>
                <a:gd name="GluePoint4X" fmla="*/ 0 w 303"/>
                <a:gd name="GluePoint4Y" fmla="*/ 301 h 416"/>
                <a:gd name="GluePoint5X" fmla="*/ 276 w 303"/>
                <a:gd name="GluePoint5Y" fmla="*/ 412 h 41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3" h="416">
                  <a:moveTo>
                    <a:pt x="280" y="416"/>
                  </a:moveTo>
                  <a:cubicBezTo>
                    <a:pt x="295" y="380"/>
                    <a:pt x="303" y="342"/>
                    <a:pt x="303" y="303"/>
                  </a:cubicBezTo>
                  <a:cubicBezTo>
                    <a:pt x="303" y="135"/>
                    <a:pt x="167" y="0"/>
                    <a:pt x="0" y="0"/>
                  </a:cubicBezTo>
                  <a:lnTo>
                    <a:pt x="0" y="303"/>
                  </a:lnTo>
                  <a:lnTo>
                    <a:pt x="280" y="416"/>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26" name="Freeform 1373"/>
            <p:cNvSpPr/>
            <p:nvPr/>
          </p:nvSpPr>
          <p:spPr>
            <a:xfrm>
              <a:off x="2971800" y="3911760"/>
              <a:ext cx="828000" cy="755280"/>
            </a:xfrm>
            <a:custGeom>
              <a:avLst/>
              <a:gdLst>
                <a:gd name="textAreaLeft" fmla="*/ 0 w 828000"/>
                <a:gd name="textAreaRight" fmla="*/ 828360 w 828000"/>
                <a:gd name="textAreaTop" fmla="*/ 0 h 755280"/>
                <a:gd name="textAreaBottom" fmla="*/ 755640 h 755280"/>
                <a:gd name="GluePoint1X" fmla="*/ 104 w 583"/>
                <a:gd name="GluePoint1Y" fmla="*/ 0 h 532"/>
                <a:gd name="GluePoint2X" fmla="*/ 0 w 583"/>
                <a:gd name="GluePoint2Y" fmla="*/ 226 h 532"/>
                <a:gd name="GluePoint3X" fmla="*/ 301 w 583"/>
                <a:gd name="GluePoint3Y" fmla="*/ 528 h 532"/>
                <a:gd name="GluePoint4X" fmla="*/ 579 w 583"/>
                <a:gd name="GluePoint4Y" fmla="*/ 340 h 532"/>
                <a:gd name="GluePoint5X" fmla="*/ 301 w 583"/>
                <a:gd name="GluePoint5Y" fmla="*/ 227 h 532"/>
                <a:gd name="GluePoint6X" fmla="*/ 104 w 583"/>
                <a:gd name="GluePoint6Y" fmla="*/ 0 h 5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83" h="532">
                  <a:moveTo>
                    <a:pt x="104" y="0"/>
                  </a:moveTo>
                  <a:cubicBezTo>
                    <a:pt x="38" y="57"/>
                    <a:pt x="0" y="141"/>
                    <a:pt x="0" y="228"/>
                  </a:cubicBezTo>
                  <a:cubicBezTo>
                    <a:pt x="0" y="396"/>
                    <a:pt x="135" y="532"/>
                    <a:pt x="303" y="532"/>
                  </a:cubicBezTo>
                  <a:cubicBezTo>
                    <a:pt x="426" y="532"/>
                    <a:pt x="537" y="457"/>
                    <a:pt x="583" y="342"/>
                  </a:cubicBezTo>
                  <a:lnTo>
                    <a:pt x="303" y="229"/>
                  </a:lnTo>
                  <a:lnTo>
                    <a:pt x="104" y="0"/>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27" name="Freeform 1374"/>
            <p:cNvSpPr/>
            <p:nvPr/>
          </p:nvSpPr>
          <p:spPr>
            <a:xfrm>
              <a:off x="3119760" y="3844800"/>
              <a:ext cx="281880" cy="391680"/>
            </a:xfrm>
            <a:custGeom>
              <a:avLst/>
              <a:gdLst>
                <a:gd name="textAreaLeft" fmla="*/ 0 w 281880"/>
                <a:gd name="textAreaRight" fmla="*/ 282240 w 281880"/>
                <a:gd name="textAreaTop" fmla="*/ 0 h 391680"/>
                <a:gd name="textAreaBottom" fmla="*/ 392040 h 391680"/>
                <a:gd name="GluePoint1X" fmla="*/ 76 w 199"/>
                <a:gd name="GluePoint1Y" fmla="*/ 0 h 277"/>
                <a:gd name="GluePoint2X" fmla="*/ 0 w 199"/>
                <a:gd name="GluePoint2Y" fmla="*/ 48 h 277"/>
                <a:gd name="GluePoint3X" fmla="*/ 197 w 199"/>
                <a:gd name="GluePoint3Y" fmla="*/ 273 h 277"/>
                <a:gd name="GluePoint4X" fmla="*/ 76 w 199"/>
                <a:gd name="GluePoint4Y" fmla="*/ 0 h 27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 h="277">
                  <a:moveTo>
                    <a:pt x="76" y="0"/>
                  </a:moveTo>
                  <a:cubicBezTo>
                    <a:pt x="48" y="12"/>
                    <a:pt x="22" y="28"/>
                    <a:pt x="0" y="48"/>
                  </a:cubicBezTo>
                  <a:lnTo>
                    <a:pt x="199" y="277"/>
                  </a:lnTo>
                  <a:lnTo>
                    <a:pt x="76" y="0"/>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28" name="Freeform 1375"/>
            <p:cNvSpPr/>
            <p:nvPr/>
          </p:nvSpPr>
          <p:spPr>
            <a:xfrm>
              <a:off x="3226680" y="3807720"/>
              <a:ext cx="174960" cy="428760"/>
            </a:xfrm>
            <a:custGeom>
              <a:avLst/>
              <a:gdLst>
                <a:gd name="textAreaLeft" fmla="*/ 0 w 174960"/>
                <a:gd name="textAreaRight" fmla="*/ 175320 w 174960"/>
                <a:gd name="textAreaTop" fmla="*/ 0 h 428760"/>
                <a:gd name="textAreaBottom" fmla="*/ 429120 h 428760"/>
                <a:gd name="GluePoint1X" fmla="*/ 122 w 123"/>
                <a:gd name="GluePoint1Y" fmla="*/ 0 h 303"/>
                <a:gd name="GluePoint2X" fmla="*/ 0 w 123"/>
                <a:gd name="GluePoint2Y" fmla="*/ 26 h 303"/>
                <a:gd name="GluePoint3X" fmla="*/ 123 w 123"/>
                <a:gd name="GluePoint3Y" fmla="*/ 299 h 303"/>
                <a:gd name="GluePoint4X" fmla="*/ 122 w 123"/>
                <a:gd name="GluePoint4Y" fmla="*/ 0 h 30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3" h="303">
                  <a:moveTo>
                    <a:pt x="122" y="0"/>
                  </a:moveTo>
                  <a:cubicBezTo>
                    <a:pt x="80" y="0"/>
                    <a:pt x="38" y="8"/>
                    <a:pt x="0" y="26"/>
                  </a:cubicBezTo>
                  <a:lnTo>
                    <a:pt x="123" y="303"/>
                  </a:lnTo>
                  <a:lnTo>
                    <a:pt x="122" y="0"/>
                  </a:lnTo>
                  <a:close/>
                </a:path>
              </a:pathLst>
            </a:custGeom>
            <a:solidFill>
              <a:srgbClr val="ffffcc"/>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29" name="Rectangle 1376"/>
            <p:cNvSpPr/>
            <p:nvPr/>
          </p:nvSpPr>
          <p:spPr>
            <a:xfrm>
              <a:off x="3780360" y="38804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31%</a:t>
              </a:r>
              <a:endParaRPr b="0" i="1" lang="en-IN" sz="800" strike="noStrike" u="none">
                <a:solidFill>
                  <a:srgbClr val="000000"/>
                </a:solidFill>
                <a:effectLst/>
                <a:uFillTx/>
                <a:latin typeface="Arial"/>
              </a:endParaRPr>
            </a:p>
          </p:txBody>
        </p:sp>
        <p:sp>
          <p:nvSpPr>
            <p:cNvPr id="230" name="Rectangle 1377"/>
            <p:cNvSpPr/>
            <p:nvPr/>
          </p:nvSpPr>
          <p:spPr>
            <a:xfrm>
              <a:off x="2943720" y="462276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57%</a:t>
              </a:r>
              <a:endParaRPr b="0" i="1" lang="en-IN" sz="800" strike="noStrike" u="none">
                <a:solidFill>
                  <a:srgbClr val="000000"/>
                </a:solidFill>
                <a:effectLst/>
                <a:uFillTx/>
                <a:latin typeface="Arial"/>
              </a:endParaRPr>
            </a:p>
          </p:txBody>
        </p:sp>
        <p:sp>
          <p:nvSpPr>
            <p:cNvPr id="231" name="Rectangle 1378"/>
            <p:cNvSpPr/>
            <p:nvPr/>
          </p:nvSpPr>
          <p:spPr>
            <a:xfrm>
              <a:off x="3009240" y="3727800"/>
              <a:ext cx="1483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5%</a:t>
              </a:r>
              <a:endParaRPr b="0" i="1" lang="en-IN" sz="800" strike="noStrike" u="none">
                <a:solidFill>
                  <a:srgbClr val="000000"/>
                </a:solidFill>
                <a:effectLst/>
                <a:uFillTx/>
                <a:latin typeface="Arial"/>
              </a:endParaRPr>
            </a:p>
          </p:txBody>
        </p:sp>
        <p:sp>
          <p:nvSpPr>
            <p:cNvPr id="232" name="Rectangle 1379"/>
            <p:cNvSpPr/>
            <p:nvPr/>
          </p:nvSpPr>
          <p:spPr>
            <a:xfrm>
              <a:off x="3188880" y="3657960"/>
              <a:ext cx="14832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7%</a:t>
              </a:r>
              <a:endParaRPr b="0" i="1" lang="en-IN" sz="800" strike="noStrike" u="none">
                <a:solidFill>
                  <a:srgbClr val="000000"/>
                </a:solidFill>
                <a:effectLst/>
                <a:uFillTx/>
                <a:latin typeface="Arial"/>
              </a:endParaRPr>
            </a:p>
          </p:txBody>
        </p:sp>
        <p:sp>
          <p:nvSpPr>
            <p:cNvPr id="233" name="Freeform 1380"/>
            <p:cNvSpPr/>
            <p:nvPr/>
          </p:nvSpPr>
          <p:spPr>
            <a:xfrm>
              <a:off x="5159880" y="3808800"/>
              <a:ext cx="437040" cy="675720"/>
            </a:xfrm>
            <a:custGeom>
              <a:avLst/>
              <a:gdLst>
                <a:gd name="textAreaLeft" fmla="*/ 0 w 437040"/>
                <a:gd name="textAreaRight" fmla="*/ 437400 w 437040"/>
                <a:gd name="textAreaTop" fmla="*/ 0 h 675720"/>
                <a:gd name="textAreaBottom" fmla="*/ 676080 h 675720"/>
                <a:gd name="GluePoint1X" fmla="*/ 256 w 308"/>
                <a:gd name="GluePoint1Y" fmla="*/ 472 h 476"/>
                <a:gd name="GluePoint2X" fmla="*/ 306 w 308"/>
                <a:gd name="GluePoint2Y" fmla="*/ 306 h 476"/>
                <a:gd name="GluePoint3X" fmla="*/ 0 w 308"/>
                <a:gd name="GluePoint3Y" fmla="*/ 0 h 476"/>
                <a:gd name="GluePoint4X" fmla="*/ 0 w 308"/>
                <a:gd name="GluePoint4Y" fmla="*/ 306 h 476"/>
                <a:gd name="GluePoint5X" fmla="*/ 256 w 308"/>
                <a:gd name="GluePoint5Y" fmla="*/ 472 h 4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8" h="476">
                  <a:moveTo>
                    <a:pt x="258" y="476"/>
                  </a:moveTo>
                  <a:cubicBezTo>
                    <a:pt x="290" y="426"/>
                    <a:pt x="308" y="367"/>
                    <a:pt x="308" y="308"/>
                  </a:cubicBezTo>
                  <a:cubicBezTo>
                    <a:pt x="308" y="137"/>
                    <a:pt x="170" y="0"/>
                    <a:pt x="0" y="0"/>
                  </a:cubicBezTo>
                  <a:lnTo>
                    <a:pt x="0" y="308"/>
                  </a:lnTo>
                  <a:lnTo>
                    <a:pt x="258" y="476"/>
                  </a:lnTo>
                  <a:close/>
                </a:path>
              </a:pathLst>
            </a:custGeom>
            <a:solidFill>
              <a:srgbClr val="99ccff"/>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34" name="Freeform 1381"/>
            <p:cNvSpPr/>
            <p:nvPr/>
          </p:nvSpPr>
          <p:spPr>
            <a:xfrm>
              <a:off x="4723560" y="3808800"/>
              <a:ext cx="802440" cy="874080"/>
            </a:xfrm>
            <a:custGeom>
              <a:avLst/>
              <a:gdLst>
                <a:gd name="textAreaLeft" fmla="*/ 0 w 802440"/>
                <a:gd name="textAreaRight" fmla="*/ 802800 w 802440"/>
                <a:gd name="textAreaTop" fmla="*/ 0 h 874080"/>
                <a:gd name="textAreaBottom" fmla="*/ 874440 h 874080"/>
                <a:gd name="GluePoint1X" fmla="*/ 293 w 566"/>
                <a:gd name="GluePoint1Y" fmla="*/ 0 h 616"/>
                <a:gd name="GluePoint2X" fmla="*/ 0 w 566"/>
                <a:gd name="GluePoint2Y" fmla="*/ 305 h 616"/>
                <a:gd name="GluePoint3X" fmla="*/ 304 w 566"/>
                <a:gd name="GluePoint3Y" fmla="*/ 610 h 616"/>
                <a:gd name="GluePoint4X" fmla="*/ 560 w 566"/>
                <a:gd name="GluePoint4Y" fmla="*/ 472 h 616"/>
                <a:gd name="GluePoint5X" fmla="*/ 304 w 566"/>
                <a:gd name="GluePoint5Y" fmla="*/ 306 h 616"/>
                <a:gd name="GluePoint6X" fmla="*/ 293 w 566"/>
                <a:gd name="GluePoint6Y" fmla="*/ 0 h 61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66" h="616">
                  <a:moveTo>
                    <a:pt x="297" y="0"/>
                  </a:moveTo>
                  <a:cubicBezTo>
                    <a:pt x="131" y="6"/>
                    <a:pt x="0" y="142"/>
                    <a:pt x="0" y="307"/>
                  </a:cubicBezTo>
                  <a:cubicBezTo>
                    <a:pt x="0" y="478"/>
                    <a:pt x="137" y="616"/>
                    <a:pt x="308" y="616"/>
                  </a:cubicBezTo>
                  <a:cubicBezTo>
                    <a:pt x="412" y="616"/>
                    <a:pt x="509" y="563"/>
                    <a:pt x="566" y="476"/>
                  </a:cubicBezTo>
                  <a:lnTo>
                    <a:pt x="308" y="308"/>
                  </a:lnTo>
                  <a:lnTo>
                    <a:pt x="297" y="0"/>
                  </a:lnTo>
                  <a:close/>
                </a:path>
              </a:pathLst>
            </a:custGeom>
            <a:solidFill>
              <a:srgbClr val="993366"/>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35" name="Freeform 1382"/>
            <p:cNvSpPr/>
            <p:nvPr/>
          </p:nvSpPr>
          <p:spPr>
            <a:xfrm>
              <a:off x="5144040" y="3808800"/>
              <a:ext cx="15840" cy="436320"/>
            </a:xfrm>
            <a:custGeom>
              <a:avLst/>
              <a:gdLst>
                <a:gd name="textAreaLeft" fmla="*/ 0 w 15840"/>
                <a:gd name="textAreaRight" fmla="*/ 16200 w 15840"/>
                <a:gd name="textAreaTop" fmla="*/ 0 h 436320"/>
                <a:gd name="textAreaBottom" fmla="*/ 436680 h 436320"/>
                <a:gd name="GluePoint1X" fmla="*/ 10 w 11"/>
                <a:gd name="GluePoint1Y" fmla="*/ 0 h 308"/>
                <a:gd name="GluePoint2X" fmla="*/ 0 w 11"/>
                <a:gd name="GluePoint2Y" fmla="*/ 0 h 308"/>
                <a:gd name="GluePoint3X" fmla="*/ 11 w 11"/>
                <a:gd name="GluePoint3Y" fmla="*/ 304 h 308"/>
                <a:gd name="GluePoint4X" fmla="*/ 10 w 11"/>
                <a:gd name="GluePoint4Y" fmla="*/ 0 h 30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 h="308">
                  <a:moveTo>
                    <a:pt x="10" y="0"/>
                  </a:moveTo>
                  <a:cubicBezTo>
                    <a:pt x="7" y="0"/>
                    <a:pt x="3" y="0"/>
                    <a:pt x="0" y="0"/>
                  </a:cubicBezTo>
                  <a:lnTo>
                    <a:pt x="11" y="308"/>
                  </a:lnTo>
                  <a:lnTo>
                    <a:pt x="10" y="0"/>
                  </a:lnTo>
                  <a:close/>
                </a:path>
              </a:pathLst>
            </a:custGeom>
            <a:solidFill>
              <a:srgbClr val="000080"/>
            </a:solidFill>
            <a:ln w="0">
              <a:solidFill>
                <a:srgbClr val="000000"/>
              </a:solid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36" name="Line 1383"/>
            <p:cNvSpPr/>
            <p:nvPr/>
          </p:nvSpPr>
          <p:spPr>
            <a:xfrm flipV="1">
              <a:off x="5159880" y="3808800"/>
              <a:ext cx="1080" cy="436320"/>
            </a:xfrm>
            <a:prstGeom prst="line">
              <a:avLst/>
            </a:prstGeom>
            <a:ln w="0">
              <a:solidFill>
                <a:srgbClr val="000000"/>
              </a:solidFill>
            </a:ln>
          </p:spPr>
          <p:style>
            <a:lnRef idx="0"/>
            <a:fillRef idx="0"/>
            <a:effectRef idx="0"/>
            <a:fontRef idx="minor"/>
          </p:style>
          <p:txBody>
            <a:bodyPr lIns="90000" rIns="90000" tIns="46800" bIns="46800" anchor="t">
              <a:noAutofit/>
            </a:bodyPr>
            <a:p>
              <a:endParaRPr b="0" i="1" lang="en-IN" sz="1800" strike="noStrike" u="none">
                <a:solidFill>
                  <a:srgbClr val="000000"/>
                </a:solidFill>
                <a:effectLst/>
                <a:uFillTx/>
                <a:latin typeface="Arial"/>
              </a:endParaRPr>
            </a:p>
          </p:txBody>
        </p:sp>
        <p:sp>
          <p:nvSpPr>
            <p:cNvPr id="237" name="Freeform 1384"/>
            <p:cNvSpPr/>
            <p:nvPr/>
          </p:nvSpPr>
          <p:spPr>
            <a:xfrm>
              <a:off x="5121360" y="3722040"/>
              <a:ext cx="31320" cy="86760"/>
            </a:xfrm>
            <a:custGeom>
              <a:avLst/>
              <a:gdLst>
                <a:gd name="textAreaLeft" fmla="*/ 0 w 31320"/>
                <a:gd name="textAreaRight" fmla="*/ 31680 w 31320"/>
                <a:gd name="textAreaTop" fmla="*/ 0 h 86760"/>
                <a:gd name="textAreaBottom" fmla="*/ 87120 h 86760"/>
                <a:gd name="GluePoint1X" fmla="*/ 0 w 22"/>
                <a:gd name="GluePoint1Y" fmla="*/ 0 h 61"/>
                <a:gd name="GluePoint2X" fmla="*/ 19 w 22"/>
                <a:gd name="GluePoint2Y" fmla="*/ 0 h 61"/>
                <a:gd name="GluePoint3X" fmla="*/ 22 w 22"/>
                <a:gd name="GluePoint3Y" fmla="*/ 61 h 61"/>
              </a:gdLst>
              <a:ahLst/>
              <a:cxnLst>
                <a:cxn ang="0">
                  <a:pos x="GluePoint1X" y="GluePoint1Y"/>
                </a:cxn>
                <a:cxn ang="0">
                  <a:pos x="GluePoint2X" y="GluePoint2Y"/>
                </a:cxn>
                <a:cxn ang="0">
                  <a:pos x="GluePoint3X" y="GluePoint3Y"/>
                </a:cxn>
              </a:cxnLst>
              <a:rect l="textAreaLeft" t="textAreaTop" r="textAreaRight" b="textAreaBottom"/>
              <a:pathLst>
                <a:path w="22" h="61">
                  <a:moveTo>
                    <a:pt x="0" y="0"/>
                  </a:moveTo>
                  <a:lnTo>
                    <a:pt x="19" y="0"/>
                  </a:lnTo>
                  <a:lnTo>
                    <a:pt x="22" y="61"/>
                  </a:lnTo>
                </a:path>
              </a:pathLst>
            </a:custGeom>
            <a:noFill/>
            <a:ln w="0">
              <a:solidFill>
                <a:srgbClr val="000000"/>
              </a:solidFill>
            </a:ln>
          </p:spPr>
          <p:style>
            <a:lnRef idx="0"/>
            <a:fillRef idx="0"/>
            <a:effectRef idx="0"/>
            <a:fontRef idx="minor"/>
          </p:style>
          <p:txBody>
            <a:bodyPr lIns="90000" rIns="90000" tIns="40320" bIns="4032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38" name="Freeform 1385"/>
            <p:cNvSpPr/>
            <p:nvPr/>
          </p:nvSpPr>
          <p:spPr>
            <a:xfrm>
              <a:off x="5159880" y="3735000"/>
              <a:ext cx="73800" cy="73800"/>
            </a:xfrm>
            <a:custGeom>
              <a:avLst/>
              <a:gdLst>
                <a:gd name="textAreaLeft" fmla="*/ 0 w 73800"/>
                <a:gd name="textAreaRight" fmla="*/ 74160 w 73800"/>
                <a:gd name="textAreaTop" fmla="*/ 0 h 73800"/>
                <a:gd name="textAreaBottom" fmla="*/ 74160 h 73800"/>
                <a:gd name="GluePoint1X" fmla="*/ 52 w 52"/>
                <a:gd name="GluePoint1Y" fmla="*/ 0 h 52"/>
                <a:gd name="GluePoint2X" fmla="*/ 33 w 52"/>
                <a:gd name="GluePoint2Y" fmla="*/ 0 h 52"/>
                <a:gd name="GluePoint3X" fmla="*/ 0 w 52"/>
                <a:gd name="GluePoint3Y" fmla="*/ 52 h 52"/>
              </a:gdLst>
              <a:ahLst/>
              <a:cxnLst>
                <a:cxn ang="0">
                  <a:pos x="GluePoint1X" y="GluePoint1Y"/>
                </a:cxn>
                <a:cxn ang="0">
                  <a:pos x="GluePoint2X" y="GluePoint2Y"/>
                </a:cxn>
                <a:cxn ang="0">
                  <a:pos x="GluePoint3X" y="GluePoint3Y"/>
                </a:cxn>
              </a:cxnLst>
              <a:rect l="textAreaLeft" t="textAreaTop" r="textAreaRight" b="textAreaBottom"/>
              <a:pathLst>
                <a:path w="52" h="52">
                  <a:moveTo>
                    <a:pt x="52" y="0"/>
                  </a:moveTo>
                  <a:lnTo>
                    <a:pt x="33" y="0"/>
                  </a:lnTo>
                  <a:lnTo>
                    <a:pt x="0" y="52"/>
                  </a:lnTo>
                </a:path>
              </a:pathLst>
            </a:custGeom>
            <a:noFill/>
            <a:ln w="0">
              <a:solidFill>
                <a:srgbClr val="000000"/>
              </a:solidFill>
            </a:ln>
          </p:spPr>
          <p:style>
            <a:lnRef idx="0"/>
            <a:fillRef idx="0"/>
            <a:effectRef idx="0"/>
            <a:fontRef idx="minor"/>
          </p:style>
          <p:txBody>
            <a:bodyPr lIns="90000" rIns="90000" tIns="27360" bIns="2736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39" name="Rectangle 1386"/>
            <p:cNvSpPr/>
            <p:nvPr/>
          </p:nvSpPr>
          <p:spPr>
            <a:xfrm>
              <a:off x="4565880" y="44618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66%</a:t>
              </a:r>
              <a:endParaRPr b="0" i="1" lang="en-IN" sz="800" strike="noStrike" u="none">
                <a:solidFill>
                  <a:srgbClr val="000000"/>
                </a:solidFill>
                <a:effectLst/>
                <a:uFillTx/>
                <a:latin typeface="Arial"/>
              </a:endParaRPr>
            </a:p>
          </p:txBody>
        </p:sp>
        <p:sp>
          <p:nvSpPr>
            <p:cNvPr id="240" name="Rectangle 1387"/>
            <p:cNvSpPr/>
            <p:nvPr/>
          </p:nvSpPr>
          <p:spPr>
            <a:xfrm>
              <a:off x="5565960" y="3927240"/>
              <a:ext cx="20520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34%</a:t>
              </a:r>
              <a:endParaRPr b="0" i="1" lang="en-IN" sz="800" strike="noStrike" u="none">
                <a:solidFill>
                  <a:srgbClr val="000000"/>
                </a:solidFill>
                <a:effectLst/>
                <a:uFillTx/>
                <a:latin typeface="Arial"/>
              </a:endParaRPr>
            </a:p>
          </p:txBody>
        </p:sp>
        <p:sp>
          <p:nvSpPr>
            <p:cNvPr id="241" name="Rectangle 1388"/>
            <p:cNvSpPr/>
            <p:nvPr/>
          </p:nvSpPr>
          <p:spPr>
            <a:xfrm>
              <a:off x="4892040" y="3591000"/>
              <a:ext cx="23328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0.4%</a:t>
              </a:r>
              <a:endParaRPr b="0" i="1" lang="en-IN" sz="800" strike="noStrike" u="none">
                <a:solidFill>
                  <a:srgbClr val="000000"/>
                </a:solidFill>
                <a:effectLst/>
                <a:uFillTx/>
                <a:latin typeface="Arial"/>
              </a:endParaRPr>
            </a:p>
          </p:txBody>
        </p:sp>
        <p:sp>
          <p:nvSpPr>
            <p:cNvPr id="242" name="Rectangle 1389"/>
            <p:cNvSpPr/>
            <p:nvPr/>
          </p:nvSpPr>
          <p:spPr>
            <a:xfrm>
              <a:off x="5247720" y="3659040"/>
              <a:ext cx="233280" cy="1220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0.1%</a:t>
              </a:r>
              <a:endParaRPr b="0" i="1" lang="en-IN" sz="8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3"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BB9D4B4-E9CB-426C-B262-FA4DAA9CD880}"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44" name="PlaceHolder 1"/>
          <p:cNvSpPr>
            <a:spLocks noGrp="1"/>
          </p:cNvSpPr>
          <p:nvPr>
            <p:ph type="title"/>
          </p:nvPr>
        </p:nvSpPr>
        <p:spPr>
          <a:xfrm>
            <a:off x="304920" y="837720"/>
            <a:ext cx="8229600" cy="3049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333399"/>
                </a:solidFill>
                <a:effectLst/>
                <a:uFillTx/>
                <a:latin typeface="Arial"/>
              </a:rPr>
              <a:t>Organization of Findings</a:t>
            </a:r>
            <a:endParaRPr b="0" lang="en-IN" sz="2400" strike="noStrike" u="none">
              <a:solidFill>
                <a:srgbClr val="333399"/>
              </a:solidFill>
              <a:effectLst/>
              <a:uFillTx/>
              <a:latin typeface="Arial"/>
            </a:endParaRPr>
          </a:p>
        </p:txBody>
      </p:sp>
      <p:sp>
        <p:nvSpPr>
          <p:cNvPr id="245" name="PlaceHolder 2"/>
          <p:cNvSpPr>
            <a:spLocks noGrp="1"/>
          </p:cNvSpPr>
          <p:nvPr>
            <p:ph/>
          </p:nvPr>
        </p:nvSpPr>
        <p:spPr>
          <a:xfrm>
            <a:off x="457200" y="1066680"/>
            <a:ext cx="8229600" cy="5562720"/>
          </a:xfrm>
          <a:prstGeom prst="rect">
            <a:avLst/>
          </a:prstGeom>
          <a:noFill/>
          <a:ln w="0">
            <a:noFill/>
          </a:ln>
        </p:spPr>
        <p:txBody>
          <a:bodyPr lIns="91440" rIns="91440" tIns="45720" bIns="45720" anchor="t">
            <a:normAutofit/>
          </a:bodyPr>
          <a:p>
            <a:pPr lvl="1" marL="743040" indent="0">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Research Question 1: Do employees at NASA Ames understand diversity and its benefits?</a:t>
            </a:r>
            <a:endParaRPr b="0" lang="en-IN" sz="1800" strike="noStrike" u="none">
              <a:solidFill>
                <a:srgbClr val="000000"/>
              </a:solidFill>
              <a:effectLst/>
              <a:uFillTx/>
              <a:latin typeface="Arial"/>
            </a:endParaRPr>
          </a:p>
          <a:p>
            <a:pPr lvl="1" marL="743040" indent="0">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Research Question 2: What are employees’ perceptions regarding the culture of diversity at NASA Ames?</a:t>
            </a:r>
            <a:endParaRPr b="0" lang="en-IN" sz="1800" strike="noStrike" u="none">
              <a:solidFill>
                <a:srgbClr val="000000"/>
              </a:solidFill>
              <a:effectLst/>
              <a:uFillTx/>
              <a:latin typeface="Arial"/>
            </a:endParaRPr>
          </a:p>
          <a:p>
            <a:pPr lvl="1" marL="743040" indent="0">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Research Question 3: How do employees perceive their own experiences at NASA Ames?</a:t>
            </a:r>
            <a:endParaRPr b="0" lang="en-IN" sz="1800" strike="noStrike" u="none">
              <a:solidFill>
                <a:srgbClr val="000000"/>
              </a:solidFill>
              <a:effectLst/>
              <a:uFillTx/>
              <a:latin typeface="Arial"/>
            </a:endParaRPr>
          </a:p>
          <a:p>
            <a:pPr lvl="1" marL="743040" indent="0">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Research Question 4: How aware are employees of NASA Ames policies and initiatives to promote diversity?</a:t>
            </a:r>
            <a:endParaRPr b="0" lang="en-IN" sz="1800" strike="noStrike" u="none">
              <a:solidFill>
                <a:srgbClr val="000000"/>
              </a:solidFill>
              <a:effectLst/>
              <a:uFillTx/>
              <a:latin typeface="Arial"/>
            </a:endParaRPr>
          </a:p>
          <a:p>
            <a:pPr lvl="1" marL="743040" indent="0">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Research Question 5: How effective do employees think NASA Ames has been, overall, in creating an inclusive work environment?</a:t>
            </a:r>
            <a:endParaRPr b="0" lang="en-IN" sz="1800" strike="noStrike" u="none">
              <a:solidFill>
                <a:srgbClr val="000000"/>
              </a:solidFill>
              <a:effectLst/>
              <a:uFillTx/>
              <a:latin typeface="Arial"/>
            </a:endParaRPr>
          </a:p>
          <a:p>
            <a:pPr lvl="1" marL="743040" indent="0">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Selected Findings and Possible Follow-up Actions</a:t>
            </a:r>
            <a:endParaRPr b="0" lang="en-IN" sz="1800" strike="noStrike" u="none">
              <a:solidFill>
                <a:srgbClr val="000000"/>
              </a:solidFill>
              <a:effectLst/>
              <a:uFillTx/>
              <a:latin typeface="Arial"/>
            </a:endParaRPr>
          </a:p>
          <a:p>
            <a:pPr lvl="1" marL="743040" indent="0">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Action Planning</a:t>
            </a:r>
            <a:endParaRPr b="0" lang="en-IN" sz="1800" strike="noStrike" u="none">
              <a:solidFill>
                <a:srgbClr val="000000"/>
              </a:solidFill>
              <a:effectLst/>
              <a:uFillTx/>
              <a:latin typeface="Arial"/>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6"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1DCC0DE-D81D-484C-B13F-870159645652}"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47" name="PlaceHolder 1"/>
          <p:cNvSpPr>
            <a:spLocks noGrp="1"/>
          </p:cNvSpPr>
          <p:nvPr>
            <p:ph type="title"/>
          </p:nvPr>
        </p:nvSpPr>
        <p:spPr>
          <a:xfrm>
            <a:off x="609480" y="685440"/>
            <a:ext cx="792504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Sample Research Question (Actual Survey Question # 1):</a:t>
            </a:r>
            <a:r>
              <a:rPr b="0" lang="en-IN" sz="2000" strike="noStrike" u="none">
                <a:solidFill>
                  <a:srgbClr val="333399"/>
                </a:solidFill>
                <a:effectLst/>
                <a:uFillTx/>
                <a:latin typeface="Arial"/>
              </a:rPr>
              <a:t> </a:t>
            </a:r>
            <a:br>
              <a:rPr sz="2000"/>
            </a:br>
            <a:r>
              <a:rPr b="1" lang="en-IN" sz="2000" strike="noStrike" u="none">
                <a:solidFill>
                  <a:srgbClr val="333399"/>
                </a:solidFill>
                <a:effectLst/>
                <a:uFillTx/>
                <a:latin typeface="Arial"/>
              </a:rPr>
              <a:t>Do employees at NASA Ames understand diversity and its benefits?</a:t>
            </a:r>
            <a:endParaRPr b="0" lang="en-IN" sz="2000" strike="noStrike" u="none">
              <a:solidFill>
                <a:srgbClr val="333399"/>
              </a:solidFill>
              <a:effectLst/>
              <a:uFillTx/>
              <a:latin typeface="Arial"/>
            </a:endParaRPr>
          </a:p>
        </p:txBody>
      </p:sp>
      <p:pic>
        <p:nvPicPr>
          <p:cNvPr id="248" name="Picture 3" descr=""/>
          <p:cNvPicPr/>
          <p:nvPr/>
        </p:nvPicPr>
        <p:blipFill>
          <a:blip r:embed="rId1"/>
          <a:stretch/>
        </p:blipFill>
        <p:spPr>
          <a:xfrm>
            <a:off x="1143000" y="1828800"/>
            <a:ext cx="6781680" cy="42670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9" name="Slide Number Placeholder 2"/>
          <p:cNvSpPr/>
          <p:nvPr/>
        </p:nvSpPr>
        <p:spPr>
          <a:xfrm>
            <a:off x="7086600" y="5816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1607D71-68FC-4029-8E5D-D7143A6324A0}"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50" name="Rectangle 2"/>
          <p:cNvSpPr/>
          <p:nvPr/>
        </p:nvSpPr>
        <p:spPr>
          <a:xfrm>
            <a:off x="57240" y="762120"/>
            <a:ext cx="183960" cy="366480"/>
          </a:xfrm>
          <a:prstGeom prst="rect">
            <a:avLst/>
          </a:prstGeom>
          <a:noFill/>
          <a:ln w="0">
            <a:noFill/>
          </a:ln>
        </p:spPr>
        <p:style>
          <a:lnRef idx="0"/>
          <a:fillRef idx="0"/>
          <a:effectRef idx="0"/>
          <a:fontRef idx="minor"/>
        </p:style>
        <p:txBody>
          <a:bodyPr wrap="none" lIns="90000" rIns="90000" tIns="46800" bIns="46800" anchor="ctr">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1800" strike="noStrike" u="none">
              <a:solidFill>
                <a:srgbClr val="000000"/>
              </a:solidFill>
              <a:effectLst/>
              <a:uFillTx/>
              <a:latin typeface="Arial"/>
            </a:endParaRPr>
          </a:p>
        </p:txBody>
      </p:sp>
      <p:sp>
        <p:nvSpPr>
          <p:cNvPr id="251" name="Rectangle 3"/>
          <p:cNvSpPr/>
          <p:nvPr/>
        </p:nvSpPr>
        <p:spPr>
          <a:xfrm>
            <a:off x="2286000" y="2604600"/>
            <a:ext cx="5486400" cy="3204360"/>
          </a:xfrm>
          <a:prstGeom prst="rect">
            <a:avLst/>
          </a:prstGeom>
          <a:noFill/>
          <a:ln w="0">
            <a:noFill/>
          </a:ln>
        </p:spPr>
        <p:style>
          <a:lnRef idx="0"/>
          <a:fillRef idx="0"/>
          <a:effectRef idx="0"/>
          <a:fontRef idx="minor"/>
        </p:style>
        <p:txBody>
          <a:bodyPr lIns="90000" rIns="90000" tIns="46800" bIns="46800" anchor="ctr">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36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 Ames’ Strengths</a:t>
            </a:r>
            <a:endParaRPr b="0" i="1" lang="en-IN"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 Areas of Concern</a:t>
            </a:r>
            <a:endParaRPr b="0" i="1" lang="en-IN"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 Follow-Up Actions</a:t>
            </a:r>
            <a:endParaRPr b="0" i="1" lang="en-IN" sz="2800" strike="noStrike" u="none">
              <a:solidFill>
                <a:srgbClr val="000000"/>
              </a:solidFill>
              <a:effectLst/>
              <a:uFillTx/>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800" strike="noStrike" u="none">
              <a:solidFill>
                <a:srgbClr val="000000"/>
              </a:solidFill>
              <a:effectLst/>
              <a:uFillTx/>
              <a:latin typeface="Arial"/>
            </a:endParaRPr>
          </a:p>
        </p:txBody>
      </p:sp>
      <p:sp>
        <p:nvSpPr>
          <p:cNvPr id="252" name="Rectangle 2"/>
          <p:cNvSpPr/>
          <p:nvPr/>
        </p:nvSpPr>
        <p:spPr>
          <a:xfrm>
            <a:off x="457200" y="1295280"/>
            <a:ext cx="8229600" cy="12956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333399"/>
                </a:solidFill>
                <a:effectLst/>
                <a:uFillTx/>
                <a:latin typeface="Arial"/>
              </a:rPr>
              <a:t>Survey Findings</a:t>
            </a:r>
            <a:endParaRPr b="0" i="1" lang="en-IN" sz="4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BC10520-165F-4976-904F-80795729AFFF}"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54" name=""/>
          <p:cNvSpPr txBox="1"/>
          <p:nvPr/>
        </p:nvSpPr>
        <p:spPr>
          <a:xfrm>
            <a:off x="685440" y="2189160"/>
            <a:ext cx="7620120" cy="3906720"/>
          </a:xfrm>
          <a:prstGeom prst="rect">
            <a:avLst/>
          </a:prstGeom>
          <a:noFill/>
          <a:ln w="0">
            <a:noFill/>
          </a:ln>
        </p:spPr>
        <p:txBody>
          <a:bodyPr anchor="t">
            <a:normAutofit/>
          </a:bodyPr>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Most respondents understand the NASA Ames Diversity message</a:t>
            </a:r>
            <a:endParaRPr b="0" lang="en-IN" sz="16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75 percent agree that diversity is not just about physical characteristics</a:t>
            </a:r>
            <a:endParaRPr b="0" lang="en-IN" sz="1600" strike="noStrike" u="none">
              <a:solidFill>
                <a:srgbClr val="000000"/>
              </a:solidFill>
              <a:effectLst/>
              <a:uFillTx/>
              <a:latin typeface="Arial"/>
            </a:endParaRPr>
          </a:p>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Areas of Concern</a:t>
            </a:r>
            <a:endParaRPr b="0" lang="en-IN" sz="18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Some respondents define workplace diversity somewhat narrowly in terms of equal opportunity, affirmative action, and quotas </a:t>
            </a:r>
            <a:endParaRPr b="0" lang="en-IN" sz="1600" strike="noStrike" u="none">
              <a:solidFill>
                <a:srgbClr val="000000"/>
              </a:solidFill>
              <a:effectLst/>
              <a:uFillTx/>
              <a:latin typeface="Arial"/>
            </a:endParaRPr>
          </a:p>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Possible Actions</a:t>
            </a:r>
            <a:endParaRPr b="0" lang="en-IN" sz="1800" strike="noStrike" u="none">
              <a:solidFill>
                <a:srgbClr val="000000"/>
              </a:solidFill>
              <a:effectLst/>
              <a:uFillTx/>
              <a:latin typeface="Arial"/>
            </a:endParaRPr>
          </a:p>
          <a:p>
            <a:pPr lvl="1" marL="743040" indent="-28584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Promote better understanding of the broad meaning of workplace diversity</a:t>
            </a:r>
            <a:endParaRPr b="0" lang="en-IN" sz="1600" strike="noStrike" u="none">
              <a:solidFill>
                <a:srgbClr val="000000"/>
              </a:solidFill>
              <a:effectLst/>
              <a:uFillTx/>
              <a:latin typeface="Arial"/>
            </a:endParaRPr>
          </a:p>
          <a:p>
            <a:pPr lvl="1" marL="743040" indent="-28584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Consider using the widely read </a:t>
            </a:r>
            <a:r>
              <a:rPr b="0" i="1" lang="en-US" sz="1600" strike="noStrike" u="none">
                <a:solidFill>
                  <a:srgbClr val="000000"/>
                </a:solidFill>
                <a:effectLst/>
                <a:uFillTx/>
                <a:latin typeface="Arial"/>
              </a:rPr>
              <a:t>Astrogram</a:t>
            </a:r>
            <a:r>
              <a:rPr b="0" lang="en-US" sz="1600" strike="noStrike" u="none">
                <a:solidFill>
                  <a:srgbClr val="000000"/>
                </a:solidFill>
                <a:effectLst/>
                <a:uFillTx/>
                <a:latin typeface="Arial"/>
              </a:rPr>
              <a:t> as a promotion tool</a:t>
            </a:r>
            <a:endParaRPr b="0" lang="en-IN" sz="1600" strike="noStrike" u="none">
              <a:solidFill>
                <a:srgbClr val="000000"/>
              </a:solidFill>
              <a:effectLst/>
              <a:uFillTx/>
              <a:latin typeface="Arial"/>
            </a:endParaRPr>
          </a:p>
          <a:p>
            <a:pPr lvl="2" marL="1143000" indent="-228600">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
        <p:nvSpPr>
          <p:cNvPr id="255" name="PlaceHolder 1"/>
          <p:cNvSpPr>
            <a:spLocks noGrp="1"/>
          </p:cNvSpPr>
          <p:nvPr>
            <p:ph type="title"/>
          </p:nvPr>
        </p:nvSpPr>
        <p:spPr>
          <a:xfrm>
            <a:off x="457200" y="1099800"/>
            <a:ext cx="8229600" cy="500040"/>
          </a:xfrm>
          <a:prstGeom prst="rect">
            <a:avLst/>
          </a:prstGeom>
          <a:noFill/>
          <a:ln w="0">
            <a:noFill/>
          </a:ln>
        </p:spPr>
        <p:txBody>
          <a:bodyPr lIns="91440" rIns="91440" tIns="45720" bIns="45720" anchor="ctr">
            <a:noAutofit/>
          </a:bodyPr>
          <a:p>
            <a:pPr marL="343080" indent="-34308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Understanding of Workplace Diversity</a:t>
            </a:r>
            <a:endParaRPr b="0" lang="en-IN" sz="3200" strike="noStrike" u="none">
              <a:solidFill>
                <a:srgbClr val="333399"/>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6" name="PlaceHolder 1"/>
          <p:cNvSpPr>
            <a:spLocks noGrp="1"/>
          </p:cNvSpPr>
          <p:nvPr>
            <p:ph type="title"/>
          </p:nvPr>
        </p:nvSpPr>
        <p:spPr>
          <a:xfrm>
            <a:off x="457200" y="114264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Benefits of Workplace Diversity</a:t>
            </a:r>
            <a:endParaRPr b="0" lang="en-IN" sz="3200" strike="noStrike" u="none">
              <a:solidFill>
                <a:srgbClr val="333399"/>
              </a:solidFill>
              <a:effectLst/>
              <a:uFillTx/>
              <a:latin typeface="Arial"/>
            </a:endParaRPr>
          </a:p>
        </p:txBody>
      </p:sp>
      <p:sp>
        <p:nvSpPr>
          <p:cNvPr id="257" name=""/>
          <p:cNvSpPr txBox="1"/>
          <p:nvPr/>
        </p:nvSpPr>
        <p:spPr>
          <a:xfrm>
            <a:off x="685800" y="2057040"/>
            <a:ext cx="7772400" cy="4267080"/>
          </a:xfrm>
          <a:prstGeom prst="rect">
            <a:avLst/>
          </a:prstGeom>
          <a:noFill/>
          <a:ln w="0">
            <a:noFill/>
          </a:ln>
        </p:spPr>
        <p:txBody>
          <a:bodyPr anchor="t">
            <a:normAutofit/>
          </a:bodyPr>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More than 80% of Ames respondents believe that diversity can be a source of business advantage, and many cited its importance to the Center’s mission</a:t>
            </a:r>
            <a:endParaRPr b="0" lang="en-IN" sz="1600" strike="noStrike" u="none">
              <a:solidFill>
                <a:srgbClr val="000000"/>
              </a:solidFill>
              <a:effectLst/>
              <a:uFillTx/>
              <a:latin typeface="Arial"/>
            </a:endParaRPr>
          </a:p>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Areas of Concern</a:t>
            </a:r>
            <a:endParaRPr b="0" lang="en-IN" sz="18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 minority do not see a link between a diverse workplace and better products, increased workforce productivity, and creativity and innovation</a:t>
            </a:r>
            <a:endParaRPr b="0" lang="en-IN" sz="1600" strike="noStrike" u="none">
              <a:solidFill>
                <a:srgbClr val="000000"/>
              </a:solidFill>
              <a:effectLst/>
              <a:uFillTx/>
              <a:latin typeface="Arial"/>
            </a:endParaRPr>
          </a:p>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Possible Actions</a:t>
            </a:r>
            <a:endParaRPr b="0" lang="en-IN" sz="18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Provide more concrete examples of the relationship between workplace diversity and workplace benefits in diversity training classes and promotional activities</a:t>
            </a:r>
            <a:endParaRPr b="0" lang="en-IN" sz="16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Consider offering Myers-Briggs training to managers and supervisors</a:t>
            </a:r>
            <a:endParaRPr b="0" lang="en-IN" sz="16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
        <p:nvSpPr>
          <p:cNvPr id="258"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EA88EF-3451-4D92-AA8E-ACC04D419F3B}"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9" name="PlaceHolder 1"/>
          <p:cNvSpPr>
            <a:spLocks noGrp="1"/>
          </p:cNvSpPr>
          <p:nvPr>
            <p:ph type="title"/>
          </p:nvPr>
        </p:nvSpPr>
        <p:spPr>
          <a:xfrm>
            <a:off x="457200" y="914400"/>
            <a:ext cx="8229600" cy="8380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Organizational Culture: General Perceptions</a:t>
            </a:r>
            <a:endParaRPr b="0" lang="en-IN" sz="3200" strike="noStrike" u="none">
              <a:solidFill>
                <a:srgbClr val="333399"/>
              </a:solidFill>
              <a:effectLst/>
              <a:uFillTx/>
              <a:latin typeface="Arial"/>
            </a:endParaRPr>
          </a:p>
        </p:txBody>
      </p:sp>
      <p:sp>
        <p:nvSpPr>
          <p:cNvPr id="260" name="PlaceHolder 2"/>
          <p:cNvSpPr>
            <a:spLocks noGrp="1"/>
          </p:cNvSpPr>
          <p:nvPr>
            <p:ph/>
          </p:nvPr>
        </p:nvSpPr>
        <p:spPr>
          <a:xfrm>
            <a:off x="457200" y="1905120"/>
            <a:ext cx="8229600" cy="4419360"/>
          </a:xfrm>
          <a:prstGeom prst="rect">
            <a:avLst/>
          </a:prstGeom>
          <a:noFill/>
          <a:ln w="0">
            <a:noFill/>
          </a:ln>
        </p:spPr>
        <p:txBody>
          <a:bodyPr lIns="91440" rIns="91440" tIns="45720" bIns="45720" anchor="t">
            <a:normAutofit lnSpcReduction="9999"/>
          </a:bodyPr>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Ames’ Strengths</a:t>
            </a:r>
            <a:endParaRPr b="0" lang="en-IN" sz="16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Overall, respondents have positive general perceptions about the organizational culture: About 80% believe Ames policies promote fair treatment of employees, and 84% agree that employees have a responsibility to encourage diversity</a:t>
            </a:r>
            <a:endParaRPr b="0" lang="en-IN" sz="1400" strike="noStrike" u="none">
              <a:solidFill>
                <a:srgbClr val="000000"/>
              </a:solidFill>
              <a:effectLst/>
              <a:uFillTx/>
              <a:latin typeface="Arial"/>
            </a:endParaRPr>
          </a:p>
          <a:p>
            <a:pPr lvl="1" marL="743040" indent="0">
              <a:lnSpc>
                <a:spcPct val="80000"/>
              </a:lnSpc>
              <a:spcBef>
                <a:spcPts val="3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Areas of Concern</a:t>
            </a:r>
            <a:endParaRPr b="0" lang="en-IN" sz="16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Only 29% of respondents disagree with the statement that workplace diversity sometimes leads to workplace problems</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Only two thirds of employees believe their coworkers actually encourage and promote workforce inclusion</a:t>
            </a:r>
            <a:endParaRPr b="0" lang="en-IN" sz="1400" strike="noStrike" u="none">
              <a:solidFill>
                <a:srgbClr val="000000"/>
              </a:solidFill>
              <a:effectLst/>
              <a:uFillTx/>
              <a:latin typeface="Arial"/>
            </a:endParaRPr>
          </a:p>
          <a:p>
            <a:pPr lvl="1" marL="743040" indent="0">
              <a:lnSpc>
                <a:spcPct val="90000"/>
              </a:lnSpc>
              <a:spcBef>
                <a:spcPts val="3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Possible Actions</a:t>
            </a:r>
            <a:endParaRPr b="0" lang="en-IN" sz="1600" strike="noStrike" u="none">
              <a:solidFill>
                <a:srgbClr val="000000"/>
              </a:solidFill>
              <a:effectLst/>
              <a:uFillTx/>
              <a:latin typeface="Arial"/>
            </a:endParaRPr>
          </a:p>
          <a:p>
            <a:pPr lvl="1" marL="743040" indent="-285840">
              <a:lnSpc>
                <a:spcPct val="8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Address the first area of concern by:</a:t>
            </a:r>
            <a:endParaRPr b="0" lang="en-IN" sz="1400" strike="noStrike" u="none">
              <a:solidFill>
                <a:srgbClr val="000000"/>
              </a:solidFill>
              <a:effectLst/>
              <a:uFillTx/>
              <a:latin typeface="Arial"/>
            </a:endParaRPr>
          </a:p>
          <a:p>
            <a:pPr lvl="2" marL="1143000" indent="-228600">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Exploring the topic in employee focus groups. To reduce reticence in sharing honest feelings, keep the groups homogeneous in terms of gender (e.g., females in one group and males in another), supervisory status, and race/ethnicity</a:t>
            </a:r>
            <a:endParaRPr b="0" lang="en-IN" sz="1400" strike="noStrike" u="none">
              <a:solidFill>
                <a:srgbClr val="000000"/>
              </a:solidFill>
              <a:effectLst/>
              <a:uFillTx/>
              <a:latin typeface="Arial"/>
            </a:endParaRPr>
          </a:p>
          <a:p>
            <a:pPr lvl="2" marL="1143000" indent="-228600">
              <a:lnSpc>
                <a:spcPct val="80000"/>
              </a:lnSpc>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Incorporating this topic into diversity training courses</a:t>
            </a:r>
            <a:endParaRPr b="0" lang="en-IN" sz="1400" strike="noStrike" u="none">
              <a:solidFill>
                <a:srgbClr val="000000"/>
              </a:solidFill>
              <a:effectLst/>
              <a:uFillTx/>
              <a:latin typeface="Arial"/>
            </a:endParaRPr>
          </a:p>
          <a:p>
            <a:pPr lvl="2" marL="1143000" indent="-228600">
              <a:lnSpc>
                <a:spcPct val="90000"/>
              </a:lnSpc>
              <a:spcBef>
                <a:spcPts val="349"/>
              </a:spcBef>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Guide all employees in practical ways to implement diversity principles in their work units and teams</a:t>
            </a:r>
            <a:endParaRPr b="0" lang="en-IN" sz="1400" strike="noStrike" u="none">
              <a:solidFill>
                <a:srgbClr val="000000"/>
              </a:solidFill>
              <a:effectLst/>
              <a:uFillTx/>
              <a:latin typeface="Arial"/>
            </a:endParaRPr>
          </a:p>
        </p:txBody>
      </p:sp>
      <p:sp>
        <p:nvSpPr>
          <p:cNvPr id="261"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9DB645-5D10-4FE0-80A2-74E36234E0CE}"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0" y="99036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Diversity Training</a:t>
            </a:r>
            <a:endParaRPr b="0" lang="en-IN" sz="3200" strike="noStrike" u="none">
              <a:solidFill>
                <a:srgbClr val="333399"/>
              </a:solidFill>
              <a:effectLst/>
              <a:uFillTx/>
              <a:latin typeface="Arial"/>
            </a:endParaRPr>
          </a:p>
        </p:txBody>
      </p:sp>
      <p:sp>
        <p:nvSpPr>
          <p:cNvPr id="263" name=""/>
          <p:cNvSpPr txBox="1"/>
          <p:nvPr/>
        </p:nvSpPr>
        <p:spPr>
          <a:xfrm>
            <a:off x="456840" y="1676160"/>
            <a:ext cx="8077320" cy="4592520"/>
          </a:xfrm>
          <a:prstGeom prst="rect">
            <a:avLst/>
          </a:prstGeom>
          <a:noFill/>
          <a:ln w="0">
            <a:noFill/>
          </a:ln>
        </p:spPr>
        <p:txBody>
          <a:bodyPr anchor="t">
            <a:normAutofit lnSpcReduction="9999"/>
          </a:bodyPr>
          <a:p>
            <a:pPr marL="343080" indent="-343080">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Less than 10% of respondents have a negative opinion about Ames’ efforts to encourage employees to participate in diversity training</a:t>
            </a:r>
            <a:endParaRPr b="0" lang="en-IN" sz="1400" strike="noStrike" u="none">
              <a:solidFill>
                <a:srgbClr val="000000"/>
              </a:solidFill>
              <a:effectLst/>
              <a:uFillTx/>
              <a:latin typeface="Arial"/>
            </a:endParaRPr>
          </a:p>
          <a:p>
            <a:pPr marL="343080" indent="-343080">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Area of Concern</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About 50% of respondents indicated a need to improve diversity training at Ames, citing: </a:t>
            </a:r>
            <a:endParaRPr b="0" lang="en-IN" sz="1400" strike="noStrike" u="none">
              <a:solidFill>
                <a:srgbClr val="000000"/>
              </a:solidFill>
              <a:effectLst/>
              <a:uFillTx/>
              <a:latin typeface="Arial"/>
            </a:endParaRPr>
          </a:p>
          <a:p>
            <a:pPr lvl="2" marL="1143000" indent="-228600">
              <a:lnSpc>
                <a:spcPct val="90000"/>
              </a:lnSpc>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Too much focus on physical differences</a:t>
            </a:r>
            <a:endParaRPr b="0" lang="en-IN" sz="1400" strike="noStrike" u="none">
              <a:solidFill>
                <a:srgbClr val="000000"/>
              </a:solidFill>
              <a:effectLst/>
              <a:uFillTx/>
              <a:latin typeface="Arial"/>
            </a:endParaRPr>
          </a:p>
          <a:p>
            <a:pPr lvl="2" marL="1143000" indent="-228600">
              <a:lnSpc>
                <a:spcPct val="90000"/>
              </a:lnSpc>
              <a:spcBef>
                <a:spcPts val="34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Passive “lecturing” on compliance with equal opportunity (EEO) laws and agency policies</a:t>
            </a:r>
            <a:endParaRPr b="0" lang="en-IN" sz="1400" strike="noStrike" u="none">
              <a:solidFill>
                <a:srgbClr val="000000"/>
              </a:solidFill>
              <a:effectLst/>
              <a:uFillTx/>
              <a:latin typeface="Arial"/>
            </a:endParaRPr>
          </a:p>
          <a:p>
            <a:pPr lvl="1" marL="743040" indent="-285840">
              <a:lnSpc>
                <a:spcPct val="90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Possible Actions</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Develop training that is more interactive</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Align content with the agency’s diversity mission statement and principles</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Differentiate diversity mission from EEO compliance</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Consider conducting a focus group or interviews with former trainees to gather their ideas for improving the training</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Monitor training effectiveness; revise training in response to participants’ evaluations and progress in meeting identified training goals</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Be realistic about the purpose and goals of diversity training. The diversity literature indicates that diversity training, in and of itself, is insufficient as the primary mechanism for achieving a diverse workforce</a:t>
            </a:r>
            <a:endParaRPr b="0" lang="en-IN" sz="1400" strike="noStrike" u="none">
              <a:solidFill>
                <a:srgbClr val="000000"/>
              </a:solidFill>
              <a:effectLst/>
              <a:uFillTx/>
              <a:latin typeface="Arial"/>
            </a:endParaRPr>
          </a:p>
        </p:txBody>
      </p:sp>
      <p:sp>
        <p:nvSpPr>
          <p:cNvPr id="264"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1A3EB33-CE74-41D8-921A-D16DF0368018}"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5" name="PlaceHolder 1"/>
          <p:cNvSpPr>
            <a:spLocks noGrp="1"/>
          </p:cNvSpPr>
          <p:nvPr>
            <p:ph type="title"/>
          </p:nvPr>
        </p:nvSpPr>
        <p:spPr>
          <a:xfrm>
            <a:off x="457200" y="99036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Manager and Supervisors</a:t>
            </a:r>
            <a:endParaRPr b="0" lang="en-IN" sz="3200" strike="noStrike" u="none">
              <a:solidFill>
                <a:srgbClr val="333399"/>
              </a:solidFill>
              <a:effectLst/>
              <a:uFillTx/>
              <a:latin typeface="Arial"/>
            </a:endParaRPr>
          </a:p>
        </p:txBody>
      </p:sp>
      <p:sp>
        <p:nvSpPr>
          <p:cNvPr id="266" name=""/>
          <p:cNvSpPr txBox="1"/>
          <p:nvPr/>
        </p:nvSpPr>
        <p:spPr>
          <a:xfrm>
            <a:off x="761760" y="1828440"/>
            <a:ext cx="7848360" cy="4592520"/>
          </a:xfrm>
          <a:prstGeom prst="rect">
            <a:avLst/>
          </a:prstGeom>
          <a:noFill/>
          <a:ln w="0">
            <a:noFill/>
          </a:ln>
        </p:spPr>
        <p:txBody>
          <a:bodyPr anchor="t">
            <a:normAutofit lnSpcReduction="9999"/>
          </a:bodyPr>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60% to 70% of respondents believe that managers and supervisors value employees of diverse backgrounds and viewpoints and encourage them to share their opinions</a:t>
            </a:r>
            <a:endParaRPr b="0" lang="en-IN" sz="1400" strike="noStrike" u="none">
              <a:solidFill>
                <a:srgbClr val="000000"/>
              </a:solidFill>
              <a:effectLst/>
              <a:uFillTx/>
              <a:latin typeface="Arial"/>
            </a:endParaRPr>
          </a:p>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Area of Concern</a:t>
            </a:r>
            <a:endParaRPr b="0" lang="en-IN" sz="1800" strike="noStrike" u="none">
              <a:solidFill>
                <a:srgbClr val="000000"/>
              </a:solidFill>
              <a:effectLst/>
              <a:uFillTx/>
              <a:latin typeface="Arial"/>
            </a:endParaRPr>
          </a:p>
          <a:p>
            <a:pPr lvl="1" marL="743040" indent="-285840">
              <a:lnSpc>
                <a:spcPct val="9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However, respondents generally give managers and supervisors higher marks for what they say than for what they actually do to ensure effective workplace diversity, with the perceived difference between words and action being in the 10% to 20% range</a:t>
            </a:r>
            <a:endParaRPr b="0" lang="en-IN" sz="1400" strike="noStrike" u="none">
              <a:solidFill>
                <a:srgbClr val="000000"/>
              </a:solidFill>
              <a:effectLst/>
              <a:uFillTx/>
              <a:latin typeface="Arial"/>
            </a:endParaRPr>
          </a:p>
          <a:p>
            <a:pPr marL="343080" indent="-343080">
              <a:lnSpc>
                <a:spcPct val="9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Possible Actions</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Review existing responsibilities of managers and supervisors for promoting and implementing diversity principles</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If necessary, clarify the responsibilities so that they can be measured and monitored</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Communicate and discuss the goals with managers and supervisors. Share best practices with them for achieving the goals. Provide them with the support they need to perform effectively</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Incorporate the goals into their performance appraisals and hold them accountable for progress in meeting them</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Recognize and reward managers and supervisors for outstanding achievements in improving workplace diversity</a:t>
            </a:r>
            <a:endParaRPr b="0" lang="en-IN" sz="1400" strike="noStrike" u="none">
              <a:solidFill>
                <a:srgbClr val="000000"/>
              </a:solidFill>
              <a:effectLst/>
              <a:uFillTx/>
              <a:latin typeface="Arial"/>
            </a:endParaRPr>
          </a:p>
        </p:txBody>
      </p:sp>
      <p:sp>
        <p:nvSpPr>
          <p:cNvPr id="267"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43F8C3C-A75A-493C-84DD-92A64F78E532}"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456840" y="990720"/>
            <a:ext cx="8381880" cy="76176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Personal Perceptions: Fair Treatment and Possible Reprisals</a:t>
            </a:r>
            <a:endParaRPr b="0" lang="en-IN" sz="3200" strike="noStrike" u="none">
              <a:solidFill>
                <a:srgbClr val="333399"/>
              </a:solidFill>
              <a:effectLst/>
              <a:uFillTx/>
              <a:latin typeface="Arial"/>
            </a:endParaRPr>
          </a:p>
        </p:txBody>
      </p:sp>
      <p:sp>
        <p:nvSpPr>
          <p:cNvPr id="269" name="PlaceHolder 2"/>
          <p:cNvSpPr>
            <a:spLocks noGrp="1"/>
          </p:cNvSpPr>
          <p:nvPr>
            <p:ph/>
          </p:nvPr>
        </p:nvSpPr>
        <p:spPr>
          <a:xfrm>
            <a:off x="457200" y="1981080"/>
            <a:ext cx="8229600" cy="4440240"/>
          </a:xfrm>
          <a:prstGeom prst="rect">
            <a:avLst/>
          </a:prstGeom>
          <a:noFill/>
          <a:ln w="0">
            <a:noFill/>
          </a:ln>
        </p:spPr>
        <p:txBody>
          <a:bodyPr lIns="91440" rIns="91440" tIns="45720" bIns="45720" anchor="t">
            <a:normAutofit/>
          </a:bodyPr>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Very low percentages of respondents (from 1% to 5%) indicated they are treated unfairly because of assumptions about their personal characteristics</a:t>
            </a:r>
            <a:endParaRPr b="0" lang="en-IN" sz="1400" strike="noStrike" u="none">
              <a:solidFill>
                <a:srgbClr val="000000"/>
              </a:solidFill>
              <a:effectLst/>
              <a:uFillTx/>
              <a:latin typeface="Arial"/>
            </a:endParaRPr>
          </a:p>
          <a:p>
            <a:pPr lvl="1" marL="743040" indent="-28584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Areas of Concern</a:t>
            </a:r>
            <a:endParaRPr b="0" lang="en-IN" sz="1800" strike="noStrike" u="none">
              <a:solidFill>
                <a:srgbClr val="000000"/>
              </a:solidFill>
              <a:effectLst/>
              <a:uFillTx/>
              <a:latin typeface="Arial"/>
            </a:endParaRPr>
          </a:p>
          <a:p>
            <a:pPr lvl="1" marL="743040" indent="-285840">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Non-Whites and women are less positive about experiencing unfair treatment</a:t>
            </a:r>
            <a:endParaRPr b="0" lang="en-IN" sz="1400" strike="noStrike" u="none">
              <a:solidFill>
                <a:srgbClr val="000000"/>
              </a:solidFill>
              <a:effectLst/>
              <a:uFillTx/>
              <a:latin typeface="Arial"/>
            </a:endParaRPr>
          </a:p>
          <a:p>
            <a:pPr lvl="1" marL="743040" indent="-285840">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Only 57% of respondents disagree with the statement that there will be negative consequences for them if they report unfair treatment at work, with notable differences between Whites and Non-Whites, men and women, supervisors and non-supervisors, and younger and older employees </a:t>
            </a:r>
            <a:endParaRPr b="0" lang="en-IN" sz="1400" strike="noStrike" u="none">
              <a:solidFill>
                <a:srgbClr val="000000"/>
              </a:solidFill>
              <a:effectLst/>
              <a:uFillTx/>
              <a:latin typeface="Arial"/>
            </a:endParaRPr>
          </a:p>
          <a:p>
            <a:pPr lvl="1" marL="743040" indent="0">
              <a:lnSpc>
                <a:spcPct val="90000"/>
              </a:lnSpc>
              <a:spcBef>
                <a:spcPts val="3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Possible Actions</a:t>
            </a:r>
            <a:endParaRPr b="0" lang="en-IN" sz="1800" strike="noStrike" u="none">
              <a:solidFill>
                <a:srgbClr val="000000"/>
              </a:solidFill>
              <a:effectLst/>
              <a:uFillTx/>
              <a:latin typeface="Arial"/>
            </a:endParaRPr>
          </a:p>
          <a:p>
            <a:pPr lvl="1" marL="743040" indent="-285840">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If focus groups or interviews are held with various employee subgroups, include these topics for discussion</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In all training for  managers and supervisors, discuss employee perceptions about possible reprisals for reports of unfair treatment</a:t>
            </a:r>
            <a:endParaRPr b="0" lang="en-IN" sz="14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Assure employees that Ames will not tolerate reprisals for any reports of unfair treatment</a:t>
            </a:r>
            <a:endParaRPr b="0" lang="en-IN" sz="1400" strike="noStrike" u="none">
              <a:solidFill>
                <a:srgbClr val="000000"/>
              </a:solidFill>
              <a:effectLst/>
              <a:uFillTx/>
              <a:latin typeface="Arial"/>
            </a:endParaRPr>
          </a:p>
        </p:txBody>
      </p:sp>
      <p:sp>
        <p:nvSpPr>
          <p:cNvPr id="270"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6EE87B-0BF8-469D-A395-3EF79F427EE9}"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1" name="PlaceHolder 1"/>
          <p:cNvSpPr>
            <a:spLocks noGrp="1"/>
          </p:cNvSpPr>
          <p:nvPr>
            <p:ph type="title"/>
          </p:nvPr>
        </p:nvSpPr>
        <p:spPr>
          <a:xfrm>
            <a:off x="457200" y="99036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Opportunities for Advancement</a:t>
            </a:r>
            <a:endParaRPr b="0" lang="en-IN" sz="3200" strike="noStrike" u="none">
              <a:solidFill>
                <a:srgbClr val="333399"/>
              </a:solidFill>
              <a:effectLst/>
              <a:uFillTx/>
              <a:latin typeface="Arial"/>
            </a:endParaRPr>
          </a:p>
        </p:txBody>
      </p:sp>
      <p:sp>
        <p:nvSpPr>
          <p:cNvPr id="272" name=""/>
          <p:cNvSpPr txBox="1"/>
          <p:nvPr/>
        </p:nvSpPr>
        <p:spPr>
          <a:xfrm>
            <a:off x="685800" y="1828800"/>
            <a:ext cx="7407360" cy="3565440"/>
          </a:xfrm>
          <a:prstGeom prst="rect">
            <a:avLst/>
          </a:prstGeom>
          <a:noFill/>
          <a:ln w="0">
            <a:noFill/>
          </a:ln>
        </p:spPr>
        <p:txBody>
          <a:bodyPr anchor="t">
            <a:normAutofit/>
          </a:bodyPr>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Approximately 70% of respondents believe that Ames gives them adequate opportunities to use their skills and advance in their careers</a:t>
            </a:r>
            <a:endParaRPr b="0" lang="en-IN" sz="1400" strike="noStrike" u="none">
              <a:solidFill>
                <a:srgbClr val="000000"/>
              </a:solidFill>
              <a:effectLst/>
              <a:uFillTx/>
              <a:latin typeface="Arial"/>
            </a:endParaRPr>
          </a:p>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Area of Concern</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Many respondents would like more mentoring and more opportunities for professional development</a:t>
            </a:r>
            <a:endParaRPr b="0" lang="en-IN" sz="1400" strike="noStrike" u="none">
              <a:solidFill>
                <a:srgbClr val="000000"/>
              </a:solidFill>
              <a:effectLst/>
              <a:uFillTx/>
              <a:latin typeface="Arial"/>
            </a:endParaRPr>
          </a:p>
          <a:p>
            <a:pPr lvl="1" marL="743040" indent="-285840">
              <a:lnSpc>
                <a:spcPct val="90000"/>
              </a:lnSpc>
              <a:spcBef>
                <a:spcPts val="18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Many respondents think assumptions made about them by supervisors and coworkers limit their opportunities for professional development</a:t>
            </a:r>
            <a:endParaRPr b="0" lang="en-IN" sz="1400" strike="noStrike" u="none">
              <a:solidFill>
                <a:srgbClr val="000000"/>
              </a:solidFill>
              <a:effectLst/>
              <a:uFillTx/>
              <a:latin typeface="Arial"/>
            </a:endParaRPr>
          </a:p>
          <a:p>
            <a:pPr lvl="1" marL="743040" indent="-285840">
              <a:lnSpc>
                <a:spcPct val="90000"/>
              </a:lnSpc>
              <a:spcBef>
                <a:spcPts val="18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Perceptions about these topics are notably less positive among women, Non- Whites, non-supervisors, respondents 40 years and over, and respondents working at NASA Ames for more than 10 years</a:t>
            </a:r>
            <a:endParaRPr b="0" lang="en-IN" sz="1400" strike="noStrike" u="none">
              <a:solidFill>
                <a:srgbClr val="000000"/>
              </a:solidFill>
              <a:effectLst/>
              <a:uFillTx/>
              <a:latin typeface="Arial"/>
            </a:endParaRPr>
          </a:p>
          <a:p>
            <a:pPr marL="343080" indent="-343080">
              <a:lnSpc>
                <a:spcPct val="9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
        <p:nvSpPr>
          <p:cNvPr id="273"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1CB2A25-63A1-448B-B6A1-F58159C117DB}"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4" name=""/>
          <p:cNvSpPr txBox="1"/>
          <p:nvPr/>
        </p:nvSpPr>
        <p:spPr>
          <a:xfrm>
            <a:off x="761760" y="1752480"/>
            <a:ext cx="7543800" cy="4592880"/>
          </a:xfrm>
          <a:prstGeom prst="rect">
            <a:avLst/>
          </a:prstGeom>
          <a:noFill/>
          <a:ln w="0">
            <a:noFill/>
          </a:ln>
        </p:spPr>
        <p:txBody>
          <a:bodyPr anchor="t">
            <a:normAutofit/>
          </a:bodyPr>
          <a:p>
            <a:pPr marL="343080" indent="-343080">
              <a:lnSpc>
                <a:spcPct val="9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Possible Actions</a:t>
            </a:r>
            <a:endParaRPr b="0" lang="en-IN" sz="18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Have agency leaders review both their formal and informal procedures for identifying employees with supervisory and managerial potential. Make sure no one is inadvertently overlooked - broaden the pool beyond “the usual suspects.” Inform all employees of professional growth opportunities and job openings for supervisors and managers</a:t>
            </a:r>
            <a:endParaRPr b="0" lang="en-IN" sz="1400" strike="noStrike" u="none">
              <a:solidFill>
                <a:srgbClr val="000000"/>
              </a:solidFill>
              <a:effectLst/>
              <a:uFillTx/>
              <a:latin typeface="Arial"/>
            </a:endParaRPr>
          </a:p>
          <a:p>
            <a:pPr lvl="1" marL="743040" indent="-28584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Consider using formal and informal mentoring programs to promote diversity in the upper ranks</a:t>
            </a:r>
            <a:endParaRPr b="0" lang="en-IN" sz="1400" strike="noStrike" u="none">
              <a:solidFill>
                <a:srgbClr val="000000"/>
              </a:solidFill>
              <a:effectLst/>
              <a:uFillTx/>
              <a:latin typeface="Arial"/>
            </a:endParaRPr>
          </a:p>
          <a:p>
            <a:pPr lvl="1" marL="743040" indent="-28584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Adopt industry best practice - Set specific diversity goals and treat each like any other major organizational goal. That is, senior leaders champion the goal and: </a:t>
            </a:r>
            <a:endParaRPr b="0" lang="en-IN" sz="1400" strike="noStrike" u="none">
              <a:solidFill>
                <a:srgbClr val="000000"/>
              </a:solidFill>
              <a:effectLst/>
              <a:uFillTx/>
              <a:latin typeface="Arial"/>
            </a:endParaRPr>
          </a:p>
          <a:p>
            <a:pPr lvl="2" marL="1143000" indent="-228600">
              <a:lnSpc>
                <a:spcPct val="90000"/>
              </a:lnSpc>
              <a:spcBef>
                <a:spcPts val="524"/>
              </a:spcBef>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 Assign responsibility to an individual or group for achieving the goal </a:t>
            </a:r>
            <a:endParaRPr b="0" lang="en-IN" sz="1400" strike="noStrike" u="none">
              <a:solidFill>
                <a:srgbClr val="000000"/>
              </a:solidFill>
              <a:effectLst/>
              <a:uFillTx/>
              <a:latin typeface="Arial"/>
            </a:endParaRPr>
          </a:p>
          <a:p>
            <a:pPr lvl="2" marL="1143000" indent="-228600">
              <a:lnSpc>
                <a:spcPct val="90000"/>
              </a:lnSpc>
              <a:spcBef>
                <a:spcPts val="524"/>
              </a:spcBef>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 Provide the necessary resources to accomplish the goal </a:t>
            </a:r>
            <a:endParaRPr b="0" lang="en-IN" sz="1400" strike="noStrike" u="none">
              <a:solidFill>
                <a:srgbClr val="000000"/>
              </a:solidFill>
              <a:effectLst/>
              <a:uFillTx/>
              <a:latin typeface="Arial"/>
            </a:endParaRPr>
          </a:p>
          <a:p>
            <a:pPr lvl="2" marL="1143000" indent="-228600">
              <a:lnSpc>
                <a:spcPct val="90000"/>
              </a:lnSpc>
              <a:spcBef>
                <a:spcPts val="524"/>
              </a:spcBef>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 Establish a reasonable timeline </a:t>
            </a:r>
            <a:endParaRPr b="0" lang="en-IN" sz="1400" strike="noStrike" u="none">
              <a:solidFill>
                <a:srgbClr val="000000"/>
              </a:solidFill>
              <a:effectLst/>
              <a:uFillTx/>
              <a:latin typeface="Arial"/>
            </a:endParaRPr>
          </a:p>
          <a:p>
            <a:pPr lvl="2" marL="1143000" indent="-228600">
              <a:lnSpc>
                <a:spcPct val="90000"/>
              </a:lnSpc>
              <a:spcBef>
                <a:spcPts val="524"/>
              </a:spcBef>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 Hold the responsible person or group members accountable for their performance</a:t>
            </a:r>
            <a:endParaRPr b="0" lang="en-IN" sz="1400" strike="noStrike" u="none">
              <a:solidFill>
                <a:srgbClr val="000000"/>
              </a:solidFill>
              <a:effectLst/>
              <a:uFillTx/>
              <a:latin typeface="Arial"/>
            </a:endParaRPr>
          </a:p>
          <a:p>
            <a:pPr marL="343080" indent="-343080">
              <a:lnSpc>
                <a:spcPct val="90000"/>
              </a:lnSpc>
              <a:spcBef>
                <a:spcPts val="3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
        <p:nvSpPr>
          <p:cNvPr id="275"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AA0E54F-8F13-4DF5-AA05-B58256E39B5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76" name="Title 1"/>
          <p:cNvSpPr/>
          <p:nvPr/>
        </p:nvSpPr>
        <p:spPr>
          <a:xfrm>
            <a:off x="457200" y="990720"/>
            <a:ext cx="8229600" cy="50004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99"/>
                </a:solidFill>
                <a:effectLst/>
                <a:uFillTx/>
                <a:latin typeface="Arial"/>
              </a:rPr>
              <a:t>Opportunities for Advancement (continued)</a:t>
            </a:r>
            <a:endParaRPr b="0" i="1" lang="en-IN" sz="2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i="1"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7" name="PlaceHolder 1"/>
          <p:cNvSpPr>
            <a:spLocks noGrp="1"/>
          </p:cNvSpPr>
          <p:nvPr>
            <p:ph type="title"/>
          </p:nvPr>
        </p:nvSpPr>
        <p:spPr>
          <a:xfrm>
            <a:off x="380880" y="837720"/>
            <a:ext cx="8305920" cy="121932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Awareness of Ames’ Diversity Policies</a:t>
            </a:r>
            <a:br>
              <a:rPr sz="3200"/>
            </a:br>
            <a:r>
              <a:rPr b="0" lang="en-IN" sz="3200" strike="noStrike" u="none">
                <a:solidFill>
                  <a:srgbClr val="333399"/>
                </a:solidFill>
                <a:effectLst/>
                <a:uFillTx/>
                <a:latin typeface="Arial"/>
              </a:rPr>
              <a:t>and Initiatives</a:t>
            </a:r>
            <a:endParaRPr b="0" lang="en-IN" sz="3200" strike="noStrike" u="none">
              <a:solidFill>
                <a:srgbClr val="333399"/>
              </a:solidFill>
              <a:effectLst/>
              <a:uFillTx/>
              <a:latin typeface="Arial"/>
            </a:endParaRPr>
          </a:p>
        </p:txBody>
      </p:sp>
      <p:sp>
        <p:nvSpPr>
          <p:cNvPr id="278" name=""/>
          <p:cNvSpPr txBox="1"/>
          <p:nvPr/>
        </p:nvSpPr>
        <p:spPr>
          <a:xfrm>
            <a:off x="761760" y="2057400"/>
            <a:ext cx="7543800" cy="4363920"/>
          </a:xfrm>
          <a:prstGeom prst="rect">
            <a:avLst/>
          </a:prstGeom>
          <a:noFill/>
          <a:ln w="0">
            <a:noFill/>
          </a:ln>
        </p:spPr>
        <p:txBody>
          <a:bodyPr anchor="t">
            <a:normAutofit/>
          </a:bodyPr>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Nearly all respondents are very familiar with the </a:t>
            </a:r>
            <a:r>
              <a:rPr b="0" i="1" lang="en-US" sz="1400" strike="noStrike" u="none">
                <a:solidFill>
                  <a:srgbClr val="000000"/>
                </a:solidFill>
                <a:effectLst/>
                <a:uFillTx/>
                <a:latin typeface="Arial"/>
              </a:rPr>
              <a:t>Astrogram</a:t>
            </a:r>
            <a:r>
              <a:rPr b="0" lang="en-US" sz="1400" strike="noStrike" u="none">
                <a:solidFill>
                  <a:srgbClr val="000000"/>
                </a:solidFill>
                <a:effectLst/>
                <a:uFillTx/>
                <a:latin typeface="Arial"/>
              </a:rPr>
              <a:t>, and many are somewhat familiar with the Ames policy statement on non-harassment in the workplace</a:t>
            </a:r>
            <a:endParaRPr b="0" lang="en-IN" sz="1400" strike="noStrike" u="none">
              <a:solidFill>
                <a:srgbClr val="000000"/>
              </a:solidFill>
              <a:effectLst/>
              <a:uFillTx/>
              <a:latin typeface="Arial"/>
            </a:endParaRPr>
          </a:p>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Areas of Concern</a:t>
            </a:r>
            <a:endParaRPr b="0" lang="en-IN" sz="1800" strike="noStrike" u="none">
              <a:solidFill>
                <a:srgbClr val="000000"/>
              </a:solidFill>
              <a:effectLst/>
              <a:uFillTx/>
              <a:latin typeface="Arial"/>
            </a:endParaRPr>
          </a:p>
          <a:p>
            <a:pPr lvl="1" marL="7430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The survey findings indicate low awareness of various diversity initiatives and information sources, particularly the:</a:t>
            </a:r>
            <a:endParaRPr b="0" lang="en-IN" sz="1400" strike="noStrike" u="none">
              <a:solidFill>
                <a:srgbClr val="000000"/>
              </a:solidFill>
              <a:effectLst/>
              <a:uFillTx/>
              <a:latin typeface="Arial"/>
            </a:endParaRPr>
          </a:p>
          <a:p>
            <a:pPr lvl="2" marL="1143000" indent="-228600">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NASA Ames Office of Diversity and Equal Opportunity website</a:t>
            </a:r>
            <a:endParaRPr b="0" lang="en-IN" sz="1400" strike="noStrike" u="none">
              <a:solidFill>
                <a:srgbClr val="000000"/>
              </a:solidFill>
              <a:effectLst/>
              <a:uFillTx/>
              <a:latin typeface="Arial"/>
            </a:endParaRPr>
          </a:p>
          <a:p>
            <a:pPr lvl="2" marL="1143000" indent="-228600">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Diversity Implementation Plan</a:t>
            </a:r>
            <a:endParaRPr b="0" lang="en-IN" sz="1400" strike="noStrike" u="none">
              <a:solidFill>
                <a:srgbClr val="000000"/>
              </a:solidFill>
              <a:effectLst/>
              <a:uFillTx/>
              <a:latin typeface="Arial"/>
            </a:endParaRPr>
          </a:p>
          <a:p>
            <a:pPr lvl="2" marL="1143000" indent="-228600">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Diversity Leadership Course</a:t>
            </a:r>
            <a:endParaRPr b="0" lang="en-IN" sz="1400" strike="noStrike" u="none">
              <a:solidFill>
                <a:srgbClr val="000000"/>
              </a:solidFill>
              <a:effectLst/>
              <a:uFillTx/>
              <a:latin typeface="Arial"/>
            </a:endParaRPr>
          </a:p>
          <a:p>
            <a:pPr lvl="2" marL="1143000" indent="-228600">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NASA Ames Diversity Policy</a:t>
            </a:r>
            <a:endParaRPr b="0" lang="en-IN" sz="1400" strike="noStrike" u="none">
              <a:solidFill>
                <a:srgbClr val="000000"/>
              </a:solidFill>
              <a:effectLst/>
              <a:uFillTx/>
              <a:latin typeface="Arial"/>
            </a:endParaRPr>
          </a:p>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Possible Action</a:t>
            </a:r>
            <a:endParaRPr b="0" lang="en-IN" sz="1800" strike="noStrike" u="none">
              <a:solidFill>
                <a:srgbClr val="000000"/>
              </a:solidFill>
              <a:effectLst/>
              <a:uFillTx/>
              <a:latin typeface="Arial"/>
            </a:endParaRPr>
          </a:p>
          <a:p>
            <a:pPr lvl="1" marL="743040" indent="-285840">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Highlight the website, plan, course, and policy in the widely read </a:t>
            </a:r>
            <a:r>
              <a:rPr b="0" i="1" lang="en-US" sz="1400" strike="noStrike" u="none">
                <a:solidFill>
                  <a:srgbClr val="000000"/>
                </a:solidFill>
                <a:effectLst/>
                <a:uFillTx/>
                <a:latin typeface="Arial"/>
              </a:rPr>
              <a:t>Astrogram</a:t>
            </a:r>
            <a:endParaRPr b="0" lang="en-IN" sz="1400" strike="noStrike" u="none">
              <a:solidFill>
                <a:srgbClr val="000000"/>
              </a:solidFill>
              <a:effectLst/>
              <a:uFillTx/>
              <a:latin typeface="Arial"/>
            </a:endParaRPr>
          </a:p>
        </p:txBody>
      </p:sp>
      <p:sp>
        <p:nvSpPr>
          <p:cNvPr id="279"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461F98C-C9F7-40CA-BDA2-A8A689382477}"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0" name="PlaceHolder 1"/>
          <p:cNvSpPr>
            <a:spLocks noGrp="1"/>
          </p:cNvSpPr>
          <p:nvPr>
            <p:ph type="title"/>
          </p:nvPr>
        </p:nvSpPr>
        <p:spPr>
          <a:xfrm>
            <a:off x="457200" y="109980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Ames’ Effectiveness in Creating an Inclusive Work Environment</a:t>
            </a:r>
            <a:endParaRPr b="0" lang="en-IN" sz="3200" strike="noStrike" u="none">
              <a:solidFill>
                <a:srgbClr val="333399"/>
              </a:solidFill>
              <a:effectLst/>
              <a:uFillTx/>
              <a:latin typeface="Arial"/>
            </a:endParaRPr>
          </a:p>
        </p:txBody>
      </p:sp>
      <p:sp>
        <p:nvSpPr>
          <p:cNvPr id="281" name="PlaceHolder 2"/>
          <p:cNvSpPr>
            <a:spLocks noGrp="1"/>
          </p:cNvSpPr>
          <p:nvPr>
            <p:ph/>
          </p:nvPr>
        </p:nvSpPr>
        <p:spPr>
          <a:xfrm>
            <a:off x="457200" y="1884240"/>
            <a:ext cx="8229600" cy="4592880"/>
          </a:xfrm>
          <a:prstGeom prst="rect">
            <a:avLst/>
          </a:prstGeom>
          <a:noFill/>
          <a:ln w="0">
            <a:noFill/>
          </a:ln>
        </p:spPr>
        <p:txBody>
          <a:bodyPr lIns="91440" rIns="91440" tIns="45720" bIns="45720" anchor="t">
            <a:normAutofit/>
          </a:bodyPr>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Ames’ Strengths</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About 70% of respondents have positive perceptions about Ames’ overall effectiveness in promoting professional growth, fostering mutual trust and respect, and valuing individual contributions</a:t>
            </a:r>
            <a:endParaRPr b="0" lang="en-IN" sz="1400" strike="noStrike" u="none">
              <a:solidFill>
                <a:srgbClr val="000000"/>
              </a:solidFill>
              <a:effectLst/>
              <a:uFillTx/>
              <a:latin typeface="Arial"/>
            </a:endParaRPr>
          </a:p>
          <a:p>
            <a:pPr lvl="1" marL="743040" indent="-285840">
              <a:lnSpc>
                <a:spcPct val="90000"/>
              </a:lnSpc>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Areas of Concern</a:t>
            </a:r>
            <a:endParaRPr b="0" lang="en-IN" sz="1800" strike="noStrike" u="none">
              <a:solidFill>
                <a:srgbClr val="000000"/>
              </a:solidFill>
              <a:effectLst/>
              <a:uFillTx/>
              <a:latin typeface="Arial"/>
            </a:endParaRPr>
          </a:p>
          <a:p>
            <a:pPr lvl="1" marL="743040" indent="-285840">
              <a:lnSpc>
                <a:spcPct val="9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Positive perceptions are somewhat less common about Ames’ overall effectiveness in creating a supportive environment for all employees and creating a strong teamwork culture </a:t>
            </a:r>
            <a:endParaRPr b="0" lang="en-IN" sz="1400" strike="noStrike" u="none">
              <a:solidFill>
                <a:srgbClr val="000000"/>
              </a:solidFill>
              <a:effectLst/>
              <a:uFillTx/>
              <a:latin typeface="Arial"/>
            </a:endParaRPr>
          </a:p>
          <a:p>
            <a:pPr lvl="1" marL="743040" indent="0">
              <a:lnSpc>
                <a:spcPct val="90000"/>
              </a:lnSpc>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lvl="1" marL="743040" indent="-285840">
              <a:lnSpc>
                <a:spcPct val="9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Again, for some of the overall effectiveness items, positive perceptions are less common among Non-Whites, women, non-supervisors, respondents working at Ames for more than 10 years, and those 40 years old and over</a:t>
            </a:r>
            <a:endParaRPr b="0" lang="en-IN" sz="1400" strike="noStrike" u="none">
              <a:solidFill>
                <a:srgbClr val="000000"/>
              </a:solidFill>
              <a:effectLst/>
              <a:uFillTx/>
              <a:latin typeface="Arial"/>
            </a:endParaRPr>
          </a:p>
          <a:p>
            <a:pPr lvl="1" marL="743040" indent="-28584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lnSpc>
                <a:spcPct val="9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Possible Actions</a:t>
            </a:r>
            <a:endParaRPr b="0" lang="en-IN" sz="18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Assign a high priority to investigating the causes of differences in positive perceptions within subgroups</a:t>
            </a:r>
            <a:endParaRPr b="0" lang="en-IN" sz="1400" strike="noStrike" u="none">
              <a:solidFill>
                <a:srgbClr val="000000"/>
              </a:solidFill>
              <a:effectLst/>
              <a:uFillTx/>
              <a:latin typeface="Arial"/>
            </a:endParaRPr>
          </a:p>
          <a:p>
            <a:pPr lvl="1" marL="743040" indent="-285840">
              <a:lnSpc>
                <a:spcPct val="9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Meet with employees individually, other than during performance appraisals, to discuss the support needed to achieve their potential at NASA Ames </a:t>
            </a:r>
            <a:endParaRPr b="0" lang="en-IN" sz="1400" strike="noStrike" u="none">
              <a:solidFill>
                <a:srgbClr val="000000"/>
              </a:solidFill>
              <a:effectLst/>
              <a:uFillTx/>
              <a:latin typeface="Arial"/>
            </a:endParaRPr>
          </a:p>
          <a:p>
            <a:pPr lvl="1" marL="743040" indent="-285840">
              <a:lnSpc>
                <a:spcPct val="9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a:p>
            <a:pPr lvl="1" marL="743040" indent="-285840">
              <a:lnSpc>
                <a:spcPct val="90000"/>
              </a:lnSpc>
              <a:spcBef>
                <a:spcPts val="3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Identify specific actions for strengthening teamwork </a:t>
            </a:r>
            <a:endParaRPr b="0" lang="en-IN" sz="1400" strike="noStrike" u="none">
              <a:solidFill>
                <a:srgbClr val="000000"/>
              </a:solidFill>
              <a:effectLst/>
              <a:uFillTx/>
              <a:latin typeface="Arial"/>
            </a:endParaRPr>
          </a:p>
          <a:p>
            <a:pPr lvl="1" marL="743040" indent="0">
              <a:lnSpc>
                <a:spcPct val="90000"/>
              </a:lnSpc>
              <a:spcBef>
                <a:spcPts val="3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0">
              <a:lnSpc>
                <a:spcPct val="90000"/>
              </a:lnSpc>
              <a:spcBef>
                <a:spcPts val="3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
        <p:nvSpPr>
          <p:cNvPr id="282"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8B7F3E7-EF2D-4618-8645-0659810924B4}"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3" name="Slide Number Placeholder 2"/>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667D68-E14C-46F9-89C7-8AFD0F1A36DC}"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84" name="Rectangle 2"/>
          <p:cNvSpPr/>
          <p:nvPr/>
        </p:nvSpPr>
        <p:spPr>
          <a:xfrm>
            <a:off x="457200" y="2666880"/>
            <a:ext cx="8229600" cy="114300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333399"/>
                </a:solidFill>
                <a:effectLst/>
                <a:uFillTx/>
                <a:latin typeface="Arial"/>
              </a:rPr>
              <a:t>Action Planning</a:t>
            </a:r>
            <a:endParaRPr b="0" i="1" lang="en-IN" sz="4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Slide Number Placeholder 3"/>
          <p:cNvSpPr/>
          <p:nvPr/>
        </p:nvSpPr>
        <p:spPr>
          <a:xfrm>
            <a:off x="7086600" y="632448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C518CD8-8BA3-4EAB-B050-842DFB67F580}"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86" name="PlaceHolder 1"/>
          <p:cNvSpPr>
            <a:spLocks noGrp="1"/>
          </p:cNvSpPr>
          <p:nvPr>
            <p:ph type="title"/>
          </p:nvPr>
        </p:nvSpPr>
        <p:spPr>
          <a:xfrm>
            <a:off x="990720" y="1155240"/>
            <a:ext cx="7315200" cy="26676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Recommendations for Action Planning</a:t>
            </a:r>
            <a:br>
              <a:rPr sz="2000"/>
            </a:br>
            <a:endParaRPr b="0" lang="en-IN" sz="2000" strike="noStrike" u="none">
              <a:solidFill>
                <a:srgbClr val="333399"/>
              </a:solidFill>
              <a:effectLst/>
              <a:uFillTx/>
              <a:latin typeface="Arial"/>
            </a:endParaRPr>
          </a:p>
        </p:txBody>
      </p:sp>
      <p:sp>
        <p:nvSpPr>
          <p:cNvPr id="287" name="PlaceHolder 2"/>
          <p:cNvSpPr>
            <a:spLocks noGrp="1"/>
          </p:cNvSpPr>
          <p:nvPr>
            <p:ph/>
          </p:nvPr>
        </p:nvSpPr>
        <p:spPr>
          <a:xfrm>
            <a:off x="990720" y="1371240"/>
            <a:ext cx="7315200" cy="4754520"/>
          </a:xfrm>
          <a:prstGeom prst="rect">
            <a:avLst/>
          </a:prstGeom>
          <a:noFill/>
          <a:ln w="0">
            <a:noFill/>
          </a:ln>
        </p:spPr>
        <p:txBody>
          <a:bodyPr lIns="91440" rIns="91440" tIns="45720" bIns="45720" anchor="t">
            <a:normAutofit/>
          </a:bodyPr>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First Step</a:t>
            </a:r>
            <a:r>
              <a:rPr b="0" lang="en-IN" sz="1800" strike="noStrike" u="none">
                <a:solidFill>
                  <a:srgbClr val="000000"/>
                </a:solidFill>
                <a:effectLst/>
                <a:uFillTx/>
                <a:latin typeface="Arial"/>
              </a:rPr>
              <a:t> </a:t>
            </a:r>
            <a:endParaRPr b="0" lang="en-IN" sz="18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Review and discuss findings and supplementary information</a:t>
            </a:r>
            <a:endParaRPr b="0" lang="en-IN" sz="16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Consider conducting focus groups, interviews, town-hall meetings to identify strengths and weaknesses</a:t>
            </a:r>
            <a:endParaRPr b="0" lang="en-IN" sz="1600" strike="noStrike" u="none">
              <a:solidFill>
                <a:srgbClr val="000000"/>
              </a:solidFill>
              <a:effectLst/>
              <a:uFillTx/>
              <a:latin typeface="Arial"/>
            </a:endParaRPr>
          </a:p>
          <a:p>
            <a:pPr marL="343080" indent="-343080">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Second Step </a:t>
            </a:r>
            <a:endParaRPr b="0" lang="en-IN" sz="18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Develop an action plan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Invite input from employees representing diverse groups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Establish short- and long-term goals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Set priorities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Establish measures for evaluating plan components</a:t>
            </a:r>
            <a:endParaRPr b="0" lang="en-IN" sz="1600" strike="noStrike" u="none">
              <a:solidFill>
                <a:srgbClr val="000000"/>
              </a:solidFill>
              <a:effectLst/>
              <a:uFillTx/>
              <a:latin typeface="Arial"/>
            </a:endParaRPr>
          </a:p>
          <a:p>
            <a:pPr marL="343080" indent="-343080">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Secure top-level management endorsement and support and secure appropriate resources to carry out the plan </a:t>
            </a:r>
            <a:endParaRPr b="0" lang="en-IN" sz="1600" strike="noStrike" u="none">
              <a:solidFill>
                <a:srgbClr val="000000"/>
              </a:solidFill>
              <a:effectLst/>
              <a:uFillTx/>
              <a:latin typeface="Arial"/>
            </a:endParaRPr>
          </a:p>
          <a:p>
            <a:pPr marL="343080" indent="-343080">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Establish a timeframe for achieving priority goals</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8"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C8CF45-22DA-40D2-9CB4-CCC90FBE6BFB}"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89" name="PlaceHolder 1"/>
          <p:cNvSpPr>
            <a:spLocks noGrp="1"/>
          </p:cNvSpPr>
          <p:nvPr>
            <p:ph type="title"/>
          </p:nvPr>
        </p:nvSpPr>
        <p:spPr>
          <a:xfrm>
            <a:off x="914400" y="914040"/>
            <a:ext cx="7238880" cy="34596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Recommendations for Action Planning (continued)</a:t>
            </a:r>
            <a:endParaRPr b="0" lang="en-IN" sz="2000" strike="noStrike" u="none">
              <a:solidFill>
                <a:srgbClr val="333399"/>
              </a:solidFill>
              <a:effectLst/>
              <a:uFillTx/>
              <a:latin typeface="Arial"/>
            </a:endParaRPr>
          </a:p>
        </p:txBody>
      </p:sp>
      <p:sp>
        <p:nvSpPr>
          <p:cNvPr id="290" name="PlaceHolder 2"/>
          <p:cNvSpPr>
            <a:spLocks noGrp="1"/>
          </p:cNvSpPr>
          <p:nvPr>
            <p:ph/>
          </p:nvPr>
        </p:nvSpPr>
        <p:spPr>
          <a:xfrm>
            <a:off x="761760" y="1294920"/>
            <a:ext cx="7848360" cy="5410440"/>
          </a:xfrm>
          <a:prstGeom prst="rect">
            <a:avLst/>
          </a:prstGeom>
          <a:noFill/>
          <a:ln w="0">
            <a:noFill/>
          </a:ln>
        </p:spPr>
        <p:txBody>
          <a:bodyPr lIns="91440" rIns="91440" tIns="45720" bIns="45720" anchor="t">
            <a:normAutofit/>
          </a:bodyPr>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Third Step</a:t>
            </a:r>
            <a:r>
              <a:rPr b="0" lang="en-US" sz="1800" strike="noStrike" u="none">
                <a:solidFill>
                  <a:srgbClr val="000000"/>
                </a:solidFill>
                <a:effectLst/>
                <a:uFillTx/>
                <a:latin typeface="Arial"/>
              </a:rPr>
              <a:t> </a:t>
            </a:r>
            <a:endParaRPr b="0" lang="en-IN" sz="18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Effectively communicate the action plan goals and priorities to managers and others who will likely serve as frontline agents for disseminating information about the plan to employees </a:t>
            </a: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Draw on existing resources and initiatives, such as the </a:t>
            </a:r>
            <a:r>
              <a:rPr b="0" i="1" lang="en-US" sz="1600" strike="noStrike" u="none">
                <a:solidFill>
                  <a:srgbClr val="000000"/>
                </a:solidFill>
                <a:effectLst/>
                <a:uFillTx/>
                <a:latin typeface="Arial"/>
              </a:rPr>
              <a:t>Astrogram,</a:t>
            </a:r>
            <a:r>
              <a:rPr b="0" lang="en-US" sz="1600" strike="noStrike" u="none">
                <a:solidFill>
                  <a:srgbClr val="000000"/>
                </a:solidFill>
                <a:effectLst/>
                <a:uFillTx/>
                <a:latin typeface="Arial"/>
              </a:rPr>
              <a:t> to reinforce  efforts to advertise the plan</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trike="noStrike" u="none">
                <a:solidFill>
                  <a:srgbClr val="000000"/>
                </a:solidFill>
                <a:effectLst/>
                <a:uFillTx/>
                <a:latin typeface="Arial"/>
              </a:rPr>
              <a:t>Fourth Step</a:t>
            </a:r>
            <a:r>
              <a:rPr b="0" lang="en-US" sz="1600" strike="noStrike" u="none">
                <a:solidFill>
                  <a:srgbClr val="000000"/>
                </a:solidFill>
                <a:effectLst/>
                <a:uFillTx/>
                <a:latin typeface="Arial"/>
              </a:rPr>
              <a:t> </a:t>
            </a: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Implement the plan and monitor and evaluate the effectiveness of activities to achieve priority goals </a:t>
            </a: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Use, as appropriate, evaluation tools such as progress reports on achieving specific goals, benchmark data, employee evaluations of activities such as training courses and special observance day events, and employee surveys </a:t>
            </a: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Use performance reports to decide:</a:t>
            </a:r>
            <a:endParaRPr b="0" lang="en-IN" sz="1600" strike="noStrike" u="none">
              <a:solidFill>
                <a:srgbClr val="000000"/>
              </a:solidFill>
              <a:effectLst/>
              <a:uFillTx/>
              <a:latin typeface="Arial"/>
            </a:endParaRPr>
          </a:p>
          <a:p>
            <a:pPr lvl="1" marL="743040" indent="-28584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(1) which initiatives have been successful and should be either continued or ended because they are no longer necessary </a:t>
            </a:r>
            <a:endParaRPr b="0" lang="en-IN" sz="1600" strike="noStrike" u="none">
              <a:solidFill>
                <a:srgbClr val="000000"/>
              </a:solidFill>
              <a:effectLst/>
              <a:uFillTx/>
              <a:latin typeface="Arial"/>
            </a:endParaRPr>
          </a:p>
          <a:p>
            <a:pPr lvl="1" marL="743040" indent="-28584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(2) which initiatives have not been successful and may need to be modified or discontinued</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1"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D5B3EA-0F8C-4DD1-A9C7-4A348C2ECF11}"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92" name="Rectangle 2"/>
          <p:cNvSpPr/>
          <p:nvPr/>
        </p:nvSpPr>
        <p:spPr>
          <a:xfrm>
            <a:off x="457200" y="2666880"/>
            <a:ext cx="8229600" cy="114300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333399"/>
                </a:solidFill>
                <a:effectLst/>
                <a:uFillTx/>
                <a:latin typeface="Arial"/>
              </a:rPr>
              <a:t> Ames Action Team Recommendations</a:t>
            </a:r>
            <a:endParaRPr b="0" i="1" lang="en-IN" sz="4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3"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9C8736-4F25-4040-AA27-58F69E164ADC}"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94" name="PlaceHolder 1"/>
          <p:cNvSpPr>
            <a:spLocks noGrp="1"/>
          </p:cNvSpPr>
          <p:nvPr>
            <p:ph type="title"/>
          </p:nvPr>
        </p:nvSpPr>
        <p:spPr>
          <a:xfrm>
            <a:off x="457200" y="91404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DEOB Action Subcommittee Approach</a:t>
            </a:r>
            <a:endParaRPr b="0" lang="en-IN" sz="3600" strike="noStrike" u="none">
              <a:solidFill>
                <a:srgbClr val="333399"/>
              </a:solidFill>
              <a:effectLst/>
              <a:uFillTx/>
              <a:latin typeface="Arial"/>
            </a:endParaRPr>
          </a:p>
        </p:txBody>
      </p:sp>
      <p:sp>
        <p:nvSpPr>
          <p:cNvPr id="295" name="PlaceHolder 2"/>
          <p:cNvSpPr>
            <a:spLocks noGrp="1"/>
          </p:cNvSpPr>
          <p:nvPr>
            <p:ph/>
          </p:nvPr>
        </p:nvSpPr>
        <p:spPr>
          <a:xfrm>
            <a:off x="456840" y="1218960"/>
            <a:ext cx="8077320" cy="5049720"/>
          </a:xfrm>
          <a:prstGeom prst="rect">
            <a:avLst/>
          </a:prstGeom>
          <a:noFill/>
          <a:ln w="0">
            <a:noFill/>
          </a:ln>
        </p:spPr>
        <p:txBody>
          <a:bodyPr lIns="91440" rIns="91440" tIns="45720" bIns="45720" anchor="t">
            <a:normAutofit lnSpcReduction="9999"/>
          </a:bodyPr>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80000"/>
              </a:lnSpc>
              <a:spcBef>
                <a:spcPts val="499"/>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Key survey findings include:</a:t>
            </a:r>
            <a:endParaRPr b="0" lang="en-IN" sz="20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EEO vs. Diversity is not clear; equating Diversity with quotas, affirmative action, and minority preferences </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Lack of familiarity of ODEO website, Diversity Leadership Training, Diversity Plan</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Unclear usefulness of Diversity training</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Diversity and the business case – not clear to staff how Diversity leads to better products, addresses workforce productivity, fosters creativity and innovation</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Achieving Diversity leads to workplace problems</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Managers are viewed as not practicing diversity</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Supervisor/coworker assumptions limit opportunities for professional development</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Lack of mentoring</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Negative perception of consequences for reporting unfair treatment</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Employees feel they have to change things about themselves to fit into NASA Ames</a:t>
            </a:r>
            <a:endParaRPr b="0" lang="en-IN" sz="1600" strike="noStrike" u="none">
              <a:solidFill>
                <a:srgbClr val="000000"/>
              </a:solidFill>
              <a:effectLst/>
              <a:uFillTx/>
              <a:latin typeface="Arial"/>
            </a:endParaRPr>
          </a:p>
          <a:p>
            <a:pPr lvl="1" marL="743040" indent="-285840">
              <a:lnSpc>
                <a:spcPct val="80000"/>
              </a:lnSpc>
              <a:spcBef>
                <a:spcPts val="400"/>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Lack of freedom to express alternate solutions</a:t>
            </a:r>
            <a:endParaRPr b="0" lang="en-IN" sz="1600" strike="noStrike" u="none">
              <a:solidFill>
                <a:srgbClr val="000000"/>
              </a:solidFill>
              <a:effectLst/>
              <a:uFillTx/>
              <a:latin typeface="Arial"/>
            </a:endParaRPr>
          </a:p>
          <a:p>
            <a:pPr lvl="1" marL="743040" indent="-28584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6"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E10D10D-78C0-4D11-AF41-6D57E511C7DD}"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297" name="PlaceHolder 1"/>
          <p:cNvSpPr>
            <a:spLocks noGrp="1"/>
          </p:cNvSpPr>
          <p:nvPr>
            <p:ph type="title"/>
          </p:nvPr>
        </p:nvSpPr>
        <p:spPr>
          <a:xfrm>
            <a:off x="457200" y="102348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333399"/>
                </a:solidFill>
                <a:effectLst/>
                <a:uFillTx/>
                <a:latin typeface="Arial"/>
              </a:rPr>
              <a:t>DEOB Action Subcommittee Approach</a:t>
            </a:r>
            <a:endParaRPr b="0" lang="en-IN" sz="3600" strike="noStrike" u="none">
              <a:solidFill>
                <a:srgbClr val="333399"/>
              </a:solidFill>
              <a:effectLst/>
              <a:uFillTx/>
              <a:latin typeface="Arial"/>
            </a:endParaRPr>
          </a:p>
        </p:txBody>
      </p:sp>
      <p:sp>
        <p:nvSpPr>
          <p:cNvPr id="298" name="PlaceHolder 2"/>
          <p:cNvSpPr>
            <a:spLocks noGrp="1"/>
          </p:cNvSpPr>
          <p:nvPr>
            <p:ph/>
          </p:nvPr>
        </p:nvSpPr>
        <p:spPr>
          <a:xfrm>
            <a:off x="685800" y="1980720"/>
            <a:ext cx="7391520" cy="3962520"/>
          </a:xfrm>
          <a:prstGeom prst="rect">
            <a:avLst/>
          </a:prstGeom>
          <a:noFill/>
          <a:ln w="0">
            <a:noFill/>
          </a:ln>
        </p:spPr>
        <p:txBody>
          <a:bodyPr lIns="91440" rIns="91440" tIns="45720" bIns="45720" anchor="t">
            <a:normAutofit/>
          </a:bodyPr>
          <a:p>
            <a:pPr marL="343080" indent="-343080">
              <a:lnSpc>
                <a:spcPct val="90000"/>
              </a:lnSpc>
              <a:spcBef>
                <a:spcPts val="601"/>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Create a prioritized list of actions based on key survey findings</a:t>
            </a:r>
            <a:endParaRPr b="0" lang="en-IN" sz="2400" strike="noStrike" u="none">
              <a:solidFill>
                <a:srgbClr val="000000"/>
              </a:solidFill>
              <a:effectLst/>
              <a:uFillTx/>
              <a:latin typeface="Arial"/>
            </a:endParaRPr>
          </a:p>
          <a:p>
            <a:pPr marL="343080" indent="-343080">
              <a:lnSpc>
                <a:spcPct val="90000"/>
              </a:lnSpc>
              <a:spcBef>
                <a:spcPts val="601"/>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Solicit volunteers from DEOB to form teams</a:t>
            </a:r>
            <a:endParaRPr b="0" lang="en-IN" sz="2400" strike="noStrike" u="none">
              <a:solidFill>
                <a:srgbClr val="000000"/>
              </a:solidFill>
              <a:effectLst/>
              <a:uFillTx/>
              <a:latin typeface="Arial"/>
            </a:endParaRPr>
          </a:p>
          <a:p>
            <a:pPr marL="343080" indent="-343080">
              <a:lnSpc>
                <a:spcPct val="90000"/>
              </a:lnSpc>
              <a:spcBef>
                <a:spcPts val="601"/>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Align with existing center committees</a:t>
            </a:r>
            <a:endParaRPr b="0" lang="en-IN" sz="2400" strike="noStrike" u="none">
              <a:solidFill>
                <a:srgbClr val="000000"/>
              </a:solidFill>
              <a:effectLst/>
              <a:uFillTx/>
              <a:latin typeface="Arial"/>
            </a:endParaRPr>
          </a:p>
          <a:p>
            <a:pPr marL="343080" indent="-343080">
              <a:lnSpc>
                <a:spcPct val="90000"/>
              </a:lnSpc>
              <a:spcBef>
                <a:spcPts val="601"/>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Make available survey findings to all civil servants</a:t>
            </a:r>
            <a:endParaRPr b="0" lang="en-IN" sz="2400" strike="noStrike" u="none">
              <a:solidFill>
                <a:srgbClr val="000000"/>
              </a:solidFill>
              <a:effectLst/>
              <a:uFillTx/>
              <a:latin typeface="Arial"/>
            </a:endParaRPr>
          </a:p>
          <a:p>
            <a:pPr marL="343080" indent="-343080">
              <a:lnSpc>
                <a:spcPct val="90000"/>
              </a:lnSpc>
              <a:spcBef>
                <a:spcPts val="601"/>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Open further participation to staff via centerwide announcement</a:t>
            </a:r>
            <a:endParaRPr b="0" lang="en-IN" sz="2400" strike="noStrike" u="none">
              <a:solidFill>
                <a:srgbClr val="000000"/>
              </a:solidFill>
              <a:effectLst/>
              <a:uFillTx/>
              <a:latin typeface="Arial"/>
            </a:endParaRPr>
          </a:p>
          <a:p>
            <a:pPr marL="343080" indent="-343080">
              <a:lnSpc>
                <a:spcPct val="90000"/>
              </a:lnSpc>
              <a:spcBef>
                <a:spcPts val="601"/>
              </a:spcBef>
              <a:spcAft>
                <a:spcPts val="601"/>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Arial"/>
              </a:rPr>
              <a:t>Track actions being taken via all-hands meetings, ODEO website, Astrogram</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1045800"/>
            <a:ext cx="8229600" cy="50004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Arial"/>
              </a:rPr>
              <a:t>Conclusion – Next Step</a:t>
            </a:r>
            <a:endParaRPr b="0" lang="en-IN" sz="4400" strike="noStrike" u="none">
              <a:solidFill>
                <a:srgbClr val="333399"/>
              </a:solidFill>
              <a:effectLst/>
              <a:uFillTx/>
              <a:latin typeface="Arial"/>
            </a:endParaRPr>
          </a:p>
        </p:txBody>
      </p:sp>
      <p:sp>
        <p:nvSpPr>
          <p:cNvPr id="300" name=""/>
          <p:cNvSpPr txBox="1"/>
          <p:nvPr/>
        </p:nvSpPr>
        <p:spPr>
          <a:xfrm>
            <a:off x="456840" y="1960200"/>
            <a:ext cx="7924680" cy="4592520"/>
          </a:xfrm>
          <a:prstGeom prst="rect">
            <a:avLst/>
          </a:prstGeom>
          <a:noFill/>
          <a:ln w="0">
            <a:noFill/>
          </a:ln>
        </p:spPr>
        <p:txBody>
          <a:bodyPr anchor="t">
            <a:normAutofit/>
          </a:bodyPr>
          <a:p>
            <a:pPr marL="343080" indent="-343080">
              <a:spcBef>
                <a:spcPts val="700"/>
              </a:spcBef>
              <a:spcAft>
                <a:spcPts val="1199"/>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Request DEOB for archival approval of Assessment Survey Findings</a:t>
            </a:r>
            <a:endParaRPr b="0" lang="en-IN" sz="2800" strike="noStrike" u="none">
              <a:solidFill>
                <a:srgbClr val="000000"/>
              </a:solidFill>
              <a:effectLst/>
              <a:uFillTx/>
              <a:latin typeface="Arial"/>
            </a:endParaRPr>
          </a:p>
          <a:p>
            <a:pPr lvl="1" marL="343080" indent="-343080">
              <a:spcBef>
                <a:spcPts val="700"/>
              </a:spcBef>
              <a:spcAft>
                <a:spcPts val="1199"/>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Action Team to prioritize and present list in next meeting</a:t>
            </a:r>
            <a:endParaRPr b="0" lang="en-IN" sz="2800" strike="noStrike" u="none">
              <a:solidFill>
                <a:srgbClr val="000000"/>
              </a:solidFill>
              <a:effectLst/>
              <a:uFillTx/>
              <a:latin typeface="Arial"/>
            </a:endParaRPr>
          </a:p>
          <a:p>
            <a:pPr marL="343080" indent="-343080">
              <a:spcBef>
                <a:spcPts val="700"/>
              </a:spcBef>
              <a:spcAft>
                <a:spcPts val="1199"/>
              </a:spcAft>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Arial"/>
              </a:rPr>
              <a:t>DEOB to implement list of action items based on Action Team recommendation</a:t>
            </a:r>
            <a:endParaRPr b="0" lang="en-IN" sz="2800" strike="noStrike" u="none">
              <a:solidFill>
                <a:srgbClr val="000000"/>
              </a:solidFill>
              <a:effectLst/>
              <a:uFillTx/>
              <a:latin typeface="Arial"/>
            </a:endParaRPr>
          </a:p>
          <a:p>
            <a:pPr lvl="1" marL="343080" indent="-343080">
              <a:spcBef>
                <a:spcPts val="7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301"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FE87860-7D20-4BE8-996A-BD574F4E474D}"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2" name="PlaceHolder 1"/>
          <p:cNvSpPr>
            <a:spLocks noGrp="1"/>
          </p:cNvSpPr>
          <p:nvPr>
            <p:ph type="title"/>
          </p:nvPr>
        </p:nvSpPr>
        <p:spPr>
          <a:xfrm>
            <a:off x="685800" y="2644560"/>
            <a:ext cx="7772400" cy="1469880"/>
          </a:xfrm>
          <a:prstGeom prst="rect">
            <a:avLst/>
          </a:prstGeom>
          <a:noFill/>
          <a:ln w="0">
            <a:noFill/>
          </a:ln>
        </p:spPr>
        <p:txBody>
          <a:bodyPr lIns="91440" rIns="91440" tIns="45720" bIns="4572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333399"/>
                </a:solidFill>
                <a:effectLst/>
                <a:uFillTx/>
                <a:latin typeface="Arial"/>
              </a:rPr>
              <a:t>Backup Slides</a:t>
            </a:r>
            <a:endParaRPr b="0" lang="en-IN" sz="4400" strike="noStrike" u="none">
              <a:solidFill>
                <a:srgbClr val="333399"/>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3EDFDAC-1D58-4A2C-9EE8-0F91369ACCBF}"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04" name="PlaceHolder 1"/>
          <p:cNvSpPr>
            <a:spLocks noGrp="1"/>
          </p:cNvSpPr>
          <p:nvPr>
            <p:ph type="title"/>
          </p:nvPr>
        </p:nvSpPr>
        <p:spPr>
          <a:xfrm>
            <a:off x="609480" y="685440"/>
            <a:ext cx="792504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1:</a:t>
            </a:r>
            <a:r>
              <a:rPr b="0" lang="en-IN" sz="2000" strike="noStrike" u="none">
                <a:solidFill>
                  <a:srgbClr val="333399"/>
                </a:solidFill>
                <a:effectLst/>
                <a:uFillTx/>
                <a:latin typeface="Arial"/>
              </a:rPr>
              <a:t> </a:t>
            </a:r>
            <a:br>
              <a:rPr sz="2000"/>
            </a:br>
            <a:r>
              <a:rPr b="1" lang="en-IN" sz="2000" strike="noStrike" u="none">
                <a:solidFill>
                  <a:srgbClr val="333399"/>
                </a:solidFill>
                <a:effectLst/>
                <a:uFillTx/>
                <a:latin typeface="Arial"/>
              </a:rPr>
              <a:t>Do employees at NASA Ames understand diversity and its benefits?</a:t>
            </a:r>
            <a:endParaRPr b="0" lang="en-IN" sz="2000" strike="noStrike" u="none">
              <a:solidFill>
                <a:srgbClr val="333399"/>
              </a:solidFill>
              <a:effectLst/>
              <a:uFillTx/>
              <a:latin typeface="Arial"/>
            </a:endParaRPr>
          </a:p>
        </p:txBody>
      </p:sp>
      <p:pic>
        <p:nvPicPr>
          <p:cNvPr id="305" name="Picture 3" descr=""/>
          <p:cNvPicPr/>
          <p:nvPr/>
        </p:nvPicPr>
        <p:blipFill>
          <a:blip r:embed="rId1"/>
          <a:stretch/>
        </p:blipFill>
        <p:spPr>
          <a:xfrm>
            <a:off x="1143000" y="1731960"/>
            <a:ext cx="6781680" cy="3843360"/>
          </a:xfrm>
          <a:prstGeom prst="rect">
            <a:avLst/>
          </a:prstGeom>
          <a:noFill/>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6"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97759BB-4D3E-4DE8-A843-A733ECA7532B}"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07" name="PlaceHolder 1"/>
          <p:cNvSpPr>
            <a:spLocks noGrp="1"/>
          </p:cNvSpPr>
          <p:nvPr>
            <p:ph type="title"/>
          </p:nvPr>
        </p:nvSpPr>
        <p:spPr>
          <a:xfrm>
            <a:off x="685440" y="685800"/>
            <a:ext cx="8001000" cy="83808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1:</a:t>
            </a:r>
            <a:r>
              <a:rPr b="0" lang="en-IN" sz="2000" strike="noStrike" u="none">
                <a:solidFill>
                  <a:srgbClr val="333399"/>
                </a:solidFill>
                <a:effectLst/>
                <a:uFillTx/>
                <a:latin typeface="Arial"/>
              </a:rPr>
              <a:t> </a:t>
            </a:r>
            <a:br>
              <a:rPr sz="2000"/>
            </a:br>
            <a:r>
              <a:rPr b="1" lang="en-IN" sz="2000" strike="noStrike" u="none">
                <a:solidFill>
                  <a:srgbClr val="333399"/>
                </a:solidFill>
                <a:effectLst/>
                <a:uFillTx/>
                <a:latin typeface="Arial"/>
              </a:rPr>
              <a:t>Findings: Understanding of Workplace Diversity and Its Benefits</a:t>
            </a:r>
            <a:endParaRPr b="0" lang="en-IN" sz="2000" strike="noStrike" u="none">
              <a:solidFill>
                <a:srgbClr val="333399"/>
              </a:solidFill>
              <a:effectLst/>
              <a:uFillTx/>
              <a:latin typeface="Arial"/>
            </a:endParaRPr>
          </a:p>
        </p:txBody>
      </p:sp>
      <p:sp>
        <p:nvSpPr>
          <p:cNvPr id="308" name="PlaceHolder 2"/>
          <p:cNvSpPr>
            <a:spLocks noGrp="1"/>
          </p:cNvSpPr>
          <p:nvPr>
            <p:ph/>
          </p:nvPr>
        </p:nvSpPr>
        <p:spPr>
          <a:xfrm>
            <a:off x="762120" y="1447560"/>
            <a:ext cx="8076960" cy="5257800"/>
          </a:xfrm>
          <a:prstGeom prst="rect">
            <a:avLst/>
          </a:prstGeom>
          <a:noFill/>
          <a:ln w="0">
            <a:noFill/>
          </a:ln>
        </p:spPr>
        <p:txBody>
          <a:bodyPr lIns="91440" rIns="91440" tIns="45720" bIns="45720" anchor="t">
            <a:normAutofit/>
          </a:bodyPr>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Understanding Workplace Diversity</a:t>
            </a:r>
            <a:endParaRPr b="0" lang="en-IN" sz="18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Many Respondents:</a:t>
            </a:r>
            <a:endParaRPr b="0" lang="en-IN" sz="18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Perceived workplace diversity quite broadly</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Agreed that workplace diversity involves including, supporting, and valuing employees with varied backgrounds, experiences, and viewpoints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Understand workplace diversity is not just about differences in physical characteristics</a:t>
            </a:r>
            <a:endParaRPr b="0" lang="en-IN" sz="16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Some respondents:</a:t>
            </a:r>
            <a:endParaRPr b="0" lang="en-IN" sz="18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Defined workplace diversity more narrowly in terms of fair treatment, equal opportunity, acceptance of differences, or quotas when responding to the open-ended question “What does workplace diversity mean to you?”</a:t>
            </a:r>
            <a:endParaRPr b="0" lang="en-IN" sz="1600" strike="noStrike" u="none">
              <a:solidFill>
                <a:srgbClr val="000000"/>
              </a:solidFill>
              <a:effectLst/>
              <a:uFillTx/>
              <a:latin typeface="Arial"/>
            </a:endParaRPr>
          </a:p>
          <a:p>
            <a:pPr marL="343080" indent="-343080">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Benefits</a:t>
            </a:r>
            <a:endParaRPr b="0" lang="en-IN" sz="1800" strike="noStrike" u="none">
              <a:solidFill>
                <a:srgbClr val="000000"/>
              </a:solidFill>
              <a:effectLst/>
              <a:uFillTx/>
              <a:latin typeface="Arial"/>
            </a:endParaRPr>
          </a:p>
          <a:p>
            <a:pPr marL="343080" indent="-34308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 </a:t>
            </a:r>
            <a:r>
              <a:rPr b="0" lang="en-IN" sz="1800" strike="noStrike" u="none">
                <a:solidFill>
                  <a:srgbClr val="000000"/>
                </a:solidFill>
                <a:effectLst/>
                <a:uFillTx/>
                <a:latin typeface="Arial"/>
              </a:rPr>
              <a:t>Many Respondents:</a:t>
            </a:r>
            <a:endParaRPr b="0" lang="en-IN" sz="18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Linked workplace diversity with business advantages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Reported workplace diversity facilitates the goals and mission of NASA Ames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Were uncertain how workplace diversity actually leads to better products and want to see examples</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9" name="Slide Number Placeholder 4"/>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6015CE3-C162-4E09-9974-0E83F03827B9}"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10" name="PlaceHolder 1"/>
          <p:cNvSpPr>
            <a:spLocks noGrp="1"/>
          </p:cNvSpPr>
          <p:nvPr>
            <p:ph type="title"/>
          </p:nvPr>
        </p:nvSpPr>
        <p:spPr>
          <a:xfrm>
            <a:off x="457200" y="762120"/>
            <a:ext cx="8229600" cy="17064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2:</a:t>
            </a:r>
            <a:br>
              <a:rPr sz="2000"/>
            </a:br>
            <a:r>
              <a:rPr b="1" lang="en-IN" sz="2000" strike="noStrike" u="none">
                <a:solidFill>
                  <a:srgbClr val="333399"/>
                </a:solidFill>
                <a:effectLst/>
                <a:uFillTx/>
                <a:latin typeface="Arial"/>
              </a:rPr>
              <a:t>What are employees’ perceptions regarding the culture of diversity at NASA Ames?</a:t>
            </a:r>
            <a:br>
              <a:rPr sz="2000"/>
            </a:br>
            <a:br>
              <a:rPr sz="1800"/>
            </a:br>
            <a:r>
              <a:rPr b="1" lang="en-IN" sz="1800" strike="noStrike" u="none">
                <a:solidFill>
                  <a:srgbClr val="333399"/>
                </a:solidFill>
                <a:effectLst/>
                <a:uFillTx/>
                <a:latin typeface="Arial"/>
              </a:rPr>
              <a:t>Part 1: General Perceptions about the Organizational Culture</a:t>
            </a:r>
            <a:br>
              <a:rPr sz="1800"/>
            </a:br>
            <a:endParaRPr b="0" lang="en-IN" sz="1800" strike="noStrike" u="none">
              <a:solidFill>
                <a:srgbClr val="333399"/>
              </a:solidFill>
              <a:effectLst/>
              <a:uFillTx/>
              <a:latin typeface="Arial"/>
            </a:endParaRPr>
          </a:p>
        </p:txBody>
      </p:sp>
      <p:pic>
        <p:nvPicPr>
          <p:cNvPr id="311" name="Picture 3" descr=""/>
          <p:cNvPicPr/>
          <p:nvPr/>
        </p:nvPicPr>
        <p:blipFill>
          <a:blip r:embed="rId1"/>
          <a:stretch/>
        </p:blipFill>
        <p:spPr>
          <a:xfrm>
            <a:off x="914400" y="2195640"/>
            <a:ext cx="7010280" cy="3759120"/>
          </a:xfrm>
          <a:prstGeom prst="rect">
            <a:avLst/>
          </a:prstGeom>
          <a:noFill/>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2" name="Slide Number Placeholder 4"/>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F57553-A475-4AC8-ADE9-2C6228AD34E2}"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13" name="PlaceHolder 1"/>
          <p:cNvSpPr>
            <a:spLocks noGrp="1"/>
          </p:cNvSpPr>
          <p:nvPr>
            <p:ph type="title"/>
          </p:nvPr>
        </p:nvSpPr>
        <p:spPr>
          <a:xfrm>
            <a:off x="380880" y="457200"/>
            <a:ext cx="8229600" cy="19051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2:</a:t>
            </a:r>
            <a:br>
              <a:rPr sz="2000"/>
            </a:br>
            <a:r>
              <a:rPr b="1" lang="en-IN" sz="2000" strike="noStrike" u="none">
                <a:solidFill>
                  <a:srgbClr val="333399"/>
                </a:solidFill>
                <a:effectLst/>
                <a:uFillTx/>
                <a:latin typeface="Arial"/>
              </a:rPr>
              <a:t>What are employees’ perceptions regarding the culture of diversity at NASA Ames?</a:t>
            </a:r>
            <a:br>
              <a:rPr sz="2000"/>
            </a:br>
            <a:br>
              <a:rPr sz="1800"/>
            </a:br>
            <a:r>
              <a:rPr b="1" lang="en-IN" sz="1800" strike="noStrike" u="none">
                <a:solidFill>
                  <a:srgbClr val="333399"/>
                </a:solidFill>
                <a:effectLst/>
                <a:uFillTx/>
                <a:latin typeface="Arial"/>
              </a:rPr>
              <a:t>Part 1: General Perceptions about the Organizational Culture</a:t>
            </a:r>
            <a:endParaRPr b="0" lang="en-IN" sz="1800" strike="noStrike" u="none">
              <a:solidFill>
                <a:srgbClr val="333399"/>
              </a:solidFill>
              <a:effectLst/>
              <a:uFillTx/>
              <a:latin typeface="Arial"/>
            </a:endParaRPr>
          </a:p>
        </p:txBody>
      </p:sp>
      <p:pic>
        <p:nvPicPr>
          <p:cNvPr id="314" name="Picture 3" descr=""/>
          <p:cNvPicPr/>
          <p:nvPr/>
        </p:nvPicPr>
        <p:blipFill>
          <a:blip r:embed="rId1"/>
          <a:stretch/>
        </p:blipFill>
        <p:spPr>
          <a:xfrm>
            <a:off x="914400" y="2119320"/>
            <a:ext cx="7086600" cy="392436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5"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09059F3-7A30-4F75-939D-49924127A875}"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16" name="PlaceHolder 1"/>
          <p:cNvSpPr>
            <a:spLocks noGrp="1"/>
          </p:cNvSpPr>
          <p:nvPr>
            <p:ph type="title"/>
          </p:nvPr>
        </p:nvSpPr>
        <p:spPr>
          <a:xfrm>
            <a:off x="609480" y="761760"/>
            <a:ext cx="838224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2: </a:t>
            </a:r>
            <a:br>
              <a:rPr sz="2000"/>
            </a:br>
            <a:r>
              <a:rPr b="1" lang="en-IN" sz="2000" strike="noStrike" u="none">
                <a:solidFill>
                  <a:srgbClr val="333399"/>
                </a:solidFill>
                <a:effectLst/>
                <a:uFillTx/>
                <a:latin typeface="Arial"/>
              </a:rPr>
              <a:t>Findings Part 1: General Perceptions about the Organizational Culture</a:t>
            </a:r>
            <a:endParaRPr b="0" lang="en-IN" sz="2000" strike="noStrike" u="none">
              <a:solidFill>
                <a:srgbClr val="333399"/>
              </a:solidFill>
              <a:effectLst/>
              <a:uFillTx/>
              <a:latin typeface="Arial"/>
            </a:endParaRPr>
          </a:p>
        </p:txBody>
      </p:sp>
      <p:sp>
        <p:nvSpPr>
          <p:cNvPr id="317" name="PlaceHolder 2"/>
          <p:cNvSpPr>
            <a:spLocks noGrp="1"/>
          </p:cNvSpPr>
          <p:nvPr>
            <p:ph/>
          </p:nvPr>
        </p:nvSpPr>
        <p:spPr>
          <a:xfrm>
            <a:off x="685440" y="1981080"/>
            <a:ext cx="7467480" cy="467856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Some Strong Positive Findings, But They Come With Qualifications</a:t>
            </a:r>
            <a:endParaRPr b="0" lang="en-IN" sz="1600" strike="noStrike" u="none">
              <a:solidFill>
                <a:srgbClr val="000000"/>
              </a:solidFill>
              <a:effectLst/>
              <a:uFillTx/>
              <a:latin typeface="Arial"/>
            </a:endParaRPr>
          </a:p>
          <a:p>
            <a:pPr marL="343080" indent="-343080">
              <a:spcBef>
                <a:spcPts val="2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About 80% of respondents agreed that NASA Ames promotes fair treatment of all employees, although only 72.6% of Non-White respondents agreed.</a:t>
            </a:r>
            <a:endParaRPr b="0" lang="en-IN" sz="1600" strike="noStrike" u="none">
              <a:solidFill>
                <a:srgbClr val="000000"/>
              </a:solidFill>
              <a:effectLst/>
              <a:uFillTx/>
              <a:latin typeface="Arial"/>
            </a:endParaRPr>
          </a:p>
          <a:p>
            <a:pPr marL="343080" indent="-34308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83.7% agreed that all employees have a responsibility to promote workplace diversity, but only about 65% said employees actually encourage workplace participation by coworkers with different characteristics or viewpoints.</a:t>
            </a:r>
            <a:endParaRPr b="0" lang="en-IN" sz="1600" strike="noStrike" u="none">
              <a:solidFill>
                <a:srgbClr val="000000"/>
              </a:solidFill>
              <a:effectLst/>
              <a:uFillTx/>
              <a:latin typeface="Arial"/>
            </a:endParaRPr>
          </a:p>
          <a:p>
            <a:pPr marL="343080" indent="-34308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81.2% of respondents said diversity training is encouraged, but only about 50% agreed that the training is useful.</a:t>
            </a:r>
            <a:endParaRPr b="0" lang="en-IN" sz="1600" strike="noStrike" u="none">
              <a:solidFill>
                <a:srgbClr val="000000"/>
              </a:solidFill>
              <a:effectLst/>
              <a:uFillTx/>
              <a:latin typeface="Arial"/>
            </a:endParaRPr>
          </a:p>
          <a:p>
            <a:pPr marL="343080" indent="-34308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Challenges</a:t>
            </a:r>
            <a:endParaRPr b="0" lang="en-IN" sz="1600" strike="noStrike" u="none">
              <a:solidFill>
                <a:srgbClr val="000000"/>
              </a:solidFill>
              <a:effectLst/>
              <a:uFillTx/>
              <a:latin typeface="Arial"/>
            </a:endParaRPr>
          </a:p>
          <a:p>
            <a:pPr marL="343080" indent="-343080">
              <a:spcBef>
                <a:spcPts val="2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Only 35.3% of respondents report NASA Ames uses diversity effectively to increase workforce productivity and only about 30% </a:t>
            </a:r>
            <a:r>
              <a:rPr b="0" lang="en-IN" sz="1600" strike="noStrike" u="sng">
                <a:solidFill>
                  <a:srgbClr val="000000"/>
                </a:solidFill>
                <a:effectLst/>
                <a:uFillTx/>
                <a:latin typeface="Arial"/>
              </a:rPr>
              <a:t>disagreed</a:t>
            </a:r>
            <a:r>
              <a:rPr b="0" lang="en-IN" sz="1600" strike="noStrike" u="none">
                <a:solidFill>
                  <a:srgbClr val="000000"/>
                </a:solidFill>
                <a:effectLst/>
                <a:uFillTx/>
                <a:latin typeface="Arial"/>
              </a:rPr>
              <a:t> that workplace diversity sometimes leads to workplace problems.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8" name="Slide Number Placeholder 5"/>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0AAF85-3BAD-4F2B-88CE-D0F035100EFA}"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19" name="PlaceHolder 1"/>
          <p:cNvSpPr>
            <a:spLocks noGrp="1"/>
          </p:cNvSpPr>
          <p:nvPr>
            <p:ph type="title"/>
          </p:nvPr>
        </p:nvSpPr>
        <p:spPr>
          <a:xfrm>
            <a:off x="456840" y="914040"/>
            <a:ext cx="8458200" cy="10969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2: </a:t>
            </a:r>
            <a:br>
              <a:rPr sz="2000"/>
            </a:br>
            <a:r>
              <a:rPr b="1" lang="en-IN" sz="2000" strike="noStrike" u="none">
                <a:solidFill>
                  <a:srgbClr val="333399"/>
                </a:solidFill>
                <a:effectLst/>
                <a:uFillTx/>
                <a:latin typeface="Arial"/>
              </a:rPr>
              <a:t>What are employees’ perceptions regarding the culture of diversity at NASA Ames?</a:t>
            </a:r>
            <a:br>
              <a:rPr sz="2000"/>
            </a:br>
            <a:endParaRPr b="0" lang="en-IN" sz="2000" strike="noStrike" u="none">
              <a:solidFill>
                <a:srgbClr val="333399"/>
              </a:solidFill>
              <a:effectLst/>
              <a:uFillTx/>
              <a:latin typeface="Arial"/>
            </a:endParaRPr>
          </a:p>
        </p:txBody>
      </p:sp>
      <p:sp>
        <p:nvSpPr>
          <p:cNvPr id="320" name="PlaceHolder 2"/>
          <p:cNvSpPr>
            <a:spLocks noGrp="1"/>
          </p:cNvSpPr>
          <p:nvPr>
            <p:ph/>
          </p:nvPr>
        </p:nvSpPr>
        <p:spPr>
          <a:xfrm>
            <a:off x="380520" y="1905120"/>
            <a:ext cx="8077320" cy="304560"/>
          </a:xfrm>
          <a:prstGeom prst="rect">
            <a:avLst/>
          </a:prstGeom>
          <a:noFill/>
          <a:ln w="0">
            <a:noFill/>
          </a:ln>
        </p:spPr>
        <p:txBody>
          <a:bodyPr lIns="91440" rIns="91440" tIns="45720" bIns="45720" anchor="t">
            <a:normAutofit fontScale="85000" lnSpcReduction="9999"/>
          </a:bodyPr>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333399"/>
                </a:solidFill>
                <a:effectLst/>
                <a:uFillTx/>
                <a:latin typeface="Arial"/>
              </a:rPr>
              <a:t>Part 2: Perceptions about Managers and Supervisors</a:t>
            </a: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0">
              <a:spcBef>
                <a:spcPts val="3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pic>
        <p:nvPicPr>
          <p:cNvPr id="321" name="Picture 4" descr=""/>
          <p:cNvPicPr/>
          <p:nvPr/>
        </p:nvPicPr>
        <p:blipFill>
          <a:blip r:embed="rId1"/>
          <a:stretch/>
        </p:blipFill>
        <p:spPr>
          <a:xfrm>
            <a:off x="990720" y="2438280"/>
            <a:ext cx="7315200" cy="3364200"/>
          </a:xfrm>
          <a:prstGeom prst="rect">
            <a:avLst/>
          </a:prstGeom>
          <a:noFill/>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2"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C829962-21BE-4A1D-83BA-A5D203117F6D}"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23" name="PlaceHolder 1"/>
          <p:cNvSpPr>
            <a:spLocks noGrp="1"/>
          </p:cNvSpPr>
          <p:nvPr>
            <p:ph type="title"/>
          </p:nvPr>
        </p:nvSpPr>
        <p:spPr>
          <a:xfrm>
            <a:off x="457200" y="685440"/>
            <a:ext cx="8305920" cy="14778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2: </a:t>
            </a:r>
            <a:br>
              <a:rPr sz="2000"/>
            </a:br>
            <a:r>
              <a:rPr b="1" lang="en-IN" sz="2000" strike="noStrike" u="none">
                <a:solidFill>
                  <a:srgbClr val="333399"/>
                </a:solidFill>
                <a:effectLst/>
                <a:uFillTx/>
                <a:latin typeface="Arial"/>
              </a:rPr>
              <a:t>What are employees’ perceptions regarding the culture of diversity at NASA Ames?</a:t>
            </a:r>
            <a:br>
              <a:rPr sz="2000"/>
            </a:br>
            <a:br>
              <a:rPr sz="1600"/>
            </a:br>
            <a:r>
              <a:rPr b="1" lang="en-IN" sz="1600" strike="noStrike" u="none">
                <a:solidFill>
                  <a:srgbClr val="333399"/>
                </a:solidFill>
                <a:effectLst/>
                <a:uFillTx/>
                <a:latin typeface="Arial"/>
              </a:rPr>
              <a:t>Part 2: Perceptions about Managers and Supervisors (continued)</a:t>
            </a:r>
            <a:endParaRPr b="0" lang="en-IN" sz="1600" strike="noStrike" u="none">
              <a:solidFill>
                <a:srgbClr val="333399"/>
              </a:solidFill>
              <a:effectLst/>
              <a:uFillTx/>
              <a:latin typeface="Arial"/>
            </a:endParaRPr>
          </a:p>
        </p:txBody>
      </p:sp>
      <p:sp>
        <p:nvSpPr>
          <p:cNvPr id="324" name="PlaceHolder 2"/>
          <p:cNvSpPr>
            <a:spLocks noGrp="1"/>
          </p:cNvSpPr>
          <p:nvPr>
            <p:ph/>
          </p:nvPr>
        </p:nvSpPr>
        <p:spPr>
          <a:xfrm>
            <a:off x="914400" y="1600200"/>
            <a:ext cx="8229600" cy="4525920"/>
          </a:xfrm>
          <a:prstGeom prst="rect">
            <a:avLst/>
          </a:prstGeom>
          <a:noFill/>
          <a:ln w="0">
            <a:noFill/>
          </a:ln>
        </p:spPr>
        <p:txBody>
          <a:bodyPr lIns="91440" rIns="91440" tIns="45720" bIns="45720" anchor="t">
            <a:normAutofit/>
          </a:bodyPr>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0">
              <a:spcBef>
                <a:spcPts val="3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pic>
        <p:nvPicPr>
          <p:cNvPr id="325" name="Picture 4" descr=""/>
          <p:cNvPicPr/>
          <p:nvPr/>
        </p:nvPicPr>
        <p:blipFill>
          <a:blip r:embed="rId1"/>
          <a:stretch/>
        </p:blipFill>
        <p:spPr>
          <a:xfrm>
            <a:off x="914400" y="2438280"/>
            <a:ext cx="7010280" cy="3319560"/>
          </a:xfrm>
          <a:prstGeom prst="rect">
            <a:avLst/>
          </a:prstGeom>
          <a:noFill/>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6"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3890811-209E-49B6-8B2F-8C5975664089}"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27" name="PlaceHolder 1"/>
          <p:cNvSpPr>
            <a:spLocks noGrp="1"/>
          </p:cNvSpPr>
          <p:nvPr>
            <p:ph type="title"/>
          </p:nvPr>
        </p:nvSpPr>
        <p:spPr>
          <a:xfrm>
            <a:off x="457200" y="609480"/>
            <a:ext cx="8305920" cy="15242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2: </a:t>
            </a:r>
            <a:br>
              <a:rPr sz="2000"/>
            </a:br>
            <a:r>
              <a:rPr b="1" lang="en-IN" sz="2000" strike="noStrike" u="none">
                <a:solidFill>
                  <a:srgbClr val="333399"/>
                </a:solidFill>
                <a:effectLst/>
                <a:uFillTx/>
                <a:latin typeface="Arial"/>
              </a:rPr>
              <a:t>What are employees’ perceptions regarding the culture of diversity at NASA Ames?</a:t>
            </a:r>
            <a:br>
              <a:rPr sz="2000"/>
            </a:br>
            <a:br>
              <a:rPr sz="1600"/>
            </a:br>
            <a:r>
              <a:rPr b="1" lang="en-IN" sz="1600" strike="noStrike" u="none">
                <a:solidFill>
                  <a:srgbClr val="333399"/>
                </a:solidFill>
                <a:effectLst/>
                <a:uFillTx/>
                <a:latin typeface="Arial"/>
              </a:rPr>
              <a:t>Part 2: Perceptions about Managers and Supervisors (continued)</a:t>
            </a:r>
            <a:endParaRPr b="0" lang="en-IN" sz="1600" strike="noStrike" u="none">
              <a:solidFill>
                <a:srgbClr val="333399"/>
              </a:solidFill>
              <a:effectLst/>
              <a:uFillTx/>
              <a:latin typeface="Arial"/>
            </a:endParaRPr>
          </a:p>
        </p:txBody>
      </p:sp>
      <p:pic>
        <p:nvPicPr>
          <p:cNvPr id="328" name="Picture 3" descr=""/>
          <p:cNvPicPr/>
          <p:nvPr/>
        </p:nvPicPr>
        <p:blipFill>
          <a:blip r:embed="rId1"/>
          <a:stretch/>
        </p:blipFill>
        <p:spPr>
          <a:xfrm>
            <a:off x="914400" y="2119320"/>
            <a:ext cx="6997680" cy="3735360"/>
          </a:xfrm>
          <a:prstGeom prst="rect">
            <a:avLst/>
          </a:prstGeom>
          <a:noFill/>
          <a:ln w="0">
            <a:noFill/>
          </a:ln>
        </p:spPr>
      </p:pic>
      <p:sp>
        <p:nvSpPr>
          <p:cNvPr id="329" name="PlaceHolder 2"/>
          <p:cNvSpPr>
            <a:spLocks noGrp="1"/>
          </p:cNvSpPr>
          <p:nvPr>
            <p:ph/>
          </p:nvPr>
        </p:nvSpPr>
        <p:spPr>
          <a:xfrm>
            <a:off x="914400" y="1523880"/>
            <a:ext cx="8229600" cy="4525920"/>
          </a:xfrm>
          <a:prstGeom prst="rect">
            <a:avLst/>
          </a:prstGeom>
          <a:noFill/>
          <a:ln w="0">
            <a:noFill/>
          </a:ln>
        </p:spPr>
        <p:txBody>
          <a:bodyPr lIns="91440" rIns="91440" tIns="45720" bIns="45720" anchor="t">
            <a:normAutofit/>
          </a:bodyPr>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0">
              <a:spcBef>
                <a:spcPts val="3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0"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766CA36-CB52-46D0-A69A-FDA1A102432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31" name="PlaceHolder 1"/>
          <p:cNvSpPr>
            <a:spLocks noGrp="1"/>
          </p:cNvSpPr>
          <p:nvPr>
            <p:ph type="title"/>
          </p:nvPr>
        </p:nvSpPr>
        <p:spPr>
          <a:xfrm>
            <a:off x="761760" y="960120"/>
            <a:ext cx="7924680" cy="3668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800"/>
            </a:br>
            <a:r>
              <a:rPr b="1" lang="en-IN" sz="2000" strike="noStrike" u="none">
                <a:solidFill>
                  <a:srgbClr val="333399"/>
                </a:solidFill>
                <a:effectLst/>
                <a:uFillTx/>
                <a:latin typeface="Arial"/>
              </a:rPr>
              <a:t>Research Question 2: </a:t>
            </a:r>
            <a:br>
              <a:rPr sz="2000"/>
            </a:br>
            <a:r>
              <a:rPr b="1" lang="en-IN" sz="2000" strike="noStrike" u="none">
                <a:solidFill>
                  <a:srgbClr val="333399"/>
                </a:solidFill>
                <a:effectLst/>
                <a:uFillTx/>
                <a:latin typeface="Arial"/>
              </a:rPr>
              <a:t>Findings Part 2: Perceptions about Managers and Supervisors</a:t>
            </a:r>
            <a:br>
              <a:rPr sz="2000"/>
            </a:br>
            <a:endParaRPr b="0" lang="en-IN" sz="2000" strike="noStrike" u="none">
              <a:solidFill>
                <a:srgbClr val="333399"/>
              </a:solidFill>
              <a:effectLst/>
              <a:uFillTx/>
              <a:latin typeface="Arial"/>
            </a:endParaRPr>
          </a:p>
        </p:txBody>
      </p:sp>
      <p:sp>
        <p:nvSpPr>
          <p:cNvPr id="332" name="PlaceHolder 2"/>
          <p:cNvSpPr>
            <a:spLocks noGrp="1"/>
          </p:cNvSpPr>
          <p:nvPr>
            <p:ph/>
          </p:nvPr>
        </p:nvSpPr>
        <p:spPr>
          <a:xfrm>
            <a:off x="685440" y="1731960"/>
            <a:ext cx="8001000" cy="425304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Some Positive Perceptions Were Stronger Than Others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Positive perceptions were highest (65% to 73%) regarding: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Valuing diverse viewpoints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Valuing differences in approaches and solutions to problems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Encouraging employees to speak up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Investigating reports of unfair treatment</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Positive perceptions about managers and supervisors declined (47% to 62%) regarding: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What they actually do to promote a diverse workplace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Valuing of differences in individual and cultural characteristics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Their being held accountable for ensuring fair treatment</a:t>
            </a:r>
            <a:endParaRPr b="0" lang="en-IN" sz="1600" strike="noStrike" u="none">
              <a:solidFill>
                <a:srgbClr val="000000"/>
              </a:solidFill>
              <a:effectLst/>
              <a:uFillTx/>
              <a:latin typeface="Arial"/>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a:p>
            <a:pPr marL="3430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3"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EE65F33-A911-4BE0-89F7-7444AB55A30C}"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34" name="PlaceHolder 1"/>
          <p:cNvSpPr>
            <a:spLocks noGrp="1"/>
          </p:cNvSpPr>
          <p:nvPr>
            <p:ph type="title"/>
          </p:nvPr>
        </p:nvSpPr>
        <p:spPr>
          <a:xfrm>
            <a:off x="761760" y="914040"/>
            <a:ext cx="7924680" cy="4129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2: </a:t>
            </a:r>
            <a:br>
              <a:rPr sz="2000"/>
            </a:br>
            <a:r>
              <a:rPr b="1" lang="en-IN" sz="2000" strike="noStrike" u="none">
                <a:solidFill>
                  <a:srgbClr val="333399"/>
                </a:solidFill>
                <a:effectLst/>
                <a:uFillTx/>
                <a:latin typeface="Arial"/>
              </a:rPr>
              <a:t>Findings Part 2: Perceptions about Managers and Supervisors (continued)</a:t>
            </a:r>
            <a:endParaRPr b="0" lang="en-IN" sz="2000" strike="noStrike" u="none">
              <a:solidFill>
                <a:srgbClr val="333399"/>
              </a:solidFill>
              <a:effectLst/>
              <a:uFillTx/>
              <a:latin typeface="Arial"/>
            </a:endParaRPr>
          </a:p>
        </p:txBody>
      </p:sp>
      <p:sp>
        <p:nvSpPr>
          <p:cNvPr id="335" name="PlaceHolder 2"/>
          <p:cNvSpPr>
            <a:spLocks noGrp="1"/>
          </p:cNvSpPr>
          <p:nvPr>
            <p:ph/>
          </p:nvPr>
        </p:nvSpPr>
        <p:spPr>
          <a:xfrm>
            <a:off x="762120" y="1523520"/>
            <a:ext cx="7772400" cy="4754520"/>
          </a:xfrm>
          <a:prstGeom prst="rect">
            <a:avLst/>
          </a:prstGeom>
          <a:noFill/>
          <a:ln w="0">
            <a:noFill/>
          </a:ln>
        </p:spPr>
        <p:txBody>
          <a:bodyPr lIns="91440" rIns="91440" tIns="45720" bIns="45720" anchor="t">
            <a:normAutofit/>
          </a:bodyPr>
          <a:p>
            <a:pPr marL="343080" indent="-34308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Many Notable Subgroup Differences</a:t>
            </a:r>
            <a:r>
              <a:rPr b="1" lang="en-IN" sz="1400" strike="noStrike" u="none">
                <a:solidFill>
                  <a:srgbClr val="000000"/>
                </a:solidFill>
                <a:effectLst/>
                <a:uFillTx/>
                <a:latin typeface="Arial"/>
              </a:rPr>
              <a:t> </a:t>
            </a:r>
            <a:endParaRPr b="0" lang="en-IN" sz="1400" strike="noStrike" u="none">
              <a:solidFill>
                <a:srgbClr val="000000"/>
              </a:solidFill>
              <a:effectLst/>
              <a:uFillTx/>
              <a:latin typeface="Arial"/>
            </a:endParaRPr>
          </a:p>
          <a:p>
            <a:pPr marL="343080" indent="-34308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Positive perceptions differed notably most often between supervisors and non-supervisors and between Whites and Non-Whites. For example:</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1" lang="en-IN" sz="1600" strike="noStrike" u="none">
                <a:solidFill>
                  <a:srgbClr val="000000"/>
                </a:solidFill>
                <a:effectLst/>
                <a:uFillTx/>
                <a:latin typeface="Arial"/>
              </a:rPr>
              <a:t>White </a:t>
            </a:r>
            <a:r>
              <a:rPr b="1" lang="en-IN" sz="1600" strike="noStrike" u="none">
                <a:solidFill>
                  <a:srgbClr val="000000"/>
                </a:solidFill>
                <a:effectLst/>
                <a:uFillTx/>
                <a:latin typeface="Arial"/>
              </a:rPr>
              <a:t>	</a:t>
            </a:r>
            <a:r>
              <a:rPr b="1" lang="en-IN" sz="1600" strike="noStrike" u="none">
                <a:solidFill>
                  <a:srgbClr val="000000"/>
                </a:solidFill>
                <a:effectLst/>
                <a:uFillTx/>
                <a:latin typeface="Arial"/>
              </a:rPr>
              <a:t>Non-White</a:t>
            </a:r>
            <a:r>
              <a:rPr b="0" lang="en-IN" sz="1600" strike="noStrike" u="none">
                <a:solidFill>
                  <a:srgbClr val="000000"/>
                </a:solidFill>
                <a:effectLst/>
                <a:uFillTx/>
                <a:latin typeface="Arial"/>
              </a:rPr>
              <a:t> </a:t>
            </a:r>
            <a:endParaRPr b="0" lang="en-IN" sz="1600" strike="noStrike" u="none">
              <a:solidFill>
                <a:srgbClr val="000000"/>
              </a:solidFill>
              <a:effectLst/>
              <a:uFillTx/>
              <a:latin typeface="Arial"/>
            </a:endParaRPr>
          </a:p>
          <a:p>
            <a:pPr marL="343080" indent="-343080">
              <a:lnSpc>
                <a:spcPct val="85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Managers and supervisors they work with </a:t>
            </a:r>
            <a:endParaRPr b="0" lang="en-IN" sz="1600" strike="noStrike" u="none">
              <a:solidFill>
                <a:srgbClr val="000000"/>
              </a:solidFill>
              <a:effectLst/>
              <a:uFillTx/>
              <a:latin typeface="Arial"/>
            </a:endParaRPr>
          </a:p>
          <a:p>
            <a:pPr marL="343080" indent="-343080">
              <a:lnSpc>
                <a:spcPct val="85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investigate reports of unfair treatment</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72.2%</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54.7%</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Males, respondents with less tenure, and respondents younger than 40 years old tended to be proportionately more positive. For example:</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1" lang="en-IN" sz="1600" strike="noStrike" u="none">
                <a:solidFill>
                  <a:srgbClr val="000000"/>
                </a:solidFill>
                <a:effectLst/>
                <a:uFillTx/>
                <a:latin typeface="Arial"/>
              </a:rPr>
              <a:t>Male</a:t>
            </a:r>
            <a:r>
              <a:rPr b="1" lang="en-IN" sz="1600" strike="noStrike" u="none">
                <a:solidFill>
                  <a:srgbClr val="000000"/>
                </a:solidFill>
                <a:effectLst/>
                <a:uFillTx/>
                <a:latin typeface="Arial"/>
              </a:rPr>
              <a:t>	</a:t>
            </a:r>
            <a:r>
              <a:rPr b="1" lang="en-IN" sz="1600" strike="noStrike" u="none">
                <a:solidFill>
                  <a:srgbClr val="000000"/>
                </a:solidFill>
                <a:effectLst/>
                <a:uFillTx/>
                <a:latin typeface="Arial"/>
              </a:rPr>
              <a:t>Female</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Managers and supervisors are held </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accountable for ensuring fair treatment</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58.0%</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46.9%</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6"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C51F9B-0BD7-4B38-80A2-7A6AC7EFF1A9}"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37" name="PlaceHolder 1"/>
          <p:cNvSpPr>
            <a:spLocks noGrp="1"/>
          </p:cNvSpPr>
          <p:nvPr>
            <p:ph type="title"/>
          </p:nvPr>
        </p:nvSpPr>
        <p:spPr>
          <a:xfrm>
            <a:off x="685440" y="838080"/>
            <a:ext cx="7543800" cy="13255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How do employees perceive their own experiences at NASA Ames?</a:t>
            </a:r>
            <a:br>
              <a:rPr sz="2000"/>
            </a:br>
            <a:br>
              <a:rPr sz="1600"/>
            </a:br>
            <a:r>
              <a:rPr b="1" lang="en-IN" sz="1800" strike="noStrike" u="none">
                <a:solidFill>
                  <a:srgbClr val="333399"/>
                </a:solidFill>
                <a:effectLst/>
                <a:uFillTx/>
                <a:latin typeface="Arial"/>
              </a:rPr>
              <a:t>Acceptance</a:t>
            </a:r>
            <a:endParaRPr b="0" lang="en-IN" sz="1800" strike="noStrike" u="none">
              <a:solidFill>
                <a:srgbClr val="333399"/>
              </a:solidFill>
              <a:effectLst/>
              <a:uFillTx/>
              <a:latin typeface="Arial"/>
            </a:endParaRPr>
          </a:p>
        </p:txBody>
      </p:sp>
      <p:pic>
        <p:nvPicPr>
          <p:cNvPr id="338" name="Picture 3" descr=""/>
          <p:cNvPicPr/>
          <p:nvPr/>
        </p:nvPicPr>
        <p:blipFill>
          <a:blip r:embed="rId1"/>
          <a:stretch/>
        </p:blipFill>
        <p:spPr>
          <a:xfrm>
            <a:off x="914400" y="2379600"/>
            <a:ext cx="7391520" cy="3328920"/>
          </a:xfrm>
          <a:prstGeom prst="rect">
            <a:avLst/>
          </a:prstGeom>
          <a:noFill/>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9"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B73EA84-473F-42C3-B555-7CA9C00298C9}"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40" name="PlaceHolder 1"/>
          <p:cNvSpPr>
            <a:spLocks noGrp="1"/>
          </p:cNvSpPr>
          <p:nvPr>
            <p:ph type="title"/>
          </p:nvPr>
        </p:nvSpPr>
        <p:spPr>
          <a:xfrm>
            <a:off x="457200" y="914040"/>
            <a:ext cx="8229600" cy="5000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Findings: Perceptions about Acceptance</a:t>
            </a:r>
            <a:endParaRPr b="0" lang="en-IN" sz="2000" strike="noStrike" u="none">
              <a:solidFill>
                <a:srgbClr val="333399"/>
              </a:solidFill>
              <a:effectLst/>
              <a:uFillTx/>
              <a:latin typeface="Arial"/>
            </a:endParaRPr>
          </a:p>
        </p:txBody>
      </p:sp>
      <p:sp>
        <p:nvSpPr>
          <p:cNvPr id="341" name="PlaceHolder 2"/>
          <p:cNvSpPr>
            <a:spLocks noGrp="1"/>
          </p:cNvSpPr>
          <p:nvPr>
            <p:ph/>
          </p:nvPr>
        </p:nvSpPr>
        <p:spPr>
          <a:xfrm>
            <a:off x="457200" y="1371240"/>
            <a:ext cx="8229600" cy="475452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Mixed Perceptions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Positive findings: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About 76% of respondents disagreed that coworkers don’t accept differences in their personal characteristics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78.3% disagreed that they often feel uncomfortable or out of place at work because of physical or cultural characteristics.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However:</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Only about 56% report they have not felt pressure to change things about themselves in order to fit in; 21.9% responded neutrally to that statement, and 22.7% indicated they have felt such pressure.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What these mixed perceptions may mean:</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Some of those feeling pressured to change things about themselves were thinking about differences in viewpoints and approaches to work tasks.</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2"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23EA2CA-B8AC-4575-AEAA-F28A19D3A32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43" name="PlaceHolder 1"/>
          <p:cNvSpPr>
            <a:spLocks noGrp="1"/>
          </p:cNvSpPr>
          <p:nvPr>
            <p:ph type="title"/>
          </p:nvPr>
        </p:nvSpPr>
        <p:spPr>
          <a:xfrm>
            <a:off x="457200" y="914040"/>
            <a:ext cx="8229600" cy="5000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Findings: Perceptions about Acceptance (continued)</a:t>
            </a:r>
            <a:endParaRPr b="0" lang="en-IN" sz="2000" strike="noStrike" u="none">
              <a:solidFill>
                <a:srgbClr val="333399"/>
              </a:solidFill>
              <a:effectLst/>
              <a:uFillTx/>
              <a:latin typeface="Arial"/>
            </a:endParaRPr>
          </a:p>
        </p:txBody>
      </p:sp>
      <p:sp>
        <p:nvSpPr>
          <p:cNvPr id="344" name="PlaceHolder 2"/>
          <p:cNvSpPr>
            <a:spLocks noGrp="1"/>
          </p:cNvSpPr>
          <p:nvPr>
            <p:ph/>
          </p:nvPr>
        </p:nvSpPr>
        <p:spPr>
          <a:xfrm>
            <a:off x="457200" y="1731600"/>
            <a:ext cx="8229600" cy="459252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Notable Differences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	</a:t>
            </a:r>
            <a:r>
              <a:rPr b="1" lang="en-IN" sz="1600" strike="noStrike" u="none">
                <a:solidFill>
                  <a:srgbClr val="000000"/>
                </a:solidFill>
                <a:effectLst/>
                <a:uFillTx/>
                <a:latin typeface="Arial"/>
              </a:rPr>
              <a:t>Positive Perceptions about Acceptance between Whites and Non-Whites: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Disagreement with the following statements: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	</a:t>
            </a:r>
            <a:r>
              <a:rPr b="0" lang="en-IN" sz="3200" strike="noStrike" u="none">
                <a:solidFill>
                  <a:srgbClr val="000000"/>
                </a:solidFill>
                <a:effectLst/>
                <a:uFillTx/>
                <a:latin typeface="Arial"/>
              </a:rPr>
              <a:t>	</a:t>
            </a:r>
            <a:r>
              <a:rPr b="0" lang="en-IN" sz="3200" strike="noStrike" u="none">
                <a:solidFill>
                  <a:srgbClr val="000000"/>
                </a:solidFill>
                <a:effectLst/>
                <a:uFillTx/>
                <a:latin typeface="Arial"/>
              </a:rPr>
              <a:t>	</a:t>
            </a:r>
            <a:r>
              <a:rPr b="0" lang="en-IN" sz="3200" strike="noStrike" u="none">
                <a:solidFill>
                  <a:srgbClr val="000000"/>
                </a:solidFill>
                <a:effectLst/>
                <a:uFillTx/>
                <a:latin typeface="Arial"/>
              </a:rPr>
              <a:t>	</a:t>
            </a:r>
            <a:r>
              <a:rPr b="0" lang="en-IN" sz="3200" strike="noStrike" u="none">
                <a:solidFill>
                  <a:srgbClr val="000000"/>
                </a:solidFill>
                <a:effectLst/>
                <a:uFillTx/>
                <a:latin typeface="Arial"/>
              </a:rPr>
              <a:t>	</a:t>
            </a:r>
            <a:r>
              <a:rPr b="0" lang="en-IN" sz="3200" strike="noStrike" u="none">
                <a:solidFill>
                  <a:srgbClr val="000000"/>
                </a:solidFill>
                <a:effectLst/>
                <a:uFillTx/>
                <a:latin typeface="Arial"/>
              </a:rPr>
              <a:t> </a:t>
            </a:r>
            <a:r>
              <a:rPr b="0" lang="en-IN" sz="3200" strike="noStrike" u="none">
                <a:solidFill>
                  <a:srgbClr val="000000"/>
                </a:solidFill>
                <a:effectLst/>
                <a:uFillTx/>
                <a:latin typeface="Arial"/>
              </a:rPr>
              <a:t>	</a:t>
            </a:r>
            <a:r>
              <a:rPr b="0" lang="en-IN" sz="3200" strike="noStrike" u="none">
                <a:solidFill>
                  <a:srgbClr val="000000"/>
                </a:solidFill>
                <a:effectLst/>
                <a:uFillTx/>
                <a:latin typeface="Arial"/>
              </a:rPr>
              <a:t>	</a:t>
            </a:r>
            <a:r>
              <a:rPr b="1" lang="en-IN" sz="1600" strike="noStrike" u="none">
                <a:solidFill>
                  <a:srgbClr val="000000"/>
                </a:solidFill>
                <a:effectLst/>
                <a:uFillTx/>
                <a:latin typeface="Arial"/>
              </a:rPr>
              <a:t>Whites</a:t>
            </a:r>
            <a:r>
              <a:rPr b="0" lang="en-IN" sz="1600" strike="noStrike" u="none">
                <a:solidFill>
                  <a:srgbClr val="000000"/>
                </a:solidFill>
                <a:effectLst/>
                <a:uFillTx/>
                <a:latin typeface="Arial"/>
              </a:rPr>
              <a:t>	</a:t>
            </a:r>
            <a:r>
              <a:rPr b="1" lang="en-IN" sz="1600" strike="noStrike" u="none">
                <a:solidFill>
                  <a:srgbClr val="000000"/>
                </a:solidFill>
                <a:effectLst/>
                <a:uFillTx/>
                <a:latin typeface="Arial"/>
              </a:rPr>
              <a:t>Non-Whites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Have felt pressure to change in order to fit in: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61.3%</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47.9%</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Often feel uncomfortable or out of place</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because of various cultural or physical characteristics</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85.8%</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68.2%</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Often feel that coworkers’ don’t accept</a:t>
            </a:r>
            <a:r>
              <a:rPr b="0" lang="en-IN" sz="1600" strike="noStrike" u="none">
                <a:solidFill>
                  <a:srgbClr val="000000"/>
                </a:solidFill>
                <a:effectLst/>
                <a:uFillTx/>
                <a:latin typeface="Arial"/>
              </a:rPr>
              <a:t>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differences in personal characteristics</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82.0%</a:t>
            </a: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     66.3%</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5" name="Slide Number Placeholder 1"/>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8D7A63-C3EB-4B19-822B-5679A8375F52}"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46" name="Rectangle 2"/>
          <p:cNvSpPr/>
          <p:nvPr/>
        </p:nvSpPr>
        <p:spPr>
          <a:xfrm>
            <a:off x="685800" y="762120"/>
            <a:ext cx="7512120" cy="15879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How do employees perceive their own experiences at NASA Ames?</a:t>
            </a:r>
            <a:br>
              <a:rPr sz="2000"/>
            </a:br>
            <a:br>
              <a:rPr sz="2000"/>
            </a:br>
            <a:r>
              <a:rPr b="1" lang="en-IN" sz="1800" strike="noStrike" u="none">
                <a:solidFill>
                  <a:srgbClr val="333399"/>
                </a:solidFill>
                <a:effectLst/>
                <a:uFillTx/>
                <a:latin typeface="Arial"/>
              </a:rPr>
              <a:t>Opportunities</a:t>
            </a:r>
            <a:endParaRPr b="0" i="1" lang="en-IN" sz="1800" strike="noStrike" u="none">
              <a:solidFill>
                <a:srgbClr val="000000"/>
              </a:solidFill>
              <a:effectLst/>
              <a:uFillTx/>
              <a:latin typeface="Arial"/>
            </a:endParaRPr>
          </a:p>
        </p:txBody>
      </p:sp>
      <p:pic>
        <p:nvPicPr>
          <p:cNvPr id="347" name="Picture 3" descr=""/>
          <p:cNvPicPr/>
          <p:nvPr/>
        </p:nvPicPr>
        <p:blipFill>
          <a:blip r:embed="rId1"/>
          <a:stretch/>
        </p:blipFill>
        <p:spPr>
          <a:xfrm>
            <a:off x="914400" y="2666880"/>
            <a:ext cx="7086600" cy="2865600"/>
          </a:xfrm>
          <a:prstGeom prst="rect">
            <a:avLst/>
          </a:prstGeom>
          <a:noFill/>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8"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14B1B34-904F-4E3A-8A85-D43AD388C7A1}"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49" name="PlaceHolder 1"/>
          <p:cNvSpPr>
            <a:spLocks noGrp="1"/>
          </p:cNvSpPr>
          <p:nvPr>
            <p:ph type="title"/>
          </p:nvPr>
        </p:nvSpPr>
        <p:spPr>
          <a:xfrm>
            <a:off x="761760" y="914040"/>
            <a:ext cx="7924680" cy="4460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a:t>
            </a:r>
            <a:r>
              <a:rPr b="1" lang="en-IN" sz="4000" strike="noStrike" u="none">
                <a:solidFill>
                  <a:srgbClr val="333399"/>
                </a:solidFill>
                <a:effectLst/>
                <a:uFillTx/>
                <a:latin typeface="Arial"/>
              </a:rPr>
              <a:t> </a:t>
            </a:r>
            <a:br>
              <a:rPr sz="4000"/>
            </a:br>
            <a:r>
              <a:rPr b="1" lang="en-IN" sz="2000" strike="noStrike" u="none">
                <a:solidFill>
                  <a:srgbClr val="333399"/>
                </a:solidFill>
                <a:effectLst/>
                <a:uFillTx/>
                <a:latin typeface="Arial"/>
              </a:rPr>
              <a:t>Findings: Perceptions about Opportunities</a:t>
            </a:r>
            <a:endParaRPr b="0" lang="en-IN" sz="2000" strike="noStrike" u="none">
              <a:solidFill>
                <a:srgbClr val="333399"/>
              </a:solidFill>
              <a:effectLst/>
              <a:uFillTx/>
              <a:latin typeface="Arial"/>
            </a:endParaRPr>
          </a:p>
        </p:txBody>
      </p:sp>
      <p:sp>
        <p:nvSpPr>
          <p:cNvPr id="350" name="PlaceHolder 2"/>
          <p:cNvSpPr>
            <a:spLocks noGrp="1"/>
          </p:cNvSpPr>
          <p:nvPr>
            <p:ph/>
          </p:nvPr>
        </p:nvSpPr>
        <p:spPr>
          <a:xfrm>
            <a:off x="837720" y="1731960"/>
            <a:ext cx="7696440" cy="409752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Use of Skills</a:t>
            </a:r>
            <a:endParaRPr b="0" lang="en-IN" sz="1600" strike="noStrike" u="none">
              <a:solidFill>
                <a:srgbClr val="000000"/>
              </a:solidFill>
              <a:effectLst/>
              <a:uFillTx/>
              <a:latin typeface="Arial"/>
            </a:endParaRPr>
          </a:p>
          <a:p>
            <a:pPr marL="343080" indent="-343080">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Many respondents (71.3%) reported positive perceptions about </a:t>
            </a:r>
            <a:r>
              <a:rPr b="0" lang="en-IN" sz="1600" strike="noStrike" u="sng">
                <a:solidFill>
                  <a:srgbClr val="000000"/>
                </a:solidFill>
                <a:effectLst/>
                <a:uFillTx/>
                <a:latin typeface="Arial"/>
              </a:rPr>
              <a:t>use</a:t>
            </a:r>
            <a:r>
              <a:rPr b="0" lang="en-IN" sz="1600" strike="noStrike" u="none">
                <a:solidFill>
                  <a:srgbClr val="000000"/>
                </a:solidFill>
                <a:effectLst/>
                <a:uFillTx/>
                <a:latin typeface="Arial"/>
              </a:rPr>
              <a:t> of their skills.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Opportunities for Growth and Advancement</a:t>
            </a:r>
            <a:endParaRPr b="0" lang="en-IN" sz="1600" strike="noStrike" u="none">
              <a:solidFill>
                <a:srgbClr val="000000"/>
              </a:solidFill>
              <a:effectLst/>
              <a:uFillTx/>
              <a:latin typeface="Arial"/>
            </a:endParaRPr>
          </a:p>
          <a:p>
            <a:pPr marL="343080" indent="-343080">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Respondents were somewhat less positive about having: </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opportunities for professional development (disagreed that they were limited by supervisor/coworker assumptions) – 58.2%</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opportunities for advancement – 67.1%</a:t>
            </a:r>
            <a:endParaRPr b="0" lang="en-IN" sz="1600" strike="noStrike" u="none">
              <a:solidFill>
                <a:srgbClr val="000000"/>
              </a:solidFill>
              <a:effectLst/>
              <a:uFillTx/>
              <a:latin typeface="Arial"/>
            </a:endParaRPr>
          </a:p>
          <a:p>
            <a:pPr lvl="1" marL="743040" indent="-28584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Mentoring</a:t>
            </a: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52.8% said they have received mentoring to help them grow in their jobs.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1"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C997574-03D8-4CC0-A623-0092E9A7380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52" name="PlaceHolder 1"/>
          <p:cNvSpPr>
            <a:spLocks noGrp="1"/>
          </p:cNvSpPr>
          <p:nvPr>
            <p:ph type="title"/>
          </p:nvPr>
        </p:nvSpPr>
        <p:spPr>
          <a:xfrm>
            <a:off x="456840" y="685800"/>
            <a:ext cx="7924680" cy="83808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a:t>
            </a:r>
            <a:r>
              <a:rPr b="1" lang="en-IN" sz="4000" strike="noStrike" u="none">
                <a:solidFill>
                  <a:srgbClr val="333399"/>
                </a:solidFill>
                <a:effectLst/>
                <a:uFillTx/>
                <a:latin typeface="Arial"/>
              </a:rPr>
              <a:t> </a:t>
            </a:r>
            <a:br>
              <a:rPr sz="4000"/>
            </a:br>
            <a:r>
              <a:rPr b="1" lang="en-IN" sz="2000" strike="noStrike" u="none">
                <a:solidFill>
                  <a:srgbClr val="333399"/>
                </a:solidFill>
                <a:effectLst/>
                <a:uFillTx/>
                <a:latin typeface="Arial"/>
              </a:rPr>
              <a:t>Findings: Perceptions about Opportunities (continued)</a:t>
            </a:r>
            <a:endParaRPr b="0" lang="en-IN" sz="2000" strike="noStrike" u="none">
              <a:solidFill>
                <a:srgbClr val="333399"/>
              </a:solidFill>
              <a:effectLst/>
              <a:uFillTx/>
              <a:latin typeface="Arial"/>
            </a:endParaRPr>
          </a:p>
        </p:txBody>
      </p:sp>
      <p:sp>
        <p:nvSpPr>
          <p:cNvPr id="353" name="PlaceHolder 2"/>
          <p:cNvSpPr>
            <a:spLocks noGrp="1"/>
          </p:cNvSpPr>
          <p:nvPr>
            <p:ph/>
          </p:nvPr>
        </p:nvSpPr>
        <p:spPr>
          <a:xfrm>
            <a:off x="533160" y="1752480"/>
            <a:ext cx="8381880" cy="5105520"/>
          </a:xfrm>
          <a:prstGeom prst="rect">
            <a:avLst/>
          </a:prstGeom>
          <a:noFill/>
          <a:ln w="0">
            <a:noFill/>
          </a:ln>
        </p:spPr>
        <p:txBody>
          <a:bodyPr lIns="91440" rIns="91440" tIns="45720" bIns="45720" anchor="t">
            <a:normAutofit/>
          </a:bodyPr>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Same Pattern for Subgroup Differences</a:t>
            </a:r>
            <a:endParaRPr b="0" lang="en-IN" sz="1800" strike="noStrike" u="none">
              <a:solidFill>
                <a:srgbClr val="000000"/>
              </a:solidFill>
              <a:effectLst/>
              <a:uFillTx/>
              <a:latin typeface="Arial"/>
            </a:endParaRPr>
          </a:p>
          <a:p>
            <a:pPr marL="343080" indent="-343080">
              <a:lnSpc>
                <a:spcPct val="8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Non-Whites, non-supervisors, females, older respondents, and respondents employed at NASA Ames for more than 10 years were less positive</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Examples of Subgroup Differences in Positive Perceptions</a:t>
            </a:r>
            <a:endParaRPr b="0" lang="en-IN" sz="1800" strike="noStrike" u="none">
              <a:solidFill>
                <a:srgbClr val="000000"/>
              </a:solidFill>
              <a:effectLst/>
              <a:uFillTx/>
              <a:latin typeface="Arial"/>
            </a:endParaRPr>
          </a:p>
          <a:p>
            <a:pPr marL="343080" indent="-343080">
              <a:lnSpc>
                <a:spcPct val="8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a:p>
            <a:pPr marL="343080" indent="-343080">
              <a:lnSpc>
                <a:spcPct val="8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Opportunities for advancement:</a:t>
            </a:r>
            <a:endParaRPr b="0" lang="en-IN" sz="18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 </a:t>
            </a:r>
            <a:r>
              <a:rPr b="0" lang="en-IN" sz="1600" strike="noStrike" u="none">
                <a:solidFill>
                  <a:srgbClr val="000000"/>
                </a:solidFill>
                <a:effectLst/>
                <a:uFillTx/>
                <a:latin typeface="Arial"/>
              </a:rPr>
              <a:t>72.9% for Whites, 59.8% for Non-Whites</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Adequate opportunities to demonstrate skills:</a:t>
            </a:r>
            <a:endParaRPr b="0" lang="en-IN" sz="1800" strike="noStrike" u="none">
              <a:solidFill>
                <a:srgbClr val="000000"/>
              </a:solidFill>
              <a:effectLst/>
              <a:uFillTx/>
              <a:latin typeface="Arial"/>
            </a:endParaRPr>
          </a:p>
          <a:p>
            <a:pPr lvl="1" marL="743040" indent="-285840">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90.0% for supervisors, 68.1% for non-supervisors</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lnSpc>
                <a:spcPct val="8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Assumptions made that limited opportunities for professional development</a:t>
            </a:r>
            <a:endParaRPr b="0" lang="en-IN" sz="18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61.3% of males disagreed, 52.6% of females disagreed</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ea typeface="Arial"/>
              </a:rPr>
              <a:t>65.1% of respondents employed at NASA Ames for 10 years or less vs. 54.5% of those with at least 10 </a:t>
            </a:r>
            <a:r>
              <a:rPr b="0" lang="en-IN" sz="1600" strike="noStrike" u="none">
                <a:solidFill>
                  <a:srgbClr val="000000"/>
                </a:solidFill>
                <a:effectLst/>
                <a:uFillTx/>
                <a:latin typeface="Arial"/>
                <a:ea typeface="Arial"/>
              </a:rPr>
              <a:t>	</a:t>
            </a:r>
            <a:r>
              <a:rPr b="0" lang="en-IN" sz="1600" strike="noStrike" u="none">
                <a:solidFill>
                  <a:srgbClr val="000000"/>
                </a:solidFill>
                <a:effectLst/>
                <a:uFillTx/>
                <a:latin typeface="Arial"/>
                <a:ea typeface="Arial"/>
              </a:rPr>
              <a:t>years’ tenure</a:t>
            </a:r>
            <a:endParaRPr b="0" lang="en-IN" sz="1600" strike="noStrike" u="none">
              <a:solidFill>
                <a:srgbClr val="000000"/>
              </a:solidFill>
              <a:effectLst/>
              <a:uFillTx/>
              <a:latin typeface="Arial"/>
            </a:endParaRPr>
          </a:p>
          <a:p>
            <a:pPr lvl="4" marL="2057400" indent="-228600">
              <a:lnSpc>
                <a:spcPct val="80000"/>
              </a:lnSpc>
              <a:spcBef>
                <a:spcPts val="224"/>
              </a:spcBef>
              <a:buNone/>
              <a:tabLst>
                <a:tab algn="l" pos="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a:p>
            <a:pPr marL="343080" indent="-343080">
              <a:lnSpc>
                <a:spcPct val="80000"/>
              </a:lnSpc>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Mentoring:</a:t>
            </a:r>
            <a:endParaRPr b="0" lang="en-IN" sz="18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65.3% of respondents younger than 40, 50.8% for older respondents</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4" name="Slide Number Placeholder 1"/>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5324309-CF1D-40CF-8938-6A0BD8DEEBD5}"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55" name="Rectangle 2"/>
          <p:cNvSpPr/>
          <p:nvPr/>
        </p:nvSpPr>
        <p:spPr>
          <a:xfrm>
            <a:off x="609480" y="685800"/>
            <a:ext cx="7512120" cy="15879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How do employees perceive their own experiences at NASA Ames?</a:t>
            </a:r>
            <a:br>
              <a:rPr sz="2000"/>
            </a:br>
            <a:br>
              <a:rPr sz="2000"/>
            </a:br>
            <a:r>
              <a:rPr b="1" lang="en-IN" sz="1800" strike="noStrike" u="none">
                <a:solidFill>
                  <a:srgbClr val="333399"/>
                </a:solidFill>
                <a:effectLst/>
                <a:uFillTx/>
                <a:latin typeface="Arial"/>
              </a:rPr>
              <a:t>Open Communication</a:t>
            </a:r>
            <a:endParaRPr b="0" i="1" lang="en-IN" sz="1800" strike="noStrike" u="none">
              <a:solidFill>
                <a:srgbClr val="000000"/>
              </a:solidFill>
              <a:effectLst/>
              <a:uFillTx/>
              <a:latin typeface="Arial"/>
            </a:endParaRPr>
          </a:p>
        </p:txBody>
      </p:sp>
      <p:pic>
        <p:nvPicPr>
          <p:cNvPr id="356" name="Picture 3" descr=""/>
          <p:cNvPicPr/>
          <p:nvPr/>
        </p:nvPicPr>
        <p:blipFill>
          <a:blip r:embed="rId1"/>
          <a:stretch/>
        </p:blipFill>
        <p:spPr>
          <a:xfrm>
            <a:off x="685800" y="2666880"/>
            <a:ext cx="7391520" cy="2730600"/>
          </a:xfrm>
          <a:prstGeom prst="rect">
            <a:avLst/>
          </a:prstGeom>
          <a:noFill/>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7"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66AD026-8194-46DE-853A-506D1D921820}"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58" name="PlaceHolder 1"/>
          <p:cNvSpPr>
            <a:spLocks noGrp="1"/>
          </p:cNvSpPr>
          <p:nvPr>
            <p:ph type="title"/>
          </p:nvPr>
        </p:nvSpPr>
        <p:spPr>
          <a:xfrm>
            <a:off x="838080" y="914040"/>
            <a:ext cx="7848720" cy="4460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a:t>
            </a:r>
            <a:r>
              <a:rPr b="0" lang="en-IN" sz="2000" strike="noStrike" u="none">
                <a:solidFill>
                  <a:srgbClr val="333399"/>
                </a:solidFill>
                <a:effectLst/>
                <a:uFillTx/>
                <a:latin typeface="Arial"/>
              </a:rPr>
              <a:t> </a:t>
            </a:r>
            <a:br>
              <a:rPr sz="2000"/>
            </a:br>
            <a:r>
              <a:rPr b="1" lang="en-IN" sz="2000" strike="noStrike" u="none">
                <a:solidFill>
                  <a:srgbClr val="333399"/>
                </a:solidFill>
                <a:effectLst/>
                <a:uFillTx/>
                <a:latin typeface="Arial"/>
              </a:rPr>
              <a:t>Findings: Perceptions about Open Communication</a:t>
            </a:r>
            <a:endParaRPr b="0" lang="en-IN" sz="2000" strike="noStrike" u="none">
              <a:solidFill>
                <a:srgbClr val="333399"/>
              </a:solidFill>
              <a:effectLst/>
              <a:uFillTx/>
              <a:latin typeface="Arial"/>
            </a:endParaRPr>
          </a:p>
        </p:txBody>
      </p:sp>
      <p:sp>
        <p:nvSpPr>
          <p:cNvPr id="359" name="PlaceHolder 2"/>
          <p:cNvSpPr>
            <a:spLocks noGrp="1"/>
          </p:cNvSpPr>
          <p:nvPr>
            <p:ph/>
          </p:nvPr>
        </p:nvSpPr>
        <p:spPr>
          <a:xfrm>
            <a:off x="837720" y="1447560"/>
            <a:ext cx="7543800" cy="4343400"/>
          </a:xfrm>
          <a:prstGeom prst="rect">
            <a:avLst/>
          </a:prstGeom>
          <a:noFill/>
          <a:ln w="0">
            <a:noFill/>
          </a:ln>
        </p:spPr>
        <p:txBody>
          <a:bodyPr lIns="91440" rIns="91440" tIns="45720" bIns="45720" anchor="t">
            <a:normAutofit/>
          </a:bodyPr>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Overall, Positive Experiences with Communication</a:t>
            </a:r>
            <a:endParaRPr b="0" lang="en-IN" sz="1600" strike="noStrike" u="none">
              <a:solidFill>
                <a:srgbClr val="000000"/>
              </a:solidFill>
              <a:effectLst/>
              <a:uFillTx/>
              <a:latin typeface="Arial"/>
            </a:endParaRPr>
          </a:p>
          <a:p>
            <a:pPr marL="343080" indent="-343080">
              <a:lnSpc>
                <a:spcPct val="80000"/>
              </a:lnSpc>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Many respondents had positive perceptions about being able to express their opinions about work-related matters (76.9%) and said coworkers listen respectfully to them (85.0%).</a:t>
            </a:r>
            <a:endParaRPr b="0" lang="en-IN" sz="1600" strike="noStrike" u="none">
              <a:solidFill>
                <a:srgbClr val="000000"/>
              </a:solidFill>
              <a:effectLst/>
              <a:uFillTx/>
              <a:latin typeface="Arial"/>
            </a:endParaRPr>
          </a:p>
          <a:p>
            <a:pPr marL="343080" indent="0">
              <a:lnSpc>
                <a:spcPct val="80000"/>
              </a:lnSpc>
              <a:spcBef>
                <a:spcPts val="2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69.1% disagreed with the statement, “I am not encouraged to suggest alternative ways to solve problems”.</a:t>
            </a:r>
            <a:endParaRPr b="0" lang="en-IN" sz="1600" strike="noStrike" u="none">
              <a:solidFill>
                <a:srgbClr val="000000"/>
              </a:solidFill>
              <a:effectLst/>
              <a:uFillTx/>
              <a:latin typeface="Arial"/>
            </a:endParaRPr>
          </a:p>
          <a:p>
            <a:pPr marL="343080" indent="-343080">
              <a:lnSpc>
                <a:spcPct val="80000"/>
              </a:lnSpc>
              <a:spcBef>
                <a:spcPts val="2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Nearly 70% said they receive the information they need to work well </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	</a:t>
            </a:r>
            <a:r>
              <a:rPr b="0" lang="en-IN" sz="1600" strike="noStrike" u="none">
                <a:solidFill>
                  <a:srgbClr val="000000"/>
                </a:solidFill>
                <a:effectLst/>
                <a:uFillTx/>
                <a:latin typeface="Arial"/>
              </a:rPr>
              <a:t>with others.</a:t>
            </a:r>
            <a:endParaRPr b="0" lang="en-IN" sz="1600" strike="noStrike" u="none">
              <a:solidFill>
                <a:srgbClr val="000000"/>
              </a:solidFill>
              <a:effectLst/>
              <a:uFillTx/>
              <a:latin typeface="Arial"/>
            </a:endParaRPr>
          </a:p>
          <a:p>
            <a:pPr marL="343080" indent="-343080">
              <a:lnSpc>
                <a:spcPct val="80000"/>
              </a:lnSpc>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Subgroup Differences by Supervisory Status and Gender</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Examples:</a:t>
            </a: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Positive perceptions for “I feel free to express my opinion about work-related matters”: </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ea typeface="Arial"/>
              </a:rPr>
              <a:t>80.9% for males vs. 70.6% for females </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ea typeface="Arial"/>
              </a:rPr>
              <a:t>85.0% for supervisors vs. 75.7% for non-supervisors</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0" name="Slide Number Placeholder 4"/>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315F0E2-DD4D-4FB3-9E18-5F6EF8EA2E2B}"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61" name="PlaceHolder 1"/>
          <p:cNvSpPr>
            <a:spLocks noGrp="1"/>
          </p:cNvSpPr>
          <p:nvPr>
            <p:ph type="title"/>
          </p:nvPr>
        </p:nvSpPr>
        <p:spPr>
          <a:xfrm>
            <a:off x="457200" y="990360"/>
            <a:ext cx="822960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How do employees perceive their own experiences at NASA Ames?</a:t>
            </a:r>
            <a:br>
              <a:rPr sz="2000"/>
            </a:br>
            <a:br>
              <a:rPr sz="1800"/>
            </a:br>
            <a:r>
              <a:rPr b="1" lang="en-IN" sz="1800" strike="noStrike" u="none">
                <a:solidFill>
                  <a:srgbClr val="333399"/>
                </a:solidFill>
                <a:effectLst/>
                <a:uFillTx/>
                <a:latin typeface="Arial"/>
              </a:rPr>
              <a:t>Fair Treatment</a:t>
            </a:r>
            <a:endParaRPr b="0" lang="en-IN" sz="1800" strike="noStrike" u="none">
              <a:solidFill>
                <a:srgbClr val="333399"/>
              </a:solidFill>
              <a:effectLst/>
              <a:uFillTx/>
              <a:latin typeface="Arial"/>
            </a:endParaRPr>
          </a:p>
        </p:txBody>
      </p:sp>
      <p:pic>
        <p:nvPicPr>
          <p:cNvPr id="362" name="Picture 3" descr=""/>
          <p:cNvPicPr/>
          <p:nvPr/>
        </p:nvPicPr>
        <p:blipFill>
          <a:blip r:embed="rId1"/>
          <a:stretch/>
        </p:blipFill>
        <p:spPr>
          <a:xfrm>
            <a:off x="838080" y="2351160"/>
            <a:ext cx="7086600" cy="2560680"/>
          </a:xfrm>
          <a:prstGeom prst="rect">
            <a:avLst/>
          </a:prstGeom>
          <a:noFill/>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3"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EAA301-574F-4043-A46B-1BF7BEF2D434}"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64" name="PlaceHolder 1"/>
          <p:cNvSpPr>
            <a:spLocks noGrp="1"/>
          </p:cNvSpPr>
          <p:nvPr>
            <p:ph type="title"/>
          </p:nvPr>
        </p:nvSpPr>
        <p:spPr>
          <a:xfrm>
            <a:off x="457200" y="609120"/>
            <a:ext cx="8229600" cy="16765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How do employees perceive their own experiences at NASA Ames?</a:t>
            </a:r>
            <a:br>
              <a:rPr sz="2000"/>
            </a:br>
            <a:br>
              <a:rPr sz="1800"/>
            </a:br>
            <a:r>
              <a:rPr b="1" lang="en-IN" sz="1800" strike="noStrike" u="none">
                <a:solidFill>
                  <a:srgbClr val="333399"/>
                </a:solidFill>
                <a:effectLst/>
                <a:uFillTx/>
                <a:latin typeface="Arial"/>
              </a:rPr>
              <a:t>Fair Treatment (continued)</a:t>
            </a:r>
            <a:endParaRPr b="0" lang="en-IN" sz="1800" strike="noStrike" u="none">
              <a:solidFill>
                <a:srgbClr val="333399"/>
              </a:solidFill>
              <a:effectLst/>
              <a:uFillTx/>
              <a:latin typeface="Arial"/>
            </a:endParaRPr>
          </a:p>
        </p:txBody>
      </p:sp>
      <p:pic>
        <p:nvPicPr>
          <p:cNvPr id="365" name="Picture 3" descr=""/>
          <p:cNvPicPr/>
          <p:nvPr/>
        </p:nvPicPr>
        <p:blipFill>
          <a:blip r:embed="rId1"/>
          <a:stretch/>
        </p:blipFill>
        <p:spPr>
          <a:xfrm>
            <a:off x="990720" y="2351160"/>
            <a:ext cx="7162560" cy="3422520"/>
          </a:xfrm>
          <a:prstGeom prst="rect">
            <a:avLst/>
          </a:prstGeom>
          <a:noFill/>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6" name="Slide Number Placeholder 4"/>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45536C5-CCAB-4629-9EF6-0FA9F730CE3A}"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67" name="PlaceHolder 1"/>
          <p:cNvSpPr>
            <a:spLocks noGrp="1"/>
          </p:cNvSpPr>
          <p:nvPr>
            <p:ph type="title"/>
          </p:nvPr>
        </p:nvSpPr>
        <p:spPr>
          <a:xfrm>
            <a:off x="457200" y="609120"/>
            <a:ext cx="8305920" cy="170676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How do employees perceive their own experiences at NASA Ames?</a:t>
            </a:r>
            <a:br>
              <a:rPr sz="2000"/>
            </a:br>
            <a:br>
              <a:rPr sz="1800"/>
            </a:br>
            <a:r>
              <a:rPr b="1" lang="en-IN" sz="1800" strike="noStrike" u="none">
                <a:solidFill>
                  <a:srgbClr val="333399"/>
                </a:solidFill>
                <a:effectLst/>
                <a:uFillTx/>
                <a:latin typeface="Arial"/>
              </a:rPr>
              <a:t>Fair Treatment (continued)</a:t>
            </a:r>
            <a:endParaRPr b="0" lang="en-IN" sz="1800" strike="noStrike" u="none">
              <a:solidFill>
                <a:srgbClr val="333399"/>
              </a:solidFill>
              <a:effectLst/>
              <a:uFillTx/>
              <a:latin typeface="Arial"/>
            </a:endParaRPr>
          </a:p>
        </p:txBody>
      </p:sp>
      <p:pic>
        <p:nvPicPr>
          <p:cNvPr id="368" name="Picture 3" descr=""/>
          <p:cNvPicPr/>
          <p:nvPr/>
        </p:nvPicPr>
        <p:blipFill>
          <a:blip r:embed="rId1"/>
          <a:stretch/>
        </p:blipFill>
        <p:spPr>
          <a:xfrm>
            <a:off x="838080" y="2273400"/>
            <a:ext cx="6782040" cy="3381120"/>
          </a:xfrm>
          <a:prstGeom prst="rect">
            <a:avLst/>
          </a:prstGeom>
          <a:noFill/>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9"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E07D10-78CA-4EC3-AD2B-E409E2E2DECC}"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70" name="PlaceHolder 1"/>
          <p:cNvSpPr>
            <a:spLocks noGrp="1"/>
          </p:cNvSpPr>
          <p:nvPr>
            <p:ph type="title"/>
          </p:nvPr>
        </p:nvSpPr>
        <p:spPr>
          <a:xfrm>
            <a:off x="685800" y="927000"/>
            <a:ext cx="7848720" cy="4478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Findings: Perceptions about Fair Treatment</a:t>
            </a:r>
            <a:endParaRPr b="0" lang="en-IN" sz="2000" strike="noStrike" u="none">
              <a:solidFill>
                <a:srgbClr val="333399"/>
              </a:solidFill>
              <a:effectLst/>
              <a:uFillTx/>
              <a:latin typeface="Arial"/>
            </a:endParaRPr>
          </a:p>
        </p:txBody>
      </p:sp>
      <p:sp>
        <p:nvSpPr>
          <p:cNvPr id="371" name="PlaceHolder 2"/>
          <p:cNvSpPr>
            <a:spLocks noGrp="1"/>
          </p:cNvSpPr>
          <p:nvPr>
            <p:ph/>
          </p:nvPr>
        </p:nvSpPr>
        <p:spPr>
          <a:xfrm>
            <a:off x="761760" y="1523880"/>
            <a:ext cx="7924680" cy="4602240"/>
          </a:xfrm>
          <a:prstGeom prst="rect">
            <a:avLst/>
          </a:prstGeom>
          <a:noFill/>
          <a:ln w="0">
            <a:noFill/>
          </a:ln>
        </p:spPr>
        <p:txBody>
          <a:bodyPr lIns="91440" rIns="91440" tIns="45720" bIns="45720" anchor="t">
            <a:normAutofit/>
          </a:bodyPr>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Mixed Findings Overall on Harassment, Recognition for Contributions, and</a:t>
            </a: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Consequences for Reporting Unfair Treatment</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About 75% of respondents said they had never been harassed about differences in their personal characteristics (9.5% disagreed and 15.2% responded neutrally).</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About 71% said their contributions and achievement were recognized.</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Only about 57% disagreed that there will be negative consequences if they report unfair treatment at work.</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2"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A9327D-DA67-4234-86C8-6544E5B5625B}"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73" name="PlaceHolder 1"/>
          <p:cNvSpPr>
            <a:spLocks noGrp="1"/>
          </p:cNvSpPr>
          <p:nvPr>
            <p:ph type="title"/>
          </p:nvPr>
        </p:nvSpPr>
        <p:spPr>
          <a:xfrm>
            <a:off x="761760" y="914040"/>
            <a:ext cx="7924680" cy="5000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Findings: Perceptions about Fair Treatment (continued)</a:t>
            </a:r>
            <a:endParaRPr b="0" lang="en-IN" sz="2000" strike="noStrike" u="none">
              <a:solidFill>
                <a:srgbClr val="333399"/>
              </a:solidFill>
              <a:effectLst/>
              <a:uFillTx/>
              <a:latin typeface="Arial"/>
            </a:endParaRPr>
          </a:p>
        </p:txBody>
      </p:sp>
      <p:sp>
        <p:nvSpPr>
          <p:cNvPr id="374" name="PlaceHolder 2"/>
          <p:cNvSpPr>
            <a:spLocks noGrp="1"/>
          </p:cNvSpPr>
          <p:nvPr>
            <p:ph/>
          </p:nvPr>
        </p:nvSpPr>
        <p:spPr>
          <a:xfrm>
            <a:off x="838080" y="1600200"/>
            <a:ext cx="7925040" cy="4191120"/>
          </a:xfrm>
          <a:prstGeom prst="rect">
            <a:avLst/>
          </a:prstGeom>
          <a:noFill/>
          <a:ln w="0">
            <a:noFill/>
          </a:ln>
        </p:spPr>
        <p:txBody>
          <a:bodyPr lIns="91440" rIns="91440" tIns="45720" bIns="45720" anchor="t">
            <a:normAutofit/>
          </a:bodyPr>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Notable Subgroup Differences in Respondents’ Positive Perceptions for </a:t>
            </a:r>
            <a:endParaRPr b="0" lang="en-IN" sz="1600" strike="noStrike" u="none">
              <a:solidFill>
                <a:srgbClr val="000000"/>
              </a:solidFill>
              <a:effectLst/>
              <a:uFillTx/>
              <a:latin typeface="Arial"/>
            </a:endParaRPr>
          </a:p>
          <a:p>
            <a:pPr marL="343080" indent="-34308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All Three Fair Treatment Items</a:t>
            </a:r>
            <a:endParaRPr b="0" lang="en-IN" sz="1600" strike="noStrike" u="none">
              <a:solidFill>
                <a:srgbClr val="000000"/>
              </a:solidFill>
              <a:effectLst/>
              <a:uFillTx/>
              <a:latin typeface="Arial"/>
            </a:endParaRPr>
          </a:p>
          <a:p>
            <a:pPr marL="343080" indent="-343080">
              <a:lnSpc>
                <a:spcPct val="90000"/>
              </a:lnSpc>
              <a:spcBef>
                <a:spcPts val="2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900" strike="noStrike" u="none">
              <a:solidFill>
                <a:srgbClr val="000000"/>
              </a:solidFill>
              <a:effectLst/>
              <a:uFillTx/>
              <a:latin typeface="Arial"/>
            </a:endParaRPr>
          </a:p>
          <a:p>
            <a:pPr marL="343080" indent="-343080">
              <a:lnSpc>
                <a:spcPct val="9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Example:</a:t>
            </a:r>
            <a:endParaRPr b="0" lang="en-IN" sz="1600" strike="noStrike" u="none">
              <a:solidFill>
                <a:srgbClr val="000000"/>
              </a:solidFill>
              <a:effectLst/>
              <a:uFillTx/>
              <a:latin typeface="Arial"/>
            </a:endParaRPr>
          </a:p>
          <a:p>
            <a:pPr marL="343080" indent="-34308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Disagreed that there will be negative consequences for reporting unfair treatment:</a:t>
            </a:r>
            <a:endParaRPr b="0" lang="en-IN" sz="1600" strike="noStrike" u="none">
              <a:solidFill>
                <a:srgbClr val="000000"/>
              </a:solidFill>
              <a:effectLst/>
              <a:uFillTx/>
              <a:latin typeface="Arial"/>
            </a:endParaRPr>
          </a:p>
          <a:p>
            <a:pPr marL="343080" indent="-343080">
              <a:lnSpc>
                <a:spcPct val="90000"/>
              </a:lnSpc>
              <a:spcBef>
                <a:spcPts val="2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lnSpc>
                <a:spcPct val="9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63.4% of Whites vs. 48.4% of Non-Whites</a:t>
            </a:r>
            <a:endParaRPr b="0" lang="en-IN" sz="1600" strike="noStrike" u="none">
              <a:solidFill>
                <a:srgbClr val="000000"/>
              </a:solidFill>
              <a:effectLst/>
              <a:uFillTx/>
              <a:latin typeface="Arial"/>
            </a:endParaRPr>
          </a:p>
          <a:p>
            <a:pPr lvl="1" marL="74304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lnSpc>
                <a:spcPct val="9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74.0% of supervisors vs. 53.6% of non-supervisors</a:t>
            </a:r>
            <a:endParaRPr b="0" lang="en-IN" sz="1600" strike="noStrike" u="none">
              <a:solidFill>
                <a:srgbClr val="000000"/>
              </a:solidFill>
              <a:effectLst/>
              <a:uFillTx/>
              <a:latin typeface="Arial"/>
            </a:endParaRPr>
          </a:p>
          <a:p>
            <a:pPr lvl="1" marL="74304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lnSpc>
                <a:spcPct val="9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60.9% of males vs. 50.4% of females</a:t>
            </a:r>
            <a:endParaRPr b="0" lang="en-IN" sz="1600" strike="noStrike" u="none">
              <a:solidFill>
                <a:srgbClr val="000000"/>
              </a:solidFill>
              <a:effectLst/>
              <a:uFillTx/>
              <a:latin typeface="Arial"/>
            </a:endParaRPr>
          </a:p>
          <a:p>
            <a:pPr lvl="1" marL="74304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lnSpc>
                <a:spcPct val="9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62.8% of respondents working at NASA Ames 10 years or less vs. 53.8% of respondents working there more than 10 years  </a:t>
            </a:r>
            <a:endParaRPr b="0" lang="en-IN" sz="1600" strike="noStrike" u="none">
              <a:solidFill>
                <a:srgbClr val="000000"/>
              </a:solidFill>
              <a:effectLst/>
              <a:uFillTx/>
              <a:latin typeface="Arial"/>
            </a:endParaRPr>
          </a:p>
          <a:p>
            <a:pPr lvl="1" marL="743040" indent="0">
              <a:lnSpc>
                <a:spcPct val="9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1" marL="743040" indent="-285840">
              <a:lnSpc>
                <a:spcPct val="9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64.6% of respondents younger than 40 years vs. 56.0% of those 40 years and over </a:t>
            </a:r>
            <a:endParaRPr b="0" lang="en-IN" sz="1600" strike="noStrike" u="none">
              <a:solidFill>
                <a:srgbClr val="000000"/>
              </a:solidFill>
              <a:effectLst/>
              <a:uFillTx/>
              <a:latin typeface="Arial"/>
            </a:endParaRPr>
          </a:p>
          <a:p>
            <a:pPr marL="343080" indent="-343080">
              <a:lnSpc>
                <a:spcPct val="9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5"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24BEEA-E0E0-4ACD-9680-1D2034BD42E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76" name="PlaceHolder 1"/>
          <p:cNvSpPr>
            <a:spLocks noGrp="1"/>
          </p:cNvSpPr>
          <p:nvPr>
            <p:ph type="title"/>
          </p:nvPr>
        </p:nvSpPr>
        <p:spPr>
          <a:xfrm>
            <a:off x="838080" y="914400"/>
            <a:ext cx="7848720" cy="3794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Findings: Perceptions about Fair Treatment (continued)</a:t>
            </a:r>
            <a:endParaRPr b="0" lang="en-IN" sz="2000" strike="noStrike" u="none">
              <a:solidFill>
                <a:srgbClr val="333399"/>
              </a:solidFill>
              <a:effectLst/>
              <a:uFillTx/>
              <a:latin typeface="Arial"/>
            </a:endParaRPr>
          </a:p>
        </p:txBody>
      </p:sp>
      <p:sp>
        <p:nvSpPr>
          <p:cNvPr id="377" name="PlaceHolder 2"/>
          <p:cNvSpPr>
            <a:spLocks noGrp="1"/>
          </p:cNvSpPr>
          <p:nvPr>
            <p:ph/>
          </p:nvPr>
        </p:nvSpPr>
        <p:spPr>
          <a:xfrm>
            <a:off x="761760" y="1447560"/>
            <a:ext cx="8001000" cy="5181480"/>
          </a:xfrm>
          <a:prstGeom prst="rect">
            <a:avLst/>
          </a:prstGeom>
          <a:noFill/>
          <a:ln w="0">
            <a:noFill/>
          </a:ln>
        </p:spPr>
        <p:txBody>
          <a:bodyPr lIns="91440" rIns="91440" tIns="45720" bIns="45720" anchor="t">
            <a:normAutofit/>
          </a:bodyPr>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Very Positive Findings for “Unfair Treatment” Items (C18a-l) but Some Notable</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Subgroup Differences</a:t>
            </a:r>
            <a:endParaRPr b="0" lang="en-IN" sz="1600" strike="noStrike" u="none">
              <a:solidFill>
                <a:srgbClr val="000000"/>
              </a:solidFill>
              <a:effectLst/>
              <a:uFillTx/>
              <a:latin typeface="Arial"/>
            </a:endParaRPr>
          </a:p>
          <a:p>
            <a:pPr marL="343080" indent="-34308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lnSpc>
                <a:spcPct val="8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Positive perceptions overall ranged from 83.7% to 97.3% </a:t>
            </a:r>
            <a:endParaRPr b="0" lang="en-IN" sz="1600" strike="noStrike" u="none">
              <a:solidFill>
                <a:srgbClr val="000000"/>
              </a:solidFill>
              <a:effectLst/>
              <a:uFillTx/>
              <a:latin typeface="Arial"/>
            </a:endParaRPr>
          </a:p>
          <a:p>
            <a:pPr marL="343080" indent="-343080">
              <a:lnSpc>
                <a:spcPct val="80000"/>
              </a:lnSpc>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Proportionately more males than females reported they were never or seldom treated unfairly because of people’s assumptions about:</a:t>
            </a:r>
            <a:endParaRPr b="0" lang="en-IN" sz="1600" strike="noStrike" u="none">
              <a:solidFill>
                <a:srgbClr val="000000"/>
              </a:solidFill>
              <a:effectLst/>
              <a:uFillTx/>
              <a:latin typeface="Arial"/>
            </a:endParaRPr>
          </a:p>
          <a:p>
            <a:pPr marL="343080" indent="-343080">
              <a:lnSpc>
                <a:spcPct val="80000"/>
              </a:lnSpc>
              <a:spcBef>
                <a:spcPts val="2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Gender (92.2% vs. 69.3%)</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Educational background (89.6% vs. 78.0%)</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Part-time or flex-time work status (95.2% vs. 86.7%)</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Family caregiver role (96.4% vs. 86.6%)</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Other personal characteristics (91.6% vs. 81.0%)</a:t>
            </a:r>
            <a:endParaRPr b="0" lang="en-IN" sz="1600" strike="noStrike" u="none">
              <a:solidFill>
                <a:srgbClr val="000000"/>
              </a:solidFill>
              <a:effectLst/>
              <a:uFillTx/>
              <a:latin typeface="Arial"/>
            </a:endParaRPr>
          </a:p>
          <a:p>
            <a:pPr lvl="2" marL="1143000" indent="-228600">
              <a:lnSpc>
                <a:spcPct val="80000"/>
              </a:lnSpc>
              <a:spcBef>
                <a:spcPts val="400"/>
              </a:spcBef>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Proportionately more Whites than Non-Whites reported they were never or seldom treated unfairly because of people’s assumptions about:</a:t>
            </a:r>
            <a:endParaRPr b="0" lang="en-IN" sz="1600" strike="noStrike" u="none">
              <a:solidFill>
                <a:srgbClr val="000000"/>
              </a:solidFill>
              <a:effectLst/>
              <a:uFillTx/>
              <a:latin typeface="Arial"/>
            </a:endParaRPr>
          </a:p>
          <a:p>
            <a:pPr marL="343080" indent="0">
              <a:lnSpc>
                <a:spcPct val="80000"/>
              </a:lnSpc>
              <a:spcBef>
                <a:spcPts val="2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Race or cultural background (96.2% vs. 79.8%)</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Life experiences prior to coming to NASA Ames (92.9% vs. 82.7%)</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Ability to communicate (93.2% vs. 82.7%)</a:t>
            </a:r>
            <a:endParaRPr b="0" lang="en-IN" sz="1600" strike="noStrike" u="none">
              <a:solidFill>
                <a:srgbClr val="000000"/>
              </a:solidFill>
              <a:effectLst/>
              <a:uFillTx/>
              <a:latin typeface="Arial"/>
            </a:endParaRPr>
          </a:p>
          <a:p>
            <a:pPr lvl="2" marL="1143000" indent="-228600">
              <a:lnSpc>
                <a:spcPct val="80000"/>
              </a:lnSpc>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Educational background (89.1% vs. 80.2%)</a:t>
            </a:r>
            <a:endParaRPr b="0" lang="en-IN" sz="1600" strike="noStrike" u="none">
              <a:solidFill>
                <a:srgbClr val="000000"/>
              </a:solidFill>
              <a:effectLst/>
              <a:uFillTx/>
              <a:latin typeface="Arial"/>
            </a:endParaRPr>
          </a:p>
          <a:p>
            <a:pPr marL="343080" indent="0">
              <a:lnSpc>
                <a:spcPct val="8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8"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999B7AF-ED54-418C-9A6F-66D831B70F92}"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79" name="PlaceHolder 1"/>
          <p:cNvSpPr>
            <a:spLocks noGrp="1"/>
          </p:cNvSpPr>
          <p:nvPr>
            <p:ph type="title"/>
          </p:nvPr>
        </p:nvSpPr>
        <p:spPr>
          <a:xfrm>
            <a:off x="838080" y="837720"/>
            <a:ext cx="7391520" cy="167652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800"/>
            </a:b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How do employees perceive their own experiences at NASA Ames?</a:t>
            </a:r>
            <a:br>
              <a:rPr sz="2000"/>
            </a:br>
            <a:br>
              <a:rPr sz="1800"/>
            </a:br>
            <a:r>
              <a:rPr b="1" lang="en-IN" sz="1800" strike="noStrike" u="none">
                <a:solidFill>
                  <a:srgbClr val="333399"/>
                </a:solidFill>
                <a:effectLst/>
                <a:uFillTx/>
                <a:latin typeface="Arial"/>
              </a:rPr>
              <a:t>Attachment to NASA Ames</a:t>
            </a:r>
            <a:br>
              <a:rPr sz="1800"/>
            </a:br>
            <a:endParaRPr b="0" lang="en-IN" sz="1800" strike="noStrike" u="none">
              <a:solidFill>
                <a:srgbClr val="333399"/>
              </a:solidFill>
              <a:effectLst/>
              <a:uFillTx/>
              <a:latin typeface="Arial"/>
            </a:endParaRPr>
          </a:p>
        </p:txBody>
      </p:sp>
      <p:pic>
        <p:nvPicPr>
          <p:cNvPr id="380" name="Picture 3" descr=""/>
          <p:cNvPicPr/>
          <p:nvPr/>
        </p:nvPicPr>
        <p:blipFill>
          <a:blip r:embed="rId1"/>
          <a:stretch/>
        </p:blipFill>
        <p:spPr>
          <a:xfrm>
            <a:off x="914400" y="2583000"/>
            <a:ext cx="7467480" cy="2465280"/>
          </a:xfrm>
          <a:prstGeom prst="rect">
            <a:avLst/>
          </a:prstGeom>
          <a:noFill/>
          <a:ln w="0">
            <a:noFill/>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1"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E2D3641-28BC-41BF-898F-03E5CD2C1B7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82" name="PlaceHolder 1"/>
          <p:cNvSpPr>
            <a:spLocks noGrp="1"/>
          </p:cNvSpPr>
          <p:nvPr>
            <p:ph type="title"/>
          </p:nvPr>
        </p:nvSpPr>
        <p:spPr>
          <a:xfrm>
            <a:off x="838080" y="914400"/>
            <a:ext cx="7848720" cy="3794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3: </a:t>
            </a:r>
            <a:br>
              <a:rPr sz="2000"/>
            </a:br>
            <a:r>
              <a:rPr b="1" lang="en-IN" sz="2000" strike="noStrike" u="none">
                <a:solidFill>
                  <a:srgbClr val="333399"/>
                </a:solidFill>
                <a:effectLst/>
                <a:uFillTx/>
                <a:latin typeface="Arial"/>
              </a:rPr>
              <a:t>Findings: Perceptions about Attachment to NASA Ames</a:t>
            </a:r>
            <a:endParaRPr b="0" lang="en-IN" sz="2000" strike="noStrike" u="none">
              <a:solidFill>
                <a:srgbClr val="333399"/>
              </a:solidFill>
              <a:effectLst/>
              <a:uFillTx/>
              <a:latin typeface="Arial"/>
            </a:endParaRPr>
          </a:p>
        </p:txBody>
      </p:sp>
      <p:sp>
        <p:nvSpPr>
          <p:cNvPr id="383" name="PlaceHolder 2"/>
          <p:cNvSpPr>
            <a:spLocks noGrp="1"/>
          </p:cNvSpPr>
          <p:nvPr>
            <p:ph/>
          </p:nvPr>
        </p:nvSpPr>
        <p:spPr>
          <a:xfrm>
            <a:off x="837720" y="1447560"/>
            <a:ext cx="7696440" cy="467820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Attachment Strongest Among Supervisors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Many respondents (71.7%) said they would recommend NASA Ames as a good place to work.</a:t>
            </a:r>
            <a:endParaRPr b="0" lang="en-IN" sz="1600" strike="noStrike" u="none">
              <a:solidFill>
                <a:srgbClr val="000000"/>
              </a:solidFill>
              <a:effectLst/>
              <a:uFillTx/>
              <a:latin typeface="Arial"/>
            </a:endParaRPr>
          </a:p>
          <a:p>
            <a:pPr lvl="2" marL="1143000" indent="-228600">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81.8% of supervisors vs. 69.9% of non-supervisors</a:t>
            </a:r>
            <a:endParaRPr b="0" lang="en-IN" sz="1600" strike="noStrike" u="none">
              <a:solidFill>
                <a:srgbClr val="000000"/>
              </a:solidFill>
              <a:effectLst/>
              <a:uFillTx/>
              <a:latin typeface="Arial"/>
            </a:endParaRPr>
          </a:p>
          <a:p>
            <a:pPr lvl="2" marL="1143000" indent="-228600">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80.2% of younger respondents vs. 70.3% of older respondents</a:t>
            </a:r>
            <a:endParaRPr b="0" lang="en-IN" sz="1600" strike="noStrike" u="none">
              <a:solidFill>
                <a:srgbClr val="000000"/>
              </a:solidFill>
              <a:effectLst/>
              <a:uFillTx/>
              <a:latin typeface="Arial"/>
            </a:endParaRPr>
          </a:p>
          <a:p>
            <a:pPr lvl="1" marL="74304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66.9% of respondents feel like valued employees.</a:t>
            </a:r>
            <a:endParaRPr b="0" lang="en-IN" sz="1600" strike="noStrike" u="none">
              <a:solidFill>
                <a:srgbClr val="000000"/>
              </a:solidFill>
              <a:effectLst/>
              <a:uFillTx/>
              <a:latin typeface="Arial"/>
            </a:endParaRPr>
          </a:p>
          <a:p>
            <a:pPr lvl="2" marL="1143000" indent="-228600">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81.8% of supervisors vs. 64.4% of non-supervisors</a:t>
            </a:r>
            <a:endParaRPr b="0" lang="en-IN" sz="1600" strike="noStrike" u="none">
              <a:solidFill>
                <a:srgbClr val="000000"/>
              </a:solidFill>
              <a:effectLst/>
              <a:uFillTx/>
              <a:latin typeface="Arial"/>
            </a:endParaRPr>
          </a:p>
          <a:p>
            <a:pPr lvl="2" marL="1143000" indent="-228600">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70.6% of males vs. 61.4% of older respondents</a:t>
            </a:r>
            <a:endParaRPr b="0" lang="en-IN" sz="1600" strike="noStrike" u="none">
              <a:solidFill>
                <a:srgbClr val="000000"/>
              </a:solidFill>
              <a:effectLst/>
              <a:uFillTx/>
              <a:latin typeface="Arial"/>
            </a:endParaRPr>
          </a:p>
          <a:p>
            <a:pPr lvl="2" marL="1143000" indent="-228600">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71.5% of Whites vs. 60.5% of Non-Whites</a:t>
            </a:r>
            <a:endParaRPr b="0" lang="en-IN" sz="1600" strike="noStrike" u="none">
              <a:solidFill>
                <a:srgbClr val="000000"/>
              </a:solidFill>
              <a:effectLst/>
              <a:uFillTx/>
              <a:latin typeface="Arial"/>
            </a:endParaRPr>
          </a:p>
          <a:p>
            <a:pPr lvl="2" marL="1143000" indent="-228600">
              <a:spcBef>
                <a:spcPts val="300"/>
              </a:spcBef>
              <a:buNone/>
              <a:tabLst>
                <a:tab algn="l" pos="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54.3% said they often think of leaving NASA Ames for employment elsewhere.</a:t>
            </a:r>
            <a:endParaRPr b="0" lang="en-IN" sz="1600" strike="noStrike" u="none">
              <a:solidFill>
                <a:srgbClr val="000000"/>
              </a:solidFill>
              <a:effectLst/>
              <a:uFillTx/>
              <a:latin typeface="Arial"/>
            </a:endParaRPr>
          </a:p>
          <a:p>
            <a:pPr lvl="2" marL="1143000" indent="-228600">
              <a:spcBef>
                <a:spcPts val="400"/>
              </a:spcBef>
              <a:buClr>
                <a:srgbClr val="000000"/>
              </a:buClr>
              <a:buSzPct val="85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47.2% of supervisors vs. 38.0% of non-supervisors</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4" name="Slide Number Placeholder 1"/>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43BD04-C25F-4A9C-9388-D0822C4AAC47}"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85" name="Rectangle 2"/>
          <p:cNvSpPr/>
          <p:nvPr/>
        </p:nvSpPr>
        <p:spPr>
          <a:xfrm>
            <a:off x="838080" y="609480"/>
            <a:ext cx="7467840" cy="1008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4: </a:t>
            </a:r>
            <a:br>
              <a:rPr sz="2000"/>
            </a:br>
            <a:r>
              <a:rPr b="1" lang="en-IN" sz="2000" strike="noStrike" u="none">
                <a:solidFill>
                  <a:srgbClr val="333399"/>
                </a:solidFill>
                <a:effectLst/>
                <a:uFillTx/>
                <a:latin typeface="Arial"/>
              </a:rPr>
              <a:t>How aware are employees of NASA Ames policies and initiatives?</a:t>
            </a:r>
            <a:endParaRPr b="0" i="1" lang="en-IN" sz="2000" strike="noStrike" u="none">
              <a:solidFill>
                <a:srgbClr val="000000"/>
              </a:solidFill>
              <a:effectLst/>
              <a:uFillTx/>
              <a:latin typeface="Arial"/>
            </a:endParaRPr>
          </a:p>
        </p:txBody>
      </p:sp>
      <p:pic>
        <p:nvPicPr>
          <p:cNvPr id="386" name="Picture 3" descr=""/>
          <p:cNvPicPr/>
          <p:nvPr/>
        </p:nvPicPr>
        <p:blipFill>
          <a:blip r:embed="rId1"/>
          <a:stretch/>
        </p:blipFill>
        <p:spPr>
          <a:xfrm>
            <a:off x="1447920" y="1752480"/>
            <a:ext cx="6259320" cy="4938840"/>
          </a:xfrm>
          <a:prstGeom prst="rect">
            <a:avLst/>
          </a:prstGeom>
          <a:noFill/>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7"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9A825B5-DB5A-46B9-BADE-48A758C067F0}"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88" name="PlaceHolder 1"/>
          <p:cNvSpPr>
            <a:spLocks noGrp="1"/>
          </p:cNvSpPr>
          <p:nvPr>
            <p:ph type="title"/>
          </p:nvPr>
        </p:nvSpPr>
        <p:spPr>
          <a:xfrm>
            <a:off x="838080" y="914040"/>
            <a:ext cx="7848720" cy="5000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4: </a:t>
            </a:r>
            <a:br>
              <a:rPr sz="2000"/>
            </a:br>
            <a:r>
              <a:rPr b="1" lang="en-IN" sz="2000" strike="noStrike" u="none">
                <a:solidFill>
                  <a:srgbClr val="333399"/>
                </a:solidFill>
                <a:effectLst/>
                <a:uFillTx/>
                <a:latin typeface="Arial"/>
              </a:rPr>
              <a:t>Findings: Awareness of NASA Ames Policies and Initiatives to Promote Diversity</a:t>
            </a:r>
            <a:endParaRPr b="0" lang="en-IN" sz="2000" strike="noStrike" u="none">
              <a:solidFill>
                <a:srgbClr val="333399"/>
              </a:solidFill>
              <a:effectLst/>
              <a:uFillTx/>
              <a:latin typeface="Arial"/>
            </a:endParaRPr>
          </a:p>
        </p:txBody>
      </p:sp>
      <p:sp>
        <p:nvSpPr>
          <p:cNvPr id="389" name="PlaceHolder 2"/>
          <p:cNvSpPr>
            <a:spLocks noGrp="1"/>
          </p:cNvSpPr>
          <p:nvPr>
            <p:ph/>
          </p:nvPr>
        </p:nvSpPr>
        <p:spPr>
          <a:xfrm>
            <a:off x="914400" y="1731600"/>
            <a:ext cx="7391520" cy="459252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Percentages of Respondents Who Are Very Familiar or Somewhat Familiar </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000000"/>
                </a:solidFill>
                <a:effectLst/>
                <a:uFillTx/>
                <a:latin typeface="Arial"/>
              </a:rPr>
              <a:t>with the:</a:t>
            </a:r>
            <a:endParaRPr b="0" lang="en-IN" sz="1600" strike="noStrike" u="none">
              <a:solidFill>
                <a:srgbClr val="000000"/>
              </a:solidFill>
              <a:effectLst/>
              <a:uFillTx/>
              <a:latin typeface="Arial"/>
            </a:endParaRPr>
          </a:p>
          <a:p>
            <a:pPr marL="343080" indent="-34308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1600" strike="noStrike" u="none">
                <a:solidFill>
                  <a:srgbClr val="000000"/>
                </a:solidFill>
                <a:effectLst/>
                <a:uFillTx/>
                <a:latin typeface="Arial"/>
              </a:rPr>
              <a:t>Astrogram </a:t>
            </a:r>
            <a:r>
              <a:rPr b="0" lang="en-US" sz="1600" strike="noStrike" u="none">
                <a:solidFill>
                  <a:srgbClr val="000000"/>
                </a:solidFill>
                <a:effectLst/>
                <a:uFillTx/>
                <a:latin typeface="Arial"/>
              </a:rPr>
              <a:t>(have read it at least once)</a:t>
            </a:r>
            <a:r>
              <a:rPr b="0" i="1" lang="en-US" sz="1600" strike="noStrike" u="none">
                <a:solidFill>
                  <a:srgbClr val="000000"/>
                </a:solidFill>
                <a:effectLst/>
                <a:uFillTx/>
                <a:latin typeface="Arial"/>
              </a:rPr>
              <a:t> – </a:t>
            </a:r>
            <a:r>
              <a:rPr b="0" lang="en-US" sz="1600" strike="noStrike" u="none">
                <a:solidFill>
                  <a:srgbClr val="000000"/>
                </a:solidFill>
                <a:effectLst/>
                <a:uFillTx/>
                <a:latin typeface="Arial"/>
              </a:rPr>
              <a:t>96.6%</a:t>
            </a:r>
            <a:endParaRPr b="0" lang="en-IN" sz="1600" strike="noStrike" u="none">
              <a:solidFill>
                <a:srgbClr val="000000"/>
              </a:solidFill>
              <a:effectLst/>
              <a:uFillTx/>
              <a:latin typeface="Arial"/>
            </a:endParaRPr>
          </a:p>
          <a:p>
            <a:pPr marL="343080" indent="0">
              <a:spcBef>
                <a:spcPts val="2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NASA Ames policy statement on non-harassment in the workplace - 88.3% </a:t>
            </a:r>
            <a:endParaRPr b="0" lang="en-IN" sz="1600" strike="noStrike" u="none">
              <a:solidFill>
                <a:srgbClr val="000000"/>
              </a:solidFill>
              <a:effectLst/>
              <a:uFillTx/>
              <a:latin typeface="Arial"/>
            </a:endParaRPr>
          </a:p>
          <a:p>
            <a:pPr marL="343080" indent="0">
              <a:spcBef>
                <a:spcPts val="2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NASA Ames Diversity Policy - 76.5% </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NASA Ames Diversity Implementation Plan - 50.2% </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NASA Ames Diversity Leadership Course – 39.2%</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NASA Ames Office of Diversity and Equal Opportunity website (have visited it at least once) – 32.1%</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0" name="Slide Number Placeholder 4"/>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E332B1-3AB4-43C8-8ECF-7F783F88CA04}"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91" name="PlaceHolder 1"/>
          <p:cNvSpPr>
            <a:spLocks noGrp="1"/>
          </p:cNvSpPr>
          <p:nvPr>
            <p:ph type="title"/>
          </p:nvPr>
        </p:nvSpPr>
        <p:spPr>
          <a:xfrm>
            <a:off x="380880" y="761760"/>
            <a:ext cx="830592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5: </a:t>
            </a:r>
            <a:br>
              <a:rPr sz="2000"/>
            </a:br>
            <a:r>
              <a:rPr b="1" lang="en-IN" sz="2000" strike="noStrike" u="none">
                <a:solidFill>
                  <a:srgbClr val="333399"/>
                </a:solidFill>
                <a:effectLst/>
                <a:uFillTx/>
                <a:latin typeface="Arial"/>
              </a:rPr>
              <a:t>How effective do employees think NASA Ames has been, overall, in creating an inclusive work environment?</a:t>
            </a:r>
            <a:br>
              <a:rPr sz="2000"/>
            </a:br>
            <a:endParaRPr b="0" lang="en-IN" sz="2000" strike="noStrike" u="none">
              <a:solidFill>
                <a:srgbClr val="333399"/>
              </a:solidFill>
              <a:effectLst/>
              <a:uFillTx/>
              <a:latin typeface="Arial"/>
            </a:endParaRPr>
          </a:p>
        </p:txBody>
      </p:sp>
      <p:pic>
        <p:nvPicPr>
          <p:cNvPr id="392" name="Picture 3" descr=""/>
          <p:cNvPicPr/>
          <p:nvPr/>
        </p:nvPicPr>
        <p:blipFill>
          <a:blip r:embed="rId1"/>
          <a:stretch/>
        </p:blipFill>
        <p:spPr>
          <a:xfrm>
            <a:off x="1066680" y="1886040"/>
            <a:ext cx="6553440" cy="3403440"/>
          </a:xfrm>
          <a:prstGeom prst="rect">
            <a:avLst/>
          </a:prstGeom>
          <a:noFill/>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3" name="Slide Number Placeholder 4"/>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BB1CA9B-2C48-4EC9-86E5-D0C10E9E9CB5}"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94" name="PlaceHolder 1"/>
          <p:cNvSpPr>
            <a:spLocks noGrp="1"/>
          </p:cNvSpPr>
          <p:nvPr>
            <p:ph type="title"/>
          </p:nvPr>
        </p:nvSpPr>
        <p:spPr>
          <a:xfrm>
            <a:off x="380880" y="609120"/>
            <a:ext cx="822960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5: </a:t>
            </a:r>
            <a:br>
              <a:rPr sz="2000"/>
            </a:br>
            <a:r>
              <a:rPr b="1" lang="en-IN" sz="2000" strike="noStrike" u="none">
                <a:solidFill>
                  <a:srgbClr val="333399"/>
                </a:solidFill>
                <a:effectLst/>
                <a:uFillTx/>
                <a:latin typeface="Arial"/>
              </a:rPr>
              <a:t>How effective do employees think NASA Ames has been, overall, in creating an inclusive work environment? (continued)</a:t>
            </a:r>
            <a:endParaRPr b="0" lang="en-IN" sz="2000" strike="noStrike" u="none">
              <a:solidFill>
                <a:srgbClr val="333399"/>
              </a:solidFill>
              <a:effectLst/>
              <a:uFillTx/>
              <a:latin typeface="Arial"/>
            </a:endParaRPr>
          </a:p>
        </p:txBody>
      </p:sp>
      <p:pic>
        <p:nvPicPr>
          <p:cNvPr id="395" name="Picture 3" descr=""/>
          <p:cNvPicPr/>
          <p:nvPr/>
        </p:nvPicPr>
        <p:blipFill>
          <a:blip r:embed="rId1"/>
          <a:stretch/>
        </p:blipFill>
        <p:spPr>
          <a:xfrm>
            <a:off x="1143000" y="1886040"/>
            <a:ext cx="6629400" cy="3717720"/>
          </a:xfrm>
          <a:prstGeom prst="rect">
            <a:avLst/>
          </a:prstGeom>
          <a:noFill/>
          <a:ln w="0">
            <a:noFill/>
          </a:ln>
        </p:spPr>
      </p:pic>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6"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28A1F1B-827F-4B8B-BB7A-E53FF76F7467}"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397" name="PlaceHolder 1"/>
          <p:cNvSpPr>
            <a:spLocks noGrp="1"/>
          </p:cNvSpPr>
          <p:nvPr>
            <p:ph type="title"/>
          </p:nvPr>
        </p:nvSpPr>
        <p:spPr>
          <a:xfrm>
            <a:off x="838080" y="914040"/>
            <a:ext cx="7848720" cy="50004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5: </a:t>
            </a:r>
            <a:br>
              <a:rPr sz="2000"/>
            </a:br>
            <a:r>
              <a:rPr b="1" lang="en-IN" sz="2000" strike="noStrike" u="none">
                <a:solidFill>
                  <a:srgbClr val="333399"/>
                </a:solidFill>
                <a:effectLst/>
                <a:uFillTx/>
                <a:latin typeface="Arial"/>
              </a:rPr>
              <a:t>Findings: Overall Effectiveness in Creating an Inclusive Work Environment</a:t>
            </a:r>
            <a:endParaRPr b="0" lang="en-IN" sz="2000" strike="noStrike" u="none">
              <a:solidFill>
                <a:srgbClr val="333399"/>
              </a:solidFill>
              <a:effectLst/>
              <a:uFillTx/>
              <a:latin typeface="Arial"/>
            </a:endParaRPr>
          </a:p>
        </p:txBody>
      </p:sp>
      <p:sp>
        <p:nvSpPr>
          <p:cNvPr id="398" name="PlaceHolder 2"/>
          <p:cNvSpPr>
            <a:spLocks noGrp="1"/>
          </p:cNvSpPr>
          <p:nvPr>
            <p:ph/>
          </p:nvPr>
        </p:nvSpPr>
        <p:spPr>
          <a:xfrm>
            <a:off x="837720" y="1600200"/>
            <a:ext cx="8077320" cy="4525920"/>
          </a:xfrm>
          <a:prstGeom prst="rect">
            <a:avLst/>
          </a:prstGeom>
          <a:noFill/>
          <a:ln w="0">
            <a:noFill/>
          </a:ln>
        </p:spPr>
        <p:txBody>
          <a:bodyPr lIns="91440" rIns="91440" tIns="45720" bIns="45720" anchor="t">
            <a:normAutofit/>
          </a:bodyPr>
          <a:p>
            <a:pPr indent="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Positive Perceptions Clustered into Three Groups</a:t>
            </a:r>
            <a:endParaRPr b="0" lang="en-IN" sz="1600" strike="noStrike" u="none">
              <a:solidFill>
                <a:srgbClr val="000000"/>
              </a:solidFill>
              <a:effectLst/>
              <a:uFillTx/>
              <a:latin typeface="Arial"/>
            </a:endParaRPr>
          </a:p>
          <a:p>
            <a:pPr indent="0">
              <a:lnSpc>
                <a:spcPct val="80000"/>
              </a:lnSpc>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indent="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Group 1</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Promoting professional growth – 70.7%</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Fostering mutual trust and respect – 69.7%</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Valuing individual contributions – 69.0%</a:t>
            </a:r>
            <a:endParaRPr b="0" lang="en-IN" sz="1600" strike="noStrike" u="none">
              <a:solidFill>
                <a:srgbClr val="000000"/>
              </a:solidFill>
              <a:effectLst/>
              <a:uFillTx/>
              <a:latin typeface="Arial"/>
            </a:endParaRPr>
          </a:p>
          <a:p>
            <a:pPr indent="0">
              <a:lnSpc>
                <a:spcPct val="8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indent="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Group 2</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Providing a supportive environment for every employee – 63.3%</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Sharing information with employees so they can do their best work – 58.7%</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Creating a strong teamwork culture – 58.5%</a:t>
            </a:r>
            <a:endParaRPr b="0" lang="en-IN" sz="1600" strike="noStrike" u="none">
              <a:solidFill>
                <a:srgbClr val="000000"/>
              </a:solidFill>
              <a:effectLst/>
              <a:uFillTx/>
              <a:latin typeface="Arial"/>
            </a:endParaRPr>
          </a:p>
          <a:p>
            <a:pPr indent="0">
              <a:lnSpc>
                <a:spcPct val="8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indent="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Group 3</a:t>
            </a:r>
            <a:endParaRPr b="0" lang="en-IN" sz="1600" strike="noStrike" u="none">
              <a:solidFill>
                <a:srgbClr val="000000"/>
              </a:solidFill>
              <a:effectLst/>
              <a:uFillTx/>
              <a:latin typeface="Arial"/>
            </a:endParaRPr>
          </a:p>
          <a:p>
            <a:pPr lvl="1" marL="743040" indent="-285840">
              <a:lnSpc>
                <a:spcPct val="80000"/>
              </a:lnSpc>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Educating employees on how diversity fosters creativity and innovation – 49.9%</a:t>
            </a:r>
            <a:endParaRPr b="0" lang="en-IN" sz="1600" strike="noStrike" u="none">
              <a:solidFill>
                <a:srgbClr val="000000"/>
              </a:solidFill>
              <a:effectLst/>
              <a:uFillTx/>
              <a:latin typeface="Arial"/>
            </a:endParaRPr>
          </a:p>
          <a:p>
            <a:pPr indent="0">
              <a:lnSpc>
                <a:spcPct val="80000"/>
              </a:lnSpc>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indent="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Subgroup Differences in Positive Perceptions for All 7 Items about Overall Effectiveness in Creating an Inclusive Work Environment</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9"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6C5E6E-5414-4BDE-B647-B63AE5DE2596}"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400" name="PlaceHolder 1"/>
          <p:cNvSpPr>
            <a:spLocks noGrp="1"/>
          </p:cNvSpPr>
          <p:nvPr>
            <p:ph type="title"/>
          </p:nvPr>
        </p:nvSpPr>
        <p:spPr>
          <a:xfrm>
            <a:off x="685800" y="761760"/>
            <a:ext cx="784872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5: </a:t>
            </a:r>
            <a:br>
              <a:rPr sz="2000"/>
            </a:br>
            <a:r>
              <a:rPr b="1" lang="en-IN" sz="2000" strike="noStrike" u="none">
                <a:solidFill>
                  <a:srgbClr val="333399"/>
                </a:solidFill>
                <a:effectLst/>
                <a:uFillTx/>
                <a:latin typeface="Arial"/>
              </a:rPr>
              <a:t>Findings: Overall Effectiveness in Creating an Inclusive Work Environment (continued)</a:t>
            </a:r>
            <a:endParaRPr b="0" lang="en-IN" sz="2000" strike="noStrike" u="none">
              <a:solidFill>
                <a:srgbClr val="333399"/>
              </a:solidFill>
              <a:effectLst/>
              <a:uFillTx/>
              <a:latin typeface="Arial"/>
            </a:endParaRPr>
          </a:p>
        </p:txBody>
      </p:sp>
      <p:sp>
        <p:nvSpPr>
          <p:cNvPr id="401" name="PlaceHolder 2"/>
          <p:cNvSpPr>
            <a:spLocks noGrp="1"/>
          </p:cNvSpPr>
          <p:nvPr>
            <p:ph/>
          </p:nvPr>
        </p:nvSpPr>
        <p:spPr>
          <a:xfrm>
            <a:off x="837720" y="1752480"/>
            <a:ext cx="7696440" cy="4648320"/>
          </a:xfrm>
          <a:prstGeom prst="rect">
            <a:avLst/>
          </a:prstGeom>
          <a:noFill/>
          <a:ln w="0">
            <a:noFill/>
          </a:ln>
        </p:spPr>
        <p:txBody>
          <a:bodyPr lIns="91440" rIns="91440" tIns="45720" bIns="45720" anchor="t">
            <a:normAutofit/>
          </a:bodyPr>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Effectiveness Score</a:t>
            </a:r>
            <a:endParaRPr b="0" lang="en-IN" sz="1600" strike="noStrike" u="none">
              <a:solidFill>
                <a:srgbClr val="000000"/>
              </a:solidFill>
              <a:effectLst/>
              <a:uFillTx/>
              <a:latin typeface="Arial"/>
            </a:endParaRPr>
          </a:p>
          <a:p>
            <a:pPr marL="343080" indent="-34308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Represents the respondent’s average response to Items E1 through E7</a:t>
            </a: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Created by adding the respondent’s score for each of the E items and dividing by the number of items the respondent answered</a:t>
            </a:r>
            <a:endParaRPr b="0" lang="en-IN" sz="1600" strike="noStrike" u="none">
              <a:solidFill>
                <a:srgbClr val="000000"/>
              </a:solidFill>
              <a:effectLst/>
              <a:uFillTx/>
              <a:latin typeface="Arial"/>
            </a:endParaRPr>
          </a:p>
          <a:p>
            <a:pPr marL="343080" indent="0">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Effectiveness scores range from 1 to 5:</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1 = Ineffective</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2 = Somewhat Ineffective</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3 = Neither Ineffective nor Effective</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4 = Somewhat Effective</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5 = Effective</a:t>
            </a: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Respondent scores ranged from 1.0 to 5.0 </a:t>
            </a: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Overall average respondent score = 3.63</a:t>
            </a: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2" name="Slide Number Placeholder 4"/>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5580782-30EA-4E52-B79E-16739CE109CF}"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403" name="PlaceHolder 1"/>
          <p:cNvSpPr>
            <a:spLocks noGrp="1"/>
          </p:cNvSpPr>
          <p:nvPr>
            <p:ph type="title"/>
          </p:nvPr>
        </p:nvSpPr>
        <p:spPr>
          <a:xfrm>
            <a:off x="533160" y="533160"/>
            <a:ext cx="784836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5: </a:t>
            </a:r>
            <a:br>
              <a:rPr sz="2000"/>
            </a:br>
            <a:r>
              <a:rPr b="1" lang="en-IN" sz="2000" strike="noStrike" u="none">
                <a:solidFill>
                  <a:srgbClr val="333399"/>
                </a:solidFill>
                <a:effectLst/>
                <a:uFillTx/>
                <a:latin typeface="Arial"/>
              </a:rPr>
              <a:t>Findings: Overall Effectiveness in Creating an Inclusive Work Environment (continued)</a:t>
            </a:r>
            <a:endParaRPr b="0" lang="en-IN" sz="2000" strike="noStrike" u="none">
              <a:solidFill>
                <a:srgbClr val="333399"/>
              </a:solidFill>
              <a:effectLst/>
              <a:uFillTx/>
              <a:latin typeface="Arial"/>
            </a:endParaRPr>
          </a:p>
        </p:txBody>
      </p:sp>
      <p:sp>
        <p:nvSpPr>
          <p:cNvPr id="404" name="PlaceHolder 2"/>
          <p:cNvSpPr>
            <a:spLocks noGrp="1"/>
          </p:cNvSpPr>
          <p:nvPr>
            <p:ph/>
          </p:nvPr>
        </p:nvSpPr>
        <p:spPr>
          <a:xfrm>
            <a:off x="2362320" y="1447920"/>
            <a:ext cx="4495680" cy="304560"/>
          </a:xfrm>
          <a:prstGeom prst="rect">
            <a:avLst/>
          </a:prstGeom>
          <a:noFill/>
          <a:ln w="0">
            <a:noFill/>
          </a:ln>
        </p:spPr>
        <p:txBody>
          <a:bodyPr lIns="91440" rIns="91440" tIns="45720" bIns="45720" anchor="t">
            <a:normAutofit fontScale="92500" lnSpcReduction="9999"/>
          </a:bodyPr>
          <a:p>
            <a:pPr marL="343080" indent="-343080" algn="ctr">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Effectiveness Score by Subgroup</a:t>
            </a:r>
            <a:endParaRPr b="0" lang="en-IN" sz="1400" strike="noStrike" u="none">
              <a:solidFill>
                <a:srgbClr val="000000"/>
              </a:solidFill>
              <a:effectLst/>
              <a:uFillTx/>
              <a:latin typeface="Arial"/>
            </a:endParaRPr>
          </a:p>
          <a:p>
            <a:pPr marL="343080" indent="-343080">
              <a:spcBef>
                <a:spcPts val="3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graphicFrame>
        <p:nvGraphicFramePr>
          <p:cNvPr id="405" name=""/>
          <p:cNvGraphicFramePr/>
          <p:nvPr/>
        </p:nvGraphicFramePr>
        <p:xfrm>
          <a:off x="2286000" y="1905120"/>
          <a:ext cx="4572000" cy="4546440"/>
        </p:xfrm>
        <a:graphic>
          <a:graphicData uri="http://schemas.openxmlformats.org/drawingml/2006/table">
            <a:tbl>
              <a:tblPr/>
              <a:tblGrid>
                <a:gridCol w="2438280"/>
                <a:gridCol w="2133720"/>
              </a:tblGrid>
              <a:tr h="27684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Subgroup</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13680">
                      <a:solidFill>
                        <a:srgbClr val="000000"/>
                      </a:solidFill>
                      <a:prstDash val="solid"/>
                    </a:lnT>
                    <a:lnB w="381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Effectiveness Score</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13680">
                      <a:solidFill>
                        <a:srgbClr val="000000"/>
                      </a:solidFill>
                      <a:prstDash val="solid"/>
                    </a:lnT>
                    <a:lnB w="38160">
                      <a:solidFill>
                        <a:srgbClr val="000000"/>
                      </a:solidFill>
                      <a:prstDash val="solid"/>
                    </a:lnB>
                    <a:noFill/>
                  </a:tcPr>
                </a:tc>
              </a:tr>
              <a:tr h="28404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Supervisor</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381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3.83</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38160">
                      <a:solidFill>
                        <a:srgbClr val="000000"/>
                      </a:solidFill>
                      <a:prstDash val="solid"/>
                    </a:lnT>
                    <a:lnB w="5760">
                      <a:solidFill>
                        <a:srgbClr val="000000"/>
                      </a:solidFill>
                      <a:prstDash val="solid"/>
                    </a:lnB>
                    <a:solidFill>
                      <a:srgbClr val="ffffff"/>
                    </a:solidFill>
                  </a:tcPr>
                </a:tc>
              </a:tr>
              <a:tr h="2826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Non-supervisor</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381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3.60</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38160">
                      <a:solidFill>
                        <a:srgbClr val="000000"/>
                      </a:solidFill>
                      <a:prstDash val="solid"/>
                    </a:lnB>
                    <a:noFill/>
                  </a:tcPr>
                </a:tc>
              </a:tr>
              <a:tr h="30312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Male</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381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3.71</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38160">
                      <a:solidFill>
                        <a:srgbClr val="000000"/>
                      </a:solidFill>
                      <a:prstDash val="solid"/>
                    </a:lnT>
                    <a:lnB w="5760">
                      <a:solidFill>
                        <a:srgbClr val="000000"/>
                      </a:solidFill>
                      <a:prstDash val="solid"/>
                    </a:lnB>
                    <a:solidFill>
                      <a:srgbClr val="ffffff"/>
                    </a:solidFill>
                  </a:tcPr>
                </a:tc>
              </a:tr>
              <a:tr h="28404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Female</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381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3.52</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38160">
                      <a:solidFill>
                        <a:srgbClr val="000000"/>
                      </a:solidFill>
                      <a:prstDash val="solid"/>
                    </a:lnB>
                    <a:noFill/>
                  </a:tcPr>
                </a:tc>
              </a:tr>
              <a:tr h="2826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American Indian/Alaska Native</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381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4.08</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38160">
                      <a:solidFill>
                        <a:srgbClr val="000000"/>
                      </a:solidFill>
                      <a:prstDash val="solid"/>
                    </a:lnT>
                    <a:lnB w="5760">
                      <a:solidFill>
                        <a:srgbClr val="000000"/>
                      </a:solidFill>
                      <a:prstDash val="solid"/>
                    </a:lnB>
                    <a:solidFill>
                      <a:srgbClr val="ffffff"/>
                    </a:solidFill>
                  </a:tcPr>
                </a:tc>
              </a:tr>
              <a:tr h="2844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White</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3.75</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2826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Asian/Pacific Islander</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3.71</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28404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Other race</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3.60</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2826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Multiracial</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3.55</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28404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Black/African American</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3.19</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2844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Hispanic/Latino American</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381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2.92</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38160">
                      <a:solidFill>
                        <a:srgbClr val="000000"/>
                      </a:solidFill>
                      <a:prstDash val="solid"/>
                    </a:lnB>
                    <a:noFill/>
                  </a:tcPr>
                </a:tc>
              </a:tr>
              <a:tr h="2826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Less than 40 years old</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381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3.66</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38160">
                      <a:solidFill>
                        <a:srgbClr val="000000"/>
                      </a:solidFill>
                      <a:prstDash val="solid"/>
                    </a:lnT>
                    <a:lnB w="5760">
                      <a:solidFill>
                        <a:srgbClr val="000000"/>
                      </a:solidFill>
                      <a:prstDash val="solid"/>
                    </a:lnB>
                    <a:solidFill>
                      <a:srgbClr val="ffffff"/>
                    </a:solidFill>
                  </a:tcPr>
                </a:tc>
              </a:tr>
              <a:tr h="28404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40 years or older</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381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3.64</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38160">
                      <a:solidFill>
                        <a:srgbClr val="000000"/>
                      </a:solidFill>
                      <a:prstDash val="solid"/>
                    </a:lnB>
                    <a:noFill/>
                  </a:tcPr>
                </a:tc>
              </a:tr>
              <a:tr h="28260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10 years or less tenure</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38160">
                      <a:solidFill>
                        <a:srgbClr val="000000"/>
                      </a:solidFill>
                      <a:prstDash val="solid"/>
                    </a:lnT>
                    <a:lnB w="576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3.68</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38160">
                      <a:solidFill>
                        <a:srgbClr val="000000"/>
                      </a:solidFill>
                      <a:prstDash val="solid"/>
                    </a:lnT>
                    <a:lnB w="5760">
                      <a:solidFill>
                        <a:srgbClr val="000000"/>
                      </a:solidFill>
                      <a:prstDash val="solid"/>
                    </a:lnB>
                    <a:noFill/>
                  </a:tcPr>
                </a:tc>
              </a:tr>
              <a:tr h="281880">
                <a:tc>
                  <a:txBody>
                    <a:bodyPr lIns="90000" rIns="90000" tIns="46800" bIns="46800" anchor="t">
                      <a:noAutofit/>
                    </a:bodyPr>
                    <a:p>
                      <a:pP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More than 10 years’ tenure</a:t>
                      </a:r>
                      <a:endParaRPr b="0" i="1" lang="en-IN" sz="1200" strike="noStrike" u="none">
                        <a:solidFill>
                          <a:srgbClr val="000000"/>
                        </a:solidFill>
                        <a:effectLst/>
                        <a:uFillTx/>
                        <a:latin typeface="Arial"/>
                      </a:endParaRPr>
                    </a:p>
                  </a:txBody>
                  <a:tcPr anchor="t" marL="90000" marR="90000">
                    <a:lnL w="1368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rIns="90000" tIns="46800" bIns="46800" anchor="t">
                      <a:noAutofit/>
                    </a:bodyPr>
                    <a:p>
                      <a:pPr algn="ctr">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3.61</a:t>
                      </a:r>
                      <a:endParaRPr b="0" i="1" lang="en-IN" sz="1200" strike="noStrike" u="none">
                        <a:solidFill>
                          <a:srgbClr val="000000"/>
                        </a:solidFill>
                        <a:effectLst/>
                        <a:uFillTx/>
                        <a:latin typeface="Arial"/>
                      </a:endParaRPr>
                    </a:p>
                  </a:txBody>
                  <a:tcPr anchor="t" marL="90000" marR="90000">
                    <a:lnL w="5760">
                      <a:solidFill>
                        <a:srgbClr val="000000"/>
                      </a:solidFill>
                      <a:prstDash val="solid"/>
                    </a:lnL>
                    <a:lnR w="13680">
                      <a:solidFill>
                        <a:srgbClr val="000000"/>
                      </a:solidFill>
                      <a:prstDash val="solid"/>
                    </a:lnR>
                    <a:lnT w="5760">
                      <a:solidFill>
                        <a:srgbClr val="000000"/>
                      </a:solidFill>
                      <a:prstDash val="solid"/>
                    </a:lnT>
                    <a:lnB w="1368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6" name="Slide Number Placeholder 3"/>
          <p:cNvSpPr/>
          <p:nvPr/>
        </p:nvSpPr>
        <p:spPr>
          <a:xfrm>
            <a:off x="7086600" y="6248520"/>
            <a:ext cx="1905120" cy="457200"/>
          </a:xfrm>
          <a:prstGeom prst="rect">
            <a:avLst/>
          </a:prstGeom>
          <a:noFill/>
          <a:ln w="0">
            <a:noFill/>
          </a:ln>
        </p:spPr>
        <p:style>
          <a:lnRef idx="0"/>
          <a:fillRef idx="0"/>
          <a:effectRef idx="0"/>
          <a:fontRef idx="minor"/>
        </p:style>
        <p:txBody>
          <a:bodyPr lIns="90000" rIns="90000" tIns="46800" bIns="46800" anchor="t">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D6DE1F-152B-4050-94A9-0D61966DA503}" type="slidenum">
              <a:rPr b="1" lang="en-IN" sz="1400" strike="noStrike" u="none">
                <a:solidFill>
                  <a:srgbClr val="333399"/>
                </a:solidFill>
                <a:effectLst/>
                <a:uFillTx/>
                <a:latin typeface="Arial"/>
              </a:rPr>
              <a:t>&lt;number&gt;</a:t>
            </a:fld>
            <a:endParaRPr b="0" i="1" lang="en-IN" sz="1400" strike="noStrike" u="none">
              <a:solidFill>
                <a:srgbClr val="000000"/>
              </a:solidFill>
              <a:effectLst/>
              <a:uFillTx/>
              <a:latin typeface="Arial"/>
            </a:endParaRPr>
          </a:p>
        </p:txBody>
      </p:sp>
      <p:sp>
        <p:nvSpPr>
          <p:cNvPr id="407" name="PlaceHolder 1"/>
          <p:cNvSpPr>
            <a:spLocks noGrp="1"/>
          </p:cNvSpPr>
          <p:nvPr>
            <p:ph type="title"/>
          </p:nvPr>
        </p:nvSpPr>
        <p:spPr>
          <a:xfrm>
            <a:off x="685800" y="533160"/>
            <a:ext cx="7848720" cy="1143000"/>
          </a:xfrm>
          <a:prstGeom prst="rect">
            <a:avLst/>
          </a:prstGeom>
          <a:noFill/>
          <a:ln w="0">
            <a:noFill/>
          </a:ln>
        </p:spPr>
        <p:txBody>
          <a:bodyPr lIns="91440" rIns="91440" tIns="45720" bIns="4572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Research Question 5: </a:t>
            </a:r>
            <a:br>
              <a:rPr sz="2000"/>
            </a:br>
            <a:r>
              <a:rPr b="1" lang="en-IN" sz="2000" strike="noStrike" u="none">
                <a:solidFill>
                  <a:srgbClr val="333399"/>
                </a:solidFill>
                <a:effectLst/>
                <a:uFillTx/>
                <a:latin typeface="Arial"/>
              </a:rPr>
              <a:t>Findings: Overall Effectiveness in Creating an Inclusive Work Environment (continued)</a:t>
            </a:r>
            <a:endParaRPr b="0" lang="en-IN" sz="2000" strike="noStrike" u="none">
              <a:solidFill>
                <a:srgbClr val="333399"/>
              </a:solidFill>
              <a:effectLst/>
              <a:uFillTx/>
              <a:latin typeface="Arial"/>
            </a:endParaRPr>
          </a:p>
        </p:txBody>
      </p:sp>
      <p:sp>
        <p:nvSpPr>
          <p:cNvPr id="408" name="PlaceHolder 2"/>
          <p:cNvSpPr>
            <a:spLocks noGrp="1"/>
          </p:cNvSpPr>
          <p:nvPr>
            <p:ph/>
          </p:nvPr>
        </p:nvSpPr>
        <p:spPr>
          <a:xfrm>
            <a:off x="609120" y="1828800"/>
            <a:ext cx="8153640" cy="4525920"/>
          </a:xfrm>
          <a:prstGeom prst="rect">
            <a:avLst/>
          </a:prstGeom>
          <a:noFill/>
          <a:ln w="0">
            <a:noFill/>
          </a:ln>
        </p:spPr>
        <p:txBody>
          <a:bodyPr lIns="91440" rIns="91440" tIns="45720" bIns="45720" anchor="t">
            <a:normAutofit/>
          </a:bodyPr>
          <a:p>
            <a:pPr indent="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333399"/>
                </a:solidFill>
                <a:effectLst/>
                <a:uFillTx/>
                <a:latin typeface="Arial"/>
              </a:rPr>
              <a:t>What could NASA Ames do to improve workplace diversity?</a:t>
            </a:r>
            <a:endParaRPr b="0" lang="en-IN" sz="20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Common Themes in Respondents’ Answers to this Open-ended Question</a:t>
            </a:r>
            <a:endParaRPr b="0" lang="en-IN" sz="1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Improve diversity training</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Improve recruiting</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Promote diversity awareness more effectively</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Increase the number of female, Asian/Pacific Islander, Hispanic/Latino, and Black/African American managers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Hold managers accountable / Assist managers / Reward best practice</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Focus on teamwork and collaboration</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Focus on similarities, not differences</a:t>
            </a:r>
            <a:endParaRPr b="0" lang="en-IN" sz="1600" strike="noStrike" u="none">
              <a:solidFill>
                <a:srgbClr val="000000"/>
              </a:solidFill>
              <a:effectLst/>
              <a:uFillTx/>
              <a:latin typeface="Arial"/>
            </a:endParaRPr>
          </a:p>
          <a:p>
            <a:pPr lvl="1" marL="743040" indent="-285840">
              <a:spcBef>
                <a:spcPts val="400"/>
              </a:spcBef>
              <a:buClr>
                <a:srgbClr val="000000"/>
              </a:buClr>
              <a:buSzPct val="8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Focus on individual merit to achieve Center success</a:t>
            </a:r>
            <a:endParaRPr b="0" lang="en-IN" sz="1600" strike="noStrike" u="none">
              <a:solidFill>
                <a:srgbClr val="000000"/>
              </a:solidFill>
              <a:effectLst/>
              <a:uFillTx/>
              <a:latin typeface="Arial"/>
            </a:endParaRPr>
          </a:p>
          <a:p>
            <a:pPr lvl="1" marL="743040" indent="-285840">
              <a:spcBef>
                <a:spcPts val="4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2224</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2005-09-26T12:32:51Z</dcterms:created>
  <dc:creator> Mike Liu</dc:creator>
  <dc:description/>
  <dc:language>en-IN</dc:language>
  <cp:lastModifiedBy>pphounrath</cp:lastModifiedBy>
  <dcterms:modified xsi:type="dcterms:W3CDTF">2008-02-26T09:30:05Z</dcterms:modified>
  <cp:revision>144</cp:revision>
  <dc:subject/>
  <dc:title>Slide 1</dc:title>
</cp:coreProperties>
</file>