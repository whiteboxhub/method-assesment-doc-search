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0.xml.rels" ContentType="application/vnd.openxmlformats-package.relationships+xml"/>
  <Override PartName="/ppt/notesSlides/notesSlide10.xml" ContentType="application/vnd.openxmlformats-officedocument.presentationml.notesSlide+xml"/>
  <Override PartName="/ppt/embeddings/oleObject1.xlsx" ContentType="application/vnd.openxmlformats-officedocument.spreadsheetml.sheet"/>
  <Override PartName="/ppt/media/image1.png" ContentType="image/png"/>
  <Override PartName="/ppt/media/image2.png" ContentType="image/png"/>
  <Override PartName="/ppt/media/image3.wmf" ContentType="image/x-wmf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/>
  <p:notesSz cx="6656388" cy="919797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6656400" cy="919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882880" cy="45720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t">
            <a:noAutofit/>
          </a:bodyPr>
          <a:p>
            <a:pPr indent="0">
              <a:buNone/>
              <a:tabLst>
                <a:tab algn="l" pos="0"/>
                <a:tab algn="l" pos="906480"/>
                <a:tab algn="l" pos="1812960"/>
                <a:tab algn="l" pos="2719440"/>
                <a:tab algn="l" pos="3625920"/>
                <a:tab algn="l" pos="4532400"/>
                <a:tab algn="l" pos="5438880"/>
                <a:tab algn="l" pos="6345360"/>
                <a:tab algn="l" pos="7251840"/>
                <a:tab algn="l" pos="8158320"/>
                <a:tab algn="l" pos="9064800"/>
                <a:tab algn="l" pos="9970920"/>
                <a:tab algn="l" pos="10877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dt" idx="2"/>
          </p:nvPr>
        </p:nvSpPr>
        <p:spPr>
          <a:xfrm>
            <a:off x="3773520" y="0"/>
            <a:ext cx="2882880" cy="45720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t">
            <a:noAutofit/>
          </a:bodyPr>
          <a:lstStyle>
            <a:lvl1pPr indent="0" algn="r">
              <a:buNone/>
              <a:tabLst>
                <a:tab algn="l" pos="0"/>
                <a:tab algn="l" pos="906480"/>
                <a:tab algn="l" pos="1812960"/>
                <a:tab algn="l" pos="2719440"/>
                <a:tab algn="l" pos="3625920"/>
                <a:tab algn="l" pos="4532400"/>
                <a:tab algn="l" pos="5438880"/>
                <a:tab algn="l" pos="6345360"/>
                <a:tab algn="l" pos="7251840"/>
                <a:tab algn="l" pos="8158320"/>
                <a:tab algn="l" pos="9064800"/>
                <a:tab algn="l" pos="9970920"/>
                <a:tab algn="l" pos="10877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06480"/>
                <a:tab algn="l" pos="1812960"/>
                <a:tab algn="l" pos="2719440"/>
                <a:tab algn="l" pos="3625920"/>
                <a:tab algn="l" pos="4532400"/>
                <a:tab algn="l" pos="5438880"/>
                <a:tab algn="l" pos="6345360"/>
                <a:tab algn="l" pos="7251840"/>
                <a:tab algn="l" pos="8158320"/>
                <a:tab algn="l" pos="9064800"/>
                <a:tab algn="l" pos="9970920"/>
                <a:tab algn="l" pos="10877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Img"/>
          </p:nvPr>
        </p:nvSpPr>
        <p:spPr>
          <a:xfrm>
            <a:off x="1033200" y="691920"/>
            <a:ext cx="4592520" cy="344484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887400" y="4367160"/>
            <a:ext cx="4881600" cy="413712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3"/>
          </p:nvPr>
        </p:nvSpPr>
        <p:spPr>
          <a:xfrm>
            <a:off x="0" y="8739360"/>
            <a:ext cx="2882880" cy="45720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>
              <a:buNone/>
              <a:tabLst>
                <a:tab algn="l" pos="0"/>
                <a:tab algn="l" pos="906480"/>
                <a:tab algn="l" pos="1812960"/>
                <a:tab algn="l" pos="2719440"/>
                <a:tab algn="l" pos="3625920"/>
                <a:tab algn="l" pos="4532400"/>
                <a:tab algn="l" pos="5438880"/>
                <a:tab algn="l" pos="6345360"/>
                <a:tab algn="l" pos="7251840"/>
                <a:tab algn="l" pos="8158320"/>
                <a:tab algn="l" pos="9064800"/>
                <a:tab algn="l" pos="9970920"/>
                <a:tab algn="l" pos="10877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06480"/>
                <a:tab algn="l" pos="1812960"/>
                <a:tab algn="l" pos="2719440"/>
                <a:tab algn="l" pos="3625920"/>
                <a:tab algn="l" pos="4532400"/>
                <a:tab algn="l" pos="5438880"/>
                <a:tab algn="l" pos="6345360"/>
                <a:tab algn="l" pos="7251840"/>
                <a:tab algn="l" pos="8158320"/>
                <a:tab algn="l" pos="9064800"/>
                <a:tab algn="l" pos="9970920"/>
                <a:tab algn="l" pos="10877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4"/>
          </p:nvPr>
        </p:nvSpPr>
        <p:spPr>
          <a:xfrm>
            <a:off x="3773520" y="8739360"/>
            <a:ext cx="2882880" cy="45720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buNone/>
              <a:tabLst>
                <a:tab algn="l" pos="0"/>
                <a:tab algn="l" pos="906480"/>
                <a:tab algn="l" pos="1812960"/>
                <a:tab algn="l" pos="2719440"/>
                <a:tab algn="l" pos="3625920"/>
                <a:tab algn="l" pos="4532400"/>
                <a:tab algn="l" pos="5438880"/>
                <a:tab algn="l" pos="6345360"/>
                <a:tab algn="l" pos="7251840"/>
                <a:tab algn="l" pos="8158320"/>
                <a:tab algn="l" pos="9064800"/>
                <a:tab algn="l" pos="9970920"/>
                <a:tab algn="l" pos="10877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06480"/>
                <a:tab algn="l" pos="1812960"/>
                <a:tab algn="l" pos="2719440"/>
                <a:tab algn="l" pos="3625920"/>
                <a:tab algn="l" pos="4532400"/>
                <a:tab algn="l" pos="5438880"/>
                <a:tab algn="l" pos="6345360"/>
                <a:tab algn="l" pos="7251840"/>
                <a:tab algn="l" pos="8158320"/>
                <a:tab algn="l" pos="9064800"/>
                <a:tab algn="l" pos="9970920"/>
                <a:tab algn="l" pos="10877400"/>
              </a:tabLst>
            </a:pPr>
            <a:fld id="{A1AD8362-9385-4572-AEC6-0C499410A97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1028880" y="689040"/>
            <a:ext cx="4598640" cy="34495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580680" y="4368960"/>
            <a:ext cx="5808600" cy="413856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t">
            <a:noAutofit/>
          </a:bodyPr>
          <a:p>
            <a:pPr lvl="1" marL="457200" indent="0">
              <a:lnSpc>
                <a:spcPct val="90000"/>
              </a:lnSpc>
              <a:spcBef>
                <a:spcPts val="337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Obtain information on the specific economic activities that would benefit from the estimated product improvements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57200" indent="0">
              <a:lnSpc>
                <a:spcPct val="90000"/>
              </a:lnSpc>
              <a:spcBef>
                <a:spcPts val="337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Understand how specific satellite and sensor data and/or derived products are used by constituents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57200" indent="0">
              <a:lnSpc>
                <a:spcPct val="90000"/>
              </a:lnSpc>
              <a:spcBef>
                <a:spcPts val="337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reduce costs) for specific activities in their industries.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57200" indent="0">
              <a:lnSpc>
                <a:spcPct val="90000"/>
              </a:lnSpc>
              <a:spcBef>
                <a:spcPts val="337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Understand how the data impacts/benefits user operations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337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447560"/>
            <a:ext cx="7772400" cy="480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D1C130A-DD9E-41E6-8165-43C6E8E4C6EC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85800" y="1447560"/>
            <a:ext cx="7772400" cy="480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0A87A2F-7D7D-41D1-A2EE-4019154920F8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F3D6A54-CF0A-48FF-B94F-1C9583C3E65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447560"/>
            <a:ext cx="7772400" cy="480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1910F5-177C-4718-A547-8F6541F57814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" descr=""/>
          <p:cNvPicPr/>
          <p:nvPr/>
        </p:nvPicPr>
        <p:blipFill>
          <a:blip r:embed="rId2"/>
          <a:srcRect l="0" t="14128" r="0" b="14766"/>
          <a:stretch/>
        </p:blipFill>
        <p:spPr>
          <a:xfrm>
            <a:off x="14400" y="63360"/>
            <a:ext cx="914400" cy="90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" descr=""/>
          <p:cNvPicPr/>
          <p:nvPr/>
        </p:nvPicPr>
        <p:blipFill>
          <a:blip r:embed="rId3"/>
          <a:stretch/>
        </p:blipFill>
        <p:spPr>
          <a:xfrm>
            <a:off x="8217000" y="63360"/>
            <a:ext cx="895320" cy="9162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3.wmf"/><Relationship Id="rId3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43080" y="2018880"/>
            <a:ext cx="8432640" cy="1420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Requirements Gathering, Validation, and Concept Studies</a:t>
            </a:r>
            <a:endParaRPr b="1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870120" y="4613040"/>
            <a:ext cx="7385040" cy="22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lnSpc>
                <a:spcPct val="85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GOES Users’ Conference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5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Boulder, CO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5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October 1-3, 2002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57208B5-9949-4DCD-A4CF-5A01A13523D5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5996160" y="2868480"/>
            <a:ext cx="2049120" cy="3479760"/>
          </a:xfrm>
          <a:prstGeom prst="rect">
            <a:avLst/>
          </a:prstGeom>
          <a:solidFill>
            <a:srgbClr val="ccffff"/>
          </a:solidFill>
          <a:ln w="9360">
            <a:solidFill>
              <a:srgbClr val="0000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6157800" y="2820960"/>
            <a:ext cx="1481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Other Data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9080" y="237960"/>
            <a:ext cx="7315200" cy="62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Integrated Approach to Observations</a:t>
            </a:r>
            <a:endParaRPr b="1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235160" y="3227400"/>
            <a:ext cx="2031840" cy="3137040"/>
          </a:xfrm>
          <a:prstGeom prst="rect">
            <a:avLst/>
          </a:prstGeom>
          <a:solidFill>
            <a:srgbClr val="ccff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544760" y="3182760"/>
            <a:ext cx="1354320" cy="31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Polar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(Today)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w/METOP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(2005)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NPOESS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(2009)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3444840" y="3227400"/>
            <a:ext cx="2032200" cy="3137040"/>
          </a:xfrm>
          <a:prstGeom prst="rect">
            <a:avLst/>
          </a:prstGeom>
          <a:solidFill>
            <a:srgbClr val="00cc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3464640" y="3157560"/>
            <a:ext cx="2019600" cy="31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Geostationary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GOES I-Series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(Today)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GOES N-Series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(2004)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GOES R-Series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(2012)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5637240" y="3211560"/>
            <a:ext cx="2012760" cy="3136680"/>
          </a:xfrm>
          <a:prstGeom prst="rect">
            <a:avLst/>
          </a:prstGeom>
          <a:solidFill>
            <a:srgbClr val="ccff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5689080" y="3146400"/>
            <a:ext cx="2047680" cy="28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Other Satellites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NASA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DoD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International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Commercial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8" name=""/>
          <p:cNvGrpSpPr/>
          <p:nvPr/>
        </p:nvGrpSpPr>
        <p:grpSpPr>
          <a:xfrm>
            <a:off x="2945160" y="1781280"/>
            <a:ext cx="3043800" cy="1459080"/>
            <a:chOff x="2945160" y="1781280"/>
            <a:chExt cx="3043800" cy="1459080"/>
          </a:xfrm>
        </p:grpSpPr>
        <p:sp>
          <p:nvSpPr>
            <p:cNvPr id="29" name=""/>
            <p:cNvSpPr/>
            <p:nvPr/>
          </p:nvSpPr>
          <p:spPr>
            <a:xfrm rot="20069400">
              <a:off x="2933640" y="2609640"/>
              <a:ext cx="1581120" cy="304920"/>
            </a:xfrm>
            <a:prstGeom prst="leftArrow">
              <a:avLst>
                <a:gd name="adj1" fmla="val 50000"/>
                <a:gd name="adj2" fmla="val 129634"/>
              </a:avLst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" name=""/>
            <p:cNvSpPr/>
            <p:nvPr/>
          </p:nvSpPr>
          <p:spPr>
            <a:xfrm flipH="1" rot="1530600">
              <a:off x="4418640" y="2600280"/>
              <a:ext cx="1581120" cy="304920"/>
            </a:xfrm>
            <a:prstGeom prst="leftArrow">
              <a:avLst>
                <a:gd name="adj1" fmla="val 50000"/>
                <a:gd name="adj2" fmla="val 129634"/>
              </a:avLst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" name=""/>
            <p:cNvSpPr/>
            <p:nvPr/>
          </p:nvSpPr>
          <p:spPr>
            <a:xfrm rot="16200000">
              <a:off x="3790800" y="2324160"/>
              <a:ext cx="1371600" cy="285840"/>
            </a:xfrm>
            <a:prstGeom prst="leftArrow">
              <a:avLst>
                <a:gd name="adj1" fmla="val 50000"/>
                <a:gd name="adj2" fmla="val 119962"/>
              </a:avLst>
            </a:pr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2" name=""/>
          <p:cNvSpPr/>
          <p:nvPr/>
        </p:nvSpPr>
        <p:spPr>
          <a:xfrm>
            <a:off x="3121200" y="1314360"/>
            <a:ext cx="2666880" cy="857520"/>
          </a:xfrm>
          <a:prstGeom prst="flowChartTerminator">
            <a:avLst/>
          </a:prstGeom>
          <a:solidFill>
            <a:srgbClr val="ccff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3301920" y="1454040"/>
            <a:ext cx="2451240" cy="6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 algn="ctr"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User Needs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D0566B9-2978-4497-866F-2FE03F91003E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Baseline GOES-R Architecture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467000" y="1150920"/>
            <a:ext cx="128268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115920" indent="-115920" algn="ctr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West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6394320" y="1174680"/>
            <a:ext cx="128268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115920" indent="-115920" algn="ctr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East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7" name=""/>
          <p:cNvGrpSpPr/>
          <p:nvPr/>
        </p:nvGrpSpPr>
        <p:grpSpPr>
          <a:xfrm>
            <a:off x="0" y="1695600"/>
            <a:ext cx="4425840" cy="2160000"/>
            <a:chOff x="0" y="1695600"/>
            <a:chExt cx="4425840" cy="2160000"/>
          </a:xfrm>
        </p:grpSpPr>
        <p:sp>
          <p:nvSpPr>
            <p:cNvPr id="38" name=""/>
            <p:cNvSpPr/>
            <p:nvPr/>
          </p:nvSpPr>
          <p:spPr>
            <a:xfrm>
              <a:off x="209520" y="1695600"/>
              <a:ext cx="4095720" cy="2076120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0" y="1855440"/>
              <a:ext cx="4425840" cy="2000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Advanced Baseline Imager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Hyperspectral Environmental Suite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Space Environmental Monitor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Solar X-ray Imager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Services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40" name=""/>
          <p:cNvGrpSpPr/>
          <p:nvPr/>
        </p:nvGrpSpPr>
        <p:grpSpPr>
          <a:xfrm>
            <a:off x="1390320" y="4246560"/>
            <a:ext cx="6598800" cy="1762200"/>
            <a:chOff x="1390320" y="4246560"/>
            <a:chExt cx="6598800" cy="1762200"/>
          </a:xfrm>
        </p:grpSpPr>
        <p:sp>
          <p:nvSpPr>
            <p:cNvPr id="41" name=""/>
            <p:cNvSpPr/>
            <p:nvPr/>
          </p:nvSpPr>
          <p:spPr>
            <a:xfrm>
              <a:off x="2685960" y="4808520"/>
              <a:ext cx="4444920" cy="1200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228600" indent="-228600">
                <a:lnSpc>
                  <a:spcPct val="100000"/>
                </a:lnSpc>
                <a:spcBef>
                  <a:spcPts val="499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Multi-Function Imager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228600" indent="-228600">
                <a:lnSpc>
                  <a:spcPct val="100000"/>
                </a:lnSpc>
                <a:spcBef>
                  <a:spcPts val="499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Microwave Sounder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228600" indent="-228600">
                <a:lnSpc>
                  <a:spcPct val="100000"/>
                </a:lnSpc>
                <a:spcBef>
                  <a:spcPts val="499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Coronagraph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1390320" y="4246560"/>
              <a:ext cx="659880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Additional Instruments Under Consideration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43" name=""/>
          <p:cNvGrpSpPr/>
          <p:nvPr/>
        </p:nvGrpSpPr>
        <p:grpSpPr>
          <a:xfrm>
            <a:off x="4718160" y="1695600"/>
            <a:ext cx="4425840" cy="2160000"/>
            <a:chOff x="4718160" y="1695600"/>
            <a:chExt cx="4425840" cy="2160000"/>
          </a:xfrm>
        </p:grpSpPr>
        <p:sp>
          <p:nvSpPr>
            <p:cNvPr id="44" name=""/>
            <p:cNvSpPr/>
            <p:nvPr/>
          </p:nvSpPr>
          <p:spPr>
            <a:xfrm>
              <a:off x="4927680" y="1695600"/>
              <a:ext cx="4095720" cy="2076120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4718160" y="1855440"/>
              <a:ext cx="4425840" cy="2000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Advanced Baseline Imager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Hyperspectral Environmental Suite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Space Environmental Monitor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Solar X-ray Imager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Services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857A0B9-0148-4DB7-8628-4E1C36FA14F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Opportunities &amp; Challenges for GOES-R</a:t>
            </a:r>
            <a:endParaRPr b="1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7" name=""/>
          <p:cNvGrpSpPr/>
          <p:nvPr/>
        </p:nvGrpSpPr>
        <p:grpSpPr>
          <a:xfrm>
            <a:off x="4114800" y="882720"/>
            <a:ext cx="5029200" cy="2082600"/>
            <a:chOff x="4114800" y="882720"/>
            <a:chExt cx="5029200" cy="2082600"/>
          </a:xfrm>
        </p:grpSpPr>
        <p:sp>
          <p:nvSpPr>
            <p:cNvPr id="48" name=""/>
            <p:cNvSpPr/>
            <p:nvPr/>
          </p:nvSpPr>
          <p:spPr>
            <a:xfrm>
              <a:off x="4114800" y="1530000"/>
              <a:ext cx="1028880" cy="660240"/>
            </a:xfrm>
            <a:custGeom>
              <a:avLst/>
              <a:gdLst>
                <a:gd name="textAreaLeft" fmla="*/ 160560 w 1028880"/>
                <a:gd name="textAreaRight" fmla="*/ 900360 w 1028880"/>
                <a:gd name="textAreaTop" fmla="*/ 164880 h 660240"/>
                <a:gd name="textAreaBottom" fmla="*/ 495360 h 6602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375" y="5400"/>
                  </a:moveTo>
                  <a:lnTo>
                    <a:pt x="16200" y="540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16200" y="16200"/>
                  </a:lnTo>
                  <a:lnTo>
                    <a:pt x="3375" y="162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675" y="5400"/>
                  </a:lnTo>
                  <a:lnTo>
                    <a:pt x="675" y="16200"/>
                  </a:lnTo>
                  <a:lnTo>
                    <a:pt x="0" y="162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2700" y="5400"/>
                  </a:lnTo>
                  <a:lnTo>
                    <a:pt x="2700" y="16200"/>
                  </a:lnTo>
                  <a:lnTo>
                    <a:pt x="1350" y="16200"/>
                  </a:lnTo>
                  <a:close/>
                </a:path>
              </a:pathLst>
            </a:cu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5245200" y="882720"/>
              <a:ext cx="3898800" cy="208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sng">
                  <a:solidFill>
                    <a:srgbClr val="000000"/>
                  </a:solidFill>
                  <a:effectLst/>
                  <a:uFillTx/>
                  <a:latin typeface="Arial"/>
                </a:rPr>
                <a:t>Observation Requirements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Temporal Resolution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Spectral Coverage &amp; Resolution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Spatial Resolution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Radiometric Performance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0" name=""/>
          <p:cNvGrpSpPr/>
          <p:nvPr/>
        </p:nvGrpSpPr>
        <p:grpSpPr>
          <a:xfrm>
            <a:off x="911160" y="1467000"/>
            <a:ext cx="2666880" cy="857160"/>
            <a:chOff x="911160" y="1467000"/>
            <a:chExt cx="2666880" cy="857160"/>
          </a:xfrm>
        </p:grpSpPr>
        <p:sp>
          <p:nvSpPr>
            <p:cNvPr id="51" name=""/>
            <p:cNvSpPr/>
            <p:nvPr/>
          </p:nvSpPr>
          <p:spPr>
            <a:xfrm>
              <a:off x="911160" y="1467000"/>
              <a:ext cx="2666880" cy="857160"/>
            </a:xfrm>
            <a:prstGeom prst="flowChartTerminator">
              <a:avLst/>
            </a:pr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1092240" y="1606680"/>
              <a:ext cx="245088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7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User Needs</a:t>
              </a:r>
              <a:endParaRPr b="0" lang="en-IN" sz="2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3" name=""/>
          <p:cNvGrpSpPr/>
          <p:nvPr/>
        </p:nvGrpSpPr>
        <p:grpSpPr>
          <a:xfrm>
            <a:off x="5016600" y="2851200"/>
            <a:ext cx="3784680" cy="4006800"/>
            <a:chOff x="5016600" y="2851200"/>
            <a:chExt cx="3784680" cy="4006800"/>
          </a:xfrm>
        </p:grpSpPr>
        <p:grpSp>
          <p:nvGrpSpPr>
            <p:cNvPr id="54" name=""/>
            <p:cNvGrpSpPr/>
            <p:nvPr/>
          </p:nvGrpSpPr>
          <p:grpSpPr>
            <a:xfrm>
              <a:off x="5016600" y="4146480"/>
              <a:ext cx="3784680" cy="2711520"/>
              <a:chOff x="5016600" y="4146480"/>
              <a:chExt cx="3784680" cy="2711520"/>
            </a:xfrm>
          </p:grpSpPr>
          <p:sp>
            <p:nvSpPr>
              <p:cNvPr id="55" name=""/>
              <p:cNvSpPr/>
              <p:nvPr/>
            </p:nvSpPr>
            <p:spPr>
              <a:xfrm>
                <a:off x="5016600" y="4775040"/>
                <a:ext cx="3784680" cy="208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 marL="343080" indent="-343080" algn="ctr">
                  <a:lnSpc>
                    <a:spcPct val="100000"/>
                  </a:lnSpc>
                  <a:spcBef>
                    <a:spcPts val="451"/>
                  </a:spcBef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800" strike="noStrike" u="sng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Opportunities &amp; Challenges</a:t>
                </a:r>
                <a:endParaRPr b="0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 marL="343080" indent="-343080">
                  <a:lnSpc>
                    <a:spcPct val="100000"/>
                  </a:lnSpc>
                  <a:spcBef>
                    <a:spcPts val="451"/>
                  </a:spcBef>
                  <a:buClr>
                    <a:srgbClr val="000000"/>
                  </a:buClr>
                  <a:buFont typeface="Arial"/>
                  <a:buChar char="•"/>
                  <a:tabLst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Instruments</a:t>
                </a:r>
                <a:endParaRPr b="0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 marL="343080" indent="-343080">
                  <a:lnSpc>
                    <a:spcPct val="100000"/>
                  </a:lnSpc>
                  <a:spcBef>
                    <a:spcPts val="451"/>
                  </a:spcBef>
                  <a:buClr>
                    <a:srgbClr val="000000"/>
                  </a:buClr>
                  <a:buFont typeface="Arial"/>
                  <a:buChar char="•"/>
                  <a:tabLst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Processing &amp; Communication Technologies</a:t>
                </a:r>
                <a:endParaRPr b="0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 marL="343080" indent="-343080">
                  <a:lnSpc>
                    <a:spcPct val="100000"/>
                  </a:lnSpc>
                  <a:spcBef>
                    <a:spcPts val="451"/>
                  </a:spcBef>
                  <a:buClr>
                    <a:srgbClr val="000000"/>
                  </a:buClr>
                  <a:buFont typeface="Arial"/>
                  <a:buChar char="•"/>
                  <a:tabLst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End-to-End Architectures</a:t>
                </a:r>
                <a:endParaRPr b="0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 rot="5400000">
                <a:off x="6562800" y="4168800"/>
                <a:ext cx="704880" cy="660240"/>
              </a:xfrm>
              <a:custGeom>
                <a:avLst/>
                <a:gdLst>
                  <a:gd name="textAreaLeft" fmla="*/ 110160 w 704880"/>
                  <a:gd name="textAreaRight" fmla="*/ 543600 w 704880"/>
                  <a:gd name="textAreaTop" fmla="*/ 147600 h 660240"/>
                  <a:gd name="textAreaBottom" fmla="*/ 512640 h 660240"/>
                </a:gdLst>
                <a:ahLst/>
                <a:cxnLst/>
                <a:rect l="textAreaLeft" t="textAreaTop" r="textAreaRight" b="textAreaBottom"/>
                <a:pathLst>
                  <a:path w="21600" h="21600">
                    <a:moveTo>
                      <a:pt x="3375" y="4828"/>
                    </a:moveTo>
                    <a:lnTo>
                      <a:pt x="12648" y="4828"/>
                    </a:lnTo>
                    <a:lnTo>
                      <a:pt x="12648" y="0"/>
                    </a:lnTo>
                    <a:lnTo>
                      <a:pt x="21600" y="10800"/>
                    </a:lnTo>
                    <a:lnTo>
                      <a:pt x="12648" y="21600"/>
                    </a:lnTo>
                    <a:lnTo>
                      <a:pt x="12648" y="16772"/>
                    </a:lnTo>
                    <a:lnTo>
                      <a:pt x="3375" y="16772"/>
                    </a:lnTo>
                    <a:close/>
                  </a:path>
                  <a:path w="21600" h="21600">
                    <a:moveTo>
                      <a:pt x="0" y="4828"/>
                    </a:moveTo>
                    <a:lnTo>
                      <a:pt x="675" y="4828"/>
                    </a:lnTo>
                    <a:lnTo>
                      <a:pt x="675" y="16772"/>
                    </a:lnTo>
                    <a:lnTo>
                      <a:pt x="0" y="16772"/>
                    </a:lnTo>
                    <a:close/>
                  </a:path>
                  <a:path w="21600" h="21600">
                    <a:moveTo>
                      <a:pt x="1350" y="4828"/>
                    </a:moveTo>
                    <a:lnTo>
                      <a:pt x="2700" y="4828"/>
                    </a:lnTo>
                    <a:lnTo>
                      <a:pt x="2700" y="16772"/>
                    </a:lnTo>
                    <a:lnTo>
                      <a:pt x="1350" y="16772"/>
                    </a:lnTo>
                    <a:close/>
                  </a:path>
                </a:pathLst>
              </a:custGeom>
              <a:solidFill>
                <a:srgbClr val="ccff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46800" rIns="46800" tIns="90000" bIns="90000" anchor="ctr" anchorCtr="1" vert="eaVert" rot="10800000">
                <a:no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7" name=""/>
            <p:cNvGrpSpPr/>
            <p:nvPr/>
          </p:nvGrpSpPr>
          <p:grpSpPr>
            <a:xfrm>
              <a:off x="5334120" y="2851200"/>
              <a:ext cx="3143160" cy="1225440"/>
              <a:chOff x="5334120" y="2851200"/>
              <a:chExt cx="3143160" cy="1225440"/>
            </a:xfrm>
          </p:grpSpPr>
          <p:grpSp>
            <p:nvGrpSpPr>
              <p:cNvPr id="58" name=""/>
              <p:cNvGrpSpPr/>
              <p:nvPr/>
            </p:nvGrpSpPr>
            <p:grpSpPr>
              <a:xfrm>
                <a:off x="5334120" y="2851200"/>
                <a:ext cx="3143160" cy="1225440"/>
                <a:chOff x="5334120" y="2851200"/>
                <a:chExt cx="3143160" cy="1225440"/>
              </a:xfrm>
            </p:grpSpPr>
            <p:sp>
              <p:nvSpPr>
                <p:cNvPr id="59" name=""/>
                <p:cNvSpPr/>
                <p:nvPr/>
              </p:nvSpPr>
              <p:spPr>
                <a:xfrm>
                  <a:off x="5334120" y="3638520"/>
                  <a:ext cx="3143160" cy="438120"/>
                </a:xfrm>
                <a:prstGeom prst="rect">
                  <a:avLst/>
                </a:prstGeom>
                <a:solidFill>
                  <a:srgbClr val="ccffff"/>
                </a:solidFill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60" name=""/>
                <p:cNvSpPr/>
                <p:nvPr/>
              </p:nvSpPr>
              <p:spPr>
                <a:xfrm rot="5400000">
                  <a:off x="6543720" y="2873520"/>
                  <a:ext cx="704880" cy="660240"/>
                </a:xfrm>
                <a:custGeom>
                  <a:avLst/>
                  <a:gdLst>
                    <a:gd name="textAreaLeft" fmla="*/ 110160 w 704880"/>
                    <a:gd name="textAreaRight" fmla="*/ 543600 w 704880"/>
                    <a:gd name="textAreaTop" fmla="*/ 147600 h 660240"/>
                    <a:gd name="textAreaBottom" fmla="*/ 512640 h 660240"/>
                  </a:gdLst>
                  <a:ahLst/>
                  <a:cxnLst/>
                  <a:rect l="textAreaLeft" t="textAreaTop" r="textAreaRight" b="textAreaBottom"/>
                  <a:pathLst>
                    <a:path w="21600" h="21600">
                      <a:moveTo>
                        <a:pt x="3375" y="4828"/>
                      </a:moveTo>
                      <a:lnTo>
                        <a:pt x="12648" y="4828"/>
                      </a:lnTo>
                      <a:lnTo>
                        <a:pt x="12648" y="0"/>
                      </a:lnTo>
                      <a:lnTo>
                        <a:pt x="21600" y="10800"/>
                      </a:lnTo>
                      <a:lnTo>
                        <a:pt x="12648" y="21600"/>
                      </a:lnTo>
                      <a:lnTo>
                        <a:pt x="12648" y="16772"/>
                      </a:lnTo>
                      <a:lnTo>
                        <a:pt x="3375" y="16772"/>
                      </a:lnTo>
                      <a:close/>
                    </a:path>
                    <a:path w="21600" h="21600">
                      <a:moveTo>
                        <a:pt x="0" y="4828"/>
                      </a:moveTo>
                      <a:lnTo>
                        <a:pt x="675" y="4828"/>
                      </a:lnTo>
                      <a:lnTo>
                        <a:pt x="675" y="16772"/>
                      </a:lnTo>
                      <a:lnTo>
                        <a:pt x="0" y="16772"/>
                      </a:lnTo>
                      <a:close/>
                    </a:path>
                    <a:path w="21600" h="21600">
                      <a:moveTo>
                        <a:pt x="1350" y="4828"/>
                      </a:moveTo>
                      <a:lnTo>
                        <a:pt x="2700" y="4828"/>
                      </a:lnTo>
                      <a:lnTo>
                        <a:pt x="2700" y="16772"/>
                      </a:lnTo>
                      <a:lnTo>
                        <a:pt x="1350" y="16772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46800" rIns="46800" tIns="90000" bIns="90000" anchor="ctr" anchorCtr="1" vert="eaVert" rot="10800000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sp>
            <p:nvSpPr>
              <p:cNvPr id="61" name=""/>
              <p:cNvSpPr/>
              <p:nvPr/>
            </p:nvSpPr>
            <p:spPr>
              <a:xfrm>
                <a:off x="5454720" y="3625920"/>
                <a:ext cx="3022560" cy="444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 marL="343080" indent="-343080" algn="ctr">
                  <a:lnSpc>
                    <a:spcPct val="100000"/>
                  </a:lnSpc>
                  <a:spcBef>
                    <a:spcPts val="499"/>
                  </a:spcBef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Architecture Solutions</a:t>
                </a:r>
                <a:endParaRPr b="0" lang="en-IN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5E2A2F1-6FFA-4573-BF25-B97C2BC730C4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580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Opportunities &amp; Challenges for GOES-R</a:t>
            </a:r>
            <a:endParaRPr b="1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"/>
          <p:cNvGrpSpPr/>
          <p:nvPr/>
        </p:nvGrpSpPr>
        <p:grpSpPr>
          <a:xfrm>
            <a:off x="977760" y="3530520"/>
            <a:ext cx="4172040" cy="2082960"/>
            <a:chOff x="977760" y="3530520"/>
            <a:chExt cx="4172040" cy="2082960"/>
          </a:xfrm>
        </p:grpSpPr>
        <p:sp>
          <p:nvSpPr>
            <p:cNvPr id="64" name=""/>
            <p:cNvSpPr/>
            <p:nvPr/>
          </p:nvSpPr>
          <p:spPr>
            <a:xfrm>
              <a:off x="977760" y="3530520"/>
              <a:ext cx="2743200" cy="2082960"/>
            </a:xfrm>
            <a:prstGeom prst="rect">
              <a:avLst/>
            </a:pr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sng">
                  <a:solidFill>
                    <a:srgbClr val="000000"/>
                  </a:solidFill>
                  <a:effectLst/>
                  <a:uFillTx/>
                  <a:latin typeface="Arial"/>
                </a:rPr>
                <a:t>Instruments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Multispectral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Hyperspectral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Passive Microwave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Multi-mode suites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65" name=""/>
            <p:cNvGrpSpPr/>
            <p:nvPr/>
          </p:nvGrpSpPr>
          <p:grpSpPr>
            <a:xfrm>
              <a:off x="3683160" y="3936600"/>
              <a:ext cx="1466640" cy="1435680"/>
              <a:chOff x="3683160" y="3936600"/>
              <a:chExt cx="1466640" cy="1435680"/>
            </a:xfrm>
          </p:grpSpPr>
          <p:sp>
            <p:nvSpPr>
              <p:cNvPr id="66" name=""/>
              <p:cNvSpPr/>
              <p:nvPr/>
            </p:nvSpPr>
            <p:spPr>
              <a:xfrm flipH="1" flipV="1">
                <a:off x="3719520" y="3936600"/>
                <a:ext cx="1411200" cy="1330200"/>
              </a:xfrm>
              <a:prstGeom prst="line">
                <a:avLst/>
              </a:prstGeom>
              <a:ln w="284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 flipH="1">
                <a:off x="3683160" y="5280120"/>
                <a:ext cx="1466640" cy="92160"/>
              </a:xfrm>
              <a:prstGeom prst="line">
                <a:avLst/>
              </a:prstGeom>
              <a:ln w="284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360" bIns="453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grpSp>
        <p:nvGrpSpPr>
          <p:cNvPr id="68" name=""/>
          <p:cNvGrpSpPr/>
          <p:nvPr/>
        </p:nvGrpSpPr>
        <p:grpSpPr>
          <a:xfrm>
            <a:off x="4114800" y="882720"/>
            <a:ext cx="5029200" cy="2082600"/>
            <a:chOff x="4114800" y="882720"/>
            <a:chExt cx="5029200" cy="2082600"/>
          </a:xfrm>
        </p:grpSpPr>
        <p:sp>
          <p:nvSpPr>
            <p:cNvPr id="69" name=""/>
            <p:cNvSpPr/>
            <p:nvPr/>
          </p:nvSpPr>
          <p:spPr>
            <a:xfrm>
              <a:off x="4114800" y="1530000"/>
              <a:ext cx="1028880" cy="660240"/>
            </a:xfrm>
            <a:custGeom>
              <a:avLst/>
              <a:gdLst>
                <a:gd name="textAreaLeft" fmla="*/ 160560 w 1028880"/>
                <a:gd name="textAreaRight" fmla="*/ 900360 w 1028880"/>
                <a:gd name="textAreaTop" fmla="*/ 164880 h 660240"/>
                <a:gd name="textAreaBottom" fmla="*/ 495360 h 6602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375" y="5400"/>
                  </a:moveTo>
                  <a:lnTo>
                    <a:pt x="16200" y="540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16200" y="16200"/>
                  </a:lnTo>
                  <a:lnTo>
                    <a:pt x="3375" y="162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675" y="5400"/>
                  </a:lnTo>
                  <a:lnTo>
                    <a:pt x="675" y="16200"/>
                  </a:lnTo>
                  <a:lnTo>
                    <a:pt x="0" y="162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2700" y="5400"/>
                  </a:lnTo>
                  <a:lnTo>
                    <a:pt x="2700" y="16200"/>
                  </a:lnTo>
                  <a:lnTo>
                    <a:pt x="1350" y="16200"/>
                  </a:lnTo>
                  <a:close/>
                </a:path>
              </a:pathLst>
            </a:cu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5245200" y="882720"/>
              <a:ext cx="3898800" cy="208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sng">
                  <a:solidFill>
                    <a:srgbClr val="000000"/>
                  </a:solidFill>
                  <a:effectLst/>
                  <a:uFillTx/>
                  <a:latin typeface="Arial"/>
                </a:rPr>
                <a:t>Observation Requirements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Temporal Resolution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Spectral Coverage &amp; Resolution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Spatial Resolution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Radiometric Performance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71" name=""/>
          <p:cNvGrpSpPr/>
          <p:nvPr/>
        </p:nvGrpSpPr>
        <p:grpSpPr>
          <a:xfrm>
            <a:off x="911160" y="1467000"/>
            <a:ext cx="2666880" cy="857160"/>
            <a:chOff x="911160" y="1467000"/>
            <a:chExt cx="2666880" cy="857160"/>
          </a:xfrm>
        </p:grpSpPr>
        <p:sp>
          <p:nvSpPr>
            <p:cNvPr id="72" name=""/>
            <p:cNvSpPr/>
            <p:nvPr/>
          </p:nvSpPr>
          <p:spPr>
            <a:xfrm>
              <a:off x="911160" y="1467000"/>
              <a:ext cx="2666880" cy="857160"/>
            </a:xfrm>
            <a:prstGeom prst="flowChartTerminator">
              <a:avLst/>
            </a:pr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1092240" y="1606680"/>
              <a:ext cx="245088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7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User Needs</a:t>
              </a:r>
              <a:endParaRPr b="0" lang="en-IN" sz="2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74" name=""/>
          <p:cNvGrpSpPr/>
          <p:nvPr/>
        </p:nvGrpSpPr>
        <p:grpSpPr>
          <a:xfrm>
            <a:off x="5016600" y="4146480"/>
            <a:ext cx="3784680" cy="2711520"/>
            <a:chOff x="5016600" y="4146480"/>
            <a:chExt cx="3784680" cy="2711520"/>
          </a:xfrm>
        </p:grpSpPr>
        <p:sp>
          <p:nvSpPr>
            <p:cNvPr id="75" name=""/>
            <p:cNvSpPr/>
            <p:nvPr/>
          </p:nvSpPr>
          <p:spPr>
            <a:xfrm>
              <a:off x="5016600" y="4775040"/>
              <a:ext cx="3784680" cy="208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sng">
                  <a:solidFill>
                    <a:srgbClr val="000000"/>
                  </a:solidFill>
                  <a:effectLst/>
                  <a:uFillTx/>
                  <a:latin typeface="Arial"/>
                </a:rPr>
                <a:t>Opportunities &amp; Challenges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Instruments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Processing &amp; Communication Technologies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End-to-End Architectures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" name=""/>
            <p:cNvSpPr/>
            <p:nvPr/>
          </p:nvSpPr>
          <p:spPr>
            <a:xfrm rot="5400000">
              <a:off x="6562800" y="4168800"/>
              <a:ext cx="704880" cy="660240"/>
            </a:xfrm>
            <a:custGeom>
              <a:avLst/>
              <a:gdLst>
                <a:gd name="textAreaLeft" fmla="*/ 110160 w 704880"/>
                <a:gd name="textAreaRight" fmla="*/ 543600 w 704880"/>
                <a:gd name="textAreaTop" fmla="*/ 147600 h 660240"/>
                <a:gd name="textAreaBottom" fmla="*/ 512640 h 6602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375" y="4828"/>
                  </a:moveTo>
                  <a:lnTo>
                    <a:pt x="12648" y="4828"/>
                  </a:lnTo>
                  <a:lnTo>
                    <a:pt x="12648" y="0"/>
                  </a:lnTo>
                  <a:lnTo>
                    <a:pt x="21600" y="10800"/>
                  </a:lnTo>
                  <a:lnTo>
                    <a:pt x="12648" y="21600"/>
                  </a:lnTo>
                  <a:lnTo>
                    <a:pt x="12648" y="16772"/>
                  </a:lnTo>
                  <a:lnTo>
                    <a:pt x="3375" y="16772"/>
                  </a:lnTo>
                  <a:close/>
                </a:path>
                <a:path w="21600" h="21600">
                  <a:moveTo>
                    <a:pt x="0" y="4828"/>
                  </a:moveTo>
                  <a:lnTo>
                    <a:pt x="675" y="4828"/>
                  </a:lnTo>
                  <a:lnTo>
                    <a:pt x="675" y="16772"/>
                  </a:lnTo>
                  <a:lnTo>
                    <a:pt x="0" y="16772"/>
                  </a:lnTo>
                  <a:close/>
                </a:path>
                <a:path w="21600" h="21600">
                  <a:moveTo>
                    <a:pt x="1350" y="4828"/>
                  </a:moveTo>
                  <a:lnTo>
                    <a:pt x="2700" y="4828"/>
                  </a:lnTo>
                  <a:lnTo>
                    <a:pt x="2700" y="16772"/>
                  </a:lnTo>
                  <a:lnTo>
                    <a:pt x="1350" y="16772"/>
                  </a:lnTo>
                  <a:close/>
                </a:path>
              </a:pathLst>
            </a:cu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46800" rIns="46800" tIns="90000" bIns="90000" anchor="ctr" anchorCtr="1" vert="eaVert" rot="10800000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77" name=""/>
          <p:cNvGrpSpPr/>
          <p:nvPr/>
        </p:nvGrpSpPr>
        <p:grpSpPr>
          <a:xfrm>
            <a:off x="5334120" y="2851200"/>
            <a:ext cx="3143160" cy="1225440"/>
            <a:chOff x="5334120" y="2851200"/>
            <a:chExt cx="3143160" cy="1225440"/>
          </a:xfrm>
        </p:grpSpPr>
        <p:grpSp>
          <p:nvGrpSpPr>
            <p:cNvPr id="78" name=""/>
            <p:cNvGrpSpPr/>
            <p:nvPr/>
          </p:nvGrpSpPr>
          <p:grpSpPr>
            <a:xfrm>
              <a:off x="5334120" y="2851200"/>
              <a:ext cx="3143160" cy="1225440"/>
              <a:chOff x="5334120" y="2851200"/>
              <a:chExt cx="3143160" cy="1225440"/>
            </a:xfrm>
          </p:grpSpPr>
          <p:sp>
            <p:nvSpPr>
              <p:cNvPr id="79" name=""/>
              <p:cNvSpPr/>
              <p:nvPr/>
            </p:nvSpPr>
            <p:spPr>
              <a:xfrm>
                <a:off x="5334120" y="3638520"/>
                <a:ext cx="3143160" cy="438120"/>
              </a:xfrm>
              <a:prstGeom prst="rect">
                <a:avLst/>
              </a:prstGeom>
              <a:solidFill>
                <a:srgbClr val="ccff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 rot="5400000">
                <a:off x="6543720" y="2873520"/>
                <a:ext cx="704880" cy="660240"/>
              </a:xfrm>
              <a:custGeom>
                <a:avLst/>
                <a:gdLst>
                  <a:gd name="textAreaLeft" fmla="*/ 110160 w 704880"/>
                  <a:gd name="textAreaRight" fmla="*/ 543600 w 704880"/>
                  <a:gd name="textAreaTop" fmla="*/ 147600 h 660240"/>
                  <a:gd name="textAreaBottom" fmla="*/ 512640 h 660240"/>
                </a:gdLst>
                <a:ahLst/>
                <a:cxnLst/>
                <a:rect l="textAreaLeft" t="textAreaTop" r="textAreaRight" b="textAreaBottom"/>
                <a:pathLst>
                  <a:path w="21600" h="21600">
                    <a:moveTo>
                      <a:pt x="3375" y="4828"/>
                    </a:moveTo>
                    <a:lnTo>
                      <a:pt x="12648" y="4828"/>
                    </a:lnTo>
                    <a:lnTo>
                      <a:pt x="12648" y="0"/>
                    </a:lnTo>
                    <a:lnTo>
                      <a:pt x="21600" y="10800"/>
                    </a:lnTo>
                    <a:lnTo>
                      <a:pt x="12648" y="21600"/>
                    </a:lnTo>
                    <a:lnTo>
                      <a:pt x="12648" y="16772"/>
                    </a:lnTo>
                    <a:lnTo>
                      <a:pt x="3375" y="16772"/>
                    </a:lnTo>
                    <a:close/>
                  </a:path>
                  <a:path w="21600" h="21600">
                    <a:moveTo>
                      <a:pt x="0" y="4828"/>
                    </a:moveTo>
                    <a:lnTo>
                      <a:pt x="675" y="4828"/>
                    </a:lnTo>
                    <a:lnTo>
                      <a:pt x="675" y="16772"/>
                    </a:lnTo>
                    <a:lnTo>
                      <a:pt x="0" y="16772"/>
                    </a:lnTo>
                    <a:close/>
                  </a:path>
                  <a:path w="21600" h="21600">
                    <a:moveTo>
                      <a:pt x="1350" y="4828"/>
                    </a:moveTo>
                    <a:lnTo>
                      <a:pt x="2700" y="4828"/>
                    </a:lnTo>
                    <a:lnTo>
                      <a:pt x="2700" y="16772"/>
                    </a:lnTo>
                    <a:lnTo>
                      <a:pt x="1350" y="16772"/>
                    </a:lnTo>
                    <a:close/>
                  </a:path>
                </a:pathLst>
              </a:custGeom>
              <a:solidFill>
                <a:srgbClr val="ccff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46800" rIns="46800" tIns="90000" bIns="90000" anchor="ctr" anchorCtr="1" vert="eaVert" rot="10800000">
                <a:no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81" name=""/>
            <p:cNvSpPr/>
            <p:nvPr/>
          </p:nvSpPr>
          <p:spPr>
            <a:xfrm>
              <a:off x="5454720" y="3625920"/>
              <a:ext cx="3022560" cy="444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Architecture Solutions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30564ED-F322-4139-8C16-F955C9496D21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Opportunities &amp; Challenges for GOES-R</a:t>
            </a:r>
            <a:endParaRPr b="1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3" name=""/>
          <p:cNvGrpSpPr/>
          <p:nvPr/>
        </p:nvGrpSpPr>
        <p:grpSpPr>
          <a:xfrm>
            <a:off x="241200" y="3708360"/>
            <a:ext cx="4886280" cy="2781360"/>
            <a:chOff x="241200" y="3708360"/>
            <a:chExt cx="4886280" cy="2781360"/>
          </a:xfrm>
        </p:grpSpPr>
        <p:sp>
          <p:nvSpPr>
            <p:cNvPr id="84" name=""/>
            <p:cNvSpPr/>
            <p:nvPr/>
          </p:nvSpPr>
          <p:spPr>
            <a:xfrm>
              <a:off x="241200" y="3708360"/>
              <a:ext cx="3746520" cy="2781360"/>
            </a:xfrm>
            <a:prstGeom prst="rect">
              <a:avLst/>
            </a:pr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sng">
                  <a:solidFill>
                    <a:srgbClr val="000000"/>
                  </a:solidFill>
                  <a:effectLst/>
                  <a:uFillTx/>
                  <a:latin typeface="Arial"/>
                </a:rPr>
                <a:t>Communications &amp; Processing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2 Orders of Magnitude increase in instrument data throughput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lvl="1" marL="743040" indent="-28584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Wingdings" charset="2"/>
                <a:buChar char="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Product distribution and throughput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Integration of multiple instruments &amp; platforms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On-board processing options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85" name=""/>
            <p:cNvGrpSpPr/>
            <p:nvPr/>
          </p:nvGrpSpPr>
          <p:grpSpPr>
            <a:xfrm>
              <a:off x="3962520" y="3867120"/>
              <a:ext cx="1164960" cy="2610000"/>
              <a:chOff x="3962520" y="3867120"/>
              <a:chExt cx="1164960" cy="2610000"/>
            </a:xfrm>
          </p:grpSpPr>
          <p:sp>
            <p:nvSpPr>
              <p:cNvPr id="86" name=""/>
              <p:cNvSpPr/>
              <p:nvPr/>
            </p:nvSpPr>
            <p:spPr>
              <a:xfrm flipH="1" flipV="1">
                <a:off x="3962520" y="3867120"/>
                <a:ext cx="1164960" cy="1704960"/>
              </a:xfrm>
              <a:prstGeom prst="line">
                <a:avLst/>
              </a:prstGeom>
              <a:ln w="284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 flipH="1">
                <a:off x="3986280" y="5603760"/>
                <a:ext cx="1100160" cy="873360"/>
              </a:xfrm>
              <a:prstGeom prst="line">
                <a:avLst/>
              </a:prstGeom>
              <a:ln w="284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grpSp>
        <p:nvGrpSpPr>
          <p:cNvPr id="88" name=""/>
          <p:cNvGrpSpPr/>
          <p:nvPr/>
        </p:nvGrpSpPr>
        <p:grpSpPr>
          <a:xfrm>
            <a:off x="4114800" y="882720"/>
            <a:ext cx="5029200" cy="2082600"/>
            <a:chOff x="4114800" y="882720"/>
            <a:chExt cx="5029200" cy="2082600"/>
          </a:xfrm>
        </p:grpSpPr>
        <p:sp>
          <p:nvSpPr>
            <p:cNvPr id="89" name=""/>
            <p:cNvSpPr/>
            <p:nvPr/>
          </p:nvSpPr>
          <p:spPr>
            <a:xfrm>
              <a:off x="4114800" y="1530000"/>
              <a:ext cx="1028880" cy="660240"/>
            </a:xfrm>
            <a:custGeom>
              <a:avLst/>
              <a:gdLst>
                <a:gd name="textAreaLeft" fmla="*/ 160560 w 1028880"/>
                <a:gd name="textAreaRight" fmla="*/ 900360 w 1028880"/>
                <a:gd name="textAreaTop" fmla="*/ 164880 h 660240"/>
                <a:gd name="textAreaBottom" fmla="*/ 495360 h 6602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375" y="5400"/>
                  </a:moveTo>
                  <a:lnTo>
                    <a:pt x="16200" y="540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16200" y="16200"/>
                  </a:lnTo>
                  <a:lnTo>
                    <a:pt x="3375" y="162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675" y="5400"/>
                  </a:lnTo>
                  <a:lnTo>
                    <a:pt x="675" y="16200"/>
                  </a:lnTo>
                  <a:lnTo>
                    <a:pt x="0" y="162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2700" y="5400"/>
                  </a:lnTo>
                  <a:lnTo>
                    <a:pt x="2700" y="16200"/>
                  </a:lnTo>
                  <a:lnTo>
                    <a:pt x="1350" y="16200"/>
                  </a:lnTo>
                  <a:close/>
                </a:path>
              </a:pathLst>
            </a:cu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5245200" y="882720"/>
              <a:ext cx="3898800" cy="208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sng">
                  <a:solidFill>
                    <a:srgbClr val="000000"/>
                  </a:solidFill>
                  <a:effectLst/>
                  <a:uFillTx/>
                  <a:latin typeface="Arial"/>
                </a:rPr>
                <a:t>Observation Requirements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Temporal Resolution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Spectral Coverage &amp; Resolution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Spatial Resolution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Radiometric Performance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1" name=""/>
          <p:cNvGrpSpPr/>
          <p:nvPr/>
        </p:nvGrpSpPr>
        <p:grpSpPr>
          <a:xfrm>
            <a:off x="911160" y="1467000"/>
            <a:ext cx="2666880" cy="857160"/>
            <a:chOff x="911160" y="1467000"/>
            <a:chExt cx="2666880" cy="857160"/>
          </a:xfrm>
        </p:grpSpPr>
        <p:sp>
          <p:nvSpPr>
            <p:cNvPr id="92" name=""/>
            <p:cNvSpPr/>
            <p:nvPr/>
          </p:nvSpPr>
          <p:spPr>
            <a:xfrm>
              <a:off x="911160" y="1467000"/>
              <a:ext cx="2666880" cy="857160"/>
            </a:xfrm>
            <a:prstGeom prst="flowChartTerminator">
              <a:avLst/>
            </a:pr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1092240" y="1606680"/>
              <a:ext cx="245088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7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User Needs</a:t>
              </a:r>
              <a:endParaRPr b="0" lang="en-IN" sz="2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4" name=""/>
          <p:cNvGrpSpPr/>
          <p:nvPr/>
        </p:nvGrpSpPr>
        <p:grpSpPr>
          <a:xfrm>
            <a:off x="5016600" y="4146480"/>
            <a:ext cx="3784680" cy="2711520"/>
            <a:chOff x="5016600" y="4146480"/>
            <a:chExt cx="3784680" cy="2711520"/>
          </a:xfrm>
        </p:grpSpPr>
        <p:sp>
          <p:nvSpPr>
            <p:cNvPr id="95" name=""/>
            <p:cNvSpPr/>
            <p:nvPr/>
          </p:nvSpPr>
          <p:spPr>
            <a:xfrm>
              <a:off x="5016600" y="4775040"/>
              <a:ext cx="3784680" cy="208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sng">
                  <a:solidFill>
                    <a:srgbClr val="000000"/>
                  </a:solidFill>
                  <a:effectLst/>
                  <a:uFillTx/>
                  <a:latin typeface="Arial"/>
                </a:rPr>
                <a:t>Opportunities &amp; Challenges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Instruments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Processing &amp; Communication Technologies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End-to-End Architectures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6" name=""/>
            <p:cNvSpPr/>
            <p:nvPr/>
          </p:nvSpPr>
          <p:spPr>
            <a:xfrm rot="5400000">
              <a:off x="6562800" y="4168800"/>
              <a:ext cx="704880" cy="660240"/>
            </a:xfrm>
            <a:custGeom>
              <a:avLst/>
              <a:gdLst>
                <a:gd name="textAreaLeft" fmla="*/ 110160 w 704880"/>
                <a:gd name="textAreaRight" fmla="*/ 543600 w 704880"/>
                <a:gd name="textAreaTop" fmla="*/ 147600 h 660240"/>
                <a:gd name="textAreaBottom" fmla="*/ 512640 h 6602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375" y="4828"/>
                  </a:moveTo>
                  <a:lnTo>
                    <a:pt x="12648" y="4828"/>
                  </a:lnTo>
                  <a:lnTo>
                    <a:pt x="12648" y="0"/>
                  </a:lnTo>
                  <a:lnTo>
                    <a:pt x="21600" y="10800"/>
                  </a:lnTo>
                  <a:lnTo>
                    <a:pt x="12648" y="21600"/>
                  </a:lnTo>
                  <a:lnTo>
                    <a:pt x="12648" y="16772"/>
                  </a:lnTo>
                  <a:lnTo>
                    <a:pt x="3375" y="16772"/>
                  </a:lnTo>
                  <a:close/>
                </a:path>
                <a:path w="21600" h="21600">
                  <a:moveTo>
                    <a:pt x="0" y="4828"/>
                  </a:moveTo>
                  <a:lnTo>
                    <a:pt x="675" y="4828"/>
                  </a:lnTo>
                  <a:lnTo>
                    <a:pt x="675" y="16772"/>
                  </a:lnTo>
                  <a:lnTo>
                    <a:pt x="0" y="16772"/>
                  </a:lnTo>
                  <a:close/>
                </a:path>
                <a:path w="21600" h="21600">
                  <a:moveTo>
                    <a:pt x="1350" y="4828"/>
                  </a:moveTo>
                  <a:lnTo>
                    <a:pt x="2700" y="4828"/>
                  </a:lnTo>
                  <a:lnTo>
                    <a:pt x="2700" y="16772"/>
                  </a:lnTo>
                  <a:lnTo>
                    <a:pt x="1350" y="16772"/>
                  </a:lnTo>
                  <a:close/>
                </a:path>
              </a:pathLst>
            </a:cu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46800" rIns="46800" tIns="90000" bIns="90000" anchor="ctr" anchorCtr="1" vert="eaVert" rot="10800000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7" name=""/>
          <p:cNvGrpSpPr/>
          <p:nvPr/>
        </p:nvGrpSpPr>
        <p:grpSpPr>
          <a:xfrm>
            <a:off x="5334120" y="2851200"/>
            <a:ext cx="3143160" cy="1225440"/>
            <a:chOff x="5334120" y="2851200"/>
            <a:chExt cx="3143160" cy="1225440"/>
          </a:xfrm>
        </p:grpSpPr>
        <p:grpSp>
          <p:nvGrpSpPr>
            <p:cNvPr id="98" name=""/>
            <p:cNvGrpSpPr/>
            <p:nvPr/>
          </p:nvGrpSpPr>
          <p:grpSpPr>
            <a:xfrm>
              <a:off x="5334120" y="2851200"/>
              <a:ext cx="3143160" cy="1225440"/>
              <a:chOff x="5334120" y="2851200"/>
              <a:chExt cx="3143160" cy="1225440"/>
            </a:xfrm>
          </p:grpSpPr>
          <p:sp>
            <p:nvSpPr>
              <p:cNvPr id="99" name=""/>
              <p:cNvSpPr/>
              <p:nvPr/>
            </p:nvSpPr>
            <p:spPr>
              <a:xfrm>
                <a:off x="5334120" y="3638520"/>
                <a:ext cx="3143160" cy="438120"/>
              </a:xfrm>
              <a:prstGeom prst="rect">
                <a:avLst/>
              </a:prstGeom>
              <a:solidFill>
                <a:srgbClr val="ccff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 rot="5400000">
                <a:off x="6543720" y="2873520"/>
                <a:ext cx="704880" cy="660240"/>
              </a:xfrm>
              <a:custGeom>
                <a:avLst/>
                <a:gdLst>
                  <a:gd name="textAreaLeft" fmla="*/ 110160 w 704880"/>
                  <a:gd name="textAreaRight" fmla="*/ 543600 w 704880"/>
                  <a:gd name="textAreaTop" fmla="*/ 147600 h 660240"/>
                  <a:gd name="textAreaBottom" fmla="*/ 512640 h 660240"/>
                </a:gdLst>
                <a:ahLst/>
                <a:cxnLst/>
                <a:rect l="textAreaLeft" t="textAreaTop" r="textAreaRight" b="textAreaBottom"/>
                <a:pathLst>
                  <a:path w="21600" h="21600">
                    <a:moveTo>
                      <a:pt x="3375" y="4828"/>
                    </a:moveTo>
                    <a:lnTo>
                      <a:pt x="12648" y="4828"/>
                    </a:lnTo>
                    <a:lnTo>
                      <a:pt x="12648" y="0"/>
                    </a:lnTo>
                    <a:lnTo>
                      <a:pt x="21600" y="10800"/>
                    </a:lnTo>
                    <a:lnTo>
                      <a:pt x="12648" y="21600"/>
                    </a:lnTo>
                    <a:lnTo>
                      <a:pt x="12648" y="16772"/>
                    </a:lnTo>
                    <a:lnTo>
                      <a:pt x="3375" y="16772"/>
                    </a:lnTo>
                    <a:close/>
                  </a:path>
                  <a:path w="21600" h="21600">
                    <a:moveTo>
                      <a:pt x="0" y="4828"/>
                    </a:moveTo>
                    <a:lnTo>
                      <a:pt x="675" y="4828"/>
                    </a:lnTo>
                    <a:lnTo>
                      <a:pt x="675" y="16772"/>
                    </a:lnTo>
                    <a:lnTo>
                      <a:pt x="0" y="16772"/>
                    </a:lnTo>
                    <a:close/>
                  </a:path>
                  <a:path w="21600" h="21600">
                    <a:moveTo>
                      <a:pt x="1350" y="4828"/>
                    </a:moveTo>
                    <a:lnTo>
                      <a:pt x="2700" y="4828"/>
                    </a:lnTo>
                    <a:lnTo>
                      <a:pt x="2700" y="16772"/>
                    </a:lnTo>
                    <a:lnTo>
                      <a:pt x="1350" y="16772"/>
                    </a:lnTo>
                    <a:close/>
                  </a:path>
                </a:pathLst>
              </a:custGeom>
              <a:solidFill>
                <a:srgbClr val="ccff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46800" rIns="46800" tIns="90000" bIns="90000" anchor="ctr" anchorCtr="1" vert="eaVert" rot="10800000">
                <a:no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101" name=""/>
            <p:cNvSpPr/>
            <p:nvPr/>
          </p:nvSpPr>
          <p:spPr>
            <a:xfrm>
              <a:off x="5454720" y="3625920"/>
              <a:ext cx="3022560" cy="444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Architecture Solutions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BE23D84-D33C-4CB6-B1D4-20BE6F53E6BC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"/>
          <p:cNvGrpSpPr/>
          <p:nvPr/>
        </p:nvGrpSpPr>
        <p:grpSpPr>
          <a:xfrm>
            <a:off x="241200" y="3593880"/>
            <a:ext cx="4851000" cy="2679840"/>
            <a:chOff x="241200" y="3593880"/>
            <a:chExt cx="4851000" cy="2679840"/>
          </a:xfrm>
        </p:grpSpPr>
        <p:grpSp>
          <p:nvGrpSpPr>
            <p:cNvPr id="103" name=""/>
            <p:cNvGrpSpPr/>
            <p:nvPr/>
          </p:nvGrpSpPr>
          <p:grpSpPr>
            <a:xfrm>
              <a:off x="3957120" y="3593880"/>
              <a:ext cx="1135080" cy="2673720"/>
              <a:chOff x="3957120" y="3593880"/>
              <a:chExt cx="1135080" cy="2673720"/>
            </a:xfrm>
          </p:grpSpPr>
          <p:sp>
            <p:nvSpPr>
              <p:cNvPr id="104" name=""/>
              <p:cNvSpPr/>
              <p:nvPr/>
            </p:nvSpPr>
            <p:spPr>
              <a:xfrm flipH="1" flipV="1">
                <a:off x="3957120" y="3593880"/>
                <a:ext cx="1135080" cy="2577960"/>
              </a:xfrm>
              <a:prstGeom prst="line">
                <a:avLst/>
              </a:prstGeom>
              <a:ln w="284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 flipH="1">
                <a:off x="3987360" y="6165720"/>
                <a:ext cx="1094040" cy="101880"/>
              </a:xfrm>
              <a:prstGeom prst="line">
                <a:avLst/>
              </a:prstGeom>
              <a:ln w="284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106" name=""/>
            <p:cNvSpPr/>
            <p:nvPr/>
          </p:nvSpPr>
          <p:spPr>
            <a:xfrm>
              <a:off x="241200" y="3606840"/>
              <a:ext cx="3721320" cy="2666880"/>
            </a:xfrm>
            <a:prstGeom prst="rect">
              <a:avLst/>
            </a:pr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sng">
                  <a:solidFill>
                    <a:srgbClr val="000000"/>
                  </a:solidFill>
                  <a:effectLst/>
                  <a:uFillTx/>
                  <a:latin typeface="Arial"/>
                </a:rPr>
                <a:t>End-to-End Architectures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Formation vs single satellite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Multi-mode operations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Replenishment &amp; sparing strategies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Distribution between on-board &amp; ground processing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Data distribution options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580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Opportunities &amp; Challenges for GOES-R</a:t>
            </a:r>
            <a:endParaRPr b="1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" name=""/>
          <p:cNvGrpSpPr/>
          <p:nvPr/>
        </p:nvGrpSpPr>
        <p:grpSpPr>
          <a:xfrm>
            <a:off x="4114800" y="882720"/>
            <a:ext cx="5029200" cy="2082600"/>
            <a:chOff x="4114800" y="882720"/>
            <a:chExt cx="5029200" cy="2082600"/>
          </a:xfrm>
        </p:grpSpPr>
        <p:sp>
          <p:nvSpPr>
            <p:cNvPr id="109" name=""/>
            <p:cNvSpPr/>
            <p:nvPr/>
          </p:nvSpPr>
          <p:spPr>
            <a:xfrm>
              <a:off x="4114800" y="1530000"/>
              <a:ext cx="1028880" cy="660240"/>
            </a:xfrm>
            <a:custGeom>
              <a:avLst/>
              <a:gdLst>
                <a:gd name="textAreaLeft" fmla="*/ 160560 w 1028880"/>
                <a:gd name="textAreaRight" fmla="*/ 900360 w 1028880"/>
                <a:gd name="textAreaTop" fmla="*/ 164880 h 660240"/>
                <a:gd name="textAreaBottom" fmla="*/ 495360 h 6602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375" y="5400"/>
                  </a:moveTo>
                  <a:lnTo>
                    <a:pt x="16200" y="540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16200" y="16200"/>
                  </a:lnTo>
                  <a:lnTo>
                    <a:pt x="3375" y="162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675" y="5400"/>
                  </a:lnTo>
                  <a:lnTo>
                    <a:pt x="675" y="16200"/>
                  </a:lnTo>
                  <a:lnTo>
                    <a:pt x="0" y="162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2700" y="5400"/>
                  </a:lnTo>
                  <a:lnTo>
                    <a:pt x="2700" y="16200"/>
                  </a:lnTo>
                  <a:lnTo>
                    <a:pt x="1350" y="16200"/>
                  </a:lnTo>
                  <a:close/>
                </a:path>
              </a:pathLst>
            </a:cu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5245200" y="882720"/>
              <a:ext cx="3898800" cy="208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sng">
                  <a:solidFill>
                    <a:srgbClr val="000000"/>
                  </a:solidFill>
                  <a:effectLst/>
                  <a:uFillTx/>
                  <a:latin typeface="Arial"/>
                </a:rPr>
                <a:t>Observation Requirements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Temporal Resolution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Spectral Coverage &amp; Resolution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Spatial Resolution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Radiometric Performance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11" name=""/>
          <p:cNvGrpSpPr/>
          <p:nvPr/>
        </p:nvGrpSpPr>
        <p:grpSpPr>
          <a:xfrm>
            <a:off x="911160" y="1467000"/>
            <a:ext cx="2666880" cy="857160"/>
            <a:chOff x="911160" y="1467000"/>
            <a:chExt cx="2666880" cy="857160"/>
          </a:xfrm>
        </p:grpSpPr>
        <p:sp>
          <p:nvSpPr>
            <p:cNvPr id="112" name=""/>
            <p:cNvSpPr/>
            <p:nvPr/>
          </p:nvSpPr>
          <p:spPr>
            <a:xfrm>
              <a:off x="911160" y="1467000"/>
              <a:ext cx="2666880" cy="857160"/>
            </a:xfrm>
            <a:prstGeom prst="flowChartTerminator">
              <a:avLst/>
            </a:pr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1092240" y="1606680"/>
              <a:ext cx="245088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7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User Needs</a:t>
              </a:r>
              <a:endParaRPr b="0" lang="en-IN" sz="2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14" name=""/>
          <p:cNvGrpSpPr/>
          <p:nvPr/>
        </p:nvGrpSpPr>
        <p:grpSpPr>
          <a:xfrm>
            <a:off x="5016600" y="4146480"/>
            <a:ext cx="3784680" cy="2711520"/>
            <a:chOff x="5016600" y="4146480"/>
            <a:chExt cx="3784680" cy="2711520"/>
          </a:xfrm>
        </p:grpSpPr>
        <p:sp>
          <p:nvSpPr>
            <p:cNvPr id="115" name=""/>
            <p:cNvSpPr/>
            <p:nvPr/>
          </p:nvSpPr>
          <p:spPr>
            <a:xfrm>
              <a:off x="5016600" y="4775040"/>
              <a:ext cx="3784680" cy="208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sng">
                  <a:solidFill>
                    <a:srgbClr val="000000"/>
                  </a:solidFill>
                  <a:effectLst/>
                  <a:uFillTx/>
                  <a:latin typeface="Arial"/>
                </a:rPr>
                <a:t>Opportunities &amp; Challenges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Instruments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Processing &amp; Communication Technologies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343080" indent="-343080">
                <a:lnSpc>
                  <a:spcPct val="100000"/>
                </a:lnSpc>
                <a:spcBef>
                  <a:spcPts val="451"/>
                </a:spcBef>
                <a:buClr>
                  <a:srgbClr val="000000"/>
                </a:buClr>
                <a:buFont typeface="Arial"/>
                <a:buChar char="•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End-to-End Architectures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6" name=""/>
            <p:cNvSpPr/>
            <p:nvPr/>
          </p:nvSpPr>
          <p:spPr>
            <a:xfrm rot="5400000">
              <a:off x="6562800" y="4168800"/>
              <a:ext cx="704880" cy="660240"/>
            </a:xfrm>
            <a:custGeom>
              <a:avLst/>
              <a:gdLst>
                <a:gd name="textAreaLeft" fmla="*/ 110160 w 704880"/>
                <a:gd name="textAreaRight" fmla="*/ 543600 w 704880"/>
                <a:gd name="textAreaTop" fmla="*/ 147600 h 660240"/>
                <a:gd name="textAreaBottom" fmla="*/ 512640 h 6602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3375" y="4828"/>
                  </a:moveTo>
                  <a:lnTo>
                    <a:pt x="12648" y="4828"/>
                  </a:lnTo>
                  <a:lnTo>
                    <a:pt x="12648" y="0"/>
                  </a:lnTo>
                  <a:lnTo>
                    <a:pt x="21600" y="10800"/>
                  </a:lnTo>
                  <a:lnTo>
                    <a:pt x="12648" y="21600"/>
                  </a:lnTo>
                  <a:lnTo>
                    <a:pt x="12648" y="16772"/>
                  </a:lnTo>
                  <a:lnTo>
                    <a:pt x="3375" y="16772"/>
                  </a:lnTo>
                  <a:close/>
                </a:path>
                <a:path w="21600" h="21600">
                  <a:moveTo>
                    <a:pt x="0" y="4828"/>
                  </a:moveTo>
                  <a:lnTo>
                    <a:pt x="675" y="4828"/>
                  </a:lnTo>
                  <a:lnTo>
                    <a:pt x="675" y="16772"/>
                  </a:lnTo>
                  <a:lnTo>
                    <a:pt x="0" y="16772"/>
                  </a:lnTo>
                  <a:close/>
                </a:path>
                <a:path w="21600" h="21600">
                  <a:moveTo>
                    <a:pt x="1350" y="4828"/>
                  </a:moveTo>
                  <a:lnTo>
                    <a:pt x="2700" y="4828"/>
                  </a:lnTo>
                  <a:lnTo>
                    <a:pt x="2700" y="16772"/>
                  </a:lnTo>
                  <a:lnTo>
                    <a:pt x="1350" y="16772"/>
                  </a:lnTo>
                  <a:close/>
                </a:path>
              </a:pathLst>
            </a:cu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46800" rIns="46800" tIns="90000" bIns="90000" anchor="ctr" anchorCtr="1" vert="eaVert" rot="10800000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17" name=""/>
          <p:cNvGrpSpPr/>
          <p:nvPr/>
        </p:nvGrpSpPr>
        <p:grpSpPr>
          <a:xfrm>
            <a:off x="5334120" y="2851200"/>
            <a:ext cx="3143160" cy="1225440"/>
            <a:chOff x="5334120" y="2851200"/>
            <a:chExt cx="3143160" cy="1225440"/>
          </a:xfrm>
        </p:grpSpPr>
        <p:grpSp>
          <p:nvGrpSpPr>
            <p:cNvPr id="118" name=""/>
            <p:cNvGrpSpPr/>
            <p:nvPr/>
          </p:nvGrpSpPr>
          <p:grpSpPr>
            <a:xfrm>
              <a:off x="5334120" y="2851200"/>
              <a:ext cx="3143160" cy="1225440"/>
              <a:chOff x="5334120" y="2851200"/>
              <a:chExt cx="3143160" cy="1225440"/>
            </a:xfrm>
          </p:grpSpPr>
          <p:sp>
            <p:nvSpPr>
              <p:cNvPr id="119" name=""/>
              <p:cNvSpPr/>
              <p:nvPr/>
            </p:nvSpPr>
            <p:spPr>
              <a:xfrm>
                <a:off x="5334120" y="3638520"/>
                <a:ext cx="3143160" cy="438120"/>
              </a:xfrm>
              <a:prstGeom prst="rect">
                <a:avLst/>
              </a:prstGeom>
              <a:solidFill>
                <a:srgbClr val="ccff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 rot="5400000">
                <a:off x="6543720" y="2873520"/>
                <a:ext cx="704880" cy="660240"/>
              </a:xfrm>
              <a:custGeom>
                <a:avLst/>
                <a:gdLst>
                  <a:gd name="textAreaLeft" fmla="*/ 110160 w 704880"/>
                  <a:gd name="textAreaRight" fmla="*/ 543600 w 704880"/>
                  <a:gd name="textAreaTop" fmla="*/ 147600 h 660240"/>
                  <a:gd name="textAreaBottom" fmla="*/ 512640 h 660240"/>
                </a:gdLst>
                <a:ahLst/>
                <a:cxnLst/>
                <a:rect l="textAreaLeft" t="textAreaTop" r="textAreaRight" b="textAreaBottom"/>
                <a:pathLst>
                  <a:path w="21600" h="21600">
                    <a:moveTo>
                      <a:pt x="3375" y="4828"/>
                    </a:moveTo>
                    <a:lnTo>
                      <a:pt x="12648" y="4828"/>
                    </a:lnTo>
                    <a:lnTo>
                      <a:pt x="12648" y="0"/>
                    </a:lnTo>
                    <a:lnTo>
                      <a:pt x="21600" y="10800"/>
                    </a:lnTo>
                    <a:lnTo>
                      <a:pt x="12648" y="21600"/>
                    </a:lnTo>
                    <a:lnTo>
                      <a:pt x="12648" y="16772"/>
                    </a:lnTo>
                    <a:lnTo>
                      <a:pt x="3375" y="16772"/>
                    </a:lnTo>
                    <a:close/>
                  </a:path>
                  <a:path w="21600" h="21600">
                    <a:moveTo>
                      <a:pt x="0" y="4828"/>
                    </a:moveTo>
                    <a:lnTo>
                      <a:pt x="675" y="4828"/>
                    </a:lnTo>
                    <a:lnTo>
                      <a:pt x="675" y="16772"/>
                    </a:lnTo>
                    <a:lnTo>
                      <a:pt x="0" y="16772"/>
                    </a:lnTo>
                    <a:close/>
                  </a:path>
                  <a:path w="21600" h="21600">
                    <a:moveTo>
                      <a:pt x="1350" y="4828"/>
                    </a:moveTo>
                    <a:lnTo>
                      <a:pt x="2700" y="4828"/>
                    </a:lnTo>
                    <a:lnTo>
                      <a:pt x="2700" y="16772"/>
                    </a:lnTo>
                    <a:lnTo>
                      <a:pt x="1350" y="16772"/>
                    </a:lnTo>
                    <a:close/>
                  </a:path>
                </a:pathLst>
              </a:custGeom>
              <a:solidFill>
                <a:srgbClr val="ccff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46800" rIns="46800" tIns="90000" bIns="90000" anchor="ctr" anchorCtr="1" vert="eaVert" rot="10800000">
                <a:no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121" name=""/>
            <p:cNvSpPr/>
            <p:nvPr/>
          </p:nvSpPr>
          <p:spPr>
            <a:xfrm>
              <a:off x="5454720" y="3625920"/>
              <a:ext cx="3022560" cy="444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Architecture Solutions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9889AC0-C06A-45F7-8459-4F94B2E41AC4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8580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Multi-Satellite GOES-R Architecture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467000" y="1150920"/>
            <a:ext cx="128268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115920" indent="-115920" algn="ctr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West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394320" y="1174680"/>
            <a:ext cx="128268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115920" indent="-115920" algn="ctr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East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247680" y="1638360"/>
            <a:ext cx="4178160" cy="1360440"/>
            <a:chOff x="247680" y="1638360"/>
            <a:chExt cx="4178160" cy="1360440"/>
          </a:xfrm>
        </p:grpSpPr>
        <p:sp>
          <p:nvSpPr>
            <p:cNvPr id="126" name=""/>
            <p:cNvSpPr/>
            <p:nvPr/>
          </p:nvSpPr>
          <p:spPr>
            <a:xfrm>
              <a:off x="247680" y="1638360"/>
              <a:ext cx="4172040" cy="1219320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247680" y="1722600"/>
              <a:ext cx="4178160" cy="127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Advanced Baseline Imager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Solar X-ray Imager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Services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28" name=""/>
          <p:cNvSpPr/>
          <p:nvPr/>
        </p:nvSpPr>
        <p:spPr>
          <a:xfrm>
            <a:off x="552600" y="5143680"/>
            <a:ext cx="8026200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228600" indent="-2286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4514760"/>
                <a:tab algn="l" pos="48006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Additional Instruments could be flown on existing satellites or as free-flyers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-"/>
              <a:tabLst>
                <a:tab algn="l" pos="4514760"/>
                <a:tab algn="l" pos="48006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Microwave Sounder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Coronagraph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4514760"/>
                <a:tab algn="l" pos="48006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9" name=""/>
          <p:cNvGrpSpPr/>
          <p:nvPr/>
        </p:nvGrpSpPr>
        <p:grpSpPr>
          <a:xfrm>
            <a:off x="4686480" y="1638360"/>
            <a:ext cx="4178160" cy="1360440"/>
            <a:chOff x="4686480" y="1638360"/>
            <a:chExt cx="4178160" cy="1360440"/>
          </a:xfrm>
        </p:grpSpPr>
        <p:sp>
          <p:nvSpPr>
            <p:cNvPr id="130" name=""/>
            <p:cNvSpPr/>
            <p:nvPr/>
          </p:nvSpPr>
          <p:spPr>
            <a:xfrm>
              <a:off x="4686480" y="1638360"/>
              <a:ext cx="4172040" cy="1219320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4686480" y="1722600"/>
              <a:ext cx="4178160" cy="127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Advanced Baseline Imager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Solar X-ray Imager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marL="115920" indent="-115920" algn="ctr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Services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32" name=""/>
          <p:cNvGrpSpPr/>
          <p:nvPr/>
        </p:nvGrpSpPr>
        <p:grpSpPr>
          <a:xfrm>
            <a:off x="247680" y="3086280"/>
            <a:ext cx="8616960" cy="1645920"/>
            <a:chOff x="247680" y="3086280"/>
            <a:chExt cx="8616960" cy="1645920"/>
          </a:xfrm>
        </p:grpSpPr>
        <p:grpSp>
          <p:nvGrpSpPr>
            <p:cNvPr id="133" name=""/>
            <p:cNvGrpSpPr/>
            <p:nvPr/>
          </p:nvGrpSpPr>
          <p:grpSpPr>
            <a:xfrm>
              <a:off x="247680" y="3086280"/>
              <a:ext cx="4178160" cy="1645920"/>
              <a:chOff x="247680" y="3086280"/>
              <a:chExt cx="4178160" cy="1645920"/>
            </a:xfrm>
          </p:grpSpPr>
          <p:sp>
            <p:nvSpPr>
              <p:cNvPr id="134" name=""/>
              <p:cNvSpPr/>
              <p:nvPr/>
            </p:nvSpPr>
            <p:spPr>
              <a:xfrm>
                <a:off x="247680" y="3086280"/>
                <a:ext cx="4172040" cy="1504800"/>
              </a:xfrm>
              <a:prstGeom prst="roundRect">
                <a:avLst>
                  <a:gd name="adj" fmla="val 16667"/>
                </a:avLst>
              </a:prstGeom>
              <a:solidFill>
                <a:srgbClr val="99cc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5" name=""/>
              <p:cNvSpPr/>
              <p:nvPr/>
            </p:nvSpPr>
            <p:spPr>
              <a:xfrm>
                <a:off x="247680" y="3151080"/>
                <a:ext cx="4178160" cy="1581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 marL="115920" indent="-115920" algn="ctr">
                  <a:lnSpc>
                    <a:spcPct val="100000"/>
                  </a:lnSpc>
                  <a:spcBef>
                    <a:spcPts val="499"/>
                  </a:spcBef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Hyperspectral Environmental Suite</a:t>
                </a:r>
                <a:endParaRPr b="0" lang="en-IN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 marL="115920" indent="-115920" algn="ctr">
                  <a:lnSpc>
                    <a:spcPct val="100000"/>
                  </a:lnSpc>
                  <a:spcBef>
                    <a:spcPts val="499"/>
                  </a:spcBef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Space Environmental Monitor</a:t>
                </a:r>
                <a:endParaRPr b="0" lang="en-IN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 marL="115920" indent="-115920" algn="ctr">
                  <a:lnSpc>
                    <a:spcPct val="100000"/>
                  </a:lnSpc>
                  <a:spcBef>
                    <a:spcPts val="499"/>
                  </a:spcBef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Multi-Function Imager</a:t>
                </a:r>
                <a:endParaRPr b="0" lang="en-IN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 marL="115920" indent="-115920" algn="ctr">
                  <a:lnSpc>
                    <a:spcPct val="100000"/>
                  </a:lnSpc>
                  <a:spcBef>
                    <a:spcPts val="499"/>
                  </a:spcBef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Services</a:t>
                </a:r>
                <a:endParaRPr b="0" lang="en-IN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36" name=""/>
            <p:cNvGrpSpPr/>
            <p:nvPr/>
          </p:nvGrpSpPr>
          <p:grpSpPr>
            <a:xfrm>
              <a:off x="4686480" y="3086280"/>
              <a:ext cx="4178160" cy="1645920"/>
              <a:chOff x="4686480" y="3086280"/>
              <a:chExt cx="4178160" cy="1645920"/>
            </a:xfrm>
          </p:grpSpPr>
          <p:sp>
            <p:nvSpPr>
              <p:cNvPr id="137" name=""/>
              <p:cNvSpPr/>
              <p:nvPr/>
            </p:nvSpPr>
            <p:spPr>
              <a:xfrm>
                <a:off x="4686480" y="3086280"/>
                <a:ext cx="4172040" cy="1504800"/>
              </a:xfrm>
              <a:prstGeom prst="roundRect">
                <a:avLst>
                  <a:gd name="adj" fmla="val 16667"/>
                </a:avLst>
              </a:prstGeom>
              <a:solidFill>
                <a:srgbClr val="99cc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8" name=""/>
              <p:cNvSpPr/>
              <p:nvPr/>
            </p:nvSpPr>
            <p:spPr>
              <a:xfrm>
                <a:off x="4686480" y="3151080"/>
                <a:ext cx="4178160" cy="1581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 marL="115920" indent="-115920" algn="ctr">
                  <a:lnSpc>
                    <a:spcPct val="100000"/>
                  </a:lnSpc>
                  <a:spcBef>
                    <a:spcPts val="499"/>
                  </a:spcBef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Hyperspectral Environmental Suite</a:t>
                </a:r>
                <a:endParaRPr b="0" lang="en-IN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 marL="115920" indent="-115920" algn="ctr">
                  <a:lnSpc>
                    <a:spcPct val="100000"/>
                  </a:lnSpc>
                  <a:spcBef>
                    <a:spcPts val="499"/>
                  </a:spcBef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Space Environmental Monitor</a:t>
                </a:r>
                <a:endParaRPr b="0" lang="en-IN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 marL="115920" indent="-115920" algn="ctr">
                  <a:lnSpc>
                    <a:spcPct val="100000"/>
                  </a:lnSpc>
                  <a:spcBef>
                    <a:spcPts val="499"/>
                  </a:spcBef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Multi-Function Imager</a:t>
                </a:r>
                <a:endParaRPr b="0" lang="en-IN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 marL="115920" indent="-115920" algn="ctr">
                  <a:lnSpc>
                    <a:spcPct val="100000"/>
                  </a:lnSpc>
                  <a:spcBef>
                    <a:spcPts val="499"/>
                  </a:spcBef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Services</a:t>
                </a:r>
                <a:endParaRPr b="0" lang="en-IN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664BC0D-D459-47B4-8D79-6382D381BEF2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3006720" y="1619280"/>
            <a:ext cx="0" cy="4190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85800" y="-360"/>
            <a:ext cx="75628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Requirements Flow to GOES-R Architecture Development</a:t>
            </a:r>
            <a:endParaRPr b="1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1" name=""/>
          <p:cNvGrpSpPr/>
          <p:nvPr/>
        </p:nvGrpSpPr>
        <p:grpSpPr>
          <a:xfrm>
            <a:off x="392040" y="3930480"/>
            <a:ext cx="1369800" cy="1296000"/>
            <a:chOff x="392040" y="3930480"/>
            <a:chExt cx="1369800" cy="1296000"/>
          </a:xfrm>
        </p:grpSpPr>
        <p:grpSp>
          <p:nvGrpSpPr>
            <p:cNvPr id="142" name=""/>
            <p:cNvGrpSpPr/>
            <p:nvPr/>
          </p:nvGrpSpPr>
          <p:grpSpPr>
            <a:xfrm>
              <a:off x="392040" y="3930480"/>
              <a:ext cx="1369800" cy="1296000"/>
              <a:chOff x="392040" y="3930480"/>
              <a:chExt cx="1369800" cy="1296000"/>
            </a:xfrm>
          </p:grpSpPr>
          <p:grpSp>
            <p:nvGrpSpPr>
              <p:cNvPr id="143" name=""/>
              <p:cNvGrpSpPr/>
              <p:nvPr/>
            </p:nvGrpSpPr>
            <p:grpSpPr>
              <a:xfrm>
                <a:off x="650880" y="3930480"/>
                <a:ext cx="1110960" cy="1015920"/>
                <a:chOff x="650880" y="3930480"/>
                <a:chExt cx="1110960" cy="1015920"/>
              </a:xfrm>
            </p:grpSpPr>
            <p:sp>
              <p:nvSpPr>
                <p:cNvPr id="144" name=""/>
                <p:cNvSpPr/>
                <p:nvPr/>
              </p:nvSpPr>
              <p:spPr>
                <a:xfrm>
                  <a:off x="650880" y="3930480"/>
                  <a:ext cx="0" cy="101592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  <a:headEnd len="med" type="triangle" w="med"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45" name=""/>
                <p:cNvSpPr/>
                <p:nvPr/>
              </p:nvSpPr>
              <p:spPr>
                <a:xfrm>
                  <a:off x="650880" y="4943160"/>
                  <a:ext cx="1110960" cy="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  <a:tailEnd len="med" type="triangle" w="med"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6800" bIns="-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sp>
            <p:nvSpPr>
              <p:cNvPr id="146" name=""/>
              <p:cNvSpPr/>
              <p:nvPr/>
            </p:nvSpPr>
            <p:spPr>
              <a:xfrm rot="16200000">
                <a:off x="294840" y="4332240"/>
                <a:ext cx="440640" cy="24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Cost</a:t>
                </a:r>
                <a:endParaRPr b="0" lang="en-IN" sz="1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661680" y="4979880"/>
                <a:ext cx="904680" cy="24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Performance</a:t>
                </a:r>
                <a:endParaRPr b="0" lang="en-IN" sz="1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48" name=""/>
            <p:cNvGrpSpPr/>
            <p:nvPr/>
          </p:nvGrpSpPr>
          <p:grpSpPr>
            <a:xfrm>
              <a:off x="726840" y="4233600"/>
              <a:ext cx="866880" cy="504720"/>
              <a:chOff x="726840" y="4233600"/>
              <a:chExt cx="866880" cy="504720"/>
            </a:xfrm>
          </p:grpSpPr>
          <p:sp>
            <p:nvSpPr>
              <p:cNvPr id="149" name=""/>
              <p:cNvSpPr/>
              <p:nvPr/>
            </p:nvSpPr>
            <p:spPr>
              <a:xfrm flipV="1">
                <a:off x="726840" y="4718880"/>
                <a:ext cx="109080" cy="1944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0" name=""/>
              <p:cNvSpPr/>
              <p:nvPr/>
            </p:nvSpPr>
            <p:spPr>
              <a:xfrm flipV="1">
                <a:off x="835920" y="4702680"/>
                <a:ext cx="105480" cy="154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1320" bIns="-3132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1" name=""/>
              <p:cNvSpPr/>
              <p:nvPr/>
            </p:nvSpPr>
            <p:spPr>
              <a:xfrm flipV="1">
                <a:off x="941760" y="4656240"/>
                <a:ext cx="109080" cy="4680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0" bIns="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2" name=""/>
              <p:cNvSpPr/>
              <p:nvPr/>
            </p:nvSpPr>
            <p:spPr>
              <a:xfrm flipV="1">
                <a:off x="1050840" y="4507200"/>
                <a:ext cx="109080" cy="1486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3" name=""/>
              <p:cNvSpPr/>
              <p:nvPr/>
            </p:nvSpPr>
            <p:spPr>
              <a:xfrm flipV="1">
                <a:off x="1160280" y="4480200"/>
                <a:ext cx="109080" cy="2736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440" bIns="-1944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4" name=""/>
              <p:cNvSpPr/>
              <p:nvPr/>
            </p:nvSpPr>
            <p:spPr>
              <a:xfrm flipV="1">
                <a:off x="1269360" y="4452840"/>
                <a:ext cx="109080" cy="2736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440" bIns="-1944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5" name=""/>
              <p:cNvSpPr/>
              <p:nvPr/>
            </p:nvSpPr>
            <p:spPr>
              <a:xfrm flipV="1">
                <a:off x="1378800" y="4370400"/>
                <a:ext cx="105480" cy="8208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5280" bIns="3528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6" name=""/>
              <p:cNvSpPr/>
              <p:nvPr/>
            </p:nvSpPr>
            <p:spPr>
              <a:xfrm flipV="1">
                <a:off x="1484640" y="4233600"/>
                <a:ext cx="109080" cy="136800"/>
              </a:xfrm>
              <a:prstGeom prst="line">
                <a:avLst/>
              </a:prstGeom>
              <a:ln w="381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sp>
        <p:nvSpPr>
          <p:cNvPr id="157" name=""/>
          <p:cNvSpPr/>
          <p:nvPr/>
        </p:nvSpPr>
        <p:spPr>
          <a:xfrm>
            <a:off x="15840" y="3105000"/>
            <a:ext cx="1809720" cy="743040"/>
          </a:xfrm>
          <a:prstGeom prst="rect">
            <a:avLst/>
          </a:prstGeom>
          <a:solidFill>
            <a:srgbClr val="cc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2111400" y="3105000"/>
            <a:ext cx="1809720" cy="743040"/>
          </a:xfrm>
          <a:prstGeom prst="rect">
            <a:avLst/>
          </a:prstGeom>
          <a:solidFill>
            <a:srgbClr val="cc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4187880" y="3105000"/>
            <a:ext cx="1809720" cy="743040"/>
          </a:xfrm>
          <a:prstGeom prst="rect">
            <a:avLst/>
          </a:prstGeom>
          <a:solidFill>
            <a:srgbClr val="cc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892080" y="2924280"/>
            <a:ext cx="0" cy="171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1825560" y="1162080"/>
            <a:ext cx="2343240" cy="571320"/>
          </a:xfrm>
          <a:prstGeom prst="flowChartTerminator">
            <a:avLst/>
          </a:prstGeom>
          <a:solidFill>
            <a:srgbClr val="cc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087280" y="1258920"/>
            <a:ext cx="1857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User Needs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 flipH="1">
            <a:off x="892080" y="2724120"/>
            <a:ext cx="2114640" cy="2001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3016080" y="2724120"/>
            <a:ext cx="2114640" cy="2001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130720" y="2933640"/>
            <a:ext cx="0" cy="171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3006720" y="2724120"/>
            <a:ext cx="0" cy="3715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0" y="3127320"/>
            <a:ext cx="186696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Architecture I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2 GEO Satellite Constellation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089080" y="3127320"/>
            <a:ext cx="179856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Architecture II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Multi-Satellite Constellation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4181400" y="3127320"/>
            <a:ext cx="182556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Architecture III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Med Earth Orbit Constellation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149560" y="5676840"/>
            <a:ext cx="1809720" cy="743040"/>
          </a:xfrm>
          <a:prstGeom prst="rect">
            <a:avLst/>
          </a:prstGeom>
          <a:solidFill>
            <a:srgbClr val="cc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135160" y="5756400"/>
            <a:ext cx="182556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Recommend Alternative(s)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 rot="5400000">
            <a:off x="2815920" y="5048280"/>
            <a:ext cx="438120" cy="742680"/>
          </a:xfrm>
          <a:custGeom>
            <a:avLst/>
            <a:gdLst>
              <a:gd name="textAreaLeft" fmla="*/ 54720 w 438120"/>
              <a:gd name="textAreaRight" fmla="*/ 383400 w 438120"/>
              <a:gd name="textAreaTop" fmla="*/ 185760 h 742680"/>
              <a:gd name="textAreaBottom" fmla="*/ 557280 h 7426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lnTo>
                  <a:pt x="2700" y="10800"/>
                </a:lnTo>
                <a:lnTo>
                  <a:pt x="0" y="5400"/>
                </a:lnTo>
                <a:close/>
              </a:path>
            </a:pathLst>
          </a:custGeom>
          <a:solidFill>
            <a:srgbClr val="cc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73" name=""/>
          <p:cNvGrpSpPr/>
          <p:nvPr/>
        </p:nvGrpSpPr>
        <p:grpSpPr>
          <a:xfrm>
            <a:off x="4368960" y="3943440"/>
            <a:ext cx="1368360" cy="1296000"/>
            <a:chOff x="4368960" y="3943440"/>
            <a:chExt cx="1368360" cy="1296000"/>
          </a:xfrm>
        </p:grpSpPr>
        <p:grpSp>
          <p:nvGrpSpPr>
            <p:cNvPr id="174" name=""/>
            <p:cNvGrpSpPr/>
            <p:nvPr/>
          </p:nvGrpSpPr>
          <p:grpSpPr>
            <a:xfrm>
              <a:off x="4626360" y="3943440"/>
              <a:ext cx="1110960" cy="1015920"/>
              <a:chOff x="4626360" y="3943440"/>
              <a:chExt cx="1110960" cy="1015920"/>
            </a:xfrm>
          </p:grpSpPr>
          <p:sp>
            <p:nvSpPr>
              <p:cNvPr id="175" name=""/>
              <p:cNvSpPr/>
              <p:nvPr/>
            </p:nvSpPr>
            <p:spPr>
              <a:xfrm>
                <a:off x="4626360" y="3943440"/>
                <a:ext cx="0" cy="1015920"/>
              </a:xfrm>
              <a:prstGeom prst="line">
                <a:avLst/>
              </a:prstGeom>
              <a:ln w="28440">
                <a:solidFill>
                  <a:srgbClr val="000000"/>
                </a:solidFill>
                <a:miter/>
                <a:head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6" name=""/>
              <p:cNvSpPr/>
              <p:nvPr/>
            </p:nvSpPr>
            <p:spPr>
              <a:xfrm>
                <a:off x="4626360" y="4956120"/>
                <a:ext cx="1110960" cy="0"/>
              </a:xfrm>
              <a:prstGeom prst="line">
                <a:avLst/>
              </a:prstGeom>
              <a:ln w="2844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177" name=""/>
            <p:cNvSpPr/>
            <p:nvPr/>
          </p:nvSpPr>
          <p:spPr>
            <a:xfrm rot="16200000">
              <a:off x="4271760" y="4347000"/>
              <a:ext cx="440640" cy="24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Cost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8" name=""/>
            <p:cNvSpPr/>
            <p:nvPr/>
          </p:nvSpPr>
          <p:spPr>
            <a:xfrm>
              <a:off x="4613400" y="4992840"/>
              <a:ext cx="904680" cy="24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Performance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179" name=""/>
            <p:cNvGrpSpPr/>
            <p:nvPr/>
          </p:nvGrpSpPr>
          <p:grpSpPr>
            <a:xfrm>
              <a:off x="4780080" y="4102200"/>
              <a:ext cx="669960" cy="647640"/>
              <a:chOff x="4780080" y="4102200"/>
              <a:chExt cx="669960" cy="647640"/>
            </a:xfrm>
          </p:grpSpPr>
          <p:sp>
            <p:nvSpPr>
              <p:cNvPr id="180" name=""/>
              <p:cNvSpPr/>
              <p:nvPr/>
            </p:nvSpPr>
            <p:spPr>
              <a:xfrm flipV="1">
                <a:off x="4780080" y="4741200"/>
                <a:ext cx="66600" cy="8640"/>
              </a:xfrm>
              <a:prstGeom prst="line">
                <a:avLst/>
              </a:prstGeom>
              <a:ln w="38160">
                <a:solidFill>
                  <a:srgbClr val="0000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8160" bIns="-381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1" name=""/>
              <p:cNvSpPr/>
              <p:nvPr/>
            </p:nvSpPr>
            <p:spPr>
              <a:xfrm flipV="1">
                <a:off x="4846680" y="4732200"/>
                <a:ext cx="66600" cy="8640"/>
              </a:xfrm>
              <a:prstGeom prst="line">
                <a:avLst/>
              </a:prstGeom>
              <a:ln w="38160">
                <a:solidFill>
                  <a:srgbClr val="0000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8160" bIns="-381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2" name=""/>
              <p:cNvSpPr/>
              <p:nvPr/>
            </p:nvSpPr>
            <p:spPr>
              <a:xfrm flipV="1">
                <a:off x="4913640" y="4727520"/>
                <a:ext cx="66960" cy="3960"/>
              </a:xfrm>
              <a:prstGeom prst="line">
                <a:avLst/>
              </a:prstGeom>
              <a:ln w="38160">
                <a:solidFill>
                  <a:srgbClr val="0000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2840" bIns="-4284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3" name=""/>
              <p:cNvSpPr/>
              <p:nvPr/>
            </p:nvSpPr>
            <p:spPr>
              <a:xfrm>
                <a:off x="4980600" y="4719240"/>
                <a:ext cx="66600" cy="8640"/>
              </a:xfrm>
              <a:custGeom>
                <a:avLst/>
                <a:gdLst/>
                <a:ahLst/>
                <a:rect l="l" t="t" r="r" b="b"/>
                <a:pathLst>
                  <a:path w="226" h="17">
                    <a:moveTo>
                      <a:pt x="0" y="17"/>
                    </a:moveTo>
                    <a:lnTo>
                      <a:pt x="54" y="17"/>
                    </a:lnTo>
                    <a:lnTo>
                      <a:pt x="113" y="17"/>
                    </a:lnTo>
                    <a:lnTo>
                      <a:pt x="167" y="17"/>
                    </a:lnTo>
                    <a:lnTo>
                      <a:pt x="226" y="0"/>
                    </a:lnTo>
                  </a:path>
                </a:pathLst>
              </a:custGeom>
              <a:noFill/>
              <a:ln w="38160">
                <a:solidFill>
                  <a:srgbClr val="00009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8160" bIns="-381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4" name=""/>
              <p:cNvSpPr/>
              <p:nvPr/>
            </p:nvSpPr>
            <p:spPr>
              <a:xfrm>
                <a:off x="5047560" y="4640400"/>
                <a:ext cx="68040" cy="78480"/>
              </a:xfrm>
              <a:custGeom>
                <a:avLst/>
                <a:gdLst/>
                <a:ahLst/>
                <a:rect l="l" t="t" r="r" b="b"/>
                <a:pathLst>
                  <a:path w="231" h="152">
                    <a:moveTo>
                      <a:pt x="0" y="152"/>
                    </a:moveTo>
                    <a:lnTo>
                      <a:pt x="59" y="127"/>
                    </a:lnTo>
                    <a:lnTo>
                      <a:pt x="113" y="85"/>
                    </a:lnTo>
                    <a:lnTo>
                      <a:pt x="231" y="0"/>
                    </a:lnTo>
                  </a:path>
                </a:pathLst>
              </a:custGeom>
              <a:noFill/>
              <a:ln w="38160">
                <a:solidFill>
                  <a:srgbClr val="00009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1680" bIns="3168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5" name=""/>
              <p:cNvSpPr/>
              <p:nvPr/>
            </p:nvSpPr>
            <p:spPr>
              <a:xfrm>
                <a:off x="5115600" y="4530960"/>
                <a:ext cx="66600" cy="109080"/>
              </a:xfrm>
              <a:custGeom>
                <a:avLst/>
                <a:gdLst/>
                <a:ahLst/>
                <a:rect l="l" t="t" r="r" b="b"/>
                <a:pathLst>
                  <a:path w="226" h="211">
                    <a:moveTo>
                      <a:pt x="0" y="211"/>
                    </a:moveTo>
                    <a:lnTo>
                      <a:pt x="113" y="110"/>
                    </a:lnTo>
                    <a:lnTo>
                      <a:pt x="226" y="0"/>
                    </a:lnTo>
                  </a:path>
                </a:pathLst>
              </a:custGeom>
              <a:noFill/>
              <a:ln w="38160">
                <a:solidFill>
                  <a:srgbClr val="00009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6" name=""/>
              <p:cNvSpPr/>
              <p:nvPr/>
            </p:nvSpPr>
            <p:spPr>
              <a:xfrm>
                <a:off x="5182560" y="4386960"/>
                <a:ext cx="66600" cy="144000"/>
              </a:xfrm>
              <a:custGeom>
                <a:avLst/>
                <a:gdLst/>
                <a:ahLst/>
                <a:rect l="l" t="t" r="r" b="b"/>
                <a:pathLst>
                  <a:path w="226" h="278">
                    <a:moveTo>
                      <a:pt x="0" y="278"/>
                    </a:moveTo>
                    <a:lnTo>
                      <a:pt x="113" y="152"/>
                    </a:lnTo>
                    <a:lnTo>
                      <a:pt x="226" y="0"/>
                    </a:lnTo>
                  </a:path>
                </a:pathLst>
              </a:custGeom>
              <a:noFill/>
              <a:ln w="38160">
                <a:solidFill>
                  <a:srgbClr val="00009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7" name=""/>
              <p:cNvSpPr/>
              <p:nvPr/>
            </p:nvSpPr>
            <p:spPr>
              <a:xfrm>
                <a:off x="5249520" y="4207320"/>
                <a:ext cx="66960" cy="179280"/>
              </a:xfrm>
              <a:custGeom>
                <a:avLst/>
                <a:gdLst/>
                <a:ahLst/>
                <a:rect l="l" t="t" r="r" b="b"/>
                <a:pathLst>
                  <a:path w="227" h="346">
                    <a:moveTo>
                      <a:pt x="0" y="346"/>
                    </a:moveTo>
                    <a:lnTo>
                      <a:pt x="55" y="261"/>
                    </a:lnTo>
                    <a:lnTo>
                      <a:pt x="114" y="160"/>
                    </a:lnTo>
                    <a:lnTo>
                      <a:pt x="173" y="75"/>
                    </a:lnTo>
                    <a:lnTo>
                      <a:pt x="197" y="33"/>
                    </a:lnTo>
                    <a:lnTo>
                      <a:pt x="227" y="0"/>
                    </a:lnTo>
                  </a:path>
                </a:pathLst>
              </a:custGeom>
              <a:noFill/>
              <a:ln w="38160">
                <a:solidFill>
                  <a:srgbClr val="00009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8" name=""/>
              <p:cNvSpPr/>
              <p:nvPr/>
            </p:nvSpPr>
            <p:spPr>
              <a:xfrm>
                <a:off x="5316480" y="4136760"/>
                <a:ext cx="66600" cy="70560"/>
              </a:xfrm>
              <a:custGeom>
                <a:avLst/>
                <a:gdLst/>
                <a:ahLst/>
                <a:rect l="l" t="t" r="r" b="b"/>
                <a:pathLst>
                  <a:path w="226" h="136">
                    <a:moveTo>
                      <a:pt x="0" y="136"/>
                    </a:moveTo>
                    <a:lnTo>
                      <a:pt x="54" y="85"/>
                    </a:lnTo>
                    <a:lnTo>
                      <a:pt x="113" y="51"/>
                    </a:lnTo>
                    <a:lnTo>
                      <a:pt x="172" y="26"/>
                    </a:lnTo>
                    <a:lnTo>
                      <a:pt x="226" y="0"/>
                    </a:lnTo>
                  </a:path>
                </a:pathLst>
              </a:custGeom>
              <a:noFill/>
              <a:ln w="38160">
                <a:solidFill>
                  <a:srgbClr val="00009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3760" bIns="2376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9" name=""/>
              <p:cNvSpPr/>
              <p:nvPr/>
            </p:nvSpPr>
            <p:spPr>
              <a:xfrm>
                <a:off x="5383440" y="4102200"/>
                <a:ext cx="66600" cy="34560"/>
              </a:xfrm>
              <a:custGeom>
                <a:avLst/>
                <a:gdLst/>
                <a:ahLst/>
                <a:rect l="l" t="t" r="r" b="b"/>
                <a:pathLst>
                  <a:path w="226" h="67">
                    <a:moveTo>
                      <a:pt x="0" y="67"/>
                    </a:moveTo>
                    <a:lnTo>
                      <a:pt x="54" y="42"/>
                    </a:lnTo>
                    <a:lnTo>
                      <a:pt x="113" y="34"/>
                    </a:lnTo>
                    <a:lnTo>
                      <a:pt x="226" y="0"/>
                    </a:lnTo>
                  </a:path>
                </a:pathLst>
              </a:custGeom>
              <a:noFill/>
              <a:ln w="38160">
                <a:solidFill>
                  <a:srgbClr val="00009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grpSp>
        <p:nvGrpSpPr>
          <p:cNvPr id="190" name=""/>
          <p:cNvGrpSpPr/>
          <p:nvPr/>
        </p:nvGrpSpPr>
        <p:grpSpPr>
          <a:xfrm>
            <a:off x="2298600" y="3956040"/>
            <a:ext cx="1368360" cy="1270440"/>
            <a:chOff x="2298600" y="3956040"/>
            <a:chExt cx="1368360" cy="1270440"/>
          </a:xfrm>
        </p:grpSpPr>
        <p:grpSp>
          <p:nvGrpSpPr>
            <p:cNvPr id="191" name=""/>
            <p:cNvGrpSpPr/>
            <p:nvPr/>
          </p:nvGrpSpPr>
          <p:grpSpPr>
            <a:xfrm>
              <a:off x="2298600" y="3956040"/>
              <a:ext cx="1368360" cy="1270440"/>
              <a:chOff x="2298600" y="3956040"/>
              <a:chExt cx="1368360" cy="1270440"/>
            </a:xfrm>
          </p:grpSpPr>
          <p:grpSp>
            <p:nvGrpSpPr>
              <p:cNvPr id="192" name=""/>
              <p:cNvGrpSpPr/>
              <p:nvPr/>
            </p:nvGrpSpPr>
            <p:grpSpPr>
              <a:xfrm>
                <a:off x="2555640" y="3956040"/>
                <a:ext cx="1111320" cy="1015920"/>
                <a:chOff x="2555640" y="3956040"/>
                <a:chExt cx="1111320" cy="1015920"/>
              </a:xfrm>
            </p:grpSpPr>
            <p:sp>
              <p:nvSpPr>
                <p:cNvPr id="193" name=""/>
                <p:cNvSpPr/>
                <p:nvPr/>
              </p:nvSpPr>
              <p:spPr>
                <a:xfrm>
                  <a:off x="2555640" y="3956040"/>
                  <a:ext cx="0" cy="101592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  <a:headEnd len="med" type="triangle" w="med"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94" name=""/>
                <p:cNvSpPr/>
                <p:nvPr/>
              </p:nvSpPr>
              <p:spPr>
                <a:xfrm>
                  <a:off x="2555640" y="4968720"/>
                  <a:ext cx="1111320" cy="0"/>
                </a:xfrm>
                <a:prstGeom prst="line">
                  <a:avLst/>
                </a:prstGeom>
                <a:ln w="28440">
                  <a:solidFill>
                    <a:srgbClr val="000000"/>
                  </a:solidFill>
                  <a:miter/>
                  <a:tailEnd len="med" type="triangle" w="med"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6800" bIns="-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sp>
            <p:nvSpPr>
              <p:cNvPr id="195" name=""/>
              <p:cNvSpPr/>
              <p:nvPr/>
            </p:nvSpPr>
            <p:spPr>
              <a:xfrm rot="16200000">
                <a:off x="2201400" y="4356000"/>
                <a:ext cx="440640" cy="24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Cost</a:t>
                </a:r>
                <a:endParaRPr b="0" lang="en-IN" sz="1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6" name=""/>
              <p:cNvSpPr/>
              <p:nvPr/>
            </p:nvSpPr>
            <p:spPr>
              <a:xfrm>
                <a:off x="2592360" y="4979880"/>
                <a:ext cx="904680" cy="24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Performance</a:t>
                </a:r>
                <a:endParaRPr b="0" lang="en-IN" sz="1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97" name=""/>
            <p:cNvGrpSpPr/>
            <p:nvPr/>
          </p:nvGrpSpPr>
          <p:grpSpPr>
            <a:xfrm>
              <a:off x="2663640" y="4311360"/>
              <a:ext cx="911160" cy="315000"/>
              <a:chOff x="2663640" y="4311360"/>
              <a:chExt cx="911160" cy="315000"/>
            </a:xfrm>
          </p:grpSpPr>
          <p:sp>
            <p:nvSpPr>
              <p:cNvPr id="198" name=""/>
              <p:cNvSpPr/>
              <p:nvPr/>
            </p:nvSpPr>
            <p:spPr>
              <a:xfrm flipV="1">
                <a:off x="2663640" y="4614480"/>
                <a:ext cx="114840" cy="11880"/>
              </a:xfrm>
              <a:prstGeom prst="line">
                <a:avLst/>
              </a:prstGeom>
              <a:ln w="38160">
                <a:solidFill>
                  <a:srgbClr val="66006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4920" bIns="-3492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9" name=""/>
              <p:cNvSpPr/>
              <p:nvPr/>
            </p:nvSpPr>
            <p:spPr>
              <a:xfrm flipV="1">
                <a:off x="2778480" y="4604760"/>
                <a:ext cx="110880" cy="9720"/>
              </a:xfrm>
              <a:prstGeom prst="line">
                <a:avLst/>
              </a:prstGeom>
              <a:ln w="38160">
                <a:solidFill>
                  <a:srgbClr val="66006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7080" bIns="-3708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0" name=""/>
              <p:cNvSpPr/>
              <p:nvPr/>
            </p:nvSpPr>
            <p:spPr>
              <a:xfrm flipV="1">
                <a:off x="2889360" y="4575600"/>
                <a:ext cx="114840" cy="29160"/>
              </a:xfrm>
              <a:prstGeom prst="line">
                <a:avLst/>
              </a:prstGeom>
              <a:ln w="38160">
                <a:solidFill>
                  <a:srgbClr val="66006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7640" bIns="-1764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1" name=""/>
              <p:cNvSpPr/>
              <p:nvPr/>
            </p:nvSpPr>
            <p:spPr>
              <a:xfrm flipV="1">
                <a:off x="3004200" y="4482720"/>
                <a:ext cx="114480" cy="92880"/>
              </a:xfrm>
              <a:prstGeom prst="line">
                <a:avLst/>
              </a:prstGeom>
              <a:ln w="38160">
                <a:solidFill>
                  <a:srgbClr val="66006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080" bIns="4608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2" name=""/>
              <p:cNvSpPr/>
              <p:nvPr/>
            </p:nvSpPr>
            <p:spPr>
              <a:xfrm flipV="1">
                <a:off x="3119040" y="4465080"/>
                <a:ext cx="114840" cy="16920"/>
              </a:xfrm>
              <a:prstGeom prst="line">
                <a:avLst/>
              </a:prstGeom>
              <a:ln w="38160">
                <a:solidFill>
                  <a:srgbClr val="66006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9880" bIns="-2988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3" name=""/>
              <p:cNvSpPr/>
              <p:nvPr/>
            </p:nvSpPr>
            <p:spPr>
              <a:xfrm flipV="1">
                <a:off x="3233880" y="4448160"/>
                <a:ext cx="114840" cy="16920"/>
              </a:xfrm>
              <a:prstGeom prst="line">
                <a:avLst/>
              </a:prstGeom>
              <a:ln w="38160">
                <a:solidFill>
                  <a:srgbClr val="66006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9880" bIns="-2988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4" name=""/>
              <p:cNvSpPr/>
              <p:nvPr/>
            </p:nvSpPr>
            <p:spPr>
              <a:xfrm flipV="1">
                <a:off x="3348720" y="4397040"/>
                <a:ext cx="110880" cy="51120"/>
              </a:xfrm>
              <a:prstGeom prst="line">
                <a:avLst/>
              </a:prstGeom>
              <a:ln w="38160">
                <a:solidFill>
                  <a:srgbClr val="66006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320" bIns="432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5" name=""/>
              <p:cNvSpPr/>
              <p:nvPr/>
            </p:nvSpPr>
            <p:spPr>
              <a:xfrm flipV="1">
                <a:off x="3459960" y="4311360"/>
                <a:ext cx="114840" cy="85680"/>
              </a:xfrm>
              <a:prstGeom prst="line">
                <a:avLst/>
              </a:prstGeom>
              <a:ln w="38160">
                <a:solidFill>
                  <a:srgbClr val="66006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t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sp>
        <p:nvSpPr>
          <p:cNvPr id="206" name=""/>
          <p:cNvSpPr/>
          <p:nvPr/>
        </p:nvSpPr>
        <p:spPr>
          <a:xfrm>
            <a:off x="1695600" y="2003400"/>
            <a:ext cx="264456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Potential solutions to fulfill mission needs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4762440" y="5407200"/>
            <a:ext cx="308304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Comprehensive assessment with Cost Benefit Analysis as cornerstone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6438960" y="2101680"/>
            <a:ext cx="2705040" cy="29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171360" indent="-171360"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End-to-End Systems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71360" indent="-171360">
              <a:lnSpc>
                <a:spcPct val="10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Space &amp; Launch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71360" indent="-171360">
              <a:lnSpc>
                <a:spcPct val="10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Command &amp; Control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71360" indent="-171360">
              <a:lnSpc>
                <a:spcPct val="10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Product Generation &amp; Distribution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71360" indent="-171360">
              <a:lnSpc>
                <a:spcPct val="10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Archive &amp; Access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71360" indent="-171360">
              <a:lnSpc>
                <a:spcPct val="10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User Interface &amp; Assimilation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5994360" y="2147760"/>
            <a:ext cx="409680" cy="2514600"/>
          </a:xfrm>
          <a:custGeom>
            <a:avLst/>
            <a:gdLst>
              <a:gd name="textAreaLeft" fmla="*/ 261720 w 409680"/>
              <a:gd name="textAreaRight" fmla="*/ 410040 w 409680"/>
              <a:gd name="textAreaTop" fmla="*/ 65520 h 2514600"/>
              <a:gd name="textAreaBottom" fmla="*/ 2449080 h 25146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CB63BAE-E045-42E3-B89D-E87B8B210F5E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02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Cost and Benefit Analysis Strategy/Methodology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247680" y="1294920"/>
            <a:ext cx="8553600" cy="529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Focus analysis on determining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Linkages from improved GOES-R sensors to economic benefits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Avoidable economic losses due to improved </a:t>
            </a:r>
            <a:r>
              <a:rPr b="1" i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advanced warnings</a:t>
            </a: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of events and improved forecast </a:t>
            </a:r>
            <a:r>
              <a:rPr b="1" i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accuracy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Characterize information flow from sensors to "end-users”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Determine impacts of the instrument improvements on our products - current emphasis on ABI/HES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Identify key benefit domains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Hold user forums to elicit insight into improved product benefits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A460C03-7162-4E04-BB74-15F247F1FFC7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85800" y="151920"/>
            <a:ext cx="7650000" cy="94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Benefit Areas Investigated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304560" y="1314360"/>
            <a:ext cx="8839080" cy="502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Agriculture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Reduction of temperature error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Reduce unnecessary and expensive frost/freeze mitigation activities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Improved soil moisture measurement accuracy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Reduce over-irrigation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Aviation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Improve convective weather forecasts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Improve route planning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Reduce delays/deviations/cancellations; reduce fuel consumption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Volcanic Ash Avoidance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Reduce $M in damage and potential loss of lives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0">
              <a:spcBef>
                <a:spcPts val="451"/>
              </a:spcBef>
              <a:buNone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DEBF852-607B-4338-93F5-382C86819A13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533520" y="304560"/>
            <a:ext cx="8254800" cy="49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Benefit Areas Investigated 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304920" y="1371240"/>
            <a:ext cx="8686800" cy="47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Recreational Boating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Improve hurricane lead time: Reduce boat loss and damage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Trucking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Improve severe weather lead time / location: Reduce # of accidents/deaths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Utilities (Electric, Natural Gas)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Improve temperature accuracy: Improve load forecasting and reduce expensive spot purchases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534960" y="6172200"/>
            <a:ext cx="637920" cy="55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lvl="1" marL="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1DFF528-B1F9-4FDD-9443-2885E3B63FE8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533520" y="171000"/>
            <a:ext cx="8254800" cy="85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Ongoing Benefit Areas Analysis</a:t>
            </a:r>
            <a:br>
              <a:rPr sz="2800"/>
            </a:b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Not Yet Included in Report</a:t>
            </a:r>
            <a:endParaRPr b="1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457200" y="1504800"/>
            <a:ext cx="8686800" cy="47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Commercial Shipping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Improve tropical cyclone track and intensity forecasts; Improve ship routing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Emergency Management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Increase lead time on severe weather forecasts and hazardous environmental matter; Improve planning and deployment *</a:t>
            </a: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534960" y="6172200"/>
            <a:ext cx="637920" cy="55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lvl="1" marL="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423BFA9-B573-4A39-B93A-18FAD5892792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399600" y="228240"/>
            <a:ext cx="8255160" cy="80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Economic Benefits* Summary </a:t>
            </a:r>
            <a:br>
              <a:rPr sz="3200"/>
            </a:br>
            <a:r>
              <a:rPr b="1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 GOES-R Series (2013-2027)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628560" y="5557680"/>
            <a:ext cx="7502760" cy="703800"/>
          </a:xfrm>
          <a:prstGeom prst="rect">
            <a:avLst/>
          </a:prstGeom>
          <a:noFill/>
          <a:ln w="38160">
            <a:solidFill>
              <a:srgbClr val="33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114480" indent="-11448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*These benefits are </a:t>
            </a:r>
            <a:r>
              <a:rPr b="1" i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over and above</a:t>
            </a: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those achieved by the current GOES baseline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22" name=""/>
          <p:cNvGraphicFramePr/>
          <p:nvPr/>
        </p:nvGraphicFramePr>
        <p:xfrm>
          <a:off x="246240" y="1395360"/>
          <a:ext cx="8632800" cy="359100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223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46240" y="1395360"/>
                    <a:ext cx="8632800" cy="35910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DCA9FA6-7AC0-4D62-B04E-4AE2017DEECD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8580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GOES-R System Selection Timeline</a:t>
            </a:r>
            <a:endParaRPr b="1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 rot="16200000">
            <a:off x="-1441080" y="5073120"/>
            <a:ext cx="32259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 algn="ctr">
              <a:lnSpc>
                <a:spcPct val="9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Cost &amp; Performance Spectrum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457200" y="1085760"/>
            <a:ext cx="1706400" cy="689040"/>
          </a:xfrm>
          <a:prstGeom prst="rect">
            <a:avLst/>
          </a:prstGeom>
          <a:solidFill>
            <a:srgbClr val="cc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85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Variety of Instrument Combinations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457200" y="1936800"/>
            <a:ext cx="1720800" cy="573120"/>
          </a:xfrm>
          <a:prstGeom prst="rect">
            <a:avLst/>
          </a:prstGeom>
          <a:solidFill>
            <a:srgbClr val="cc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Basic Space Architectures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457200" y="2697120"/>
            <a:ext cx="1735200" cy="674640"/>
          </a:xfrm>
          <a:prstGeom prst="rect">
            <a:avLst/>
          </a:prstGeom>
          <a:solidFill>
            <a:srgbClr val="cc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85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Variety of Ground Architectures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0" y="3541680"/>
            <a:ext cx="9144000" cy="0"/>
          </a:xfrm>
          <a:prstGeom prst="line">
            <a:avLst/>
          </a:prstGeom>
          <a:ln w="7632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2540160" y="3432240"/>
            <a:ext cx="0" cy="218880"/>
          </a:xfrm>
          <a:prstGeom prst="line">
            <a:avLst/>
          </a:prstGeom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2000160" y="3660840"/>
            <a:ext cx="11080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 algn="ctr">
              <a:lnSpc>
                <a:spcPct val="7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Apr 03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285840" y="3924360"/>
            <a:ext cx="285840" cy="2933640"/>
          </a:xfrm>
          <a:custGeom>
            <a:avLst/>
            <a:gdLst>
              <a:gd name="textAreaLeft" fmla="*/ 182520 w 285840"/>
              <a:gd name="textAreaRight" fmla="*/ 286200 w 285840"/>
              <a:gd name="textAreaTop" fmla="*/ 76320 h 2933640"/>
              <a:gd name="textAreaBottom" fmla="*/ 2857320 h 293364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552600" y="6240600"/>
            <a:ext cx="1672920" cy="417240"/>
          </a:xfrm>
          <a:prstGeom prst="rect">
            <a:avLst/>
          </a:prstGeom>
          <a:solidFill>
            <a:srgbClr val="33cc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552600" y="4121280"/>
            <a:ext cx="1616040" cy="865080"/>
          </a:xfrm>
          <a:prstGeom prst="rect">
            <a:avLst/>
          </a:prstGeom>
          <a:solidFill>
            <a:srgbClr val="ccffcc"/>
          </a:solidFill>
          <a:ln w="9360">
            <a:solidFill>
              <a:srgbClr val="ccff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514440" y="4308480"/>
            <a:ext cx="1681200" cy="4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85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Architecture A 2 GEOs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428760" y="6199200"/>
            <a:ext cx="1909800" cy="4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85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Architecture C MEOs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552600" y="5207040"/>
            <a:ext cx="1635120" cy="865080"/>
          </a:xfrm>
          <a:prstGeom prst="rect">
            <a:avLst/>
          </a:prstGeom>
          <a:solidFill>
            <a:srgbClr val="3366ff"/>
          </a:solidFill>
          <a:ln w="9360">
            <a:solidFill>
              <a:srgbClr val="3366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38" name=""/>
          <p:cNvGrpSpPr/>
          <p:nvPr/>
        </p:nvGrpSpPr>
        <p:grpSpPr>
          <a:xfrm>
            <a:off x="2160720" y="1109520"/>
            <a:ext cx="2643120" cy="4959000"/>
            <a:chOff x="2160720" y="1109520"/>
            <a:chExt cx="2643120" cy="4959000"/>
          </a:xfrm>
        </p:grpSpPr>
        <p:sp>
          <p:nvSpPr>
            <p:cNvPr id="239" name=""/>
            <p:cNvSpPr/>
            <p:nvPr/>
          </p:nvSpPr>
          <p:spPr>
            <a:xfrm>
              <a:off x="2898720" y="1109520"/>
              <a:ext cx="1793880" cy="675000"/>
            </a:xfrm>
            <a:prstGeom prst="rect">
              <a:avLst/>
            </a:pr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85000"/>
                </a:lnSpc>
                <a:spcBef>
                  <a:spcPts val="4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Reduced Scope of Instrument Combinations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2898720" y="1859040"/>
              <a:ext cx="1808280" cy="339480"/>
            </a:xfrm>
            <a:prstGeom prst="rect">
              <a:avLst/>
            </a:pr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100000"/>
                </a:lnSpc>
                <a:spcBef>
                  <a:spcPts val="4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Architecture A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2898720" y="2720880"/>
              <a:ext cx="1806480" cy="660600"/>
            </a:xfrm>
            <a:prstGeom prst="rect">
              <a:avLst/>
            </a:pr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85000"/>
                </a:lnSpc>
                <a:spcBef>
                  <a:spcPts val="4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Reduced Scope of Ground Architectures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2" name=""/>
            <p:cNvSpPr/>
            <p:nvPr/>
          </p:nvSpPr>
          <p:spPr>
            <a:xfrm>
              <a:off x="2892600" y="2271600"/>
              <a:ext cx="1807920" cy="338400"/>
            </a:xfrm>
            <a:prstGeom prst="rect">
              <a:avLst/>
            </a:pr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100000"/>
                </a:lnSpc>
                <a:spcBef>
                  <a:spcPts val="4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Architecture B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3" name=""/>
            <p:cNvSpPr/>
            <p:nvPr/>
          </p:nvSpPr>
          <p:spPr>
            <a:xfrm rot="16200000">
              <a:off x="2089080" y="4190400"/>
              <a:ext cx="863640" cy="720720"/>
            </a:xfrm>
            <a:custGeom>
              <a:avLst/>
              <a:gdLst>
                <a:gd name="textAreaLeft" fmla="*/ 189720 w 863640"/>
                <a:gd name="textAreaRight" fmla="*/ 673920 w 863640"/>
                <a:gd name="textAreaTop" fmla="*/ 158400 h 720720"/>
                <a:gd name="textAreaBottom" fmla="*/ 562320 h 720720"/>
                <a:gd name="GluePoint1X" fmla="*/ 6 w 21600"/>
                <a:gd name="GluePoint1Y" fmla="*/ 10800 h 21600"/>
                <a:gd name="GluePoint2X" fmla="*/ 10800 w 21600"/>
                <a:gd name="GluePoint2Y" fmla="*/ 21600 h 21600"/>
                <a:gd name="GluePoint3X" fmla="*/ 5 w 21600"/>
                <a:gd name="GluePoint3Y" fmla="*/ 10800 h 21600"/>
                <a:gd name="GluePoint4X" fmla="*/ 1080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ccffcc"/>
            </a:solidFill>
            <a:ln w="9360">
              <a:solidFill>
                <a:srgbClr val="ccff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2876400" y="4336920"/>
              <a:ext cx="1870200" cy="433440"/>
            </a:xfrm>
            <a:prstGeom prst="rect">
              <a:avLst/>
            </a:prstGeom>
            <a:solidFill>
              <a:srgbClr val="ccffcc"/>
            </a:solidFill>
            <a:ln w="9360">
              <a:solidFill>
                <a:srgbClr val="ccff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5" name=""/>
            <p:cNvSpPr/>
            <p:nvPr/>
          </p:nvSpPr>
          <p:spPr>
            <a:xfrm rot="16200000">
              <a:off x="2089080" y="5276160"/>
              <a:ext cx="863640" cy="720720"/>
            </a:xfrm>
            <a:custGeom>
              <a:avLst/>
              <a:gdLst>
                <a:gd name="textAreaLeft" fmla="*/ 189720 w 863640"/>
                <a:gd name="textAreaRight" fmla="*/ 673920 w 863640"/>
                <a:gd name="textAreaTop" fmla="*/ 158400 h 720720"/>
                <a:gd name="textAreaBottom" fmla="*/ 562320 h 720720"/>
                <a:gd name="GluePoint1X" fmla="*/ 6 w 21600"/>
                <a:gd name="GluePoint1Y" fmla="*/ 10800 h 21600"/>
                <a:gd name="GluePoint2X" fmla="*/ 10800 w 21600"/>
                <a:gd name="GluePoint2Y" fmla="*/ 21600 h 21600"/>
                <a:gd name="GluePoint3X" fmla="*/ 5 w 21600"/>
                <a:gd name="GluePoint3Y" fmla="*/ 10800 h 21600"/>
                <a:gd name="GluePoint4X" fmla="*/ 1080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3366ff"/>
            </a:solidFill>
            <a:ln w="9360">
              <a:solidFill>
                <a:srgbClr val="3366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6" name=""/>
            <p:cNvSpPr/>
            <p:nvPr/>
          </p:nvSpPr>
          <p:spPr>
            <a:xfrm>
              <a:off x="2881440" y="5423040"/>
              <a:ext cx="1922400" cy="433080"/>
            </a:xfrm>
            <a:prstGeom prst="rect">
              <a:avLst/>
            </a:prstGeom>
            <a:solidFill>
              <a:srgbClr val="3366ff"/>
            </a:solidFill>
            <a:ln w="9360">
              <a:solidFill>
                <a:srgbClr val="3366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47" name=""/>
          <p:cNvGrpSpPr/>
          <p:nvPr/>
        </p:nvGrpSpPr>
        <p:grpSpPr>
          <a:xfrm>
            <a:off x="4761000" y="1279440"/>
            <a:ext cx="2932200" cy="4573800"/>
            <a:chOff x="4761000" y="1279440"/>
            <a:chExt cx="2932200" cy="4573800"/>
          </a:xfrm>
        </p:grpSpPr>
        <p:sp>
          <p:nvSpPr>
            <p:cNvPr id="248" name=""/>
            <p:cNvSpPr/>
            <p:nvPr/>
          </p:nvSpPr>
          <p:spPr>
            <a:xfrm>
              <a:off x="5619600" y="1279440"/>
              <a:ext cx="1909800" cy="468360"/>
            </a:xfrm>
            <a:prstGeom prst="rect">
              <a:avLst/>
            </a:prstGeom>
            <a:solidFill>
              <a:srgbClr val="cc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85000"/>
                </a:lnSpc>
                <a:spcBef>
                  <a:spcPts val="4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Selected Instrument Suite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9" name=""/>
            <p:cNvSpPr/>
            <p:nvPr/>
          </p:nvSpPr>
          <p:spPr>
            <a:xfrm rot="16200000">
              <a:off x="4916520" y="4179240"/>
              <a:ext cx="431640" cy="743040"/>
            </a:xfrm>
            <a:custGeom>
              <a:avLst/>
              <a:gdLst>
                <a:gd name="textAreaLeft" fmla="*/ 94680 w 431640"/>
                <a:gd name="textAreaRight" fmla="*/ 336960 w 431640"/>
                <a:gd name="textAreaTop" fmla="*/ 163440 h 743040"/>
                <a:gd name="textAreaBottom" fmla="*/ 579600 h 743040"/>
                <a:gd name="GluePoint1X" fmla="*/ 6 w 21600"/>
                <a:gd name="GluePoint1Y" fmla="*/ 10800 h 21600"/>
                <a:gd name="GluePoint2X" fmla="*/ 10800 w 21600"/>
                <a:gd name="GluePoint2Y" fmla="*/ 21600 h 21600"/>
                <a:gd name="GluePoint3X" fmla="*/ 5 w 21600"/>
                <a:gd name="GluePoint3Y" fmla="*/ 10800 h 21600"/>
                <a:gd name="GluePoint4X" fmla="*/ 1080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ccffcc"/>
            </a:solidFill>
            <a:ln w="9360">
              <a:solidFill>
                <a:srgbClr val="ccff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0" name=""/>
            <p:cNvSpPr/>
            <p:nvPr/>
          </p:nvSpPr>
          <p:spPr>
            <a:xfrm>
              <a:off x="5492880" y="4441680"/>
              <a:ext cx="2168280" cy="220680"/>
            </a:xfrm>
            <a:prstGeom prst="rect">
              <a:avLst/>
            </a:prstGeom>
            <a:solidFill>
              <a:srgbClr val="ccffcc"/>
            </a:solidFill>
            <a:ln w="9360">
              <a:solidFill>
                <a:srgbClr val="ccff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1" name=""/>
            <p:cNvSpPr/>
            <p:nvPr/>
          </p:nvSpPr>
          <p:spPr>
            <a:xfrm rot="16200000">
              <a:off x="4949640" y="5265720"/>
              <a:ext cx="432000" cy="743040"/>
            </a:xfrm>
            <a:custGeom>
              <a:avLst/>
              <a:gdLst>
                <a:gd name="textAreaLeft" fmla="*/ 95040 w 432000"/>
                <a:gd name="textAreaRight" fmla="*/ 336960 w 432000"/>
                <a:gd name="textAreaTop" fmla="*/ 163440 h 743040"/>
                <a:gd name="textAreaBottom" fmla="*/ 579600 h 743040"/>
                <a:gd name="GluePoint1X" fmla="*/ 6 w 21600"/>
                <a:gd name="GluePoint1Y" fmla="*/ 10800 h 21600"/>
                <a:gd name="GluePoint2X" fmla="*/ 10800 w 21600"/>
                <a:gd name="GluePoint2Y" fmla="*/ 21600 h 21600"/>
                <a:gd name="GluePoint3X" fmla="*/ 5 w 21600"/>
                <a:gd name="GluePoint3Y" fmla="*/ 10800 h 21600"/>
                <a:gd name="GluePoint4X" fmla="*/ 1080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3366ff"/>
            </a:solidFill>
            <a:ln w="9360">
              <a:solidFill>
                <a:srgbClr val="3366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5530680" y="5527800"/>
              <a:ext cx="2162520" cy="220680"/>
            </a:xfrm>
            <a:prstGeom prst="rect">
              <a:avLst/>
            </a:prstGeom>
            <a:solidFill>
              <a:srgbClr val="3366ff"/>
            </a:solidFill>
            <a:ln w="9360">
              <a:solidFill>
                <a:srgbClr val="3366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53" name=""/>
          <p:cNvGrpSpPr/>
          <p:nvPr/>
        </p:nvGrpSpPr>
        <p:grpSpPr>
          <a:xfrm>
            <a:off x="7869240" y="2157480"/>
            <a:ext cx="1198440" cy="3076560"/>
            <a:chOff x="7869240" y="2157480"/>
            <a:chExt cx="1198440" cy="3076560"/>
          </a:xfrm>
        </p:grpSpPr>
        <p:sp>
          <p:nvSpPr>
            <p:cNvPr id="254" name=""/>
            <p:cNvSpPr/>
            <p:nvPr/>
          </p:nvSpPr>
          <p:spPr>
            <a:xfrm>
              <a:off x="7869240" y="2157480"/>
              <a:ext cx="1198440" cy="501480"/>
            </a:xfrm>
            <a:prstGeom prst="rect">
              <a:avLst/>
            </a:prstGeom>
            <a:solidFill>
              <a:srgbClr val="33cccc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85000"/>
                </a:lnSpc>
                <a:spcBef>
                  <a:spcPts val="4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Selected System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7877160" y="4968720"/>
              <a:ext cx="1190520" cy="265320"/>
            </a:xfrm>
            <a:prstGeom prst="rect">
              <a:avLst/>
            </a:prstGeom>
            <a:solidFill>
              <a:srgbClr val="33cccc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56" name=""/>
          <p:cNvSpPr/>
          <p:nvPr/>
        </p:nvSpPr>
        <p:spPr>
          <a:xfrm>
            <a:off x="399960" y="5375160"/>
            <a:ext cx="1909800" cy="4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85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Architecture B Multi-Satellites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5105520" y="3432240"/>
            <a:ext cx="0" cy="218880"/>
          </a:xfrm>
          <a:prstGeom prst="line">
            <a:avLst/>
          </a:prstGeom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7734240" y="3432240"/>
            <a:ext cx="0" cy="218880"/>
          </a:xfrm>
          <a:prstGeom prst="line">
            <a:avLst/>
          </a:prstGeom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4552920" y="3648240"/>
            <a:ext cx="11080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 algn="ctr">
              <a:lnSpc>
                <a:spcPct val="7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 04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7156440" y="3648240"/>
            <a:ext cx="11080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 algn="ctr">
              <a:lnSpc>
                <a:spcPct val="7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Dec 05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273C0E2-1B33-4652-BD17-4CBD7C26AE8B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>
            <a:off x="6286680" y="2019240"/>
            <a:ext cx="2412720" cy="2390760"/>
          </a:xfrm>
          <a:prstGeom prst="ellipse">
            <a:avLst/>
          </a:prstGeom>
          <a:gradFill rotWithShape="0">
            <a:gsLst>
              <a:gs pos="0">
                <a:srgbClr val="752f75"/>
              </a:gs>
              <a:gs pos="50000">
                <a:srgbClr val="ff66ff"/>
              </a:gs>
              <a:gs pos="100000">
                <a:srgbClr val="752f75"/>
              </a:gs>
            </a:gsLst>
            <a:lin ang="108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8580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Goal - Transition from Individual Systems to “System of Systems” Architecture</a:t>
            </a:r>
            <a:endParaRPr b="1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3" name=""/>
          <p:cNvGrpSpPr/>
          <p:nvPr/>
        </p:nvGrpSpPr>
        <p:grpSpPr>
          <a:xfrm>
            <a:off x="247680" y="2260440"/>
            <a:ext cx="1158840" cy="1130400"/>
            <a:chOff x="247680" y="2260440"/>
            <a:chExt cx="1158840" cy="1130400"/>
          </a:xfrm>
        </p:grpSpPr>
        <p:sp>
          <p:nvSpPr>
            <p:cNvPr id="264" name=""/>
            <p:cNvSpPr/>
            <p:nvPr/>
          </p:nvSpPr>
          <p:spPr>
            <a:xfrm>
              <a:off x="250920" y="2260440"/>
              <a:ext cx="1143000" cy="1130400"/>
            </a:xfrm>
            <a:prstGeom prst="ellipse">
              <a:avLst/>
            </a:prstGeom>
            <a:solidFill>
              <a:srgbClr val="00cc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247680" y="2549520"/>
              <a:ext cx="1158840" cy="48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8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Polar Satellites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66" name=""/>
          <p:cNvGrpSpPr/>
          <p:nvPr/>
        </p:nvGrpSpPr>
        <p:grpSpPr>
          <a:xfrm>
            <a:off x="1495440" y="2273400"/>
            <a:ext cx="1158840" cy="1130040"/>
            <a:chOff x="1495440" y="2273400"/>
            <a:chExt cx="1158840" cy="1130040"/>
          </a:xfrm>
        </p:grpSpPr>
        <p:sp>
          <p:nvSpPr>
            <p:cNvPr id="267" name=""/>
            <p:cNvSpPr/>
            <p:nvPr/>
          </p:nvSpPr>
          <p:spPr>
            <a:xfrm>
              <a:off x="1498680" y="2273400"/>
              <a:ext cx="1143000" cy="1130040"/>
            </a:xfrm>
            <a:prstGeom prst="ellipse">
              <a:avLst/>
            </a:prstGeom>
            <a:solidFill>
              <a:srgbClr val="00cc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8" name=""/>
            <p:cNvSpPr/>
            <p:nvPr/>
          </p:nvSpPr>
          <p:spPr>
            <a:xfrm>
              <a:off x="1495440" y="2562120"/>
              <a:ext cx="1158840" cy="48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8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Geo Satellites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69" name=""/>
          <p:cNvGrpSpPr/>
          <p:nvPr/>
        </p:nvGrpSpPr>
        <p:grpSpPr>
          <a:xfrm>
            <a:off x="835200" y="3378240"/>
            <a:ext cx="1158840" cy="1130400"/>
            <a:chOff x="835200" y="3378240"/>
            <a:chExt cx="1158840" cy="1130400"/>
          </a:xfrm>
        </p:grpSpPr>
        <p:sp>
          <p:nvSpPr>
            <p:cNvPr id="270" name=""/>
            <p:cNvSpPr/>
            <p:nvPr/>
          </p:nvSpPr>
          <p:spPr>
            <a:xfrm>
              <a:off x="838440" y="3378240"/>
              <a:ext cx="1143000" cy="1130400"/>
            </a:xfrm>
            <a:prstGeom prst="ellipse">
              <a:avLst/>
            </a:prstGeom>
            <a:solidFill>
              <a:srgbClr val="00cc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1" name=""/>
            <p:cNvSpPr/>
            <p:nvPr/>
          </p:nvSpPr>
          <p:spPr>
            <a:xfrm>
              <a:off x="835200" y="3667320"/>
              <a:ext cx="1158840" cy="67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8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Other Data Sources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72" name=""/>
          <p:cNvSpPr/>
          <p:nvPr/>
        </p:nvSpPr>
        <p:spPr>
          <a:xfrm>
            <a:off x="2997360" y="1663560"/>
            <a:ext cx="0" cy="4025880"/>
          </a:xfrm>
          <a:prstGeom prst="line">
            <a:avLst/>
          </a:prstGeom>
          <a:ln w="7632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5892840" y="1676520"/>
            <a:ext cx="0" cy="4025880"/>
          </a:xfrm>
          <a:prstGeom prst="line">
            <a:avLst/>
          </a:prstGeom>
          <a:ln w="7632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74" name=""/>
          <p:cNvGrpSpPr/>
          <p:nvPr/>
        </p:nvGrpSpPr>
        <p:grpSpPr>
          <a:xfrm>
            <a:off x="923760" y="1558800"/>
            <a:ext cx="7140600" cy="338040"/>
            <a:chOff x="923760" y="1558800"/>
            <a:chExt cx="7140600" cy="338040"/>
          </a:xfrm>
        </p:grpSpPr>
        <p:sp>
          <p:nvSpPr>
            <p:cNvPr id="275" name=""/>
            <p:cNvSpPr/>
            <p:nvPr/>
          </p:nvSpPr>
          <p:spPr>
            <a:xfrm>
              <a:off x="923760" y="1558800"/>
              <a:ext cx="1159200" cy="33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8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Today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6" name=""/>
            <p:cNvSpPr/>
            <p:nvPr/>
          </p:nvSpPr>
          <p:spPr>
            <a:xfrm>
              <a:off x="3870360" y="1558800"/>
              <a:ext cx="1158840" cy="33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8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2012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7" name=""/>
            <p:cNvSpPr/>
            <p:nvPr/>
          </p:nvSpPr>
          <p:spPr>
            <a:xfrm>
              <a:off x="6905520" y="1558800"/>
              <a:ext cx="1158840" cy="33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8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2020+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78" name=""/>
          <p:cNvGrpSpPr/>
          <p:nvPr/>
        </p:nvGrpSpPr>
        <p:grpSpPr>
          <a:xfrm>
            <a:off x="3029040" y="2050920"/>
            <a:ext cx="2733480" cy="4575240"/>
            <a:chOff x="3029040" y="2050920"/>
            <a:chExt cx="2733480" cy="4575240"/>
          </a:xfrm>
        </p:grpSpPr>
        <p:grpSp>
          <p:nvGrpSpPr>
            <p:cNvPr id="279" name=""/>
            <p:cNvGrpSpPr/>
            <p:nvPr/>
          </p:nvGrpSpPr>
          <p:grpSpPr>
            <a:xfrm>
              <a:off x="3029040" y="2050920"/>
              <a:ext cx="2733480" cy="4575240"/>
              <a:chOff x="3029040" y="2050920"/>
              <a:chExt cx="2733480" cy="4575240"/>
            </a:xfrm>
          </p:grpSpPr>
          <p:grpSp>
            <p:nvGrpSpPr>
              <p:cNvPr id="280" name=""/>
              <p:cNvGrpSpPr/>
              <p:nvPr/>
            </p:nvGrpSpPr>
            <p:grpSpPr>
              <a:xfrm>
                <a:off x="3268800" y="2050920"/>
                <a:ext cx="2412000" cy="2410200"/>
                <a:chOff x="3268800" y="2050920"/>
                <a:chExt cx="2412000" cy="2410200"/>
              </a:xfrm>
            </p:grpSpPr>
            <p:sp>
              <p:nvSpPr>
                <p:cNvPr id="281" name=""/>
                <p:cNvSpPr/>
                <p:nvPr/>
              </p:nvSpPr>
              <p:spPr>
                <a:xfrm>
                  <a:off x="3269160" y="2050920"/>
                  <a:ext cx="2411640" cy="2410200"/>
                </a:xfrm>
                <a:custGeom>
                  <a:avLst/>
                  <a:gdLst/>
                  <a:ahLst/>
                  <a:rect l="l" t="t" r="r" b="b"/>
                  <a:pathLst>
                    <a:path stroke="0" w="21600" h="21600">
                      <a:moveTo>
                        <a:pt x="10749" y="0"/>
                      </a:moveTo>
                      <a:arcTo wR="10800" hR="10800" stAng="-5416267" swAng="7222985"/>
                      <a:lnTo>
                        <a:pt x="10800" y="10800"/>
                      </a:lnTo>
                      <a:close/>
                    </a:path>
                    <a:path fill="none" w="21600" h="21600">
                      <a:moveTo>
                        <a:pt x="10749" y="0"/>
                      </a:moveTo>
                      <a:arcTo wR="10800" hR="10800" stAng="-5416267" swAng="7222985"/>
                    </a:path>
                  </a:pathLst>
                </a:custGeom>
                <a:solidFill>
                  <a:srgbClr val="dde5ff"/>
                </a:solidFill>
                <a:ln w="126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82" name=""/>
                <p:cNvSpPr/>
                <p:nvPr/>
              </p:nvSpPr>
              <p:spPr>
                <a:xfrm>
                  <a:off x="3269160" y="2051280"/>
                  <a:ext cx="2410200" cy="2408760"/>
                </a:xfrm>
                <a:custGeom>
                  <a:avLst/>
                  <a:gdLst/>
                  <a:ahLst/>
                  <a:rect l="l" t="t" r="r" b="b"/>
                  <a:pathLst>
                    <a:path stroke="0" w="21600" h="21600">
                      <a:moveTo>
                        <a:pt x="20143" y="16218"/>
                      </a:moveTo>
                      <a:arcTo wR="10800" hR="10800" stAng="1806718" swAng="7202884"/>
                      <a:lnTo>
                        <a:pt x="10800" y="10800"/>
                      </a:lnTo>
                      <a:close/>
                    </a:path>
                    <a:path fill="none" w="21600" h="21600">
                      <a:moveTo>
                        <a:pt x="20143" y="16218"/>
                      </a:moveTo>
                      <a:arcTo wR="10800" hR="10800" stAng="1806718" swAng="7202884"/>
                    </a:path>
                  </a:pathLst>
                </a:custGeom>
                <a:solidFill>
                  <a:srgbClr val="dde5ff"/>
                </a:solidFill>
                <a:ln w="126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83" name=""/>
                <p:cNvSpPr/>
                <p:nvPr/>
              </p:nvSpPr>
              <p:spPr>
                <a:xfrm>
                  <a:off x="3268800" y="2050920"/>
                  <a:ext cx="2411640" cy="2409120"/>
                </a:xfrm>
                <a:custGeom>
                  <a:avLst/>
                  <a:gdLst/>
                  <a:ahLst/>
                  <a:rect l="l" t="t" r="r" b="b"/>
                  <a:pathLst>
                    <a:path stroke="0" w="21600" h="21600">
                      <a:moveTo>
                        <a:pt x="1432" y="16174"/>
                      </a:moveTo>
                      <a:arcTo wR="10800" hR="10800" stAng="9009602" swAng="7174131"/>
                      <a:lnTo>
                        <a:pt x="10800" y="10800"/>
                      </a:lnTo>
                      <a:close/>
                    </a:path>
                    <a:path fill="none" w="21600" h="21600">
                      <a:moveTo>
                        <a:pt x="1432" y="16174"/>
                      </a:moveTo>
                      <a:arcTo wR="10800" hR="10800" stAng="9009602" swAng="7174131"/>
                    </a:path>
                  </a:pathLst>
                </a:custGeom>
                <a:solidFill>
                  <a:srgbClr val="6666ff"/>
                </a:solidFill>
                <a:ln w="381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84" name=""/>
                <p:cNvSpPr/>
                <p:nvPr/>
              </p:nvSpPr>
              <p:spPr>
                <a:xfrm>
                  <a:off x="4465440" y="2050920"/>
                  <a:ext cx="0" cy="1210680"/>
                </a:xfrm>
                <a:prstGeom prst="line">
                  <a:avLst/>
                </a:prstGeom>
                <a:ln w="381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85" name=""/>
                <p:cNvSpPr/>
                <p:nvPr/>
              </p:nvSpPr>
              <p:spPr>
                <a:xfrm>
                  <a:off x="4465440" y="3261600"/>
                  <a:ext cx="1042200" cy="601200"/>
                </a:xfrm>
                <a:prstGeom prst="line">
                  <a:avLst/>
                </a:prstGeom>
                <a:ln w="126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86" name=""/>
                <p:cNvSpPr/>
                <p:nvPr/>
              </p:nvSpPr>
              <p:spPr>
                <a:xfrm flipH="1">
                  <a:off x="3430080" y="3261600"/>
                  <a:ext cx="1035000" cy="586080"/>
                </a:xfrm>
                <a:prstGeom prst="line">
                  <a:avLst/>
                </a:prstGeom>
                <a:ln w="381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sp>
            <p:nvSpPr>
              <p:cNvPr id="287" name=""/>
              <p:cNvSpPr/>
              <p:nvPr/>
            </p:nvSpPr>
            <p:spPr>
              <a:xfrm>
                <a:off x="3029040" y="4699080"/>
                <a:ext cx="2733480" cy="1927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lnSpc>
                    <a:spcPct val="100000"/>
                  </a:lnSpc>
                  <a:spcBef>
                    <a:spcPts val="451"/>
                  </a:spcBef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Formulate integrated system – GOES R with</a:t>
                </a:r>
                <a:endParaRPr b="0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 lvl="1" marL="289080" indent="-174600">
                  <a:lnSpc>
                    <a:spcPct val="100000"/>
                  </a:lnSpc>
                  <a:spcBef>
                    <a:spcPts val="451"/>
                  </a:spcBef>
                  <a:buClr>
                    <a:srgbClr val="000000"/>
                  </a:buClr>
                  <a:buFont typeface="Arial"/>
                  <a:buChar char="•"/>
                  <a:tabLst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Defined NPOESS</a:t>
                </a:r>
                <a:endParaRPr b="0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 lvl="1" marL="289080" indent="-174600">
                  <a:lnSpc>
                    <a:spcPct val="100000"/>
                  </a:lnSpc>
                  <a:spcBef>
                    <a:spcPts val="451"/>
                  </a:spcBef>
                  <a:buClr>
                    <a:srgbClr val="000000"/>
                  </a:buClr>
                  <a:buFont typeface="Arial"/>
                  <a:buChar char="•"/>
                  <a:tabLst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Structured approach to including Other Data Sources</a:t>
                </a:r>
                <a:endParaRPr b="0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288" name=""/>
            <p:cNvSpPr/>
            <p:nvPr/>
          </p:nvSpPr>
          <p:spPr>
            <a:xfrm>
              <a:off x="3311640" y="2752560"/>
              <a:ext cx="1158840" cy="28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8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GOES R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9" name=""/>
            <p:cNvSpPr/>
            <p:nvPr/>
          </p:nvSpPr>
          <p:spPr>
            <a:xfrm>
              <a:off x="4479840" y="2816280"/>
              <a:ext cx="1158840" cy="28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8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NPOESS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0" name=""/>
            <p:cNvSpPr/>
            <p:nvPr/>
          </p:nvSpPr>
          <p:spPr>
            <a:xfrm>
              <a:off x="3921120" y="3692520"/>
              <a:ext cx="1158840" cy="67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8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Other Data Sources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91" name=""/>
          <p:cNvSpPr/>
          <p:nvPr/>
        </p:nvSpPr>
        <p:spPr>
          <a:xfrm>
            <a:off x="6359400" y="2930400"/>
            <a:ext cx="2187720" cy="5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Integrated System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304920" y="4662360"/>
            <a:ext cx="2247840" cy="16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Programs formulated independent of one another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6566040" y="4664160"/>
            <a:ext cx="2247840" cy="16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Programs formulated as one integrated system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372F4A2-78AF-4548-84E3-29C79E680C6C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9467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2001-11-09T12:39:17Z</dcterms:created>
  <dc:creator>Valued Gateway Client</dc:creator>
  <dc:description/>
  <dc:language>en-IN</dc:language>
  <cp:lastModifiedBy>IPO</cp:lastModifiedBy>
  <dcterms:modified xsi:type="dcterms:W3CDTF">2002-10-01T05:46:38Z</dcterms:modified>
  <cp:revision>185</cp:revision>
  <dc:subject/>
  <dc:title>PowerPoint Presentation</dc:title>
</cp:coreProperties>
</file>