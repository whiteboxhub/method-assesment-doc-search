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_rels/notesSlide1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slideLayouts/slideLayout1.xml" ContentType="application/vnd.openxmlformats-officedocument.presentationml.slideLayout+xml"/>
  <Override PartName="/ppt/slideLayouts/_rels/slideLayout1.xml.rels" ContentType="application/vnd.openxmlformats-package.relationships+xml"/>
  <Override PartName="/ppt/slides/slide1.xml" ContentType="application/vnd.openxmlformats-officedocument.presentationml.slide+xml"/>
  <Override PartName="/ppt/slides/_rels/slide1.xml.rels" ContentType="application/vnd.openxmlformats-package.relationships+xml"/>
  <Override PartName="/ppt/presProps.xml" ContentType="application/vnd.openxmlformats-officedocument.presentationml.presProps+xml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"/>
          <p:cNvSpPr/>
          <p:nvPr/>
        </p:nvSpPr>
        <p:spPr>
          <a:xfrm>
            <a:off x="0" y="0"/>
            <a:ext cx="6858000" cy="9144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1"/>
          <p:cNvSpPr>
            <a:spLocks noGrp="1"/>
          </p:cNvSpPr>
          <p:nvPr>
            <p:ph type="hdr"/>
          </p:nvPr>
        </p:nvSpPr>
        <p:spPr>
          <a:xfrm>
            <a:off x="-360" y="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dt" idx="3"/>
          </p:nvPr>
        </p:nvSpPr>
        <p:spPr>
          <a:xfrm>
            <a:off x="3885840" y="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sldImg"/>
          </p:nvPr>
        </p:nvSpPr>
        <p:spPr>
          <a:xfrm>
            <a:off x="1143000" y="685440"/>
            <a:ext cx="4572000" cy="342900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  <a:endParaRPr b="0" i="1" lang="en-IN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ftr" idx="4"/>
          </p:nvPr>
        </p:nvSpPr>
        <p:spPr>
          <a:xfrm>
            <a:off x="-360" y="868680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6"/>
          <p:cNvSpPr>
            <a:spLocks noGrp="1"/>
          </p:cNvSpPr>
          <p:nvPr>
            <p:ph type="sldNum" idx="5"/>
          </p:nvPr>
        </p:nvSpPr>
        <p:spPr>
          <a:xfrm>
            <a:off x="3885840" y="868680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1B86F3D-FB95-4E51-A57B-4C6AC94FEC5A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7"/>
          <p:cNvSpPr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1B90925-C11E-4D51-8821-6CF63FC5FCD8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spcBef>
                <a:spcPts val="451"/>
              </a:spcBef>
              <a:spcAft>
                <a:spcPts val="60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FIGURE 9.2. </a:t>
            </a: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Complex O-GalNAc glycans with different core structures. Representative examples of complex O-GalNAc glycans with extended core 1, 2, or 4 structures from human respiratory mucins and an O-GalNAc glycan with an extended core 3 structure from human colonic mucins. All four core structures (in </a:t>
            </a:r>
            <a:r>
              <a:rPr b="0" i="1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boxes</a:t>
            </a: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) can be extended, branched, and terminated by fucose in various linkages, sialic acid in </a:t>
            </a: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α</a:t>
            </a: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2-3 linkage, or blood group antigenic determinants (Table 9.1). Core structures 1 and 3 may also carry sialic acid </a:t>
            </a: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α</a:t>
            </a: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2-6-linked to the core </a:t>
            </a:r>
            <a:r>
              <a:rPr b="0" i="1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N</a:t>
            </a: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-acetylgalactosamine.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6A5A252-4BD3-4DC8-A4E7-71FF3E3AE262}" type="slidenum">
              <a:t>&lt;#&gt;</a:t>
            </a:fld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i="1" lang="en-IN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85800" y="1981080"/>
            <a:ext cx="77724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68580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2"/>
          </p:nvPr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AA17C96-B6A0-41E1-9D66-6AD6FCF9C06A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Rectangle 14"/>
          <p:cNvSpPr/>
          <p:nvPr/>
        </p:nvSpPr>
        <p:spPr>
          <a:xfrm>
            <a:off x="1295280" y="6273720"/>
            <a:ext cx="21337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Essentials of Glycobiology </a:t>
            </a:r>
            <a:endParaRPr b="0" lang="en-IN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" name="Picture 15" descr="PRESS logo_300"/>
          <p:cNvPicPr/>
          <p:nvPr/>
        </p:nvPicPr>
        <p:blipFill>
          <a:blip r:embed="rId2"/>
          <a:stretch/>
        </p:blipFill>
        <p:spPr>
          <a:xfrm>
            <a:off x="76320" y="6248520"/>
            <a:ext cx="503280" cy="500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" name="Picture 16" descr="ncbilogo_300"/>
          <p:cNvPicPr/>
          <p:nvPr/>
        </p:nvPicPr>
        <p:blipFill>
          <a:blip r:embed="rId3"/>
          <a:stretch/>
        </p:blipFill>
        <p:spPr>
          <a:xfrm>
            <a:off x="762120" y="6248520"/>
            <a:ext cx="401400" cy="495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" name="Rectangle 18"/>
          <p:cNvSpPr/>
          <p:nvPr/>
        </p:nvSpPr>
        <p:spPr>
          <a:xfrm>
            <a:off x="1817640" y="6527880"/>
            <a:ext cx="949680" cy="23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Edition</a:t>
            </a:r>
            <a:endParaRPr b="0" lang="en-IN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9"/>
          <p:cNvGrpSpPr/>
          <p:nvPr/>
        </p:nvGrpSpPr>
        <p:grpSpPr>
          <a:xfrm>
            <a:off x="76320" y="22320"/>
            <a:ext cx="7356600" cy="6835680"/>
            <a:chOff x="76320" y="22320"/>
            <a:chExt cx="7356600" cy="6835680"/>
          </a:xfrm>
        </p:grpSpPr>
        <p:sp>
          <p:nvSpPr>
            <p:cNvPr id="16" name="Text Box 5"/>
            <p:cNvSpPr/>
            <p:nvPr/>
          </p:nvSpPr>
          <p:spPr>
            <a:xfrm>
              <a:off x="1710720" y="22320"/>
              <a:ext cx="5722200" cy="33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16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Complex O-GalNAc glycans with different core structures</a:t>
              </a:r>
              <a:endParaRPr b="0" lang="en-IN" sz="16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" name="Rectangle 7"/>
            <p:cNvSpPr/>
            <p:nvPr/>
          </p:nvSpPr>
          <p:spPr>
            <a:xfrm>
              <a:off x="3962520" y="6400800"/>
              <a:ext cx="2133360" cy="457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ctr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10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Chapter 9, Figure  2</a:t>
              </a:r>
              <a:endParaRPr b="0" lang="en-IN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18" name="Picture 12" descr="02_Glyco_CH9_4c"/>
            <p:cNvPicPr/>
            <p:nvPr/>
          </p:nvPicPr>
          <p:blipFill>
            <a:blip r:embed="rId1"/>
            <a:stretch/>
          </p:blipFill>
          <p:spPr>
            <a:xfrm>
              <a:off x="2822760" y="533160"/>
              <a:ext cx="3495600" cy="579132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19" name="Group 4"/>
            <p:cNvGrpSpPr/>
            <p:nvPr/>
          </p:nvGrpSpPr>
          <p:grpSpPr>
            <a:xfrm>
              <a:off x="76320" y="6248520"/>
              <a:ext cx="3352680" cy="510840"/>
              <a:chOff x="76320" y="6248520"/>
              <a:chExt cx="3352680" cy="510840"/>
            </a:xfrm>
          </p:grpSpPr>
          <p:sp>
            <p:nvSpPr>
              <p:cNvPr id="20" name="Rectangle 14"/>
              <p:cNvSpPr/>
              <p:nvPr/>
            </p:nvSpPr>
            <p:spPr>
              <a:xfrm>
                <a:off x="1295280" y="6273720"/>
                <a:ext cx="2133720" cy="4572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ctr">
                <a:noAutofit/>
              </a:bodyPr>
              <a:p>
                <a:pPr algn="ctr"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0" i="1" lang="en-US" sz="9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Essentials of Glycobiology </a:t>
                </a:r>
                <a:endParaRPr b="0" lang="en-IN" sz="9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pic>
            <p:nvPicPr>
              <p:cNvPr id="21" name="Picture 15" descr="PRESS logo_300"/>
              <p:cNvPicPr/>
              <p:nvPr/>
            </p:nvPicPr>
            <p:blipFill>
              <a:blip r:embed="rId2"/>
              <a:stretch/>
            </p:blipFill>
            <p:spPr>
              <a:xfrm>
                <a:off x="76320" y="6248520"/>
                <a:ext cx="502920" cy="50004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22" name="Picture 16" descr="ncbilogo_300"/>
              <p:cNvPicPr/>
              <p:nvPr/>
            </p:nvPicPr>
            <p:blipFill>
              <a:blip r:embed="rId3"/>
              <a:stretch/>
            </p:blipFill>
            <p:spPr>
              <a:xfrm>
                <a:off x="762120" y="6248520"/>
                <a:ext cx="401400" cy="49536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sp>
            <p:nvSpPr>
              <p:cNvPr id="23" name="Rectangle 18"/>
              <p:cNvSpPr/>
              <p:nvPr/>
            </p:nvSpPr>
            <p:spPr>
              <a:xfrm>
                <a:off x="1817640" y="6527880"/>
                <a:ext cx="949680" cy="2314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t">
                <a:spAutoFit/>
              </a:bodyPr>
              <a:p>
                <a:pPr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0" lang="en-US" sz="9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Second Edition</a:t>
                </a:r>
                <a:endParaRPr b="0" lang="en-IN" sz="9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562</TotalTime>
  <Application>LibreOffice/25.2.3.2$Windows_X86_64 LibreOffice_project/bbb074479178df812d175f709636b368952c2ce3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2008-10-03T08:41:15Z</dcterms:created>
  <dc:creator>Richard D. Cummings</dc:creator>
  <dc:description/>
  <dc:language>en-IN</dc:language>
  <cp:lastModifiedBy>graciajy</cp:lastModifiedBy>
  <dcterms:modified xsi:type="dcterms:W3CDTF">2008-10-20T07:18:58Z</dcterms:modified>
  <cp:revision>88</cp:revision>
  <dc:subject/>
  <dc:title>PowerPoint Presentation</dc:title>
</cp:coreProperties>
</file>