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xml.rels" ContentType="application/vnd.openxmlformats-package.relationships+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2.xml.rels" ContentType="application/vnd.openxmlformats-package.relationships+xml"/>
  <Override PartName="/ppt/notesSlides/_rels/notesSlide15.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5.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19.wmf" ContentType="image/x-wmf"/>
  <Override PartName="/ppt/media/image9.png" ContentType="image/png"/>
  <Override PartName="/ppt/media/image10.png" ContentType="image/png"/>
  <Override PartName="/ppt/media/image22.wmf" ContentType="image/x-wmf"/>
  <Override PartName="/ppt/media/image29.jpeg" ContentType="image/jpeg"/>
  <Override PartName="/ppt/media/image11.png" ContentType="image/png"/>
  <Override PartName="/ppt/media/image23.wmf" ContentType="image/x-wmf"/>
  <Override PartName="/ppt/media/image12.png" ContentType="image/png"/>
  <Override PartName="/ppt/media/image24.wmf" ContentType="image/x-wmf"/>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20.wmf" ContentType="image/x-wmf"/>
  <Override PartName="/ppt/media/image21.wmf" ContentType="image/x-wmf"/>
  <Override PartName="/ppt/media/image25.jpeg" ContentType="image/jpeg"/>
  <Override PartName="/ppt/media/image26.jpeg" ContentType="image/jpeg"/>
  <Override PartName="/ppt/media/image37.png" ContentType="image/png"/>
  <Override PartName="/ppt/media/image27.jpeg" ContentType="image/jpeg"/>
  <Override PartName="/ppt/media/image28.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9144000" cy="6858000"/>
  <p:notesSz cx="6858000" cy="91979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
          <p:cNvSpPr/>
          <p:nvPr/>
        </p:nvSpPr>
        <p:spPr>
          <a:xfrm>
            <a:off x="0" y="0"/>
            <a:ext cx="6858000" cy="9198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23" name="PlaceHolder 1"/>
          <p:cNvSpPr>
            <a:spLocks noGrp="1"/>
          </p:cNvSpPr>
          <p:nvPr>
            <p:ph type="hdr"/>
          </p:nvPr>
        </p:nvSpPr>
        <p:spPr>
          <a:xfrm>
            <a:off x="-360" y="-360"/>
            <a:ext cx="2971800" cy="460440"/>
          </a:xfrm>
          <a:prstGeom prst="rect">
            <a:avLst/>
          </a:prstGeom>
          <a:noFill/>
          <a:ln w="0">
            <a:noFill/>
          </a:ln>
        </p:spPr>
        <p:txBody>
          <a:bodyPr lIns="93960" rIns="93960" tIns="47160" bIns="47160" anchor="t">
            <a:noAutofit/>
          </a:bodyPr>
          <a:p>
            <a:pPr indent="0">
              <a:buNone/>
            </a:pPr>
            <a:endParaRPr b="0" lang="en-IN" sz="2400" strike="noStrike" u="none">
              <a:solidFill>
                <a:srgbClr val="000000"/>
              </a:solidFill>
              <a:effectLst/>
              <a:uFillTx/>
              <a:latin typeface="Times New Roman"/>
            </a:endParaRPr>
          </a:p>
        </p:txBody>
      </p:sp>
      <p:sp>
        <p:nvSpPr>
          <p:cNvPr id="24" name="PlaceHolder 2"/>
          <p:cNvSpPr>
            <a:spLocks noGrp="1"/>
          </p:cNvSpPr>
          <p:nvPr>
            <p:ph type="dt" idx="3"/>
          </p:nvPr>
        </p:nvSpPr>
        <p:spPr>
          <a:xfrm>
            <a:off x="3884400" y="-360"/>
            <a:ext cx="2971800" cy="460440"/>
          </a:xfrm>
          <a:prstGeom prst="rect">
            <a:avLst/>
          </a:prstGeom>
          <a:noFill/>
          <a:ln w="0">
            <a:noFill/>
          </a:ln>
        </p:spPr>
        <p:txBody>
          <a:bodyPr lIns="93960" rIns="93960" tIns="47160" bIns="47160" anchor="t">
            <a:noAutofit/>
          </a:bodyPr>
          <a:p>
            <a:pPr indent="0">
              <a:buNone/>
            </a:pPr>
            <a:endParaRPr b="0" lang="en-IN" sz="2400" strike="noStrike" u="none">
              <a:solidFill>
                <a:srgbClr val="000000"/>
              </a:solidFill>
              <a:effectLst/>
              <a:uFillTx/>
              <a:latin typeface="Times New Roman"/>
            </a:endParaRPr>
          </a:p>
        </p:txBody>
      </p:sp>
      <p:sp>
        <p:nvSpPr>
          <p:cNvPr id="25" name="PlaceHolder 3"/>
          <p:cNvSpPr>
            <a:spLocks noGrp="1"/>
          </p:cNvSpPr>
          <p:nvPr>
            <p:ph type="sldImg"/>
          </p:nvPr>
        </p:nvSpPr>
        <p:spPr>
          <a:xfrm>
            <a:off x="1130040" y="689040"/>
            <a:ext cx="4599000" cy="3449520"/>
          </a:xfrm>
          <a:prstGeom prst="rect">
            <a:avLst/>
          </a:prstGeom>
          <a:noFill/>
          <a:ln w="9360">
            <a:solidFill>
              <a:srgbClr val="000000"/>
            </a:solidFill>
            <a:miter/>
          </a:ln>
        </p:spPr>
        <p:txBody>
          <a:bodyPr lIns="86760" rIns="86760" tIns="43560" bIns="4356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262673"/>
                </a:solidFill>
                <a:effectLst/>
                <a:uFillTx/>
                <a:latin typeface="Century Gothic"/>
              </a:rPr>
              <a:t>Click to move the slide</a:t>
            </a:r>
            <a:endParaRPr b="1" lang="en-IN" sz="3200" strike="noStrike" u="none">
              <a:solidFill>
                <a:srgbClr val="262673"/>
              </a:solidFill>
              <a:effectLst/>
              <a:uFillTx/>
              <a:latin typeface="Century Gothic"/>
            </a:endParaRPr>
          </a:p>
        </p:txBody>
      </p:sp>
      <p:sp>
        <p:nvSpPr>
          <p:cNvPr id="26" name="PlaceHolder 4"/>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27" name="PlaceHolder 5"/>
          <p:cNvSpPr>
            <a:spLocks noGrp="1"/>
          </p:cNvSpPr>
          <p:nvPr>
            <p:ph type="ftr" idx="4"/>
          </p:nvPr>
        </p:nvSpPr>
        <p:spPr>
          <a:xfrm>
            <a:off x="-360" y="8737200"/>
            <a:ext cx="2971800" cy="460440"/>
          </a:xfrm>
          <a:prstGeom prst="rect">
            <a:avLst/>
          </a:prstGeom>
          <a:noFill/>
          <a:ln w="0">
            <a:noFill/>
          </a:ln>
        </p:spPr>
        <p:txBody>
          <a:bodyPr lIns="93960" rIns="93960" tIns="47160" bIns="47160" anchor="b">
            <a:noAutofit/>
          </a:bodyPr>
          <a:p>
            <a:pPr indent="0">
              <a:buNone/>
            </a:pPr>
            <a:endParaRPr b="0" lang="en-IN" sz="2400" strike="noStrike" u="none">
              <a:solidFill>
                <a:srgbClr val="000000"/>
              </a:solidFill>
              <a:effectLst/>
              <a:uFillTx/>
              <a:latin typeface="Times New Roman"/>
            </a:endParaRPr>
          </a:p>
        </p:txBody>
      </p:sp>
      <p:sp>
        <p:nvSpPr>
          <p:cNvPr id="28" name="PlaceHolder 6"/>
          <p:cNvSpPr>
            <a:spLocks noGrp="1"/>
          </p:cNvSpPr>
          <p:nvPr>
            <p:ph type="sldNum" idx="5"/>
          </p:nvPr>
        </p:nvSpPr>
        <p:spPr>
          <a:xfrm>
            <a:off x="3884400" y="8737200"/>
            <a:ext cx="2971800" cy="460440"/>
          </a:xfrm>
          <a:prstGeom prst="rect">
            <a:avLst/>
          </a:prstGeom>
          <a:noFill/>
          <a:ln w="0">
            <a:noFill/>
          </a:ln>
        </p:spPr>
        <p:txBody>
          <a:bodyPr lIns="93960" rIns="93960" tIns="47160" bIns="47160" anchor="b">
            <a:noAutofit/>
          </a:bodyPr>
          <a:lstStyle>
            <a:lvl1pPr marL="216000" indent="0" algn="r">
              <a:buNone/>
              <a:tabLst>
                <a:tab algn="l" pos="0"/>
                <a:tab algn="l" pos="939960"/>
                <a:tab algn="l" pos="1879560"/>
                <a:tab algn="l" pos="2819520"/>
                <a:tab algn="l" pos="3759120"/>
                <a:tab algn="l" pos="4699080"/>
                <a:tab algn="l" pos="5638680"/>
                <a:tab algn="l" pos="6578640"/>
                <a:tab algn="l" pos="7518240"/>
                <a:tab algn="l" pos="8458200"/>
                <a:tab algn="l" pos="9398160"/>
                <a:tab algn="l" pos="10337760"/>
              </a:tabLst>
              <a:defRPr b="0" lang="en-US" sz="1200" strike="noStrike" u="none">
                <a:solidFill>
                  <a:srgbClr val="000000"/>
                </a:solidFill>
                <a:effectLst/>
                <a:uFillTx/>
                <a:latin typeface="Times New Roman"/>
              </a:defRPr>
            </a:lvl1pPr>
          </a:lstStyle>
          <a:p>
            <a:pPr marL="216000" indent="0" algn="r">
              <a:buNone/>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FA18D362-EA6A-497E-972E-4C4480C7F01F}"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C9E2BA82-7351-4EF1-9DA4-0D003BB2A8CB}"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76" name="PlaceHolder 1"/>
          <p:cNvSpPr>
            <a:spLocks noGrp="1"/>
          </p:cNvSpPr>
          <p:nvPr>
            <p:ph type="sldImg"/>
          </p:nvPr>
        </p:nvSpPr>
        <p:spPr>
          <a:xfrm>
            <a:off x="1130400" y="689040"/>
            <a:ext cx="4599000" cy="3449520"/>
          </a:xfrm>
          <a:prstGeom prst="rect">
            <a:avLst/>
          </a:prstGeom>
          <a:ln w="0">
            <a:noFill/>
          </a:ln>
        </p:spPr>
      </p:sp>
      <p:sp>
        <p:nvSpPr>
          <p:cNvPr id="477" name="PlaceHolder 2"/>
          <p:cNvSpPr>
            <a:spLocks noGrp="1"/>
          </p:cNvSpPr>
          <p:nvPr>
            <p:ph type="body"/>
          </p:nvPr>
        </p:nvSpPr>
        <p:spPr>
          <a:xfrm>
            <a:off x="687240" y="4370040"/>
            <a:ext cx="5483520" cy="414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C8B91E40-EAC2-4D98-87BE-8C9971E60100}"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79" name="PlaceHolder 1"/>
          <p:cNvSpPr>
            <a:spLocks noGrp="1"/>
          </p:cNvSpPr>
          <p:nvPr>
            <p:ph type="sldImg"/>
          </p:nvPr>
        </p:nvSpPr>
        <p:spPr>
          <a:xfrm>
            <a:off x="1130400" y="689040"/>
            <a:ext cx="4599000" cy="3449520"/>
          </a:xfrm>
          <a:prstGeom prst="rect">
            <a:avLst/>
          </a:prstGeom>
          <a:ln w="0">
            <a:noFill/>
          </a:ln>
        </p:spPr>
      </p:sp>
      <p:sp>
        <p:nvSpPr>
          <p:cNvPr id="480" name="PlaceHolder 2"/>
          <p:cNvSpPr>
            <a:spLocks noGrp="1"/>
          </p:cNvSpPr>
          <p:nvPr>
            <p:ph type="body"/>
          </p:nvPr>
        </p:nvSpPr>
        <p:spPr>
          <a:xfrm>
            <a:off x="687240" y="4370040"/>
            <a:ext cx="5483520" cy="414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8551463E-98C2-42D4-9041-A46741E7C4F2}"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82" name="PlaceHolder 1"/>
          <p:cNvSpPr>
            <a:spLocks noGrp="1"/>
          </p:cNvSpPr>
          <p:nvPr>
            <p:ph type="sldImg"/>
          </p:nvPr>
        </p:nvSpPr>
        <p:spPr>
          <a:xfrm>
            <a:off x="1130400" y="689040"/>
            <a:ext cx="4599000" cy="3449520"/>
          </a:xfrm>
          <a:prstGeom prst="rect">
            <a:avLst/>
          </a:prstGeom>
          <a:ln w="0">
            <a:noFill/>
          </a:ln>
        </p:spPr>
      </p:sp>
      <p:sp>
        <p:nvSpPr>
          <p:cNvPr id="483"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99"/>
                </a:solidFill>
                <a:effectLst/>
                <a:uFillTx/>
                <a:latin typeface="Arial"/>
              </a:rPr>
              <a:t>*A </a:t>
            </a:r>
            <a:r>
              <a:rPr b="1" lang="en-US" sz="1200" strike="noStrike" u="none">
                <a:solidFill>
                  <a:srgbClr val="000099"/>
                </a:solidFill>
                <a:effectLst/>
                <a:uFillTx/>
                <a:latin typeface="Arial"/>
              </a:rPr>
              <a:t>segment</a:t>
            </a:r>
            <a:r>
              <a:rPr b="0" lang="en-US" sz="1200" strike="noStrike" u="none">
                <a:solidFill>
                  <a:srgbClr val="000099"/>
                </a:solidFill>
                <a:effectLst/>
                <a:uFillTx/>
                <a:latin typeface="Arial"/>
              </a:rPr>
              <a:t> is a subset of the HHS enterprise, described as a set of related business functions, processes, and/or services. </a:t>
            </a:r>
            <a:r>
              <a:rPr b="0" lang="en-US" sz="1200" strike="noStrike" u="none">
                <a:solidFill>
                  <a:srgbClr val="000000"/>
                </a:solidFill>
                <a:effectLst/>
                <a:uFillTx/>
                <a:latin typeface="Arial"/>
              </a:rPr>
              <a:t>Using the business-based definition of a segment, HHS segments are mutually exclusive – that is, each segment belongs to one and only one business area.</a:t>
            </a: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 HHS Enterprise Architecture Repository is a centralized database that contains information about why, how, and with what resources HHS operates.</a:t>
            </a: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We would like to take this opportunity to thank you for the contributions you have made to the RM Segment Architecture effort. Your efforts have assisted us greatly in documenting the RM Segment and Program.</a:t>
            </a: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CMS Business Process Models were reviewed for RM Best Practices.</a:t>
            </a:r>
            <a:endParaRPr b="0" lang="en-IN" sz="1200" strike="noStrike" u="none">
              <a:solidFill>
                <a:srgbClr val="000000"/>
              </a:solidFill>
              <a:effectLst/>
              <a:uFillTx/>
              <a:latin typeface="Arial"/>
            </a:endParaRPr>
          </a:p>
          <a:p>
            <a:pPr lvl="1" marL="457200">
              <a:lnSpc>
                <a:spcPct val="110000"/>
              </a:lnSpc>
              <a:spcBef>
                <a:spcPts val="7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CMS has highly defined and documented business process models for all of their Records Management (RM) business processes.</a:t>
            </a:r>
            <a:endParaRPr b="0" lang="en-IN" sz="1200" strike="noStrike" u="none">
              <a:solidFill>
                <a:srgbClr val="000000"/>
              </a:solidFill>
              <a:effectLst/>
              <a:uFillTx/>
              <a:latin typeface="Arial"/>
            </a:endParaRPr>
          </a:p>
          <a:p>
            <a:pPr lvl="1" marL="457200">
              <a:lnSpc>
                <a:spcPct val="110000"/>
              </a:lnSpc>
              <a:spcBef>
                <a:spcPts val="7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These processes were used as a template to assist in the discussions with the OPTIVs throughout CMS regarding their Records Management activities.</a:t>
            </a:r>
            <a:endParaRPr b="0" lang="en-IN" sz="1200" strike="noStrike" u="none">
              <a:solidFill>
                <a:srgbClr val="000000"/>
              </a:solidFill>
              <a:effectLst/>
              <a:uFillTx/>
              <a:latin typeface="Arial"/>
            </a:endParaRPr>
          </a:p>
          <a:p>
            <a:pPr lvl="1" marL="457200"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a:t>
            </a:r>
            <a:endParaRPr b="0" lang="en-IN" sz="1200" strike="noStrike" u="none">
              <a:solidFill>
                <a:srgbClr val="000000"/>
              </a:solidFill>
              <a:effectLst/>
              <a:uFillTx/>
              <a:latin typeface="Arial"/>
            </a:endParaRPr>
          </a:p>
          <a:p>
            <a:pPr indent="0">
              <a:lnSpc>
                <a:spcPct val="110000"/>
              </a:lnSpc>
              <a:spcBef>
                <a:spcPts val="6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OPDIVs throughout HHS were interviewed about their Records Management business processes.</a:t>
            </a:r>
            <a:endParaRPr b="0" lang="en-IN" sz="1000" strike="noStrike" u="none">
              <a:solidFill>
                <a:srgbClr val="000000"/>
              </a:solidFill>
              <a:effectLst/>
              <a:uFillTx/>
              <a:latin typeface="Arial"/>
            </a:endParaRPr>
          </a:p>
          <a:p>
            <a:pPr lvl="1" marL="457200">
              <a:lnSpc>
                <a:spcPct val="110000"/>
              </a:lnSpc>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 Representatives were contacted regarding their Records Management activities.</a:t>
            </a:r>
            <a:endParaRPr b="0" lang="en-IN" sz="1000" strike="noStrike" u="none">
              <a:solidFill>
                <a:srgbClr val="000000"/>
              </a:solidFill>
              <a:effectLst/>
              <a:uFillTx/>
              <a:latin typeface="Arial"/>
            </a:endParaRPr>
          </a:p>
          <a:p>
            <a:pPr lvl="1" marL="457200">
              <a:lnSpc>
                <a:spcPct val="110000"/>
              </a:lnSpc>
              <a:spcBef>
                <a:spcPts val="624"/>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Arial"/>
              </a:rPr>
              <a:t> These activities were used in documenting the RM activities and their commonalities/differences.</a:t>
            </a:r>
            <a:endParaRPr b="0" lang="en-IN" sz="1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97370444-2474-4D86-A32F-4D2CE2F33619}"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85" name="PlaceHolder 1"/>
          <p:cNvSpPr>
            <a:spLocks noGrp="1"/>
          </p:cNvSpPr>
          <p:nvPr>
            <p:ph type="sldImg"/>
          </p:nvPr>
        </p:nvSpPr>
        <p:spPr>
          <a:xfrm>
            <a:off x="1130400" y="689040"/>
            <a:ext cx="4599000" cy="3449520"/>
          </a:xfrm>
          <a:prstGeom prst="rect">
            <a:avLst/>
          </a:prstGeom>
          <a:ln w="0">
            <a:noFill/>
          </a:ln>
        </p:spPr>
      </p:sp>
      <p:sp>
        <p:nvSpPr>
          <p:cNvPr id="486"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above graphic provides an overview of the external drivers to HHS and how those drivers influence the adoption of HHS RM policy.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a:t>
            </a:r>
            <a:r>
              <a:rPr b="0" lang="en-US" sz="1200" strike="noStrike" u="none">
                <a:solidFill>
                  <a:srgbClr val="000000"/>
                </a:solidFill>
                <a:effectLst/>
                <a:uFillTx/>
                <a:latin typeface="Arial"/>
              </a:rPr>
              <a:t>- The second portion of the graphic details the core function RM processes. </a:t>
            </a:r>
            <a:endParaRPr b="0" lang="en-IN" sz="1200" strike="noStrike" u="none">
              <a:solidFill>
                <a:srgbClr val="000000"/>
              </a:solidFill>
              <a:effectLst/>
              <a:uFillTx/>
              <a:latin typeface="Arial"/>
            </a:endParaRPr>
          </a:p>
          <a:p>
            <a:pPr lvl="4" marL="1952640" indent="-216000">
              <a:spcBef>
                <a:spcPts val="451"/>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These processes represent the core functions performed at each of the HHS OPDIVs. </a:t>
            </a:r>
            <a:r>
              <a:rPr b="1" lang="en-US" sz="1200" strike="noStrike" u="none">
                <a:solidFill>
                  <a:srgbClr val="000000"/>
                </a:solidFill>
                <a:effectLst/>
                <a:uFillTx/>
                <a:latin typeface="Arial"/>
              </a:rPr>
              <a:t>The 3 dimensions show the applicability to all OPDIVs/STAFDIVs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a:t>
            </a:r>
            <a:r>
              <a:rPr b="0" lang="en-US" sz="1200" strike="noStrike" u="none">
                <a:solidFill>
                  <a:srgbClr val="000000"/>
                </a:solidFill>
                <a:effectLst/>
                <a:uFillTx/>
                <a:latin typeface="Arial"/>
              </a:rPr>
              <a:t>- Adjacent to the core function RM processes is a list of operational processes. </a:t>
            </a:r>
            <a:endParaRPr b="0" lang="en-IN" sz="1200" strike="noStrike" u="none">
              <a:solidFill>
                <a:srgbClr val="000000"/>
              </a:solidFill>
              <a:effectLst/>
              <a:uFillTx/>
              <a:latin typeface="Arial"/>
            </a:endParaRPr>
          </a:p>
          <a:p>
            <a:pPr lvl="4" marL="1952640" indent="-216000">
              <a:spcBef>
                <a:spcPts val="451"/>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Operational processes support the execution of the core function RM processes.</a:t>
            </a:r>
            <a:endParaRPr b="0" lang="en-IN" sz="1200" strike="noStrike" u="none">
              <a:solidFill>
                <a:srgbClr val="000000"/>
              </a:solidFill>
              <a:effectLst/>
              <a:uFillTx/>
              <a:latin typeface="Arial"/>
            </a:endParaRPr>
          </a:p>
          <a:p>
            <a:pPr lvl="2" marL="1084320" indent="-216000">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 The bottom portion of the slide refers to IT resources. </a:t>
            </a:r>
            <a:endParaRPr b="0" lang="en-IN" sz="1200" strike="noStrike" u="none">
              <a:solidFill>
                <a:srgbClr val="000000"/>
              </a:solidFill>
              <a:effectLst/>
              <a:uFillTx/>
              <a:latin typeface="Arial"/>
            </a:endParaRPr>
          </a:p>
          <a:p>
            <a:pPr lvl="4" marL="1952640" indent="-216000">
              <a:spcBef>
                <a:spcPts val="451"/>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These resources consist of IT resources that support the core RM functional processes and the program management processes (the processes adjacent to core RM processes in the diagram). It is further supported through the use of specific technologies, which enable the processes to be automated.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704880" indent="-2700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There are currently no RM IT systems or Program Supporting IT systems. If the HHS EA repository will be used to support the program it will part of the program support IT systems</a:t>
            </a:r>
            <a:endParaRPr b="0" lang="en-IN" sz="1200" strike="noStrike" u="none">
              <a:solidFill>
                <a:srgbClr val="000000"/>
              </a:solidFill>
              <a:effectLst/>
              <a:uFillTx/>
              <a:latin typeface="Arial"/>
            </a:endParaRPr>
          </a:p>
          <a:p>
            <a:pPr lvl="1" marL="704880" indent="-2700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 technologies have yet being identified.</a:t>
            </a:r>
            <a:endParaRPr b="0" lang="en-IN" sz="1200" strike="noStrike" u="none">
              <a:solidFill>
                <a:srgbClr val="000000"/>
              </a:solidFill>
              <a:effectLst/>
              <a:uFillTx/>
              <a:latin typeface="Arial"/>
            </a:endParaRPr>
          </a:p>
          <a:p>
            <a:pPr lvl="1" marL="70488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704880" indent="-2700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We need to talk about outlook and the PSD files and if this should be modeled as part of the segment in the IT resources.</a:t>
            </a:r>
            <a:endParaRPr b="0" lang="en-IN" sz="1200" strike="noStrike" u="none">
              <a:solidFill>
                <a:srgbClr val="000000"/>
              </a:solidFill>
              <a:effectLst/>
              <a:uFillTx/>
              <a:latin typeface="Arial"/>
            </a:endParaRPr>
          </a:p>
          <a:p>
            <a:pPr lvl="1" marL="70488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704880"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 difference between an Electronic Record Keeping System and any IT System is that…..</a:t>
            </a:r>
            <a:endParaRPr b="0" lang="en-IN" sz="1200" strike="noStrike" u="none">
              <a:solidFill>
                <a:srgbClr val="000000"/>
              </a:solidFill>
              <a:effectLst/>
              <a:uFillTx/>
              <a:latin typeface="Arial"/>
            </a:endParaRPr>
          </a:p>
          <a:p>
            <a:pPr lvl="1" marL="704880" indent="-2700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IT System: Storage and dissemination of information – It is not a Electronic Record Keeping System unless it meets </a:t>
            </a:r>
            <a:r>
              <a:rPr b="0" lang="en-US" sz="1200" strike="noStrike" u="none">
                <a:solidFill>
                  <a:srgbClr val="000000"/>
                </a:solidFill>
                <a:effectLst/>
                <a:uFillTx/>
                <a:latin typeface="TimesNewRoman"/>
              </a:rPr>
              <a:t>DoD 5015.2-STD certified Records Management Application (RMA) requirements or equivalent.</a:t>
            </a:r>
            <a:endParaRPr b="0" lang="en-IN" sz="1200" strike="noStrike" u="none">
              <a:solidFill>
                <a:srgbClr val="000000"/>
              </a:solidFill>
              <a:effectLst/>
              <a:uFillTx/>
              <a:latin typeface="Arial"/>
            </a:endParaRPr>
          </a:p>
          <a:p>
            <a:pPr lvl="1" marL="704880" indent="-2700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Electronic Record Keeping System: </a:t>
            </a:r>
            <a:endParaRPr b="0" lang="en-IN"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1130400" y="689040"/>
            <a:ext cx="4599000" cy="3449520"/>
          </a:xfrm>
          <a:prstGeom prst="rect">
            <a:avLst/>
          </a:prstGeom>
          <a:ln w="0">
            <a:noFill/>
          </a:ln>
        </p:spPr>
      </p:sp>
      <p:sp>
        <p:nvSpPr>
          <p:cNvPr id="488"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There are some investments that map to Knowledge Management or Correspondence that could be included in this segment.</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We have no IT systems that meets the </a:t>
            </a:r>
            <a:r>
              <a:rPr b="0" lang="en-US" sz="1200" strike="noStrike" u="none">
                <a:solidFill>
                  <a:srgbClr val="000000"/>
                </a:solidFill>
                <a:effectLst/>
                <a:uFillTx/>
                <a:latin typeface="TimesNewRoman"/>
              </a:rPr>
              <a:t>DoD 5015.2-STD certified Records Management Application (RMA) requirements or equivalent but we are still doing RM by using manual processes.</a:t>
            </a: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NewRoman"/>
              </a:rPr>
              <a:t>* We want to turn this 0 to a 1 a hybrid solution with that addresses all requirements using latest technologies available.</a:t>
            </a: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NewRoman"/>
              </a:rPr>
              <a:t>** </a:t>
            </a:r>
            <a:r>
              <a:rPr b="0" lang="en-US" sz="1200" strike="noStrike" u="none">
                <a:solidFill>
                  <a:srgbClr val="000000"/>
                </a:solidFill>
                <a:effectLst/>
                <a:uFillTx/>
                <a:latin typeface="Arial"/>
              </a:rPr>
              <a:t>NARA approved: NARA has endorsed DOD 5015.2-STD to set the requirements for an </a:t>
            </a:r>
            <a:r>
              <a:rPr b="0" lang="en-US" sz="1200" strike="noStrike" u="none">
                <a:solidFill>
                  <a:srgbClr val="262673"/>
                </a:solidFill>
                <a:effectLst/>
                <a:uFillTx/>
                <a:latin typeface="Century Gothic"/>
              </a:rPr>
              <a:t>Electronic Record Keeping System </a:t>
            </a: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 Working with HR (see assessment) initially for SES next step for all employees</a:t>
            </a:r>
            <a:endParaRPr b="0" lang="en-IN" sz="12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1130400" y="689040"/>
            <a:ext cx="4599000" cy="3449520"/>
          </a:xfrm>
          <a:prstGeom prst="rect">
            <a:avLst/>
          </a:prstGeom>
          <a:ln w="0">
            <a:noFill/>
          </a:ln>
        </p:spPr>
      </p:sp>
      <p:sp>
        <p:nvSpPr>
          <p:cNvPr id="490"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404040"/>
                </a:solidFill>
                <a:effectLst/>
                <a:uFillTx/>
                <a:latin typeface="Arial"/>
              </a:rPr>
              <a:t>Legal requirements </a:t>
            </a:r>
            <a:r>
              <a:rPr b="0" lang="en-US" sz="1200" strike="noStrike" u="none">
                <a:solidFill>
                  <a:srgbClr val="404040"/>
                </a:solidFill>
                <a:effectLst/>
                <a:uFillTx/>
                <a:latin typeface="Arial"/>
              </a:rPr>
              <a:t>: Mandates drive the way in which records are created, maintained and disposition instructions applied.  They also mandate responsibilities and outline the minimal requirements.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040"/>
                </a:solidFill>
                <a:effectLst/>
                <a:uFillTx/>
                <a:latin typeface="Arial"/>
              </a:rPr>
              <a:t>Impact: </a:t>
            </a:r>
            <a:r>
              <a:rPr b="0" lang="en-US" sz="1200" strike="noStrike" u="none">
                <a:solidFill>
                  <a:srgbClr val="0d0d0d"/>
                </a:solidFill>
                <a:effectLst/>
                <a:uFillTx/>
                <a:latin typeface="Century Gothic"/>
              </a:rPr>
              <a:t>The impact of not complying with federal requirements (FOIA, Privacy, Records) has both civil and criminal  prosecution impact which will cost the agency both dollars and personal confinement.</a:t>
            </a:r>
            <a:endParaRPr b="0" lang="en-IN" sz="1200" strike="noStrike" u="none">
              <a:solidFill>
                <a:srgbClr val="000000"/>
              </a:solidFill>
              <a:effectLst/>
              <a:uFillTx/>
              <a:latin typeface="Arial"/>
            </a:endParaRPr>
          </a:p>
          <a:p>
            <a:pPr indent="0">
              <a:lnSpc>
                <a:spcPct val="10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Freedom of Information Act (FOIA)</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Federal Privacy and Data Protection Policy Act</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Circular A-130</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E-Government Act of 2002</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Government Paperwork Elimination Act</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Paper Reduction Act of 1995</a:t>
            </a:r>
            <a:endParaRPr b="0" lang="en-IN" sz="1400" strike="noStrike" u="none">
              <a:solidFill>
                <a:srgbClr val="000000"/>
              </a:solidFill>
              <a:effectLst/>
              <a:uFillTx/>
              <a:latin typeface="Arial"/>
            </a:endParaRPr>
          </a:p>
          <a:p>
            <a:pPr>
              <a:lnSpc>
                <a:spcPct val="100000"/>
              </a:lnSpc>
              <a:spcBef>
                <a:spcPts val="524"/>
              </a:spcBef>
              <a:buClr>
                <a:srgbClr val="0d0d0d"/>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d0d0d"/>
                </a:solidFill>
                <a:effectLst/>
                <a:uFillTx/>
                <a:latin typeface="Calibri"/>
              </a:rPr>
              <a:t> Government Performance Results Act (GPRA)</a:t>
            </a:r>
            <a:endParaRPr b="0" lang="en-IN" sz="14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404040"/>
                </a:solidFill>
                <a:effectLst/>
                <a:uFillTx/>
                <a:latin typeface="Arial"/>
              </a:rPr>
              <a:t>Sound business requirements</a:t>
            </a:r>
            <a:r>
              <a:rPr b="1" lang="en-US" sz="1200" strike="noStrike" u="none">
                <a:solidFill>
                  <a:srgbClr val="404040"/>
                </a:solidFill>
                <a:effectLst/>
                <a:uFillTx/>
                <a:latin typeface="Arial"/>
              </a:rPr>
              <a:t> </a:t>
            </a:r>
            <a:r>
              <a:rPr b="0" lang="en-US" sz="1200" strike="noStrike" u="none">
                <a:solidFill>
                  <a:srgbClr val="404040"/>
                </a:solidFill>
                <a:effectLst/>
                <a:uFillTx/>
                <a:latin typeface="Arial"/>
              </a:rPr>
              <a:t>relating to the normal operations of any organization require that organizations be accountable for the actions they take during the conduct of business.  A records of these actions must be made and maintained for as long as needed.</a:t>
            </a: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404040"/>
                </a:solidFill>
                <a:effectLst/>
                <a:uFillTx/>
                <a:latin typeface="Arial"/>
              </a:rPr>
              <a:t>As stewards of the public trust</a:t>
            </a:r>
            <a:r>
              <a:rPr b="0" lang="en-US" sz="1200" strike="noStrike" u="sng">
                <a:solidFill>
                  <a:srgbClr val="404040"/>
                </a:solidFill>
                <a:effectLst/>
                <a:uFillTx/>
                <a:latin typeface="Arial"/>
              </a:rPr>
              <a:t> </a:t>
            </a:r>
            <a:r>
              <a:rPr b="0" lang="en-US" sz="1200" strike="noStrike" u="none">
                <a:solidFill>
                  <a:srgbClr val="404040"/>
                </a:solidFill>
                <a:effectLst/>
                <a:uFillTx/>
                <a:latin typeface="Arial"/>
              </a:rPr>
              <a:t>Federal agencies are accountable to the public for our actions.  Audit trails documenting key roles are essential. Records provide who, how, and when an action was taken.</a:t>
            </a:r>
            <a:endParaRPr b="0" lang="en-IN" sz="1200" strike="noStrike" u="none">
              <a:solidFill>
                <a:srgbClr val="000000"/>
              </a:solidFill>
              <a:effectLst/>
              <a:uFillTx/>
              <a:latin typeface="Arial"/>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1130400" y="689040"/>
            <a:ext cx="4599000" cy="3449520"/>
          </a:xfrm>
          <a:prstGeom prst="rect">
            <a:avLst/>
          </a:prstGeom>
          <a:ln w="0">
            <a:noFill/>
          </a:ln>
        </p:spPr>
      </p:sp>
      <p:sp>
        <p:nvSpPr>
          <p:cNvPr id="492" name="PlaceHolder 2"/>
          <p:cNvSpPr>
            <a:spLocks noGrp="1"/>
          </p:cNvSpPr>
          <p:nvPr>
            <p:ph type="body"/>
          </p:nvPr>
        </p:nvSpPr>
        <p:spPr>
          <a:xfrm>
            <a:off x="687240" y="4370040"/>
            <a:ext cx="5483520" cy="41403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493" name="Slide Number Placeholder 3"/>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DDE1C426-80D4-4C1B-B81A-5FD2C8FA793B}"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1130400" y="689040"/>
            <a:ext cx="4599000" cy="3449520"/>
          </a:xfrm>
          <a:prstGeom prst="rect">
            <a:avLst/>
          </a:prstGeom>
          <a:ln w="0">
            <a:noFill/>
          </a:ln>
        </p:spPr>
      </p:sp>
      <p:sp>
        <p:nvSpPr>
          <p:cNvPr id="495"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NARA:</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OMB:</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GSA: Storage and IT</a:t>
            </a:r>
            <a:endParaRPr b="0" lang="en-IN"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130400" y="689040"/>
            <a:ext cx="4599000" cy="3449520"/>
          </a:xfrm>
          <a:prstGeom prst="rect">
            <a:avLst/>
          </a:prstGeom>
          <a:ln w="0">
            <a:noFill/>
          </a:ln>
        </p:spPr>
      </p:sp>
      <p:sp>
        <p:nvSpPr>
          <p:cNvPr id="497"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HHS EA repository is a large database that contains information about how things are done at HHS.  This tool is used to report to OMB and for analysis by architects. https://ea.hhs.gov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a:t>
            </a:r>
            <a:endParaRPr b="0" lang="en-IN" sz="12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879FF394-ABB3-49C1-A3B1-42964C428E96}"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499" name="PlaceHolder 1"/>
          <p:cNvSpPr>
            <a:spLocks noGrp="1"/>
          </p:cNvSpPr>
          <p:nvPr>
            <p:ph type="sldImg"/>
          </p:nvPr>
        </p:nvSpPr>
        <p:spPr>
          <a:xfrm>
            <a:off x="1130400" y="689040"/>
            <a:ext cx="4599000" cy="3449520"/>
          </a:xfrm>
          <a:prstGeom prst="rect">
            <a:avLst/>
          </a:prstGeom>
          <a:ln w="0">
            <a:noFill/>
          </a:ln>
        </p:spPr>
      </p:sp>
      <p:sp>
        <p:nvSpPr>
          <p:cNvPr id="500"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lnSpc>
                <a:spcPct val="110000"/>
              </a:lnSpc>
              <a:spcBef>
                <a:spcPts val="12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 The Centers for Medicare and Medicaid Services (CMS) RM office has worked closely with the CMS EA Team to extensively document their current and future RM business processes.</a:t>
            </a:r>
            <a:endParaRPr b="0" lang="en-IN" sz="2000" strike="noStrike" u="none">
              <a:solidFill>
                <a:srgbClr val="000000"/>
              </a:solidFill>
              <a:effectLst/>
              <a:uFillTx/>
              <a:latin typeface="Arial"/>
            </a:endParaRPr>
          </a:p>
          <a:p>
            <a:pPr lvl="1" marL="457200">
              <a:lnSpc>
                <a:spcPct val="110000"/>
              </a:lnSpc>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 These models provide detailed, pictorial descriptions of how CMS executes its records management responsibilities</a:t>
            </a:r>
            <a:endParaRPr b="0" lang="en-IN" sz="18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lnSpc>
                <a:spcPct val="110000"/>
              </a:lnSpc>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CMS Business Process Models were reviewed to determine the scale and scope of a HHS Organization with very detailed, highly involved RM business processes.</a:t>
            </a:r>
            <a:endParaRPr b="0" lang="en-IN" sz="1200" strike="noStrike" u="none">
              <a:solidFill>
                <a:srgbClr val="000000"/>
              </a:solidFill>
              <a:effectLst/>
              <a:uFillTx/>
              <a:latin typeface="Arial"/>
            </a:endParaRPr>
          </a:p>
          <a:p>
            <a:pPr lvl="1" marL="457200">
              <a:lnSpc>
                <a:spcPct val="110000"/>
              </a:lnSpc>
              <a:spcBef>
                <a:spcPts val="7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They were used to measure and attain an understanding of how HHS ODIVS execute their work across multiple processes.</a:t>
            </a:r>
            <a:endParaRPr b="0" lang="en-IN" sz="1200" strike="noStrike" u="none">
              <a:solidFill>
                <a:srgbClr val="000000"/>
              </a:solidFill>
              <a:effectLst/>
              <a:uFillTx/>
              <a:latin typeface="Arial"/>
            </a:endParaRPr>
          </a:p>
          <a:p>
            <a:pPr lvl="1" marL="457200">
              <a:lnSpc>
                <a:spcPct val="110000"/>
              </a:lnSpc>
              <a:spcBef>
                <a:spcPts val="7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These processes provide a very detailed view of a highly complex organization. Through examining these processes, it is possible to gain an understanding of the processes that all OPDIVs perform. </a:t>
            </a:r>
            <a:endParaRPr b="0" lang="en-IN" sz="1200" strike="noStrike" u="none">
              <a:solidFill>
                <a:srgbClr val="000000"/>
              </a:solidFill>
              <a:effectLst/>
              <a:uFillTx/>
              <a:latin typeface="Arial"/>
            </a:endParaRPr>
          </a:p>
          <a:p>
            <a:pPr lvl="1" marL="457200">
              <a:lnSpc>
                <a:spcPct val="110000"/>
              </a:lnSpc>
              <a:spcBef>
                <a:spcPts val="7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CMS’ highly developed business processes provide an opportunity for the other OPDIVs to document how the function and provide ideas for process improvement. </a:t>
            </a:r>
            <a:endParaRPr b="0" lang="en-IN" sz="1200" strike="noStrike" u="none">
              <a:solidFill>
                <a:srgbClr val="000000"/>
              </a:solidFill>
              <a:effectLst/>
              <a:uFillTx/>
              <a:latin typeface="Arial"/>
            </a:endParaRPr>
          </a:p>
          <a:p>
            <a:pPr lvl="1" marL="457200" indent="0">
              <a:lnSpc>
                <a:spcPct val="110000"/>
              </a:lnSpc>
              <a:spcBef>
                <a:spcPts val="7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10000"/>
              </a:lnSpc>
              <a:spcBef>
                <a:spcPts val="75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NIH is using ContextWhere to capture their processes</a:t>
            </a:r>
            <a:endParaRPr b="0" lang="en-IN" sz="12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1130400" y="689040"/>
            <a:ext cx="4599000" cy="3449520"/>
          </a:xfrm>
          <a:prstGeom prst="rect">
            <a:avLst/>
          </a:prstGeom>
          <a:ln w="0">
            <a:noFill/>
          </a:ln>
        </p:spPr>
      </p:sp>
      <p:sp>
        <p:nvSpPr>
          <p:cNvPr id="502"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This diagram represents the high level HHS business model for RM. </a:t>
            </a:r>
            <a:endParaRPr b="0" lang="en-IN" sz="1200" strike="noStrike" u="none">
              <a:solidFill>
                <a:srgbClr val="000000"/>
              </a:solidFill>
              <a:effectLst/>
              <a:uFillTx/>
              <a:latin typeface="Arial"/>
            </a:endParaRPr>
          </a:p>
        </p:txBody>
      </p:sp>
      <p:sp>
        <p:nvSpPr>
          <p:cNvPr id="503" name="Slide Number Placeholder 3"/>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33779EBF-50AD-425E-96A6-1E388B0615EE}"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EAA48835-3073-476D-A807-3E5B1C4D2D4F}"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505" name="PlaceHolder 1"/>
          <p:cNvSpPr>
            <a:spLocks noGrp="1"/>
          </p:cNvSpPr>
          <p:nvPr>
            <p:ph type="sldImg"/>
          </p:nvPr>
        </p:nvSpPr>
        <p:spPr>
          <a:xfrm>
            <a:off x="1130400" y="689040"/>
            <a:ext cx="4599000" cy="3449520"/>
          </a:xfrm>
          <a:prstGeom prst="rect">
            <a:avLst/>
          </a:prstGeom>
          <a:ln w="0">
            <a:noFill/>
          </a:ln>
        </p:spPr>
      </p:sp>
      <p:sp>
        <p:nvSpPr>
          <p:cNvPr id="506"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spreadsheet was created by using the RM assessment, stakeholders interviews, and completed by HHS inferring some of the information from previews datacalls.</a:t>
            </a:r>
            <a:endParaRPr b="0" lang="en-IN" sz="12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A42D4E73-21E2-4317-BF75-3E3537AACCF1}"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508" name="PlaceHolder 1"/>
          <p:cNvSpPr>
            <a:spLocks noGrp="1"/>
          </p:cNvSpPr>
          <p:nvPr>
            <p:ph type="sldImg"/>
          </p:nvPr>
        </p:nvSpPr>
        <p:spPr>
          <a:xfrm>
            <a:off x="1130400" y="689040"/>
            <a:ext cx="4599000" cy="3449520"/>
          </a:xfrm>
          <a:prstGeom prst="rect">
            <a:avLst/>
          </a:prstGeom>
          <a:ln w="0">
            <a:noFill/>
          </a:ln>
        </p:spPr>
      </p:sp>
      <p:sp>
        <p:nvSpPr>
          <p:cNvPr id="509"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200" strike="noStrike" u="none">
                <a:solidFill>
                  <a:srgbClr val="000000"/>
                </a:solidFill>
                <a:effectLst/>
                <a:uFillTx/>
                <a:latin typeface="Arial"/>
              </a:rPr>
              <a:t>The Federal Enterprise Architecture Records Management Profile lists ideas/option with regards to IT systems supporting the RM segment:</a:t>
            </a:r>
            <a:endParaRPr b="0" lang="en-IN" sz="1200" strike="noStrike" u="none">
              <a:solidFill>
                <a:srgbClr val="000000"/>
              </a:solidFill>
              <a:effectLst/>
              <a:uFillTx/>
              <a:latin typeface="Arial"/>
            </a:endParaRPr>
          </a:p>
          <a:p>
            <a:pPr indent="0">
              <a:spcBef>
                <a:spcPts val="451"/>
              </a:spcBef>
              <a:buNone/>
              <a:tabLst>
                <a:tab algn="l" pos="0"/>
                <a:tab algn="l" pos="866880"/>
                <a:tab algn="l" pos="1733400"/>
                <a:tab algn="l" pos="2600280"/>
                <a:tab algn="l" pos="3467160"/>
                <a:tab algn="l" pos="4334040"/>
                <a:tab algn="l" pos="5200560"/>
                <a:tab algn="l" pos="6067440"/>
                <a:tab algn="l" pos="6934320"/>
                <a:tab algn="l" pos="7800840"/>
                <a:tab algn="l" pos="8667720"/>
                <a:tab algn="l" pos="9534600"/>
                <a:tab algn="l" pos="10401480"/>
              </a:tabLst>
            </a:pPr>
            <a:endParaRPr b="0" lang="en-IN" sz="1200" strike="noStrike" u="none">
              <a:solidFill>
                <a:srgbClr val="000000"/>
              </a:solidFill>
              <a:effectLst/>
              <a:uFillTx/>
              <a:latin typeface="Arial"/>
            </a:endParaRPr>
          </a:p>
          <a:p>
            <a:pPr indent="0">
              <a:spcBef>
                <a:spcPts val="414"/>
              </a:spcBef>
              <a:buNone/>
              <a:tabLst>
                <a:tab algn="l" pos="0"/>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200" strike="noStrike" u="none">
                <a:solidFill>
                  <a:srgbClr val="000000"/>
                </a:solidFill>
                <a:effectLst/>
                <a:uFillTx/>
                <a:latin typeface="Arial"/>
              </a:rPr>
              <a:t>“</a:t>
            </a:r>
            <a:r>
              <a:rPr b="0" lang="en-US" sz="1100" strike="noStrike" u="none">
                <a:solidFill>
                  <a:srgbClr val="000000"/>
                </a:solidFill>
                <a:effectLst/>
                <a:uFillTx/>
                <a:latin typeface="TimesNewRoman"/>
              </a:rPr>
              <a:t>the RM Profile includes three scenarios that demonstrate hypothetical applications of some of the FEA reference model/records management-related questions. As listed below, these scenarios</a:t>
            </a:r>
            <a:endParaRPr b="0" lang="en-IN" sz="1100" strike="noStrike" u="none">
              <a:solidFill>
                <a:srgbClr val="000000"/>
              </a:solidFill>
              <a:effectLst/>
              <a:uFillTx/>
              <a:latin typeface="Arial"/>
            </a:endParaRPr>
          </a:p>
          <a:p>
            <a:pPr indent="0">
              <a:lnSpc>
                <a:spcPct val="100000"/>
              </a:lnSpc>
              <a:spcBef>
                <a:spcPts val="414"/>
              </a:spcBef>
              <a:buNone/>
              <a:tabLst>
                <a:tab algn="l" pos="0"/>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100" strike="noStrike" u="none">
                <a:solidFill>
                  <a:srgbClr val="000000"/>
                </a:solidFill>
                <a:effectLst/>
                <a:uFillTx/>
                <a:latin typeface="TimesNewRoman"/>
              </a:rPr>
              <a:t>represent two distinct tracks that agencies might choose, and a third option that represents a hybrid approach combining elements of the first two :</a:t>
            </a:r>
            <a:endParaRPr b="0" lang="en-IN" sz="1100" strike="noStrike" u="none">
              <a:solidFill>
                <a:srgbClr val="000000"/>
              </a:solidFill>
              <a:effectLst/>
              <a:uFillTx/>
              <a:latin typeface="Arial"/>
            </a:endParaRPr>
          </a:p>
          <a:p>
            <a:pPr>
              <a:lnSpc>
                <a:spcPct val="100000"/>
              </a:lnSpc>
              <a:spcBef>
                <a:spcPts val="414"/>
              </a:spcBef>
              <a:buClr>
                <a:srgbClr val="000000"/>
              </a:buClr>
              <a:buFont typeface="TimesNewRoman"/>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100" strike="noStrike" u="none">
                <a:solidFill>
                  <a:srgbClr val="000000"/>
                </a:solidFill>
                <a:effectLst/>
                <a:uFillTx/>
                <a:latin typeface="TimesNewRoman"/>
              </a:rPr>
              <a:t>  An agency can opt for a DoD 5015.2-STD certified Records Management Application (RMA) that provides records management functionality for capturing, managing, accessing,</a:t>
            </a:r>
            <a:endParaRPr b="0" lang="en-IN" sz="1100" strike="noStrike" u="none">
              <a:solidFill>
                <a:srgbClr val="000000"/>
              </a:solidFill>
              <a:effectLst/>
              <a:uFillTx/>
              <a:latin typeface="Arial"/>
            </a:endParaRPr>
          </a:p>
          <a:p>
            <a:pPr indent="0">
              <a:lnSpc>
                <a:spcPct val="100000"/>
              </a:lnSpc>
              <a:spcBef>
                <a:spcPts val="414"/>
              </a:spcBef>
              <a:buNone/>
              <a:tabLst>
                <a:tab algn="l" pos="0"/>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100" strike="noStrike" u="none">
                <a:solidFill>
                  <a:srgbClr val="000000"/>
                </a:solidFill>
                <a:effectLst/>
                <a:uFillTx/>
                <a:latin typeface="TimesNewRoman"/>
              </a:rPr>
              <a:t>storing, and dispositioning records.</a:t>
            </a:r>
            <a:endParaRPr b="0" lang="en-IN" sz="1100" strike="noStrike" u="none">
              <a:solidFill>
                <a:srgbClr val="000000"/>
              </a:solidFill>
              <a:effectLst/>
              <a:uFillTx/>
              <a:latin typeface="Arial"/>
            </a:endParaRPr>
          </a:p>
          <a:p>
            <a:pPr>
              <a:lnSpc>
                <a:spcPct val="100000"/>
              </a:lnSpc>
              <a:spcBef>
                <a:spcPts val="414"/>
              </a:spcBef>
              <a:buClr>
                <a:srgbClr val="000000"/>
              </a:buClr>
              <a:buFont typeface="TimesNewRoman"/>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100" strike="noStrike" u="none">
                <a:solidFill>
                  <a:srgbClr val="000000"/>
                </a:solidFill>
                <a:effectLst/>
                <a:uFillTx/>
                <a:latin typeface="TimesNewRoman"/>
              </a:rPr>
              <a:t>  Another option is to explore a component-based architecture (CBA) that uses records management service components (RMSCs) to accomplish similar functionality.</a:t>
            </a:r>
            <a:endParaRPr b="0" lang="en-IN" sz="1100" strike="noStrike" u="none">
              <a:solidFill>
                <a:srgbClr val="000000"/>
              </a:solidFill>
              <a:effectLst/>
              <a:uFillTx/>
              <a:latin typeface="Arial"/>
            </a:endParaRPr>
          </a:p>
          <a:p>
            <a:pPr>
              <a:lnSpc>
                <a:spcPct val="100000"/>
              </a:lnSpc>
              <a:spcBef>
                <a:spcPts val="414"/>
              </a:spcBef>
              <a:buClr>
                <a:srgbClr val="000000"/>
              </a:buClr>
              <a:buFont typeface="TimesNewRoman"/>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100" strike="noStrike" u="none">
                <a:solidFill>
                  <a:srgbClr val="000000"/>
                </a:solidFill>
                <a:effectLst/>
                <a:uFillTx/>
                <a:latin typeface="TimesNewRoman"/>
              </a:rPr>
              <a:t>  A third option is to develop RMSCs as part of mission applications and link them to RMAs already being used by the agency.</a:t>
            </a:r>
            <a:endParaRPr b="0" lang="en-IN" sz="11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Rectangle 7"/>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B7544FB7-570D-4B37-8388-5A8E85ADAE74}"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511" name="PlaceHolder 1"/>
          <p:cNvSpPr>
            <a:spLocks noGrp="1"/>
          </p:cNvSpPr>
          <p:nvPr>
            <p:ph type="sldImg"/>
          </p:nvPr>
        </p:nvSpPr>
        <p:spPr>
          <a:xfrm>
            <a:off x="1130400" y="689040"/>
            <a:ext cx="4599000" cy="3449520"/>
          </a:xfrm>
          <a:prstGeom prst="rect">
            <a:avLst/>
          </a:prstGeom>
          <a:ln w="0">
            <a:noFill/>
          </a:ln>
        </p:spPr>
      </p:sp>
      <p:sp>
        <p:nvSpPr>
          <p:cNvPr id="512"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See Federal Enterprise Architecture Records Management Profile v1</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 CPIC process is evolving to support HHS system development life cycle (EPLC). The EPLC is a solid project management methodology that incorporates best government and commercial practices through a consistent and repeatable process, and provides a standard structure for planning, managing and overseeing IT projects over their entire life cycle. The EPLC framework consists of ten life cycle phases.  Within each phase, activities, responsibilities, reviews, and deliverables are defined.  Exit criteria are established for each phase and Stage Gate reviews are conducted through the IT governance process to ensure that the project’s management quality, soundness, and technical feasibility remain adequate and the project is ready to move forward to the next phase. The EPLC framework provides a guide to Project Managers, Business Owners, IT governance executives and other stakeholders throughout the life of the project.</a:t>
            </a:r>
            <a:endParaRPr b="0" lang="en-IN" sz="12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30400" y="689040"/>
            <a:ext cx="4599000" cy="3449520"/>
          </a:xfrm>
          <a:prstGeom prst="rect">
            <a:avLst/>
          </a:prstGeom>
          <a:ln w="0">
            <a:noFill/>
          </a:ln>
        </p:spPr>
      </p:sp>
      <p:sp>
        <p:nvSpPr>
          <p:cNvPr id="514"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RM Profile identifies the following objectives: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spcBef>
                <a:spcPts val="451"/>
              </a:spcBef>
              <a:buClr>
                <a:srgbClr val="00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Use the FEA as the common Government-wide framework for identifying records management requirements.</a:t>
            </a:r>
            <a:endParaRPr b="0" lang="en-IN" sz="1200" strike="noStrike" u="none">
              <a:solidFill>
                <a:srgbClr val="000000"/>
              </a:solidFill>
              <a:effectLst/>
              <a:uFillTx/>
              <a:latin typeface="Arial"/>
            </a:endParaRPr>
          </a:p>
          <a:p>
            <a:pPr>
              <a:spcBef>
                <a:spcPts val="451"/>
              </a:spcBef>
              <a:buClr>
                <a:srgbClr val="00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Identify records management issues and requirements and link them to their implementing technologies and business processes.</a:t>
            </a:r>
            <a:endParaRPr b="0" lang="en-IN" sz="1200" strike="noStrike" u="none">
              <a:solidFill>
                <a:srgbClr val="000000"/>
              </a:solidFill>
              <a:effectLst/>
              <a:uFillTx/>
              <a:latin typeface="Arial"/>
            </a:endParaRPr>
          </a:p>
          <a:p>
            <a:pPr>
              <a:spcBef>
                <a:spcPts val="451"/>
              </a:spcBef>
              <a:buClr>
                <a:srgbClr val="00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Build records management requirements into agency information technology (IT) governance processes for capital planning, enterprise architecture, business process design, and the systems development life cycle.</a:t>
            </a:r>
            <a:endParaRPr b="0" lang="en-IN" sz="1200" strike="noStrike" u="none">
              <a:solidFill>
                <a:srgbClr val="000000"/>
              </a:solidFill>
              <a:effectLst/>
              <a:uFillTx/>
              <a:latin typeface="Arial"/>
            </a:endParaRPr>
          </a:p>
          <a:p>
            <a:pPr>
              <a:spcBef>
                <a:spcPts val="451"/>
              </a:spcBef>
              <a:buClr>
                <a:srgbClr val="00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Establish a concise and coherent body of records management resources that places this information in the proper context within the FEA.</a:t>
            </a:r>
            <a:endParaRPr b="0" lang="en-IN" sz="1200" strike="noStrike" u="none">
              <a:solidFill>
                <a:srgbClr val="000000"/>
              </a:solidFill>
              <a:effectLst/>
              <a:uFillTx/>
              <a:latin typeface="Arial"/>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Reference: Federal Enterprise Architecture Records Management Profile v1, page III - IV</a:t>
            </a:r>
            <a:endParaRPr b="0" lang="en-IN" sz="1200" strike="noStrike" u="none">
              <a:solidFill>
                <a:srgbClr val="000000"/>
              </a:solidFill>
              <a:effectLst/>
              <a:uFillTx/>
              <a:latin typeface="Arial"/>
            </a:endParaRPr>
          </a:p>
        </p:txBody>
      </p:sp>
      <p:sp>
        <p:nvSpPr>
          <p:cNvPr id="515" name="Slide Number Placeholder 3"/>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DBF42D40-1185-473C-B0D9-7EF29E31E6E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130400" y="689040"/>
            <a:ext cx="4599000" cy="3449520"/>
          </a:xfrm>
          <a:prstGeom prst="rect">
            <a:avLst/>
          </a:prstGeom>
          <a:ln w="0">
            <a:noFill/>
          </a:ln>
        </p:spPr>
      </p:sp>
      <p:sp>
        <p:nvSpPr>
          <p:cNvPr id="517"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Definitions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518" name="Slide Number Placeholder 3"/>
          <p:cNvSpPr/>
          <p:nvPr/>
        </p:nvSpPr>
        <p:spPr>
          <a:xfrm>
            <a:off x="3884760" y="8737560"/>
            <a:ext cx="2971800" cy="460440"/>
          </a:xfrm>
          <a:prstGeom prst="rect">
            <a:avLst/>
          </a:prstGeom>
          <a:noFill/>
          <a:ln w="0">
            <a:noFill/>
          </a:ln>
        </p:spPr>
        <p:style>
          <a:lnRef idx="0"/>
          <a:fillRef idx="0"/>
          <a:effectRef idx="0"/>
          <a:fontRef idx="minor"/>
        </p:style>
        <p:txBody>
          <a:bodyPr lIns="93960" rIns="93960" tIns="47160" bIns="47160" anchor="b">
            <a:noAutofit/>
          </a:bodyPr>
          <a:p>
            <a:pPr algn="r">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380B4B87-06C4-46A9-A117-9F7716F8D133}"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30400" y="689040"/>
            <a:ext cx="4599000" cy="3449520"/>
          </a:xfrm>
          <a:prstGeom prst="rect">
            <a:avLst/>
          </a:prstGeom>
          <a:ln w="0">
            <a:noFill/>
          </a:ln>
        </p:spPr>
      </p:sp>
      <p:sp>
        <p:nvSpPr>
          <p:cNvPr id="520"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The CPIC process is evolving to support HHS system development life cycle (EPLC). The EPLC is a project management methodology that incorporates best government and commercial practices through a consistent and repeatable process, and provides a standard structure for planning, managing and overseeing IT projects over their entire life cycle. The EPLC framework consists of ten life cycle phases.  Within each phase, activities, responsibilities, reviews, and deliverables are defined.  Exit criteria are established for each phase and Stage Gate reviews are conducted through the IT governance process to ensure that the project’s management quality, soundness, and technical feasibility remain adequate and the project is ready to move forward to the next phase. The EPLC framework provides a guide to Project Managers, Business Owners, IT governance executives and other stakeholders throughout the life of the project.</a:t>
            </a:r>
            <a:endParaRPr b="0" lang="en-IN" sz="1200" strike="noStrike" u="none">
              <a:solidFill>
                <a:srgbClr val="000000"/>
              </a:solidFill>
              <a:effectLst/>
              <a:uFillTx/>
              <a:latin typeface="Arial"/>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5a7a"/>
                </a:solidFill>
                <a:effectLst/>
                <a:uFillTx/>
                <a:latin typeface="Arial"/>
              </a:rPr>
              <a:t>** The EA program is in the process of collection the full inventory of IT systems and consolidating it across CPIC and Security.  RM will leverage the consolidated list to support the submission to NARA in September 2009.</a:t>
            </a:r>
            <a:endParaRPr b="0" lang="en-IN" sz="12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30400" y="689040"/>
            <a:ext cx="4599000" cy="3449520"/>
          </a:xfrm>
          <a:prstGeom prst="rect">
            <a:avLst/>
          </a:prstGeom>
          <a:ln w="0">
            <a:noFill/>
          </a:ln>
        </p:spPr>
      </p:sp>
      <p:sp>
        <p:nvSpPr>
          <p:cNvPr id="522"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Currently HHS does has a decentralized inventory of record schedules.  HHS is in the process of collecting all the Records Schedules that are submitted to HHS in multiple formats: Excel, Word, PDF, and paper copies</a:t>
            </a:r>
            <a:endParaRPr b="0" lang="en-IN" sz="12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1130400" y="689040"/>
            <a:ext cx="4599000" cy="3449520"/>
          </a:xfrm>
          <a:prstGeom prst="rect">
            <a:avLst/>
          </a:prstGeom>
          <a:ln w="0">
            <a:noFill/>
          </a:ln>
        </p:spPr>
      </p:sp>
      <p:sp>
        <p:nvSpPr>
          <p:cNvPr id="524" name="PlaceHolder 2"/>
          <p:cNvSpPr>
            <a:spLocks noGrp="1"/>
          </p:cNvSpPr>
          <p:nvPr>
            <p:ph type="body"/>
          </p:nvPr>
        </p:nvSpPr>
        <p:spPr>
          <a:xfrm>
            <a:off x="687240" y="4370040"/>
            <a:ext cx="5483520" cy="4140360"/>
          </a:xfrm>
          <a:prstGeom prst="rect">
            <a:avLst/>
          </a:prstGeom>
          <a:noFill/>
          <a:ln w="0">
            <a:noFill/>
          </a:ln>
        </p:spPr>
        <p:txBody>
          <a:bodyPr lIns="93960" rIns="93960" tIns="47160" bIns="471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  In target RM segment, the integration with the Enterprise Performance Life Cycle (EPLC) process will allow and require IT System owners to map the IT system being developed to a Job Function related to the information created by this system.</a:t>
            </a: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590920"/>
            <a:ext cx="8229600" cy="3286080"/>
          </a:xfrm>
          <a:prstGeom prst="rect">
            <a:avLst/>
          </a:prstGeom>
          <a:noFill/>
          <a:ln w="0">
            <a:noFill/>
          </a:ln>
        </p:spPr>
        <p:txBody>
          <a:bodyPr lIns="90000" rIns="90000" tIns="46800" bIns="4680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262673"/>
                </a:solidFill>
                <a:effectLst/>
                <a:uFillTx/>
                <a:latin typeface="Century Gothic"/>
              </a:rPr>
              <a:t>Click to edit the title text format</a:t>
            </a:r>
            <a:endParaRPr b="1" lang="en-IN" sz="4400" strike="noStrike" u="none">
              <a:solidFill>
                <a:srgbClr val="262673"/>
              </a:solidFill>
              <a:effectLst/>
              <a:uFillTx/>
              <a:latin typeface="Century Gothic"/>
            </a:endParaRPr>
          </a:p>
        </p:txBody>
      </p:sp>
      <p:sp>
        <p:nvSpPr>
          <p:cNvPr id="1" name="PlaceHolder 2"/>
          <p:cNvSpPr>
            <a:spLocks noGrp="1"/>
          </p:cNvSpPr>
          <p:nvPr>
            <p:ph type="body"/>
          </p:nvPr>
        </p:nvSpPr>
        <p:spPr>
          <a:xfrm>
            <a:off x="228600" y="1698480"/>
            <a:ext cx="8229600" cy="609840"/>
          </a:xfrm>
          <a:prstGeom prst="rect">
            <a:avLst/>
          </a:prstGeom>
          <a:noFill/>
          <a:ln w="0">
            <a:noFill/>
          </a:ln>
        </p:spPr>
        <p:txBody>
          <a:bodyPr lIns="90000" rIns="90000" tIns="46800" bIns="46800" anchor="t">
            <a:normAutofit fontScale="25000" lnSpcReduction="19999"/>
          </a:bodyPr>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Click to edit the outline text format</a:t>
            </a:r>
            <a:endParaRPr b="1" lang="en-IN" sz="3200" strike="noStrike" u="none">
              <a:solidFill>
                <a:srgbClr val="00b0f0"/>
              </a:solidFill>
              <a:effectLst/>
              <a:uFillTx/>
              <a:latin typeface="Century Gothic"/>
            </a:endParaRPr>
          </a:p>
          <a:p>
            <a:pPr lvl="1" marL="343080" indent="-343080">
              <a:spcBef>
                <a:spcPts val="799"/>
              </a:spcBef>
              <a:buClr>
                <a:srgbClr val="8a8a8a"/>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Second Outline Level</a:t>
            </a:r>
            <a:endParaRPr b="1" lang="en-IN" sz="3200" strike="noStrike" u="none">
              <a:solidFill>
                <a:srgbClr val="00b0f0"/>
              </a:solidFill>
              <a:effectLst/>
              <a:uFillTx/>
              <a:latin typeface="Century Gothic"/>
            </a:endParaRPr>
          </a:p>
          <a:p>
            <a:pPr lvl="2" marL="343080" indent="-343080">
              <a:spcBef>
                <a:spcPts val="799"/>
              </a:spcBef>
              <a:buClr>
                <a:srgbClr val="8a8a8a"/>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Third Outline Level</a:t>
            </a:r>
            <a:endParaRPr b="1" lang="en-IN" sz="3200" strike="noStrike" u="none">
              <a:solidFill>
                <a:srgbClr val="00b0f0"/>
              </a:solidFill>
              <a:effectLst/>
              <a:uFillTx/>
              <a:latin typeface="Century Gothic"/>
            </a:endParaRPr>
          </a:p>
          <a:p>
            <a:pPr lvl="3" marL="343080" indent="-343080">
              <a:spcBef>
                <a:spcPts val="799"/>
              </a:spcBef>
              <a:buClr>
                <a:srgbClr val="8a8a8a"/>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Fourth Outline Level</a:t>
            </a:r>
            <a:endParaRPr b="1" lang="en-IN" sz="3200" strike="noStrike" u="none">
              <a:solidFill>
                <a:srgbClr val="00b0f0"/>
              </a:solidFill>
              <a:effectLst/>
              <a:uFillTx/>
              <a:latin typeface="Century Gothic"/>
            </a:endParaRPr>
          </a:p>
          <a:p>
            <a:pPr lvl="4" marL="343080" indent="-343080">
              <a:spcBef>
                <a:spcPts val="799"/>
              </a:spcBef>
              <a:buClr>
                <a:srgbClr val="8a8a8a"/>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Fifth Outline Level</a:t>
            </a:r>
            <a:endParaRPr b="1" lang="en-IN" sz="3200" strike="noStrike" u="none">
              <a:solidFill>
                <a:srgbClr val="00b0f0"/>
              </a:solidFill>
              <a:effectLst/>
              <a:uFillTx/>
              <a:latin typeface="Century Gothic"/>
            </a:endParaRPr>
          </a:p>
          <a:p>
            <a:pPr lvl="5" marL="343080" indent="-343080">
              <a:spcBef>
                <a:spcPts val="799"/>
              </a:spcBef>
              <a:buClr>
                <a:srgbClr val="000000"/>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Sixth Outline Level</a:t>
            </a:r>
            <a:endParaRPr b="1" lang="en-IN" sz="3200" strike="noStrike" u="none">
              <a:solidFill>
                <a:srgbClr val="00b0f0"/>
              </a:solidFill>
              <a:effectLst/>
              <a:uFillTx/>
              <a:latin typeface="Century Gothic"/>
            </a:endParaRPr>
          </a:p>
          <a:p>
            <a:pPr lvl="6" marL="343080" indent="-343080">
              <a:spcBef>
                <a:spcPts val="799"/>
              </a:spcBef>
              <a:buClr>
                <a:srgbClr val="000000"/>
              </a:buClr>
              <a:buFont typeface="Century Gothic"/>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b0f0"/>
                </a:solidFill>
                <a:effectLst/>
                <a:uFillTx/>
                <a:latin typeface="Century Gothic"/>
              </a:rPr>
              <a:t>Seventh Outline Level</a:t>
            </a:r>
            <a:endParaRPr b="1" lang="en-IN" sz="3200" strike="noStrike" u="none">
              <a:solidFill>
                <a:srgbClr val="00b0f0"/>
              </a:solidFill>
              <a:effectLst/>
              <a:uFillTx/>
              <a:latin typeface="Century Gothic"/>
            </a:endParaRPr>
          </a:p>
        </p:txBody>
      </p:sp>
      <p:sp>
        <p:nvSpPr>
          <p:cNvPr id="2" name="Line 4"/>
          <p:cNvSpPr/>
          <p:nvPr/>
        </p:nvSpPr>
        <p:spPr>
          <a:xfrm>
            <a:off x="0" y="2241720"/>
            <a:ext cx="9144000" cy="0"/>
          </a:xfrm>
          <a:prstGeom prst="line">
            <a:avLst/>
          </a:prstGeom>
          <a:ln w="184320">
            <a:solidFill>
              <a:srgbClr val="00b0f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3" name="Picture 6" descr=""/>
          <p:cNvPicPr/>
          <p:nvPr/>
        </p:nvPicPr>
        <p:blipFill>
          <a:blip r:embed="rId2"/>
          <a:srcRect l="30646" t="18961" r="16579" b="66567"/>
          <a:stretch/>
        </p:blipFill>
        <p:spPr>
          <a:xfrm>
            <a:off x="2830680" y="281160"/>
            <a:ext cx="5898960" cy="101124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solidFill>
          <a:srgbClr val="ffffff"/>
        </a:solidFill>
      </p:bgPr>
    </p:bg>
    <p:spTree>
      <p:nvGrpSpPr>
        <p:cNvPr id="1" name=""/>
        <p:cNvGrpSpPr/>
        <p:nvPr/>
      </p:nvGrpSpPr>
      <p:grpSpPr>
        <a:xfrm>
          <a:off x="0" y="0"/>
          <a:ext cx="0" cy="0"/>
          <a:chOff x="0" y="0"/>
          <a:chExt cx="0" cy="0"/>
        </a:xfrm>
      </p:grpSpPr>
      <p:sp>
        <p:nvSpPr>
          <p:cNvPr id="4" name="Line 4"/>
          <p:cNvSpPr/>
          <p:nvPr/>
        </p:nvSpPr>
        <p:spPr>
          <a:xfrm>
            <a:off x="0" y="2270160"/>
            <a:ext cx="9144000" cy="0"/>
          </a:xfrm>
          <a:prstGeom prst="line">
            <a:avLst/>
          </a:prstGeom>
          <a:ln w="291960">
            <a:solidFill>
              <a:srgbClr val="00b0f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5" name="Group 10"/>
          <p:cNvGrpSpPr/>
          <p:nvPr/>
        </p:nvGrpSpPr>
        <p:grpSpPr>
          <a:xfrm>
            <a:off x="485640" y="369720"/>
            <a:ext cx="8550360" cy="1280160"/>
            <a:chOff x="485640" y="369720"/>
            <a:chExt cx="8550360" cy="1280160"/>
          </a:xfrm>
        </p:grpSpPr>
        <p:pic>
          <p:nvPicPr>
            <p:cNvPr id="6" name="Picture 6" descr="HHS EA logo - HHS"/>
            <p:cNvPicPr/>
            <p:nvPr/>
          </p:nvPicPr>
          <p:blipFill>
            <a:blip r:embed="rId2"/>
            <a:srcRect l="1066" t="0" r="84905" b="12547"/>
            <a:stretch/>
          </p:blipFill>
          <p:spPr>
            <a:xfrm>
              <a:off x="485640" y="383760"/>
              <a:ext cx="1204560" cy="1222560"/>
            </a:xfrm>
            <a:prstGeom prst="rect">
              <a:avLst/>
            </a:prstGeom>
            <a:noFill/>
            <a:ln w="0">
              <a:noFill/>
            </a:ln>
          </p:spPr>
        </p:pic>
        <p:sp>
          <p:nvSpPr>
            <p:cNvPr id="7" name="Rectangle 11"/>
            <p:cNvSpPr/>
            <p:nvPr/>
          </p:nvSpPr>
          <p:spPr>
            <a:xfrm>
              <a:off x="1704600" y="884160"/>
              <a:ext cx="6967800" cy="581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9bb3bb"/>
                  </a:solidFill>
                  <a:effectLst/>
                  <a:uFillTx/>
                  <a:latin typeface="Arial"/>
                </a:rPr>
                <a:t>INTEGRATED PROJECT TEAM</a:t>
              </a:r>
              <a:endParaRPr b="0" lang="en-IN" sz="3200" strike="noStrike" u="none">
                <a:solidFill>
                  <a:srgbClr val="000000"/>
                </a:solidFill>
                <a:effectLst/>
                <a:uFillTx/>
                <a:latin typeface="Arial"/>
              </a:endParaRPr>
            </a:p>
          </p:txBody>
        </p:sp>
        <p:sp>
          <p:nvSpPr>
            <p:cNvPr id="8" name="Rectangle 12"/>
            <p:cNvSpPr/>
            <p:nvPr/>
          </p:nvSpPr>
          <p:spPr>
            <a:xfrm>
              <a:off x="1521000" y="369720"/>
              <a:ext cx="7515000" cy="78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500" strike="noStrike" u="none">
                  <a:solidFill>
                    <a:srgbClr val="262673"/>
                  </a:solidFill>
                  <a:effectLst/>
                  <a:uFillTx/>
                  <a:latin typeface="Century Gothic"/>
                </a:rPr>
                <a:t>RECORDS MANAGEMENT </a:t>
              </a:r>
              <a:endParaRPr b="0" lang="en-IN" sz="4500" strike="noStrike" u="none">
                <a:solidFill>
                  <a:srgbClr val="000000"/>
                </a:solidFill>
                <a:effectLst/>
                <a:uFillTx/>
                <a:latin typeface="Arial"/>
              </a:endParaRPr>
            </a:p>
          </p:txBody>
        </p:sp>
        <p:sp>
          <p:nvSpPr>
            <p:cNvPr id="9" name="Rectangle 15"/>
            <p:cNvSpPr/>
            <p:nvPr/>
          </p:nvSpPr>
          <p:spPr>
            <a:xfrm>
              <a:off x="3657600" y="1327320"/>
              <a:ext cx="4957920" cy="322560"/>
            </a:xfrm>
            <a:prstGeom prst="rect">
              <a:avLst/>
            </a:prstGeom>
            <a:noFill/>
            <a:ln w="0">
              <a:noFill/>
            </a:ln>
          </p:spPr>
          <p:style>
            <a:lnRef idx="0"/>
            <a:fillRef idx="0"/>
            <a:effectRef idx="0"/>
            <a:fontRef idx="minor"/>
          </p:style>
          <p:txBody>
            <a:bodyPr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500" strike="noStrike" u="none">
                  <a:solidFill>
                    <a:srgbClr val="9bb3bb"/>
                  </a:solidFill>
                  <a:effectLst/>
                  <a:uFillTx/>
                  <a:latin typeface="Arial"/>
                </a:rPr>
                <a:t>OFFICE OF THE CHIEF INFORMATION OFFICER</a:t>
              </a:r>
              <a:endParaRPr b="0" lang="en-IN" sz="1500" strike="noStrike" u="none">
                <a:solidFill>
                  <a:srgbClr val="000000"/>
                </a:solidFill>
                <a:effectLst/>
                <a:uFillTx/>
                <a:latin typeface="Arial"/>
              </a:endParaRPr>
            </a:p>
          </p:txBody>
        </p:sp>
      </p:grpSp>
      <p:sp>
        <p:nvSpPr>
          <p:cNvPr id="10" name="Line 4"/>
          <p:cNvSpPr/>
          <p:nvPr/>
        </p:nvSpPr>
        <p:spPr>
          <a:xfrm>
            <a:off x="0" y="2473200"/>
            <a:ext cx="9144000" cy="0"/>
          </a:xfrm>
          <a:prstGeom prst="line">
            <a:avLst/>
          </a:prstGeom>
          <a:ln w="57240">
            <a:solidFill>
              <a:srgbClr val="75db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TextBox 18"/>
          <p:cNvSpPr/>
          <p:nvPr/>
        </p:nvSpPr>
        <p:spPr>
          <a:xfrm>
            <a:off x="4123080" y="2143080"/>
            <a:ext cx="39585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ccffff"/>
                </a:solidFill>
                <a:effectLst/>
                <a:uFillTx/>
                <a:latin typeface="Century Gothic"/>
              </a:rPr>
              <a:t>U.S. DEPARTMENT OF HEALTH AND HUMAN SERVICES</a:t>
            </a:r>
            <a:endParaRPr b="0" lang="en-IN" sz="1100" strike="noStrike" u="none">
              <a:solidFill>
                <a:srgbClr val="000000"/>
              </a:solidFill>
              <a:effectLst/>
              <a:uFillTx/>
              <a:latin typeface="Arial"/>
            </a:endParaRPr>
          </a:p>
        </p:txBody>
      </p:sp>
      <p:sp>
        <p:nvSpPr>
          <p:cNvPr id="12" name="PlaceHolder 1"/>
          <p:cNvSpPr>
            <a:spLocks noGrp="1"/>
          </p:cNvSpPr>
          <p:nvPr>
            <p:ph type="title"/>
          </p:nvPr>
        </p:nvSpPr>
        <p:spPr>
          <a:xfrm>
            <a:off x="457200" y="101520"/>
            <a:ext cx="822960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262673"/>
                </a:solidFill>
                <a:effectLst/>
                <a:uFillTx/>
                <a:latin typeface="Century Gothic"/>
              </a:rPr>
              <a:t>Click to edit the title text format</a:t>
            </a:r>
            <a:endParaRPr b="1" lang="en-IN" sz="3200" strike="noStrike" u="none">
              <a:solidFill>
                <a:srgbClr val="262673"/>
              </a:solidFill>
              <a:effectLst/>
              <a:uFillTx/>
              <a:latin typeface="Century Gothic"/>
            </a:endParaRPr>
          </a:p>
        </p:txBody>
      </p:sp>
      <p:sp>
        <p:nvSpPr>
          <p:cNvPr id="13" name="PlaceHolder 2"/>
          <p:cNvSpPr>
            <a:spLocks noGrp="1"/>
          </p:cNvSpPr>
          <p:nvPr>
            <p:ph type="body"/>
          </p:nvPr>
        </p:nvSpPr>
        <p:spPr>
          <a:xfrm>
            <a:off x="457200" y="1294920"/>
            <a:ext cx="8229600" cy="4754520"/>
          </a:xfrm>
          <a:prstGeom prst="rect">
            <a:avLst/>
          </a:prstGeom>
          <a:noFill/>
          <a:ln w="0">
            <a:noFill/>
          </a:ln>
        </p:spPr>
        <p:txBody>
          <a:bodyPr lIns="90000" rIns="90000" tIns="46800" bIns="46800" anchor="t">
            <a:normAutofit/>
          </a:bodyPr>
          <a:p>
            <a:pPr marL="343080" indent="-34308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Click to edit the outline text format</a:t>
            </a:r>
            <a:endParaRPr b="0" lang="en-IN" sz="2800" strike="noStrike" u="none">
              <a:solidFill>
                <a:srgbClr val="262673"/>
              </a:solidFill>
              <a:effectLst/>
              <a:uFillTx/>
              <a:latin typeface="Century Gothic"/>
            </a:endParaRPr>
          </a:p>
          <a:p>
            <a:pPr lvl="1" marL="743040" indent="-28584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Second Outline Level</a:t>
            </a:r>
            <a:endParaRPr b="0" lang="en-IN" sz="2800" strike="noStrike" u="none">
              <a:solidFill>
                <a:srgbClr val="262673"/>
              </a:solidFill>
              <a:effectLst/>
              <a:uFillTx/>
              <a:latin typeface="Century Gothic"/>
            </a:endParaRPr>
          </a:p>
          <a:p>
            <a:pPr lvl="2" marL="11430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Third Outline Level</a:t>
            </a:r>
            <a:endParaRPr b="0" lang="en-IN" sz="2800" strike="noStrike" u="none">
              <a:solidFill>
                <a:srgbClr val="262673"/>
              </a:solidFill>
              <a:effectLst/>
              <a:uFillTx/>
              <a:latin typeface="Century Gothic"/>
            </a:endParaRPr>
          </a:p>
          <a:p>
            <a:pPr lvl="3" marL="16002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Fourth Outline Level</a:t>
            </a:r>
            <a:endParaRPr b="0" lang="en-IN" sz="2800" strike="noStrike" u="none">
              <a:solidFill>
                <a:srgbClr val="262673"/>
              </a:solidFill>
              <a:effectLst/>
              <a:uFillTx/>
              <a:latin typeface="Century Gothic"/>
            </a:endParaRPr>
          </a:p>
          <a:p>
            <a:pPr lvl="4" marL="20574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Fifth Outline Level</a:t>
            </a:r>
            <a:endParaRPr b="0" lang="en-IN" sz="2800" strike="noStrike" u="none">
              <a:solidFill>
                <a:srgbClr val="262673"/>
              </a:solidFill>
              <a:effectLst/>
              <a:uFillTx/>
              <a:latin typeface="Century Gothic"/>
            </a:endParaRPr>
          </a:p>
          <a:p>
            <a:pPr lvl="5" marL="2057400" indent="-228600">
              <a:spcBef>
                <a:spcPts val="700"/>
              </a:spcBef>
              <a:buClr>
                <a:srgbClr val="000000"/>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Sixth Outline Level</a:t>
            </a:r>
            <a:endParaRPr b="0" lang="en-IN" sz="2800" strike="noStrike" u="none">
              <a:solidFill>
                <a:srgbClr val="262673"/>
              </a:solidFill>
              <a:effectLst/>
              <a:uFillTx/>
              <a:latin typeface="Century Gothic"/>
            </a:endParaRPr>
          </a:p>
          <a:p>
            <a:pPr lvl="6" marL="2057400" indent="-228600">
              <a:spcBef>
                <a:spcPts val="700"/>
              </a:spcBef>
              <a:buClr>
                <a:srgbClr val="000000"/>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Seventh Outline Level</a:t>
            </a:r>
            <a:endParaRPr b="0" lang="en-IN" sz="2800" strike="noStrike" u="none">
              <a:solidFill>
                <a:srgbClr val="262673"/>
              </a:solidFill>
              <a:effectLst/>
              <a:uFillTx/>
              <a:latin typeface="Century Gothic"/>
            </a:endParaRPr>
          </a:p>
        </p:txBody>
      </p:sp>
      <p:sp>
        <p:nvSpPr>
          <p:cNvPr id="14" name="PlaceHolder 3"/>
          <p:cNvSpPr>
            <a:spLocks noGrp="1"/>
          </p:cNvSpPr>
          <p:nvPr>
            <p:ph type="dt" idx="1"/>
          </p:nvPr>
        </p:nvSpPr>
        <p:spPr>
          <a:xfrm>
            <a:off x="3580920" y="6248160"/>
            <a:ext cx="2133720" cy="47628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262673"/>
                </a:solidFill>
                <a:effectLst/>
                <a:uFillTx/>
                <a:latin typeface="Century Gothic"/>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6AA16EF-7567-46E6-B6A9-19E2BA0DAC6D}" type="datetime3">
              <a:rPr b="0" lang="en-US" sz="1200" strike="noStrike" u="none">
                <a:solidFill>
                  <a:srgbClr val="262673"/>
                </a:solidFill>
                <a:effectLst/>
                <a:uFillTx/>
                <a:latin typeface="Century Gothic"/>
              </a:rPr>
              <a:t>June 3, 2025</a:t>
            </a:fld>
            <a:endParaRPr b="0" lang="en-IN"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3">
    <p:bg>
      <p:bgPr>
        <a:solidFill>
          <a:srgbClr val="ffffff"/>
        </a:solidFill>
      </p:bgPr>
    </p:bg>
    <p:spTree>
      <p:nvGrpSpPr>
        <p:cNvPr id="1" name=""/>
        <p:cNvGrpSpPr/>
        <p:nvPr/>
      </p:nvGrpSpPr>
      <p:grpSpPr>
        <a:xfrm>
          <a:off x="0" y="0"/>
          <a:ext cx="0" cy="0"/>
          <a:chOff x="0" y="0"/>
          <a:chExt cx="0" cy="0"/>
        </a:xfrm>
      </p:grpSpPr>
      <p:sp>
        <p:nvSpPr>
          <p:cNvPr id="15" name="Line 4"/>
          <p:cNvSpPr/>
          <p:nvPr/>
        </p:nvSpPr>
        <p:spPr>
          <a:xfrm>
            <a:off x="0" y="1089000"/>
            <a:ext cx="9144000" cy="0"/>
          </a:xfrm>
          <a:prstGeom prst="line">
            <a:avLst/>
          </a:prstGeom>
          <a:ln w="101520">
            <a:solidFill>
              <a:srgbClr val="00b0f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16" name="Picture 6" descr=""/>
          <p:cNvPicPr/>
          <p:nvPr/>
        </p:nvPicPr>
        <p:blipFill>
          <a:blip r:embed="rId2"/>
          <a:srcRect l="30646" t="18961" r="16579" b="66567"/>
          <a:stretch/>
        </p:blipFill>
        <p:spPr>
          <a:xfrm>
            <a:off x="123840" y="6215040"/>
            <a:ext cx="3076560" cy="527040"/>
          </a:xfrm>
          <a:prstGeom prst="rect">
            <a:avLst/>
          </a:prstGeom>
          <a:noFill/>
          <a:ln w="0">
            <a:noFill/>
          </a:ln>
        </p:spPr>
      </p:pic>
      <p:sp>
        <p:nvSpPr>
          <p:cNvPr id="17" name="Line 4"/>
          <p:cNvSpPr/>
          <p:nvPr/>
        </p:nvSpPr>
        <p:spPr>
          <a:xfrm>
            <a:off x="0" y="1165320"/>
            <a:ext cx="9144000" cy="0"/>
          </a:xfrm>
          <a:prstGeom prst="line">
            <a:avLst/>
          </a:prstGeom>
          <a:ln w="28440">
            <a:solidFill>
              <a:srgbClr val="00b0f0">
                <a:alpha val="31000"/>
              </a:srgbClr>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8" name="Rectangle 14"/>
          <p:cNvSpPr/>
          <p:nvPr/>
        </p:nvSpPr>
        <p:spPr>
          <a:xfrm>
            <a:off x="3176640" y="6324480"/>
            <a:ext cx="5678280" cy="293760"/>
          </a:xfrm>
          <a:prstGeom prst="rect">
            <a:avLst/>
          </a:prstGeom>
          <a:solidFill>
            <a:srgbClr val="262673"/>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9" name="PlaceHolder 1"/>
          <p:cNvSpPr>
            <a:spLocks noGrp="1"/>
          </p:cNvSpPr>
          <p:nvPr>
            <p:ph type="title"/>
          </p:nvPr>
        </p:nvSpPr>
        <p:spPr>
          <a:xfrm>
            <a:off x="457200" y="101520"/>
            <a:ext cx="8229600" cy="9144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262673"/>
                </a:solidFill>
                <a:effectLst/>
                <a:uFillTx/>
                <a:latin typeface="Century Gothic"/>
              </a:rPr>
              <a:t>Click to edit the title text format</a:t>
            </a:r>
            <a:endParaRPr b="1" lang="en-IN" sz="3200" strike="noStrike" u="none">
              <a:solidFill>
                <a:srgbClr val="262673"/>
              </a:solidFill>
              <a:effectLst/>
              <a:uFillTx/>
              <a:latin typeface="Century Gothic"/>
            </a:endParaRPr>
          </a:p>
        </p:txBody>
      </p:sp>
      <p:sp>
        <p:nvSpPr>
          <p:cNvPr id="20" name="PlaceHolder 2"/>
          <p:cNvSpPr>
            <a:spLocks noGrp="1"/>
          </p:cNvSpPr>
          <p:nvPr>
            <p:ph type="body"/>
          </p:nvPr>
        </p:nvSpPr>
        <p:spPr>
          <a:xfrm>
            <a:off x="457200" y="1294920"/>
            <a:ext cx="8229600" cy="4754520"/>
          </a:xfrm>
          <a:prstGeom prst="rect">
            <a:avLst/>
          </a:prstGeom>
          <a:noFill/>
          <a:ln w="0">
            <a:noFill/>
          </a:ln>
        </p:spPr>
        <p:txBody>
          <a:bodyPr lIns="90000" rIns="90000" tIns="46800" bIns="46800" anchor="t">
            <a:normAutofit/>
          </a:bodyPr>
          <a:p>
            <a:pPr marL="343080" indent="-34308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Click to edit the outline text format</a:t>
            </a:r>
            <a:endParaRPr b="0" lang="en-IN" sz="2800" strike="noStrike" u="none">
              <a:solidFill>
                <a:srgbClr val="262673"/>
              </a:solidFill>
              <a:effectLst/>
              <a:uFillTx/>
              <a:latin typeface="Century Gothic"/>
            </a:endParaRPr>
          </a:p>
          <a:p>
            <a:pPr lvl="1" marL="743040" indent="-28584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Second Outline Level</a:t>
            </a:r>
            <a:endParaRPr b="0" lang="en-IN" sz="2800" strike="noStrike" u="none">
              <a:solidFill>
                <a:srgbClr val="262673"/>
              </a:solidFill>
              <a:effectLst/>
              <a:uFillTx/>
              <a:latin typeface="Century Gothic"/>
            </a:endParaRPr>
          </a:p>
          <a:p>
            <a:pPr lvl="2" marL="11430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Third Outline Level</a:t>
            </a:r>
            <a:endParaRPr b="0" lang="en-IN" sz="2800" strike="noStrike" u="none">
              <a:solidFill>
                <a:srgbClr val="262673"/>
              </a:solidFill>
              <a:effectLst/>
              <a:uFillTx/>
              <a:latin typeface="Century Gothic"/>
            </a:endParaRPr>
          </a:p>
          <a:p>
            <a:pPr lvl="3" marL="16002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Fourth Outline Level</a:t>
            </a:r>
            <a:endParaRPr b="0" lang="en-IN" sz="2800" strike="noStrike" u="none">
              <a:solidFill>
                <a:srgbClr val="262673"/>
              </a:solidFill>
              <a:effectLst/>
              <a:uFillTx/>
              <a:latin typeface="Century Gothic"/>
            </a:endParaRPr>
          </a:p>
          <a:p>
            <a:pPr lvl="4" marL="2057400" indent="-228600">
              <a:spcBef>
                <a:spcPts val="70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Fifth Outline Level</a:t>
            </a:r>
            <a:endParaRPr b="0" lang="en-IN" sz="2800" strike="noStrike" u="none">
              <a:solidFill>
                <a:srgbClr val="262673"/>
              </a:solidFill>
              <a:effectLst/>
              <a:uFillTx/>
              <a:latin typeface="Century Gothic"/>
            </a:endParaRPr>
          </a:p>
          <a:p>
            <a:pPr lvl="5" marL="2057400" indent="-228600">
              <a:spcBef>
                <a:spcPts val="700"/>
              </a:spcBef>
              <a:buClr>
                <a:srgbClr val="000000"/>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Sixth Outline Level</a:t>
            </a:r>
            <a:endParaRPr b="0" lang="en-IN" sz="2800" strike="noStrike" u="none">
              <a:solidFill>
                <a:srgbClr val="262673"/>
              </a:solidFill>
              <a:effectLst/>
              <a:uFillTx/>
              <a:latin typeface="Century Gothic"/>
            </a:endParaRPr>
          </a:p>
          <a:p>
            <a:pPr lvl="6" marL="2057400" indent="-228600">
              <a:spcBef>
                <a:spcPts val="700"/>
              </a:spcBef>
              <a:buClr>
                <a:srgbClr val="000000"/>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262673"/>
                </a:solidFill>
                <a:effectLst/>
                <a:uFillTx/>
                <a:latin typeface="Century Gothic"/>
              </a:rPr>
              <a:t>Seventh Outline Level</a:t>
            </a:r>
            <a:endParaRPr b="0" lang="en-IN" sz="2800" strike="noStrike" u="none">
              <a:solidFill>
                <a:srgbClr val="262673"/>
              </a:solidFill>
              <a:effectLst/>
              <a:uFillTx/>
              <a:latin typeface="Century Gothic"/>
            </a:endParaRPr>
          </a:p>
        </p:txBody>
      </p:sp>
      <p:sp>
        <p:nvSpPr>
          <p:cNvPr id="21" name="PlaceHolder 3"/>
          <p:cNvSpPr>
            <a:spLocks noGrp="1"/>
          </p:cNvSpPr>
          <p:nvPr>
            <p:ph type="sldNum" idx="2"/>
          </p:nvPr>
        </p:nvSpPr>
        <p:spPr>
          <a:xfrm>
            <a:off x="3485880" y="6270480"/>
            <a:ext cx="5164200" cy="341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B47DDE-4E1E-444E-A624-C5731A40A8E3}" type="slidenum">
              <a:rPr b="0" lang="en-US" sz="1200" strike="noStrike" u="none">
                <a:solidFill>
                  <a:srgbClr val="ffffff"/>
                </a:solidFill>
                <a:effectLst/>
                <a:uFillTx/>
                <a:latin typeface="Times New Roman"/>
              </a:rPr>
              <a:t>&lt;number&gt;</a:t>
            </a:fld>
            <a:endParaRPr b="0" lang="en-IN"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slideLayout" Target="../slideLayouts/slideLayout3.xml"/><Relationship Id="rId10"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3.xml"/><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3.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image" Target="../media/image20.wmf"/><Relationship Id="rId3" Type="http://schemas.openxmlformats.org/officeDocument/2006/relationships/image" Target="../media/image21.wmf"/><Relationship Id="rId4" Type="http://schemas.openxmlformats.org/officeDocument/2006/relationships/image" Target="../media/image22.wmf"/><Relationship Id="rId5" Type="http://schemas.openxmlformats.org/officeDocument/2006/relationships/image" Target="../media/image23.wmf"/><Relationship Id="rId6" Type="http://schemas.openxmlformats.org/officeDocument/2006/relationships/image" Target="../media/image24.wmf"/><Relationship Id="rId7"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image" Target="../media/image21.wmf"/><Relationship Id="rId3" Type="http://schemas.openxmlformats.org/officeDocument/2006/relationships/image" Target="../media/image22.wmf"/><Relationship Id="rId4"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image" Target="../media/image25.jpeg"/><Relationship Id="rId3" Type="http://schemas.openxmlformats.org/officeDocument/2006/relationships/image" Target="../media/image25.jpeg"/><Relationship Id="rId4" Type="http://schemas.openxmlformats.org/officeDocument/2006/relationships/image" Target="../media/image25.jpeg"/><Relationship Id="rId5" Type="http://schemas.openxmlformats.org/officeDocument/2006/relationships/image" Target="../media/image25.jpeg"/><Relationship Id="rId6" Type="http://schemas.openxmlformats.org/officeDocument/2006/relationships/image" Target="../media/image25.jpeg"/><Relationship Id="rId7" Type="http://schemas.openxmlformats.org/officeDocument/2006/relationships/image" Target="../media/image26.jpeg"/><Relationship Id="rId8" Type="http://schemas.openxmlformats.org/officeDocument/2006/relationships/image" Target="../media/image27.jpeg"/><Relationship Id="rId9" Type="http://schemas.openxmlformats.org/officeDocument/2006/relationships/image" Target="../media/image28.png"/><Relationship Id="rId10" Type="http://schemas.openxmlformats.org/officeDocument/2006/relationships/image" Target="../media/image29.jpeg"/><Relationship Id="rId11" Type="http://schemas.openxmlformats.org/officeDocument/2006/relationships/image" Target="../media/image27.jpeg"/><Relationship Id="rId12" Type="http://schemas.openxmlformats.org/officeDocument/2006/relationships/image" Target="../media/image28.png"/><Relationship Id="rId13" Type="http://schemas.openxmlformats.org/officeDocument/2006/relationships/slideLayout" Target="../slideLayouts/slideLayout3.xml"/><Relationship Id="rId1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3.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314280" y="2736720"/>
            <a:ext cx="8507520" cy="23241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262673"/>
                </a:solidFill>
                <a:effectLst/>
                <a:uFillTx/>
                <a:latin typeface="Century Gothic"/>
              </a:rPr>
              <a:t>HHS Records Management Integrated Project Team Meeting</a:t>
            </a:r>
            <a:endParaRPr b="1" lang="en-IN" sz="4400" strike="noStrike" u="none">
              <a:solidFill>
                <a:srgbClr val="262673"/>
              </a:solidFill>
              <a:effectLst/>
              <a:uFillTx/>
              <a:latin typeface="Century Gothic"/>
            </a:endParaRPr>
          </a:p>
        </p:txBody>
      </p:sp>
      <p:sp>
        <p:nvSpPr>
          <p:cNvPr id="30" name="PlaceHolder 2"/>
          <p:cNvSpPr>
            <a:spLocks noGrp="1"/>
          </p:cNvSpPr>
          <p:nvPr>
            <p:ph type="subTitle"/>
          </p:nvPr>
        </p:nvSpPr>
        <p:spPr>
          <a:xfrm>
            <a:off x="685440" y="5535360"/>
            <a:ext cx="7924680" cy="531720"/>
          </a:xfrm>
          <a:prstGeom prst="rect">
            <a:avLst/>
          </a:prstGeom>
          <a:noFill/>
          <a:ln w="0">
            <a:noFill/>
          </a:ln>
        </p:spPr>
        <p:txBody>
          <a:bodyPr lIns="91440" rIns="91440" tIns="45720" bIns="45720" anchor="t">
            <a:noAutofit/>
          </a:bodyPr>
          <a:p>
            <a:pPr indent="0" algn="ctr">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b0f0"/>
                </a:solidFill>
                <a:effectLst/>
                <a:uFillTx/>
                <a:latin typeface="Century Gothic"/>
              </a:rPr>
              <a:t>January 27, 2009</a:t>
            </a:r>
            <a:endParaRPr b="0" lang="en-IN" sz="2400" strike="noStrike" u="none">
              <a:solidFill>
                <a:srgbClr val="262673"/>
              </a:solidFill>
              <a:effectLst/>
              <a:uFillTx/>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9A8355-0C71-41A7-B2C3-974BB757478E}"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
        <p:nvSpPr>
          <p:cNvPr id="32"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trike="noStrike" u="none">
                <a:solidFill>
                  <a:srgbClr val="002060"/>
                </a:solidFill>
                <a:effectLst/>
                <a:uFillTx/>
                <a:latin typeface="Century Gothic"/>
              </a:rPr>
              <a:t>AGENDA</a:t>
            </a:r>
            <a:endParaRPr b="1" lang="en-IN" sz="4000" strike="noStrike" u="none">
              <a:solidFill>
                <a:srgbClr val="262673"/>
              </a:solidFill>
              <a:effectLst/>
              <a:uFillTx/>
              <a:latin typeface="Century Gothic"/>
            </a:endParaRPr>
          </a:p>
        </p:txBody>
      </p:sp>
      <p:sp>
        <p:nvSpPr>
          <p:cNvPr id="33" name="PlaceHolder 2"/>
          <p:cNvSpPr>
            <a:spLocks noGrp="1"/>
          </p:cNvSpPr>
          <p:nvPr>
            <p:ph/>
          </p:nvPr>
        </p:nvSpPr>
        <p:spPr>
          <a:xfrm>
            <a:off x="457200" y="1728360"/>
            <a:ext cx="8229600" cy="3583080"/>
          </a:xfrm>
          <a:prstGeom prst="rect">
            <a:avLst/>
          </a:prstGeom>
          <a:noFill/>
          <a:ln w="0">
            <a:noFill/>
          </a:ln>
        </p:spPr>
        <p:txBody>
          <a:bodyPr lIns="91440" rIns="91440" tIns="45720" bIns="45720" anchor="t">
            <a:normAutofit/>
          </a:bodyPr>
          <a:p>
            <a:pPr marL="627120" indent="-339840">
              <a:buClr>
                <a:srgbClr val="262673"/>
              </a:buClr>
              <a:buFont typeface="Century Gothic"/>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Introduction</a:t>
            </a:r>
            <a:endParaRPr b="0" lang="en-IN" sz="2400" strike="noStrike" u="none">
              <a:solidFill>
                <a:srgbClr val="262673"/>
              </a:solidFill>
              <a:effectLst/>
              <a:uFillTx/>
              <a:latin typeface="Century Gothic"/>
            </a:endParaRPr>
          </a:p>
          <a:p>
            <a:pPr lvl="1" marL="1027080" indent="-339840">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b0f0"/>
                </a:solidFill>
                <a:effectLst/>
                <a:uFillTx/>
                <a:latin typeface="Century Gothic"/>
              </a:rPr>
              <a:t>Terry Nicolosi – </a:t>
            </a:r>
            <a:r>
              <a:rPr b="0" lang="en-US" sz="2000" strike="noStrike" u="none">
                <a:solidFill>
                  <a:srgbClr val="0070c0"/>
                </a:solidFill>
                <a:effectLst/>
                <a:uFillTx/>
                <a:latin typeface="Century Gothic"/>
              </a:rPr>
              <a:t>Director,  Office of Resource Management</a:t>
            </a:r>
            <a:endParaRPr b="0" lang="en-IN" sz="2000" strike="noStrike" u="none">
              <a:solidFill>
                <a:srgbClr val="262673"/>
              </a:solidFill>
              <a:effectLst/>
              <a:uFillTx/>
              <a:latin typeface="Century Gothic"/>
            </a:endParaRPr>
          </a:p>
          <a:p>
            <a:pPr lvl="1" marL="1027080" indent="-339840">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262673"/>
              </a:solidFill>
              <a:effectLst/>
              <a:uFillTx/>
              <a:latin typeface="Century Gothic"/>
            </a:endParaRPr>
          </a:p>
          <a:p>
            <a:pPr marL="627120" indent="-339840">
              <a:buClr>
                <a:srgbClr val="262673"/>
              </a:buClr>
              <a:buFont typeface="Century Gothic"/>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2008 RM Assessment Highlights</a:t>
            </a:r>
            <a:endParaRPr b="0" lang="en-IN" sz="2400" strike="noStrike" u="none">
              <a:solidFill>
                <a:srgbClr val="262673"/>
              </a:solidFill>
              <a:effectLst/>
              <a:uFillTx/>
              <a:latin typeface="Century Gothic"/>
            </a:endParaRPr>
          </a:p>
          <a:p>
            <a:pPr lvl="1" marL="1027080" indent="-339840">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b0f0"/>
                </a:solidFill>
                <a:effectLst/>
                <a:uFillTx/>
                <a:latin typeface="Century Gothic"/>
              </a:rPr>
              <a:t>Larry Gray– </a:t>
            </a:r>
            <a:r>
              <a:rPr b="0" lang="en-US" sz="2000" strike="noStrike" u="none">
                <a:solidFill>
                  <a:srgbClr val="007ca8"/>
                </a:solidFill>
                <a:effectLst/>
                <a:uFillTx/>
                <a:latin typeface="Century Gothic"/>
              </a:rPr>
              <a:t>Department HHS Records Officer</a:t>
            </a:r>
            <a:endParaRPr b="0" lang="en-IN" sz="2000" strike="noStrike" u="none">
              <a:solidFill>
                <a:srgbClr val="262673"/>
              </a:solidFill>
              <a:effectLst/>
              <a:uFillTx/>
              <a:latin typeface="Century Gothic"/>
            </a:endParaRPr>
          </a:p>
          <a:p>
            <a:pPr lvl="2" marL="1027080" indent="-339840">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262673"/>
              </a:solidFill>
              <a:effectLst/>
              <a:uFillTx/>
              <a:latin typeface="Century Gothic"/>
            </a:endParaRPr>
          </a:p>
          <a:p>
            <a:pPr marL="627120" indent="-339840">
              <a:buClr>
                <a:srgbClr val="262673"/>
              </a:buClr>
              <a:buFont typeface="Century Gothic"/>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RM Segment Progress</a:t>
            </a:r>
            <a:endParaRPr b="0" lang="en-IN" sz="2400" strike="noStrike" u="none">
              <a:solidFill>
                <a:srgbClr val="262673"/>
              </a:solidFill>
              <a:effectLst/>
              <a:uFillTx/>
              <a:latin typeface="Century Gothic"/>
            </a:endParaRPr>
          </a:p>
          <a:p>
            <a:pPr lvl="1" marL="1027080" indent="-339840">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b0f0"/>
                </a:solidFill>
                <a:effectLst/>
                <a:uFillTx/>
                <a:latin typeface="Century Gothic"/>
              </a:rPr>
              <a:t>Mary Forbes – </a:t>
            </a:r>
            <a:r>
              <a:rPr b="0" lang="en-US" sz="2000" strike="noStrike" u="none">
                <a:solidFill>
                  <a:srgbClr val="007ca8"/>
                </a:solidFill>
                <a:effectLst/>
                <a:uFillTx/>
                <a:latin typeface="Century Gothic"/>
              </a:rPr>
              <a:t>HHS Lead Architect</a:t>
            </a:r>
            <a:endParaRPr b="0" lang="en-IN" sz="2000" strike="noStrike" u="none">
              <a:solidFill>
                <a:srgbClr val="262673"/>
              </a:solidFill>
              <a:effectLst/>
              <a:uFillTx/>
              <a:latin typeface="Century Gothic"/>
            </a:endParaRPr>
          </a:p>
          <a:p>
            <a:pPr marL="627120" indent="0">
              <a:spcBef>
                <a:spcPts val="18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262673"/>
              </a:solidFill>
              <a:effectLst/>
              <a:uFillTx/>
              <a:latin typeface="Century Gothic"/>
            </a:endParaRPr>
          </a:p>
          <a:p>
            <a:pPr marL="627120" indent="0">
              <a:spcBef>
                <a:spcPts val="18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262673"/>
              </a:solidFill>
              <a:effectLst/>
              <a:uFillTx/>
              <a:latin typeface="Century Gothic"/>
            </a:endParaRPr>
          </a:p>
          <a:p>
            <a:pPr marL="627120" indent="0">
              <a:spcBef>
                <a:spcPts val="18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262673"/>
              </a:solidFill>
              <a:effectLst/>
              <a:uFillTx/>
              <a:latin typeface="Century Gothic"/>
            </a:endParaRPr>
          </a:p>
          <a:p>
            <a:pPr lvl="1" marL="1027080" indent="0">
              <a:spcBef>
                <a:spcPts val="1800"/>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262673"/>
              </a:solidFill>
              <a:effectLst/>
              <a:uFillTx/>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0" y="101520"/>
            <a:ext cx="91440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HHS 2008 RM Assessment Highlights</a:t>
            </a:r>
            <a:endParaRPr b="1" lang="en-IN" sz="3200" strike="noStrike" u="none">
              <a:solidFill>
                <a:srgbClr val="262673"/>
              </a:solidFill>
              <a:effectLst/>
              <a:uFillTx/>
              <a:latin typeface="Century Gothic"/>
            </a:endParaRPr>
          </a:p>
        </p:txBody>
      </p:sp>
      <p:sp>
        <p:nvSpPr>
          <p:cNvPr id="35" name=""/>
          <p:cNvSpPr txBox="1"/>
          <p:nvPr/>
        </p:nvSpPr>
        <p:spPr>
          <a:xfrm>
            <a:off x="228600" y="1276200"/>
            <a:ext cx="8601120" cy="4695840"/>
          </a:xfrm>
          <a:prstGeom prst="rect">
            <a:avLst/>
          </a:prstGeom>
          <a:noFill/>
          <a:ln w="0">
            <a:noFill/>
          </a:ln>
        </p:spPr>
        <p:txBody>
          <a:bodyPr anchor="t">
            <a:normAutofit/>
          </a:bodyPr>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Oversight/support:  (Pages 30-31)RM </a:t>
            </a:r>
            <a:r>
              <a:rPr b="0" lang="en-US" sz="1800" strike="noStrike" u="none">
                <a:solidFill>
                  <a:srgbClr val="262673"/>
                </a:solidFill>
                <a:effectLst/>
                <a:uFillTx/>
                <a:latin typeface="Century Gothic"/>
              </a:rPr>
              <a:t>Integrated Project Team Kick-Off (Oct/2008), RM performance measures established for Senior Executive Service (SES) employees effective in 2009 (Nov/2008), Records Management Council and RM Bulletins, segment architecture for RM (May/2008).</a:t>
            </a:r>
            <a:endParaRPr b="0" lang="en-IN" sz="18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Specific Written Guidance:  (Pages 31-32) </a:t>
            </a:r>
            <a:r>
              <a:rPr b="0" lang="en-US" sz="1800" strike="noStrike" u="none">
                <a:solidFill>
                  <a:srgbClr val="262673"/>
                </a:solidFill>
                <a:effectLst/>
                <a:uFillTx/>
                <a:latin typeface="Century Gothic"/>
              </a:rPr>
              <a:t>HHS Policy for RM (2007-004.001); HHS Policy for RM for E-Mails (2208-002.001); RM Procedures Manual (updated from 1977); Guideline for Electronic RM (interim guidance); Training Brochures;</a:t>
            </a:r>
            <a:endParaRPr b="0" lang="en-IN" sz="18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E-Records: (Pages 33-34) </a:t>
            </a:r>
            <a:r>
              <a:rPr b="0" lang="en-US" sz="1800" strike="noStrike" u="none">
                <a:solidFill>
                  <a:srgbClr val="262673"/>
                </a:solidFill>
                <a:effectLst/>
                <a:uFillTx/>
                <a:latin typeface="Century Gothic"/>
              </a:rPr>
              <a:t>Developed set of instructions for Records Officer to use with creation of electronic folders; Worked with Web Communications Team on RM standards for information residing on Web;  Established EA team to address RM Business Case  based on OMB Federal Enterprise Architecture standards; </a:t>
            </a:r>
            <a:endParaRPr b="0" lang="en-IN" sz="1800" strike="noStrike" u="none">
              <a:solidFill>
                <a:srgbClr val="262673"/>
              </a:solidFill>
              <a:effectLst/>
              <a:uFillTx/>
              <a:latin typeface="Century Gothic"/>
            </a:endParaRPr>
          </a:p>
        </p:txBody>
      </p:sp>
      <p:sp>
        <p:nvSpPr>
          <p:cNvPr id="36"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53FD93-9192-4D01-A5A5-712D61F4B556}"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
          <p:cNvSpPr txBox="1"/>
          <p:nvPr/>
        </p:nvSpPr>
        <p:spPr>
          <a:xfrm>
            <a:off x="199800" y="1228320"/>
            <a:ext cx="8724600" cy="5000760"/>
          </a:xfrm>
          <a:prstGeom prst="rect">
            <a:avLst/>
          </a:prstGeom>
          <a:noFill/>
          <a:ln w="0">
            <a:noFill/>
          </a:ln>
        </p:spPr>
        <p:txBody>
          <a:bodyPr anchor="t">
            <a:normAutofit/>
          </a:bodyPr>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700" strike="noStrike" u="none">
                <a:solidFill>
                  <a:srgbClr val="262673"/>
                </a:solidFill>
                <a:effectLst/>
                <a:uFillTx/>
                <a:latin typeface="Century Gothic"/>
              </a:rPr>
              <a:t>Non-Records: (Page 34) </a:t>
            </a:r>
            <a:r>
              <a:rPr b="0" lang="en-US" sz="1700" strike="noStrike" u="none">
                <a:solidFill>
                  <a:srgbClr val="262673"/>
                </a:solidFill>
                <a:effectLst/>
                <a:uFillTx/>
                <a:latin typeface="Century Gothic"/>
              </a:rPr>
              <a:t>RMC working with the Federal Electronic Working Group  (organization of 26 Federal agencies) examining, analyzing, and proposing a standardized government-wide process for meeting recent revisions to the Federal discovery laws concerning electronically stored information including electronics.</a:t>
            </a:r>
            <a:endParaRPr b="0" lang="en-IN" sz="17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700" strike="noStrike" u="none">
                <a:solidFill>
                  <a:srgbClr val="262673"/>
                </a:solidFill>
                <a:effectLst/>
                <a:uFillTx/>
                <a:latin typeface="Century Gothic"/>
              </a:rPr>
              <a:t>Training: (Pages 34-36) </a:t>
            </a:r>
            <a:r>
              <a:rPr b="0" lang="en-US" sz="1700" strike="noStrike" u="none">
                <a:solidFill>
                  <a:srgbClr val="262673"/>
                </a:solidFill>
                <a:effectLst/>
                <a:uFillTx/>
                <a:latin typeface="Century Gothic"/>
              </a:rPr>
              <a:t>;Over 560 employees trained in basic records management; RM Overview on website; OS Records Coordinator, Records Managers and Liaisons appointed by ASAM to support the 21 OS offices; Working with HR on departing and incoming employees with training and revised forms and brochures.</a:t>
            </a:r>
            <a:endParaRPr b="0" lang="en-IN" sz="17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700" strike="noStrike" u="none">
                <a:solidFill>
                  <a:srgbClr val="262673"/>
                </a:solidFill>
                <a:effectLst/>
                <a:uFillTx/>
                <a:latin typeface="Century Gothic"/>
              </a:rPr>
              <a:t>Responsibilities: (Pages 6-29) </a:t>
            </a:r>
            <a:r>
              <a:rPr b="0" lang="en-US" sz="1700" strike="noStrike" u="none">
                <a:solidFill>
                  <a:srgbClr val="262673"/>
                </a:solidFill>
                <a:effectLst/>
                <a:uFillTx/>
                <a:latin typeface="Century Gothic"/>
              </a:rPr>
              <a:t>Record Officer Review and Evaluation for all operating divisions and OS included in assessment. 2008 Assessment posted communicated to all OCIO and RM Community on Jan. 7, 2009 and in queue for intranet. </a:t>
            </a:r>
            <a:endParaRPr b="0" lang="en-IN" sz="17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700" strike="noStrike" u="none">
                <a:solidFill>
                  <a:srgbClr val="262673"/>
                </a:solidFill>
                <a:effectLst/>
                <a:uFillTx/>
                <a:latin typeface="Century Gothic"/>
              </a:rPr>
              <a:t>Risk and Self-Assessment: (Pages 36-42) </a:t>
            </a:r>
            <a:r>
              <a:rPr b="0" lang="en-US" sz="1700" strike="noStrike" u="none">
                <a:solidFill>
                  <a:srgbClr val="262673"/>
                </a:solidFill>
                <a:effectLst/>
                <a:uFillTx/>
                <a:latin typeface="Century Gothic"/>
              </a:rPr>
              <a:t>Risk Analysis conducted in 2007 and 2008 assessments with addressed actions; 2008 Self-Assessment Survey conducted in both 2007 and 2008 with addressed actions; </a:t>
            </a:r>
            <a:endParaRPr b="0" lang="en-IN" sz="1700" strike="noStrike" u="none">
              <a:solidFill>
                <a:srgbClr val="262673"/>
              </a:solidFill>
              <a:effectLst/>
              <a:uFillTx/>
              <a:latin typeface="Century Gothic"/>
            </a:endParaRPr>
          </a:p>
        </p:txBody>
      </p:sp>
      <p:sp>
        <p:nvSpPr>
          <p:cNvPr id="38" name="PlaceHolder 1"/>
          <p:cNvSpPr>
            <a:spLocks noGrp="1"/>
          </p:cNvSpPr>
          <p:nvPr>
            <p:ph type="title"/>
          </p:nvPr>
        </p:nvSpPr>
        <p:spPr>
          <a:xfrm>
            <a:off x="0" y="101520"/>
            <a:ext cx="91440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HHS 2008 RM Assessment Highlights</a:t>
            </a:r>
            <a:endParaRPr b="1" lang="en-IN" sz="3200" strike="noStrike" u="none">
              <a:solidFill>
                <a:srgbClr val="262673"/>
              </a:solidFill>
              <a:effectLst/>
              <a:uFillTx/>
              <a:latin typeface="Century Gothic"/>
            </a:endParaRPr>
          </a:p>
        </p:txBody>
      </p:sp>
      <p:sp>
        <p:nvSpPr>
          <p:cNvPr id="39"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6812F0-CB81-4AC4-9A83-9E99D7C71DCA}"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
          <p:cNvSpPr txBox="1"/>
          <p:nvPr/>
        </p:nvSpPr>
        <p:spPr>
          <a:xfrm>
            <a:off x="212400" y="1672920"/>
            <a:ext cx="6443640" cy="609480"/>
          </a:xfrm>
          <a:prstGeom prst="rect">
            <a:avLst/>
          </a:prstGeom>
          <a:noFill/>
          <a:ln w="0">
            <a:noFill/>
          </a:ln>
        </p:spPr>
        <p:txBody>
          <a:bodyPr anchor="t">
            <a:normAutofit/>
          </a:bodyPr>
          <a:p>
            <a:pP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00b0f0"/>
                </a:solidFill>
                <a:effectLst/>
                <a:uFillTx/>
                <a:latin typeface="Century Gothic"/>
              </a:rPr>
              <a:t>RM SEGMENT PROGRESS</a:t>
            </a:r>
            <a:endParaRPr b="1" lang="en-IN" sz="3200" strike="noStrike" u="none">
              <a:solidFill>
                <a:srgbClr val="00b0f0"/>
              </a:solidFill>
              <a:effectLst/>
              <a:uFillTx/>
              <a:latin typeface="Century Gothic"/>
            </a:endParaRPr>
          </a:p>
        </p:txBody>
      </p:sp>
      <p:sp>
        <p:nvSpPr>
          <p:cNvPr id="41" name="Rectangle 3"/>
          <p:cNvSpPr/>
          <p:nvPr/>
        </p:nvSpPr>
        <p:spPr>
          <a:xfrm>
            <a:off x="1652760" y="2827440"/>
            <a:ext cx="7057800" cy="3811320"/>
          </a:xfrm>
          <a:prstGeom prst="rect">
            <a:avLst/>
          </a:prstGeom>
          <a:noFill/>
          <a:ln w="0">
            <a:noFill/>
          </a:ln>
        </p:spPr>
        <p:style>
          <a:lnRef idx="0"/>
          <a:fillRef idx="0"/>
          <a:effectRef idx="0"/>
          <a:fontRef idx="minor"/>
        </p:style>
        <p:txBody>
          <a:bodyPr lIns="90000" rIns="90000" tIns="46800" bIns="46800" anchor="t">
            <a:noAutofit/>
          </a:bodyPr>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RM Segment work completed to date </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High-level segment diagram</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RM Segment - Current state</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Business Process Analysis (Exercise)</a:t>
            </a:r>
            <a:endParaRPr b="0" lang="en-IN" sz="1800" strike="noStrike" u="none">
              <a:solidFill>
                <a:srgbClr val="000000"/>
              </a:solidFill>
              <a:effectLst/>
              <a:uFillTx/>
              <a:latin typeface="Arial"/>
            </a:endParaRPr>
          </a:p>
          <a:p>
            <a:pPr lvl="1" marL="336600" indent="-33660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	</a:t>
            </a:r>
            <a:r>
              <a:rPr b="0" lang="en-US" sz="1800" strike="noStrike" u="none">
                <a:solidFill>
                  <a:srgbClr val="005a7a"/>
                </a:solidFill>
                <a:effectLst/>
                <a:uFillTx/>
                <a:latin typeface="Century Gothic"/>
              </a:rPr>
              <a:t>	</a:t>
            </a:r>
            <a:r>
              <a:rPr b="0" lang="en-US" sz="1800" strike="noStrike" u="none">
                <a:solidFill>
                  <a:srgbClr val="005a7a"/>
                </a:solidFill>
                <a:effectLst/>
                <a:uFillTx/>
                <a:latin typeface="Century Gothic"/>
              </a:rPr>
              <a:t>- BREAK - </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Records Officers Observations</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EA Team Observations</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Opportunities moving forward</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FEA RM Profile</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Short term tasks</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5a7a"/>
                </a:solidFill>
                <a:effectLst/>
                <a:uFillTx/>
                <a:latin typeface="Century Gothic"/>
              </a:rPr>
              <a:t>Timeline</a:t>
            </a:r>
            <a:endParaRPr b="0" lang="en-IN" sz="1800" strike="noStrike" u="none">
              <a:solidFill>
                <a:srgbClr val="000000"/>
              </a:solidFill>
              <a:effectLst/>
              <a:uFillTx/>
              <a:latin typeface="Arial"/>
            </a:endParaRPr>
          </a:p>
          <a:p>
            <a:pPr lvl="1" marL="336600" indent="-336600">
              <a:lnSpc>
                <a:spcPct val="100000"/>
              </a:lnSpc>
              <a:spcBef>
                <a:spcPts val="451"/>
              </a:spcBef>
              <a:buClr>
                <a:srgbClr val="005a7a"/>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2" name="Rectangle 3"/>
          <p:cNvSpPr/>
          <p:nvPr/>
        </p:nvSpPr>
        <p:spPr>
          <a:xfrm>
            <a:off x="231840" y="2293920"/>
            <a:ext cx="800568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b0f0"/>
                </a:solidFill>
                <a:effectLst/>
                <a:uFillTx/>
                <a:latin typeface="Arial"/>
              </a:rPr>
              <a:t>Mary Forbes - HHS Lead Architect</a:t>
            </a:r>
            <a:endParaRPr b="0" lang="en-IN" sz="1800" strike="noStrike" u="none">
              <a:solidFill>
                <a:srgbClr val="000000"/>
              </a:solidFill>
              <a:effectLst/>
              <a:uFillTx/>
              <a:latin typeface="Arial"/>
            </a:endParaRPr>
          </a:p>
        </p:txBody>
      </p:sp>
      <p:sp>
        <p:nvSpPr>
          <p:cNvPr id="4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0DE8DA-ABFF-4745-8ECF-DDC10C61BCAB}" type="slidenum">
              <a:rPr b="1" lang="en-US" sz="1400" strike="noStrike" u="none">
                <a:solidFill>
                  <a:srgbClr val="007ca8"/>
                </a:solidFill>
                <a:effectLst/>
                <a:uFillTx/>
                <a:latin typeface="Century Gothic"/>
              </a:rPr>
              <a:t>&lt;number&gt;</a:t>
            </a:fld>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209160" y="101520"/>
            <a:ext cx="866628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262673"/>
                </a:solidFill>
                <a:effectLst/>
                <a:uFillTx/>
                <a:latin typeface="Century Gothic"/>
              </a:rPr>
              <a:t>Why are we doing the RM segment architecture</a:t>
            </a:r>
            <a:endParaRPr b="1" lang="en-IN" sz="2800" strike="noStrike" u="none">
              <a:solidFill>
                <a:srgbClr val="262673"/>
              </a:solidFill>
              <a:effectLst/>
              <a:uFillTx/>
              <a:latin typeface="Century Gothic"/>
            </a:endParaRPr>
          </a:p>
        </p:txBody>
      </p:sp>
      <p:sp>
        <p:nvSpPr>
          <p:cNvPr id="45" name=""/>
          <p:cNvSpPr txBox="1"/>
          <p:nvPr/>
        </p:nvSpPr>
        <p:spPr>
          <a:xfrm>
            <a:off x="457200" y="1257120"/>
            <a:ext cx="8229600" cy="4754520"/>
          </a:xfrm>
          <a:prstGeom prst="rect">
            <a:avLst/>
          </a:prstGeom>
          <a:noFill/>
          <a:ln w="0">
            <a:noFill/>
          </a:ln>
        </p:spPr>
        <p:txBody>
          <a:bodyPr anchor="t">
            <a:normAutofit/>
          </a:bodyPr>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Segment architecture is a structured process to develop value-added plans for improved mission delivery</a:t>
            </a:r>
            <a:endParaRPr b="0" lang="en-IN" sz="2400" strike="noStrike" u="none">
              <a:solidFill>
                <a:srgbClr val="262673"/>
              </a:solidFill>
              <a:effectLst/>
              <a:uFillTx/>
              <a:latin typeface="Century Gothic"/>
            </a:endParaRPr>
          </a:p>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Facilitates and enables enterprise-wide thinking and informed decisions about HHS’s business processes and investments to better support HHS’s mission.</a:t>
            </a:r>
            <a:endParaRPr b="0" lang="en-IN" sz="24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Identifies needed investments</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Identifies opportunities to eliminate redundancy of processes, data, applications and technology</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Prevents investment dollars from being expended on duplicate data, processes, applications or technology</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Identifies business functions and investments not aligned with HHS’s mission goals and objectives and introduces discipline to both prevent and mitigate discrepancies</a:t>
            </a:r>
            <a:endParaRPr b="0" lang="en-IN" sz="1800" strike="noStrike" u="none">
              <a:solidFill>
                <a:srgbClr val="262673"/>
              </a:solidFill>
              <a:effectLst/>
              <a:uFillTx/>
              <a:latin typeface="Century Gothic"/>
            </a:endParaRPr>
          </a:p>
        </p:txBody>
      </p:sp>
      <p:sp>
        <p:nvSpPr>
          <p:cNvPr id="46"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00E79A-7AC4-452D-8D30-5DC883702AAE}"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p:nvPr>
        </p:nvSpPr>
        <p:spPr>
          <a:xfrm>
            <a:off x="429840" y="1311120"/>
            <a:ext cx="8318520" cy="5343840"/>
          </a:xfrm>
          <a:prstGeom prst="rect">
            <a:avLst/>
          </a:prstGeom>
          <a:noFill/>
          <a:ln w="0">
            <a:noFill/>
          </a:ln>
        </p:spPr>
        <p:txBody>
          <a:bodyPr lIns="91440" rIns="91440" tIns="45720" bIns="45720" anchor="t">
            <a:normAutofit/>
          </a:bodyPr>
          <a:p>
            <a:pPr marL="343080" indent="-343080">
              <a:lnSpc>
                <a:spcPct val="110000"/>
              </a:lnSpc>
              <a:spcBef>
                <a:spcPts val="125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Information about current RM business processes has been collected from multiple sources:</a:t>
            </a:r>
            <a:endParaRPr b="0" lang="en-IN" sz="2000" strike="noStrike" u="none">
              <a:solidFill>
                <a:srgbClr val="262673"/>
              </a:solidFill>
              <a:effectLst/>
              <a:uFillTx/>
              <a:latin typeface="Century Gothic"/>
            </a:endParaRPr>
          </a:p>
          <a:p>
            <a:pPr lvl="1" marL="743040" indent="-285840">
              <a:lnSpc>
                <a:spcPct val="11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262673"/>
                </a:solidFill>
                <a:effectLst/>
                <a:uFillTx/>
                <a:latin typeface="Century Gothic"/>
              </a:rPr>
              <a:t>OPDIVs interviews</a:t>
            </a:r>
            <a:endParaRPr b="0" lang="en-IN" sz="1600" strike="noStrike" u="none">
              <a:solidFill>
                <a:srgbClr val="262673"/>
              </a:solidFill>
              <a:effectLst/>
              <a:uFillTx/>
              <a:latin typeface="Century Gothic"/>
            </a:endParaRPr>
          </a:p>
          <a:p>
            <a:pPr lvl="1" marL="743040" indent="-285840">
              <a:lnSpc>
                <a:spcPct val="11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262673"/>
                </a:solidFill>
                <a:effectLst/>
                <a:uFillTx/>
                <a:latin typeface="Century Gothic"/>
              </a:rPr>
              <a:t>RM Assessment and RM Survey</a:t>
            </a:r>
            <a:endParaRPr b="0" lang="en-IN" sz="1600" strike="noStrike" u="none">
              <a:solidFill>
                <a:srgbClr val="262673"/>
              </a:solidFill>
              <a:effectLst/>
              <a:uFillTx/>
              <a:latin typeface="Century Gothic"/>
            </a:endParaRPr>
          </a:p>
          <a:p>
            <a:pPr lvl="1" marL="743040" indent="-285840">
              <a:lnSpc>
                <a:spcPct val="11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262673"/>
                </a:solidFill>
                <a:effectLst/>
                <a:uFillTx/>
                <a:latin typeface="Century Gothic"/>
              </a:rPr>
              <a:t>Existing documents, policies, guidance</a:t>
            </a:r>
            <a:endParaRPr b="0" lang="en-IN" sz="1600" strike="noStrike" u="none">
              <a:solidFill>
                <a:srgbClr val="262673"/>
              </a:solidFill>
              <a:effectLst/>
              <a:uFillTx/>
              <a:latin typeface="Century Gothic"/>
            </a:endParaRPr>
          </a:p>
          <a:p>
            <a:pPr lvl="1" marL="743040" indent="-285840">
              <a:lnSpc>
                <a:spcPct val="11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262673"/>
                </a:solidFill>
                <a:effectLst/>
                <a:uFillTx/>
                <a:latin typeface="Century Gothic"/>
              </a:rPr>
              <a:t>OPDIVs websites</a:t>
            </a:r>
            <a:endParaRPr b="0" lang="en-IN" sz="1600" strike="noStrike" u="none">
              <a:solidFill>
                <a:srgbClr val="262673"/>
              </a:solidFill>
              <a:effectLst/>
              <a:uFillTx/>
              <a:latin typeface="Century Gothic"/>
            </a:endParaRPr>
          </a:p>
          <a:p>
            <a:pPr lvl="1" marL="743040" indent="-285840">
              <a:lnSpc>
                <a:spcPct val="11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262673"/>
                </a:solidFill>
                <a:effectLst/>
                <a:uFillTx/>
                <a:latin typeface="Century Gothic"/>
              </a:rPr>
              <a:t>Available business process models (e.g., CMS diagrams)</a:t>
            </a:r>
            <a:endParaRPr b="0" lang="en-IN" sz="1600" strike="noStrike" u="none">
              <a:solidFill>
                <a:srgbClr val="262673"/>
              </a:solidFill>
              <a:effectLst/>
              <a:uFillTx/>
              <a:latin typeface="Century Gothic"/>
            </a:endParaRPr>
          </a:p>
          <a:p>
            <a:pPr marL="343080" indent="-343080">
              <a:lnSpc>
                <a:spcPct val="110000"/>
              </a:lnSpc>
              <a:spcBef>
                <a:spcPts val="125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Process models were aligned to high level NARA required processes</a:t>
            </a:r>
            <a:endParaRPr b="0" lang="en-IN" sz="2000" strike="noStrike" u="none">
              <a:solidFill>
                <a:srgbClr val="262673"/>
              </a:solidFill>
              <a:effectLst/>
              <a:uFillTx/>
              <a:latin typeface="Century Gothic"/>
            </a:endParaRPr>
          </a:p>
          <a:p>
            <a:pPr marL="343080" indent="-343080">
              <a:lnSpc>
                <a:spcPct val="110000"/>
              </a:lnSpc>
              <a:spcBef>
                <a:spcPts val="125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Information was captured in the HHS EA repository**</a:t>
            </a:r>
            <a:endParaRPr b="0" lang="en-IN" sz="2000" strike="noStrike" u="none">
              <a:solidFill>
                <a:srgbClr val="262673"/>
              </a:solidFill>
              <a:effectLst/>
              <a:uFillTx/>
              <a:latin typeface="Century Gothic"/>
            </a:endParaRPr>
          </a:p>
          <a:p>
            <a:pPr marL="343080" indent="-343080">
              <a:lnSpc>
                <a:spcPct val="110000"/>
              </a:lnSpc>
              <a:spcBef>
                <a:spcPts val="1250"/>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Gaps in business processes were identified and documented </a:t>
            </a:r>
            <a:endParaRPr b="0" lang="en-IN" sz="2000" strike="noStrike" u="none">
              <a:solidFill>
                <a:srgbClr val="262673"/>
              </a:solidFill>
              <a:effectLst/>
              <a:uFillTx/>
              <a:latin typeface="Century Gothic"/>
            </a:endParaRPr>
          </a:p>
        </p:txBody>
      </p:sp>
      <p:sp>
        <p:nvSpPr>
          <p:cNvPr id="48"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84421C-F302-409E-9A53-AE32B3D66227}"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
        <p:nvSpPr>
          <p:cNvPr id="49" name="PlaceHolder 2"/>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Segment* Work Completed to Date</a:t>
            </a:r>
            <a:endParaRPr b="1" lang="en-IN" sz="3200" strike="noStrike" u="none">
              <a:solidFill>
                <a:srgbClr val="262673"/>
              </a:solidFill>
              <a:effectLst/>
              <a:uFillTx/>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Rectangle 19"/>
          <p:cNvSpPr/>
          <p:nvPr/>
        </p:nvSpPr>
        <p:spPr>
          <a:xfrm>
            <a:off x="0" y="0"/>
            <a:ext cx="9144000" cy="6858000"/>
          </a:xfrm>
          <a:prstGeom prst="rect">
            <a:avLst/>
          </a:prstGeom>
          <a:solidFill>
            <a:srgbClr val="ffffff"/>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1"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C0AF17-8987-479E-8C2A-F1218AD4C576}" type="slidenum">
              <a:rPr b="1" lang="en-US" sz="1200" strike="noStrike" u="none">
                <a:solidFill>
                  <a:srgbClr val="0070c0"/>
                </a:solidFill>
                <a:effectLst/>
                <a:uFillTx/>
                <a:latin typeface="Arial"/>
              </a:rPr>
              <a:t>&lt;number&gt;</a:t>
            </a:fld>
            <a:endParaRPr b="0" lang="en-IN" sz="1200" strike="noStrike" u="none">
              <a:solidFill>
                <a:srgbClr val="000000"/>
              </a:solidFill>
              <a:effectLst/>
              <a:uFillTx/>
              <a:latin typeface="Arial"/>
            </a:endParaRPr>
          </a:p>
        </p:txBody>
      </p:sp>
      <p:pic>
        <p:nvPicPr>
          <p:cNvPr id="52" name="Picture 5" descr="C:\Documents and Settings\demama\My Documents\_Work\HHS\Segment Architecture\Records Management\diagram.tif"/>
          <p:cNvPicPr/>
          <p:nvPr/>
        </p:nvPicPr>
        <p:blipFill>
          <a:blip r:embed="rId1"/>
          <a:srcRect l="0" t="0" r="0" b="1852"/>
          <a:stretch/>
        </p:blipFill>
        <p:spPr>
          <a:xfrm>
            <a:off x="771480" y="14400"/>
            <a:ext cx="7135920" cy="68500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Rectangle 56"/>
          <p:cNvSpPr/>
          <p:nvPr/>
        </p:nvSpPr>
        <p:spPr>
          <a:xfrm>
            <a:off x="0" y="1282680"/>
            <a:ext cx="9144000" cy="5557680"/>
          </a:xfrm>
          <a:prstGeom prst="rect">
            <a:avLst/>
          </a:prstGeom>
          <a:solidFill>
            <a:srgbClr val="ffffff"/>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4"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Segment  - Current State</a:t>
            </a:r>
            <a:endParaRPr b="1" lang="en-IN" sz="3200" strike="noStrike" u="none">
              <a:solidFill>
                <a:srgbClr val="262673"/>
              </a:solidFill>
              <a:effectLst/>
              <a:uFillTx/>
              <a:latin typeface="Century Gothic"/>
            </a:endParaRPr>
          </a:p>
        </p:txBody>
      </p:sp>
      <p:sp>
        <p:nvSpPr>
          <p:cNvPr id="55" name=""/>
          <p:cNvSpPr txBox="1"/>
          <p:nvPr/>
        </p:nvSpPr>
        <p:spPr>
          <a:xfrm>
            <a:off x="2909880" y="1299960"/>
            <a:ext cx="5448240" cy="393480"/>
          </a:xfrm>
          <a:prstGeom prst="rect">
            <a:avLst/>
          </a:prstGeom>
          <a:noFill/>
          <a:ln w="0">
            <a:noFill/>
          </a:ln>
        </p:spPr>
        <p:txBody>
          <a:bodyPr anchor="t">
            <a:normAutofit/>
          </a:bodyPr>
          <a:p>
            <a:pPr marL="343080" indent="-343080">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RM strategic Drivers/Policies/Requirements</a:t>
            </a:r>
            <a:endParaRPr b="0" lang="en-IN" sz="1400" strike="noStrike" u="none">
              <a:solidFill>
                <a:srgbClr val="262673"/>
              </a:solidFill>
              <a:effectLst/>
              <a:uFillTx/>
              <a:latin typeface="Century Gothic"/>
            </a:endParaRPr>
          </a:p>
        </p:txBody>
      </p:sp>
      <p:pic>
        <p:nvPicPr>
          <p:cNvPr id="56" name="AutoShape 20" descr=""/>
          <p:cNvPicPr/>
          <p:nvPr/>
        </p:nvPicPr>
        <p:blipFill>
          <a:blip r:embed="rId1"/>
          <a:stretch/>
        </p:blipFill>
        <p:spPr>
          <a:xfrm>
            <a:off x="676440" y="1238400"/>
            <a:ext cx="1987560" cy="566640"/>
          </a:xfrm>
          <a:prstGeom prst="rect">
            <a:avLst/>
          </a:prstGeom>
          <a:noFill/>
          <a:ln w="0">
            <a:noFill/>
          </a:ln>
        </p:spPr>
      </p:pic>
      <p:pic>
        <p:nvPicPr>
          <p:cNvPr id="57" name="AutoShape 21" descr=""/>
          <p:cNvPicPr/>
          <p:nvPr/>
        </p:nvPicPr>
        <p:blipFill>
          <a:blip r:embed="rId2"/>
          <a:stretch/>
        </p:blipFill>
        <p:spPr>
          <a:xfrm>
            <a:off x="676440" y="1768320"/>
            <a:ext cx="1987560" cy="567000"/>
          </a:xfrm>
          <a:prstGeom prst="rect">
            <a:avLst/>
          </a:prstGeom>
          <a:noFill/>
          <a:ln w="0">
            <a:noFill/>
          </a:ln>
        </p:spPr>
      </p:pic>
      <p:pic>
        <p:nvPicPr>
          <p:cNvPr id="58" name="AutoShape 22" descr=""/>
          <p:cNvPicPr/>
          <p:nvPr/>
        </p:nvPicPr>
        <p:blipFill>
          <a:blip r:embed="rId3"/>
          <a:stretch/>
        </p:blipFill>
        <p:spPr>
          <a:xfrm>
            <a:off x="676440" y="2286000"/>
            <a:ext cx="1987560" cy="560520"/>
          </a:xfrm>
          <a:prstGeom prst="rect">
            <a:avLst/>
          </a:prstGeom>
          <a:noFill/>
          <a:ln w="0">
            <a:noFill/>
          </a:ln>
        </p:spPr>
      </p:pic>
      <p:pic>
        <p:nvPicPr>
          <p:cNvPr id="59" name="AutoShape 23" descr=""/>
          <p:cNvPicPr/>
          <p:nvPr/>
        </p:nvPicPr>
        <p:blipFill>
          <a:blip r:embed="rId4"/>
          <a:stretch/>
        </p:blipFill>
        <p:spPr>
          <a:xfrm>
            <a:off x="676440" y="2816280"/>
            <a:ext cx="1987560" cy="566640"/>
          </a:xfrm>
          <a:prstGeom prst="rect">
            <a:avLst/>
          </a:prstGeom>
          <a:noFill/>
          <a:ln w="0">
            <a:noFill/>
          </a:ln>
        </p:spPr>
      </p:pic>
      <p:pic>
        <p:nvPicPr>
          <p:cNvPr id="60" name="AutoShape 24" descr=""/>
          <p:cNvPicPr/>
          <p:nvPr/>
        </p:nvPicPr>
        <p:blipFill>
          <a:blip r:embed="rId5"/>
          <a:stretch/>
        </p:blipFill>
        <p:spPr>
          <a:xfrm>
            <a:off x="676440" y="3444840"/>
            <a:ext cx="1987560" cy="560520"/>
          </a:xfrm>
          <a:prstGeom prst="rect">
            <a:avLst/>
          </a:prstGeom>
          <a:noFill/>
          <a:ln w="0">
            <a:noFill/>
          </a:ln>
        </p:spPr>
      </p:pic>
      <p:pic>
        <p:nvPicPr>
          <p:cNvPr id="61" name="AutoShape 25" descr=""/>
          <p:cNvPicPr/>
          <p:nvPr/>
        </p:nvPicPr>
        <p:blipFill>
          <a:blip r:embed="rId6"/>
          <a:stretch/>
        </p:blipFill>
        <p:spPr>
          <a:xfrm>
            <a:off x="676440" y="4029120"/>
            <a:ext cx="1987560" cy="566640"/>
          </a:xfrm>
          <a:prstGeom prst="rect">
            <a:avLst/>
          </a:prstGeom>
          <a:noFill/>
          <a:ln w="0">
            <a:noFill/>
          </a:ln>
        </p:spPr>
      </p:pic>
      <p:pic>
        <p:nvPicPr>
          <p:cNvPr id="62" name="AutoShape 26" descr=""/>
          <p:cNvPicPr/>
          <p:nvPr/>
        </p:nvPicPr>
        <p:blipFill>
          <a:blip r:embed="rId7"/>
          <a:stretch/>
        </p:blipFill>
        <p:spPr>
          <a:xfrm>
            <a:off x="676440" y="4559400"/>
            <a:ext cx="1987560" cy="566640"/>
          </a:xfrm>
          <a:prstGeom prst="rect">
            <a:avLst/>
          </a:prstGeom>
          <a:noFill/>
          <a:ln w="0">
            <a:noFill/>
          </a:ln>
        </p:spPr>
      </p:pic>
      <p:pic>
        <p:nvPicPr>
          <p:cNvPr id="63" name="AutoShape 27" descr=""/>
          <p:cNvPicPr/>
          <p:nvPr/>
        </p:nvPicPr>
        <p:blipFill>
          <a:blip r:embed="rId8"/>
          <a:stretch/>
        </p:blipFill>
        <p:spPr>
          <a:xfrm>
            <a:off x="676440" y="5095800"/>
            <a:ext cx="1987560" cy="561960"/>
          </a:xfrm>
          <a:prstGeom prst="rect">
            <a:avLst/>
          </a:prstGeom>
          <a:noFill/>
          <a:ln w="0">
            <a:noFill/>
          </a:ln>
        </p:spPr>
      </p:pic>
      <p:sp>
        <p:nvSpPr>
          <p:cNvPr id="64" name="Content Placeholder 2"/>
          <p:cNvSpPr/>
          <p:nvPr/>
        </p:nvSpPr>
        <p:spPr>
          <a:xfrm>
            <a:off x="2909880" y="1866960"/>
            <a:ext cx="5829480" cy="3855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See business process analysis  </a:t>
            </a:r>
            <a:endParaRPr b="0" lang="en-IN" sz="1400" strike="noStrike" u="none">
              <a:solidFill>
                <a:srgbClr val="000000"/>
              </a:solidFill>
              <a:effectLst/>
              <a:uFillTx/>
              <a:latin typeface="Arial"/>
            </a:endParaRPr>
          </a:p>
        </p:txBody>
      </p:sp>
      <p:sp>
        <p:nvSpPr>
          <p:cNvPr id="65" name="Content Placeholder 2"/>
          <p:cNvSpPr/>
          <p:nvPr/>
        </p:nvSpPr>
        <p:spPr>
          <a:xfrm>
            <a:off x="2909880" y="2411280"/>
            <a:ext cx="3360600" cy="4860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Supporting IT investment:  0*</a:t>
            </a:r>
            <a:endParaRPr b="0" lang="en-IN" sz="1400" strike="noStrike" u="none">
              <a:solidFill>
                <a:srgbClr val="000000"/>
              </a:solidFill>
              <a:effectLst/>
              <a:uFillTx/>
              <a:latin typeface="Arial"/>
            </a:endParaRPr>
          </a:p>
        </p:txBody>
      </p:sp>
      <p:sp>
        <p:nvSpPr>
          <p:cNvPr id="66" name="Content Placeholder 2"/>
          <p:cNvSpPr/>
          <p:nvPr/>
        </p:nvSpPr>
        <p:spPr>
          <a:xfrm>
            <a:off x="2909880" y="2790720"/>
            <a:ext cx="3106800" cy="5684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Databases:  0</a:t>
            </a:r>
            <a:endParaRPr b="0" lang="en-IN" sz="1200" strike="noStrike" u="none">
              <a:solidFill>
                <a:srgbClr val="000000"/>
              </a:solidFill>
              <a:effectLst/>
              <a:uFillTx/>
              <a:latin typeface="Arial"/>
            </a:endParaRPr>
          </a:p>
          <a:p>
            <a:pPr marL="343080" indent="-343080">
              <a:lnSpc>
                <a:spcPct val="10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Data needs are being identified.</a:t>
            </a:r>
            <a:endParaRPr b="0" lang="en-IN" sz="1200" strike="noStrike" u="none">
              <a:solidFill>
                <a:srgbClr val="000000"/>
              </a:solidFill>
              <a:effectLst/>
              <a:uFillTx/>
              <a:latin typeface="Arial"/>
            </a:endParaRPr>
          </a:p>
        </p:txBody>
      </p:sp>
      <p:sp>
        <p:nvSpPr>
          <p:cNvPr id="67" name="Content Placeholder 2"/>
          <p:cNvSpPr/>
          <p:nvPr/>
        </p:nvSpPr>
        <p:spPr>
          <a:xfrm>
            <a:off x="2909880" y="3322800"/>
            <a:ext cx="3646440" cy="6588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System services:  0</a:t>
            </a:r>
            <a:endParaRPr b="0" lang="en-IN" sz="1200" strike="noStrike" u="none">
              <a:solidFill>
                <a:srgbClr val="000000"/>
              </a:solidFill>
              <a:effectLst/>
              <a:uFillTx/>
              <a:latin typeface="Arial"/>
            </a:endParaRPr>
          </a:p>
          <a:p>
            <a:pPr marL="343080" indent="-343080">
              <a:lnSpc>
                <a:spcPct val="10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Electronic Record Keeping System: 0*</a:t>
            </a:r>
            <a:endParaRPr b="0" lang="en-IN" sz="1200" strike="noStrike" u="none">
              <a:solidFill>
                <a:srgbClr val="000000"/>
              </a:solidFill>
              <a:effectLst/>
              <a:uFillTx/>
              <a:latin typeface="Arial"/>
            </a:endParaRPr>
          </a:p>
          <a:p>
            <a:pPr marL="343080" indent="-343080">
              <a:lnSpc>
                <a:spcPct val="10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142 Scheduled IT systems</a:t>
            </a:r>
            <a:endParaRPr b="0" lang="en-IN" sz="1200" strike="noStrike" u="none">
              <a:solidFill>
                <a:srgbClr val="000000"/>
              </a:solidFill>
              <a:effectLst/>
              <a:uFillTx/>
              <a:latin typeface="Arial"/>
            </a:endParaRPr>
          </a:p>
        </p:txBody>
      </p:sp>
      <p:sp>
        <p:nvSpPr>
          <p:cNvPr id="68" name="Content Placeholder 2"/>
          <p:cNvSpPr/>
          <p:nvPr/>
        </p:nvSpPr>
        <p:spPr>
          <a:xfrm>
            <a:off x="2909880" y="4102200"/>
            <a:ext cx="2962440" cy="3348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Supporting IT Technologies:  0</a:t>
            </a:r>
            <a:endParaRPr b="0" lang="en-IN" sz="1400" strike="noStrike" u="none">
              <a:solidFill>
                <a:srgbClr val="000000"/>
              </a:solidFill>
              <a:effectLst/>
              <a:uFillTx/>
              <a:latin typeface="Arial"/>
            </a:endParaRPr>
          </a:p>
        </p:txBody>
      </p:sp>
      <p:sp>
        <p:nvSpPr>
          <p:cNvPr id="69" name="Straight Connector 35"/>
          <p:cNvSpPr/>
          <p:nvPr/>
        </p:nvSpPr>
        <p:spPr>
          <a:xfrm flipV="1">
            <a:off x="568440" y="1773360"/>
            <a:ext cx="718812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0" name="Straight Connector 42"/>
          <p:cNvSpPr/>
          <p:nvPr/>
        </p:nvSpPr>
        <p:spPr>
          <a:xfrm flipV="1">
            <a:off x="574560" y="2263320"/>
            <a:ext cx="5453280" cy="9720"/>
          </a:xfrm>
          <a:prstGeom prst="line">
            <a:avLst/>
          </a:prstGeom>
          <a:ln w="9360">
            <a:solidFill>
              <a:srgbClr val="b6dcdf"/>
            </a:solidFill>
            <a:miter/>
          </a:ln>
        </p:spPr>
        <p:style>
          <a:lnRef idx="0"/>
          <a:fillRef idx="0"/>
          <a:effectRef idx="0"/>
          <a:fontRef idx="minor"/>
        </p:style>
        <p:txBody>
          <a:bodyPr lIns="90000" rIns="90000" tIns="-37080" bIns="-37080" anchor="t">
            <a:noAutofit/>
          </a:bodyPr>
          <a:p>
            <a:endParaRPr b="0" lang="en-IN" sz="1800" strike="noStrike" u="none">
              <a:solidFill>
                <a:srgbClr val="000000"/>
              </a:solidFill>
              <a:effectLst/>
              <a:uFillTx/>
              <a:latin typeface="Arial"/>
            </a:endParaRPr>
          </a:p>
        </p:txBody>
      </p:sp>
      <p:grpSp>
        <p:nvGrpSpPr>
          <p:cNvPr id="71" name="Group 54"/>
          <p:cNvGrpSpPr/>
          <p:nvPr/>
        </p:nvGrpSpPr>
        <p:grpSpPr>
          <a:xfrm>
            <a:off x="606600" y="2787480"/>
            <a:ext cx="5484600" cy="2826000"/>
            <a:chOff x="606600" y="2787480"/>
            <a:chExt cx="5484600" cy="2826000"/>
          </a:xfrm>
        </p:grpSpPr>
        <p:sp>
          <p:nvSpPr>
            <p:cNvPr id="72" name="Straight Connector 43"/>
            <p:cNvSpPr/>
            <p:nvPr/>
          </p:nvSpPr>
          <p:spPr>
            <a:xfrm flipV="1">
              <a:off x="627120" y="2787480"/>
              <a:ext cx="544500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3" name="Straight Connector 44"/>
            <p:cNvSpPr/>
            <p:nvPr/>
          </p:nvSpPr>
          <p:spPr>
            <a:xfrm flipV="1">
              <a:off x="606600" y="3336840"/>
              <a:ext cx="544356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4" name="Straight Connector 45"/>
            <p:cNvSpPr/>
            <p:nvPr/>
          </p:nvSpPr>
          <p:spPr>
            <a:xfrm flipV="1">
              <a:off x="612720" y="4019400"/>
              <a:ext cx="544356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5" name="Straight Connector 46"/>
            <p:cNvSpPr/>
            <p:nvPr/>
          </p:nvSpPr>
          <p:spPr>
            <a:xfrm flipV="1">
              <a:off x="647640" y="4545000"/>
              <a:ext cx="544356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6" name="Straight Connector 47"/>
            <p:cNvSpPr/>
            <p:nvPr/>
          </p:nvSpPr>
          <p:spPr>
            <a:xfrm flipV="1">
              <a:off x="646200" y="5065920"/>
              <a:ext cx="544356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77" name="Straight Connector 48"/>
            <p:cNvSpPr/>
            <p:nvPr/>
          </p:nvSpPr>
          <p:spPr>
            <a:xfrm flipV="1">
              <a:off x="642960" y="5605560"/>
              <a:ext cx="5445000" cy="7920"/>
            </a:xfrm>
            <a:prstGeom prst="line">
              <a:avLst/>
            </a:prstGeom>
            <a:ln w="9360">
              <a:solidFill>
                <a:srgbClr val="b6dcdf"/>
              </a:solidFill>
              <a:miter/>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grpSp>
      <p:sp>
        <p:nvSpPr>
          <p:cNvPr id="78" name="Content Placeholder 2"/>
          <p:cNvSpPr/>
          <p:nvPr/>
        </p:nvSpPr>
        <p:spPr>
          <a:xfrm>
            <a:off x="2909880" y="4645080"/>
            <a:ext cx="4110120" cy="4284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Training needs – 07/08 RM Assessment ***</a:t>
            </a:r>
            <a:endParaRPr b="0" lang="en-IN" sz="1400" strike="noStrike" u="none">
              <a:solidFill>
                <a:srgbClr val="000000"/>
              </a:solidFill>
              <a:effectLst/>
              <a:uFillTx/>
              <a:latin typeface="Arial"/>
            </a:endParaRPr>
          </a:p>
        </p:txBody>
      </p:sp>
      <p:sp>
        <p:nvSpPr>
          <p:cNvPr id="79" name="Content Placeholder 2"/>
          <p:cNvSpPr/>
          <p:nvPr/>
        </p:nvSpPr>
        <p:spPr>
          <a:xfrm>
            <a:off x="2909880" y="5170320"/>
            <a:ext cx="6234120" cy="37008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Catalog HHS Record Centers – TBD – NARA 2005 inventory validation</a:t>
            </a:r>
            <a:endParaRPr b="0" lang="en-IN" sz="1400" strike="noStrike" u="none">
              <a:solidFill>
                <a:srgbClr val="000000"/>
              </a:solidFill>
              <a:effectLst/>
              <a:uFillTx/>
              <a:latin typeface="Arial"/>
            </a:endParaRPr>
          </a:p>
        </p:txBody>
      </p:sp>
      <p:sp>
        <p:nvSpPr>
          <p:cNvPr id="80" name="Right Brace 52"/>
          <p:cNvSpPr/>
          <p:nvPr/>
        </p:nvSpPr>
        <p:spPr>
          <a:xfrm>
            <a:off x="6275520" y="2236680"/>
            <a:ext cx="287280" cy="2344680"/>
          </a:xfrm>
          <a:custGeom>
            <a:avLst/>
            <a:gdLst>
              <a:gd name="textAreaLeft" fmla="*/ 0 w 287280"/>
              <a:gd name="textAreaRight" fmla="*/ 103680 w 287280"/>
              <a:gd name="textAreaTop" fmla="*/ 29160 h 2344680"/>
              <a:gd name="textAreaBottom" fmla="*/ 2315520 h 234468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432"/>
                  <a:pt x="10800" y="863"/>
                </a:cubicBezTo>
                <a:lnTo>
                  <a:pt x="10800" y="9937"/>
                </a:lnTo>
                <a:cubicBezTo>
                  <a:pt x="10800" y="10369"/>
                  <a:pt x="16200" y="10800"/>
                  <a:pt x="21600" y="10800"/>
                </a:cubicBezTo>
                <a:cubicBezTo>
                  <a:pt x="16200" y="10800"/>
                  <a:pt x="10800" y="11232"/>
                  <a:pt x="10800" y="11663"/>
                </a:cubicBezTo>
                <a:lnTo>
                  <a:pt x="10800" y="20737"/>
                </a:lnTo>
                <a:cubicBezTo>
                  <a:pt x="10800" y="21169"/>
                  <a:pt x="5400" y="21600"/>
                  <a:pt x="0" y="21600"/>
                </a:cubicBezTo>
              </a:path>
            </a:pathLst>
          </a:custGeom>
          <a:noFill/>
          <a:ln w="12600">
            <a:solidFill>
              <a:srgbClr val="00206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1" name="Content Placeholder 2"/>
          <p:cNvSpPr/>
          <p:nvPr/>
        </p:nvSpPr>
        <p:spPr>
          <a:xfrm>
            <a:off x="6642000" y="2509920"/>
            <a:ext cx="2449440" cy="2563560"/>
          </a:xfrm>
          <a:prstGeom prst="rect">
            <a:avLst/>
          </a:prstGeom>
          <a:noFill/>
          <a:ln w="0">
            <a:noFill/>
          </a:ln>
        </p:spPr>
        <p:style>
          <a:lnRef idx="0"/>
          <a:fillRef idx="0"/>
          <a:effectRef idx="0"/>
          <a:fontRef idx="minor"/>
        </p:style>
        <p: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No department-wide or OPDIV-wide Electronic Record Keeping System approved by NARA**</a:t>
            </a:r>
            <a:endParaRPr b="0" lang="en-IN" sz="1800" strike="noStrike" u="none">
              <a:solidFill>
                <a:srgbClr val="000000"/>
              </a:solidFill>
              <a:effectLst/>
              <a:uFillTx/>
              <a:latin typeface="Arial"/>
            </a:endParaRPr>
          </a:p>
        </p:txBody>
      </p:sp>
      <p:sp>
        <p:nvSpPr>
          <p:cNvPr id="82" name="Slide Number Placeholder 4"/>
          <p:cNvSpPr/>
          <p:nvPr/>
        </p:nvSpPr>
        <p:spPr>
          <a:xfrm>
            <a:off x="8313840" y="6199200"/>
            <a:ext cx="49680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7D80792-B207-40B3-8455-4B985633E60F}" type="slidenum">
              <a:rPr b="1" lang="en-US" sz="1200" strike="noStrike" u="none">
                <a:solidFill>
                  <a:srgbClr val="0070c0"/>
                </a:solidFill>
                <a:effectLst/>
                <a:uFillTx/>
                <a:latin typeface="Arial"/>
              </a:rPr>
              <a:t>&lt;number&gt;</a:t>
            </a:fld>
            <a:endParaRPr b="0" lang="en-IN" sz="1200" strike="noStrike" u="none">
              <a:solidFill>
                <a:srgbClr val="000000"/>
              </a:solidFill>
              <a:effectLst/>
              <a:uFillTx/>
              <a:latin typeface="Arial"/>
            </a:endParaRPr>
          </a:p>
        </p:txBody>
      </p:sp>
      <p:sp>
        <p:nvSpPr>
          <p:cNvPr id="83" name="AutoShape 27"/>
          <p:cNvSpPr/>
          <p:nvPr/>
        </p:nvSpPr>
        <p:spPr>
          <a:xfrm>
            <a:off x="733320" y="5692680"/>
            <a:ext cx="1841760" cy="419040"/>
          </a:xfrm>
          <a:prstGeom prst="flowChartAlternateProcess">
            <a:avLst/>
          </a:prstGeom>
          <a:gradFill rotWithShape="0">
            <a:gsLst>
              <a:gs pos="0">
                <a:srgbClr val="bcbcbc"/>
              </a:gs>
              <a:gs pos="100000">
                <a:srgbClr val="ededed"/>
              </a:gs>
            </a:gsLst>
            <a:lin ang="16200000"/>
          </a:gradFill>
          <a:ln w="0">
            <a:noFill/>
          </a:ln>
          <a:effectLst>
            <a:outerShdw dist="20160" dir="5400000" blurRad="0" rotWithShape="0">
              <a:srgbClr val="000000">
                <a:alpha val="38000"/>
              </a:srgbClr>
            </a:outerShdw>
          </a:effectLst>
        </p:spPr>
        <p:style>
          <a:lnRef idx="0"/>
          <a:fillRef idx="0"/>
          <a:effectRef idx="0"/>
          <a:fontRef idx="minor"/>
        </p:style>
        <p:txBody>
          <a:bodyPr wrap="none" lIns="92160" rIns="92160" tIns="46080" bIns="46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333333"/>
                </a:solidFill>
                <a:effectLst/>
                <a:uFillTx/>
                <a:latin typeface="Century Gothic"/>
              </a:rPr>
              <a:t>Security &amp; Privacy</a:t>
            </a:r>
            <a:endParaRPr b="0" lang="en-IN" sz="1400" strike="noStrike" u="none">
              <a:solidFill>
                <a:srgbClr val="000000"/>
              </a:solidFill>
              <a:effectLst/>
              <a:uFillTx/>
              <a:latin typeface="Arial"/>
            </a:endParaRPr>
          </a:p>
        </p:txBody>
      </p:sp>
      <p:sp>
        <p:nvSpPr>
          <p:cNvPr id="84" name="AutoShape 27"/>
          <p:cNvSpPr/>
          <p:nvPr/>
        </p:nvSpPr>
        <p:spPr>
          <a:xfrm>
            <a:off x="733320" y="6243480"/>
            <a:ext cx="1841760" cy="419400"/>
          </a:xfrm>
          <a:prstGeom prst="flowChartAlternateProcess">
            <a:avLst/>
          </a:prstGeom>
          <a:gradFill rotWithShape="0">
            <a:gsLst>
              <a:gs pos="0">
                <a:srgbClr val="bcbcbc"/>
              </a:gs>
              <a:gs pos="100000">
                <a:srgbClr val="ededed"/>
              </a:gs>
            </a:gsLst>
            <a:lin ang="16200000"/>
          </a:gradFill>
          <a:ln w="0">
            <a:noFill/>
          </a:ln>
          <a:effectLst>
            <a:outerShdw dist="20160" dir="5400000" blurRad="0" rotWithShape="0">
              <a:srgbClr val="000000">
                <a:alpha val="38000"/>
              </a:srgbClr>
            </a:outerShdw>
          </a:effectLst>
        </p:spPr>
        <p:style>
          <a:lnRef idx="0"/>
          <a:fillRef idx="0"/>
          <a:effectRef idx="0"/>
          <a:fontRef idx="minor"/>
        </p:style>
        <p:txBody>
          <a:bodyPr wrap="none" lIns="92160" rIns="92160" tIns="46080" bIns="46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333333"/>
                </a:solidFill>
                <a:effectLst/>
                <a:uFillTx/>
                <a:latin typeface="Century Gothic"/>
              </a:rPr>
              <a:t>Performance</a:t>
            </a:r>
            <a:endParaRPr b="0" lang="en-IN" sz="1400" strike="noStrike" u="none">
              <a:solidFill>
                <a:srgbClr val="000000"/>
              </a:solidFill>
              <a:effectLst/>
              <a:uFillTx/>
              <a:latin typeface="Arial"/>
            </a:endParaRPr>
          </a:p>
        </p:txBody>
      </p:sp>
      <p:sp>
        <p:nvSpPr>
          <p:cNvPr id="85" name="Straight Connector 57"/>
          <p:cNvSpPr/>
          <p:nvPr/>
        </p:nvSpPr>
        <p:spPr>
          <a:xfrm flipV="1">
            <a:off x="662040" y="6159240"/>
            <a:ext cx="5514840" cy="12600"/>
          </a:xfrm>
          <a:prstGeom prst="line">
            <a:avLst/>
          </a:prstGeom>
          <a:ln w="9360">
            <a:solidFill>
              <a:srgbClr val="b6dcdf"/>
            </a:solidFill>
            <a:miter/>
          </a:ln>
        </p:spPr>
        <p:style>
          <a:lnRef idx="0"/>
          <a:fillRef idx="0"/>
          <a:effectRef idx="0"/>
          <a:fontRef idx="minor"/>
        </p:style>
        <p:txBody>
          <a:bodyPr lIns="90000" rIns="90000" tIns="-34200" bIns="-34200" anchor="t">
            <a:noAutofit/>
          </a:bodyPr>
          <a:p>
            <a:endParaRPr b="0" lang="en-IN" sz="1800" strike="noStrike" u="none">
              <a:solidFill>
                <a:srgbClr val="000000"/>
              </a:solidFill>
              <a:effectLst/>
              <a:uFillTx/>
              <a:latin typeface="Arial"/>
            </a:endParaRPr>
          </a:p>
        </p:txBody>
      </p:sp>
      <p:sp>
        <p:nvSpPr>
          <p:cNvPr id="86" name="Content Placeholder 2"/>
          <p:cNvSpPr/>
          <p:nvPr/>
        </p:nvSpPr>
        <p:spPr>
          <a:xfrm>
            <a:off x="2909880" y="5716440"/>
            <a:ext cx="4095720" cy="37008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Security and privacy needs - TBD</a:t>
            </a:r>
            <a:endParaRPr b="0" lang="en-IN" sz="1400" strike="noStrike" u="none">
              <a:solidFill>
                <a:srgbClr val="000000"/>
              </a:solidFill>
              <a:effectLst/>
              <a:uFillTx/>
              <a:latin typeface="Arial"/>
            </a:endParaRPr>
          </a:p>
        </p:txBody>
      </p:sp>
      <p:sp>
        <p:nvSpPr>
          <p:cNvPr id="87" name="Content Placeholder 2"/>
          <p:cNvSpPr/>
          <p:nvPr/>
        </p:nvSpPr>
        <p:spPr>
          <a:xfrm>
            <a:off x="2909880" y="6207120"/>
            <a:ext cx="5097600" cy="6429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Performance – 07/08 RM Assessment</a:t>
            </a:r>
            <a:endParaRPr b="0" lang="en-IN" sz="1400" strike="noStrike" u="none">
              <a:solidFill>
                <a:srgbClr val="000000"/>
              </a:solidFill>
              <a:effectLst/>
              <a:uFillTx/>
              <a:latin typeface="Arial"/>
            </a:endParaRPr>
          </a:p>
          <a:p>
            <a:pPr marL="343080" indent="-343080">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Milestones </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26"/>
          <p:cNvSpPr/>
          <p:nvPr/>
        </p:nvSpPr>
        <p:spPr>
          <a:xfrm>
            <a:off x="0" y="1227240"/>
            <a:ext cx="9144000" cy="5630760"/>
          </a:xfrm>
          <a:prstGeom prst="rect">
            <a:avLst/>
          </a:prstGeom>
          <a:solidFill>
            <a:srgbClr val="ffffff"/>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9"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Strategic Impact</a:t>
            </a:r>
            <a:endParaRPr b="1" lang="en-IN" sz="3200" strike="noStrike" u="none">
              <a:solidFill>
                <a:srgbClr val="262673"/>
              </a:solidFill>
              <a:effectLst/>
              <a:uFillTx/>
              <a:latin typeface="Century Gothic"/>
            </a:endParaRPr>
          </a:p>
        </p:txBody>
      </p:sp>
      <p:sp>
        <p:nvSpPr>
          <p:cNvPr id="90" name="Rounded Rectangle 9"/>
          <p:cNvSpPr/>
          <p:nvPr/>
        </p:nvSpPr>
        <p:spPr>
          <a:xfrm>
            <a:off x="1709640" y="5754600"/>
            <a:ext cx="5060880" cy="944640"/>
          </a:xfrm>
          <a:prstGeom prst="roundRect">
            <a:avLst>
              <a:gd name="adj" fmla="val 16667"/>
            </a:avLst>
          </a:prstGeom>
          <a:gradFill rotWithShape="0">
            <a:gsLst>
              <a:gs pos="0">
                <a:srgbClr val="dafda7"/>
              </a:gs>
              <a:gs pos="100000">
                <a:srgbClr val="f5ffe6"/>
              </a:gs>
            </a:gsLst>
            <a:lin ang="16200000"/>
          </a:gradFill>
          <a:ln w="1908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3300"/>
                </a:solidFill>
                <a:effectLst/>
                <a:uFillTx/>
                <a:latin typeface="Century Gothic"/>
              </a:rPr>
              <a:t>Records are the life blood of the US government</a:t>
            </a:r>
            <a:endParaRPr b="0" lang="en-IN" sz="1600" strike="noStrike" u="none">
              <a:solidFill>
                <a:srgbClr val="000000"/>
              </a:solidFill>
              <a:effectLst/>
              <a:uFillTx/>
              <a:latin typeface="Arial"/>
            </a:endParaRPr>
          </a:p>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4b9600"/>
                </a:solidFill>
                <a:effectLst/>
                <a:uFillTx/>
                <a:latin typeface="Calibri"/>
              </a:rPr>
              <a:t>Kshemendra Paul, </a:t>
            </a:r>
            <a:endParaRPr b="0" lang="en-IN" sz="1600" strike="noStrike" u="none">
              <a:solidFill>
                <a:srgbClr val="000000"/>
              </a:solidFill>
              <a:effectLst/>
              <a:uFillTx/>
              <a:latin typeface="Arial"/>
            </a:endParaRPr>
          </a:p>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4b9600"/>
                </a:solidFill>
                <a:effectLst/>
                <a:uFillTx/>
                <a:latin typeface="Calibri"/>
              </a:rPr>
              <a:t>Chief Architect, Office of E-Government and Information Technology</a:t>
            </a:r>
            <a:endParaRPr b="0" lang="en-IN" sz="1000" strike="noStrike" u="none">
              <a:solidFill>
                <a:srgbClr val="000000"/>
              </a:solidFill>
              <a:effectLst/>
              <a:uFillTx/>
              <a:latin typeface="Arial"/>
            </a:endParaRPr>
          </a:p>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4b9600"/>
                </a:solidFill>
                <a:effectLst/>
                <a:uFillTx/>
                <a:latin typeface="Calibri"/>
              </a:rPr>
              <a:t>Stated at the </a:t>
            </a:r>
            <a:r>
              <a:rPr b="1" lang="en-US" sz="1000" strike="noStrike" u="none">
                <a:solidFill>
                  <a:srgbClr val="4b9600"/>
                </a:solidFill>
                <a:effectLst/>
                <a:uFillTx/>
                <a:latin typeface="Calibri"/>
              </a:rPr>
              <a:t>HHS RM Segment Kickoff </a:t>
            </a:r>
            <a:r>
              <a:rPr b="0" lang="en-US" sz="1000" strike="noStrike" u="none">
                <a:solidFill>
                  <a:srgbClr val="4b9600"/>
                </a:solidFill>
                <a:effectLst/>
                <a:uFillTx/>
                <a:latin typeface="Calibri"/>
              </a:rPr>
              <a:t>in October 2008</a:t>
            </a:r>
            <a:endParaRPr b="0" lang="en-IN" sz="1000" strike="noStrike" u="none">
              <a:solidFill>
                <a:srgbClr val="000000"/>
              </a:solidFill>
              <a:effectLst/>
              <a:uFillTx/>
              <a:latin typeface="Arial"/>
            </a:endParaRPr>
          </a:p>
        </p:txBody>
      </p:sp>
      <p:sp>
        <p:nvSpPr>
          <p:cNvPr id="91"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BF1452-63B5-4E9D-A0B6-9B0654625795}" type="slidenum">
              <a:rPr b="1"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
        <p:nvSpPr>
          <p:cNvPr id="92" name="Rounded Rectangle 20"/>
          <p:cNvSpPr/>
          <p:nvPr/>
        </p:nvSpPr>
        <p:spPr>
          <a:xfrm>
            <a:off x="5068800" y="1271520"/>
            <a:ext cx="3468600" cy="1447920"/>
          </a:xfrm>
          <a:prstGeom prst="roundRect">
            <a:avLst>
              <a:gd name="adj" fmla="val 5884"/>
            </a:avLst>
          </a:prstGeom>
          <a:solidFill>
            <a:srgbClr val="ffffff"/>
          </a:solidFill>
          <a:ln w="28440">
            <a:solidFill>
              <a:srgbClr val="a6a6a6"/>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7f7f7f"/>
                </a:solidFill>
                <a:effectLst/>
                <a:uFillTx/>
                <a:latin typeface="Century Gothic"/>
              </a:rPr>
              <a:t>Civil and criminal  prosecution impact which will cost the agency both dollars and personal confinement.</a:t>
            </a:r>
            <a:endParaRPr b="0" lang="en-IN" sz="1600" strike="noStrike" u="none">
              <a:solidFill>
                <a:srgbClr val="000000"/>
              </a:solidFill>
              <a:effectLst/>
              <a:uFillTx/>
              <a:latin typeface="Arial"/>
            </a:endParaRPr>
          </a:p>
        </p:txBody>
      </p:sp>
      <p:sp>
        <p:nvSpPr>
          <p:cNvPr id="93" name="Rounded Rectangle 22"/>
          <p:cNvSpPr/>
          <p:nvPr/>
        </p:nvSpPr>
        <p:spPr>
          <a:xfrm>
            <a:off x="5100480" y="2855880"/>
            <a:ext cx="3468960" cy="1278000"/>
          </a:xfrm>
          <a:prstGeom prst="roundRect">
            <a:avLst>
              <a:gd name="adj" fmla="val 5884"/>
            </a:avLst>
          </a:prstGeom>
          <a:solidFill>
            <a:srgbClr val="ffffff"/>
          </a:solidFill>
          <a:ln w="28440">
            <a:solidFill>
              <a:srgbClr val="a6a6a6"/>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7f7f7f"/>
                </a:solidFill>
                <a:effectLst/>
                <a:uFillTx/>
                <a:latin typeface="Century Gothic"/>
              </a:rPr>
              <a:t>Lose the ability to manage effectively and efficiently. </a:t>
            </a:r>
            <a:endParaRPr b="0" lang="en-IN" sz="1600" strike="noStrike" u="none">
              <a:solidFill>
                <a:srgbClr val="000000"/>
              </a:solidFill>
              <a:effectLst/>
              <a:uFillTx/>
              <a:latin typeface="Arial"/>
            </a:endParaRPr>
          </a:p>
        </p:txBody>
      </p:sp>
      <p:sp>
        <p:nvSpPr>
          <p:cNvPr id="94" name="Rounded Rectangle 25"/>
          <p:cNvSpPr/>
          <p:nvPr/>
        </p:nvSpPr>
        <p:spPr>
          <a:xfrm>
            <a:off x="5068800" y="4275000"/>
            <a:ext cx="3468600" cy="1295640"/>
          </a:xfrm>
          <a:prstGeom prst="roundRect">
            <a:avLst>
              <a:gd name="adj" fmla="val 5884"/>
            </a:avLst>
          </a:prstGeom>
          <a:solidFill>
            <a:srgbClr val="ffffff"/>
          </a:solidFill>
          <a:ln w="28440">
            <a:solidFill>
              <a:srgbClr val="a6a6a6"/>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7f7f7f"/>
                </a:solidFill>
                <a:effectLst/>
                <a:uFillTx/>
                <a:latin typeface="Century Gothic"/>
              </a:rPr>
              <a:t>Decrease our efficiency of implementing the mission of the department.</a:t>
            </a:r>
            <a:endParaRPr b="0" lang="en-IN" sz="1600" strike="noStrike" u="none">
              <a:solidFill>
                <a:srgbClr val="000000"/>
              </a:solidFill>
              <a:effectLst/>
              <a:uFillTx/>
              <a:latin typeface="Arial"/>
            </a:endParaRPr>
          </a:p>
        </p:txBody>
      </p:sp>
      <p:sp>
        <p:nvSpPr>
          <p:cNvPr id="95" name="Pentagon 15"/>
          <p:cNvSpPr/>
          <p:nvPr/>
        </p:nvSpPr>
        <p:spPr>
          <a:xfrm>
            <a:off x="533520" y="1441440"/>
            <a:ext cx="4566960" cy="1106640"/>
          </a:xfrm>
          <a:custGeom>
            <a:avLst/>
            <a:gdLst>
              <a:gd name="textAreaLeft" fmla="*/ 0 w 4566960"/>
              <a:gd name="textAreaRight" fmla="*/ 4567320 w 4566960"/>
              <a:gd name="textAreaTop" fmla="*/ 0 h 1106640"/>
              <a:gd name="textAreaBottom" fmla="*/ 1107000 h 1106640"/>
            </a:gdLst>
            <a:ahLst/>
            <a:cxnLst/>
            <a:rect l="textAreaLeft" t="textAreaTop" r="textAreaRight" b="textAreaBottom"/>
            <a:pathLst>
              <a:path w="21600" h="21600">
                <a:moveTo>
                  <a:pt x="0" y="0"/>
                </a:moveTo>
                <a:lnTo>
                  <a:pt x="18431" y="0"/>
                </a:lnTo>
                <a:lnTo>
                  <a:pt x="21600" y="10800"/>
                </a:lnTo>
                <a:lnTo>
                  <a:pt x="18431" y="21600"/>
                </a:lnTo>
                <a:lnTo>
                  <a:pt x="0" y="21600"/>
                </a:lnTo>
                <a:close/>
              </a:path>
            </a:pathLst>
          </a:custGeom>
          <a:gradFill rotWithShape="0">
            <a:gsLst>
              <a:gs pos="0">
                <a:srgbClr val="c9b5e8"/>
              </a:gs>
              <a:gs pos="100000">
                <a:srgbClr val="f0eaf9"/>
              </a:gs>
            </a:gsLst>
            <a:lin ang="16200000"/>
          </a:gradFill>
          <a:ln w="2844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7d60a0"/>
                </a:solidFill>
                <a:effectLst/>
                <a:uFillTx/>
                <a:latin typeface="Calibri"/>
              </a:rPr>
              <a:t>Legal requirements</a:t>
            </a:r>
            <a:endParaRPr b="0" lang="en-IN" sz="2400" strike="noStrike" u="none">
              <a:solidFill>
                <a:srgbClr val="000000"/>
              </a:solidFill>
              <a:effectLst/>
              <a:uFillTx/>
              <a:latin typeface="Arial"/>
            </a:endParaRPr>
          </a:p>
        </p:txBody>
      </p:sp>
      <p:sp>
        <p:nvSpPr>
          <p:cNvPr id="96" name="Pentagon 16"/>
          <p:cNvSpPr/>
          <p:nvPr/>
        </p:nvSpPr>
        <p:spPr>
          <a:xfrm>
            <a:off x="565200" y="2908440"/>
            <a:ext cx="4567320" cy="1174680"/>
          </a:xfrm>
          <a:custGeom>
            <a:avLst/>
            <a:gdLst>
              <a:gd name="textAreaLeft" fmla="*/ 0 w 4567320"/>
              <a:gd name="textAreaRight" fmla="*/ 4567680 w 4567320"/>
              <a:gd name="textAreaTop" fmla="*/ 0 h 1174680"/>
              <a:gd name="textAreaBottom" fmla="*/ 1175040 h 1174680"/>
            </a:gdLst>
            <a:ahLst/>
            <a:cxnLst/>
            <a:rect l="textAreaLeft" t="textAreaTop" r="textAreaRight" b="textAreaBottom"/>
            <a:pathLst>
              <a:path w="21600" h="21600">
                <a:moveTo>
                  <a:pt x="0" y="0"/>
                </a:moveTo>
                <a:lnTo>
                  <a:pt x="18520" y="0"/>
                </a:lnTo>
                <a:lnTo>
                  <a:pt x="21600" y="10800"/>
                </a:lnTo>
                <a:lnTo>
                  <a:pt x="18520" y="21600"/>
                </a:lnTo>
                <a:lnTo>
                  <a:pt x="0" y="21600"/>
                </a:lnTo>
                <a:close/>
              </a:path>
            </a:pathLst>
          </a:custGeom>
          <a:gradFill rotWithShape="0">
            <a:gsLst>
              <a:gs pos="0">
                <a:srgbClr val="c9b5e8"/>
              </a:gs>
              <a:gs pos="100000">
                <a:srgbClr val="f0eaf9"/>
              </a:gs>
            </a:gsLst>
            <a:lin ang="16200000"/>
          </a:gradFill>
          <a:ln w="2844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7d60a0"/>
                </a:solidFill>
                <a:effectLst/>
                <a:uFillTx/>
                <a:latin typeface="Calibri"/>
              </a:rPr>
              <a:t>Sound business requirements</a:t>
            </a:r>
            <a:endParaRPr b="0" lang="en-IN" sz="2400" strike="noStrike" u="none">
              <a:solidFill>
                <a:srgbClr val="000000"/>
              </a:solidFill>
              <a:effectLst/>
              <a:uFillTx/>
              <a:latin typeface="Arial"/>
            </a:endParaRPr>
          </a:p>
        </p:txBody>
      </p:sp>
      <p:sp>
        <p:nvSpPr>
          <p:cNvPr id="97" name="Pentagon 17"/>
          <p:cNvSpPr/>
          <p:nvPr/>
        </p:nvSpPr>
        <p:spPr>
          <a:xfrm>
            <a:off x="533520" y="4390920"/>
            <a:ext cx="4566960" cy="1065240"/>
          </a:xfrm>
          <a:custGeom>
            <a:avLst/>
            <a:gdLst>
              <a:gd name="textAreaLeft" fmla="*/ 0 w 4566960"/>
              <a:gd name="textAreaRight" fmla="*/ 4567320 w 4566960"/>
              <a:gd name="textAreaTop" fmla="*/ 0 h 1065240"/>
              <a:gd name="textAreaBottom" fmla="*/ 1065600 h 1065240"/>
            </a:gdLst>
            <a:ahLst/>
            <a:cxnLst/>
            <a:rect l="textAreaLeft" t="textAreaTop" r="textAreaRight" b="textAreaBottom"/>
            <a:pathLst>
              <a:path w="21600" h="21600">
                <a:moveTo>
                  <a:pt x="0" y="0"/>
                </a:moveTo>
                <a:lnTo>
                  <a:pt x="18537" y="0"/>
                </a:lnTo>
                <a:lnTo>
                  <a:pt x="21600" y="10800"/>
                </a:lnTo>
                <a:lnTo>
                  <a:pt x="18537" y="21600"/>
                </a:lnTo>
                <a:lnTo>
                  <a:pt x="0" y="21600"/>
                </a:lnTo>
                <a:close/>
              </a:path>
            </a:pathLst>
          </a:custGeom>
          <a:gradFill rotWithShape="0">
            <a:gsLst>
              <a:gs pos="0">
                <a:srgbClr val="c9b5e8"/>
              </a:gs>
              <a:gs pos="100000">
                <a:srgbClr val="f0eaf9"/>
              </a:gs>
            </a:gsLst>
            <a:lin ang="16200000"/>
          </a:gradFill>
          <a:ln w="2844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nSpc>
                <a:spcPct val="9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7d60a0"/>
                </a:solidFill>
                <a:effectLst/>
                <a:uFillTx/>
                <a:latin typeface="Calibri"/>
              </a:rPr>
              <a:t>As stewards of the public trust</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Performance</a:t>
            </a:r>
            <a:endParaRPr b="1" lang="en-IN" sz="3200" strike="noStrike" u="none">
              <a:solidFill>
                <a:srgbClr val="262673"/>
              </a:solidFill>
              <a:effectLst/>
              <a:uFillTx/>
              <a:latin typeface="Century Gothic"/>
            </a:endParaRPr>
          </a:p>
        </p:txBody>
      </p:sp>
      <p:sp>
        <p:nvSpPr>
          <p:cNvPr id="99" name=""/>
          <p:cNvSpPr txBox="1"/>
          <p:nvPr/>
        </p:nvSpPr>
        <p:spPr>
          <a:xfrm>
            <a:off x="457200" y="1294920"/>
            <a:ext cx="8229600" cy="4754520"/>
          </a:xfrm>
          <a:prstGeom prst="rect">
            <a:avLst/>
          </a:prstGeom>
          <a:noFill/>
          <a:ln w="0">
            <a:noFill/>
          </a:ln>
        </p:spPr>
        <p:txBody>
          <a:bodyPr anchor="t">
            <a:normAutofit/>
          </a:bodyPr>
          <a:p>
            <a:pPr marL="343080" indent="-34308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Performance is relevant at multiple levels of Records Management:</a:t>
            </a:r>
            <a:endParaRPr b="0" lang="en-IN" sz="20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Records Officers</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Senior Executive Service employees</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All employees</a:t>
            </a:r>
            <a:endParaRPr b="0" lang="en-IN" sz="1800" strike="noStrike" u="none">
              <a:solidFill>
                <a:srgbClr val="262673"/>
              </a:solidFill>
              <a:effectLst/>
              <a:uFillTx/>
              <a:latin typeface="Century Gothic"/>
            </a:endParaRPr>
          </a:p>
          <a:p>
            <a:pPr lvl="1" marL="743040" indent="-285840">
              <a:spcBef>
                <a:spcPts val="45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Overall RM program</a:t>
            </a:r>
            <a:endParaRPr b="0" lang="en-IN" sz="18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Gaps have been identified in the annual assessments and progress measured in the subsequent year.</a:t>
            </a:r>
            <a:endParaRPr b="0" lang="en-IN" sz="20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“In 2008 records management performance measures were crafted, approved and implemented for the Senior Executive Service employees. It is anticipated that this initiative will initiate the development of performance measures for all HHS employees.”</a:t>
            </a:r>
            <a:endParaRPr b="0" lang="en-IN" sz="2000" strike="noStrike" u="none">
              <a:solidFill>
                <a:srgbClr val="262673"/>
              </a:solidFill>
              <a:effectLst/>
              <a:uFillTx/>
              <a:latin typeface="Century Gothic"/>
            </a:endParaRPr>
          </a:p>
        </p:txBody>
      </p:sp>
      <p:sp>
        <p:nvSpPr>
          <p:cNvPr id="100"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332515E-01BE-4607-A6CE-E4814550668D}"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360" y="101520"/>
            <a:ext cx="898524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262673"/>
                </a:solidFill>
                <a:effectLst/>
                <a:uFillTx/>
                <a:latin typeface="Century Gothic"/>
              </a:rPr>
              <a:t>Current State of HHS Implementation to Compliance with NARA CFR 36 due by September 30, 2009</a:t>
            </a:r>
            <a:endParaRPr b="1" lang="en-IN" sz="2400" strike="noStrike" u="none">
              <a:solidFill>
                <a:srgbClr val="262673"/>
              </a:solidFill>
              <a:effectLst/>
              <a:uFillTx/>
              <a:latin typeface="Century Gothic"/>
            </a:endParaRPr>
          </a:p>
        </p:txBody>
      </p:sp>
      <p:sp>
        <p:nvSpPr>
          <p:cNvPr id="102" name=""/>
          <p:cNvSpPr txBox="1"/>
          <p:nvPr/>
        </p:nvSpPr>
        <p:spPr>
          <a:xfrm>
            <a:off x="457200" y="1294920"/>
            <a:ext cx="8229600" cy="4754520"/>
          </a:xfrm>
          <a:prstGeom prst="rect">
            <a:avLst/>
          </a:prstGeom>
          <a:noFill/>
          <a:ln w="0">
            <a:noFill/>
          </a:ln>
        </p:spPr>
        <p:txBody>
          <a:bodyPr anchor="t">
            <a:normAutofit/>
          </a:bodyPr>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List of #142 NARA scheduled IT systems for HHS (See handout).</a:t>
            </a:r>
            <a:endParaRPr b="0" lang="en-IN" sz="24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EA is conducting an all IT systems inventory (Deadline: 02/10/09).</a:t>
            </a:r>
            <a:endParaRPr b="0" lang="en-IN" sz="24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Records Officers work with EA/Systems Owners to make sure all IT systems have been reviewed and scheduled.</a:t>
            </a:r>
            <a:endParaRPr b="0" lang="en-IN" sz="24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Non-scheduled systems have to follow the processed outlined in CFR 36.</a:t>
            </a:r>
            <a:endParaRPr b="0" lang="en-IN" sz="24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Submit report to NARA by September 2009</a:t>
            </a:r>
            <a:endParaRPr b="0" lang="en-IN" sz="2400" strike="noStrike" u="none">
              <a:solidFill>
                <a:srgbClr val="262673"/>
              </a:solidFill>
              <a:effectLst/>
              <a:uFillTx/>
              <a:latin typeface="Century Gothic"/>
            </a:endParaRPr>
          </a:p>
        </p:txBody>
      </p:sp>
      <p:sp>
        <p:nvSpPr>
          <p:cNvPr id="10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A646689-1024-456E-8C47-150449ED1D0C}"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IT System Scheduling process (CFR 36) </a:t>
            </a:r>
            <a:endParaRPr b="1" lang="en-IN" sz="3200" strike="noStrike" u="none">
              <a:solidFill>
                <a:srgbClr val="262673"/>
              </a:solidFill>
              <a:effectLst/>
              <a:uFillTx/>
              <a:latin typeface="Century Gothic"/>
            </a:endParaRPr>
          </a:p>
        </p:txBody>
      </p:sp>
      <p:sp>
        <p:nvSpPr>
          <p:cNvPr id="105" name=""/>
          <p:cNvSpPr txBox="1"/>
          <p:nvPr/>
        </p:nvSpPr>
        <p:spPr>
          <a:xfrm>
            <a:off x="457200" y="1294920"/>
            <a:ext cx="8229600" cy="4754520"/>
          </a:xfrm>
          <a:prstGeom prst="rect">
            <a:avLst/>
          </a:prstGeom>
          <a:noFill/>
          <a:ln w="0">
            <a:noFill/>
          </a:ln>
        </p:spPr>
        <p:txBody>
          <a:bodyPr anchor="t">
            <a:normAutofit lnSpcReduction="9999"/>
          </a:bodyPr>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Op Div Records Officer </a:t>
            </a:r>
            <a:endParaRPr b="0" lang="en-IN" sz="24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Prepare SF-115 with all required data</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Submit to Department Records Officer </a:t>
            </a:r>
            <a:endParaRPr b="0" lang="en-IN" sz="2000" strike="noStrike" u="none">
              <a:solidFill>
                <a:srgbClr val="262673"/>
              </a:solidFill>
              <a:effectLst/>
              <a:uFillTx/>
              <a:latin typeface="Century Gothic"/>
            </a:endParaRPr>
          </a:p>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Department HHS Records Officer </a:t>
            </a:r>
            <a:endParaRPr b="0" lang="en-IN" sz="24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Reviews SF-115 for completion and potential duplication with already scheduled IT systems with NARA</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Coordinate with Records Officer any changes</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Obtains approval/signature from OGC</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HHS Records Officer signs SF-115 and sends official request to NARA for approval</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Coordinates with NARA any requested changes</a:t>
            </a:r>
            <a:endParaRPr b="0" lang="en-IN" sz="2000" strike="noStrike" u="none">
              <a:solidFill>
                <a:srgbClr val="262673"/>
              </a:solidFill>
              <a:effectLst/>
              <a:uFillTx/>
              <a:latin typeface="Century Gothic"/>
            </a:endParaRPr>
          </a:p>
          <a:p>
            <a:pPr lvl="1" marL="743040" indent="-28584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NARA sends approval to the Records Officer with copy to Department Records Officer</a:t>
            </a:r>
            <a:endParaRPr b="0" lang="en-IN" sz="2000" strike="noStrike" u="none">
              <a:solidFill>
                <a:srgbClr val="262673"/>
              </a:solidFill>
              <a:effectLst/>
              <a:uFillTx/>
              <a:latin typeface="Century Gothic"/>
            </a:endParaRPr>
          </a:p>
          <a:p>
            <a:pPr marL="343080" indent="-343080">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262673"/>
              </a:solidFill>
              <a:effectLst/>
              <a:uFillTx/>
              <a:latin typeface="Century Gothic"/>
            </a:endParaRPr>
          </a:p>
        </p:txBody>
      </p:sp>
      <p:sp>
        <p:nvSpPr>
          <p:cNvPr id="106"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2DFF12-BAD9-4CF9-8592-8D1ACD6937E7}"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Organizational Structure</a:t>
            </a:r>
            <a:endParaRPr b="1" lang="en-IN" sz="3200" strike="noStrike" u="none">
              <a:solidFill>
                <a:srgbClr val="262673"/>
              </a:solidFill>
              <a:effectLst/>
              <a:uFillTx/>
              <a:latin typeface="Century Gothic"/>
            </a:endParaRPr>
          </a:p>
        </p:txBody>
      </p:sp>
      <p:sp>
        <p:nvSpPr>
          <p:cNvPr id="108"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593B7D-8781-4AAE-A58A-EB64015EC859}"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grpSp>
        <p:nvGrpSpPr>
          <p:cNvPr id="109" name="Group 167"/>
          <p:cNvGrpSpPr/>
          <p:nvPr/>
        </p:nvGrpSpPr>
        <p:grpSpPr>
          <a:xfrm>
            <a:off x="128520" y="1274760"/>
            <a:ext cx="8879040" cy="4879800"/>
            <a:chOff x="128520" y="1274760"/>
            <a:chExt cx="8879040" cy="4879800"/>
          </a:xfrm>
        </p:grpSpPr>
        <p:grpSp>
          <p:nvGrpSpPr>
            <p:cNvPr id="110" name="Group 113"/>
            <p:cNvGrpSpPr/>
            <p:nvPr/>
          </p:nvGrpSpPr>
          <p:grpSpPr>
            <a:xfrm>
              <a:off x="128520" y="1274760"/>
              <a:ext cx="8879040" cy="4879800"/>
              <a:chOff x="128520" y="1274760"/>
              <a:chExt cx="8879040" cy="4879800"/>
            </a:xfrm>
          </p:grpSpPr>
          <p:sp>
            <p:nvSpPr>
              <p:cNvPr id="111" name="Rounded Rectangle 114"/>
              <p:cNvSpPr/>
              <p:nvPr/>
            </p:nvSpPr>
            <p:spPr>
              <a:xfrm>
                <a:off x="128520" y="1931760"/>
                <a:ext cx="8879040" cy="714240"/>
              </a:xfrm>
              <a:prstGeom prst="roundRect">
                <a:avLst>
                  <a:gd name="adj" fmla="val 7028"/>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DEPARTMENT</a:t>
                </a:r>
                <a:endParaRPr b="0" lang="en-IN" sz="1200" strike="noStrike" u="none">
                  <a:solidFill>
                    <a:srgbClr val="000000"/>
                  </a:solidFill>
                  <a:effectLst/>
                  <a:uFillTx/>
                  <a:latin typeface="Arial"/>
                </a:endParaRPr>
              </a:p>
            </p:txBody>
          </p:sp>
          <p:sp>
            <p:nvSpPr>
              <p:cNvPr id="112" name="Rounded Rectangle 115"/>
              <p:cNvSpPr/>
              <p:nvPr/>
            </p:nvSpPr>
            <p:spPr>
              <a:xfrm>
                <a:off x="128520" y="2698560"/>
                <a:ext cx="8879040" cy="1616040"/>
              </a:xfrm>
              <a:prstGeom prst="roundRect">
                <a:avLst>
                  <a:gd name="adj" fmla="val 4676"/>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OPDIV/Records Groups</a:t>
                </a:r>
                <a:endParaRPr b="0" lang="en-IN" sz="12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Records Officers</a:t>
                </a:r>
                <a:endParaRPr b="0" lang="en-IN" sz="1200" strike="noStrike" u="none">
                  <a:solidFill>
                    <a:srgbClr val="000000"/>
                  </a:solidFill>
                  <a:effectLst/>
                  <a:uFillTx/>
                  <a:latin typeface="Arial"/>
                </a:endParaRPr>
              </a:p>
            </p:txBody>
          </p:sp>
          <p:sp>
            <p:nvSpPr>
              <p:cNvPr id="113" name="Rounded Rectangle 116"/>
              <p:cNvSpPr/>
              <p:nvPr/>
            </p:nvSpPr>
            <p:spPr>
              <a:xfrm>
                <a:off x="128520" y="4422600"/>
                <a:ext cx="8879040" cy="1731960"/>
              </a:xfrm>
              <a:prstGeom prst="roundRect">
                <a:avLst>
                  <a:gd name="adj" fmla="val 4676"/>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STAFFDIVs/Centers</a:t>
                </a:r>
                <a:endParaRPr b="0" lang="en-IN" sz="12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Records Coordinator/Records Managers/ Records Liaisons</a:t>
                </a:r>
                <a:endParaRPr b="0" lang="en-IN" sz="1200" strike="noStrike" u="none">
                  <a:solidFill>
                    <a:srgbClr val="000000"/>
                  </a:solidFill>
                  <a:effectLst/>
                  <a:uFillTx/>
                  <a:latin typeface="Arial"/>
                </a:endParaRPr>
              </a:p>
            </p:txBody>
          </p:sp>
          <p:sp>
            <p:nvSpPr>
              <p:cNvPr id="114" name="Rounded Rectangle 117"/>
              <p:cNvSpPr/>
              <p:nvPr/>
            </p:nvSpPr>
            <p:spPr>
              <a:xfrm>
                <a:off x="128520" y="1274760"/>
                <a:ext cx="8879040" cy="603000"/>
              </a:xfrm>
              <a:prstGeom prst="roundRect">
                <a:avLst>
                  <a:gd name="adj" fmla="val 10667"/>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122031"/>
                    </a:solidFill>
                    <a:effectLst/>
                    <a:uFillTx/>
                    <a:latin typeface="Calibri"/>
                  </a:rPr>
                  <a:t>EXTERNAL</a:t>
                </a:r>
                <a:endParaRPr b="0" lang="en-IN" sz="1200" strike="noStrike" u="none">
                  <a:solidFill>
                    <a:srgbClr val="000000"/>
                  </a:solidFill>
                  <a:effectLst/>
                  <a:uFillTx/>
                  <a:latin typeface="Arial"/>
                </a:endParaRPr>
              </a:p>
            </p:txBody>
          </p:sp>
        </p:grpSp>
        <p:sp>
          <p:nvSpPr>
            <p:cNvPr id="115" name="Rounded Rectangle 118"/>
            <p:cNvSpPr/>
            <p:nvPr/>
          </p:nvSpPr>
          <p:spPr>
            <a:xfrm>
              <a:off x="3600360" y="1342800"/>
              <a:ext cx="224316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ff"/>
                  </a:solidFill>
                  <a:effectLst/>
                  <a:uFillTx/>
                  <a:latin typeface="Calibri"/>
                </a:rPr>
                <a:t>NARA/OMB/GSA</a:t>
              </a:r>
              <a:endParaRPr b="0" lang="en-IN" sz="1800" strike="noStrike" u="none">
                <a:solidFill>
                  <a:srgbClr val="000000"/>
                </a:solidFill>
                <a:effectLst/>
                <a:uFillTx/>
                <a:latin typeface="Arial"/>
              </a:endParaRPr>
            </a:p>
          </p:txBody>
        </p:sp>
        <p:sp>
          <p:nvSpPr>
            <p:cNvPr id="116" name="Rounded Rectangle 119"/>
            <p:cNvSpPr/>
            <p:nvPr/>
          </p:nvSpPr>
          <p:spPr>
            <a:xfrm>
              <a:off x="3674880" y="2071440"/>
              <a:ext cx="209376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ff"/>
                  </a:solidFill>
                  <a:effectLst/>
                  <a:uFillTx/>
                  <a:latin typeface="Calibri"/>
                </a:rPr>
                <a:t>HHS – RM Council</a:t>
              </a:r>
              <a:endParaRPr b="0" lang="en-IN" sz="1800" strike="noStrike" u="none">
                <a:solidFill>
                  <a:srgbClr val="000000"/>
                </a:solidFill>
                <a:effectLst/>
                <a:uFillTx/>
                <a:latin typeface="Arial"/>
              </a:endParaRPr>
            </a:p>
          </p:txBody>
        </p:sp>
        <p:sp>
          <p:nvSpPr>
            <p:cNvPr id="117" name="Rounded Rectangle 120"/>
            <p:cNvSpPr/>
            <p:nvPr/>
          </p:nvSpPr>
          <p:spPr>
            <a:xfrm>
              <a:off x="1252440" y="3495600"/>
              <a:ext cx="7016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AHRQ</a:t>
              </a:r>
              <a:endParaRPr b="0" lang="en-IN" sz="1400" strike="noStrike" u="none">
                <a:solidFill>
                  <a:srgbClr val="000000"/>
                </a:solidFill>
                <a:effectLst/>
                <a:uFillTx/>
                <a:latin typeface="Arial"/>
              </a:endParaRPr>
            </a:p>
          </p:txBody>
        </p:sp>
        <p:sp>
          <p:nvSpPr>
            <p:cNvPr id="118" name="Rounded Rectangle 121"/>
            <p:cNvSpPr/>
            <p:nvPr/>
          </p:nvSpPr>
          <p:spPr>
            <a:xfrm>
              <a:off x="2000160" y="3495600"/>
              <a:ext cx="6998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AoA</a:t>
              </a:r>
              <a:endParaRPr b="0" lang="en-IN" sz="1400" strike="noStrike" u="none">
                <a:solidFill>
                  <a:srgbClr val="000000"/>
                </a:solidFill>
                <a:effectLst/>
                <a:uFillTx/>
                <a:latin typeface="Arial"/>
              </a:endParaRPr>
            </a:p>
          </p:txBody>
        </p:sp>
        <p:sp>
          <p:nvSpPr>
            <p:cNvPr id="119" name="Rounded Rectangle 122"/>
            <p:cNvSpPr/>
            <p:nvPr/>
          </p:nvSpPr>
          <p:spPr>
            <a:xfrm>
              <a:off x="2744640" y="3495600"/>
              <a:ext cx="7016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CDC</a:t>
              </a:r>
              <a:endParaRPr b="0" lang="en-IN" sz="1400" strike="noStrike" u="none">
                <a:solidFill>
                  <a:srgbClr val="000000"/>
                </a:solidFill>
                <a:effectLst/>
                <a:uFillTx/>
                <a:latin typeface="Arial"/>
              </a:endParaRPr>
            </a:p>
          </p:txBody>
        </p:sp>
        <p:sp>
          <p:nvSpPr>
            <p:cNvPr id="120" name="Rounded Rectangle 123"/>
            <p:cNvSpPr/>
            <p:nvPr/>
          </p:nvSpPr>
          <p:spPr>
            <a:xfrm>
              <a:off x="4282920" y="3495600"/>
              <a:ext cx="6998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FDA</a:t>
              </a:r>
              <a:endParaRPr b="0" lang="en-IN" sz="1400" strike="noStrike" u="none">
                <a:solidFill>
                  <a:srgbClr val="000000"/>
                </a:solidFill>
                <a:effectLst/>
                <a:uFillTx/>
                <a:latin typeface="Arial"/>
              </a:endParaRPr>
            </a:p>
          </p:txBody>
        </p:sp>
        <p:sp>
          <p:nvSpPr>
            <p:cNvPr id="121" name="Rounded Rectangle 124"/>
            <p:cNvSpPr/>
            <p:nvPr/>
          </p:nvSpPr>
          <p:spPr>
            <a:xfrm>
              <a:off x="5029200" y="3495600"/>
              <a:ext cx="7016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IHS</a:t>
              </a:r>
              <a:endParaRPr b="0" lang="en-IN" sz="1400" strike="noStrike" u="none">
                <a:solidFill>
                  <a:srgbClr val="000000"/>
                </a:solidFill>
                <a:effectLst/>
                <a:uFillTx/>
                <a:latin typeface="Arial"/>
              </a:endParaRPr>
            </a:p>
          </p:txBody>
        </p:sp>
        <p:sp>
          <p:nvSpPr>
            <p:cNvPr id="122" name="Rounded Rectangle 125"/>
            <p:cNvSpPr/>
            <p:nvPr/>
          </p:nvSpPr>
          <p:spPr>
            <a:xfrm>
              <a:off x="506160" y="3495600"/>
              <a:ext cx="6998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 ACF </a:t>
              </a:r>
              <a:endParaRPr b="0" lang="en-IN" sz="1400" strike="noStrike" u="none">
                <a:solidFill>
                  <a:srgbClr val="000000"/>
                </a:solidFill>
                <a:effectLst/>
                <a:uFillTx/>
                <a:latin typeface="Arial"/>
              </a:endParaRPr>
            </a:p>
          </p:txBody>
        </p:sp>
        <p:sp>
          <p:nvSpPr>
            <p:cNvPr id="123" name="Rounded Rectangle 126"/>
            <p:cNvSpPr/>
            <p:nvPr/>
          </p:nvSpPr>
          <p:spPr>
            <a:xfrm>
              <a:off x="3494160" y="3495600"/>
              <a:ext cx="74268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CMS</a:t>
              </a:r>
              <a:endParaRPr b="0" lang="en-IN" sz="1400" strike="noStrike" u="none">
                <a:solidFill>
                  <a:srgbClr val="000000"/>
                </a:solidFill>
                <a:effectLst/>
                <a:uFillTx/>
                <a:latin typeface="Arial"/>
              </a:endParaRPr>
            </a:p>
          </p:txBody>
        </p:sp>
        <p:sp>
          <p:nvSpPr>
            <p:cNvPr id="124" name="Rounded Rectangle 127"/>
            <p:cNvSpPr/>
            <p:nvPr/>
          </p:nvSpPr>
          <p:spPr>
            <a:xfrm>
              <a:off x="5776920" y="3495600"/>
              <a:ext cx="7412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HRSA</a:t>
              </a:r>
              <a:endParaRPr b="0" lang="en-IN" sz="1400" strike="noStrike" u="none">
                <a:solidFill>
                  <a:srgbClr val="000000"/>
                </a:solidFill>
                <a:effectLst/>
                <a:uFillTx/>
                <a:latin typeface="Arial"/>
              </a:endParaRPr>
            </a:p>
          </p:txBody>
        </p:sp>
        <p:sp>
          <p:nvSpPr>
            <p:cNvPr id="125" name="Rounded Rectangle 128"/>
            <p:cNvSpPr/>
            <p:nvPr/>
          </p:nvSpPr>
          <p:spPr>
            <a:xfrm>
              <a:off x="7356600" y="3495600"/>
              <a:ext cx="7412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OS</a:t>
              </a:r>
              <a:endParaRPr b="0" lang="en-IN" sz="1400" strike="noStrike" u="none">
                <a:solidFill>
                  <a:srgbClr val="000000"/>
                </a:solidFill>
                <a:effectLst/>
                <a:uFillTx/>
                <a:latin typeface="Arial"/>
              </a:endParaRPr>
            </a:p>
          </p:txBody>
        </p:sp>
        <p:sp>
          <p:nvSpPr>
            <p:cNvPr id="126" name="Rounded Rectangle 129"/>
            <p:cNvSpPr/>
            <p:nvPr/>
          </p:nvSpPr>
          <p:spPr>
            <a:xfrm>
              <a:off x="6566040" y="3495600"/>
              <a:ext cx="74124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ffff"/>
                  </a:solidFill>
                  <a:effectLst/>
                  <a:uFillTx/>
                  <a:latin typeface="Calibri"/>
                </a:rPr>
                <a:t>NIH</a:t>
              </a:r>
              <a:endParaRPr b="0" lang="en-IN" sz="1400" strike="noStrike" u="none">
                <a:solidFill>
                  <a:srgbClr val="000000"/>
                </a:solidFill>
                <a:effectLst/>
                <a:uFillTx/>
                <a:latin typeface="Arial"/>
              </a:endParaRPr>
            </a:p>
          </p:txBody>
        </p:sp>
        <p:sp>
          <p:nvSpPr>
            <p:cNvPr id="127" name="Rounded Rectangle 130"/>
            <p:cNvSpPr/>
            <p:nvPr/>
          </p:nvSpPr>
          <p:spPr>
            <a:xfrm>
              <a:off x="8142480" y="3495600"/>
              <a:ext cx="742680" cy="457200"/>
            </a:xfrm>
            <a:prstGeom prst="roundRect">
              <a:avLst>
                <a:gd name="adj" fmla="val 16667"/>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ff"/>
                  </a:solidFill>
                  <a:effectLst/>
                  <a:uFillTx/>
                  <a:latin typeface="Calibri"/>
                </a:rPr>
                <a:t>SAMHSA</a:t>
              </a:r>
              <a:endParaRPr b="0" lang="en-IN" sz="1100" strike="noStrike" u="none">
                <a:solidFill>
                  <a:srgbClr val="000000"/>
                </a:solidFill>
                <a:effectLst/>
                <a:uFillTx/>
                <a:latin typeface="Arial"/>
              </a:endParaRPr>
            </a:p>
          </p:txBody>
        </p:sp>
        <p:cxnSp>
          <p:nvCxnSpPr>
            <p:cNvPr id="128" name="Straight Arrow Connector 131"/>
            <p:cNvCxnSpPr>
              <a:stCxn id="115" idx="2"/>
              <a:endCxn id="116" idx="0"/>
            </p:cNvCxnSpPr>
            <p:nvPr/>
          </p:nvCxnSpPr>
          <p:spPr>
            <a:xfrm flipH="1">
              <a:off x="4721040" y="1800720"/>
              <a:ext cx="2160" cy="271800"/>
            </a:xfrm>
            <a:prstGeom prst="straightConnector1">
              <a:avLst/>
            </a:prstGeom>
            <a:ln w="9360">
              <a:solidFill>
                <a:srgbClr val="002060"/>
              </a:solidFill>
              <a:miter/>
              <a:tailEnd len="lg" type="triangle" w="lg"/>
            </a:ln>
          </p:spPr>
        </p:cxnSp>
        <p:cxnSp>
          <p:nvCxnSpPr>
            <p:cNvPr id="129" name="Elbow Connector 132"/>
            <p:cNvCxnSpPr>
              <a:stCxn id="116" idx="2"/>
              <a:endCxn id="122" idx="0"/>
            </p:cNvCxnSpPr>
            <p:nvPr/>
          </p:nvCxnSpPr>
          <p:spPr>
            <a:xfrm rot="5400000">
              <a:off x="2305080" y="1078920"/>
              <a:ext cx="967320" cy="3866400"/>
            </a:xfrm>
            <a:prstGeom prst="bentConnector3">
              <a:avLst>
                <a:gd name="adj1" fmla="val 69099"/>
              </a:avLst>
            </a:prstGeom>
            <a:ln w="9360">
              <a:solidFill>
                <a:srgbClr val="002060"/>
              </a:solidFill>
              <a:miter/>
              <a:tailEnd len="lg" type="triangle" w="lg"/>
            </a:ln>
          </p:spPr>
        </p:cxnSp>
        <p:cxnSp>
          <p:nvCxnSpPr>
            <p:cNvPr id="130" name="Elbow Connector 133"/>
            <p:cNvCxnSpPr>
              <a:stCxn id="116" idx="2"/>
              <a:endCxn id="117" idx="0"/>
            </p:cNvCxnSpPr>
            <p:nvPr/>
          </p:nvCxnSpPr>
          <p:spPr>
            <a:xfrm rot="5400000">
              <a:off x="2678400" y="1452240"/>
              <a:ext cx="967320" cy="3119400"/>
            </a:xfrm>
            <a:prstGeom prst="bentConnector3">
              <a:avLst>
                <a:gd name="adj1" fmla="val 69099"/>
              </a:avLst>
            </a:prstGeom>
            <a:ln w="9360">
              <a:solidFill>
                <a:srgbClr val="002060"/>
              </a:solidFill>
              <a:miter/>
              <a:tailEnd len="lg" type="triangle" w="lg"/>
            </a:ln>
          </p:spPr>
        </p:cxnSp>
        <p:cxnSp>
          <p:nvCxnSpPr>
            <p:cNvPr id="131" name="Elbow Connector 134"/>
            <p:cNvCxnSpPr>
              <a:stCxn id="116" idx="2"/>
              <a:endCxn id="123" idx="0"/>
            </p:cNvCxnSpPr>
            <p:nvPr/>
          </p:nvCxnSpPr>
          <p:spPr>
            <a:xfrm rot="5400000">
              <a:off x="3809880" y="2583360"/>
              <a:ext cx="967320" cy="857160"/>
            </a:xfrm>
            <a:prstGeom prst="bentConnector3">
              <a:avLst>
                <a:gd name="adj1" fmla="val 69099"/>
              </a:avLst>
            </a:prstGeom>
            <a:ln w="9360">
              <a:solidFill>
                <a:srgbClr val="002060"/>
              </a:solidFill>
              <a:miter/>
              <a:tailEnd len="lg" type="triangle" w="lg"/>
            </a:ln>
          </p:spPr>
        </p:cxnSp>
        <p:cxnSp>
          <p:nvCxnSpPr>
            <p:cNvPr id="132" name="Elbow Connector 135"/>
            <p:cNvCxnSpPr>
              <a:stCxn id="116" idx="2"/>
              <a:endCxn id="125" idx="0"/>
            </p:cNvCxnSpPr>
            <p:nvPr/>
          </p:nvCxnSpPr>
          <p:spPr>
            <a:xfrm flipH="1" rot="16200000">
              <a:off x="5741280" y="1508760"/>
              <a:ext cx="967320" cy="3006000"/>
            </a:xfrm>
            <a:prstGeom prst="bentConnector3">
              <a:avLst>
                <a:gd name="adj1" fmla="val 69099"/>
              </a:avLst>
            </a:prstGeom>
            <a:ln w="9360">
              <a:solidFill>
                <a:srgbClr val="002060"/>
              </a:solidFill>
              <a:miter/>
              <a:tailEnd len="lg" type="triangle" w="lg"/>
            </a:ln>
          </p:spPr>
        </p:cxnSp>
        <p:cxnSp>
          <p:nvCxnSpPr>
            <p:cNvPr id="133" name="Elbow Connector 136"/>
            <p:cNvCxnSpPr>
              <a:stCxn id="116" idx="2"/>
              <a:endCxn id="126" idx="0"/>
            </p:cNvCxnSpPr>
            <p:nvPr/>
          </p:nvCxnSpPr>
          <p:spPr>
            <a:xfrm flipH="1" rot="16200000">
              <a:off x="5344920" y="1904400"/>
              <a:ext cx="967320" cy="2215080"/>
            </a:xfrm>
            <a:prstGeom prst="bentConnector3">
              <a:avLst>
                <a:gd name="adj1" fmla="val 69099"/>
              </a:avLst>
            </a:prstGeom>
            <a:ln w="9360">
              <a:solidFill>
                <a:srgbClr val="002060"/>
              </a:solidFill>
              <a:miter/>
              <a:tailEnd len="lg" type="triangle" w="lg"/>
            </a:ln>
          </p:spPr>
        </p:cxnSp>
        <p:cxnSp>
          <p:nvCxnSpPr>
            <p:cNvPr id="134" name="Elbow Connector 137"/>
            <p:cNvCxnSpPr>
              <a:stCxn id="116" idx="2"/>
              <a:endCxn id="120" idx="0"/>
            </p:cNvCxnSpPr>
            <p:nvPr/>
          </p:nvCxnSpPr>
          <p:spPr>
            <a:xfrm rot="5400000">
              <a:off x="4193640" y="2967480"/>
              <a:ext cx="967320" cy="89280"/>
            </a:xfrm>
            <a:prstGeom prst="bentConnector3">
              <a:avLst>
                <a:gd name="adj1" fmla="val 69099"/>
              </a:avLst>
            </a:prstGeom>
            <a:ln w="9360">
              <a:solidFill>
                <a:srgbClr val="002060"/>
              </a:solidFill>
              <a:miter/>
              <a:tailEnd len="lg" type="triangle" w="lg"/>
            </a:ln>
          </p:spPr>
        </p:cxnSp>
        <p:cxnSp>
          <p:nvCxnSpPr>
            <p:cNvPr id="135" name="Elbow Connector 138"/>
            <p:cNvCxnSpPr>
              <a:stCxn id="116" idx="2"/>
              <a:endCxn id="118" idx="0"/>
            </p:cNvCxnSpPr>
            <p:nvPr/>
          </p:nvCxnSpPr>
          <p:spPr>
            <a:xfrm rot="5400000">
              <a:off x="3052080" y="1825920"/>
              <a:ext cx="967320" cy="2372400"/>
            </a:xfrm>
            <a:prstGeom prst="bentConnector3">
              <a:avLst>
                <a:gd name="adj1" fmla="val 69099"/>
              </a:avLst>
            </a:prstGeom>
            <a:ln w="9360">
              <a:solidFill>
                <a:srgbClr val="002060"/>
              </a:solidFill>
              <a:miter/>
              <a:tailEnd len="lg" type="triangle" w="lg"/>
            </a:ln>
          </p:spPr>
        </p:cxnSp>
        <p:cxnSp>
          <p:nvCxnSpPr>
            <p:cNvPr id="136" name="Elbow Connector 139"/>
            <p:cNvCxnSpPr>
              <a:stCxn id="116" idx="2"/>
              <a:endCxn id="121" idx="0"/>
            </p:cNvCxnSpPr>
            <p:nvPr/>
          </p:nvCxnSpPr>
          <p:spPr>
            <a:xfrm flipH="1" rot="16200000">
              <a:off x="4566240" y="2682720"/>
              <a:ext cx="967320" cy="658080"/>
            </a:xfrm>
            <a:prstGeom prst="bentConnector3">
              <a:avLst>
                <a:gd name="adj1" fmla="val 69099"/>
              </a:avLst>
            </a:prstGeom>
            <a:ln w="9360">
              <a:solidFill>
                <a:srgbClr val="002060"/>
              </a:solidFill>
              <a:miter/>
              <a:tailEnd len="lg" type="triangle" w="lg"/>
            </a:ln>
          </p:spPr>
        </p:cxnSp>
        <p:cxnSp>
          <p:nvCxnSpPr>
            <p:cNvPr id="137" name="Elbow Connector 140"/>
            <p:cNvCxnSpPr>
              <a:stCxn id="116" idx="2"/>
              <a:endCxn id="119" idx="0"/>
            </p:cNvCxnSpPr>
            <p:nvPr/>
          </p:nvCxnSpPr>
          <p:spPr>
            <a:xfrm rot="5400000">
              <a:off x="3425040" y="2198520"/>
              <a:ext cx="967320" cy="1627200"/>
            </a:xfrm>
            <a:prstGeom prst="bentConnector3">
              <a:avLst>
                <a:gd name="adj1" fmla="val 69099"/>
              </a:avLst>
            </a:prstGeom>
            <a:ln w="9360">
              <a:solidFill>
                <a:srgbClr val="002060"/>
              </a:solidFill>
              <a:miter/>
              <a:tailEnd len="lg" type="triangle" w="lg"/>
            </a:ln>
          </p:spPr>
        </p:cxnSp>
        <p:cxnSp>
          <p:nvCxnSpPr>
            <p:cNvPr id="138" name="Elbow Connector 141"/>
            <p:cNvCxnSpPr>
              <a:stCxn id="116" idx="2"/>
              <a:endCxn id="124" idx="0"/>
            </p:cNvCxnSpPr>
            <p:nvPr/>
          </p:nvCxnSpPr>
          <p:spPr>
            <a:xfrm flipH="1" rot="16200000">
              <a:off x="4951440" y="2298600"/>
              <a:ext cx="967320" cy="1426320"/>
            </a:xfrm>
            <a:prstGeom prst="bentConnector3">
              <a:avLst>
                <a:gd name="adj1" fmla="val 69099"/>
              </a:avLst>
            </a:prstGeom>
            <a:ln w="9360">
              <a:solidFill>
                <a:srgbClr val="002060"/>
              </a:solidFill>
              <a:miter/>
              <a:tailEnd len="lg" type="triangle" w="lg"/>
            </a:ln>
          </p:spPr>
        </p:cxnSp>
        <p:cxnSp>
          <p:nvCxnSpPr>
            <p:cNvPr id="139" name="Elbow Connector 142"/>
            <p:cNvCxnSpPr>
              <a:stCxn id="116" idx="2"/>
              <a:endCxn id="127" idx="0"/>
            </p:cNvCxnSpPr>
            <p:nvPr/>
          </p:nvCxnSpPr>
          <p:spPr>
            <a:xfrm flipH="1" rot="16200000">
              <a:off x="6133680" y="1115640"/>
              <a:ext cx="967320" cy="3792600"/>
            </a:xfrm>
            <a:prstGeom prst="bentConnector3">
              <a:avLst>
                <a:gd name="adj1" fmla="val 69099"/>
              </a:avLst>
            </a:prstGeom>
            <a:ln w="9360">
              <a:solidFill>
                <a:srgbClr val="002060"/>
              </a:solidFill>
              <a:miter/>
              <a:tailEnd len="lg" type="triangle" w="lg"/>
            </a:ln>
          </p:spPr>
        </p:cxnSp>
        <p:sp>
          <p:nvSpPr>
            <p:cNvPr id="140" name="Rounded Rectangle 143"/>
            <p:cNvSpPr/>
            <p:nvPr/>
          </p:nvSpPr>
          <p:spPr>
            <a:xfrm>
              <a:off x="7355160" y="4637160"/>
              <a:ext cx="742680" cy="45720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21 </a:t>
              </a:r>
              <a:r>
                <a:rPr b="1" lang="en-US" sz="900" strike="noStrike" u="none">
                  <a:solidFill>
                    <a:srgbClr val="ffffff"/>
                  </a:solidFill>
                  <a:effectLst/>
                  <a:uFillTx/>
                  <a:latin typeface="Calibri"/>
                </a:rPr>
                <a:t>STAFFDIVs</a:t>
              </a:r>
              <a:endParaRPr b="0" lang="en-IN" sz="900" strike="noStrike" u="none">
                <a:solidFill>
                  <a:srgbClr val="000000"/>
                </a:solidFill>
                <a:effectLst/>
                <a:uFillTx/>
                <a:latin typeface="Arial"/>
              </a:endParaRPr>
            </a:p>
          </p:txBody>
        </p:sp>
        <p:sp>
          <p:nvSpPr>
            <p:cNvPr id="141" name="Rounded Rectangle 144"/>
            <p:cNvSpPr/>
            <p:nvPr/>
          </p:nvSpPr>
          <p:spPr>
            <a:xfrm>
              <a:off x="6558120" y="4637160"/>
              <a:ext cx="755640" cy="761760"/>
            </a:xfrm>
            <a:custGeom>
              <a:avLst/>
              <a:gdLst>
                <a:gd name="textAreaLeft" fmla="*/ 14760 w 755640"/>
                <a:gd name="textAreaRight" fmla="*/ 740880 w 755640"/>
                <a:gd name="textAreaTop" fmla="*/ 14760 h 761760"/>
                <a:gd name="textAreaBottom" fmla="*/ 747000 h 761760"/>
              </a:gdLst>
              <a:ahLst/>
              <a:cxnLst/>
              <a:rect l="textAreaLeft" t="textAreaTop" r="textAreaRight" b="textAreaBottom"/>
              <a:pathLst>
                <a:path w="21600" h="21775">
                  <a:moveTo>
                    <a:pt x="1440" y="0"/>
                  </a:moveTo>
                  <a:arcTo wR="1440" hR="1440" stAng="16200000" swAng="-5400000"/>
                  <a:lnTo>
                    <a:pt x="0" y="20335"/>
                  </a:lnTo>
                  <a:arcTo wR="1440" hR="1440" stAng="10800000" swAng="-5400000"/>
                  <a:lnTo>
                    <a:pt x="20160" y="21775"/>
                  </a:lnTo>
                  <a:arcTo wR="1440" hR="1440" stAng="5400000" swAng="-5400000"/>
                  <a:lnTo>
                    <a:pt x="21600" y="1440"/>
                  </a:lnTo>
                  <a:arcTo wR="1440" hR="1440" stAng="0" swAng="-5400000"/>
                  <a:close/>
                </a:path>
              </a:pathLst>
            </a:cu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27 Institutes and Centers</a:t>
              </a:r>
              <a:endParaRPr b="0" lang="en-IN" sz="1000" strike="noStrike" u="none">
                <a:solidFill>
                  <a:srgbClr val="000000"/>
                </a:solidFill>
                <a:effectLst/>
                <a:uFillTx/>
                <a:latin typeface="Arial"/>
              </a:endParaRPr>
            </a:p>
          </p:txBody>
        </p:sp>
        <p:cxnSp>
          <p:nvCxnSpPr>
            <p:cNvPr id="142" name="Elbow Connector 145"/>
            <p:cNvCxnSpPr>
              <a:stCxn id="125" idx="2"/>
              <a:endCxn id="140" idx="0"/>
            </p:cNvCxnSpPr>
            <p:nvPr/>
          </p:nvCxnSpPr>
          <p:spPr>
            <a:xfrm rot="5400000">
              <a:off x="7383600" y="4294800"/>
              <a:ext cx="684720" cy="2160"/>
            </a:xfrm>
            <a:prstGeom prst="bentConnector3">
              <a:avLst>
                <a:gd name="adj1" fmla="val 49973"/>
              </a:avLst>
            </a:prstGeom>
            <a:ln w="9360">
              <a:solidFill>
                <a:srgbClr val="002060"/>
              </a:solidFill>
              <a:miter/>
              <a:tailEnd len="lg" type="triangle" w="lg"/>
            </a:ln>
          </p:spPr>
        </p:cxnSp>
        <p:cxnSp>
          <p:nvCxnSpPr>
            <p:cNvPr id="143" name="Elbow Connector 146"/>
            <p:cNvCxnSpPr>
              <a:stCxn id="126" idx="2"/>
              <a:endCxn id="141" idx="0"/>
            </p:cNvCxnSpPr>
            <p:nvPr/>
          </p:nvCxnSpPr>
          <p:spPr>
            <a:xfrm rot="5400000">
              <a:off x="6593040" y="4294440"/>
              <a:ext cx="684720" cy="1080"/>
            </a:xfrm>
            <a:prstGeom prst="bentConnector3">
              <a:avLst>
                <a:gd name="adj1" fmla="val 49973"/>
              </a:avLst>
            </a:prstGeom>
            <a:ln w="9360">
              <a:solidFill>
                <a:srgbClr val="002060"/>
              </a:solidFill>
              <a:miter/>
              <a:tailEnd len="lg" type="triangle" w="lg"/>
            </a:ln>
          </p:spPr>
        </p:cxnSp>
        <p:sp>
          <p:nvSpPr>
            <p:cNvPr id="144" name="Rounded Rectangle 147"/>
            <p:cNvSpPr/>
            <p:nvPr/>
          </p:nvSpPr>
          <p:spPr>
            <a:xfrm>
              <a:off x="3525840" y="4637160"/>
              <a:ext cx="679320" cy="55692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28 Centers/Offices</a:t>
              </a:r>
              <a:endParaRPr b="0" lang="en-IN" sz="1000" strike="noStrike" u="none">
                <a:solidFill>
                  <a:srgbClr val="000000"/>
                </a:solidFill>
                <a:effectLst/>
                <a:uFillTx/>
                <a:latin typeface="Arial"/>
              </a:endParaRPr>
            </a:p>
          </p:txBody>
        </p:sp>
        <p:sp>
          <p:nvSpPr>
            <p:cNvPr id="145" name="Rounded Rectangle 148"/>
            <p:cNvSpPr/>
            <p:nvPr/>
          </p:nvSpPr>
          <p:spPr>
            <a:xfrm>
              <a:off x="2739960" y="5456160"/>
              <a:ext cx="709560" cy="29340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ATSDR</a:t>
              </a:r>
              <a:endParaRPr b="0" lang="en-IN" sz="1000" strike="noStrike" u="none">
                <a:solidFill>
                  <a:srgbClr val="000000"/>
                </a:solidFill>
                <a:effectLst/>
                <a:uFillTx/>
                <a:latin typeface="Arial"/>
              </a:endParaRPr>
            </a:p>
          </p:txBody>
        </p:sp>
        <p:cxnSp>
          <p:nvCxnSpPr>
            <p:cNvPr id="146" name="Elbow Connector 149"/>
            <p:cNvCxnSpPr>
              <a:stCxn id="119" idx="2"/>
              <a:endCxn id="147" idx="0"/>
            </p:cNvCxnSpPr>
            <p:nvPr/>
          </p:nvCxnSpPr>
          <p:spPr>
            <a:xfrm rot="5400000">
              <a:off x="2752200" y="4294440"/>
              <a:ext cx="684720" cy="1080"/>
            </a:xfrm>
            <a:prstGeom prst="bentConnector3">
              <a:avLst>
                <a:gd name="adj1" fmla="val 49973"/>
              </a:avLst>
            </a:prstGeom>
            <a:ln w="9360">
              <a:solidFill>
                <a:srgbClr val="002060"/>
              </a:solidFill>
              <a:miter/>
              <a:tailEnd len="lg" type="triangle" w="lg"/>
            </a:ln>
          </p:spPr>
        </p:cxnSp>
        <p:cxnSp>
          <p:nvCxnSpPr>
            <p:cNvPr id="148" name="Elbow Connector 150"/>
            <p:cNvCxnSpPr>
              <a:stCxn id="123" idx="2"/>
              <a:endCxn id="144" idx="0"/>
            </p:cNvCxnSpPr>
            <p:nvPr/>
          </p:nvCxnSpPr>
          <p:spPr>
            <a:xfrm rot="5400000">
              <a:off x="3522600" y="4294800"/>
              <a:ext cx="684720" cy="2160"/>
            </a:xfrm>
            <a:prstGeom prst="bentConnector3">
              <a:avLst>
                <a:gd name="adj1" fmla="val 49973"/>
              </a:avLst>
            </a:prstGeom>
            <a:ln w="9360">
              <a:solidFill>
                <a:srgbClr val="002060"/>
              </a:solidFill>
              <a:miter/>
              <a:tailEnd len="lg" type="triangle" w="lg"/>
            </a:ln>
          </p:spPr>
        </p:cxnSp>
        <p:cxnSp>
          <p:nvCxnSpPr>
            <p:cNvPr id="149" name="Elbow Connector 151"/>
            <p:cNvCxnSpPr>
              <a:stCxn id="119" idx="2"/>
              <a:endCxn id="145" idx="0"/>
            </p:cNvCxnSpPr>
            <p:nvPr/>
          </p:nvCxnSpPr>
          <p:spPr>
            <a:xfrm rot="5400000">
              <a:off x="2342880" y="4704120"/>
              <a:ext cx="1504080" cy="1440"/>
            </a:xfrm>
            <a:prstGeom prst="bentConnector3">
              <a:avLst>
                <a:gd name="adj1" fmla="val 49988"/>
              </a:avLst>
            </a:prstGeom>
            <a:ln w="9360">
              <a:solidFill>
                <a:srgbClr val="002060"/>
              </a:solidFill>
              <a:miter/>
              <a:tailEnd len="lg" type="triangle" w="lg"/>
            </a:ln>
          </p:spPr>
        </p:cxnSp>
        <p:sp>
          <p:nvSpPr>
            <p:cNvPr id="147" name="Rounded Rectangle 152"/>
            <p:cNvSpPr/>
            <p:nvPr/>
          </p:nvSpPr>
          <p:spPr>
            <a:xfrm>
              <a:off x="2747880" y="4637160"/>
              <a:ext cx="693720" cy="56484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16</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Centers/Offices</a:t>
              </a:r>
              <a:endParaRPr b="0" lang="en-IN" sz="1000" strike="noStrike" u="none">
                <a:solidFill>
                  <a:srgbClr val="000000"/>
                </a:solidFill>
                <a:effectLst/>
                <a:uFillTx/>
                <a:latin typeface="Arial"/>
              </a:endParaRPr>
            </a:p>
          </p:txBody>
        </p:sp>
        <p:sp>
          <p:nvSpPr>
            <p:cNvPr id="150" name="Rounded Rectangle 153"/>
            <p:cNvSpPr/>
            <p:nvPr/>
          </p:nvSpPr>
          <p:spPr>
            <a:xfrm>
              <a:off x="4292640" y="4637160"/>
              <a:ext cx="679320" cy="45720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9</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a:t>
              </a:r>
              <a:endParaRPr b="0" lang="en-IN" sz="1000" strike="noStrike" u="none">
                <a:solidFill>
                  <a:srgbClr val="000000"/>
                </a:solidFill>
                <a:effectLst/>
                <a:uFillTx/>
                <a:latin typeface="Arial"/>
              </a:endParaRPr>
            </a:p>
          </p:txBody>
        </p:sp>
        <p:cxnSp>
          <p:nvCxnSpPr>
            <p:cNvPr id="151" name="Elbow Connector 154"/>
            <p:cNvCxnSpPr>
              <a:stCxn id="120" idx="2"/>
              <a:endCxn id="150" idx="0"/>
            </p:cNvCxnSpPr>
            <p:nvPr/>
          </p:nvCxnSpPr>
          <p:spPr>
            <a:xfrm rot="5400000">
              <a:off x="4290480" y="4294800"/>
              <a:ext cx="684720" cy="2160"/>
            </a:xfrm>
            <a:prstGeom prst="bentConnector3">
              <a:avLst>
                <a:gd name="adj1" fmla="val 49973"/>
              </a:avLst>
            </a:prstGeom>
            <a:ln w="9360">
              <a:solidFill>
                <a:srgbClr val="002060"/>
              </a:solidFill>
              <a:miter/>
              <a:tailEnd len="lg" type="triangle" w="lg"/>
            </a:ln>
          </p:spPr>
        </p:cxnSp>
        <p:sp>
          <p:nvSpPr>
            <p:cNvPr id="152" name="Rounded Rectangle 155"/>
            <p:cNvSpPr/>
            <p:nvPr/>
          </p:nvSpPr>
          <p:spPr>
            <a:xfrm>
              <a:off x="5040360" y="4637160"/>
              <a:ext cx="679320" cy="55692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12</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Area Offices</a:t>
              </a:r>
              <a:endParaRPr b="0" lang="en-IN" sz="1000" strike="noStrike" u="none">
                <a:solidFill>
                  <a:srgbClr val="000000"/>
                </a:solidFill>
                <a:effectLst/>
                <a:uFillTx/>
                <a:latin typeface="Arial"/>
              </a:endParaRPr>
            </a:p>
          </p:txBody>
        </p:sp>
        <p:cxnSp>
          <p:nvCxnSpPr>
            <p:cNvPr id="153" name="Elbow Connector 156"/>
            <p:cNvCxnSpPr>
              <a:stCxn id="121" idx="2"/>
              <a:endCxn id="152" idx="0"/>
            </p:cNvCxnSpPr>
            <p:nvPr/>
          </p:nvCxnSpPr>
          <p:spPr>
            <a:xfrm rot="5400000">
              <a:off x="5037480" y="4294440"/>
              <a:ext cx="684720" cy="1080"/>
            </a:xfrm>
            <a:prstGeom prst="bentConnector3">
              <a:avLst>
                <a:gd name="adj1" fmla="val 49973"/>
              </a:avLst>
            </a:prstGeom>
            <a:ln w="9360">
              <a:solidFill>
                <a:srgbClr val="002060"/>
              </a:solidFill>
              <a:miter/>
              <a:tailEnd len="lg" type="triangle" w="lg"/>
            </a:ln>
          </p:spPr>
        </p:cxnSp>
        <p:sp>
          <p:nvSpPr>
            <p:cNvPr id="154" name="Rounded Rectangle 157"/>
            <p:cNvSpPr/>
            <p:nvPr/>
          </p:nvSpPr>
          <p:spPr>
            <a:xfrm>
              <a:off x="5807160" y="4637160"/>
              <a:ext cx="679320" cy="55692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21 Bureau/Offices</a:t>
              </a:r>
              <a:endParaRPr b="0" lang="en-IN" sz="1000" strike="noStrike" u="none">
                <a:solidFill>
                  <a:srgbClr val="000000"/>
                </a:solidFill>
                <a:effectLst/>
                <a:uFillTx/>
                <a:latin typeface="Arial"/>
              </a:endParaRPr>
            </a:p>
          </p:txBody>
        </p:sp>
        <p:cxnSp>
          <p:nvCxnSpPr>
            <p:cNvPr id="155" name="Elbow Connector 158"/>
            <p:cNvCxnSpPr>
              <a:stCxn id="124" idx="2"/>
              <a:endCxn id="154" idx="0"/>
            </p:cNvCxnSpPr>
            <p:nvPr/>
          </p:nvCxnSpPr>
          <p:spPr>
            <a:xfrm rot="5400000">
              <a:off x="5805000" y="4294800"/>
              <a:ext cx="684720" cy="2160"/>
            </a:xfrm>
            <a:prstGeom prst="bentConnector3">
              <a:avLst>
                <a:gd name="adj1" fmla="val 49973"/>
              </a:avLst>
            </a:prstGeom>
            <a:ln w="9360">
              <a:solidFill>
                <a:srgbClr val="002060"/>
              </a:solidFill>
              <a:miter/>
              <a:tailEnd len="lg" type="triangle" w="lg"/>
            </a:ln>
          </p:spPr>
        </p:cxnSp>
        <p:sp>
          <p:nvSpPr>
            <p:cNvPr id="156" name="Rounded Rectangle 159"/>
            <p:cNvSpPr/>
            <p:nvPr/>
          </p:nvSpPr>
          <p:spPr>
            <a:xfrm>
              <a:off x="8174160" y="4637160"/>
              <a:ext cx="679320" cy="59976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6</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Centers/Offices</a:t>
              </a:r>
              <a:endParaRPr b="0" lang="en-IN" sz="1000" strike="noStrike" u="none">
                <a:solidFill>
                  <a:srgbClr val="000000"/>
                </a:solidFill>
                <a:effectLst/>
                <a:uFillTx/>
                <a:latin typeface="Arial"/>
              </a:endParaRPr>
            </a:p>
          </p:txBody>
        </p:sp>
        <p:cxnSp>
          <p:nvCxnSpPr>
            <p:cNvPr id="157" name="Elbow Connector 160"/>
            <p:cNvCxnSpPr>
              <a:stCxn id="127" idx="2"/>
              <a:endCxn id="156" idx="0"/>
            </p:cNvCxnSpPr>
            <p:nvPr/>
          </p:nvCxnSpPr>
          <p:spPr>
            <a:xfrm rot="5400000">
              <a:off x="8171280" y="4294800"/>
              <a:ext cx="684720" cy="2160"/>
            </a:xfrm>
            <a:prstGeom prst="bentConnector3">
              <a:avLst>
                <a:gd name="adj1" fmla="val 49973"/>
              </a:avLst>
            </a:prstGeom>
            <a:ln w="9360">
              <a:solidFill>
                <a:srgbClr val="002060"/>
              </a:solidFill>
              <a:miter/>
              <a:tailEnd len="lg" type="triangle" w="lg"/>
            </a:ln>
          </p:spPr>
        </p:cxnSp>
        <p:sp>
          <p:nvSpPr>
            <p:cNvPr id="158" name="Rounded Rectangle 161"/>
            <p:cNvSpPr/>
            <p:nvPr/>
          </p:nvSpPr>
          <p:spPr>
            <a:xfrm>
              <a:off x="2009520" y="4637160"/>
              <a:ext cx="679320" cy="763560"/>
            </a:xfrm>
            <a:custGeom>
              <a:avLst/>
              <a:gdLst>
                <a:gd name="textAreaLeft" fmla="*/ 19800 w 679320"/>
                <a:gd name="textAreaRight" fmla="*/ 659520 w 679320"/>
                <a:gd name="textAreaTop" fmla="*/ 19800 h 763560"/>
                <a:gd name="textAreaBottom" fmla="*/ 743760 h 763560"/>
              </a:gdLst>
              <a:ahLst/>
              <a:cxnLst/>
              <a:rect l="textAreaLeft" t="textAreaTop" r="textAreaRight" b="textAreaBottom"/>
              <a:pathLst>
                <a:path w="21600" h="24277">
                  <a:moveTo>
                    <a:pt x="2160" y="0"/>
                  </a:moveTo>
                  <a:arcTo wR="2160" hR="2160" stAng="16200000" swAng="-5400000"/>
                  <a:lnTo>
                    <a:pt x="0" y="22117"/>
                  </a:lnTo>
                  <a:arcTo wR="2160" hR="2160" stAng="10800000" swAng="-5400000"/>
                  <a:lnTo>
                    <a:pt x="19440" y="24277"/>
                  </a:lnTo>
                  <a:arcTo wR="2160" hR="2160" stAng="5400000" swAng="-5400000"/>
                  <a:lnTo>
                    <a:pt x="21600" y="2160"/>
                  </a:lnTo>
                  <a:arcTo wR="2160" hR="2160" stAng="0" swAng="-5400000"/>
                  <a:close/>
                </a:path>
              </a:pathLst>
            </a:cu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3</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16 </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Offices</a:t>
              </a:r>
              <a:endParaRPr b="0" lang="en-IN" sz="1000" strike="noStrike" u="none">
                <a:solidFill>
                  <a:srgbClr val="000000"/>
                </a:solidFill>
                <a:effectLst/>
                <a:uFillTx/>
                <a:latin typeface="Arial"/>
              </a:endParaRPr>
            </a:p>
          </p:txBody>
        </p:sp>
        <p:cxnSp>
          <p:nvCxnSpPr>
            <p:cNvPr id="159" name="Elbow Connector 162"/>
            <p:cNvCxnSpPr>
              <a:stCxn id="118" idx="2"/>
              <a:endCxn id="158" idx="0"/>
            </p:cNvCxnSpPr>
            <p:nvPr/>
          </p:nvCxnSpPr>
          <p:spPr>
            <a:xfrm rot="5400000">
              <a:off x="2007360" y="4294800"/>
              <a:ext cx="684720" cy="2160"/>
            </a:xfrm>
            <a:prstGeom prst="bentConnector3">
              <a:avLst>
                <a:gd name="adj1" fmla="val 49973"/>
              </a:avLst>
            </a:prstGeom>
            <a:ln w="9360">
              <a:solidFill>
                <a:srgbClr val="002060"/>
              </a:solidFill>
              <a:miter/>
              <a:tailEnd len="lg" type="triangle" w="lg"/>
            </a:ln>
          </p:spPr>
        </p:cxnSp>
        <p:sp>
          <p:nvSpPr>
            <p:cNvPr id="160" name="Rounded Rectangle 163"/>
            <p:cNvSpPr/>
            <p:nvPr/>
          </p:nvSpPr>
          <p:spPr>
            <a:xfrm>
              <a:off x="1263600" y="4637160"/>
              <a:ext cx="679320" cy="444240"/>
            </a:xfrm>
            <a:prstGeom prst="roundRect">
              <a:avLst>
                <a:gd name="adj" fmla="val 10000"/>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9</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a:t>
              </a:r>
              <a:endParaRPr b="0" lang="en-IN" sz="1000" strike="noStrike" u="none">
                <a:solidFill>
                  <a:srgbClr val="000000"/>
                </a:solidFill>
                <a:effectLst/>
                <a:uFillTx/>
                <a:latin typeface="Arial"/>
              </a:endParaRPr>
            </a:p>
          </p:txBody>
        </p:sp>
        <p:cxnSp>
          <p:nvCxnSpPr>
            <p:cNvPr id="161" name="Elbow Connector 164"/>
            <p:cNvCxnSpPr>
              <a:stCxn id="117" idx="2"/>
              <a:endCxn id="160" idx="0"/>
            </p:cNvCxnSpPr>
            <p:nvPr/>
          </p:nvCxnSpPr>
          <p:spPr>
            <a:xfrm rot="5400000">
              <a:off x="1260360" y="4294440"/>
              <a:ext cx="684720" cy="1080"/>
            </a:xfrm>
            <a:prstGeom prst="bentConnector3">
              <a:avLst>
                <a:gd name="adj1" fmla="val 49973"/>
              </a:avLst>
            </a:prstGeom>
            <a:ln w="9360">
              <a:solidFill>
                <a:srgbClr val="002060"/>
              </a:solidFill>
              <a:miter/>
              <a:tailEnd len="lg" type="triangle" w="lg"/>
            </a:ln>
          </p:spPr>
        </p:cxnSp>
        <p:sp>
          <p:nvSpPr>
            <p:cNvPr id="162" name="Rounded Rectangle 165"/>
            <p:cNvSpPr/>
            <p:nvPr/>
          </p:nvSpPr>
          <p:spPr>
            <a:xfrm>
              <a:off x="515880" y="4637160"/>
              <a:ext cx="679320" cy="763560"/>
            </a:xfrm>
            <a:custGeom>
              <a:avLst/>
              <a:gdLst>
                <a:gd name="textAreaLeft" fmla="*/ 19800 w 679320"/>
                <a:gd name="textAreaRight" fmla="*/ 659520 w 679320"/>
                <a:gd name="textAreaTop" fmla="*/ 19800 h 763560"/>
                <a:gd name="textAreaBottom" fmla="*/ 743760 h 763560"/>
              </a:gdLst>
              <a:ahLst/>
              <a:cxnLst/>
              <a:rect l="textAreaLeft" t="textAreaTop" r="textAreaRight" b="textAreaBottom"/>
              <a:pathLst>
                <a:path w="21600" h="24277">
                  <a:moveTo>
                    <a:pt x="2160" y="0"/>
                  </a:moveTo>
                  <a:arcTo wR="2160" hR="2160" stAng="16200000" swAng="-5400000"/>
                  <a:lnTo>
                    <a:pt x="0" y="22117"/>
                  </a:lnTo>
                  <a:arcTo wR="2160" hR="2160" stAng="10800000" swAng="-5400000"/>
                  <a:lnTo>
                    <a:pt x="19440" y="24277"/>
                  </a:lnTo>
                  <a:arcTo wR="2160" hR="2160" stAng="5400000" swAng="-5400000"/>
                  <a:lnTo>
                    <a:pt x="21600" y="2160"/>
                  </a:lnTo>
                  <a:arcTo wR="2160" hR="2160" stAng="0" swAng="-5400000"/>
                  <a:close/>
                </a:path>
              </a:pathLst>
            </a:cu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15</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Offices/ Bureau</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ffffff"/>
                  </a:solidFill>
                  <a:effectLst/>
                  <a:uFillTx/>
                  <a:latin typeface="Calibri"/>
                </a:rPr>
                <a:t>Centers</a:t>
              </a:r>
              <a:endParaRPr b="0" lang="en-IN" sz="1000" strike="noStrike" u="none">
                <a:solidFill>
                  <a:srgbClr val="000000"/>
                </a:solidFill>
                <a:effectLst/>
                <a:uFillTx/>
                <a:latin typeface="Arial"/>
              </a:endParaRPr>
            </a:p>
          </p:txBody>
        </p:sp>
        <p:cxnSp>
          <p:nvCxnSpPr>
            <p:cNvPr id="163" name="Elbow Connector 166"/>
            <p:cNvCxnSpPr>
              <a:stCxn id="122" idx="2"/>
              <a:endCxn id="162" idx="0"/>
            </p:cNvCxnSpPr>
            <p:nvPr/>
          </p:nvCxnSpPr>
          <p:spPr>
            <a:xfrm rot="5400000">
              <a:off x="513360" y="4294440"/>
              <a:ext cx="684720" cy="1080"/>
            </a:xfrm>
            <a:prstGeom prst="bentConnector3">
              <a:avLst>
                <a:gd name="adj1" fmla="val 49973"/>
              </a:avLst>
            </a:prstGeom>
            <a:ln w="9360">
              <a:solidFill>
                <a:srgbClr val="002060"/>
              </a:solidFill>
              <a:miter/>
              <a:tailEnd len="lg" type="triangle" w="lg"/>
            </a:ln>
          </p:spPr>
        </p:cxn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Picture 6" descr=""/>
          <p:cNvPicPr/>
          <p:nvPr/>
        </p:nvPicPr>
        <p:blipFill>
          <a:blip r:embed="rId1"/>
          <a:stretch/>
        </p:blipFill>
        <p:spPr>
          <a:xfrm>
            <a:off x="4290840" y="1316160"/>
            <a:ext cx="3488040" cy="3395520"/>
          </a:xfrm>
          <a:prstGeom prst="rect">
            <a:avLst/>
          </a:prstGeom>
          <a:noFill/>
          <a:ln w="0">
            <a:noFill/>
          </a:ln>
        </p:spPr>
      </p:pic>
      <p:pic>
        <p:nvPicPr>
          <p:cNvPr id="165" name="Picture 4" descr=""/>
          <p:cNvPicPr/>
          <p:nvPr/>
        </p:nvPicPr>
        <p:blipFill>
          <a:blip r:embed="rId2"/>
          <a:stretch/>
        </p:blipFill>
        <p:spPr>
          <a:xfrm>
            <a:off x="3193920" y="1305000"/>
            <a:ext cx="3382920" cy="3492360"/>
          </a:xfrm>
          <a:prstGeom prst="rect">
            <a:avLst/>
          </a:prstGeom>
          <a:noFill/>
          <a:ln w="0">
            <a:noFill/>
          </a:ln>
        </p:spPr>
      </p:pic>
      <p:pic>
        <p:nvPicPr>
          <p:cNvPr id="166" name="Picture 5" descr=""/>
          <p:cNvPicPr/>
          <p:nvPr/>
        </p:nvPicPr>
        <p:blipFill>
          <a:blip r:embed="rId3"/>
          <a:stretch/>
        </p:blipFill>
        <p:spPr>
          <a:xfrm>
            <a:off x="1468440" y="1249200"/>
            <a:ext cx="3809880" cy="3737160"/>
          </a:xfrm>
          <a:prstGeom prst="rect">
            <a:avLst/>
          </a:prstGeom>
          <a:noFill/>
          <a:ln w="0">
            <a:noFill/>
          </a:ln>
        </p:spPr>
      </p:pic>
      <p:sp>
        <p:nvSpPr>
          <p:cNvPr id="167"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Segment in the HHS EA Repository </a:t>
            </a:r>
            <a:endParaRPr b="1" lang="en-IN" sz="3200" strike="noStrike" u="none">
              <a:solidFill>
                <a:srgbClr val="262673"/>
              </a:solidFill>
              <a:effectLst/>
              <a:uFillTx/>
              <a:latin typeface="Century Gothic"/>
            </a:endParaRPr>
          </a:p>
        </p:txBody>
      </p:sp>
      <p:sp>
        <p:nvSpPr>
          <p:cNvPr id="168" name="Rectangle 3"/>
          <p:cNvSpPr/>
          <p:nvPr/>
        </p:nvSpPr>
        <p:spPr>
          <a:xfrm>
            <a:off x="246240" y="4994280"/>
            <a:ext cx="8656560" cy="1109520"/>
          </a:xfrm>
          <a:prstGeom prst="rect">
            <a:avLst/>
          </a:prstGeom>
          <a:noFill/>
          <a:ln w="0">
            <a:noFill/>
          </a:ln>
        </p:spPr>
        <p:style>
          <a:lnRef idx="0"/>
          <a:fillRef idx="0"/>
          <a:effectRef idx="0"/>
          <a:fontRef idx="minor"/>
        </p:style>
        <p:txBody>
          <a:bodyPr lIns="90000" rIns="90000" tIns="46800" bIns="46800" anchor="t">
            <a:noAutofit/>
          </a:bodyPr>
          <a:p>
            <a:pPr>
              <a:lnSpc>
                <a:spcPct val="11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The information gathered through the assessment, interviews, and analysis of the information posted on your websites was used to create the current state of the RM segment in the HHS EA repository.</a:t>
            </a:r>
            <a:endParaRPr b="0" lang="en-IN" sz="1800" strike="noStrike" u="none">
              <a:solidFill>
                <a:srgbClr val="000000"/>
              </a:solidFill>
              <a:effectLst/>
              <a:uFillTx/>
              <a:latin typeface="Arial"/>
            </a:endParaRPr>
          </a:p>
          <a:p>
            <a:pPr>
              <a:lnSpc>
                <a:spcPct val="11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69" name="TextBox 26"/>
          <p:cNvSpPr/>
          <p:nvPr/>
        </p:nvSpPr>
        <p:spPr>
          <a:xfrm>
            <a:off x="246240" y="4071960"/>
            <a:ext cx="2090520" cy="734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70c0"/>
                </a:solidFill>
                <a:effectLst/>
                <a:uFillTx/>
                <a:latin typeface="Arial"/>
              </a:rPr>
              <a:t>Reports about RM segment are located on the EA portal.</a:t>
            </a:r>
            <a:endParaRPr b="0" lang="en-IN" sz="1400" strike="noStrike" u="none">
              <a:solidFill>
                <a:srgbClr val="000000"/>
              </a:solidFill>
              <a:effectLst/>
              <a:uFillTx/>
              <a:latin typeface="Arial"/>
            </a:endParaRPr>
          </a:p>
        </p:txBody>
      </p:sp>
      <p:sp>
        <p:nvSpPr>
          <p:cNvPr id="170" name="TextBox 27"/>
          <p:cNvSpPr/>
          <p:nvPr/>
        </p:nvSpPr>
        <p:spPr>
          <a:xfrm>
            <a:off x="7551720" y="4064040"/>
            <a:ext cx="163512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70c0"/>
                </a:solidFill>
                <a:effectLst/>
                <a:uFillTx/>
                <a:latin typeface="Arial"/>
              </a:rPr>
              <a:t>Detailed business process models</a:t>
            </a:r>
            <a:endParaRPr b="0" lang="en-IN" sz="1200" strike="noStrike" u="none">
              <a:solidFill>
                <a:srgbClr val="000000"/>
              </a:solidFill>
              <a:effectLst/>
              <a:uFillTx/>
              <a:latin typeface="Arial"/>
            </a:endParaRPr>
          </a:p>
        </p:txBody>
      </p:sp>
      <p:sp>
        <p:nvSpPr>
          <p:cNvPr id="171"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731D6B1-6381-4488-A73D-0B3C44DF0152}"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Segment in the HHS EA Repository </a:t>
            </a:r>
            <a:endParaRPr b="1" lang="en-IN" sz="3200" strike="noStrike" u="none">
              <a:solidFill>
                <a:srgbClr val="262673"/>
              </a:solidFill>
              <a:effectLst/>
              <a:uFillTx/>
              <a:latin typeface="Century Gothic"/>
            </a:endParaRPr>
          </a:p>
        </p:txBody>
      </p:sp>
      <p:sp>
        <p:nvSpPr>
          <p:cNvPr id="17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5D8694-AD44-44B7-B0CA-7E63412BA48D}"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pic>
        <p:nvPicPr>
          <p:cNvPr id="174" name="Picture 20" descr=""/>
          <p:cNvPicPr/>
          <p:nvPr/>
        </p:nvPicPr>
        <p:blipFill>
          <a:blip r:embed="rId1"/>
          <a:srcRect l="23335" t="11556" r="3890" b="9839"/>
          <a:stretch/>
        </p:blipFill>
        <p:spPr>
          <a:xfrm>
            <a:off x="141120" y="1227240"/>
            <a:ext cx="7859880" cy="5305320"/>
          </a:xfrm>
          <a:prstGeom prst="rect">
            <a:avLst/>
          </a:prstGeom>
          <a:noFill/>
          <a:ln w="0">
            <a:noFill/>
          </a:ln>
        </p:spPr>
      </p:pic>
      <p:pic>
        <p:nvPicPr>
          <p:cNvPr id="175" name="Picture 21" descr=""/>
          <p:cNvPicPr/>
          <p:nvPr/>
        </p:nvPicPr>
        <p:blipFill>
          <a:blip r:embed="rId2"/>
          <a:stretch/>
        </p:blipFill>
        <p:spPr>
          <a:xfrm>
            <a:off x="841320" y="3121200"/>
            <a:ext cx="6284880" cy="3681360"/>
          </a:xfrm>
          <a:prstGeom prst="rect">
            <a:avLst/>
          </a:prstGeom>
          <a:noFill/>
          <a:ln w="0">
            <a:noFill/>
          </a:ln>
        </p:spPr>
      </p:pic>
      <p:sp>
        <p:nvSpPr>
          <p:cNvPr id="176" name="Straight Connector 22"/>
          <p:cNvSpPr/>
          <p:nvPr/>
        </p:nvSpPr>
        <p:spPr>
          <a:xfrm flipV="1">
            <a:off x="914400" y="1261800"/>
            <a:ext cx="4529160" cy="1873080"/>
          </a:xfrm>
          <a:prstGeom prst="line">
            <a:avLst/>
          </a:prstGeom>
          <a:ln w="19080">
            <a:solidFill>
              <a:srgbClr val="0099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7" name="Straight Connector 24"/>
          <p:cNvSpPr/>
          <p:nvPr/>
        </p:nvSpPr>
        <p:spPr>
          <a:xfrm flipV="1">
            <a:off x="7057440" y="2887560"/>
            <a:ext cx="866520" cy="3827520"/>
          </a:xfrm>
          <a:prstGeom prst="line">
            <a:avLst/>
          </a:prstGeom>
          <a:ln w="19080">
            <a:solidFill>
              <a:srgbClr val="0099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209160" y="84240"/>
            <a:ext cx="8620200" cy="914400"/>
          </a:xfrm>
          <a:prstGeom prst="rect">
            <a:avLst/>
          </a:prstGeom>
          <a:noFill/>
          <a:ln w="0">
            <a:noFill/>
          </a:ln>
        </p:spPr>
        <p:txBody>
          <a:bodyPr lIns="91440" rIns="91440" tIns="45720" bIns="45720" anchor="ctr">
            <a:noAutofit/>
          </a:bodyPr>
          <a:p>
            <a:pPr marL="609480" indent="-60948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Review of RM Business Processes</a:t>
            </a:r>
            <a:endParaRPr b="1" lang="en-IN" sz="3200" strike="noStrike" u="none">
              <a:solidFill>
                <a:srgbClr val="262673"/>
              </a:solidFill>
              <a:effectLst/>
              <a:uFillTx/>
              <a:latin typeface="Century Gothic"/>
            </a:endParaRPr>
          </a:p>
        </p:txBody>
      </p:sp>
      <p:sp>
        <p:nvSpPr>
          <p:cNvPr id="179" name="PlaceHolder 2"/>
          <p:cNvSpPr>
            <a:spLocks noGrp="1"/>
          </p:cNvSpPr>
          <p:nvPr>
            <p:ph/>
          </p:nvPr>
        </p:nvSpPr>
        <p:spPr>
          <a:xfrm>
            <a:off x="402840" y="1263600"/>
            <a:ext cx="8435880" cy="5472000"/>
          </a:xfrm>
          <a:prstGeom prst="rect">
            <a:avLst/>
          </a:prstGeom>
          <a:noFill/>
          <a:ln w="0">
            <a:noFill/>
          </a:ln>
        </p:spPr>
        <p:txBody>
          <a:bodyPr lIns="91440" rIns="91440" tIns="45720" bIns="45720" anchor="t">
            <a:normAutofit/>
          </a:bodyPr>
          <a:p>
            <a:pPr marL="343080" indent="-343080">
              <a:lnSpc>
                <a:spcPct val="110000"/>
              </a:lnSpc>
              <a:spcBef>
                <a:spcPts val="876"/>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EA Team interviewed 7 OPDIVs/STAFFDIVs </a:t>
            </a:r>
            <a:r>
              <a:rPr b="0" lang="en-US" sz="1400" strike="noStrike" u="none">
                <a:solidFill>
                  <a:srgbClr val="262673"/>
                </a:solidFill>
                <a:effectLst/>
                <a:uFillTx/>
                <a:latin typeface="Century Gothic"/>
              </a:rPr>
              <a:t>(CMS, NIH, OS, ACF, FDA, IHS, AoA )</a:t>
            </a:r>
            <a:endParaRPr b="0" lang="en-IN" sz="1400" strike="noStrike" u="none">
              <a:solidFill>
                <a:srgbClr val="262673"/>
              </a:solidFill>
              <a:effectLst/>
              <a:uFillTx/>
              <a:latin typeface="Century Gothic"/>
            </a:endParaRPr>
          </a:p>
          <a:p>
            <a:pPr marL="343080" indent="-343080">
              <a:lnSpc>
                <a:spcPct val="110000"/>
              </a:lnSpc>
              <a:spcBef>
                <a:spcPts val="1125"/>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The CMS processes* were determined to be the closest documented processes to the NARA business model therefore they were used during the interviews with the OPDIVs.</a:t>
            </a:r>
            <a:endParaRPr b="0" lang="en-IN" sz="1800" strike="noStrike" u="none">
              <a:solidFill>
                <a:srgbClr val="262673"/>
              </a:solidFill>
              <a:effectLst/>
              <a:uFillTx/>
              <a:latin typeface="Century Gothic"/>
            </a:endParaRPr>
          </a:p>
          <a:p>
            <a:pPr marL="343080" indent="-343080">
              <a:lnSpc>
                <a:spcPct val="110000"/>
              </a:lnSpc>
              <a:spcBef>
                <a:spcPts val="1125"/>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Other OPDIVs are capturing their processes to retain the knowledge of how thing are done.**</a:t>
            </a:r>
            <a:endParaRPr b="0" lang="en-IN" sz="1800" strike="noStrike" u="none">
              <a:solidFill>
                <a:srgbClr val="262673"/>
              </a:solidFill>
              <a:effectLst/>
              <a:uFillTx/>
              <a:latin typeface="Century Gothic"/>
            </a:endParaRPr>
          </a:p>
          <a:p>
            <a:pPr marL="343080" indent="-343080">
              <a:lnSpc>
                <a:spcPct val="110000"/>
              </a:lnSpc>
              <a:spcBef>
                <a:spcPts val="1125"/>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Identify business process changes that can be used to reengineer processes and documenting current constraints such as FTEs dedicated to the RM target.</a:t>
            </a:r>
            <a:endParaRPr b="0" lang="en-IN" sz="1800" strike="noStrike" u="none">
              <a:solidFill>
                <a:srgbClr val="262673"/>
              </a:solidFill>
              <a:effectLst/>
              <a:uFillTx/>
              <a:latin typeface="Century Gothic"/>
            </a:endParaRPr>
          </a:p>
          <a:p>
            <a:pPr lvl="1" marL="743040" indent="-285840">
              <a:lnSpc>
                <a:spcPct val="110000"/>
              </a:lnSpc>
              <a:spcBef>
                <a:spcPts val="876"/>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A collaborative approach will help with different kinds of resources limitations.</a:t>
            </a:r>
            <a:endParaRPr b="0" lang="en-IN" sz="1400" strike="noStrike" u="none">
              <a:solidFill>
                <a:srgbClr val="262673"/>
              </a:solidFill>
              <a:effectLst/>
              <a:uFillTx/>
              <a:latin typeface="Century Gothic"/>
            </a:endParaRPr>
          </a:p>
          <a:p>
            <a:pPr marL="343080" indent="-343080">
              <a:lnSpc>
                <a:spcPct val="110000"/>
              </a:lnSpc>
              <a:spcBef>
                <a:spcPts val="1125"/>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All documented processes from the OPDIVs were mapped to the high level NARA processes to complete the following business process matrix.</a:t>
            </a:r>
            <a:endParaRPr b="0" lang="en-IN" sz="1800" strike="noStrike" u="none">
              <a:solidFill>
                <a:srgbClr val="262673"/>
              </a:solidFill>
              <a:effectLst/>
              <a:uFillTx/>
              <a:latin typeface="Century Gothic"/>
            </a:endParaRPr>
          </a:p>
        </p:txBody>
      </p:sp>
      <p:sp>
        <p:nvSpPr>
          <p:cNvPr id="180"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DF4D19-631F-4360-9C27-C020712E6887}"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Rectangle 5"/>
          <p:cNvSpPr/>
          <p:nvPr/>
        </p:nvSpPr>
        <p:spPr>
          <a:xfrm>
            <a:off x="0" y="1087560"/>
            <a:ext cx="9144000" cy="5770440"/>
          </a:xfrm>
          <a:prstGeom prst="rect">
            <a:avLst/>
          </a:prstGeom>
          <a:solidFill>
            <a:srgbClr val="ffffff"/>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82"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High Level RM Core Functions</a:t>
            </a:r>
            <a:br>
              <a:rPr sz="3200"/>
            </a:br>
            <a:r>
              <a:rPr b="1" lang="en-US" sz="1600" strike="noStrike" u="none">
                <a:solidFill>
                  <a:srgbClr val="262673"/>
                </a:solidFill>
                <a:effectLst/>
                <a:uFillTx/>
                <a:latin typeface="Century Gothic"/>
              </a:rPr>
              <a:t>                                                                      </a:t>
            </a:r>
            <a:r>
              <a:rPr b="0" lang="en-US" sz="1400" strike="noStrike" u="none">
                <a:solidFill>
                  <a:srgbClr val="262673"/>
                </a:solidFill>
                <a:effectLst/>
                <a:uFillTx/>
                <a:latin typeface="Century Gothic"/>
              </a:rPr>
              <a:t>(Business Processes)</a:t>
            </a:r>
            <a:endParaRPr b="1" lang="en-IN" sz="1400" strike="noStrike" u="none">
              <a:solidFill>
                <a:srgbClr val="262673"/>
              </a:solidFill>
              <a:effectLst/>
              <a:uFillTx/>
              <a:latin typeface="Century Gothic"/>
            </a:endParaRPr>
          </a:p>
        </p:txBody>
      </p:sp>
      <p:sp>
        <p:nvSpPr>
          <p:cNvPr id="183" name="Slide Number Placeholder 3"/>
          <p:cNvSpPr/>
          <p:nvPr/>
        </p:nvSpPr>
        <p:spPr>
          <a:xfrm>
            <a:off x="3900600" y="6415200"/>
            <a:ext cx="516420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BE6D0F-44B8-40E4-B529-3F59B847F4D1}" type="slidenum">
              <a:rPr b="0" lang="en-US" sz="1200" strike="noStrike" u="none">
                <a:solidFill>
                  <a:srgbClr val="7f7f7f"/>
                </a:solidFill>
                <a:effectLst/>
                <a:uFillTx/>
                <a:latin typeface="Arial"/>
              </a:rPr>
              <a:t>&lt;number&gt;</a:t>
            </a:fld>
            <a:endParaRPr b="0" lang="en-IN" sz="1200" strike="noStrike" u="none">
              <a:solidFill>
                <a:srgbClr val="000000"/>
              </a:solidFill>
              <a:effectLst/>
              <a:uFillTx/>
              <a:latin typeface="Arial"/>
            </a:endParaRPr>
          </a:p>
        </p:txBody>
      </p:sp>
      <p:sp>
        <p:nvSpPr>
          <p:cNvPr id="184" name="Rounded Rectangle 55"/>
          <p:cNvSpPr/>
          <p:nvPr/>
        </p:nvSpPr>
        <p:spPr>
          <a:xfrm>
            <a:off x="598320" y="1195560"/>
            <a:ext cx="1457640" cy="3585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ff"/>
                </a:solidFill>
                <a:effectLst/>
                <a:uFillTx/>
                <a:latin typeface="Century Gothic"/>
              </a:rPr>
              <a:t>Is it a record?</a:t>
            </a:r>
            <a:endParaRPr b="0" lang="en-IN" sz="1100" strike="noStrike" u="none">
              <a:solidFill>
                <a:srgbClr val="000000"/>
              </a:solidFill>
              <a:effectLst/>
              <a:uFillTx/>
              <a:latin typeface="Arial"/>
            </a:endParaRPr>
          </a:p>
        </p:txBody>
      </p:sp>
      <p:sp>
        <p:nvSpPr>
          <p:cNvPr id="185" name="Rounded Rectangle 56"/>
          <p:cNvSpPr/>
          <p:nvPr/>
        </p:nvSpPr>
        <p:spPr>
          <a:xfrm>
            <a:off x="617400" y="1727280"/>
            <a:ext cx="1424160" cy="5331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ffff"/>
                </a:solidFill>
                <a:effectLst/>
                <a:uFillTx/>
                <a:latin typeface="Century Gothic"/>
              </a:rPr>
              <a:t>Create Records</a:t>
            </a:r>
            <a:endParaRPr b="0" lang="en-IN" sz="900" strike="noStrike" u="none">
              <a:solidFill>
                <a:srgbClr val="000000"/>
              </a:solidFill>
              <a:effectLst/>
              <a:uFillTx/>
              <a:latin typeface="Arial"/>
            </a:endParaRPr>
          </a:p>
        </p:txBody>
      </p:sp>
      <p:sp>
        <p:nvSpPr>
          <p:cNvPr id="186" name="Rounded Rectangle 57"/>
          <p:cNvSpPr/>
          <p:nvPr/>
        </p:nvSpPr>
        <p:spPr>
          <a:xfrm>
            <a:off x="2179800" y="1727280"/>
            <a:ext cx="1423800" cy="5331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ffff"/>
                </a:solidFill>
                <a:effectLst/>
                <a:uFillTx/>
                <a:latin typeface="Century Gothic"/>
              </a:rPr>
              <a:t>Schedule Record with NARA</a:t>
            </a:r>
            <a:endParaRPr b="0" lang="en-IN" sz="900" strike="noStrike" u="none">
              <a:solidFill>
                <a:srgbClr val="000000"/>
              </a:solidFill>
              <a:effectLst/>
              <a:uFillTx/>
              <a:latin typeface="Arial"/>
            </a:endParaRPr>
          </a:p>
        </p:txBody>
      </p:sp>
      <p:sp>
        <p:nvSpPr>
          <p:cNvPr id="187" name="Rounded Rectangle 58"/>
          <p:cNvSpPr/>
          <p:nvPr/>
        </p:nvSpPr>
        <p:spPr>
          <a:xfrm>
            <a:off x="3733920" y="1727280"/>
            <a:ext cx="1423800" cy="5331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ffff"/>
                </a:solidFill>
                <a:effectLst/>
                <a:uFillTx/>
                <a:latin typeface="Century Gothic"/>
              </a:rPr>
              <a:t>Maintain Records</a:t>
            </a:r>
            <a:endParaRPr b="0" lang="en-IN" sz="900" strike="noStrike" u="none">
              <a:solidFill>
                <a:srgbClr val="000000"/>
              </a:solidFill>
              <a:effectLst/>
              <a:uFillTx/>
              <a:latin typeface="Arial"/>
            </a:endParaRPr>
          </a:p>
        </p:txBody>
      </p:sp>
      <p:sp>
        <p:nvSpPr>
          <p:cNvPr id="188" name="Rounded Rectangle 59"/>
          <p:cNvSpPr/>
          <p:nvPr/>
        </p:nvSpPr>
        <p:spPr>
          <a:xfrm>
            <a:off x="5295960" y="1727280"/>
            <a:ext cx="1422360" cy="5331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ffff"/>
                </a:solidFill>
                <a:effectLst/>
                <a:uFillTx/>
                <a:latin typeface="Century Gothic"/>
              </a:rPr>
              <a:t>Disposition</a:t>
            </a:r>
            <a:endParaRPr b="0" lang="en-IN" sz="900" strike="noStrike" u="none">
              <a:solidFill>
                <a:srgbClr val="000000"/>
              </a:solidFill>
              <a:effectLst/>
              <a:uFillTx/>
              <a:latin typeface="Arial"/>
            </a:endParaRPr>
          </a:p>
        </p:txBody>
      </p:sp>
      <p:sp>
        <p:nvSpPr>
          <p:cNvPr id="189" name="Rounded Rectangle 60"/>
          <p:cNvSpPr/>
          <p:nvPr/>
        </p:nvSpPr>
        <p:spPr>
          <a:xfrm>
            <a:off x="6854760" y="1727280"/>
            <a:ext cx="1424160" cy="53316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ffff"/>
                </a:solidFill>
                <a:effectLst/>
                <a:uFillTx/>
                <a:latin typeface="Century Gothic"/>
              </a:rPr>
              <a:t>Program Evaluation</a:t>
            </a:r>
            <a:endParaRPr b="0" lang="en-IN" sz="900" strike="noStrike" u="none">
              <a:solidFill>
                <a:srgbClr val="000000"/>
              </a:solidFill>
              <a:effectLst/>
              <a:uFillTx/>
              <a:latin typeface="Arial"/>
            </a:endParaRPr>
          </a:p>
        </p:txBody>
      </p:sp>
      <p:cxnSp>
        <p:nvCxnSpPr>
          <p:cNvPr id="190" name="Straight Arrow Connector 82"/>
          <p:cNvCxnSpPr>
            <a:stCxn id="185" idx="2"/>
          </p:cNvCxnSpPr>
          <p:nvPr/>
        </p:nvCxnSpPr>
        <p:spPr>
          <a:xfrm flipH="1">
            <a:off x="1328400" y="2260440"/>
            <a:ext cx="2160" cy="153360"/>
          </a:xfrm>
          <a:prstGeom prst="straightConnector1">
            <a:avLst/>
          </a:prstGeom>
          <a:ln w="9360">
            <a:solidFill>
              <a:srgbClr val="4f6228"/>
            </a:solidFill>
            <a:miter/>
            <a:tailEnd len="med" type="triangle" w="med"/>
          </a:ln>
        </p:spPr>
      </p:cxnSp>
      <p:cxnSp>
        <p:nvCxnSpPr>
          <p:cNvPr id="191" name="Straight Arrow Connector 88"/>
          <p:cNvCxnSpPr/>
          <p:nvPr/>
        </p:nvCxnSpPr>
        <p:spPr>
          <a:xfrm flipH="1">
            <a:off x="2890080" y="2260440"/>
            <a:ext cx="2520" cy="153360"/>
          </a:xfrm>
          <a:prstGeom prst="straightConnector1">
            <a:avLst/>
          </a:prstGeom>
          <a:ln w="9360">
            <a:solidFill>
              <a:srgbClr val="4f6228"/>
            </a:solidFill>
            <a:miter/>
            <a:tailEnd len="med" type="triangle" w="med"/>
          </a:ln>
        </p:spPr>
      </p:cxnSp>
      <p:cxnSp>
        <p:nvCxnSpPr>
          <p:cNvPr id="192" name="Straight Arrow Connector 93"/>
          <p:cNvCxnSpPr>
            <a:stCxn id="187" idx="2"/>
          </p:cNvCxnSpPr>
          <p:nvPr/>
        </p:nvCxnSpPr>
        <p:spPr>
          <a:xfrm flipH="1">
            <a:off x="4444200" y="2260440"/>
            <a:ext cx="2520" cy="153360"/>
          </a:xfrm>
          <a:prstGeom prst="straightConnector1">
            <a:avLst/>
          </a:prstGeom>
          <a:ln w="9360">
            <a:solidFill>
              <a:srgbClr val="4f6228"/>
            </a:solidFill>
            <a:miter/>
            <a:tailEnd len="med" type="triangle" w="med"/>
          </a:ln>
        </p:spPr>
      </p:cxnSp>
      <p:cxnSp>
        <p:nvCxnSpPr>
          <p:cNvPr id="193" name="Straight Arrow Connector 94"/>
          <p:cNvCxnSpPr>
            <a:stCxn id="188" idx="2"/>
          </p:cNvCxnSpPr>
          <p:nvPr/>
        </p:nvCxnSpPr>
        <p:spPr>
          <a:xfrm flipH="1">
            <a:off x="6000120" y="2260440"/>
            <a:ext cx="6840" cy="153360"/>
          </a:xfrm>
          <a:prstGeom prst="straightConnector1">
            <a:avLst/>
          </a:prstGeom>
          <a:ln w="9360">
            <a:solidFill>
              <a:srgbClr val="4f6228"/>
            </a:solidFill>
            <a:miter/>
            <a:tailEnd len="med" type="triangle" w="med"/>
          </a:ln>
        </p:spPr>
      </p:cxnSp>
      <p:cxnSp>
        <p:nvCxnSpPr>
          <p:cNvPr id="194" name="Straight Arrow Connector 95"/>
          <p:cNvCxnSpPr>
            <a:stCxn id="189" idx="2"/>
          </p:cNvCxnSpPr>
          <p:nvPr/>
        </p:nvCxnSpPr>
        <p:spPr>
          <a:xfrm>
            <a:off x="7565040" y="2260440"/>
            <a:ext cx="11880" cy="153360"/>
          </a:xfrm>
          <a:prstGeom prst="straightConnector1">
            <a:avLst/>
          </a:prstGeom>
          <a:ln w="9360">
            <a:solidFill>
              <a:srgbClr val="4f6228"/>
            </a:solidFill>
            <a:miter/>
            <a:tailEnd len="med" type="triangle" w="med"/>
          </a:ln>
        </p:spPr>
      </p:cxnSp>
      <p:grpSp>
        <p:nvGrpSpPr>
          <p:cNvPr id="195" name="Group 109"/>
          <p:cNvGrpSpPr/>
          <p:nvPr/>
        </p:nvGrpSpPr>
        <p:grpSpPr>
          <a:xfrm>
            <a:off x="617400" y="2413080"/>
            <a:ext cx="7672680" cy="3273480"/>
            <a:chOff x="617400" y="2413080"/>
            <a:chExt cx="7672680" cy="3273480"/>
          </a:xfrm>
        </p:grpSpPr>
        <p:sp>
          <p:nvSpPr>
            <p:cNvPr id="196" name="Rounded Rectangle 61"/>
            <p:cNvSpPr/>
            <p:nvPr/>
          </p:nvSpPr>
          <p:spPr>
            <a:xfrm>
              <a:off x="617400" y="29764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Collect Records Process (FORMS) </a:t>
              </a:r>
              <a:endParaRPr b="0" lang="en-IN" sz="800" strike="noStrike" u="none">
                <a:solidFill>
                  <a:srgbClr val="000000"/>
                </a:solidFill>
                <a:effectLst/>
                <a:uFillTx/>
                <a:latin typeface="Arial"/>
              </a:endParaRPr>
            </a:p>
          </p:txBody>
        </p:sp>
        <p:sp>
          <p:nvSpPr>
            <p:cNvPr id="197" name="Rounded Rectangle 62"/>
            <p:cNvSpPr/>
            <p:nvPr/>
          </p:nvSpPr>
          <p:spPr>
            <a:xfrm>
              <a:off x="617400" y="35402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Develop Standards for Applying Requirements (Issuing Policy)</a:t>
              </a:r>
              <a:endParaRPr b="0" lang="en-IN" sz="800" strike="noStrike" u="none">
                <a:solidFill>
                  <a:srgbClr val="000000"/>
                </a:solidFill>
                <a:effectLst/>
                <a:uFillTx/>
                <a:latin typeface="Arial"/>
              </a:endParaRPr>
            </a:p>
          </p:txBody>
        </p:sp>
        <p:sp>
          <p:nvSpPr>
            <p:cNvPr id="198" name="Rounded Rectangle 63"/>
            <p:cNvSpPr/>
            <p:nvPr/>
          </p:nvSpPr>
          <p:spPr>
            <a:xfrm>
              <a:off x="617400" y="41036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Generate Records Reports (PRA)</a:t>
              </a:r>
              <a:endParaRPr b="0" lang="en-IN" sz="800" strike="noStrike" u="none">
                <a:solidFill>
                  <a:srgbClr val="000000"/>
                </a:solidFill>
                <a:effectLst/>
                <a:uFillTx/>
                <a:latin typeface="Arial"/>
              </a:endParaRPr>
            </a:p>
          </p:txBody>
        </p:sp>
        <p:sp>
          <p:nvSpPr>
            <p:cNvPr id="199" name="Rounded Rectangle 64"/>
            <p:cNvSpPr/>
            <p:nvPr/>
          </p:nvSpPr>
          <p:spPr>
            <a:xfrm>
              <a:off x="617400" y="466740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Generate Electronic Media Report (could be stand alone process)</a:t>
              </a:r>
              <a:endParaRPr b="0" lang="en-IN" sz="800" strike="noStrike" u="none">
                <a:solidFill>
                  <a:srgbClr val="000000"/>
                </a:solidFill>
                <a:effectLst/>
                <a:uFillTx/>
                <a:latin typeface="Arial"/>
              </a:endParaRPr>
            </a:p>
          </p:txBody>
        </p:sp>
        <p:sp>
          <p:nvSpPr>
            <p:cNvPr id="200" name="Rounded Rectangle 65"/>
            <p:cNvSpPr/>
            <p:nvPr/>
          </p:nvSpPr>
          <p:spPr>
            <a:xfrm>
              <a:off x="617400" y="523116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Ensure Record Quality **</a:t>
              </a:r>
              <a:endParaRPr b="0" lang="en-IN" sz="800" strike="noStrike" u="none">
                <a:solidFill>
                  <a:srgbClr val="000000"/>
                </a:solidFill>
                <a:effectLst/>
                <a:uFillTx/>
                <a:latin typeface="Arial"/>
              </a:endParaRPr>
            </a:p>
          </p:txBody>
        </p:sp>
        <p:sp>
          <p:nvSpPr>
            <p:cNvPr id="201" name="Rounded Rectangle 66"/>
            <p:cNvSpPr/>
            <p:nvPr/>
          </p:nvSpPr>
          <p:spPr>
            <a:xfrm>
              <a:off x="617400" y="24130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Apply Requirements</a:t>
              </a:r>
              <a:endParaRPr b="0" lang="en-IN" sz="800" strike="noStrike" u="none">
                <a:solidFill>
                  <a:srgbClr val="000000"/>
                </a:solidFill>
                <a:effectLst/>
                <a:uFillTx/>
                <a:latin typeface="Arial"/>
              </a:endParaRPr>
            </a:p>
          </p:txBody>
        </p:sp>
        <p:sp>
          <p:nvSpPr>
            <p:cNvPr id="202" name="Rounded Rectangle 67"/>
            <p:cNvSpPr/>
            <p:nvPr/>
          </p:nvSpPr>
          <p:spPr>
            <a:xfrm>
              <a:off x="2179440" y="29764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Assign and Justify Value</a:t>
              </a:r>
              <a:endParaRPr b="0" lang="en-IN" sz="800" strike="noStrike" u="none">
                <a:solidFill>
                  <a:srgbClr val="000000"/>
                </a:solidFill>
                <a:effectLst/>
                <a:uFillTx/>
                <a:latin typeface="Arial"/>
              </a:endParaRPr>
            </a:p>
          </p:txBody>
        </p:sp>
        <p:sp>
          <p:nvSpPr>
            <p:cNvPr id="203" name="Rounded Rectangle 68"/>
            <p:cNvSpPr/>
            <p:nvPr/>
          </p:nvSpPr>
          <p:spPr>
            <a:xfrm>
              <a:off x="2179440" y="35402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Submit FS-115 to NARA</a:t>
              </a:r>
              <a:endParaRPr b="0" lang="en-IN" sz="800" strike="noStrike" u="none">
                <a:solidFill>
                  <a:srgbClr val="000000"/>
                </a:solidFill>
                <a:effectLst/>
                <a:uFillTx/>
                <a:latin typeface="Arial"/>
              </a:endParaRPr>
            </a:p>
          </p:txBody>
        </p:sp>
        <p:sp>
          <p:nvSpPr>
            <p:cNvPr id="204" name="Rounded Rectangle 69"/>
            <p:cNvSpPr/>
            <p:nvPr/>
          </p:nvSpPr>
          <p:spPr>
            <a:xfrm>
              <a:off x="2179440" y="41036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Coordinate Final Implementation</a:t>
              </a:r>
              <a:endParaRPr b="0" lang="en-IN" sz="800" strike="noStrike" u="none">
                <a:solidFill>
                  <a:srgbClr val="000000"/>
                </a:solidFill>
                <a:effectLst/>
                <a:uFillTx/>
                <a:latin typeface="Arial"/>
              </a:endParaRPr>
            </a:p>
          </p:txBody>
        </p:sp>
        <p:sp>
          <p:nvSpPr>
            <p:cNvPr id="205" name="Rounded Rectangle 71"/>
            <p:cNvSpPr/>
            <p:nvPr/>
          </p:nvSpPr>
          <p:spPr>
            <a:xfrm>
              <a:off x="2179440" y="24130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Conduct Records Risk Assessment</a:t>
              </a:r>
              <a:endParaRPr b="0" lang="en-IN" sz="800" strike="noStrike" u="none">
                <a:solidFill>
                  <a:srgbClr val="000000"/>
                </a:solidFill>
                <a:effectLst/>
                <a:uFillTx/>
                <a:latin typeface="Arial"/>
              </a:endParaRPr>
            </a:p>
          </p:txBody>
        </p:sp>
        <p:sp>
          <p:nvSpPr>
            <p:cNvPr id="206" name="Rounded Rectangle 72"/>
            <p:cNvSpPr/>
            <p:nvPr/>
          </p:nvSpPr>
          <p:spPr>
            <a:xfrm>
              <a:off x="3733920" y="29764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Maintain decentralized Records</a:t>
              </a:r>
              <a:endParaRPr b="0" lang="en-IN" sz="800" strike="noStrike" u="none">
                <a:solidFill>
                  <a:srgbClr val="000000"/>
                </a:solidFill>
                <a:effectLst/>
                <a:uFillTx/>
                <a:latin typeface="Arial"/>
              </a:endParaRPr>
            </a:p>
          </p:txBody>
        </p:sp>
        <p:sp>
          <p:nvSpPr>
            <p:cNvPr id="207" name="Rounded Rectangle 73"/>
            <p:cNvSpPr/>
            <p:nvPr/>
          </p:nvSpPr>
          <p:spPr>
            <a:xfrm>
              <a:off x="3733920" y="35402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Develop Disposition Schedules</a:t>
              </a:r>
              <a:endParaRPr b="0" lang="en-IN" sz="800" strike="noStrike" u="none">
                <a:solidFill>
                  <a:srgbClr val="000000"/>
                </a:solidFill>
                <a:effectLst/>
                <a:uFillTx/>
                <a:latin typeface="Arial"/>
              </a:endParaRPr>
            </a:p>
          </p:txBody>
        </p:sp>
        <p:sp>
          <p:nvSpPr>
            <p:cNvPr id="208" name="Rounded Rectangle 74"/>
            <p:cNvSpPr/>
            <p:nvPr/>
          </p:nvSpPr>
          <p:spPr>
            <a:xfrm>
              <a:off x="3733920" y="41036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Develop File plan *</a:t>
              </a:r>
              <a:endParaRPr b="0" lang="en-IN" sz="800" strike="noStrike" u="none">
                <a:solidFill>
                  <a:srgbClr val="000000"/>
                </a:solidFill>
                <a:effectLst/>
                <a:uFillTx/>
                <a:latin typeface="Arial"/>
              </a:endParaRPr>
            </a:p>
          </p:txBody>
        </p:sp>
        <p:sp>
          <p:nvSpPr>
            <p:cNvPr id="209" name="Rounded Rectangle 75"/>
            <p:cNvSpPr/>
            <p:nvPr/>
          </p:nvSpPr>
          <p:spPr>
            <a:xfrm>
              <a:off x="3733920" y="24130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Maintain Centralized Records</a:t>
              </a:r>
              <a:endParaRPr b="0" lang="en-IN" sz="800" strike="noStrike" u="none">
                <a:solidFill>
                  <a:srgbClr val="000000"/>
                </a:solidFill>
                <a:effectLst/>
                <a:uFillTx/>
                <a:latin typeface="Arial"/>
              </a:endParaRPr>
            </a:p>
          </p:txBody>
        </p:sp>
        <p:sp>
          <p:nvSpPr>
            <p:cNvPr id="210" name="Rounded Rectangle 76"/>
            <p:cNvSpPr/>
            <p:nvPr/>
          </p:nvSpPr>
          <p:spPr>
            <a:xfrm>
              <a:off x="5289480" y="29764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Transfer Permanent Records</a:t>
              </a:r>
              <a:endParaRPr b="0" lang="en-IN" sz="800" strike="noStrike" u="none">
                <a:solidFill>
                  <a:srgbClr val="000000"/>
                </a:solidFill>
                <a:effectLst/>
                <a:uFillTx/>
                <a:latin typeface="Arial"/>
              </a:endParaRPr>
            </a:p>
          </p:txBody>
        </p:sp>
        <p:sp>
          <p:nvSpPr>
            <p:cNvPr id="211" name="Rounded Rectangle 77"/>
            <p:cNvSpPr/>
            <p:nvPr/>
          </p:nvSpPr>
          <p:spPr>
            <a:xfrm>
              <a:off x="5289480" y="35402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Place materials into Reference Library</a:t>
              </a:r>
              <a:endParaRPr b="0" lang="en-IN" sz="800" strike="noStrike" u="none">
                <a:solidFill>
                  <a:srgbClr val="000000"/>
                </a:solidFill>
                <a:effectLst/>
                <a:uFillTx/>
                <a:latin typeface="Arial"/>
              </a:endParaRPr>
            </a:p>
          </p:txBody>
        </p:sp>
        <p:sp>
          <p:nvSpPr>
            <p:cNvPr id="212" name="Rounded Rectangle 78"/>
            <p:cNvSpPr/>
            <p:nvPr/>
          </p:nvSpPr>
          <p:spPr>
            <a:xfrm>
              <a:off x="5289480" y="24130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Dispose Temporary Records</a:t>
              </a:r>
              <a:endParaRPr b="0" lang="en-IN" sz="800" strike="noStrike" u="none">
                <a:solidFill>
                  <a:srgbClr val="000000"/>
                </a:solidFill>
                <a:effectLst/>
                <a:uFillTx/>
                <a:latin typeface="Arial"/>
              </a:endParaRPr>
            </a:p>
          </p:txBody>
        </p:sp>
        <p:sp>
          <p:nvSpPr>
            <p:cNvPr id="213" name="Rounded Rectangle 79"/>
            <p:cNvSpPr/>
            <p:nvPr/>
          </p:nvSpPr>
          <p:spPr>
            <a:xfrm>
              <a:off x="6866280" y="29764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Develop Audits trails</a:t>
              </a:r>
              <a:endParaRPr b="0" lang="en-IN" sz="800" strike="noStrike" u="none">
                <a:solidFill>
                  <a:srgbClr val="000000"/>
                </a:solidFill>
                <a:effectLst/>
                <a:uFillTx/>
                <a:latin typeface="Arial"/>
              </a:endParaRPr>
            </a:p>
          </p:txBody>
        </p:sp>
        <p:sp>
          <p:nvSpPr>
            <p:cNvPr id="214" name="Rounded Rectangle 80"/>
            <p:cNvSpPr/>
            <p:nvPr/>
          </p:nvSpPr>
          <p:spPr>
            <a:xfrm>
              <a:off x="6866280" y="354024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Perform Inspections</a:t>
              </a:r>
              <a:endParaRPr b="0" lang="en-IN" sz="800" strike="noStrike" u="none">
                <a:solidFill>
                  <a:srgbClr val="000000"/>
                </a:solidFill>
                <a:effectLst/>
                <a:uFillTx/>
                <a:latin typeface="Arial"/>
              </a:endParaRPr>
            </a:p>
          </p:txBody>
        </p:sp>
        <p:sp>
          <p:nvSpPr>
            <p:cNvPr id="215" name="Rounded Rectangle 81"/>
            <p:cNvSpPr/>
            <p:nvPr/>
          </p:nvSpPr>
          <p:spPr>
            <a:xfrm>
              <a:off x="6866280" y="241308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Develop Evaluation Procedures</a:t>
              </a:r>
              <a:endParaRPr b="0" lang="en-IN" sz="800" strike="noStrike" u="none">
                <a:solidFill>
                  <a:srgbClr val="000000"/>
                </a:solidFill>
                <a:effectLst/>
                <a:uFillTx/>
                <a:latin typeface="Arial"/>
              </a:endParaRPr>
            </a:p>
          </p:txBody>
        </p:sp>
        <p:cxnSp>
          <p:nvCxnSpPr>
            <p:cNvPr id="216" name="Straight Arrow Connector 83"/>
            <p:cNvCxnSpPr>
              <a:stCxn id="201" idx="2"/>
              <a:endCxn id="196" idx="0"/>
            </p:cNvCxnSpPr>
            <p:nvPr/>
          </p:nvCxnSpPr>
          <p:spPr>
            <a:xfrm flipH="1">
              <a:off x="1328040" y="2868840"/>
              <a:ext cx="2160" cy="108360"/>
            </a:xfrm>
            <a:prstGeom prst="straightConnector1">
              <a:avLst/>
            </a:prstGeom>
            <a:ln w="9360">
              <a:solidFill>
                <a:srgbClr val="4f6228"/>
              </a:solidFill>
              <a:miter/>
              <a:tailEnd len="med" type="triangle" w="med"/>
            </a:ln>
          </p:spPr>
        </p:cxnSp>
        <p:cxnSp>
          <p:nvCxnSpPr>
            <p:cNvPr id="217" name="Straight Arrow Connector 84"/>
            <p:cNvCxnSpPr>
              <a:stCxn id="196" idx="2"/>
              <a:endCxn id="197" idx="0"/>
            </p:cNvCxnSpPr>
            <p:nvPr/>
          </p:nvCxnSpPr>
          <p:spPr>
            <a:xfrm flipH="1">
              <a:off x="1328040" y="3432600"/>
              <a:ext cx="2160" cy="108360"/>
            </a:xfrm>
            <a:prstGeom prst="straightConnector1">
              <a:avLst/>
            </a:prstGeom>
            <a:ln w="9360">
              <a:solidFill>
                <a:srgbClr val="4f6228"/>
              </a:solidFill>
              <a:miter/>
              <a:tailEnd len="med" type="triangle" w="med"/>
            </a:ln>
          </p:spPr>
        </p:cxnSp>
        <p:cxnSp>
          <p:nvCxnSpPr>
            <p:cNvPr id="218" name="Straight Arrow Connector 85"/>
            <p:cNvCxnSpPr>
              <a:stCxn id="197" idx="2"/>
              <a:endCxn id="198" idx="0"/>
            </p:cNvCxnSpPr>
            <p:nvPr/>
          </p:nvCxnSpPr>
          <p:spPr>
            <a:xfrm flipH="1">
              <a:off x="1328040" y="3996360"/>
              <a:ext cx="2160" cy="108360"/>
            </a:xfrm>
            <a:prstGeom prst="straightConnector1">
              <a:avLst/>
            </a:prstGeom>
            <a:ln w="9360">
              <a:solidFill>
                <a:srgbClr val="4f6228"/>
              </a:solidFill>
              <a:miter/>
              <a:tailEnd len="med" type="triangle" w="med"/>
            </a:ln>
          </p:spPr>
        </p:cxnSp>
        <p:cxnSp>
          <p:nvCxnSpPr>
            <p:cNvPr id="219" name="Straight Arrow Connector 86"/>
            <p:cNvCxnSpPr>
              <a:stCxn id="198" idx="2"/>
              <a:endCxn id="199" idx="0"/>
            </p:cNvCxnSpPr>
            <p:nvPr/>
          </p:nvCxnSpPr>
          <p:spPr>
            <a:xfrm flipH="1">
              <a:off x="1328040" y="4559760"/>
              <a:ext cx="2160" cy="108360"/>
            </a:xfrm>
            <a:prstGeom prst="straightConnector1">
              <a:avLst/>
            </a:prstGeom>
            <a:ln w="9360">
              <a:solidFill>
                <a:srgbClr val="4f6228"/>
              </a:solidFill>
              <a:miter/>
              <a:tailEnd len="med" type="triangle" w="med"/>
            </a:ln>
          </p:spPr>
        </p:cxnSp>
        <p:cxnSp>
          <p:nvCxnSpPr>
            <p:cNvPr id="220" name="Straight Arrow Connector 87"/>
            <p:cNvCxnSpPr>
              <a:stCxn id="199" idx="2"/>
              <a:endCxn id="200" idx="0"/>
            </p:cNvCxnSpPr>
            <p:nvPr/>
          </p:nvCxnSpPr>
          <p:spPr>
            <a:xfrm flipH="1">
              <a:off x="1328040" y="5123520"/>
              <a:ext cx="2160" cy="108360"/>
            </a:xfrm>
            <a:prstGeom prst="straightConnector1">
              <a:avLst/>
            </a:prstGeom>
            <a:ln w="9360">
              <a:solidFill>
                <a:srgbClr val="4f6228"/>
              </a:solidFill>
              <a:miter/>
              <a:tailEnd len="med" type="triangle" w="med"/>
            </a:ln>
          </p:spPr>
        </p:cxnSp>
        <p:cxnSp>
          <p:nvCxnSpPr>
            <p:cNvPr id="221" name="Straight Arrow Connector 89"/>
            <p:cNvCxnSpPr>
              <a:stCxn id="205" idx="2"/>
              <a:endCxn id="202" idx="0"/>
            </p:cNvCxnSpPr>
            <p:nvPr/>
          </p:nvCxnSpPr>
          <p:spPr>
            <a:xfrm flipH="1">
              <a:off x="2890800" y="2868840"/>
              <a:ext cx="2160" cy="108360"/>
            </a:xfrm>
            <a:prstGeom prst="straightConnector1">
              <a:avLst/>
            </a:prstGeom>
            <a:ln w="9360">
              <a:solidFill>
                <a:srgbClr val="4f6228"/>
              </a:solidFill>
              <a:miter/>
              <a:tailEnd len="med" type="triangle" w="med"/>
            </a:ln>
          </p:spPr>
        </p:cxnSp>
        <p:cxnSp>
          <p:nvCxnSpPr>
            <p:cNvPr id="222" name="Straight Arrow Connector 90"/>
            <p:cNvCxnSpPr>
              <a:stCxn id="202" idx="2"/>
              <a:endCxn id="203" idx="0"/>
            </p:cNvCxnSpPr>
            <p:nvPr/>
          </p:nvCxnSpPr>
          <p:spPr>
            <a:xfrm flipH="1">
              <a:off x="2890800" y="3432600"/>
              <a:ext cx="2160" cy="108360"/>
            </a:xfrm>
            <a:prstGeom prst="straightConnector1">
              <a:avLst/>
            </a:prstGeom>
            <a:ln w="9360">
              <a:solidFill>
                <a:srgbClr val="4f6228"/>
              </a:solidFill>
              <a:miter/>
              <a:tailEnd len="med" type="triangle" w="med"/>
            </a:ln>
          </p:spPr>
        </p:cxnSp>
        <p:cxnSp>
          <p:nvCxnSpPr>
            <p:cNvPr id="223" name="Straight Arrow Connector 91"/>
            <p:cNvCxnSpPr>
              <a:stCxn id="203" idx="2"/>
              <a:endCxn id="204" idx="0"/>
            </p:cNvCxnSpPr>
            <p:nvPr/>
          </p:nvCxnSpPr>
          <p:spPr>
            <a:xfrm flipH="1">
              <a:off x="2890800" y="3996360"/>
              <a:ext cx="2160" cy="108360"/>
            </a:xfrm>
            <a:prstGeom prst="straightConnector1">
              <a:avLst/>
            </a:prstGeom>
            <a:ln w="9360">
              <a:solidFill>
                <a:srgbClr val="4f6228"/>
              </a:solidFill>
              <a:miter/>
              <a:tailEnd len="med" type="triangle" w="med"/>
            </a:ln>
          </p:spPr>
        </p:cxnSp>
        <p:cxnSp>
          <p:nvCxnSpPr>
            <p:cNvPr id="224" name="Straight Arrow Connector 96"/>
            <p:cNvCxnSpPr>
              <a:stCxn id="215" idx="2"/>
              <a:endCxn id="213" idx="0"/>
            </p:cNvCxnSpPr>
            <p:nvPr/>
          </p:nvCxnSpPr>
          <p:spPr>
            <a:xfrm flipH="1">
              <a:off x="7577280" y="2868840"/>
              <a:ext cx="2160" cy="108360"/>
            </a:xfrm>
            <a:prstGeom prst="straightConnector1">
              <a:avLst/>
            </a:prstGeom>
            <a:ln w="9360">
              <a:solidFill>
                <a:srgbClr val="4f6228"/>
              </a:solidFill>
              <a:miter/>
              <a:tailEnd len="med" type="triangle" w="med"/>
            </a:ln>
          </p:spPr>
        </p:cxnSp>
        <p:cxnSp>
          <p:nvCxnSpPr>
            <p:cNvPr id="225" name="Straight Arrow Connector 97"/>
            <p:cNvCxnSpPr>
              <a:stCxn id="213" idx="2"/>
              <a:endCxn id="214" idx="0"/>
            </p:cNvCxnSpPr>
            <p:nvPr/>
          </p:nvCxnSpPr>
          <p:spPr>
            <a:xfrm flipH="1">
              <a:off x="7577280" y="3432600"/>
              <a:ext cx="2160" cy="108360"/>
            </a:xfrm>
            <a:prstGeom prst="straightConnector1">
              <a:avLst/>
            </a:prstGeom>
            <a:ln w="9360">
              <a:solidFill>
                <a:srgbClr val="4f6228"/>
              </a:solidFill>
              <a:miter/>
              <a:tailEnd len="med" type="triangle" w="med"/>
            </a:ln>
          </p:spPr>
        </p:cxnSp>
        <p:cxnSp>
          <p:nvCxnSpPr>
            <p:cNvPr id="226" name="Straight Arrow Connector 98"/>
            <p:cNvCxnSpPr>
              <a:stCxn id="210" idx="2"/>
              <a:endCxn id="211" idx="0"/>
            </p:cNvCxnSpPr>
            <p:nvPr/>
          </p:nvCxnSpPr>
          <p:spPr>
            <a:xfrm flipH="1">
              <a:off x="6000840" y="3432600"/>
              <a:ext cx="2160" cy="108360"/>
            </a:xfrm>
            <a:prstGeom prst="straightConnector1">
              <a:avLst/>
            </a:prstGeom>
            <a:ln w="9360">
              <a:solidFill>
                <a:srgbClr val="4f6228"/>
              </a:solidFill>
              <a:miter/>
              <a:tailEnd len="med" type="triangle" w="med"/>
            </a:ln>
          </p:spPr>
        </p:cxnSp>
        <p:cxnSp>
          <p:nvCxnSpPr>
            <p:cNvPr id="227" name="Straight Arrow Connector 99"/>
            <p:cNvCxnSpPr>
              <a:stCxn id="206" idx="2"/>
              <a:endCxn id="207" idx="0"/>
            </p:cNvCxnSpPr>
            <p:nvPr/>
          </p:nvCxnSpPr>
          <p:spPr>
            <a:xfrm flipH="1">
              <a:off x="4444560" y="3432600"/>
              <a:ext cx="2160" cy="108360"/>
            </a:xfrm>
            <a:prstGeom prst="straightConnector1">
              <a:avLst/>
            </a:prstGeom>
            <a:ln w="9360">
              <a:solidFill>
                <a:srgbClr val="4f6228"/>
              </a:solidFill>
              <a:miter/>
              <a:tailEnd len="med" type="triangle" w="med"/>
            </a:ln>
          </p:spPr>
        </p:cxnSp>
        <p:cxnSp>
          <p:nvCxnSpPr>
            <p:cNvPr id="228" name="Straight Arrow Connector 100"/>
            <p:cNvCxnSpPr>
              <a:stCxn id="207" idx="2"/>
              <a:endCxn id="208" idx="0"/>
            </p:cNvCxnSpPr>
            <p:nvPr/>
          </p:nvCxnSpPr>
          <p:spPr>
            <a:xfrm flipH="1">
              <a:off x="4444560" y="3996360"/>
              <a:ext cx="2160" cy="108360"/>
            </a:xfrm>
            <a:prstGeom prst="straightConnector1">
              <a:avLst/>
            </a:prstGeom>
            <a:ln w="9360">
              <a:solidFill>
                <a:srgbClr val="4f6228"/>
              </a:solidFill>
              <a:miter/>
              <a:tailEnd len="med" type="triangle" w="med"/>
            </a:ln>
          </p:spPr>
        </p:cxnSp>
        <p:cxnSp>
          <p:nvCxnSpPr>
            <p:cNvPr id="229" name="Straight Arrow Connector 101"/>
            <p:cNvCxnSpPr>
              <a:stCxn id="209" idx="2"/>
              <a:endCxn id="206" idx="0"/>
            </p:cNvCxnSpPr>
            <p:nvPr/>
          </p:nvCxnSpPr>
          <p:spPr>
            <a:xfrm flipH="1">
              <a:off x="4444560" y="2868840"/>
              <a:ext cx="2160" cy="108360"/>
            </a:xfrm>
            <a:prstGeom prst="straightConnector1">
              <a:avLst/>
            </a:prstGeom>
            <a:ln w="9360">
              <a:solidFill>
                <a:srgbClr val="4f6228"/>
              </a:solidFill>
              <a:miter/>
              <a:tailEnd len="med" type="triangle" w="med"/>
            </a:ln>
          </p:spPr>
        </p:cxnSp>
        <p:cxnSp>
          <p:nvCxnSpPr>
            <p:cNvPr id="230" name="Straight Arrow Connector 102"/>
            <p:cNvCxnSpPr>
              <a:stCxn id="212" idx="2"/>
              <a:endCxn id="210" idx="0"/>
            </p:cNvCxnSpPr>
            <p:nvPr/>
          </p:nvCxnSpPr>
          <p:spPr>
            <a:xfrm flipH="1">
              <a:off x="6000840" y="2868840"/>
              <a:ext cx="2160" cy="108360"/>
            </a:xfrm>
            <a:prstGeom prst="straightConnector1">
              <a:avLst/>
            </a:prstGeom>
            <a:ln w="9360">
              <a:solidFill>
                <a:srgbClr val="4f6228"/>
              </a:solidFill>
              <a:miter/>
              <a:tailEnd len="med" type="triangle" w="med"/>
            </a:ln>
          </p:spPr>
        </p:cxnSp>
        <p:sp>
          <p:nvSpPr>
            <p:cNvPr id="231" name="Rounded Rectangle 82"/>
            <p:cNvSpPr/>
            <p:nvPr/>
          </p:nvSpPr>
          <p:spPr>
            <a:xfrm>
              <a:off x="6866280" y="4102200"/>
              <a:ext cx="1423800" cy="455400"/>
            </a:xfrm>
            <a:prstGeom prst="roundRect">
              <a:avLst>
                <a:gd name="adj" fmla="val 6477"/>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77933c"/>
                  </a:solidFill>
                  <a:effectLst/>
                  <a:uFillTx/>
                  <a:latin typeface="Century Gothic"/>
                </a:rPr>
                <a:t>Conduct Annual Assessment</a:t>
              </a:r>
              <a:endParaRPr b="0" lang="en-IN" sz="800" strike="noStrike" u="none">
                <a:solidFill>
                  <a:srgbClr val="000000"/>
                </a:solidFill>
                <a:effectLst/>
                <a:uFillTx/>
                <a:latin typeface="Arial"/>
              </a:endParaRPr>
            </a:p>
          </p:txBody>
        </p:sp>
        <p:cxnSp>
          <p:nvCxnSpPr>
            <p:cNvPr id="232" name="Straight Arrow Connector 97"/>
            <p:cNvCxnSpPr>
              <a:stCxn id="214" idx="2"/>
              <a:endCxn id="231" idx="0"/>
            </p:cNvCxnSpPr>
            <p:nvPr/>
          </p:nvCxnSpPr>
          <p:spPr>
            <a:xfrm flipH="1">
              <a:off x="7576920" y="3996360"/>
              <a:ext cx="2160" cy="106920"/>
            </a:xfrm>
            <a:prstGeom prst="straightConnector1">
              <a:avLst/>
            </a:prstGeom>
            <a:ln w="9360">
              <a:solidFill>
                <a:srgbClr val="4f6228"/>
              </a:solidFill>
              <a:miter/>
              <a:tailEnd len="med" type="triangle" w="med"/>
            </a:ln>
          </p:spPr>
        </p:cxnSp>
      </p:grpSp>
      <p:cxnSp>
        <p:nvCxnSpPr>
          <p:cNvPr id="233" name="Straight Arrow Connector 103"/>
          <p:cNvCxnSpPr>
            <a:stCxn id="184" idx="2"/>
            <a:endCxn id="185" idx="0"/>
          </p:cNvCxnSpPr>
          <p:nvPr/>
        </p:nvCxnSpPr>
        <p:spPr>
          <a:xfrm>
            <a:off x="1327320" y="1553760"/>
            <a:ext cx="2160" cy="173880"/>
          </a:xfrm>
          <a:prstGeom prst="straightConnector1">
            <a:avLst/>
          </a:prstGeom>
          <a:ln w="9360">
            <a:solidFill>
              <a:srgbClr val="4f6228"/>
            </a:solidFill>
            <a:miter/>
            <a:tailEnd len="med" type="triangle" w="med"/>
          </a:ln>
        </p:spPr>
      </p:cxnSp>
      <p:sp>
        <p:nvSpPr>
          <p:cNvPr id="234" name="Rounded Rectangle 107"/>
          <p:cNvSpPr/>
          <p:nvPr/>
        </p:nvSpPr>
        <p:spPr>
          <a:xfrm>
            <a:off x="620640" y="5835600"/>
            <a:ext cx="7683480" cy="35100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Century Gothic"/>
              </a:rPr>
              <a:t>Training</a:t>
            </a:r>
            <a:endParaRPr b="0" lang="en-IN" sz="1200" strike="noStrike" u="none">
              <a:solidFill>
                <a:srgbClr val="000000"/>
              </a:solidFill>
              <a:effectLst/>
              <a:uFillTx/>
              <a:latin typeface="Arial"/>
            </a:endParaRPr>
          </a:p>
        </p:txBody>
      </p:sp>
      <p:sp>
        <p:nvSpPr>
          <p:cNvPr id="235" name="Rounded Rectangle 108"/>
          <p:cNvSpPr/>
          <p:nvPr/>
        </p:nvSpPr>
        <p:spPr>
          <a:xfrm>
            <a:off x="614520" y="6254640"/>
            <a:ext cx="7683480" cy="352440"/>
          </a:xfrm>
          <a:prstGeom prst="roundRect">
            <a:avLst>
              <a:gd name="adj" fmla="val 6477"/>
            </a:avLst>
          </a:prstGeom>
          <a:gradFill rotWithShape="0">
            <a:gsLst>
              <a:gs pos="0">
                <a:srgbClr val="4c631f"/>
              </a:gs>
              <a:gs pos="100000">
                <a:srgbClr val="87ad3d"/>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Century Gothic"/>
              </a:rPr>
              <a:t>Supporting Operational Processes</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6" name="Picture 8" descr=""/>
          <p:cNvPicPr/>
          <p:nvPr/>
        </p:nvPicPr>
        <p:blipFill>
          <a:blip r:embed="rId1"/>
          <a:srcRect l="2016" t="21588" r="6664" b="8186"/>
          <a:stretch/>
        </p:blipFill>
        <p:spPr>
          <a:xfrm>
            <a:off x="193680" y="1362240"/>
            <a:ext cx="8707320" cy="4508280"/>
          </a:xfrm>
          <a:prstGeom prst="rect">
            <a:avLst/>
          </a:prstGeom>
          <a:noFill/>
          <a:ln w="0">
            <a:noFill/>
          </a:ln>
        </p:spPr>
      </p:pic>
      <p:sp>
        <p:nvSpPr>
          <p:cNvPr id="237"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600" strike="noStrike" u="none">
                <a:solidFill>
                  <a:srgbClr val="262673"/>
                </a:solidFill>
                <a:effectLst/>
                <a:uFillTx/>
                <a:latin typeface="Century Gothic"/>
              </a:rPr>
              <a:t>Business Process Analysis</a:t>
            </a:r>
            <a:endParaRPr b="1" lang="en-IN" sz="3600" strike="noStrike" u="none">
              <a:solidFill>
                <a:srgbClr val="262673"/>
              </a:solidFill>
              <a:effectLst/>
              <a:uFillTx/>
              <a:latin typeface="Century Gothic"/>
            </a:endParaRPr>
          </a:p>
        </p:txBody>
      </p:sp>
      <p:sp>
        <p:nvSpPr>
          <p:cNvPr id="238"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E0E2AE-C5A8-4DF9-ADF9-690ABC8E8F17}"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grpSp>
        <p:nvGrpSpPr>
          <p:cNvPr id="239" name="Rounded Rectangle 8"/>
          <p:cNvGrpSpPr/>
          <p:nvPr/>
        </p:nvGrpSpPr>
        <p:grpSpPr>
          <a:xfrm>
            <a:off x="1249200" y="2292480"/>
            <a:ext cx="6602400" cy="2717640"/>
            <a:chOff x="1249200" y="2292480"/>
            <a:chExt cx="6602400" cy="2717640"/>
          </a:xfrm>
        </p:grpSpPr>
        <p:pic>
          <p:nvPicPr>
            <p:cNvPr id="240" name="Rounded Rectangle 8" descr=""/>
            <p:cNvPicPr/>
            <p:nvPr/>
          </p:nvPicPr>
          <p:blipFill>
            <a:blip r:embed="rId2"/>
            <a:stretch/>
          </p:blipFill>
          <p:spPr>
            <a:xfrm>
              <a:off x="1249200" y="2292480"/>
              <a:ext cx="6602400" cy="2717640"/>
            </a:xfrm>
            <a:prstGeom prst="rect">
              <a:avLst/>
            </a:prstGeom>
            <a:noFill/>
            <a:ln w="0">
              <a:noFill/>
            </a:ln>
          </p:spPr>
        </p:pic>
        <p:sp>
          <p:nvSpPr>
            <p:cNvPr id="241" name=""/>
            <p:cNvSpPr/>
            <p:nvPr/>
          </p:nvSpPr>
          <p:spPr>
            <a:xfrm>
              <a:off x="1789200" y="2917800"/>
              <a:ext cx="5365800" cy="15620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600" strike="noStrike" u="none">
                  <a:solidFill>
                    <a:srgbClr val="ffffff"/>
                  </a:solidFill>
                  <a:effectLst/>
                  <a:uFillTx/>
                  <a:latin typeface="Calibri"/>
                </a:rPr>
                <a:t>SEE ACCOMPANYING SPREADSHEET </a:t>
              </a:r>
              <a:endParaRPr b="0" lang="en-IN" sz="36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0" y="101520"/>
            <a:ext cx="91440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262673"/>
                </a:solidFill>
                <a:effectLst/>
                <a:uFillTx/>
                <a:latin typeface="Century Gothic"/>
              </a:rPr>
              <a:t>Realizing the RM Segment Vision </a:t>
            </a:r>
            <a:endParaRPr b="1" lang="en-IN" sz="2800" strike="noStrike" u="none">
              <a:solidFill>
                <a:srgbClr val="262673"/>
              </a:solidFill>
              <a:effectLst/>
              <a:uFillTx/>
              <a:latin typeface="Century Gothic"/>
            </a:endParaRPr>
          </a:p>
        </p:txBody>
      </p:sp>
      <p:pic>
        <p:nvPicPr>
          <p:cNvPr id="243" name="Picture 4" descr=""/>
          <p:cNvPicPr/>
          <p:nvPr/>
        </p:nvPicPr>
        <p:blipFill>
          <a:blip r:embed="rId1"/>
          <a:stretch/>
        </p:blipFill>
        <p:spPr>
          <a:xfrm>
            <a:off x="1752480" y="3657600"/>
            <a:ext cx="5685120" cy="1582560"/>
          </a:xfrm>
          <a:prstGeom prst="rect">
            <a:avLst/>
          </a:prstGeom>
          <a:noFill/>
          <a:ln w="0">
            <a:noFill/>
          </a:ln>
        </p:spPr>
      </p:pic>
      <p:sp>
        <p:nvSpPr>
          <p:cNvPr id="244" name="Text Box 5"/>
          <p:cNvSpPr/>
          <p:nvPr/>
        </p:nvSpPr>
        <p:spPr>
          <a:xfrm>
            <a:off x="4191120" y="2895480"/>
            <a:ext cx="11430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Black"/>
              </a:rPr>
              <a:t>Gaps</a:t>
            </a:r>
            <a:endParaRPr b="0" lang="en-IN" sz="1200" strike="noStrike" u="none">
              <a:solidFill>
                <a:srgbClr val="000000"/>
              </a:solidFill>
              <a:effectLst/>
              <a:uFillTx/>
              <a:latin typeface="Arial"/>
            </a:endParaRPr>
          </a:p>
        </p:txBody>
      </p:sp>
      <p:sp>
        <p:nvSpPr>
          <p:cNvPr id="245" name="Line 6"/>
          <p:cNvSpPr/>
          <p:nvPr/>
        </p:nvSpPr>
        <p:spPr>
          <a:xfrm flipH="1">
            <a:off x="3657600" y="3200400"/>
            <a:ext cx="533520" cy="5335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6" name="Line 7"/>
          <p:cNvSpPr/>
          <p:nvPr/>
        </p:nvSpPr>
        <p:spPr>
          <a:xfrm flipH="1">
            <a:off x="4267080" y="3276720"/>
            <a:ext cx="76320" cy="5331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7" name="Line 8"/>
          <p:cNvSpPr/>
          <p:nvPr/>
        </p:nvSpPr>
        <p:spPr>
          <a:xfrm>
            <a:off x="4724280" y="3276720"/>
            <a:ext cx="228600" cy="4572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8" name="Line 10"/>
          <p:cNvSpPr/>
          <p:nvPr/>
        </p:nvSpPr>
        <p:spPr>
          <a:xfrm>
            <a:off x="4724280" y="3200400"/>
            <a:ext cx="838440" cy="5335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249" name="Picture 11" descr=""/>
          <p:cNvPicPr/>
          <p:nvPr/>
        </p:nvPicPr>
        <p:blipFill>
          <a:blip r:embed="rId2"/>
          <a:stretch/>
        </p:blipFill>
        <p:spPr>
          <a:xfrm>
            <a:off x="3048120" y="5334120"/>
            <a:ext cx="2943000" cy="210960"/>
          </a:xfrm>
          <a:prstGeom prst="rect">
            <a:avLst/>
          </a:prstGeom>
          <a:noFill/>
          <a:ln w="0">
            <a:noFill/>
          </a:ln>
        </p:spPr>
      </p:pic>
      <p:pic>
        <p:nvPicPr>
          <p:cNvPr id="250" name="Picture 15" descr="j0205462"/>
          <p:cNvPicPr/>
          <p:nvPr/>
        </p:nvPicPr>
        <p:blipFill>
          <a:blip r:embed="rId3"/>
          <a:stretch/>
        </p:blipFill>
        <p:spPr>
          <a:xfrm>
            <a:off x="7238880" y="3352680"/>
            <a:ext cx="1524240" cy="1516320"/>
          </a:xfrm>
          <a:prstGeom prst="rect">
            <a:avLst/>
          </a:prstGeom>
          <a:noFill/>
          <a:ln w="0">
            <a:noFill/>
          </a:ln>
        </p:spPr>
      </p:pic>
      <p:pic>
        <p:nvPicPr>
          <p:cNvPr id="251" name="Picture 18" descr="j0185604"/>
          <p:cNvPicPr/>
          <p:nvPr/>
        </p:nvPicPr>
        <p:blipFill>
          <a:blip r:embed="rId4"/>
          <a:stretch/>
        </p:blipFill>
        <p:spPr>
          <a:xfrm>
            <a:off x="838080" y="3657600"/>
            <a:ext cx="998640" cy="1000080"/>
          </a:xfrm>
          <a:prstGeom prst="rect">
            <a:avLst/>
          </a:prstGeom>
          <a:noFill/>
          <a:ln w="0">
            <a:noFill/>
          </a:ln>
        </p:spPr>
      </p:pic>
      <p:pic>
        <p:nvPicPr>
          <p:cNvPr id="252" name="Picture 20" descr="MCj04344490000[1]"/>
          <p:cNvPicPr/>
          <p:nvPr/>
        </p:nvPicPr>
        <p:blipFill>
          <a:blip r:embed="rId5"/>
          <a:stretch/>
        </p:blipFill>
        <p:spPr>
          <a:xfrm>
            <a:off x="5181480" y="1523880"/>
            <a:ext cx="1158840" cy="1600200"/>
          </a:xfrm>
          <a:prstGeom prst="rect">
            <a:avLst/>
          </a:prstGeom>
          <a:noFill/>
          <a:ln w="0">
            <a:noFill/>
          </a:ln>
        </p:spPr>
      </p:pic>
      <p:pic>
        <p:nvPicPr>
          <p:cNvPr id="253" name="Picture 22" descr="MCj02812670000[1]"/>
          <p:cNvPicPr/>
          <p:nvPr/>
        </p:nvPicPr>
        <p:blipFill>
          <a:blip r:embed="rId6"/>
          <a:stretch/>
        </p:blipFill>
        <p:spPr>
          <a:xfrm>
            <a:off x="2209680" y="1444680"/>
            <a:ext cx="1828800" cy="1768320"/>
          </a:xfrm>
          <a:prstGeom prst="rect">
            <a:avLst/>
          </a:prstGeom>
          <a:noFill/>
          <a:ln w="0">
            <a:noFill/>
          </a:ln>
        </p:spPr>
      </p:pic>
      <p:sp>
        <p:nvSpPr>
          <p:cNvPr id="254"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BEB398-C368-4F37-8FF8-D38AE00D8671}"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600" strike="noStrike" u="none">
                <a:solidFill>
                  <a:srgbClr val="262673"/>
                </a:solidFill>
                <a:effectLst/>
                <a:uFillTx/>
                <a:latin typeface="Century Gothic"/>
              </a:rPr>
              <a:t>Records Officers observations</a:t>
            </a:r>
            <a:endParaRPr b="1" lang="en-IN" sz="3600" strike="noStrike" u="none">
              <a:solidFill>
                <a:srgbClr val="262673"/>
              </a:solidFill>
              <a:effectLst/>
              <a:uFillTx/>
              <a:latin typeface="Century Gothic"/>
            </a:endParaRPr>
          </a:p>
        </p:txBody>
      </p:sp>
      <p:sp>
        <p:nvSpPr>
          <p:cNvPr id="256" name="PlaceHolder 2"/>
          <p:cNvSpPr>
            <a:spLocks noGrp="1"/>
          </p:cNvSpPr>
          <p:nvPr>
            <p:ph/>
          </p:nvPr>
        </p:nvSpPr>
        <p:spPr>
          <a:xfrm>
            <a:off x="457200" y="1294920"/>
            <a:ext cx="8229600" cy="4932360"/>
          </a:xfrm>
          <a:prstGeom prst="rect">
            <a:avLst/>
          </a:prstGeom>
          <a:noFill/>
          <a:ln w="0">
            <a:noFill/>
          </a:ln>
        </p:spPr>
        <p:txBody>
          <a:bodyPr lIns="91440" rIns="91440" tIns="45720" bIns="45720" anchor="t">
            <a:normAutofit/>
          </a:bodyPr>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Many Records Officers are also responsible for other tasks.  </a:t>
            </a:r>
            <a:endParaRPr b="0" lang="en-IN" sz="2000" strike="noStrike" u="none">
              <a:solidFill>
                <a:srgbClr val="262673"/>
              </a:solidFill>
              <a:effectLst/>
              <a:uFillTx/>
              <a:latin typeface="Century Gothic"/>
            </a:endParaRPr>
          </a:p>
          <a:p>
            <a:pPr lvl="1" marL="743040" indent="-28584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OPDIV RMs are not able to focus their full attention to the task of RM.</a:t>
            </a:r>
            <a:endParaRPr b="0" lang="en-IN" sz="1800" strike="noStrike" u="none">
              <a:solidFill>
                <a:srgbClr val="262673"/>
              </a:solidFill>
              <a:effectLst/>
              <a:uFillTx/>
              <a:latin typeface="Century Gothic"/>
            </a:endParaRPr>
          </a:p>
          <a:p>
            <a:pPr lvl="1" marL="743040" indent="-28584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262673"/>
                </a:solidFill>
                <a:effectLst/>
                <a:uFillTx/>
                <a:latin typeface="Century Gothic"/>
              </a:rPr>
              <a:t>Find balance between available resources and work related requirements.</a:t>
            </a:r>
            <a:endParaRPr b="0" lang="en-IN" sz="1800" strike="noStrike" u="none">
              <a:solidFill>
                <a:srgbClr val="262673"/>
              </a:solidFill>
              <a:effectLst/>
              <a:uFillTx/>
              <a:latin typeface="Century Gothic"/>
            </a:endParaRPr>
          </a:p>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Lack of coordination and interface of RM liaisons with Records Offices and management within their own offices.</a:t>
            </a:r>
            <a:endParaRPr b="0" lang="en-IN" sz="2000" strike="noStrike" u="none">
              <a:solidFill>
                <a:srgbClr val="262673"/>
              </a:solidFill>
              <a:effectLst/>
              <a:uFillTx/>
              <a:latin typeface="Century Gothic"/>
            </a:endParaRPr>
          </a:p>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Would like to automate the paper process department-wide</a:t>
            </a:r>
            <a:endParaRPr b="0" lang="en-IN" sz="2000" strike="noStrike" u="none">
              <a:solidFill>
                <a:srgbClr val="262673"/>
              </a:solidFill>
              <a:effectLst/>
              <a:uFillTx/>
              <a:latin typeface="Century Gothic"/>
            </a:endParaRPr>
          </a:p>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Would like more training on RM functions</a:t>
            </a:r>
            <a:endParaRPr b="0" lang="en-IN" sz="2000" strike="noStrike" u="none">
              <a:solidFill>
                <a:srgbClr val="262673"/>
              </a:solidFill>
              <a:effectLst/>
              <a:uFillTx/>
              <a:latin typeface="Century Gothic"/>
            </a:endParaRPr>
          </a:p>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Need of enterprise-wide or hybrid* RM IT System solution</a:t>
            </a:r>
            <a:endParaRPr b="0" lang="en-IN" sz="2000" strike="noStrike" u="none">
              <a:solidFill>
                <a:srgbClr val="262673"/>
              </a:solidFill>
              <a:effectLst/>
              <a:uFillTx/>
              <a:latin typeface="Century Gothic"/>
            </a:endParaRPr>
          </a:p>
          <a:p>
            <a:pPr marL="343080" indent="-343080">
              <a:lnSpc>
                <a:spcPct val="90000"/>
              </a:lnSpc>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RM processes should be integrated with other enterprise processes such HR, security, acquisition, and operations.</a:t>
            </a:r>
            <a:endParaRPr b="0" lang="en-IN" sz="2000" strike="noStrike" u="none">
              <a:solidFill>
                <a:srgbClr val="262673"/>
              </a:solidFill>
              <a:effectLst/>
              <a:uFillTx/>
              <a:latin typeface="Century Gothic"/>
            </a:endParaRPr>
          </a:p>
          <a:p>
            <a:pPr marL="343080" indent="0">
              <a:lnSpc>
                <a:spcPct val="90000"/>
              </a:lnSpc>
              <a:spcBef>
                <a:spcPts val="11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262673"/>
              </a:solidFill>
              <a:effectLst/>
              <a:uFillTx/>
              <a:latin typeface="Century Gothic"/>
            </a:endParaRPr>
          </a:p>
        </p:txBody>
      </p:sp>
      <p:sp>
        <p:nvSpPr>
          <p:cNvPr id="257"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9724C73-307C-4097-84D7-F5214E0B3D74}"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0" y="82440"/>
            <a:ext cx="9144000" cy="914400"/>
          </a:xfrm>
          <a:prstGeom prst="rect">
            <a:avLst/>
          </a:prstGeom>
          <a:noFill/>
          <a:ln w="0">
            <a:noFill/>
          </a:ln>
        </p:spPr>
        <p:txBody>
          <a:bodyPr lIns="91440" rIns="91440" tIns="45720" bIns="45720" anchor="ctr">
            <a:noAutofit/>
          </a:bodyPr>
          <a:p>
            <a:pPr marL="609480" indent="-60948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600" strike="noStrike" u="none">
                <a:solidFill>
                  <a:srgbClr val="262673"/>
                </a:solidFill>
                <a:effectLst/>
                <a:uFillTx/>
                <a:latin typeface="Century Gothic"/>
              </a:rPr>
              <a:t>EA Team observation</a:t>
            </a:r>
            <a:endParaRPr b="1" lang="en-IN" sz="3600" strike="noStrike" u="none">
              <a:solidFill>
                <a:srgbClr val="262673"/>
              </a:solidFill>
              <a:effectLst/>
              <a:uFillTx/>
              <a:latin typeface="Century Gothic"/>
            </a:endParaRPr>
          </a:p>
        </p:txBody>
      </p:sp>
      <p:sp>
        <p:nvSpPr>
          <p:cNvPr id="259" name="PlaceHolder 2"/>
          <p:cNvSpPr>
            <a:spLocks noGrp="1"/>
          </p:cNvSpPr>
          <p:nvPr>
            <p:ph/>
          </p:nvPr>
        </p:nvSpPr>
        <p:spPr>
          <a:xfrm>
            <a:off x="457200" y="1294920"/>
            <a:ext cx="8229600" cy="4264200"/>
          </a:xfrm>
          <a:prstGeom prst="rect">
            <a:avLst/>
          </a:prstGeom>
          <a:noFill/>
          <a:ln w="0">
            <a:noFill/>
          </a:ln>
        </p:spPr>
        <p:txBody>
          <a:bodyPr lIns="91440" rIns="91440" tIns="45720" bIns="45720" anchor="t">
            <a:normAutofit/>
          </a:bodyPr>
          <a:p>
            <a:pPr lvl="1" marL="398520" indent="-336600">
              <a:lnSpc>
                <a:spcPct val="90000"/>
              </a:lnSpc>
              <a:spcBef>
                <a:spcPts val="1199"/>
              </a:spcBef>
              <a:buClr>
                <a:srgbClr val="26267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262673"/>
                </a:solidFill>
                <a:effectLst/>
                <a:uFillTx/>
                <a:latin typeface="Century Gothic"/>
              </a:rPr>
              <a:t>NARA and OMB* recommend that RM should be integrated with the IT System development process. HHS promulgated in 2008 the Enterprise Performance Life Cycle (EPLC)* which is a framework for IT investments management.</a:t>
            </a:r>
            <a:endParaRPr b="0" lang="en-IN" sz="2200" strike="noStrike" u="none">
              <a:solidFill>
                <a:srgbClr val="262673"/>
              </a:solidFill>
              <a:effectLst/>
              <a:uFillTx/>
              <a:latin typeface="Century Gothic"/>
            </a:endParaRPr>
          </a:p>
          <a:p>
            <a:pPr lvl="1" marL="398520" indent="-336600">
              <a:lnSpc>
                <a:spcPct val="90000"/>
              </a:lnSpc>
              <a:spcBef>
                <a:spcPts val="1199"/>
              </a:spcBef>
              <a:buClr>
                <a:srgbClr val="262673"/>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262673"/>
                </a:solidFill>
                <a:effectLst/>
                <a:uFillTx/>
                <a:latin typeface="Century Gothic"/>
              </a:rPr>
              <a:t>Audit processes for ensuring that Federal Record Centers are certified in accordance with NARA requirements.</a:t>
            </a:r>
            <a:endParaRPr b="0" lang="en-IN" sz="2200" strike="noStrike" u="none">
              <a:solidFill>
                <a:srgbClr val="262673"/>
              </a:solidFill>
              <a:effectLst/>
              <a:uFillTx/>
              <a:latin typeface="Century Gothic"/>
            </a:endParaRPr>
          </a:p>
          <a:p>
            <a:pPr lvl="2" marL="1143000" indent="-228600">
              <a:lnSpc>
                <a:spcPct val="90000"/>
              </a:lnSpc>
              <a:spcBef>
                <a:spcPts val="1199"/>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Once audit processes are established, processes detailing when, how, and when these centers should be audited need to be addressed. </a:t>
            </a:r>
            <a:endParaRPr b="0" lang="en-IN" sz="2000" strike="noStrike" u="none">
              <a:solidFill>
                <a:srgbClr val="262673"/>
              </a:solidFill>
              <a:effectLst/>
              <a:uFillTx/>
              <a:latin typeface="Century Gothic"/>
            </a:endParaRPr>
          </a:p>
        </p:txBody>
      </p:sp>
      <p:sp>
        <p:nvSpPr>
          <p:cNvPr id="260"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04946B-4926-4E31-9FEF-BBACC3F1A538}"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96840" y="101520"/>
            <a:ext cx="89424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Federal Enterprise Architecture RM profile</a:t>
            </a:r>
            <a:endParaRPr b="1" lang="en-IN" sz="3200" strike="noStrike" u="none">
              <a:solidFill>
                <a:srgbClr val="262673"/>
              </a:solidFill>
              <a:effectLst/>
              <a:uFillTx/>
              <a:latin typeface="Century Gothic"/>
            </a:endParaRPr>
          </a:p>
        </p:txBody>
      </p:sp>
      <p:sp>
        <p:nvSpPr>
          <p:cNvPr id="262" name=""/>
          <p:cNvSpPr txBox="1"/>
          <p:nvPr/>
        </p:nvSpPr>
        <p:spPr>
          <a:xfrm>
            <a:off x="388440" y="1414080"/>
            <a:ext cx="8124840" cy="3946680"/>
          </a:xfrm>
          <a:prstGeom prst="rect">
            <a:avLst/>
          </a:prstGeom>
          <a:noFill/>
          <a:ln w="0">
            <a:noFill/>
          </a:ln>
        </p:spPr>
        <p:txBody>
          <a:bodyPr anchor="t">
            <a:normAutofit/>
          </a:bodyPr>
          <a:p>
            <a:pPr marL="343080" indent="-343080">
              <a:spcBef>
                <a:spcPts val="451"/>
              </a:spcBef>
              <a:buClr>
                <a:srgbClr val="262673"/>
              </a:buClr>
              <a:buFont typeface="Century Gothic"/>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800" strike="noStrike" u="none">
                <a:solidFill>
                  <a:srgbClr val="262673"/>
                </a:solidFill>
                <a:effectLst/>
                <a:uFillTx/>
                <a:latin typeface="Century Gothic"/>
              </a:rPr>
              <a:t>Three FEA scenarios for Records Management that demonstrate hypothetical applications of a Electronic Record Keeping System are described below:</a:t>
            </a:r>
            <a:endParaRPr b="0" lang="en-IN" sz="1800" strike="noStrike" u="none">
              <a:solidFill>
                <a:srgbClr val="262673"/>
              </a:solidFill>
              <a:effectLst/>
              <a:uFillTx/>
              <a:latin typeface="Century Gothic"/>
            </a:endParaRPr>
          </a:p>
          <a:p>
            <a:pPr lvl="1" marL="743040" indent="-285840">
              <a:spcBef>
                <a:spcPts val="1199"/>
              </a:spcBef>
              <a:buClr>
                <a:srgbClr val="262673"/>
              </a:buClr>
              <a:buFont typeface="Century Gothic"/>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800" strike="noStrike" u="none">
                <a:solidFill>
                  <a:srgbClr val="262673"/>
                </a:solidFill>
                <a:effectLst/>
                <a:uFillTx/>
                <a:latin typeface="Century Gothic"/>
              </a:rPr>
              <a:t>An agency can opt for a DoD 5015.2-STD certified Records Management Application (RMA) that provides records management functionality for capturing, managing, accessing, storing, and dispositioning records.</a:t>
            </a:r>
            <a:endParaRPr b="0" lang="en-IN" sz="1800" strike="noStrike" u="none">
              <a:solidFill>
                <a:srgbClr val="262673"/>
              </a:solidFill>
              <a:effectLst/>
              <a:uFillTx/>
              <a:latin typeface="Century Gothic"/>
            </a:endParaRPr>
          </a:p>
          <a:p>
            <a:pPr lvl="1" marL="743040" indent="-285840">
              <a:spcBef>
                <a:spcPts val="1199"/>
              </a:spcBef>
              <a:buClr>
                <a:srgbClr val="262673"/>
              </a:buClr>
              <a:buFont typeface="Century Gothic"/>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800" strike="noStrike" u="none">
                <a:solidFill>
                  <a:srgbClr val="262673"/>
                </a:solidFill>
                <a:effectLst/>
                <a:uFillTx/>
                <a:latin typeface="Century Gothic"/>
              </a:rPr>
              <a:t>Another option is to explore a component-based architecture (CBA) that uses records management service components (RMSCs) to accomplish similar functionality.</a:t>
            </a:r>
            <a:endParaRPr b="0" lang="en-IN" sz="1800" strike="noStrike" u="none">
              <a:solidFill>
                <a:srgbClr val="262673"/>
              </a:solidFill>
              <a:effectLst/>
              <a:uFillTx/>
              <a:latin typeface="Century Gothic"/>
            </a:endParaRPr>
          </a:p>
          <a:p>
            <a:pPr lvl="1" marL="743040" indent="-285840">
              <a:spcBef>
                <a:spcPts val="1199"/>
              </a:spcBef>
              <a:buClr>
                <a:srgbClr val="262673"/>
              </a:buClr>
              <a:buFont typeface="Century Gothic"/>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r>
              <a:rPr b="0" lang="en-US" sz="1800" strike="noStrike" u="none">
                <a:solidFill>
                  <a:srgbClr val="262673"/>
                </a:solidFill>
                <a:effectLst/>
                <a:uFillTx/>
                <a:latin typeface="Century Gothic"/>
              </a:rPr>
              <a:t>A third option is to develop RMSCs as part of mission applications and link them to RMAs already being used by the agency.</a:t>
            </a:r>
            <a:endParaRPr b="0" lang="en-IN" sz="1800" strike="noStrike" u="none">
              <a:solidFill>
                <a:srgbClr val="262673"/>
              </a:solidFill>
              <a:effectLst/>
              <a:uFillTx/>
              <a:latin typeface="Century Gothic"/>
            </a:endParaRPr>
          </a:p>
          <a:p>
            <a:pPr marL="343080" indent="-343080">
              <a:spcBef>
                <a:spcPts val="451"/>
              </a:spcBef>
              <a:buClr>
                <a:srgbClr val="262673"/>
              </a:buClr>
              <a:buFont typeface="Century Gothic"/>
              <a:buChar char="•"/>
              <a:tabLst>
                <a:tab algn="l" pos="866880"/>
                <a:tab algn="l" pos="1733400"/>
                <a:tab algn="l" pos="2600280"/>
                <a:tab algn="l" pos="3467160"/>
                <a:tab algn="l" pos="4334040"/>
                <a:tab algn="l" pos="5200560"/>
                <a:tab algn="l" pos="6067440"/>
                <a:tab algn="l" pos="6934320"/>
                <a:tab algn="l" pos="7800840"/>
                <a:tab algn="l" pos="8667720"/>
                <a:tab algn="l" pos="9534600"/>
                <a:tab algn="l" pos="10401480"/>
              </a:tabLst>
            </a:pPr>
            <a:endParaRPr b="0" lang="en-IN" sz="1800" strike="noStrike" u="none">
              <a:solidFill>
                <a:srgbClr val="262673"/>
              </a:solidFill>
              <a:effectLst/>
              <a:uFillTx/>
              <a:latin typeface="Century Gothic"/>
            </a:endParaRPr>
          </a:p>
        </p:txBody>
      </p:sp>
      <p:sp>
        <p:nvSpPr>
          <p:cNvPr id="26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56B0D2-F3F2-4BED-8788-84EE774F1B30}"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Right Arrow 11"/>
          <p:cNvSpPr/>
          <p:nvPr/>
        </p:nvSpPr>
        <p:spPr>
          <a:xfrm>
            <a:off x="1004760" y="5686560"/>
            <a:ext cx="3202200" cy="366480"/>
          </a:xfrm>
          <a:prstGeom prst="rightArrow">
            <a:avLst>
              <a:gd name="adj1" fmla="val 100000"/>
              <a:gd name="adj2" fmla="val 68567"/>
            </a:avLst>
          </a:prstGeom>
          <a:solidFill>
            <a:srgbClr val="003b50"/>
          </a:soli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65" name="Bent Arrow 8"/>
          <p:cNvSpPr/>
          <p:nvPr/>
        </p:nvSpPr>
        <p:spPr>
          <a:xfrm flipV="1">
            <a:off x="385920" y="1180440"/>
            <a:ext cx="1085760" cy="4871880"/>
          </a:xfrm>
          <a:custGeom>
            <a:avLst/>
            <a:gdLst>
              <a:gd name="textAreaLeft" fmla="*/ 0 w 1085760"/>
              <a:gd name="textAreaRight" fmla="*/ 1086120 w 1085760"/>
              <a:gd name="textAreaTop" fmla="*/ -360 h 4871880"/>
              <a:gd name="textAreaBottom" fmla="*/ 4871880 h 4871880"/>
              <a:gd name="GluePoint1X" fmla="*/ 831359 w 1085850"/>
              <a:gd name="GluePoint1Y" fmla="*/ 0 h 4872038"/>
              <a:gd name="GluePoint2X" fmla="*/ 831359 w 1085850"/>
              <a:gd name="GluePoint2Y" fmla="*/ 370253 h 4872038"/>
              <a:gd name="GluePoint3X" fmla="*/ 185127 w 1085850"/>
              <a:gd name="GluePoint3Y" fmla="*/ 4872038 h 4872038"/>
              <a:gd name="GluePoint4X" fmla="*/ 1085850 w 1085850"/>
              <a:gd name="GluePoint4Y" fmla="*/ 185127 h 48720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085850" h="4872038">
                <a:moveTo>
                  <a:pt x="0" y="4872038"/>
                </a:moveTo>
                <a:lnTo>
                  <a:pt x="0" y="346506"/>
                </a:lnTo>
                <a:lnTo>
                  <a:pt x="0" y="346506"/>
                </a:lnTo>
                <a:arcTo wR="346506" hR="346506" stAng="10800000" swAng="5400010"/>
                <a:lnTo>
                  <a:pt x="831359" y="0"/>
                </a:lnTo>
                <a:lnTo>
                  <a:pt x="831359" y="0"/>
                </a:lnTo>
                <a:lnTo>
                  <a:pt x="1085850" y="185127"/>
                </a:lnTo>
                <a:lnTo>
                  <a:pt x="831359" y="370253"/>
                </a:lnTo>
                <a:lnTo>
                  <a:pt x="831359" y="370253"/>
                </a:lnTo>
                <a:lnTo>
                  <a:pt x="370253" y="370253"/>
                </a:lnTo>
                <a:lnTo>
                  <a:pt x="370253" y="4872038"/>
                </a:lnTo>
                <a:close/>
              </a:path>
            </a:pathLst>
          </a:custGeom>
          <a:gradFill rotWithShape="0">
            <a:gsLst>
              <a:gs pos="0">
                <a:srgbClr val="287e9d"/>
              </a:gs>
              <a:gs pos="100000">
                <a:srgbClr val="ffffff"/>
              </a:gs>
            </a:gsLst>
            <a:lin ang="5400000"/>
          </a:gra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66" name="TextBox 10"/>
          <p:cNvSpPr/>
          <p:nvPr/>
        </p:nvSpPr>
        <p:spPr>
          <a:xfrm>
            <a:off x="1546560" y="5646600"/>
            <a:ext cx="248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Century Gothic"/>
              </a:rPr>
              <a:t>RM Transition Plan</a:t>
            </a:r>
            <a:endParaRPr b="0" lang="en-IN" sz="2000" strike="noStrike" u="none">
              <a:solidFill>
                <a:srgbClr val="000000"/>
              </a:solidFill>
              <a:effectLst/>
              <a:uFillTx/>
              <a:latin typeface="Arial"/>
            </a:endParaRPr>
          </a:p>
        </p:txBody>
      </p:sp>
      <p:sp>
        <p:nvSpPr>
          <p:cNvPr id="267" name="TextBox 7"/>
          <p:cNvSpPr/>
          <p:nvPr/>
        </p:nvSpPr>
        <p:spPr>
          <a:xfrm>
            <a:off x="4189320" y="5667480"/>
            <a:ext cx="46846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3b50"/>
                </a:solidFill>
                <a:effectLst/>
                <a:uFillTx/>
                <a:latin typeface="Century Gothic"/>
              </a:rPr>
              <a:t>Business Case for program development</a:t>
            </a:r>
            <a:endParaRPr b="0" lang="en-IN" sz="1800" strike="noStrike" u="none">
              <a:solidFill>
                <a:srgbClr val="000000"/>
              </a:solidFill>
              <a:effectLst/>
              <a:uFillTx/>
              <a:latin typeface="Arial"/>
            </a:endParaRPr>
          </a:p>
        </p:txBody>
      </p:sp>
      <p:sp>
        <p:nvSpPr>
          <p:cNvPr id="268"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Opportunities moving forward</a:t>
            </a:r>
            <a:endParaRPr b="1" lang="en-IN" sz="3200" strike="noStrike" u="none">
              <a:solidFill>
                <a:srgbClr val="262673"/>
              </a:solidFill>
              <a:effectLst/>
              <a:uFillTx/>
              <a:latin typeface="Century Gothic"/>
            </a:endParaRPr>
          </a:p>
        </p:txBody>
      </p:sp>
      <p:sp>
        <p:nvSpPr>
          <p:cNvPr id="269" name=""/>
          <p:cNvSpPr txBox="1"/>
          <p:nvPr/>
        </p:nvSpPr>
        <p:spPr>
          <a:xfrm>
            <a:off x="485640" y="1236600"/>
            <a:ext cx="8229600" cy="4291200"/>
          </a:xfrm>
          <a:prstGeom prst="rect">
            <a:avLst/>
          </a:prstGeom>
          <a:noFill/>
          <a:ln w="0">
            <a:noFill/>
          </a:ln>
        </p:spPr>
        <p:txBody>
          <a:bodyPr anchor="t">
            <a:normAutofit/>
          </a:bodyPr>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trike="noStrike" u="none">
                <a:solidFill>
                  <a:srgbClr val="262673"/>
                </a:solidFill>
                <a:effectLst/>
                <a:uFillTx/>
                <a:latin typeface="Century Gothic"/>
              </a:rPr>
              <a:t>Standardized core RM processes across HHS:</a:t>
            </a:r>
            <a:endParaRPr b="0" lang="en-IN" sz="1700" strike="noStrike" u="none">
              <a:solidFill>
                <a:srgbClr val="262673"/>
              </a:solidFill>
              <a:effectLst/>
              <a:uFillTx/>
              <a:latin typeface="Century Gothic"/>
            </a:endParaRPr>
          </a:p>
          <a:p>
            <a:pPr lvl="1" marL="743040" indent="-28584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Enable automation to improve processes and reduce workload</a:t>
            </a:r>
            <a:endParaRPr b="0" lang="en-IN" sz="14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262673"/>
                </a:solidFill>
                <a:effectLst/>
                <a:uFillTx/>
                <a:latin typeface="Century Gothic"/>
              </a:rPr>
              <a:t>Reduce paperwork</a:t>
            </a:r>
            <a:endParaRPr b="0" lang="en-IN" sz="11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262673"/>
                </a:solidFill>
                <a:effectLst/>
                <a:uFillTx/>
                <a:latin typeface="Century Gothic"/>
              </a:rPr>
              <a:t>Storage cost</a:t>
            </a:r>
            <a:endParaRPr b="0" lang="en-IN" sz="11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262673"/>
                </a:solidFill>
                <a:effectLst/>
                <a:uFillTx/>
                <a:latin typeface="Century Gothic"/>
              </a:rPr>
              <a:t>Improved resource efficiency</a:t>
            </a:r>
            <a:endParaRPr b="0" lang="en-IN" sz="11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262673"/>
                </a:solidFill>
                <a:effectLst/>
                <a:uFillTx/>
                <a:latin typeface="Century Gothic"/>
              </a:rPr>
              <a:t>Access to records when needed</a:t>
            </a:r>
            <a:endParaRPr b="0" lang="en-IN" sz="1100" strike="noStrike" u="none">
              <a:solidFill>
                <a:srgbClr val="262673"/>
              </a:solidFill>
              <a:effectLst/>
              <a:uFillTx/>
              <a:latin typeface="Century Gothic"/>
            </a:endParaRPr>
          </a:p>
          <a:p>
            <a:pPr lvl="1" marL="743040" indent="-28584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Reduce complexity while addressing uniqueness of each OPDIV</a:t>
            </a:r>
            <a:endParaRPr b="0" lang="en-IN" sz="1400" strike="noStrike" u="none">
              <a:solidFill>
                <a:srgbClr val="262673"/>
              </a:solidFill>
              <a:effectLst/>
              <a:uFillTx/>
              <a:latin typeface="Century Gothic"/>
            </a:endParaRPr>
          </a:p>
          <a:p>
            <a:pPr lvl="1" marL="743040" indent="-28584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Should ensure compliance with:</a:t>
            </a:r>
            <a:endParaRPr b="0" lang="en-IN" sz="14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Policies</a:t>
            </a:r>
            <a:endParaRPr b="0" lang="en-IN" sz="1200" strike="noStrike" u="none">
              <a:solidFill>
                <a:srgbClr val="262673"/>
              </a:solidFill>
              <a:effectLst/>
              <a:uFillTx/>
              <a:latin typeface="Century Gothic"/>
            </a:endParaRPr>
          </a:p>
          <a:p>
            <a:pPr lvl="2" marL="1143000" indent="-228600">
              <a:spcBef>
                <a:spcPts val="601"/>
              </a:spcBef>
              <a:buClr>
                <a:srgbClr val="262673"/>
              </a:buClr>
              <a:buFont typeface="Century Gothic"/>
              <a:buChar char="•"/>
              <a:tabLst>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262673"/>
                </a:solidFill>
                <a:effectLst/>
                <a:uFillTx/>
                <a:latin typeface="Century Gothic"/>
              </a:rPr>
              <a:t>Procedures (Processes)</a:t>
            </a:r>
            <a:endParaRPr b="0" lang="en-IN" sz="1200" strike="noStrike" u="none">
              <a:solidFill>
                <a:srgbClr val="262673"/>
              </a:solidFill>
              <a:effectLst/>
              <a:uFillTx/>
              <a:latin typeface="Century Gothic"/>
            </a:endParaRPr>
          </a:p>
          <a:p>
            <a:pPr lvl="1" marL="743040" indent="-28584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Ability to leverage best practices, tools, training across HHS</a:t>
            </a:r>
            <a:endParaRPr b="0" lang="en-IN" sz="1400" strike="noStrike" u="none">
              <a:solidFill>
                <a:srgbClr val="262673"/>
              </a:solidFill>
              <a:effectLst/>
              <a:uFillTx/>
              <a:latin typeface="Century Gothic"/>
            </a:endParaRPr>
          </a:p>
          <a:p>
            <a:pPr lvl="1" marL="743040" indent="-28584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262673"/>
                </a:solidFill>
                <a:effectLst/>
                <a:uFillTx/>
                <a:latin typeface="Century Gothic"/>
              </a:rPr>
              <a:t>Will help HHS carry out its mission</a:t>
            </a:r>
            <a:endParaRPr b="0" lang="en-IN" sz="1400" strike="noStrike" u="none">
              <a:solidFill>
                <a:srgbClr val="262673"/>
              </a:solidFill>
              <a:effectLst/>
              <a:uFillTx/>
              <a:latin typeface="Century Gothic"/>
            </a:endParaRPr>
          </a:p>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trike="noStrike" u="none">
                <a:solidFill>
                  <a:srgbClr val="262673"/>
                </a:solidFill>
                <a:effectLst/>
                <a:uFillTx/>
                <a:latin typeface="Century Gothic"/>
              </a:rPr>
              <a:t>Analysis will drive high-level requirements for potential  or hybrid* solution enterprise-wide RM information system</a:t>
            </a:r>
            <a:endParaRPr b="0" lang="en-IN" sz="1700" strike="noStrike" u="none">
              <a:solidFill>
                <a:srgbClr val="262673"/>
              </a:solidFill>
              <a:effectLst/>
              <a:uFillTx/>
              <a:latin typeface="Century Gothic"/>
            </a:endParaRPr>
          </a:p>
          <a:p>
            <a:pPr marL="343080" indent="-343080">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trike="noStrike" u="none">
                <a:solidFill>
                  <a:srgbClr val="262673"/>
                </a:solidFill>
                <a:effectLst/>
                <a:uFillTx/>
                <a:latin typeface="Century Gothic"/>
              </a:rPr>
              <a:t>Incorporate and integrate RM needs in enterprise processes such as EPLC</a:t>
            </a:r>
            <a:endParaRPr b="0" lang="en-IN" sz="1700" strike="noStrike" u="none">
              <a:solidFill>
                <a:srgbClr val="262673"/>
              </a:solidFill>
              <a:effectLst/>
              <a:uFillTx/>
              <a:latin typeface="Century Gothic"/>
            </a:endParaRPr>
          </a:p>
        </p:txBody>
      </p:sp>
      <p:sp>
        <p:nvSpPr>
          <p:cNvPr id="270"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61D8AC-E7F8-4961-8E38-E631CC4D0499}"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Highlights RM Current State</a:t>
            </a:r>
            <a:endParaRPr b="1" lang="en-IN" sz="3200" strike="noStrike" u="none">
              <a:solidFill>
                <a:srgbClr val="262673"/>
              </a:solidFill>
              <a:effectLst/>
              <a:uFillTx/>
              <a:latin typeface="Century Gothic"/>
            </a:endParaRPr>
          </a:p>
        </p:txBody>
      </p:sp>
      <p:sp>
        <p:nvSpPr>
          <p:cNvPr id="272" name=""/>
          <p:cNvSpPr txBox="1"/>
          <p:nvPr/>
        </p:nvSpPr>
        <p:spPr>
          <a:xfrm>
            <a:off x="457200" y="1294920"/>
            <a:ext cx="8229600" cy="4754520"/>
          </a:xfrm>
          <a:prstGeom prst="rect">
            <a:avLst/>
          </a:prstGeom>
          <a:noFill/>
          <a:ln w="0">
            <a:noFill/>
          </a:ln>
        </p:spPr>
        <p:txBody>
          <a:bodyPr anchor="t">
            <a:normAutofit/>
          </a:bodyPr>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262673"/>
                </a:solidFill>
                <a:effectLst/>
                <a:uFillTx/>
                <a:latin typeface="Century Gothic"/>
              </a:rPr>
              <a:t>RM processes across HHS are not standardized.</a:t>
            </a:r>
            <a:endParaRPr b="0" lang="en-IN" sz="28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262673"/>
                </a:solidFill>
                <a:effectLst/>
                <a:uFillTx/>
                <a:latin typeface="Century Gothic"/>
              </a:rPr>
              <a:t>There are no department-wide or OPDIV-wide electronic record keeping systems.</a:t>
            </a:r>
            <a:endParaRPr b="0" lang="en-IN" sz="2800" strike="noStrike" u="none">
              <a:solidFill>
                <a:srgbClr val="262673"/>
              </a:solidFill>
              <a:effectLst/>
              <a:uFillTx/>
              <a:latin typeface="Century Gothic"/>
            </a:endParaRPr>
          </a:p>
          <a:p>
            <a:pPr marL="343080" indent="-343080">
              <a:spcBef>
                <a:spcPts val="11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262673"/>
                </a:solidFill>
                <a:effectLst/>
                <a:uFillTx/>
                <a:latin typeface="Century Gothic"/>
              </a:rPr>
              <a:t>All IT Systems have to be reviewed and scheduled.</a:t>
            </a:r>
            <a:endParaRPr b="0" lang="en-IN" sz="2800" strike="noStrike" u="none">
              <a:solidFill>
                <a:srgbClr val="262673"/>
              </a:solidFill>
              <a:effectLst/>
              <a:uFillTx/>
              <a:latin typeface="Century Gothic"/>
            </a:endParaRPr>
          </a:p>
        </p:txBody>
      </p:sp>
      <p:sp>
        <p:nvSpPr>
          <p:cNvPr id="27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2D1F333-8FA2-408F-BBF7-AD4271B6CC17}"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0" y="101520"/>
            <a:ext cx="91440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262673"/>
                </a:solidFill>
                <a:effectLst/>
                <a:uFillTx/>
                <a:latin typeface="Century Gothic"/>
              </a:rPr>
              <a:t>Quarterly deliverables</a:t>
            </a:r>
            <a:endParaRPr b="1" lang="en-IN" sz="2800" strike="noStrike" u="none">
              <a:solidFill>
                <a:srgbClr val="262673"/>
              </a:solidFill>
              <a:effectLst/>
              <a:uFillTx/>
              <a:latin typeface="Century Gothic"/>
            </a:endParaRPr>
          </a:p>
        </p:txBody>
      </p:sp>
      <p:pic>
        <p:nvPicPr>
          <p:cNvPr id="275" name="Picture 4" descr=""/>
          <p:cNvPicPr/>
          <p:nvPr/>
        </p:nvPicPr>
        <p:blipFill>
          <a:blip r:embed="rId1"/>
          <a:stretch/>
        </p:blipFill>
        <p:spPr>
          <a:xfrm>
            <a:off x="1752480" y="4202280"/>
            <a:ext cx="5685120" cy="1582560"/>
          </a:xfrm>
          <a:prstGeom prst="rect">
            <a:avLst/>
          </a:prstGeom>
          <a:noFill/>
          <a:ln w="0">
            <a:noFill/>
          </a:ln>
        </p:spPr>
      </p:pic>
      <p:sp>
        <p:nvSpPr>
          <p:cNvPr id="276" name="Text Box 5"/>
          <p:cNvSpPr/>
          <p:nvPr/>
        </p:nvSpPr>
        <p:spPr>
          <a:xfrm>
            <a:off x="4032360" y="3868560"/>
            <a:ext cx="1143000" cy="2768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Black"/>
              </a:rPr>
              <a:t>Gaps</a:t>
            </a:r>
            <a:endParaRPr b="0" lang="en-IN" sz="1200" strike="noStrike" u="none">
              <a:solidFill>
                <a:srgbClr val="000000"/>
              </a:solidFill>
              <a:effectLst/>
              <a:uFillTx/>
              <a:latin typeface="Arial"/>
            </a:endParaRPr>
          </a:p>
        </p:txBody>
      </p:sp>
      <p:sp>
        <p:nvSpPr>
          <p:cNvPr id="277" name="Line 6"/>
          <p:cNvSpPr/>
          <p:nvPr/>
        </p:nvSpPr>
        <p:spPr>
          <a:xfrm flipH="1">
            <a:off x="3657600" y="4035600"/>
            <a:ext cx="393840" cy="2426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78" name="Line 7"/>
          <p:cNvSpPr/>
          <p:nvPr/>
        </p:nvSpPr>
        <p:spPr>
          <a:xfrm flipH="1">
            <a:off x="4267080" y="4127400"/>
            <a:ext cx="46080" cy="2271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79" name="Line 8"/>
          <p:cNvSpPr/>
          <p:nvPr/>
        </p:nvSpPr>
        <p:spPr>
          <a:xfrm>
            <a:off x="4865760" y="4110120"/>
            <a:ext cx="87120" cy="2109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80" name="Line 10"/>
          <p:cNvSpPr/>
          <p:nvPr/>
        </p:nvSpPr>
        <p:spPr>
          <a:xfrm>
            <a:off x="5067360" y="3992400"/>
            <a:ext cx="495360" cy="2858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281" name="Picture 15" descr="j0205462"/>
          <p:cNvPicPr/>
          <p:nvPr/>
        </p:nvPicPr>
        <p:blipFill>
          <a:blip r:embed="rId2"/>
          <a:stretch/>
        </p:blipFill>
        <p:spPr>
          <a:xfrm>
            <a:off x="7238880" y="3897360"/>
            <a:ext cx="1524240" cy="1515960"/>
          </a:xfrm>
          <a:prstGeom prst="rect">
            <a:avLst/>
          </a:prstGeom>
          <a:noFill/>
          <a:ln w="0">
            <a:noFill/>
          </a:ln>
        </p:spPr>
      </p:pic>
      <p:pic>
        <p:nvPicPr>
          <p:cNvPr id="282" name="Picture 18" descr="j0185604"/>
          <p:cNvPicPr/>
          <p:nvPr/>
        </p:nvPicPr>
        <p:blipFill>
          <a:blip r:embed="rId3"/>
          <a:stretch/>
        </p:blipFill>
        <p:spPr>
          <a:xfrm>
            <a:off x="838080" y="4202280"/>
            <a:ext cx="998640" cy="1000080"/>
          </a:xfrm>
          <a:prstGeom prst="rect">
            <a:avLst/>
          </a:prstGeom>
          <a:noFill/>
          <a:ln w="0">
            <a:noFill/>
          </a:ln>
        </p:spPr>
      </p:pic>
      <p:sp>
        <p:nvSpPr>
          <p:cNvPr id="283" name="Rectangle 3"/>
          <p:cNvSpPr/>
          <p:nvPr/>
        </p:nvSpPr>
        <p:spPr>
          <a:xfrm>
            <a:off x="237960" y="1481040"/>
            <a:ext cx="8763120" cy="2344680"/>
          </a:xfrm>
          <a:prstGeom prst="rect">
            <a:avLst/>
          </a:prstGeom>
          <a:noFill/>
          <a:ln w="0">
            <a:noFill/>
          </a:ln>
        </p:spPr>
        <p:style>
          <a:lnRef idx="0"/>
          <a:fillRef idx="0"/>
          <a:effectRef idx="0"/>
          <a:fontRef idx="minor"/>
        </p:style>
        <p:txBody>
          <a:bodyPr lIns="90000" rIns="90000" tIns="46800" bIns="46800" anchor="t">
            <a:noAutofit/>
          </a:bodyPr>
          <a:p>
            <a:pPr marL="227160" indent="-227160">
              <a:lnSpc>
                <a:spcPct val="90000"/>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1</a:t>
            </a:r>
            <a:r>
              <a:rPr b="1" lang="en-US" sz="1800" strike="noStrike" u="none" baseline="30000">
                <a:solidFill>
                  <a:srgbClr val="262673"/>
                </a:solidFill>
                <a:effectLst/>
                <a:uFillTx/>
                <a:latin typeface="Century Gothic"/>
              </a:rPr>
              <a:t>st</a:t>
            </a:r>
            <a:r>
              <a:rPr b="1" lang="en-US" sz="1800" strike="noStrike" u="none">
                <a:solidFill>
                  <a:srgbClr val="262673"/>
                </a:solidFill>
                <a:effectLst/>
                <a:uFillTx/>
                <a:latin typeface="Century Gothic"/>
              </a:rPr>
              <a:t> Qtr </a:t>
            </a:r>
            <a:r>
              <a:rPr b="1" lang="en-US" sz="1600" strike="noStrike" u="none">
                <a:solidFill>
                  <a:srgbClr val="262673"/>
                </a:solidFill>
                <a:effectLst/>
                <a:uFillTx/>
                <a:latin typeface="Century Gothic"/>
              </a:rPr>
              <a:t>(Oct08 – Dec08)</a:t>
            </a:r>
            <a:r>
              <a:rPr b="0" lang="en-US" sz="1600" strike="noStrike" u="none">
                <a:solidFill>
                  <a:srgbClr val="262673"/>
                </a:solidFill>
                <a:effectLst/>
                <a:uFillTx/>
                <a:latin typeface="Century Gothic"/>
              </a:rPr>
              <a:t> </a:t>
            </a:r>
            <a:r>
              <a:rPr b="0" lang="en-US" sz="1800" strike="noStrike" u="none">
                <a:solidFill>
                  <a:srgbClr val="262673"/>
                </a:solidFill>
                <a:effectLst/>
                <a:uFillTx/>
                <a:latin typeface="Century Gothic"/>
              </a:rPr>
              <a:t>– Current Records Management Business Process </a:t>
            </a:r>
            <a:endParaRPr b="0" lang="en-IN" sz="1800" strike="noStrike" u="none">
              <a:solidFill>
                <a:srgbClr val="000000"/>
              </a:solidFill>
              <a:effectLst/>
              <a:uFillTx/>
              <a:latin typeface="Arial"/>
            </a:endParaRPr>
          </a:p>
          <a:p>
            <a:pPr marL="227160" indent="-227160">
              <a:lnSpc>
                <a:spcPct val="90000"/>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2</a:t>
            </a:r>
            <a:r>
              <a:rPr b="1" lang="en-US" sz="1800" strike="noStrike" u="none" baseline="30000">
                <a:solidFill>
                  <a:srgbClr val="262673"/>
                </a:solidFill>
                <a:effectLst/>
                <a:uFillTx/>
                <a:latin typeface="Century Gothic"/>
              </a:rPr>
              <a:t>nd</a:t>
            </a:r>
            <a:r>
              <a:rPr b="1" lang="en-US" sz="1800" strike="noStrike" u="none">
                <a:solidFill>
                  <a:srgbClr val="262673"/>
                </a:solidFill>
                <a:effectLst/>
                <a:uFillTx/>
                <a:latin typeface="Century Gothic"/>
              </a:rPr>
              <a:t> Qtr </a:t>
            </a:r>
            <a:r>
              <a:rPr b="1" lang="en-US" sz="1600" strike="noStrike" u="none">
                <a:solidFill>
                  <a:srgbClr val="262673"/>
                </a:solidFill>
                <a:effectLst/>
                <a:uFillTx/>
                <a:latin typeface="Century Gothic"/>
              </a:rPr>
              <a:t>(Jan09 – March09)</a:t>
            </a:r>
            <a:r>
              <a:rPr b="0" lang="en-US" sz="1600" strike="noStrike" u="none">
                <a:solidFill>
                  <a:srgbClr val="262673"/>
                </a:solidFill>
                <a:effectLst/>
                <a:uFillTx/>
                <a:latin typeface="Century Gothic"/>
              </a:rPr>
              <a:t> </a:t>
            </a:r>
            <a:r>
              <a:rPr b="0" lang="en-US" sz="1800" strike="noStrike" u="none">
                <a:solidFill>
                  <a:srgbClr val="262673"/>
                </a:solidFill>
                <a:effectLst/>
                <a:uFillTx/>
                <a:latin typeface="Century Gothic"/>
              </a:rPr>
              <a:t>– Gap Analysis </a:t>
            </a:r>
            <a:endParaRPr b="0" lang="en-IN" sz="1800" strike="noStrike" u="none">
              <a:solidFill>
                <a:srgbClr val="000000"/>
              </a:solidFill>
              <a:effectLst/>
              <a:uFillTx/>
              <a:latin typeface="Arial"/>
            </a:endParaRPr>
          </a:p>
          <a:p>
            <a:pPr marL="227160" indent="-227160">
              <a:lnSpc>
                <a:spcPct val="90000"/>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3</a:t>
            </a:r>
            <a:r>
              <a:rPr b="1" lang="en-US" sz="1800" strike="noStrike" u="none" baseline="30000">
                <a:solidFill>
                  <a:srgbClr val="262673"/>
                </a:solidFill>
                <a:effectLst/>
                <a:uFillTx/>
                <a:latin typeface="Century Gothic"/>
              </a:rPr>
              <a:t>rd</a:t>
            </a:r>
            <a:r>
              <a:rPr b="1" lang="en-US" sz="1800" strike="noStrike" u="none">
                <a:solidFill>
                  <a:srgbClr val="262673"/>
                </a:solidFill>
                <a:effectLst/>
                <a:uFillTx/>
                <a:latin typeface="Century Gothic"/>
              </a:rPr>
              <a:t> Qtr </a:t>
            </a:r>
            <a:r>
              <a:rPr b="1" lang="en-US" sz="1600" strike="noStrike" u="none">
                <a:solidFill>
                  <a:srgbClr val="262673"/>
                </a:solidFill>
                <a:effectLst/>
                <a:uFillTx/>
                <a:latin typeface="Century Gothic"/>
              </a:rPr>
              <a:t>(April09 – June09)</a:t>
            </a:r>
            <a:r>
              <a:rPr b="0" lang="en-US" sz="1600" strike="noStrike" u="none">
                <a:solidFill>
                  <a:srgbClr val="262673"/>
                </a:solidFill>
                <a:effectLst/>
                <a:uFillTx/>
                <a:latin typeface="Century Gothic"/>
              </a:rPr>
              <a:t> </a:t>
            </a:r>
            <a:r>
              <a:rPr b="0" lang="en-US" sz="1800" strike="noStrike" u="none">
                <a:solidFill>
                  <a:srgbClr val="262673"/>
                </a:solidFill>
                <a:effectLst/>
                <a:uFillTx/>
                <a:latin typeface="Century Gothic"/>
              </a:rPr>
              <a:t>– Target Records Management Business Process </a:t>
            </a:r>
            <a:endParaRPr b="0" lang="en-IN" sz="1800" strike="noStrike" u="none">
              <a:solidFill>
                <a:srgbClr val="000000"/>
              </a:solidFill>
              <a:effectLst/>
              <a:uFillTx/>
              <a:latin typeface="Arial"/>
            </a:endParaRPr>
          </a:p>
          <a:p>
            <a:pPr marL="227160" indent="-227160">
              <a:lnSpc>
                <a:spcPct val="90000"/>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262673"/>
                </a:solidFill>
                <a:effectLst/>
                <a:uFillTx/>
                <a:latin typeface="Century Gothic"/>
              </a:rPr>
              <a:t>4</a:t>
            </a:r>
            <a:r>
              <a:rPr b="1" lang="en-US" sz="1800" strike="noStrike" u="none" baseline="30000">
                <a:solidFill>
                  <a:srgbClr val="262673"/>
                </a:solidFill>
                <a:effectLst/>
                <a:uFillTx/>
                <a:latin typeface="Century Gothic"/>
              </a:rPr>
              <a:t>th</a:t>
            </a:r>
            <a:r>
              <a:rPr b="1" lang="en-US" sz="1800" strike="noStrike" u="none">
                <a:solidFill>
                  <a:srgbClr val="262673"/>
                </a:solidFill>
                <a:effectLst/>
                <a:uFillTx/>
                <a:latin typeface="Century Gothic"/>
              </a:rPr>
              <a:t> Qtr </a:t>
            </a:r>
            <a:r>
              <a:rPr b="1" lang="en-US" sz="1600" strike="noStrike" u="none">
                <a:solidFill>
                  <a:srgbClr val="262673"/>
                </a:solidFill>
                <a:effectLst/>
                <a:uFillTx/>
                <a:latin typeface="Century Gothic"/>
              </a:rPr>
              <a:t>(July 2009 – September 2009)</a:t>
            </a:r>
            <a:r>
              <a:rPr b="0" lang="en-US" sz="1600" strike="noStrike" u="none">
                <a:solidFill>
                  <a:srgbClr val="262673"/>
                </a:solidFill>
                <a:effectLst/>
                <a:uFillTx/>
                <a:latin typeface="Century Gothic"/>
              </a:rPr>
              <a:t> </a:t>
            </a:r>
            <a:r>
              <a:rPr b="0" lang="en-US" sz="1800" strike="noStrike" u="none">
                <a:solidFill>
                  <a:srgbClr val="262673"/>
                </a:solidFill>
                <a:effectLst/>
                <a:uFillTx/>
                <a:latin typeface="Century Gothic"/>
              </a:rPr>
              <a:t>– Transition Plan</a:t>
            </a:r>
            <a:endParaRPr b="0" lang="en-IN" sz="1800" strike="noStrike" u="none">
              <a:solidFill>
                <a:srgbClr val="000000"/>
              </a:solidFill>
              <a:effectLst/>
              <a:uFillTx/>
              <a:latin typeface="Arial"/>
            </a:endParaRPr>
          </a:p>
        </p:txBody>
      </p:sp>
      <p:sp>
        <p:nvSpPr>
          <p:cNvPr id="284" name="Rectangle 17"/>
          <p:cNvSpPr/>
          <p:nvPr/>
        </p:nvSpPr>
        <p:spPr>
          <a:xfrm>
            <a:off x="3083400" y="5811840"/>
            <a:ext cx="3143880" cy="2923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000000"/>
                </a:solidFill>
                <a:effectLst/>
                <a:uFillTx/>
                <a:latin typeface="Arial"/>
              </a:rPr>
              <a:t>Transition strategy: Baseline to target</a:t>
            </a:r>
            <a:endParaRPr b="0" lang="en-IN" sz="1300" strike="noStrike" u="none">
              <a:solidFill>
                <a:srgbClr val="000000"/>
              </a:solidFill>
              <a:effectLst/>
              <a:uFillTx/>
              <a:latin typeface="Arial"/>
            </a:endParaRPr>
          </a:p>
        </p:txBody>
      </p:sp>
      <p:sp>
        <p:nvSpPr>
          <p:cNvPr id="285"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C12CD4-4217-426F-A586-2239005BFA23}"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 Short term tasks</a:t>
            </a:r>
            <a:endParaRPr b="1" lang="en-IN" sz="3200" strike="noStrike" u="none">
              <a:solidFill>
                <a:srgbClr val="262673"/>
              </a:solidFill>
              <a:effectLst/>
              <a:uFillTx/>
              <a:latin typeface="Century Gothic"/>
            </a:endParaRPr>
          </a:p>
        </p:txBody>
      </p:sp>
      <p:sp>
        <p:nvSpPr>
          <p:cNvPr id="287" name=""/>
          <p:cNvSpPr txBox="1"/>
          <p:nvPr/>
        </p:nvSpPr>
        <p:spPr>
          <a:xfrm>
            <a:off x="457200" y="1294920"/>
            <a:ext cx="8229600" cy="4754520"/>
          </a:xfrm>
          <a:prstGeom prst="rect">
            <a:avLst/>
          </a:prstGeom>
          <a:noFill/>
          <a:ln w="0">
            <a:noFill/>
          </a:ln>
        </p:spPr>
        <p:txBody>
          <a:bodyPr anchor="t">
            <a:normAutofit/>
          </a:bodyPr>
          <a:p>
            <a:pPr marL="343080" indent="-343080">
              <a:lnSpc>
                <a:spcPct val="150000"/>
              </a:lnSpc>
              <a:spcBef>
                <a:spcPts val="601"/>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262673"/>
                </a:solidFill>
                <a:effectLst/>
                <a:uFillTx/>
                <a:latin typeface="Century Gothic"/>
              </a:rPr>
              <a:t>HHS RM Interim Transition Plan – Milestones</a:t>
            </a:r>
            <a:endParaRPr b="0" lang="en-IN" sz="2400" strike="noStrike" u="none">
              <a:solidFill>
                <a:srgbClr val="262673"/>
              </a:solidFill>
              <a:effectLst/>
              <a:uFillTx/>
              <a:latin typeface="Century Gothic"/>
            </a:endParaRPr>
          </a:p>
          <a:p>
            <a:pPr lvl="1" marL="743040" indent="-285840">
              <a:lnSpc>
                <a:spcPct val="150000"/>
              </a:lnSpc>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Work with CPIC to integrate RM into the EPLC*</a:t>
            </a:r>
            <a:endParaRPr b="0" lang="en-IN" sz="2000" strike="noStrike" u="none">
              <a:solidFill>
                <a:srgbClr val="262673"/>
              </a:solidFill>
              <a:effectLst/>
              <a:uFillTx/>
              <a:latin typeface="Century Gothic"/>
            </a:endParaRPr>
          </a:p>
          <a:p>
            <a:pPr lvl="1" marL="743040" indent="-285840">
              <a:lnSpc>
                <a:spcPct val="150000"/>
              </a:lnSpc>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Records Officers validate the identified records IT systems per the September 2009 NARA requirement (36 CFR 1228 Subpart K)</a:t>
            </a:r>
            <a:endParaRPr b="0" lang="en-IN" sz="2000" strike="noStrike" u="none">
              <a:solidFill>
                <a:srgbClr val="262673"/>
              </a:solidFill>
              <a:effectLst/>
              <a:uFillTx/>
              <a:latin typeface="Century Gothic"/>
            </a:endParaRPr>
          </a:p>
          <a:p>
            <a:pPr lvl="1" marL="743040" indent="-285840">
              <a:lnSpc>
                <a:spcPct val="150000"/>
              </a:lnSpc>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Use the HHS EA repository to support the categorization of records IT system** </a:t>
            </a:r>
            <a:endParaRPr b="0" lang="en-IN" sz="2000" strike="noStrike" u="none">
              <a:solidFill>
                <a:srgbClr val="262673"/>
              </a:solidFill>
              <a:effectLst/>
              <a:uFillTx/>
              <a:latin typeface="Century Gothic"/>
            </a:endParaRPr>
          </a:p>
          <a:p>
            <a:pPr lvl="1" marL="743040" indent="-285840">
              <a:lnSpc>
                <a:spcPct val="150000"/>
              </a:lnSpc>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262673"/>
                </a:solidFill>
                <a:effectLst/>
                <a:uFillTx/>
                <a:latin typeface="Century Gothic"/>
              </a:rPr>
              <a:t>Develop guidance for enterprise architects on how to address RM in other segment development efforts.</a:t>
            </a:r>
            <a:endParaRPr b="0" lang="en-IN" sz="2000" strike="noStrike" u="none">
              <a:solidFill>
                <a:srgbClr val="262673"/>
              </a:solidFill>
              <a:effectLst/>
              <a:uFillTx/>
              <a:latin typeface="Century Gothic"/>
            </a:endParaRPr>
          </a:p>
          <a:p>
            <a:pPr lvl="1" marL="743040" indent="-285840">
              <a:lnSpc>
                <a:spcPct val="150000"/>
              </a:lnSpc>
              <a:spcBef>
                <a:spcPts val="499"/>
              </a:spcBef>
              <a:buClr>
                <a:srgbClr val="262673"/>
              </a:buClr>
              <a:buFont typeface="Century Gothic"/>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262673"/>
              </a:solidFill>
              <a:effectLst/>
              <a:uFillTx/>
              <a:latin typeface="Century Gothic"/>
            </a:endParaRPr>
          </a:p>
          <a:p>
            <a:pPr marL="343080" indent="-343080">
              <a:lnSpc>
                <a:spcPct val="15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262673"/>
              </a:solidFill>
              <a:effectLst/>
              <a:uFillTx/>
              <a:latin typeface="Century Gothic"/>
            </a:endParaRPr>
          </a:p>
        </p:txBody>
      </p:sp>
      <p:sp>
        <p:nvSpPr>
          <p:cNvPr id="288"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D5F4C27-8E3D-4098-AA32-CB4DF488F962}"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Down Arrow 32"/>
          <p:cNvSpPr/>
          <p:nvPr/>
        </p:nvSpPr>
        <p:spPr>
          <a:xfrm rot="16200000">
            <a:off x="4285440" y="2305440"/>
            <a:ext cx="531720" cy="6753240"/>
          </a:xfrm>
          <a:prstGeom prst="downArrow">
            <a:avLst>
              <a:gd name="adj1" fmla="val 100000"/>
              <a:gd name="adj2" fmla="val 120951"/>
            </a:avLst>
          </a:prstGeom>
          <a:solidFill>
            <a:srgbClr val="d9d9d9"/>
          </a:solidFill>
          <a:ln w="0">
            <a:noFill/>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290" name="Group 37"/>
          <p:cNvGrpSpPr/>
          <p:nvPr/>
        </p:nvGrpSpPr>
        <p:grpSpPr>
          <a:xfrm>
            <a:off x="2743200" y="2081160"/>
            <a:ext cx="2244600" cy="3827520"/>
            <a:chOff x="2743200" y="2081160"/>
            <a:chExt cx="2244600" cy="3827520"/>
          </a:xfrm>
        </p:grpSpPr>
        <p:sp>
          <p:nvSpPr>
            <p:cNvPr id="291" name="Straight Connector 34"/>
            <p:cNvSpPr/>
            <p:nvPr/>
          </p:nvSpPr>
          <p:spPr>
            <a:xfrm>
              <a:off x="2743200" y="2081160"/>
              <a:ext cx="23760" cy="3827520"/>
            </a:xfrm>
            <a:prstGeom prst="line">
              <a:avLst/>
            </a:prstGeom>
            <a:ln w="9360">
              <a:solidFill>
                <a:srgbClr val="606060"/>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92" name="Straight Connector 35"/>
            <p:cNvSpPr/>
            <p:nvPr/>
          </p:nvSpPr>
          <p:spPr>
            <a:xfrm>
              <a:off x="4964040" y="2081160"/>
              <a:ext cx="23760" cy="3827520"/>
            </a:xfrm>
            <a:prstGeom prst="line">
              <a:avLst/>
            </a:prstGeom>
            <a:ln w="9360">
              <a:solidFill>
                <a:srgbClr val="606060"/>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93"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RM Records Schedules – Current State</a:t>
            </a:r>
            <a:endParaRPr b="1" lang="en-IN" sz="3200" strike="noStrike" u="none">
              <a:solidFill>
                <a:srgbClr val="262673"/>
              </a:solidFill>
              <a:effectLst/>
              <a:uFillTx/>
              <a:latin typeface="Century Gothic"/>
            </a:endParaRPr>
          </a:p>
        </p:txBody>
      </p:sp>
      <p:sp>
        <p:nvSpPr>
          <p:cNvPr id="294" name="TextBox 5"/>
          <p:cNvSpPr/>
          <p:nvPr/>
        </p:nvSpPr>
        <p:spPr>
          <a:xfrm>
            <a:off x="1255320" y="5513400"/>
            <a:ext cx="147888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Records Groups</a:t>
            </a:r>
            <a:endParaRPr b="0" lang="en-IN" sz="1400" strike="noStrike" u="none">
              <a:solidFill>
                <a:srgbClr val="000000"/>
              </a:solidFill>
              <a:effectLst/>
              <a:uFillTx/>
              <a:latin typeface="Arial"/>
            </a:endParaRPr>
          </a:p>
        </p:txBody>
      </p:sp>
      <p:pic>
        <p:nvPicPr>
          <p:cNvPr id="295" name="Picture 4" descr="http://www.amputee-coalition.org/inmotion/jul_aug_07/papers01.jpg"/>
          <p:cNvPicPr/>
          <p:nvPr/>
        </p:nvPicPr>
        <p:blipFill>
          <a:blip r:embed="rId1"/>
          <a:srcRect l="0" t="0" r="0" b="81435"/>
          <a:stretch/>
        </p:blipFill>
        <p:spPr>
          <a:xfrm>
            <a:off x="1131840" y="2963880"/>
            <a:ext cx="1312920" cy="255600"/>
          </a:xfrm>
          <a:prstGeom prst="rect">
            <a:avLst/>
          </a:prstGeom>
          <a:noFill/>
          <a:ln w="0">
            <a:noFill/>
          </a:ln>
        </p:spPr>
      </p:pic>
      <p:pic>
        <p:nvPicPr>
          <p:cNvPr id="296" name="Picture 4" descr="http://www.amputee-coalition.org/inmotion/jul_aug_07/papers01.jpg"/>
          <p:cNvPicPr/>
          <p:nvPr/>
        </p:nvPicPr>
        <p:blipFill>
          <a:blip r:embed="rId2"/>
          <a:srcRect l="0" t="0" r="0" b="49648"/>
          <a:stretch/>
        </p:blipFill>
        <p:spPr>
          <a:xfrm>
            <a:off x="3213000" y="2233440"/>
            <a:ext cx="1312920" cy="692280"/>
          </a:xfrm>
          <a:prstGeom prst="rect">
            <a:avLst/>
          </a:prstGeom>
          <a:noFill/>
          <a:ln w="0">
            <a:noFill/>
          </a:ln>
        </p:spPr>
      </p:pic>
      <p:pic>
        <p:nvPicPr>
          <p:cNvPr id="297" name="Picture 4" descr="http://www.amputee-coalition.org/inmotion/jul_aug_07/papers01.jpg"/>
          <p:cNvPicPr/>
          <p:nvPr/>
        </p:nvPicPr>
        <p:blipFill>
          <a:blip r:embed="rId3"/>
          <a:srcRect l="0" t="0" r="0" b="-801"/>
          <a:stretch/>
        </p:blipFill>
        <p:spPr>
          <a:xfrm>
            <a:off x="5403960" y="2817720"/>
            <a:ext cx="1312920" cy="1387440"/>
          </a:xfrm>
          <a:prstGeom prst="rect">
            <a:avLst/>
          </a:prstGeom>
          <a:noFill/>
          <a:ln w="0">
            <a:noFill/>
          </a:ln>
        </p:spPr>
      </p:pic>
      <p:cxnSp>
        <p:nvCxnSpPr>
          <p:cNvPr id="298" name="Straight Arrow Connector 10"/>
          <p:cNvCxnSpPr/>
          <p:nvPr/>
        </p:nvCxnSpPr>
        <p:spPr>
          <a:xfrm>
            <a:off x="2444760" y="2177640"/>
            <a:ext cx="768960" cy="421560"/>
          </a:xfrm>
          <a:prstGeom prst="straightConnector1">
            <a:avLst/>
          </a:prstGeom>
          <a:ln w="28440">
            <a:solidFill>
              <a:srgbClr val="262626"/>
            </a:solidFill>
            <a:miter/>
            <a:tailEnd len="med" type="triangle" w="med"/>
          </a:ln>
        </p:spPr>
      </p:cxnSp>
      <p:cxnSp>
        <p:nvCxnSpPr>
          <p:cNvPr id="299" name="Straight Arrow Connector 11"/>
          <p:cNvCxnSpPr/>
          <p:nvPr/>
        </p:nvCxnSpPr>
        <p:spPr>
          <a:xfrm>
            <a:off x="2408040" y="2688840"/>
            <a:ext cx="805320" cy="19800"/>
          </a:xfrm>
          <a:prstGeom prst="straightConnector1">
            <a:avLst/>
          </a:prstGeom>
          <a:ln w="28440">
            <a:solidFill>
              <a:srgbClr val="262626"/>
            </a:solidFill>
            <a:miter/>
            <a:tailEnd len="med" type="triangle" w="med"/>
          </a:ln>
        </p:spPr>
      </p:cxnSp>
      <p:cxnSp>
        <p:nvCxnSpPr>
          <p:cNvPr id="300" name="Straight Arrow Connector 12"/>
          <p:cNvCxnSpPr/>
          <p:nvPr/>
        </p:nvCxnSpPr>
        <p:spPr>
          <a:xfrm flipV="1">
            <a:off x="2371320" y="2854080"/>
            <a:ext cx="842040" cy="347760"/>
          </a:xfrm>
          <a:prstGeom prst="straightConnector1">
            <a:avLst/>
          </a:prstGeom>
          <a:ln w="28440">
            <a:solidFill>
              <a:srgbClr val="262626"/>
            </a:solidFill>
            <a:miter/>
            <a:tailEnd len="med" type="triangle" w="med"/>
          </a:ln>
        </p:spPr>
      </p:cxnSp>
      <p:cxnSp>
        <p:nvCxnSpPr>
          <p:cNvPr id="301" name="Straight Arrow Connector 13"/>
          <p:cNvCxnSpPr/>
          <p:nvPr/>
        </p:nvCxnSpPr>
        <p:spPr>
          <a:xfrm>
            <a:off x="4525920" y="2598840"/>
            <a:ext cx="768960" cy="365760"/>
          </a:xfrm>
          <a:prstGeom prst="straightConnector1">
            <a:avLst/>
          </a:prstGeom>
          <a:ln w="28440">
            <a:solidFill>
              <a:srgbClr val="262626"/>
            </a:solidFill>
            <a:miter/>
            <a:tailEnd len="med" type="triangle" w="med"/>
          </a:ln>
        </p:spPr>
      </p:cxnSp>
      <p:pic>
        <p:nvPicPr>
          <p:cNvPr id="302" name="Picture 4" descr="http://www.amputee-coalition.org/inmotion/jul_aug_07/papers01.jpg"/>
          <p:cNvPicPr/>
          <p:nvPr/>
        </p:nvPicPr>
        <p:blipFill>
          <a:blip r:embed="rId4"/>
          <a:srcRect l="0" t="0" r="0" b="50135"/>
          <a:stretch/>
        </p:blipFill>
        <p:spPr>
          <a:xfrm>
            <a:off x="3322800" y="4022640"/>
            <a:ext cx="1312560" cy="685800"/>
          </a:xfrm>
          <a:prstGeom prst="rect">
            <a:avLst/>
          </a:prstGeom>
          <a:noFill/>
          <a:ln w="0">
            <a:noFill/>
          </a:ln>
        </p:spPr>
      </p:pic>
      <p:pic>
        <p:nvPicPr>
          <p:cNvPr id="303" name="Picture 4" descr="http://www.amputee-coalition.org/inmotion/jul_aug_07/papers01.jpg"/>
          <p:cNvPicPr/>
          <p:nvPr/>
        </p:nvPicPr>
        <p:blipFill>
          <a:blip r:embed="rId5"/>
          <a:srcRect l="0" t="0" r="0" b="81435"/>
          <a:stretch/>
        </p:blipFill>
        <p:spPr>
          <a:xfrm>
            <a:off x="1131840" y="4241880"/>
            <a:ext cx="1312920" cy="255600"/>
          </a:xfrm>
          <a:prstGeom prst="rect">
            <a:avLst/>
          </a:prstGeom>
          <a:noFill/>
          <a:ln w="0">
            <a:noFill/>
          </a:ln>
        </p:spPr>
      </p:pic>
      <p:pic>
        <p:nvPicPr>
          <p:cNvPr id="304" name="Picture 4" descr="http://www.amputee-coalition.org/inmotion/jul_aug_07/papers01.jpg"/>
          <p:cNvPicPr/>
          <p:nvPr/>
        </p:nvPicPr>
        <p:blipFill>
          <a:blip r:embed="rId6"/>
          <a:srcRect l="0" t="0" r="0" b="81435"/>
          <a:stretch/>
        </p:blipFill>
        <p:spPr>
          <a:xfrm>
            <a:off x="1168560" y="4643280"/>
            <a:ext cx="1312560" cy="255600"/>
          </a:xfrm>
          <a:prstGeom prst="rect">
            <a:avLst/>
          </a:prstGeom>
          <a:noFill/>
          <a:ln w="0">
            <a:noFill/>
          </a:ln>
        </p:spPr>
      </p:pic>
      <p:cxnSp>
        <p:nvCxnSpPr>
          <p:cNvPr id="305" name="Straight Arrow Connector 18"/>
          <p:cNvCxnSpPr/>
          <p:nvPr/>
        </p:nvCxnSpPr>
        <p:spPr>
          <a:xfrm>
            <a:off x="2480760" y="3859200"/>
            <a:ext cx="769320" cy="419760"/>
          </a:xfrm>
          <a:prstGeom prst="straightConnector1">
            <a:avLst/>
          </a:prstGeom>
          <a:ln w="28440">
            <a:solidFill>
              <a:srgbClr val="262626"/>
            </a:solidFill>
            <a:miter/>
            <a:tailEnd len="med" type="triangle" w="med"/>
          </a:ln>
        </p:spPr>
      </p:cxnSp>
      <p:cxnSp>
        <p:nvCxnSpPr>
          <p:cNvPr id="306" name="Straight Arrow Connector 19"/>
          <p:cNvCxnSpPr/>
          <p:nvPr/>
        </p:nvCxnSpPr>
        <p:spPr>
          <a:xfrm>
            <a:off x="2444760" y="4370400"/>
            <a:ext cx="805680" cy="18000"/>
          </a:xfrm>
          <a:prstGeom prst="straightConnector1">
            <a:avLst/>
          </a:prstGeom>
          <a:ln w="28440">
            <a:solidFill>
              <a:srgbClr val="262626"/>
            </a:solidFill>
            <a:miter/>
            <a:tailEnd len="med" type="triangle" w="med"/>
          </a:ln>
        </p:spPr>
      </p:cxnSp>
      <p:cxnSp>
        <p:nvCxnSpPr>
          <p:cNvPr id="307" name="Straight Arrow Connector 20"/>
          <p:cNvCxnSpPr/>
          <p:nvPr/>
        </p:nvCxnSpPr>
        <p:spPr>
          <a:xfrm flipV="1">
            <a:off x="2408040" y="4533480"/>
            <a:ext cx="842040" cy="348480"/>
          </a:xfrm>
          <a:prstGeom prst="straightConnector1">
            <a:avLst/>
          </a:prstGeom>
          <a:ln w="28440">
            <a:solidFill>
              <a:srgbClr val="262626"/>
            </a:solidFill>
            <a:miter/>
            <a:tailEnd len="med" type="triangle" w="med"/>
          </a:ln>
        </p:spPr>
      </p:cxnSp>
      <p:cxnSp>
        <p:nvCxnSpPr>
          <p:cNvPr id="308" name="Straight Arrow Connector 21"/>
          <p:cNvCxnSpPr/>
          <p:nvPr/>
        </p:nvCxnSpPr>
        <p:spPr>
          <a:xfrm flipV="1">
            <a:off x="4635360" y="3985560"/>
            <a:ext cx="659520" cy="402120"/>
          </a:xfrm>
          <a:prstGeom prst="straightConnector1">
            <a:avLst/>
          </a:prstGeom>
          <a:ln w="28440">
            <a:solidFill>
              <a:srgbClr val="262626"/>
            </a:solidFill>
            <a:miter/>
            <a:tailEnd len="med" type="triangle" w="med"/>
          </a:ln>
        </p:spPr>
      </p:cxnSp>
      <p:sp>
        <p:nvSpPr>
          <p:cNvPr id="309" name="TextBox 34"/>
          <p:cNvSpPr/>
          <p:nvPr/>
        </p:nvSpPr>
        <p:spPr>
          <a:xfrm>
            <a:off x="2991960" y="5521320"/>
            <a:ext cx="182520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OPDIVs/STAFFDIVs</a:t>
            </a:r>
            <a:endParaRPr b="0" lang="en-IN" sz="1400" strike="noStrike" u="none">
              <a:solidFill>
                <a:srgbClr val="000000"/>
              </a:solidFill>
              <a:effectLst/>
              <a:uFillTx/>
              <a:latin typeface="Arial"/>
            </a:endParaRPr>
          </a:p>
        </p:txBody>
      </p:sp>
      <p:sp>
        <p:nvSpPr>
          <p:cNvPr id="310" name="TextBox 35"/>
          <p:cNvSpPr/>
          <p:nvPr/>
        </p:nvSpPr>
        <p:spPr>
          <a:xfrm>
            <a:off x="5553000" y="5526000"/>
            <a:ext cx="111240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Department</a:t>
            </a:r>
            <a:endParaRPr b="0" lang="en-IN" sz="1400" strike="noStrike" u="none">
              <a:solidFill>
                <a:srgbClr val="000000"/>
              </a:solidFill>
              <a:effectLst/>
              <a:uFillTx/>
              <a:latin typeface="Arial"/>
            </a:endParaRPr>
          </a:p>
        </p:txBody>
      </p:sp>
      <p:sp>
        <p:nvSpPr>
          <p:cNvPr id="311" name="TextBox 36"/>
          <p:cNvSpPr/>
          <p:nvPr/>
        </p:nvSpPr>
        <p:spPr>
          <a:xfrm>
            <a:off x="1849320" y="1335240"/>
            <a:ext cx="547056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005a7a"/>
                </a:solidFill>
                <a:effectLst/>
                <a:uFillTx/>
                <a:latin typeface="Arial"/>
              </a:rPr>
              <a:t>Decentralized</a:t>
            </a:r>
            <a:r>
              <a:rPr b="0" lang="en-US" sz="1800" strike="noStrike" u="none">
                <a:solidFill>
                  <a:srgbClr val="005a7a"/>
                </a:solidFill>
                <a:effectLst/>
                <a:uFillTx/>
                <a:latin typeface="Arial"/>
              </a:rPr>
              <a:t> Inventory of Record Schedules</a:t>
            </a:r>
            <a:endParaRPr b="0" lang="en-IN" sz="1800" strike="noStrike" u="none">
              <a:solidFill>
                <a:srgbClr val="000000"/>
              </a:solidFill>
              <a:effectLst/>
              <a:uFillTx/>
              <a:latin typeface="Arial"/>
            </a:endParaRPr>
          </a:p>
        </p:txBody>
      </p:sp>
      <p:sp>
        <p:nvSpPr>
          <p:cNvPr id="312" name="TextBox 41"/>
          <p:cNvSpPr/>
          <p:nvPr/>
        </p:nvSpPr>
        <p:spPr>
          <a:xfrm>
            <a:off x="5361120" y="2260440"/>
            <a:ext cx="1606320" cy="5209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HHS Records Manager</a:t>
            </a:r>
            <a:endParaRPr b="0" lang="en-IN" sz="1400" strike="noStrike" u="none">
              <a:solidFill>
                <a:srgbClr val="000000"/>
              </a:solidFill>
              <a:effectLst/>
              <a:uFillTx/>
              <a:latin typeface="Arial"/>
            </a:endParaRPr>
          </a:p>
        </p:txBody>
      </p:sp>
      <p:sp>
        <p:nvSpPr>
          <p:cNvPr id="313"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0E306E-6EA4-4BCE-9EDC-65248DDC188C}"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
        <p:nvSpPr>
          <p:cNvPr id="314" name="Rectangle 39"/>
          <p:cNvSpPr/>
          <p:nvPr/>
        </p:nvSpPr>
        <p:spPr>
          <a:xfrm>
            <a:off x="2857320" y="5108400"/>
            <a:ext cx="202428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005a7a"/>
                </a:solidFill>
                <a:effectLst/>
                <a:uFillTx/>
                <a:latin typeface="Calibri"/>
              </a:rPr>
              <a:t>RECORDS DISPOSITION SCHEDULES</a:t>
            </a:r>
            <a:endParaRPr b="0" lang="en-IN" sz="1000" strike="noStrike" u="none">
              <a:solidFill>
                <a:srgbClr val="000000"/>
              </a:solidFill>
              <a:effectLst/>
              <a:uFillTx/>
              <a:latin typeface="Arial"/>
            </a:endParaRPr>
          </a:p>
        </p:txBody>
      </p:sp>
      <p:sp>
        <p:nvSpPr>
          <p:cNvPr id="315" name="Rectangle 40"/>
          <p:cNvSpPr/>
          <p:nvPr/>
        </p:nvSpPr>
        <p:spPr>
          <a:xfrm>
            <a:off x="1479960" y="5108400"/>
            <a:ext cx="67248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005a7a"/>
                </a:solidFill>
                <a:effectLst/>
                <a:uFillTx/>
                <a:latin typeface="Calibri"/>
              </a:rPr>
              <a:t>File Plans</a:t>
            </a:r>
            <a:endParaRPr b="0" lang="en-IN" sz="1000" strike="noStrike" u="none">
              <a:solidFill>
                <a:srgbClr val="000000"/>
              </a:solidFill>
              <a:effectLst/>
              <a:uFillTx/>
              <a:latin typeface="Arial"/>
            </a:endParaRPr>
          </a:p>
        </p:txBody>
      </p:sp>
      <p:sp>
        <p:nvSpPr>
          <p:cNvPr id="316" name="Rectangle 41"/>
          <p:cNvSpPr/>
          <p:nvPr/>
        </p:nvSpPr>
        <p:spPr>
          <a:xfrm>
            <a:off x="5051520" y="5021280"/>
            <a:ext cx="2743200" cy="399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005a7a"/>
                </a:solidFill>
                <a:effectLst/>
                <a:uFillTx/>
                <a:latin typeface="Calibri"/>
              </a:rPr>
              <a:t>Dept-wide RECORDS DISPOSITION SCHEDULES/File Plans</a:t>
            </a:r>
            <a:endParaRPr b="0" lang="en-IN" sz="1000" strike="noStrike" u="none">
              <a:solidFill>
                <a:srgbClr val="000000"/>
              </a:solidFill>
              <a:effectLst/>
              <a:uFillTx/>
              <a:latin typeface="Arial"/>
            </a:endParaRPr>
          </a:p>
        </p:txBody>
      </p:sp>
      <p:pic>
        <p:nvPicPr>
          <p:cNvPr id="317" name="Picture 42" descr="http://www-sop.inria.fr/asclepios/projects/boston/pdf_icon.jpg"/>
          <p:cNvPicPr/>
          <p:nvPr/>
        </p:nvPicPr>
        <p:blipFill>
          <a:blip r:embed="rId7"/>
          <a:stretch/>
        </p:blipFill>
        <p:spPr>
          <a:xfrm>
            <a:off x="1473120" y="2484360"/>
            <a:ext cx="414360" cy="414360"/>
          </a:xfrm>
          <a:prstGeom prst="rect">
            <a:avLst/>
          </a:prstGeom>
          <a:noFill/>
          <a:ln w="0">
            <a:noFill/>
          </a:ln>
        </p:spPr>
      </p:pic>
      <p:pic>
        <p:nvPicPr>
          <p:cNvPr id="318" name="Picture 40" descr="http://www.snee.com/bobdc.blog/img/xls.jpg"/>
          <p:cNvPicPr/>
          <p:nvPr/>
        </p:nvPicPr>
        <p:blipFill>
          <a:blip r:embed="rId8"/>
          <a:stretch/>
        </p:blipFill>
        <p:spPr>
          <a:xfrm>
            <a:off x="1512720" y="3659040"/>
            <a:ext cx="420840" cy="420840"/>
          </a:xfrm>
          <a:prstGeom prst="rect">
            <a:avLst/>
          </a:prstGeom>
          <a:noFill/>
          <a:ln w="0">
            <a:noFill/>
          </a:ln>
        </p:spPr>
      </p:pic>
      <p:pic>
        <p:nvPicPr>
          <p:cNvPr id="319" name="Picture 44" descr="http://www.skillnets.com/skillnets/resources/images/WordIcon.jpg"/>
          <p:cNvPicPr/>
          <p:nvPr/>
        </p:nvPicPr>
        <p:blipFill>
          <a:blip r:embed="rId9"/>
          <a:stretch/>
        </p:blipFill>
        <p:spPr>
          <a:xfrm>
            <a:off x="1425600" y="1906560"/>
            <a:ext cx="474480" cy="474840"/>
          </a:xfrm>
          <a:prstGeom prst="rect">
            <a:avLst/>
          </a:prstGeom>
          <a:noFill/>
          <a:ln w="0">
            <a:noFill/>
          </a:ln>
        </p:spPr>
      </p:pic>
      <p:pic>
        <p:nvPicPr>
          <p:cNvPr id="320" name="Picture 42" descr="http://www-sop.inria.fr/asclepios/projects/boston/pdf_icon.jpg"/>
          <p:cNvPicPr/>
          <p:nvPr/>
        </p:nvPicPr>
        <p:blipFill>
          <a:blip r:embed="rId10"/>
          <a:stretch/>
        </p:blipFill>
        <p:spPr>
          <a:xfrm>
            <a:off x="6802560" y="3387600"/>
            <a:ext cx="412560" cy="414360"/>
          </a:xfrm>
          <a:prstGeom prst="rect">
            <a:avLst/>
          </a:prstGeom>
          <a:noFill/>
          <a:ln w="0">
            <a:noFill/>
          </a:ln>
        </p:spPr>
      </p:pic>
      <p:pic>
        <p:nvPicPr>
          <p:cNvPr id="321" name="Picture 40" descr="http://www.snee.com/bobdc.blog/img/xls.jpg"/>
          <p:cNvPicPr/>
          <p:nvPr/>
        </p:nvPicPr>
        <p:blipFill>
          <a:blip r:embed="rId11"/>
          <a:stretch/>
        </p:blipFill>
        <p:spPr>
          <a:xfrm>
            <a:off x="6797520" y="3889440"/>
            <a:ext cx="420840" cy="420480"/>
          </a:xfrm>
          <a:prstGeom prst="rect">
            <a:avLst/>
          </a:prstGeom>
          <a:noFill/>
          <a:ln w="0">
            <a:noFill/>
          </a:ln>
        </p:spPr>
      </p:pic>
      <p:pic>
        <p:nvPicPr>
          <p:cNvPr id="322" name="Picture 44" descr="http://www.skillnets.com/skillnets/resources/images/WordIcon.jpg"/>
          <p:cNvPicPr/>
          <p:nvPr/>
        </p:nvPicPr>
        <p:blipFill>
          <a:blip r:embed="rId12"/>
          <a:stretch/>
        </p:blipFill>
        <p:spPr>
          <a:xfrm>
            <a:off x="6745320" y="2860560"/>
            <a:ext cx="473040" cy="47484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TextBox 180"/>
          <p:cNvSpPr/>
          <p:nvPr/>
        </p:nvSpPr>
        <p:spPr>
          <a:xfrm>
            <a:off x="276120" y="241200"/>
            <a:ext cx="8831520" cy="581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b0f0"/>
                </a:solidFill>
                <a:effectLst/>
                <a:uFillTx/>
                <a:latin typeface="Arial"/>
              </a:rPr>
              <a:t>Use of HHS EA Repository for IT Systems alignment with Records Schedule</a:t>
            </a: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b0f0"/>
                </a:solidFill>
                <a:effectLst/>
                <a:uFillTx/>
                <a:latin typeface="Arial"/>
              </a:rPr>
              <a:t>Short term solution </a:t>
            </a:r>
            <a:r>
              <a:rPr b="1" lang="en-US" sz="1400" strike="noStrike" u="none">
                <a:solidFill>
                  <a:srgbClr val="262673"/>
                </a:solidFill>
                <a:effectLst/>
                <a:uFillTx/>
                <a:latin typeface="Arial"/>
              </a:rPr>
              <a:t>– Map Information Systems to records schedule</a:t>
            </a:r>
            <a:endParaRPr b="0" lang="en-IN" sz="1400" strike="noStrike" u="none">
              <a:solidFill>
                <a:srgbClr val="000000"/>
              </a:solidFill>
              <a:effectLst/>
              <a:uFillTx/>
              <a:latin typeface="Arial"/>
            </a:endParaRPr>
          </a:p>
        </p:txBody>
      </p:sp>
      <p:grpSp>
        <p:nvGrpSpPr>
          <p:cNvPr id="324" name="Group 195"/>
          <p:cNvGrpSpPr/>
          <p:nvPr/>
        </p:nvGrpSpPr>
        <p:grpSpPr>
          <a:xfrm>
            <a:off x="2173320" y="1552680"/>
            <a:ext cx="3983040" cy="1143000"/>
            <a:chOff x="2173320" y="1552680"/>
            <a:chExt cx="3983040" cy="1143000"/>
          </a:xfrm>
        </p:grpSpPr>
        <p:sp>
          <p:nvSpPr>
            <p:cNvPr id="325" name="Rounded Rectangle 82"/>
            <p:cNvSpPr/>
            <p:nvPr/>
          </p:nvSpPr>
          <p:spPr>
            <a:xfrm>
              <a:off x="2173320" y="1552680"/>
              <a:ext cx="3983040" cy="114300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17375e"/>
                  </a:solidFill>
                  <a:effectLst/>
                  <a:uFillTx/>
                  <a:latin typeface="Calibri"/>
                </a:rPr>
                <a:t>Department RECORDS DISPOSITION SCHEDULES</a:t>
              </a:r>
              <a:endParaRPr b="0" lang="en-IN" sz="14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326" name="Rounded Rectangle 83"/>
            <p:cNvSpPr/>
            <p:nvPr/>
          </p:nvSpPr>
          <p:spPr>
            <a:xfrm>
              <a:off x="2241360" y="1933560"/>
              <a:ext cx="3841920" cy="685800"/>
            </a:xfrm>
            <a:prstGeom prst="roundRect">
              <a:avLst>
                <a:gd name="adj" fmla="val 9269"/>
              </a:avLst>
            </a:pr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Calibri"/>
                </a:rPr>
                <a:t>FUNCTION CATEGORIES</a:t>
              </a:r>
              <a:endParaRPr b="0" lang="en-IN" sz="1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27" name="Rounded Rectangle 84"/>
            <p:cNvSpPr/>
            <p:nvPr/>
          </p:nvSpPr>
          <p:spPr>
            <a:xfrm>
              <a:off x="2307960" y="2238480"/>
              <a:ext cx="679320" cy="304560"/>
            </a:xfrm>
            <a:prstGeom prst="roundRect">
              <a:avLst>
                <a:gd name="adj" fmla="val 9269"/>
              </a:avLst>
            </a:prstGeom>
            <a:gradFill rotWithShape="0">
              <a:gsLst>
                <a:gs pos="0">
                  <a:srgbClr val="9eeaff"/>
                </a:gs>
                <a:gs pos="100000">
                  <a:srgbClr val="e4f9ff"/>
                </a:gs>
              </a:gsLst>
              <a:lin ang="16200000"/>
            </a:gradFill>
            <a:ln w="936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Job Function</a:t>
              </a:r>
              <a:endParaRPr b="0" lang="en-IN" sz="900" strike="noStrike" u="none">
                <a:solidFill>
                  <a:srgbClr val="000000"/>
                </a:solidFill>
                <a:effectLst/>
                <a:uFillTx/>
                <a:latin typeface="Arial"/>
              </a:endParaRPr>
            </a:p>
          </p:txBody>
        </p:sp>
        <p:sp>
          <p:nvSpPr>
            <p:cNvPr id="328" name="Rounded Rectangle 85"/>
            <p:cNvSpPr/>
            <p:nvPr/>
          </p:nvSpPr>
          <p:spPr>
            <a:xfrm>
              <a:off x="3054240" y="2238480"/>
              <a:ext cx="677880" cy="304560"/>
            </a:xfrm>
            <a:prstGeom prst="roundRect">
              <a:avLst>
                <a:gd name="adj" fmla="val 9269"/>
              </a:avLst>
            </a:prstGeom>
            <a:gradFill rotWithShape="0">
              <a:gsLst>
                <a:gs pos="0">
                  <a:srgbClr val="9eeaff"/>
                </a:gs>
                <a:gs pos="100000">
                  <a:srgbClr val="e4f9ff"/>
                </a:gs>
              </a:gsLst>
              <a:lin ang="16200000"/>
            </a:gradFill>
            <a:ln w="936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Job Function</a:t>
              </a:r>
              <a:endParaRPr b="0" lang="en-IN" sz="900" strike="noStrike" u="none">
                <a:solidFill>
                  <a:srgbClr val="000000"/>
                </a:solidFill>
                <a:effectLst/>
                <a:uFillTx/>
                <a:latin typeface="Arial"/>
              </a:endParaRPr>
            </a:p>
          </p:txBody>
        </p:sp>
        <p:sp>
          <p:nvSpPr>
            <p:cNvPr id="329" name="Rounded Rectangle 86"/>
            <p:cNvSpPr/>
            <p:nvPr/>
          </p:nvSpPr>
          <p:spPr>
            <a:xfrm>
              <a:off x="3800520" y="2238480"/>
              <a:ext cx="677880" cy="304560"/>
            </a:xfrm>
            <a:prstGeom prst="roundRect">
              <a:avLst>
                <a:gd name="adj" fmla="val 9269"/>
              </a:avLst>
            </a:prstGeom>
            <a:gradFill rotWithShape="0">
              <a:gsLst>
                <a:gs pos="0">
                  <a:srgbClr val="9eeaff"/>
                </a:gs>
                <a:gs pos="100000">
                  <a:srgbClr val="e4f9ff"/>
                </a:gs>
              </a:gsLst>
              <a:lin ang="16200000"/>
            </a:gradFill>
            <a:ln w="936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Job Function</a:t>
              </a:r>
              <a:endParaRPr b="0" lang="en-IN" sz="900" strike="noStrike" u="none">
                <a:solidFill>
                  <a:srgbClr val="000000"/>
                </a:solidFill>
                <a:effectLst/>
                <a:uFillTx/>
                <a:latin typeface="Arial"/>
              </a:endParaRPr>
            </a:p>
          </p:txBody>
        </p:sp>
        <p:sp>
          <p:nvSpPr>
            <p:cNvPr id="330" name="Rounded Rectangle 87"/>
            <p:cNvSpPr/>
            <p:nvPr/>
          </p:nvSpPr>
          <p:spPr>
            <a:xfrm>
              <a:off x="4546800" y="2238480"/>
              <a:ext cx="677880" cy="304560"/>
            </a:xfrm>
            <a:prstGeom prst="roundRect">
              <a:avLst>
                <a:gd name="adj" fmla="val 9269"/>
              </a:avLst>
            </a:prstGeom>
            <a:gradFill rotWithShape="0">
              <a:gsLst>
                <a:gs pos="0">
                  <a:srgbClr val="9eeaff"/>
                </a:gs>
                <a:gs pos="100000">
                  <a:srgbClr val="e4f9ff"/>
                </a:gs>
              </a:gsLst>
              <a:lin ang="16200000"/>
            </a:gradFill>
            <a:ln w="936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Job Function</a:t>
              </a:r>
              <a:endParaRPr b="0" lang="en-IN" sz="900" strike="noStrike" u="none">
                <a:solidFill>
                  <a:srgbClr val="000000"/>
                </a:solidFill>
                <a:effectLst/>
                <a:uFillTx/>
                <a:latin typeface="Arial"/>
              </a:endParaRPr>
            </a:p>
          </p:txBody>
        </p:sp>
        <p:sp>
          <p:nvSpPr>
            <p:cNvPr id="331" name="Rounded Rectangle 88"/>
            <p:cNvSpPr/>
            <p:nvPr/>
          </p:nvSpPr>
          <p:spPr>
            <a:xfrm>
              <a:off x="5292720" y="2238480"/>
              <a:ext cx="677880" cy="304560"/>
            </a:xfrm>
            <a:prstGeom prst="roundRect">
              <a:avLst>
                <a:gd name="adj" fmla="val 9269"/>
              </a:avLst>
            </a:prstGeom>
            <a:gradFill rotWithShape="0">
              <a:gsLst>
                <a:gs pos="0">
                  <a:srgbClr val="9eeaff"/>
                </a:gs>
                <a:gs pos="100000">
                  <a:srgbClr val="e4f9ff"/>
                </a:gs>
              </a:gsLst>
              <a:lin ang="16200000"/>
            </a:gradFill>
            <a:ln w="936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a:t>
              </a:r>
              <a:endParaRPr b="0" lang="en-IN" sz="900" strike="noStrike" u="none">
                <a:solidFill>
                  <a:srgbClr val="000000"/>
                </a:solidFill>
                <a:effectLst/>
                <a:uFillTx/>
                <a:latin typeface="Arial"/>
              </a:endParaRPr>
            </a:p>
          </p:txBody>
        </p:sp>
      </p:grpSp>
      <p:sp>
        <p:nvSpPr>
          <p:cNvPr id="332" name="Rounded Rectangle 89"/>
          <p:cNvSpPr/>
          <p:nvPr/>
        </p:nvSpPr>
        <p:spPr>
          <a:xfrm>
            <a:off x="2198520" y="2879640"/>
            <a:ext cx="3957840" cy="1652760"/>
          </a:xfrm>
          <a:prstGeom prst="roundRect">
            <a:avLst>
              <a:gd name="adj" fmla="val 3921"/>
            </a:avLst>
          </a:prstGeom>
          <a:gradFill rotWithShape="0">
            <a:gsLst>
              <a:gs pos="0">
                <a:srgbClr val="dafda7"/>
              </a:gs>
              <a:gs pos="100000">
                <a:srgbClr val="f5ffe6"/>
              </a:gs>
            </a:gsLst>
            <a:lin ang="16200000"/>
          </a:gradFill>
          <a:ln w="9360">
            <a:solidFill>
              <a:srgbClr val="98b954"/>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4f6228"/>
                </a:solidFill>
                <a:effectLst/>
                <a:uFillTx/>
                <a:latin typeface="Calibri"/>
              </a:rPr>
              <a:t>OPDIV/STAFFDIV RECORDS DISPOSITION SCHEDULES</a:t>
            </a:r>
            <a:endParaRPr b="0" lang="en-IN" sz="1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4f6228"/>
                </a:solidFill>
                <a:effectLst/>
                <a:uFillTx/>
                <a:latin typeface="Calibri"/>
              </a:rPr>
              <a:t>(Unique schedules)</a:t>
            </a:r>
            <a:endParaRPr b="0" lang="en-IN" sz="1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333" name="Rounded Rectangle 108"/>
          <p:cNvSpPr/>
          <p:nvPr/>
        </p:nvSpPr>
        <p:spPr>
          <a:xfrm>
            <a:off x="2540160" y="3344760"/>
            <a:ext cx="838080" cy="2844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sp>
        <p:nvSpPr>
          <p:cNvPr id="334" name="Rounded Rectangle 111"/>
          <p:cNvSpPr/>
          <p:nvPr/>
        </p:nvSpPr>
        <p:spPr>
          <a:xfrm>
            <a:off x="3659040" y="3344760"/>
            <a:ext cx="838440" cy="2844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sp>
        <p:nvSpPr>
          <p:cNvPr id="335" name="Rounded Rectangle 114"/>
          <p:cNvSpPr/>
          <p:nvPr/>
        </p:nvSpPr>
        <p:spPr>
          <a:xfrm>
            <a:off x="4778280" y="3344760"/>
            <a:ext cx="838440" cy="2844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cxnSp>
        <p:nvCxnSpPr>
          <p:cNvPr id="336" name="Straight Arrow Connector 137"/>
          <p:cNvCxnSpPr>
            <a:stCxn id="333" idx="0"/>
          </p:cNvCxnSpPr>
          <p:nvPr/>
        </p:nvCxnSpPr>
        <p:spPr>
          <a:xfrm flipH="1" flipV="1">
            <a:off x="2647440" y="2542320"/>
            <a:ext cx="311760" cy="802440"/>
          </a:xfrm>
          <a:prstGeom prst="straightConnector1">
            <a:avLst/>
          </a:prstGeom>
          <a:ln w="9360">
            <a:solidFill>
              <a:srgbClr val="4f6228"/>
            </a:solidFill>
            <a:miter/>
            <a:tailEnd len="med" type="triangle" w="med"/>
          </a:ln>
        </p:spPr>
      </p:cxnSp>
      <p:cxnSp>
        <p:nvCxnSpPr>
          <p:cNvPr id="337" name="Straight Arrow Connector 138"/>
          <p:cNvCxnSpPr>
            <a:stCxn id="338" idx="0"/>
          </p:cNvCxnSpPr>
          <p:nvPr/>
        </p:nvCxnSpPr>
        <p:spPr>
          <a:xfrm flipV="1">
            <a:off x="2959200" y="2542320"/>
            <a:ext cx="434160" cy="1156680"/>
          </a:xfrm>
          <a:prstGeom prst="straightConnector1">
            <a:avLst/>
          </a:prstGeom>
          <a:ln w="9360">
            <a:solidFill>
              <a:srgbClr val="4f6228"/>
            </a:solidFill>
            <a:miter/>
            <a:tailEnd len="med" type="triangle" w="med"/>
          </a:ln>
        </p:spPr>
      </p:cxnSp>
      <p:cxnSp>
        <p:nvCxnSpPr>
          <p:cNvPr id="339" name="Straight Arrow Connector 139"/>
          <p:cNvCxnSpPr>
            <a:stCxn id="335" idx="0"/>
          </p:cNvCxnSpPr>
          <p:nvPr/>
        </p:nvCxnSpPr>
        <p:spPr>
          <a:xfrm flipV="1">
            <a:off x="5197320" y="2542320"/>
            <a:ext cx="434160" cy="802440"/>
          </a:xfrm>
          <a:prstGeom prst="straightConnector1">
            <a:avLst/>
          </a:prstGeom>
          <a:ln w="9360">
            <a:solidFill>
              <a:srgbClr val="4f6228"/>
            </a:solidFill>
            <a:miter/>
            <a:tailEnd len="med" type="triangle" w="med"/>
          </a:ln>
        </p:spPr>
      </p:cxnSp>
      <p:grpSp>
        <p:nvGrpSpPr>
          <p:cNvPr id="340" name="Down Arrow 145"/>
          <p:cNvGrpSpPr/>
          <p:nvPr/>
        </p:nvGrpSpPr>
        <p:grpSpPr>
          <a:xfrm>
            <a:off x="6907320" y="1444680"/>
            <a:ext cx="1218960" cy="4674960"/>
            <a:chOff x="6907320" y="1444680"/>
            <a:chExt cx="1218960" cy="4674960"/>
          </a:xfrm>
        </p:grpSpPr>
        <p:pic>
          <p:nvPicPr>
            <p:cNvPr id="341" name="Down Arrow 145" descr=""/>
            <p:cNvPicPr/>
            <p:nvPr/>
          </p:nvPicPr>
          <p:blipFill>
            <a:blip r:embed="rId1"/>
            <a:stretch/>
          </p:blipFill>
          <p:spPr>
            <a:xfrm>
              <a:off x="6907320" y="1444680"/>
              <a:ext cx="1218960" cy="4674960"/>
            </a:xfrm>
            <a:prstGeom prst="rect">
              <a:avLst/>
            </a:prstGeom>
            <a:noFill/>
            <a:ln w="0">
              <a:noFill/>
            </a:ln>
          </p:spPr>
        </p:pic>
        <p:sp>
          <p:nvSpPr>
            <p:cNvPr id="342" name=""/>
            <p:cNvSpPr/>
            <p:nvPr/>
          </p:nvSpPr>
          <p:spPr>
            <a:xfrm>
              <a:off x="6915240" y="1447920"/>
              <a:ext cx="1203120" cy="37004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
        <p:nvSpPr>
          <p:cNvPr id="343" name="TextBox 343"/>
          <p:cNvSpPr/>
          <p:nvPr/>
        </p:nvSpPr>
        <p:spPr>
          <a:xfrm>
            <a:off x="7251120" y="2114640"/>
            <a:ext cx="53244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7030a0"/>
                </a:solidFill>
                <a:effectLst/>
                <a:uFillTx/>
                <a:latin typeface="Calibri"/>
              </a:rPr>
              <a:t>HHS</a:t>
            </a:r>
            <a:endParaRPr b="0" lang="en-IN" sz="1600" strike="noStrike" u="none">
              <a:solidFill>
                <a:srgbClr val="000000"/>
              </a:solidFill>
              <a:effectLst/>
              <a:uFillTx/>
              <a:latin typeface="Arial"/>
            </a:endParaRPr>
          </a:p>
        </p:txBody>
      </p:sp>
      <p:sp>
        <p:nvSpPr>
          <p:cNvPr id="344" name="TextBox 344"/>
          <p:cNvSpPr/>
          <p:nvPr/>
        </p:nvSpPr>
        <p:spPr>
          <a:xfrm>
            <a:off x="7090560" y="3502080"/>
            <a:ext cx="85392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7030a0"/>
                </a:solidFill>
                <a:effectLst/>
                <a:uFillTx/>
                <a:latin typeface="Calibri"/>
              </a:rPr>
              <a:t>OPDIVs </a:t>
            </a:r>
            <a:endParaRPr b="0" lang="en-IN" sz="1600" strike="noStrike" u="none">
              <a:solidFill>
                <a:srgbClr val="000000"/>
              </a:solidFill>
              <a:effectLst/>
              <a:uFillTx/>
              <a:latin typeface="Arial"/>
            </a:endParaRPr>
          </a:p>
        </p:txBody>
      </p:sp>
      <p:sp>
        <p:nvSpPr>
          <p:cNvPr id="345" name="TextBox 108"/>
          <p:cNvSpPr/>
          <p:nvPr/>
        </p:nvSpPr>
        <p:spPr>
          <a:xfrm>
            <a:off x="6869160" y="1276200"/>
            <a:ext cx="1295280" cy="551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trike="noStrike" u="none">
                <a:solidFill>
                  <a:srgbClr val="b3a2c7"/>
                </a:solidFill>
                <a:effectLst/>
                <a:uFillTx/>
                <a:latin typeface="Calibri"/>
              </a:rPr>
              <a:t>Federated Information ownership</a:t>
            </a:r>
            <a:endParaRPr b="0" lang="en-IN" sz="1000" strike="noStrike" u="none">
              <a:solidFill>
                <a:srgbClr val="000000"/>
              </a:solidFill>
              <a:effectLst/>
              <a:uFillTx/>
              <a:latin typeface="Arial"/>
            </a:endParaRPr>
          </a:p>
        </p:txBody>
      </p:sp>
      <p:sp>
        <p:nvSpPr>
          <p:cNvPr id="346" name="Slide Number Placeholder 4"/>
          <p:cNvSpPr/>
          <p:nvPr/>
        </p:nvSpPr>
        <p:spPr>
          <a:xfrm>
            <a:off x="3470400" y="63118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52ABB5-F71D-449F-AD06-B3AE760D8080}"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
        <p:nvSpPr>
          <p:cNvPr id="347" name="TextBox 344"/>
          <p:cNvSpPr/>
          <p:nvPr/>
        </p:nvSpPr>
        <p:spPr>
          <a:xfrm>
            <a:off x="7007400" y="5022720"/>
            <a:ext cx="10191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7030a0"/>
                </a:solidFill>
                <a:effectLst/>
                <a:uFillTx/>
                <a:latin typeface="Calibri"/>
              </a:rPr>
              <a:t>IT Systems Owner*</a:t>
            </a:r>
            <a:endParaRPr b="0" lang="en-IN" sz="1400" strike="noStrike" u="none">
              <a:solidFill>
                <a:srgbClr val="000000"/>
              </a:solidFill>
              <a:effectLst/>
              <a:uFillTx/>
              <a:latin typeface="Arial"/>
            </a:endParaRPr>
          </a:p>
        </p:txBody>
      </p:sp>
      <p:sp>
        <p:nvSpPr>
          <p:cNvPr id="348" name="Rounded Rectangle 92"/>
          <p:cNvSpPr/>
          <p:nvPr/>
        </p:nvSpPr>
        <p:spPr>
          <a:xfrm>
            <a:off x="152712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49" name="Rounded Rectangle 93"/>
          <p:cNvSpPr/>
          <p:nvPr/>
        </p:nvSpPr>
        <p:spPr>
          <a:xfrm>
            <a:off x="228924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0" name="Rounded Rectangle 94"/>
          <p:cNvSpPr/>
          <p:nvPr/>
        </p:nvSpPr>
        <p:spPr>
          <a:xfrm>
            <a:off x="305100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1" name="Rounded Rectangle 95"/>
          <p:cNvSpPr/>
          <p:nvPr/>
        </p:nvSpPr>
        <p:spPr>
          <a:xfrm>
            <a:off x="381312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2" name="Rounded Rectangle 96"/>
          <p:cNvSpPr/>
          <p:nvPr/>
        </p:nvSpPr>
        <p:spPr>
          <a:xfrm>
            <a:off x="457524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3" name="Rounded Rectangle 97"/>
          <p:cNvSpPr/>
          <p:nvPr/>
        </p:nvSpPr>
        <p:spPr>
          <a:xfrm>
            <a:off x="533700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4" name="Rounded Rectangle 98"/>
          <p:cNvSpPr/>
          <p:nvPr/>
        </p:nvSpPr>
        <p:spPr>
          <a:xfrm>
            <a:off x="6099120" y="497844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5" name="Rounded Rectangle 101"/>
          <p:cNvSpPr/>
          <p:nvPr/>
        </p:nvSpPr>
        <p:spPr>
          <a:xfrm>
            <a:off x="152712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6" name="Rounded Rectangle 102"/>
          <p:cNvSpPr/>
          <p:nvPr/>
        </p:nvSpPr>
        <p:spPr>
          <a:xfrm>
            <a:off x="228924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7" name="Rounded Rectangle 103"/>
          <p:cNvSpPr/>
          <p:nvPr/>
        </p:nvSpPr>
        <p:spPr>
          <a:xfrm>
            <a:off x="305100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8" name="Rounded Rectangle 104"/>
          <p:cNvSpPr/>
          <p:nvPr/>
        </p:nvSpPr>
        <p:spPr>
          <a:xfrm>
            <a:off x="381312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59" name="Rounded Rectangle 105"/>
          <p:cNvSpPr/>
          <p:nvPr/>
        </p:nvSpPr>
        <p:spPr>
          <a:xfrm>
            <a:off x="457524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60" name="Rounded Rectangle 106"/>
          <p:cNvSpPr/>
          <p:nvPr/>
        </p:nvSpPr>
        <p:spPr>
          <a:xfrm>
            <a:off x="533700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61" name="Rounded Rectangle 107"/>
          <p:cNvSpPr/>
          <p:nvPr/>
        </p:nvSpPr>
        <p:spPr>
          <a:xfrm>
            <a:off x="6099120" y="5359320"/>
            <a:ext cx="677880" cy="304920"/>
          </a:xfrm>
          <a:prstGeom prst="roundRect">
            <a:avLst>
              <a:gd name="adj" fmla="val 9269"/>
            </a:avLst>
          </a:prstGeom>
          <a:gradFill rotWithShape="0">
            <a:gsLst>
              <a:gs pos="0">
                <a:srgbClr val="9eeaff"/>
              </a:gs>
              <a:gs pos="100000">
                <a:srgbClr val="e4f9ff"/>
              </a:gs>
            </a:gsLst>
            <a:lin ang="16200000"/>
          </a:gradFill>
          <a:ln w="9360">
            <a:solidFill>
              <a:srgbClr val="46aac5"/>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17375e"/>
                </a:solidFill>
                <a:effectLst/>
                <a:uFillTx/>
                <a:latin typeface="Calibri"/>
              </a:rPr>
              <a:t>System</a:t>
            </a:r>
            <a:endParaRPr b="0" lang="en-IN" sz="1000" strike="noStrike" u="none">
              <a:solidFill>
                <a:srgbClr val="000000"/>
              </a:solidFill>
              <a:effectLst/>
              <a:uFillTx/>
              <a:latin typeface="Arial"/>
            </a:endParaRPr>
          </a:p>
        </p:txBody>
      </p:sp>
      <p:sp>
        <p:nvSpPr>
          <p:cNvPr id="338" name="Rounded Rectangle 109"/>
          <p:cNvSpPr/>
          <p:nvPr/>
        </p:nvSpPr>
        <p:spPr>
          <a:xfrm>
            <a:off x="2540160" y="3699000"/>
            <a:ext cx="83808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p:txBody>
      </p:sp>
      <p:sp>
        <p:nvSpPr>
          <p:cNvPr id="362" name="Rounded Rectangle 110"/>
          <p:cNvSpPr/>
          <p:nvPr/>
        </p:nvSpPr>
        <p:spPr>
          <a:xfrm>
            <a:off x="2540160" y="4052880"/>
            <a:ext cx="83808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p:txBody>
      </p:sp>
      <p:sp>
        <p:nvSpPr>
          <p:cNvPr id="363" name="Rounded Rectangle 112"/>
          <p:cNvSpPr/>
          <p:nvPr/>
        </p:nvSpPr>
        <p:spPr>
          <a:xfrm>
            <a:off x="3659040" y="3699000"/>
            <a:ext cx="83844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sp>
        <p:nvSpPr>
          <p:cNvPr id="364" name="Rounded Rectangle 113"/>
          <p:cNvSpPr/>
          <p:nvPr/>
        </p:nvSpPr>
        <p:spPr>
          <a:xfrm>
            <a:off x="3659040" y="4052880"/>
            <a:ext cx="83844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p:txBody>
      </p:sp>
      <p:sp>
        <p:nvSpPr>
          <p:cNvPr id="365" name="Rounded Rectangle 115"/>
          <p:cNvSpPr/>
          <p:nvPr/>
        </p:nvSpPr>
        <p:spPr>
          <a:xfrm>
            <a:off x="4778280" y="3699000"/>
            <a:ext cx="83844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sp>
        <p:nvSpPr>
          <p:cNvPr id="366" name="Rounded Rectangle 116"/>
          <p:cNvSpPr/>
          <p:nvPr/>
        </p:nvSpPr>
        <p:spPr>
          <a:xfrm>
            <a:off x="4778280" y="4052880"/>
            <a:ext cx="838440" cy="282600"/>
          </a:xfrm>
          <a:prstGeom prst="roundRect">
            <a:avLst>
              <a:gd name="adj" fmla="val 9269"/>
            </a:avLst>
          </a:prstGeom>
          <a:gradFill rotWithShape="0">
            <a:gsLst>
              <a:gs pos="0">
                <a:srgbClr val="769535"/>
              </a:gs>
              <a:gs pos="100000">
                <a:srgbClr val="9cc746"/>
              </a:gs>
            </a:gsLst>
            <a:lin ang="16200000"/>
          </a:gradFill>
          <a:ln w="9360">
            <a:solidFill>
              <a:srgbClr val="98b954"/>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ffff"/>
                </a:solidFill>
                <a:effectLst/>
                <a:uFillTx/>
                <a:latin typeface="Calibri"/>
              </a:rPr>
              <a:t>Job Function</a:t>
            </a:r>
            <a:endParaRPr b="0" lang="en-IN" sz="900" strike="noStrike" u="none">
              <a:solidFill>
                <a:srgbClr val="000000"/>
              </a:solidFill>
              <a:effectLst/>
              <a:uFillTx/>
              <a:latin typeface="Arial"/>
            </a:endParaRPr>
          </a:p>
        </p:txBody>
      </p:sp>
      <p:sp>
        <p:nvSpPr>
          <p:cNvPr id="367" name="Straight Connector 76"/>
          <p:cNvSpPr/>
          <p:nvPr/>
        </p:nvSpPr>
        <p:spPr>
          <a:xfrm>
            <a:off x="1971720" y="2781360"/>
            <a:ext cx="6334200" cy="1440"/>
          </a:xfrm>
          <a:prstGeom prst="line">
            <a:avLst/>
          </a:prstGeom>
          <a:ln w="9360">
            <a:solidFill>
              <a:srgbClr val="7030a0"/>
            </a:solidFill>
            <a:prstDash val="sysDash"/>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68" name="Straight Connector 77"/>
          <p:cNvSpPr/>
          <p:nvPr/>
        </p:nvSpPr>
        <p:spPr>
          <a:xfrm>
            <a:off x="1971720" y="4734000"/>
            <a:ext cx="6334200" cy="1440"/>
          </a:xfrm>
          <a:prstGeom prst="line">
            <a:avLst/>
          </a:prstGeom>
          <a:ln w="9360">
            <a:solidFill>
              <a:srgbClr val="7030a0"/>
            </a:solidFill>
            <a:prstDash val="sysDash"/>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cxnSp>
        <p:nvCxnSpPr>
          <p:cNvPr id="369" name="Straight Arrow Connector 126"/>
          <p:cNvCxnSpPr>
            <a:stCxn id="356" idx="0"/>
            <a:endCxn id="334" idx="2"/>
          </p:cNvCxnSpPr>
          <p:nvPr/>
        </p:nvCxnSpPr>
        <p:spPr>
          <a:xfrm flipV="1">
            <a:off x="2626200" y="3628800"/>
            <a:ext cx="1451880" cy="1730880"/>
          </a:xfrm>
          <a:prstGeom prst="straightConnector1">
            <a:avLst/>
          </a:prstGeom>
          <a:ln w="9360">
            <a:solidFill>
              <a:srgbClr val="17375e"/>
            </a:solidFill>
            <a:miter/>
            <a:tailEnd len="med" type="triangle" w="med"/>
          </a:ln>
        </p:spPr>
      </p:cxnSp>
      <p:cxnSp>
        <p:nvCxnSpPr>
          <p:cNvPr id="370" name="Straight Arrow Connector 127"/>
          <p:cNvCxnSpPr>
            <a:stCxn id="350" idx="0"/>
            <a:endCxn id="338" idx="2"/>
          </p:cNvCxnSpPr>
          <p:nvPr/>
        </p:nvCxnSpPr>
        <p:spPr>
          <a:xfrm flipH="1" flipV="1">
            <a:off x="2958480" y="3980880"/>
            <a:ext cx="432360" cy="997560"/>
          </a:xfrm>
          <a:prstGeom prst="straightConnector1">
            <a:avLst/>
          </a:prstGeom>
          <a:ln w="9360">
            <a:solidFill>
              <a:srgbClr val="17375e"/>
            </a:solidFill>
            <a:miter/>
            <a:tailEnd len="med" type="triangle" w="med"/>
          </a:ln>
        </p:spPr>
      </p:cxnSp>
      <p:cxnSp>
        <p:nvCxnSpPr>
          <p:cNvPr id="371" name="Straight Arrow Connector 128"/>
          <p:cNvCxnSpPr>
            <a:stCxn id="357" idx="0"/>
            <a:endCxn id="364" idx="2"/>
          </p:cNvCxnSpPr>
          <p:nvPr/>
        </p:nvCxnSpPr>
        <p:spPr>
          <a:xfrm flipV="1">
            <a:off x="3389400" y="4335120"/>
            <a:ext cx="689760" cy="1024560"/>
          </a:xfrm>
          <a:prstGeom prst="straightConnector1">
            <a:avLst/>
          </a:prstGeom>
          <a:ln w="9360">
            <a:solidFill>
              <a:srgbClr val="17375e"/>
            </a:solidFill>
            <a:miter/>
            <a:tailEnd len="med" type="triangle" w="med"/>
          </a:ln>
        </p:spPr>
      </p:cxnSp>
      <p:cxnSp>
        <p:nvCxnSpPr>
          <p:cNvPr id="372" name="Straight Arrow Connector 129"/>
          <p:cNvCxnSpPr>
            <a:stCxn id="358" idx="0"/>
            <a:endCxn id="363" idx="2"/>
          </p:cNvCxnSpPr>
          <p:nvPr/>
        </p:nvCxnSpPr>
        <p:spPr>
          <a:xfrm flipH="1" flipV="1">
            <a:off x="4077720" y="3980880"/>
            <a:ext cx="75240" cy="1378440"/>
          </a:xfrm>
          <a:prstGeom prst="straightConnector1">
            <a:avLst/>
          </a:prstGeom>
          <a:ln w="9360">
            <a:solidFill>
              <a:srgbClr val="17375e"/>
            </a:solidFill>
            <a:miter/>
            <a:tailEnd len="med" type="triangle" w="med"/>
          </a:ln>
        </p:spPr>
      </p:cxnSp>
      <p:cxnSp>
        <p:nvCxnSpPr>
          <p:cNvPr id="373" name="Straight Arrow Connector 130"/>
          <p:cNvCxnSpPr>
            <a:stCxn id="359" idx="0"/>
            <a:endCxn id="366" idx="2"/>
          </p:cNvCxnSpPr>
          <p:nvPr/>
        </p:nvCxnSpPr>
        <p:spPr>
          <a:xfrm flipV="1">
            <a:off x="4915080" y="4335120"/>
            <a:ext cx="282960" cy="1024560"/>
          </a:xfrm>
          <a:prstGeom prst="straightConnector1">
            <a:avLst/>
          </a:prstGeom>
          <a:ln w="9360">
            <a:solidFill>
              <a:srgbClr val="17375e"/>
            </a:solidFill>
            <a:miter/>
            <a:tailEnd len="med" type="triangle" w="med"/>
          </a:ln>
        </p:spPr>
      </p:cxnSp>
      <p:cxnSp>
        <p:nvCxnSpPr>
          <p:cNvPr id="374" name="Straight Arrow Connector 131"/>
          <p:cNvCxnSpPr>
            <a:stCxn id="360" idx="0"/>
            <a:endCxn id="365" idx="2"/>
          </p:cNvCxnSpPr>
          <p:nvPr/>
        </p:nvCxnSpPr>
        <p:spPr>
          <a:xfrm flipH="1" flipV="1">
            <a:off x="5196960" y="3980880"/>
            <a:ext cx="480240" cy="1378440"/>
          </a:xfrm>
          <a:prstGeom prst="straightConnector1">
            <a:avLst/>
          </a:prstGeom>
          <a:ln w="9360">
            <a:solidFill>
              <a:srgbClr val="17375e"/>
            </a:solidFill>
            <a:miter/>
            <a:tailEnd len="med" type="triangle" w="med"/>
          </a:ln>
        </p:spPr>
      </p:cxnSp>
      <p:cxnSp>
        <p:nvCxnSpPr>
          <p:cNvPr id="375" name="Straight Arrow Connector 132"/>
          <p:cNvCxnSpPr>
            <a:stCxn id="354" idx="0"/>
            <a:endCxn id="335" idx="2"/>
          </p:cNvCxnSpPr>
          <p:nvPr/>
        </p:nvCxnSpPr>
        <p:spPr>
          <a:xfrm flipH="1" flipV="1">
            <a:off x="5196960" y="3628800"/>
            <a:ext cx="1242000" cy="1350000"/>
          </a:xfrm>
          <a:prstGeom prst="straightConnector1">
            <a:avLst/>
          </a:prstGeom>
          <a:ln w="9360">
            <a:solidFill>
              <a:srgbClr val="17375e"/>
            </a:solidFill>
            <a:miter/>
            <a:tailEnd len="med" type="triangle" w="med"/>
          </a:ln>
        </p:spPr>
      </p:cxnSp>
      <p:cxnSp>
        <p:nvCxnSpPr>
          <p:cNvPr id="376" name="Straight Arrow Connector 125"/>
          <p:cNvCxnSpPr>
            <a:stCxn id="355" idx="0"/>
            <a:endCxn id="362" idx="2"/>
          </p:cNvCxnSpPr>
          <p:nvPr/>
        </p:nvCxnSpPr>
        <p:spPr>
          <a:xfrm flipV="1">
            <a:off x="1864080" y="4335120"/>
            <a:ext cx="1094760" cy="1024560"/>
          </a:xfrm>
          <a:prstGeom prst="straightConnector1">
            <a:avLst/>
          </a:prstGeom>
          <a:ln w="9360">
            <a:solidFill>
              <a:srgbClr val="17375e"/>
            </a:solidFill>
            <a:miter/>
            <a:tailEnd len="med" type="triangle" w="med"/>
          </a:ln>
        </p:spPr>
      </p:cxnSp>
      <p:grpSp>
        <p:nvGrpSpPr>
          <p:cNvPr id="377" name="Group 91"/>
          <p:cNvGrpSpPr/>
          <p:nvPr/>
        </p:nvGrpSpPr>
        <p:grpSpPr>
          <a:xfrm>
            <a:off x="290520" y="2001960"/>
            <a:ext cx="2682360" cy="838080"/>
            <a:chOff x="290520" y="2001960"/>
            <a:chExt cx="2682360" cy="838080"/>
          </a:xfrm>
        </p:grpSpPr>
        <p:sp>
          <p:nvSpPr>
            <p:cNvPr id="378" name="Freeform 90"/>
            <p:cNvSpPr/>
            <p:nvPr/>
          </p:nvSpPr>
          <p:spPr>
            <a:xfrm>
              <a:off x="1414440" y="2001960"/>
              <a:ext cx="1046160" cy="838080"/>
            </a:xfrm>
            <a:custGeom>
              <a:avLst/>
              <a:gdLst>
                <a:gd name="textAreaLeft" fmla="*/ 0 w 1046160"/>
                <a:gd name="textAreaRight" fmla="*/ 1046520 w 1046160"/>
                <a:gd name="textAreaTop" fmla="*/ 0 h 838080"/>
                <a:gd name="textAreaBottom" fmla="*/ 838440 h 838080"/>
                <a:gd name="GluePoint1X" fmla="*/ 4761 w 1047020"/>
                <a:gd name="GluePoint1Y" fmla="*/ 838200 h 838200"/>
                <a:gd name="GluePoint2X" fmla="*/ 4761 w 1047020"/>
                <a:gd name="GluePoint2Y" fmla="*/ 816769 h 838200"/>
                <a:gd name="GluePoint3X" fmla="*/ 0 w 1047020"/>
                <a:gd name="GluePoint3Y" fmla="*/ 0 h 838200"/>
                <a:gd name="GluePoint4X" fmla="*/ 728459 w 1047020"/>
                <a:gd name="GluePoint4Y" fmla="*/ 114300 h 838200"/>
                <a:gd name="GluePoint5X" fmla="*/ 854630 w 1047020"/>
                <a:gd name="GluePoint5Y" fmla="*/ 133350 h 838200"/>
                <a:gd name="GluePoint6X" fmla="*/ 859391 w 1047020"/>
                <a:gd name="GluePoint6Y" fmla="*/ 666750 h 838200"/>
                <a:gd name="GluePoint7X" fmla="*/ 4761 w 1047020"/>
                <a:gd name="GluePoint7Y" fmla="*/ 838200 h 838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47020" h="838200">
                  <a:moveTo>
                    <a:pt x="4762" y="838200"/>
                  </a:moveTo>
                  <a:lnTo>
                    <a:pt x="4762" y="816769"/>
                  </a:lnTo>
                  <a:cubicBezTo>
                    <a:pt x="3175" y="544513"/>
                    <a:pt x="1587" y="272256"/>
                    <a:pt x="0" y="0"/>
                  </a:cubicBezTo>
                  <a:lnTo>
                    <a:pt x="728662" y="114300"/>
                  </a:lnTo>
                  <a:lnTo>
                    <a:pt x="854868" y="133350"/>
                  </a:lnTo>
                  <a:cubicBezTo>
                    <a:pt x="869241" y="669924"/>
                    <a:pt x="1047020" y="666750"/>
                    <a:pt x="859631" y="666750"/>
                  </a:cubicBezTo>
                  <a:lnTo>
                    <a:pt x="4762" y="838200"/>
                  </a:lnTo>
                  <a:close/>
                </a:path>
              </a:pathLst>
            </a:custGeom>
            <a:gradFill rotWithShape="0">
              <a:gsLst>
                <a:gs pos="0">
                  <a:srgbClr val="ffffff"/>
                </a:gs>
                <a:gs pos="100000">
                  <a:srgbClr val="003b50">
                    <a:alpha val="0"/>
                  </a:srgbClr>
                </a:gs>
              </a:gsLst>
              <a:lin ang="10800000"/>
            </a:grad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79" name="Rounded Rectangle 58"/>
            <p:cNvSpPr/>
            <p:nvPr/>
          </p:nvSpPr>
          <p:spPr>
            <a:xfrm>
              <a:off x="290520" y="2011320"/>
              <a:ext cx="1204920" cy="822240"/>
            </a:xfrm>
            <a:prstGeom prst="roundRect">
              <a:avLst>
                <a:gd name="adj" fmla="val 9269"/>
              </a:avLst>
            </a:prstGeom>
            <a:gradFill rotWithShape="0">
              <a:gsLst>
                <a:gs pos="0">
                  <a:srgbClr val="9eeaff"/>
                </a:gs>
                <a:gs pos="100000">
                  <a:srgbClr val="e4f9ff"/>
                </a:gs>
              </a:gsLst>
              <a:lin ang="16200000"/>
            </a:gradFill>
            <a:ln w="19080">
              <a:solidFill>
                <a:srgbClr val="003b5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17375e"/>
                  </a:solidFill>
                  <a:effectLst/>
                  <a:uFillTx/>
                  <a:latin typeface="Calibri"/>
                </a:rPr>
                <a:t>Job Function</a:t>
              </a:r>
              <a:endParaRPr b="0" lang="en-IN" sz="11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Description of duty: </a:t>
              </a:r>
              <a:endParaRPr b="0" lang="en-IN" sz="9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17375e"/>
                  </a:solidFill>
                  <a:effectLst/>
                  <a:uFillTx/>
                  <a:latin typeface="Calibri"/>
                </a:rPr>
                <a:t>Disposition: </a:t>
              </a:r>
              <a:endParaRPr b="0" lang="en-IN" sz="900" strike="noStrike" u="none">
                <a:solidFill>
                  <a:srgbClr val="000000"/>
                </a:solidFill>
                <a:effectLst/>
                <a:uFillTx/>
                <a:latin typeface="Arial"/>
              </a:endParaRPr>
            </a:p>
          </p:txBody>
        </p:sp>
        <p:sp>
          <p:nvSpPr>
            <p:cNvPr id="380" name="Straight Connector 68"/>
            <p:cNvSpPr/>
            <p:nvPr/>
          </p:nvSpPr>
          <p:spPr>
            <a:xfrm flipH="1" flipV="1">
              <a:off x="1431360" y="2012760"/>
              <a:ext cx="1531800" cy="225360"/>
            </a:xfrm>
            <a:prstGeom prst="line">
              <a:avLst/>
            </a:prstGeom>
            <a:ln w="12600">
              <a:solidFill>
                <a:srgbClr val="003b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1" name="Straight Connector 69"/>
            <p:cNvSpPr/>
            <p:nvPr/>
          </p:nvSpPr>
          <p:spPr>
            <a:xfrm flipH="1">
              <a:off x="1433160" y="2536920"/>
              <a:ext cx="1539720" cy="293760"/>
            </a:xfrm>
            <a:prstGeom prst="line">
              <a:avLst/>
            </a:prstGeom>
            <a:ln w="12600">
              <a:solidFill>
                <a:srgbClr val="003b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3" presetSubtype="10">
                                  <p:stCondLst>
                                    <p:cond delay="0"/>
                                  </p:stCondLst>
                                  <p:childTnLst>
                                    <p:set>
                                      <p:cBhvr>
                                        <p:cTn id="6" dur="1" fill="hold">
                                          <p:stCondLst>
                                            <p:cond delay="0"/>
                                          </p:stCondLst>
                                        </p:cTn>
                                        <p:tgtEl>
                                          <p:spTgt spid="324"/>
                                        </p:tgtEl>
                                        <p:attrNameLst>
                                          <p:attrName>style.visibility</p:attrName>
                                        </p:attrNameLst>
                                      </p:cBhvr>
                                      <p:to>
                                        <p:strVal val="visible"/>
                                      </p:to>
                                    </p:set>
                                    <p:animEffect filter="blinds(horizontal)" transition="in">
                                      <p:cBhvr additive="repl">
                                        <p:cTn id="7"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457200" y="101520"/>
            <a:ext cx="8229600" cy="9144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262673"/>
                </a:solidFill>
                <a:effectLst/>
                <a:uFillTx/>
                <a:latin typeface="Century Gothic"/>
              </a:rPr>
              <a:t>Timeline for the coming months</a:t>
            </a:r>
            <a:endParaRPr b="1" lang="en-IN" sz="3200" strike="noStrike" u="none">
              <a:solidFill>
                <a:srgbClr val="262673"/>
              </a:solidFill>
              <a:effectLst/>
              <a:uFillTx/>
              <a:latin typeface="Century Gothic"/>
            </a:endParaRPr>
          </a:p>
        </p:txBody>
      </p:sp>
      <p:grpSp>
        <p:nvGrpSpPr>
          <p:cNvPr id="383" name="Group 124"/>
          <p:cNvGrpSpPr/>
          <p:nvPr/>
        </p:nvGrpSpPr>
        <p:grpSpPr>
          <a:xfrm>
            <a:off x="1433520" y="1279440"/>
            <a:ext cx="6137280" cy="4891320"/>
            <a:chOff x="1433520" y="1279440"/>
            <a:chExt cx="6137280" cy="4891320"/>
          </a:xfrm>
        </p:grpSpPr>
        <p:sp>
          <p:nvSpPr>
            <p:cNvPr id="384" name="Straight Connector 125"/>
            <p:cNvSpPr/>
            <p:nvPr/>
          </p:nvSpPr>
          <p:spPr>
            <a:xfrm flipH="1">
              <a:off x="1433520" y="128196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5" name="Straight Connector 126"/>
            <p:cNvSpPr/>
            <p:nvPr/>
          </p:nvSpPr>
          <p:spPr>
            <a:xfrm flipH="1">
              <a:off x="4154040" y="128196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6" name="Straight Connector 127"/>
            <p:cNvSpPr/>
            <p:nvPr/>
          </p:nvSpPr>
          <p:spPr>
            <a:xfrm flipH="1">
              <a:off x="6882120" y="128196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7" name="Straight Connector 126"/>
            <p:cNvSpPr/>
            <p:nvPr/>
          </p:nvSpPr>
          <p:spPr>
            <a:xfrm flipH="1">
              <a:off x="4841280" y="128772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8" name="Straight Connector 126"/>
            <p:cNvSpPr/>
            <p:nvPr/>
          </p:nvSpPr>
          <p:spPr>
            <a:xfrm flipH="1">
              <a:off x="5519880" y="129348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9" name="Straight Connector 127"/>
            <p:cNvSpPr/>
            <p:nvPr/>
          </p:nvSpPr>
          <p:spPr>
            <a:xfrm flipH="1">
              <a:off x="7569360" y="127944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90" name="Straight Connector 125"/>
            <p:cNvSpPr/>
            <p:nvPr/>
          </p:nvSpPr>
          <p:spPr>
            <a:xfrm flipH="1">
              <a:off x="2793960" y="1293480"/>
              <a:ext cx="1440" cy="4877280"/>
            </a:xfrm>
            <a:prstGeom prst="line">
              <a:avLst/>
            </a:prstGeom>
            <a:ln w="9360">
              <a:solidFill>
                <a:srgbClr val="31859c">
                  <a:alpha val="55000"/>
                </a:srgbClr>
              </a:solidFill>
              <a:prstDash val="dash"/>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391" name="TextBox 67"/>
          <p:cNvSpPr/>
          <p:nvPr/>
        </p:nvSpPr>
        <p:spPr>
          <a:xfrm>
            <a:off x="3641760" y="4446720"/>
            <a:ext cx="1039680" cy="369000"/>
          </a:xfrm>
          <a:prstGeom prst="rect">
            <a:avLst/>
          </a:prstGeom>
          <a:solidFill>
            <a:srgbClr val="ffffff">
              <a:alpha val="75000"/>
            </a:srgbClr>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6600"/>
                </a:solidFill>
                <a:effectLst/>
                <a:uFillTx/>
                <a:latin typeface="Calibri"/>
              </a:rPr>
              <a:t>RM Interim Transition Plan</a:t>
            </a:r>
            <a:endParaRPr b="0" lang="en-IN" sz="900" strike="noStrike" u="none">
              <a:solidFill>
                <a:srgbClr val="000000"/>
              </a:solidFill>
              <a:effectLst/>
              <a:uFillTx/>
              <a:latin typeface="Arial"/>
            </a:endParaRPr>
          </a:p>
        </p:txBody>
      </p:sp>
      <p:sp>
        <p:nvSpPr>
          <p:cNvPr id="392" name="TextBox 68"/>
          <p:cNvSpPr/>
          <p:nvPr/>
        </p:nvSpPr>
        <p:spPr>
          <a:xfrm>
            <a:off x="6362640" y="4483080"/>
            <a:ext cx="1023840" cy="369000"/>
          </a:xfrm>
          <a:prstGeom prst="rect">
            <a:avLst/>
          </a:prstGeom>
          <a:solidFill>
            <a:srgbClr val="ffffff">
              <a:alpha val="75000"/>
            </a:srgbClr>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6600"/>
                </a:solidFill>
                <a:effectLst/>
                <a:uFillTx/>
                <a:latin typeface="Calibri"/>
              </a:rPr>
              <a:t>RM Transition Plan</a:t>
            </a:r>
            <a:endParaRPr b="0" lang="en-IN" sz="900" strike="noStrike" u="none">
              <a:solidFill>
                <a:srgbClr val="000000"/>
              </a:solidFill>
              <a:effectLst/>
              <a:uFillTx/>
              <a:latin typeface="Arial"/>
            </a:endParaRPr>
          </a:p>
        </p:txBody>
      </p:sp>
      <p:sp>
        <p:nvSpPr>
          <p:cNvPr id="393" name="Chevron 130"/>
          <p:cNvSpPr/>
          <p:nvPr/>
        </p:nvSpPr>
        <p:spPr>
          <a:xfrm>
            <a:off x="160200" y="3827520"/>
            <a:ext cx="8915400" cy="372960"/>
          </a:xfrm>
          <a:custGeom>
            <a:avLst/>
            <a:gdLst>
              <a:gd name="textAreaLeft" fmla="*/ 0 w 8915400"/>
              <a:gd name="textAreaRight" fmla="*/ 8915400 w 8915400"/>
              <a:gd name="textAreaTop" fmla="*/ 0 h 372960"/>
              <a:gd name="textAreaBottom" fmla="*/ 373320 h 372960"/>
            </a:gdLst>
            <a:ahLst/>
            <a:cxnLst/>
            <a:rect l="textAreaLeft" t="textAreaTop" r="textAreaRight" b="textAreaBottom"/>
            <a:pathLst>
              <a:path w="21600" h="21600">
                <a:moveTo>
                  <a:pt x="0" y="0"/>
                </a:moveTo>
                <a:lnTo>
                  <a:pt x="21103" y="0"/>
                </a:lnTo>
                <a:lnTo>
                  <a:pt x="21600" y="10800"/>
                </a:lnTo>
                <a:lnTo>
                  <a:pt x="21103" y="21600"/>
                </a:lnTo>
                <a:lnTo>
                  <a:pt x="0" y="21600"/>
                </a:lnTo>
                <a:lnTo>
                  <a:pt x="497" y="10800"/>
                </a:lnTo>
                <a:close/>
              </a:path>
            </a:pathLst>
          </a:custGeom>
          <a:gradFill rotWithShape="0">
            <a:gsLst>
              <a:gs pos="0">
                <a:srgbClr val="2787a0"/>
              </a:gs>
              <a:gs pos="100000">
                <a:srgbClr val="34b3d6"/>
              </a:gs>
            </a:gsLst>
            <a:lin ang="16200000"/>
          </a:gradFill>
          <a:ln w="9360">
            <a:solidFill>
              <a:srgbClr val="46aac5"/>
            </a:solidFill>
            <a:miter/>
          </a:ln>
          <a:effectLst>
            <a:outerShdw dist="23040" dir="5400000" blurRad="0" rotWithShape="0">
              <a:srgbClr val="000000">
                <a:alpha val="35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94" name="TextBox 132"/>
          <p:cNvSpPr/>
          <p:nvPr/>
        </p:nvSpPr>
        <p:spPr>
          <a:xfrm>
            <a:off x="2858760" y="3871800"/>
            <a:ext cx="44064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Apr.</a:t>
            </a:r>
            <a:endParaRPr b="0" lang="en-IN" sz="1200" strike="noStrike" u="none">
              <a:solidFill>
                <a:srgbClr val="000000"/>
              </a:solidFill>
              <a:effectLst/>
              <a:uFillTx/>
              <a:latin typeface="Arial"/>
            </a:endParaRPr>
          </a:p>
        </p:txBody>
      </p:sp>
      <p:sp>
        <p:nvSpPr>
          <p:cNvPr id="395" name="TextBox 133"/>
          <p:cNvSpPr/>
          <p:nvPr/>
        </p:nvSpPr>
        <p:spPr>
          <a:xfrm>
            <a:off x="3525480" y="3871800"/>
            <a:ext cx="45288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May</a:t>
            </a:r>
            <a:endParaRPr b="0" lang="en-IN" sz="1200" strike="noStrike" u="none">
              <a:solidFill>
                <a:srgbClr val="000000"/>
              </a:solidFill>
              <a:effectLst/>
              <a:uFillTx/>
              <a:latin typeface="Arial"/>
            </a:endParaRPr>
          </a:p>
        </p:txBody>
      </p:sp>
      <p:sp>
        <p:nvSpPr>
          <p:cNvPr id="396" name="TextBox 134"/>
          <p:cNvSpPr/>
          <p:nvPr/>
        </p:nvSpPr>
        <p:spPr>
          <a:xfrm>
            <a:off x="4213080" y="3871800"/>
            <a:ext cx="4651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June</a:t>
            </a:r>
            <a:endParaRPr b="0" lang="en-IN" sz="1200" strike="noStrike" u="none">
              <a:solidFill>
                <a:srgbClr val="000000"/>
              </a:solidFill>
              <a:effectLst/>
              <a:uFillTx/>
              <a:latin typeface="Arial"/>
            </a:endParaRPr>
          </a:p>
        </p:txBody>
      </p:sp>
      <p:sp>
        <p:nvSpPr>
          <p:cNvPr id="397" name="TextBox 135"/>
          <p:cNvSpPr/>
          <p:nvPr/>
        </p:nvSpPr>
        <p:spPr>
          <a:xfrm>
            <a:off x="4912920" y="3871800"/>
            <a:ext cx="41328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July</a:t>
            </a:r>
            <a:endParaRPr b="0" lang="en-IN" sz="1200" strike="noStrike" u="none">
              <a:solidFill>
                <a:srgbClr val="000000"/>
              </a:solidFill>
              <a:effectLst/>
              <a:uFillTx/>
              <a:latin typeface="Arial"/>
            </a:endParaRPr>
          </a:p>
        </p:txBody>
      </p:sp>
      <p:sp>
        <p:nvSpPr>
          <p:cNvPr id="398" name="TextBox 136"/>
          <p:cNvSpPr/>
          <p:nvPr/>
        </p:nvSpPr>
        <p:spPr>
          <a:xfrm>
            <a:off x="5562360" y="3871800"/>
            <a:ext cx="45900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Aug.</a:t>
            </a:r>
            <a:endParaRPr b="0" lang="en-IN" sz="1200" strike="noStrike" u="none">
              <a:solidFill>
                <a:srgbClr val="000000"/>
              </a:solidFill>
              <a:effectLst/>
              <a:uFillTx/>
              <a:latin typeface="Arial"/>
            </a:endParaRPr>
          </a:p>
        </p:txBody>
      </p:sp>
      <p:sp>
        <p:nvSpPr>
          <p:cNvPr id="399" name="TextBox 137"/>
          <p:cNvSpPr/>
          <p:nvPr/>
        </p:nvSpPr>
        <p:spPr>
          <a:xfrm>
            <a:off x="6257520" y="3871800"/>
            <a:ext cx="49608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Sept.</a:t>
            </a:r>
            <a:endParaRPr b="0" lang="en-IN" sz="1200" strike="noStrike" u="none">
              <a:solidFill>
                <a:srgbClr val="000000"/>
              </a:solidFill>
              <a:effectLst/>
              <a:uFillTx/>
              <a:latin typeface="Arial"/>
            </a:endParaRPr>
          </a:p>
        </p:txBody>
      </p:sp>
      <p:sp>
        <p:nvSpPr>
          <p:cNvPr id="400" name="TextBox 138"/>
          <p:cNvSpPr/>
          <p:nvPr/>
        </p:nvSpPr>
        <p:spPr>
          <a:xfrm>
            <a:off x="6988680" y="3871800"/>
            <a:ext cx="43560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Oct.</a:t>
            </a:r>
            <a:endParaRPr b="0" lang="en-IN" sz="1200" strike="noStrike" u="none">
              <a:solidFill>
                <a:srgbClr val="000000"/>
              </a:solidFill>
              <a:effectLst/>
              <a:uFillTx/>
              <a:latin typeface="Arial"/>
            </a:endParaRPr>
          </a:p>
        </p:txBody>
      </p:sp>
      <p:sp>
        <p:nvSpPr>
          <p:cNvPr id="401" name="TextBox 139"/>
          <p:cNvSpPr/>
          <p:nvPr/>
        </p:nvSpPr>
        <p:spPr>
          <a:xfrm>
            <a:off x="7655040" y="3871800"/>
            <a:ext cx="4669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Nov.</a:t>
            </a:r>
            <a:endParaRPr b="0" lang="en-IN" sz="1200" strike="noStrike" u="none">
              <a:solidFill>
                <a:srgbClr val="000000"/>
              </a:solidFill>
              <a:effectLst/>
              <a:uFillTx/>
              <a:latin typeface="Arial"/>
            </a:endParaRPr>
          </a:p>
        </p:txBody>
      </p:sp>
      <p:sp>
        <p:nvSpPr>
          <p:cNvPr id="402" name="TextBox 140"/>
          <p:cNvSpPr/>
          <p:nvPr/>
        </p:nvSpPr>
        <p:spPr>
          <a:xfrm>
            <a:off x="8350560" y="3871800"/>
            <a:ext cx="45324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Dec.</a:t>
            </a:r>
            <a:endParaRPr b="0" lang="en-IN" sz="1200" strike="noStrike" u="none">
              <a:solidFill>
                <a:srgbClr val="000000"/>
              </a:solidFill>
              <a:effectLst/>
              <a:uFillTx/>
              <a:latin typeface="Arial"/>
            </a:endParaRPr>
          </a:p>
        </p:txBody>
      </p:sp>
      <p:sp>
        <p:nvSpPr>
          <p:cNvPr id="403" name="TextBox 141"/>
          <p:cNvSpPr/>
          <p:nvPr/>
        </p:nvSpPr>
        <p:spPr>
          <a:xfrm>
            <a:off x="836280" y="3871800"/>
            <a:ext cx="42084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Jan.</a:t>
            </a:r>
            <a:endParaRPr b="0" lang="en-IN" sz="1200" strike="noStrike" u="none">
              <a:solidFill>
                <a:srgbClr val="000000"/>
              </a:solidFill>
              <a:effectLst/>
              <a:uFillTx/>
              <a:latin typeface="Arial"/>
            </a:endParaRPr>
          </a:p>
        </p:txBody>
      </p:sp>
      <p:sp>
        <p:nvSpPr>
          <p:cNvPr id="404" name="TextBox 142"/>
          <p:cNvSpPr/>
          <p:nvPr/>
        </p:nvSpPr>
        <p:spPr>
          <a:xfrm>
            <a:off x="1491840" y="3871800"/>
            <a:ext cx="4449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Feb.</a:t>
            </a:r>
            <a:endParaRPr b="0" lang="en-IN" sz="1200" strike="noStrike" u="none">
              <a:solidFill>
                <a:srgbClr val="000000"/>
              </a:solidFill>
              <a:effectLst/>
              <a:uFillTx/>
              <a:latin typeface="Arial"/>
            </a:endParaRPr>
          </a:p>
        </p:txBody>
      </p:sp>
      <p:sp>
        <p:nvSpPr>
          <p:cNvPr id="405" name="TextBox 143"/>
          <p:cNvSpPr/>
          <p:nvPr/>
        </p:nvSpPr>
        <p:spPr>
          <a:xfrm>
            <a:off x="2163600" y="3871800"/>
            <a:ext cx="4755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Calibri"/>
              </a:rPr>
              <a:t>Mar.</a:t>
            </a:r>
            <a:endParaRPr b="0" lang="en-IN" sz="1200" strike="noStrike" u="none">
              <a:solidFill>
                <a:srgbClr val="000000"/>
              </a:solidFill>
              <a:effectLst/>
              <a:uFillTx/>
              <a:latin typeface="Arial"/>
            </a:endParaRPr>
          </a:p>
        </p:txBody>
      </p:sp>
      <p:grpSp>
        <p:nvGrpSpPr>
          <p:cNvPr id="406" name="Group 144"/>
          <p:cNvGrpSpPr/>
          <p:nvPr/>
        </p:nvGrpSpPr>
        <p:grpSpPr>
          <a:xfrm>
            <a:off x="701640" y="3666960"/>
            <a:ext cx="7543800" cy="463680"/>
            <a:chOff x="701640" y="3666960"/>
            <a:chExt cx="7543800" cy="463680"/>
          </a:xfrm>
        </p:grpSpPr>
        <p:sp>
          <p:nvSpPr>
            <p:cNvPr id="407" name="Straight Connector 145"/>
            <p:cNvSpPr/>
            <p:nvPr/>
          </p:nvSpPr>
          <p:spPr>
            <a:xfrm flipV="1">
              <a:off x="701640" y="366768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08" name="Straight Connector 146"/>
            <p:cNvSpPr/>
            <p:nvPr/>
          </p:nvSpPr>
          <p:spPr>
            <a:xfrm flipV="1">
              <a:off x="14310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09" name="Straight Connector 147"/>
            <p:cNvSpPr/>
            <p:nvPr/>
          </p:nvSpPr>
          <p:spPr>
            <a:xfrm flipV="1">
              <a:off x="211248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0" name="Straight Connector 148"/>
            <p:cNvSpPr/>
            <p:nvPr/>
          </p:nvSpPr>
          <p:spPr>
            <a:xfrm flipV="1">
              <a:off x="27936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1" name="Straight Connector 149"/>
            <p:cNvSpPr/>
            <p:nvPr/>
          </p:nvSpPr>
          <p:spPr>
            <a:xfrm flipV="1">
              <a:off x="347508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2" name="Straight Connector 150"/>
            <p:cNvSpPr/>
            <p:nvPr/>
          </p:nvSpPr>
          <p:spPr>
            <a:xfrm flipV="1">
              <a:off x="41562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3" name="Straight Connector 151"/>
            <p:cNvSpPr/>
            <p:nvPr/>
          </p:nvSpPr>
          <p:spPr>
            <a:xfrm flipV="1">
              <a:off x="483768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4" name="Straight Connector 152"/>
            <p:cNvSpPr/>
            <p:nvPr/>
          </p:nvSpPr>
          <p:spPr>
            <a:xfrm flipV="1">
              <a:off x="55188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5" name="Straight Connector 153"/>
            <p:cNvSpPr/>
            <p:nvPr/>
          </p:nvSpPr>
          <p:spPr>
            <a:xfrm flipV="1">
              <a:off x="620028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6" name="Straight Connector 154"/>
            <p:cNvSpPr/>
            <p:nvPr/>
          </p:nvSpPr>
          <p:spPr>
            <a:xfrm flipV="1">
              <a:off x="68814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7" name="Straight Connector 155"/>
            <p:cNvSpPr/>
            <p:nvPr/>
          </p:nvSpPr>
          <p:spPr>
            <a:xfrm flipV="1">
              <a:off x="756252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8" name="Straight Connector 156"/>
            <p:cNvSpPr/>
            <p:nvPr/>
          </p:nvSpPr>
          <p:spPr>
            <a:xfrm flipV="1">
              <a:off x="8244000" y="3666960"/>
              <a:ext cx="1440" cy="462960"/>
            </a:xfrm>
            <a:prstGeom prst="line">
              <a:avLst/>
            </a:prstGeom>
            <a:ln w="9360">
              <a:solidFill>
                <a:srgbClr val="31859c"/>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nvGrpSpPr>
          <p:cNvPr id="419" name="Group 157"/>
          <p:cNvGrpSpPr/>
          <p:nvPr/>
        </p:nvGrpSpPr>
        <p:grpSpPr>
          <a:xfrm>
            <a:off x="1036800" y="3743280"/>
            <a:ext cx="7543800" cy="76320"/>
            <a:chOff x="1036800" y="3743280"/>
            <a:chExt cx="7543800" cy="76320"/>
          </a:xfrm>
        </p:grpSpPr>
        <p:sp>
          <p:nvSpPr>
            <p:cNvPr id="420" name="Straight Connector 158"/>
            <p:cNvSpPr/>
            <p:nvPr/>
          </p:nvSpPr>
          <p:spPr>
            <a:xfrm flipV="1">
              <a:off x="103680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1" name="Straight Connector 159"/>
            <p:cNvSpPr/>
            <p:nvPr/>
          </p:nvSpPr>
          <p:spPr>
            <a:xfrm flipV="1">
              <a:off x="17661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2" name="Straight Connector 160"/>
            <p:cNvSpPr/>
            <p:nvPr/>
          </p:nvSpPr>
          <p:spPr>
            <a:xfrm flipV="1">
              <a:off x="244764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3" name="Straight Connector 161"/>
            <p:cNvSpPr/>
            <p:nvPr/>
          </p:nvSpPr>
          <p:spPr>
            <a:xfrm flipV="1">
              <a:off x="31287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4" name="Straight Connector 162"/>
            <p:cNvSpPr/>
            <p:nvPr/>
          </p:nvSpPr>
          <p:spPr>
            <a:xfrm flipV="1">
              <a:off x="381024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5" name="Straight Connector 163"/>
            <p:cNvSpPr/>
            <p:nvPr/>
          </p:nvSpPr>
          <p:spPr>
            <a:xfrm flipV="1">
              <a:off x="44913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6" name="Straight Connector 164"/>
            <p:cNvSpPr/>
            <p:nvPr/>
          </p:nvSpPr>
          <p:spPr>
            <a:xfrm flipV="1">
              <a:off x="517284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7" name="Straight Connector 165"/>
            <p:cNvSpPr/>
            <p:nvPr/>
          </p:nvSpPr>
          <p:spPr>
            <a:xfrm flipV="1">
              <a:off x="58539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8" name="Straight Connector 166"/>
            <p:cNvSpPr/>
            <p:nvPr/>
          </p:nvSpPr>
          <p:spPr>
            <a:xfrm flipV="1">
              <a:off x="653544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29" name="Straight Connector 167"/>
            <p:cNvSpPr/>
            <p:nvPr/>
          </p:nvSpPr>
          <p:spPr>
            <a:xfrm flipV="1">
              <a:off x="72165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30" name="Straight Connector 168"/>
            <p:cNvSpPr/>
            <p:nvPr/>
          </p:nvSpPr>
          <p:spPr>
            <a:xfrm flipV="1">
              <a:off x="789768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431" name="Straight Connector 169"/>
            <p:cNvSpPr/>
            <p:nvPr/>
          </p:nvSpPr>
          <p:spPr>
            <a:xfrm flipV="1">
              <a:off x="8579160" y="3743280"/>
              <a:ext cx="1440" cy="76320"/>
            </a:xfrm>
            <a:prstGeom prst="line">
              <a:avLst/>
            </a:prstGeom>
            <a:ln w="9360">
              <a:solidFill>
                <a:srgbClr val="31859c">
                  <a:alpha val="72000"/>
                </a:srgbClr>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grpSp>
      <p:grpSp>
        <p:nvGrpSpPr>
          <p:cNvPr id="432" name="Right Arrow 170"/>
          <p:cNvGrpSpPr/>
          <p:nvPr/>
        </p:nvGrpSpPr>
        <p:grpSpPr>
          <a:xfrm>
            <a:off x="4022640" y="4211640"/>
            <a:ext cx="263520" cy="244440"/>
            <a:chOff x="4022640" y="4211640"/>
            <a:chExt cx="263520" cy="244440"/>
          </a:xfrm>
        </p:grpSpPr>
        <p:pic>
          <p:nvPicPr>
            <p:cNvPr id="433" name="Right Arrow 170" descr=""/>
            <p:cNvPicPr/>
            <p:nvPr/>
          </p:nvPicPr>
          <p:blipFill>
            <a:blip r:embed="rId1"/>
            <a:stretch/>
          </p:blipFill>
          <p:spPr>
            <a:xfrm>
              <a:off x="4022640" y="4211640"/>
              <a:ext cx="263520" cy="244440"/>
            </a:xfrm>
            <a:prstGeom prst="rect">
              <a:avLst/>
            </a:prstGeom>
            <a:noFill/>
            <a:ln w="0">
              <a:noFill/>
            </a:ln>
          </p:spPr>
        </p:pic>
        <p:sp>
          <p:nvSpPr>
            <p:cNvPr id="434" name=""/>
            <p:cNvSpPr/>
            <p:nvPr/>
          </p:nvSpPr>
          <p:spPr>
            <a:xfrm rot="16200000">
              <a:off x="4078080" y="4322160"/>
              <a:ext cx="160200" cy="77760"/>
            </a:xfrm>
            <a:prstGeom prst="rect">
              <a:avLst/>
            </a:prstGeom>
            <a:noFill/>
            <a:ln w="0">
              <a:noFill/>
            </a:ln>
          </p:spPr>
          <p:style>
            <a:lnRef idx="0"/>
            <a:fillRef idx="0"/>
            <a:effectRef idx="0"/>
            <a:fontRef idx="minor"/>
          </p:style>
          <p:txBody>
            <a:bodyPr lIns="90000" rIns="90000" tIns="30960" bIns="3096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grpSp>
        <p:nvGrpSpPr>
          <p:cNvPr id="435" name="Group 171"/>
          <p:cNvGrpSpPr/>
          <p:nvPr/>
        </p:nvGrpSpPr>
        <p:grpSpPr>
          <a:xfrm>
            <a:off x="195120" y="4568760"/>
            <a:ext cx="6691320" cy="1422360"/>
            <a:chOff x="195120" y="4568760"/>
            <a:chExt cx="6691320" cy="1422360"/>
          </a:xfrm>
        </p:grpSpPr>
        <p:sp>
          <p:nvSpPr>
            <p:cNvPr id="436" name="Pentagon 172"/>
            <p:cNvSpPr/>
            <p:nvPr/>
          </p:nvSpPr>
          <p:spPr>
            <a:xfrm>
              <a:off x="2549880" y="4901400"/>
              <a:ext cx="4308480" cy="332640"/>
            </a:xfrm>
            <a:custGeom>
              <a:avLst/>
              <a:gdLst>
                <a:gd name="textAreaLeft" fmla="*/ 0 w 4308480"/>
                <a:gd name="textAreaRight" fmla="*/ 4308480 w 4308480"/>
                <a:gd name="textAreaTop" fmla="*/ 0 h 332640"/>
                <a:gd name="textAreaBottom" fmla="*/ 333000 h 332640"/>
              </a:gdLst>
              <a:ahLst/>
              <a:cxnLst/>
              <a:rect l="textAreaLeft" t="textAreaTop" r="textAreaRight" b="textAreaBottom"/>
              <a:pathLst>
                <a:path w="21600" h="21600">
                  <a:moveTo>
                    <a:pt x="0" y="0"/>
                  </a:moveTo>
                  <a:lnTo>
                    <a:pt x="20399" y="0"/>
                  </a:lnTo>
                  <a:lnTo>
                    <a:pt x="21600" y="10800"/>
                  </a:lnTo>
                  <a:lnTo>
                    <a:pt x="20399" y="21600"/>
                  </a:lnTo>
                  <a:lnTo>
                    <a:pt x="0" y="21600"/>
                  </a:lnTo>
                  <a:close/>
                </a:path>
              </a:pathLst>
            </a:custGeom>
            <a:gradFill rotWithShape="0">
              <a:gsLst>
                <a:gs pos="0">
                  <a:srgbClr val="a4a4a4"/>
                </a:gs>
                <a:gs pos="100000">
                  <a:srgbClr val="e4e4e4"/>
                </a:gs>
              </a:gsLst>
              <a:lin ang="16200000"/>
            </a:gradFill>
            <a:ln w="9360">
              <a:solidFill>
                <a:srgbClr val="7f7f7f"/>
              </a:solidFill>
              <a:miter/>
            </a:ln>
          </p:spPr>
          <p:style>
            <a:lnRef idx="0"/>
            <a:fillRef idx="0"/>
            <a:effectRef idx="0"/>
            <a:fontRef idx="minor"/>
          </p:style>
          <p:txBody>
            <a:bodyPr lIns="90000" rIns="90000" tIns="46800" bIns="46800" anchor="ctr">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Calibri"/>
                </a:rPr>
                <a:t>Interim milestones completion</a:t>
              </a:r>
              <a:endParaRPr b="0" lang="en-IN" sz="1100" strike="noStrike" u="none">
                <a:solidFill>
                  <a:srgbClr val="000000"/>
                </a:solidFill>
                <a:effectLst/>
                <a:uFillTx/>
                <a:latin typeface="Arial"/>
              </a:endParaRPr>
            </a:p>
          </p:txBody>
        </p:sp>
        <p:sp>
          <p:nvSpPr>
            <p:cNvPr id="437" name="Pentagon 173"/>
            <p:cNvSpPr/>
            <p:nvPr/>
          </p:nvSpPr>
          <p:spPr>
            <a:xfrm>
              <a:off x="195120" y="4568760"/>
              <a:ext cx="1226880" cy="303120"/>
            </a:xfrm>
            <a:custGeom>
              <a:avLst/>
              <a:gdLst>
                <a:gd name="textAreaLeft" fmla="*/ 0 w 1226880"/>
                <a:gd name="textAreaRight" fmla="*/ 1226880 w 1226880"/>
                <a:gd name="textAreaTop" fmla="*/ 0 h 303120"/>
                <a:gd name="textAreaBottom" fmla="*/ 303480 h 303120"/>
              </a:gdLst>
              <a:ahLst/>
              <a:cxnLst/>
              <a:rect l="textAreaLeft" t="textAreaTop" r="textAreaRight" b="textAreaBottom"/>
              <a:pathLst>
                <a:path w="21600" h="21600">
                  <a:moveTo>
                    <a:pt x="0" y="0"/>
                  </a:moveTo>
                  <a:lnTo>
                    <a:pt x="18652" y="0"/>
                  </a:lnTo>
                  <a:lnTo>
                    <a:pt x="21600" y="10800"/>
                  </a:lnTo>
                  <a:lnTo>
                    <a:pt x="18652" y="21600"/>
                  </a:lnTo>
                  <a:lnTo>
                    <a:pt x="0" y="21600"/>
                  </a:lnTo>
                  <a:close/>
                </a:path>
              </a:pathLst>
            </a:custGeom>
            <a:gradFill rotWithShape="0">
              <a:gsLst>
                <a:gs pos="0">
                  <a:srgbClr val="bcbcbc"/>
                </a:gs>
                <a:gs pos="100000">
                  <a:srgbClr val="ededed"/>
                </a:gs>
              </a:gsLst>
              <a:lin ang="16200000"/>
            </a:gradFill>
            <a:ln w="9360">
              <a:solidFill>
                <a:srgbClr val="7f7f7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Calibri"/>
                </a:rPr>
                <a:t>As-Is Analysis</a:t>
              </a:r>
              <a:endParaRPr b="0" lang="en-IN" sz="1100" strike="noStrike" u="none">
                <a:solidFill>
                  <a:srgbClr val="000000"/>
                </a:solidFill>
                <a:effectLst/>
                <a:uFillTx/>
                <a:latin typeface="Arial"/>
              </a:endParaRPr>
            </a:p>
          </p:txBody>
        </p:sp>
        <p:sp>
          <p:nvSpPr>
            <p:cNvPr id="438" name="Pentagon 174"/>
            <p:cNvSpPr/>
            <p:nvPr/>
          </p:nvSpPr>
          <p:spPr>
            <a:xfrm>
              <a:off x="863640" y="4900320"/>
              <a:ext cx="2021400" cy="335160"/>
            </a:xfrm>
            <a:custGeom>
              <a:avLst/>
              <a:gdLst>
                <a:gd name="textAreaLeft" fmla="*/ 0 w 2021400"/>
                <a:gd name="textAreaRight" fmla="*/ 2021760 w 2021400"/>
                <a:gd name="textAreaTop" fmla="*/ 0 h 335160"/>
                <a:gd name="textAreaBottom" fmla="*/ 335520 h 335160"/>
              </a:gdLst>
              <a:ahLst/>
              <a:cxnLst/>
              <a:rect l="textAreaLeft" t="textAreaTop" r="textAreaRight" b="textAreaBottom"/>
              <a:pathLst>
                <a:path w="21600" h="21600">
                  <a:moveTo>
                    <a:pt x="0" y="0"/>
                  </a:moveTo>
                  <a:lnTo>
                    <a:pt x="19022" y="0"/>
                  </a:lnTo>
                  <a:lnTo>
                    <a:pt x="21600" y="10800"/>
                  </a:lnTo>
                  <a:lnTo>
                    <a:pt x="19022" y="21600"/>
                  </a:lnTo>
                  <a:lnTo>
                    <a:pt x="0" y="21600"/>
                  </a:lnTo>
                  <a:close/>
                </a:path>
              </a:pathLst>
            </a:custGeom>
            <a:gradFill rotWithShape="0">
              <a:gsLst>
                <a:gs pos="0">
                  <a:srgbClr val="bcbcbc"/>
                </a:gs>
                <a:gs pos="100000">
                  <a:srgbClr val="ededed"/>
                </a:gs>
              </a:gsLst>
              <a:lin ang="16200000"/>
            </a:gradFill>
            <a:ln w="9360">
              <a:solidFill>
                <a:srgbClr val="7f7f7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Calibri"/>
                </a:rPr>
                <a:t>Gap Analysis</a:t>
              </a:r>
              <a:endParaRPr b="0" lang="en-IN" sz="1100" strike="noStrike" u="none">
                <a:solidFill>
                  <a:srgbClr val="000000"/>
                </a:solidFill>
                <a:effectLst/>
                <a:uFillTx/>
                <a:latin typeface="Arial"/>
              </a:endParaRPr>
            </a:p>
          </p:txBody>
        </p:sp>
        <p:sp>
          <p:nvSpPr>
            <p:cNvPr id="439" name="Pentagon 175"/>
            <p:cNvSpPr/>
            <p:nvPr/>
          </p:nvSpPr>
          <p:spPr>
            <a:xfrm>
              <a:off x="2700720" y="5275440"/>
              <a:ext cx="2172600" cy="303120"/>
            </a:xfrm>
            <a:custGeom>
              <a:avLst/>
              <a:gdLst>
                <a:gd name="textAreaLeft" fmla="*/ 0 w 2172600"/>
                <a:gd name="textAreaRight" fmla="*/ 2172960 w 2172600"/>
                <a:gd name="textAreaTop" fmla="*/ 0 h 303120"/>
                <a:gd name="textAreaBottom" fmla="*/ 303480 h 303120"/>
              </a:gdLst>
              <a:ahLst/>
              <a:cxnLst/>
              <a:rect l="textAreaLeft" t="textAreaTop" r="textAreaRight" b="textAreaBottom"/>
              <a:pathLst>
                <a:path w="21600" h="21600">
                  <a:moveTo>
                    <a:pt x="0" y="0"/>
                  </a:moveTo>
                  <a:lnTo>
                    <a:pt x="19430" y="0"/>
                  </a:lnTo>
                  <a:lnTo>
                    <a:pt x="21600" y="10800"/>
                  </a:lnTo>
                  <a:lnTo>
                    <a:pt x="19430" y="21600"/>
                  </a:lnTo>
                  <a:lnTo>
                    <a:pt x="0" y="21600"/>
                  </a:lnTo>
                  <a:close/>
                </a:path>
              </a:pathLst>
            </a:custGeom>
            <a:gradFill rotWithShape="0">
              <a:gsLst>
                <a:gs pos="0">
                  <a:srgbClr val="bcbcbc"/>
                </a:gs>
                <a:gs pos="100000">
                  <a:srgbClr val="ededed"/>
                </a:gs>
              </a:gsLst>
              <a:lin ang="16200000"/>
            </a:gradFill>
            <a:ln w="9360">
              <a:solidFill>
                <a:srgbClr val="7f7f7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Calibri"/>
                </a:rPr>
                <a:t>Target approach definition</a:t>
              </a:r>
              <a:endParaRPr b="0" lang="en-IN" sz="1100" strike="noStrike" u="none">
                <a:solidFill>
                  <a:srgbClr val="000000"/>
                </a:solidFill>
                <a:effectLst/>
                <a:uFillTx/>
                <a:latin typeface="Arial"/>
              </a:endParaRPr>
            </a:p>
          </p:txBody>
        </p:sp>
        <p:sp>
          <p:nvSpPr>
            <p:cNvPr id="440" name="Pentagon 175"/>
            <p:cNvSpPr/>
            <p:nvPr/>
          </p:nvSpPr>
          <p:spPr>
            <a:xfrm>
              <a:off x="4697280" y="5688000"/>
              <a:ext cx="2189160" cy="303120"/>
            </a:xfrm>
            <a:custGeom>
              <a:avLst/>
              <a:gdLst>
                <a:gd name="textAreaLeft" fmla="*/ 0 w 2189160"/>
                <a:gd name="textAreaRight" fmla="*/ 2189520 w 2189160"/>
                <a:gd name="textAreaTop" fmla="*/ 0 h 303120"/>
                <a:gd name="textAreaBottom" fmla="*/ 303480 h 303120"/>
              </a:gdLst>
              <a:ahLst/>
              <a:cxnLst/>
              <a:rect l="textAreaLeft" t="textAreaTop" r="textAreaRight" b="textAreaBottom"/>
              <a:pathLst>
                <a:path w="21600" h="21600">
                  <a:moveTo>
                    <a:pt x="0" y="0"/>
                  </a:moveTo>
                  <a:lnTo>
                    <a:pt x="19447" y="0"/>
                  </a:lnTo>
                  <a:lnTo>
                    <a:pt x="21600" y="10800"/>
                  </a:lnTo>
                  <a:lnTo>
                    <a:pt x="19447" y="21600"/>
                  </a:lnTo>
                  <a:lnTo>
                    <a:pt x="0" y="21600"/>
                  </a:lnTo>
                  <a:close/>
                </a:path>
              </a:pathLst>
            </a:custGeom>
            <a:gradFill rotWithShape="0">
              <a:gsLst>
                <a:gs pos="0">
                  <a:srgbClr val="bcbcbc"/>
                </a:gs>
                <a:gs pos="100000">
                  <a:srgbClr val="ededed"/>
                </a:gs>
              </a:gsLst>
              <a:lin ang="16200000"/>
            </a:gradFill>
            <a:ln w="9360">
              <a:solidFill>
                <a:srgbClr val="7f7f7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000000"/>
                  </a:solidFill>
                  <a:effectLst/>
                  <a:uFillTx/>
                  <a:latin typeface="Calibri"/>
                </a:rPr>
                <a:t>RM Transition Plan</a:t>
              </a:r>
              <a:endParaRPr b="0" lang="en-IN" sz="1100" strike="noStrike" u="none">
                <a:solidFill>
                  <a:srgbClr val="000000"/>
                </a:solidFill>
                <a:effectLst/>
                <a:uFillTx/>
                <a:latin typeface="Arial"/>
              </a:endParaRPr>
            </a:p>
          </p:txBody>
        </p:sp>
      </p:grpSp>
      <p:grpSp>
        <p:nvGrpSpPr>
          <p:cNvPr id="441" name="Right Arrow 177"/>
          <p:cNvGrpSpPr/>
          <p:nvPr/>
        </p:nvGrpSpPr>
        <p:grpSpPr>
          <a:xfrm>
            <a:off x="6754680" y="4211640"/>
            <a:ext cx="255600" cy="237960"/>
            <a:chOff x="6754680" y="4211640"/>
            <a:chExt cx="255600" cy="237960"/>
          </a:xfrm>
        </p:grpSpPr>
        <p:pic>
          <p:nvPicPr>
            <p:cNvPr id="442" name="Right Arrow 177" descr=""/>
            <p:cNvPicPr/>
            <p:nvPr/>
          </p:nvPicPr>
          <p:blipFill>
            <a:blip r:embed="rId2"/>
            <a:stretch/>
          </p:blipFill>
          <p:spPr>
            <a:xfrm>
              <a:off x="6754680" y="4211640"/>
              <a:ext cx="255600" cy="237960"/>
            </a:xfrm>
            <a:prstGeom prst="rect">
              <a:avLst/>
            </a:prstGeom>
            <a:noFill/>
            <a:ln w="0">
              <a:noFill/>
            </a:ln>
          </p:spPr>
        </p:pic>
        <p:sp>
          <p:nvSpPr>
            <p:cNvPr id="443" name=""/>
            <p:cNvSpPr/>
            <p:nvPr/>
          </p:nvSpPr>
          <p:spPr>
            <a:xfrm rot="16200000">
              <a:off x="6804000" y="4316400"/>
              <a:ext cx="162000" cy="79200"/>
            </a:xfrm>
            <a:prstGeom prst="rect">
              <a:avLst/>
            </a:prstGeom>
            <a:noFill/>
            <a:ln w="0">
              <a:noFill/>
            </a:ln>
          </p:spPr>
          <p:style>
            <a:lnRef idx="0"/>
            <a:fillRef idx="0"/>
            <a:effectRef idx="0"/>
            <a:fontRef idx="minor"/>
          </p:style>
          <p:txBody>
            <a:bodyPr lIns="90000" rIns="90000" tIns="32400" bIns="324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
        <p:nvSpPr>
          <p:cNvPr id="444" name="Pentagon 179"/>
          <p:cNvSpPr/>
          <p:nvPr/>
        </p:nvSpPr>
        <p:spPr>
          <a:xfrm>
            <a:off x="2081160" y="2494080"/>
            <a:ext cx="3438720" cy="304560"/>
          </a:xfrm>
          <a:custGeom>
            <a:avLst/>
            <a:gdLst>
              <a:gd name="textAreaLeft" fmla="*/ 0 w 3438720"/>
              <a:gd name="textAreaRight" fmla="*/ 3439080 w 3438720"/>
              <a:gd name="textAreaTop" fmla="*/ 0 h 304560"/>
              <a:gd name="textAreaBottom" fmla="*/ 304920 h 304560"/>
            </a:gdLst>
            <a:ahLst/>
            <a:cxnLst/>
            <a:rect l="textAreaLeft" t="textAreaTop" r="textAreaRight" b="textAreaBottom"/>
            <a:pathLst>
              <a:path w="21600" h="21600">
                <a:moveTo>
                  <a:pt x="0" y="0"/>
                </a:moveTo>
                <a:lnTo>
                  <a:pt x="20353" y="0"/>
                </a:lnTo>
                <a:lnTo>
                  <a:pt x="21600" y="10800"/>
                </a:lnTo>
                <a:lnTo>
                  <a:pt x="20353" y="21600"/>
                </a:lnTo>
                <a:lnTo>
                  <a:pt x="0" y="21600"/>
                </a:lnTo>
                <a:close/>
              </a:path>
            </a:pathLst>
          </a:custGeom>
          <a:gradFill rotWithShape="0">
            <a:gsLst>
              <a:gs pos="0">
                <a:srgbClr val="c9b5e8"/>
              </a:gs>
              <a:gs pos="100000">
                <a:srgbClr val="f0eaf9"/>
              </a:gs>
            </a:gsLst>
            <a:lin ang="16200000"/>
          </a:gradFill>
          <a:ln w="936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660066"/>
                </a:solidFill>
                <a:effectLst/>
                <a:uFillTx/>
                <a:latin typeface="Calibri"/>
              </a:rPr>
              <a:t>RM Training Sessions</a:t>
            </a:r>
            <a:endParaRPr b="0" lang="en-IN" sz="1100" strike="noStrike" u="none">
              <a:solidFill>
                <a:srgbClr val="000000"/>
              </a:solidFill>
              <a:effectLst/>
              <a:uFillTx/>
              <a:latin typeface="Arial"/>
            </a:endParaRPr>
          </a:p>
        </p:txBody>
      </p:sp>
      <p:sp>
        <p:nvSpPr>
          <p:cNvPr id="445" name="Pentagon 180"/>
          <p:cNvSpPr/>
          <p:nvPr/>
        </p:nvSpPr>
        <p:spPr>
          <a:xfrm>
            <a:off x="654120" y="2151000"/>
            <a:ext cx="8389800" cy="300240"/>
          </a:xfrm>
          <a:custGeom>
            <a:avLst/>
            <a:gdLst>
              <a:gd name="textAreaLeft" fmla="*/ 0 w 8389800"/>
              <a:gd name="textAreaRight" fmla="*/ 8390160 w 8389800"/>
              <a:gd name="textAreaTop" fmla="*/ 0 h 300240"/>
              <a:gd name="textAreaBottom" fmla="*/ 300240 h 300240"/>
            </a:gdLst>
            <a:ahLst/>
            <a:cxnLst/>
            <a:rect l="textAreaLeft" t="textAreaTop" r="textAreaRight" b="textAreaBottom"/>
            <a:pathLst>
              <a:path w="21600" h="21600">
                <a:moveTo>
                  <a:pt x="0" y="0"/>
                </a:moveTo>
                <a:lnTo>
                  <a:pt x="21097" y="0"/>
                </a:lnTo>
                <a:lnTo>
                  <a:pt x="21600" y="10800"/>
                </a:lnTo>
                <a:lnTo>
                  <a:pt x="21097" y="21600"/>
                </a:lnTo>
                <a:lnTo>
                  <a:pt x="0" y="21600"/>
                </a:lnTo>
                <a:close/>
              </a:path>
            </a:pathLst>
          </a:custGeom>
          <a:gradFill rotWithShape="0">
            <a:gsLst>
              <a:gs pos="0">
                <a:srgbClr val="c9b5e8"/>
              </a:gs>
              <a:gs pos="100000">
                <a:srgbClr val="f0eaf9"/>
              </a:gs>
            </a:gsLst>
            <a:lin ang="16200000"/>
          </a:gradFill>
          <a:ln w="936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660066"/>
                </a:solidFill>
                <a:effectLst/>
                <a:uFillTx/>
                <a:latin typeface="Calibri"/>
              </a:rPr>
              <a:t>RM council address 2008 RM assessment findings</a:t>
            </a:r>
            <a:endParaRPr b="0" lang="en-IN" sz="1100" strike="noStrike" u="none">
              <a:solidFill>
                <a:srgbClr val="000000"/>
              </a:solidFill>
              <a:effectLst/>
              <a:uFillTx/>
              <a:latin typeface="Arial"/>
            </a:endParaRPr>
          </a:p>
        </p:txBody>
      </p:sp>
      <p:sp>
        <p:nvSpPr>
          <p:cNvPr id="446" name="Pentagon 181"/>
          <p:cNvSpPr/>
          <p:nvPr/>
        </p:nvSpPr>
        <p:spPr>
          <a:xfrm>
            <a:off x="1434960" y="1762200"/>
            <a:ext cx="4069080" cy="345960"/>
          </a:xfrm>
          <a:custGeom>
            <a:avLst/>
            <a:gdLst>
              <a:gd name="textAreaLeft" fmla="*/ 0 w 4069080"/>
              <a:gd name="textAreaRight" fmla="*/ 4069440 w 4069080"/>
              <a:gd name="textAreaTop" fmla="*/ 0 h 345960"/>
              <a:gd name="textAreaBottom" fmla="*/ 346320 h 345960"/>
            </a:gdLst>
            <a:ahLst/>
            <a:cxnLst/>
            <a:rect l="textAreaLeft" t="textAreaTop" r="textAreaRight" b="textAreaBottom"/>
            <a:pathLst>
              <a:path w="21600" h="21600">
                <a:moveTo>
                  <a:pt x="0" y="0"/>
                </a:moveTo>
                <a:lnTo>
                  <a:pt x="20403" y="0"/>
                </a:lnTo>
                <a:lnTo>
                  <a:pt x="21600" y="10800"/>
                </a:lnTo>
                <a:lnTo>
                  <a:pt x="20403" y="21600"/>
                </a:lnTo>
                <a:lnTo>
                  <a:pt x="0" y="21600"/>
                </a:lnTo>
                <a:close/>
              </a:path>
            </a:pathLst>
          </a:custGeom>
          <a:gradFill rotWithShape="0">
            <a:gsLst>
              <a:gs pos="0">
                <a:srgbClr val="c9b5e8"/>
              </a:gs>
              <a:gs pos="100000">
                <a:srgbClr val="f0eaf9"/>
              </a:gs>
            </a:gsLst>
            <a:lin ang="16200000"/>
          </a:gradFill>
          <a:ln w="936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660066"/>
                </a:solidFill>
                <a:effectLst/>
                <a:uFillTx/>
                <a:latin typeface="Calibri"/>
              </a:rPr>
              <a:t>Completion of file plan validation by Records Offices</a:t>
            </a:r>
            <a:endParaRPr b="0" lang="en-IN" sz="1100" strike="noStrike" u="none">
              <a:solidFill>
                <a:srgbClr val="000000"/>
              </a:solidFill>
              <a:effectLst/>
              <a:uFillTx/>
              <a:latin typeface="Arial"/>
            </a:endParaRPr>
          </a:p>
        </p:txBody>
      </p:sp>
      <p:sp>
        <p:nvSpPr>
          <p:cNvPr id="447" name="Pentagon 208"/>
          <p:cNvSpPr/>
          <p:nvPr/>
        </p:nvSpPr>
        <p:spPr>
          <a:xfrm>
            <a:off x="4832280" y="2870280"/>
            <a:ext cx="693720" cy="441360"/>
          </a:xfrm>
          <a:custGeom>
            <a:avLst/>
            <a:gdLst>
              <a:gd name="textAreaLeft" fmla="*/ 0 w 693720"/>
              <a:gd name="textAreaRight" fmla="*/ 694080 w 693720"/>
              <a:gd name="textAreaTop" fmla="*/ 0 h 441360"/>
              <a:gd name="textAreaBottom" fmla="*/ 441720 h 441360"/>
            </a:gdLst>
            <a:ahLst/>
            <a:cxnLst/>
            <a:rect l="textAreaLeft" t="textAreaTop" r="textAreaRight" b="textAreaBottom"/>
            <a:pathLst>
              <a:path w="21600" h="21600">
                <a:moveTo>
                  <a:pt x="0" y="0"/>
                </a:moveTo>
                <a:lnTo>
                  <a:pt x="21600" y="0"/>
                </a:lnTo>
                <a:lnTo>
                  <a:pt x="21600" y="10800"/>
                </a:lnTo>
                <a:lnTo>
                  <a:pt x="21600" y="21600"/>
                </a:lnTo>
                <a:lnTo>
                  <a:pt x="0" y="21600"/>
                </a:lnTo>
                <a:close/>
              </a:path>
            </a:pathLst>
          </a:custGeom>
          <a:gradFill rotWithShape="0">
            <a:gsLst>
              <a:gs pos="0">
                <a:srgbClr val="c9b5e8"/>
              </a:gs>
              <a:gs pos="100000">
                <a:srgbClr val="f0eaf9"/>
              </a:gs>
            </a:gsLst>
            <a:lin ang="16200000"/>
          </a:gradFill>
          <a:ln w="936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04a7b"/>
                </a:solidFill>
                <a:effectLst/>
                <a:uFillTx/>
                <a:latin typeface="Calibri"/>
              </a:rPr>
              <a:t>RM Month</a:t>
            </a:r>
            <a:endParaRPr b="0" lang="en-IN" sz="900" strike="noStrike" u="none">
              <a:solidFill>
                <a:srgbClr val="000000"/>
              </a:solidFill>
              <a:effectLst/>
              <a:uFillTx/>
              <a:latin typeface="Arial"/>
            </a:endParaRPr>
          </a:p>
        </p:txBody>
      </p:sp>
      <p:sp>
        <p:nvSpPr>
          <p:cNvPr id="448" name="TextBox 183"/>
          <p:cNvSpPr/>
          <p:nvPr/>
        </p:nvSpPr>
        <p:spPr>
          <a:xfrm>
            <a:off x="1436040" y="3386160"/>
            <a:ext cx="739080" cy="322920"/>
          </a:xfrm>
          <a:prstGeom prst="rect">
            <a:avLst/>
          </a:prstGeom>
          <a:solidFill>
            <a:srgbClr val="ffffff">
              <a:alpha val="55000"/>
            </a:srgbClr>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6600"/>
                </a:solidFill>
                <a:effectLst/>
                <a:uFillTx/>
                <a:latin typeface="Calibri"/>
              </a:rPr>
              <a:t>IPT Meeting</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ff6600"/>
                </a:solidFill>
                <a:effectLst/>
                <a:uFillTx/>
                <a:latin typeface="Calibri"/>
              </a:rPr>
              <a:t>01/27/09</a:t>
            </a:r>
            <a:endParaRPr b="0" lang="en-IN" sz="600" strike="noStrike" u="none">
              <a:solidFill>
                <a:srgbClr val="000000"/>
              </a:solidFill>
              <a:effectLst/>
              <a:uFillTx/>
              <a:latin typeface="Arial"/>
            </a:endParaRPr>
          </a:p>
        </p:txBody>
      </p:sp>
      <p:sp>
        <p:nvSpPr>
          <p:cNvPr id="449" name="TextBox 184"/>
          <p:cNvSpPr/>
          <p:nvPr/>
        </p:nvSpPr>
        <p:spPr>
          <a:xfrm>
            <a:off x="3106080" y="3386160"/>
            <a:ext cx="739080" cy="322920"/>
          </a:xfrm>
          <a:prstGeom prst="rect">
            <a:avLst/>
          </a:prstGeom>
          <a:solidFill>
            <a:srgbClr val="ffffff">
              <a:alpha val="55000"/>
            </a:srgbClr>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6600"/>
                </a:solidFill>
                <a:effectLst/>
                <a:uFillTx/>
                <a:latin typeface="Calibri"/>
              </a:rPr>
              <a:t>IPT Meeting</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ff6600"/>
                </a:solidFill>
                <a:effectLst/>
                <a:uFillTx/>
                <a:latin typeface="Calibri"/>
              </a:rPr>
              <a:t>04/07/09</a:t>
            </a:r>
            <a:endParaRPr b="0" lang="en-IN" sz="600" strike="noStrike" u="none">
              <a:solidFill>
                <a:srgbClr val="000000"/>
              </a:solidFill>
              <a:effectLst/>
              <a:uFillTx/>
              <a:latin typeface="Arial"/>
            </a:endParaRPr>
          </a:p>
        </p:txBody>
      </p:sp>
      <p:sp>
        <p:nvSpPr>
          <p:cNvPr id="450" name="TextBox 185"/>
          <p:cNvSpPr/>
          <p:nvPr/>
        </p:nvSpPr>
        <p:spPr>
          <a:xfrm>
            <a:off x="5228640" y="3386160"/>
            <a:ext cx="739080" cy="322920"/>
          </a:xfrm>
          <a:prstGeom prst="rect">
            <a:avLst/>
          </a:prstGeom>
          <a:solidFill>
            <a:srgbClr val="ffffff">
              <a:alpha val="55000"/>
            </a:srgbClr>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6600"/>
                </a:solidFill>
                <a:effectLst/>
                <a:uFillTx/>
                <a:latin typeface="Calibri"/>
              </a:rPr>
              <a:t>IPT Meeting</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ff6600"/>
                </a:solidFill>
                <a:effectLst/>
                <a:uFillTx/>
                <a:latin typeface="Calibri"/>
              </a:rPr>
              <a:t>07/14/09</a:t>
            </a:r>
            <a:endParaRPr b="0" lang="en-IN" sz="600" strike="noStrike" u="none">
              <a:solidFill>
                <a:srgbClr val="000000"/>
              </a:solidFill>
              <a:effectLst/>
              <a:uFillTx/>
              <a:latin typeface="Arial"/>
            </a:endParaRPr>
          </a:p>
        </p:txBody>
      </p:sp>
      <p:sp>
        <p:nvSpPr>
          <p:cNvPr id="451" name="TextBox 186"/>
          <p:cNvSpPr/>
          <p:nvPr/>
        </p:nvSpPr>
        <p:spPr>
          <a:xfrm>
            <a:off x="7328880" y="3386160"/>
            <a:ext cx="739080" cy="322920"/>
          </a:xfrm>
          <a:prstGeom prst="rect">
            <a:avLst/>
          </a:prstGeom>
          <a:solidFill>
            <a:srgbClr val="ffffff">
              <a:alpha val="55000"/>
            </a:srgbClr>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ff6600"/>
                </a:solidFill>
                <a:effectLst/>
                <a:uFillTx/>
                <a:latin typeface="Calibri"/>
              </a:rPr>
              <a:t>IPT Meeting</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ff6600"/>
                </a:solidFill>
                <a:effectLst/>
                <a:uFillTx/>
                <a:latin typeface="Calibri"/>
              </a:rPr>
              <a:t>10/20/09</a:t>
            </a:r>
            <a:endParaRPr b="0" lang="en-IN" sz="600" strike="noStrike" u="none">
              <a:solidFill>
                <a:srgbClr val="000000"/>
              </a:solidFill>
              <a:effectLst/>
              <a:uFillTx/>
              <a:latin typeface="Arial"/>
            </a:endParaRPr>
          </a:p>
        </p:txBody>
      </p:sp>
      <p:sp>
        <p:nvSpPr>
          <p:cNvPr id="452" name="TextBox 200"/>
          <p:cNvSpPr/>
          <p:nvPr/>
        </p:nvSpPr>
        <p:spPr>
          <a:xfrm>
            <a:off x="6943320" y="2849400"/>
            <a:ext cx="1178640" cy="490680"/>
          </a:xfrm>
          <a:prstGeom prst="rect">
            <a:avLst/>
          </a:prstGeom>
          <a:solidFill>
            <a:srgbClr val="ffffff">
              <a:alpha val="63000"/>
            </a:srgbClr>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04a7b"/>
                </a:solidFill>
                <a:effectLst/>
                <a:uFillTx/>
                <a:latin typeface="Calibri"/>
              </a:rPr>
              <a:t>Compliance deadline </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04a7b"/>
                </a:solidFill>
                <a:effectLst/>
                <a:uFillTx/>
                <a:latin typeface="Calibri"/>
              </a:rPr>
              <a:t>E-Gov Act 2002</a:t>
            </a:r>
            <a:endParaRPr b="0" lang="en-IN" sz="9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604a7b"/>
                </a:solidFill>
                <a:effectLst/>
                <a:uFillTx/>
                <a:latin typeface="Calibri"/>
              </a:rPr>
              <a:t>Form F115</a:t>
            </a:r>
            <a:endParaRPr b="0" lang="en-IN" sz="800" strike="noStrike" u="none">
              <a:solidFill>
                <a:srgbClr val="000000"/>
              </a:solidFill>
              <a:effectLst/>
              <a:uFillTx/>
              <a:latin typeface="Arial"/>
            </a:endParaRPr>
          </a:p>
        </p:txBody>
      </p:sp>
      <p:grpSp>
        <p:nvGrpSpPr>
          <p:cNvPr id="453" name="Flowchart: Decision 204"/>
          <p:cNvGrpSpPr/>
          <p:nvPr/>
        </p:nvGrpSpPr>
        <p:grpSpPr>
          <a:xfrm>
            <a:off x="8723160" y="2914560"/>
            <a:ext cx="347760" cy="322200"/>
            <a:chOff x="8723160" y="2914560"/>
            <a:chExt cx="347760" cy="322200"/>
          </a:xfrm>
        </p:grpSpPr>
        <p:pic>
          <p:nvPicPr>
            <p:cNvPr id="454" name="Flowchart: Decision 204" descr=""/>
            <p:cNvPicPr/>
            <p:nvPr/>
          </p:nvPicPr>
          <p:blipFill>
            <a:blip r:embed="rId3"/>
            <a:stretch/>
          </p:blipFill>
          <p:spPr>
            <a:xfrm>
              <a:off x="8723160" y="2914560"/>
              <a:ext cx="347760" cy="322200"/>
            </a:xfrm>
            <a:prstGeom prst="rect">
              <a:avLst/>
            </a:prstGeom>
            <a:noFill/>
            <a:ln w="0">
              <a:noFill/>
            </a:ln>
          </p:spPr>
        </p:pic>
        <p:sp>
          <p:nvSpPr>
            <p:cNvPr id="455" name=""/>
            <p:cNvSpPr/>
            <p:nvPr/>
          </p:nvSpPr>
          <p:spPr>
            <a:xfrm>
              <a:off x="8842320" y="3003480"/>
              <a:ext cx="11448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Calibri"/>
                </a:rPr>
                <a:t> </a:t>
              </a:r>
              <a:endParaRPr b="0" lang="en-IN" sz="1800" strike="noStrike" u="none">
                <a:solidFill>
                  <a:srgbClr val="000000"/>
                </a:solidFill>
                <a:effectLst/>
                <a:uFillTx/>
                <a:latin typeface="Arial"/>
              </a:endParaRPr>
            </a:p>
          </p:txBody>
        </p:sp>
      </p:grpSp>
      <p:sp>
        <p:nvSpPr>
          <p:cNvPr id="456" name="TextBox 205"/>
          <p:cNvSpPr/>
          <p:nvPr/>
        </p:nvSpPr>
        <p:spPr>
          <a:xfrm>
            <a:off x="8338320" y="3171960"/>
            <a:ext cx="729000" cy="369000"/>
          </a:xfrm>
          <a:prstGeom prst="rect">
            <a:avLst/>
          </a:prstGeom>
          <a:noFill/>
          <a:ln w="0">
            <a:noFill/>
          </a:ln>
        </p:spPr>
        <p:style>
          <a:lnRef idx="0"/>
          <a:fillRef idx="0"/>
          <a:effectRef idx="0"/>
          <a:fontRef idx="minor"/>
        </p:style>
        <p:txBody>
          <a:bodyPr wrap="none" lIns="90000" rIns="90000" tIns="46800" bIns="4680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04a7b"/>
                </a:solidFill>
                <a:effectLst/>
                <a:uFillTx/>
                <a:latin typeface="Calibri"/>
              </a:rPr>
              <a:t>End-year</a:t>
            </a:r>
            <a:endParaRPr b="0" lang="en-IN" sz="900" strike="noStrike" u="none">
              <a:solidFill>
                <a:srgbClr val="000000"/>
              </a:solidFill>
              <a:effectLst/>
              <a:uFillTx/>
              <a:latin typeface="Arial"/>
            </a:endParaRPr>
          </a:p>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604a7b"/>
                </a:solidFill>
                <a:effectLst/>
                <a:uFillTx/>
                <a:latin typeface="Calibri"/>
              </a:rPr>
              <a:t>Assessment</a:t>
            </a:r>
            <a:endParaRPr b="0" lang="en-IN" sz="900" strike="noStrike" u="none">
              <a:solidFill>
                <a:srgbClr val="000000"/>
              </a:solidFill>
              <a:effectLst/>
              <a:uFillTx/>
              <a:latin typeface="Arial"/>
            </a:endParaRPr>
          </a:p>
        </p:txBody>
      </p:sp>
      <p:grpSp>
        <p:nvGrpSpPr>
          <p:cNvPr id="457" name="Flowchart: Decision 182"/>
          <p:cNvGrpSpPr/>
          <p:nvPr/>
        </p:nvGrpSpPr>
        <p:grpSpPr>
          <a:xfrm>
            <a:off x="1200240" y="3402000"/>
            <a:ext cx="342720" cy="328680"/>
            <a:chOff x="1200240" y="3402000"/>
            <a:chExt cx="342720" cy="328680"/>
          </a:xfrm>
        </p:grpSpPr>
        <p:pic>
          <p:nvPicPr>
            <p:cNvPr id="458" name="Flowchart: Decision 182" descr=""/>
            <p:cNvPicPr/>
            <p:nvPr/>
          </p:nvPicPr>
          <p:blipFill>
            <a:blip r:embed="rId4"/>
            <a:stretch/>
          </p:blipFill>
          <p:spPr>
            <a:xfrm>
              <a:off x="1200240" y="3402000"/>
              <a:ext cx="342720" cy="328680"/>
            </a:xfrm>
            <a:prstGeom prst="rect">
              <a:avLst/>
            </a:prstGeom>
            <a:noFill/>
            <a:ln w="0">
              <a:noFill/>
            </a:ln>
          </p:spPr>
        </p:pic>
        <p:sp>
          <p:nvSpPr>
            <p:cNvPr id="459" name=""/>
            <p:cNvSpPr/>
            <p:nvPr/>
          </p:nvSpPr>
          <p:spPr>
            <a:xfrm>
              <a:off x="1316160" y="3492360"/>
              <a:ext cx="11412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grpSp>
        <p:nvGrpSpPr>
          <p:cNvPr id="460" name="Flowchart: Decision 190"/>
          <p:cNvGrpSpPr/>
          <p:nvPr/>
        </p:nvGrpSpPr>
        <p:grpSpPr>
          <a:xfrm>
            <a:off x="2852640" y="3402000"/>
            <a:ext cx="347760" cy="328680"/>
            <a:chOff x="2852640" y="3402000"/>
            <a:chExt cx="347760" cy="328680"/>
          </a:xfrm>
        </p:grpSpPr>
        <p:pic>
          <p:nvPicPr>
            <p:cNvPr id="461" name="Flowchart: Decision 190" descr=""/>
            <p:cNvPicPr/>
            <p:nvPr/>
          </p:nvPicPr>
          <p:blipFill>
            <a:blip r:embed="rId5"/>
            <a:stretch/>
          </p:blipFill>
          <p:spPr>
            <a:xfrm>
              <a:off x="2852640" y="3402000"/>
              <a:ext cx="347760" cy="328680"/>
            </a:xfrm>
            <a:prstGeom prst="rect">
              <a:avLst/>
            </a:prstGeom>
            <a:noFill/>
            <a:ln w="0">
              <a:noFill/>
            </a:ln>
          </p:spPr>
        </p:pic>
        <p:sp>
          <p:nvSpPr>
            <p:cNvPr id="462" name=""/>
            <p:cNvSpPr/>
            <p:nvPr/>
          </p:nvSpPr>
          <p:spPr>
            <a:xfrm>
              <a:off x="2973240" y="3492360"/>
              <a:ext cx="11448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grpSp>
        <p:nvGrpSpPr>
          <p:cNvPr id="463" name="Flowchart: Decision 192"/>
          <p:cNvGrpSpPr/>
          <p:nvPr/>
        </p:nvGrpSpPr>
        <p:grpSpPr>
          <a:xfrm>
            <a:off x="4986360" y="3402000"/>
            <a:ext cx="347760" cy="328680"/>
            <a:chOff x="4986360" y="3402000"/>
            <a:chExt cx="347760" cy="328680"/>
          </a:xfrm>
        </p:grpSpPr>
        <p:pic>
          <p:nvPicPr>
            <p:cNvPr id="464" name="Flowchart: Decision 192" descr=""/>
            <p:cNvPicPr/>
            <p:nvPr/>
          </p:nvPicPr>
          <p:blipFill>
            <a:blip r:embed="rId6"/>
            <a:stretch/>
          </p:blipFill>
          <p:spPr>
            <a:xfrm>
              <a:off x="4986360" y="3402000"/>
              <a:ext cx="347760" cy="328680"/>
            </a:xfrm>
            <a:prstGeom prst="rect">
              <a:avLst/>
            </a:prstGeom>
            <a:noFill/>
            <a:ln w="0">
              <a:noFill/>
            </a:ln>
          </p:spPr>
        </p:pic>
        <p:sp>
          <p:nvSpPr>
            <p:cNvPr id="465" name=""/>
            <p:cNvSpPr/>
            <p:nvPr/>
          </p:nvSpPr>
          <p:spPr>
            <a:xfrm>
              <a:off x="5106960" y="3492360"/>
              <a:ext cx="11448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grpSp>
        <p:nvGrpSpPr>
          <p:cNvPr id="466" name="Flowchart: Decision 193"/>
          <p:cNvGrpSpPr/>
          <p:nvPr/>
        </p:nvGrpSpPr>
        <p:grpSpPr>
          <a:xfrm>
            <a:off x="7107120" y="3402000"/>
            <a:ext cx="347760" cy="328680"/>
            <a:chOff x="7107120" y="3402000"/>
            <a:chExt cx="347760" cy="328680"/>
          </a:xfrm>
        </p:grpSpPr>
        <p:pic>
          <p:nvPicPr>
            <p:cNvPr id="467" name="Flowchart: Decision 193" descr=""/>
            <p:cNvPicPr/>
            <p:nvPr/>
          </p:nvPicPr>
          <p:blipFill>
            <a:blip r:embed="rId7"/>
            <a:stretch/>
          </p:blipFill>
          <p:spPr>
            <a:xfrm>
              <a:off x="7107120" y="3402000"/>
              <a:ext cx="347760" cy="328680"/>
            </a:xfrm>
            <a:prstGeom prst="rect">
              <a:avLst/>
            </a:prstGeom>
            <a:noFill/>
            <a:ln w="0">
              <a:noFill/>
            </a:ln>
          </p:spPr>
        </p:pic>
        <p:sp>
          <p:nvSpPr>
            <p:cNvPr id="468" name=""/>
            <p:cNvSpPr/>
            <p:nvPr/>
          </p:nvSpPr>
          <p:spPr>
            <a:xfrm>
              <a:off x="7227720" y="3492360"/>
              <a:ext cx="11448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cxnSp>
        <p:nvCxnSpPr>
          <p:cNvPr id="469" name="Shape 78"/>
          <p:cNvCxnSpPr/>
          <p:nvPr/>
        </p:nvCxnSpPr>
        <p:spPr>
          <a:xfrm flipH="1" flipV="1" rot="5400000">
            <a:off x="5551200" y="3714120"/>
            <a:ext cx="1855080" cy="556560"/>
          </a:xfrm>
          <a:prstGeom prst="bentConnector3">
            <a:avLst>
              <a:gd name="adj1" fmla="val 100213"/>
            </a:avLst>
          </a:prstGeom>
          <a:ln w="9360">
            <a:solidFill>
              <a:srgbClr val="7030a0"/>
            </a:solidFill>
            <a:miter/>
            <a:headEnd len="med" type="oval" w="med"/>
            <a:tailEnd len="med" type="oval" w="med"/>
          </a:ln>
        </p:spPr>
      </p:cxnSp>
      <p:grpSp>
        <p:nvGrpSpPr>
          <p:cNvPr id="470" name="Flowchart: Decision 198"/>
          <p:cNvGrpSpPr/>
          <p:nvPr/>
        </p:nvGrpSpPr>
        <p:grpSpPr>
          <a:xfrm>
            <a:off x="6705720" y="2925720"/>
            <a:ext cx="341280" cy="330120"/>
            <a:chOff x="6705720" y="2925720"/>
            <a:chExt cx="341280" cy="330120"/>
          </a:xfrm>
        </p:grpSpPr>
        <p:pic>
          <p:nvPicPr>
            <p:cNvPr id="471" name="Flowchart: Decision 198" descr=""/>
            <p:cNvPicPr/>
            <p:nvPr/>
          </p:nvPicPr>
          <p:blipFill>
            <a:blip r:embed="rId8"/>
            <a:stretch/>
          </p:blipFill>
          <p:spPr>
            <a:xfrm>
              <a:off x="6705720" y="2925720"/>
              <a:ext cx="341280" cy="330120"/>
            </a:xfrm>
            <a:prstGeom prst="rect">
              <a:avLst/>
            </a:prstGeom>
            <a:noFill/>
            <a:ln w="0">
              <a:noFill/>
            </a:ln>
          </p:spPr>
        </p:pic>
        <p:sp>
          <p:nvSpPr>
            <p:cNvPr id="472" name=""/>
            <p:cNvSpPr/>
            <p:nvPr/>
          </p:nvSpPr>
          <p:spPr>
            <a:xfrm>
              <a:off x="6821640" y="3019320"/>
              <a:ext cx="114120" cy="108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Calibri"/>
                </a:rPr>
                <a:t> </a:t>
              </a:r>
              <a:endParaRPr b="0" lang="en-IN" sz="1800" strike="noStrike" u="none">
                <a:solidFill>
                  <a:srgbClr val="000000"/>
                </a:solidFill>
                <a:effectLst/>
                <a:uFillTx/>
                <a:latin typeface="Arial"/>
              </a:endParaRPr>
            </a:p>
          </p:txBody>
        </p:sp>
      </p:grpSp>
      <p:sp>
        <p:nvSpPr>
          <p:cNvPr id="473" name="Pentagon 76"/>
          <p:cNvSpPr/>
          <p:nvPr/>
        </p:nvSpPr>
        <p:spPr>
          <a:xfrm>
            <a:off x="1436760" y="1387440"/>
            <a:ext cx="5449680" cy="331920"/>
          </a:xfrm>
          <a:custGeom>
            <a:avLst/>
            <a:gdLst>
              <a:gd name="textAreaLeft" fmla="*/ 0 w 5449680"/>
              <a:gd name="textAreaRight" fmla="*/ 5449680 w 5449680"/>
              <a:gd name="textAreaTop" fmla="*/ 0 h 331920"/>
              <a:gd name="textAreaBottom" fmla="*/ 332280 h 331920"/>
            </a:gdLst>
            <a:ahLst/>
            <a:cxnLst/>
            <a:rect l="textAreaLeft" t="textAreaTop" r="textAreaRight" b="textAreaBottom"/>
            <a:pathLst>
              <a:path w="21600" h="21600">
                <a:moveTo>
                  <a:pt x="0" y="0"/>
                </a:moveTo>
                <a:lnTo>
                  <a:pt x="20743" y="0"/>
                </a:lnTo>
                <a:lnTo>
                  <a:pt x="21600" y="10800"/>
                </a:lnTo>
                <a:lnTo>
                  <a:pt x="20743" y="21600"/>
                </a:lnTo>
                <a:lnTo>
                  <a:pt x="0" y="21600"/>
                </a:lnTo>
                <a:close/>
              </a:path>
            </a:pathLst>
          </a:custGeom>
          <a:gradFill rotWithShape="0">
            <a:gsLst>
              <a:gs pos="0">
                <a:srgbClr val="c9b5e8"/>
              </a:gs>
              <a:gs pos="100000">
                <a:srgbClr val="f0eaf9"/>
              </a:gs>
            </a:gsLst>
            <a:lin ang="16200000"/>
          </a:gradFill>
          <a:ln w="9360">
            <a:solidFill>
              <a:srgbClr val="7d60a0"/>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660066"/>
                </a:solidFill>
                <a:effectLst/>
                <a:uFillTx/>
                <a:latin typeface="Calibri"/>
              </a:rPr>
              <a:t>SES Performance Plan RM element</a:t>
            </a:r>
            <a:endParaRPr b="0" lang="en-IN" sz="1100" strike="noStrike" u="none">
              <a:solidFill>
                <a:srgbClr val="000000"/>
              </a:solidFill>
              <a:effectLst/>
              <a:uFillTx/>
              <a:latin typeface="Arial"/>
            </a:endParaRPr>
          </a:p>
        </p:txBody>
      </p:sp>
      <p:sp>
        <p:nvSpPr>
          <p:cNvPr id="474" name="Slide Number Placeholder 4"/>
          <p:cNvSpPr/>
          <p:nvPr/>
        </p:nvSpPr>
        <p:spPr>
          <a:xfrm>
            <a:off x="3470400" y="6326280"/>
            <a:ext cx="5348160" cy="341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96BAA7-36DE-42BA-AF61-05384B851EA8}" type="slidenum">
              <a:rPr b="1" lang="en-US" sz="1200" strike="noStrike" u="none">
                <a:solidFill>
                  <a:srgbClr val="ffffff"/>
                </a:solidFill>
                <a:effectLst/>
                <a:uFillTx/>
                <a:latin typeface="Arial"/>
              </a:rPr>
              <a:t>&lt;number&gt;</a:t>
            </a:fld>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11105</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2006-11-30T09:44:00Z</dcterms:created>
  <dc:creator>DHHS</dc:creator>
  <dc:description/>
  <dc:language>en-IN</dc:language>
  <cp:lastModifiedBy>IT Services</cp:lastModifiedBy>
  <dcterms:modified xsi:type="dcterms:W3CDTF">2009-01-21T14:15:52Z</dcterms:modified>
  <cp:revision>614</cp:revision>
  <dc:subject/>
  <dc:title>HHS EA Presentation for RM Segment IPT 01_27_09</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ContentTypeId">
    <vt:lpwstr>0x010100D80CC59D707289438254114B22799AAB</vt:lpwstr>
  </property>
  <property fmtid="{D5CDD505-2E9C-101B-9397-08002B2CF9AE}" pid="4" name="Stage">
    <vt:lpwstr>phase 1</vt:lpwstr>
  </property>
  <property fmtid="{D5CDD505-2E9C-101B-9397-08002B2CF9AE}" pid="5" name="_Version">
    <vt:lpwstr>.5</vt:lpwstr>
  </property>
</Properties>
</file>