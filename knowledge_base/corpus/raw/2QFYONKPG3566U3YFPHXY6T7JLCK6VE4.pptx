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_rels/slideMaster1.xml.rels" ContentType="application/vnd.openxmlformats-package.relationships+xml"/>
  <Override PartName="/ppt/slideMasters/_rels/slideMaster2.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notesSlides/notesSlide115.xml" ContentType="application/vnd.openxmlformats-officedocument.presentationml.notesSlide+xml"/>
  <Override PartName="/ppt/notesSlides/_rels/notesSlide115.xml.rels" ContentType="application/vnd.openxmlformats-package.relationships+xml"/>
  <Override PartName="/ppt/notesSlides/_rels/notesSlide130.xml.rels" ContentType="application/vnd.openxmlformats-package.relationships+xml"/>
  <Override PartName="/ppt/notesSlides/_rels/notesSlide150.xml.rels" ContentType="application/vnd.openxmlformats-package.relationships+xml"/>
  <Override PartName="/ppt/notesSlides/notesSlide130.xml" ContentType="application/vnd.openxmlformats-officedocument.presentationml.notesSlide+xml"/>
  <Override PartName="/ppt/notesSlides/notesSlide150.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21.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23.xml" ContentType="application/vnd.openxmlformats-officedocument.presentationml.slide+xml"/>
  <Override PartName="/ppt/slides/slide7.xml" ContentType="application/vnd.openxmlformats-officedocument.presentationml.slide+xml"/>
  <Override PartName="/ppt/slides/slide24.xml" ContentType="application/vnd.openxmlformats-officedocument.presentationml.slide+xml"/>
  <Override PartName="/ppt/slides/slide8.xml" ContentType="application/vnd.openxmlformats-officedocument.presentationml.slide+xml"/>
  <Override PartName="/ppt/slides/slide25.xml" ContentType="application/vnd.openxmlformats-officedocument.presentationml.slide+xml"/>
  <Override PartName="/ppt/slides/slide9.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_rels/slide35.xml.rels" ContentType="application/vnd.openxmlformats-package.relationships+xml"/>
  <Override PartName="/ppt/slides/_rels/slide1.xml.rels" ContentType="application/vnd.openxmlformats-package.relationships+xml"/>
  <Override PartName="/ppt/slides/_rels/slide22.xml.rels" ContentType="application/vnd.openxmlformats-package.relationships+xml"/>
  <Override PartName="/ppt/slides/_rels/slide36.xml.rels" ContentType="application/vnd.openxmlformats-package.relationships+xml"/>
  <Override PartName="/ppt/slides/_rels/slide2.xml.rels" ContentType="application/vnd.openxmlformats-package.relationships+xml"/>
  <Override PartName="/ppt/slides/_rels/slide37.xml.rels" ContentType="application/vnd.openxmlformats-package.relationships+xml"/>
  <Override PartName="/ppt/slides/_rels/slide3.xml.rels" ContentType="application/vnd.openxmlformats-package.relationships+xml"/>
  <Override PartName="/ppt/slides/_rels/slide20.xml.rels" ContentType="application/vnd.openxmlformats-package.relationships+xml"/>
  <Override PartName="/ppt/slides/_rels/slide4.xml.rels" ContentType="application/vnd.openxmlformats-package.relationships+xml"/>
  <Override PartName="/ppt/slides/_rels/slide38.xml.rels" ContentType="application/vnd.openxmlformats-package.relationships+xml"/>
  <Override PartName="/ppt/slides/_rels/slide21.xml.rels" ContentType="application/vnd.openxmlformats-package.relationships+xml"/>
  <Override PartName="/ppt/slides/_rels/slide5.xml.rels" ContentType="application/vnd.openxmlformats-package.relationships+xml"/>
  <Override PartName="/ppt/slides/_rels/slide39.xml.rels" ContentType="application/vnd.openxmlformats-package.relationships+xml"/>
  <Override PartName="/ppt/slides/_rels/slide6.xml.rels" ContentType="application/vnd.openxmlformats-package.relationships+xml"/>
  <Override PartName="/ppt/slides/_rels/slide50.xml.rels" ContentType="application/vnd.openxmlformats-package.relationships+xml"/>
  <Override PartName="/ppt/slides/_rels/slide23.xml.rels" ContentType="application/vnd.openxmlformats-package.relationships+xml"/>
  <Override PartName="/ppt/slides/_rels/slide7.xml.rels" ContentType="application/vnd.openxmlformats-package.relationships+xml"/>
  <Override PartName="/ppt/slides/_rels/slide51.xml.rels" ContentType="application/vnd.openxmlformats-package.relationships+xml"/>
  <Override PartName="/ppt/slides/_rels/slide24.xml.rels" ContentType="application/vnd.openxmlformats-package.relationships+xml"/>
  <Override PartName="/ppt/slides/_rels/slide8.xml.rels" ContentType="application/vnd.openxmlformats-package.relationships+xml"/>
  <Override PartName="/ppt/slides/_rels/slide52.xml.rels" ContentType="application/vnd.openxmlformats-package.relationships+xml"/>
  <Override PartName="/ppt/slides/_rels/slide25.xml.rels" ContentType="application/vnd.openxmlformats-package.relationships+xml"/>
  <Override PartName="/ppt/slides/_rels/slide9.xml.rels" ContentType="application/vnd.openxmlformats-package.relationships+xml"/>
  <Override PartName="/ppt/slides/_rels/slide53.xml.rels" ContentType="application/vnd.openxmlformats-package.relationships+xml"/>
  <Override PartName="/ppt/slides/_rels/slide26.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slides/_rels/slide27.xml.rels" ContentType="application/vnd.openxmlformats-package.relationships+xml"/>
  <Override PartName="/ppt/slides/_rels/slide28.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31.xml.rels" ContentType="application/vnd.openxmlformats-package.relationships+xml"/>
  <Override PartName="/ppt/slides/_rels/slide32.xml.rels" ContentType="application/vnd.openxmlformats-package.relationships+xml"/>
  <Override PartName="/ppt/slides/_rels/slide33.xml.rels" ContentType="application/vnd.openxmlformats-package.relationships+xml"/>
  <Override PartName="/ppt/slides/_rels/slide34.xml.rels" ContentType="application/vnd.openxmlformats-package.relationships+xml"/>
  <Override PartName="/ppt/slides/_rels/slide40.xml.rels" ContentType="application/vnd.openxmlformats-package.relationships+xml"/>
  <Override PartName="/ppt/slides/_rels/slide41.xml.rels" ContentType="application/vnd.openxmlformats-package.relationships+xml"/>
  <Override PartName="/ppt/slides/_rels/slide42.xml.rels" ContentType="application/vnd.openxmlformats-package.relationships+xml"/>
  <Override PartName="/ppt/slides/_rels/slide43.xml.rels" ContentType="application/vnd.openxmlformats-package.relationships+xml"/>
  <Override PartName="/ppt/slides/_rels/slide44.xml.rels" ContentType="application/vnd.openxmlformats-package.relationships+xml"/>
  <Override PartName="/ppt/slides/_rels/slide45.xml.rels" ContentType="application/vnd.openxmlformats-package.relationships+xml"/>
  <Override PartName="/ppt/slides/_rels/slide46.xml.rels" ContentType="application/vnd.openxmlformats-package.relationships+xml"/>
  <Override PartName="/ppt/slides/_rels/slide47.xml.rels" ContentType="application/vnd.openxmlformats-package.relationships+xml"/>
  <Override PartName="/ppt/slides/_rels/slide48.xml.rels" ContentType="application/vnd.openxmlformats-package.relationships+xml"/>
  <Override PartName="/ppt/slides/_rels/slide49.xml.rels" ContentType="application/vnd.openxmlformats-package.relationships+xml"/>
  <Override PartName="/ppt/slides/_rels/slide54.xml.rels" ContentType="application/vnd.openxmlformats-package.relationships+xml"/>
  <Override PartName="/ppt/slides/_rels/slide55.xml.rels" ContentType="application/vnd.openxmlformats-package.relationships+xml"/>
  <Override PartName="/ppt/slides/_rels/slide56.xml.rels" ContentType="application/vnd.openxmlformats-package.relationships+xml"/>
  <Override PartName="/ppt/slides/_rels/slide57.xml.rels" ContentType="application/vnd.openxmlformats-package.relationships+xml"/>
  <Override PartName="/ppt/slides/_rels/slide58.xml.rels" ContentType="application/vnd.openxmlformats-package.relationships+xml"/>
  <Override PartName="/ppt/slides/_rels/slide59.xml.rels" ContentType="application/vnd.openxmlformats-package.relationships+xml"/>
  <Override PartName="/ppt/slides/_rels/slide60.xml.rels" ContentType="application/vnd.openxmlformats-package.relationships+xml"/>
  <Override PartName="/ppt/slides/_rels/slide61.xml.rels" ContentType="application/vnd.openxmlformats-package.relationships+xml"/>
  <Override PartName="/ppt/slides/_rels/slide62.xml.rels" ContentType="application/vnd.openxmlformats-package.relationships+xml"/>
  <Override PartName="/ppt/slides/_rels/slide63.xml.rels" ContentType="application/vnd.openxmlformats-package.relationships+xml"/>
  <Override PartName="/ppt/slides/_rels/slide64.xml.rels" ContentType="application/vnd.openxmlformats-package.relationships+xml"/>
  <Override PartName="/ppt/slides/_rels/slide65.xml.rels" ContentType="application/vnd.openxmlformats-package.relationships+xml"/>
  <Override PartName="/ppt/slides/_rels/slide66.xml.rels" ContentType="application/vnd.openxmlformats-package.relationships+xml"/>
  <Override PartName="/ppt/slides/_rels/slide67.xml.rels" ContentType="application/vnd.openxmlformats-package.relationships+xml"/>
  <Override PartName="/ppt/slides/_rels/slide68.xml.rels" ContentType="application/vnd.openxmlformats-package.relationships+xml"/>
  <Override PartName="/ppt/slides/_rels/slide69.xml.rels" ContentType="application/vnd.openxmlformats-package.relationships+xml"/>
  <Override PartName="/ppt/slides/_rels/slide70.xml.rels" ContentType="application/vnd.openxmlformats-package.relationships+xml"/>
  <Override PartName="/ppt/slides/_rels/slide71.xml.rels" ContentType="application/vnd.openxmlformats-package.relationships+xml"/>
  <Override PartName="/ppt/slides/_rels/slide72.xml.rels" ContentType="application/vnd.openxmlformats-package.relationships+xml"/>
  <Override PartName="/ppt/slides/_rels/slide73.xml.rels" ContentType="application/vnd.openxmlformats-package.relationships+xml"/>
  <Override PartName="/ppt/slides/_rels/slide74.xml.rels" ContentType="application/vnd.openxmlformats-package.relationships+xml"/>
  <Override PartName="/ppt/slides/_rels/slide75.xml.rels" ContentType="application/vnd.openxmlformats-package.relationships+xml"/>
  <Override PartName="/ppt/slides/_rels/slide76.xml.rels" ContentType="application/vnd.openxmlformats-package.relationships+xml"/>
  <Override PartName="/ppt/slides/_rels/slide77.xml.rels" ContentType="application/vnd.openxmlformats-package.relationships+xml"/>
  <Override PartName="/ppt/slides/_rels/slide78.xml.rels" ContentType="application/vnd.openxmlformats-package.relationships+xml"/>
  <Override PartName="/ppt/slides/_rels/slide79.xml.rels" ContentType="application/vnd.openxmlformats-package.relationships+xml"/>
  <Override PartName="/ppt/slides/_rels/slide80.xml.rels" ContentType="application/vnd.openxmlformats-package.relationships+xml"/>
  <Override PartName="/ppt/slides/_rels/slide81.xml.rels" ContentType="application/vnd.openxmlformats-package.relationships+xml"/>
  <Override PartName="/ppt/slides/_rels/slide82.xml.rels" ContentType="application/vnd.openxmlformats-package.relationships+xml"/>
  <Override PartName="/ppt/slides/_rels/slide83.xml.rels" ContentType="application/vnd.openxmlformats-package.relationships+xml"/>
  <Override PartName="/ppt/slides/_rels/slide84.xml.rels" ContentType="application/vnd.openxmlformats-package.relationships+xml"/>
  <Override PartName="/ppt/slides/_rels/slide85.xml.rels" ContentType="application/vnd.openxmlformats-package.relationships+xml"/>
  <Override PartName="/ppt/slides/_rels/slide86.xml.rels" ContentType="application/vnd.openxmlformats-package.relationships+xml"/>
  <Override PartName="/ppt/slides/_rels/slide87.xml.rels" ContentType="application/vnd.openxmlformats-package.relationships+xml"/>
  <Override PartName="/ppt/slides/_rels/slide88.xml.rels" ContentType="application/vnd.openxmlformats-package.relationships+xml"/>
  <Override PartName="/ppt/slides/_rels/slide89.xml.rels" ContentType="application/vnd.openxmlformats-package.relationships+xml"/>
  <Override PartName="/ppt/slides/_rels/slide90.xml.rels" ContentType="application/vnd.openxmlformats-package.relationships+xml"/>
  <Override PartName="/ppt/slides/_rels/slide91.xml.rels" ContentType="application/vnd.openxmlformats-package.relationships+xml"/>
  <Override PartName="/ppt/slides/_rels/slide92.xml.rels" ContentType="application/vnd.openxmlformats-package.relationships+xml"/>
  <Override PartName="/ppt/slides/_rels/slide93.xml.rels" ContentType="application/vnd.openxmlformats-package.relationships+xml"/>
  <Override PartName="/ppt/slides/_rels/slide94.xml.rels" ContentType="application/vnd.openxmlformats-package.relationships+xml"/>
  <Override PartName="/ppt/slides/_rels/slide95.xml.rels" ContentType="application/vnd.openxmlformats-package.relationships+xml"/>
  <Override PartName="/ppt/slides/_rels/slide96.xml.rels" ContentType="application/vnd.openxmlformats-package.relationships+xml"/>
  <Override PartName="/ppt/slides/_rels/slide97.xml.rels" ContentType="application/vnd.openxmlformats-package.relationships+xml"/>
  <Override PartName="/ppt/slides/_rels/slide98.xml.rels" ContentType="application/vnd.openxmlformats-package.relationships+xml"/>
  <Override PartName="/ppt/slides/_rels/slide99.xml.rels" ContentType="application/vnd.openxmlformats-package.relationships+xml"/>
  <Override PartName="/ppt/slides/_rels/slide100.xml.rels" ContentType="application/vnd.openxmlformats-package.relationships+xml"/>
  <Override PartName="/ppt/slides/_rels/slide101.xml.rels" ContentType="application/vnd.openxmlformats-package.relationships+xml"/>
  <Override PartName="/ppt/slides/_rels/slide102.xml.rels" ContentType="application/vnd.openxmlformats-package.relationships+xml"/>
  <Override PartName="/ppt/slides/_rels/slide103.xml.rels" ContentType="application/vnd.openxmlformats-package.relationships+xml"/>
  <Override PartName="/ppt/slides/_rels/slide104.xml.rels" ContentType="application/vnd.openxmlformats-package.relationships+xml"/>
  <Override PartName="/ppt/slides/_rels/slide105.xml.rels" ContentType="application/vnd.openxmlformats-package.relationships+xml"/>
  <Override PartName="/ppt/slides/_rels/slide106.xml.rels" ContentType="application/vnd.openxmlformats-package.relationships+xml"/>
  <Override PartName="/ppt/slides/_rels/slide107.xml.rels" ContentType="application/vnd.openxmlformats-package.relationships+xml"/>
  <Override PartName="/ppt/slides/_rels/slide108.xml.rels" ContentType="application/vnd.openxmlformats-package.relationships+xml"/>
  <Override PartName="/ppt/slides/_rels/slide109.xml.rels" ContentType="application/vnd.openxmlformats-package.relationships+xml"/>
  <Override PartName="/ppt/slides/_rels/slide110.xml.rels" ContentType="application/vnd.openxmlformats-package.relationships+xml"/>
  <Override PartName="/ppt/slides/_rels/slide111.xml.rels" ContentType="application/vnd.openxmlformats-package.relationships+xml"/>
  <Override PartName="/ppt/slides/_rels/slide112.xml.rels" ContentType="application/vnd.openxmlformats-package.relationships+xml"/>
  <Override PartName="/ppt/slides/_rels/slide113.xml.rels" ContentType="application/vnd.openxmlformats-package.relationships+xml"/>
  <Override PartName="/ppt/slides/_rels/slide114.xml.rels" ContentType="application/vnd.openxmlformats-package.relationships+xml"/>
  <Override PartName="/ppt/slides/_rels/slide115.xml.rels" ContentType="application/vnd.openxmlformats-package.relationships+xml"/>
  <Override PartName="/ppt/slides/_rels/slide116.xml.rels" ContentType="application/vnd.openxmlformats-package.relationships+xml"/>
  <Override PartName="/ppt/slides/_rels/slide117.xml.rels" ContentType="application/vnd.openxmlformats-package.relationships+xml"/>
  <Override PartName="/ppt/slides/_rels/slide118.xml.rels" ContentType="application/vnd.openxmlformats-package.relationships+xml"/>
  <Override PartName="/ppt/slides/_rels/slide119.xml.rels" ContentType="application/vnd.openxmlformats-package.relationships+xml"/>
  <Override PartName="/ppt/slides/_rels/slide120.xml.rels" ContentType="application/vnd.openxmlformats-package.relationships+xml"/>
  <Override PartName="/ppt/slides/_rels/slide121.xml.rels" ContentType="application/vnd.openxmlformats-package.relationships+xml"/>
  <Override PartName="/ppt/slides/_rels/slide122.xml.rels" ContentType="application/vnd.openxmlformats-package.relationships+xml"/>
  <Override PartName="/ppt/slides/_rels/slide123.xml.rels" ContentType="application/vnd.openxmlformats-package.relationships+xml"/>
  <Override PartName="/ppt/slides/_rels/slide124.xml.rels" ContentType="application/vnd.openxmlformats-package.relationships+xml"/>
  <Override PartName="/ppt/slides/_rels/slide125.xml.rels" ContentType="application/vnd.openxmlformats-package.relationships+xml"/>
  <Override PartName="/ppt/slides/_rels/slide126.xml.rels" ContentType="application/vnd.openxmlformats-package.relationships+xml"/>
  <Override PartName="/ppt/slides/_rels/slide127.xml.rels" ContentType="application/vnd.openxmlformats-package.relationships+xml"/>
  <Override PartName="/ppt/slides/_rels/slide128.xml.rels" ContentType="application/vnd.openxmlformats-package.relationships+xml"/>
  <Override PartName="/ppt/slides/_rels/slide129.xml.rels" ContentType="application/vnd.openxmlformats-package.relationships+xml"/>
  <Override PartName="/ppt/slides/_rels/slide130.xml.rels" ContentType="application/vnd.openxmlformats-package.relationships+xml"/>
  <Override PartName="/ppt/slides/_rels/slide131.xml.rels" ContentType="application/vnd.openxmlformats-package.relationships+xml"/>
  <Override PartName="/ppt/slides/_rels/slide132.xml.rels" ContentType="application/vnd.openxmlformats-package.relationships+xml"/>
  <Override PartName="/ppt/slides/_rels/slide133.xml.rels" ContentType="application/vnd.openxmlformats-package.relationships+xml"/>
  <Override PartName="/ppt/slides/_rels/slide134.xml.rels" ContentType="application/vnd.openxmlformats-package.relationships+xml"/>
  <Override PartName="/ppt/slides/_rels/slide135.xml.rels" ContentType="application/vnd.openxmlformats-package.relationships+xml"/>
  <Override PartName="/ppt/slides/_rels/slide136.xml.rels" ContentType="application/vnd.openxmlformats-package.relationships+xml"/>
  <Override PartName="/ppt/slides/_rels/slide137.xml.rels" ContentType="application/vnd.openxmlformats-package.relationships+xml"/>
  <Override PartName="/ppt/slides/_rels/slide138.xml.rels" ContentType="application/vnd.openxmlformats-package.relationships+xml"/>
  <Override PartName="/ppt/slides/_rels/slide139.xml.rels" ContentType="application/vnd.openxmlformats-package.relationships+xml"/>
  <Override PartName="/ppt/slides/_rels/slide140.xml.rels" ContentType="application/vnd.openxmlformats-package.relationships+xml"/>
  <Override PartName="/ppt/slides/_rels/slide141.xml.rels" ContentType="application/vnd.openxmlformats-package.relationships+xml"/>
  <Override PartName="/ppt/slides/_rels/slide142.xml.rels" ContentType="application/vnd.openxmlformats-package.relationships+xml"/>
  <Override PartName="/ppt/slides/_rels/slide143.xml.rels" ContentType="application/vnd.openxmlformats-package.relationships+xml"/>
  <Override PartName="/ppt/slides/_rels/slide144.xml.rels" ContentType="application/vnd.openxmlformats-package.relationships+xml"/>
  <Override PartName="/ppt/slides/_rels/slide145.xml.rels" ContentType="application/vnd.openxmlformats-package.relationships+xml"/>
  <Override PartName="/ppt/slides/_rels/slide146.xml.rels" ContentType="application/vnd.openxmlformats-package.relationships+xml"/>
  <Override PartName="/ppt/slides/_rels/slide147.xml.rels" ContentType="application/vnd.openxmlformats-package.relationships+xml"/>
  <Override PartName="/ppt/slides/_rels/slide148.xml.rels" ContentType="application/vnd.openxmlformats-package.relationships+xml"/>
  <Override PartName="/ppt/slides/_rels/slide149.xml.rels" ContentType="application/vnd.openxmlformats-package.relationships+xml"/>
  <Override PartName="/ppt/slides/_rels/slide150.xml.rels" ContentType="application/vnd.openxmlformats-package.relationships+xml"/>
  <Override PartName="/ppt/slides/_rels/slide151.xml.rels" ContentType="application/vnd.openxmlformats-package.relationships+xml"/>
  <Override PartName="/ppt/slides/_rels/slide152.xml.rels" ContentType="application/vnd.openxmlformats-package.relationships+xml"/>
  <Override PartName="/ppt/slides/_rels/slide153.xml.rels" ContentType="application/vnd.openxmlformats-package.relationships+xml"/>
  <Override PartName="/ppt/slides/_rels/slide154.xml.rels" ContentType="application/vnd.openxmlformats-package.relationships+xml"/>
  <Override PartName="/ppt/slides/_rels/slide155.xml.rels" ContentType="application/vnd.openxmlformats-package.relationships+xml"/>
  <Override PartName="/ppt/slides/_rels/slide156.xml.rels" ContentType="application/vnd.openxmlformats-package.relationships+xml"/>
  <Override PartName="/ppt/slides/_rels/slide157.xml.rels" ContentType="application/vnd.openxmlformats-package.relationships+xml"/>
  <Override PartName="/ppt/slides/_rels/slide158.xml.rels" ContentType="application/vnd.openxmlformats-package.relationships+xml"/>
  <Override PartName="/ppt/slides/_rels/slide159.xml.rels" ContentType="application/vnd.openxmlformats-package.relationships+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media/image1.pct" ContentType="image/x-pict"/>
  <Override PartName="/ppt/presProps.xml" ContentType="application/vnd.openxmlformats-officedocument.presentationml.presProps+xml"/>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 id="321" r:id="rId70"/>
    <p:sldId id="322" r:id="rId71"/>
    <p:sldId id="323" r:id="rId72"/>
    <p:sldId id="324" r:id="rId73"/>
    <p:sldId id="325" r:id="rId74"/>
    <p:sldId id="326" r:id="rId75"/>
    <p:sldId id="327" r:id="rId76"/>
    <p:sldId id="328" r:id="rId77"/>
    <p:sldId id="329" r:id="rId78"/>
    <p:sldId id="330" r:id="rId79"/>
    <p:sldId id="331" r:id="rId80"/>
    <p:sldId id="332" r:id="rId81"/>
    <p:sldId id="333" r:id="rId82"/>
    <p:sldId id="334" r:id="rId83"/>
    <p:sldId id="335" r:id="rId84"/>
    <p:sldId id="336" r:id="rId85"/>
    <p:sldId id="337" r:id="rId86"/>
    <p:sldId id="338" r:id="rId87"/>
    <p:sldId id="339" r:id="rId88"/>
    <p:sldId id="340" r:id="rId89"/>
    <p:sldId id="341" r:id="rId90"/>
    <p:sldId id="342" r:id="rId91"/>
    <p:sldId id="343" r:id="rId92"/>
    <p:sldId id="344" r:id="rId93"/>
    <p:sldId id="345" r:id="rId94"/>
    <p:sldId id="346" r:id="rId95"/>
    <p:sldId id="347" r:id="rId96"/>
    <p:sldId id="348" r:id="rId97"/>
    <p:sldId id="349" r:id="rId98"/>
    <p:sldId id="350" r:id="rId99"/>
    <p:sldId id="351" r:id="rId100"/>
    <p:sldId id="352" r:id="rId101"/>
    <p:sldId id="353" r:id="rId102"/>
    <p:sldId id="354" r:id="rId103"/>
    <p:sldId id="355" r:id="rId104"/>
    <p:sldId id="356" r:id="rId105"/>
    <p:sldId id="357" r:id="rId106"/>
    <p:sldId id="358" r:id="rId107"/>
    <p:sldId id="359" r:id="rId108"/>
    <p:sldId id="360" r:id="rId109"/>
    <p:sldId id="361" r:id="rId110"/>
    <p:sldId id="362" r:id="rId111"/>
    <p:sldId id="363" r:id="rId112"/>
    <p:sldId id="364" r:id="rId113"/>
    <p:sldId id="365" r:id="rId114"/>
    <p:sldId id="366" r:id="rId115"/>
    <p:sldId id="367" r:id="rId116"/>
    <p:sldId id="368" r:id="rId117"/>
    <p:sldId id="369" r:id="rId118"/>
    <p:sldId id="370" r:id="rId119"/>
    <p:sldId id="371" r:id="rId120"/>
    <p:sldId id="372" r:id="rId121"/>
    <p:sldId id="373" r:id="rId122"/>
    <p:sldId id="374" r:id="rId123"/>
    <p:sldId id="375" r:id="rId124"/>
    <p:sldId id="376" r:id="rId125"/>
    <p:sldId id="377" r:id="rId126"/>
    <p:sldId id="378" r:id="rId127"/>
    <p:sldId id="379" r:id="rId128"/>
    <p:sldId id="380" r:id="rId129"/>
    <p:sldId id="381" r:id="rId130"/>
    <p:sldId id="382" r:id="rId131"/>
    <p:sldId id="383" r:id="rId132"/>
    <p:sldId id="384" r:id="rId133"/>
    <p:sldId id="385" r:id="rId134"/>
    <p:sldId id="386" r:id="rId135"/>
    <p:sldId id="387" r:id="rId136"/>
    <p:sldId id="388" r:id="rId137"/>
    <p:sldId id="389" r:id="rId138"/>
    <p:sldId id="390" r:id="rId139"/>
    <p:sldId id="391" r:id="rId140"/>
    <p:sldId id="392" r:id="rId141"/>
    <p:sldId id="393" r:id="rId142"/>
    <p:sldId id="394" r:id="rId143"/>
    <p:sldId id="395" r:id="rId144"/>
    <p:sldId id="396" r:id="rId145"/>
    <p:sldId id="397" r:id="rId146"/>
    <p:sldId id="398" r:id="rId147"/>
    <p:sldId id="399" r:id="rId148"/>
    <p:sldId id="400" r:id="rId149"/>
    <p:sldId id="401" r:id="rId150"/>
    <p:sldId id="402" r:id="rId151"/>
    <p:sldId id="403" r:id="rId152"/>
    <p:sldId id="404" r:id="rId153"/>
    <p:sldId id="405" r:id="rId154"/>
    <p:sldId id="406" r:id="rId155"/>
    <p:sldId id="407" r:id="rId156"/>
    <p:sldId id="408" r:id="rId157"/>
    <p:sldId id="409" r:id="rId158"/>
    <p:sldId id="410" r:id="rId159"/>
    <p:sldId id="411" r:id="rId160"/>
    <p:sldId id="412" r:id="rId161"/>
    <p:sldId id="413" r:id="rId162"/>
    <p:sldId id="414" r:id="rId163"/>
  </p:sldIdLst>
  <p:sldSz cx="9144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4.xml"/><Relationship Id="rId49" Type="http://schemas.openxmlformats.org/officeDocument/2006/relationships/slide" Target="slides/slide45.xml"/><Relationship Id="rId50" Type="http://schemas.openxmlformats.org/officeDocument/2006/relationships/slide" Target="slides/slide46.xml"/><Relationship Id="rId51" Type="http://schemas.openxmlformats.org/officeDocument/2006/relationships/slide" Target="slides/slide47.xml"/><Relationship Id="rId52" Type="http://schemas.openxmlformats.org/officeDocument/2006/relationships/slide" Target="slides/slide48.xml"/><Relationship Id="rId53" Type="http://schemas.openxmlformats.org/officeDocument/2006/relationships/slide" Target="slides/slide49.xml"/><Relationship Id="rId54" Type="http://schemas.openxmlformats.org/officeDocument/2006/relationships/slide" Target="slides/slide50.xml"/><Relationship Id="rId55" Type="http://schemas.openxmlformats.org/officeDocument/2006/relationships/slide" Target="slides/slide51.xml"/><Relationship Id="rId56" Type="http://schemas.openxmlformats.org/officeDocument/2006/relationships/slide" Target="slides/slide52.xml"/><Relationship Id="rId57" Type="http://schemas.openxmlformats.org/officeDocument/2006/relationships/slide" Target="slides/slide53.xml"/><Relationship Id="rId58" Type="http://schemas.openxmlformats.org/officeDocument/2006/relationships/slide" Target="slides/slide54.xml"/><Relationship Id="rId59" Type="http://schemas.openxmlformats.org/officeDocument/2006/relationships/slide" Target="slides/slide55.xml"/><Relationship Id="rId60" Type="http://schemas.openxmlformats.org/officeDocument/2006/relationships/slide" Target="slides/slide56.xml"/><Relationship Id="rId61" Type="http://schemas.openxmlformats.org/officeDocument/2006/relationships/slide" Target="slides/slide57.xml"/><Relationship Id="rId62" Type="http://schemas.openxmlformats.org/officeDocument/2006/relationships/slide" Target="slides/slide58.xml"/><Relationship Id="rId63" Type="http://schemas.openxmlformats.org/officeDocument/2006/relationships/slide" Target="slides/slide59.xml"/><Relationship Id="rId64" Type="http://schemas.openxmlformats.org/officeDocument/2006/relationships/slide" Target="slides/slide60.xml"/><Relationship Id="rId65" Type="http://schemas.openxmlformats.org/officeDocument/2006/relationships/slide" Target="slides/slide61.xml"/><Relationship Id="rId66" Type="http://schemas.openxmlformats.org/officeDocument/2006/relationships/slide" Target="slides/slide62.xml"/><Relationship Id="rId67" Type="http://schemas.openxmlformats.org/officeDocument/2006/relationships/slide" Target="slides/slide63.xml"/><Relationship Id="rId68" Type="http://schemas.openxmlformats.org/officeDocument/2006/relationships/slide" Target="slides/slide64.xml"/><Relationship Id="rId69" Type="http://schemas.openxmlformats.org/officeDocument/2006/relationships/slide" Target="slides/slide65.xml"/><Relationship Id="rId70" Type="http://schemas.openxmlformats.org/officeDocument/2006/relationships/slide" Target="slides/slide66.xml"/><Relationship Id="rId71" Type="http://schemas.openxmlformats.org/officeDocument/2006/relationships/slide" Target="slides/slide67.xml"/><Relationship Id="rId72" Type="http://schemas.openxmlformats.org/officeDocument/2006/relationships/slide" Target="slides/slide68.xml"/><Relationship Id="rId73" Type="http://schemas.openxmlformats.org/officeDocument/2006/relationships/slide" Target="slides/slide69.xml"/><Relationship Id="rId74" Type="http://schemas.openxmlformats.org/officeDocument/2006/relationships/slide" Target="slides/slide70.xml"/><Relationship Id="rId75" Type="http://schemas.openxmlformats.org/officeDocument/2006/relationships/slide" Target="slides/slide71.xml"/><Relationship Id="rId76" Type="http://schemas.openxmlformats.org/officeDocument/2006/relationships/slide" Target="slides/slide72.xml"/><Relationship Id="rId77" Type="http://schemas.openxmlformats.org/officeDocument/2006/relationships/slide" Target="slides/slide73.xml"/><Relationship Id="rId78" Type="http://schemas.openxmlformats.org/officeDocument/2006/relationships/slide" Target="slides/slide74.xml"/><Relationship Id="rId79" Type="http://schemas.openxmlformats.org/officeDocument/2006/relationships/slide" Target="slides/slide75.xml"/><Relationship Id="rId80" Type="http://schemas.openxmlformats.org/officeDocument/2006/relationships/slide" Target="slides/slide76.xml"/><Relationship Id="rId81" Type="http://schemas.openxmlformats.org/officeDocument/2006/relationships/slide" Target="slides/slide77.xml"/><Relationship Id="rId82" Type="http://schemas.openxmlformats.org/officeDocument/2006/relationships/slide" Target="slides/slide78.xml"/><Relationship Id="rId83" Type="http://schemas.openxmlformats.org/officeDocument/2006/relationships/slide" Target="slides/slide79.xml"/><Relationship Id="rId84" Type="http://schemas.openxmlformats.org/officeDocument/2006/relationships/slide" Target="slides/slide80.xml"/><Relationship Id="rId85" Type="http://schemas.openxmlformats.org/officeDocument/2006/relationships/slide" Target="slides/slide81.xml"/><Relationship Id="rId86" Type="http://schemas.openxmlformats.org/officeDocument/2006/relationships/slide" Target="slides/slide82.xml"/><Relationship Id="rId87" Type="http://schemas.openxmlformats.org/officeDocument/2006/relationships/slide" Target="slides/slide83.xml"/><Relationship Id="rId88" Type="http://schemas.openxmlformats.org/officeDocument/2006/relationships/slide" Target="slides/slide84.xml"/><Relationship Id="rId89" Type="http://schemas.openxmlformats.org/officeDocument/2006/relationships/slide" Target="slides/slide85.xml"/><Relationship Id="rId90" Type="http://schemas.openxmlformats.org/officeDocument/2006/relationships/slide" Target="slides/slide86.xml"/><Relationship Id="rId91" Type="http://schemas.openxmlformats.org/officeDocument/2006/relationships/slide" Target="slides/slide87.xml"/><Relationship Id="rId92" Type="http://schemas.openxmlformats.org/officeDocument/2006/relationships/slide" Target="slides/slide88.xml"/><Relationship Id="rId93" Type="http://schemas.openxmlformats.org/officeDocument/2006/relationships/slide" Target="slides/slide89.xml"/><Relationship Id="rId94" Type="http://schemas.openxmlformats.org/officeDocument/2006/relationships/slide" Target="slides/slide90.xml"/><Relationship Id="rId95" Type="http://schemas.openxmlformats.org/officeDocument/2006/relationships/slide" Target="slides/slide91.xml"/><Relationship Id="rId96" Type="http://schemas.openxmlformats.org/officeDocument/2006/relationships/slide" Target="slides/slide92.xml"/><Relationship Id="rId97" Type="http://schemas.openxmlformats.org/officeDocument/2006/relationships/slide" Target="slides/slide93.xml"/><Relationship Id="rId98" Type="http://schemas.openxmlformats.org/officeDocument/2006/relationships/slide" Target="slides/slide94.xml"/><Relationship Id="rId99" Type="http://schemas.openxmlformats.org/officeDocument/2006/relationships/slide" Target="slides/slide95.xml"/><Relationship Id="rId100" Type="http://schemas.openxmlformats.org/officeDocument/2006/relationships/slide" Target="slides/slide96.xml"/><Relationship Id="rId101" Type="http://schemas.openxmlformats.org/officeDocument/2006/relationships/slide" Target="slides/slide97.xml"/><Relationship Id="rId102" Type="http://schemas.openxmlformats.org/officeDocument/2006/relationships/slide" Target="slides/slide98.xml"/><Relationship Id="rId103" Type="http://schemas.openxmlformats.org/officeDocument/2006/relationships/slide" Target="slides/slide99.xml"/><Relationship Id="rId104" Type="http://schemas.openxmlformats.org/officeDocument/2006/relationships/slide" Target="slides/slide100.xml"/><Relationship Id="rId105" Type="http://schemas.openxmlformats.org/officeDocument/2006/relationships/slide" Target="slides/slide101.xml"/><Relationship Id="rId106" Type="http://schemas.openxmlformats.org/officeDocument/2006/relationships/slide" Target="slides/slide102.xml"/><Relationship Id="rId107" Type="http://schemas.openxmlformats.org/officeDocument/2006/relationships/slide" Target="slides/slide103.xml"/><Relationship Id="rId108" Type="http://schemas.openxmlformats.org/officeDocument/2006/relationships/slide" Target="slides/slide104.xml"/><Relationship Id="rId109" Type="http://schemas.openxmlformats.org/officeDocument/2006/relationships/slide" Target="slides/slide105.xml"/><Relationship Id="rId110" Type="http://schemas.openxmlformats.org/officeDocument/2006/relationships/slide" Target="slides/slide106.xml"/><Relationship Id="rId111" Type="http://schemas.openxmlformats.org/officeDocument/2006/relationships/slide" Target="slides/slide107.xml"/><Relationship Id="rId112" Type="http://schemas.openxmlformats.org/officeDocument/2006/relationships/slide" Target="slides/slide108.xml"/><Relationship Id="rId113" Type="http://schemas.openxmlformats.org/officeDocument/2006/relationships/slide" Target="slides/slide109.xml"/><Relationship Id="rId114" Type="http://schemas.openxmlformats.org/officeDocument/2006/relationships/slide" Target="slides/slide110.xml"/><Relationship Id="rId115" Type="http://schemas.openxmlformats.org/officeDocument/2006/relationships/slide" Target="slides/slide111.xml"/><Relationship Id="rId116" Type="http://schemas.openxmlformats.org/officeDocument/2006/relationships/slide" Target="slides/slide112.xml"/><Relationship Id="rId117" Type="http://schemas.openxmlformats.org/officeDocument/2006/relationships/slide" Target="slides/slide113.xml"/><Relationship Id="rId118" Type="http://schemas.openxmlformats.org/officeDocument/2006/relationships/slide" Target="slides/slide114.xml"/><Relationship Id="rId119" Type="http://schemas.openxmlformats.org/officeDocument/2006/relationships/slide" Target="slides/slide115.xml"/><Relationship Id="rId120" Type="http://schemas.openxmlformats.org/officeDocument/2006/relationships/slide" Target="slides/slide116.xml"/><Relationship Id="rId121" Type="http://schemas.openxmlformats.org/officeDocument/2006/relationships/slide" Target="slides/slide117.xml"/><Relationship Id="rId122" Type="http://schemas.openxmlformats.org/officeDocument/2006/relationships/slide" Target="slides/slide118.xml"/><Relationship Id="rId123" Type="http://schemas.openxmlformats.org/officeDocument/2006/relationships/slide" Target="slides/slide119.xml"/><Relationship Id="rId124" Type="http://schemas.openxmlformats.org/officeDocument/2006/relationships/slide" Target="slides/slide120.xml"/><Relationship Id="rId125" Type="http://schemas.openxmlformats.org/officeDocument/2006/relationships/slide" Target="slides/slide121.xml"/><Relationship Id="rId126" Type="http://schemas.openxmlformats.org/officeDocument/2006/relationships/slide" Target="slides/slide122.xml"/><Relationship Id="rId127" Type="http://schemas.openxmlformats.org/officeDocument/2006/relationships/slide" Target="slides/slide123.xml"/><Relationship Id="rId128" Type="http://schemas.openxmlformats.org/officeDocument/2006/relationships/slide" Target="slides/slide124.xml"/><Relationship Id="rId129" Type="http://schemas.openxmlformats.org/officeDocument/2006/relationships/slide" Target="slides/slide125.xml"/><Relationship Id="rId130" Type="http://schemas.openxmlformats.org/officeDocument/2006/relationships/slide" Target="slides/slide126.xml"/><Relationship Id="rId131" Type="http://schemas.openxmlformats.org/officeDocument/2006/relationships/slide" Target="slides/slide127.xml"/><Relationship Id="rId132" Type="http://schemas.openxmlformats.org/officeDocument/2006/relationships/slide" Target="slides/slide128.xml"/><Relationship Id="rId133" Type="http://schemas.openxmlformats.org/officeDocument/2006/relationships/slide" Target="slides/slide129.xml"/><Relationship Id="rId134" Type="http://schemas.openxmlformats.org/officeDocument/2006/relationships/slide" Target="slides/slide130.xml"/><Relationship Id="rId135" Type="http://schemas.openxmlformats.org/officeDocument/2006/relationships/slide" Target="slides/slide131.xml"/><Relationship Id="rId136" Type="http://schemas.openxmlformats.org/officeDocument/2006/relationships/slide" Target="slides/slide132.xml"/><Relationship Id="rId137" Type="http://schemas.openxmlformats.org/officeDocument/2006/relationships/slide" Target="slides/slide133.xml"/><Relationship Id="rId138" Type="http://schemas.openxmlformats.org/officeDocument/2006/relationships/slide" Target="slides/slide134.xml"/><Relationship Id="rId139" Type="http://schemas.openxmlformats.org/officeDocument/2006/relationships/slide" Target="slides/slide135.xml"/><Relationship Id="rId140" Type="http://schemas.openxmlformats.org/officeDocument/2006/relationships/slide" Target="slides/slide136.xml"/><Relationship Id="rId141" Type="http://schemas.openxmlformats.org/officeDocument/2006/relationships/slide" Target="slides/slide137.xml"/><Relationship Id="rId142" Type="http://schemas.openxmlformats.org/officeDocument/2006/relationships/slide" Target="slides/slide138.xml"/><Relationship Id="rId143" Type="http://schemas.openxmlformats.org/officeDocument/2006/relationships/slide" Target="slides/slide139.xml"/><Relationship Id="rId144" Type="http://schemas.openxmlformats.org/officeDocument/2006/relationships/slide" Target="slides/slide140.xml"/><Relationship Id="rId145" Type="http://schemas.openxmlformats.org/officeDocument/2006/relationships/slide" Target="slides/slide141.xml"/><Relationship Id="rId146" Type="http://schemas.openxmlformats.org/officeDocument/2006/relationships/slide" Target="slides/slide142.xml"/><Relationship Id="rId147" Type="http://schemas.openxmlformats.org/officeDocument/2006/relationships/slide" Target="slides/slide143.xml"/><Relationship Id="rId148" Type="http://schemas.openxmlformats.org/officeDocument/2006/relationships/slide" Target="slides/slide144.xml"/><Relationship Id="rId149" Type="http://schemas.openxmlformats.org/officeDocument/2006/relationships/slide" Target="slides/slide145.xml"/><Relationship Id="rId150" Type="http://schemas.openxmlformats.org/officeDocument/2006/relationships/slide" Target="slides/slide146.xml"/><Relationship Id="rId151" Type="http://schemas.openxmlformats.org/officeDocument/2006/relationships/slide" Target="slides/slide147.xml"/><Relationship Id="rId152" Type="http://schemas.openxmlformats.org/officeDocument/2006/relationships/slide" Target="slides/slide148.xml"/><Relationship Id="rId153" Type="http://schemas.openxmlformats.org/officeDocument/2006/relationships/slide" Target="slides/slide149.xml"/><Relationship Id="rId154" Type="http://schemas.openxmlformats.org/officeDocument/2006/relationships/slide" Target="slides/slide150.xml"/><Relationship Id="rId155" Type="http://schemas.openxmlformats.org/officeDocument/2006/relationships/slide" Target="slides/slide151.xml"/><Relationship Id="rId156" Type="http://schemas.openxmlformats.org/officeDocument/2006/relationships/slide" Target="slides/slide152.xml"/><Relationship Id="rId157" Type="http://schemas.openxmlformats.org/officeDocument/2006/relationships/slide" Target="slides/slide153.xml"/><Relationship Id="rId158" Type="http://schemas.openxmlformats.org/officeDocument/2006/relationships/slide" Target="slides/slide154.xml"/><Relationship Id="rId159" Type="http://schemas.openxmlformats.org/officeDocument/2006/relationships/slide" Target="slides/slide155.xml"/><Relationship Id="rId160" Type="http://schemas.openxmlformats.org/officeDocument/2006/relationships/slide" Target="slides/slide156.xml"/><Relationship Id="rId161" Type="http://schemas.openxmlformats.org/officeDocument/2006/relationships/slide" Target="slides/slide157.xml"/><Relationship Id="rId162" Type="http://schemas.openxmlformats.org/officeDocument/2006/relationships/slide" Target="slides/slide158.xml"/><Relationship Id="rId163" Type="http://schemas.openxmlformats.org/officeDocument/2006/relationships/slide" Target="slides/slide159.xml"/><Relationship Id="rId164"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 name="PlaceHolder 1"/>
          <p:cNvSpPr>
            <a:spLocks noGrp="1"/>
          </p:cNvSpPr>
          <p:nvPr>
            <p:ph type="sldImg"/>
          </p:nvPr>
        </p:nvSpPr>
        <p:spPr>
          <a:xfrm>
            <a:off x="0" y="812520"/>
            <a:ext cx="0" cy="0"/>
          </a:xfrm>
          <a:prstGeom prst="rect">
            <a:avLst/>
          </a:prstGeom>
          <a:noFill/>
          <a:ln w="0">
            <a:noFill/>
          </a:ln>
        </p:spPr>
        <p:txBody>
          <a:bodyPr lIns="0" rIns="0" tIns="0" bIns="0" anchor="ctr">
            <a:noAutofit/>
          </a:bodyPr>
          <a:p>
            <a:pPr algn="ctr"/>
            <a:r>
              <a:rPr b="0" lang="en-IN" sz="4400" strike="noStrike" u="none">
                <a:solidFill>
                  <a:srgbClr val="000000"/>
                </a:solidFill>
                <a:effectLst/>
                <a:uFillTx/>
                <a:latin typeface="Arial"/>
              </a:rPr>
              <a:t>Click to move the slide</a:t>
            </a:r>
            <a:endParaRPr b="0" lang="en-IN" sz="4400" strike="noStrike" u="none">
              <a:solidFill>
                <a:srgbClr val="000000"/>
              </a:solidFill>
              <a:effectLst/>
              <a:uFillTx/>
              <a:latin typeface="Arial"/>
            </a:endParaRPr>
          </a:p>
        </p:txBody>
      </p:sp>
      <p:sp>
        <p:nvSpPr>
          <p:cNvPr id="10"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b="0" lang="en-IN" sz="2000" strike="noStrike" u="none">
                <a:solidFill>
                  <a:srgbClr val="000000"/>
                </a:solidFill>
                <a:effectLst/>
                <a:uFillTx/>
                <a:latin typeface="Arial"/>
              </a:rPr>
              <a:t>Click to edit the notes format</a:t>
            </a:r>
            <a:endParaRPr b="0" lang="en-IN" sz="2000" strike="noStrike" u="none">
              <a:solidFill>
                <a:srgbClr val="000000"/>
              </a:solidFill>
              <a:effectLst/>
              <a:uFillTx/>
              <a:latin typeface="Arial"/>
            </a:endParaRPr>
          </a:p>
        </p:txBody>
      </p:sp>
      <p:sp>
        <p:nvSpPr>
          <p:cNvPr id="11"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IN" sz="1400" strike="noStrike" u="none">
                <a:solidFill>
                  <a:srgbClr val="000000"/>
                </a:solidFill>
                <a:effectLst/>
                <a:uFillTx/>
                <a:latin typeface="Times New Roman"/>
              </a:rPr>
              <a:t>&lt;header&gt;</a:t>
            </a:r>
            <a:endParaRPr b="0" lang="en-IN" sz="1400" strike="noStrike" u="none">
              <a:solidFill>
                <a:srgbClr val="000000"/>
              </a:solidFill>
              <a:effectLst/>
              <a:uFillTx/>
              <a:latin typeface="Times New Roman"/>
            </a:endParaRPr>
          </a:p>
        </p:txBody>
      </p:sp>
      <p:sp>
        <p:nvSpPr>
          <p:cNvPr id="12"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en-IN" sz="1400" strike="noStrike" u="none">
                <a:solidFill>
                  <a:srgbClr val="000000"/>
                </a:solidFill>
                <a:effectLst/>
                <a:uFillTx/>
                <a:latin typeface="Times New Roman"/>
              </a:defRPr>
            </a:lvl1pPr>
          </a:lstStyle>
          <a:p>
            <a:pPr indent="0" algn="r">
              <a:buNone/>
            </a:pPr>
            <a:r>
              <a:rPr b="0" lang="en-IN" sz="1400" strike="noStrike" u="none">
                <a:solidFill>
                  <a:srgbClr val="000000"/>
                </a:solidFill>
                <a:effectLst/>
                <a:uFillTx/>
                <a:latin typeface="Times New Roman"/>
              </a:rPr>
              <a:t>&lt;date/time&gt;</a:t>
            </a:r>
            <a:endParaRPr b="0" lang="en-IN" sz="1400" strike="noStrike" u="none">
              <a:solidFill>
                <a:srgbClr val="000000"/>
              </a:solidFill>
              <a:effectLst/>
              <a:uFillTx/>
              <a:latin typeface="Times New Roman"/>
            </a:endParaRPr>
          </a:p>
        </p:txBody>
      </p:sp>
      <p:sp>
        <p:nvSpPr>
          <p:cNvPr id="13"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en-IN" sz="1400" strike="noStrike" u="none">
                <a:solidFill>
                  <a:srgbClr val="000000"/>
                </a:solidFill>
                <a:effectLst/>
                <a:uFillTx/>
                <a:latin typeface="Times New Roman"/>
              </a:defRPr>
            </a:lvl1pPr>
          </a:lstStyle>
          <a:p>
            <a:pPr indent="0">
              <a:buNone/>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14"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en-IN" sz="1400" strike="noStrike" u="none">
                <a:solidFill>
                  <a:srgbClr val="000000"/>
                </a:solidFill>
                <a:effectLst/>
                <a:uFillTx/>
                <a:latin typeface="Times New Roman"/>
              </a:defRPr>
            </a:lvl1pPr>
          </a:lstStyle>
          <a:p>
            <a:pPr indent="0" algn="r">
              <a:buNone/>
            </a:pPr>
            <a:fld id="{4BB01B5B-A44F-4A1A-B234-40CA76360473}" type="slidenum">
              <a:rPr b="0" lang="en-IN" sz="1400" strike="noStrike" u="none">
                <a:solidFill>
                  <a:srgbClr val="000000"/>
                </a:solidFill>
                <a:effectLst/>
                <a:uFillTx/>
                <a:latin typeface="Times New Roman"/>
              </a:rPr>
              <a:t>&lt;number&gt;</a:t>
            </a:fld>
            <a:endParaRPr b="0" lang="en-IN"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15.xml.rels><?xml version="1.0" encoding="UTF-8"?>
<Relationships xmlns="http://schemas.openxmlformats.org/package/2006/relationships"><Relationship Id="rId1" Type="http://schemas.openxmlformats.org/officeDocument/2006/relationships/slide" Target="../slides/slide115.xml"/><Relationship Id="rId2" Type="http://schemas.openxmlformats.org/officeDocument/2006/relationships/notesMaster" Target="../notesMasters/notesMaster1.xml"/>
</Relationships>
</file>

<file path=ppt/notesSlides/_rels/notesSlide130.xml.rels><?xml version="1.0" encoding="UTF-8"?>
<Relationships xmlns="http://schemas.openxmlformats.org/package/2006/relationships"><Relationship Id="rId1" Type="http://schemas.openxmlformats.org/officeDocument/2006/relationships/slide" Target="../slides/slide130.xml"/><Relationship Id="rId2" Type="http://schemas.openxmlformats.org/officeDocument/2006/relationships/notesMaster" Target="../notesMasters/notesMaster1.xml"/>
</Relationships>
</file>

<file path=ppt/notesSlides/_rels/notesSlide150.xml.rels><?xml version="1.0" encoding="UTF-8"?>
<Relationships xmlns="http://schemas.openxmlformats.org/package/2006/relationships"><Relationship Id="rId1" Type="http://schemas.openxmlformats.org/officeDocument/2006/relationships/slide" Target="../slides/slide150.xml"/><Relationship Id="rId2" Type="http://schemas.openxmlformats.org/officeDocument/2006/relationships/notesMaster" Target="../notesMasters/notesMaster1.xml"/>
</Relationships>
</file>

<file path=ppt/notesSlides/notesSlide1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7" name="PlaceHolder 1"/>
          <p:cNvSpPr>
            <a:spLocks noGrp="1"/>
          </p:cNvSpPr>
          <p:nvPr>
            <p:ph type="sldImg"/>
          </p:nvPr>
        </p:nvSpPr>
        <p:spPr>
          <a:xfrm>
            <a:off x="1371600" y="768240"/>
            <a:ext cx="5029200" cy="3767400"/>
          </a:xfrm>
          <a:prstGeom prst="rect">
            <a:avLst/>
          </a:prstGeom>
          <a:ln w="0">
            <a:noFill/>
          </a:ln>
        </p:spPr>
      </p:sp>
      <p:sp>
        <p:nvSpPr>
          <p:cNvPr id="348" name="PlaceHolder 2"/>
          <p:cNvSpPr>
            <a:spLocks noGrp="1"/>
          </p:cNvSpPr>
          <p:nvPr>
            <p:ph type="body"/>
          </p:nvPr>
        </p:nvSpPr>
        <p:spPr>
          <a:xfrm>
            <a:off x="777240" y="4773240"/>
            <a:ext cx="6217920" cy="4526280"/>
          </a:xfrm>
          <a:prstGeom prst="rect">
            <a:avLst/>
          </a:prstGeom>
          <a:noFill/>
          <a:ln w="0">
            <a:noFill/>
          </a:ln>
        </p:spPr>
        <p:txBody>
          <a:bodyPr lIns="0" rIns="0" tIns="0" bIns="0" anchor="t">
            <a:spAutoFit/>
          </a:bodyPr>
          <a:p>
            <a:pPr indent="0">
              <a:lnSpc>
                <a:spcPct val="90000"/>
              </a:lnSpc>
              <a:spcBef>
                <a:spcPts val="961"/>
              </a:spcBef>
              <a:buNone/>
            </a:pPr>
            <a:r>
              <a:rPr b="0" lang="en-IN" sz="1200" strike="noStrike" u="none">
                <a:solidFill>
                  <a:srgbClr val="000000"/>
                </a:solidFill>
                <a:effectLst/>
                <a:uFillTx/>
                <a:latin typeface="Times New Roman"/>
                <a:ea typeface="Times New Roman"/>
              </a:rPr>
              <a:t>The problem is that the bare $* given in the 411 program is being expanded into two arguments.  The first argument is the pattern to search for, and the second, 'Desk', in this case, is taken as the first in a list of files to search.  The program should be modifed, with double quotes around the argument, as in:</a:t>
            </a:r>
            <a:endParaRPr b="0" lang="en-IN" sz="1200" strike="noStrike" u="none">
              <a:solidFill>
                <a:srgbClr val="000000"/>
              </a:solidFill>
              <a:effectLst/>
              <a:uFillTx/>
              <a:latin typeface="Arial"/>
            </a:endParaRPr>
          </a:p>
          <a:p>
            <a:pPr marL="452520" indent="0">
              <a:lnSpc>
                <a:spcPct val="90000"/>
              </a:lnSpc>
              <a:spcBef>
                <a:spcPts val="961"/>
              </a:spcBef>
              <a:buNone/>
            </a:pPr>
            <a:r>
              <a:rPr b="0" lang="en-IN" sz="1200" strike="noStrike" u="none">
                <a:solidFill>
                  <a:srgbClr val="000000"/>
                </a:solidFill>
                <a:effectLst/>
                <a:uFillTx/>
                <a:latin typeface="Times New Roman"/>
                <a:ea typeface="Times New Roman"/>
              </a:rPr>
              <a:t>grep "$*" /home/class/lib/phone-book</a:t>
            </a:r>
            <a:endParaRPr b="0" lang="en-IN" sz="1200" strike="noStrike" u="none">
              <a:solidFill>
                <a:srgbClr val="000000"/>
              </a:solidFill>
              <a:effectLst/>
              <a:uFillTx/>
              <a:latin typeface="Arial"/>
            </a:endParaRPr>
          </a:p>
          <a:p>
            <a:pPr indent="0">
              <a:lnSpc>
                <a:spcPct val="90000"/>
              </a:lnSpc>
              <a:spcBef>
                <a:spcPts val="961"/>
              </a:spcBef>
              <a:buNone/>
            </a:pPr>
            <a:r>
              <a:rPr b="0" lang="en-IN" sz="1200" strike="noStrike" u="none">
                <a:solidFill>
                  <a:srgbClr val="000000"/>
                </a:solidFill>
                <a:effectLst/>
                <a:uFillTx/>
                <a:latin typeface="Times New Roman"/>
                <a:ea typeface="Times New Roman"/>
              </a:rPr>
              <a:t>The double quotes are "transparent" to the shell in that they allow for the expansion of the $* argument, but all characters, including spaces, in the quoted string are passed to the program as a single string.</a:t>
            </a:r>
            <a:endParaRPr b="0" lang="en-IN" sz="1200" strike="noStrike" u="none">
              <a:solidFill>
                <a:srgbClr val="000000"/>
              </a:solidFill>
              <a:effectLst/>
              <a:uFillTx/>
              <a:latin typeface="Arial"/>
            </a:endParaRPr>
          </a:p>
          <a:p>
            <a:pPr indent="0">
              <a:lnSpc>
                <a:spcPct val="90000"/>
              </a:lnSpc>
              <a:spcBef>
                <a:spcPts val="961"/>
              </a:spcBef>
              <a:buNone/>
            </a:pPr>
            <a:r>
              <a:rPr b="0" lang="en-IN" sz="1200" strike="noStrike" u="none">
                <a:solidFill>
                  <a:srgbClr val="000000"/>
                </a:solidFill>
                <a:effectLst/>
                <a:uFillTx/>
                <a:latin typeface="Times New Roman"/>
                <a:ea typeface="Times New Roman"/>
              </a:rPr>
              <a:t>Another useful change would be to make the search case-insensitive:</a:t>
            </a:r>
            <a:endParaRPr b="0" lang="en-IN" sz="1200" strike="noStrike" u="none">
              <a:solidFill>
                <a:srgbClr val="000000"/>
              </a:solidFill>
              <a:effectLst/>
              <a:uFillTx/>
              <a:latin typeface="Arial"/>
            </a:endParaRPr>
          </a:p>
          <a:p>
            <a:pPr marL="452520" indent="0">
              <a:lnSpc>
                <a:spcPct val="90000"/>
              </a:lnSpc>
              <a:spcBef>
                <a:spcPts val="961"/>
              </a:spcBef>
              <a:buNone/>
            </a:pPr>
            <a:r>
              <a:rPr b="0" lang="en-IN" sz="1200" strike="noStrike" u="none">
                <a:solidFill>
                  <a:srgbClr val="000000"/>
                </a:solidFill>
                <a:effectLst/>
                <a:uFillTx/>
                <a:latin typeface="Times New Roman"/>
                <a:ea typeface="Times New Roman"/>
              </a:rPr>
              <a:t>grep -i "$*" /home/class/lib/phone-book</a:t>
            </a:r>
            <a:endParaRPr b="0" lang="en-IN" sz="1200" strike="noStrike" u="none">
              <a:solidFill>
                <a:srgbClr val="000000"/>
              </a:solidFill>
              <a:effectLst/>
              <a:uFillTx/>
              <a:latin typeface="Arial"/>
            </a:endParaRPr>
          </a:p>
        </p:txBody>
      </p:sp>
    </p:spTree>
  </p:cSld>
</p:notes>
</file>

<file path=ppt/notesSlides/notesSlide1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9" name="PlaceHolder 1"/>
          <p:cNvSpPr>
            <a:spLocks noGrp="1"/>
          </p:cNvSpPr>
          <p:nvPr>
            <p:ph type="sldImg"/>
          </p:nvPr>
        </p:nvSpPr>
        <p:spPr>
          <a:xfrm>
            <a:off x="1371600" y="768240"/>
            <a:ext cx="5029200" cy="3767400"/>
          </a:xfrm>
          <a:prstGeom prst="rect">
            <a:avLst/>
          </a:prstGeom>
          <a:ln w="0">
            <a:noFill/>
          </a:ln>
        </p:spPr>
      </p:sp>
      <p:sp>
        <p:nvSpPr>
          <p:cNvPr id="350" name="PlaceHolder 2"/>
          <p:cNvSpPr>
            <a:spLocks noGrp="1"/>
          </p:cNvSpPr>
          <p:nvPr>
            <p:ph type="body"/>
          </p:nvPr>
        </p:nvSpPr>
        <p:spPr>
          <a:xfrm>
            <a:off x="777240" y="4773240"/>
            <a:ext cx="6217920" cy="4526280"/>
          </a:xfrm>
          <a:prstGeom prst="rect">
            <a:avLst/>
          </a:prstGeom>
          <a:noFill/>
          <a:ln w="0">
            <a:noFill/>
          </a:ln>
        </p:spPr>
        <p:txBody>
          <a:bodyPr lIns="0" rIns="0" tIns="0" bIns="0" anchor="t">
            <a:spAutoFit/>
          </a:bodyPr>
          <a:p>
            <a:pPr indent="0">
              <a:lnSpc>
                <a:spcPct val="90000"/>
              </a:lnSpc>
              <a:spcBef>
                <a:spcPts val="961"/>
              </a:spcBef>
              <a:buNone/>
            </a:pPr>
            <a:r>
              <a:rPr b="0" lang="en-IN" sz="1200" strike="noStrike" u="none">
                <a:solidFill>
                  <a:srgbClr val="000000"/>
                </a:solidFill>
                <a:effectLst/>
                <a:uFillTx/>
                <a:latin typeface="Times New Roman"/>
                <a:ea typeface="Times New Roman"/>
              </a:rPr>
              <a:t>The answer I got was:</a:t>
            </a:r>
            <a:endParaRPr b="0" lang="en-IN" sz="1200" strike="noStrike" u="none">
              <a:solidFill>
                <a:srgbClr val="000000"/>
              </a:solidFill>
              <a:effectLst/>
              <a:uFillTx/>
              <a:latin typeface="Arial"/>
            </a:endParaRPr>
          </a:p>
          <a:p>
            <a:pPr marL="452520" indent="0">
              <a:lnSpc>
                <a:spcPct val="90000"/>
              </a:lnSpc>
              <a:spcBef>
                <a:spcPts val="961"/>
              </a:spcBef>
              <a:buNone/>
            </a:pPr>
            <a:r>
              <a:rPr b="0" lang="en-IN" sz="1200" strike="noStrike" u="none">
                <a:solidFill>
                  <a:srgbClr val="000000"/>
                </a:solidFill>
                <a:effectLst/>
                <a:uFillTx/>
                <a:latin typeface="Times New Roman"/>
                <a:ea typeface="Times New Roman"/>
              </a:rPr>
              <a:t>$ who | sed ‘s/ .* / /</a:t>
            </a:r>
            <a:endParaRPr b="0" lang="en-IN" sz="1200" strike="noStrike" u="none">
              <a:solidFill>
                <a:srgbClr val="000000"/>
              </a:solidFill>
              <a:effectLst/>
              <a:uFillTx/>
              <a:latin typeface="Arial"/>
            </a:endParaRPr>
          </a:p>
          <a:p>
            <a:pPr marL="452520" indent="0">
              <a:lnSpc>
                <a:spcPct val="90000"/>
              </a:lnSpc>
              <a:spcBef>
                <a:spcPts val="961"/>
              </a:spcBef>
              <a:buNone/>
            </a:pPr>
            <a:r>
              <a:rPr b="0" lang="en-IN" sz="1200" strike="noStrike" u="none">
                <a:solidFill>
                  <a:srgbClr val="000000"/>
                </a:solidFill>
                <a:effectLst/>
                <a:uFillTx/>
                <a:latin typeface="Times New Roman"/>
                <a:ea typeface="Times New Roman"/>
              </a:rPr>
              <a:t>&gt; /\(.*\) \(.*\)/\2 \1/’</a:t>
            </a:r>
            <a:endParaRPr b="0" lang="en-IN" sz="1200" strike="noStrike" u="none">
              <a:solidFill>
                <a:srgbClr val="000000"/>
              </a:solidFill>
              <a:effectLst/>
              <a:uFillTx/>
              <a:latin typeface="Arial"/>
            </a:endParaRPr>
          </a:p>
        </p:txBody>
      </p:sp>
    </p:spTree>
  </p:cSld>
</p:notes>
</file>

<file path=ppt/notesSlides/notesSlide15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1" name="PlaceHolder 1"/>
          <p:cNvSpPr>
            <a:spLocks noGrp="1"/>
          </p:cNvSpPr>
          <p:nvPr>
            <p:ph type="sldImg"/>
          </p:nvPr>
        </p:nvSpPr>
        <p:spPr>
          <a:xfrm>
            <a:off x="1371600" y="768240"/>
            <a:ext cx="5029200" cy="3767400"/>
          </a:xfrm>
          <a:prstGeom prst="rect">
            <a:avLst/>
          </a:prstGeom>
          <a:ln w="0">
            <a:noFill/>
          </a:ln>
        </p:spPr>
      </p:sp>
      <p:sp>
        <p:nvSpPr>
          <p:cNvPr id="352" name="PlaceHolder 2"/>
          <p:cNvSpPr>
            <a:spLocks noGrp="1"/>
          </p:cNvSpPr>
          <p:nvPr>
            <p:ph type="body"/>
          </p:nvPr>
        </p:nvSpPr>
        <p:spPr>
          <a:xfrm>
            <a:off x="777240" y="4773240"/>
            <a:ext cx="6217920" cy="4526280"/>
          </a:xfrm>
          <a:prstGeom prst="rect">
            <a:avLst/>
          </a:prstGeom>
          <a:noFill/>
          <a:ln w="0">
            <a:noFill/>
          </a:ln>
        </p:spPr>
        <p:txBody>
          <a:bodyPr lIns="0" rIns="0" tIns="0" bIns="0" anchor="t">
            <a:spAutoFit/>
          </a:bodyPr>
          <a:p>
            <a:pPr indent="0">
              <a:lnSpc>
                <a:spcPct val="90000"/>
              </a:lnSpc>
              <a:spcBef>
                <a:spcPts val="961"/>
              </a:spcBef>
              <a:buNone/>
            </a:pPr>
            <a:r>
              <a:rPr b="0" lang="en-IN" sz="1200" strike="noStrike" u="none">
                <a:solidFill>
                  <a:srgbClr val="000000"/>
                </a:solidFill>
                <a:effectLst/>
                <a:uFillTx/>
                <a:latin typeface="Times New Roman"/>
                <a:ea typeface="Times New Roman"/>
              </a:rPr>
              <a:t>The answer I got was:</a:t>
            </a:r>
            <a:endParaRPr b="0" lang="en-IN" sz="1200" strike="noStrike" u="none">
              <a:solidFill>
                <a:srgbClr val="000000"/>
              </a:solidFill>
              <a:effectLst/>
              <a:uFillTx/>
              <a:latin typeface="Arial"/>
            </a:endParaRPr>
          </a:p>
          <a:p>
            <a:pPr indent="0">
              <a:lnSpc>
                <a:spcPct val="90000"/>
              </a:lnSpc>
              <a:spcBef>
                <a:spcPts val="961"/>
              </a:spcBef>
              <a:buNone/>
            </a:pPr>
            <a:endParaRPr b="0" lang="en-IN" sz="1200" strike="noStrike" u="none">
              <a:solidFill>
                <a:srgbClr val="000000"/>
              </a:solidFill>
              <a:effectLst/>
              <a:uFillTx/>
              <a:latin typeface="Arial"/>
            </a:endParaRPr>
          </a:p>
          <a:p>
            <a:pPr indent="0">
              <a:lnSpc>
                <a:spcPct val="90000"/>
              </a:lnSpc>
              <a:spcBef>
                <a:spcPts val="961"/>
              </a:spcBef>
              <a:buNone/>
            </a:pPr>
            <a:r>
              <a:rPr b="0" lang="en-IN" sz="1200" strike="noStrike" u="none">
                <a:solidFill>
                  <a:srgbClr val="000000"/>
                </a:solidFill>
                <a:effectLst/>
                <a:uFillTx/>
                <a:latin typeface="Times New Roman"/>
                <a:ea typeface="Times New Roman"/>
              </a:rPr>
              <a:t># watchfor: look for a list of users</a:t>
            </a:r>
            <a:endParaRPr b="0" lang="en-IN" sz="1200" strike="noStrike" u="none">
              <a:solidFill>
                <a:srgbClr val="000000"/>
              </a:solidFill>
              <a:effectLst/>
              <a:uFillTx/>
              <a:latin typeface="Arial"/>
            </a:endParaRPr>
          </a:p>
          <a:p>
            <a:pPr indent="0">
              <a:lnSpc>
                <a:spcPct val="90000"/>
              </a:lnSpc>
              <a:spcBef>
                <a:spcPts val="961"/>
              </a:spcBef>
              <a:buNone/>
            </a:pPr>
            <a:r>
              <a:rPr b="0" lang="en-IN" sz="1200" strike="noStrike" u="none">
                <a:solidFill>
                  <a:srgbClr val="000000"/>
                </a:solidFill>
                <a:effectLst/>
                <a:uFillTx/>
                <a:latin typeface="Times New Roman"/>
                <a:ea typeface="Times New Roman"/>
              </a:rPr>
              <a:t>PATH=/bin:/usr/bin</a:t>
            </a:r>
            <a:endParaRPr b="0" lang="en-IN" sz="1200" strike="noStrike" u="none">
              <a:solidFill>
                <a:srgbClr val="000000"/>
              </a:solidFill>
              <a:effectLst/>
              <a:uFillTx/>
              <a:latin typeface="Arial"/>
            </a:endParaRPr>
          </a:p>
          <a:p>
            <a:pPr indent="0">
              <a:lnSpc>
                <a:spcPct val="90000"/>
              </a:lnSpc>
              <a:spcBef>
                <a:spcPts val="961"/>
              </a:spcBef>
              <a:buNone/>
            </a:pPr>
            <a:r>
              <a:rPr b="0" lang="en-IN" sz="1200" strike="noStrike" u="none">
                <a:solidFill>
                  <a:srgbClr val="000000"/>
                </a:solidFill>
                <a:effectLst/>
                <a:uFillTx/>
                <a:latin typeface="Times New Roman"/>
                <a:ea typeface="Times New Roman"/>
              </a:rPr>
              <a:t>case $# in</a:t>
            </a:r>
            <a:endParaRPr b="0" lang="en-IN" sz="1200" strike="noStrike" u="none">
              <a:solidFill>
                <a:srgbClr val="000000"/>
              </a:solidFill>
              <a:effectLst/>
              <a:uFillTx/>
              <a:latin typeface="Arial"/>
            </a:endParaRPr>
          </a:p>
          <a:p>
            <a:pPr indent="0">
              <a:lnSpc>
                <a:spcPct val="90000"/>
              </a:lnSpc>
              <a:spcBef>
                <a:spcPts val="961"/>
              </a:spcBef>
              <a:buNone/>
            </a:pPr>
            <a:r>
              <a:rPr b="0" lang="en-IN" sz="1200" strike="noStrike" u="none">
                <a:solidFill>
                  <a:srgbClr val="000000"/>
                </a:solidFill>
                <a:effectLst/>
                <a:uFillTx/>
                <a:latin typeface="Times New Roman"/>
                <a:ea typeface="Times New Roman"/>
              </a:rPr>
              <a:t>0)      echo "Usage: $0 users ..." 1&gt;&amp;2; exit 1</a:t>
            </a:r>
            <a:endParaRPr b="0" lang="en-IN" sz="1200" strike="noStrike" u="none">
              <a:solidFill>
                <a:srgbClr val="000000"/>
              </a:solidFill>
              <a:effectLst/>
              <a:uFillTx/>
              <a:latin typeface="Arial"/>
            </a:endParaRPr>
          </a:p>
          <a:p>
            <a:pPr indent="0">
              <a:lnSpc>
                <a:spcPct val="90000"/>
              </a:lnSpc>
              <a:spcBef>
                <a:spcPts val="961"/>
              </a:spcBef>
              <a:buNone/>
            </a:pPr>
            <a:r>
              <a:rPr b="0" lang="en-IN" sz="1200" strike="noStrike" u="none">
                <a:solidFill>
                  <a:srgbClr val="000000"/>
                </a:solidFill>
                <a:effectLst/>
                <a:uFillTx/>
                <a:latin typeface="Times New Roman"/>
                <a:ea typeface="Times New Roman"/>
              </a:rPr>
              <a:t>esac</a:t>
            </a:r>
            <a:endParaRPr b="0" lang="en-IN" sz="1200" strike="noStrike" u="none">
              <a:solidFill>
                <a:srgbClr val="000000"/>
              </a:solidFill>
              <a:effectLst/>
              <a:uFillTx/>
              <a:latin typeface="Arial"/>
            </a:endParaRPr>
          </a:p>
          <a:p>
            <a:pPr indent="0">
              <a:lnSpc>
                <a:spcPct val="90000"/>
              </a:lnSpc>
              <a:spcBef>
                <a:spcPts val="961"/>
              </a:spcBef>
              <a:buNone/>
            </a:pPr>
            <a:r>
              <a:rPr b="0" lang="en-IN" sz="1200" strike="noStrike" u="none">
                <a:solidFill>
                  <a:srgbClr val="000000"/>
                </a:solidFill>
                <a:effectLst/>
                <a:uFillTx/>
                <a:latin typeface="Times New Roman"/>
                <a:ea typeface="Times New Roman"/>
              </a:rPr>
              <a:t>until who | egrep `echo $* | sed 's/ /|/g'`</a:t>
            </a:r>
            <a:endParaRPr b="0" lang="en-IN" sz="1200" strike="noStrike" u="none">
              <a:solidFill>
                <a:srgbClr val="000000"/>
              </a:solidFill>
              <a:effectLst/>
              <a:uFillTx/>
              <a:latin typeface="Arial"/>
            </a:endParaRPr>
          </a:p>
          <a:p>
            <a:pPr indent="0">
              <a:lnSpc>
                <a:spcPct val="90000"/>
              </a:lnSpc>
              <a:spcBef>
                <a:spcPts val="961"/>
              </a:spcBef>
              <a:buNone/>
            </a:pPr>
            <a:r>
              <a:rPr b="0" lang="en-IN" sz="1200" strike="noStrike" u="none">
                <a:solidFill>
                  <a:srgbClr val="000000"/>
                </a:solidFill>
                <a:effectLst/>
                <a:uFillTx/>
                <a:latin typeface="Times New Roman"/>
                <a:ea typeface="Times New Roman"/>
              </a:rPr>
              <a:t>do</a:t>
            </a:r>
            <a:endParaRPr b="0" lang="en-IN" sz="1200" strike="noStrike" u="none">
              <a:solidFill>
                <a:srgbClr val="000000"/>
              </a:solidFill>
              <a:effectLst/>
              <a:uFillTx/>
              <a:latin typeface="Arial"/>
            </a:endParaRPr>
          </a:p>
          <a:p>
            <a:pPr indent="0">
              <a:lnSpc>
                <a:spcPct val="90000"/>
              </a:lnSpc>
              <a:spcBef>
                <a:spcPts val="961"/>
              </a:spcBef>
              <a:buNone/>
            </a:pPr>
            <a:r>
              <a:rPr b="0" lang="en-IN" sz="1200" strike="noStrike" u="none">
                <a:solidFill>
                  <a:srgbClr val="000000"/>
                </a:solidFill>
                <a:effectLst/>
                <a:uFillTx/>
                <a:latin typeface="Times New Roman"/>
                <a:ea typeface="Times New Roman"/>
              </a:rPr>
              <a:t>       sleep 10</a:t>
            </a:r>
            <a:endParaRPr b="0" lang="en-IN" sz="1200" strike="noStrike" u="none">
              <a:solidFill>
                <a:srgbClr val="000000"/>
              </a:solidFill>
              <a:effectLst/>
              <a:uFillTx/>
              <a:latin typeface="Arial"/>
            </a:endParaRPr>
          </a:p>
          <a:p>
            <a:pPr indent="0">
              <a:lnSpc>
                <a:spcPct val="90000"/>
              </a:lnSpc>
              <a:spcBef>
                <a:spcPts val="961"/>
              </a:spcBef>
              <a:buNone/>
            </a:pPr>
            <a:r>
              <a:rPr b="0" lang="en-IN" sz="1200" strike="noStrike" u="none">
                <a:solidFill>
                  <a:srgbClr val="000000"/>
                </a:solidFill>
                <a:effectLst/>
                <a:uFillTx/>
                <a:latin typeface="Times New Roman"/>
                <a:ea typeface="Times New Roman"/>
              </a:rPr>
              <a:t>done</a:t>
            </a:r>
            <a:endParaRPr b="0" lang="en-IN" sz="1200" strike="noStrike" u="none">
              <a:solidFill>
                <a:srgbClr val="000000"/>
              </a:solidFill>
              <a:effectLst/>
              <a:uFillTx/>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ster">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PM1">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73600"/>
            <a:ext cx="8229240" cy="1144800"/>
          </a:xfrm>
          <a:prstGeom prst="rect">
            <a:avLst/>
          </a:prstGeom>
          <a:noFill/>
          <a:ln w="0">
            <a:noFill/>
          </a:ln>
        </p:spPr>
        <p:txBody>
          <a:bodyPr lIns="0" rIns="0" tIns="0" bIns="0" anchor="ctr">
            <a:spAutoFit/>
          </a:bodyPr>
          <a:p>
            <a:pPr indent="0" algn="ctr">
              <a:buNone/>
            </a:pPr>
            <a:endParaRPr b="0" lang="en-IN" sz="4400" strike="noStrike" u="none">
              <a:solidFill>
                <a:srgbClr val="000000"/>
              </a:solidFill>
              <a:effectLst/>
              <a:uFillTx/>
              <a:latin typeface="Arial"/>
            </a:endParaRPr>
          </a:p>
        </p:txBody>
      </p:sp>
      <p:sp>
        <p:nvSpPr>
          <p:cNvPr id="8" name="PlaceHolder 2"/>
          <p:cNvSpPr>
            <a:spLocks noGrp="1"/>
          </p:cNvSpPr>
          <p:nvPr>
            <p:ph type="subTitle"/>
          </p:nvPr>
        </p:nvSpPr>
        <p:spPr>
          <a:xfrm>
            <a:off x="457200" y="1604520"/>
            <a:ext cx="8229240" cy="3977280"/>
          </a:xfrm>
          <a:prstGeom prst="rect">
            <a:avLst/>
          </a:prstGeom>
          <a:noFill/>
          <a:ln w="0">
            <a:noFill/>
          </a:ln>
        </p:spPr>
        <p:txBody>
          <a:bodyPr lIns="0" rIns="0" tIns="0" bIns="0" anchor="ctr">
            <a:spAutoFit/>
          </a:bodyPr>
          <a:p>
            <a:pPr indent="0" algn="ctr">
              <a:buNone/>
            </a:pPr>
            <a:endParaRPr b="0" lang="en-IN" sz="3200" strike="noStrike" u="none">
              <a:solidFill>
                <a:srgbClr val="000000"/>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0" name=""/>
          <p:cNvSpPr txBox="1"/>
          <p:nvPr/>
        </p:nvSpPr>
        <p:spPr>
          <a:xfrm>
            <a:off x="8686800" y="6578640"/>
            <a:ext cx="442800" cy="228600"/>
          </a:xfrm>
          <a:prstGeom prst="rect">
            <a:avLst/>
          </a:prstGeom>
          <a:noFill/>
          <a:ln w="0">
            <a:noFill/>
          </a:ln>
        </p:spPr>
        <p:txBody>
          <a:bodyPr lIns="0" rIns="0" tIns="0" bIns="0" anchor="t">
            <a:spAutoFit/>
          </a:bodyPr>
          <a:p>
            <a:pPr marL="343080" indent="-343080">
              <a:lnSpc>
                <a:spcPct val="130000"/>
              </a:lnSpc>
              <a:spcBef>
                <a:spcPts val="1559"/>
              </a:spcBef>
            </a:pPr>
            <a:fld id="{841FA6B5-E1D3-472F-90BF-38E887DF23C6}" type="slidenum">
              <a:rPr b="1" lang="en-IN" sz="900" strike="noStrike" u="none">
                <a:solidFill>
                  <a:srgbClr val="000000"/>
                </a:solidFill>
                <a:effectLst/>
                <a:uFillTx/>
                <a:latin typeface="Times New Roman"/>
                <a:ea typeface="Times New Roman"/>
              </a:rPr>
              <a:t>1</a:t>
            </a:fld>
            <a:endParaRPr b="0" lang="en-IN" sz="900" strike="noStrike" u="none">
              <a:solidFill>
                <a:srgbClr val="000000"/>
              </a:solidFill>
              <a:effectLst/>
              <a:uFillTx/>
              <a:latin typeface="Arial"/>
            </a:endParaRPr>
          </a:p>
        </p:txBody>
      </p:sp>
      <p:sp>
        <p:nvSpPr>
          <p:cNvPr id="1" name=""/>
          <p:cNvSpPr txBox="1"/>
          <p:nvPr/>
        </p:nvSpPr>
        <p:spPr>
          <a:xfrm>
            <a:off x="76320" y="6553080"/>
            <a:ext cx="762120" cy="228600"/>
          </a:xfrm>
          <a:prstGeom prst="rect">
            <a:avLst/>
          </a:prstGeom>
          <a:noFill/>
          <a:ln w="0">
            <a:noFill/>
          </a:ln>
        </p:spPr>
        <p:txBody>
          <a:bodyPr lIns="0" rIns="0" tIns="0" bIns="0" anchor="t">
            <a:spAutoFit/>
          </a:bodyPr>
          <a:p>
            <a:pPr>
              <a:lnSpc>
                <a:spcPct val="100000"/>
              </a:lnSpc>
            </a:pPr>
            <a:fld id="{85DD283B-05B1-44D1-96E0-C4C4E35ECD8F}" type="datetime">
              <a:rPr b="1" lang="en-IN" sz="900" strike="noStrike" u="none">
                <a:solidFill>
                  <a:srgbClr val="000000"/>
                </a:solidFill>
                <a:effectLst/>
                <a:uFillTx/>
                <a:latin typeface="Times New Roman"/>
                <a:ea typeface="Times New Roman"/>
              </a:rPr>
              <a:t>03/06/25</a:t>
            </a:fld>
            <a:endParaRPr b="0" lang="en-IN" sz="900" strike="noStrike" u="none">
              <a:solidFill>
                <a:srgbClr val="000000"/>
              </a:solidFill>
              <a:effectLst/>
              <a:uFillTx/>
              <a:latin typeface="Arial"/>
            </a:endParaRPr>
          </a:p>
        </p:txBody>
      </p:sp>
      <p:sp>
        <p:nvSpPr>
          <p:cNvPr id="2" name=""/>
          <p:cNvSpPr/>
          <p:nvPr/>
        </p:nvSpPr>
        <p:spPr>
          <a:xfrm>
            <a:off x="25560" y="6845400"/>
            <a:ext cx="9067680" cy="0"/>
          </a:xfrm>
          <a:prstGeom prst="line">
            <a:avLst/>
          </a:prstGeom>
          <a:ln w="12600">
            <a:solidFill>
              <a:srgbClr val="000000"/>
            </a:solidFill>
            <a:round/>
          </a:ln>
        </p:spPr>
        <p:style>
          <a:lnRef idx="0"/>
          <a:fillRef idx="0"/>
          <a:effectRef idx="0"/>
          <a:fontRef idx="minor"/>
        </p:style>
        <p:txBody>
          <a:bodyPr lIns="96120" rIns="96120" tIns="-51120" bIns="-51120" anchor="t">
            <a:noAutofit/>
          </a:bodyPr>
          <a:p>
            <a:endParaRPr b="0" lang="en-IN" sz="1800" strike="noStrike" u="none">
              <a:solidFill>
                <a:srgbClr val="000000"/>
              </a:solidFill>
              <a:effectLst/>
              <a:uFillTx/>
              <a:latin typeface="Arial"/>
            </a:endParaRPr>
          </a:p>
        </p:txBody>
      </p:sp>
      <p:sp>
        <p:nvSpPr>
          <p:cNvPr id="3"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r>
              <a:rPr b="0" lang="en-IN" sz="4400" strike="noStrike" u="none">
                <a:solidFill>
                  <a:srgbClr val="000000"/>
                </a:solidFill>
                <a:effectLst/>
                <a:uFillTx/>
                <a:latin typeface="Arial"/>
              </a:rPr>
              <a:t>Click to edit the title text format</a:t>
            </a:r>
            <a:endParaRPr b="0" lang="en-IN" sz="4400" strike="noStrike" u="none">
              <a:solidFill>
                <a:srgbClr val="000000"/>
              </a:solidFill>
              <a:effectLst/>
              <a:uFillTx/>
              <a:latin typeface="Arial"/>
            </a:endParaRPr>
          </a:p>
        </p:txBody>
      </p:sp>
      <p:sp>
        <p:nvSpPr>
          <p:cNvPr id="4" name="PlaceHolder 2"/>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3200" strike="noStrike" u="none">
                <a:solidFill>
                  <a:srgbClr val="000000"/>
                </a:solidFill>
                <a:effectLst/>
                <a:uFillTx/>
                <a:latin typeface="Arial"/>
              </a:rPr>
              <a:t>Click to edit the outline text format</a:t>
            </a:r>
            <a:endParaRPr b="0" lang="en-IN"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IN" sz="2800" strike="noStrike" u="none">
                <a:solidFill>
                  <a:srgbClr val="000000"/>
                </a:solidFill>
                <a:effectLst/>
                <a:uFillTx/>
                <a:latin typeface="Arial"/>
              </a:rPr>
              <a:t>Second Outline Level</a:t>
            </a:r>
            <a:endParaRPr b="0" lang="en-IN"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IN" sz="2400" strike="noStrike" u="none">
                <a:solidFill>
                  <a:srgbClr val="000000"/>
                </a:solidFill>
                <a:effectLst/>
                <a:uFillTx/>
                <a:latin typeface="Arial"/>
              </a:rPr>
              <a:t>Third Outline Level</a:t>
            </a:r>
            <a:endParaRPr b="0" lang="en-IN"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IN" sz="2000" strike="noStrike" u="none">
                <a:solidFill>
                  <a:srgbClr val="000000"/>
                </a:solidFill>
                <a:effectLst/>
                <a:uFillTx/>
                <a:latin typeface="Arial"/>
              </a:rPr>
              <a:t>Fourth Outline Level</a:t>
            </a:r>
            <a:endParaRPr b="0" lang="en-IN"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IN" sz="2000" strike="noStrike" u="none">
                <a:solidFill>
                  <a:srgbClr val="000000"/>
                </a:solidFill>
                <a:effectLst/>
                <a:uFillTx/>
                <a:latin typeface="Arial"/>
              </a:rPr>
              <a:t>Fifth Outline Level</a:t>
            </a:r>
            <a:endParaRPr b="0" lang="en-IN"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IN" sz="2000" strike="noStrike" u="none">
                <a:solidFill>
                  <a:srgbClr val="000000"/>
                </a:solidFill>
                <a:effectLst/>
                <a:uFillTx/>
                <a:latin typeface="Arial"/>
              </a:rPr>
              <a:t>Sixth Outline Level</a:t>
            </a:r>
            <a:endParaRPr b="0" lang="en-IN"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IN" sz="2000" strike="noStrike" u="none">
                <a:solidFill>
                  <a:srgbClr val="000000"/>
                </a:solidFill>
                <a:effectLst/>
                <a:uFillTx/>
                <a:latin typeface="Arial"/>
              </a:rPr>
              <a:t>Seventh Outline Level</a:t>
            </a:r>
            <a:endParaRPr b="0" lang="en-IN" sz="2000" strike="noStrike" u="non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r>
              <a:rPr b="0" lang="en-IN" sz="4400" strike="noStrike" u="none">
                <a:solidFill>
                  <a:srgbClr val="000000"/>
                </a:solidFill>
                <a:effectLst/>
                <a:uFillTx/>
                <a:latin typeface="Arial"/>
              </a:rPr>
              <a:t>Click to edit the title text format</a:t>
            </a:r>
            <a:endParaRPr b="0" lang="en-IN" sz="4400" strike="noStrike" u="none">
              <a:solidFill>
                <a:srgbClr val="000000"/>
              </a:solidFill>
              <a:effectLst/>
              <a:uFillTx/>
              <a:latin typeface="Arial"/>
            </a:endParaRPr>
          </a:p>
        </p:txBody>
      </p:sp>
      <p:sp>
        <p:nvSpPr>
          <p:cNvPr id="6" name="PlaceHolder 2"/>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3200" strike="noStrike" u="none">
                <a:solidFill>
                  <a:srgbClr val="000000"/>
                </a:solidFill>
                <a:effectLst/>
                <a:uFillTx/>
                <a:latin typeface="Arial"/>
              </a:rPr>
              <a:t>Click to edit the outline text format</a:t>
            </a:r>
            <a:endParaRPr b="0" lang="en-IN"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IN" sz="2800" strike="noStrike" u="none">
                <a:solidFill>
                  <a:srgbClr val="000000"/>
                </a:solidFill>
                <a:effectLst/>
                <a:uFillTx/>
                <a:latin typeface="Arial"/>
              </a:rPr>
              <a:t>Second Outline Level</a:t>
            </a:r>
            <a:endParaRPr b="0" lang="en-IN"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IN" sz="2400" strike="noStrike" u="none">
                <a:solidFill>
                  <a:srgbClr val="000000"/>
                </a:solidFill>
                <a:effectLst/>
                <a:uFillTx/>
                <a:latin typeface="Arial"/>
              </a:rPr>
              <a:t>Third Outline Level</a:t>
            </a:r>
            <a:endParaRPr b="0" lang="en-IN"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IN" sz="2000" strike="noStrike" u="none">
                <a:solidFill>
                  <a:srgbClr val="000000"/>
                </a:solidFill>
                <a:effectLst/>
                <a:uFillTx/>
                <a:latin typeface="Arial"/>
              </a:rPr>
              <a:t>Fourth Outline Level</a:t>
            </a:r>
            <a:endParaRPr b="0" lang="en-IN"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IN" sz="2000" strike="noStrike" u="none">
                <a:solidFill>
                  <a:srgbClr val="000000"/>
                </a:solidFill>
                <a:effectLst/>
                <a:uFillTx/>
                <a:latin typeface="Arial"/>
              </a:rPr>
              <a:t>Fifth Outline Level</a:t>
            </a:r>
            <a:endParaRPr b="0" lang="en-IN"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IN" sz="2000" strike="noStrike" u="none">
                <a:solidFill>
                  <a:srgbClr val="000000"/>
                </a:solidFill>
                <a:effectLst/>
                <a:uFillTx/>
                <a:latin typeface="Arial"/>
              </a:rPr>
              <a:t>Sixth Outline Level</a:t>
            </a:r>
            <a:endParaRPr b="0" lang="en-IN"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IN" sz="2000" strike="noStrike" u="none">
                <a:solidFill>
                  <a:srgbClr val="000000"/>
                </a:solidFill>
                <a:effectLst/>
                <a:uFillTx/>
                <a:latin typeface="Arial"/>
              </a:rPr>
              <a:t>Seventh Outline Level</a:t>
            </a:r>
            <a:endParaRPr b="0" lang="en-IN" sz="2000" strike="noStrike" u="non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51"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ct"/><Relationship Id="rId2"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9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9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9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9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9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9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9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9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9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9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0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0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0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0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0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0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0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0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0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0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1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1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1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1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1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
</Relationships>
</file>

<file path=ppt/slides/_rels/slide11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1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1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1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2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2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2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2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2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2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2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2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2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2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3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
</Relationships>
</file>

<file path=ppt/slides/_rels/slide13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3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3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3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3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3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3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3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3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4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4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4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4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4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4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4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4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4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4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5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0.xml"/>
</Relationships>
</file>

<file path=ppt/slides/_rels/slide15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5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5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5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5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5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5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5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59.xml.rels><?xml version="1.0" encoding="UTF-8"?>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 name=""/>
          <p:cNvSpPr txBox="1"/>
          <p:nvPr/>
        </p:nvSpPr>
        <p:spPr>
          <a:xfrm>
            <a:off x="54000" y="5721480"/>
            <a:ext cx="4429080" cy="822240"/>
          </a:xfrm>
          <a:prstGeom prst="rect">
            <a:avLst/>
          </a:prstGeom>
          <a:noFill/>
          <a:ln w="0">
            <a:noFill/>
          </a:ln>
        </p:spPr>
        <p:txBody>
          <a:bodyPr lIns="0" rIns="0" tIns="0" bIns="0" anchor="t">
            <a:spAutoFit/>
          </a:bodyPr>
          <a:p>
            <a:pPr>
              <a:lnSpc>
                <a:spcPct val="100000"/>
              </a:lnSpc>
            </a:pPr>
            <a:r>
              <a:rPr b="0" lang="en-IN" sz="1200" strike="noStrike" u="none">
                <a:solidFill>
                  <a:srgbClr val="000000"/>
                </a:solidFill>
                <a:effectLst/>
                <a:uFillTx/>
                <a:latin typeface="Times New Roman"/>
                <a:ea typeface="Times New Roman"/>
              </a:rPr>
              <a:t>NASIRC  (NASA Automated Systems Incident Response Capability)</a:t>
            </a:r>
            <a:endParaRPr b="0" lang="en-IN" sz="1200" strike="noStrike" u="none">
              <a:solidFill>
                <a:srgbClr val="000000"/>
              </a:solidFill>
              <a:effectLst/>
              <a:uFillTx/>
              <a:latin typeface="Arial"/>
            </a:endParaRPr>
          </a:p>
          <a:p>
            <a:pPr>
              <a:lnSpc>
                <a:spcPct val="100000"/>
              </a:lnSpc>
            </a:pPr>
            <a:r>
              <a:rPr b="0" lang="en-IN" sz="1200" strike="noStrike" u="none">
                <a:solidFill>
                  <a:srgbClr val="000000"/>
                </a:solidFill>
                <a:effectLst/>
                <a:uFillTx/>
                <a:latin typeface="Times New Roman"/>
                <a:ea typeface="Times New Roman"/>
              </a:rPr>
              <a:t>E-Mail:    nasirc@nasa.gov</a:t>
            </a:r>
            <a:endParaRPr b="0" lang="en-IN" sz="1200" strike="noStrike" u="none">
              <a:solidFill>
                <a:srgbClr val="000000"/>
              </a:solidFill>
              <a:effectLst/>
              <a:uFillTx/>
              <a:latin typeface="Arial"/>
            </a:endParaRPr>
          </a:p>
          <a:p>
            <a:pPr>
              <a:lnSpc>
                <a:spcPct val="100000"/>
              </a:lnSpc>
            </a:pPr>
            <a:r>
              <a:rPr b="0" lang="en-IN" sz="1200" strike="noStrike" u="none">
                <a:solidFill>
                  <a:srgbClr val="000000"/>
                </a:solidFill>
                <a:effectLst/>
                <a:uFillTx/>
                <a:latin typeface="Times New Roman"/>
                <a:ea typeface="Times New Roman"/>
              </a:rPr>
              <a:t>Phone:     1-800-7-NASIRC</a:t>
            </a:r>
            <a:endParaRPr b="0" lang="en-IN" sz="1200" strike="noStrike" u="none">
              <a:solidFill>
                <a:srgbClr val="000000"/>
              </a:solidFill>
              <a:effectLst/>
              <a:uFillTx/>
              <a:latin typeface="Arial"/>
            </a:endParaRPr>
          </a:p>
          <a:p>
            <a:pPr>
              <a:lnSpc>
                <a:spcPct val="100000"/>
              </a:lnSpc>
            </a:pPr>
            <a:r>
              <a:rPr b="0" lang="en-IN" sz="1200" strike="noStrike" u="none">
                <a:solidFill>
                  <a:srgbClr val="000000"/>
                </a:solidFill>
                <a:effectLst/>
                <a:uFillTx/>
                <a:latin typeface="Times New Roman"/>
                <a:ea typeface="Times New Roman"/>
              </a:rPr>
              <a:t>WWW:    http://nasirc.nasa.gov</a:t>
            </a:r>
            <a:endParaRPr b="0" lang="en-IN" sz="1200" strike="noStrike" u="none">
              <a:solidFill>
                <a:srgbClr val="000000"/>
              </a:solidFill>
              <a:effectLst/>
              <a:uFillTx/>
              <a:latin typeface="Arial"/>
            </a:endParaRPr>
          </a:p>
        </p:txBody>
      </p:sp>
      <p:sp>
        <p:nvSpPr>
          <p:cNvPr id="16" name=""/>
          <p:cNvSpPr txBox="1"/>
          <p:nvPr/>
        </p:nvSpPr>
        <p:spPr>
          <a:xfrm>
            <a:off x="571680" y="4070520"/>
            <a:ext cx="7772400" cy="750960"/>
          </a:xfrm>
          <a:prstGeom prst="rect">
            <a:avLst/>
          </a:prstGeom>
          <a:noFill/>
          <a:ln w="0">
            <a:noFill/>
          </a:ln>
        </p:spPr>
        <p:txBody>
          <a:bodyPr lIns="0" rIns="0" tIns="0" bIns="0" anchor="t">
            <a:spAutoFit/>
          </a:bodyPr>
          <a:p>
            <a:pPr algn="ctr">
              <a:lnSpc>
                <a:spcPct val="90000"/>
              </a:lnSpc>
            </a:pPr>
            <a:r>
              <a:rPr b="1" lang="en-IN" sz="4800" strike="noStrike" u="none">
                <a:solidFill>
                  <a:srgbClr val="000000"/>
                </a:solidFill>
                <a:effectLst/>
                <a:uFillTx/>
                <a:latin typeface="Times New Roman"/>
                <a:ea typeface="Times New Roman"/>
              </a:rPr>
              <a:t>Introduction to UNIX</a:t>
            </a:r>
            <a:endParaRPr b="0" lang="en-IN" sz="4800" strike="noStrike" u="none">
              <a:solidFill>
                <a:srgbClr val="000000"/>
              </a:solidFill>
              <a:effectLst/>
              <a:uFillTx/>
              <a:latin typeface="Arial"/>
            </a:endParaRPr>
          </a:p>
        </p:txBody>
      </p:sp>
      <p:sp>
        <p:nvSpPr>
          <p:cNvPr id="17" name=""/>
          <p:cNvSpPr txBox="1"/>
          <p:nvPr/>
        </p:nvSpPr>
        <p:spPr>
          <a:xfrm>
            <a:off x="3105000" y="870120"/>
            <a:ext cx="2908440" cy="336600"/>
          </a:xfrm>
          <a:prstGeom prst="rect">
            <a:avLst/>
          </a:prstGeom>
          <a:noFill/>
          <a:ln w="0">
            <a:noFill/>
          </a:ln>
        </p:spPr>
        <p:txBody>
          <a:bodyPr lIns="0" rIns="0" tIns="0" bIns="0" anchor="t">
            <a:spAutoFit/>
          </a:bodyPr>
          <a:p>
            <a:pPr algn="ctr">
              <a:lnSpc>
                <a:spcPct val="90000"/>
              </a:lnSpc>
            </a:pPr>
            <a:r>
              <a:rPr b="1" i="1" lang="en-IN" sz="2400" strike="noStrike" u="none">
                <a:solidFill>
                  <a:srgbClr val="000000"/>
                </a:solidFill>
                <a:effectLst/>
                <a:uFillTx/>
                <a:latin typeface="Times New Roman"/>
                <a:ea typeface="Times New Roman"/>
              </a:rPr>
              <a:t>NASIRC  presents...</a:t>
            </a:r>
            <a:endParaRPr b="0" lang="en-IN" sz="2400" strike="noStrike" u="none">
              <a:solidFill>
                <a:srgbClr val="000000"/>
              </a:solidFill>
              <a:effectLst/>
              <a:uFillTx/>
              <a:latin typeface="Arial"/>
            </a:endParaRPr>
          </a:p>
        </p:txBody>
      </p:sp>
      <p:pic>
        <p:nvPicPr>
          <p:cNvPr id="18" name="" descr=""/>
          <p:cNvPicPr/>
          <p:nvPr/>
        </p:nvPicPr>
        <p:blipFill>
          <a:blip r:embed="rId1"/>
          <a:stretch/>
        </p:blipFill>
        <p:spPr>
          <a:xfrm>
            <a:off x="3403440" y="1600200"/>
            <a:ext cx="2311560" cy="2311560"/>
          </a:xfrm>
          <a:prstGeom prst="rect">
            <a:avLst/>
          </a:prstGeom>
          <a:noFill/>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 name=""/>
          <p:cNvSpPr txBox="1"/>
          <p:nvPr/>
        </p:nvSpPr>
        <p:spPr>
          <a:xfrm>
            <a:off x="1006560" y="431640"/>
            <a:ext cx="710568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NASIRC Contact Information</a:t>
            </a:r>
            <a:endParaRPr b="0" lang="en-IN" sz="3600" strike="noStrike" u="none">
              <a:solidFill>
                <a:srgbClr val="000000"/>
              </a:solidFill>
              <a:effectLst/>
              <a:uFillTx/>
              <a:latin typeface="Arial"/>
            </a:endParaRPr>
          </a:p>
        </p:txBody>
      </p:sp>
      <p:sp>
        <p:nvSpPr>
          <p:cNvPr id="20" name=""/>
          <p:cNvSpPr txBox="1"/>
          <p:nvPr/>
        </p:nvSpPr>
        <p:spPr>
          <a:xfrm>
            <a:off x="996840" y="1628640"/>
            <a:ext cx="7143840" cy="4235400"/>
          </a:xfrm>
          <a:prstGeom prst="rect">
            <a:avLst/>
          </a:prstGeom>
          <a:noFill/>
          <a:ln w="0">
            <a:noFill/>
          </a:ln>
        </p:spPr>
        <p:txBody>
          <a:bodyPr lIns="0" rIns="0" tIns="0" bIns="0" anchor="t">
            <a:spAutoFit/>
          </a:bodyPr>
          <a:p>
            <a:pPr marL="285840" indent="-285840">
              <a:lnSpc>
                <a:spcPct val="25000"/>
              </a:lnSpc>
              <a:spcBef>
                <a:spcPts val="1440"/>
              </a:spcBef>
              <a:buClr>
                <a:srgbClr val="000000"/>
              </a:buClr>
              <a:buFont typeface=""/>
              <a:buChar char=""/>
            </a:pPr>
            <a:r>
              <a:rPr b="0" lang="en-IN" sz="2400" strike="noStrike" u="none">
                <a:solidFill>
                  <a:srgbClr val="000000"/>
                </a:solidFill>
                <a:effectLst/>
                <a:uFillTx/>
                <a:latin typeface="Times New Roman"/>
                <a:ea typeface="Times New Roman"/>
              </a:rPr>
              <a:t>Electronic Mail:</a:t>
            </a:r>
            <a:endParaRPr b="0" lang="en-IN" sz="2400" strike="noStrike" u="none">
              <a:solidFill>
                <a:srgbClr val="000000"/>
              </a:solidFill>
              <a:effectLst/>
              <a:uFillTx/>
              <a:latin typeface="Arial"/>
            </a:endParaRPr>
          </a:p>
          <a:p>
            <a:pPr lvl="1" marL="685800" indent="-228600">
              <a:lnSpc>
                <a:spcPct val="25000"/>
              </a:lnSpc>
              <a:spcBef>
                <a:spcPts val="1440"/>
              </a:spcBef>
              <a:buClr>
                <a:srgbClr val="000000"/>
              </a:buClr>
              <a:buFont typeface=""/>
              <a:buChar char=""/>
            </a:pPr>
            <a:r>
              <a:rPr b="0" lang="en-IN" sz="2000" strike="noStrike" u="none">
                <a:solidFill>
                  <a:srgbClr val="000000"/>
                </a:solidFill>
                <a:effectLst/>
                <a:uFillTx/>
                <a:latin typeface="Times New Roman"/>
                <a:ea typeface="Times New Roman"/>
              </a:rPr>
              <a:t>nasirc@nasa.gov</a:t>
            </a:r>
            <a:endParaRPr b="0" lang="en-IN" sz="2000" strike="noStrike" u="none">
              <a:solidFill>
                <a:srgbClr val="000000"/>
              </a:solidFill>
              <a:effectLst/>
              <a:uFillTx/>
              <a:latin typeface="Arial"/>
            </a:endParaRPr>
          </a:p>
          <a:p>
            <a:pPr marL="285840" indent="-285840">
              <a:lnSpc>
                <a:spcPct val="25000"/>
              </a:lnSpc>
              <a:spcBef>
                <a:spcPts val="1440"/>
              </a:spcBef>
              <a:buClr>
                <a:srgbClr val="000000"/>
              </a:buClr>
              <a:buFont typeface=""/>
              <a:buChar char=""/>
            </a:pPr>
            <a:r>
              <a:rPr b="0" lang="en-IN" sz="2400" strike="noStrike" u="none">
                <a:solidFill>
                  <a:srgbClr val="000000"/>
                </a:solidFill>
                <a:effectLst/>
                <a:uFillTx/>
                <a:latin typeface="Times New Roman"/>
                <a:ea typeface="Times New Roman"/>
              </a:rPr>
              <a:t>NASIRC Help Desk:</a:t>
            </a:r>
            <a:endParaRPr b="0" lang="en-IN" sz="2400" strike="noStrike" u="none">
              <a:solidFill>
                <a:srgbClr val="000000"/>
              </a:solidFill>
              <a:effectLst/>
              <a:uFillTx/>
              <a:latin typeface="Arial"/>
            </a:endParaRPr>
          </a:p>
          <a:p>
            <a:pPr lvl="1" marL="685800" indent="-228600">
              <a:lnSpc>
                <a:spcPct val="25000"/>
              </a:lnSpc>
              <a:spcBef>
                <a:spcPts val="1440"/>
              </a:spcBef>
              <a:buClr>
                <a:srgbClr val="000000"/>
              </a:buClr>
              <a:buFont typeface=""/>
              <a:buChar char=""/>
            </a:pPr>
            <a:r>
              <a:rPr b="0" lang="en-IN" sz="2000" strike="noStrike" u="none">
                <a:solidFill>
                  <a:srgbClr val="000000"/>
                </a:solidFill>
                <a:effectLst/>
                <a:uFillTx/>
                <a:latin typeface="Times New Roman"/>
                <a:ea typeface="Times New Roman"/>
              </a:rPr>
              <a:t>(US)  1-800-7NASIRC or 1-800-762-7472</a:t>
            </a:r>
            <a:endParaRPr b="0" lang="en-IN" sz="2000" strike="noStrike" u="none">
              <a:solidFill>
                <a:srgbClr val="000000"/>
              </a:solidFill>
              <a:effectLst/>
              <a:uFillTx/>
              <a:latin typeface="Arial"/>
            </a:endParaRPr>
          </a:p>
          <a:p>
            <a:pPr lvl="1" marL="685800" indent="-228600">
              <a:lnSpc>
                <a:spcPct val="25000"/>
              </a:lnSpc>
              <a:spcBef>
                <a:spcPts val="1440"/>
              </a:spcBef>
              <a:buClr>
                <a:srgbClr val="000000"/>
              </a:buClr>
              <a:buFont typeface=""/>
              <a:buChar char=""/>
            </a:pPr>
            <a:r>
              <a:rPr b="0" lang="en-IN" sz="2000" strike="noStrike" u="none">
                <a:solidFill>
                  <a:srgbClr val="000000"/>
                </a:solidFill>
                <a:effectLst/>
                <a:uFillTx/>
                <a:latin typeface="Times New Roman"/>
                <a:ea typeface="Times New Roman"/>
              </a:rPr>
              <a:t>(Int’l)  1-301-441-4398</a:t>
            </a:r>
            <a:endParaRPr b="0" lang="en-IN" sz="2000" strike="noStrike" u="none">
              <a:solidFill>
                <a:srgbClr val="000000"/>
              </a:solidFill>
              <a:effectLst/>
              <a:uFillTx/>
              <a:latin typeface="Arial"/>
            </a:endParaRPr>
          </a:p>
          <a:p>
            <a:pPr marL="285840" indent="-285840">
              <a:lnSpc>
                <a:spcPct val="25000"/>
              </a:lnSpc>
              <a:spcBef>
                <a:spcPts val="1440"/>
              </a:spcBef>
              <a:buClr>
                <a:srgbClr val="000000"/>
              </a:buClr>
              <a:buFont typeface=""/>
              <a:buChar char=""/>
            </a:pPr>
            <a:r>
              <a:rPr b="0" lang="en-IN" sz="2400" strike="noStrike" u="none">
                <a:solidFill>
                  <a:srgbClr val="000000"/>
                </a:solidFill>
                <a:effectLst/>
                <a:uFillTx/>
                <a:latin typeface="Times New Roman"/>
                <a:ea typeface="Times New Roman"/>
              </a:rPr>
              <a:t>Secured  Phone Line  (STU-III):</a:t>
            </a:r>
            <a:endParaRPr b="0" lang="en-IN" sz="2400" strike="noStrike" u="none">
              <a:solidFill>
                <a:srgbClr val="000000"/>
              </a:solidFill>
              <a:effectLst/>
              <a:uFillTx/>
              <a:latin typeface="Arial"/>
            </a:endParaRPr>
          </a:p>
          <a:p>
            <a:pPr lvl="1" marL="685800" indent="-228600">
              <a:lnSpc>
                <a:spcPct val="25000"/>
              </a:lnSpc>
              <a:spcBef>
                <a:spcPts val="1440"/>
              </a:spcBef>
              <a:buClr>
                <a:srgbClr val="000000"/>
              </a:buClr>
              <a:buFont typeface=""/>
              <a:buChar char=""/>
            </a:pPr>
            <a:r>
              <a:rPr b="0" lang="en-IN" sz="2000" strike="noStrike" u="none">
                <a:solidFill>
                  <a:srgbClr val="000000"/>
                </a:solidFill>
                <a:effectLst/>
                <a:uFillTx/>
                <a:latin typeface="Times New Roman"/>
                <a:ea typeface="Times New Roman"/>
              </a:rPr>
              <a:t>1-301-982-5480</a:t>
            </a:r>
            <a:endParaRPr b="0" lang="en-IN" sz="2000" strike="noStrike" u="none">
              <a:solidFill>
                <a:srgbClr val="000000"/>
              </a:solidFill>
              <a:effectLst/>
              <a:uFillTx/>
              <a:latin typeface="Arial"/>
            </a:endParaRPr>
          </a:p>
          <a:p>
            <a:pPr marL="285840" indent="-285840">
              <a:lnSpc>
                <a:spcPct val="25000"/>
              </a:lnSpc>
              <a:spcBef>
                <a:spcPts val="1440"/>
              </a:spcBef>
              <a:buClr>
                <a:srgbClr val="000000"/>
              </a:buClr>
              <a:buFont typeface=""/>
              <a:buChar char=""/>
            </a:pPr>
            <a:r>
              <a:rPr b="0" lang="en-IN" sz="2400" strike="noStrike" u="none">
                <a:solidFill>
                  <a:srgbClr val="000000"/>
                </a:solidFill>
                <a:effectLst/>
                <a:uFillTx/>
                <a:latin typeface="Times New Roman"/>
                <a:ea typeface="Times New Roman"/>
              </a:rPr>
              <a:t>24  Hour Pager:</a:t>
            </a:r>
            <a:endParaRPr b="0" lang="en-IN" sz="2400" strike="noStrike" u="none">
              <a:solidFill>
                <a:srgbClr val="000000"/>
              </a:solidFill>
              <a:effectLst/>
              <a:uFillTx/>
              <a:latin typeface="Arial"/>
            </a:endParaRPr>
          </a:p>
          <a:p>
            <a:pPr lvl="1" marL="685800" indent="-228600">
              <a:lnSpc>
                <a:spcPct val="25000"/>
              </a:lnSpc>
              <a:spcBef>
                <a:spcPts val="1440"/>
              </a:spcBef>
              <a:buClr>
                <a:srgbClr val="000000"/>
              </a:buClr>
              <a:buFont typeface=""/>
              <a:buChar char=""/>
            </a:pPr>
            <a:r>
              <a:rPr b="0" lang="en-IN" sz="2000" strike="noStrike" u="none">
                <a:solidFill>
                  <a:srgbClr val="000000"/>
                </a:solidFill>
                <a:effectLst/>
                <a:uFillTx/>
                <a:latin typeface="Times New Roman"/>
                <a:ea typeface="Times New Roman"/>
              </a:rPr>
              <a:t>1-800-skypage  pin # 2023056</a:t>
            </a:r>
            <a:endParaRPr b="0" lang="en-IN" sz="2000" strike="noStrike" u="none">
              <a:solidFill>
                <a:srgbClr val="000000"/>
              </a:solidFill>
              <a:effectLst/>
              <a:uFillTx/>
              <a:latin typeface="Arial"/>
            </a:endParaRPr>
          </a:p>
          <a:p>
            <a:pPr marL="285840" indent="-285840">
              <a:lnSpc>
                <a:spcPct val="25000"/>
              </a:lnSpc>
              <a:spcBef>
                <a:spcPts val="1440"/>
              </a:spcBef>
              <a:buClr>
                <a:srgbClr val="000000"/>
              </a:buClr>
              <a:buFont typeface=""/>
              <a:buChar char=""/>
            </a:pPr>
            <a:r>
              <a:rPr b="0" lang="en-IN" sz="2400" strike="noStrike" u="none">
                <a:solidFill>
                  <a:srgbClr val="000000"/>
                </a:solidFill>
                <a:effectLst/>
                <a:uFillTx/>
                <a:latin typeface="Times New Roman"/>
                <a:ea typeface="Times New Roman"/>
              </a:rPr>
              <a:t>FAX #: </a:t>
            </a:r>
            <a:endParaRPr b="0" lang="en-IN" sz="2400" strike="noStrike" u="none">
              <a:solidFill>
                <a:srgbClr val="000000"/>
              </a:solidFill>
              <a:effectLst/>
              <a:uFillTx/>
              <a:latin typeface="Arial"/>
            </a:endParaRPr>
          </a:p>
          <a:p>
            <a:pPr lvl="1" marL="685800" indent="-228600">
              <a:lnSpc>
                <a:spcPct val="25000"/>
              </a:lnSpc>
              <a:spcBef>
                <a:spcPts val="1440"/>
              </a:spcBef>
              <a:buClr>
                <a:srgbClr val="000000"/>
              </a:buClr>
              <a:buFont typeface=""/>
              <a:buChar char=""/>
            </a:pPr>
            <a:r>
              <a:rPr b="0" lang="en-IN" sz="2000" strike="noStrike" u="none">
                <a:solidFill>
                  <a:srgbClr val="000000"/>
                </a:solidFill>
                <a:effectLst/>
                <a:uFillTx/>
                <a:latin typeface="Times New Roman"/>
                <a:ea typeface="Times New Roman"/>
              </a:rPr>
              <a:t>1-301-441-1853</a:t>
            </a:r>
            <a:endParaRPr b="0" lang="en-IN" sz="2000" strike="noStrike" u="none">
              <a:solidFill>
                <a:srgbClr val="000000"/>
              </a:solidFill>
              <a:effectLst/>
              <a:uFillTx/>
              <a:latin typeface="Arial"/>
            </a:endParaRPr>
          </a:p>
          <a:p>
            <a:pPr marL="285840" indent="-285840">
              <a:lnSpc>
                <a:spcPct val="25000"/>
              </a:lnSpc>
              <a:spcBef>
                <a:spcPts val="1440"/>
              </a:spcBef>
              <a:buClr>
                <a:srgbClr val="000000"/>
              </a:buClr>
              <a:buFont typeface=""/>
              <a:buChar char=""/>
            </a:pPr>
            <a:r>
              <a:rPr b="0" lang="en-IN" sz="2400" strike="noStrike" u="none">
                <a:solidFill>
                  <a:srgbClr val="000000"/>
                </a:solidFill>
                <a:effectLst/>
                <a:uFillTx/>
                <a:latin typeface="Times New Roman"/>
                <a:ea typeface="Times New Roman"/>
              </a:rPr>
              <a:t>U.S. Postal</a:t>
            </a:r>
            <a:endParaRPr b="0" lang="en-IN" sz="2400" strike="noStrike" u="none">
              <a:solidFill>
                <a:srgbClr val="000000"/>
              </a:solidFill>
              <a:effectLst/>
              <a:uFillTx/>
              <a:latin typeface="Arial"/>
            </a:endParaRPr>
          </a:p>
          <a:p>
            <a:pPr lvl="1" marL="685800" indent="-228600">
              <a:lnSpc>
                <a:spcPct val="25000"/>
              </a:lnSpc>
              <a:spcBef>
                <a:spcPts val="1440"/>
              </a:spcBef>
              <a:buClr>
                <a:srgbClr val="000000"/>
              </a:buClr>
              <a:buFont typeface=""/>
              <a:buChar char=""/>
            </a:pPr>
            <a:r>
              <a:rPr b="0" lang="en-IN" sz="2000" strike="noStrike" u="none">
                <a:solidFill>
                  <a:srgbClr val="000000"/>
                </a:solidFill>
                <a:effectLst/>
                <a:uFillTx/>
                <a:latin typeface="Times New Roman"/>
                <a:ea typeface="Times New Roman"/>
              </a:rPr>
              <a:t>Code 630; GSFC; Greenbelt, MD, 20771</a:t>
            </a:r>
            <a:endParaRPr b="0" lang="en-IN" sz="2000" strike="noStrike" u="none">
              <a:solidFill>
                <a:srgbClr val="000000"/>
              </a:solidFill>
              <a:effectLst/>
              <a:uFillTx/>
              <a:latin typeface="Arial"/>
            </a:endParaRPr>
          </a:p>
          <a:p>
            <a:pPr marL="285840" indent="-285840">
              <a:lnSpc>
                <a:spcPct val="25000"/>
              </a:lnSpc>
              <a:spcBef>
                <a:spcPts val="1440"/>
              </a:spcBef>
              <a:buClr>
                <a:srgbClr val="000000"/>
              </a:buClr>
              <a:buFont typeface=""/>
              <a:buChar char=""/>
            </a:pPr>
            <a:r>
              <a:rPr b="0" lang="en-IN" sz="2400" strike="noStrike" u="none">
                <a:solidFill>
                  <a:srgbClr val="000000"/>
                </a:solidFill>
                <a:effectLst/>
                <a:uFillTx/>
                <a:latin typeface="Times New Roman"/>
                <a:ea typeface="Times New Roman"/>
              </a:rPr>
              <a:t>FTP  Archive:</a:t>
            </a:r>
            <a:endParaRPr b="0" lang="en-IN" sz="2400" strike="noStrike" u="none">
              <a:solidFill>
                <a:srgbClr val="000000"/>
              </a:solidFill>
              <a:effectLst/>
              <a:uFillTx/>
              <a:latin typeface="Arial"/>
            </a:endParaRPr>
          </a:p>
          <a:p>
            <a:pPr lvl="1" marL="685800" indent="-228600">
              <a:lnSpc>
                <a:spcPct val="25000"/>
              </a:lnSpc>
              <a:spcBef>
                <a:spcPts val="1440"/>
              </a:spcBef>
              <a:buClr>
                <a:srgbClr val="000000"/>
              </a:buClr>
              <a:buFont typeface=""/>
              <a:buChar char=""/>
            </a:pPr>
            <a:r>
              <a:rPr b="0" lang="en-IN" sz="2000" strike="noStrike" u="none">
                <a:solidFill>
                  <a:srgbClr val="000000"/>
                </a:solidFill>
                <a:effectLst/>
                <a:uFillTx/>
                <a:latin typeface="Times New Roman"/>
                <a:ea typeface="Times New Roman"/>
              </a:rPr>
              <a:t>ftp  nasirc.nasa.gov (restricted to nasa.gov domain)</a:t>
            </a:r>
            <a:endParaRPr b="0" lang="en-IN" sz="2000" strike="noStrike" u="none">
              <a:solidFill>
                <a:srgbClr val="000000"/>
              </a:solidFill>
              <a:effectLst/>
              <a:uFillTx/>
              <a:latin typeface="Arial"/>
            </a:endParaRPr>
          </a:p>
          <a:p>
            <a:pPr marL="285840" indent="-285840">
              <a:lnSpc>
                <a:spcPct val="25000"/>
              </a:lnSpc>
              <a:spcBef>
                <a:spcPts val="1440"/>
              </a:spcBef>
              <a:buClr>
                <a:srgbClr val="000000"/>
              </a:buClr>
              <a:buFont typeface=""/>
              <a:buChar char=""/>
            </a:pPr>
            <a:r>
              <a:rPr b="0" lang="en-IN" sz="2400" strike="noStrike" u="none">
                <a:solidFill>
                  <a:srgbClr val="000000"/>
                </a:solidFill>
                <a:effectLst/>
                <a:uFillTx/>
                <a:latin typeface="Times New Roman"/>
                <a:ea typeface="Times New Roman"/>
              </a:rPr>
              <a:t>NASIRC Homepage:</a:t>
            </a:r>
            <a:endParaRPr b="0" lang="en-IN" sz="2400" strike="noStrike" u="none">
              <a:solidFill>
                <a:srgbClr val="000000"/>
              </a:solidFill>
              <a:effectLst/>
              <a:uFillTx/>
              <a:latin typeface="Arial"/>
            </a:endParaRPr>
          </a:p>
          <a:p>
            <a:pPr lvl="1" marL="685800" indent="-228600">
              <a:lnSpc>
                <a:spcPct val="25000"/>
              </a:lnSpc>
              <a:spcBef>
                <a:spcPts val="1440"/>
              </a:spcBef>
              <a:buClr>
                <a:srgbClr val="000000"/>
              </a:buClr>
              <a:buFont typeface=""/>
              <a:buChar char=""/>
            </a:pPr>
            <a:r>
              <a:rPr b="0" lang="en-IN" sz="2000" strike="noStrike" u="none">
                <a:solidFill>
                  <a:srgbClr val="000000"/>
                </a:solidFill>
                <a:effectLst/>
                <a:uFillTx/>
                <a:latin typeface="Times New Roman"/>
                <a:ea typeface="Times New Roman"/>
              </a:rPr>
              <a:t>http://nasirc.nasa.gov</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 name=""/>
          <p:cNvSpPr txBox="1"/>
          <p:nvPr/>
        </p:nvSpPr>
        <p:spPr>
          <a:xfrm>
            <a:off x="996840" y="685800"/>
            <a:ext cx="715644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Intro to UNIX Syllabus</a:t>
            </a:r>
            <a:endParaRPr b="0" lang="en-IN" sz="3600" strike="noStrike" u="none">
              <a:solidFill>
                <a:srgbClr val="000000"/>
              </a:solidFill>
              <a:effectLst/>
              <a:uFillTx/>
              <a:latin typeface="Arial"/>
            </a:endParaRPr>
          </a:p>
        </p:txBody>
      </p:sp>
      <p:sp>
        <p:nvSpPr>
          <p:cNvPr id="22" name=""/>
          <p:cNvSpPr txBox="1"/>
          <p:nvPr/>
        </p:nvSpPr>
        <p:spPr>
          <a:xfrm>
            <a:off x="1295280" y="1295280"/>
            <a:ext cx="6324480" cy="5418720"/>
          </a:xfrm>
          <a:prstGeom prst="rect">
            <a:avLst/>
          </a:prstGeom>
          <a:noFill/>
          <a:ln w="0">
            <a:noFill/>
          </a:ln>
        </p:spPr>
        <p:txBody>
          <a:bodyPr lIns="0" rIns="0" tIns="0" bIns="0" anchor="t">
            <a:spAutoFit/>
          </a:bodyPr>
          <a:p>
            <a:pPr marL="285840" indent="-285840">
              <a:lnSpc>
                <a:spcPct val="90000"/>
              </a:lnSpc>
              <a:spcBef>
                <a:spcPts val="720"/>
              </a:spcBef>
              <a:buClr>
                <a:srgbClr val="000000"/>
              </a:buClr>
              <a:buFont typeface=""/>
              <a:buChar char=""/>
            </a:pPr>
            <a:r>
              <a:rPr b="1" lang="en-IN" sz="1400" strike="noStrike" u="none">
                <a:solidFill>
                  <a:srgbClr val="000000"/>
                </a:solidFill>
                <a:effectLst/>
                <a:uFillTx/>
                <a:latin typeface="Times New Roman"/>
                <a:ea typeface="Times New Roman"/>
              </a:rPr>
              <a:t>History of Unix (pages 7 - 21)</a:t>
            </a:r>
            <a:endParaRPr b="0" lang="en-IN" sz="1400" strike="noStrike" u="none">
              <a:solidFill>
                <a:srgbClr val="000000"/>
              </a:solidFill>
              <a:effectLst/>
              <a:uFillTx/>
              <a:latin typeface="Arial"/>
            </a:endParaRPr>
          </a:p>
          <a:p>
            <a:pPr marL="285840" indent="-285840">
              <a:lnSpc>
                <a:spcPct val="90000"/>
              </a:lnSpc>
              <a:spcBef>
                <a:spcPts val="720"/>
              </a:spcBef>
              <a:buClr>
                <a:srgbClr val="000000"/>
              </a:buClr>
              <a:buFont typeface=""/>
              <a:buChar char=""/>
            </a:pPr>
            <a:r>
              <a:rPr b="1" lang="en-IN" sz="1400" strike="noStrike" u="none">
                <a:solidFill>
                  <a:srgbClr val="000000"/>
                </a:solidFill>
                <a:effectLst/>
                <a:uFillTx/>
                <a:latin typeface="Times New Roman"/>
                <a:ea typeface="Times New Roman"/>
              </a:rPr>
              <a:t>Understanding Unix (pages 22 - 24)</a:t>
            </a:r>
            <a:endParaRPr b="0" lang="en-IN" sz="14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lang="en-IN" sz="1200" strike="noStrike" u="none">
                <a:solidFill>
                  <a:srgbClr val="000000"/>
                </a:solidFill>
                <a:effectLst/>
                <a:uFillTx/>
                <a:latin typeface="Times New Roman"/>
                <a:ea typeface="Times New Roman"/>
              </a:rPr>
              <a:t>Basic model (kernel and shell) (page 104, 135)</a:t>
            </a:r>
            <a:endParaRPr b="0" lang="en-IN" sz="12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lang="en-IN" sz="1200" strike="noStrike" u="none">
                <a:solidFill>
                  <a:srgbClr val="000000"/>
                </a:solidFill>
                <a:effectLst/>
                <a:uFillTx/>
                <a:latin typeface="Times New Roman"/>
                <a:ea typeface="Times New Roman"/>
              </a:rPr>
              <a:t>Unix themes</a:t>
            </a:r>
            <a:endParaRPr b="0" lang="en-IN" sz="1200" strike="noStrike" u="none">
              <a:solidFill>
                <a:srgbClr val="000000"/>
              </a:solidFill>
              <a:effectLst/>
              <a:uFillTx/>
              <a:latin typeface="Arial"/>
            </a:endParaRPr>
          </a:p>
          <a:p>
            <a:pPr lvl="2" marL="1143000" indent="-228600">
              <a:lnSpc>
                <a:spcPct val="90000"/>
              </a:lnSpc>
              <a:spcBef>
                <a:spcPts val="720"/>
              </a:spcBef>
              <a:buClr>
                <a:srgbClr val="000000"/>
              </a:buClr>
              <a:buFont typeface=""/>
              <a:buChar char=""/>
            </a:pPr>
            <a:r>
              <a:rPr b="0" lang="en-IN" sz="1200" strike="noStrike" u="none">
                <a:solidFill>
                  <a:srgbClr val="000000"/>
                </a:solidFill>
                <a:effectLst/>
                <a:uFillTx/>
                <a:latin typeface="Times New Roman"/>
                <a:ea typeface="Times New Roman"/>
              </a:rPr>
              <a:t>license-plate-jargon</a:t>
            </a:r>
            <a:endParaRPr b="0" lang="en-IN" sz="1200" strike="noStrike" u="none">
              <a:solidFill>
                <a:srgbClr val="000000"/>
              </a:solidFill>
              <a:effectLst/>
              <a:uFillTx/>
              <a:latin typeface="Arial"/>
            </a:endParaRPr>
          </a:p>
          <a:p>
            <a:pPr lvl="2" marL="1143000" indent="-228600">
              <a:lnSpc>
                <a:spcPct val="90000"/>
              </a:lnSpc>
              <a:spcBef>
                <a:spcPts val="720"/>
              </a:spcBef>
              <a:buClr>
                <a:srgbClr val="000000"/>
              </a:buClr>
              <a:buFont typeface=""/>
              <a:buChar char=""/>
            </a:pPr>
            <a:r>
              <a:rPr b="0" lang="en-IN" sz="1200" strike="noStrike" u="none">
                <a:solidFill>
                  <a:srgbClr val="000000"/>
                </a:solidFill>
                <a:effectLst/>
                <a:uFillTx/>
                <a:latin typeface="Times New Roman"/>
                <a:ea typeface="Times New Roman"/>
              </a:rPr>
              <a:t>pipes</a:t>
            </a:r>
            <a:endParaRPr b="0" lang="en-IN" sz="1200" strike="noStrike" u="none">
              <a:solidFill>
                <a:srgbClr val="000000"/>
              </a:solidFill>
              <a:effectLst/>
              <a:uFillTx/>
              <a:latin typeface="Arial"/>
            </a:endParaRPr>
          </a:p>
          <a:p>
            <a:pPr lvl="2" marL="1143000" indent="-228600">
              <a:lnSpc>
                <a:spcPct val="90000"/>
              </a:lnSpc>
              <a:spcBef>
                <a:spcPts val="720"/>
              </a:spcBef>
              <a:buClr>
                <a:srgbClr val="000000"/>
              </a:buClr>
              <a:buFont typeface=""/>
              <a:buChar char=""/>
            </a:pPr>
            <a:r>
              <a:rPr b="0" lang="en-IN" sz="1200" strike="noStrike" u="none">
                <a:solidFill>
                  <a:srgbClr val="000000"/>
                </a:solidFill>
                <a:effectLst/>
                <a:uFillTx/>
                <a:latin typeface="Times New Roman"/>
                <a:ea typeface="Times New Roman"/>
              </a:rPr>
              <a:t>other</a:t>
            </a:r>
            <a:endParaRPr b="0" lang="en-IN" sz="1200" strike="noStrike" u="none">
              <a:solidFill>
                <a:srgbClr val="000000"/>
              </a:solidFill>
              <a:effectLst/>
              <a:uFillTx/>
              <a:latin typeface="Arial"/>
            </a:endParaRPr>
          </a:p>
          <a:p>
            <a:pPr marL="285840" indent="-285840">
              <a:lnSpc>
                <a:spcPct val="90000"/>
              </a:lnSpc>
              <a:spcBef>
                <a:spcPts val="720"/>
              </a:spcBef>
              <a:buClr>
                <a:srgbClr val="000000"/>
              </a:buClr>
              <a:buFont typeface=""/>
              <a:buChar char=""/>
            </a:pPr>
            <a:r>
              <a:rPr b="1" lang="en-IN" sz="1400" strike="noStrike" u="none">
                <a:solidFill>
                  <a:srgbClr val="000000"/>
                </a:solidFill>
                <a:effectLst/>
                <a:uFillTx/>
                <a:latin typeface="Times New Roman"/>
                <a:ea typeface="Times New Roman"/>
              </a:rPr>
              <a:t>Unix file system and Important directories (pages 30 - 32 and 95)</a:t>
            </a:r>
            <a:endParaRPr b="0" lang="en-IN" sz="1400" strike="noStrike" u="none">
              <a:solidFill>
                <a:srgbClr val="000000"/>
              </a:solidFill>
              <a:effectLst/>
              <a:uFillTx/>
              <a:latin typeface="Arial"/>
            </a:endParaRPr>
          </a:p>
          <a:p>
            <a:pPr marL="285840" indent="-285840">
              <a:lnSpc>
                <a:spcPct val="90000"/>
              </a:lnSpc>
              <a:spcBef>
                <a:spcPts val="720"/>
              </a:spcBef>
              <a:buClr>
                <a:srgbClr val="000000"/>
              </a:buClr>
              <a:buFont typeface=""/>
              <a:buChar char=""/>
            </a:pPr>
            <a:r>
              <a:rPr b="1" lang="en-IN" sz="1400" strike="noStrike" u="none">
                <a:solidFill>
                  <a:srgbClr val="000000"/>
                </a:solidFill>
                <a:effectLst/>
                <a:uFillTx/>
                <a:latin typeface="Times New Roman"/>
                <a:ea typeface="Times New Roman"/>
              </a:rPr>
              <a:t>Basic commands (pages 37 - 53, 69 - 73)</a:t>
            </a:r>
            <a:endParaRPr b="0" lang="en-IN" sz="1400" strike="noStrike" u="none">
              <a:solidFill>
                <a:srgbClr val="000000"/>
              </a:solidFill>
              <a:effectLst/>
              <a:uFillTx/>
              <a:latin typeface="Arial"/>
            </a:endParaRPr>
          </a:p>
          <a:p>
            <a:pPr marL="285840" indent="-285840">
              <a:lnSpc>
                <a:spcPct val="90000"/>
              </a:lnSpc>
              <a:spcBef>
                <a:spcPts val="720"/>
              </a:spcBef>
              <a:buClr>
                <a:srgbClr val="000000"/>
              </a:buClr>
              <a:buFont typeface=""/>
              <a:buChar char=""/>
            </a:pPr>
            <a:r>
              <a:rPr b="1" lang="en-IN" sz="1400" strike="noStrike" u="none">
                <a:solidFill>
                  <a:srgbClr val="000000"/>
                </a:solidFill>
                <a:effectLst/>
                <a:uFillTx/>
                <a:latin typeface="Times New Roman"/>
                <a:ea typeface="Times New Roman"/>
              </a:rPr>
              <a:t>Ownerships and Permissions (pages 54 - 59)</a:t>
            </a:r>
            <a:endParaRPr b="0" lang="en-IN" sz="1400" strike="noStrike" u="none">
              <a:solidFill>
                <a:srgbClr val="000000"/>
              </a:solidFill>
              <a:effectLst/>
              <a:uFillTx/>
              <a:latin typeface="Arial"/>
            </a:endParaRPr>
          </a:p>
          <a:p>
            <a:pPr marL="285840" indent="-285840">
              <a:lnSpc>
                <a:spcPct val="90000"/>
              </a:lnSpc>
              <a:spcBef>
                <a:spcPts val="720"/>
              </a:spcBef>
              <a:buClr>
                <a:srgbClr val="000000"/>
              </a:buClr>
              <a:buFont typeface=""/>
              <a:buChar char=""/>
            </a:pPr>
            <a:r>
              <a:rPr b="1" lang="en-IN" sz="1400" strike="noStrike" u="none">
                <a:solidFill>
                  <a:srgbClr val="000000"/>
                </a:solidFill>
                <a:effectLst/>
                <a:uFillTx/>
                <a:latin typeface="Times New Roman"/>
                <a:ea typeface="Times New Roman"/>
              </a:rPr>
              <a:t>Electronic Mail (pages 82 - 85)</a:t>
            </a:r>
            <a:endParaRPr b="0" lang="en-IN" sz="1400" strike="noStrike" u="none">
              <a:solidFill>
                <a:srgbClr val="000000"/>
              </a:solidFill>
              <a:effectLst/>
              <a:uFillTx/>
              <a:latin typeface="Arial"/>
            </a:endParaRPr>
          </a:p>
          <a:p>
            <a:pPr marL="285840" indent="-285840">
              <a:lnSpc>
                <a:spcPct val="90000"/>
              </a:lnSpc>
              <a:spcBef>
                <a:spcPts val="720"/>
              </a:spcBef>
              <a:buClr>
                <a:srgbClr val="000000"/>
              </a:buClr>
              <a:buFont typeface=""/>
              <a:buChar char=""/>
            </a:pPr>
            <a:r>
              <a:rPr b="1" lang="en-IN" sz="1400" strike="noStrike" u="none">
                <a:solidFill>
                  <a:srgbClr val="000000"/>
                </a:solidFill>
                <a:effectLst/>
                <a:uFillTx/>
                <a:latin typeface="Times New Roman"/>
                <a:ea typeface="Times New Roman"/>
              </a:rPr>
              <a:t>Wildcards and Regular Expressions (pages 33 - 36, 74 - 81, 105 - 109)</a:t>
            </a:r>
            <a:endParaRPr b="0" lang="en-IN" sz="1400" strike="noStrike" u="none">
              <a:solidFill>
                <a:srgbClr val="000000"/>
              </a:solidFill>
              <a:effectLst/>
              <a:uFillTx/>
              <a:latin typeface="Arial"/>
            </a:endParaRPr>
          </a:p>
          <a:p>
            <a:pPr marL="285840" indent="-285840">
              <a:lnSpc>
                <a:spcPct val="90000"/>
              </a:lnSpc>
              <a:spcBef>
                <a:spcPts val="720"/>
              </a:spcBef>
              <a:buClr>
                <a:srgbClr val="000000"/>
              </a:buClr>
              <a:buFont typeface=""/>
              <a:buChar char=""/>
            </a:pPr>
            <a:r>
              <a:rPr b="1" lang="en-IN" sz="1400" strike="noStrike" u="none">
                <a:solidFill>
                  <a:srgbClr val="000000"/>
                </a:solidFill>
                <a:effectLst/>
                <a:uFillTx/>
                <a:latin typeface="Times New Roman"/>
                <a:ea typeface="Times New Roman"/>
              </a:rPr>
              <a:t>Output Redirection (pages 25 - 29)</a:t>
            </a:r>
            <a:endParaRPr b="0" lang="en-IN" sz="1400" strike="noStrike" u="none">
              <a:solidFill>
                <a:srgbClr val="000000"/>
              </a:solidFill>
              <a:effectLst/>
              <a:uFillTx/>
              <a:latin typeface="Arial"/>
            </a:endParaRPr>
          </a:p>
          <a:p>
            <a:pPr marL="285840" indent="-285840">
              <a:lnSpc>
                <a:spcPct val="90000"/>
              </a:lnSpc>
              <a:spcBef>
                <a:spcPts val="720"/>
              </a:spcBef>
              <a:buClr>
                <a:srgbClr val="000000"/>
              </a:buClr>
              <a:buFont typeface=""/>
              <a:buChar char=""/>
            </a:pPr>
            <a:r>
              <a:rPr b="1" lang="en-IN" sz="1400" strike="noStrike" u="none">
                <a:solidFill>
                  <a:srgbClr val="000000"/>
                </a:solidFill>
                <a:effectLst/>
                <a:uFillTx/>
                <a:latin typeface="Times New Roman"/>
                <a:ea typeface="Times New Roman"/>
              </a:rPr>
              <a:t>Processes and Job Control (pages 86 - 90)</a:t>
            </a:r>
            <a:endParaRPr b="0" lang="en-IN" sz="1400" strike="noStrike" u="none">
              <a:solidFill>
                <a:srgbClr val="000000"/>
              </a:solidFill>
              <a:effectLst/>
              <a:uFillTx/>
              <a:latin typeface="Arial"/>
            </a:endParaRPr>
          </a:p>
          <a:p>
            <a:pPr marL="285840" indent="-285840">
              <a:lnSpc>
                <a:spcPct val="90000"/>
              </a:lnSpc>
              <a:spcBef>
                <a:spcPts val="720"/>
              </a:spcBef>
              <a:buClr>
                <a:srgbClr val="000000"/>
              </a:buClr>
              <a:buFont typeface=""/>
              <a:buChar char=""/>
            </a:pPr>
            <a:r>
              <a:rPr b="1" lang="en-IN" sz="1400" strike="noStrike" u="none">
                <a:solidFill>
                  <a:srgbClr val="000000"/>
                </a:solidFill>
                <a:effectLst/>
                <a:uFillTx/>
                <a:latin typeface="Times New Roman"/>
                <a:ea typeface="Times New Roman"/>
              </a:rPr>
              <a:t>Files, Devices, and Inodes (pages 96 - 103)</a:t>
            </a:r>
            <a:endParaRPr b="0" lang="en-IN" sz="1400" strike="noStrike" u="none">
              <a:solidFill>
                <a:srgbClr val="000000"/>
              </a:solidFill>
              <a:effectLst/>
              <a:uFillTx/>
              <a:latin typeface="Arial"/>
            </a:endParaRPr>
          </a:p>
          <a:p>
            <a:pPr marL="285840" indent="-285840">
              <a:lnSpc>
                <a:spcPct val="90000"/>
              </a:lnSpc>
              <a:spcBef>
                <a:spcPts val="720"/>
              </a:spcBef>
              <a:buClr>
                <a:srgbClr val="000000"/>
              </a:buClr>
              <a:buFont typeface=""/>
              <a:buChar char=""/>
            </a:pPr>
            <a:r>
              <a:rPr b="1" lang="en-IN" sz="1400" strike="noStrike" u="none">
                <a:solidFill>
                  <a:srgbClr val="000000"/>
                </a:solidFill>
                <a:effectLst/>
                <a:uFillTx/>
                <a:latin typeface="Times New Roman"/>
                <a:ea typeface="Times New Roman"/>
              </a:rPr>
              <a:t>Shell Variables (pages 60 - 68)</a:t>
            </a:r>
            <a:endParaRPr b="0" lang="en-IN" sz="1400" strike="noStrike" u="none">
              <a:solidFill>
                <a:srgbClr val="000000"/>
              </a:solidFill>
              <a:effectLst/>
              <a:uFillTx/>
              <a:latin typeface="Arial"/>
            </a:endParaRPr>
          </a:p>
          <a:p>
            <a:pPr marL="285840" indent="-285840">
              <a:lnSpc>
                <a:spcPct val="90000"/>
              </a:lnSpc>
              <a:spcBef>
                <a:spcPts val="720"/>
              </a:spcBef>
              <a:buClr>
                <a:srgbClr val="000000"/>
              </a:buClr>
              <a:buFont typeface=""/>
              <a:buChar char=""/>
            </a:pPr>
            <a:r>
              <a:rPr b="1" lang="en-IN" sz="1400" strike="noStrike" u="none">
                <a:solidFill>
                  <a:srgbClr val="000000"/>
                </a:solidFill>
                <a:effectLst/>
                <a:uFillTx/>
                <a:latin typeface="Times New Roman"/>
                <a:ea typeface="Times New Roman"/>
              </a:rPr>
              <a:t>Environment Variables (pages 110 - 120, 136 - 137)</a:t>
            </a:r>
            <a:endParaRPr b="0" lang="en-IN" sz="1400" strike="noStrike" u="none">
              <a:solidFill>
                <a:srgbClr val="000000"/>
              </a:solidFill>
              <a:effectLst/>
              <a:uFillTx/>
              <a:latin typeface="Arial"/>
            </a:endParaRPr>
          </a:p>
          <a:p>
            <a:pPr marL="285840" indent="-285840">
              <a:lnSpc>
                <a:spcPct val="90000"/>
              </a:lnSpc>
              <a:spcBef>
                <a:spcPts val="720"/>
              </a:spcBef>
              <a:buClr>
                <a:srgbClr val="000000"/>
              </a:buClr>
              <a:buFont typeface=""/>
              <a:buChar char=""/>
            </a:pPr>
            <a:r>
              <a:rPr b="1" lang="en-IN" sz="1400" strike="noStrike" u="none">
                <a:solidFill>
                  <a:srgbClr val="000000"/>
                </a:solidFill>
                <a:effectLst/>
                <a:uFillTx/>
                <a:latin typeface="Times New Roman"/>
                <a:ea typeface="Times New Roman"/>
              </a:rPr>
              <a:t>Filters (grep, sed, awk, sort) (pages 124 - 134)</a:t>
            </a:r>
            <a:endParaRPr b="0" lang="en-IN" sz="1400" strike="noStrike" u="none">
              <a:solidFill>
                <a:srgbClr val="000000"/>
              </a:solidFill>
              <a:effectLst/>
              <a:uFillTx/>
              <a:latin typeface="Arial"/>
            </a:endParaRPr>
          </a:p>
          <a:p>
            <a:pPr marL="285840" indent="-285840">
              <a:lnSpc>
                <a:spcPct val="90000"/>
              </a:lnSpc>
              <a:spcBef>
                <a:spcPts val="720"/>
              </a:spcBef>
              <a:buClr>
                <a:srgbClr val="000000"/>
              </a:buClr>
              <a:buFont typeface=""/>
              <a:buChar char=""/>
            </a:pPr>
            <a:r>
              <a:rPr b="1" lang="en-IN" sz="1400" strike="noStrike" u="none">
                <a:solidFill>
                  <a:srgbClr val="000000"/>
                </a:solidFill>
                <a:effectLst/>
                <a:uFillTx/>
                <a:latin typeface="Times New Roman"/>
                <a:ea typeface="Times New Roman"/>
              </a:rPr>
              <a:t>Shell Scripts (pages 91 - 94, 1201- 123)</a:t>
            </a:r>
            <a:endParaRPr b="0" lang="en-IN" sz="1400" strike="noStrike" u="none">
              <a:solidFill>
                <a:srgbClr val="000000"/>
              </a:solidFill>
              <a:effectLst/>
              <a:uFillTx/>
              <a:latin typeface="Arial"/>
            </a:endParaRPr>
          </a:p>
          <a:p>
            <a:pPr marL="285840" indent="-285840">
              <a:lnSpc>
                <a:spcPct val="90000"/>
              </a:lnSpc>
              <a:spcBef>
                <a:spcPts val="720"/>
              </a:spcBef>
              <a:buClr>
                <a:srgbClr val="000000"/>
              </a:buClr>
              <a:buFont typeface=""/>
              <a:buChar char=""/>
            </a:pPr>
            <a:r>
              <a:rPr b="1" lang="en-IN" sz="1400" strike="noStrike" u="none">
                <a:solidFill>
                  <a:srgbClr val="000000"/>
                </a:solidFill>
                <a:effectLst/>
                <a:uFillTx/>
                <a:latin typeface="Times New Roman"/>
                <a:ea typeface="Times New Roman"/>
              </a:rPr>
              <a:t>Advanced Shell Scripting (pages 138 - 154)</a:t>
            </a:r>
            <a:endParaRPr b="0" lang="en-IN" sz="1400" strike="noStrike" u="none">
              <a:solidFill>
                <a:srgbClr val="000000"/>
              </a:solidFill>
              <a:effectLst/>
              <a:uFillTx/>
              <a:latin typeface="Arial"/>
            </a:endParaRPr>
          </a:p>
          <a:p>
            <a:pPr marL="285840" indent="-285840">
              <a:lnSpc>
                <a:spcPct val="90000"/>
              </a:lnSpc>
              <a:spcBef>
                <a:spcPts val="720"/>
              </a:spcBef>
              <a:buClr>
                <a:srgbClr val="000000"/>
              </a:buClr>
              <a:buFont typeface=""/>
              <a:buChar char=""/>
            </a:pPr>
            <a:r>
              <a:rPr b="1" lang="en-IN" sz="1400" strike="noStrike" u="none">
                <a:solidFill>
                  <a:srgbClr val="000000"/>
                </a:solidFill>
                <a:effectLst/>
                <a:uFillTx/>
                <a:latin typeface="Times New Roman"/>
                <a:ea typeface="Times New Roman"/>
              </a:rPr>
              <a:t>Aliases and Functions (pages 155 - 159)</a:t>
            </a:r>
            <a:endParaRPr b="0" lang="en-IN"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 name=""/>
          <p:cNvSpPr txBox="1"/>
          <p:nvPr/>
        </p:nvSpPr>
        <p:spPr>
          <a:xfrm>
            <a:off x="2768760" y="254160"/>
            <a:ext cx="360684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Table of Contents</a:t>
            </a:r>
            <a:endParaRPr b="0" lang="en-IN" sz="3600" strike="noStrike" u="none">
              <a:solidFill>
                <a:srgbClr val="000000"/>
              </a:solidFill>
              <a:effectLst/>
              <a:uFillTx/>
              <a:latin typeface="Arial"/>
            </a:endParaRPr>
          </a:p>
        </p:txBody>
      </p:sp>
      <p:sp>
        <p:nvSpPr>
          <p:cNvPr id="24" name=""/>
          <p:cNvSpPr txBox="1"/>
          <p:nvPr/>
        </p:nvSpPr>
        <p:spPr>
          <a:xfrm>
            <a:off x="4724280" y="838080"/>
            <a:ext cx="3505320" cy="6214680"/>
          </a:xfrm>
          <a:prstGeom prst="rect">
            <a:avLst/>
          </a:prstGeom>
          <a:noFill/>
          <a:ln w="0">
            <a:noFill/>
          </a:ln>
        </p:spPr>
        <p:txBody>
          <a:bodyPr lIns="0" rIns="0" tIns="0" bIns="0" anchor="t">
            <a:spAutoFit/>
          </a:bodyPr>
          <a:p>
            <a:pPr marL="285840" indent="-285840">
              <a:lnSpc>
                <a:spcPct val="90000"/>
              </a:lnSpc>
              <a:spcBef>
                <a:spcPts val="720"/>
              </a:spcBef>
            </a:pPr>
            <a:r>
              <a:rPr b="0" lang="en-IN" sz="1000" strike="noStrike" u="sng">
                <a:solidFill>
                  <a:srgbClr val="000000"/>
                </a:solidFill>
                <a:effectLst/>
                <a:uFillTx/>
                <a:latin typeface="Times New Roman"/>
                <a:ea typeface="Times New Roman"/>
              </a:rPr>
              <a:t>Subject</a:t>
            </a:r>
            <a:r>
              <a:rPr b="0" lang="en-IN" sz="1000" strike="noStrike" u="sng">
                <a:solidFill>
                  <a:srgbClr val="000000"/>
                </a:solidFill>
                <a:effectLst/>
                <a:uFillTx/>
                <a:latin typeface="Times New Roman"/>
                <a:ea typeface="Times New Roman"/>
              </a:rPr>
              <a:t>	</a:t>
            </a:r>
            <a:r>
              <a:rPr b="0" lang="en-IN" sz="1000" strike="noStrike" u="sng">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sng">
                <a:solidFill>
                  <a:srgbClr val="000000"/>
                </a:solidFill>
                <a:effectLst/>
                <a:uFillTx/>
                <a:latin typeface="Times New Roman"/>
                <a:ea typeface="Times New Roman"/>
              </a:rPr>
              <a:t>Page #</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cd and pwd</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Change to Another Directory</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39</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mkdir</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Make a New Directory</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40</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rmdir</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Remove a Directory</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41</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echo</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Print Text on Screen</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42</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more</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View a Text File</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43</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cat</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Concatenate and Print Files</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43</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cat</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Entering Short Files</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45</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mv</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Move or Rename Files</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46</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mv</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Move or Rename Directories</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46</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mv</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Options</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48</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rm</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Remove Files</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49</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rm</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Recursive Removal</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50</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cp</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Copying Files</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51</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cp</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Options</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52</a:t>
            </a:r>
            <a:endParaRPr b="0" lang="en-IN" sz="1000" strike="noStrike" u="none">
              <a:solidFill>
                <a:srgbClr val="000000"/>
              </a:solidFill>
              <a:effectLst/>
              <a:uFillTx/>
              <a:latin typeface="Arial"/>
            </a:endParaRPr>
          </a:p>
        </p:txBody>
      </p:sp>
      <p:sp>
        <p:nvSpPr>
          <p:cNvPr id="25" name=""/>
          <p:cNvSpPr txBox="1"/>
          <p:nvPr/>
        </p:nvSpPr>
        <p:spPr>
          <a:xfrm>
            <a:off x="1143000" y="838080"/>
            <a:ext cx="3276720" cy="6432120"/>
          </a:xfrm>
          <a:prstGeom prst="rect">
            <a:avLst/>
          </a:prstGeom>
          <a:noFill/>
          <a:ln w="0">
            <a:noFill/>
          </a:ln>
        </p:spPr>
        <p:txBody>
          <a:bodyPr lIns="0" rIns="0" tIns="0" bIns="0" anchor="t">
            <a:spAutoFit/>
          </a:bodyPr>
          <a:p>
            <a:pPr marL="285840" indent="-285840">
              <a:lnSpc>
                <a:spcPct val="90000"/>
              </a:lnSpc>
              <a:spcBef>
                <a:spcPts val="720"/>
              </a:spcBef>
            </a:pPr>
            <a:r>
              <a:rPr b="0" lang="en-IN" sz="1000" strike="noStrike" u="sng">
                <a:solidFill>
                  <a:srgbClr val="000000"/>
                </a:solidFill>
                <a:effectLst/>
                <a:uFillTx/>
                <a:latin typeface="Times New Roman"/>
                <a:ea typeface="Times New Roman"/>
              </a:rPr>
              <a:t>Subject</a:t>
            </a:r>
            <a:r>
              <a:rPr b="0" lang="en-IN" sz="1000" strike="noStrike" u="sng">
                <a:solidFill>
                  <a:srgbClr val="000000"/>
                </a:solidFill>
                <a:effectLst/>
                <a:uFillTx/>
                <a:latin typeface="Times New Roman"/>
                <a:ea typeface="Times New Roman"/>
              </a:rPr>
              <a:t>	</a:t>
            </a:r>
            <a:r>
              <a:rPr b="0" lang="en-IN" sz="1000" strike="noStrike" u="sng">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sng">
                <a:solidFill>
                  <a:srgbClr val="000000"/>
                </a:solidFill>
                <a:effectLst/>
                <a:uFillTx/>
                <a:latin typeface="Times New Roman"/>
                <a:ea typeface="Times New Roman"/>
              </a:rPr>
              <a:t>Page #</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What is UNIX?</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6</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UNIX History</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7</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Vendors and Versions</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11</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What makes it UNIX?</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12</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Multitasking</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13</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Multiuser</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14</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Networked</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TCP/IP</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15</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uucp</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16</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Portable</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17</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Starting a UNIX Session</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18</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Logging into UNIX</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19</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The Shell</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21</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Shell Command Syntax</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22</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Options vs Arguments</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23</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The Standard Output</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24</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The Standard Input</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25</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Appending</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26</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Standard Error</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27</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Pipes and Filters</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28</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The UNIX File System</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29</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UNIX File Names</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30</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The UNIX File System Hierarchy</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31</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File Name Expansion (Wildcards)</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32</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Wildcard Characters</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33</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Common UNIX Commands</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36</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ls - List Contents of a Directory</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37</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ls - More Options</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38</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	</a:t>
            </a:r>
            <a:endParaRPr b="0" lang="en-IN" sz="1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 name=""/>
          <p:cNvSpPr txBox="1"/>
          <p:nvPr/>
        </p:nvSpPr>
        <p:spPr>
          <a:xfrm>
            <a:off x="2768760" y="279360"/>
            <a:ext cx="360684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Table of Contents</a:t>
            </a:r>
            <a:endParaRPr b="0" lang="en-IN" sz="3600" strike="noStrike" u="none">
              <a:solidFill>
                <a:srgbClr val="000000"/>
              </a:solidFill>
              <a:effectLst/>
              <a:uFillTx/>
              <a:latin typeface="Arial"/>
            </a:endParaRPr>
          </a:p>
        </p:txBody>
      </p:sp>
      <p:sp>
        <p:nvSpPr>
          <p:cNvPr id="27" name=""/>
          <p:cNvSpPr txBox="1"/>
          <p:nvPr/>
        </p:nvSpPr>
        <p:spPr>
          <a:xfrm>
            <a:off x="990720" y="1219320"/>
            <a:ext cx="3505320" cy="5997240"/>
          </a:xfrm>
          <a:prstGeom prst="rect">
            <a:avLst/>
          </a:prstGeom>
          <a:noFill/>
          <a:ln w="0">
            <a:noFill/>
          </a:ln>
        </p:spPr>
        <p:txBody>
          <a:bodyPr lIns="0" rIns="0" tIns="0" bIns="0" anchor="t">
            <a:spAutoFit/>
          </a:bodyPr>
          <a:p>
            <a:pPr marL="285840" indent="-285840">
              <a:lnSpc>
                <a:spcPct val="90000"/>
              </a:lnSpc>
              <a:spcBef>
                <a:spcPts val="720"/>
              </a:spcBef>
            </a:pPr>
            <a:r>
              <a:rPr b="0" lang="en-IN" sz="1000" strike="noStrike" u="sng">
                <a:solidFill>
                  <a:srgbClr val="000000"/>
                </a:solidFill>
                <a:effectLst/>
                <a:uFillTx/>
                <a:latin typeface="Times New Roman"/>
                <a:ea typeface="Times New Roman"/>
              </a:rPr>
              <a:t>Subject</a:t>
            </a:r>
            <a:r>
              <a:rPr b="0" lang="en-IN" sz="1000" strike="noStrike" u="sng">
                <a:solidFill>
                  <a:srgbClr val="000000"/>
                </a:solidFill>
                <a:effectLst/>
                <a:uFillTx/>
                <a:latin typeface="Times New Roman"/>
                <a:ea typeface="Times New Roman"/>
              </a:rPr>
              <a:t>	</a:t>
            </a:r>
            <a:r>
              <a:rPr b="0" lang="en-IN" sz="1000" strike="noStrike" u="sng">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sng">
                <a:solidFill>
                  <a:srgbClr val="000000"/>
                </a:solidFill>
                <a:effectLst/>
                <a:uFillTx/>
                <a:latin typeface="Times New Roman"/>
                <a:ea typeface="Times New Roman"/>
              </a:rPr>
              <a:t>Page #</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File Ownership</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53</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File Access</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54</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chmod</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55</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Groups</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 The Old Way</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56</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Groups</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 The New Way</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57</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Groups</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 Every Which Way</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58</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Shell Variables</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59</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Important shell variables</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60</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Environment variables</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61</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Referencing variables</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63</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Quoting</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64</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Tilde expansion</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66</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Customizing your Login</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67</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The Online Manual</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68</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Apropos</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69</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Who</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70</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W</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71</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Finger</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72</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Regular Expressions</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73</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Single Character REs</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74</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Character Class REs</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75</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More Complex REs</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76</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RE Examples</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77</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grep</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78</a:t>
            </a:r>
            <a:endParaRPr b="0" lang="en-IN" sz="1000" strike="noStrike" u="none">
              <a:solidFill>
                <a:srgbClr val="000000"/>
              </a:solidFill>
              <a:effectLst/>
              <a:uFillTx/>
              <a:latin typeface="Arial"/>
            </a:endParaRPr>
          </a:p>
        </p:txBody>
      </p:sp>
      <p:sp>
        <p:nvSpPr>
          <p:cNvPr id="28" name=""/>
          <p:cNvSpPr txBox="1"/>
          <p:nvPr/>
        </p:nvSpPr>
        <p:spPr>
          <a:xfrm>
            <a:off x="4648320" y="1219320"/>
            <a:ext cx="3505320" cy="5997240"/>
          </a:xfrm>
          <a:prstGeom prst="rect">
            <a:avLst/>
          </a:prstGeom>
          <a:noFill/>
          <a:ln w="0">
            <a:noFill/>
          </a:ln>
        </p:spPr>
        <p:txBody>
          <a:bodyPr lIns="0" rIns="0" tIns="0" bIns="0" anchor="t">
            <a:spAutoFit/>
          </a:bodyPr>
          <a:p>
            <a:pPr marL="285840" indent="-285840">
              <a:lnSpc>
                <a:spcPct val="90000"/>
              </a:lnSpc>
              <a:spcBef>
                <a:spcPts val="720"/>
              </a:spcBef>
            </a:pPr>
            <a:r>
              <a:rPr b="0" lang="en-IN" sz="1000" strike="noStrike" u="sng">
                <a:solidFill>
                  <a:srgbClr val="000000"/>
                </a:solidFill>
                <a:effectLst/>
                <a:uFillTx/>
                <a:latin typeface="Times New Roman"/>
                <a:ea typeface="Times New Roman"/>
              </a:rPr>
              <a:t>Subject</a:t>
            </a:r>
            <a:r>
              <a:rPr b="0" lang="en-IN" sz="1000" strike="noStrike" u="sng">
                <a:solidFill>
                  <a:srgbClr val="000000"/>
                </a:solidFill>
                <a:effectLst/>
                <a:uFillTx/>
                <a:latin typeface="Times New Roman"/>
                <a:ea typeface="Times New Roman"/>
              </a:rPr>
              <a:t>	</a:t>
            </a:r>
            <a:r>
              <a:rPr b="0" lang="en-IN" sz="1000" strike="noStrike" u="sng">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sng">
                <a:solidFill>
                  <a:srgbClr val="000000"/>
                </a:solidFill>
                <a:effectLst/>
                <a:uFillTx/>
                <a:latin typeface="Times New Roman"/>
                <a:ea typeface="Times New Roman"/>
              </a:rPr>
              <a:t>Page #</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egrep</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79</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An egrep Example</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80</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Mail</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81</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Reading Mail</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82</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Sending Mail</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83</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Foreground vs Background</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85</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Processes</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86</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Kill</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87</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Job Control</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88</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Job Control Example</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89</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Shell Scripts</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90</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Sample Shell Script</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91</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Control Flow in Scripts</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92</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Parameters</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93</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Important Directories</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94</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Manipulating Files and Inodes</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95</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Device Files</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98</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Disk Devices</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100</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Terminal Devices</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101</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The NULL Device</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102</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Yet More Shells</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103</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Shell Metacharacters</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104</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Table of Metacharacters</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105</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Quoting</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107</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Continuations and Comments</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108</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Creating New Commands</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109</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PATH Environment Variable</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111</a:t>
            </a:r>
            <a:endParaRPr b="0" lang="en-IN" sz="1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 name=""/>
          <p:cNvSpPr txBox="1"/>
          <p:nvPr/>
        </p:nvSpPr>
        <p:spPr>
          <a:xfrm>
            <a:off x="2768760" y="279360"/>
            <a:ext cx="360684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Table of Contents</a:t>
            </a:r>
            <a:endParaRPr b="0" lang="en-IN" sz="3600" strike="noStrike" u="none">
              <a:solidFill>
                <a:srgbClr val="000000"/>
              </a:solidFill>
              <a:effectLst/>
              <a:uFillTx/>
              <a:latin typeface="Arial"/>
            </a:endParaRPr>
          </a:p>
        </p:txBody>
      </p:sp>
      <p:sp>
        <p:nvSpPr>
          <p:cNvPr id="30" name=""/>
          <p:cNvSpPr txBox="1"/>
          <p:nvPr/>
        </p:nvSpPr>
        <p:spPr>
          <a:xfrm>
            <a:off x="838080" y="1219320"/>
            <a:ext cx="3505320" cy="5562360"/>
          </a:xfrm>
          <a:prstGeom prst="rect">
            <a:avLst/>
          </a:prstGeom>
          <a:noFill/>
          <a:ln w="0">
            <a:noFill/>
          </a:ln>
        </p:spPr>
        <p:txBody>
          <a:bodyPr lIns="0" rIns="0" tIns="0" bIns="0" anchor="t">
            <a:spAutoFit/>
          </a:bodyPr>
          <a:p>
            <a:pPr marL="285840" indent="-285840">
              <a:lnSpc>
                <a:spcPct val="90000"/>
              </a:lnSpc>
              <a:spcBef>
                <a:spcPts val="720"/>
              </a:spcBef>
            </a:pPr>
            <a:r>
              <a:rPr b="0" lang="en-IN" sz="1000" strike="noStrike" u="sng">
                <a:solidFill>
                  <a:srgbClr val="000000"/>
                </a:solidFill>
                <a:effectLst/>
                <a:uFillTx/>
                <a:latin typeface="Times New Roman"/>
                <a:ea typeface="Times New Roman"/>
              </a:rPr>
              <a:t>Subject</a:t>
            </a:r>
            <a:r>
              <a:rPr b="0" lang="en-IN" sz="1000" strike="noStrike" u="sng">
                <a:solidFill>
                  <a:srgbClr val="000000"/>
                </a:solidFill>
                <a:effectLst/>
                <a:uFillTx/>
                <a:latin typeface="Times New Roman"/>
                <a:ea typeface="Times New Roman"/>
              </a:rPr>
              <a:t>	</a:t>
            </a:r>
            <a:r>
              <a:rPr b="0" lang="en-IN" sz="1000" strike="noStrike" u="sng">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sng">
                <a:solidFill>
                  <a:srgbClr val="000000"/>
                </a:solidFill>
                <a:effectLst/>
                <a:uFillTx/>
                <a:latin typeface="Times New Roman"/>
                <a:ea typeface="Times New Roman"/>
              </a:rPr>
              <a:t>Page #</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Exercise 1. Finding shell scripts</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112</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Arguments and Parameters</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113</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Example: 411, directory information</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114</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Program Output as Arguments</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115</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Shell Variables</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116</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Exporting Shell Variables</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117</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Modifying Shell Variables</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The . command</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118</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Here Documents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119</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Looping in Shell Programs</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120</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Putting it all together</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122</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Filters</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123</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Other Filters</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124</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sort</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125</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Stream Editor, sed</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126</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Sample sed Commands</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127</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Summary of sed Commands</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128</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Exercise: sed</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129</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awk -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130</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pattern scanning and processing language</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awk Arrays</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132</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sed and awk</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133</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Bourne Shell Programming</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134</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Shell Built-In Variables</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135</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The set command</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136</a:t>
            </a:r>
            <a:endParaRPr b="0" lang="en-IN" sz="1000" strike="noStrike" u="none">
              <a:solidFill>
                <a:srgbClr val="000000"/>
              </a:solidFill>
              <a:effectLst/>
              <a:uFillTx/>
              <a:latin typeface="Arial"/>
            </a:endParaRPr>
          </a:p>
        </p:txBody>
      </p:sp>
      <p:sp>
        <p:nvSpPr>
          <p:cNvPr id="31" name=""/>
          <p:cNvSpPr txBox="1"/>
          <p:nvPr/>
        </p:nvSpPr>
        <p:spPr>
          <a:xfrm>
            <a:off x="4724280" y="1219320"/>
            <a:ext cx="3505320" cy="5105520"/>
          </a:xfrm>
          <a:prstGeom prst="rect">
            <a:avLst/>
          </a:prstGeom>
          <a:noFill/>
          <a:ln w="0">
            <a:noFill/>
          </a:ln>
        </p:spPr>
        <p:txBody>
          <a:bodyPr lIns="0" rIns="0" tIns="0" bIns="0" anchor="t">
            <a:spAutoFit/>
          </a:bodyPr>
          <a:p>
            <a:pPr marL="285840" indent="-285840">
              <a:lnSpc>
                <a:spcPct val="90000"/>
              </a:lnSpc>
              <a:spcBef>
                <a:spcPts val="720"/>
              </a:spcBef>
            </a:pPr>
            <a:r>
              <a:rPr b="0" lang="en-IN" sz="1000" strike="noStrike" u="sng">
                <a:solidFill>
                  <a:srgbClr val="000000"/>
                </a:solidFill>
                <a:effectLst/>
                <a:uFillTx/>
                <a:latin typeface="Times New Roman"/>
                <a:ea typeface="Times New Roman"/>
              </a:rPr>
              <a:t>Subject</a:t>
            </a:r>
            <a:r>
              <a:rPr b="0" lang="en-IN" sz="1000" strike="noStrike" u="sng">
                <a:solidFill>
                  <a:srgbClr val="000000"/>
                </a:solidFill>
                <a:effectLst/>
                <a:uFillTx/>
                <a:latin typeface="Times New Roman"/>
                <a:ea typeface="Times New Roman"/>
              </a:rPr>
              <a:t>	</a:t>
            </a:r>
            <a:r>
              <a:rPr b="0" lang="en-IN" sz="1000" strike="noStrike" u="sng">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sng">
                <a:solidFill>
                  <a:srgbClr val="000000"/>
                </a:solidFill>
                <a:effectLst/>
                <a:uFillTx/>
                <a:latin typeface="Times New Roman"/>
                <a:ea typeface="Times New Roman"/>
              </a:rPr>
              <a:t>Page #</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case Statements</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137</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Shell Pattern Matching Rules</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138</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Example case Statements</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139</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Control flow: which command?</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140</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which command? - PATH elements</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141</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Conditional execution: if</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142</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Testing Things</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143</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Which Command?  - which</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145</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for loops revisited</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146</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while and until loops</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147</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Example: while and until</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148</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Exercise: looping</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149</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Evaluation of shell variables</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150</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Accepting User Input: read</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151</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Traps: catching interrupts</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152</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Shell Signal Numbers</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153</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Aliases</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154</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Shell Functions</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155</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Example Shell Function</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156</a:t>
            </a:r>
            <a:endParaRPr b="0" lang="en-IN" sz="1000" strike="noStrike" u="none">
              <a:solidFill>
                <a:srgbClr val="000000"/>
              </a:solidFill>
              <a:effectLst/>
              <a:uFillTx/>
              <a:latin typeface="Arial"/>
            </a:endParaRPr>
          </a:p>
          <a:p>
            <a:pPr marL="285840" indent="-285840">
              <a:lnSpc>
                <a:spcPct val="90000"/>
              </a:lnSpc>
              <a:spcBef>
                <a:spcPts val="720"/>
              </a:spcBef>
            </a:pPr>
            <a:r>
              <a:rPr b="0" lang="en-IN" sz="1000" strike="noStrike" u="none">
                <a:solidFill>
                  <a:srgbClr val="000000"/>
                </a:solidFill>
                <a:effectLst/>
                <a:uFillTx/>
                <a:latin typeface="Times New Roman"/>
                <a:ea typeface="Times New Roman"/>
              </a:rPr>
              <a:t>Style</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	</a:t>
            </a:r>
            <a:r>
              <a:rPr b="0" lang="en-IN" sz="1000" strike="noStrike" u="none">
                <a:solidFill>
                  <a:srgbClr val="000000"/>
                </a:solidFill>
                <a:effectLst/>
                <a:uFillTx/>
                <a:latin typeface="Times New Roman"/>
                <a:ea typeface="Times New Roman"/>
              </a:rPr>
              <a:t>158</a:t>
            </a:r>
            <a:endParaRPr b="0" lang="en-IN" sz="1000" strike="noStrike" u="none">
              <a:solidFill>
                <a:srgbClr val="000000"/>
              </a:solidFill>
              <a:effectLst/>
              <a:uFillTx/>
              <a:latin typeface="Arial"/>
            </a:endParaRPr>
          </a:p>
          <a:p>
            <a:pPr marL="285840" indent="-285840">
              <a:lnSpc>
                <a:spcPct val="90000"/>
              </a:lnSpc>
              <a:spcBef>
                <a:spcPts val="720"/>
              </a:spcBef>
            </a:pPr>
            <a:endParaRPr b="0" lang="en-IN" sz="1000" strike="noStrike" u="none">
              <a:solidFill>
                <a:srgbClr val="000000"/>
              </a:solidFill>
              <a:effectLst/>
              <a:uFillTx/>
              <a:latin typeface="Arial"/>
            </a:endParaRPr>
          </a:p>
          <a:p>
            <a:pPr marL="285840" indent="-285840">
              <a:lnSpc>
                <a:spcPct val="90000"/>
              </a:lnSpc>
              <a:spcBef>
                <a:spcPts val="720"/>
              </a:spcBef>
            </a:pPr>
            <a:endParaRPr b="0" lang="en-IN" sz="1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 name=""/>
          <p:cNvSpPr txBox="1"/>
          <p:nvPr/>
        </p:nvSpPr>
        <p:spPr>
          <a:xfrm>
            <a:off x="3048120" y="279360"/>
            <a:ext cx="3019320" cy="660240"/>
          </a:xfrm>
          <a:prstGeom prst="rect">
            <a:avLst/>
          </a:prstGeom>
          <a:noFill/>
          <a:ln w="0">
            <a:noFill/>
          </a:ln>
        </p:spPr>
        <p:txBody>
          <a:bodyPr lIns="0" rIns="0" tIns="0" bIns="0" anchor="t">
            <a:spAutoFit/>
          </a:bodyPr>
          <a:p>
            <a:pPr algn="ctr">
              <a:lnSpc>
                <a:spcPct val="111000"/>
              </a:lnSpc>
            </a:pPr>
            <a:r>
              <a:rPr b="1" lang="en-IN" sz="3600" strike="noStrike" u="none">
                <a:solidFill>
                  <a:srgbClr val="000000"/>
                </a:solidFill>
                <a:effectLst/>
                <a:uFillTx/>
                <a:latin typeface="Times New Roman"/>
                <a:ea typeface="Times New Roman"/>
              </a:rPr>
              <a:t>What is </a:t>
            </a:r>
            <a:r>
              <a:rPr b="1" lang="en-IN" sz="3200" strike="noStrike" u="none">
                <a:solidFill>
                  <a:srgbClr val="000000"/>
                </a:solidFill>
                <a:effectLst/>
                <a:uFillTx/>
                <a:latin typeface="Times New Roman"/>
                <a:ea typeface="Times New Roman"/>
              </a:rPr>
              <a:t>UNIX</a:t>
            </a:r>
            <a:r>
              <a:rPr b="1" lang="en-IN" sz="3600" strike="noStrike" u="none">
                <a:solidFill>
                  <a:srgbClr val="000000"/>
                </a:solidFill>
                <a:effectLst/>
                <a:uFillTx/>
                <a:latin typeface="Times New Roman"/>
                <a:ea typeface="Times New Roman"/>
              </a:rPr>
              <a:t>?</a:t>
            </a:r>
            <a:endParaRPr b="0" lang="en-IN" sz="3600" strike="noStrike" u="none">
              <a:solidFill>
                <a:srgbClr val="000000"/>
              </a:solidFill>
              <a:effectLst/>
              <a:uFillTx/>
              <a:latin typeface="Arial"/>
            </a:endParaRPr>
          </a:p>
        </p:txBody>
      </p:sp>
      <p:sp>
        <p:nvSpPr>
          <p:cNvPr id="33" name=""/>
          <p:cNvSpPr txBox="1"/>
          <p:nvPr/>
        </p:nvSpPr>
        <p:spPr>
          <a:xfrm>
            <a:off x="1079640" y="1994040"/>
            <a:ext cx="7074000" cy="2874960"/>
          </a:xfrm>
          <a:prstGeom prst="rect">
            <a:avLst/>
          </a:prstGeom>
          <a:noFill/>
          <a:ln w="0">
            <a:noFill/>
          </a:ln>
        </p:spPr>
        <p:txBody>
          <a:bodyPr lIns="0" rIns="0" tIns="0" bIns="0" anchor="t">
            <a:spAutoFit/>
          </a:bodyPr>
          <a:p>
            <a:pPr>
              <a:lnSpc>
                <a:spcPct val="90000"/>
              </a:lnSpc>
              <a:spcBef>
                <a:spcPts val="720"/>
              </a:spcBef>
              <a:tabLst>
                <a:tab algn="l" pos="685800"/>
                <a:tab algn="l" pos="1371600"/>
                <a:tab algn="l" pos="2057400"/>
                <a:tab algn="l" pos="2743200"/>
                <a:tab algn="l" pos="3429000"/>
                <a:tab algn="l" pos="4114800"/>
                <a:tab algn="l" pos="4800600"/>
                <a:tab algn="l" pos="5486400"/>
                <a:tab algn="l" pos="6172200"/>
              </a:tabLst>
            </a:pPr>
            <a:r>
              <a:rPr b="0" lang="en-IN" sz="2400" strike="noStrike" u="none">
                <a:solidFill>
                  <a:srgbClr val="000000"/>
                </a:solidFill>
                <a:effectLst/>
                <a:uFillTx/>
                <a:latin typeface="Times New Roman"/>
                <a:ea typeface="Times New Roman"/>
              </a:rPr>
              <a:t>A trademark for any of several computer operating systems developed at AT&amp;T Bell Labs.</a:t>
            </a: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 algn="l" pos="4114800"/>
                <a:tab algn="l" pos="4800600"/>
                <a:tab algn="l" pos="5486400"/>
                <a:tab algn="l" pos="6172200"/>
              </a:tabLst>
            </a:pPr>
            <a:endParaRPr b="0" lang="en-IN" sz="2400" strike="noStrike" u="none">
              <a:solidFill>
                <a:srgbClr val="000000"/>
              </a:solidFill>
              <a:effectLst/>
              <a:uFillTx/>
              <a:latin typeface="Arial"/>
            </a:endParaRPr>
          </a:p>
          <a:p>
            <a:pPr>
              <a:lnSpc>
                <a:spcPct val="90000"/>
              </a:lnSpc>
              <a:spcBef>
                <a:spcPts val="720"/>
              </a:spcBef>
              <a:tabLst>
                <a:tab algn="l" pos="685800"/>
                <a:tab algn="l" pos="1371600"/>
                <a:tab algn="l" pos="2057400"/>
                <a:tab algn="l" pos="2743200"/>
                <a:tab algn="l" pos="3429000"/>
                <a:tab algn="l" pos="4114800"/>
                <a:tab algn="l" pos="4800600"/>
                <a:tab algn="l" pos="5486400"/>
                <a:tab algn="l" pos="6172200"/>
              </a:tabLst>
            </a:pPr>
            <a:r>
              <a:rPr b="0" lang="en-IN" sz="2400" strike="noStrike" u="none">
                <a:solidFill>
                  <a:srgbClr val="000000"/>
                </a:solidFill>
                <a:effectLst/>
                <a:uFillTx/>
                <a:latin typeface="Times New Roman"/>
                <a:ea typeface="Times New Roman"/>
              </a:rPr>
              <a:t>A computer operating system or interface that bears a significant resemblance to UNIX.</a:t>
            </a: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 algn="l" pos="4114800"/>
                <a:tab algn="l" pos="4800600"/>
                <a:tab algn="l" pos="5486400"/>
                <a:tab algn="l" pos="6172200"/>
              </a:tabLst>
            </a:pPr>
            <a:endParaRPr b="0" lang="en-IN" sz="2400" strike="noStrike" u="none">
              <a:solidFill>
                <a:srgbClr val="000000"/>
              </a:solidFill>
              <a:effectLst/>
              <a:uFillTx/>
              <a:latin typeface="Arial"/>
            </a:endParaRPr>
          </a:p>
          <a:p>
            <a:pPr>
              <a:lnSpc>
                <a:spcPct val="90000"/>
              </a:lnSpc>
              <a:spcBef>
                <a:spcPts val="720"/>
              </a:spcBef>
              <a:tabLst>
                <a:tab algn="l" pos="685800"/>
                <a:tab algn="l" pos="1371600"/>
                <a:tab algn="l" pos="2057400"/>
                <a:tab algn="l" pos="2743200"/>
                <a:tab algn="l" pos="3429000"/>
                <a:tab algn="l" pos="4114800"/>
                <a:tab algn="l" pos="4800600"/>
                <a:tab algn="l" pos="5486400"/>
                <a:tab algn="l" pos="6172200"/>
              </a:tabLst>
            </a:pPr>
            <a:r>
              <a:rPr b="0" lang="en-IN" sz="2400" strike="noStrike" u="none">
                <a:solidFill>
                  <a:srgbClr val="000000"/>
                </a:solidFill>
                <a:effectLst/>
                <a:uFillTx/>
                <a:latin typeface="Times New Roman"/>
                <a:ea typeface="Times New Roman"/>
              </a:rPr>
              <a:t>Associated with UNIX.  “The UNIX Shell.”</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 name=""/>
          <p:cNvSpPr txBox="1"/>
          <p:nvPr/>
        </p:nvSpPr>
        <p:spPr>
          <a:xfrm>
            <a:off x="2484360" y="279360"/>
            <a:ext cx="4175280" cy="660240"/>
          </a:xfrm>
          <a:prstGeom prst="rect">
            <a:avLst/>
          </a:prstGeom>
          <a:noFill/>
          <a:ln w="0">
            <a:noFill/>
          </a:ln>
        </p:spPr>
        <p:txBody>
          <a:bodyPr lIns="0" rIns="0" tIns="0" bIns="0" anchor="t">
            <a:spAutoFit/>
          </a:bodyPr>
          <a:p>
            <a:pPr algn="ctr">
              <a:lnSpc>
                <a:spcPct val="111000"/>
              </a:lnSpc>
            </a:pPr>
            <a:r>
              <a:rPr b="1" lang="en-IN" sz="3200" strike="noStrike" u="none">
                <a:solidFill>
                  <a:srgbClr val="000000"/>
                </a:solidFill>
                <a:effectLst/>
                <a:uFillTx/>
                <a:latin typeface="Times New Roman"/>
                <a:ea typeface="Times New Roman"/>
              </a:rPr>
              <a:t>UNIX </a:t>
            </a:r>
            <a:r>
              <a:rPr b="1" lang="en-IN" sz="3600" strike="noStrike" u="none">
                <a:solidFill>
                  <a:srgbClr val="000000"/>
                </a:solidFill>
                <a:effectLst/>
                <a:uFillTx/>
                <a:latin typeface="Times New Roman"/>
                <a:ea typeface="Times New Roman"/>
              </a:rPr>
              <a:t>History, Part 1</a:t>
            </a:r>
            <a:endParaRPr b="0" lang="en-IN" sz="3600" strike="noStrike" u="none">
              <a:solidFill>
                <a:srgbClr val="000000"/>
              </a:solidFill>
              <a:effectLst/>
              <a:uFillTx/>
              <a:latin typeface="Arial"/>
            </a:endParaRPr>
          </a:p>
        </p:txBody>
      </p:sp>
      <p:sp>
        <p:nvSpPr>
          <p:cNvPr id="35" name=""/>
          <p:cNvSpPr txBox="1"/>
          <p:nvPr/>
        </p:nvSpPr>
        <p:spPr>
          <a:xfrm>
            <a:off x="1003320" y="1079640"/>
            <a:ext cx="7378560" cy="5181480"/>
          </a:xfrm>
          <a:prstGeom prst="rect">
            <a:avLst/>
          </a:prstGeom>
          <a:noFill/>
          <a:ln w="0">
            <a:noFill/>
          </a:ln>
        </p:spPr>
        <p:txBody>
          <a:bodyPr lIns="0" rIns="0" tIns="0" bIns="0" anchor="t">
            <a:spAutoFit/>
          </a:bodyPr>
          <a:p>
            <a:pPr marL="888840" indent="-888840">
              <a:lnSpc>
                <a:spcPct val="88000"/>
              </a:lnSpc>
              <a:tabLst>
                <a:tab algn="l" pos="482760"/>
                <a:tab algn="l" pos="1168560"/>
                <a:tab algn="l" pos="1854360"/>
                <a:tab algn="l" pos="2540160"/>
              </a:tabLst>
            </a:pPr>
            <a:r>
              <a:rPr b="0" lang="en-IN" sz="2400" strike="noStrike" u="none">
                <a:solidFill>
                  <a:srgbClr val="000000"/>
                </a:solidFill>
                <a:effectLst/>
                <a:uFillTx/>
                <a:latin typeface="Times New Roman"/>
                <a:ea typeface="Times New Roman"/>
              </a:rPr>
              <a:t>1969</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Version 1.  Written by Dennis Ritchie and Ken Thompson for the DEC PDP-7.</a:t>
            </a:r>
            <a:endParaRPr b="0" lang="en-IN" sz="2400" strike="noStrike" u="none">
              <a:solidFill>
                <a:srgbClr val="000000"/>
              </a:solidFill>
              <a:effectLst/>
              <a:uFillTx/>
              <a:latin typeface="Arial"/>
            </a:endParaRPr>
          </a:p>
          <a:p>
            <a:pPr marL="888840" indent="-888840">
              <a:lnSpc>
                <a:spcPct val="88000"/>
              </a:lnSpc>
              <a:tabLst>
                <a:tab algn="l" pos="482760"/>
                <a:tab algn="l" pos="1168560"/>
                <a:tab algn="l" pos="1854360"/>
                <a:tab algn="l" pos="2540160"/>
              </a:tabLst>
            </a:pPr>
            <a:endParaRPr b="0" lang="en-IN" sz="2400" strike="noStrike" u="none">
              <a:solidFill>
                <a:srgbClr val="000000"/>
              </a:solidFill>
              <a:effectLst/>
              <a:uFillTx/>
              <a:latin typeface="Arial"/>
            </a:endParaRPr>
          </a:p>
          <a:p>
            <a:pPr marL="888840" indent="-888840">
              <a:lnSpc>
                <a:spcPct val="88000"/>
              </a:lnSpc>
              <a:tabLst>
                <a:tab algn="l" pos="482760"/>
                <a:tab algn="l" pos="1168560"/>
                <a:tab algn="l" pos="1854360"/>
                <a:tab algn="l" pos="2540160"/>
              </a:tabLst>
            </a:pPr>
            <a:r>
              <a:rPr b="0" lang="en-IN" sz="2400" strike="noStrike" u="none">
                <a:solidFill>
                  <a:srgbClr val="000000"/>
                </a:solidFill>
                <a:effectLst/>
                <a:uFillTx/>
                <a:latin typeface="Times New Roman"/>
                <a:ea typeface="Times New Roman"/>
              </a:rPr>
              <a:t>1973</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Version 4.  This was the first version written in C.  The translation into C made </a:t>
            </a:r>
            <a:r>
              <a:rPr b="0" lang="en-IN" sz="2000" strike="noStrike" u="none">
                <a:solidFill>
                  <a:srgbClr val="000000"/>
                </a:solidFill>
                <a:effectLst/>
                <a:uFillTx/>
                <a:latin typeface="Times New Roman"/>
                <a:ea typeface="Times New Roman"/>
              </a:rPr>
              <a:t>UNIX </a:t>
            </a:r>
            <a:r>
              <a:rPr b="0" lang="en-IN" sz="2400" strike="noStrike" u="none">
                <a:solidFill>
                  <a:srgbClr val="000000"/>
                </a:solidFill>
                <a:effectLst/>
                <a:uFillTx/>
                <a:latin typeface="Times New Roman"/>
                <a:ea typeface="Times New Roman"/>
              </a:rPr>
              <a:t>portable, and was fundamental to its eventual success.</a:t>
            </a:r>
            <a:endParaRPr b="0" lang="en-IN" sz="2400" strike="noStrike" u="none">
              <a:solidFill>
                <a:srgbClr val="000000"/>
              </a:solidFill>
              <a:effectLst/>
              <a:uFillTx/>
              <a:latin typeface="Arial"/>
            </a:endParaRPr>
          </a:p>
          <a:p>
            <a:pPr marL="888840" indent="-888840">
              <a:lnSpc>
                <a:spcPct val="88000"/>
              </a:lnSpc>
              <a:tabLst>
                <a:tab algn="l" pos="482760"/>
                <a:tab algn="l" pos="1168560"/>
                <a:tab algn="l" pos="1854360"/>
                <a:tab algn="l" pos="2540160"/>
              </a:tabLst>
            </a:pPr>
            <a:endParaRPr b="0" lang="en-IN" sz="2400" strike="noStrike" u="none">
              <a:solidFill>
                <a:srgbClr val="000000"/>
              </a:solidFill>
              <a:effectLst/>
              <a:uFillTx/>
              <a:latin typeface="Arial"/>
            </a:endParaRPr>
          </a:p>
          <a:p>
            <a:pPr marL="888840" indent="-888840">
              <a:lnSpc>
                <a:spcPct val="88000"/>
              </a:lnSpc>
              <a:tabLst>
                <a:tab algn="l" pos="482760"/>
                <a:tab algn="l" pos="1168560"/>
                <a:tab algn="l" pos="1854360"/>
                <a:tab algn="l" pos="2540160"/>
              </a:tabLst>
            </a:pPr>
            <a:r>
              <a:rPr b="0" lang="en-IN" sz="2400" strike="noStrike" u="none">
                <a:solidFill>
                  <a:srgbClr val="000000"/>
                </a:solidFill>
                <a:effectLst/>
                <a:uFillTx/>
                <a:latin typeface="Times New Roman"/>
                <a:ea typeface="Times New Roman"/>
              </a:rPr>
              <a:t>1975</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Version 6.  This was the first version widely available outside AT&amp;T, and the first version that was ported to several architectures.</a:t>
            </a:r>
            <a:endParaRPr b="0" lang="en-IN" sz="2400" strike="noStrike" u="none">
              <a:solidFill>
                <a:srgbClr val="000000"/>
              </a:solidFill>
              <a:effectLst/>
              <a:uFillTx/>
              <a:latin typeface="Arial"/>
            </a:endParaRPr>
          </a:p>
          <a:p>
            <a:pPr marL="888840" indent="-888840">
              <a:lnSpc>
                <a:spcPct val="88000"/>
              </a:lnSpc>
              <a:tabLst>
                <a:tab algn="l" pos="482760"/>
                <a:tab algn="l" pos="1168560"/>
                <a:tab algn="l" pos="1854360"/>
                <a:tab algn="l" pos="2540160"/>
              </a:tabLst>
            </a:pPr>
            <a:endParaRPr b="0" lang="en-IN" sz="2400" strike="noStrike" u="none">
              <a:solidFill>
                <a:srgbClr val="000000"/>
              </a:solidFill>
              <a:effectLst/>
              <a:uFillTx/>
              <a:latin typeface="Arial"/>
            </a:endParaRPr>
          </a:p>
          <a:p>
            <a:pPr marL="888840" indent="-888840">
              <a:lnSpc>
                <a:spcPct val="88000"/>
              </a:lnSpc>
              <a:tabLst>
                <a:tab algn="l" pos="482760"/>
                <a:tab algn="l" pos="1168560"/>
                <a:tab algn="l" pos="1854360"/>
                <a:tab algn="l" pos="2540160"/>
              </a:tabLst>
            </a:pPr>
            <a:r>
              <a:rPr b="0" lang="en-IN" sz="2400" strike="noStrike" u="none">
                <a:solidFill>
                  <a:srgbClr val="000000"/>
                </a:solidFill>
                <a:effectLst/>
                <a:uFillTx/>
                <a:latin typeface="Times New Roman"/>
                <a:ea typeface="Times New Roman"/>
              </a:rPr>
              <a:t>1979</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Version 7.  The common ancestor of most commercial </a:t>
            </a:r>
            <a:r>
              <a:rPr b="0" lang="en-IN" sz="2000" strike="noStrike" u="none">
                <a:solidFill>
                  <a:srgbClr val="000000"/>
                </a:solidFill>
                <a:effectLst/>
                <a:uFillTx/>
                <a:latin typeface="Times New Roman"/>
                <a:ea typeface="Times New Roman"/>
              </a:rPr>
              <a:t>UNIX </a:t>
            </a:r>
            <a:r>
              <a:rPr b="0" lang="en-IN" sz="2400" strike="noStrike" u="none">
                <a:solidFill>
                  <a:srgbClr val="000000"/>
                </a:solidFill>
                <a:effectLst/>
                <a:uFillTx/>
                <a:latin typeface="Times New Roman"/>
                <a:ea typeface="Times New Roman"/>
              </a:rPr>
              <a:t>versions, version 7 was ported widely and documented in the famous blue and green books.  These were the first generally available references to </a:t>
            </a:r>
            <a:r>
              <a:rPr b="0" lang="en-IN" sz="2000" strike="noStrike" u="none">
                <a:solidFill>
                  <a:srgbClr val="000000"/>
                </a:solidFill>
                <a:effectLst/>
                <a:uFillTx/>
                <a:latin typeface="Times New Roman"/>
                <a:ea typeface="Times New Roman"/>
              </a:rPr>
              <a:t>UNIX</a:t>
            </a:r>
            <a:r>
              <a:rPr b="0" lang="en-IN" sz="2400" strike="noStrike" u="none">
                <a:solidFill>
                  <a:srgbClr val="000000"/>
                </a:solidFill>
                <a:effectLst/>
                <a:uFillTx/>
                <a:latin typeface="Times New Roman"/>
                <a:ea typeface="Times New Roman"/>
              </a:rPr>
              <a:t>.</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 name=""/>
          <p:cNvSpPr txBox="1"/>
          <p:nvPr/>
        </p:nvSpPr>
        <p:spPr>
          <a:xfrm>
            <a:off x="2486160" y="279360"/>
            <a:ext cx="4175280" cy="555480"/>
          </a:xfrm>
          <a:prstGeom prst="rect">
            <a:avLst/>
          </a:prstGeom>
          <a:noFill/>
          <a:ln w="0">
            <a:noFill/>
          </a:ln>
        </p:spPr>
        <p:txBody>
          <a:bodyPr lIns="0" rIns="0" tIns="0" bIns="0" anchor="t">
            <a:spAutoFit/>
          </a:bodyPr>
          <a:p>
            <a:pPr algn="ctr">
              <a:lnSpc>
                <a:spcPct val="92000"/>
              </a:lnSpc>
            </a:pPr>
            <a:r>
              <a:rPr b="1" lang="en-IN" sz="3200" strike="noStrike" u="none">
                <a:solidFill>
                  <a:srgbClr val="000000"/>
                </a:solidFill>
                <a:effectLst/>
                <a:uFillTx/>
                <a:latin typeface="Times New Roman"/>
                <a:ea typeface="Times New Roman"/>
              </a:rPr>
              <a:t>UNIX </a:t>
            </a:r>
            <a:r>
              <a:rPr b="1" lang="en-IN" sz="3600" strike="noStrike" u="none">
                <a:solidFill>
                  <a:srgbClr val="000000"/>
                </a:solidFill>
                <a:effectLst/>
                <a:uFillTx/>
                <a:latin typeface="Times New Roman"/>
                <a:ea typeface="Times New Roman"/>
              </a:rPr>
              <a:t>History, Part 2</a:t>
            </a:r>
            <a:endParaRPr b="0" lang="en-IN" sz="3600" strike="noStrike" u="none">
              <a:solidFill>
                <a:srgbClr val="000000"/>
              </a:solidFill>
              <a:effectLst/>
              <a:uFillTx/>
              <a:latin typeface="Arial"/>
            </a:endParaRPr>
          </a:p>
        </p:txBody>
      </p:sp>
      <p:sp>
        <p:nvSpPr>
          <p:cNvPr id="37" name=""/>
          <p:cNvSpPr txBox="1"/>
          <p:nvPr/>
        </p:nvSpPr>
        <p:spPr>
          <a:xfrm>
            <a:off x="1003320" y="1308240"/>
            <a:ext cx="7378560" cy="4219560"/>
          </a:xfrm>
          <a:prstGeom prst="rect">
            <a:avLst/>
          </a:prstGeom>
          <a:noFill/>
          <a:ln w="0">
            <a:noFill/>
          </a:ln>
        </p:spPr>
        <p:txBody>
          <a:bodyPr lIns="0" rIns="0" tIns="0" bIns="0" anchor="t">
            <a:spAutoFit/>
          </a:bodyPr>
          <a:p>
            <a:pPr marL="888840" indent="-888840">
              <a:lnSpc>
                <a:spcPct val="88000"/>
              </a:lnSpc>
              <a:tabLst>
                <a:tab algn="l" pos="482760"/>
                <a:tab algn="l" pos="1168560"/>
                <a:tab algn="l" pos="1854360"/>
                <a:tab algn="l" pos="2540160"/>
              </a:tabLst>
            </a:pPr>
            <a:r>
              <a:rPr b="0" lang="en-IN" sz="2400" strike="noStrike" u="none">
                <a:solidFill>
                  <a:srgbClr val="000000"/>
                </a:solidFill>
                <a:effectLst/>
                <a:uFillTx/>
                <a:latin typeface="Times New Roman"/>
                <a:ea typeface="Times New Roman"/>
              </a:rPr>
              <a:t>Early 1980s</a:t>
            </a:r>
            <a:endParaRPr b="0" lang="en-IN" sz="2400" strike="noStrike" u="none">
              <a:solidFill>
                <a:srgbClr val="000000"/>
              </a:solidFill>
              <a:effectLst/>
              <a:uFillTx/>
              <a:latin typeface="Arial"/>
            </a:endParaRPr>
          </a:p>
          <a:p>
            <a:pPr marL="888840" indent="-888840">
              <a:lnSpc>
                <a:spcPct val="88000"/>
              </a:lnSpc>
              <a:tabLst>
                <a:tab algn="l" pos="482760"/>
                <a:tab algn="l" pos="1168560"/>
                <a:tab algn="l" pos="1854360"/>
                <a:tab algn="l" pos="2540160"/>
              </a:tabLst>
            </a:pPr>
            <a:r>
              <a:rPr b="0" lang="en-IN" sz="2400" strike="noStrike" u="none">
                <a:solidFill>
                  <a:srgbClr val="000000"/>
                </a:solidFill>
                <a:effectLst/>
                <a:uFillTx/>
                <a:latin typeface="Times New Roman"/>
                <a:ea typeface="Times New Roman"/>
              </a:rPr>
              <a:t>           University of California at Berkeley was contracted by DARPA to add virtual memory support to </a:t>
            </a:r>
            <a:r>
              <a:rPr b="0" lang="en-IN" sz="2000" strike="noStrike" u="none">
                <a:solidFill>
                  <a:srgbClr val="000000"/>
                </a:solidFill>
                <a:effectLst/>
                <a:uFillTx/>
                <a:latin typeface="Times New Roman"/>
                <a:ea typeface="Times New Roman"/>
              </a:rPr>
              <a:t>UNIX </a:t>
            </a:r>
            <a:r>
              <a:rPr b="0" lang="en-IN" sz="2400" strike="noStrike" u="none">
                <a:solidFill>
                  <a:srgbClr val="000000"/>
                </a:solidFill>
                <a:effectLst/>
                <a:uFillTx/>
                <a:latin typeface="Times New Roman"/>
                <a:ea typeface="Times New Roman"/>
              </a:rPr>
              <a:t>for use on DEC VAX computers.   Berkeley was later contracted to add Internet style networking to </a:t>
            </a:r>
            <a:r>
              <a:rPr b="0" lang="en-IN" sz="2000" strike="noStrike" u="none">
                <a:solidFill>
                  <a:srgbClr val="000000"/>
                </a:solidFill>
                <a:effectLst/>
                <a:uFillTx/>
                <a:latin typeface="Times New Roman"/>
                <a:ea typeface="Times New Roman"/>
              </a:rPr>
              <a:t>UNIX</a:t>
            </a:r>
            <a:r>
              <a:rPr b="0" lang="en-IN" sz="2400" strike="noStrike" u="none">
                <a:solidFill>
                  <a:srgbClr val="000000"/>
                </a:solidFill>
                <a:effectLst/>
                <a:uFillTx/>
                <a:latin typeface="Times New Roman"/>
                <a:ea typeface="Times New Roman"/>
              </a:rPr>
              <a:t>.  “Berkeley </a:t>
            </a:r>
            <a:r>
              <a:rPr b="0" lang="en-IN" sz="2000" strike="noStrike" u="none">
                <a:solidFill>
                  <a:srgbClr val="000000"/>
                </a:solidFill>
                <a:effectLst/>
                <a:uFillTx/>
                <a:latin typeface="Times New Roman"/>
                <a:ea typeface="Times New Roman"/>
              </a:rPr>
              <a:t>UNIX</a:t>
            </a:r>
            <a:r>
              <a:rPr b="0" lang="en-IN" sz="2400" strike="noStrike" u="none">
                <a:solidFill>
                  <a:srgbClr val="000000"/>
                </a:solidFill>
                <a:effectLst/>
                <a:uFillTx/>
                <a:latin typeface="Times New Roman"/>
                <a:ea typeface="Times New Roman"/>
              </a:rPr>
              <a:t>”, aka BSD, became very popular with academia and began to diverge from AT&amp;T </a:t>
            </a:r>
            <a:r>
              <a:rPr b="0" lang="en-IN" sz="2000" strike="noStrike" u="none">
                <a:solidFill>
                  <a:srgbClr val="000000"/>
                </a:solidFill>
                <a:effectLst/>
                <a:uFillTx/>
                <a:latin typeface="Times New Roman"/>
                <a:ea typeface="Times New Roman"/>
              </a:rPr>
              <a:t>UNIX</a:t>
            </a:r>
            <a:r>
              <a:rPr b="0" lang="en-IN" sz="2400" strike="noStrike" u="none">
                <a:solidFill>
                  <a:srgbClr val="000000"/>
                </a:solidFill>
                <a:effectLst/>
                <a:uFillTx/>
                <a:latin typeface="Times New Roman"/>
                <a:ea typeface="Times New Roman"/>
              </a:rPr>
              <a:t>.</a:t>
            </a:r>
            <a:endParaRPr b="0" lang="en-IN" sz="2400" strike="noStrike" u="none">
              <a:solidFill>
                <a:srgbClr val="000000"/>
              </a:solidFill>
              <a:effectLst/>
              <a:uFillTx/>
              <a:latin typeface="Arial"/>
            </a:endParaRPr>
          </a:p>
          <a:p>
            <a:pPr marL="888840" indent="-888840">
              <a:lnSpc>
                <a:spcPct val="88000"/>
              </a:lnSpc>
              <a:tabLst>
                <a:tab algn="l" pos="482760"/>
                <a:tab algn="l" pos="1168560"/>
                <a:tab algn="l" pos="1854360"/>
                <a:tab algn="l" pos="2540160"/>
              </a:tabLst>
            </a:pPr>
            <a:endParaRPr b="0" lang="en-IN" sz="2400" strike="noStrike" u="none">
              <a:solidFill>
                <a:srgbClr val="000000"/>
              </a:solidFill>
              <a:effectLst/>
              <a:uFillTx/>
              <a:latin typeface="Arial"/>
            </a:endParaRPr>
          </a:p>
          <a:p>
            <a:pPr marL="888840" indent="-888840">
              <a:lnSpc>
                <a:spcPct val="88000"/>
              </a:lnSpc>
              <a:tabLst>
                <a:tab algn="l" pos="482760"/>
                <a:tab algn="l" pos="1168560"/>
                <a:tab algn="l" pos="1854360"/>
                <a:tab algn="l" pos="2540160"/>
              </a:tabLst>
            </a:pPr>
            <a:r>
              <a:rPr b="0" lang="en-IN" sz="2400" strike="noStrike" u="none">
                <a:solidFill>
                  <a:srgbClr val="000000"/>
                </a:solidFill>
                <a:effectLst/>
                <a:uFillTx/>
                <a:latin typeface="Times New Roman"/>
                <a:ea typeface="Times New Roman"/>
              </a:rPr>
              <a:t>1983</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System V.  AT&amp;T released this version with much fanfare, declaring it to be</a:t>
            </a:r>
            <a:r>
              <a:rPr b="0" i="1" lang="en-IN" sz="2400" strike="noStrike" u="none">
                <a:solidFill>
                  <a:srgbClr val="000000"/>
                </a:solidFill>
                <a:effectLst/>
                <a:uFillTx/>
                <a:latin typeface="Times New Roman"/>
                <a:ea typeface="Times New Roman"/>
              </a:rPr>
              <a:t> the</a:t>
            </a:r>
            <a:r>
              <a:rPr b="0" lang="en-IN" sz="2400" strike="noStrike" u="none">
                <a:solidFill>
                  <a:srgbClr val="000000"/>
                </a:solidFill>
                <a:effectLst/>
                <a:uFillTx/>
                <a:latin typeface="Times New Roman"/>
                <a:ea typeface="Times New Roman"/>
              </a:rPr>
              <a:t> </a:t>
            </a:r>
            <a:r>
              <a:rPr b="0" lang="en-IN" sz="2000" strike="noStrike" u="none">
                <a:solidFill>
                  <a:srgbClr val="000000"/>
                </a:solidFill>
                <a:effectLst/>
                <a:uFillTx/>
                <a:latin typeface="Times New Roman"/>
                <a:ea typeface="Times New Roman"/>
              </a:rPr>
              <a:t>UNIX </a:t>
            </a:r>
            <a:r>
              <a:rPr b="0" lang="en-IN" sz="2400" strike="noStrike" u="none">
                <a:solidFill>
                  <a:srgbClr val="000000"/>
                </a:solidFill>
                <a:effectLst/>
                <a:uFillTx/>
                <a:latin typeface="Times New Roman"/>
                <a:ea typeface="Times New Roman"/>
              </a:rPr>
              <a:t>standard.  Many commercial versions were based on it.  The Great BSD vs AT&amp;T War had begun.</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 name=""/>
          <p:cNvSpPr txBox="1"/>
          <p:nvPr/>
        </p:nvSpPr>
        <p:spPr>
          <a:xfrm>
            <a:off x="2484360" y="279360"/>
            <a:ext cx="4175280" cy="555480"/>
          </a:xfrm>
          <a:prstGeom prst="rect">
            <a:avLst/>
          </a:prstGeom>
          <a:noFill/>
          <a:ln w="0">
            <a:noFill/>
          </a:ln>
        </p:spPr>
        <p:txBody>
          <a:bodyPr lIns="0" rIns="0" tIns="0" bIns="0" anchor="t">
            <a:spAutoFit/>
          </a:bodyPr>
          <a:p>
            <a:pPr algn="ctr">
              <a:lnSpc>
                <a:spcPct val="92000"/>
              </a:lnSpc>
            </a:pPr>
            <a:r>
              <a:rPr b="1" lang="en-IN" sz="3200" strike="noStrike" u="none">
                <a:solidFill>
                  <a:srgbClr val="000000"/>
                </a:solidFill>
                <a:effectLst/>
                <a:uFillTx/>
                <a:latin typeface="Times New Roman"/>
                <a:ea typeface="Times New Roman"/>
              </a:rPr>
              <a:t>UNIX </a:t>
            </a:r>
            <a:r>
              <a:rPr b="1" lang="en-IN" sz="3600" strike="noStrike" u="none">
                <a:solidFill>
                  <a:srgbClr val="000000"/>
                </a:solidFill>
                <a:effectLst/>
                <a:uFillTx/>
                <a:latin typeface="Times New Roman"/>
                <a:ea typeface="Times New Roman"/>
              </a:rPr>
              <a:t>History, Part 3</a:t>
            </a:r>
            <a:endParaRPr b="0" lang="en-IN" sz="3600" strike="noStrike" u="none">
              <a:solidFill>
                <a:srgbClr val="000000"/>
              </a:solidFill>
              <a:effectLst/>
              <a:uFillTx/>
              <a:latin typeface="Arial"/>
            </a:endParaRPr>
          </a:p>
        </p:txBody>
      </p:sp>
      <p:sp>
        <p:nvSpPr>
          <p:cNvPr id="39" name=""/>
          <p:cNvSpPr txBox="1"/>
          <p:nvPr/>
        </p:nvSpPr>
        <p:spPr>
          <a:xfrm>
            <a:off x="1079640" y="1079640"/>
            <a:ext cx="7378560" cy="4540320"/>
          </a:xfrm>
          <a:prstGeom prst="rect">
            <a:avLst/>
          </a:prstGeom>
          <a:noFill/>
          <a:ln w="0">
            <a:noFill/>
          </a:ln>
        </p:spPr>
        <p:txBody>
          <a:bodyPr lIns="0" rIns="0" tIns="0" bIns="0" anchor="t">
            <a:spAutoFit/>
          </a:bodyPr>
          <a:p>
            <a:pPr marL="888840" indent="-888840">
              <a:lnSpc>
                <a:spcPct val="88000"/>
              </a:lnSpc>
              <a:tabLst>
                <a:tab algn="l" pos="482760"/>
                <a:tab algn="l" pos="1168560"/>
                <a:tab algn="l" pos="1854360"/>
                <a:tab algn="l" pos="2540160"/>
              </a:tabLst>
            </a:pPr>
            <a:r>
              <a:rPr b="0" lang="en-IN" sz="2400" strike="noStrike" u="none">
                <a:solidFill>
                  <a:srgbClr val="000000"/>
                </a:solidFill>
                <a:effectLst/>
                <a:uFillTx/>
                <a:latin typeface="Times New Roman"/>
                <a:ea typeface="Times New Roman"/>
              </a:rPr>
              <a:t>1985</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BSD versions 4.2 and 4.3 were used as the basis for many commercial </a:t>
            </a:r>
            <a:r>
              <a:rPr b="0" lang="en-IN" sz="2000" strike="noStrike" u="none">
                <a:solidFill>
                  <a:srgbClr val="000000"/>
                </a:solidFill>
                <a:effectLst/>
                <a:uFillTx/>
                <a:latin typeface="Times New Roman"/>
                <a:ea typeface="Times New Roman"/>
              </a:rPr>
              <a:t>UNIX </a:t>
            </a:r>
            <a:r>
              <a:rPr b="0" lang="en-IN" sz="2400" strike="noStrike" u="none">
                <a:solidFill>
                  <a:srgbClr val="000000"/>
                </a:solidFill>
                <a:effectLst/>
                <a:uFillTx/>
                <a:latin typeface="Times New Roman"/>
                <a:ea typeface="Times New Roman"/>
              </a:rPr>
              <a:t>releases, including SunOS and Ultrix.  Many AT&amp;T based releases include  “Berkeley enhancements”.</a:t>
            </a:r>
            <a:endParaRPr b="0" lang="en-IN" sz="2400" strike="noStrike" u="none">
              <a:solidFill>
                <a:srgbClr val="000000"/>
              </a:solidFill>
              <a:effectLst/>
              <a:uFillTx/>
              <a:latin typeface="Arial"/>
            </a:endParaRPr>
          </a:p>
          <a:p>
            <a:pPr marL="888840" indent="-888840">
              <a:lnSpc>
                <a:spcPct val="88000"/>
              </a:lnSpc>
              <a:tabLst>
                <a:tab algn="l" pos="482760"/>
                <a:tab algn="l" pos="1168560"/>
                <a:tab algn="l" pos="1854360"/>
                <a:tab algn="l" pos="2540160"/>
              </a:tabLst>
            </a:pPr>
            <a:endParaRPr b="0" lang="en-IN" sz="2400" strike="noStrike" u="none">
              <a:solidFill>
                <a:srgbClr val="000000"/>
              </a:solidFill>
              <a:effectLst/>
              <a:uFillTx/>
              <a:latin typeface="Arial"/>
            </a:endParaRPr>
          </a:p>
          <a:p>
            <a:pPr marL="888840" indent="-888840">
              <a:lnSpc>
                <a:spcPct val="88000"/>
              </a:lnSpc>
              <a:tabLst>
                <a:tab algn="l" pos="482760"/>
                <a:tab algn="l" pos="1168560"/>
                <a:tab algn="l" pos="1854360"/>
                <a:tab algn="l" pos="2540160"/>
              </a:tabLst>
            </a:pPr>
            <a:r>
              <a:rPr b="0" lang="en-IN" sz="2400" strike="noStrike" u="none">
                <a:solidFill>
                  <a:srgbClr val="000000"/>
                </a:solidFill>
                <a:effectLst/>
                <a:uFillTx/>
                <a:latin typeface="Times New Roman"/>
                <a:ea typeface="Times New Roman"/>
              </a:rPr>
              <a:t>1988</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Sun, AT&amp;T and Microsoft merged their versions of </a:t>
            </a:r>
            <a:r>
              <a:rPr b="0" lang="en-IN" sz="2000" strike="noStrike" u="none">
                <a:solidFill>
                  <a:srgbClr val="000000"/>
                </a:solidFill>
                <a:effectLst/>
                <a:uFillTx/>
                <a:latin typeface="Times New Roman"/>
                <a:ea typeface="Times New Roman"/>
              </a:rPr>
              <a:t>UNIX </a:t>
            </a:r>
            <a:r>
              <a:rPr b="0" lang="en-IN" sz="2400" strike="noStrike" u="none">
                <a:solidFill>
                  <a:srgbClr val="000000"/>
                </a:solidFill>
                <a:effectLst/>
                <a:uFillTx/>
                <a:latin typeface="Times New Roman"/>
                <a:ea typeface="Times New Roman"/>
              </a:rPr>
              <a:t>into System V, Release 4 (SVR4).  The BSD vs AT&amp;T War ended with no winner, because...</a:t>
            </a:r>
            <a:endParaRPr b="0" lang="en-IN" sz="2400" strike="noStrike" u="none">
              <a:solidFill>
                <a:srgbClr val="000000"/>
              </a:solidFill>
              <a:effectLst/>
              <a:uFillTx/>
              <a:latin typeface="Arial"/>
            </a:endParaRPr>
          </a:p>
          <a:p>
            <a:pPr marL="888840" indent="-888840">
              <a:lnSpc>
                <a:spcPct val="88000"/>
              </a:lnSpc>
              <a:tabLst>
                <a:tab algn="l" pos="482760"/>
                <a:tab algn="l" pos="1168560"/>
                <a:tab algn="l" pos="1854360"/>
                <a:tab algn="l" pos="2540160"/>
              </a:tabLst>
            </a:pPr>
            <a:endParaRPr b="0" lang="en-IN" sz="2400" strike="noStrike" u="none">
              <a:solidFill>
                <a:srgbClr val="000000"/>
              </a:solidFill>
              <a:effectLst/>
              <a:uFillTx/>
              <a:latin typeface="Arial"/>
            </a:endParaRPr>
          </a:p>
          <a:p>
            <a:pPr marL="888840" indent="-888840">
              <a:lnSpc>
                <a:spcPct val="88000"/>
              </a:lnSpc>
              <a:tabLst>
                <a:tab algn="l" pos="482760"/>
                <a:tab algn="l" pos="1168560"/>
                <a:tab algn="l" pos="1854360"/>
                <a:tab algn="l" pos="2540160"/>
              </a:tabLst>
            </a:pPr>
            <a:r>
              <a:rPr b="0" lang="en-IN" sz="2400" strike="noStrike" u="none">
                <a:solidFill>
                  <a:srgbClr val="000000"/>
                </a:solidFill>
                <a:effectLst/>
                <a:uFillTx/>
                <a:latin typeface="Times New Roman"/>
                <a:ea typeface="Times New Roman"/>
              </a:rPr>
              <a:t>1988</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Several companies, unhappy with SVR4, form the Open Software Foundation.  OSF creates OSF/1, a </a:t>
            </a:r>
            <a:r>
              <a:rPr b="0" lang="en-IN" sz="2000" strike="noStrike" u="none">
                <a:solidFill>
                  <a:srgbClr val="000000"/>
                </a:solidFill>
                <a:effectLst/>
                <a:uFillTx/>
                <a:latin typeface="Times New Roman"/>
                <a:ea typeface="Times New Roman"/>
              </a:rPr>
              <a:t>UNIX </a:t>
            </a:r>
            <a:r>
              <a:rPr b="0" lang="en-IN" sz="2400" strike="noStrike" u="none">
                <a:solidFill>
                  <a:srgbClr val="000000"/>
                </a:solidFill>
                <a:effectLst/>
                <a:uFillTx/>
                <a:latin typeface="Times New Roman"/>
                <a:ea typeface="Times New Roman"/>
              </a:rPr>
              <a:t>clone based on Mach from Carnegie Mellon University.  The Great SVR4 vs OSF/1 War had begun...</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 name=""/>
          <p:cNvSpPr txBox="1"/>
          <p:nvPr/>
        </p:nvSpPr>
        <p:spPr>
          <a:xfrm>
            <a:off x="2484360" y="279360"/>
            <a:ext cx="4175280" cy="555480"/>
          </a:xfrm>
          <a:prstGeom prst="rect">
            <a:avLst/>
          </a:prstGeom>
          <a:noFill/>
          <a:ln w="0">
            <a:noFill/>
          </a:ln>
        </p:spPr>
        <p:txBody>
          <a:bodyPr lIns="0" rIns="0" tIns="0" bIns="0" anchor="t">
            <a:spAutoFit/>
          </a:bodyPr>
          <a:p>
            <a:pPr algn="ctr">
              <a:lnSpc>
                <a:spcPct val="92000"/>
              </a:lnSpc>
            </a:pPr>
            <a:r>
              <a:rPr b="1" lang="en-IN" sz="3200" strike="noStrike" u="none">
                <a:solidFill>
                  <a:srgbClr val="000000"/>
                </a:solidFill>
                <a:effectLst/>
                <a:uFillTx/>
                <a:latin typeface="Times New Roman"/>
                <a:ea typeface="Times New Roman"/>
              </a:rPr>
              <a:t>UNIX </a:t>
            </a:r>
            <a:r>
              <a:rPr b="1" lang="en-IN" sz="3600" strike="noStrike" u="none">
                <a:solidFill>
                  <a:srgbClr val="000000"/>
                </a:solidFill>
                <a:effectLst/>
                <a:uFillTx/>
                <a:latin typeface="Times New Roman"/>
                <a:ea typeface="Times New Roman"/>
              </a:rPr>
              <a:t>History, Part 4</a:t>
            </a:r>
            <a:endParaRPr b="0" lang="en-IN" sz="3600" strike="noStrike" u="none">
              <a:solidFill>
                <a:srgbClr val="000000"/>
              </a:solidFill>
              <a:effectLst/>
              <a:uFillTx/>
              <a:latin typeface="Arial"/>
            </a:endParaRPr>
          </a:p>
        </p:txBody>
      </p:sp>
      <p:sp>
        <p:nvSpPr>
          <p:cNvPr id="41" name=""/>
          <p:cNvSpPr txBox="1"/>
          <p:nvPr/>
        </p:nvSpPr>
        <p:spPr>
          <a:xfrm>
            <a:off x="990720" y="1447920"/>
            <a:ext cx="7543800" cy="4419720"/>
          </a:xfrm>
          <a:prstGeom prst="rect">
            <a:avLst/>
          </a:prstGeom>
          <a:noFill/>
          <a:ln w="0">
            <a:noFill/>
          </a:ln>
        </p:spPr>
        <p:txBody>
          <a:bodyPr lIns="0" rIns="0" tIns="0" bIns="0" anchor="t">
            <a:spAutoFit/>
          </a:bodyPr>
          <a:p>
            <a:pPr marL="914400" indent="-914400">
              <a:lnSpc>
                <a:spcPct val="90000"/>
              </a:lnSpc>
              <a:spcBef>
                <a:spcPts val="720"/>
              </a:spcBef>
            </a:pPr>
            <a:r>
              <a:rPr b="0" lang="en-IN" sz="2400" strike="noStrike" u="none">
                <a:solidFill>
                  <a:srgbClr val="000000"/>
                </a:solidFill>
                <a:effectLst/>
                <a:uFillTx/>
                <a:latin typeface="Times New Roman"/>
                <a:ea typeface="Times New Roman"/>
              </a:rPr>
              <a:t>1992    Unix System Laboratories bought by Novell, ending 23 years of control by AT&amp;T over </a:t>
            </a:r>
            <a:r>
              <a:rPr b="0" lang="en-IN" sz="2000" strike="noStrike" u="none">
                <a:solidFill>
                  <a:srgbClr val="000000"/>
                </a:solidFill>
                <a:effectLst/>
                <a:uFillTx/>
                <a:latin typeface="Times New Roman"/>
                <a:ea typeface="Times New Roman"/>
              </a:rPr>
              <a:t>UNIX</a:t>
            </a:r>
            <a:r>
              <a:rPr b="0" lang="en-IN" sz="2400" strike="noStrike" u="none">
                <a:solidFill>
                  <a:srgbClr val="000000"/>
                </a:solidFill>
                <a:effectLst/>
                <a:uFillTx/>
                <a:latin typeface="Times New Roman"/>
                <a:ea typeface="Times New Roman"/>
              </a:rPr>
              <a:t>.  Novell pledges to make </a:t>
            </a:r>
            <a:r>
              <a:rPr b="0" lang="en-IN" sz="2000" strike="noStrike" u="none">
                <a:solidFill>
                  <a:srgbClr val="000000"/>
                </a:solidFill>
                <a:effectLst/>
                <a:uFillTx/>
                <a:latin typeface="Times New Roman"/>
                <a:ea typeface="Times New Roman"/>
              </a:rPr>
              <a:t>UNIX </a:t>
            </a:r>
            <a:r>
              <a:rPr b="0" lang="en-IN" sz="2400" strike="noStrike" u="none">
                <a:solidFill>
                  <a:srgbClr val="000000"/>
                </a:solidFill>
                <a:effectLst/>
                <a:uFillTx/>
                <a:latin typeface="Times New Roman"/>
                <a:ea typeface="Times New Roman"/>
              </a:rPr>
              <a:t>a major desktop platform, fully integrated with Netware.  Move is widely viewed as a response to Microsoft’s upcoming Windows NT.</a:t>
            </a:r>
            <a:endParaRPr b="0" lang="en-IN" sz="2400" strike="noStrike" u="none">
              <a:solidFill>
                <a:srgbClr val="000000"/>
              </a:solidFill>
              <a:effectLst/>
              <a:uFillTx/>
              <a:latin typeface="Arial"/>
            </a:endParaRPr>
          </a:p>
          <a:p>
            <a:pPr marL="914400" indent="-914400">
              <a:lnSpc>
                <a:spcPct val="90000"/>
              </a:lnSpc>
              <a:spcBef>
                <a:spcPts val="720"/>
              </a:spcBef>
            </a:pPr>
            <a:endParaRPr b="0" lang="en-IN" sz="2400" strike="noStrike" u="none">
              <a:solidFill>
                <a:srgbClr val="000000"/>
              </a:solidFill>
              <a:effectLst/>
              <a:uFillTx/>
              <a:latin typeface="Arial"/>
            </a:endParaRPr>
          </a:p>
          <a:p>
            <a:pPr marL="914400" indent="-914400">
              <a:lnSpc>
                <a:spcPct val="90000"/>
              </a:lnSpc>
              <a:spcBef>
                <a:spcPts val="720"/>
              </a:spcBef>
            </a:pPr>
            <a:r>
              <a:rPr b="0" lang="en-IN" sz="2400" strike="noStrike" u="none">
                <a:solidFill>
                  <a:srgbClr val="000000"/>
                </a:solidFill>
                <a:effectLst/>
                <a:uFillTx/>
                <a:latin typeface="Times New Roman"/>
                <a:ea typeface="Times New Roman"/>
              </a:rPr>
              <a:t>1993    UNIX</a:t>
            </a:r>
            <a:r>
              <a:rPr b="0" lang="en-IN" sz="20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International and the OSF kiss and make up, with various members of each forming COSE, the Common Open Software Environment.   Move is widely viewed as a response to Microsoft’s upcoming Windows NT.</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 name=""/>
          <p:cNvSpPr txBox="1"/>
          <p:nvPr/>
        </p:nvSpPr>
        <p:spPr>
          <a:xfrm>
            <a:off x="2349360" y="279360"/>
            <a:ext cx="444492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Vendors and Versions</a:t>
            </a:r>
            <a:endParaRPr b="0" lang="en-IN" sz="3600" strike="noStrike" u="none">
              <a:solidFill>
                <a:srgbClr val="000000"/>
              </a:solidFill>
              <a:effectLst/>
              <a:uFillTx/>
              <a:latin typeface="Arial"/>
            </a:endParaRPr>
          </a:p>
        </p:txBody>
      </p:sp>
      <p:sp>
        <p:nvSpPr>
          <p:cNvPr id="43" name=""/>
          <p:cNvSpPr txBox="1"/>
          <p:nvPr/>
        </p:nvSpPr>
        <p:spPr>
          <a:xfrm>
            <a:off x="927000" y="4280040"/>
            <a:ext cx="7759800" cy="1677960"/>
          </a:xfrm>
          <a:prstGeom prst="rect">
            <a:avLst/>
          </a:prstGeom>
          <a:noFill/>
          <a:ln w="0">
            <a:noFill/>
          </a:ln>
        </p:spPr>
        <p:txBody>
          <a:bodyPr lIns="0" rIns="0" tIns="0" bIns="0" anchor="t">
            <a:spAutoFit/>
          </a:bodyPr>
          <a:p>
            <a:pPr>
              <a:lnSpc>
                <a:spcPct val="89000"/>
              </a:lnSpc>
              <a:tabLst>
                <a:tab algn="l" pos="2743200"/>
              </a:tabLst>
            </a:pPr>
            <a:r>
              <a:rPr b="0" lang="en-IN" sz="2400" strike="noStrike" u="none">
                <a:solidFill>
                  <a:srgbClr val="000000"/>
                </a:solidFill>
                <a:effectLst/>
                <a:uFillTx/>
                <a:latin typeface="Times New Roman"/>
                <a:ea typeface="Times New Roman"/>
              </a:rPr>
              <a:t>IBM</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AIX (Sys V)</a:t>
            </a:r>
            <a:endParaRPr b="0" lang="en-IN" sz="2400" strike="noStrike" u="none">
              <a:solidFill>
                <a:srgbClr val="000000"/>
              </a:solidFill>
              <a:effectLst/>
              <a:uFillTx/>
              <a:latin typeface="Arial"/>
            </a:endParaRPr>
          </a:p>
          <a:p>
            <a:pPr>
              <a:lnSpc>
                <a:spcPct val="89000"/>
              </a:lnSpc>
              <a:tabLst>
                <a:tab algn="l" pos="2743200"/>
              </a:tabLst>
            </a:pPr>
            <a:r>
              <a:rPr b="0" lang="en-IN" sz="2400" strike="noStrike" u="none">
                <a:solidFill>
                  <a:srgbClr val="000000"/>
                </a:solidFill>
                <a:effectLst/>
                <a:uFillTx/>
                <a:latin typeface="Times New Roman"/>
                <a:ea typeface="Times New Roman"/>
              </a:rPr>
              <a:t>DEC</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Ultrix (BSD)</a:t>
            </a:r>
            <a:endParaRPr b="0" lang="en-IN" sz="2400" strike="noStrike" u="none">
              <a:solidFill>
                <a:srgbClr val="000000"/>
              </a:solidFill>
              <a:effectLst/>
              <a:uFillTx/>
              <a:latin typeface="Arial"/>
            </a:endParaRPr>
          </a:p>
          <a:p>
            <a:pPr>
              <a:lnSpc>
                <a:spcPct val="89000"/>
              </a:lnSpc>
              <a:tabLst>
                <a:tab algn="l" pos="2743200"/>
              </a:tabLst>
            </a:pPr>
            <a:r>
              <a:rPr b="0" lang="en-IN" sz="2400" strike="noStrike" u="none">
                <a:solidFill>
                  <a:srgbClr val="000000"/>
                </a:solidFill>
                <a:effectLst/>
                <a:uFillTx/>
                <a:latin typeface="Times New Roman"/>
                <a:ea typeface="Times New Roman"/>
              </a:rPr>
              <a:t>Apple</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A/UX (Sys V)</a:t>
            </a:r>
            <a:endParaRPr b="0" lang="en-IN" sz="2400" strike="noStrike" u="none">
              <a:solidFill>
                <a:srgbClr val="000000"/>
              </a:solidFill>
              <a:effectLst/>
              <a:uFillTx/>
              <a:latin typeface="Arial"/>
            </a:endParaRPr>
          </a:p>
          <a:p>
            <a:pPr>
              <a:lnSpc>
                <a:spcPct val="89000"/>
              </a:lnSpc>
              <a:tabLst>
                <a:tab algn="l" pos="2743200"/>
              </a:tabLst>
            </a:pPr>
            <a:r>
              <a:rPr b="0" lang="en-IN" sz="2400" strike="noStrike" u="none">
                <a:solidFill>
                  <a:srgbClr val="000000"/>
                </a:solidFill>
                <a:effectLst/>
                <a:uFillTx/>
                <a:latin typeface="Times New Roman"/>
                <a:ea typeface="Times New Roman"/>
              </a:rPr>
              <a:t>HP/Apollo</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HP/UX (Sys V, lots of BSD)</a:t>
            </a:r>
            <a:endParaRPr b="0" lang="en-IN" sz="2400" strike="noStrike" u="none">
              <a:solidFill>
                <a:srgbClr val="000000"/>
              </a:solidFill>
              <a:effectLst/>
              <a:uFillTx/>
              <a:latin typeface="Arial"/>
            </a:endParaRPr>
          </a:p>
          <a:p>
            <a:pPr>
              <a:lnSpc>
                <a:spcPct val="89000"/>
              </a:lnSpc>
              <a:tabLst>
                <a:tab algn="l" pos="2743200"/>
              </a:tabLst>
            </a:pPr>
            <a:r>
              <a:rPr b="0" lang="en-IN" sz="2400" strike="noStrike" u="none">
                <a:solidFill>
                  <a:srgbClr val="000000"/>
                </a:solidFill>
                <a:effectLst/>
                <a:uFillTx/>
                <a:latin typeface="Times New Roman"/>
                <a:ea typeface="Times New Roman"/>
              </a:rPr>
              <a:t>CMU</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Mach (kitchen sink)</a:t>
            </a:r>
            <a:endParaRPr b="0" lang="en-IN" sz="2400" strike="noStrike" u="none">
              <a:solidFill>
                <a:srgbClr val="000000"/>
              </a:solidFill>
              <a:effectLst/>
              <a:uFillTx/>
              <a:latin typeface="Arial"/>
            </a:endParaRPr>
          </a:p>
        </p:txBody>
      </p:sp>
      <p:sp>
        <p:nvSpPr>
          <p:cNvPr id="44" name=""/>
          <p:cNvSpPr txBox="1"/>
          <p:nvPr/>
        </p:nvSpPr>
        <p:spPr>
          <a:xfrm>
            <a:off x="851040" y="1994040"/>
            <a:ext cx="7759800" cy="1365120"/>
          </a:xfrm>
          <a:prstGeom prst="rect">
            <a:avLst/>
          </a:prstGeom>
          <a:noFill/>
          <a:ln w="0">
            <a:noFill/>
          </a:ln>
        </p:spPr>
        <p:txBody>
          <a:bodyPr lIns="0" rIns="0" tIns="0" bIns="0" anchor="t">
            <a:spAutoFit/>
          </a:bodyPr>
          <a:p>
            <a:pPr>
              <a:lnSpc>
                <a:spcPct val="90000"/>
              </a:lnSpc>
              <a:tabLst>
                <a:tab algn="l" pos="2743200"/>
              </a:tabLst>
            </a:pPr>
            <a:r>
              <a:rPr b="0" lang="en-IN" sz="2400" strike="noStrike" u="none">
                <a:solidFill>
                  <a:srgbClr val="000000"/>
                </a:solidFill>
                <a:effectLst/>
                <a:uFillTx/>
                <a:latin typeface="Times New Roman"/>
                <a:ea typeface="Times New Roman"/>
              </a:rPr>
              <a:t>AT&amp;T</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System V R2, R3, R4</a:t>
            </a:r>
            <a:endParaRPr b="0" lang="en-IN" sz="2400" strike="noStrike" u="none">
              <a:solidFill>
                <a:srgbClr val="000000"/>
              </a:solidFill>
              <a:effectLst/>
              <a:uFillTx/>
              <a:latin typeface="Arial"/>
            </a:endParaRPr>
          </a:p>
          <a:p>
            <a:pPr>
              <a:lnSpc>
                <a:spcPct val="90000"/>
              </a:lnSpc>
              <a:tabLst>
                <a:tab algn="l" pos="2743200"/>
              </a:tabLst>
            </a:pPr>
            <a:r>
              <a:rPr b="0" lang="en-IN" sz="2400" strike="noStrike" u="none">
                <a:solidFill>
                  <a:srgbClr val="000000"/>
                </a:solidFill>
                <a:effectLst/>
                <a:uFillTx/>
                <a:latin typeface="Times New Roman"/>
                <a:ea typeface="Times New Roman"/>
              </a:rPr>
              <a:t>Sun</a:t>
            </a:r>
            <a:r>
              <a:rPr b="1"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SunOS (BSD), now Solaris (SVR4)</a:t>
            </a:r>
            <a:endParaRPr b="0" lang="en-IN" sz="2400" strike="noStrike" u="none">
              <a:solidFill>
                <a:srgbClr val="000000"/>
              </a:solidFill>
              <a:effectLst/>
              <a:uFillTx/>
              <a:latin typeface="Arial"/>
            </a:endParaRPr>
          </a:p>
          <a:p>
            <a:pPr>
              <a:lnSpc>
                <a:spcPct val="90000"/>
              </a:lnSpc>
              <a:tabLst>
                <a:tab algn="l" pos="2743200"/>
              </a:tabLst>
            </a:pPr>
            <a:r>
              <a:rPr b="0" lang="en-IN" sz="2400" strike="noStrike" u="none">
                <a:solidFill>
                  <a:srgbClr val="000000"/>
                </a:solidFill>
                <a:effectLst/>
                <a:uFillTx/>
                <a:latin typeface="Times New Roman"/>
                <a:ea typeface="Times New Roman"/>
              </a:rPr>
              <a:t>Microsoft</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Xenix (Sys V)</a:t>
            </a:r>
            <a:endParaRPr b="0" lang="en-IN" sz="2400" strike="noStrike" u="none">
              <a:solidFill>
                <a:srgbClr val="000000"/>
              </a:solidFill>
              <a:effectLst/>
              <a:uFillTx/>
              <a:latin typeface="Arial"/>
            </a:endParaRPr>
          </a:p>
          <a:p>
            <a:pPr>
              <a:lnSpc>
                <a:spcPct val="90000"/>
              </a:lnSpc>
              <a:tabLst>
                <a:tab algn="l" pos="2743200"/>
              </a:tabLst>
            </a:pPr>
            <a:r>
              <a:rPr b="0" lang="en-IN" sz="2400" strike="noStrike" u="none">
                <a:solidFill>
                  <a:srgbClr val="000000"/>
                </a:solidFill>
                <a:effectLst/>
                <a:uFillTx/>
                <a:latin typeface="Times New Roman"/>
                <a:ea typeface="Times New Roman"/>
              </a:rPr>
              <a:t>Silicon Graphics</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Irix (Sys V)</a:t>
            </a:r>
            <a:endParaRPr b="0" lang="en-IN" sz="2400" strike="noStrike" u="none">
              <a:solidFill>
                <a:srgbClr val="000000"/>
              </a:solidFill>
              <a:effectLst/>
              <a:uFillTx/>
              <a:latin typeface="Arial"/>
            </a:endParaRPr>
          </a:p>
        </p:txBody>
      </p:sp>
      <p:sp>
        <p:nvSpPr>
          <p:cNvPr id="45" name=""/>
          <p:cNvSpPr txBox="1"/>
          <p:nvPr/>
        </p:nvSpPr>
        <p:spPr>
          <a:xfrm>
            <a:off x="622440" y="1384200"/>
            <a:ext cx="5245200" cy="469800"/>
          </a:xfrm>
          <a:prstGeom prst="rect">
            <a:avLst/>
          </a:prstGeom>
          <a:noFill/>
          <a:ln w="0">
            <a:noFill/>
          </a:ln>
        </p:spPr>
        <p:txBody>
          <a:bodyPr lIns="0" rIns="0" tIns="0" bIns="0" anchor="t">
            <a:spAutoFit/>
          </a:bodyPr>
          <a:p>
            <a:pPr>
              <a:lnSpc>
                <a:spcPct val="98000"/>
              </a:lnSpc>
              <a:tabLst>
                <a:tab algn="l" pos="685800"/>
                <a:tab algn="l" pos="1371600"/>
                <a:tab algn="l" pos="2057400"/>
                <a:tab algn="l" pos="2743200"/>
                <a:tab algn="l" pos="3429000"/>
              </a:tabLst>
            </a:pPr>
            <a:r>
              <a:rPr b="1" lang="en-IN" sz="2800" strike="noStrike" u="none">
                <a:solidFill>
                  <a:srgbClr val="000000"/>
                </a:solidFill>
                <a:effectLst/>
                <a:uFillTx/>
                <a:latin typeface="Times New Roman"/>
                <a:ea typeface="Times New Roman"/>
              </a:rPr>
              <a:t>Unix International:</a:t>
            </a:r>
            <a:endParaRPr b="0" lang="en-IN" sz="2800" strike="noStrike" u="none">
              <a:solidFill>
                <a:srgbClr val="000000"/>
              </a:solidFill>
              <a:effectLst/>
              <a:uFillTx/>
              <a:latin typeface="Arial"/>
            </a:endParaRPr>
          </a:p>
        </p:txBody>
      </p:sp>
      <p:sp>
        <p:nvSpPr>
          <p:cNvPr id="46" name=""/>
          <p:cNvSpPr txBox="1"/>
          <p:nvPr/>
        </p:nvSpPr>
        <p:spPr>
          <a:xfrm>
            <a:off x="546120" y="3670200"/>
            <a:ext cx="5245200" cy="469800"/>
          </a:xfrm>
          <a:prstGeom prst="rect">
            <a:avLst/>
          </a:prstGeom>
          <a:noFill/>
          <a:ln w="0">
            <a:noFill/>
          </a:ln>
        </p:spPr>
        <p:txBody>
          <a:bodyPr lIns="0" rIns="0" tIns="0" bIns="0" anchor="t">
            <a:spAutoFit/>
          </a:bodyPr>
          <a:p>
            <a:pPr>
              <a:lnSpc>
                <a:spcPct val="98000"/>
              </a:lnSpc>
              <a:tabLst>
                <a:tab algn="l" pos="685800"/>
                <a:tab algn="l" pos="1371600"/>
                <a:tab algn="l" pos="2057400"/>
                <a:tab algn="l" pos="2743200"/>
                <a:tab algn="l" pos="3429000"/>
              </a:tabLst>
            </a:pPr>
            <a:r>
              <a:rPr b="1" lang="en-IN" sz="2800" strike="noStrike" u="none">
                <a:solidFill>
                  <a:srgbClr val="000000"/>
                </a:solidFill>
                <a:effectLst/>
                <a:uFillTx/>
                <a:latin typeface="Times New Roman"/>
                <a:ea typeface="Times New Roman"/>
              </a:rPr>
              <a:t>Open Software Foundation:</a:t>
            </a:r>
            <a:endParaRPr b="0" lang="en-IN" sz="2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 name=""/>
          <p:cNvSpPr txBox="1"/>
          <p:nvPr/>
        </p:nvSpPr>
        <p:spPr>
          <a:xfrm>
            <a:off x="2394000" y="279360"/>
            <a:ext cx="435276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What makes it </a:t>
            </a:r>
            <a:r>
              <a:rPr b="1" lang="en-IN" sz="3200" strike="noStrike" u="none">
                <a:solidFill>
                  <a:srgbClr val="000000"/>
                </a:solidFill>
                <a:effectLst/>
                <a:uFillTx/>
                <a:latin typeface="Times New Roman"/>
                <a:ea typeface="Times New Roman"/>
              </a:rPr>
              <a:t>UNIX</a:t>
            </a:r>
            <a:r>
              <a:rPr b="1" lang="en-IN" sz="3600" strike="noStrike" u="none">
                <a:solidFill>
                  <a:srgbClr val="000000"/>
                </a:solidFill>
                <a:effectLst/>
                <a:uFillTx/>
                <a:latin typeface="Times New Roman"/>
                <a:ea typeface="Times New Roman"/>
              </a:rPr>
              <a:t>?</a:t>
            </a:r>
            <a:endParaRPr b="0" lang="en-IN" sz="3600" strike="noStrike" u="none">
              <a:solidFill>
                <a:srgbClr val="000000"/>
              </a:solidFill>
              <a:effectLst/>
              <a:uFillTx/>
              <a:latin typeface="Arial"/>
            </a:endParaRPr>
          </a:p>
        </p:txBody>
      </p:sp>
      <p:sp>
        <p:nvSpPr>
          <p:cNvPr id="48" name=""/>
          <p:cNvSpPr txBox="1"/>
          <p:nvPr/>
        </p:nvSpPr>
        <p:spPr>
          <a:xfrm>
            <a:off x="2984400" y="1841400"/>
            <a:ext cx="3492360" cy="2739960"/>
          </a:xfrm>
          <a:prstGeom prst="rect">
            <a:avLst/>
          </a:prstGeom>
          <a:noFill/>
          <a:ln w="0">
            <a:noFill/>
          </a:ln>
        </p:spPr>
        <p:txBody>
          <a:bodyPr lIns="0" rIns="0" tIns="0" bIns="0" anchor="t">
            <a:spAutoFit/>
          </a:bodyPr>
          <a:p>
            <a:pPr marL="91440" indent="-91440">
              <a:lnSpc>
                <a:spcPct val="90000"/>
              </a:lnSpc>
              <a:buClr>
                <a:srgbClr val="000000"/>
              </a:buClr>
              <a:buFont typeface=""/>
              <a:buChar char=""/>
              <a:tabLst>
                <a:tab algn="l" pos="685800"/>
                <a:tab algn="l" pos="1371600"/>
                <a:tab algn="l" pos="2057400"/>
                <a:tab algn="l" pos="2743200"/>
                <a:tab algn="l" pos="3429000"/>
              </a:tabLst>
            </a:pPr>
            <a:r>
              <a:rPr b="0" lang="en-IN" sz="2800" strike="noStrike" u="none">
                <a:solidFill>
                  <a:srgbClr val="000000"/>
                </a:solidFill>
                <a:effectLst/>
                <a:uFillTx/>
                <a:latin typeface="Times New Roman"/>
                <a:ea typeface="Times New Roman"/>
              </a:rPr>
              <a:t>Multitasking</a:t>
            </a:r>
            <a:endParaRPr b="0" lang="en-IN" sz="2800" strike="noStrike" u="none">
              <a:solidFill>
                <a:srgbClr val="000000"/>
              </a:solidFill>
              <a:effectLst/>
              <a:uFillTx/>
              <a:latin typeface="Arial"/>
            </a:endParaRPr>
          </a:p>
          <a:p>
            <a:pPr>
              <a:lnSpc>
                <a:spcPct val="90000"/>
              </a:lnSpc>
              <a:tabLst>
                <a:tab algn="l" pos="685800"/>
                <a:tab algn="l" pos="1371600"/>
                <a:tab algn="l" pos="2057400"/>
                <a:tab algn="l" pos="2743200"/>
                <a:tab algn="l" pos="3429000"/>
              </a:tabLst>
            </a:pPr>
            <a:endParaRPr b="0" lang="en-IN" sz="2800" strike="noStrike" u="none">
              <a:solidFill>
                <a:srgbClr val="000000"/>
              </a:solidFill>
              <a:effectLst/>
              <a:uFillTx/>
              <a:latin typeface="Arial"/>
            </a:endParaRPr>
          </a:p>
          <a:p>
            <a:pPr marL="91440" indent="-91440">
              <a:lnSpc>
                <a:spcPct val="90000"/>
              </a:lnSpc>
              <a:buClr>
                <a:srgbClr val="000000"/>
              </a:buClr>
              <a:buFont typeface=""/>
              <a:buChar char=""/>
              <a:tabLst>
                <a:tab algn="l" pos="685800"/>
                <a:tab algn="l" pos="1371600"/>
                <a:tab algn="l" pos="2057400"/>
                <a:tab algn="l" pos="2743200"/>
                <a:tab algn="l" pos="3429000"/>
              </a:tabLst>
            </a:pPr>
            <a:r>
              <a:rPr b="0" lang="en-IN" sz="2800" strike="noStrike" u="none">
                <a:solidFill>
                  <a:srgbClr val="000000"/>
                </a:solidFill>
                <a:effectLst/>
                <a:uFillTx/>
                <a:latin typeface="Times New Roman"/>
                <a:ea typeface="Times New Roman"/>
              </a:rPr>
              <a:t>Multiuser</a:t>
            </a:r>
            <a:endParaRPr b="0" lang="en-IN" sz="2800" strike="noStrike" u="none">
              <a:solidFill>
                <a:srgbClr val="000000"/>
              </a:solidFill>
              <a:effectLst/>
              <a:uFillTx/>
              <a:latin typeface="Arial"/>
            </a:endParaRPr>
          </a:p>
          <a:p>
            <a:pPr>
              <a:lnSpc>
                <a:spcPct val="90000"/>
              </a:lnSpc>
              <a:tabLst>
                <a:tab algn="l" pos="685800"/>
                <a:tab algn="l" pos="1371600"/>
                <a:tab algn="l" pos="2057400"/>
                <a:tab algn="l" pos="2743200"/>
                <a:tab algn="l" pos="3429000"/>
              </a:tabLst>
            </a:pPr>
            <a:endParaRPr b="0" lang="en-IN" sz="2800" strike="noStrike" u="none">
              <a:solidFill>
                <a:srgbClr val="000000"/>
              </a:solidFill>
              <a:effectLst/>
              <a:uFillTx/>
              <a:latin typeface="Arial"/>
            </a:endParaRPr>
          </a:p>
          <a:p>
            <a:pPr marL="91440" indent="-91440">
              <a:lnSpc>
                <a:spcPct val="90000"/>
              </a:lnSpc>
              <a:buClr>
                <a:srgbClr val="000000"/>
              </a:buClr>
              <a:buFont typeface=""/>
              <a:buChar char=""/>
              <a:tabLst>
                <a:tab algn="l" pos="685800"/>
                <a:tab algn="l" pos="1371600"/>
                <a:tab algn="l" pos="2057400"/>
                <a:tab algn="l" pos="2743200"/>
                <a:tab algn="l" pos="3429000"/>
              </a:tabLst>
            </a:pPr>
            <a:r>
              <a:rPr b="0" lang="en-IN" sz="2800" strike="noStrike" u="none">
                <a:solidFill>
                  <a:srgbClr val="000000"/>
                </a:solidFill>
                <a:effectLst/>
                <a:uFillTx/>
                <a:latin typeface="Times New Roman"/>
                <a:ea typeface="Times New Roman"/>
              </a:rPr>
              <a:t>Networked</a:t>
            </a:r>
            <a:endParaRPr b="0" lang="en-IN" sz="2800" strike="noStrike" u="none">
              <a:solidFill>
                <a:srgbClr val="000000"/>
              </a:solidFill>
              <a:effectLst/>
              <a:uFillTx/>
              <a:latin typeface="Arial"/>
            </a:endParaRPr>
          </a:p>
          <a:p>
            <a:pPr>
              <a:lnSpc>
                <a:spcPct val="90000"/>
              </a:lnSpc>
              <a:tabLst>
                <a:tab algn="l" pos="685800"/>
                <a:tab algn="l" pos="1371600"/>
                <a:tab algn="l" pos="2057400"/>
                <a:tab algn="l" pos="2743200"/>
                <a:tab algn="l" pos="3429000"/>
              </a:tabLst>
            </a:pPr>
            <a:endParaRPr b="0" lang="en-IN" sz="2800" strike="noStrike" u="none">
              <a:solidFill>
                <a:srgbClr val="000000"/>
              </a:solidFill>
              <a:effectLst/>
              <a:uFillTx/>
              <a:latin typeface="Arial"/>
            </a:endParaRPr>
          </a:p>
          <a:p>
            <a:pPr marL="91440" indent="-91440">
              <a:lnSpc>
                <a:spcPct val="90000"/>
              </a:lnSpc>
              <a:buClr>
                <a:srgbClr val="000000"/>
              </a:buClr>
              <a:buFont typeface=""/>
              <a:buChar char=""/>
              <a:tabLst>
                <a:tab algn="l" pos="685800"/>
                <a:tab algn="l" pos="1371600"/>
                <a:tab algn="l" pos="2057400"/>
                <a:tab algn="l" pos="2743200"/>
                <a:tab algn="l" pos="3429000"/>
              </a:tabLst>
            </a:pPr>
            <a:r>
              <a:rPr b="0" lang="en-IN" sz="2800" strike="noStrike" u="none">
                <a:solidFill>
                  <a:srgbClr val="000000"/>
                </a:solidFill>
                <a:effectLst/>
                <a:uFillTx/>
                <a:latin typeface="Times New Roman"/>
                <a:ea typeface="Times New Roman"/>
              </a:rPr>
              <a:t>Portable</a:t>
            </a:r>
            <a:endParaRPr b="0" lang="en-IN" sz="2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 name=""/>
          <p:cNvSpPr txBox="1"/>
          <p:nvPr/>
        </p:nvSpPr>
        <p:spPr>
          <a:xfrm>
            <a:off x="3249720" y="279360"/>
            <a:ext cx="264168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Multitasking</a:t>
            </a:r>
            <a:endParaRPr b="0" lang="en-IN" sz="3600" strike="noStrike" u="none">
              <a:solidFill>
                <a:srgbClr val="000000"/>
              </a:solidFill>
              <a:effectLst/>
              <a:uFillTx/>
              <a:latin typeface="Arial"/>
            </a:endParaRPr>
          </a:p>
        </p:txBody>
      </p:sp>
      <p:sp>
        <p:nvSpPr>
          <p:cNvPr id="50" name=""/>
          <p:cNvSpPr txBox="1"/>
          <p:nvPr/>
        </p:nvSpPr>
        <p:spPr>
          <a:xfrm>
            <a:off x="1308240" y="1079640"/>
            <a:ext cx="6616800" cy="4851360"/>
          </a:xfrm>
          <a:prstGeom prst="rect">
            <a:avLst/>
          </a:prstGeom>
          <a:noFill/>
          <a:ln w="0">
            <a:noFill/>
          </a:ln>
        </p:spPr>
        <p:txBody>
          <a:bodyPr lIns="0" rIns="0" tIns="0" bIns="0" anchor="t">
            <a:spAutoFit/>
          </a:bodyPr>
          <a:p>
            <a:pPr>
              <a:lnSpc>
                <a:spcPct val="94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Multitasking is the ability of a computer system to execute more than one program at a time.   </a:t>
            </a:r>
            <a:r>
              <a:rPr b="0" lang="en-IN" sz="2000" strike="noStrike" u="none">
                <a:solidFill>
                  <a:srgbClr val="000000"/>
                </a:solidFill>
                <a:effectLst/>
                <a:uFillTx/>
                <a:latin typeface="Times New Roman"/>
                <a:ea typeface="Times New Roman"/>
              </a:rPr>
              <a:t>UNIX</a:t>
            </a:r>
            <a:r>
              <a:rPr b="0" lang="en-IN" sz="2400" strike="noStrike" u="none">
                <a:solidFill>
                  <a:srgbClr val="000000"/>
                </a:solidFill>
                <a:effectLst/>
                <a:uFillTx/>
                <a:latin typeface="Times New Roman"/>
                <a:ea typeface="Times New Roman"/>
              </a:rPr>
              <a:t> has always been a multitasking system.</a:t>
            </a:r>
            <a:endParaRPr b="0" lang="en-IN" sz="2400" strike="noStrike" u="none">
              <a:solidFill>
                <a:srgbClr val="000000"/>
              </a:solidFill>
              <a:effectLst/>
              <a:uFillTx/>
              <a:latin typeface="Arial"/>
            </a:endParaRPr>
          </a:p>
          <a:p>
            <a:pPr>
              <a:lnSpc>
                <a:spcPct val="94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94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Modern PC operating systems like Microsoft Windows 3.0 and Mac System 7 feature </a:t>
            </a:r>
            <a:r>
              <a:rPr b="0" i="1" lang="en-IN" sz="2400" strike="noStrike" u="none">
                <a:solidFill>
                  <a:srgbClr val="000000"/>
                </a:solidFill>
                <a:effectLst/>
                <a:uFillTx/>
                <a:latin typeface="Times New Roman"/>
                <a:ea typeface="Times New Roman"/>
              </a:rPr>
              <a:t>co-operative multitasking</a:t>
            </a:r>
            <a:r>
              <a:rPr b="0" lang="en-IN" sz="2400" strike="noStrike" u="none">
                <a:solidFill>
                  <a:srgbClr val="000000"/>
                </a:solidFill>
                <a:effectLst/>
                <a:uFillTx/>
                <a:latin typeface="Times New Roman"/>
                <a:ea typeface="Times New Roman"/>
              </a:rPr>
              <a:t>.  Under co-operative multitasking, an application must voluntarily give up the system to another task.</a:t>
            </a:r>
            <a:endParaRPr b="0" lang="en-IN" sz="2400" strike="noStrike" u="none">
              <a:solidFill>
                <a:srgbClr val="000000"/>
              </a:solidFill>
              <a:effectLst/>
              <a:uFillTx/>
              <a:latin typeface="Arial"/>
            </a:endParaRPr>
          </a:p>
          <a:p>
            <a:pPr>
              <a:lnSpc>
                <a:spcPct val="94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94000"/>
              </a:lnSpc>
              <a:tabLst>
                <a:tab algn="l" pos="685800"/>
                <a:tab algn="l" pos="1371600"/>
                <a:tab algn="l" pos="2057400"/>
                <a:tab algn="l" pos="2743200"/>
                <a:tab algn="l" pos="3429000"/>
              </a:tabLst>
            </a:pPr>
            <a:r>
              <a:rPr b="0" lang="en-IN" sz="2000" strike="noStrike" u="none">
                <a:solidFill>
                  <a:srgbClr val="000000"/>
                </a:solidFill>
                <a:effectLst/>
                <a:uFillTx/>
                <a:latin typeface="Times New Roman"/>
                <a:ea typeface="Times New Roman"/>
              </a:rPr>
              <a:t>UNIX</a:t>
            </a:r>
            <a:r>
              <a:rPr b="0" lang="en-IN" sz="2400" strike="noStrike" u="none">
                <a:solidFill>
                  <a:srgbClr val="000000"/>
                </a:solidFill>
                <a:effectLst/>
                <a:uFillTx/>
                <a:latin typeface="Times New Roman"/>
                <a:ea typeface="Times New Roman"/>
              </a:rPr>
              <a:t>, and PC operating systems such as OS/2 2.0 and Windows NT, use </a:t>
            </a:r>
            <a:r>
              <a:rPr b="0" i="1" lang="en-IN" sz="2400" strike="noStrike" u="none">
                <a:solidFill>
                  <a:srgbClr val="000000"/>
                </a:solidFill>
                <a:effectLst/>
                <a:uFillTx/>
                <a:latin typeface="Times New Roman"/>
                <a:ea typeface="Times New Roman"/>
              </a:rPr>
              <a:t>pre-emptive multitasking</a:t>
            </a:r>
            <a:r>
              <a:rPr b="0" lang="en-IN" sz="2400" strike="noStrike" u="none">
                <a:solidFill>
                  <a:srgbClr val="000000"/>
                </a:solidFill>
                <a:effectLst/>
                <a:uFillTx/>
                <a:latin typeface="Times New Roman"/>
                <a:ea typeface="Times New Roman"/>
              </a:rPr>
              <a:t>, under which the system can grab control from one application and give it to another.</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 name=""/>
          <p:cNvSpPr txBox="1"/>
          <p:nvPr/>
        </p:nvSpPr>
        <p:spPr>
          <a:xfrm>
            <a:off x="3543120" y="279360"/>
            <a:ext cx="205740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Multiuser</a:t>
            </a:r>
            <a:endParaRPr b="0" lang="en-IN" sz="3600" strike="noStrike" u="none">
              <a:solidFill>
                <a:srgbClr val="000000"/>
              </a:solidFill>
              <a:effectLst/>
              <a:uFillTx/>
              <a:latin typeface="Arial"/>
            </a:endParaRPr>
          </a:p>
        </p:txBody>
      </p:sp>
      <p:sp>
        <p:nvSpPr>
          <p:cNvPr id="52" name=""/>
          <p:cNvSpPr txBox="1"/>
          <p:nvPr/>
        </p:nvSpPr>
        <p:spPr>
          <a:xfrm>
            <a:off x="1079640" y="1536840"/>
            <a:ext cx="7226280" cy="4219560"/>
          </a:xfrm>
          <a:prstGeom prst="rect">
            <a:avLst/>
          </a:prstGeom>
          <a:noFill/>
          <a:ln w="0">
            <a:noFill/>
          </a:ln>
        </p:spPr>
        <p:txBody>
          <a:bodyPr lIns="0" rIns="0" tIns="0" bIns="0" anchor="t">
            <a:spAutoFit/>
          </a:bodyPr>
          <a:p>
            <a:pPr>
              <a:lnSpc>
                <a:spcPct val="88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A multiuser system is one that can be used by more than one person at a time.  Multiuser systems are inherently multitasking.</a:t>
            </a: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A multiuser system requires some method of determining the identity of any given user.  This </a:t>
            </a:r>
            <a:r>
              <a:rPr b="0" i="1" lang="en-IN" sz="2400" strike="noStrike" u="none">
                <a:solidFill>
                  <a:srgbClr val="000000"/>
                </a:solidFill>
                <a:effectLst/>
                <a:uFillTx/>
                <a:latin typeface="Times New Roman"/>
                <a:ea typeface="Times New Roman"/>
              </a:rPr>
              <a:t>login name</a:t>
            </a:r>
            <a:r>
              <a:rPr b="0" lang="en-IN" sz="2400" strike="noStrike" u="none">
                <a:solidFill>
                  <a:srgbClr val="000000"/>
                </a:solidFill>
                <a:effectLst/>
                <a:uFillTx/>
                <a:latin typeface="Times New Roman"/>
                <a:ea typeface="Times New Roman"/>
              </a:rPr>
              <a:t> is used to determine ownership of files and to control access to data and programs.</a:t>
            </a: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LAN operating systems such as Novell and LAN Manager incorporate many of the ideas of multiuser systems.  Microsoft’s upcoming Windows NT is  multi-user, with restrictions.</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 name=""/>
          <p:cNvSpPr txBox="1"/>
          <p:nvPr/>
        </p:nvSpPr>
        <p:spPr>
          <a:xfrm>
            <a:off x="3429000" y="279360"/>
            <a:ext cx="2286000" cy="106056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Networked</a:t>
            </a:r>
            <a:br>
              <a:rPr sz="3600"/>
            </a:br>
            <a:r>
              <a:rPr b="1" lang="en-IN" sz="3600" strike="noStrike" u="none">
                <a:solidFill>
                  <a:srgbClr val="000000"/>
                </a:solidFill>
                <a:effectLst/>
                <a:uFillTx/>
                <a:latin typeface="Times New Roman"/>
                <a:ea typeface="Times New Roman"/>
              </a:rPr>
              <a:t>TCP/IP</a:t>
            </a:r>
            <a:endParaRPr b="0" lang="en-IN" sz="3600" strike="noStrike" u="none">
              <a:solidFill>
                <a:srgbClr val="000000"/>
              </a:solidFill>
              <a:effectLst/>
              <a:uFillTx/>
              <a:latin typeface="Arial"/>
            </a:endParaRPr>
          </a:p>
        </p:txBody>
      </p:sp>
      <p:sp>
        <p:nvSpPr>
          <p:cNvPr id="54" name=""/>
          <p:cNvSpPr txBox="1"/>
          <p:nvPr/>
        </p:nvSpPr>
        <p:spPr>
          <a:xfrm>
            <a:off x="609480" y="1905120"/>
            <a:ext cx="7848720" cy="3578400"/>
          </a:xfrm>
          <a:prstGeom prst="rect">
            <a:avLst/>
          </a:prstGeom>
          <a:noFill/>
          <a:ln w="0">
            <a:noFill/>
          </a:ln>
        </p:spPr>
        <p:txBody>
          <a:bodyPr lIns="0" rIns="0" tIns="0" bIns="0" anchor="t">
            <a:spAutoFit/>
          </a:bodyPr>
          <a:p>
            <a:pPr>
              <a:lnSpc>
                <a:spcPct val="88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Networking in </a:t>
            </a:r>
            <a:r>
              <a:rPr b="0" lang="en-IN" sz="2000" strike="noStrike" u="none">
                <a:solidFill>
                  <a:srgbClr val="000000"/>
                </a:solidFill>
                <a:effectLst/>
                <a:uFillTx/>
                <a:latin typeface="Times New Roman"/>
                <a:ea typeface="Times New Roman"/>
              </a:rPr>
              <a:t>UNIX </a:t>
            </a:r>
            <a:r>
              <a:rPr b="0" lang="en-IN" sz="2400" strike="noStrike" u="none">
                <a:solidFill>
                  <a:srgbClr val="000000"/>
                </a:solidFill>
                <a:effectLst/>
                <a:uFillTx/>
                <a:latin typeface="Times New Roman"/>
                <a:ea typeface="Times New Roman"/>
              </a:rPr>
              <a:t>is based almost entirely on the Berkeley TCP/IP implementation.</a:t>
            </a: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The cheap availability of the Berkeley networking code led to its incorporation into many commercial versions of </a:t>
            </a:r>
            <a:r>
              <a:rPr b="0" lang="en-IN" sz="2000" strike="noStrike" u="none">
                <a:solidFill>
                  <a:srgbClr val="000000"/>
                </a:solidFill>
                <a:effectLst/>
                <a:uFillTx/>
                <a:latin typeface="Times New Roman"/>
                <a:ea typeface="Times New Roman"/>
              </a:rPr>
              <a:t>UNIX </a:t>
            </a:r>
            <a:r>
              <a:rPr b="0" lang="en-IN" sz="2400" strike="noStrike" u="none">
                <a:solidFill>
                  <a:srgbClr val="000000"/>
                </a:solidFill>
                <a:effectLst/>
                <a:uFillTx/>
                <a:latin typeface="Times New Roman"/>
                <a:ea typeface="Times New Roman"/>
              </a:rPr>
              <a:t>and to the standardization of the </a:t>
            </a:r>
            <a:r>
              <a:rPr b="0" i="1" lang="en-IN" sz="2400" strike="noStrike" u="none">
                <a:solidFill>
                  <a:srgbClr val="000000"/>
                </a:solidFill>
                <a:effectLst/>
                <a:uFillTx/>
                <a:latin typeface="Times New Roman"/>
                <a:ea typeface="Times New Roman"/>
              </a:rPr>
              <a:t>sockets</a:t>
            </a:r>
            <a:r>
              <a:rPr b="0" lang="en-IN" sz="2400" strike="noStrike" u="none">
                <a:solidFill>
                  <a:srgbClr val="000000"/>
                </a:solidFill>
                <a:effectLst/>
                <a:uFillTx/>
                <a:latin typeface="Times New Roman"/>
                <a:ea typeface="Times New Roman"/>
              </a:rPr>
              <a:t> interface.</a:t>
            </a: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Every important networking standard is supported under </a:t>
            </a:r>
            <a:r>
              <a:rPr b="0" lang="en-IN" sz="2000" strike="noStrike" u="none">
                <a:solidFill>
                  <a:srgbClr val="000000"/>
                </a:solidFill>
                <a:effectLst/>
                <a:uFillTx/>
                <a:latin typeface="Times New Roman"/>
                <a:ea typeface="Times New Roman"/>
              </a:rPr>
              <a:t>UNIX</a:t>
            </a:r>
            <a:r>
              <a:rPr b="0" lang="en-IN" sz="2400" strike="noStrike" u="none">
                <a:solidFill>
                  <a:srgbClr val="000000"/>
                </a:solidFill>
                <a:effectLst/>
                <a:uFillTx/>
                <a:latin typeface="Times New Roman"/>
                <a:ea typeface="Times New Roman"/>
              </a:rPr>
              <a:t>:  Ethernet/802.3, TCP/IP, DECnet, Novell, Token Ring, XNS, etc.</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 name=""/>
          <p:cNvSpPr txBox="1"/>
          <p:nvPr/>
        </p:nvSpPr>
        <p:spPr>
          <a:xfrm>
            <a:off x="3429000" y="279360"/>
            <a:ext cx="2286000" cy="106056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Networked</a:t>
            </a:r>
            <a:br>
              <a:rPr sz="3600"/>
            </a:br>
            <a:r>
              <a:rPr b="1" lang="en-IN" sz="3600" strike="noStrike" u="none">
                <a:solidFill>
                  <a:srgbClr val="000000"/>
                </a:solidFill>
                <a:effectLst/>
                <a:uFillTx/>
                <a:latin typeface="Times New Roman"/>
                <a:ea typeface="Times New Roman"/>
              </a:rPr>
              <a:t>uucp</a:t>
            </a:r>
            <a:endParaRPr b="0" lang="en-IN" sz="3600" strike="noStrike" u="none">
              <a:solidFill>
                <a:srgbClr val="000000"/>
              </a:solidFill>
              <a:effectLst/>
              <a:uFillTx/>
              <a:latin typeface="Arial"/>
            </a:endParaRPr>
          </a:p>
        </p:txBody>
      </p:sp>
      <p:sp>
        <p:nvSpPr>
          <p:cNvPr id="56" name=""/>
          <p:cNvSpPr txBox="1"/>
          <p:nvPr/>
        </p:nvSpPr>
        <p:spPr>
          <a:xfrm>
            <a:off x="990720" y="1981080"/>
            <a:ext cx="7162920" cy="4114800"/>
          </a:xfrm>
          <a:prstGeom prst="rect">
            <a:avLst/>
          </a:prstGeom>
          <a:noFill/>
          <a:ln w="0">
            <a:noFill/>
          </a:ln>
        </p:spPr>
        <p:txBody>
          <a:bodyPr lIns="0" rIns="0" tIns="0" bIns="0" anchor="t">
            <a:spAutoFit/>
          </a:bodyPr>
          <a:p>
            <a:pPr>
              <a:lnSpc>
                <a:spcPct val="90000"/>
              </a:lnSpc>
              <a:spcBef>
                <a:spcPts val="720"/>
              </a:spcBef>
            </a:pPr>
            <a:r>
              <a:rPr b="0" lang="en-IN" sz="2400" strike="noStrike" u="none">
                <a:solidFill>
                  <a:srgbClr val="000000"/>
                </a:solidFill>
                <a:effectLst/>
                <a:uFillTx/>
                <a:latin typeface="Times New Roman"/>
                <a:ea typeface="Times New Roman"/>
              </a:rPr>
              <a:t>The uucp program copies files from one </a:t>
            </a:r>
            <a:r>
              <a:rPr b="0" lang="en-IN" sz="2000" strike="noStrike" u="none">
                <a:solidFill>
                  <a:srgbClr val="000000"/>
                </a:solidFill>
                <a:effectLst/>
                <a:uFillTx/>
                <a:latin typeface="Times New Roman"/>
                <a:ea typeface="Times New Roman"/>
              </a:rPr>
              <a:t>UNIX </a:t>
            </a:r>
            <a:r>
              <a:rPr b="0" lang="en-IN" sz="2400" strike="noStrike" u="none">
                <a:solidFill>
                  <a:srgbClr val="000000"/>
                </a:solidFill>
                <a:effectLst/>
                <a:uFillTx/>
                <a:latin typeface="Times New Roman"/>
                <a:ea typeface="Times New Roman"/>
              </a:rPr>
              <a:t>computer to another over a serial port.  This basic transport layer provided the basis of the earliest networked </a:t>
            </a:r>
            <a:r>
              <a:rPr b="0" lang="en-IN" sz="2000" strike="noStrike" u="none">
                <a:solidFill>
                  <a:srgbClr val="000000"/>
                </a:solidFill>
                <a:effectLst/>
                <a:uFillTx/>
                <a:latin typeface="Times New Roman"/>
                <a:ea typeface="Times New Roman"/>
              </a:rPr>
              <a:t>UNIX </a:t>
            </a:r>
            <a:r>
              <a:rPr b="0" lang="en-IN" sz="2400" strike="noStrike" u="none">
                <a:solidFill>
                  <a:srgbClr val="000000"/>
                </a:solidFill>
                <a:effectLst/>
                <a:uFillTx/>
                <a:latin typeface="Times New Roman"/>
                <a:ea typeface="Times New Roman"/>
              </a:rPr>
              <a:t>mail systems and later the vast  “netnews” network.</a:t>
            </a:r>
            <a:endParaRPr b="0" lang="en-IN" sz="2400" strike="noStrike" u="none">
              <a:solidFill>
                <a:srgbClr val="000000"/>
              </a:solidFill>
              <a:effectLst/>
              <a:uFillTx/>
              <a:latin typeface="Arial"/>
            </a:endParaRPr>
          </a:p>
          <a:p>
            <a:pPr>
              <a:lnSpc>
                <a:spcPct val="90000"/>
              </a:lnSpc>
              <a:spcBef>
                <a:spcPts val="720"/>
              </a:spcBef>
            </a:pPr>
            <a:r>
              <a:rPr b="0" lang="en-IN" sz="2400" strike="noStrike" u="none">
                <a:solidFill>
                  <a:srgbClr val="000000"/>
                </a:solidFill>
                <a:effectLst/>
                <a:uFillTx/>
                <a:latin typeface="Times New Roman"/>
                <a:ea typeface="Times New Roman"/>
              </a:rPr>
              <a:t>The uucp network that lead to USENET began at Duke University and grew rapidly.  This user supported, phone based network carries mail and the netnews distributed bulletin board, the largest computer conferencing system in the world.</a:t>
            </a:r>
            <a:endParaRPr b="0" lang="en-IN" sz="2400" strike="noStrike" u="none">
              <a:solidFill>
                <a:srgbClr val="000000"/>
              </a:solidFill>
              <a:effectLst/>
              <a:uFillTx/>
              <a:latin typeface="Arial"/>
            </a:endParaRPr>
          </a:p>
          <a:p>
            <a:pPr>
              <a:lnSpc>
                <a:spcPct val="90000"/>
              </a:lnSpc>
              <a:spcBef>
                <a:spcPts val="720"/>
              </a:spcBef>
            </a:pPr>
            <a:r>
              <a:rPr b="0" lang="en-IN" sz="2400" strike="noStrike" u="none">
                <a:solidFill>
                  <a:srgbClr val="000000"/>
                </a:solidFill>
                <a:effectLst/>
                <a:uFillTx/>
                <a:latin typeface="Times New Roman"/>
                <a:ea typeface="Times New Roman"/>
              </a:rPr>
              <a:t>Until SVR4, uucp was the only networking capability provided by AT&amp;T’s versions of </a:t>
            </a:r>
            <a:r>
              <a:rPr b="0" lang="en-IN" sz="2000" strike="noStrike" u="none">
                <a:solidFill>
                  <a:srgbClr val="000000"/>
                </a:solidFill>
                <a:effectLst/>
                <a:uFillTx/>
                <a:latin typeface="Times New Roman"/>
                <a:ea typeface="Times New Roman"/>
              </a:rPr>
              <a:t>UNIX</a:t>
            </a:r>
            <a:r>
              <a:rPr b="0" lang="en-IN" sz="2400" strike="noStrike" u="none">
                <a:solidFill>
                  <a:srgbClr val="000000"/>
                </a:solidFill>
                <a:effectLst/>
                <a:uFillTx/>
                <a:latin typeface="Times New Roman"/>
                <a:ea typeface="Times New Roman"/>
              </a:rPr>
              <a:t>.</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 name=""/>
          <p:cNvSpPr txBox="1"/>
          <p:nvPr/>
        </p:nvSpPr>
        <p:spPr>
          <a:xfrm>
            <a:off x="3670200" y="279360"/>
            <a:ext cx="180324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Portable</a:t>
            </a:r>
            <a:endParaRPr b="0" lang="en-IN" sz="3600" strike="noStrike" u="none">
              <a:solidFill>
                <a:srgbClr val="000000"/>
              </a:solidFill>
              <a:effectLst/>
              <a:uFillTx/>
              <a:latin typeface="Arial"/>
            </a:endParaRPr>
          </a:p>
        </p:txBody>
      </p:sp>
      <p:sp>
        <p:nvSpPr>
          <p:cNvPr id="58" name=""/>
          <p:cNvSpPr txBox="1"/>
          <p:nvPr/>
        </p:nvSpPr>
        <p:spPr>
          <a:xfrm>
            <a:off x="844560" y="1765440"/>
            <a:ext cx="7454880" cy="3162240"/>
          </a:xfrm>
          <a:prstGeom prst="rect">
            <a:avLst/>
          </a:prstGeom>
          <a:noFill/>
          <a:ln w="0">
            <a:noFill/>
          </a:ln>
        </p:spPr>
        <p:txBody>
          <a:bodyPr lIns="0" rIns="0" tIns="0" bIns="0" anchor="t">
            <a:spAutoFit/>
          </a:bodyPr>
          <a:p>
            <a:pPr>
              <a:lnSpc>
                <a:spcPct val="85000"/>
              </a:lnSpc>
              <a:tabLst>
                <a:tab algn="l" pos="685800"/>
                <a:tab algn="l" pos="1371600"/>
                <a:tab algn="l" pos="2057400"/>
                <a:tab algn="l" pos="2743200"/>
                <a:tab algn="l" pos="3429000"/>
              </a:tabLst>
            </a:pPr>
            <a:r>
              <a:rPr b="0" lang="en-IN" sz="2000" strike="noStrike" u="none">
                <a:solidFill>
                  <a:srgbClr val="000000"/>
                </a:solidFill>
                <a:effectLst/>
                <a:uFillTx/>
                <a:latin typeface="Times New Roman"/>
                <a:ea typeface="Times New Roman"/>
              </a:rPr>
              <a:t>UNIX </a:t>
            </a:r>
            <a:r>
              <a:rPr b="0" lang="en-IN" sz="2400" strike="noStrike" u="none">
                <a:solidFill>
                  <a:srgbClr val="000000"/>
                </a:solidFill>
                <a:effectLst/>
                <a:uFillTx/>
                <a:latin typeface="Times New Roman"/>
                <a:ea typeface="Times New Roman"/>
              </a:rPr>
              <a:t>runs on systems ranging from 16-bit embedded microcontrollers up through the largest mainframes and supercomputers.</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The IEEE POSIX specification defines the of the basic features of </a:t>
            </a:r>
            <a:r>
              <a:rPr b="0" lang="en-IN" sz="2000" strike="noStrike" u="none">
                <a:solidFill>
                  <a:srgbClr val="000000"/>
                </a:solidFill>
                <a:effectLst/>
                <a:uFillTx/>
                <a:latin typeface="Times New Roman"/>
                <a:ea typeface="Times New Roman"/>
              </a:rPr>
              <a:t>UNIX</a:t>
            </a:r>
            <a:r>
              <a:rPr b="0" lang="en-IN" sz="2400" strike="noStrike" u="none">
                <a:solidFill>
                  <a:srgbClr val="000000"/>
                </a:solidFill>
                <a:effectLst/>
                <a:uFillTx/>
                <a:latin typeface="Times New Roman"/>
                <a:ea typeface="Times New Roman"/>
              </a:rPr>
              <a:t>.  The POSIX standard further enhances the portability of </a:t>
            </a:r>
            <a:r>
              <a:rPr b="0" lang="en-IN" sz="2000" strike="noStrike" u="none">
                <a:solidFill>
                  <a:srgbClr val="000000"/>
                </a:solidFill>
                <a:effectLst/>
                <a:uFillTx/>
                <a:latin typeface="Times New Roman"/>
                <a:ea typeface="Times New Roman"/>
              </a:rPr>
              <a:t>UNIX </a:t>
            </a:r>
            <a:r>
              <a:rPr b="0" lang="en-IN" sz="2400" strike="noStrike" u="none">
                <a:solidFill>
                  <a:srgbClr val="000000"/>
                </a:solidFill>
                <a:effectLst/>
                <a:uFillTx/>
                <a:latin typeface="Times New Roman"/>
                <a:ea typeface="Times New Roman"/>
              </a:rPr>
              <a:t>applications.</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This portability is possible because </a:t>
            </a:r>
            <a:r>
              <a:rPr b="0" lang="en-IN" sz="2000" strike="noStrike" u="none">
                <a:solidFill>
                  <a:srgbClr val="000000"/>
                </a:solidFill>
                <a:effectLst/>
                <a:uFillTx/>
                <a:latin typeface="Times New Roman"/>
                <a:ea typeface="Times New Roman"/>
              </a:rPr>
              <a:t>UNIX </a:t>
            </a:r>
            <a:r>
              <a:rPr b="0" lang="en-IN" sz="2400" strike="noStrike" u="none">
                <a:solidFill>
                  <a:srgbClr val="000000"/>
                </a:solidFill>
                <a:effectLst/>
                <a:uFillTx/>
                <a:latin typeface="Times New Roman"/>
                <a:ea typeface="Times New Roman"/>
              </a:rPr>
              <a:t>is written in a high level language, C, instead of assembly.</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 name=""/>
          <p:cNvSpPr txBox="1"/>
          <p:nvPr/>
        </p:nvSpPr>
        <p:spPr>
          <a:xfrm>
            <a:off x="2127240" y="279360"/>
            <a:ext cx="488952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Starting a UNIX Session</a:t>
            </a:r>
            <a:endParaRPr b="0" lang="en-IN" sz="3600" strike="noStrike" u="none">
              <a:solidFill>
                <a:srgbClr val="000000"/>
              </a:solidFill>
              <a:effectLst/>
              <a:uFillTx/>
              <a:latin typeface="Arial"/>
            </a:endParaRPr>
          </a:p>
        </p:txBody>
      </p:sp>
      <p:sp>
        <p:nvSpPr>
          <p:cNvPr id="60" name=""/>
          <p:cNvSpPr txBox="1"/>
          <p:nvPr/>
        </p:nvSpPr>
        <p:spPr>
          <a:xfrm>
            <a:off x="1308240" y="1994040"/>
            <a:ext cx="6692760" cy="2341440"/>
          </a:xfrm>
          <a:prstGeom prst="rect">
            <a:avLst/>
          </a:prstGeom>
          <a:noFill/>
          <a:ln w="0">
            <a:noFill/>
          </a:ln>
        </p:spPr>
        <p:txBody>
          <a:bodyPr lIns="0" rIns="0" tIns="0" bIns="0" anchor="t">
            <a:spAutoFit/>
          </a:bodyPr>
          <a:p>
            <a:pPr>
              <a:lnSpc>
                <a:spcPct val="88000"/>
              </a:lnSpc>
              <a:tabLst>
                <a:tab algn="l" pos="685800"/>
                <a:tab algn="l" pos="1371600"/>
                <a:tab algn="l" pos="2057400"/>
                <a:tab algn="l" pos="2743200"/>
                <a:tab algn="l" pos="3429000"/>
              </a:tabLst>
            </a:pPr>
            <a:r>
              <a:rPr b="0" lang="en-IN" sz="2000" strike="noStrike" u="none">
                <a:solidFill>
                  <a:srgbClr val="000000"/>
                </a:solidFill>
                <a:effectLst/>
                <a:uFillTx/>
                <a:latin typeface="Times New Roman"/>
                <a:ea typeface="Times New Roman"/>
              </a:rPr>
              <a:t>UNIX </a:t>
            </a:r>
            <a:r>
              <a:rPr b="0" lang="en-IN" sz="2400" strike="noStrike" u="none">
                <a:solidFill>
                  <a:srgbClr val="000000"/>
                </a:solidFill>
                <a:effectLst/>
                <a:uFillTx/>
                <a:latin typeface="Times New Roman"/>
                <a:ea typeface="Times New Roman"/>
              </a:rPr>
              <a:t>users are given a </a:t>
            </a:r>
            <a:r>
              <a:rPr b="0" i="1" lang="en-IN" sz="2400" strike="noStrike" u="none">
                <a:solidFill>
                  <a:srgbClr val="000000"/>
                </a:solidFill>
                <a:effectLst/>
                <a:uFillTx/>
                <a:latin typeface="Times New Roman"/>
                <a:ea typeface="Times New Roman"/>
              </a:rPr>
              <a:t>login name </a:t>
            </a:r>
            <a:r>
              <a:rPr b="0" lang="en-IN" sz="2400" strike="noStrike" u="none">
                <a:solidFill>
                  <a:srgbClr val="000000"/>
                </a:solidFill>
                <a:effectLst/>
                <a:uFillTx/>
                <a:latin typeface="Times New Roman"/>
                <a:ea typeface="Times New Roman"/>
              </a:rPr>
              <a:t>and a </a:t>
            </a:r>
            <a:r>
              <a:rPr b="0" i="1" lang="en-IN" sz="2400" strike="noStrike" u="none">
                <a:solidFill>
                  <a:srgbClr val="000000"/>
                </a:solidFill>
                <a:effectLst/>
                <a:uFillTx/>
                <a:latin typeface="Times New Roman"/>
                <a:ea typeface="Times New Roman"/>
              </a:rPr>
              <a:t>password</a:t>
            </a:r>
            <a:r>
              <a:rPr b="0" lang="en-IN" sz="2400" strike="noStrike" u="none">
                <a:solidFill>
                  <a:srgbClr val="000000"/>
                </a:solidFill>
                <a:effectLst/>
                <a:uFillTx/>
                <a:latin typeface="Times New Roman"/>
                <a:ea typeface="Times New Roman"/>
              </a:rPr>
              <a:t>.</a:t>
            </a:r>
            <a:endParaRPr b="0" lang="en-IN" sz="2400" strike="noStrike" u="none">
              <a:solidFill>
                <a:srgbClr val="000000"/>
              </a:solidFill>
              <a:effectLst/>
              <a:uFillTx/>
              <a:latin typeface="Arial"/>
            </a:endParaRPr>
          </a:p>
          <a:p>
            <a:pPr lvl="1" marL="914400" indent="-457200">
              <a:lnSpc>
                <a:spcPct val="90000"/>
              </a:lnSpc>
              <a:spcBef>
                <a:spcPts val="720"/>
              </a:spcBef>
              <a:buClr>
                <a:srgbClr val="000000"/>
              </a:buClr>
              <a:buFont typeface=""/>
              <a:buChar char=""/>
              <a:tabLst>
                <a:tab algn="l" pos="457200"/>
                <a:tab algn="l" pos="1143000"/>
                <a:tab algn="l" pos="1828800"/>
                <a:tab algn="l" pos="2514600"/>
              </a:tabLst>
            </a:pPr>
            <a:r>
              <a:rPr b="0" lang="en-IN" sz="2000" strike="noStrike" u="none">
                <a:solidFill>
                  <a:srgbClr val="000000"/>
                </a:solidFill>
                <a:effectLst/>
                <a:uFillTx/>
                <a:latin typeface="Times New Roman"/>
                <a:ea typeface="Times New Roman"/>
              </a:rPr>
              <a:t>The login name identifies you to the system</a:t>
            </a:r>
            <a:endParaRPr b="0" lang="en-IN" sz="2000" strike="noStrike" u="none">
              <a:solidFill>
                <a:srgbClr val="000000"/>
              </a:solidFill>
              <a:effectLst/>
              <a:uFillTx/>
              <a:latin typeface="Arial"/>
            </a:endParaRPr>
          </a:p>
          <a:p>
            <a:pPr lvl="1" marL="914400" indent="-457200">
              <a:lnSpc>
                <a:spcPct val="90000"/>
              </a:lnSpc>
              <a:spcBef>
                <a:spcPts val="720"/>
              </a:spcBef>
              <a:buClr>
                <a:srgbClr val="000000"/>
              </a:buClr>
              <a:buFont typeface=""/>
              <a:buChar char=""/>
              <a:tabLst>
                <a:tab algn="l" pos="457200"/>
                <a:tab algn="l" pos="1143000"/>
                <a:tab algn="l" pos="1828800"/>
                <a:tab algn="l" pos="2514600"/>
              </a:tabLst>
            </a:pPr>
            <a:r>
              <a:rPr b="0" lang="en-IN" sz="2000" strike="noStrike" u="none">
                <a:solidFill>
                  <a:srgbClr val="000000"/>
                </a:solidFill>
                <a:effectLst/>
                <a:uFillTx/>
                <a:latin typeface="Times New Roman"/>
                <a:ea typeface="Times New Roman"/>
              </a:rPr>
              <a:t>The password assures the system that you are who you claim to be.</a:t>
            </a:r>
            <a:endParaRPr b="0" lang="en-IN" sz="20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Your initial password will be assigned by the system administrator but you can change it at any time.</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
          <p:cNvSpPr txBox="1"/>
          <p:nvPr/>
        </p:nvSpPr>
        <p:spPr>
          <a:xfrm>
            <a:off x="2685960" y="279360"/>
            <a:ext cx="3755880" cy="660240"/>
          </a:xfrm>
          <a:prstGeom prst="rect">
            <a:avLst/>
          </a:prstGeom>
          <a:noFill/>
          <a:ln w="0">
            <a:noFill/>
          </a:ln>
        </p:spPr>
        <p:txBody>
          <a:bodyPr lIns="0" rIns="0" tIns="0" bIns="0" anchor="t">
            <a:spAutoFit/>
          </a:bodyPr>
          <a:p>
            <a:pPr algn="ctr">
              <a:lnSpc>
                <a:spcPct val="111000"/>
              </a:lnSpc>
            </a:pPr>
            <a:r>
              <a:rPr b="1" lang="en-IN" sz="3600" strike="noStrike" u="none">
                <a:solidFill>
                  <a:srgbClr val="000000"/>
                </a:solidFill>
                <a:effectLst/>
                <a:uFillTx/>
                <a:latin typeface="Times New Roman"/>
                <a:ea typeface="Times New Roman"/>
              </a:rPr>
              <a:t>Logging into </a:t>
            </a:r>
            <a:r>
              <a:rPr b="1" lang="en-IN" sz="3200" strike="noStrike" u="none">
                <a:solidFill>
                  <a:srgbClr val="000000"/>
                </a:solidFill>
                <a:effectLst/>
                <a:uFillTx/>
                <a:latin typeface="Times New Roman"/>
                <a:ea typeface="Times New Roman"/>
              </a:rPr>
              <a:t>UNIX</a:t>
            </a:r>
            <a:endParaRPr b="0" lang="en-IN" sz="3200" strike="noStrike" u="none">
              <a:solidFill>
                <a:srgbClr val="000000"/>
              </a:solidFill>
              <a:effectLst/>
              <a:uFillTx/>
              <a:latin typeface="Arial"/>
            </a:endParaRPr>
          </a:p>
        </p:txBody>
      </p:sp>
      <p:sp>
        <p:nvSpPr>
          <p:cNvPr id="62" name=""/>
          <p:cNvSpPr txBox="1"/>
          <p:nvPr/>
        </p:nvSpPr>
        <p:spPr>
          <a:xfrm>
            <a:off x="1384200" y="1460520"/>
            <a:ext cx="6540480" cy="4178160"/>
          </a:xfrm>
          <a:prstGeom prst="rect">
            <a:avLst/>
          </a:prstGeom>
          <a:noFill/>
          <a:ln w="0">
            <a:noFill/>
          </a:ln>
        </p:spPr>
        <p:txBody>
          <a:bodyPr lIns="0" rIns="0" tIns="0" bIns="0" anchor="t">
            <a:spAutoFit/>
          </a:bodyPr>
          <a:p>
            <a:pPr>
              <a:lnSpc>
                <a:spcPct val="87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Prior to login, you will be presented with the login prompt, which typically contains the system name.</a:t>
            </a:r>
            <a:endParaRPr b="0" lang="en-IN" sz="2400" strike="noStrike" u="none">
              <a:solidFill>
                <a:srgbClr val="000000"/>
              </a:solidFill>
              <a:effectLst/>
              <a:uFillTx/>
              <a:latin typeface="Arial"/>
            </a:endParaRPr>
          </a:p>
          <a:p>
            <a:pPr>
              <a:lnSpc>
                <a:spcPct val="87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7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nssdcs login:</a:t>
            </a:r>
            <a:endParaRPr b="0" lang="en-IN" sz="2400" strike="noStrike" u="none">
              <a:solidFill>
                <a:srgbClr val="000000"/>
              </a:solidFill>
              <a:effectLst/>
              <a:uFillTx/>
              <a:latin typeface="Arial"/>
            </a:endParaRPr>
          </a:p>
          <a:p>
            <a:pPr>
              <a:lnSpc>
                <a:spcPct val="87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7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At this point, enter your login name.</a:t>
            </a:r>
            <a:endParaRPr b="0" lang="en-IN" sz="2400" strike="noStrike" u="none">
              <a:solidFill>
                <a:srgbClr val="000000"/>
              </a:solidFill>
              <a:effectLst/>
              <a:uFillTx/>
              <a:latin typeface="Arial"/>
            </a:endParaRPr>
          </a:p>
          <a:p>
            <a:pPr>
              <a:lnSpc>
                <a:spcPct val="87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7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nssdcs login: </a:t>
            </a:r>
            <a:r>
              <a:rPr b="0" i="1" lang="en-IN" sz="2400" strike="noStrike" u="none">
                <a:solidFill>
                  <a:srgbClr val="000000"/>
                </a:solidFill>
                <a:effectLst/>
                <a:uFillTx/>
                <a:latin typeface="Times New Roman"/>
                <a:ea typeface="Times New Roman"/>
              </a:rPr>
              <a:t>williams</a:t>
            </a:r>
            <a:endParaRPr b="0" lang="en-IN" sz="2400" strike="noStrike" u="none">
              <a:solidFill>
                <a:srgbClr val="000000"/>
              </a:solidFill>
              <a:effectLst/>
              <a:uFillTx/>
              <a:latin typeface="Arial"/>
            </a:endParaRPr>
          </a:p>
          <a:p>
            <a:pPr>
              <a:lnSpc>
                <a:spcPct val="87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Password:</a:t>
            </a:r>
            <a:endParaRPr b="0" lang="en-IN" sz="2400" strike="noStrike" u="none">
              <a:solidFill>
                <a:srgbClr val="000000"/>
              </a:solidFill>
              <a:effectLst/>
              <a:uFillTx/>
              <a:latin typeface="Arial"/>
            </a:endParaRPr>
          </a:p>
          <a:p>
            <a:pPr>
              <a:lnSpc>
                <a:spcPct val="87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7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The system will prompt for a password.  The characters of the password will not echo as you type them.</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 name=""/>
          <p:cNvSpPr txBox="1"/>
          <p:nvPr/>
        </p:nvSpPr>
        <p:spPr>
          <a:xfrm>
            <a:off x="1841400" y="279360"/>
            <a:ext cx="5445000" cy="660240"/>
          </a:xfrm>
          <a:prstGeom prst="rect">
            <a:avLst/>
          </a:prstGeom>
          <a:noFill/>
          <a:ln w="0">
            <a:noFill/>
          </a:ln>
        </p:spPr>
        <p:txBody>
          <a:bodyPr lIns="0" rIns="0" tIns="0" bIns="0" anchor="t">
            <a:spAutoFit/>
          </a:bodyPr>
          <a:p>
            <a:pPr algn="ctr">
              <a:lnSpc>
                <a:spcPct val="111000"/>
              </a:lnSpc>
            </a:pPr>
            <a:r>
              <a:rPr b="1" lang="en-IN" sz="3600" strike="noStrike" u="none">
                <a:solidFill>
                  <a:srgbClr val="000000"/>
                </a:solidFill>
                <a:effectLst/>
                <a:uFillTx/>
                <a:latin typeface="Times New Roman"/>
                <a:ea typeface="Times New Roman"/>
              </a:rPr>
              <a:t>Logging into </a:t>
            </a:r>
            <a:r>
              <a:rPr b="1" lang="en-IN" sz="3200" strike="noStrike" u="none">
                <a:solidFill>
                  <a:srgbClr val="000000"/>
                </a:solidFill>
                <a:effectLst/>
                <a:uFillTx/>
                <a:latin typeface="Times New Roman"/>
                <a:ea typeface="Times New Roman"/>
              </a:rPr>
              <a:t>UNIX</a:t>
            </a:r>
            <a:r>
              <a:rPr b="1" lang="en-IN" sz="3600" strike="noStrike" u="none">
                <a:solidFill>
                  <a:srgbClr val="000000"/>
                </a:solidFill>
                <a:effectLst/>
                <a:uFillTx/>
                <a:latin typeface="Times New Roman"/>
                <a:ea typeface="Times New Roman"/>
              </a:rPr>
              <a:t>, Cont'd.</a:t>
            </a:r>
            <a:endParaRPr b="0" lang="en-IN" sz="3600" strike="noStrike" u="none">
              <a:solidFill>
                <a:srgbClr val="000000"/>
              </a:solidFill>
              <a:effectLst/>
              <a:uFillTx/>
              <a:latin typeface="Arial"/>
            </a:endParaRPr>
          </a:p>
        </p:txBody>
      </p:sp>
      <p:sp>
        <p:nvSpPr>
          <p:cNvPr id="64" name=""/>
          <p:cNvSpPr txBox="1"/>
          <p:nvPr/>
        </p:nvSpPr>
        <p:spPr>
          <a:xfrm>
            <a:off x="1384200" y="1460520"/>
            <a:ext cx="6540480" cy="3257640"/>
          </a:xfrm>
          <a:prstGeom prst="rect">
            <a:avLst/>
          </a:prstGeom>
          <a:noFill/>
          <a:ln w="0">
            <a:noFill/>
          </a:ln>
        </p:spPr>
        <p:txBody>
          <a:bodyPr lIns="0" rIns="0" tIns="0" bIns="0" anchor="t">
            <a:spAutoFit/>
          </a:bodyPr>
          <a:p>
            <a:pPr>
              <a:lnSpc>
                <a:spcPct val="88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After a successful login, you will be shown a greeting and possibly a “message of the day”.  </a:t>
            </a: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A message may inform you that "You have mail."  </a:t>
            </a: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Finally, you will get a </a:t>
            </a:r>
            <a:r>
              <a:rPr b="0" i="1" lang="en-IN" sz="2400" strike="noStrike" u="none">
                <a:solidFill>
                  <a:srgbClr val="000000"/>
                </a:solidFill>
                <a:effectLst/>
                <a:uFillTx/>
                <a:latin typeface="Times New Roman"/>
                <a:ea typeface="Times New Roman"/>
              </a:rPr>
              <a:t>shell prompt</a:t>
            </a:r>
            <a:r>
              <a:rPr b="0" lang="en-IN" sz="2400" strike="noStrike" u="none">
                <a:solidFill>
                  <a:srgbClr val="000000"/>
                </a:solidFill>
                <a:effectLst/>
                <a:uFillTx/>
                <a:latin typeface="Times New Roman"/>
                <a:ea typeface="Times New Roman"/>
              </a:rPr>
              <a:t>, which defaults to $ or %, depending on your shell.</a:t>
            </a: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 name=""/>
          <p:cNvSpPr txBox="1"/>
          <p:nvPr/>
        </p:nvSpPr>
        <p:spPr>
          <a:xfrm>
            <a:off x="3587760" y="279360"/>
            <a:ext cx="196848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The Shell</a:t>
            </a:r>
            <a:endParaRPr b="0" lang="en-IN" sz="3600" strike="noStrike" u="none">
              <a:solidFill>
                <a:srgbClr val="000000"/>
              </a:solidFill>
              <a:effectLst/>
              <a:uFillTx/>
              <a:latin typeface="Arial"/>
            </a:endParaRPr>
          </a:p>
        </p:txBody>
      </p:sp>
      <p:sp>
        <p:nvSpPr>
          <p:cNvPr id="66" name=""/>
          <p:cNvSpPr txBox="1"/>
          <p:nvPr/>
        </p:nvSpPr>
        <p:spPr>
          <a:xfrm>
            <a:off x="927000" y="1231920"/>
            <a:ext cx="7378560" cy="4406760"/>
          </a:xfrm>
          <a:prstGeom prst="rect">
            <a:avLst/>
          </a:prstGeom>
          <a:noFill/>
          <a:ln w="0">
            <a:noFill/>
          </a:ln>
        </p:spPr>
        <p:txBody>
          <a:bodyPr lIns="0" rIns="0" tIns="0" bIns="0" anchor="t">
            <a:spAutoFit/>
          </a:bodyPr>
          <a:p>
            <a:pPr>
              <a:lnSpc>
                <a:spcPct val="85000"/>
              </a:lnSpc>
              <a:tabLst>
                <a:tab algn="l" pos="1371600"/>
                <a:tab algn="l" pos="2057400"/>
                <a:tab algn="l" pos="2743200"/>
                <a:tab algn="l" pos="3429000"/>
              </a:tabLst>
            </a:pPr>
            <a:r>
              <a:rPr b="0" lang="en-IN" sz="2400" strike="noStrike" u="none">
                <a:solidFill>
                  <a:srgbClr val="000000"/>
                </a:solidFill>
                <a:effectLst/>
                <a:uFillTx/>
                <a:latin typeface="Times New Roman"/>
                <a:ea typeface="Times New Roman"/>
              </a:rPr>
              <a:t>The </a:t>
            </a:r>
            <a:r>
              <a:rPr b="0" i="1" lang="en-IN" sz="2400" strike="noStrike" u="none">
                <a:solidFill>
                  <a:srgbClr val="000000"/>
                </a:solidFill>
                <a:effectLst/>
                <a:uFillTx/>
                <a:latin typeface="Times New Roman"/>
                <a:ea typeface="Times New Roman"/>
              </a:rPr>
              <a:t>shell</a:t>
            </a:r>
            <a:r>
              <a:rPr b="0" lang="en-IN" sz="2400" strike="noStrike" u="none">
                <a:solidFill>
                  <a:srgbClr val="000000"/>
                </a:solidFill>
                <a:effectLst/>
                <a:uFillTx/>
                <a:latin typeface="Times New Roman"/>
                <a:ea typeface="Times New Roman"/>
              </a:rPr>
              <a:t>  is the </a:t>
            </a:r>
            <a:r>
              <a:rPr b="0" lang="en-IN" sz="2000" strike="noStrike" u="none">
                <a:solidFill>
                  <a:srgbClr val="000000"/>
                </a:solidFill>
                <a:effectLst/>
                <a:uFillTx/>
                <a:latin typeface="Times New Roman"/>
                <a:ea typeface="Times New Roman"/>
              </a:rPr>
              <a:t>UNIX </a:t>
            </a:r>
            <a:r>
              <a:rPr b="0" lang="en-IN" sz="2400" strike="noStrike" u="none">
                <a:solidFill>
                  <a:srgbClr val="000000"/>
                </a:solidFill>
                <a:effectLst/>
                <a:uFillTx/>
                <a:latin typeface="Times New Roman"/>
                <a:ea typeface="Times New Roman"/>
              </a:rPr>
              <a:t>command interpreter.  It serves the same basic function as COMMAND.COM under DOS or DCL under VAX/VMS.</a:t>
            </a:r>
            <a:endParaRPr b="0" lang="en-IN" sz="2400" strike="noStrike" u="none">
              <a:solidFill>
                <a:srgbClr val="000000"/>
              </a:solidFill>
              <a:effectLst/>
              <a:uFillTx/>
              <a:latin typeface="Arial"/>
            </a:endParaRPr>
          </a:p>
          <a:p>
            <a:pPr>
              <a:lnSpc>
                <a:spcPct val="85000"/>
              </a:lnSpc>
              <a:tabLst>
                <a:tab algn="l" pos="1371600"/>
                <a:tab algn="l" pos="2057400"/>
                <a:tab algn="l" pos="2743200"/>
                <a:tab algn="l" pos="3429000"/>
              </a:tabLst>
            </a:pPr>
            <a:endParaRPr b="0" lang="en-IN" sz="2400" strike="noStrike" u="none">
              <a:solidFill>
                <a:srgbClr val="000000"/>
              </a:solidFill>
              <a:effectLst/>
              <a:uFillTx/>
              <a:latin typeface="Arial"/>
            </a:endParaRPr>
          </a:p>
          <a:p>
            <a:pPr>
              <a:lnSpc>
                <a:spcPct val="85000"/>
              </a:lnSpc>
              <a:tabLst>
                <a:tab algn="l" pos="1371600"/>
                <a:tab algn="l" pos="2057400"/>
                <a:tab algn="l" pos="2743200"/>
                <a:tab algn="l" pos="3429000"/>
              </a:tabLst>
            </a:pPr>
            <a:r>
              <a:rPr b="0" lang="en-IN" sz="2400" strike="noStrike" u="none">
                <a:solidFill>
                  <a:srgbClr val="000000"/>
                </a:solidFill>
                <a:effectLst/>
                <a:uFillTx/>
                <a:latin typeface="Times New Roman"/>
                <a:ea typeface="Times New Roman"/>
              </a:rPr>
              <a:t>All of the programs you run will be started by issuing commands to the shell.</a:t>
            </a:r>
            <a:endParaRPr b="0" lang="en-IN" sz="2400" strike="noStrike" u="none">
              <a:solidFill>
                <a:srgbClr val="000000"/>
              </a:solidFill>
              <a:effectLst/>
              <a:uFillTx/>
              <a:latin typeface="Arial"/>
            </a:endParaRPr>
          </a:p>
          <a:p>
            <a:pPr>
              <a:lnSpc>
                <a:spcPct val="85000"/>
              </a:lnSpc>
              <a:tabLst>
                <a:tab algn="l" pos="1371600"/>
                <a:tab algn="l" pos="2057400"/>
                <a:tab algn="l" pos="2743200"/>
                <a:tab algn="l" pos="3429000"/>
              </a:tabLst>
            </a:pPr>
            <a:endParaRPr b="0" lang="en-IN" sz="2400" strike="noStrike" u="none">
              <a:solidFill>
                <a:srgbClr val="000000"/>
              </a:solidFill>
              <a:effectLst/>
              <a:uFillTx/>
              <a:latin typeface="Arial"/>
            </a:endParaRPr>
          </a:p>
          <a:p>
            <a:pPr>
              <a:lnSpc>
                <a:spcPct val="85000"/>
              </a:lnSpc>
              <a:tabLst>
                <a:tab algn="l" pos="1371600"/>
                <a:tab algn="l" pos="2057400"/>
                <a:tab algn="l" pos="2743200"/>
                <a:tab algn="l" pos="3429000"/>
              </a:tabLst>
            </a:pPr>
            <a:r>
              <a:rPr b="0" lang="en-IN" sz="2400" strike="noStrike" u="none">
                <a:solidFill>
                  <a:srgbClr val="000000"/>
                </a:solidFill>
                <a:effectLst/>
                <a:uFillTx/>
                <a:latin typeface="Times New Roman"/>
                <a:ea typeface="Times New Roman"/>
              </a:rPr>
              <a:t>There are several shells in common use:</a:t>
            </a:r>
            <a:endParaRPr b="0" lang="en-IN" sz="2400" strike="noStrike" u="none">
              <a:solidFill>
                <a:srgbClr val="000000"/>
              </a:solidFill>
              <a:effectLst/>
              <a:uFillTx/>
              <a:latin typeface="Arial"/>
            </a:endParaRPr>
          </a:p>
          <a:p>
            <a:pPr>
              <a:lnSpc>
                <a:spcPct val="85000"/>
              </a:lnSpc>
              <a:tabLst>
                <a:tab algn="l" pos="1371600"/>
                <a:tab algn="l" pos="2057400"/>
                <a:tab algn="l" pos="2743200"/>
                <a:tab algn="l" pos="3429000"/>
              </a:tabLst>
            </a:pPr>
            <a:endParaRPr b="0" lang="en-IN" sz="2400" strike="noStrike" u="none">
              <a:solidFill>
                <a:srgbClr val="000000"/>
              </a:solidFill>
              <a:effectLst/>
              <a:uFillTx/>
              <a:latin typeface="Arial"/>
            </a:endParaRPr>
          </a:p>
          <a:p>
            <a:pPr marL="1816200" indent="-901800">
              <a:lnSpc>
                <a:spcPct val="85000"/>
              </a:lnSpc>
              <a:tabLst>
                <a:tab algn="l" pos="241200"/>
                <a:tab algn="l" pos="927000"/>
                <a:tab algn="l" pos="1612800"/>
              </a:tabLst>
            </a:pPr>
            <a:r>
              <a:rPr b="0" lang="en-IN" sz="2400" strike="noStrike" u="none">
                <a:solidFill>
                  <a:srgbClr val="000000"/>
                </a:solidFill>
                <a:effectLst/>
                <a:uFillTx/>
                <a:latin typeface="Times New Roman"/>
                <a:ea typeface="Times New Roman"/>
              </a:rPr>
              <a:t>sh</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The Bourne shell</a:t>
            </a:r>
            <a:endParaRPr b="0" lang="en-IN" sz="2400" strike="noStrike" u="none">
              <a:solidFill>
                <a:srgbClr val="000000"/>
              </a:solidFill>
              <a:effectLst/>
              <a:uFillTx/>
              <a:latin typeface="Arial"/>
            </a:endParaRPr>
          </a:p>
          <a:p>
            <a:pPr marL="1816200" indent="-901800">
              <a:lnSpc>
                <a:spcPct val="85000"/>
              </a:lnSpc>
              <a:tabLst>
                <a:tab algn="l" pos="241200"/>
                <a:tab algn="l" pos="927000"/>
                <a:tab algn="l" pos="1612800"/>
              </a:tabLst>
            </a:pPr>
            <a:r>
              <a:rPr b="0" lang="en-IN" sz="2400" strike="noStrike" u="none">
                <a:solidFill>
                  <a:srgbClr val="000000"/>
                </a:solidFill>
                <a:effectLst/>
                <a:uFillTx/>
                <a:latin typeface="Times New Roman"/>
                <a:ea typeface="Times New Roman"/>
              </a:rPr>
              <a:t>csh</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The C shell</a:t>
            </a:r>
            <a:endParaRPr b="0" lang="en-IN" sz="2400" strike="noStrike" u="none">
              <a:solidFill>
                <a:srgbClr val="000000"/>
              </a:solidFill>
              <a:effectLst/>
              <a:uFillTx/>
              <a:latin typeface="Arial"/>
            </a:endParaRPr>
          </a:p>
          <a:p>
            <a:pPr marL="1816200" indent="-901800">
              <a:lnSpc>
                <a:spcPct val="85000"/>
              </a:lnSpc>
              <a:tabLst>
                <a:tab algn="l" pos="241200"/>
                <a:tab algn="l" pos="927000"/>
                <a:tab algn="l" pos="1612800"/>
              </a:tabLst>
            </a:pPr>
            <a:r>
              <a:rPr b="0" lang="en-IN" sz="2400" strike="noStrike" u="none">
                <a:solidFill>
                  <a:srgbClr val="000000"/>
                </a:solidFill>
                <a:effectLst/>
                <a:uFillTx/>
                <a:latin typeface="Times New Roman"/>
                <a:ea typeface="Times New Roman"/>
              </a:rPr>
              <a:t>ksh</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The Korn shell</a:t>
            </a:r>
            <a:endParaRPr b="0" lang="en-IN" sz="2400" strike="noStrike" u="none">
              <a:solidFill>
                <a:srgbClr val="000000"/>
              </a:solidFill>
              <a:effectLst/>
              <a:uFillTx/>
              <a:latin typeface="Arial"/>
            </a:endParaRPr>
          </a:p>
          <a:p>
            <a:pPr marL="1816200" indent="-901800">
              <a:lnSpc>
                <a:spcPct val="85000"/>
              </a:lnSpc>
              <a:tabLst>
                <a:tab algn="l" pos="241200"/>
                <a:tab algn="l" pos="927000"/>
                <a:tab algn="l" pos="1612800"/>
              </a:tabLst>
            </a:pPr>
            <a:endParaRPr b="0" lang="en-IN" sz="2400" strike="noStrike" u="none">
              <a:solidFill>
                <a:srgbClr val="000000"/>
              </a:solidFill>
              <a:effectLst/>
              <a:uFillTx/>
              <a:latin typeface="Arial"/>
            </a:endParaRPr>
          </a:p>
          <a:p>
            <a:pPr>
              <a:lnSpc>
                <a:spcPct val="85000"/>
              </a:lnSpc>
              <a:tabLst>
                <a:tab algn="l" pos="1371600"/>
                <a:tab algn="l" pos="2057400"/>
                <a:tab algn="l" pos="2743200"/>
                <a:tab algn="l" pos="3429000"/>
              </a:tabLst>
            </a:pPr>
            <a:r>
              <a:rPr b="0" lang="en-IN" sz="2400" strike="noStrike" u="none">
                <a:solidFill>
                  <a:srgbClr val="000000"/>
                </a:solidFill>
                <a:effectLst/>
                <a:uFillTx/>
                <a:latin typeface="Times New Roman"/>
                <a:ea typeface="Times New Roman"/>
              </a:rPr>
              <a:t>Under System V Release 4 ksh is the default shell.</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
          <p:cNvSpPr txBox="1"/>
          <p:nvPr/>
        </p:nvSpPr>
        <p:spPr>
          <a:xfrm>
            <a:off x="2209680" y="279360"/>
            <a:ext cx="472608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Shell Command Syntax</a:t>
            </a:r>
            <a:endParaRPr b="0" lang="en-IN" sz="3600" strike="noStrike" u="none">
              <a:solidFill>
                <a:srgbClr val="000000"/>
              </a:solidFill>
              <a:effectLst/>
              <a:uFillTx/>
              <a:latin typeface="Arial"/>
            </a:endParaRPr>
          </a:p>
        </p:txBody>
      </p:sp>
      <p:sp>
        <p:nvSpPr>
          <p:cNvPr id="68" name=""/>
          <p:cNvSpPr txBox="1"/>
          <p:nvPr/>
        </p:nvSpPr>
        <p:spPr>
          <a:xfrm>
            <a:off x="774720" y="1308240"/>
            <a:ext cx="7683480" cy="3862440"/>
          </a:xfrm>
          <a:prstGeom prst="rect">
            <a:avLst/>
          </a:prstGeom>
          <a:noFill/>
          <a:ln w="0">
            <a:noFill/>
          </a:ln>
        </p:spPr>
        <p:txBody>
          <a:bodyPr lIns="0" rIns="0" tIns="0" bIns="0" anchor="t">
            <a:spAutoFit/>
          </a:bodyPr>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Simple commands are run just by typing their name.</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endParaRPr b="0" lang="en-IN" sz="18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	</a:t>
            </a:r>
            <a:r>
              <a:rPr b="0" i="1" lang="en-IN" sz="1800" strike="noStrike" u="none">
                <a:solidFill>
                  <a:srgbClr val="000000"/>
                </a:solidFill>
                <a:effectLst/>
                <a:uFillTx/>
                <a:latin typeface="Times New Roman"/>
                <a:ea typeface="Times New Roman"/>
              </a:rPr>
              <a:t>who</a:t>
            </a:r>
            <a:endParaRPr b="0" lang="en-IN" sz="18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kirk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console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Oct  6  9:22</a:t>
            </a:r>
            <a:endParaRPr b="0" lang="en-IN" sz="18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spock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ttya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Oct  6  8:07</a:t>
            </a:r>
            <a:endParaRPr b="0" lang="en-IN" sz="18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scott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ttyp3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Oct  5 22:20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(eng.ncc1701.ufp)</a:t>
            </a:r>
            <a:endParaRPr b="0" lang="en-IN" sz="18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mccoy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ttyp4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Oct  6  8:03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(med.ncc1701.ufp)</a:t>
            </a:r>
            <a:endParaRPr b="0" lang="en-IN" sz="18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williams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ttyp8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Oct  6 10:16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(eng.ncc1701.ufp)</a:t>
            </a:r>
            <a:endParaRPr b="0" lang="en-IN" sz="18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endParaRPr b="0" lang="en-IN" sz="18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Many commands take </a:t>
            </a:r>
            <a:r>
              <a:rPr b="0" i="1" lang="en-IN" sz="2400" strike="noStrike" u="none">
                <a:solidFill>
                  <a:srgbClr val="000000"/>
                </a:solidFill>
                <a:effectLst/>
                <a:uFillTx/>
                <a:latin typeface="Times New Roman"/>
                <a:ea typeface="Times New Roman"/>
              </a:rPr>
              <a:t>arguments</a:t>
            </a:r>
            <a:r>
              <a:rPr b="0" lang="en-IN" sz="2400" strike="noStrike" u="none">
                <a:solidFill>
                  <a:srgbClr val="000000"/>
                </a:solidFill>
                <a:effectLst/>
                <a:uFillTx/>
                <a:latin typeface="Times New Roman"/>
                <a:ea typeface="Times New Roman"/>
              </a:rPr>
              <a:t>, often one or more filenames.</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endParaRPr b="0" lang="en-IN" sz="18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 </a:t>
            </a:r>
            <a:r>
              <a:rPr b="0" i="1" lang="en-IN" sz="1800" strike="noStrike" u="none">
                <a:solidFill>
                  <a:srgbClr val="000000"/>
                </a:solidFill>
                <a:effectLst/>
                <a:uFillTx/>
                <a:latin typeface="Times New Roman"/>
                <a:ea typeface="Times New Roman"/>
              </a:rPr>
              <a:t>cd myprograms</a:t>
            </a:r>
            <a:endParaRPr b="0" lang="en-IN" sz="18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 </a:t>
            </a:r>
            <a:r>
              <a:rPr b="0" i="1" lang="en-IN" sz="1800" strike="noStrike" u="none">
                <a:solidFill>
                  <a:srgbClr val="000000"/>
                </a:solidFill>
                <a:effectLst/>
                <a:uFillTx/>
                <a:latin typeface="Times New Roman"/>
                <a:ea typeface="Times New Roman"/>
              </a:rPr>
              <a:t>sort mydata1 mydata2</a:t>
            </a:r>
            <a:endParaRPr b="0" lang="en-IN"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 name=""/>
          <p:cNvSpPr txBox="1"/>
          <p:nvPr/>
        </p:nvSpPr>
        <p:spPr>
          <a:xfrm>
            <a:off x="2322360" y="279360"/>
            <a:ext cx="4495680" cy="660240"/>
          </a:xfrm>
          <a:prstGeom prst="rect">
            <a:avLst/>
          </a:prstGeom>
          <a:noFill/>
          <a:ln w="0">
            <a:noFill/>
          </a:ln>
        </p:spPr>
        <p:txBody>
          <a:bodyPr lIns="0" rIns="0" tIns="0" bIns="0" anchor="t">
            <a:spAutoFit/>
          </a:bodyPr>
          <a:p>
            <a:pPr algn="ctr">
              <a:lnSpc>
                <a:spcPct val="111000"/>
              </a:lnSpc>
            </a:pPr>
            <a:r>
              <a:rPr b="1" lang="en-IN" sz="3600" strike="noStrike" u="none">
                <a:solidFill>
                  <a:srgbClr val="000000"/>
                </a:solidFill>
                <a:effectLst/>
                <a:uFillTx/>
                <a:latin typeface="Times New Roman"/>
                <a:ea typeface="Times New Roman"/>
              </a:rPr>
              <a:t>Options vs Arguments</a:t>
            </a:r>
            <a:endParaRPr b="0" lang="en-IN" sz="3600" strike="noStrike" u="none">
              <a:solidFill>
                <a:srgbClr val="000000"/>
              </a:solidFill>
              <a:effectLst/>
              <a:uFillTx/>
              <a:latin typeface="Arial"/>
            </a:endParaRPr>
          </a:p>
        </p:txBody>
      </p:sp>
      <p:sp>
        <p:nvSpPr>
          <p:cNvPr id="70" name=""/>
          <p:cNvSpPr txBox="1"/>
          <p:nvPr/>
        </p:nvSpPr>
        <p:spPr>
          <a:xfrm>
            <a:off x="457200" y="1143000"/>
            <a:ext cx="8229600" cy="3895560"/>
          </a:xfrm>
          <a:prstGeom prst="rect">
            <a:avLst/>
          </a:prstGeom>
          <a:noFill/>
          <a:ln w="0">
            <a:noFill/>
          </a:ln>
        </p:spPr>
        <p:txBody>
          <a:bodyPr lIns="0" rIns="0" tIns="0" bIns="0" anchor="t">
            <a:spAutoFit/>
          </a:bodyPr>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In addition to </a:t>
            </a:r>
            <a:r>
              <a:rPr b="0" i="1" lang="en-IN" sz="2400" strike="noStrike" u="none">
                <a:solidFill>
                  <a:srgbClr val="000000"/>
                </a:solidFill>
                <a:effectLst/>
                <a:uFillTx/>
                <a:latin typeface="Times New Roman"/>
                <a:ea typeface="Times New Roman"/>
              </a:rPr>
              <a:t>arguments</a:t>
            </a:r>
            <a:r>
              <a:rPr b="0" lang="en-IN" sz="2400" strike="noStrike" u="none">
                <a:solidFill>
                  <a:srgbClr val="000000"/>
                </a:solidFill>
                <a:effectLst/>
                <a:uFillTx/>
                <a:latin typeface="Times New Roman"/>
                <a:ea typeface="Times New Roman"/>
              </a:rPr>
              <a:t>, most commands have one or more </a:t>
            </a:r>
            <a:r>
              <a:rPr b="0" i="1" lang="en-IN" sz="2400" strike="noStrike" u="none">
                <a:solidFill>
                  <a:srgbClr val="000000"/>
                </a:solidFill>
                <a:effectLst/>
                <a:uFillTx/>
                <a:latin typeface="Times New Roman"/>
                <a:ea typeface="Times New Roman"/>
              </a:rPr>
              <a:t>options</a:t>
            </a:r>
            <a:r>
              <a:rPr b="0" lang="en-IN" sz="2400" strike="noStrike" u="none">
                <a:solidFill>
                  <a:srgbClr val="000000"/>
                </a:solidFill>
                <a:effectLst/>
                <a:uFillTx/>
                <a:latin typeface="Times New Roman"/>
                <a:ea typeface="Times New Roman"/>
              </a:rPr>
              <a:t>. </a:t>
            </a:r>
            <a:endParaRPr b="0" lang="en-IN" sz="2400" strike="noStrike" u="none">
              <a:solidFill>
                <a:srgbClr val="000000"/>
              </a:solidFill>
              <a:effectLst/>
              <a:uFillTx/>
              <a:latin typeface="Arial"/>
            </a:endParaRPr>
          </a:p>
          <a:p>
            <a:pPr lvl="1" marL="457200" indent="-343080">
              <a:lnSpc>
                <a:spcPct val="90000"/>
              </a:lnSpc>
              <a:spcBef>
                <a:spcPts val="720"/>
              </a:spcBef>
              <a:buClr>
                <a:srgbClr val="000000"/>
              </a:buClr>
              <a:buFont typeface=""/>
              <a:buChar char=""/>
              <a:tabLst>
                <a:tab algn="l" pos="228600"/>
                <a:tab algn="l" pos="914400"/>
                <a:tab algn="l" pos="1600200"/>
                <a:tab algn="l" pos="2286000"/>
                <a:tab algn="l" pos="2971800"/>
              </a:tabLst>
            </a:pPr>
            <a:r>
              <a:rPr b="0" lang="en-IN" sz="2000" strike="noStrike" u="none">
                <a:solidFill>
                  <a:srgbClr val="000000"/>
                </a:solidFill>
                <a:effectLst/>
                <a:uFillTx/>
                <a:latin typeface="Times New Roman"/>
                <a:ea typeface="Times New Roman"/>
              </a:rPr>
              <a:t>Arguments usually specify the objects on which the command is to operate</a:t>
            </a:r>
            <a:endParaRPr b="0" lang="en-IN" sz="2000" strike="noStrike" u="none">
              <a:solidFill>
                <a:srgbClr val="000000"/>
              </a:solidFill>
              <a:effectLst/>
              <a:uFillTx/>
              <a:latin typeface="Arial"/>
            </a:endParaRPr>
          </a:p>
          <a:p>
            <a:pPr lvl="1" marL="457200" indent="-343080">
              <a:lnSpc>
                <a:spcPct val="90000"/>
              </a:lnSpc>
              <a:spcBef>
                <a:spcPts val="720"/>
              </a:spcBef>
              <a:buClr>
                <a:srgbClr val="000000"/>
              </a:buClr>
              <a:buFont typeface=""/>
              <a:buChar char=""/>
              <a:tabLst>
                <a:tab algn="l" pos="228600"/>
                <a:tab algn="l" pos="914400"/>
                <a:tab algn="l" pos="1600200"/>
                <a:tab algn="l" pos="2286000"/>
                <a:tab algn="l" pos="2971800"/>
              </a:tabLst>
            </a:pPr>
            <a:r>
              <a:rPr b="0" lang="en-IN" sz="2000" strike="noStrike" u="none">
                <a:solidFill>
                  <a:srgbClr val="000000"/>
                </a:solidFill>
                <a:effectLst/>
                <a:uFillTx/>
                <a:latin typeface="Times New Roman"/>
                <a:ea typeface="Times New Roman"/>
              </a:rPr>
              <a:t>Options affect the nature of the operation and usually begin with a dash (-).</a:t>
            </a:r>
            <a:endParaRPr b="0" lang="en-IN" sz="20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The command below includes both options and arguments.</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sort -n -r datafile1 datafile2</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Most commands allow options to be either grouped or separated.</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sort -rn datafile</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 name=""/>
          <p:cNvSpPr txBox="1"/>
          <p:nvPr/>
        </p:nvSpPr>
        <p:spPr>
          <a:xfrm>
            <a:off x="2387520" y="279360"/>
            <a:ext cx="437040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The Standard Output</a:t>
            </a:r>
            <a:endParaRPr b="0" lang="en-IN" sz="3600" strike="noStrike" u="none">
              <a:solidFill>
                <a:srgbClr val="000000"/>
              </a:solidFill>
              <a:effectLst/>
              <a:uFillTx/>
              <a:latin typeface="Arial"/>
            </a:endParaRPr>
          </a:p>
        </p:txBody>
      </p:sp>
      <p:sp>
        <p:nvSpPr>
          <p:cNvPr id="72" name=""/>
          <p:cNvSpPr txBox="1"/>
          <p:nvPr/>
        </p:nvSpPr>
        <p:spPr>
          <a:xfrm>
            <a:off x="774720" y="1308240"/>
            <a:ext cx="7683480" cy="4406760"/>
          </a:xfrm>
          <a:prstGeom prst="rect">
            <a:avLst/>
          </a:prstGeom>
          <a:noFill/>
          <a:ln w="0">
            <a:noFill/>
          </a:ln>
        </p:spPr>
        <p:txBody>
          <a:bodyPr lIns="0" rIns="0" tIns="0" bIns="0" anchor="t">
            <a:spAutoFit/>
          </a:bodyPr>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Programs that produce output typically write it to the</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i="1" lang="en-IN" sz="2400" strike="noStrike" u="none">
                <a:solidFill>
                  <a:srgbClr val="000000"/>
                </a:solidFill>
                <a:effectLst/>
                <a:uFillTx/>
                <a:latin typeface="Times New Roman"/>
                <a:ea typeface="Times New Roman"/>
              </a:rPr>
              <a:t>standard output</a:t>
            </a:r>
            <a:r>
              <a:rPr b="0" lang="en-IN" sz="2400" strike="noStrike" u="none">
                <a:solidFill>
                  <a:srgbClr val="000000"/>
                </a:solidFill>
                <a:effectLst/>
                <a:uFillTx/>
                <a:latin typeface="Times New Roman"/>
                <a:ea typeface="Times New Roman"/>
              </a:rPr>
              <a:t>.  By default, the standard output is the terminal screen.</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sort animals</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aardvark</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cat</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gazelle</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tiger</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The standard output can be made to go to into a file by</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i="1" lang="en-IN" sz="2400" strike="noStrike" u="none">
                <a:solidFill>
                  <a:srgbClr val="000000"/>
                </a:solidFill>
                <a:effectLst/>
                <a:uFillTx/>
                <a:latin typeface="Times New Roman"/>
                <a:ea typeface="Times New Roman"/>
              </a:rPr>
              <a:t>redirecting</a:t>
            </a:r>
            <a:r>
              <a:rPr b="0" lang="en-IN" sz="2400" strike="noStrike" u="none">
                <a:solidFill>
                  <a:srgbClr val="000000"/>
                </a:solidFill>
                <a:effectLst/>
                <a:uFillTx/>
                <a:latin typeface="Times New Roman"/>
                <a:ea typeface="Times New Roman"/>
              </a:rPr>
              <a:t> it with &gt;</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sort animals &gt; sorted_animals</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 name=""/>
          <p:cNvSpPr txBox="1"/>
          <p:nvPr/>
        </p:nvSpPr>
        <p:spPr>
          <a:xfrm>
            <a:off x="2550960" y="279360"/>
            <a:ext cx="404028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The Standard Input</a:t>
            </a:r>
            <a:endParaRPr b="0" lang="en-IN" sz="3600" strike="noStrike" u="none">
              <a:solidFill>
                <a:srgbClr val="000000"/>
              </a:solidFill>
              <a:effectLst/>
              <a:uFillTx/>
              <a:latin typeface="Arial"/>
            </a:endParaRPr>
          </a:p>
        </p:txBody>
      </p:sp>
      <p:sp>
        <p:nvSpPr>
          <p:cNvPr id="74" name=""/>
          <p:cNvSpPr txBox="1"/>
          <p:nvPr/>
        </p:nvSpPr>
        <p:spPr>
          <a:xfrm>
            <a:off x="774720" y="914400"/>
            <a:ext cx="7835760" cy="5651640"/>
          </a:xfrm>
          <a:prstGeom prst="rect">
            <a:avLst/>
          </a:prstGeom>
          <a:noFill/>
          <a:ln w="0">
            <a:noFill/>
          </a:ln>
        </p:spPr>
        <p:txBody>
          <a:bodyPr lIns="0" rIns="0" tIns="0" bIns="0" anchor="t">
            <a:spAutoFit/>
          </a:bodyPr>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Similarly, most programs read from the </a:t>
            </a:r>
            <a:r>
              <a:rPr b="0" i="1" lang="en-IN" sz="2400" strike="noStrike" u="none">
                <a:solidFill>
                  <a:srgbClr val="000000"/>
                </a:solidFill>
                <a:effectLst/>
                <a:uFillTx/>
                <a:latin typeface="Times New Roman"/>
                <a:ea typeface="Times New Roman"/>
              </a:rPr>
              <a:t>standard input</a:t>
            </a:r>
            <a:r>
              <a:rPr b="0" lang="en-IN" sz="2400" strike="noStrike" u="none">
                <a:solidFill>
                  <a:srgbClr val="000000"/>
                </a:solidFill>
                <a:effectLst/>
                <a:uFillTx/>
                <a:latin typeface="Times New Roman"/>
                <a:ea typeface="Times New Roman"/>
              </a:rPr>
              <a:t>, unless otherwise instructed.  The default standard input is the terminal keyboard.</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 </a:t>
            </a:r>
            <a:r>
              <a:rPr b="0" i="1" lang="en-IN" sz="1800" strike="noStrike" u="none">
                <a:solidFill>
                  <a:srgbClr val="000000"/>
                </a:solidFill>
                <a:effectLst/>
                <a:uFillTx/>
                <a:latin typeface="Times New Roman"/>
                <a:ea typeface="Times New Roman"/>
              </a:rPr>
              <a:t>sort</a:t>
            </a:r>
            <a:endParaRPr b="0" lang="en-IN" sz="18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i="1" lang="en-IN" sz="1800" strike="noStrike" u="none">
                <a:solidFill>
                  <a:srgbClr val="000000"/>
                </a:solidFill>
                <a:effectLst/>
                <a:uFillTx/>
                <a:latin typeface="Times New Roman"/>
                <a:ea typeface="Times New Roman"/>
              </a:rPr>
              <a:t>	</a:t>
            </a:r>
            <a:r>
              <a:rPr b="0" i="1" lang="en-IN" sz="1800" strike="noStrike" u="none">
                <a:solidFill>
                  <a:srgbClr val="000000"/>
                </a:solidFill>
                <a:effectLst/>
                <a:uFillTx/>
                <a:latin typeface="Times New Roman"/>
                <a:ea typeface="Times New Roman"/>
              </a:rPr>
              <a:t>gazelle</a:t>
            </a:r>
            <a:endParaRPr b="0" lang="en-IN" sz="18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i="1" lang="en-IN" sz="1800" strike="noStrike" u="none">
                <a:solidFill>
                  <a:srgbClr val="000000"/>
                </a:solidFill>
                <a:effectLst/>
                <a:uFillTx/>
                <a:latin typeface="Times New Roman"/>
                <a:ea typeface="Times New Roman"/>
              </a:rPr>
              <a:t>	</a:t>
            </a:r>
            <a:r>
              <a:rPr b="0" i="1" lang="en-IN" sz="1800" strike="noStrike" u="none">
                <a:solidFill>
                  <a:srgbClr val="000000"/>
                </a:solidFill>
                <a:effectLst/>
                <a:uFillTx/>
                <a:latin typeface="Times New Roman"/>
                <a:ea typeface="Times New Roman"/>
              </a:rPr>
              <a:t>aardvark</a:t>
            </a:r>
            <a:endParaRPr b="0" lang="en-IN" sz="18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i="1" lang="en-IN" sz="1800" strike="noStrike" u="none">
                <a:solidFill>
                  <a:srgbClr val="000000"/>
                </a:solidFill>
                <a:effectLst/>
                <a:uFillTx/>
                <a:latin typeface="Times New Roman"/>
                <a:ea typeface="Times New Roman"/>
              </a:rPr>
              <a:t>	</a:t>
            </a:r>
            <a:r>
              <a:rPr b="0" i="1" lang="en-IN" sz="1800" strike="noStrike" u="none">
                <a:solidFill>
                  <a:srgbClr val="000000"/>
                </a:solidFill>
                <a:effectLst/>
                <a:uFillTx/>
                <a:latin typeface="Times New Roman"/>
                <a:ea typeface="Times New Roman"/>
              </a:rPr>
              <a:t>cat</a:t>
            </a:r>
            <a:endParaRPr b="0" lang="en-IN" sz="18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i="1" lang="en-IN" sz="1800" strike="noStrike" u="none">
                <a:solidFill>
                  <a:srgbClr val="000000"/>
                </a:solidFill>
                <a:effectLst/>
                <a:uFillTx/>
                <a:latin typeface="Times New Roman"/>
                <a:ea typeface="Times New Roman"/>
              </a:rPr>
              <a:t>	</a:t>
            </a:r>
            <a:r>
              <a:rPr b="0" i="1" lang="en-IN" sz="1800" strike="noStrike" u="none">
                <a:solidFill>
                  <a:srgbClr val="000000"/>
                </a:solidFill>
                <a:effectLst/>
                <a:uFillTx/>
                <a:latin typeface="Times New Roman"/>
                <a:ea typeface="Times New Roman"/>
              </a:rPr>
              <a:t>tiger</a:t>
            </a:r>
            <a:endParaRPr b="0" lang="en-IN" sz="18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i="1" lang="en-IN" sz="1800" strike="noStrike" u="none">
                <a:solidFill>
                  <a:srgbClr val="000000"/>
                </a:solidFill>
                <a:effectLst/>
                <a:uFillTx/>
                <a:latin typeface="Times New Roman"/>
                <a:ea typeface="Times New Roman"/>
              </a:rPr>
              <a:t>	</a:t>
            </a:r>
            <a:r>
              <a:rPr b="0" i="1" lang="en-IN" sz="1800" strike="noStrike" u="none">
                <a:solidFill>
                  <a:srgbClr val="000000"/>
                </a:solidFill>
                <a:effectLst/>
                <a:uFillTx/>
                <a:latin typeface="Times New Roman"/>
                <a:ea typeface="Times New Roman"/>
              </a:rPr>
              <a:t>^D</a:t>
            </a:r>
            <a:endParaRPr b="0" lang="en-IN" sz="18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aardvark</a:t>
            </a:r>
            <a:endParaRPr b="0" lang="en-IN" sz="18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cat</a:t>
            </a:r>
            <a:endParaRPr b="0" lang="en-IN" sz="18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gazelle</a:t>
            </a:r>
            <a:endParaRPr b="0" lang="en-IN" sz="18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tiger</a:t>
            </a:r>
            <a:endParaRPr b="0" lang="en-IN" sz="18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endParaRPr b="0" lang="en-IN" sz="18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The standard input can also be redirected, using &lt;</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endParaRPr b="0" lang="en-IN" sz="18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 </a:t>
            </a:r>
            <a:r>
              <a:rPr b="0" i="1" lang="en-IN" sz="1800" strike="noStrike" u="none">
                <a:solidFill>
                  <a:srgbClr val="000000"/>
                </a:solidFill>
                <a:effectLst/>
                <a:uFillTx/>
                <a:latin typeface="Times New Roman"/>
                <a:ea typeface="Times New Roman"/>
              </a:rPr>
              <a:t>sort &lt; animals</a:t>
            </a:r>
            <a:endParaRPr b="0" lang="en-IN" sz="18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aardvark</a:t>
            </a:r>
            <a:endParaRPr b="0" lang="en-IN" sz="18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cat</a:t>
            </a:r>
            <a:endParaRPr b="0" lang="en-IN" sz="18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gazelle</a:t>
            </a:r>
            <a:endParaRPr b="0" lang="en-IN" sz="18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tiger</a:t>
            </a:r>
            <a:endParaRPr b="0" lang="en-IN" sz="1800" strike="noStrike" u="none">
              <a:solidFill>
                <a:srgbClr val="000000"/>
              </a:solidFill>
              <a:effectLst/>
              <a:uFillTx/>
              <a:latin typeface="Arial"/>
            </a:endParaRPr>
          </a:p>
        </p:txBody>
      </p:sp>
      <p:sp>
        <p:nvSpPr>
          <p:cNvPr id="75" name=""/>
          <p:cNvSpPr/>
          <p:nvPr/>
        </p:nvSpPr>
        <p:spPr>
          <a:xfrm flipH="1">
            <a:off x="2057400" y="3581280"/>
            <a:ext cx="2438280" cy="0"/>
          </a:xfrm>
          <a:prstGeom prst="line">
            <a:avLst/>
          </a:prstGeom>
          <a:ln w="25560">
            <a:solidFill>
              <a:srgbClr val="000000"/>
            </a:solidFill>
            <a:round/>
            <a:tailEnd len="med" type="triangle" w="med"/>
          </a:ln>
        </p:spPr>
        <p:style>
          <a:lnRef idx="0"/>
          <a:fillRef idx="0"/>
          <a:effectRef idx="0"/>
          <a:fontRef idx="minor"/>
        </p:style>
        <p:txBody>
          <a:bodyPr lIns="102600" rIns="102600" tIns="-57600" bIns="-57600" anchor="t">
            <a:noAutofit/>
          </a:bodyPr>
          <a:p>
            <a:endParaRPr b="0" lang="en-IN" sz="1800" strike="noStrike" u="none">
              <a:solidFill>
                <a:srgbClr val="000000"/>
              </a:solidFill>
              <a:effectLst/>
              <a:uFillTx/>
              <a:latin typeface="Arial"/>
            </a:endParaRPr>
          </a:p>
        </p:txBody>
      </p:sp>
      <p:sp>
        <p:nvSpPr>
          <p:cNvPr id="76" name=""/>
          <p:cNvSpPr txBox="1"/>
          <p:nvPr/>
        </p:nvSpPr>
        <p:spPr>
          <a:xfrm>
            <a:off x="4495680" y="3352680"/>
            <a:ext cx="3060720" cy="568440"/>
          </a:xfrm>
          <a:prstGeom prst="rect">
            <a:avLst/>
          </a:prstGeom>
          <a:solidFill>
            <a:srgbClr val="ffffff"/>
          </a:solidFill>
          <a:ln w="25560">
            <a:solidFill>
              <a:srgbClr val="000000"/>
            </a:solidFill>
            <a:round/>
          </a:ln>
          <a:effectLst>
            <a:outerShdw dist="0" dir="0" blurRad="0" rotWithShape="0">
              <a:srgbClr val="000000"/>
            </a:outerShdw>
          </a:effectLst>
        </p:spPr>
        <p:txBody>
          <a:bodyPr lIns="0" rIns="0" tIns="0" bIns="0" anchor="t">
            <a:spAutoFit/>
          </a:bodyPr>
          <a:p>
            <a:pPr>
              <a:lnSpc>
                <a:spcPct val="85000"/>
              </a:lnSpc>
              <a:tabLst>
                <a:tab algn="l" pos="685800"/>
                <a:tab algn="l" pos="1371600"/>
                <a:tab algn="l" pos="2057400"/>
                <a:tab algn="l" pos="2743200"/>
                <a:tab algn="l" pos="3429000"/>
              </a:tabLst>
            </a:pPr>
            <a:r>
              <a:rPr b="1" lang="en-IN" sz="1800" strike="noStrike" u="none">
                <a:solidFill>
                  <a:srgbClr val="000000"/>
                </a:solidFill>
                <a:effectLst/>
                <a:uFillTx/>
                <a:latin typeface="Times New Roman"/>
                <a:ea typeface="Times New Roman"/>
              </a:rPr>
              <a:t>Control D marks the end of input.</a:t>
            </a:r>
            <a:endParaRPr b="0" lang="en-IN"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 name=""/>
          <p:cNvSpPr txBox="1"/>
          <p:nvPr/>
        </p:nvSpPr>
        <p:spPr>
          <a:xfrm>
            <a:off x="3421080" y="279360"/>
            <a:ext cx="2287440" cy="660240"/>
          </a:xfrm>
          <a:prstGeom prst="rect">
            <a:avLst/>
          </a:prstGeom>
          <a:noFill/>
          <a:ln w="0">
            <a:noFill/>
          </a:ln>
        </p:spPr>
        <p:txBody>
          <a:bodyPr lIns="0" rIns="0" tIns="0" bIns="0" anchor="t">
            <a:spAutoFit/>
          </a:bodyPr>
          <a:p>
            <a:pPr algn="ctr">
              <a:lnSpc>
                <a:spcPct val="111000"/>
              </a:lnSpc>
            </a:pPr>
            <a:r>
              <a:rPr b="1" lang="en-IN" sz="3600" strike="noStrike" u="none">
                <a:solidFill>
                  <a:srgbClr val="000000"/>
                </a:solidFill>
                <a:effectLst/>
                <a:uFillTx/>
                <a:latin typeface="Times New Roman"/>
                <a:ea typeface="Times New Roman"/>
              </a:rPr>
              <a:t>Appending</a:t>
            </a:r>
            <a:endParaRPr b="0" lang="en-IN" sz="3600" strike="noStrike" u="none">
              <a:solidFill>
                <a:srgbClr val="000000"/>
              </a:solidFill>
              <a:effectLst/>
              <a:uFillTx/>
              <a:latin typeface="Arial"/>
            </a:endParaRPr>
          </a:p>
        </p:txBody>
      </p:sp>
      <p:sp>
        <p:nvSpPr>
          <p:cNvPr id="78" name=""/>
          <p:cNvSpPr txBox="1"/>
          <p:nvPr/>
        </p:nvSpPr>
        <p:spPr>
          <a:xfrm>
            <a:off x="1003320" y="1308240"/>
            <a:ext cx="7378560" cy="5029200"/>
          </a:xfrm>
          <a:prstGeom prst="rect">
            <a:avLst/>
          </a:prstGeom>
          <a:noFill/>
          <a:ln w="0">
            <a:noFill/>
          </a:ln>
        </p:spPr>
        <p:txBody>
          <a:bodyPr lIns="0" rIns="0" tIns="0" bIns="0" anchor="t">
            <a:spAutoFit/>
          </a:bodyPr>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When redirecting the standard output to a file, if the file already exists, the new contents will replace the old.  It is also possible to append the new contents to the old.  This is done with the symbol &gt;&gt;</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cat &gt; party_guests</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18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samir</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i="1"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george</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i="1"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anne</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i="1"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^D</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a:t>
            </a:r>
            <a:r>
              <a:rPr b="0" i="1" lang="en-IN" sz="2400" strike="noStrike" u="none">
                <a:solidFill>
                  <a:srgbClr val="000000"/>
                </a:solidFill>
                <a:effectLst/>
                <a:uFillTx/>
                <a:latin typeface="Times New Roman"/>
                <a:ea typeface="Times New Roman"/>
              </a:rPr>
              <a:t> cat &gt;&gt; party_guests</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i="1"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grace</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i="1"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rick</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i="1"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^D</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
          <p:cNvSpPr txBox="1"/>
          <p:nvPr/>
        </p:nvSpPr>
        <p:spPr>
          <a:xfrm>
            <a:off x="2963880" y="279360"/>
            <a:ext cx="3213000" cy="660240"/>
          </a:xfrm>
          <a:prstGeom prst="rect">
            <a:avLst/>
          </a:prstGeom>
          <a:noFill/>
          <a:ln w="0">
            <a:noFill/>
          </a:ln>
        </p:spPr>
        <p:txBody>
          <a:bodyPr lIns="0" rIns="0" tIns="0" bIns="0" anchor="t">
            <a:spAutoFit/>
          </a:bodyPr>
          <a:p>
            <a:pPr algn="ctr">
              <a:lnSpc>
                <a:spcPct val="111000"/>
              </a:lnSpc>
            </a:pPr>
            <a:r>
              <a:rPr b="1" lang="en-IN" sz="3600" strike="noStrike" u="none">
                <a:solidFill>
                  <a:srgbClr val="000000"/>
                </a:solidFill>
                <a:effectLst/>
                <a:uFillTx/>
                <a:latin typeface="Times New Roman"/>
                <a:ea typeface="Times New Roman"/>
              </a:rPr>
              <a:t>Standard Error</a:t>
            </a:r>
            <a:endParaRPr b="0" lang="en-IN" sz="3600" strike="noStrike" u="none">
              <a:solidFill>
                <a:srgbClr val="000000"/>
              </a:solidFill>
              <a:effectLst/>
              <a:uFillTx/>
              <a:latin typeface="Arial"/>
            </a:endParaRPr>
          </a:p>
        </p:txBody>
      </p:sp>
      <p:sp>
        <p:nvSpPr>
          <p:cNvPr id="80" name=""/>
          <p:cNvSpPr txBox="1"/>
          <p:nvPr/>
        </p:nvSpPr>
        <p:spPr>
          <a:xfrm>
            <a:off x="774720" y="1155600"/>
            <a:ext cx="7683480" cy="5027760"/>
          </a:xfrm>
          <a:prstGeom prst="rect">
            <a:avLst/>
          </a:prstGeom>
          <a:noFill/>
          <a:ln w="0">
            <a:noFill/>
          </a:ln>
        </p:spPr>
        <p:txBody>
          <a:bodyPr lIns="0" rIns="0" tIns="0" bIns="0" anchor="t">
            <a:spAutoFit/>
          </a:bodyPr>
          <a:p>
            <a:pPr>
              <a:lnSpc>
                <a:spcPct val="86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In addition to the standard input and standard output, there is also a </a:t>
            </a:r>
            <a:r>
              <a:rPr b="0" i="1" lang="en-IN" sz="2400" strike="noStrike" u="none">
                <a:solidFill>
                  <a:srgbClr val="000000"/>
                </a:solidFill>
                <a:effectLst/>
                <a:uFillTx/>
                <a:latin typeface="Times New Roman"/>
                <a:ea typeface="Times New Roman"/>
              </a:rPr>
              <a:t>standard error output</a:t>
            </a:r>
            <a:endParaRPr b="0" lang="en-IN" sz="2400" strike="noStrike" u="none">
              <a:solidFill>
                <a:srgbClr val="000000"/>
              </a:solidFill>
              <a:effectLst/>
              <a:uFillTx/>
              <a:latin typeface="Arial"/>
            </a:endParaRPr>
          </a:p>
          <a:p>
            <a:pPr lvl="1" marL="457200" indent="-343080">
              <a:lnSpc>
                <a:spcPct val="90000"/>
              </a:lnSpc>
              <a:spcBef>
                <a:spcPts val="720"/>
              </a:spcBef>
              <a:buClr>
                <a:srgbClr val="000000"/>
              </a:buClr>
              <a:buFont typeface=""/>
              <a:buChar char=""/>
              <a:tabLst>
                <a:tab algn="l" pos="228600"/>
                <a:tab algn="l" pos="914400"/>
                <a:tab algn="l" pos="1600200"/>
                <a:tab algn="l" pos="2286000"/>
                <a:tab algn="l" pos="2971800"/>
              </a:tabLst>
            </a:pPr>
            <a:r>
              <a:rPr b="0" lang="en-IN" sz="2000" strike="noStrike" u="none">
                <a:solidFill>
                  <a:srgbClr val="000000"/>
                </a:solidFill>
                <a:effectLst/>
                <a:uFillTx/>
                <a:latin typeface="Times New Roman"/>
                <a:ea typeface="Times New Roman"/>
              </a:rPr>
              <a:t>Used for error messages.</a:t>
            </a:r>
            <a:endParaRPr b="0" lang="en-IN" sz="2000" strike="noStrike" u="none">
              <a:solidFill>
                <a:srgbClr val="000000"/>
              </a:solidFill>
              <a:effectLst/>
              <a:uFillTx/>
              <a:latin typeface="Arial"/>
            </a:endParaRPr>
          </a:p>
          <a:p>
            <a:pPr lvl="1" marL="457200" indent="-343080">
              <a:lnSpc>
                <a:spcPct val="90000"/>
              </a:lnSpc>
              <a:spcBef>
                <a:spcPts val="720"/>
              </a:spcBef>
              <a:buClr>
                <a:srgbClr val="000000"/>
              </a:buClr>
              <a:buFont typeface=""/>
              <a:buChar char=""/>
              <a:tabLst>
                <a:tab algn="l" pos="228600"/>
                <a:tab algn="l" pos="914400"/>
                <a:tab algn="l" pos="1600200"/>
                <a:tab algn="l" pos="2286000"/>
                <a:tab algn="l" pos="2971800"/>
              </a:tabLst>
            </a:pPr>
            <a:r>
              <a:rPr b="0" lang="en-IN" sz="2000" strike="noStrike" u="none">
                <a:solidFill>
                  <a:srgbClr val="000000"/>
                </a:solidFill>
                <a:effectLst/>
                <a:uFillTx/>
                <a:latin typeface="Times New Roman"/>
                <a:ea typeface="Times New Roman"/>
              </a:rPr>
              <a:t>Redirection of standard output does not affect standard error.</a:t>
            </a:r>
            <a:endParaRPr b="0" lang="en-IN" sz="20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sort aminals &gt; sorted_animals</a:t>
            </a:r>
            <a:endParaRPr b="0" lang="en-IN" sz="24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Lst>
            </a:pPr>
            <a:r>
              <a:rPr b="0" i="1"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sort: aminals: file not found.</a:t>
            </a:r>
            <a:endParaRPr b="0" lang="en-IN" sz="24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The standard error may also be redirected or combined with the standard output.</a:t>
            </a:r>
            <a:endParaRPr b="0" lang="en-IN" sz="2400" strike="noStrike" u="none">
              <a:solidFill>
                <a:srgbClr val="000000"/>
              </a:solidFill>
              <a:effectLst/>
              <a:uFillTx/>
              <a:latin typeface="Arial"/>
            </a:endParaRPr>
          </a:p>
          <a:p>
            <a:pPr lvl="1" marL="457200" indent="-343080">
              <a:lnSpc>
                <a:spcPct val="90000"/>
              </a:lnSpc>
              <a:spcBef>
                <a:spcPts val="720"/>
              </a:spcBef>
              <a:buClr>
                <a:srgbClr val="000000"/>
              </a:buClr>
              <a:buFont typeface=""/>
              <a:buChar char=""/>
              <a:tabLst>
                <a:tab algn="l" pos="228600"/>
                <a:tab algn="l" pos="914400"/>
                <a:tab algn="l" pos="1600200"/>
                <a:tab algn="l" pos="2286000"/>
                <a:tab algn="l" pos="2971800"/>
              </a:tabLst>
            </a:pPr>
            <a:r>
              <a:rPr b="0" lang="en-IN" sz="2000" strike="noStrike" u="none">
                <a:solidFill>
                  <a:srgbClr val="000000"/>
                </a:solidFill>
                <a:effectLst/>
                <a:uFillTx/>
                <a:latin typeface="Times New Roman"/>
                <a:ea typeface="Times New Roman"/>
              </a:rPr>
              <a:t>Under the Korn or Bourne shells, use 2&gt;.</a:t>
            </a:r>
            <a:endParaRPr b="0" lang="en-IN" sz="2000" strike="noStrike" u="none">
              <a:solidFill>
                <a:srgbClr val="000000"/>
              </a:solidFill>
              <a:effectLst/>
              <a:uFillTx/>
              <a:latin typeface="Arial"/>
            </a:endParaRPr>
          </a:p>
          <a:p>
            <a:pPr lvl="1" marL="457200" indent="-343080">
              <a:lnSpc>
                <a:spcPct val="90000"/>
              </a:lnSpc>
              <a:spcBef>
                <a:spcPts val="720"/>
              </a:spcBef>
              <a:buClr>
                <a:srgbClr val="000000"/>
              </a:buClr>
              <a:buFont typeface=""/>
              <a:buChar char=""/>
              <a:tabLst>
                <a:tab algn="l" pos="228600"/>
                <a:tab algn="l" pos="914400"/>
                <a:tab algn="l" pos="1600200"/>
                <a:tab algn="l" pos="2286000"/>
                <a:tab algn="l" pos="2971800"/>
              </a:tabLst>
            </a:pPr>
            <a:r>
              <a:rPr b="0" lang="en-IN" sz="2000" strike="noStrike" u="none">
                <a:solidFill>
                  <a:srgbClr val="000000"/>
                </a:solidFill>
                <a:effectLst/>
                <a:uFillTx/>
                <a:latin typeface="Times New Roman"/>
                <a:ea typeface="Times New Roman"/>
              </a:rPr>
              <a:t>To combine standard error with standard output, use 2&gt;&amp;1.</a:t>
            </a:r>
            <a:endParaRPr b="0" lang="en-IN" sz="2000" strike="noStrike" u="none">
              <a:solidFill>
                <a:srgbClr val="000000"/>
              </a:solidFill>
              <a:effectLst/>
              <a:uFillTx/>
              <a:latin typeface="Arial"/>
            </a:endParaRPr>
          </a:p>
          <a:p>
            <a:pPr lvl="1" marL="457200" indent="-343080">
              <a:lnSpc>
                <a:spcPct val="90000"/>
              </a:lnSpc>
              <a:spcBef>
                <a:spcPts val="720"/>
              </a:spcBef>
              <a:buClr>
                <a:srgbClr val="000000"/>
              </a:buClr>
              <a:buFont typeface=""/>
              <a:buChar char=""/>
              <a:tabLst>
                <a:tab algn="l" pos="228600"/>
                <a:tab algn="l" pos="914400"/>
                <a:tab algn="l" pos="1600200"/>
                <a:tab algn="l" pos="2286000"/>
                <a:tab algn="l" pos="2971800"/>
              </a:tabLst>
            </a:pPr>
            <a:r>
              <a:rPr b="0" lang="en-IN" sz="2000" strike="noStrike" u="none">
                <a:solidFill>
                  <a:srgbClr val="000000"/>
                </a:solidFill>
                <a:effectLst/>
                <a:uFillTx/>
                <a:latin typeface="Times New Roman"/>
                <a:ea typeface="Times New Roman"/>
              </a:rPr>
              <a:t>Under the C Shell, use &gt;&amp;, which redirects both stdout and stderr.</a:t>
            </a:r>
            <a:endParaRPr b="0" lang="en-IN" sz="20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sort aminals 2&gt;&amp;1 &gt; sorted_animals</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 name=""/>
          <p:cNvSpPr txBox="1"/>
          <p:nvPr/>
        </p:nvSpPr>
        <p:spPr>
          <a:xfrm>
            <a:off x="2870280" y="279360"/>
            <a:ext cx="340344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Pipes and Filters</a:t>
            </a:r>
            <a:endParaRPr b="0" lang="en-IN" sz="3600" strike="noStrike" u="none">
              <a:solidFill>
                <a:srgbClr val="000000"/>
              </a:solidFill>
              <a:effectLst/>
              <a:uFillTx/>
              <a:latin typeface="Arial"/>
            </a:endParaRPr>
          </a:p>
        </p:txBody>
      </p:sp>
      <p:sp>
        <p:nvSpPr>
          <p:cNvPr id="82" name=""/>
          <p:cNvSpPr txBox="1"/>
          <p:nvPr/>
        </p:nvSpPr>
        <p:spPr>
          <a:xfrm>
            <a:off x="838080" y="1371600"/>
            <a:ext cx="7543800" cy="3784680"/>
          </a:xfrm>
          <a:prstGeom prst="rect">
            <a:avLst/>
          </a:prstGeom>
          <a:noFill/>
          <a:ln w="0">
            <a:noFill/>
          </a:ln>
        </p:spPr>
        <p:txBody>
          <a:bodyPr lIns="0" rIns="0" tIns="0" bIns="0" anchor="t">
            <a:spAutoFit/>
          </a:bodyPr>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It is possible to connect the standard output of one command to the standard input of another.  This is called a </a:t>
            </a:r>
            <a:r>
              <a:rPr b="0" i="1" lang="en-IN" sz="2400" strike="noStrike" u="none">
                <a:solidFill>
                  <a:srgbClr val="000000"/>
                </a:solidFill>
                <a:effectLst/>
                <a:uFillTx/>
                <a:latin typeface="Times New Roman"/>
                <a:ea typeface="Times New Roman"/>
              </a:rPr>
              <a:t>pipe</a:t>
            </a:r>
            <a:r>
              <a:rPr b="0" lang="en-IN" sz="2400" strike="noStrike" u="none">
                <a:solidFill>
                  <a:srgbClr val="000000"/>
                </a:solidFill>
                <a:effectLst/>
                <a:uFillTx/>
                <a:latin typeface="Times New Roman"/>
                <a:ea typeface="Times New Roman"/>
              </a:rPr>
              <a:t>.</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who | sort</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kirk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console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Oct  6  9:22</a:t>
            </a:r>
            <a:endParaRPr b="0" lang="en-IN" sz="18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mccoy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ttyp4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Oct  6  8:03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(med.ncc1701.ufp)</a:t>
            </a:r>
            <a:endParaRPr b="0" lang="en-IN" sz="18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scott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ttyp3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Oct  5 22:20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(eng.ncc1701.ufp)</a:t>
            </a:r>
            <a:endParaRPr b="0" lang="en-IN" sz="18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spock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ttya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Oct  6  8:07</a:t>
            </a:r>
            <a:endParaRPr b="0" lang="en-IN" sz="18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williams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ttyp8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Oct  6 10:16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(eng.ncc1701.ufp)</a:t>
            </a:r>
            <a:endParaRPr b="0" lang="en-IN" sz="18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The concepts of standard input, standard output, and the pipe were fundamental to creating the “tool building” philosophy that is central to </a:t>
            </a:r>
            <a:r>
              <a:rPr b="0" lang="en-IN" sz="2000" strike="noStrike" u="none">
                <a:solidFill>
                  <a:srgbClr val="000000"/>
                </a:solidFill>
                <a:effectLst/>
                <a:uFillTx/>
                <a:latin typeface="Times New Roman"/>
                <a:ea typeface="Times New Roman"/>
              </a:rPr>
              <a:t>UNIX</a:t>
            </a:r>
            <a:r>
              <a:rPr b="0" lang="en-IN" sz="2400" strike="noStrike" u="none">
                <a:solidFill>
                  <a:srgbClr val="000000"/>
                </a:solidFill>
                <a:effectLst/>
                <a:uFillTx/>
                <a:latin typeface="Times New Roman"/>
                <a:ea typeface="Times New Roman"/>
              </a:rPr>
              <a:t>.</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 name=""/>
          <p:cNvSpPr txBox="1"/>
          <p:nvPr/>
        </p:nvSpPr>
        <p:spPr>
          <a:xfrm>
            <a:off x="2370240" y="431640"/>
            <a:ext cx="440388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The </a:t>
            </a:r>
            <a:r>
              <a:rPr b="1" lang="en-IN" sz="3200" strike="noStrike" u="none">
                <a:solidFill>
                  <a:srgbClr val="000000"/>
                </a:solidFill>
                <a:effectLst/>
                <a:uFillTx/>
                <a:latin typeface="Times New Roman"/>
                <a:ea typeface="Times New Roman"/>
              </a:rPr>
              <a:t>UNIX</a:t>
            </a:r>
            <a:r>
              <a:rPr b="1" lang="en-IN" sz="3600" strike="noStrike" u="none">
                <a:solidFill>
                  <a:srgbClr val="000000"/>
                </a:solidFill>
                <a:effectLst/>
                <a:uFillTx/>
                <a:latin typeface="Times New Roman"/>
                <a:ea typeface="Times New Roman"/>
              </a:rPr>
              <a:t> File System</a:t>
            </a:r>
            <a:endParaRPr b="0" lang="en-IN" sz="3600" strike="noStrike" u="none">
              <a:solidFill>
                <a:srgbClr val="000000"/>
              </a:solidFill>
              <a:effectLst/>
              <a:uFillTx/>
              <a:latin typeface="Arial"/>
            </a:endParaRPr>
          </a:p>
        </p:txBody>
      </p:sp>
      <p:sp>
        <p:nvSpPr>
          <p:cNvPr id="84" name=""/>
          <p:cNvSpPr txBox="1"/>
          <p:nvPr/>
        </p:nvSpPr>
        <p:spPr>
          <a:xfrm>
            <a:off x="469800" y="1994040"/>
            <a:ext cx="8217000" cy="2295360"/>
          </a:xfrm>
          <a:prstGeom prst="rect">
            <a:avLst/>
          </a:prstGeom>
          <a:noFill/>
          <a:ln w="0">
            <a:noFill/>
          </a:ln>
        </p:spPr>
        <p:txBody>
          <a:bodyPr lIns="0" rIns="0" tIns="0" bIns="0" anchor="t">
            <a:spAutoFit/>
          </a:bodyPr>
          <a:p>
            <a:pPr>
              <a:lnSpc>
                <a:spcPct val="88000"/>
              </a:lnSpc>
              <a:tabLst>
                <a:tab algn="l" pos="1371600"/>
                <a:tab algn="l" pos="2057400"/>
                <a:tab algn="l" pos="2743200"/>
                <a:tab algn="l" pos="3429000"/>
              </a:tabLst>
            </a:pPr>
            <a:r>
              <a:rPr b="0" lang="en-IN" sz="2000" strike="noStrike" u="none">
                <a:solidFill>
                  <a:srgbClr val="000000"/>
                </a:solidFill>
                <a:effectLst/>
                <a:uFillTx/>
                <a:latin typeface="Times New Roman"/>
                <a:ea typeface="Times New Roman"/>
              </a:rPr>
              <a:t>UNIX </a:t>
            </a:r>
            <a:r>
              <a:rPr b="0" lang="en-IN" sz="2400" strike="noStrike" u="none">
                <a:solidFill>
                  <a:srgbClr val="000000"/>
                </a:solidFill>
                <a:effectLst/>
                <a:uFillTx/>
                <a:latin typeface="Times New Roman"/>
                <a:ea typeface="Times New Roman"/>
              </a:rPr>
              <a:t>files are organized into a tree-structured hierarchy.  </a:t>
            </a:r>
            <a:endParaRPr b="0" lang="en-IN" sz="2400" strike="noStrike" u="none">
              <a:solidFill>
                <a:srgbClr val="000000"/>
              </a:solidFill>
              <a:effectLst/>
              <a:uFillTx/>
              <a:latin typeface="Arial"/>
            </a:endParaRPr>
          </a:p>
          <a:p>
            <a:pPr>
              <a:lnSpc>
                <a:spcPct val="88000"/>
              </a:lnSpc>
              <a:tabLst>
                <a:tab algn="l" pos="1371600"/>
                <a:tab algn="l" pos="2057400"/>
                <a:tab algn="l" pos="2743200"/>
                <a:tab algn="l" pos="3429000"/>
              </a:tabLst>
            </a:pPr>
            <a:endParaRPr b="0" lang="en-IN" sz="2400" strike="noStrike" u="none">
              <a:solidFill>
                <a:srgbClr val="000000"/>
              </a:solidFill>
              <a:effectLst/>
              <a:uFillTx/>
              <a:latin typeface="Arial"/>
            </a:endParaRPr>
          </a:p>
          <a:p>
            <a:pPr>
              <a:lnSpc>
                <a:spcPct val="88000"/>
              </a:lnSpc>
              <a:tabLst>
                <a:tab algn="l" pos="1371600"/>
                <a:tab algn="l" pos="2057400"/>
                <a:tab algn="l" pos="2743200"/>
                <a:tab algn="l" pos="3429000"/>
              </a:tabLst>
            </a:pPr>
            <a:r>
              <a:rPr b="0" lang="en-IN" sz="2400" strike="noStrike" u="none">
                <a:solidFill>
                  <a:srgbClr val="000000"/>
                </a:solidFill>
                <a:effectLst/>
                <a:uFillTx/>
                <a:latin typeface="Times New Roman"/>
                <a:ea typeface="Times New Roman"/>
              </a:rPr>
              <a:t>Each user is given a spot in the tree that is his or her default directory at login time.  This is the user's </a:t>
            </a:r>
            <a:r>
              <a:rPr b="0" i="1" lang="en-IN" sz="2400" strike="noStrike" u="none">
                <a:solidFill>
                  <a:srgbClr val="000000"/>
                </a:solidFill>
                <a:effectLst/>
                <a:uFillTx/>
                <a:latin typeface="Times New Roman"/>
                <a:ea typeface="Times New Roman"/>
              </a:rPr>
              <a:t>home directory</a:t>
            </a:r>
            <a:r>
              <a:rPr b="0" lang="en-IN" sz="2400" strike="noStrike" u="none">
                <a:solidFill>
                  <a:srgbClr val="000000"/>
                </a:solidFill>
                <a:effectLst/>
                <a:uFillTx/>
                <a:latin typeface="Times New Roman"/>
                <a:ea typeface="Times New Roman"/>
              </a:rPr>
              <a:t>.</a:t>
            </a:r>
            <a:endParaRPr b="0" lang="en-IN" sz="2400" strike="noStrike" u="none">
              <a:solidFill>
                <a:srgbClr val="000000"/>
              </a:solidFill>
              <a:effectLst/>
              <a:uFillTx/>
              <a:latin typeface="Arial"/>
            </a:endParaRPr>
          </a:p>
          <a:p>
            <a:pPr>
              <a:lnSpc>
                <a:spcPct val="88000"/>
              </a:lnSpc>
              <a:tabLst>
                <a:tab algn="l" pos="1371600"/>
                <a:tab algn="l" pos="2057400"/>
                <a:tab algn="l" pos="2743200"/>
                <a:tab algn="l" pos="3429000"/>
              </a:tabLst>
            </a:pPr>
            <a:endParaRPr b="0" lang="en-IN" sz="2400" strike="noStrike" u="none">
              <a:solidFill>
                <a:srgbClr val="000000"/>
              </a:solidFill>
              <a:effectLst/>
              <a:uFillTx/>
              <a:latin typeface="Arial"/>
            </a:endParaRPr>
          </a:p>
          <a:p>
            <a:pPr>
              <a:lnSpc>
                <a:spcPct val="88000"/>
              </a:lnSpc>
              <a:tabLst>
                <a:tab algn="l" pos="1371600"/>
                <a:tab algn="l" pos="2057400"/>
                <a:tab algn="l" pos="2743200"/>
                <a:tab algn="l" pos="3429000"/>
              </a:tabLst>
            </a:pPr>
            <a:r>
              <a:rPr b="0" lang="en-IN" sz="2400" strike="noStrike" u="none">
                <a:solidFill>
                  <a:srgbClr val="000000"/>
                </a:solidFill>
                <a:effectLst/>
                <a:uFillTx/>
                <a:latin typeface="Times New Roman"/>
                <a:ea typeface="Times New Roman"/>
              </a:rPr>
              <a:t>Users may create any arrangment of subdirectories they like under their home directory.</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
          <p:cNvSpPr txBox="1"/>
          <p:nvPr/>
        </p:nvSpPr>
        <p:spPr>
          <a:xfrm>
            <a:off x="2846520" y="279360"/>
            <a:ext cx="3451320" cy="555480"/>
          </a:xfrm>
          <a:prstGeom prst="rect">
            <a:avLst/>
          </a:prstGeom>
          <a:noFill/>
          <a:ln w="0">
            <a:noFill/>
          </a:ln>
        </p:spPr>
        <p:txBody>
          <a:bodyPr lIns="0" rIns="0" tIns="0" bIns="0" anchor="t">
            <a:spAutoFit/>
          </a:bodyPr>
          <a:p>
            <a:pPr algn="ctr">
              <a:lnSpc>
                <a:spcPct val="92000"/>
              </a:lnSpc>
            </a:pPr>
            <a:r>
              <a:rPr b="1" lang="en-IN" sz="3200" strike="noStrike" u="none">
                <a:solidFill>
                  <a:srgbClr val="000000"/>
                </a:solidFill>
                <a:effectLst/>
                <a:uFillTx/>
                <a:latin typeface="Times New Roman"/>
                <a:ea typeface="Times New Roman"/>
              </a:rPr>
              <a:t>UNIX</a:t>
            </a:r>
            <a:r>
              <a:rPr b="1" lang="en-IN" sz="3600" strike="noStrike" u="none">
                <a:solidFill>
                  <a:srgbClr val="000000"/>
                </a:solidFill>
                <a:effectLst/>
                <a:uFillTx/>
                <a:latin typeface="Times New Roman"/>
                <a:ea typeface="Times New Roman"/>
              </a:rPr>
              <a:t> File Names</a:t>
            </a:r>
            <a:endParaRPr b="0" lang="en-IN" sz="3600" strike="noStrike" u="none">
              <a:solidFill>
                <a:srgbClr val="000000"/>
              </a:solidFill>
              <a:effectLst/>
              <a:uFillTx/>
              <a:latin typeface="Arial"/>
            </a:endParaRPr>
          </a:p>
        </p:txBody>
      </p:sp>
      <p:sp>
        <p:nvSpPr>
          <p:cNvPr id="86" name=""/>
          <p:cNvSpPr txBox="1"/>
          <p:nvPr/>
        </p:nvSpPr>
        <p:spPr>
          <a:xfrm>
            <a:off x="1066680" y="1752480"/>
            <a:ext cx="7315200" cy="3124080"/>
          </a:xfrm>
          <a:prstGeom prst="rect">
            <a:avLst/>
          </a:prstGeom>
          <a:noFill/>
          <a:ln w="0">
            <a:noFill/>
          </a:ln>
        </p:spPr>
        <p:txBody>
          <a:bodyPr lIns="0" rIns="0" tIns="0" bIns="0" anchor="t">
            <a:spAutoFit/>
          </a:bodyPr>
          <a:p>
            <a:pPr>
              <a:lnSpc>
                <a:spcPct val="88000"/>
              </a:lnSpc>
            </a:pPr>
            <a:r>
              <a:rPr b="1" lang="en-IN" sz="2000" strike="noStrike" u="none">
                <a:solidFill>
                  <a:srgbClr val="000000"/>
                </a:solidFill>
                <a:effectLst/>
                <a:uFillTx/>
                <a:latin typeface="Times New Roman"/>
                <a:ea typeface="Times New Roman"/>
              </a:rPr>
              <a:t>UNIX </a:t>
            </a:r>
            <a:r>
              <a:rPr b="1" lang="en-IN" sz="2400" strike="noStrike" u="none">
                <a:solidFill>
                  <a:srgbClr val="000000"/>
                </a:solidFill>
                <a:effectLst/>
                <a:uFillTx/>
                <a:latin typeface="Times New Roman"/>
                <a:ea typeface="Times New Roman"/>
              </a:rPr>
              <a:t>file names are versatile and nearly unrestricted.</a:t>
            </a:r>
            <a:endParaRPr b="0" lang="en-IN" sz="2400" strike="noStrike" u="none">
              <a:solidFill>
                <a:srgbClr val="000000"/>
              </a:solidFill>
              <a:effectLst/>
              <a:uFillTx/>
              <a:latin typeface="Arial"/>
            </a:endParaRPr>
          </a:p>
          <a:p>
            <a:pPr>
              <a:lnSpc>
                <a:spcPct val="88000"/>
              </a:lnSpc>
            </a:pPr>
            <a:endParaRPr b="0" lang="en-IN" sz="18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They may contain almost any character</a:t>
            </a:r>
            <a:endParaRPr b="0" lang="en-IN" sz="20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File names are case sensitive!  </a:t>
            </a:r>
            <a:r>
              <a:rPr b="1" lang="en-IN" sz="2000" strike="noStrike" u="none">
                <a:solidFill>
                  <a:srgbClr val="000000"/>
                </a:solidFill>
                <a:effectLst/>
                <a:uFillTx/>
                <a:latin typeface="Times New Roman"/>
                <a:ea typeface="Times New Roman"/>
              </a:rPr>
              <a:t>FooBar</a:t>
            </a:r>
            <a:r>
              <a:rPr b="0" lang="en-IN" sz="2000" strike="noStrike" u="none">
                <a:solidFill>
                  <a:srgbClr val="000000"/>
                </a:solidFill>
                <a:effectLst/>
                <a:uFillTx/>
                <a:latin typeface="Times New Roman"/>
                <a:ea typeface="Times New Roman"/>
              </a:rPr>
              <a:t> and </a:t>
            </a:r>
            <a:r>
              <a:rPr b="1" lang="en-IN" sz="2000" strike="noStrike" u="none">
                <a:solidFill>
                  <a:srgbClr val="000000"/>
                </a:solidFill>
                <a:effectLst/>
                <a:uFillTx/>
                <a:latin typeface="Times New Roman"/>
                <a:ea typeface="Times New Roman"/>
              </a:rPr>
              <a:t>foobar</a:t>
            </a:r>
            <a:r>
              <a:rPr b="0" lang="en-IN" sz="2000" strike="noStrike" u="none">
                <a:solidFill>
                  <a:srgbClr val="000000"/>
                </a:solidFill>
                <a:effectLst/>
                <a:uFillTx/>
                <a:latin typeface="Times New Roman"/>
                <a:ea typeface="Times New Roman"/>
              </a:rPr>
              <a:t> are different files!</a:t>
            </a:r>
            <a:endParaRPr b="0" lang="en-IN" sz="20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They may be of almost any length (up to 255 characters on most systems).</a:t>
            </a:r>
            <a:endParaRPr b="0" lang="en-IN" sz="20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 is </a:t>
            </a:r>
            <a:r>
              <a:rPr b="0" i="1" lang="en-IN" sz="2000" strike="noStrike" u="none">
                <a:solidFill>
                  <a:srgbClr val="000000"/>
                </a:solidFill>
                <a:effectLst/>
                <a:uFillTx/>
                <a:latin typeface="Times New Roman"/>
                <a:ea typeface="Times New Roman"/>
              </a:rPr>
              <a:t>not</a:t>
            </a:r>
            <a:r>
              <a:rPr b="0" lang="en-IN" sz="2000" strike="noStrike" u="none">
                <a:solidFill>
                  <a:srgbClr val="000000"/>
                </a:solidFill>
                <a:effectLst/>
                <a:uFillTx/>
                <a:latin typeface="Times New Roman"/>
                <a:ea typeface="Times New Roman"/>
              </a:rPr>
              <a:t> a special character in UNIX.  File names such as </a:t>
            </a:r>
            <a:r>
              <a:rPr b="1" lang="en-IN" sz="2000" strike="noStrike" u="none">
                <a:solidFill>
                  <a:srgbClr val="000000"/>
                </a:solidFill>
                <a:effectLst/>
                <a:uFillTx/>
                <a:latin typeface="Times New Roman"/>
                <a:ea typeface="Times New Roman"/>
              </a:rPr>
              <a:t>this.is.a.very.peculiar.file.name</a:t>
            </a:r>
            <a:r>
              <a:rPr b="0" lang="en-IN" sz="2000" strike="noStrike" u="none">
                <a:solidFill>
                  <a:srgbClr val="000000"/>
                </a:solidFill>
                <a:effectLst/>
                <a:uFillTx/>
                <a:latin typeface="Times New Roman"/>
                <a:ea typeface="Times New Roman"/>
              </a:rPr>
              <a:t> are permitted and not uncommon.</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
          <p:cNvSpPr txBox="1"/>
          <p:nvPr/>
        </p:nvSpPr>
        <p:spPr>
          <a:xfrm>
            <a:off x="1316160" y="279360"/>
            <a:ext cx="651024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The </a:t>
            </a:r>
            <a:r>
              <a:rPr b="1" lang="en-IN" sz="3200" strike="noStrike" u="none">
                <a:solidFill>
                  <a:srgbClr val="000000"/>
                </a:solidFill>
                <a:effectLst/>
                <a:uFillTx/>
                <a:latin typeface="Times New Roman"/>
                <a:ea typeface="Times New Roman"/>
              </a:rPr>
              <a:t>UNIX </a:t>
            </a:r>
            <a:r>
              <a:rPr b="1" lang="en-IN" sz="3600" strike="noStrike" u="none">
                <a:solidFill>
                  <a:srgbClr val="000000"/>
                </a:solidFill>
                <a:effectLst/>
                <a:uFillTx/>
                <a:latin typeface="Times New Roman"/>
                <a:ea typeface="Times New Roman"/>
              </a:rPr>
              <a:t>File System Hierarchy</a:t>
            </a:r>
            <a:endParaRPr b="0" lang="en-IN" sz="3600" strike="noStrike" u="none">
              <a:solidFill>
                <a:srgbClr val="000000"/>
              </a:solidFill>
              <a:effectLst/>
              <a:uFillTx/>
              <a:latin typeface="Arial"/>
            </a:endParaRPr>
          </a:p>
        </p:txBody>
      </p:sp>
      <p:sp>
        <p:nvSpPr>
          <p:cNvPr id="88" name=""/>
          <p:cNvSpPr txBox="1"/>
          <p:nvPr/>
        </p:nvSpPr>
        <p:spPr>
          <a:xfrm>
            <a:off x="622440" y="927000"/>
            <a:ext cx="8140680" cy="5032440"/>
          </a:xfrm>
          <a:prstGeom prst="rect">
            <a:avLst/>
          </a:prstGeom>
          <a:noFill/>
          <a:ln w="0">
            <a:noFill/>
          </a:ln>
        </p:spPr>
        <p:txBody>
          <a:bodyPr lIns="0" rIns="0" tIns="0" bIns="0" anchor="t">
            <a:spAutoFit/>
          </a:bodyPr>
          <a:p>
            <a:pPr>
              <a:lnSpc>
                <a:spcPct val="88000"/>
              </a:lnSpc>
              <a:tabLst>
                <a:tab algn="l" pos="685800"/>
                <a:tab algn="l" pos="1371600"/>
                <a:tab algn="l" pos="2057400"/>
                <a:tab algn="l" pos="2743200"/>
                <a:tab algn="l" pos="3429000"/>
                <a:tab algn="l" pos="4114800"/>
              </a:tabLst>
            </a:pPr>
            <a:r>
              <a:rPr b="0" lang="en-IN" sz="2000" strike="noStrike" u="none">
                <a:solidFill>
                  <a:srgbClr val="000000"/>
                </a:solidFill>
                <a:effectLst/>
                <a:uFillTx/>
                <a:latin typeface="Times New Roman"/>
                <a:ea typeface="Times New Roman"/>
              </a:rPr>
              <a:t>UNIX </a:t>
            </a:r>
            <a:r>
              <a:rPr b="0" lang="en-IN" sz="2400" strike="noStrike" u="none">
                <a:solidFill>
                  <a:srgbClr val="000000"/>
                </a:solidFill>
                <a:effectLst/>
                <a:uFillTx/>
                <a:latin typeface="Times New Roman"/>
                <a:ea typeface="Times New Roman"/>
              </a:rPr>
              <a:t>file name components are separated by slash characters (/).</a:t>
            </a: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 algn="l" pos="4114800"/>
              </a:tabLst>
            </a:pP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 algn="l" pos="4114800"/>
              </a:tabLst>
            </a:pPr>
            <a:r>
              <a:rPr b="0" lang="en-IN" sz="2400" strike="noStrike" u="none">
                <a:solidFill>
                  <a:srgbClr val="000000"/>
                </a:solidFill>
                <a:effectLst/>
                <a:uFillTx/>
                <a:latin typeface="Times New Roman"/>
                <a:ea typeface="Times New Roman"/>
              </a:rPr>
              <a:t>A typical </a:t>
            </a:r>
            <a:r>
              <a:rPr b="0" lang="en-IN" sz="2000" strike="noStrike" u="none">
                <a:solidFill>
                  <a:srgbClr val="000000"/>
                </a:solidFill>
                <a:effectLst/>
                <a:uFillTx/>
                <a:latin typeface="Times New Roman"/>
                <a:ea typeface="Times New Roman"/>
              </a:rPr>
              <a:t>UNIX </a:t>
            </a:r>
            <a:r>
              <a:rPr b="0" lang="en-IN" sz="2400" strike="noStrike" u="none">
                <a:solidFill>
                  <a:srgbClr val="000000"/>
                </a:solidFill>
                <a:effectLst/>
                <a:uFillTx/>
                <a:latin typeface="Times New Roman"/>
                <a:ea typeface="Times New Roman"/>
              </a:rPr>
              <a:t>system has a file tree that looks like the following.</a:t>
            </a: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 algn="l" pos="4114800"/>
              </a:tabLst>
            </a:pP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 algn="l" pos="4114800"/>
              </a:tabLst>
            </a:pPr>
            <a:r>
              <a:rPr b="0" lang="en-IN" sz="1800" strike="noStrike" u="none">
                <a:solidFill>
                  <a:srgbClr val="000000"/>
                </a:solidFill>
                <a:effectLst/>
                <a:uFillTx/>
                <a:latin typeface="Times New Roman"/>
                <a:ea typeface="Times New Roman"/>
              </a:rPr>
              <a:t>/ (root)</a:t>
            </a:r>
            <a:endParaRPr b="0" lang="en-IN" sz="18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 algn="l" pos="4114800"/>
              </a:tabLst>
            </a:pP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bin/  Some programs live here</a:t>
            </a:r>
            <a:endParaRPr b="0" lang="en-IN" sz="18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 algn="l" pos="4114800"/>
              </a:tabLst>
            </a:pP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usr/  System files for users are here</a:t>
            </a:r>
            <a:endParaRPr b="0" lang="en-IN" sz="18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 algn="l" pos="4114800"/>
              </a:tabLst>
            </a:pP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bin/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Lots of programs live here</a:t>
            </a:r>
            <a:r>
              <a:rPr b="0" lang="en-IN" sz="1800" strike="noStrike" u="none">
                <a:solidFill>
                  <a:srgbClr val="000000"/>
                </a:solidFill>
                <a:effectLst/>
                <a:uFillTx/>
                <a:latin typeface="Times New Roman"/>
                <a:ea typeface="Times New Roman"/>
              </a:rPr>
              <a:t>	</a:t>
            </a:r>
            <a:endParaRPr b="0" lang="en-IN" sz="18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 algn="l" pos="4114800"/>
              </a:tabLst>
            </a:pP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lib/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C libraries, special programs</a:t>
            </a:r>
            <a:endParaRPr b="0" lang="en-IN" sz="18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 algn="l" pos="4114800"/>
              </a:tabLst>
            </a:pP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local/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Locally developed packages</a:t>
            </a:r>
            <a:endParaRPr b="0" lang="en-IN" sz="18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 algn="l" pos="4114800"/>
              </a:tabLst>
            </a:pP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etc/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System administration programs</a:t>
            </a:r>
            <a:endParaRPr b="0" lang="en-IN" sz="18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 algn="l" pos="4114800"/>
              </a:tabLst>
            </a:pP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etc/   System configuration files</a:t>
            </a:r>
            <a:endParaRPr b="0" lang="en-IN" sz="18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 algn="l" pos="4114800"/>
              </a:tabLst>
            </a:pP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home/  User's home directories (sometimes /user or /u)</a:t>
            </a:r>
            <a:endParaRPr b="0" lang="en-IN" sz="18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 algn="l" pos="4114800"/>
              </a:tabLst>
            </a:pP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williams/</a:t>
            </a:r>
            <a:endParaRPr b="0" lang="en-IN" sz="18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 algn="l" pos="4114800"/>
              </a:tabLst>
            </a:pP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kirk/</a:t>
            </a:r>
            <a:endParaRPr b="0" lang="en-IN" sz="18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 algn="l" pos="4114800"/>
              </a:tabLst>
            </a:pP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spock/</a:t>
            </a:r>
            <a:endParaRPr b="0" lang="en-IN" sz="18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 algn="l" pos="4114800"/>
              </a:tabLst>
            </a:pP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mccoy/</a:t>
            </a:r>
            <a:endParaRPr b="0" lang="en-IN" sz="18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 algn="l" pos="4114800"/>
              </a:tabLst>
            </a:pP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scotty/</a:t>
            </a:r>
            <a:endParaRPr b="0" lang="en-IN"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 name=""/>
          <p:cNvSpPr txBox="1"/>
          <p:nvPr/>
        </p:nvSpPr>
        <p:spPr>
          <a:xfrm>
            <a:off x="2425680" y="279360"/>
            <a:ext cx="4292640" cy="1270080"/>
          </a:xfrm>
          <a:prstGeom prst="rect">
            <a:avLst/>
          </a:prstGeom>
          <a:noFill/>
          <a:ln w="0">
            <a:noFill/>
          </a:ln>
        </p:spPr>
        <p:txBody>
          <a:bodyPr lIns="0" rIns="0" tIns="0" bIns="0" anchor="t">
            <a:spAutoFit/>
          </a:bodyPr>
          <a:p>
            <a:pPr algn="ctr">
              <a:lnSpc>
                <a:spcPct val="111000"/>
              </a:lnSpc>
            </a:pPr>
            <a:r>
              <a:rPr b="1" lang="en-IN" sz="3600" strike="noStrike" u="none">
                <a:solidFill>
                  <a:srgbClr val="000000"/>
                </a:solidFill>
                <a:effectLst/>
                <a:uFillTx/>
                <a:latin typeface="Times New Roman"/>
                <a:ea typeface="Times New Roman"/>
              </a:rPr>
              <a:t>File Name Expansion</a:t>
            </a:r>
            <a:br>
              <a:rPr sz="3600"/>
            </a:br>
            <a:r>
              <a:rPr b="1" lang="en-IN" sz="3600" strike="noStrike" u="none">
                <a:solidFill>
                  <a:srgbClr val="000000"/>
                </a:solidFill>
                <a:effectLst/>
                <a:uFillTx/>
                <a:latin typeface="Times New Roman"/>
                <a:ea typeface="Times New Roman"/>
              </a:rPr>
              <a:t>(Wildcards)</a:t>
            </a:r>
            <a:endParaRPr b="0" lang="en-IN" sz="3600" strike="noStrike" u="none">
              <a:solidFill>
                <a:srgbClr val="000000"/>
              </a:solidFill>
              <a:effectLst/>
              <a:uFillTx/>
              <a:latin typeface="Arial"/>
            </a:endParaRPr>
          </a:p>
        </p:txBody>
      </p:sp>
      <p:sp>
        <p:nvSpPr>
          <p:cNvPr id="90" name=""/>
          <p:cNvSpPr txBox="1"/>
          <p:nvPr/>
        </p:nvSpPr>
        <p:spPr>
          <a:xfrm>
            <a:off x="927000" y="2374920"/>
            <a:ext cx="7302600" cy="2295360"/>
          </a:xfrm>
          <a:prstGeom prst="rect">
            <a:avLst/>
          </a:prstGeom>
          <a:noFill/>
          <a:ln w="0">
            <a:noFill/>
          </a:ln>
        </p:spPr>
        <p:txBody>
          <a:bodyPr lIns="0" rIns="0" tIns="0" bIns="0" anchor="t">
            <a:spAutoFit/>
          </a:bodyPr>
          <a:p>
            <a:pPr>
              <a:lnSpc>
                <a:spcPct val="88000"/>
              </a:lnSpc>
              <a:tabLst>
                <a:tab algn="l" pos="914400"/>
                <a:tab algn="l" pos="1828800"/>
                <a:tab algn="l" pos="2743200"/>
                <a:tab algn="l" pos="3657600"/>
                <a:tab algn="l" pos="4572000"/>
                <a:tab algn="l" pos="5486400"/>
                <a:tab algn="l" pos="6426360"/>
              </a:tabLst>
            </a:pPr>
            <a:r>
              <a:rPr b="0" lang="en-IN" sz="2400" strike="noStrike" u="none">
                <a:solidFill>
                  <a:srgbClr val="000000"/>
                </a:solidFill>
                <a:effectLst/>
                <a:uFillTx/>
                <a:latin typeface="Times New Roman"/>
                <a:ea typeface="Times New Roman"/>
              </a:rPr>
              <a:t>The shell allows file names to be specified using a pattern.  The shell expands the pattern into the actual file names.  The process of expanding a file name pattern is called </a:t>
            </a:r>
            <a:r>
              <a:rPr b="0" i="1" lang="en-IN" sz="2400" strike="noStrike" u="none">
                <a:solidFill>
                  <a:srgbClr val="000000"/>
                </a:solidFill>
                <a:effectLst/>
                <a:uFillTx/>
                <a:latin typeface="Times New Roman"/>
                <a:ea typeface="Times New Roman"/>
              </a:rPr>
              <a:t>file name expansion </a:t>
            </a:r>
            <a:r>
              <a:rPr b="0" lang="en-IN" sz="2400" strike="noStrike" u="none">
                <a:solidFill>
                  <a:srgbClr val="000000"/>
                </a:solidFill>
                <a:effectLst/>
                <a:uFillTx/>
                <a:latin typeface="Times New Roman"/>
                <a:ea typeface="Times New Roman"/>
              </a:rPr>
              <a:t>(or, by old-timers, </a:t>
            </a:r>
            <a:r>
              <a:rPr b="0" i="1" lang="en-IN" sz="2400" strike="noStrike" u="none">
                <a:solidFill>
                  <a:srgbClr val="000000"/>
                </a:solidFill>
                <a:effectLst/>
                <a:uFillTx/>
                <a:latin typeface="Times New Roman"/>
                <a:ea typeface="Times New Roman"/>
              </a:rPr>
              <a:t>globbing</a:t>
            </a:r>
            <a:r>
              <a:rPr b="0" lang="en-IN" sz="2400" strike="noStrike" u="none">
                <a:solidFill>
                  <a:srgbClr val="000000"/>
                </a:solidFill>
                <a:effectLst/>
                <a:uFillTx/>
                <a:latin typeface="Times New Roman"/>
                <a:ea typeface="Times New Roman"/>
              </a:rPr>
              <a:t>).</a:t>
            </a:r>
            <a:endParaRPr b="0" lang="en-IN" sz="2400" strike="noStrike" u="none">
              <a:solidFill>
                <a:srgbClr val="000000"/>
              </a:solidFill>
              <a:effectLst/>
              <a:uFillTx/>
              <a:latin typeface="Arial"/>
            </a:endParaRPr>
          </a:p>
          <a:p>
            <a:pPr>
              <a:lnSpc>
                <a:spcPct val="88000"/>
              </a:lnSpc>
              <a:tabLst>
                <a:tab algn="l" pos="914400"/>
                <a:tab algn="l" pos="1828800"/>
                <a:tab algn="l" pos="2743200"/>
                <a:tab algn="l" pos="3657600"/>
                <a:tab algn="l" pos="4572000"/>
                <a:tab algn="l" pos="5486400"/>
                <a:tab algn="l" pos="6426360"/>
              </a:tabLst>
            </a:pPr>
            <a:endParaRPr b="0" lang="en-IN" sz="2400" strike="noStrike" u="none">
              <a:solidFill>
                <a:srgbClr val="000000"/>
              </a:solidFill>
              <a:effectLst/>
              <a:uFillTx/>
              <a:latin typeface="Arial"/>
            </a:endParaRPr>
          </a:p>
          <a:p>
            <a:pPr>
              <a:lnSpc>
                <a:spcPct val="88000"/>
              </a:lnSpc>
              <a:tabLst>
                <a:tab algn="l" pos="914400"/>
                <a:tab algn="l" pos="1828800"/>
                <a:tab algn="l" pos="2743200"/>
                <a:tab algn="l" pos="3657600"/>
                <a:tab algn="l" pos="4572000"/>
                <a:tab algn="l" pos="5486400"/>
                <a:tab algn="l" pos="6426360"/>
              </a:tabLst>
            </a:pPr>
            <a:r>
              <a:rPr b="0" lang="en-IN" sz="2400" strike="noStrike" u="none">
                <a:solidFill>
                  <a:srgbClr val="000000"/>
                </a:solidFill>
                <a:effectLst/>
                <a:uFillTx/>
                <a:latin typeface="Times New Roman"/>
                <a:ea typeface="Times New Roman"/>
              </a:rPr>
              <a:t>The special characters used to construct file name patterns are ?, *, and [].</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
          <p:cNvSpPr txBox="1"/>
          <p:nvPr/>
        </p:nvSpPr>
        <p:spPr>
          <a:xfrm>
            <a:off x="2432160" y="279360"/>
            <a:ext cx="4278240" cy="660240"/>
          </a:xfrm>
          <a:prstGeom prst="rect">
            <a:avLst/>
          </a:prstGeom>
          <a:noFill/>
          <a:ln w="0">
            <a:noFill/>
          </a:ln>
        </p:spPr>
        <p:txBody>
          <a:bodyPr lIns="0" rIns="0" tIns="0" bIns="0" anchor="t">
            <a:spAutoFit/>
          </a:bodyPr>
          <a:p>
            <a:pPr algn="ctr">
              <a:lnSpc>
                <a:spcPct val="111000"/>
              </a:lnSpc>
            </a:pPr>
            <a:r>
              <a:rPr b="1" lang="en-IN" sz="3600" strike="noStrike" u="none">
                <a:solidFill>
                  <a:srgbClr val="000000"/>
                </a:solidFill>
                <a:effectLst/>
                <a:uFillTx/>
                <a:latin typeface="Times New Roman"/>
                <a:ea typeface="Times New Roman"/>
              </a:rPr>
              <a:t>Wildcard Characters</a:t>
            </a:r>
            <a:endParaRPr b="0" lang="en-IN" sz="3600" strike="noStrike" u="none">
              <a:solidFill>
                <a:srgbClr val="000000"/>
              </a:solidFill>
              <a:effectLst/>
              <a:uFillTx/>
              <a:latin typeface="Arial"/>
            </a:endParaRPr>
          </a:p>
        </p:txBody>
      </p:sp>
      <p:sp>
        <p:nvSpPr>
          <p:cNvPr id="92" name=""/>
          <p:cNvSpPr txBox="1"/>
          <p:nvPr/>
        </p:nvSpPr>
        <p:spPr>
          <a:xfrm>
            <a:off x="1003320" y="1231920"/>
            <a:ext cx="7302600" cy="4640400"/>
          </a:xfrm>
          <a:prstGeom prst="rect">
            <a:avLst/>
          </a:prstGeom>
          <a:noFill/>
          <a:ln w="0">
            <a:noFill/>
          </a:ln>
        </p:spPr>
        <p:txBody>
          <a:bodyPr lIns="0" rIns="0" tIns="0" bIns="0" anchor="t">
            <a:spAutoFit/>
          </a:bodyPr>
          <a:p>
            <a:pPr>
              <a:lnSpc>
                <a:spcPct val="85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The ? character matches any single character.</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ls foo.?</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foo.h</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foo.o</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foo.c</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endParaRPr b="0" lang="en-IN" sz="18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The ? character can be used any where in the file name pattern and always matches exactly one character.</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ls ???.c</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foo.c</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bar.c</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zap.c</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 name=""/>
          <p:cNvSpPr txBox="1"/>
          <p:nvPr/>
        </p:nvSpPr>
        <p:spPr>
          <a:xfrm>
            <a:off x="2368440" y="279360"/>
            <a:ext cx="4392720" cy="1270080"/>
          </a:xfrm>
          <a:prstGeom prst="rect">
            <a:avLst/>
          </a:prstGeom>
          <a:noFill/>
          <a:ln w="0">
            <a:noFill/>
          </a:ln>
        </p:spPr>
        <p:txBody>
          <a:bodyPr lIns="0" rIns="0" tIns="0" bIns="0" anchor="t">
            <a:spAutoFit/>
          </a:bodyPr>
          <a:p>
            <a:pPr algn="ctr">
              <a:lnSpc>
                <a:spcPct val="111000"/>
              </a:lnSpc>
            </a:pPr>
            <a:r>
              <a:rPr b="1" lang="en-IN" sz="3600" strike="noStrike" u="none">
                <a:solidFill>
                  <a:srgbClr val="000000"/>
                </a:solidFill>
                <a:effectLst/>
                <a:uFillTx/>
                <a:latin typeface="Times New Roman"/>
                <a:ea typeface="Times New Roman"/>
              </a:rPr>
              <a:t>Wildcard Characters,</a:t>
            </a:r>
            <a:br>
              <a:rPr sz="3600"/>
            </a:br>
            <a:r>
              <a:rPr b="1" lang="en-IN" sz="3600" strike="noStrike" u="none">
                <a:solidFill>
                  <a:srgbClr val="000000"/>
                </a:solidFill>
                <a:effectLst/>
                <a:uFillTx/>
                <a:latin typeface="Times New Roman"/>
                <a:ea typeface="Times New Roman"/>
              </a:rPr>
              <a:t>Cont'd.</a:t>
            </a:r>
            <a:endParaRPr b="0" lang="en-IN" sz="3600" strike="noStrike" u="none">
              <a:solidFill>
                <a:srgbClr val="000000"/>
              </a:solidFill>
              <a:effectLst/>
              <a:uFillTx/>
              <a:latin typeface="Arial"/>
            </a:endParaRPr>
          </a:p>
        </p:txBody>
      </p:sp>
      <p:sp>
        <p:nvSpPr>
          <p:cNvPr id="94" name=""/>
          <p:cNvSpPr txBox="1"/>
          <p:nvPr/>
        </p:nvSpPr>
        <p:spPr>
          <a:xfrm>
            <a:off x="380880" y="1612800"/>
            <a:ext cx="8153280" cy="4406760"/>
          </a:xfrm>
          <a:prstGeom prst="rect">
            <a:avLst/>
          </a:prstGeom>
          <a:noFill/>
          <a:ln w="0">
            <a:noFill/>
          </a:ln>
        </p:spPr>
        <p:txBody>
          <a:bodyPr lIns="0" rIns="0" tIns="0" bIns="0" anchor="t">
            <a:spAutoFit/>
          </a:bodyPr>
          <a:p>
            <a:pPr>
              <a:lnSpc>
                <a:spcPct val="85000"/>
              </a:lnSpc>
              <a:tabLst>
                <a:tab algn="l" pos="685800"/>
                <a:tab algn="l" pos="1371600"/>
                <a:tab algn="l" pos="2057400"/>
                <a:tab algn="l" pos="2743200"/>
                <a:tab algn="l" pos="3429000"/>
                <a:tab algn="l" pos="4114800"/>
                <a:tab algn="l" pos="4800600"/>
              </a:tabLst>
            </a:pPr>
            <a:r>
              <a:rPr b="0" lang="en-IN" sz="2400" strike="noStrike" u="none">
                <a:solidFill>
                  <a:srgbClr val="000000"/>
                </a:solidFill>
                <a:effectLst/>
                <a:uFillTx/>
                <a:latin typeface="Times New Roman"/>
                <a:ea typeface="Times New Roman"/>
              </a:rPr>
              <a:t>The * character matches any group of zero or more characters.</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 algn="l" pos="4114800"/>
                <a:tab algn="l" pos="4800600"/>
              </a:tabLst>
            </a:pP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 algn="l" pos="4114800"/>
                <a:tab algn="l" pos="4800600"/>
              </a:tabLst>
            </a:pPr>
            <a:r>
              <a:rPr b="0"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ls *.c</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 algn="l" pos="4114800"/>
                <a:tab algn="l" pos="4800600"/>
              </a:tabLst>
            </a:pPr>
            <a:r>
              <a:rPr b="0" lang="en-IN" sz="2400" strike="noStrike" u="none">
                <a:solidFill>
                  <a:srgbClr val="000000"/>
                </a:solidFill>
                <a:effectLst/>
                <a:uFillTx/>
                <a:latin typeface="Times New Roman"/>
                <a:ea typeface="Times New Roman"/>
              </a:rPr>
              <a:t>main.c</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 algn="l" pos="4114800"/>
                <a:tab algn="l" pos="4800600"/>
              </a:tabLst>
            </a:pPr>
            <a:r>
              <a:rPr b="0" lang="en-IN" sz="2400" strike="noStrike" u="none">
                <a:solidFill>
                  <a:srgbClr val="000000"/>
                </a:solidFill>
                <a:effectLst/>
                <a:uFillTx/>
                <a:latin typeface="Times New Roman"/>
                <a:ea typeface="Times New Roman"/>
              </a:rPr>
              <a:t>io.c</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 algn="l" pos="4114800"/>
                <a:tab algn="l" pos="4800600"/>
              </a:tabLst>
            </a:pPr>
            <a:r>
              <a:rPr b="0" lang="en-IN" sz="2400" strike="noStrike" u="none">
                <a:solidFill>
                  <a:srgbClr val="000000"/>
                </a:solidFill>
                <a:effectLst/>
                <a:uFillTx/>
                <a:latin typeface="Times New Roman"/>
                <a:ea typeface="Times New Roman"/>
              </a:rPr>
              <a:t>edit.c</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 algn="l" pos="4114800"/>
                <a:tab algn="l" pos="4800600"/>
              </a:tabLst>
            </a:pP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 algn="l" pos="4114800"/>
                <a:tab algn="l" pos="4800600"/>
              </a:tabLst>
            </a:pPr>
            <a:r>
              <a:rPr b="0" lang="en-IN" sz="2400" strike="noStrike" u="none">
                <a:solidFill>
                  <a:srgbClr val="000000"/>
                </a:solidFill>
                <a:effectLst/>
                <a:uFillTx/>
                <a:latin typeface="Times New Roman"/>
                <a:ea typeface="Times New Roman"/>
              </a:rPr>
              <a:t>Unlike DOS's filename wildcards, the * character can be used more than once in a pattern, and can be the first character.</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 algn="l" pos="4114800"/>
                <a:tab algn="l" pos="4800600"/>
              </a:tabLst>
            </a:pP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 algn="l" pos="4114800"/>
                <a:tab algn="l" pos="4800600"/>
              </a:tabLst>
            </a:pPr>
            <a:r>
              <a:rPr b="0" lang="en-IN" sz="2400" strike="noStrike" u="none">
                <a:solidFill>
                  <a:srgbClr val="000000"/>
                </a:solidFill>
                <a:effectLst/>
                <a:uFillTx/>
                <a:latin typeface="Times New Roman"/>
                <a:ea typeface="Times New Roman"/>
              </a:rPr>
              <a:t>%</a:t>
            </a:r>
            <a:r>
              <a:rPr b="0" i="1" lang="en-IN" sz="2400" strike="noStrike" u="none">
                <a:solidFill>
                  <a:srgbClr val="000000"/>
                </a:solidFill>
                <a:effectLst/>
                <a:uFillTx/>
                <a:latin typeface="Times New Roman"/>
                <a:ea typeface="Times New Roman"/>
              </a:rPr>
              <a:t> ls *cat*</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 algn="l" pos="4114800"/>
                <a:tab algn="l" pos="4800600"/>
              </a:tabLst>
            </a:pPr>
            <a:r>
              <a:rPr b="0" lang="en-IN" sz="2400" strike="noStrike" u="none">
                <a:solidFill>
                  <a:srgbClr val="000000"/>
                </a:solidFill>
                <a:effectLst/>
                <a:uFillTx/>
                <a:latin typeface="Times New Roman"/>
                <a:ea typeface="Times New Roman"/>
              </a:rPr>
              <a:t>catalog</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 algn="l" pos="4114800"/>
                <a:tab algn="l" pos="4800600"/>
              </a:tabLst>
            </a:pPr>
            <a:r>
              <a:rPr b="0" lang="en-IN" sz="2400" strike="noStrike" u="none">
                <a:solidFill>
                  <a:srgbClr val="000000"/>
                </a:solidFill>
                <a:effectLst/>
                <a:uFillTx/>
                <a:latin typeface="Times New Roman"/>
                <a:ea typeface="Times New Roman"/>
              </a:rPr>
              <a:t>concat.c</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 algn="l" pos="4114800"/>
                <a:tab algn="l" pos="4800600"/>
              </a:tabLst>
            </a:pPr>
            <a:r>
              <a:rPr b="0" lang="en-IN" sz="2400" strike="noStrike" u="none">
                <a:solidFill>
                  <a:srgbClr val="000000"/>
                </a:solidFill>
                <a:effectLst/>
                <a:uFillTx/>
                <a:latin typeface="Times New Roman"/>
                <a:ea typeface="Times New Roman"/>
              </a:rPr>
              <a:t>scatter_plots</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 name=""/>
          <p:cNvSpPr txBox="1"/>
          <p:nvPr/>
        </p:nvSpPr>
        <p:spPr>
          <a:xfrm>
            <a:off x="2368440" y="279360"/>
            <a:ext cx="4392720" cy="1270080"/>
          </a:xfrm>
          <a:prstGeom prst="rect">
            <a:avLst/>
          </a:prstGeom>
          <a:noFill/>
          <a:ln w="0">
            <a:noFill/>
          </a:ln>
        </p:spPr>
        <p:txBody>
          <a:bodyPr lIns="0" rIns="0" tIns="0" bIns="0" anchor="t">
            <a:spAutoFit/>
          </a:bodyPr>
          <a:p>
            <a:pPr algn="ctr">
              <a:lnSpc>
                <a:spcPct val="111000"/>
              </a:lnSpc>
            </a:pPr>
            <a:r>
              <a:rPr b="1" lang="en-IN" sz="3600" strike="noStrike" u="none">
                <a:solidFill>
                  <a:srgbClr val="000000"/>
                </a:solidFill>
                <a:effectLst/>
                <a:uFillTx/>
                <a:latin typeface="Times New Roman"/>
                <a:ea typeface="Times New Roman"/>
              </a:rPr>
              <a:t>Wildcard Characters,</a:t>
            </a:r>
            <a:br>
              <a:rPr sz="3600"/>
            </a:br>
            <a:r>
              <a:rPr b="1" lang="en-IN" sz="3600" strike="noStrike" u="none">
                <a:solidFill>
                  <a:srgbClr val="000000"/>
                </a:solidFill>
                <a:effectLst/>
                <a:uFillTx/>
                <a:latin typeface="Times New Roman"/>
                <a:ea typeface="Times New Roman"/>
              </a:rPr>
              <a:t>Cont'd.</a:t>
            </a:r>
            <a:endParaRPr b="0" lang="en-IN" sz="3600" strike="noStrike" u="none">
              <a:solidFill>
                <a:srgbClr val="000000"/>
              </a:solidFill>
              <a:effectLst/>
              <a:uFillTx/>
              <a:latin typeface="Arial"/>
            </a:endParaRPr>
          </a:p>
        </p:txBody>
      </p:sp>
      <p:sp>
        <p:nvSpPr>
          <p:cNvPr id="96" name=""/>
          <p:cNvSpPr txBox="1"/>
          <p:nvPr/>
        </p:nvSpPr>
        <p:spPr>
          <a:xfrm>
            <a:off x="838080" y="1536840"/>
            <a:ext cx="7543800" cy="4540320"/>
          </a:xfrm>
          <a:prstGeom prst="rect">
            <a:avLst/>
          </a:prstGeom>
          <a:noFill/>
          <a:ln w="0">
            <a:noFill/>
          </a:ln>
        </p:spPr>
        <p:txBody>
          <a:bodyPr lIns="0" rIns="0" tIns="0" bIns="0" anchor="t">
            <a:spAutoFit/>
          </a:bodyPr>
          <a:p>
            <a:pPr>
              <a:lnSpc>
                <a:spcPct val="88000"/>
              </a:lnSpc>
              <a:tabLst>
                <a:tab algn="l" pos="685800"/>
                <a:tab algn="l" pos="1371600"/>
                <a:tab algn="l" pos="2057400"/>
                <a:tab algn="l" pos="2743200"/>
                <a:tab algn="l" pos="3429000"/>
                <a:tab algn="l" pos="4114800"/>
                <a:tab algn="l" pos="4800600"/>
              </a:tabLst>
            </a:pPr>
            <a:r>
              <a:rPr b="0" lang="en-IN" sz="2400" strike="noStrike" u="none">
                <a:solidFill>
                  <a:srgbClr val="000000"/>
                </a:solidFill>
                <a:effectLst/>
                <a:uFillTx/>
                <a:latin typeface="Times New Roman"/>
                <a:ea typeface="Times New Roman"/>
              </a:rPr>
              <a:t>The characters [] are used to surround </a:t>
            </a:r>
            <a:r>
              <a:rPr b="0" i="1" lang="en-IN" sz="2400" strike="noStrike" u="none">
                <a:solidFill>
                  <a:srgbClr val="000000"/>
                </a:solidFill>
                <a:effectLst/>
                <a:uFillTx/>
                <a:latin typeface="Times New Roman"/>
                <a:ea typeface="Times New Roman"/>
              </a:rPr>
              <a:t>character classes</a:t>
            </a:r>
            <a:r>
              <a:rPr b="0" lang="en-IN" sz="2400" strike="noStrike" u="none">
                <a:solidFill>
                  <a:srgbClr val="000000"/>
                </a:solidFill>
                <a:effectLst/>
                <a:uFillTx/>
                <a:latin typeface="Times New Roman"/>
                <a:ea typeface="Times New Roman"/>
              </a:rPr>
              <a:t>.  Each character class matches exactly one character.  Thus,</a:t>
            </a: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 algn="l" pos="4114800"/>
                <a:tab algn="l" pos="4800600"/>
              </a:tabLst>
            </a:pP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 algn="l" pos="4114800"/>
                <a:tab algn="l" pos="4800600"/>
              </a:tabLst>
            </a:pP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ls [fbm]oo</a:t>
            </a: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 algn="l" pos="4114800"/>
                <a:tab algn="l" pos="4800600"/>
              </a:tabLst>
            </a:pP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 algn="l" pos="4114800"/>
                <a:tab algn="l" pos="4800600"/>
              </a:tabLst>
            </a:pPr>
            <a:r>
              <a:rPr b="0" lang="en-IN" sz="2400" strike="noStrike" u="none">
                <a:solidFill>
                  <a:srgbClr val="000000"/>
                </a:solidFill>
                <a:effectLst/>
                <a:uFillTx/>
                <a:latin typeface="Times New Roman"/>
                <a:ea typeface="Times New Roman"/>
              </a:rPr>
              <a:t>will match </a:t>
            </a:r>
            <a:r>
              <a:rPr b="0" i="1" lang="en-IN" sz="2400" strike="noStrike" u="none">
                <a:solidFill>
                  <a:srgbClr val="000000"/>
                </a:solidFill>
                <a:effectLst/>
                <a:uFillTx/>
                <a:latin typeface="Times New Roman"/>
                <a:ea typeface="Times New Roman"/>
              </a:rPr>
              <a:t>foo, boo</a:t>
            </a:r>
            <a:r>
              <a:rPr b="0" lang="en-IN" sz="2400" strike="noStrike" u="none">
                <a:solidFill>
                  <a:srgbClr val="000000"/>
                </a:solidFill>
                <a:effectLst/>
                <a:uFillTx/>
                <a:latin typeface="Times New Roman"/>
                <a:ea typeface="Times New Roman"/>
              </a:rPr>
              <a:t>, and </a:t>
            </a:r>
            <a:r>
              <a:rPr b="0" i="1" lang="en-IN" sz="2400" strike="noStrike" u="none">
                <a:solidFill>
                  <a:srgbClr val="000000"/>
                </a:solidFill>
                <a:effectLst/>
                <a:uFillTx/>
                <a:latin typeface="Times New Roman"/>
                <a:ea typeface="Times New Roman"/>
              </a:rPr>
              <a:t>moo</a:t>
            </a:r>
            <a:r>
              <a:rPr b="0" lang="en-IN" sz="2400" strike="noStrike" u="none">
                <a:solidFill>
                  <a:srgbClr val="000000"/>
                </a:solidFill>
                <a:effectLst/>
                <a:uFillTx/>
                <a:latin typeface="Times New Roman"/>
                <a:ea typeface="Times New Roman"/>
              </a:rPr>
              <a:t>, but not zoo.  A range of characters can be specified by separating the first and last character of the range with a hyphen.</a:t>
            </a: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 algn="l" pos="4114800"/>
                <a:tab algn="l" pos="4800600"/>
              </a:tabLst>
            </a:pP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 algn="l" pos="4114800"/>
                <a:tab algn="l" pos="4800600"/>
              </a:tabLst>
            </a:pP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ls [A-Z]*</a:t>
            </a: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 algn="l" pos="4114800"/>
                <a:tab algn="l" pos="4800600"/>
              </a:tabLst>
            </a:pP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 algn="l" pos="4114800"/>
                <a:tab algn="l" pos="4800600"/>
              </a:tabLst>
            </a:pPr>
            <a:r>
              <a:rPr b="0" lang="en-IN" sz="2400" strike="noStrike" u="none">
                <a:solidFill>
                  <a:srgbClr val="000000"/>
                </a:solidFill>
                <a:effectLst/>
                <a:uFillTx/>
                <a:latin typeface="Times New Roman"/>
                <a:ea typeface="Times New Roman"/>
              </a:rPr>
              <a:t>This pattern matches all files that begin with an upper case letter.  Character classes may contain ‘</a:t>
            </a:r>
            <a:r>
              <a:rPr b="0" i="1" lang="en-IN" sz="2400" strike="noStrike" u="none">
                <a:solidFill>
                  <a:srgbClr val="000000"/>
                </a:solidFill>
                <a:effectLst/>
                <a:uFillTx/>
                <a:latin typeface="Times New Roman"/>
                <a:ea typeface="Times New Roman"/>
              </a:rPr>
              <a:t>-</a:t>
            </a:r>
            <a:r>
              <a:rPr b="0" lang="en-IN" sz="2400" strike="noStrike" u="none">
                <a:solidFill>
                  <a:srgbClr val="000000"/>
                </a:solidFill>
                <a:effectLst/>
                <a:uFillTx/>
                <a:latin typeface="Times New Roman"/>
                <a:ea typeface="Times New Roman"/>
              </a:rPr>
              <a:t>’, but not as the first character.</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 name=""/>
          <p:cNvSpPr txBox="1"/>
          <p:nvPr/>
        </p:nvSpPr>
        <p:spPr>
          <a:xfrm>
            <a:off x="1862280" y="279360"/>
            <a:ext cx="541980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Common </a:t>
            </a:r>
            <a:r>
              <a:rPr b="1" lang="en-IN" sz="3200" strike="noStrike" u="none">
                <a:solidFill>
                  <a:srgbClr val="000000"/>
                </a:solidFill>
                <a:effectLst/>
                <a:uFillTx/>
                <a:latin typeface="Times New Roman"/>
                <a:ea typeface="Times New Roman"/>
              </a:rPr>
              <a:t>UNIX </a:t>
            </a:r>
            <a:r>
              <a:rPr b="1" lang="en-IN" sz="3600" strike="noStrike" u="none">
                <a:solidFill>
                  <a:srgbClr val="000000"/>
                </a:solidFill>
                <a:effectLst/>
                <a:uFillTx/>
                <a:latin typeface="Times New Roman"/>
                <a:ea typeface="Times New Roman"/>
              </a:rPr>
              <a:t>Commands</a:t>
            </a:r>
            <a:endParaRPr b="0" lang="en-IN" sz="3600" strike="noStrike" u="none">
              <a:solidFill>
                <a:srgbClr val="000000"/>
              </a:solidFill>
              <a:effectLst/>
              <a:uFillTx/>
              <a:latin typeface="Arial"/>
            </a:endParaRPr>
          </a:p>
        </p:txBody>
      </p:sp>
      <p:sp>
        <p:nvSpPr>
          <p:cNvPr id="98" name=""/>
          <p:cNvSpPr txBox="1"/>
          <p:nvPr/>
        </p:nvSpPr>
        <p:spPr>
          <a:xfrm>
            <a:off x="1003320" y="1384200"/>
            <a:ext cx="7302600" cy="3898800"/>
          </a:xfrm>
          <a:prstGeom prst="rect">
            <a:avLst/>
          </a:prstGeom>
          <a:noFill/>
          <a:ln w="0">
            <a:noFill/>
          </a:ln>
        </p:spPr>
        <p:txBody>
          <a:bodyPr lIns="0" rIns="0" tIns="0" bIns="0" anchor="t">
            <a:spAutoFit/>
          </a:bodyPr>
          <a:p>
            <a:pPr algn="ctr">
              <a:lnSpc>
                <a:spcPct val="88000"/>
              </a:lnSpc>
              <a:tabLst>
                <a:tab algn="l" pos="2057400"/>
                <a:tab algn="l" pos="2743200"/>
                <a:tab algn="l" pos="3429000"/>
                <a:tab algn="l" pos="4114800"/>
                <a:tab algn="l" pos="4800600"/>
              </a:tabLst>
            </a:pPr>
            <a:r>
              <a:rPr b="1" lang="en-IN" sz="2400" strike="noStrike" u="none">
                <a:solidFill>
                  <a:srgbClr val="000000"/>
                </a:solidFill>
                <a:effectLst/>
                <a:uFillTx/>
                <a:latin typeface="Times New Roman"/>
                <a:ea typeface="Times New Roman"/>
              </a:rPr>
              <a:t>Below are some common </a:t>
            </a:r>
            <a:r>
              <a:rPr b="1" lang="en-IN" sz="2000" strike="noStrike" u="none">
                <a:solidFill>
                  <a:srgbClr val="000000"/>
                </a:solidFill>
                <a:effectLst/>
                <a:uFillTx/>
                <a:latin typeface="Times New Roman"/>
                <a:ea typeface="Times New Roman"/>
              </a:rPr>
              <a:t>UNIX </a:t>
            </a:r>
            <a:r>
              <a:rPr b="1" lang="en-IN" sz="2400" strike="noStrike" u="none">
                <a:solidFill>
                  <a:srgbClr val="000000"/>
                </a:solidFill>
                <a:effectLst/>
                <a:uFillTx/>
                <a:latin typeface="Times New Roman"/>
                <a:ea typeface="Times New Roman"/>
              </a:rPr>
              <a:t>commands.  Each command will be explained in detail later.</a:t>
            </a:r>
            <a:endParaRPr b="0" lang="en-IN" sz="2400" strike="noStrike" u="none">
              <a:solidFill>
                <a:srgbClr val="000000"/>
              </a:solidFill>
              <a:effectLst/>
              <a:uFillTx/>
              <a:latin typeface="Arial"/>
            </a:endParaRPr>
          </a:p>
          <a:p>
            <a:pPr>
              <a:lnSpc>
                <a:spcPct val="88000"/>
              </a:lnSpc>
              <a:tabLst>
                <a:tab algn="l" pos="2057400"/>
                <a:tab algn="l" pos="2743200"/>
                <a:tab algn="l" pos="3429000"/>
                <a:tab algn="l" pos="4114800"/>
                <a:tab algn="l" pos="4800600"/>
              </a:tabLst>
            </a:pPr>
            <a:endParaRPr b="0" lang="en-IN" sz="2400" strike="noStrike" u="none">
              <a:solidFill>
                <a:srgbClr val="000000"/>
              </a:solidFill>
              <a:effectLst/>
              <a:uFillTx/>
              <a:latin typeface="Arial"/>
            </a:endParaRPr>
          </a:p>
          <a:p>
            <a:pPr marL="1828800" indent="-1359000">
              <a:lnSpc>
                <a:spcPct val="88000"/>
              </a:lnSpc>
              <a:tabLst>
                <a:tab algn="l" pos="228600"/>
                <a:tab algn="l" pos="914400"/>
                <a:tab algn="l" pos="1600200"/>
                <a:tab algn="l" pos="2286000"/>
                <a:tab algn="l" pos="2971800"/>
              </a:tabLst>
            </a:pPr>
            <a:r>
              <a:rPr b="0" lang="en-IN" sz="2400" strike="noStrike" u="none">
                <a:solidFill>
                  <a:srgbClr val="000000"/>
                </a:solidFill>
                <a:effectLst/>
                <a:uFillTx/>
                <a:latin typeface="Times New Roman"/>
                <a:ea typeface="Times New Roman"/>
              </a:rPr>
              <a:t>ls</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List the contents of a directory</a:t>
            </a:r>
            <a:endParaRPr b="0" lang="en-IN" sz="2400" strike="noStrike" u="none">
              <a:solidFill>
                <a:srgbClr val="000000"/>
              </a:solidFill>
              <a:effectLst/>
              <a:uFillTx/>
              <a:latin typeface="Arial"/>
            </a:endParaRPr>
          </a:p>
          <a:p>
            <a:pPr marL="1828800" indent="-1359000">
              <a:lnSpc>
                <a:spcPct val="88000"/>
              </a:lnSpc>
              <a:tabLst>
                <a:tab algn="l" pos="228600"/>
                <a:tab algn="l" pos="914400"/>
                <a:tab algn="l" pos="1600200"/>
                <a:tab algn="l" pos="2286000"/>
                <a:tab algn="l" pos="2971800"/>
              </a:tabLst>
            </a:pPr>
            <a:r>
              <a:rPr b="0" lang="en-IN" sz="2400" strike="noStrike" u="none">
                <a:solidFill>
                  <a:srgbClr val="000000"/>
                </a:solidFill>
                <a:effectLst/>
                <a:uFillTx/>
                <a:latin typeface="Times New Roman"/>
                <a:ea typeface="Times New Roman"/>
              </a:rPr>
              <a:t>cd</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Change to another directory</a:t>
            </a:r>
            <a:endParaRPr b="0" lang="en-IN" sz="2400" strike="noStrike" u="none">
              <a:solidFill>
                <a:srgbClr val="000000"/>
              </a:solidFill>
              <a:effectLst/>
              <a:uFillTx/>
              <a:latin typeface="Arial"/>
            </a:endParaRPr>
          </a:p>
          <a:p>
            <a:pPr marL="1828800" indent="-1359000">
              <a:lnSpc>
                <a:spcPct val="88000"/>
              </a:lnSpc>
              <a:tabLst>
                <a:tab algn="l" pos="228600"/>
                <a:tab algn="l" pos="914400"/>
                <a:tab algn="l" pos="1600200"/>
                <a:tab algn="l" pos="2286000"/>
                <a:tab algn="l" pos="2971800"/>
              </a:tabLst>
            </a:pPr>
            <a:r>
              <a:rPr b="0" lang="en-IN" sz="2400" strike="noStrike" u="none">
                <a:solidFill>
                  <a:srgbClr val="000000"/>
                </a:solidFill>
                <a:effectLst/>
                <a:uFillTx/>
                <a:latin typeface="Times New Roman"/>
                <a:ea typeface="Times New Roman"/>
              </a:rPr>
              <a:t>echo</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Print text on screen</a:t>
            </a:r>
            <a:endParaRPr b="0" lang="en-IN" sz="2400" strike="noStrike" u="none">
              <a:solidFill>
                <a:srgbClr val="000000"/>
              </a:solidFill>
              <a:effectLst/>
              <a:uFillTx/>
              <a:latin typeface="Arial"/>
            </a:endParaRPr>
          </a:p>
          <a:p>
            <a:pPr marL="1828800" indent="-1359000">
              <a:lnSpc>
                <a:spcPct val="88000"/>
              </a:lnSpc>
              <a:tabLst>
                <a:tab algn="l" pos="228600"/>
                <a:tab algn="l" pos="914400"/>
                <a:tab algn="l" pos="1600200"/>
                <a:tab algn="l" pos="2286000"/>
                <a:tab algn="l" pos="2971800"/>
              </a:tabLst>
            </a:pPr>
            <a:r>
              <a:rPr b="0" lang="en-IN" sz="2400" strike="noStrike" u="none">
                <a:solidFill>
                  <a:srgbClr val="000000"/>
                </a:solidFill>
                <a:effectLst/>
                <a:uFillTx/>
                <a:latin typeface="Times New Roman"/>
                <a:ea typeface="Times New Roman"/>
              </a:rPr>
              <a:t>more</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View a file</a:t>
            </a:r>
            <a:endParaRPr b="0" lang="en-IN" sz="2400" strike="noStrike" u="none">
              <a:solidFill>
                <a:srgbClr val="000000"/>
              </a:solidFill>
              <a:effectLst/>
              <a:uFillTx/>
              <a:latin typeface="Arial"/>
            </a:endParaRPr>
          </a:p>
          <a:p>
            <a:pPr marL="1828800" indent="-1359000">
              <a:lnSpc>
                <a:spcPct val="88000"/>
              </a:lnSpc>
              <a:tabLst>
                <a:tab algn="l" pos="228600"/>
                <a:tab algn="l" pos="914400"/>
                <a:tab algn="l" pos="1600200"/>
                <a:tab algn="l" pos="2286000"/>
                <a:tab algn="l" pos="2971800"/>
              </a:tabLst>
            </a:pPr>
            <a:r>
              <a:rPr b="0" lang="en-IN" sz="2400" strike="noStrike" u="none">
                <a:solidFill>
                  <a:srgbClr val="000000"/>
                </a:solidFill>
                <a:effectLst/>
                <a:uFillTx/>
                <a:latin typeface="Times New Roman"/>
                <a:ea typeface="Times New Roman"/>
              </a:rPr>
              <a:t>cat</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Concatenate and print files</a:t>
            </a:r>
            <a:endParaRPr b="0" lang="en-IN" sz="2400" strike="noStrike" u="none">
              <a:solidFill>
                <a:srgbClr val="000000"/>
              </a:solidFill>
              <a:effectLst/>
              <a:uFillTx/>
              <a:latin typeface="Arial"/>
            </a:endParaRPr>
          </a:p>
          <a:p>
            <a:pPr marL="1828800" indent="-1359000">
              <a:lnSpc>
                <a:spcPct val="88000"/>
              </a:lnSpc>
              <a:tabLst>
                <a:tab algn="l" pos="228600"/>
                <a:tab algn="l" pos="914400"/>
                <a:tab algn="l" pos="1600200"/>
                <a:tab algn="l" pos="2286000"/>
                <a:tab algn="l" pos="2971800"/>
              </a:tabLst>
            </a:pPr>
            <a:r>
              <a:rPr b="0" lang="en-IN" sz="2400" strike="noStrike" u="none">
                <a:solidFill>
                  <a:srgbClr val="000000"/>
                </a:solidFill>
                <a:effectLst/>
                <a:uFillTx/>
                <a:latin typeface="Times New Roman"/>
                <a:ea typeface="Times New Roman"/>
              </a:rPr>
              <a:t>mv</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Rename or move a file</a:t>
            </a:r>
            <a:endParaRPr b="0" lang="en-IN" sz="2400" strike="noStrike" u="none">
              <a:solidFill>
                <a:srgbClr val="000000"/>
              </a:solidFill>
              <a:effectLst/>
              <a:uFillTx/>
              <a:latin typeface="Arial"/>
            </a:endParaRPr>
          </a:p>
          <a:p>
            <a:pPr marL="1828800" indent="-1359000">
              <a:lnSpc>
                <a:spcPct val="88000"/>
              </a:lnSpc>
              <a:tabLst>
                <a:tab algn="l" pos="228600"/>
                <a:tab algn="l" pos="914400"/>
                <a:tab algn="l" pos="1600200"/>
                <a:tab algn="l" pos="2286000"/>
                <a:tab algn="l" pos="2971800"/>
              </a:tabLst>
            </a:pPr>
            <a:r>
              <a:rPr b="0" lang="en-IN" sz="2400" strike="noStrike" u="none">
                <a:solidFill>
                  <a:srgbClr val="000000"/>
                </a:solidFill>
                <a:effectLst/>
                <a:uFillTx/>
                <a:latin typeface="Times New Roman"/>
                <a:ea typeface="Times New Roman"/>
              </a:rPr>
              <a:t>cp</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Copy a file</a:t>
            </a:r>
            <a:endParaRPr b="0" lang="en-IN" sz="2400" strike="noStrike" u="none">
              <a:solidFill>
                <a:srgbClr val="000000"/>
              </a:solidFill>
              <a:effectLst/>
              <a:uFillTx/>
              <a:latin typeface="Arial"/>
            </a:endParaRPr>
          </a:p>
          <a:p>
            <a:pPr marL="1828800" indent="-1359000">
              <a:lnSpc>
                <a:spcPct val="88000"/>
              </a:lnSpc>
              <a:tabLst>
                <a:tab algn="l" pos="228600"/>
                <a:tab algn="l" pos="914400"/>
                <a:tab algn="l" pos="1600200"/>
                <a:tab algn="l" pos="2286000"/>
                <a:tab algn="l" pos="2971800"/>
              </a:tabLst>
            </a:pPr>
            <a:r>
              <a:rPr b="0" lang="en-IN" sz="2400" strike="noStrike" u="none">
                <a:solidFill>
                  <a:srgbClr val="000000"/>
                </a:solidFill>
                <a:effectLst/>
                <a:uFillTx/>
                <a:latin typeface="Times New Roman"/>
                <a:ea typeface="Times New Roman"/>
              </a:rPr>
              <a:t>mkdir</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Make a new directory</a:t>
            </a:r>
            <a:endParaRPr b="0" lang="en-IN" sz="2400" strike="noStrike" u="none">
              <a:solidFill>
                <a:srgbClr val="000000"/>
              </a:solidFill>
              <a:effectLst/>
              <a:uFillTx/>
              <a:latin typeface="Arial"/>
            </a:endParaRPr>
          </a:p>
          <a:p>
            <a:pPr marL="1828800" indent="-1359000">
              <a:lnSpc>
                <a:spcPct val="88000"/>
              </a:lnSpc>
              <a:tabLst>
                <a:tab algn="l" pos="228600"/>
                <a:tab algn="l" pos="914400"/>
                <a:tab algn="l" pos="1600200"/>
                <a:tab algn="l" pos="2286000"/>
                <a:tab algn="l" pos="2971800"/>
              </a:tabLst>
            </a:pPr>
            <a:r>
              <a:rPr b="0" lang="en-IN" sz="2400" strike="noStrike" u="none">
                <a:solidFill>
                  <a:srgbClr val="000000"/>
                </a:solidFill>
                <a:effectLst/>
                <a:uFillTx/>
                <a:latin typeface="Times New Roman"/>
                <a:ea typeface="Times New Roman"/>
              </a:rPr>
              <a:t>rmdir</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Remove an empty directory</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 name=""/>
          <p:cNvSpPr txBox="1"/>
          <p:nvPr/>
        </p:nvSpPr>
        <p:spPr>
          <a:xfrm>
            <a:off x="1771560" y="279360"/>
            <a:ext cx="5586480" cy="1270080"/>
          </a:xfrm>
          <a:prstGeom prst="rect">
            <a:avLst/>
          </a:prstGeom>
          <a:noFill/>
          <a:ln w="0">
            <a:noFill/>
          </a:ln>
        </p:spPr>
        <p:txBody>
          <a:bodyPr lIns="0" rIns="0" tIns="0" bIns="0" anchor="t">
            <a:spAutoFit/>
          </a:bodyPr>
          <a:p>
            <a:pPr algn="ctr">
              <a:lnSpc>
                <a:spcPct val="111000"/>
              </a:lnSpc>
            </a:pPr>
            <a:r>
              <a:rPr b="1" lang="en-IN" sz="3600" strike="noStrike" u="none">
                <a:solidFill>
                  <a:srgbClr val="000000"/>
                </a:solidFill>
                <a:effectLst/>
                <a:uFillTx/>
                <a:latin typeface="Times New Roman"/>
                <a:ea typeface="Times New Roman"/>
              </a:rPr>
              <a:t>ls</a:t>
            </a:r>
            <a:br>
              <a:rPr sz="3600"/>
            </a:br>
            <a:r>
              <a:rPr b="1" lang="en-IN" sz="3600" strike="noStrike" u="none">
                <a:solidFill>
                  <a:srgbClr val="000000"/>
                </a:solidFill>
                <a:effectLst/>
                <a:uFillTx/>
                <a:latin typeface="Times New Roman"/>
                <a:ea typeface="Times New Roman"/>
              </a:rPr>
              <a:t>List Contents of a Directory</a:t>
            </a:r>
            <a:endParaRPr b="0" lang="en-IN" sz="3600" strike="noStrike" u="none">
              <a:solidFill>
                <a:srgbClr val="000000"/>
              </a:solidFill>
              <a:effectLst/>
              <a:uFillTx/>
              <a:latin typeface="Arial"/>
            </a:endParaRPr>
          </a:p>
        </p:txBody>
      </p:sp>
      <p:sp>
        <p:nvSpPr>
          <p:cNvPr id="100" name=""/>
          <p:cNvSpPr txBox="1"/>
          <p:nvPr/>
        </p:nvSpPr>
        <p:spPr>
          <a:xfrm>
            <a:off x="469800" y="1612800"/>
            <a:ext cx="8217000" cy="4535640"/>
          </a:xfrm>
          <a:prstGeom prst="rect">
            <a:avLst/>
          </a:prstGeom>
          <a:noFill/>
          <a:ln w="0">
            <a:noFill/>
          </a:ln>
        </p:spPr>
        <p:txBody>
          <a:bodyPr lIns="0" rIns="0" tIns="0" bIns="0" anchor="t">
            <a:spAutoFit/>
          </a:bodyPr>
          <a:p>
            <a:pPr>
              <a:lnSpc>
                <a:spcPct val="86000"/>
              </a:lnSpc>
              <a:tabLst>
                <a:tab algn="l" pos="685800"/>
                <a:tab algn="l" pos="1371600"/>
                <a:tab algn="l" pos="2057400"/>
                <a:tab algn="l" pos="2743200"/>
                <a:tab algn="l" pos="3429000"/>
                <a:tab algn="l" pos="4114800"/>
                <a:tab algn="l" pos="4800600"/>
                <a:tab algn="l" pos="5486400"/>
              </a:tabLst>
            </a:pPr>
            <a:r>
              <a:rPr b="0" lang="en-IN" sz="2400" strike="noStrike" u="none">
                <a:solidFill>
                  <a:srgbClr val="000000"/>
                </a:solidFill>
                <a:effectLst/>
                <a:uFillTx/>
                <a:latin typeface="Times New Roman"/>
                <a:ea typeface="Times New Roman"/>
              </a:rPr>
              <a:t>With no arguments, lists the names of all files in the current directory.  The list will be sorted down the columns by default.</a:t>
            </a:r>
            <a:endParaRPr b="0" lang="en-IN" sz="24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 algn="l" pos="4114800"/>
                <a:tab algn="l" pos="4800600"/>
                <a:tab algn="l" pos="5486400"/>
              </a:tabLst>
            </a:pPr>
            <a:endParaRPr b="0" lang="en-IN" sz="18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 algn="l" pos="4114800"/>
                <a:tab algn="l" pos="4800600"/>
                <a:tab algn="l" pos="5486400"/>
              </a:tabLst>
            </a:pPr>
            <a:r>
              <a:rPr b="0" lang="en-IN" sz="1800" strike="noStrike" u="none">
                <a:solidFill>
                  <a:srgbClr val="000000"/>
                </a:solidFill>
                <a:effectLst/>
                <a:uFillTx/>
                <a:latin typeface="Times New Roman"/>
                <a:ea typeface="Times New Roman"/>
              </a:rPr>
              <a:t>   bin</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mbox</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projects</a:t>
            </a:r>
            <a:endParaRPr b="0" lang="en-IN" sz="18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 algn="l" pos="4114800"/>
                <a:tab algn="l" pos="4800600"/>
                <a:tab algn="l" pos="5486400"/>
              </a:tabLst>
            </a:pPr>
            <a:r>
              <a:rPr b="0" lang="en-IN" sz="1800" strike="noStrike" u="none">
                <a:solidFill>
                  <a:srgbClr val="000000"/>
                </a:solidFill>
                <a:effectLst/>
                <a:uFillTx/>
                <a:latin typeface="Times New Roman"/>
                <a:ea typeface="Times New Roman"/>
              </a:rPr>
              <a:t>   calendar</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mystuff</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src</a:t>
            </a:r>
            <a:endParaRPr b="0" lang="en-IN" sz="18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 algn="l" pos="4114800"/>
                <a:tab algn="l" pos="4800600"/>
                <a:tab algn="l" pos="5486400"/>
              </a:tabLst>
            </a:pPr>
            <a:endParaRPr b="0" lang="en-IN" sz="24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 algn="l" pos="4114800"/>
                <a:tab algn="l" pos="4800600"/>
                <a:tab algn="l" pos="5486400"/>
              </a:tabLst>
            </a:pPr>
            <a:r>
              <a:rPr b="0" lang="en-IN" sz="2400" strike="noStrike" u="none">
                <a:solidFill>
                  <a:srgbClr val="000000"/>
                </a:solidFill>
                <a:effectLst/>
                <a:uFillTx/>
                <a:latin typeface="Times New Roman"/>
                <a:ea typeface="Times New Roman"/>
              </a:rPr>
              <a:t>ls has a huge number of options.  A commonly used option is  -l, which produces a long listing.</a:t>
            </a:r>
            <a:endParaRPr b="0" lang="en-IN" sz="24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 algn="l" pos="4114800"/>
                <a:tab algn="l" pos="4800600"/>
                <a:tab algn="l" pos="5486400"/>
              </a:tabLst>
            </a:pPr>
            <a:endParaRPr b="0" lang="en-IN" sz="24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 algn="l" pos="4114800"/>
                <a:tab algn="l" pos="4800600"/>
                <a:tab algn="l" pos="5486400"/>
              </a:tabLst>
            </a:pPr>
            <a:r>
              <a:rPr b="0" lang="en-IN" sz="1800" strike="noStrike" u="none">
                <a:solidFill>
                  <a:srgbClr val="000000"/>
                </a:solidFill>
                <a:effectLst/>
                <a:uFillTx/>
                <a:latin typeface="Times New Roman"/>
                <a:ea typeface="Times New Roman"/>
              </a:rPr>
              <a:t>   % </a:t>
            </a:r>
            <a:r>
              <a:rPr b="0" i="1" lang="en-IN" sz="1800" strike="noStrike" u="none">
                <a:solidFill>
                  <a:srgbClr val="000000"/>
                </a:solidFill>
                <a:effectLst/>
                <a:uFillTx/>
                <a:latin typeface="Times New Roman"/>
                <a:ea typeface="Times New Roman"/>
              </a:rPr>
              <a:t>ls -l</a:t>
            </a:r>
            <a:endParaRPr b="0" lang="en-IN" sz="18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 algn="l" pos="4114800"/>
                <a:tab algn="l" pos="4800600"/>
                <a:tab algn="l" pos="5486400"/>
              </a:tabLst>
            </a:pPr>
            <a:r>
              <a:rPr b="0" lang="en-IN" sz="1800" strike="noStrike" u="none">
                <a:solidFill>
                  <a:srgbClr val="000000"/>
                </a:solidFill>
                <a:effectLst/>
                <a:uFillTx/>
                <a:latin typeface="Times New Roman"/>
                <a:ea typeface="Times New Roman"/>
              </a:rPr>
              <a:t>   -rw-r--r-- 1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williams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261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Oct  3 08:28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calendar</a:t>
            </a:r>
            <a:endParaRPr b="0" lang="en-IN" sz="18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 algn="l" pos="4114800"/>
                <a:tab algn="l" pos="4800600"/>
                <a:tab algn="l" pos="5486400"/>
              </a:tabLst>
            </a:pPr>
            <a:r>
              <a:rPr b="0" lang="en-IN" sz="1800" strike="noStrike" u="none">
                <a:solidFill>
                  <a:srgbClr val="000000"/>
                </a:solidFill>
                <a:effectLst/>
                <a:uFillTx/>
                <a:latin typeface="Times New Roman"/>
                <a:ea typeface="Times New Roman"/>
              </a:rPr>
              <a:t>   -rw-rw-r-- 1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williams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17264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Oct  6 13:17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mbox</a:t>
            </a:r>
            <a:endParaRPr b="0" lang="en-IN" sz="18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 algn="l" pos="4114800"/>
                <a:tab algn="l" pos="4800600"/>
                <a:tab algn="l" pos="5486400"/>
              </a:tabLst>
            </a:pPr>
            <a:endParaRPr b="0" lang="en-IN" sz="18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 algn="l" pos="4114800"/>
                <a:tab algn="l" pos="4800600"/>
                <a:tab algn="l" pos="5486400"/>
              </a:tabLst>
            </a:pPr>
            <a:r>
              <a:rPr b="0" lang="en-IN" sz="2400" strike="noStrike" u="none">
                <a:solidFill>
                  <a:srgbClr val="000000"/>
                </a:solidFill>
                <a:effectLst/>
                <a:uFillTx/>
                <a:latin typeface="Times New Roman"/>
                <a:ea typeface="Times New Roman"/>
              </a:rPr>
              <a:t>This listing gives the permission bits, the number of links, the file owner's name, the size of the file in bytes, the date and time it was last modified, and the file's name.</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 name=""/>
          <p:cNvSpPr txBox="1"/>
          <p:nvPr/>
        </p:nvSpPr>
        <p:spPr>
          <a:xfrm>
            <a:off x="2717640" y="279360"/>
            <a:ext cx="3543480" cy="660240"/>
          </a:xfrm>
          <a:prstGeom prst="rect">
            <a:avLst/>
          </a:prstGeom>
          <a:noFill/>
          <a:ln w="0">
            <a:noFill/>
          </a:ln>
        </p:spPr>
        <p:txBody>
          <a:bodyPr lIns="0" rIns="0" tIns="0" bIns="0" anchor="t">
            <a:spAutoFit/>
          </a:bodyPr>
          <a:p>
            <a:pPr algn="ctr">
              <a:lnSpc>
                <a:spcPct val="111000"/>
              </a:lnSpc>
            </a:pPr>
            <a:r>
              <a:rPr b="1" lang="en-IN" sz="3600" strike="noStrike" u="none">
                <a:solidFill>
                  <a:srgbClr val="000000"/>
                </a:solidFill>
                <a:effectLst/>
                <a:uFillTx/>
                <a:latin typeface="Times New Roman"/>
                <a:ea typeface="Times New Roman"/>
              </a:rPr>
              <a:t>ls - More Options</a:t>
            </a:r>
            <a:endParaRPr b="0" lang="en-IN" sz="3600" strike="noStrike" u="none">
              <a:solidFill>
                <a:srgbClr val="000000"/>
              </a:solidFill>
              <a:effectLst/>
              <a:uFillTx/>
              <a:latin typeface="Arial"/>
            </a:endParaRPr>
          </a:p>
        </p:txBody>
      </p:sp>
      <p:sp>
        <p:nvSpPr>
          <p:cNvPr id="102" name=""/>
          <p:cNvSpPr txBox="1"/>
          <p:nvPr/>
        </p:nvSpPr>
        <p:spPr>
          <a:xfrm>
            <a:off x="698400" y="1155600"/>
            <a:ext cx="7835760" cy="5262480"/>
          </a:xfrm>
          <a:prstGeom prst="rect">
            <a:avLst/>
          </a:prstGeom>
          <a:noFill/>
          <a:ln w="0">
            <a:noFill/>
          </a:ln>
        </p:spPr>
        <p:txBody>
          <a:bodyPr lIns="0" rIns="0" tIns="0" bIns="0" anchor="t">
            <a:spAutoFit/>
          </a:bodyPr>
          <a:p>
            <a:pPr>
              <a:lnSpc>
                <a:spcPct val="85000"/>
              </a:lnSpc>
              <a:tabLst>
                <a:tab algn="l" pos="685800"/>
                <a:tab algn="l" pos="1371600"/>
                <a:tab algn="l" pos="2057400"/>
                <a:tab algn="l" pos="2743200"/>
                <a:tab algn="l" pos="3429000"/>
                <a:tab algn="l" pos="4114800"/>
                <a:tab algn="l" pos="4800600"/>
                <a:tab algn="l" pos="5486400"/>
                <a:tab algn="l" pos="6172200"/>
                <a:tab algn="l" pos="6858000"/>
              </a:tabLst>
            </a:pPr>
            <a:r>
              <a:rPr b="0" lang="en-IN" sz="2400" strike="noStrike" u="none">
                <a:solidFill>
                  <a:srgbClr val="000000"/>
                </a:solidFill>
                <a:effectLst/>
                <a:uFillTx/>
                <a:latin typeface="Times New Roman"/>
                <a:ea typeface="Times New Roman"/>
              </a:rPr>
              <a:t>File names that begin with </a:t>
            </a:r>
            <a:r>
              <a:rPr b="0" i="1" lang="en-IN" sz="2400" strike="noStrike" u="none">
                <a:solidFill>
                  <a:srgbClr val="000000"/>
                </a:solidFill>
                <a:effectLst/>
                <a:uFillTx/>
                <a:latin typeface="Times New Roman"/>
                <a:ea typeface="Times New Roman"/>
              </a:rPr>
              <a:t>a</a:t>
            </a:r>
            <a:r>
              <a:rPr b="0" lang="en-IN" sz="2400" strike="noStrike" u="none">
                <a:solidFill>
                  <a:srgbClr val="000000"/>
                </a:solidFill>
                <a:effectLst/>
                <a:uFillTx/>
                <a:latin typeface="Times New Roman"/>
                <a:ea typeface="Times New Roman"/>
              </a:rPr>
              <a:t> . are normally hidden and most programs ignore them.  (They are </a:t>
            </a:r>
            <a:r>
              <a:rPr b="0" i="1" lang="en-IN" sz="2400" strike="noStrike" u="none">
                <a:solidFill>
                  <a:srgbClr val="000000"/>
                </a:solidFill>
                <a:effectLst/>
                <a:uFillTx/>
                <a:latin typeface="Times New Roman"/>
                <a:ea typeface="Times New Roman"/>
              </a:rPr>
              <a:t>not</a:t>
            </a:r>
            <a:r>
              <a:rPr b="0" lang="en-IN" sz="2400" strike="noStrike" u="none">
                <a:solidFill>
                  <a:srgbClr val="000000"/>
                </a:solidFill>
                <a:effectLst/>
                <a:uFillTx/>
                <a:latin typeface="Times New Roman"/>
                <a:ea typeface="Times New Roman"/>
              </a:rPr>
              <a:t> matched by ‘*’ or ‘?’ in file name patterns.)  The </a:t>
            </a:r>
            <a:r>
              <a:rPr b="0" i="1" lang="en-IN" sz="2400" strike="noStrike" u="none">
                <a:solidFill>
                  <a:srgbClr val="000000"/>
                </a:solidFill>
                <a:effectLst/>
                <a:uFillTx/>
                <a:latin typeface="Times New Roman"/>
                <a:ea typeface="Times New Roman"/>
              </a:rPr>
              <a:t>-a </a:t>
            </a:r>
            <a:r>
              <a:rPr b="0" lang="en-IN" sz="2400" strike="noStrike" u="none">
                <a:solidFill>
                  <a:srgbClr val="000000"/>
                </a:solidFill>
                <a:effectLst/>
                <a:uFillTx/>
                <a:latin typeface="Times New Roman"/>
                <a:ea typeface="Times New Roman"/>
              </a:rPr>
              <a:t>option to </a:t>
            </a:r>
            <a:r>
              <a:rPr b="0" i="1" lang="en-IN" sz="2400" strike="noStrike" u="none">
                <a:solidFill>
                  <a:srgbClr val="000000"/>
                </a:solidFill>
                <a:effectLst/>
                <a:uFillTx/>
                <a:latin typeface="Times New Roman"/>
                <a:ea typeface="Times New Roman"/>
              </a:rPr>
              <a:t>ls</a:t>
            </a:r>
            <a:r>
              <a:rPr b="0" lang="en-IN" sz="2400" strike="noStrike" u="none">
                <a:solidFill>
                  <a:srgbClr val="000000"/>
                </a:solidFill>
                <a:effectLst/>
                <a:uFillTx/>
                <a:latin typeface="Times New Roman"/>
                <a:ea typeface="Times New Roman"/>
              </a:rPr>
              <a:t> will include these files in the output:</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 algn="l" pos="4114800"/>
                <a:tab algn="l" pos="4800600"/>
                <a:tab algn="l" pos="5486400"/>
                <a:tab algn="l" pos="6172200"/>
                <a:tab algn="l" pos="6858000"/>
              </a:tabLst>
            </a:pP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 algn="l" pos="4114800"/>
                <a:tab algn="l" pos="4800600"/>
                <a:tab algn="l" pos="5486400"/>
                <a:tab algn="l" pos="6172200"/>
                <a:tab algn="l" pos="6858000"/>
              </a:tabLst>
            </a:pPr>
            <a:r>
              <a:rPr b="0"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ls -a</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 algn="l" pos="4114800"/>
                <a:tab algn="l" pos="4800600"/>
                <a:tab algn="l" pos="5486400"/>
                <a:tab algn="l" pos="6172200"/>
                <a:tab algn="l" pos="6858000"/>
              </a:tabLst>
            </a:pPr>
            <a:r>
              <a:rPr b="0" lang="en-IN" sz="2400" strike="noStrike" u="none">
                <a:solidFill>
                  <a:srgbClr val="000000"/>
                </a:solidFill>
                <a:effectLst/>
                <a:uFillTx/>
                <a:latin typeface="Times New Roman"/>
                <a:ea typeface="Times New Roman"/>
              </a:rPr>
              <a:t>.   .cshrc</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.profile</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calendar</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 algn="l" pos="4114800"/>
                <a:tab algn="l" pos="4800600"/>
                <a:tab algn="l" pos="5486400"/>
                <a:tab algn="l" pos="6172200"/>
                <a:tab algn="l" pos="6858000"/>
              </a:tabLst>
            </a:pPr>
            <a:r>
              <a:rPr b="0" lang="en-IN" sz="2400" strike="noStrike" u="none">
                <a:solidFill>
                  <a:srgbClr val="000000"/>
                </a:solidFill>
                <a:effectLst/>
                <a:uFillTx/>
                <a:latin typeface="Times New Roman"/>
                <a:ea typeface="Times New Roman"/>
              </a:rPr>
              <a:t>..  .login</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bin</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mbox</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 algn="l" pos="4114800"/>
                <a:tab algn="l" pos="4800600"/>
                <a:tab algn="l" pos="5486400"/>
                <a:tab algn="l" pos="6172200"/>
                <a:tab algn="l" pos="6858000"/>
              </a:tabLst>
            </a:pP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 algn="l" pos="4114800"/>
                <a:tab algn="l" pos="4800600"/>
                <a:tab algn="l" pos="5486400"/>
                <a:tab algn="l" pos="6172200"/>
                <a:tab algn="l" pos="6858000"/>
              </a:tabLst>
            </a:pPr>
            <a:r>
              <a:rPr b="0" lang="en-IN" sz="2400" strike="noStrike" u="none">
                <a:solidFill>
                  <a:srgbClr val="000000"/>
                </a:solidFill>
                <a:effectLst/>
                <a:uFillTx/>
                <a:latin typeface="Times New Roman"/>
                <a:ea typeface="Times New Roman"/>
              </a:rPr>
              <a:t>The </a:t>
            </a:r>
            <a:r>
              <a:rPr b="0" i="1" lang="en-IN" sz="2400" strike="noStrike" u="none">
                <a:solidFill>
                  <a:srgbClr val="000000"/>
                </a:solidFill>
                <a:effectLst/>
                <a:uFillTx/>
                <a:latin typeface="Times New Roman"/>
                <a:ea typeface="Times New Roman"/>
              </a:rPr>
              <a:t>-F </a:t>
            </a:r>
            <a:r>
              <a:rPr b="0" lang="en-IN" sz="2400" strike="noStrike" u="none">
                <a:solidFill>
                  <a:srgbClr val="000000"/>
                </a:solidFill>
                <a:effectLst/>
                <a:uFillTx/>
                <a:latin typeface="Times New Roman"/>
                <a:ea typeface="Times New Roman"/>
              </a:rPr>
              <a:t>option will print a character at the end of each file which identifies the file's type.  A directory is suffixed with /, an executable with *, a symbolic link with @, and a plain file is left alone.</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 algn="l" pos="4114800"/>
                <a:tab algn="l" pos="4800600"/>
                <a:tab algn="l" pos="5486400"/>
                <a:tab algn="l" pos="6172200"/>
                <a:tab algn="l" pos="6858000"/>
              </a:tabLst>
            </a:pPr>
            <a:endParaRPr b="0" lang="en-IN" sz="18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 algn="l" pos="4114800"/>
                <a:tab algn="l" pos="4800600"/>
                <a:tab algn="l" pos="5486400"/>
                <a:tab algn="l" pos="6172200"/>
                <a:tab algn="l" pos="6858000"/>
              </a:tabLst>
            </a:pPr>
            <a:r>
              <a:rPr b="0"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ls -F </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 algn="l" pos="4114800"/>
                <a:tab algn="l" pos="4800600"/>
                <a:tab algn="l" pos="5486400"/>
                <a:tab algn="l" pos="6172200"/>
                <a:tab algn="l" pos="6858000"/>
              </a:tabLst>
            </a:pPr>
            <a:r>
              <a:rPr b="0" lang="en-IN" sz="2400" strike="noStrike" u="none">
                <a:solidFill>
                  <a:srgbClr val="000000"/>
                </a:solidFill>
                <a:effectLst/>
                <a:uFillTx/>
                <a:latin typeface="Times New Roman"/>
                <a:ea typeface="Times New Roman"/>
              </a:rPr>
              <a:t>bin/</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mbox</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myprog*</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 algn="l" pos="4114800"/>
                <a:tab algn="l" pos="4800600"/>
                <a:tab algn="l" pos="5486400"/>
                <a:tab algn="l" pos="6172200"/>
                <a:tab algn="l" pos="6858000"/>
              </a:tabLst>
            </a:pPr>
            <a:r>
              <a:rPr b="0" lang="en-IN" sz="2400" strike="noStrike" u="none">
                <a:solidFill>
                  <a:srgbClr val="000000"/>
                </a:solidFill>
                <a:effectLst/>
                <a:uFillTx/>
                <a:latin typeface="Times New Roman"/>
                <a:ea typeface="Times New Roman"/>
              </a:rPr>
              <a:t>calendar</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mystuff/</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myprog.c</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 name=""/>
          <p:cNvSpPr txBox="1"/>
          <p:nvPr/>
        </p:nvSpPr>
        <p:spPr>
          <a:xfrm>
            <a:off x="1646280" y="279360"/>
            <a:ext cx="5853240" cy="1270080"/>
          </a:xfrm>
          <a:prstGeom prst="rect">
            <a:avLst/>
          </a:prstGeom>
          <a:noFill/>
          <a:ln w="0">
            <a:noFill/>
          </a:ln>
        </p:spPr>
        <p:txBody>
          <a:bodyPr lIns="0" rIns="0" tIns="0" bIns="0" anchor="t">
            <a:spAutoFit/>
          </a:bodyPr>
          <a:p>
            <a:pPr algn="ctr">
              <a:lnSpc>
                <a:spcPct val="111000"/>
              </a:lnSpc>
            </a:pPr>
            <a:r>
              <a:rPr b="1" lang="en-IN" sz="3600" strike="noStrike" u="none">
                <a:solidFill>
                  <a:srgbClr val="000000"/>
                </a:solidFill>
                <a:effectLst/>
                <a:uFillTx/>
                <a:latin typeface="Times New Roman"/>
                <a:ea typeface="Times New Roman"/>
              </a:rPr>
              <a:t>cd and pwd</a:t>
            </a:r>
            <a:br>
              <a:rPr sz="3600"/>
            </a:br>
            <a:r>
              <a:rPr b="1" lang="en-IN" sz="3600" strike="noStrike" u="none">
                <a:solidFill>
                  <a:srgbClr val="000000"/>
                </a:solidFill>
                <a:effectLst/>
                <a:uFillTx/>
                <a:latin typeface="Times New Roman"/>
                <a:ea typeface="Times New Roman"/>
              </a:rPr>
              <a:t>Change to Another Directory</a:t>
            </a:r>
            <a:endParaRPr b="0" lang="en-IN" sz="3600" strike="noStrike" u="none">
              <a:solidFill>
                <a:srgbClr val="000000"/>
              </a:solidFill>
              <a:effectLst/>
              <a:uFillTx/>
              <a:latin typeface="Arial"/>
            </a:endParaRPr>
          </a:p>
        </p:txBody>
      </p:sp>
      <p:sp>
        <p:nvSpPr>
          <p:cNvPr id="104" name=""/>
          <p:cNvSpPr txBox="1"/>
          <p:nvPr/>
        </p:nvSpPr>
        <p:spPr>
          <a:xfrm>
            <a:off x="927000" y="1689120"/>
            <a:ext cx="7302600" cy="4406760"/>
          </a:xfrm>
          <a:prstGeom prst="rect">
            <a:avLst/>
          </a:prstGeom>
          <a:noFill/>
          <a:ln w="0">
            <a:noFill/>
          </a:ln>
        </p:spPr>
        <p:txBody>
          <a:bodyPr lIns="0" rIns="0" tIns="0" bIns="0" anchor="t">
            <a:spAutoFit/>
          </a:bodyPr>
          <a:p>
            <a:pPr>
              <a:lnSpc>
                <a:spcPct val="85000"/>
              </a:lnSpc>
              <a:tabLst>
                <a:tab algn="l" pos="685800"/>
                <a:tab algn="l" pos="1371600"/>
                <a:tab algn="l" pos="2057400"/>
                <a:tab algn="l" pos="2743200"/>
                <a:tab algn="l" pos="3429000"/>
                <a:tab algn="l" pos="4114800"/>
                <a:tab algn="l" pos="4800600"/>
                <a:tab algn="l" pos="5486400"/>
                <a:tab algn="l" pos="6172200"/>
              </a:tabLst>
            </a:pPr>
            <a:r>
              <a:rPr b="0" lang="en-IN" sz="2400" strike="noStrike" u="none">
                <a:solidFill>
                  <a:srgbClr val="000000"/>
                </a:solidFill>
                <a:effectLst/>
                <a:uFillTx/>
                <a:latin typeface="Times New Roman"/>
                <a:ea typeface="Times New Roman"/>
              </a:rPr>
              <a:t>A </a:t>
            </a:r>
            <a:r>
              <a:rPr b="0" i="1" lang="en-IN" sz="2400" strike="noStrike" u="none">
                <a:solidFill>
                  <a:srgbClr val="000000"/>
                </a:solidFill>
                <a:effectLst/>
                <a:uFillTx/>
                <a:latin typeface="Times New Roman"/>
                <a:ea typeface="Times New Roman"/>
              </a:rPr>
              <a:t>cd</a:t>
            </a:r>
            <a:r>
              <a:rPr b="0" lang="en-IN" sz="2400" strike="noStrike" u="none">
                <a:solidFill>
                  <a:srgbClr val="000000"/>
                </a:solidFill>
                <a:effectLst/>
                <a:uFillTx/>
                <a:latin typeface="Times New Roman"/>
                <a:ea typeface="Times New Roman"/>
              </a:rPr>
              <a:t> by itself will take you to your home directory.</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 algn="l" pos="4114800"/>
                <a:tab algn="l" pos="4800600"/>
                <a:tab algn="l" pos="5486400"/>
                <a:tab algn="l" pos="6172200"/>
              </a:tabLst>
            </a:pPr>
            <a:r>
              <a:rPr b="0" lang="en-IN" sz="2400" strike="noStrike" u="none">
                <a:solidFill>
                  <a:srgbClr val="000000"/>
                </a:solidFill>
                <a:effectLst/>
                <a:uFillTx/>
                <a:latin typeface="Times New Roman"/>
                <a:ea typeface="Times New Roman"/>
              </a:rPr>
              <a:t>Under DOS, a plain </a:t>
            </a:r>
            <a:r>
              <a:rPr b="0" i="1" lang="en-IN" sz="2400" strike="noStrike" u="none">
                <a:solidFill>
                  <a:srgbClr val="000000"/>
                </a:solidFill>
                <a:effectLst/>
                <a:uFillTx/>
                <a:latin typeface="Times New Roman"/>
                <a:ea typeface="Times New Roman"/>
              </a:rPr>
              <a:t>cd</a:t>
            </a:r>
            <a:r>
              <a:rPr b="0" lang="en-IN" sz="2400" strike="noStrike" u="none">
                <a:solidFill>
                  <a:srgbClr val="000000"/>
                </a:solidFill>
                <a:effectLst/>
                <a:uFillTx/>
                <a:latin typeface="Times New Roman"/>
                <a:ea typeface="Times New Roman"/>
              </a:rPr>
              <a:t> prints your current directory.</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 algn="l" pos="4114800"/>
                <a:tab algn="l" pos="4800600"/>
                <a:tab algn="l" pos="5486400"/>
                <a:tab algn="l" pos="6172200"/>
              </a:tabLst>
            </a:pPr>
            <a:r>
              <a:rPr b="0" lang="en-IN" sz="2400" strike="noStrike" u="none">
                <a:solidFill>
                  <a:srgbClr val="000000"/>
                </a:solidFill>
                <a:effectLst/>
                <a:uFillTx/>
                <a:latin typeface="Times New Roman"/>
                <a:ea typeface="Times New Roman"/>
              </a:rPr>
              <a:t>Under </a:t>
            </a:r>
            <a:r>
              <a:rPr b="0" lang="en-IN" sz="2000" strike="noStrike" u="none">
                <a:solidFill>
                  <a:srgbClr val="000000"/>
                </a:solidFill>
                <a:effectLst/>
                <a:uFillTx/>
                <a:latin typeface="Times New Roman"/>
                <a:ea typeface="Times New Roman"/>
              </a:rPr>
              <a:t>UNIX</a:t>
            </a:r>
            <a:r>
              <a:rPr b="0" lang="en-IN" sz="2400" strike="noStrike" u="none">
                <a:solidFill>
                  <a:srgbClr val="000000"/>
                </a:solidFill>
                <a:effectLst/>
                <a:uFillTx/>
                <a:latin typeface="Times New Roman"/>
                <a:ea typeface="Times New Roman"/>
              </a:rPr>
              <a:t>, the </a:t>
            </a:r>
            <a:r>
              <a:rPr b="0" i="1" lang="en-IN" sz="2400" strike="noStrike" u="none">
                <a:solidFill>
                  <a:srgbClr val="000000"/>
                </a:solidFill>
                <a:effectLst/>
                <a:uFillTx/>
                <a:latin typeface="Times New Roman"/>
                <a:ea typeface="Times New Roman"/>
              </a:rPr>
              <a:t>pwd</a:t>
            </a:r>
            <a:r>
              <a:rPr b="0" lang="en-IN" sz="2400" strike="noStrike" u="none">
                <a:solidFill>
                  <a:srgbClr val="000000"/>
                </a:solidFill>
                <a:effectLst/>
                <a:uFillTx/>
                <a:latin typeface="Times New Roman"/>
                <a:ea typeface="Times New Roman"/>
              </a:rPr>
              <a:t> (print working directory) command will print the current directory.</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 algn="l" pos="4114800"/>
                <a:tab algn="l" pos="4800600"/>
                <a:tab algn="l" pos="5486400"/>
                <a:tab algn="l" pos="6172200"/>
              </a:tabLst>
            </a:pP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 algn="l" pos="4114800"/>
                <a:tab algn="l" pos="4800600"/>
                <a:tab algn="l" pos="5486400"/>
                <a:tab algn="l" pos="6172200"/>
              </a:tabLst>
            </a:pPr>
            <a:r>
              <a:rPr b="0"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cd</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 algn="l" pos="4114800"/>
                <a:tab algn="l" pos="4800600"/>
                <a:tab algn="l" pos="5486400"/>
                <a:tab algn="l" pos="6172200"/>
              </a:tabLst>
            </a:pPr>
            <a:r>
              <a:rPr b="0"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pwd</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 algn="l" pos="4114800"/>
                <a:tab algn="l" pos="4800600"/>
                <a:tab algn="l" pos="5486400"/>
                <a:tab algn="l" pos="6172200"/>
              </a:tabLst>
            </a:pPr>
            <a:r>
              <a:rPr b="0" lang="en-IN" sz="2400" strike="noStrike" u="none">
                <a:solidFill>
                  <a:srgbClr val="000000"/>
                </a:solidFill>
                <a:effectLst/>
                <a:uFillTx/>
                <a:latin typeface="Times New Roman"/>
                <a:ea typeface="Times New Roman"/>
              </a:rPr>
              <a:t>/home/staff/williams</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 algn="l" pos="4114800"/>
                <a:tab algn="l" pos="4800600"/>
                <a:tab algn="l" pos="5486400"/>
                <a:tab algn="l" pos="6172200"/>
              </a:tabLst>
            </a:pP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 algn="l" pos="4114800"/>
                <a:tab algn="l" pos="4800600"/>
                <a:tab algn="l" pos="5486400"/>
                <a:tab algn="l" pos="6172200"/>
              </a:tabLst>
            </a:pPr>
            <a:r>
              <a:rPr b="0" lang="en-IN" sz="2400" strike="noStrike" u="none">
                <a:solidFill>
                  <a:srgbClr val="000000"/>
                </a:solidFill>
                <a:effectLst/>
                <a:uFillTx/>
                <a:latin typeface="Times New Roman"/>
                <a:ea typeface="Times New Roman"/>
              </a:rPr>
              <a:t>Go to the directory src, in the current directory.</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 algn="l" pos="4114800"/>
                <a:tab algn="l" pos="4800600"/>
                <a:tab algn="l" pos="5486400"/>
                <a:tab algn="l" pos="6172200"/>
              </a:tabLst>
            </a:pPr>
            <a:r>
              <a:rPr b="0"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cd src</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 algn="l" pos="4114800"/>
                <a:tab algn="l" pos="4800600"/>
                <a:tab algn="l" pos="5486400"/>
                <a:tab algn="l" pos="6172200"/>
              </a:tabLst>
            </a:pP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 algn="l" pos="4114800"/>
                <a:tab algn="l" pos="4800600"/>
                <a:tab algn="l" pos="5486400"/>
                <a:tab algn="l" pos="6172200"/>
              </a:tabLst>
            </a:pPr>
            <a:r>
              <a:rPr b="0" lang="en-IN" sz="2400" strike="noStrike" u="none">
                <a:solidFill>
                  <a:srgbClr val="000000"/>
                </a:solidFill>
                <a:effectLst/>
                <a:uFillTx/>
                <a:latin typeface="Times New Roman"/>
                <a:ea typeface="Times New Roman"/>
              </a:rPr>
              <a:t>Go to the directory immediately above this one.</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 algn="l" pos="4114800"/>
                <a:tab algn="l" pos="4800600"/>
                <a:tab algn="l" pos="5486400"/>
                <a:tab algn="l" pos="6172200"/>
              </a:tabLst>
            </a:pPr>
            <a:r>
              <a:rPr b="0"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cd ..</a:t>
            </a:r>
            <a:r>
              <a:rPr b="0" i="1" lang="en-IN" sz="2400" strike="noStrike" u="none">
                <a:solidFill>
                  <a:srgbClr val="000000"/>
                </a:solidFill>
                <a:effectLst/>
                <a:uFillTx/>
                <a:latin typeface="Times New Roman"/>
                <a:ea typeface="Times New Roman"/>
              </a:rPr>
              <a:t>	</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 name=""/>
          <p:cNvSpPr txBox="1"/>
          <p:nvPr/>
        </p:nvSpPr>
        <p:spPr>
          <a:xfrm>
            <a:off x="2292480" y="279360"/>
            <a:ext cx="4557600" cy="1270080"/>
          </a:xfrm>
          <a:prstGeom prst="rect">
            <a:avLst/>
          </a:prstGeom>
          <a:noFill/>
          <a:ln w="0">
            <a:noFill/>
          </a:ln>
        </p:spPr>
        <p:txBody>
          <a:bodyPr lIns="0" rIns="0" tIns="0" bIns="0" anchor="t">
            <a:spAutoFit/>
          </a:bodyPr>
          <a:p>
            <a:pPr algn="ctr">
              <a:lnSpc>
                <a:spcPct val="111000"/>
              </a:lnSpc>
            </a:pPr>
            <a:r>
              <a:rPr b="1" lang="en-IN" sz="3600" strike="noStrike" u="none">
                <a:solidFill>
                  <a:srgbClr val="000000"/>
                </a:solidFill>
                <a:effectLst/>
                <a:uFillTx/>
                <a:latin typeface="Times New Roman"/>
                <a:ea typeface="Times New Roman"/>
              </a:rPr>
              <a:t>mkdir</a:t>
            </a:r>
            <a:br>
              <a:rPr sz="3600"/>
            </a:br>
            <a:r>
              <a:rPr b="1" lang="en-IN" sz="3600" strike="noStrike" u="none">
                <a:solidFill>
                  <a:srgbClr val="000000"/>
                </a:solidFill>
                <a:effectLst/>
                <a:uFillTx/>
                <a:latin typeface="Times New Roman"/>
                <a:ea typeface="Times New Roman"/>
              </a:rPr>
              <a:t>Make a New Directory</a:t>
            </a:r>
            <a:endParaRPr b="0" lang="en-IN" sz="3600" strike="noStrike" u="none">
              <a:solidFill>
                <a:srgbClr val="000000"/>
              </a:solidFill>
              <a:effectLst/>
              <a:uFillTx/>
              <a:latin typeface="Arial"/>
            </a:endParaRPr>
          </a:p>
        </p:txBody>
      </p:sp>
      <p:sp>
        <p:nvSpPr>
          <p:cNvPr id="106" name=""/>
          <p:cNvSpPr txBox="1"/>
          <p:nvPr/>
        </p:nvSpPr>
        <p:spPr>
          <a:xfrm>
            <a:off x="1079640" y="1917720"/>
            <a:ext cx="7149960" cy="3860640"/>
          </a:xfrm>
          <a:prstGeom prst="rect">
            <a:avLst/>
          </a:prstGeom>
          <a:noFill/>
          <a:ln w="0">
            <a:noFill/>
          </a:ln>
        </p:spPr>
        <p:txBody>
          <a:bodyPr lIns="0" rIns="0" tIns="0" bIns="0" anchor="t">
            <a:spAutoFit/>
          </a:bodyPr>
          <a:p>
            <a:pPr>
              <a:lnSpc>
                <a:spcPct val="87000"/>
              </a:lnSpc>
              <a:tabLst>
                <a:tab algn="l" pos="685800"/>
                <a:tab algn="l" pos="1371600"/>
                <a:tab algn="l" pos="2057400"/>
                <a:tab algn="l" pos="2743200"/>
                <a:tab algn="l" pos="3429000"/>
                <a:tab algn="l" pos="4114800"/>
                <a:tab algn="l" pos="4800600"/>
                <a:tab algn="l" pos="5486400"/>
                <a:tab algn="l" pos="6172200"/>
              </a:tabLst>
            </a:pPr>
            <a:r>
              <a:rPr b="0" i="1" lang="en-IN" sz="2400" strike="noStrike" u="none">
                <a:solidFill>
                  <a:srgbClr val="000000"/>
                </a:solidFill>
                <a:effectLst/>
                <a:uFillTx/>
                <a:latin typeface="Times New Roman"/>
                <a:ea typeface="Times New Roman"/>
              </a:rPr>
              <a:t>mkdir</a:t>
            </a:r>
            <a:r>
              <a:rPr b="0" lang="en-IN" sz="2400" strike="noStrike" u="none">
                <a:solidFill>
                  <a:srgbClr val="000000"/>
                </a:solidFill>
                <a:effectLst/>
                <a:uFillTx/>
                <a:latin typeface="Times New Roman"/>
                <a:ea typeface="Times New Roman"/>
              </a:rPr>
              <a:t> is used to create a new directory.  The example below will make directories </a:t>
            </a:r>
            <a:r>
              <a:rPr b="0" i="1" lang="en-IN" sz="2400" strike="noStrike" u="none">
                <a:solidFill>
                  <a:srgbClr val="000000"/>
                </a:solidFill>
                <a:effectLst/>
                <a:uFillTx/>
                <a:latin typeface="Times New Roman"/>
                <a:ea typeface="Times New Roman"/>
              </a:rPr>
              <a:t>foo, bar</a:t>
            </a:r>
            <a:r>
              <a:rPr b="0" lang="en-IN" sz="2400" strike="noStrike" u="none">
                <a:solidFill>
                  <a:srgbClr val="000000"/>
                </a:solidFill>
                <a:effectLst/>
                <a:uFillTx/>
                <a:latin typeface="Times New Roman"/>
                <a:ea typeface="Times New Roman"/>
              </a:rPr>
              <a:t>, and </a:t>
            </a:r>
            <a:r>
              <a:rPr b="0" i="1" lang="en-IN" sz="2400" strike="noStrike" u="none">
                <a:solidFill>
                  <a:srgbClr val="000000"/>
                </a:solidFill>
                <a:effectLst/>
                <a:uFillTx/>
                <a:latin typeface="Times New Roman"/>
                <a:ea typeface="Times New Roman"/>
              </a:rPr>
              <a:t>baz</a:t>
            </a:r>
            <a:r>
              <a:rPr b="0" lang="en-IN" sz="2400" strike="noStrike" u="none">
                <a:solidFill>
                  <a:srgbClr val="000000"/>
                </a:solidFill>
                <a:effectLst/>
                <a:uFillTx/>
                <a:latin typeface="Times New Roman"/>
                <a:ea typeface="Times New Roman"/>
              </a:rPr>
              <a:t>, located in the current directory.  The current directory becomes their </a:t>
            </a:r>
            <a:r>
              <a:rPr b="0" i="1" lang="en-IN" sz="2400" strike="noStrike" u="none">
                <a:solidFill>
                  <a:srgbClr val="000000"/>
                </a:solidFill>
                <a:effectLst/>
                <a:uFillTx/>
                <a:latin typeface="Times New Roman"/>
                <a:ea typeface="Times New Roman"/>
              </a:rPr>
              <a:t>parent</a:t>
            </a:r>
            <a:r>
              <a:rPr b="0" lang="en-IN" sz="2400" strike="noStrike" u="none">
                <a:solidFill>
                  <a:srgbClr val="000000"/>
                </a:solidFill>
                <a:effectLst/>
                <a:uFillTx/>
                <a:latin typeface="Times New Roman"/>
                <a:ea typeface="Times New Roman"/>
              </a:rPr>
              <a:t>  directory.</a:t>
            </a:r>
            <a:endParaRPr b="0" lang="en-IN" sz="2400" strike="noStrike" u="none">
              <a:solidFill>
                <a:srgbClr val="000000"/>
              </a:solidFill>
              <a:effectLst/>
              <a:uFillTx/>
              <a:latin typeface="Arial"/>
            </a:endParaRPr>
          </a:p>
          <a:p>
            <a:pPr>
              <a:lnSpc>
                <a:spcPct val="87000"/>
              </a:lnSpc>
              <a:tabLst>
                <a:tab algn="l" pos="685800"/>
                <a:tab algn="l" pos="1371600"/>
                <a:tab algn="l" pos="2057400"/>
                <a:tab algn="l" pos="2743200"/>
                <a:tab algn="l" pos="3429000"/>
                <a:tab algn="l" pos="4114800"/>
                <a:tab algn="l" pos="4800600"/>
                <a:tab algn="l" pos="5486400"/>
                <a:tab algn="l" pos="6172200"/>
              </a:tabLst>
            </a:pPr>
            <a:endParaRPr b="0" lang="en-IN" sz="2400" strike="noStrike" u="none">
              <a:solidFill>
                <a:srgbClr val="000000"/>
              </a:solidFill>
              <a:effectLst/>
              <a:uFillTx/>
              <a:latin typeface="Arial"/>
            </a:endParaRPr>
          </a:p>
          <a:p>
            <a:pPr>
              <a:lnSpc>
                <a:spcPct val="87000"/>
              </a:lnSpc>
              <a:tabLst>
                <a:tab algn="l" pos="685800"/>
                <a:tab algn="l" pos="1371600"/>
                <a:tab algn="l" pos="2057400"/>
                <a:tab algn="l" pos="2743200"/>
                <a:tab algn="l" pos="3429000"/>
                <a:tab algn="l" pos="4114800"/>
                <a:tab algn="l" pos="4800600"/>
                <a:tab algn="l" pos="5486400"/>
                <a:tab algn="l" pos="6172200"/>
              </a:tabLst>
            </a:pPr>
            <a:r>
              <a:rPr b="0"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mkdir foo bar baz</a:t>
            </a:r>
            <a:endParaRPr b="0" lang="en-IN" sz="2400" strike="noStrike" u="none">
              <a:solidFill>
                <a:srgbClr val="000000"/>
              </a:solidFill>
              <a:effectLst/>
              <a:uFillTx/>
              <a:latin typeface="Arial"/>
            </a:endParaRPr>
          </a:p>
          <a:p>
            <a:pPr>
              <a:lnSpc>
                <a:spcPct val="87000"/>
              </a:lnSpc>
              <a:tabLst>
                <a:tab algn="l" pos="685800"/>
                <a:tab algn="l" pos="1371600"/>
                <a:tab algn="l" pos="2057400"/>
                <a:tab algn="l" pos="2743200"/>
                <a:tab algn="l" pos="3429000"/>
                <a:tab algn="l" pos="4114800"/>
                <a:tab algn="l" pos="4800600"/>
                <a:tab algn="l" pos="5486400"/>
                <a:tab algn="l" pos="6172200"/>
              </a:tabLst>
            </a:pPr>
            <a:endParaRPr b="0" lang="en-IN" sz="2400" strike="noStrike" u="none">
              <a:solidFill>
                <a:srgbClr val="000000"/>
              </a:solidFill>
              <a:effectLst/>
              <a:uFillTx/>
              <a:latin typeface="Arial"/>
            </a:endParaRPr>
          </a:p>
          <a:p>
            <a:pPr>
              <a:lnSpc>
                <a:spcPct val="87000"/>
              </a:lnSpc>
              <a:tabLst>
                <a:tab algn="l" pos="685800"/>
                <a:tab algn="l" pos="1371600"/>
                <a:tab algn="l" pos="2057400"/>
                <a:tab algn="l" pos="2743200"/>
                <a:tab algn="l" pos="3429000"/>
                <a:tab algn="l" pos="4114800"/>
                <a:tab algn="l" pos="4800600"/>
                <a:tab algn="l" pos="5486400"/>
                <a:tab algn="l" pos="6172200"/>
              </a:tabLst>
            </a:pPr>
            <a:r>
              <a:rPr b="0" lang="en-IN" sz="2400" strike="noStrike" u="none">
                <a:solidFill>
                  <a:srgbClr val="000000"/>
                </a:solidFill>
                <a:effectLst/>
                <a:uFillTx/>
                <a:latin typeface="Times New Roman"/>
                <a:ea typeface="Times New Roman"/>
              </a:rPr>
              <a:t>New directories can be made anywhere you have the necessary permissions (i.e., you must have "write permission" on the parent directory).</a:t>
            </a:r>
            <a:endParaRPr b="0" lang="en-IN" sz="2400" strike="noStrike" u="none">
              <a:solidFill>
                <a:srgbClr val="000000"/>
              </a:solidFill>
              <a:effectLst/>
              <a:uFillTx/>
              <a:latin typeface="Arial"/>
            </a:endParaRPr>
          </a:p>
          <a:p>
            <a:pPr>
              <a:lnSpc>
                <a:spcPct val="87000"/>
              </a:lnSpc>
              <a:tabLst>
                <a:tab algn="l" pos="685800"/>
                <a:tab algn="l" pos="1371600"/>
                <a:tab algn="l" pos="2057400"/>
                <a:tab algn="l" pos="2743200"/>
                <a:tab algn="l" pos="3429000"/>
                <a:tab algn="l" pos="4114800"/>
                <a:tab algn="l" pos="4800600"/>
                <a:tab algn="l" pos="5486400"/>
                <a:tab algn="l" pos="6172200"/>
              </a:tabLst>
            </a:pPr>
            <a:endParaRPr b="0" lang="en-IN" sz="2400" strike="noStrike" u="none">
              <a:solidFill>
                <a:srgbClr val="000000"/>
              </a:solidFill>
              <a:effectLst/>
              <a:uFillTx/>
              <a:latin typeface="Arial"/>
            </a:endParaRPr>
          </a:p>
          <a:p>
            <a:pPr>
              <a:lnSpc>
                <a:spcPct val="87000"/>
              </a:lnSpc>
              <a:tabLst>
                <a:tab algn="l" pos="685800"/>
                <a:tab algn="l" pos="1371600"/>
                <a:tab algn="l" pos="2057400"/>
                <a:tab algn="l" pos="2743200"/>
                <a:tab algn="l" pos="3429000"/>
                <a:tab algn="l" pos="4114800"/>
                <a:tab algn="l" pos="4800600"/>
                <a:tab algn="l" pos="5486400"/>
                <a:tab algn="l" pos="6172200"/>
              </a:tabLst>
            </a:pPr>
            <a:r>
              <a:rPr b="0"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mkdir /tmp/jim</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 name=""/>
          <p:cNvSpPr txBox="1"/>
          <p:nvPr/>
        </p:nvSpPr>
        <p:spPr>
          <a:xfrm>
            <a:off x="2546280" y="279360"/>
            <a:ext cx="4037040" cy="1270080"/>
          </a:xfrm>
          <a:prstGeom prst="rect">
            <a:avLst/>
          </a:prstGeom>
          <a:noFill/>
          <a:ln w="0">
            <a:noFill/>
          </a:ln>
        </p:spPr>
        <p:txBody>
          <a:bodyPr lIns="0" rIns="0" tIns="0" bIns="0" anchor="t">
            <a:spAutoFit/>
          </a:bodyPr>
          <a:p>
            <a:pPr algn="ctr">
              <a:lnSpc>
                <a:spcPct val="111000"/>
              </a:lnSpc>
            </a:pPr>
            <a:r>
              <a:rPr b="1" lang="en-IN" sz="3600" strike="noStrike" u="none">
                <a:solidFill>
                  <a:srgbClr val="000000"/>
                </a:solidFill>
                <a:effectLst/>
                <a:uFillTx/>
                <a:latin typeface="Times New Roman"/>
                <a:ea typeface="Times New Roman"/>
              </a:rPr>
              <a:t>rmdir</a:t>
            </a:r>
            <a:br>
              <a:rPr sz="3600"/>
            </a:br>
            <a:r>
              <a:rPr b="1" lang="en-IN" sz="3600" strike="noStrike" u="none">
                <a:solidFill>
                  <a:srgbClr val="000000"/>
                </a:solidFill>
                <a:effectLst/>
                <a:uFillTx/>
                <a:latin typeface="Times New Roman"/>
                <a:ea typeface="Times New Roman"/>
              </a:rPr>
              <a:t>Remove a Directory</a:t>
            </a:r>
            <a:endParaRPr b="0" lang="en-IN" sz="3600" strike="noStrike" u="none">
              <a:solidFill>
                <a:srgbClr val="000000"/>
              </a:solidFill>
              <a:effectLst/>
              <a:uFillTx/>
              <a:latin typeface="Arial"/>
            </a:endParaRPr>
          </a:p>
        </p:txBody>
      </p:sp>
      <p:sp>
        <p:nvSpPr>
          <p:cNvPr id="108" name=""/>
          <p:cNvSpPr txBox="1"/>
          <p:nvPr/>
        </p:nvSpPr>
        <p:spPr>
          <a:xfrm>
            <a:off x="1079640" y="2146320"/>
            <a:ext cx="7149960" cy="2616120"/>
          </a:xfrm>
          <a:prstGeom prst="rect">
            <a:avLst/>
          </a:prstGeom>
          <a:noFill/>
          <a:ln w="0">
            <a:noFill/>
          </a:ln>
        </p:spPr>
        <p:txBody>
          <a:bodyPr lIns="0" rIns="0" tIns="0" bIns="0" anchor="t">
            <a:spAutoFit/>
          </a:bodyPr>
          <a:p>
            <a:pPr>
              <a:lnSpc>
                <a:spcPct val="88000"/>
              </a:lnSpc>
              <a:tabLst>
                <a:tab algn="l" pos="685800"/>
                <a:tab algn="l" pos="1371600"/>
                <a:tab algn="l" pos="2057400"/>
                <a:tab algn="l" pos="2743200"/>
                <a:tab algn="l" pos="3429000"/>
                <a:tab algn="l" pos="4114800"/>
                <a:tab algn="l" pos="4800600"/>
                <a:tab algn="l" pos="5486400"/>
                <a:tab algn="l" pos="6172200"/>
              </a:tabLst>
            </a:pPr>
            <a:r>
              <a:rPr b="0" i="1" lang="en-IN" sz="2400" strike="noStrike" u="none">
                <a:solidFill>
                  <a:srgbClr val="000000"/>
                </a:solidFill>
                <a:effectLst/>
                <a:uFillTx/>
                <a:latin typeface="Times New Roman"/>
                <a:ea typeface="Times New Roman"/>
              </a:rPr>
              <a:t>rmdir </a:t>
            </a:r>
            <a:r>
              <a:rPr b="0" lang="en-IN" sz="2400" strike="noStrike" u="none">
                <a:solidFill>
                  <a:srgbClr val="000000"/>
                </a:solidFill>
                <a:effectLst/>
                <a:uFillTx/>
                <a:latin typeface="Times New Roman"/>
                <a:ea typeface="Times New Roman"/>
              </a:rPr>
              <a:t>will remove an empty directory.  Only empty directories may be removed (but see </a:t>
            </a:r>
            <a:r>
              <a:rPr b="0" i="1" lang="en-IN" sz="2400" strike="noStrike" u="none">
                <a:solidFill>
                  <a:srgbClr val="000000"/>
                </a:solidFill>
                <a:effectLst/>
                <a:uFillTx/>
                <a:latin typeface="Times New Roman"/>
                <a:ea typeface="Times New Roman"/>
              </a:rPr>
              <a:t>rm -r</a:t>
            </a:r>
            <a:r>
              <a:rPr b="0" lang="en-IN" sz="2400" strike="noStrike" u="none">
                <a:solidFill>
                  <a:srgbClr val="000000"/>
                </a:solidFill>
                <a:effectLst/>
                <a:uFillTx/>
                <a:latin typeface="Times New Roman"/>
                <a:ea typeface="Times New Roman"/>
              </a:rPr>
              <a:t>, later).</a:t>
            </a: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 algn="l" pos="4114800"/>
                <a:tab algn="l" pos="4800600"/>
                <a:tab algn="l" pos="5486400"/>
                <a:tab algn="l" pos="6172200"/>
              </a:tabLst>
            </a:pP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 algn="l" pos="4114800"/>
                <a:tab algn="l" pos="4800600"/>
                <a:tab algn="l" pos="5486400"/>
                <a:tab algn="l" pos="6172200"/>
              </a:tabLst>
            </a:pPr>
            <a:r>
              <a:rPr b="0"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rmdir /tmp/jim tmp</a:t>
            </a: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 algn="l" pos="4114800"/>
                <a:tab algn="l" pos="4800600"/>
                <a:tab algn="l" pos="5486400"/>
                <a:tab algn="l" pos="6172200"/>
              </a:tabLst>
            </a:pP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 algn="l" pos="4114800"/>
                <a:tab algn="l" pos="4800600"/>
                <a:tab algn="l" pos="5486400"/>
                <a:tab algn="l" pos="6172200"/>
              </a:tabLst>
            </a:pPr>
            <a:r>
              <a:rPr b="0" lang="en-IN" sz="2400" strike="noStrike" u="none">
                <a:solidFill>
                  <a:srgbClr val="000000"/>
                </a:solidFill>
                <a:effectLst/>
                <a:uFillTx/>
                <a:latin typeface="Times New Roman"/>
                <a:ea typeface="Times New Roman"/>
              </a:rPr>
              <a:t>To remove a directory, it must be empty and you must have write permission on the parent.  Some systems put further restrictions on file and directory removal.</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 name=""/>
          <p:cNvSpPr txBox="1"/>
          <p:nvPr/>
        </p:nvSpPr>
        <p:spPr>
          <a:xfrm>
            <a:off x="2481120" y="279360"/>
            <a:ext cx="4178160" cy="1270080"/>
          </a:xfrm>
          <a:prstGeom prst="rect">
            <a:avLst/>
          </a:prstGeom>
          <a:noFill/>
          <a:ln w="0">
            <a:noFill/>
          </a:ln>
        </p:spPr>
        <p:txBody>
          <a:bodyPr lIns="0" rIns="0" tIns="0" bIns="0" anchor="t">
            <a:spAutoFit/>
          </a:bodyPr>
          <a:p>
            <a:pPr algn="ctr">
              <a:lnSpc>
                <a:spcPct val="111000"/>
              </a:lnSpc>
            </a:pPr>
            <a:r>
              <a:rPr b="1" lang="en-IN" sz="3600" strike="noStrike" u="none">
                <a:solidFill>
                  <a:srgbClr val="000000"/>
                </a:solidFill>
                <a:effectLst/>
                <a:uFillTx/>
                <a:latin typeface="Times New Roman"/>
                <a:ea typeface="Times New Roman"/>
              </a:rPr>
              <a:t>echo</a:t>
            </a:r>
            <a:br>
              <a:rPr sz="3600"/>
            </a:br>
            <a:r>
              <a:rPr b="1" lang="en-IN" sz="3600" strike="noStrike" u="none">
                <a:solidFill>
                  <a:srgbClr val="000000"/>
                </a:solidFill>
                <a:effectLst/>
                <a:uFillTx/>
                <a:latin typeface="Times New Roman"/>
                <a:ea typeface="Times New Roman"/>
              </a:rPr>
              <a:t>Print Text on Screen</a:t>
            </a:r>
            <a:endParaRPr b="0" lang="en-IN" sz="3600" strike="noStrike" u="none">
              <a:solidFill>
                <a:srgbClr val="000000"/>
              </a:solidFill>
              <a:effectLst/>
              <a:uFillTx/>
              <a:latin typeface="Arial"/>
            </a:endParaRPr>
          </a:p>
        </p:txBody>
      </p:sp>
      <p:sp>
        <p:nvSpPr>
          <p:cNvPr id="110" name=""/>
          <p:cNvSpPr txBox="1"/>
          <p:nvPr/>
        </p:nvSpPr>
        <p:spPr>
          <a:xfrm>
            <a:off x="1079640" y="1612800"/>
            <a:ext cx="7149960" cy="4765680"/>
          </a:xfrm>
          <a:prstGeom prst="rect">
            <a:avLst/>
          </a:prstGeom>
          <a:noFill/>
          <a:ln w="0">
            <a:noFill/>
          </a:ln>
        </p:spPr>
        <p:txBody>
          <a:bodyPr lIns="0" rIns="0" tIns="0" bIns="0" anchor="t">
            <a:spAutoFit/>
          </a:bodyPr>
          <a:p>
            <a:pPr>
              <a:lnSpc>
                <a:spcPct val="86000"/>
              </a:lnSpc>
              <a:tabLst>
                <a:tab algn="l" pos="685800"/>
                <a:tab algn="l" pos="1371600"/>
                <a:tab algn="l" pos="2057400"/>
                <a:tab algn="l" pos="2743200"/>
                <a:tab algn="l" pos="3429000"/>
                <a:tab algn="l" pos="4114800"/>
                <a:tab algn="l" pos="4800600"/>
                <a:tab algn="l" pos="5486400"/>
                <a:tab algn="l" pos="6172200"/>
              </a:tabLst>
            </a:pPr>
            <a:r>
              <a:rPr b="0" lang="en-IN" sz="2400" strike="noStrike" u="none">
                <a:solidFill>
                  <a:srgbClr val="000000"/>
                </a:solidFill>
                <a:effectLst/>
                <a:uFillTx/>
                <a:latin typeface="Times New Roman"/>
                <a:ea typeface="Times New Roman"/>
              </a:rPr>
              <a:t>The </a:t>
            </a:r>
            <a:r>
              <a:rPr b="0" i="1" lang="en-IN" sz="2400" strike="noStrike" u="none">
                <a:solidFill>
                  <a:srgbClr val="000000"/>
                </a:solidFill>
                <a:effectLst/>
                <a:uFillTx/>
                <a:latin typeface="Times New Roman"/>
                <a:ea typeface="Times New Roman"/>
              </a:rPr>
              <a:t>echo</a:t>
            </a:r>
            <a:r>
              <a:rPr b="0" lang="en-IN" sz="2400" strike="noStrike" u="none">
                <a:solidFill>
                  <a:srgbClr val="000000"/>
                </a:solidFill>
                <a:effectLst/>
                <a:uFillTx/>
                <a:latin typeface="Times New Roman"/>
                <a:ea typeface="Times New Roman"/>
              </a:rPr>
              <a:t> command causes its arguments to be printed on the screen.</a:t>
            </a:r>
            <a:endParaRPr b="0" lang="en-IN" sz="24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 algn="l" pos="4114800"/>
                <a:tab algn="l" pos="4800600"/>
                <a:tab algn="l" pos="5486400"/>
                <a:tab algn="l" pos="6172200"/>
              </a:tabLst>
            </a:pPr>
            <a:endParaRPr b="0" lang="en-IN" sz="24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 algn="l" pos="4114800"/>
                <a:tab algn="l" pos="4800600"/>
                <a:tab algn="l" pos="5486400"/>
                <a:tab algn="l" pos="6172200"/>
              </a:tabLst>
            </a:pPr>
            <a:r>
              <a:rPr b="0"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echo foo bar baz</a:t>
            </a:r>
            <a:endParaRPr b="0" lang="en-IN" sz="24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 algn="l" pos="4114800"/>
                <a:tab algn="l" pos="4800600"/>
                <a:tab algn="l" pos="5486400"/>
                <a:tab algn="l" pos="6172200"/>
              </a:tabLst>
            </a:pPr>
            <a:r>
              <a:rPr b="0" lang="en-IN" sz="2400" strike="noStrike" u="none">
                <a:solidFill>
                  <a:srgbClr val="000000"/>
                </a:solidFill>
                <a:effectLst/>
                <a:uFillTx/>
                <a:latin typeface="Times New Roman"/>
                <a:ea typeface="Times New Roman"/>
              </a:rPr>
              <a:t>foo bar baz</a:t>
            </a:r>
            <a:endParaRPr b="0" lang="en-IN" sz="24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 algn="l" pos="4114800"/>
                <a:tab algn="l" pos="4800600"/>
                <a:tab algn="l" pos="5486400"/>
                <a:tab algn="l" pos="6172200"/>
              </a:tabLst>
            </a:pPr>
            <a:endParaRPr b="0" lang="en-IN" sz="24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 algn="l" pos="4114800"/>
                <a:tab algn="l" pos="4800600"/>
                <a:tab algn="l" pos="5486400"/>
                <a:tab algn="l" pos="6172200"/>
              </a:tabLst>
            </a:pPr>
            <a:r>
              <a:rPr b="0" lang="en-IN" sz="2400" strike="noStrike" u="none">
                <a:solidFill>
                  <a:srgbClr val="000000"/>
                </a:solidFill>
                <a:effectLst/>
                <a:uFillTx/>
                <a:latin typeface="Times New Roman"/>
                <a:ea typeface="Times New Roman"/>
              </a:rPr>
              <a:t>The </a:t>
            </a:r>
            <a:r>
              <a:rPr b="0" i="1" lang="en-IN" sz="2400" strike="noStrike" u="none">
                <a:solidFill>
                  <a:srgbClr val="000000"/>
                </a:solidFill>
                <a:effectLst/>
                <a:uFillTx/>
                <a:latin typeface="Times New Roman"/>
                <a:ea typeface="Times New Roman"/>
              </a:rPr>
              <a:t>-n </a:t>
            </a:r>
            <a:r>
              <a:rPr b="0" lang="en-IN" sz="2400" strike="noStrike" u="none">
                <a:solidFill>
                  <a:srgbClr val="000000"/>
                </a:solidFill>
                <a:effectLst/>
                <a:uFillTx/>
                <a:latin typeface="Times New Roman"/>
                <a:ea typeface="Times New Roman"/>
              </a:rPr>
              <a:t>option supresses the final newline, which is useful for prompts in shell scripts.</a:t>
            </a:r>
            <a:endParaRPr b="0" lang="en-IN" sz="24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 algn="l" pos="4114800"/>
                <a:tab algn="l" pos="4800600"/>
                <a:tab algn="l" pos="5486400"/>
                <a:tab algn="l" pos="6172200"/>
              </a:tabLst>
            </a:pPr>
            <a:endParaRPr b="0" lang="en-IN" sz="24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 algn="l" pos="4114800"/>
                <a:tab algn="l" pos="4800600"/>
                <a:tab algn="l" pos="5486400"/>
                <a:tab algn="l" pos="6172200"/>
              </a:tabLst>
            </a:pPr>
            <a:r>
              <a:rPr b="0"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echo -n "Enter name: "</a:t>
            </a:r>
            <a:endParaRPr b="0" lang="en-IN" sz="24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 algn="l" pos="4114800"/>
                <a:tab algn="l" pos="4800600"/>
                <a:tab algn="l" pos="5486400"/>
                <a:tab algn="l" pos="6172200"/>
              </a:tabLst>
            </a:pPr>
            <a:r>
              <a:rPr b="0" lang="en-IN" sz="2400" strike="noStrike" u="none">
                <a:solidFill>
                  <a:srgbClr val="000000"/>
                </a:solidFill>
                <a:effectLst/>
                <a:uFillTx/>
                <a:latin typeface="Times New Roman"/>
                <a:ea typeface="Times New Roman"/>
              </a:rPr>
              <a:t>Enter name: %</a:t>
            </a:r>
            <a:endParaRPr b="0" lang="en-IN" sz="24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 algn="l" pos="4114800"/>
                <a:tab algn="l" pos="4800600"/>
                <a:tab algn="l" pos="5486400"/>
                <a:tab algn="l" pos="6172200"/>
              </a:tabLst>
            </a:pPr>
            <a:endParaRPr b="0" lang="en-IN" sz="24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 algn="l" pos="4114800"/>
                <a:tab algn="l" pos="4800600"/>
                <a:tab algn="l" pos="5486400"/>
                <a:tab algn="l" pos="6172200"/>
              </a:tabLst>
            </a:pPr>
            <a:r>
              <a:rPr b="0" lang="en-IN" sz="2400" strike="noStrike" u="none">
                <a:solidFill>
                  <a:srgbClr val="000000"/>
                </a:solidFill>
                <a:effectLst/>
                <a:uFillTx/>
                <a:latin typeface="Times New Roman"/>
                <a:ea typeface="Times New Roman"/>
              </a:rPr>
              <a:t>The System V R4 echo also supports several C-like escapes, which permit certain special effects.  Many </a:t>
            </a:r>
            <a:r>
              <a:rPr b="0" lang="en-IN" sz="2000" strike="noStrike" u="none">
                <a:solidFill>
                  <a:srgbClr val="000000"/>
                </a:solidFill>
                <a:effectLst/>
                <a:uFillTx/>
                <a:latin typeface="Times New Roman"/>
                <a:ea typeface="Times New Roman"/>
              </a:rPr>
              <a:t>UNIX </a:t>
            </a:r>
            <a:r>
              <a:rPr b="0" lang="en-IN" sz="2400" strike="noStrike" u="none">
                <a:solidFill>
                  <a:srgbClr val="000000"/>
                </a:solidFill>
                <a:effectLst/>
                <a:uFillTx/>
                <a:latin typeface="Times New Roman"/>
                <a:ea typeface="Times New Roman"/>
              </a:rPr>
              <a:t>purists hate this “feature”.</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 name=""/>
          <p:cNvSpPr txBox="1"/>
          <p:nvPr/>
        </p:nvSpPr>
        <p:spPr>
          <a:xfrm>
            <a:off x="2909880" y="279360"/>
            <a:ext cx="3313080" cy="1270080"/>
          </a:xfrm>
          <a:prstGeom prst="rect">
            <a:avLst/>
          </a:prstGeom>
          <a:noFill/>
          <a:ln w="0">
            <a:noFill/>
          </a:ln>
        </p:spPr>
        <p:txBody>
          <a:bodyPr lIns="0" rIns="0" tIns="0" bIns="0" anchor="t">
            <a:spAutoFit/>
          </a:bodyPr>
          <a:p>
            <a:pPr algn="ctr">
              <a:lnSpc>
                <a:spcPct val="111000"/>
              </a:lnSpc>
            </a:pPr>
            <a:r>
              <a:rPr b="1" lang="en-IN" sz="3600" strike="noStrike" u="none">
                <a:solidFill>
                  <a:srgbClr val="000000"/>
                </a:solidFill>
                <a:effectLst/>
                <a:uFillTx/>
                <a:latin typeface="Times New Roman"/>
                <a:ea typeface="Times New Roman"/>
              </a:rPr>
              <a:t>more</a:t>
            </a:r>
            <a:br>
              <a:rPr sz="3600"/>
            </a:br>
            <a:r>
              <a:rPr b="1" lang="en-IN" sz="3600" strike="noStrike" u="none">
                <a:solidFill>
                  <a:srgbClr val="000000"/>
                </a:solidFill>
                <a:effectLst/>
                <a:uFillTx/>
                <a:latin typeface="Times New Roman"/>
                <a:ea typeface="Times New Roman"/>
              </a:rPr>
              <a:t>View a Text File</a:t>
            </a:r>
            <a:endParaRPr b="0" lang="en-IN" sz="3600" strike="noStrike" u="none">
              <a:solidFill>
                <a:srgbClr val="000000"/>
              </a:solidFill>
              <a:effectLst/>
              <a:uFillTx/>
              <a:latin typeface="Arial"/>
            </a:endParaRPr>
          </a:p>
        </p:txBody>
      </p:sp>
      <p:sp>
        <p:nvSpPr>
          <p:cNvPr id="112" name=""/>
          <p:cNvSpPr txBox="1"/>
          <p:nvPr/>
        </p:nvSpPr>
        <p:spPr>
          <a:xfrm>
            <a:off x="546120" y="1612800"/>
            <a:ext cx="8217000" cy="4219560"/>
          </a:xfrm>
          <a:prstGeom prst="rect">
            <a:avLst/>
          </a:prstGeom>
          <a:noFill/>
          <a:ln w="0">
            <a:noFill/>
          </a:ln>
        </p:spPr>
        <p:txBody>
          <a:bodyPr lIns="0" rIns="0" tIns="0" bIns="0" anchor="t">
            <a:spAutoFit/>
          </a:bodyPr>
          <a:p>
            <a:pPr>
              <a:lnSpc>
                <a:spcPct val="88000"/>
              </a:lnSpc>
              <a:tabLst>
                <a:tab algn="l" pos="685800"/>
                <a:tab algn="l" pos="1371600"/>
                <a:tab algn="l" pos="2057400"/>
                <a:tab algn="l" pos="2743200"/>
                <a:tab algn="l" pos="3429000"/>
                <a:tab algn="l" pos="4114800"/>
                <a:tab algn="l" pos="4800600"/>
                <a:tab algn="l" pos="5486400"/>
                <a:tab algn="l" pos="6172200"/>
              </a:tabLst>
            </a:pPr>
            <a:r>
              <a:rPr b="0" lang="en-IN" sz="2400" strike="noStrike" u="none">
                <a:solidFill>
                  <a:srgbClr val="000000"/>
                </a:solidFill>
                <a:effectLst/>
                <a:uFillTx/>
                <a:latin typeface="Times New Roman"/>
                <a:ea typeface="Times New Roman"/>
              </a:rPr>
              <a:t>The </a:t>
            </a:r>
            <a:r>
              <a:rPr b="0" i="1" lang="en-IN" sz="2400" strike="noStrike" u="none">
                <a:solidFill>
                  <a:srgbClr val="000000"/>
                </a:solidFill>
                <a:effectLst/>
                <a:uFillTx/>
                <a:latin typeface="Times New Roman"/>
                <a:ea typeface="Times New Roman"/>
              </a:rPr>
              <a:t>more</a:t>
            </a:r>
            <a:r>
              <a:rPr b="0" lang="en-IN" sz="2400" strike="noStrike" u="none">
                <a:solidFill>
                  <a:srgbClr val="000000"/>
                </a:solidFill>
                <a:effectLst/>
                <a:uFillTx/>
                <a:latin typeface="Times New Roman"/>
                <a:ea typeface="Times New Roman"/>
              </a:rPr>
              <a:t> command is the most common program used for file viewing.</a:t>
            </a: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 algn="l" pos="4114800"/>
                <a:tab algn="l" pos="4800600"/>
                <a:tab algn="l" pos="5486400"/>
                <a:tab algn="l" pos="6172200"/>
              </a:tabLst>
            </a:pP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 algn="l" pos="4114800"/>
                <a:tab algn="l" pos="4800600"/>
                <a:tab algn="l" pos="5486400"/>
                <a:tab algn="l" pos="6172200"/>
              </a:tabLst>
            </a:pPr>
            <a:r>
              <a:rPr b="0"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more stuff.text</a:t>
            </a: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 algn="l" pos="4114800"/>
                <a:tab algn="l" pos="4800600"/>
                <a:tab algn="l" pos="5486400"/>
                <a:tab algn="l" pos="6172200"/>
              </a:tabLst>
            </a:pP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 algn="l" pos="4114800"/>
                <a:tab algn="l" pos="4800600"/>
                <a:tab algn="l" pos="5486400"/>
                <a:tab algn="l" pos="6172200"/>
              </a:tabLst>
            </a:pPr>
            <a:r>
              <a:rPr b="0" i="1" lang="en-IN" sz="2400" strike="noStrike" u="none">
                <a:solidFill>
                  <a:srgbClr val="000000"/>
                </a:solidFill>
                <a:effectLst/>
                <a:uFillTx/>
                <a:latin typeface="Times New Roman"/>
                <a:ea typeface="Times New Roman"/>
              </a:rPr>
              <a:t>more</a:t>
            </a:r>
            <a:r>
              <a:rPr b="0" lang="en-IN" sz="2400" strike="noStrike" u="none">
                <a:solidFill>
                  <a:srgbClr val="000000"/>
                </a:solidFill>
                <a:effectLst/>
                <a:uFillTx/>
                <a:latin typeface="Times New Roman"/>
                <a:ea typeface="Times New Roman"/>
              </a:rPr>
              <a:t> will display one page at a time, waiting for the user to hit a key before going on to the next page.  DOS's crippled more is based on this program.</a:t>
            </a: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 algn="l" pos="4114800"/>
                <a:tab algn="l" pos="4800600"/>
                <a:tab algn="l" pos="5486400"/>
                <a:tab algn="l" pos="6172200"/>
              </a:tabLst>
            </a:pP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 algn="l" pos="4114800"/>
                <a:tab algn="l" pos="4800600"/>
                <a:tab algn="l" pos="5486400"/>
                <a:tab algn="l" pos="6172200"/>
              </a:tabLst>
            </a:pPr>
            <a:r>
              <a:rPr b="0" lang="en-IN" sz="2400" strike="noStrike" u="none">
                <a:solidFill>
                  <a:srgbClr val="000000"/>
                </a:solidFill>
                <a:effectLst/>
                <a:uFillTx/>
                <a:latin typeface="Times New Roman"/>
                <a:ea typeface="Times New Roman"/>
              </a:rPr>
              <a:t>System V based systems have </a:t>
            </a:r>
            <a:r>
              <a:rPr b="0" i="1" lang="en-IN" sz="2400" strike="noStrike" u="none">
                <a:solidFill>
                  <a:srgbClr val="000000"/>
                </a:solidFill>
                <a:effectLst/>
                <a:uFillTx/>
                <a:latin typeface="Times New Roman"/>
                <a:ea typeface="Times New Roman"/>
              </a:rPr>
              <a:t>pg</a:t>
            </a:r>
            <a:r>
              <a:rPr b="0" lang="en-IN" sz="2400" strike="noStrike" u="none">
                <a:solidFill>
                  <a:srgbClr val="000000"/>
                </a:solidFill>
                <a:effectLst/>
                <a:uFillTx/>
                <a:latin typeface="Times New Roman"/>
                <a:ea typeface="Times New Roman"/>
              </a:rPr>
              <a:t> (for “page”), rather than </a:t>
            </a:r>
            <a:r>
              <a:rPr b="0" i="1" lang="en-IN" sz="2400" strike="noStrike" u="none">
                <a:solidFill>
                  <a:srgbClr val="000000"/>
                </a:solidFill>
                <a:effectLst/>
                <a:uFillTx/>
                <a:latin typeface="Times New Roman"/>
                <a:ea typeface="Times New Roman"/>
              </a:rPr>
              <a:t>more</a:t>
            </a:r>
            <a:r>
              <a:rPr b="0"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pg</a:t>
            </a:r>
            <a:r>
              <a:rPr b="0" lang="en-IN" sz="2400" strike="noStrike" u="none">
                <a:solidFill>
                  <a:srgbClr val="000000"/>
                </a:solidFill>
                <a:effectLst/>
                <a:uFillTx/>
                <a:latin typeface="Times New Roman"/>
                <a:ea typeface="Times New Roman"/>
              </a:rPr>
              <a:t> is very primitive compared to more.  A much better pager is the freely available less program. less is rather more than more, and quite a bit more than </a:t>
            </a:r>
            <a:r>
              <a:rPr b="0" i="1" lang="en-IN" sz="2400" strike="noStrike" u="none">
                <a:solidFill>
                  <a:srgbClr val="000000"/>
                </a:solidFill>
                <a:effectLst/>
                <a:uFillTx/>
                <a:latin typeface="Times New Roman"/>
                <a:ea typeface="Times New Roman"/>
              </a:rPr>
              <a:t>pg</a:t>
            </a:r>
            <a:r>
              <a:rPr b="0" lang="en-IN" sz="2400" strike="noStrike" u="none">
                <a:solidFill>
                  <a:srgbClr val="000000"/>
                </a:solidFill>
                <a:effectLst/>
                <a:uFillTx/>
                <a:latin typeface="Times New Roman"/>
                <a:ea typeface="Times New Roman"/>
              </a:rPr>
              <a:t>.  This can be confusing.</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 name=""/>
          <p:cNvSpPr txBox="1"/>
          <p:nvPr/>
        </p:nvSpPr>
        <p:spPr>
          <a:xfrm>
            <a:off x="1778040" y="279360"/>
            <a:ext cx="5575320" cy="1270080"/>
          </a:xfrm>
          <a:prstGeom prst="rect">
            <a:avLst/>
          </a:prstGeom>
          <a:noFill/>
          <a:ln w="0">
            <a:noFill/>
          </a:ln>
        </p:spPr>
        <p:txBody>
          <a:bodyPr lIns="0" rIns="0" tIns="0" bIns="0" anchor="t">
            <a:spAutoFit/>
          </a:bodyPr>
          <a:p>
            <a:pPr algn="ctr">
              <a:lnSpc>
                <a:spcPct val="111000"/>
              </a:lnSpc>
            </a:pPr>
            <a:r>
              <a:rPr b="1" lang="en-IN" sz="3600" strike="noStrike" u="none">
                <a:solidFill>
                  <a:srgbClr val="000000"/>
                </a:solidFill>
                <a:effectLst/>
                <a:uFillTx/>
                <a:latin typeface="Times New Roman"/>
                <a:ea typeface="Times New Roman"/>
              </a:rPr>
              <a:t>cat</a:t>
            </a:r>
            <a:br>
              <a:rPr sz="3600"/>
            </a:br>
            <a:r>
              <a:rPr b="1" lang="en-IN" sz="3600" strike="noStrike" u="none">
                <a:solidFill>
                  <a:srgbClr val="000000"/>
                </a:solidFill>
                <a:effectLst/>
                <a:uFillTx/>
                <a:latin typeface="Times New Roman"/>
                <a:ea typeface="Times New Roman"/>
              </a:rPr>
              <a:t>Concatenate and Print Files</a:t>
            </a:r>
            <a:endParaRPr b="0" lang="en-IN" sz="3600" strike="noStrike" u="none">
              <a:solidFill>
                <a:srgbClr val="000000"/>
              </a:solidFill>
              <a:effectLst/>
              <a:uFillTx/>
              <a:latin typeface="Arial"/>
            </a:endParaRPr>
          </a:p>
        </p:txBody>
      </p:sp>
      <p:sp>
        <p:nvSpPr>
          <p:cNvPr id="114" name=""/>
          <p:cNvSpPr txBox="1"/>
          <p:nvPr/>
        </p:nvSpPr>
        <p:spPr>
          <a:xfrm>
            <a:off x="622440" y="1917720"/>
            <a:ext cx="7988400" cy="3641760"/>
          </a:xfrm>
          <a:prstGeom prst="rect">
            <a:avLst/>
          </a:prstGeom>
          <a:noFill/>
          <a:ln w="0">
            <a:noFill/>
          </a:ln>
        </p:spPr>
        <p:txBody>
          <a:bodyPr lIns="0" rIns="0" tIns="0" bIns="0" anchor="t">
            <a:spAutoFit/>
          </a:bodyPr>
          <a:p>
            <a:pPr>
              <a:lnSpc>
                <a:spcPct val="87000"/>
              </a:lnSpc>
              <a:tabLst>
                <a:tab algn="l" pos="685800"/>
                <a:tab algn="l" pos="1371600"/>
                <a:tab algn="l" pos="2057400"/>
                <a:tab algn="l" pos="2743200"/>
                <a:tab algn="l" pos="3429000"/>
                <a:tab algn="l" pos="4114800"/>
                <a:tab algn="l" pos="4800600"/>
                <a:tab algn="l" pos="5486400"/>
                <a:tab algn="l" pos="6172200"/>
              </a:tabLst>
            </a:pPr>
            <a:r>
              <a:rPr b="0" i="1" lang="en-IN" sz="2400" strike="noStrike" u="none">
                <a:solidFill>
                  <a:srgbClr val="000000"/>
                </a:solidFill>
                <a:effectLst/>
                <a:uFillTx/>
                <a:latin typeface="Times New Roman"/>
                <a:ea typeface="Times New Roman"/>
              </a:rPr>
              <a:t>cat</a:t>
            </a:r>
            <a:r>
              <a:rPr b="0" lang="en-IN" sz="2400" strike="noStrike" u="none">
                <a:solidFill>
                  <a:srgbClr val="000000"/>
                </a:solidFill>
                <a:effectLst/>
                <a:uFillTx/>
                <a:latin typeface="Times New Roman"/>
                <a:ea typeface="Times New Roman"/>
              </a:rPr>
              <a:t> is used to combine, or concatenate, files, and send them to the standard output.</a:t>
            </a:r>
            <a:endParaRPr b="0" lang="en-IN" sz="2400" strike="noStrike" u="none">
              <a:solidFill>
                <a:srgbClr val="000000"/>
              </a:solidFill>
              <a:effectLst/>
              <a:uFillTx/>
              <a:latin typeface="Arial"/>
            </a:endParaRPr>
          </a:p>
          <a:p>
            <a:pPr lvl="1" marL="800280" indent="-343080">
              <a:lnSpc>
                <a:spcPct val="90000"/>
              </a:lnSpc>
              <a:spcBef>
                <a:spcPts val="720"/>
              </a:spcBef>
              <a:buClr>
                <a:srgbClr val="000000"/>
              </a:buClr>
              <a:buFont typeface=""/>
              <a:buChar char=""/>
              <a:tabLst>
                <a:tab algn="l" pos="571680"/>
                <a:tab algn="l" pos="1257480"/>
                <a:tab algn="l" pos="1943280"/>
                <a:tab algn="l" pos="2628720"/>
                <a:tab algn="l" pos="3314880"/>
                <a:tab algn="l" pos="4000680"/>
                <a:tab algn="l" pos="4686120"/>
                <a:tab algn="l" pos="5372280"/>
              </a:tabLst>
            </a:pPr>
            <a:r>
              <a:rPr b="0" lang="en-IN" sz="2000" strike="noStrike" u="none">
                <a:solidFill>
                  <a:srgbClr val="000000"/>
                </a:solidFill>
                <a:effectLst/>
                <a:uFillTx/>
                <a:latin typeface="Times New Roman"/>
                <a:ea typeface="Times New Roman"/>
              </a:rPr>
              <a:t>no pauses occur between screenfuls of text.</a:t>
            </a:r>
            <a:endParaRPr b="0" lang="en-IN" sz="2000" strike="noStrike" u="none">
              <a:solidFill>
                <a:srgbClr val="000000"/>
              </a:solidFill>
              <a:effectLst/>
              <a:uFillTx/>
              <a:latin typeface="Arial"/>
            </a:endParaRPr>
          </a:p>
          <a:p>
            <a:pPr lvl="1" marL="800280" indent="-343080">
              <a:lnSpc>
                <a:spcPct val="90000"/>
              </a:lnSpc>
              <a:spcBef>
                <a:spcPts val="720"/>
              </a:spcBef>
              <a:buClr>
                <a:srgbClr val="000000"/>
              </a:buClr>
              <a:buFont typeface=""/>
              <a:buChar char=""/>
              <a:tabLst>
                <a:tab algn="l" pos="571680"/>
                <a:tab algn="l" pos="1257480"/>
                <a:tab algn="l" pos="1943280"/>
                <a:tab algn="l" pos="2628720"/>
                <a:tab algn="l" pos="3314880"/>
                <a:tab algn="l" pos="4000680"/>
                <a:tab algn="l" pos="4686120"/>
                <a:tab algn="l" pos="5372280"/>
              </a:tabLst>
            </a:pPr>
            <a:r>
              <a:rPr b="0" lang="en-IN" sz="2000" strike="noStrike" u="none">
                <a:solidFill>
                  <a:srgbClr val="000000"/>
                </a:solidFill>
                <a:effectLst/>
                <a:uFillTx/>
                <a:latin typeface="Times New Roman"/>
                <a:ea typeface="Times New Roman"/>
              </a:rPr>
              <a:t>mostly used  to combine several files into one</a:t>
            </a:r>
            <a:endParaRPr b="0" lang="en-IN" sz="2000" strike="noStrike" u="none">
              <a:solidFill>
                <a:srgbClr val="000000"/>
              </a:solidFill>
              <a:effectLst/>
              <a:uFillTx/>
              <a:latin typeface="Arial"/>
            </a:endParaRPr>
          </a:p>
          <a:p>
            <a:pPr>
              <a:lnSpc>
                <a:spcPct val="87000"/>
              </a:lnSpc>
              <a:tabLst>
                <a:tab algn="l" pos="685800"/>
                <a:tab algn="l" pos="1371600"/>
                <a:tab algn="l" pos="2057400"/>
                <a:tab algn="l" pos="2743200"/>
                <a:tab algn="l" pos="3429000"/>
                <a:tab algn="l" pos="4114800"/>
                <a:tab algn="l" pos="4800600"/>
                <a:tab algn="l" pos="5486400"/>
                <a:tab algn="l" pos="6172200"/>
              </a:tabLst>
            </a:pPr>
            <a:endParaRPr b="0" lang="en-IN" sz="2400" strike="noStrike" u="none">
              <a:solidFill>
                <a:srgbClr val="000000"/>
              </a:solidFill>
              <a:effectLst/>
              <a:uFillTx/>
              <a:latin typeface="Arial"/>
            </a:endParaRPr>
          </a:p>
          <a:p>
            <a:pPr>
              <a:lnSpc>
                <a:spcPct val="87000"/>
              </a:lnSpc>
              <a:tabLst>
                <a:tab algn="l" pos="685800"/>
                <a:tab algn="l" pos="1371600"/>
                <a:tab algn="l" pos="2057400"/>
                <a:tab algn="l" pos="2743200"/>
                <a:tab algn="l" pos="3429000"/>
                <a:tab algn="l" pos="4114800"/>
                <a:tab algn="l" pos="4800600"/>
                <a:tab algn="l" pos="5486400"/>
                <a:tab algn="l" pos="6172200"/>
              </a:tabLst>
            </a:pPr>
            <a:r>
              <a:rPr b="0"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cat foo bar &gt; foobar</a:t>
            </a:r>
            <a:endParaRPr b="0" lang="en-IN" sz="2400" strike="noStrike" u="none">
              <a:solidFill>
                <a:srgbClr val="000000"/>
              </a:solidFill>
              <a:effectLst/>
              <a:uFillTx/>
              <a:latin typeface="Arial"/>
            </a:endParaRPr>
          </a:p>
          <a:p>
            <a:pPr>
              <a:lnSpc>
                <a:spcPct val="87000"/>
              </a:lnSpc>
              <a:tabLst>
                <a:tab algn="l" pos="685800"/>
                <a:tab algn="l" pos="1371600"/>
                <a:tab algn="l" pos="2057400"/>
                <a:tab algn="l" pos="2743200"/>
                <a:tab algn="l" pos="3429000"/>
                <a:tab algn="l" pos="4114800"/>
                <a:tab algn="l" pos="4800600"/>
                <a:tab algn="l" pos="5486400"/>
                <a:tab algn="l" pos="6172200"/>
              </a:tabLst>
            </a:pPr>
            <a:endParaRPr b="0" lang="en-IN" sz="2400" strike="noStrike" u="none">
              <a:solidFill>
                <a:srgbClr val="000000"/>
              </a:solidFill>
              <a:effectLst/>
              <a:uFillTx/>
              <a:latin typeface="Arial"/>
            </a:endParaRPr>
          </a:p>
          <a:p>
            <a:pPr>
              <a:lnSpc>
                <a:spcPct val="87000"/>
              </a:lnSpc>
              <a:tabLst>
                <a:tab algn="l" pos="685800"/>
                <a:tab algn="l" pos="1371600"/>
                <a:tab algn="l" pos="2057400"/>
                <a:tab algn="l" pos="2743200"/>
                <a:tab algn="l" pos="3429000"/>
                <a:tab algn="l" pos="4114800"/>
                <a:tab algn="l" pos="4800600"/>
                <a:tab algn="l" pos="5486400"/>
                <a:tab algn="l" pos="6172200"/>
              </a:tabLst>
            </a:pPr>
            <a:r>
              <a:rPr b="0" lang="en-IN" sz="2400" strike="noStrike" u="none">
                <a:solidFill>
                  <a:srgbClr val="000000"/>
                </a:solidFill>
                <a:effectLst/>
                <a:uFillTx/>
                <a:latin typeface="Times New Roman"/>
                <a:ea typeface="Times New Roman"/>
              </a:rPr>
              <a:t>Some versions of </a:t>
            </a:r>
            <a:r>
              <a:rPr b="0" i="1" lang="en-IN" sz="2400" strike="noStrike" u="none">
                <a:solidFill>
                  <a:srgbClr val="000000"/>
                </a:solidFill>
                <a:effectLst/>
                <a:uFillTx/>
                <a:latin typeface="Times New Roman"/>
                <a:ea typeface="Times New Roman"/>
              </a:rPr>
              <a:t>cat</a:t>
            </a:r>
            <a:r>
              <a:rPr b="0" lang="en-IN" sz="2400" strike="noStrike" u="none">
                <a:solidFill>
                  <a:srgbClr val="000000"/>
                </a:solidFill>
                <a:effectLst/>
                <a:uFillTx/>
                <a:latin typeface="Times New Roman"/>
                <a:ea typeface="Times New Roman"/>
              </a:rPr>
              <a:t> have options for printing tabs and newlines as visible characters and for other special effects.  Some </a:t>
            </a:r>
            <a:r>
              <a:rPr b="0" lang="en-IN" sz="2000" strike="noStrike" u="none">
                <a:solidFill>
                  <a:srgbClr val="000000"/>
                </a:solidFill>
                <a:effectLst/>
                <a:uFillTx/>
                <a:latin typeface="Times New Roman"/>
                <a:ea typeface="Times New Roman"/>
              </a:rPr>
              <a:t>UNIX </a:t>
            </a:r>
            <a:r>
              <a:rPr b="0" lang="en-IN" sz="2400" strike="noStrike" u="none">
                <a:solidFill>
                  <a:srgbClr val="000000"/>
                </a:solidFill>
                <a:effectLst/>
                <a:uFillTx/>
                <a:latin typeface="Times New Roman"/>
                <a:ea typeface="Times New Roman"/>
              </a:rPr>
              <a:t>purists hate these, usually the same ones who hate the System VR4 echo escapes.</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 name=""/>
          <p:cNvSpPr txBox="1"/>
          <p:nvPr/>
        </p:nvSpPr>
        <p:spPr>
          <a:xfrm>
            <a:off x="2519280" y="279360"/>
            <a:ext cx="4089240" cy="1270080"/>
          </a:xfrm>
          <a:prstGeom prst="rect">
            <a:avLst/>
          </a:prstGeom>
          <a:noFill/>
          <a:ln w="0">
            <a:noFill/>
          </a:ln>
        </p:spPr>
        <p:txBody>
          <a:bodyPr lIns="0" rIns="0" tIns="0" bIns="0" anchor="t">
            <a:spAutoFit/>
          </a:bodyPr>
          <a:p>
            <a:pPr algn="ctr">
              <a:lnSpc>
                <a:spcPct val="111000"/>
              </a:lnSpc>
            </a:pPr>
            <a:r>
              <a:rPr b="1" lang="en-IN" sz="3600" strike="noStrike" u="none">
                <a:solidFill>
                  <a:srgbClr val="000000"/>
                </a:solidFill>
                <a:effectLst/>
                <a:uFillTx/>
                <a:latin typeface="Times New Roman"/>
                <a:ea typeface="Times New Roman"/>
              </a:rPr>
              <a:t>cat</a:t>
            </a:r>
            <a:br>
              <a:rPr sz="3600"/>
            </a:br>
            <a:r>
              <a:rPr b="1" lang="en-IN" sz="3600" strike="noStrike" u="none">
                <a:solidFill>
                  <a:srgbClr val="000000"/>
                </a:solidFill>
                <a:effectLst/>
                <a:uFillTx/>
                <a:latin typeface="Times New Roman"/>
                <a:ea typeface="Times New Roman"/>
              </a:rPr>
              <a:t>Entering Short Files</a:t>
            </a:r>
            <a:endParaRPr b="0" lang="en-IN" sz="3600" strike="noStrike" u="none">
              <a:solidFill>
                <a:srgbClr val="000000"/>
              </a:solidFill>
              <a:effectLst/>
              <a:uFillTx/>
              <a:latin typeface="Arial"/>
            </a:endParaRPr>
          </a:p>
        </p:txBody>
      </p:sp>
      <p:sp>
        <p:nvSpPr>
          <p:cNvPr id="116" name=""/>
          <p:cNvSpPr txBox="1"/>
          <p:nvPr/>
        </p:nvSpPr>
        <p:spPr>
          <a:xfrm>
            <a:off x="851040" y="2222640"/>
            <a:ext cx="7683480" cy="3473280"/>
          </a:xfrm>
          <a:prstGeom prst="rect">
            <a:avLst/>
          </a:prstGeom>
          <a:noFill/>
          <a:ln w="0">
            <a:noFill/>
          </a:ln>
        </p:spPr>
        <p:txBody>
          <a:bodyPr lIns="0" rIns="0" tIns="0" bIns="0" anchor="t">
            <a:spAutoFit/>
          </a:bodyPr>
          <a:p>
            <a:pPr>
              <a:lnSpc>
                <a:spcPct val="85000"/>
              </a:lnSpc>
              <a:tabLst>
                <a:tab algn="l" pos="685800"/>
                <a:tab algn="l" pos="1371600"/>
                <a:tab algn="l" pos="2057400"/>
                <a:tab algn="l" pos="2743200"/>
                <a:tab algn="l" pos="3429000"/>
              </a:tabLst>
            </a:pPr>
            <a:r>
              <a:rPr b="0" i="1" lang="en-IN" sz="2400" strike="noStrike" u="none">
                <a:solidFill>
                  <a:srgbClr val="000000"/>
                </a:solidFill>
                <a:effectLst/>
                <a:uFillTx/>
                <a:latin typeface="Times New Roman"/>
                <a:ea typeface="Times New Roman"/>
              </a:rPr>
              <a:t>cat</a:t>
            </a:r>
            <a:r>
              <a:rPr b="0" lang="en-IN" sz="2400" strike="noStrike" u="none">
                <a:solidFill>
                  <a:srgbClr val="000000"/>
                </a:solidFill>
                <a:effectLst/>
                <a:uFillTx/>
                <a:latin typeface="Times New Roman"/>
                <a:ea typeface="Times New Roman"/>
              </a:rPr>
              <a:t> can also be used to enter a small amount of text into a file.  With no arguments, </a:t>
            </a:r>
            <a:r>
              <a:rPr b="0" i="1" lang="en-IN" sz="2400" strike="noStrike" u="none">
                <a:solidFill>
                  <a:srgbClr val="000000"/>
                </a:solidFill>
                <a:effectLst/>
                <a:uFillTx/>
                <a:latin typeface="Times New Roman"/>
                <a:ea typeface="Times New Roman"/>
              </a:rPr>
              <a:t>cat</a:t>
            </a:r>
            <a:r>
              <a:rPr b="0" lang="en-IN" sz="2400" strike="noStrike" u="none">
                <a:solidFill>
                  <a:srgbClr val="000000"/>
                </a:solidFill>
                <a:effectLst/>
                <a:uFillTx/>
                <a:latin typeface="Times New Roman"/>
                <a:ea typeface="Times New Roman"/>
              </a:rPr>
              <a:t> will read from the standard input.</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cat &gt; shopping_list</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i="1" lang="en-IN" sz="2400" strike="noStrike" u="none">
                <a:solidFill>
                  <a:srgbClr val="000000"/>
                </a:solidFill>
                <a:effectLst/>
                <a:uFillTx/>
                <a:latin typeface="Times New Roman"/>
                <a:ea typeface="Times New Roman"/>
              </a:rPr>
              <a:t>milk</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i="1" lang="en-IN" sz="2400" strike="noStrike" u="none">
                <a:solidFill>
                  <a:srgbClr val="000000"/>
                </a:solidFill>
                <a:effectLst/>
                <a:uFillTx/>
                <a:latin typeface="Times New Roman"/>
                <a:ea typeface="Times New Roman"/>
              </a:rPr>
              <a:t>orange juice</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i="1" lang="en-IN" sz="2400" strike="noStrike" u="none">
                <a:solidFill>
                  <a:srgbClr val="000000"/>
                </a:solidFill>
                <a:effectLst/>
                <a:uFillTx/>
                <a:latin typeface="Times New Roman"/>
                <a:ea typeface="Times New Roman"/>
              </a:rPr>
              <a:t>apples</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i="1" lang="en-IN" sz="2400" strike="noStrike" u="none">
                <a:solidFill>
                  <a:srgbClr val="000000"/>
                </a:solidFill>
                <a:effectLst/>
                <a:uFillTx/>
                <a:latin typeface="Times New Roman"/>
                <a:ea typeface="Times New Roman"/>
              </a:rPr>
              <a:t>cereal</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i="1" lang="en-IN" sz="2400" strike="noStrike" u="none">
                <a:solidFill>
                  <a:srgbClr val="000000"/>
                </a:solidFill>
                <a:effectLst/>
                <a:uFillTx/>
                <a:latin typeface="Times New Roman"/>
                <a:ea typeface="Times New Roman"/>
              </a:rPr>
              <a:t>^D</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 name=""/>
          <p:cNvSpPr txBox="1"/>
          <p:nvPr/>
        </p:nvSpPr>
        <p:spPr>
          <a:xfrm>
            <a:off x="2317680" y="279360"/>
            <a:ext cx="4506840" cy="1270080"/>
          </a:xfrm>
          <a:prstGeom prst="rect">
            <a:avLst/>
          </a:prstGeom>
          <a:noFill/>
          <a:ln w="0">
            <a:noFill/>
          </a:ln>
        </p:spPr>
        <p:txBody>
          <a:bodyPr lIns="0" rIns="0" tIns="0" bIns="0" anchor="t">
            <a:spAutoFit/>
          </a:bodyPr>
          <a:p>
            <a:pPr algn="ctr">
              <a:lnSpc>
                <a:spcPct val="111000"/>
              </a:lnSpc>
            </a:pPr>
            <a:r>
              <a:rPr b="1" lang="en-IN" sz="3600" strike="noStrike" u="none">
                <a:solidFill>
                  <a:srgbClr val="000000"/>
                </a:solidFill>
                <a:effectLst/>
                <a:uFillTx/>
                <a:latin typeface="Times New Roman"/>
                <a:ea typeface="Times New Roman"/>
              </a:rPr>
              <a:t>mv</a:t>
            </a:r>
            <a:br>
              <a:rPr sz="3600"/>
            </a:br>
            <a:r>
              <a:rPr b="1" lang="en-IN" sz="3600" strike="noStrike" u="none">
                <a:solidFill>
                  <a:srgbClr val="000000"/>
                </a:solidFill>
                <a:effectLst/>
                <a:uFillTx/>
                <a:latin typeface="Times New Roman"/>
                <a:ea typeface="Times New Roman"/>
              </a:rPr>
              <a:t>Move or Rename Files</a:t>
            </a:r>
            <a:endParaRPr b="0" lang="en-IN" sz="3600" strike="noStrike" u="none">
              <a:solidFill>
                <a:srgbClr val="000000"/>
              </a:solidFill>
              <a:effectLst/>
              <a:uFillTx/>
              <a:latin typeface="Arial"/>
            </a:endParaRPr>
          </a:p>
        </p:txBody>
      </p:sp>
      <p:sp>
        <p:nvSpPr>
          <p:cNvPr id="118" name=""/>
          <p:cNvSpPr txBox="1"/>
          <p:nvPr/>
        </p:nvSpPr>
        <p:spPr>
          <a:xfrm>
            <a:off x="622440" y="1612800"/>
            <a:ext cx="7988400" cy="4406760"/>
          </a:xfrm>
          <a:prstGeom prst="rect">
            <a:avLst/>
          </a:prstGeom>
          <a:noFill/>
          <a:ln w="0">
            <a:noFill/>
          </a:ln>
        </p:spPr>
        <p:txBody>
          <a:bodyPr lIns="0" rIns="0" tIns="0" bIns="0" anchor="t">
            <a:spAutoFit/>
          </a:bodyPr>
          <a:p>
            <a:pPr>
              <a:lnSpc>
                <a:spcPct val="85000"/>
              </a:lnSpc>
              <a:tabLst>
                <a:tab algn="l" pos="685800"/>
                <a:tab algn="l" pos="1371600"/>
                <a:tab algn="l" pos="2057400"/>
                <a:tab algn="l" pos="2743200"/>
                <a:tab algn="l" pos="3429000"/>
                <a:tab algn="l" pos="4114800"/>
                <a:tab algn="l" pos="4800600"/>
                <a:tab algn="l" pos="5486400"/>
                <a:tab algn="l" pos="6172200"/>
              </a:tabLst>
            </a:pPr>
            <a:r>
              <a:rPr b="0" lang="en-IN" sz="2400" strike="noStrike" u="none">
                <a:solidFill>
                  <a:srgbClr val="000000"/>
                </a:solidFill>
                <a:effectLst/>
                <a:uFillTx/>
                <a:latin typeface="Times New Roman"/>
                <a:ea typeface="Times New Roman"/>
              </a:rPr>
              <a:t>To rename a file, one moves it into a new name with </a:t>
            </a:r>
            <a:r>
              <a:rPr b="0" i="1" lang="en-IN" sz="2400" strike="noStrike" u="none">
                <a:solidFill>
                  <a:srgbClr val="000000"/>
                </a:solidFill>
                <a:effectLst/>
                <a:uFillTx/>
                <a:latin typeface="Times New Roman"/>
                <a:ea typeface="Times New Roman"/>
              </a:rPr>
              <a:t>mv</a:t>
            </a:r>
            <a:r>
              <a:rPr b="0" lang="en-IN" sz="2400" strike="noStrike" u="none">
                <a:solidFill>
                  <a:srgbClr val="000000"/>
                </a:solidFill>
                <a:effectLst/>
                <a:uFillTx/>
                <a:latin typeface="Times New Roman"/>
                <a:ea typeface="Times New Roman"/>
              </a:rPr>
              <a:t>.</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 algn="l" pos="4114800"/>
                <a:tab algn="l" pos="4800600"/>
                <a:tab algn="l" pos="5486400"/>
                <a:tab algn="l" pos="6172200"/>
              </a:tabLst>
            </a:pP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 algn="l" pos="4114800"/>
                <a:tab algn="l" pos="4800600"/>
                <a:tab algn="l" pos="5486400"/>
                <a:tab algn="l" pos="6172200"/>
              </a:tabLst>
            </a:pPr>
            <a:r>
              <a:rPr b="0"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mv foo bar</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 algn="l" pos="4114800"/>
                <a:tab algn="l" pos="4800600"/>
                <a:tab algn="l" pos="5486400"/>
                <a:tab algn="l" pos="6172200"/>
              </a:tabLst>
            </a:pP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 algn="l" pos="4114800"/>
                <a:tab algn="l" pos="4800600"/>
                <a:tab algn="l" pos="5486400"/>
                <a:tab algn="l" pos="6172200"/>
              </a:tabLst>
            </a:pPr>
            <a:r>
              <a:rPr b="0" lang="en-IN" sz="2400" strike="noStrike" u="none">
                <a:solidFill>
                  <a:srgbClr val="000000"/>
                </a:solidFill>
                <a:effectLst/>
                <a:uFillTx/>
                <a:latin typeface="Times New Roman"/>
                <a:ea typeface="Times New Roman"/>
              </a:rPr>
              <a:t>Unlike DOS's</a:t>
            </a:r>
            <a:r>
              <a:rPr b="0" i="1" lang="en-IN" sz="2400" strike="noStrike" u="none">
                <a:solidFill>
                  <a:srgbClr val="000000"/>
                </a:solidFill>
                <a:effectLst/>
                <a:uFillTx/>
                <a:latin typeface="Times New Roman"/>
                <a:ea typeface="Times New Roman"/>
              </a:rPr>
              <a:t> ren </a:t>
            </a:r>
            <a:r>
              <a:rPr b="0" lang="en-IN" sz="2400" strike="noStrike" u="none">
                <a:solidFill>
                  <a:srgbClr val="000000"/>
                </a:solidFill>
                <a:effectLst/>
                <a:uFillTx/>
                <a:latin typeface="Times New Roman"/>
                <a:ea typeface="Times New Roman"/>
              </a:rPr>
              <a:t>command, the destination can be anywhere.</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 algn="l" pos="4114800"/>
                <a:tab algn="l" pos="4800600"/>
                <a:tab algn="l" pos="5486400"/>
                <a:tab algn="l" pos="6172200"/>
              </a:tabLst>
            </a:pP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 algn="l" pos="4114800"/>
                <a:tab algn="l" pos="4800600"/>
                <a:tab algn="l" pos="5486400"/>
                <a:tab algn="l" pos="6172200"/>
              </a:tabLst>
            </a:pPr>
            <a:r>
              <a:rPr b="0"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mv shopping_list mystuff/shopping_list</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 algn="l" pos="4114800"/>
                <a:tab algn="l" pos="4800600"/>
                <a:tab algn="l" pos="5486400"/>
                <a:tab algn="l" pos="6172200"/>
              </a:tabLst>
            </a:pP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 algn="l" pos="4114800"/>
                <a:tab algn="l" pos="4800600"/>
                <a:tab algn="l" pos="5486400"/>
                <a:tab algn="l" pos="6172200"/>
              </a:tabLst>
            </a:pPr>
            <a:r>
              <a:rPr b="0" lang="en-IN" sz="2400" strike="noStrike" u="none">
                <a:solidFill>
                  <a:srgbClr val="000000"/>
                </a:solidFill>
                <a:effectLst/>
                <a:uFillTx/>
                <a:latin typeface="Times New Roman"/>
                <a:ea typeface="Times New Roman"/>
              </a:rPr>
              <a:t>If the destination is a directory that the user can write in,</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 algn="l" pos="4114800"/>
                <a:tab algn="l" pos="4800600"/>
                <a:tab algn="l" pos="5486400"/>
                <a:tab algn="l" pos="6172200"/>
              </a:tabLst>
            </a:pPr>
            <a:r>
              <a:rPr b="0" lang="en-IN" sz="2400" strike="noStrike" u="none">
                <a:solidFill>
                  <a:srgbClr val="000000"/>
                </a:solidFill>
                <a:effectLst/>
                <a:uFillTx/>
                <a:latin typeface="Times New Roman"/>
                <a:ea typeface="Times New Roman"/>
              </a:rPr>
              <a:t>then a file of the same name as the original is created.</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 algn="l" pos="4114800"/>
                <a:tab algn="l" pos="4800600"/>
                <a:tab algn="l" pos="5486400"/>
                <a:tab algn="l" pos="6172200"/>
              </a:tabLst>
            </a:pP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 algn="l" pos="4114800"/>
                <a:tab algn="l" pos="4800600"/>
                <a:tab algn="l" pos="5486400"/>
                <a:tab algn="l" pos="6172200"/>
              </a:tabLst>
            </a:pPr>
            <a:r>
              <a:rPr b="0"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mv shopping_list mystuff</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 algn="l" pos="4114800"/>
                <a:tab algn="l" pos="4800600"/>
                <a:tab algn="l" pos="5486400"/>
                <a:tab algn="l" pos="6172200"/>
              </a:tabLst>
            </a:pPr>
            <a:r>
              <a:rPr b="0"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ls mystuff</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 algn="l" pos="4114800"/>
                <a:tab algn="l" pos="4800600"/>
                <a:tab algn="l" pos="5486400"/>
                <a:tab algn="l" pos="6172200"/>
              </a:tabLst>
            </a:pPr>
            <a:r>
              <a:rPr b="0" lang="en-IN" sz="2400" strike="noStrike" u="none">
                <a:solidFill>
                  <a:srgbClr val="000000"/>
                </a:solidFill>
                <a:effectLst/>
                <a:uFillTx/>
                <a:latin typeface="Times New Roman"/>
                <a:ea typeface="Times New Roman"/>
              </a:rPr>
              <a:t>birthday_list</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phonebook</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shopping_list</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 name=""/>
          <p:cNvSpPr txBox="1"/>
          <p:nvPr/>
        </p:nvSpPr>
        <p:spPr>
          <a:xfrm>
            <a:off x="1689120" y="279360"/>
            <a:ext cx="5749920" cy="1270080"/>
          </a:xfrm>
          <a:prstGeom prst="rect">
            <a:avLst/>
          </a:prstGeom>
          <a:noFill/>
          <a:ln w="0">
            <a:noFill/>
          </a:ln>
        </p:spPr>
        <p:txBody>
          <a:bodyPr lIns="0" rIns="0" tIns="0" bIns="0" anchor="t">
            <a:spAutoFit/>
          </a:bodyPr>
          <a:p>
            <a:pPr algn="ctr">
              <a:lnSpc>
                <a:spcPct val="111000"/>
              </a:lnSpc>
            </a:pPr>
            <a:r>
              <a:rPr b="1" lang="en-IN" sz="3600" strike="noStrike" u="none">
                <a:solidFill>
                  <a:srgbClr val="000000"/>
                </a:solidFill>
                <a:effectLst/>
                <a:uFillTx/>
                <a:latin typeface="Times New Roman"/>
                <a:ea typeface="Times New Roman"/>
              </a:rPr>
              <a:t>mv</a:t>
            </a:r>
            <a:br>
              <a:rPr sz="3600"/>
            </a:br>
            <a:r>
              <a:rPr b="1" lang="en-IN" sz="3600" strike="noStrike" u="none">
                <a:solidFill>
                  <a:srgbClr val="000000"/>
                </a:solidFill>
                <a:effectLst/>
                <a:uFillTx/>
                <a:latin typeface="Times New Roman"/>
                <a:ea typeface="Times New Roman"/>
              </a:rPr>
              <a:t>Move or Rename Directories</a:t>
            </a:r>
            <a:endParaRPr b="0" lang="en-IN" sz="3600" strike="noStrike" u="none">
              <a:solidFill>
                <a:srgbClr val="000000"/>
              </a:solidFill>
              <a:effectLst/>
              <a:uFillTx/>
              <a:latin typeface="Arial"/>
            </a:endParaRPr>
          </a:p>
        </p:txBody>
      </p:sp>
      <p:sp>
        <p:nvSpPr>
          <p:cNvPr id="120" name=""/>
          <p:cNvSpPr txBox="1"/>
          <p:nvPr/>
        </p:nvSpPr>
        <p:spPr>
          <a:xfrm>
            <a:off x="774720" y="1892160"/>
            <a:ext cx="7835760" cy="2590920"/>
          </a:xfrm>
          <a:prstGeom prst="rect">
            <a:avLst/>
          </a:prstGeom>
          <a:noFill/>
          <a:ln w="0">
            <a:noFill/>
          </a:ln>
        </p:spPr>
        <p:txBody>
          <a:bodyPr lIns="0" rIns="0" tIns="0" bIns="0" anchor="t">
            <a:spAutoFit/>
          </a:bodyPr>
          <a:p>
            <a:pPr>
              <a:lnSpc>
                <a:spcPct val="87000"/>
              </a:lnSpc>
              <a:tabLst>
                <a:tab algn="l" pos="685800"/>
                <a:tab algn="l" pos="1371600"/>
                <a:tab algn="l" pos="2057400"/>
                <a:tab algn="l" pos="2743200"/>
                <a:tab algn="l" pos="3429000"/>
              </a:tabLst>
            </a:pPr>
            <a:r>
              <a:rPr b="0" i="1" lang="en-IN" sz="2400" strike="noStrike" u="none">
                <a:solidFill>
                  <a:srgbClr val="000000"/>
                </a:solidFill>
                <a:effectLst/>
                <a:uFillTx/>
                <a:latin typeface="Times New Roman"/>
                <a:ea typeface="Times New Roman"/>
              </a:rPr>
              <a:t>mv</a:t>
            </a:r>
            <a:r>
              <a:rPr b="0" lang="en-IN" sz="2400" strike="noStrike" u="none">
                <a:solidFill>
                  <a:srgbClr val="000000"/>
                </a:solidFill>
                <a:effectLst/>
                <a:uFillTx/>
                <a:latin typeface="Times New Roman"/>
                <a:ea typeface="Times New Roman"/>
              </a:rPr>
              <a:t> can also rename or move directories.</a:t>
            </a:r>
            <a:endParaRPr b="0" lang="en-IN" sz="2400" strike="noStrike" u="none">
              <a:solidFill>
                <a:srgbClr val="000000"/>
              </a:solidFill>
              <a:effectLst/>
              <a:uFillTx/>
              <a:latin typeface="Arial"/>
            </a:endParaRPr>
          </a:p>
          <a:p>
            <a:pPr>
              <a:lnSpc>
                <a:spcPct val="87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7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mv prog1 oldstuff/prog1</a:t>
            </a:r>
            <a:endParaRPr b="0" lang="en-IN" sz="2400" strike="noStrike" u="none">
              <a:solidFill>
                <a:srgbClr val="000000"/>
              </a:solidFill>
              <a:effectLst/>
              <a:uFillTx/>
              <a:latin typeface="Arial"/>
            </a:endParaRPr>
          </a:p>
          <a:p>
            <a:pPr>
              <a:lnSpc>
                <a:spcPct val="87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7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If the destination already exists and is a directory, then </a:t>
            </a:r>
            <a:r>
              <a:rPr b="0" i="1" lang="en-IN" sz="2400" strike="noStrike" u="none">
                <a:solidFill>
                  <a:srgbClr val="000000"/>
                </a:solidFill>
                <a:effectLst/>
                <a:uFillTx/>
                <a:latin typeface="Times New Roman"/>
                <a:ea typeface="Times New Roman"/>
              </a:rPr>
              <a:t>mv</a:t>
            </a:r>
            <a:r>
              <a:rPr b="0" lang="en-IN" sz="2400" strike="noStrike" u="none">
                <a:solidFill>
                  <a:srgbClr val="000000"/>
                </a:solidFill>
                <a:effectLst/>
                <a:uFillTx/>
                <a:latin typeface="Times New Roman"/>
                <a:ea typeface="Times New Roman"/>
              </a:rPr>
              <a:t> will make the source a sub-directory of the destination.</a:t>
            </a:r>
            <a:endParaRPr b="0" lang="en-IN" sz="2400" strike="noStrike" u="none">
              <a:solidFill>
                <a:srgbClr val="000000"/>
              </a:solidFill>
              <a:effectLst/>
              <a:uFillTx/>
              <a:latin typeface="Arial"/>
            </a:endParaRPr>
          </a:p>
          <a:p>
            <a:pPr>
              <a:lnSpc>
                <a:spcPct val="87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7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mv prog1 oldstuff</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 name=""/>
          <p:cNvSpPr txBox="1"/>
          <p:nvPr/>
        </p:nvSpPr>
        <p:spPr>
          <a:xfrm>
            <a:off x="3719520" y="279360"/>
            <a:ext cx="1676520" cy="1270080"/>
          </a:xfrm>
          <a:prstGeom prst="rect">
            <a:avLst/>
          </a:prstGeom>
          <a:noFill/>
          <a:ln w="0">
            <a:noFill/>
          </a:ln>
        </p:spPr>
        <p:txBody>
          <a:bodyPr lIns="0" rIns="0" tIns="0" bIns="0" anchor="t">
            <a:spAutoFit/>
          </a:bodyPr>
          <a:p>
            <a:pPr algn="ctr">
              <a:lnSpc>
                <a:spcPct val="111000"/>
              </a:lnSpc>
            </a:pPr>
            <a:r>
              <a:rPr b="1" lang="en-IN" sz="3600" strike="noStrike" u="none">
                <a:solidFill>
                  <a:srgbClr val="000000"/>
                </a:solidFill>
                <a:effectLst/>
                <a:uFillTx/>
                <a:latin typeface="Times New Roman"/>
                <a:ea typeface="Times New Roman"/>
              </a:rPr>
              <a:t>mv</a:t>
            </a:r>
            <a:br>
              <a:rPr sz="3600"/>
            </a:br>
            <a:r>
              <a:rPr b="1" lang="en-IN" sz="3600" strike="noStrike" u="none">
                <a:solidFill>
                  <a:srgbClr val="000000"/>
                </a:solidFill>
                <a:effectLst/>
                <a:uFillTx/>
                <a:latin typeface="Times New Roman"/>
                <a:ea typeface="Times New Roman"/>
              </a:rPr>
              <a:t>Options</a:t>
            </a:r>
            <a:endParaRPr b="0" lang="en-IN" sz="3600" strike="noStrike" u="none">
              <a:solidFill>
                <a:srgbClr val="000000"/>
              </a:solidFill>
              <a:effectLst/>
              <a:uFillTx/>
              <a:latin typeface="Arial"/>
            </a:endParaRPr>
          </a:p>
        </p:txBody>
      </p:sp>
      <p:sp>
        <p:nvSpPr>
          <p:cNvPr id="122" name=""/>
          <p:cNvSpPr txBox="1"/>
          <p:nvPr/>
        </p:nvSpPr>
        <p:spPr>
          <a:xfrm>
            <a:off x="698400" y="1714680"/>
            <a:ext cx="7785000" cy="4718160"/>
          </a:xfrm>
          <a:prstGeom prst="rect">
            <a:avLst/>
          </a:prstGeom>
          <a:noFill/>
          <a:ln w="0">
            <a:noFill/>
          </a:ln>
        </p:spPr>
        <p:txBody>
          <a:bodyPr lIns="0" rIns="0" tIns="0" bIns="0" anchor="t">
            <a:spAutoFit/>
          </a:bodyPr>
          <a:p>
            <a:pPr>
              <a:lnSpc>
                <a:spcPct val="85000"/>
              </a:lnSpc>
              <a:tabLst>
                <a:tab algn="l" pos="685800"/>
                <a:tab algn="l" pos="1371600"/>
                <a:tab algn="l" pos="2057400"/>
                <a:tab algn="l" pos="2743200"/>
                <a:tab algn="l" pos="3429000"/>
                <a:tab algn="l" pos="4114800"/>
                <a:tab algn="l" pos="4800600"/>
                <a:tab algn="l" pos="5486400"/>
                <a:tab algn="l" pos="6172200"/>
              </a:tabLst>
            </a:pPr>
            <a:r>
              <a:rPr b="0" lang="en-IN" sz="2400" strike="noStrike" u="none">
                <a:solidFill>
                  <a:srgbClr val="000000"/>
                </a:solidFill>
                <a:effectLst/>
                <a:uFillTx/>
                <a:latin typeface="Times New Roman"/>
                <a:ea typeface="Times New Roman"/>
              </a:rPr>
              <a:t>If you </a:t>
            </a:r>
            <a:r>
              <a:rPr b="0" i="1" lang="en-IN" sz="2400" strike="noStrike" u="none">
                <a:solidFill>
                  <a:srgbClr val="000000"/>
                </a:solidFill>
                <a:effectLst/>
                <a:uFillTx/>
                <a:latin typeface="Times New Roman"/>
                <a:ea typeface="Times New Roman"/>
              </a:rPr>
              <a:t>mv</a:t>
            </a:r>
            <a:r>
              <a:rPr b="0" lang="en-IN" sz="2400" strike="noStrike" u="none">
                <a:solidFill>
                  <a:srgbClr val="000000"/>
                </a:solidFill>
                <a:effectLst/>
                <a:uFillTx/>
                <a:latin typeface="Times New Roman"/>
                <a:ea typeface="Times New Roman"/>
              </a:rPr>
              <a:t> a file on top of an already existing file, the old file is deleted, without warning.</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 algn="l" pos="4114800"/>
                <a:tab algn="l" pos="4800600"/>
                <a:tab algn="l" pos="5486400"/>
                <a:tab algn="l" pos="6172200"/>
              </a:tabLst>
            </a:pP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 algn="l" pos="4114800"/>
                <a:tab algn="l" pos="4800600"/>
                <a:tab algn="l" pos="5486400"/>
                <a:tab algn="l" pos="6172200"/>
              </a:tabLst>
            </a:pPr>
            <a:r>
              <a:rPr b="0"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ls</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 algn="l" pos="4114800"/>
                <a:tab algn="l" pos="4800600"/>
                <a:tab algn="l" pos="5486400"/>
                <a:tab algn="l" pos="6172200"/>
              </a:tabLst>
            </a:pPr>
            <a:r>
              <a:rPr b="0" lang="en-IN" sz="2400" strike="noStrike" u="none">
                <a:solidFill>
                  <a:srgbClr val="000000"/>
                </a:solidFill>
                <a:effectLst/>
                <a:uFillTx/>
                <a:latin typeface="Times New Roman"/>
                <a:ea typeface="Times New Roman"/>
              </a:rPr>
              <a:t>bar foo</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 algn="l" pos="4114800"/>
                <a:tab algn="l" pos="4800600"/>
                <a:tab algn="l" pos="5486400"/>
                <a:tab algn="l" pos="6172200"/>
              </a:tabLst>
            </a:pPr>
            <a:r>
              <a:rPr b="0"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mv foo bar</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 algn="l" pos="4114800"/>
                <a:tab algn="l" pos="4800600"/>
                <a:tab algn="l" pos="5486400"/>
                <a:tab algn="l" pos="6172200"/>
              </a:tabLst>
            </a:pPr>
            <a:r>
              <a:rPr b="0"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ls</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 algn="l" pos="4114800"/>
                <a:tab algn="l" pos="4800600"/>
                <a:tab algn="l" pos="5486400"/>
                <a:tab algn="l" pos="6172200"/>
              </a:tabLst>
            </a:pPr>
            <a:r>
              <a:rPr b="0" lang="en-IN" sz="2400" strike="noStrike" u="none">
                <a:solidFill>
                  <a:srgbClr val="000000"/>
                </a:solidFill>
                <a:effectLst/>
                <a:uFillTx/>
                <a:latin typeface="Times New Roman"/>
                <a:ea typeface="Times New Roman"/>
              </a:rPr>
              <a:t>bar</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 algn="l" pos="4114800"/>
                <a:tab algn="l" pos="4800600"/>
                <a:tab algn="l" pos="5486400"/>
                <a:tab algn="l" pos="6172200"/>
              </a:tabLst>
            </a:pPr>
            <a:r>
              <a:rPr b="0" lang="en-IN" sz="2400" strike="noStrike" u="none">
                <a:solidFill>
                  <a:srgbClr val="000000"/>
                </a:solidFill>
                <a:effectLst/>
                <a:uFillTx/>
                <a:latin typeface="Times New Roman"/>
                <a:ea typeface="Times New Roman"/>
              </a:rPr>
              <a:t>	</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 algn="l" pos="4114800"/>
                <a:tab algn="l" pos="4800600"/>
                <a:tab algn="l" pos="5486400"/>
                <a:tab algn="l" pos="6172200"/>
              </a:tabLst>
            </a:pPr>
            <a:r>
              <a:rPr b="0" lang="en-IN" sz="2400" strike="noStrike" u="none">
                <a:solidFill>
                  <a:srgbClr val="000000"/>
                </a:solidFill>
                <a:effectLst/>
                <a:uFillTx/>
                <a:latin typeface="Times New Roman"/>
                <a:ea typeface="Times New Roman"/>
              </a:rPr>
              <a:t>The -i option will cause </a:t>
            </a:r>
            <a:r>
              <a:rPr b="0" i="1" lang="en-IN" sz="2400" strike="noStrike" u="none">
                <a:solidFill>
                  <a:srgbClr val="000000"/>
                </a:solidFill>
                <a:effectLst/>
                <a:uFillTx/>
                <a:latin typeface="Times New Roman"/>
                <a:ea typeface="Times New Roman"/>
              </a:rPr>
              <a:t>mv</a:t>
            </a:r>
            <a:r>
              <a:rPr b="0" lang="en-IN" sz="2400" strike="noStrike" u="none">
                <a:solidFill>
                  <a:srgbClr val="000000"/>
                </a:solidFill>
                <a:effectLst/>
                <a:uFillTx/>
                <a:latin typeface="Times New Roman"/>
                <a:ea typeface="Times New Roman"/>
              </a:rPr>
              <a:t> to ask permission before removing a file of the same name as the destination.</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 algn="l" pos="4114800"/>
                <a:tab algn="l" pos="4800600"/>
                <a:tab algn="l" pos="5486400"/>
                <a:tab algn="l" pos="6172200"/>
              </a:tabLst>
            </a:pP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 algn="l" pos="4114800"/>
                <a:tab algn="l" pos="4800600"/>
                <a:tab algn="l" pos="5486400"/>
                <a:tab algn="l" pos="6172200"/>
              </a:tabLst>
            </a:pPr>
            <a:r>
              <a:rPr b="0"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mv -i foo bar</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 algn="l" pos="4114800"/>
                <a:tab algn="l" pos="4800600"/>
                <a:tab algn="l" pos="5486400"/>
                <a:tab algn="l" pos="6172200"/>
              </a:tabLst>
            </a:pPr>
            <a:r>
              <a:rPr b="0" lang="en-IN" sz="2400" strike="noStrike" u="none">
                <a:solidFill>
                  <a:srgbClr val="000000"/>
                </a:solidFill>
                <a:effectLst/>
                <a:uFillTx/>
                <a:latin typeface="Times New Roman"/>
                <a:ea typeface="Times New Roman"/>
              </a:rPr>
              <a:t>remove bar? </a:t>
            </a:r>
            <a:r>
              <a:rPr b="0" i="1" lang="en-IN" sz="2400" strike="noStrike" u="none">
                <a:solidFill>
                  <a:srgbClr val="000000"/>
                </a:solidFill>
                <a:effectLst/>
                <a:uFillTx/>
                <a:latin typeface="Times New Roman"/>
                <a:ea typeface="Times New Roman"/>
              </a:rPr>
              <a:t>y</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 algn="l" pos="4114800"/>
                <a:tab algn="l" pos="4800600"/>
                <a:tab algn="l" pos="5486400"/>
                <a:tab algn="l" pos="6172200"/>
              </a:tabLst>
            </a:pPr>
            <a:r>
              <a:rPr b="0" lang="en-IN" sz="2400" strike="noStrike" u="none">
                <a:solidFill>
                  <a:srgbClr val="000000"/>
                </a:solidFill>
                <a:effectLst/>
                <a:uFillTx/>
                <a:latin typeface="Times New Roman"/>
                <a:ea typeface="Times New Roman"/>
              </a:rPr>
              <a:t>%</a:t>
            </a:r>
            <a:endParaRPr b="0" lang="en-IN" sz="2400" strike="noStrike" u="none">
              <a:solidFill>
                <a:srgbClr val="000000"/>
              </a:solidFill>
              <a:effectLst/>
              <a:uFillTx/>
              <a:latin typeface="Arial"/>
            </a:endParaRPr>
          </a:p>
        </p:txBody>
      </p:sp>
      <p:sp>
        <p:nvSpPr>
          <p:cNvPr id="123" name=""/>
          <p:cNvSpPr txBox="1"/>
          <p:nvPr/>
        </p:nvSpPr>
        <p:spPr>
          <a:xfrm>
            <a:off x="4648320" y="5562720"/>
            <a:ext cx="3060720" cy="568440"/>
          </a:xfrm>
          <a:prstGeom prst="rect">
            <a:avLst/>
          </a:prstGeom>
          <a:solidFill>
            <a:srgbClr val="ffffff"/>
          </a:solidFill>
          <a:ln w="25560">
            <a:solidFill>
              <a:srgbClr val="000000"/>
            </a:solidFill>
            <a:round/>
          </a:ln>
          <a:effectLst>
            <a:outerShdw dist="0" dir="0" blurRad="0" rotWithShape="0">
              <a:srgbClr val="919191"/>
            </a:outerShdw>
          </a:effectLst>
        </p:spPr>
        <p:txBody>
          <a:bodyPr lIns="0" rIns="0" tIns="0" bIns="0" anchor="t">
            <a:spAutoFit/>
          </a:bodyPr>
          <a:p>
            <a:pPr>
              <a:lnSpc>
                <a:spcPct val="85000"/>
              </a:lnSpc>
              <a:tabLst>
                <a:tab algn="l" pos="685800"/>
                <a:tab algn="l" pos="1371600"/>
                <a:tab algn="l" pos="2057400"/>
                <a:tab algn="l" pos="2743200"/>
                <a:tab algn="l" pos="3429000"/>
              </a:tabLst>
            </a:pPr>
            <a:r>
              <a:rPr b="1" lang="en-IN" sz="1800" strike="noStrike" u="none">
                <a:solidFill>
                  <a:srgbClr val="000000"/>
                </a:solidFill>
                <a:effectLst/>
                <a:uFillTx/>
                <a:latin typeface="Times New Roman"/>
                <a:ea typeface="Times New Roman"/>
              </a:rPr>
              <a:t>Any response that begins with y counts as yes.</a:t>
            </a:r>
            <a:endParaRPr b="0" lang="en-IN" sz="1800" strike="noStrike" u="none">
              <a:solidFill>
                <a:srgbClr val="000000"/>
              </a:solidFill>
              <a:effectLst/>
              <a:uFillTx/>
              <a:latin typeface="Arial"/>
            </a:endParaRPr>
          </a:p>
        </p:txBody>
      </p:sp>
      <p:sp>
        <p:nvSpPr>
          <p:cNvPr id="124" name=""/>
          <p:cNvSpPr/>
          <p:nvPr/>
        </p:nvSpPr>
        <p:spPr>
          <a:xfrm flipH="1">
            <a:off x="3581280" y="5867280"/>
            <a:ext cx="1067040" cy="0"/>
          </a:xfrm>
          <a:prstGeom prst="line">
            <a:avLst/>
          </a:prstGeom>
          <a:ln w="12600">
            <a:solidFill>
              <a:srgbClr val="000000"/>
            </a:solidFill>
            <a:round/>
            <a:tailEnd len="med" type="triangle" w="med"/>
          </a:ln>
        </p:spPr>
        <p:style>
          <a:lnRef idx="0"/>
          <a:fillRef idx="0"/>
          <a:effectRef idx="0"/>
          <a:fontRef idx="minor"/>
        </p:style>
        <p:txBody>
          <a:bodyPr lIns="96120" rIns="96120" tIns="-51120" bIns="-51120" anchor="t">
            <a:noAutofit/>
          </a:bodyPr>
          <a:p>
            <a:endParaRPr b="0" lang="en-IN"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 name=""/>
          <p:cNvSpPr txBox="1"/>
          <p:nvPr/>
        </p:nvSpPr>
        <p:spPr>
          <a:xfrm>
            <a:off x="3200400" y="279360"/>
            <a:ext cx="2728800" cy="1270080"/>
          </a:xfrm>
          <a:prstGeom prst="rect">
            <a:avLst/>
          </a:prstGeom>
          <a:noFill/>
          <a:ln w="0">
            <a:noFill/>
          </a:ln>
        </p:spPr>
        <p:txBody>
          <a:bodyPr lIns="0" rIns="0" tIns="0" bIns="0" anchor="t">
            <a:spAutoFit/>
          </a:bodyPr>
          <a:p>
            <a:pPr algn="ctr">
              <a:lnSpc>
                <a:spcPct val="111000"/>
              </a:lnSpc>
            </a:pPr>
            <a:r>
              <a:rPr b="1" lang="en-IN" sz="3600" strike="noStrike" u="none">
                <a:solidFill>
                  <a:srgbClr val="000000"/>
                </a:solidFill>
                <a:effectLst/>
                <a:uFillTx/>
                <a:latin typeface="Times New Roman"/>
                <a:ea typeface="Times New Roman"/>
              </a:rPr>
              <a:t>rm</a:t>
            </a:r>
            <a:br>
              <a:rPr sz="3600"/>
            </a:br>
            <a:r>
              <a:rPr b="1" lang="en-IN" sz="3600" strike="noStrike" u="none">
                <a:solidFill>
                  <a:srgbClr val="000000"/>
                </a:solidFill>
                <a:effectLst/>
                <a:uFillTx/>
                <a:latin typeface="Times New Roman"/>
                <a:ea typeface="Times New Roman"/>
              </a:rPr>
              <a:t>Remove Files</a:t>
            </a:r>
            <a:endParaRPr b="0" lang="en-IN" sz="3600" strike="noStrike" u="none">
              <a:solidFill>
                <a:srgbClr val="000000"/>
              </a:solidFill>
              <a:effectLst/>
              <a:uFillTx/>
              <a:latin typeface="Arial"/>
            </a:endParaRPr>
          </a:p>
        </p:txBody>
      </p:sp>
      <p:sp>
        <p:nvSpPr>
          <p:cNvPr id="126" name=""/>
          <p:cNvSpPr txBox="1"/>
          <p:nvPr/>
        </p:nvSpPr>
        <p:spPr>
          <a:xfrm>
            <a:off x="546120" y="1612800"/>
            <a:ext cx="8140680" cy="4540320"/>
          </a:xfrm>
          <a:prstGeom prst="rect">
            <a:avLst/>
          </a:prstGeom>
          <a:noFill/>
          <a:ln w="0">
            <a:noFill/>
          </a:ln>
        </p:spPr>
        <p:txBody>
          <a:bodyPr lIns="0" rIns="0" tIns="0" bIns="0" anchor="t">
            <a:spAutoFit/>
          </a:bodyPr>
          <a:p>
            <a:pPr>
              <a:lnSpc>
                <a:spcPct val="88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Use </a:t>
            </a:r>
            <a:r>
              <a:rPr b="0" i="1" lang="en-IN" sz="2400" strike="noStrike" u="none">
                <a:solidFill>
                  <a:srgbClr val="000000"/>
                </a:solidFill>
                <a:effectLst/>
                <a:uFillTx/>
                <a:latin typeface="Times New Roman"/>
                <a:ea typeface="Times New Roman"/>
              </a:rPr>
              <a:t>rm</a:t>
            </a:r>
            <a:r>
              <a:rPr b="0" lang="en-IN" sz="2400" strike="noStrike" u="none">
                <a:solidFill>
                  <a:srgbClr val="000000"/>
                </a:solidFill>
                <a:effectLst/>
                <a:uFillTx/>
                <a:latin typeface="Times New Roman"/>
                <a:ea typeface="Times New Roman"/>
              </a:rPr>
              <a:t> to remove one or more files.</a:t>
            </a: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rm a b c</a:t>
            </a: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Filename expansion is both useful and dangerous with rm!</a:t>
            </a: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rm *.o</a:t>
            </a:r>
            <a:r>
              <a:rPr b="0" lang="en-IN" sz="2400" strike="noStrike" u="none">
                <a:solidFill>
                  <a:srgbClr val="000000"/>
                </a:solidFill>
                <a:effectLst/>
                <a:uFillTx/>
                <a:latin typeface="Times New Roman"/>
                <a:ea typeface="Times New Roman"/>
              </a:rPr>
              <a:t>	</a:t>
            </a: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	</a:t>
            </a: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rm * .o</a:t>
            </a:r>
            <a:r>
              <a:rPr b="0" lang="en-IN" sz="2400" strike="noStrike" u="none">
                <a:solidFill>
                  <a:srgbClr val="000000"/>
                </a:solidFill>
                <a:effectLst/>
                <a:uFillTx/>
                <a:latin typeface="Times New Roman"/>
                <a:ea typeface="Times New Roman"/>
              </a:rPr>
              <a:t>	</a:t>
            </a: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rm: .o: file not found</a:t>
            </a: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The -i option can be used to prevent such tragedies.  This</a:t>
            </a: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option will cause rm to prompt for confirmation before it removes each file.</a:t>
            </a:r>
            <a:endParaRPr b="0" lang="en-IN" sz="2400" strike="noStrike" u="none">
              <a:solidFill>
                <a:srgbClr val="000000"/>
              </a:solidFill>
              <a:effectLst/>
              <a:uFillTx/>
              <a:latin typeface="Arial"/>
            </a:endParaRPr>
          </a:p>
        </p:txBody>
      </p:sp>
      <p:sp>
        <p:nvSpPr>
          <p:cNvPr id="127" name=""/>
          <p:cNvSpPr txBox="1"/>
          <p:nvPr/>
        </p:nvSpPr>
        <p:spPr>
          <a:xfrm>
            <a:off x="5489640" y="4270320"/>
            <a:ext cx="1136520" cy="343080"/>
          </a:xfrm>
          <a:prstGeom prst="rect">
            <a:avLst/>
          </a:prstGeom>
          <a:noFill/>
          <a:ln w="25560">
            <a:solidFill>
              <a:srgbClr val="ffffff"/>
            </a:solidFill>
            <a:round/>
          </a:ln>
        </p:spPr>
        <p:txBody>
          <a:bodyPr lIns="0" rIns="0" tIns="0" bIns="0" anchor="t">
            <a:spAutoFit/>
          </a:bodyPr>
          <a:p>
            <a:pPr>
              <a:lnSpc>
                <a:spcPct val="88000"/>
              </a:lnSpc>
              <a:tabLst>
                <a:tab algn="l" pos="685800"/>
                <a:tab algn="l" pos="1371600"/>
                <a:tab algn="l" pos="2057400"/>
                <a:tab algn="l" pos="2743200"/>
                <a:tab algn="l" pos="3429000"/>
              </a:tabLst>
            </a:pPr>
            <a:r>
              <a:rPr b="1" lang="en-IN" sz="1800" strike="noStrike" u="none">
                <a:solidFill>
                  <a:srgbClr val="000000"/>
                </a:solidFill>
                <a:effectLst/>
                <a:uFillTx/>
                <a:latin typeface="Times New Roman"/>
                <a:ea typeface="Times New Roman"/>
              </a:rPr>
              <a:t>YIKES!</a:t>
            </a:r>
            <a:endParaRPr b="0" lang="en-IN" sz="1800" strike="noStrike" u="none">
              <a:solidFill>
                <a:srgbClr val="000000"/>
              </a:solidFill>
              <a:effectLst/>
              <a:uFillTx/>
              <a:latin typeface="Arial"/>
            </a:endParaRPr>
          </a:p>
        </p:txBody>
      </p:sp>
      <p:sp>
        <p:nvSpPr>
          <p:cNvPr id="128" name=""/>
          <p:cNvSpPr/>
          <p:nvPr/>
        </p:nvSpPr>
        <p:spPr>
          <a:xfrm flipH="1">
            <a:off x="2666880" y="4419720"/>
            <a:ext cx="2819520" cy="0"/>
          </a:xfrm>
          <a:prstGeom prst="line">
            <a:avLst/>
          </a:prstGeom>
          <a:ln w="12600">
            <a:solidFill>
              <a:srgbClr val="000000"/>
            </a:solidFill>
            <a:round/>
            <a:tailEnd len="med" type="triangle" w="med"/>
          </a:ln>
        </p:spPr>
        <p:style>
          <a:lnRef idx="0"/>
          <a:fillRef idx="0"/>
          <a:effectRef idx="0"/>
          <a:fontRef idx="minor"/>
        </p:style>
        <p:txBody>
          <a:bodyPr lIns="96120" rIns="96120" tIns="-51120" bIns="-51120" anchor="t">
            <a:noAutofit/>
          </a:bodyPr>
          <a:p>
            <a:endParaRPr b="0" lang="en-IN"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 name=""/>
          <p:cNvSpPr txBox="1"/>
          <p:nvPr/>
        </p:nvSpPr>
        <p:spPr>
          <a:xfrm>
            <a:off x="2616120" y="279360"/>
            <a:ext cx="3897360" cy="1270080"/>
          </a:xfrm>
          <a:prstGeom prst="rect">
            <a:avLst/>
          </a:prstGeom>
          <a:noFill/>
          <a:ln w="0">
            <a:noFill/>
          </a:ln>
        </p:spPr>
        <p:txBody>
          <a:bodyPr lIns="0" rIns="0" tIns="0" bIns="0" anchor="t">
            <a:spAutoFit/>
          </a:bodyPr>
          <a:p>
            <a:pPr algn="ctr">
              <a:lnSpc>
                <a:spcPct val="111000"/>
              </a:lnSpc>
            </a:pPr>
            <a:r>
              <a:rPr b="1" lang="en-IN" sz="3600" strike="noStrike" u="none">
                <a:solidFill>
                  <a:srgbClr val="000000"/>
                </a:solidFill>
                <a:effectLst/>
                <a:uFillTx/>
                <a:latin typeface="Times New Roman"/>
                <a:ea typeface="Times New Roman"/>
              </a:rPr>
              <a:t>rm</a:t>
            </a:r>
            <a:br>
              <a:rPr sz="3600"/>
            </a:br>
            <a:r>
              <a:rPr b="1" lang="en-IN" sz="3600" strike="noStrike" u="none">
                <a:solidFill>
                  <a:srgbClr val="000000"/>
                </a:solidFill>
                <a:effectLst/>
                <a:uFillTx/>
                <a:latin typeface="Times New Roman"/>
                <a:ea typeface="Times New Roman"/>
              </a:rPr>
              <a:t>Recursive Removal</a:t>
            </a:r>
            <a:endParaRPr b="0" lang="en-IN" sz="3600" strike="noStrike" u="none">
              <a:solidFill>
                <a:srgbClr val="000000"/>
              </a:solidFill>
              <a:effectLst/>
              <a:uFillTx/>
              <a:latin typeface="Arial"/>
            </a:endParaRPr>
          </a:p>
        </p:txBody>
      </p:sp>
      <p:sp>
        <p:nvSpPr>
          <p:cNvPr id="130" name=""/>
          <p:cNvSpPr txBox="1"/>
          <p:nvPr/>
        </p:nvSpPr>
        <p:spPr>
          <a:xfrm>
            <a:off x="1231920" y="2222640"/>
            <a:ext cx="6921360" cy="2908440"/>
          </a:xfrm>
          <a:prstGeom prst="rect">
            <a:avLst/>
          </a:prstGeom>
          <a:noFill/>
          <a:ln w="0">
            <a:noFill/>
          </a:ln>
        </p:spPr>
        <p:txBody>
          <a:bodyPr lIns="0" rIns="0" tIns="0" bIns="0" anchor="t">
            <a:spAutoFit/>
          </a:bodyPr>
          <a:p>
            <a:pPr>
              <a:lnSpc>
                <a:spcPct val="87000"/>
              </a:lnSpc>
              <a:tabLst>
                <a:tab algn="l" pos="685800"/>
                <a:tab algn="l" pos="1371600"/>
                <a:tab algn="l" pos="2057400"/>
                <a:tab algn="l" pos="2743200"/>
                <a:tab algn="l" pos="3429000"/>
              </a:tabLst>
            </a:pPr>
            <a:r>
              <a:rPr b="0" i="1" lang="en-IN" sz="2400" strike="noStrike" u="none">
                <a:solidFill>
                  <a:srgbClr val="000000"/>
                </a:solidFill>
                <a:effectLst/>
                <a:uFillTx/>
                <a:latin typeface="Times New Roman"/>
                <a:ea typeface="Times New Roman"/>
              </a:rPr>
              <a:t>rm</a:t>
            </a:r>
            <a:r>
              <a:rPr b="0" lang="en-IN" sz="2400" strike="noStrike" u="none">
                <a:solidFill>
                  <a:srgbClr val="000000"/>
                </a:solidFill>
                <a:effectLst/>
                <a:uFillTx/>
                <a:latin typeface="Times New Roman"/>
                <a:ea typeface="Times New Roman"/>
              </a:rPr>
              <a:t> also has the </a:t>
            </a:r>
            <a:r>
              <a:rPr b="0" i="1" lang="en-IN" sz="2400" strike="noStrike" u="none">
                <a:solidFill>
                  <a:srgbClr val="000000"/>
                </a:solidFill>
                <a:effectLst/>
                <a:uFillTx/>
                <a:latin typeface="Times New Roman"/>
                <a:ea typeface="Times New Roman"/>
              </a:rPr>
              <a:t>-r </a:t>
            </a:r>
            <a:r>
              <a:rPr b="0" lang="en-IN" sz="2400" strike="noStrike" u="none">
                <a:solidFill>
                  <a:srgbClr val="000000"/>
                </a:solidFill>
                <a:effectLst/>
                <a:uFillTx/>
                <a:latin typeface="Times New Roman"/>
                <a:ea typeface="Times New Roman"/>
              </a:rPr>
              <a:t>option, which causes </a:t>
            </a:r>
            <a:r>
              <a:rPr b="0" i="1" lang="en-IN" sz="2400" strike="noStrike" u="none">
                <a:solidFill>
                  <a:srgbClr val="000000"/>
                </a:solidFill>
                <a:effectLst/>
                <a:uFillTx/>
                <a:latin typeface="Times New Roman"/>
                <a:ea typeface="Times New Roman"/>
              </a:rPr>
              <a:t>rm</a:t>
            </a:r>
            <a:r>
              <a:rPr b="0" lang="en-IN" sz="2400" strike="noStrike" u="none">
                <a:solidFill>
                  <a:srgbClr val="000000"/>
                </a:solidFill>
                <a:effectLst/>
                <a:uFillTx/>
                <a:latin typeface="Times New Roman"/>
                <a:ea typeface="Times New Roman"/>
              </a:rPr>
              <a:t> to recursively remove all files and subdirectories, including hidden files.</a:t>
            </a:r>
            <a:endParaRPr b="0" lang="en-IN" sz="2400" strike="noStrike" u="none">
              <a:solidFill>
                <a:srgbClr val="000000"/>
              </a:solidFill>
              <a:effectLst/>
              <a:uFillTx/>
              <a:latin typeface="Arial"/>
            </a:endParaRPr>
          </a:p>
          <a:p>
            <a:pPr>
              <a:lnSpc>
                <a:spcPct val="87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7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rm -r oldstuff</a:t>
            </a:r>
            <a:endParaRPr b="0" lang="en-IN" sz="2400" strike="noStrike" u="none">
              <a:solidFill>
                <a:srgbClr val="000000"/>
              </a:solidFill>
              <a:effectLst/>
              <a:uFillTx/>
              <a:latin typeface="Arial"/>
            </a:endParaRPr>
          </a:p>
          <a:p>
            <a:pPr>
              <a:lnSpc>
                <a:spcPct val="87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7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Obviously, the combination of the </a:t>
            </a:r>
            <a:r>
              <a:rPr b="0" i="1" lang="en-IN" sz="2400" strike="noStrike" u="none">
                <a:solidFill>
                  <a:srgbClr val="000000"/>
                </a:solidFill>
                <a:effectLst/>
                <a:uFillTx/>
                <a:latin typeface="Times New Roman"/>
                <a:ea typeface="Times New Roman"/>
              </a:rPr>
              <a:t>-r </a:t>
            </a:r>
            <a:r>
              <a:rPr b="0" lang="en-IN" sz="2400" strike="noStrike" u="none">
                <a:solidFill>
                  <a:srgbClr val="000000"/>
                </a:solidFill>
                <a:effectLst/>
                <a:uFillTx/>
                <a:latin typeface="Times New Roman"/>
                <a:ea typeface="Times New Roman"/>
              </a:rPr>
              <a:t>option and filename wildcards is </a:t>
            </a:r>
            <a:r>
              <a:rPr b="0" i="1" lang="en-IN" sz="2400" strike="noStrike" u="none">
                <a:solidFill>
                  <a:srgbClr val="000000"/>
                </a:solidFill>
                <a:effectLst/>
                <a:uFillTx/>
                <a:latin typeface="Times New Roman"/>
                <a:ea typeface="Times New Roman"/>
              </a:rPr>
              <a:t>very dangerous</a:t>
            </a:r>
            <a:r>
              <a:rPr b="0" lang="en-IN" sz="2400" strike="noStrike" u="none">
                <a:solidFill>
                  <a:srgbClr val="000000"/>
                </a:solidFill>
                <a:effectLst/>
                <a:uFillTx/>
                <a:latin typeface="Times New Roman"/>
                <a:ea typeface="Times New Roman"/>
              </a:rPr>
              <a:t> and should be used with great caution. </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 name=""/>
          <p:cNvSpPr txBox="1"/>
          <p:nvPr/>
        </p:nvSpPr>
        <p:spPr>
          <a:xfrm>
            <a:off x="3156120" y="279360"/>
            <a:ext cx="2806560" cy="1270080"/>
          </a:xfrm>
          <a:prstGeom prst="rect">
            <a:avLst/>
          </a:prstGeom>
          <a:noFill/>
          <a:ln w="0">
            <a:noFill/>
          </a:ln>
        </p:spPr>
        <p:txBody>
          <a:bodyPr lIns="0" rIns="0" tIns="0" bIns="0" anchor="t">
            <a:spAutoFit/>
          </a:bodyPr>
          <a:p>
            <a:pPr algn="ctr">
              <a:lnSpc>
                <a:spcPct val="111000"/>
              </a:lnSpc>
            </a:pPr>
            <a:r>
              <a:rPr b="1" lang="en-IN" sz="3600" strike="noStrike" u="none">
                <a:solidFill>
                  <a:srgbClr val="000000"/>
                </a:solidFill>
                <a:effectLst/>
                <a:uFillTx/>
                <a:latin typeface="Times New Roman"/>
                <a:ea typeface="Times New Roman"/>
              </a:rPr>
              <a:t>cp</a:t>
            </a:r>
            <a:br>
              <a:rPr sz="3600"/>
            </a:br>
            <a:r>
              <a:rPr b="1" lang="en-IN" sz="3600" strike="noStrike" u="none">
                <a:solidFill>
                  <a:srgbClr val="000000"/>
                </a:solidFill>
                <a:effectLst/>
                <a:uFillTx/>
                <a:latin typeface="Times New Roman"/>
                <a:ea typeface="Times New Roman"/>
              </a:rPr>
              <a:t>Copying Files</a:t>
            </a:r>
            <a:endParaRPr b="0" lang="en-IN" sz="3600" strike="noStrike" u="none">
              <a:solidFill>
                <a:srgbClr val="000000"/>
              </a:solidFill>
              <a:effectLst/>
              <a:uFillTx/>
              <a:latin typeface="Arial"/>
            </a:endParaRPr>
          </a:p>
        </p:txBody>
      </p:sp>
      <p:sp>
        <p:nvSpPr>
          <p:cNvPr id="132" name=""/>
          <p:cNvSpPr txBox="1"/>
          <p:nvPr/>
        </p:nvSpPr>
        <p:spPr>
          <a:xfrm>
            <a:off x="927000" y="1917720"/>
            <a:ext cx="7378560" cy="3898800"/>
          </a:xfrm>
          <a:prstGeom prst="rect">
            <a:avLst/>
          </a:prstGeom>
          <a:noFill/>
          <a:ln w="0">
            <a:noFill/>
          </a:ln>
        </p:spPr>
        <p:txBody>
          <a:bodyPr lIns="0" rIns="0" tIns="0" bIns="0" anchor="t">
            <a:spAutoFit/>
          </a:bodyPr>
          <a:p>
            <a:pPr>
              <a:lnSpc>
                <a:spcPct val="88000"/>
              </a:lnSpc>
              <a:tabLst>
                <a:tab algn="l" pos="685800"/>
                <a:tab algn="l" pos="1371600"/>
                <a:tab algn="l" pos="2057400"/>
                <a:tab algn="l" pos="2743200"/>
                <a:tab algn="l" pos="3429000"/>
              </a:tabLst>
            </a:pPr>
            <a:r>
              <a:rPr b="0" i="1" lang="en-IN" sz="2400" strike="noStrike" u="none">
                <a:solidFill>
                  <a:srgbClr val="000000"/>
                </a:solidFill>
                <a:effectLst/>
                <a:uFillTx/>
                <a:latin typeface="Times New Roman"/>
                <a:ea typeface="Times New Roman"/>
              </a:rPr>
              <a:t>cp</a:t>
            </a:r>
            <a:r>
              <a:rPr b="0" lang="en-IN" sz="2400" strike="noStrike" u="none">
                <a:solidFill>
                  <a:srgbClr val="000000"/>
                </a:solidFill>
                <a:effectLst/>
                <a:uFillTx/>
                <a:latin typeface="Times New Roman"/>
                <a:ea typeface="Times New Roman"/>
              </a:rPr>
              <a:t>  is used to make a copy of a file.</a:t>
            </a: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a:t>
            </a:r>
            <a:r>
              <a:rPr b="0" i="1" lang="en-IN" sz="2400" strike="noStrike" u="none">
                <a:solidFill>
                  <a:srgbClr val="000000"/>
                </a:solidFill>
                <a:effectLst/>
                <a:uFillTx/>
                <a:latin typeface="Times New Roman"/>
                <a:ea typeface="Times New Roman"/>
              </a:rPr>
              <a:t> cp foo bar </a:t>
            </a:r>
            <a:r>
              <a:rPr b="0" i="1"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	</a:t>
            </a: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Multiple files can be copied into a subdirectory.</a:t>
            </a: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a:t>
            </a:r>
            <a:r>
              <a:rPr b="0" i="1" lang="en-IN" sz="2400" strike="noStrike" u="none">
                <a:solidFill>
                  <a:srgbClr val="000000"/>
                </a:solidFill>
                <a:effectLst/>
                <a:uFillTx/>
                <a:latin typeface="Times New Roman"/>
                <a:ea typeface="Times New Roman"/>
              </a:rPr>
              <a:t> cp foo.c bar.c baz.c backups</a:t>
            </a: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The above command copies the three </a:t>
            </a:r>
            <a:r>
              <a:rPr b="0" i="1" lang="en-IN" sz="2400" strike="noStrike" u="none">
                <a:solidFill>
                  <a:srgbClr val="000000"/>
                </a:solidFill>
                <a:effectLst/>
                <a:uFillTx/>
                <a:latin typeface="Times New Roman"/>
                <a:ea typeface="Times New Roman"/>
              </a:rPr>
              <a:t>.c </a:t>
            </a:r>
            <a:r>
              <a:rPr b="0" lang="en-IN" sz="2400" strike="noStrike" u="none">
                <a:solidFill>
                  <a:srgbClr val="000000"/>
                </a:solidFill>
                <a:effectLst/>
                <a:uFillTx/>
                <a:latin typeface="Times New Roman"/>
                <a:ea typeface="Times New Roman"/>
              </a:rPr>
              <a:t>files into the directory </a:t>
            </a:r>
            <a:r>
              <a:rPr b="0" i="1" lang="en-IN" sz="2400" strike="noStrike" u="none">
                <a:solidFill>
                  <a:srgbClr val="000000"/>
                </a:solidFill>
                <a:effectLst/>
                <a:uFillTx/>
                <a:latin typeface="Times New Roman"/>
                <a:ea typeface="Times New Roman"/>
              </a:rPr>
              <a:t>backups</a:t>
            </a:r>
            <a:r>
              <a:rPr b="0" lang="en-IN" sz="2400" strike="noStrike" u="none">
                <a:solidFill>
                  <a:srgbClr val="000000"/>
                </a:solidFill>
                <a:effectLst/>
                <a:uFillTx/>
                <a:latin typeface="Times New Roman"/>
                <a:ea typeface="Times New Roman"/>
              </a:rPr>
              <a:t>.  The new files will have the same names as the originals.  If </a:t>
            </a:r>
            <a:r>
              <a:rPr b="0" i="1" lang="en-IN" sz="2400" strike="noStrike" u="none">
                <a:solidFill>
                  <a:srgbClr val="000000"/>
                </a:solidFill>
                <a:effectLst/>
                <a:uFillTx/>
                <a:latin typeface="Times New Roman"/>
                <a:ea typeface="Times New Roman"/>
              </a:rPr>
              <a:t>backups</a:t>
            </a:r>
            <a:r>
              <a:rPr b="0" lang="en-IN" sz="2400" strike="noStrike" u="none">
                <a:solidFill>
                  <a:srgbClr val="000000"/>
                </a:solidFill>
                <a:effectLst/>
                <a:uFillTx/>
                <a:latin typeface="Times New Roman"/>
                <a:ea typeface="Times New Roman"/>
              </a:rPr>
              <a:t> doesn't exist, </a:t>
            </a:r>
            <a:r>
              <a:rPr b="0" i="1" lang="en-IN" sz="2400" strike="noStrike" u="none">
                <a:solidFill>
                  <a:srgbClr val="000000"/>
                </a:solidFill>
                <a:effectLst/>
                <a:uFillTx/>
                <a:latin typeface="Times New Roman"/>
                <a:ea typeface="Times New Roman"/>
              </a:rPr>
              <a:t>cp</a:t>
            </a:r>
            <a:r>
              <a:rPr b="0" lang="en-IN" sz="2400" strike="noStrike" u="none">
                <a:solidFill>
                  <a:srgbClr val="000000"/>
                </a:solidFill>
                <a:effectLst/>
                <a:uFillTx/>
                <a:latin typeface="Times New Roman"/>
                <a:ea typeface="Times New Roman"/>
              </a:rPr>
              <a:t> will complain.</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 name=""/>
          <p:cNvSpPr txBox="1"/>
          <p:nvPr/>
        </p:nvSpPr>
        <p:spPr>
          <a:xfrm>
            <a:off x="3720960" y="279360"/>
            <a:ext cx="1676520" cy="106056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cp</a:t>
            </a:r>
            <a:br>
              <a:rPr sz="3600"/>
            </a:br>
            <a:r>
              <a:rPr b="1" lang="en-IN" sz="3600" strike="noStrike" u="none">
                <a:solidFill>
                  <a:srgbClr val="000000"/>
                </a:solidFill>
                <a:effectLst/>
                <a:uFillTx/>
                <a:latin typeface="Times New Roman"/>
                <a:ea typeface="Times New Roman"/>
              </a:rPr>
              <a:t>Options</a:t>
            </a:r>
            <a:endParaRPr b="0" lang="en-IN" sz="3600" strike="noStrike" u="none">
              <a:solidFill>
                <a:srgbClr val="000000"/>
              </a:solidFill>
              <a:effectLst/>
              <a:uFillTx/>
              <a:latin typeface="Arial"/>
            </a:endParaRPr>
          </a:p>
        </p:txBody>
      </p:sp>
      <p:sp>
        <p:nvSpPr>
          <p:cNvPr id="134" name=""/>
          <p:cNvSpPr txBox="1"/>
          <p:nvPr/>
        </p:nvSpPr>
        <p:spPr>
          <a:xfrm>
            <a:off x="774720" y="2070000"/>
            <a:ext cx="7759800" cy="3543480"/>
          </a:xfrm>
          <a:prstGeom prst="rect">
            <a:avLst/>
          </a:prstGeom>
          <a:noFill/>
          <a:ln w="0">
            <a:noFill/>
          </a:ln>
        </p:spPr>
        <p:txBody>
          <a:bodyPr lIns="0" rIns="0" tIns="0" bIns="0" anchor="t">
            <a:spAutoFit/>
          </a:bodyPr>
          <a:p>
            <a:pPr>
              <a:lnSpc>
                <a:spcPct val="87000"/>
              </a:lnSpc>
              <a:tabLst>
                <a:tab algn="l" pos="685800"/>
                <a:tab algn="l" pos="1371600"/>
                <a:tab algn="l" pos="2057400"/>
                <a:tab algn="l" pos="2743200"/>
                <a:tab algn="l" pos="3429000"/>
              </a:tabLst>
            </a:pPr>
            <a:r>
              <a:rPr b="0" i="1" lang="en-IN" sz="2400" strike="noStrike" u="none">
                <a:solidFill>
                  <a:srgbClr val="000000"/>
                </a:solidFill>
                <a:effectLst/>
                <a:uFillTx/>
                <a:latin typeface="Times New Roman"/>
                <a:ea typeface="Times New Roman"/>
              </a:rPr>
              <a:t>cp</a:t>
            </a:r>
            <a:r>
              <a:rPr b="0" lang="en-IN" sz="2400" strike="noStrike" u="none">
                <a:solidFill>
                  <a:srgbClr val="000000"/>
                </a:solidFill>
                <a:effectLst/>
                <a:uFillTx/>
                <a:latin typeface="Times New Roman"/>
                <a:ea typeface="Times New Roman"/>
              </a:rPr>
              <a:t> can also act recursively, to copy an entire tree.</a:t>
            </a:r>
            <a:endParaRPr b="0" lang="en-IN" sz="2400" strike="noStrike" u="none">
              <a:solidFill>
                <a:srgbClr val="000000"/>
              </a:solidFill>
              <a:effectLst/>
              <a:uFillTx/>
              <a:latin typeface="Arial"/>
            </a:endParaRPr>
          </a:p>
          <a:p>
            <a:pPr>
              <a:lnSpc>
                <a:spcPct val="87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7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cp -R dir1 dir2</a:t>
            </a:r>
            <a:endParaRPr b="0" lang="en-IN" sz="2400" strike="noStrike" u="none">
              <a:solidFill>
                <a:srgbClr val="000000"/>
              </a:solidFill>
              <a:effectLst/>
              <a:uFillTx/>
              <a:latin typeface="Arial"/>
            </a:endParaRPr>
          </a:p>
          <a:p>
            <a:pPr>
              <a:lnSpc>
                <a:spcPct val="87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7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Like </a:t>
            </a:r>
            <a:r>
              <a:rPr b="0" i="1" lang="en-IN" sz="2400" strike="noStrike" u="none">
                <a:solidFill>
                  <a:srgbClr val="000000"/>
                </a:solidFill>
                <a:effectLst/>
                <a:uFillTx/>
                <a:latin typeface="Times New Roman"/>
                <a:ea typeface="Times New Roman"/>
              </a:rPr>
              <a:t>mv</a:t>
            </a:r>
            <a:r>
              <a:rPr b="0" lang="en-IN" sz="2400" strike="noStrike" u="none">
                <a:solidFill>
                  <a:srgbClr val="000000"/>
                </a:solidFill>
                <a:effectLst/>
                <a:uFillTx/>
                <a:latin typeface="Times New Roman"/>
                <a:ea typeface="Times New Roman"/>
              </a:rPr>
              <a:t> and </a:t>
            </a:r>
            <a:r>
              <a:rPr b="0" i="1" lang="en-IN" sz="2400" strike="noStrike" u="none">
                <a:solidFill>
                  <a:srgbClr val="000000"/>
                </a:solidFill>
                <a:effectLst/>
                <a:uFillTx/>
                <a:latin typeface="Times New Roman"/>
                <a:ea typeface="Times New Roman"/>
              </a:rPr>
              <a:t>rm</a:t>
            </a:r>
            <a:r>
              <a:rPr b="0"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cp</a:t>
            </a:r>
            <a:r>
              <a:rPr b="0" lang="en-IN" sz="2400" strike="noStrike" u="none">
                <a:solidFill>
                  <a:srgbClr val="000000"/>
                </a:solidFill>
                <a:effectLst/>
                <a:uFillTx/>
                <a:latin typeface="Times New Roman"/>
                <a:ea typeface="Times New Roman"/>
              </a:rPr>
              <a:t> supports the  </a:t>
            </a:r>
            <a:r>
              <a:rPr b="0" i="1" lang="en-IN" sz="2400" strike="noStrike" u="none">
                <a:solidFill>
                  <a:srgbClr val="000000"/>
                </a:solidFill>
                <a:effectLst/>
                <a:uFillTx/>
                <a:latin typeface="Times New Roman"/>
                <a:ea typeface="Times New Roman"/>
              </a:rPr>
              <a:t>-i </a:t>
            </a:r>
            <a:r>
              <a:rPr b="0" lang="en-IN" sz="2400" strike="noStrike" u="none">
                <a:solidFill>
                  <a:srgbClr val="000000"/>
                </a:solidFill>
                <a:effectLst/>
                <a:uFillTx/>
                <a:latin typeface="Times New Roman"/>
                <a:ea typeface="Times New Roman"/>
              </a:rPr>
              <a:t>option.</a:t>
            </a:r>
            <a:endParaRPr b="0" lang="en-IN" sz="2400" strike="noStrike" u="none">
              <a:solidFill>
                <a:srgbClr val="000000"/>
              </a:solidFill>
              <a:effectLst/>
              <a:uFillTx/>
              <a:latin typeface="Arial"/>
            </a:endParaRPr>
          </a:p>
          <a:p>
            <a:pPr>
              <a:lnSpc>
                <a:spcPct val="87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7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The </a:t>
            </a:r>
            <a:r>
              <a:rPr b="0" i="1" lang="en-IN" sz="2400" strike="noStrike" u="none">
                <a:solidFill>
                  <a:srgbClr val="000000"/>
                </a:solidFill>
                <a:effectLst/>
                <a:uFillTx/>
                <a:latin typeface="Times New Roman"/>
                <a:ea typeface="Times New Roman"/>
              </a:rPr>
              <a:t>-p </a:t>
            </a:r>
            <a:r>
              <a:rPr b="0" lang="en-IN" sz="2400" strike="noStrike" u="none">
                <a:solidFill>
                  <a:srgbClr val="000000"/>
                </a:solidFill>
                <a:effectLst/>
                <a:uFillTx/>
                <a:latin typeface="Times New Roman"/>
                <a:ea typeface="Times New Roman"/>
              </a:rPr>
              <a:t>option to </a:t>
            </a:r>
            <a:r>
              <a:rPr b="0" i="1" lang="en-IN" sz="2400" strike="noStrike" u="none">
                <a:solidFill>
                  <a:srgbClr val="000000"/>
                </a:solidFill>
                <a:effectLst/>
                <a:uFillTx/>
                <a:latin typeface="Times New Roman"/>
                <a:ea typeface="Times New Roman"/>
              </a:rPr>
              <a:t>cp</a:t>
            </a:r>
            <a:r>
              <a:rPr b="0" lang="en-IN" sz="2400" strike="noStrike" u="none">
                <a:solidFill>
                  <a:srgbClr val="000000"/>
                </a:solidFill>
                <a:effectLst/>
                <a:uFillTx/>
                <a:latin typeface="Times New Roman"/>
                <a:ea typeface="Times New Roman"/>
              </a:rPr>
              <a:t> will set the modification time of the copy to be the same as that of the original.  By default, the modification time of the copy will be the current time.  </a:t>
            </a:r>
            <a:r>
              <a:rPr b="0" i="1" lang="en-IN" sz="2400" strike="noStrike" u="none">
                <a:solidFill>
                  <a:srgbClr val="000000"/>
                </a:solidFill>
                <a:effectLst/>
                <a:uFillTx/>
                <a:latin typeface="Times New Roman"/>
                <a:ea typeface="Times New Roman"/>
              </a:rPr>
              <a:t>-p </a:t>
            </a:r>
            <a:r>
              <a:rPr b="0" lang="en-IN" sz="2400" strike="noStrike" u="none">
                <a:solidFill>
                  <a:srgbClr val="000000"/>
                </a:solidFill>
                <a:effectLst/>
                <a:uFillTx/>
                <a:latin typeface="Times New Roman"/>
                <a:ea typeface="Times New Roman"/>
              </a:rPr>
              <a:t>also tries to set the permission bits on the copy to be the same as on the original.</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 name=""/>
          <p:cNvSpPr txBox="1"/>
          <p:nvPr/>
        </p:nvSpPr>
        <p:spPr>
          <a:xfrm>
            <a:off x="2997360" y="279360"/>
            <a:ext cx="3137040" cy="660240"/>
          </a:xfrm>
          <a:prstGeom prst="rect">
            <a:avLst/>
          </a:prstGeom>
          <a:noFill/>
          <a:ln w="0">
            <a:noFill/>
          </a:ln>
        </p:spPr>
        <p:txBody>
          <a:bodyPr lIns="0" rIns="0" tIns="0" bIns="0" anchor="t">
            <a:spAutoFit/>
          </a:bodyPr>
          <a:p>
            <a:pPr algn="ctr">
              <a:lnSpc>
                <a:spcPct val="111000"/>
              </a:lnSpc>
            </a:pPr>
            <a:r>
              <a:rPr b="1" lang="en-IN" sz="3600" strike="noStrike" u="none">
                <a:solidFill>
                  <a:srgbClr val="000000"/>
                </a:solidFill>
                <a:effectLst/>
                <a:uFillTx/>
                <a:latin typeface="Times New Roman"/>
                <a:ea typeface="Times New Roman"/>
              </a:rPr>
              <a:t>File Ownership</a:t>
            </a:r>
            <a:endParaRPr b="0" lang="en-IN" sz="3600" strike="noStrike" u="none">
              <a:solidFill>
                <a:srgbClr val="000000"/>
              </a:solidFill>
              <a:effectLst/>
              <a:uFillTx/>
              <a:latin typeface="Arial"/>
            </a:endParaRPr>
          </a:p>
        </p:txBody>
      </p:sp>
      <p:sp>
        <p:nvSpPr>
          <p:cNvPr id="136" name=""/>
          <p:cNvSpPr txBox="1"/>
          <p:nvPr/>
        </p:nvSpPr>
        <p:spPr>
          <a:xfrm>
            <a:off x="393840" y="1460520"/>
            <a:ext cx="8292960" cy="4826160"/>
          </a:xfrm>
          <a:prstGeom prst="rect">
            <a:avLst/>
          </a:prstGeom>
          <a:noFill/>
          <a:ln w="0">
            <a:noFill/>
          </a:ln>
        </p:spPr>
        <p:txBody>
          <a:bodyPr lIns="0" rIns="0" tIns="0" bIns="0" anchor="t">
            <a:spAutoFit/>
          </a:bodyPr>
          <a:p>
            <a:pPr>
              <a:lnSpc>
                <a:spcPct val="86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All files under </a:t>
            </a:r>
            <a:r>
              <a:rPr b="0" lang="en-IN" sz="2000" strike="noStrike" u="none">
                <a:solidFill>
                  <a:srgbClr val="000000"/>
                </a:solidFill>
                <a:effectLst/>
                <a:uFillTx/>
                <a:latin typeface="Times New Roman"/>
                <a:ea typeface="Times New Roman"/>
              </a:rPr>
              <a:t>UNIX </a:t>
            </a:r>
            <a:r>
              <a:rPr b="0" lang="en-IN" sz="2400" strike="noStrike" u="none">
                <a:solidFill>
                  <a:srgbClr val="000000"/>
                </a:solidFill>
                <a:effectLst/>
                <a:uFillTx/>
                <a:latin typeface="Times New Roman"/>
                <a:ea typeface="Times New Roman"/>
              </a:rPr>
              <a:t>have an </a:t>
            </a:r>
            <a:r>
              <a:rPr b="0" i="1" lang="en-IN" sz="2400" strike="noStrike" u="none">
                <a:solidFill>
                  <a:srgbClr val="000000"/>
                </a:solidFill>
                <a:effectLst/>
                <a:uFillTx/>
                <a:latin typeface="Times New Roman"/>
                <a:ea typeface="Times New Roman"/>
              </a:rPr>
              <a:t>owner</a:t>
            </a:r>
            <a:r>
              <a:rPr b="0" lang="en-IN" sz="2400" strike="noStrike" u="none">
                <a:solidFill>
                  <a:srgbClr val="000000"/>
                </a:solidFill>
                <a:effectLst/>
                <a:uFillTx/>
                <a:latin typeface="Times New Roman"/>
                <a:ea typeface="Times New Roman"/>
              </a:rPr>
              <a:t> and a </a:t>
            </a:r>
            <a:r>
              <a:rPr b="0" i="1" lang="en-IN" sz="2400" strike="noStrike" u="none">
                <a:solidFill>
                  <a:srgbClr val="000000"/>
                </a:solidFill>
                <a:effectLst/>
                <a:uFillTx/>
                <a:latin typeface="Times New Roman"/>
                <a:ea typeface="Times New Roman"/>
              </a:rPr>
              <a:t>group</a:t>
            </a:r>
            <a:r>
              <a:rPr b="0" lang="en-IN" sz="2400" strike="noStrike" u="none">
                <a:solidFill>
                  <a:srgbClr val="000000"/>
                </a:solidFill>
                <a:effectLst/>
                <a:uFillTx/>
                <a:latin typeface="Times New Roman"/>
                <a:ea typeface="Times New Roman"/>
              </a:rPr>
              <a:t>.  The owner and group for a file are found in a long ls listing.</a:t>
            </a:r>
            <a:endParaRPr b="0" lang="en-IN" sz="24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Lst>
            </a:pPr>
            <a:endParaRPr b="0" lang="en-IN" sz="18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Lst>
            </a:pPr>
            <a:r>
              <a:rPr b="0" lang="en-IN" sz="1800" strike="noStrike" u="none">
                <a:solidFill>
                  <a:srgbClr val="000000"/>
                </a:solidFill>
                <a:effectLst/>
                <a:uFillTx/>
                <a:latin typeface="Times New Roman"/>
                <a:ea typeface="Times New Roman"/>
              </a:rPr>
              <a:t>% ls -lg</a:t>
            </a:r>
            <a:endParaRPr b="0" lang="en-IN" sz="18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Lst>
            </a:pPr>
            <a:r>
              <a:rPr b="0" lang="en-IN" sz="1800" strike="noStrike" u="none">
                <a:solidFill>
                  <a:srgbClr val="000000"/>
                </a:solidFill>
                <a:effectLst/>
                <a:uFillTx/>
                <a:latin typeface="Times New Roman"/>
                <a:ea typeface="Times New Roman"/>
              </a:rPr>
              <a:t>total 47</a:t>
            </a:r>
            <a:endParaRPr b="0" lang="en-IN" sz="18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Lst>
            </a:pPr>
            <a:r>
              <a:rPr b="0" lang="en-IN" sz="1800" strike="noStrike" u="none">
                <a:solidFill>
                  <a:srgbClr val="000000"/>
                </a:solidFill>
                <a:effectLst/>
                <a:uFillTx/>
                <a:latin typeface="Times New Roman"/>
                <a:ea typeface="Times New Roman"/>
              </a:rPr>
              <a:t>drwxrwsr-x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3 williams staff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512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Oct  6 13:41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a:t>
            </a:r>
            <a:endParaRPr b="0" lang="en-IN" sz="18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Lst>
            </a:pPr>
            <a:r>
              <a:rPr b="0" lang="en-IN" sz="1800" strike="noStrike" u="none">
                <a:solidFill>
                  <a:srgbClr val="000000"/>
                </a:solidFill>
                <a:effectLst/>
                <a:uFillTx/>
                <a:latin typeface="Times New Roman"/>
                <a:ea typeface="Times New Roman"/>
              </a:rPr>
              <a:t>drwxrwsr-x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4 williams staff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512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Jul 17 09:46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a:t>
            </a:r>
            <a:endParaRPr b="0" lang="en-IN" sz="18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Lst>
            </a:pPr>
            <a:r>
              <a:rPr b="0" lang="en-IN" sz="1800" strike="noStrike" u="none">
                <a:solidFill>
                  <a:srgbClr val="000000"/>
                </a:solidFill>
                <a:effectLst/>
                <a:uFillTx/>
                <a:latin typeface="Times New Roman"/>
                <a:ea typeface="Times New Roman"/>
              </a:rPr>
              <a:t>drwxrwsr-x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2 williams staff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512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Oct  6 11:02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bin</a:t>
            </a:r>
            <a:endParaRPr b="0" lang="en-IN" sz="18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Lst>
            </a:pPr>
            <a:r>
              <a:rPr b="0" lang="en-IN" sz="1800" strike="noStrike" u="none">
                <a:solidFill>
                  <a:srgbClr val="000000"/>
                </a:solidFill>
                <a:effectLst/>
                <a:uFillTx/>
                <a:latin typeface="Times New Roman"/>
                <a:ea typeface="Times New Roman"/>
              </a:rPr>
              <a:t>-rw-rw-r--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1 williams staff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1194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Sep  9 13:27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calendar</a:t>
            </a:r>
            <a:endParaRPr b="0" lang="en-IN" sz="18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Lst>
            </a:pPr>
            <a:r>
              <a:rPr b="0" lang="en-IN" sz="1800" strike="noStrike" u="none">
                <a:solidFill>
                  <a:srgbClr val="000000"/>
                </a:solidFill>
                <a:effectLst/>
                <a:uFillTx/>
                <a:latin typeface="Times New Roman"/>
                <a:ea typeface="Times New Roman"/>
              </a:rPr>
              <a:t>-rw-rw-r--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1 williams staff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17264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Oct  6 13:17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mbox</a:t>
            </a:r>
            <a:endParaRPr b="0" lang="en-IN" sz="18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Lst>
            </a:pPr>
            <a:r>
              <a:rPr b="0" lang="en-IN" sz="1800" strike="noStrike" u="none">
                <a:solidFill>
                  <a:srgbClr val="000000"/>
                </a:solidFill>
                <a:effectLst/>
                <a:uFillTx/>
                <a:latin typeface="Times New Roman"/>
                <a:ea typeface="Times New Roman"/>
              </a:rPr>
              <a:t>drwxrwxr-x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1 williams staff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161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Oct  5 16:18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mystuff</a:t>
            </a:r>
            <a:endParaRPr b="0" lang="en-IN" sz="18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Lst>
            </a:pPr>
            <a:endParaRPr b="0" lang="en-IN" sz="18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The files above are owned by williams in the group staff. </a:t>
            </a:r>
            <a:endParaRPr b="0" lang="en-IN" sz="2400" strike="noStrike" u="none">
              <a:solidFill>
                <a:srgbClr val="000000"/>
              </a:solidFill>
              <a:effectLst/>
              <a:uFillTx/>
              <a:latin typeface="Arial"/>
            </a:endParaRPr>
          </a:p>
          <a:p>
            <a:pPr lvl="1" marL="800280" indent="-343080">
              <a:lnSpc>
                <a:spcPct val="90000"/>
              </a:lnSpc>
              <a:spcBef>
                <a:spcPts val="720"/>
              </a:spcBef>
              <a:buClr>
                <a:srgbClr val="000000"/>
              </a:buClr>
              <a:buFont typeface=""/>
              <a:buChar char=""/>
              <a:tabLst>
                <a:tab algn="l" pos="571680"/>
                <a:tab algn="l" pos="1257480"/>
                <a:tab algn="l" pos="1943280"/>
                <a:tab algn="l" pos="2628720"/>
              </a:tabLst>
            </a:pPr>
            <a:r>
              <a:rPr b="0" lang="en-IN" sz="2000" strike="noStrike" u="none">
                <a:solidFill>
                  <a:srgbClr val="000000"/>
                </a:solidFill>
                <a:effectLst/>
                <a:uFillTx/>
                <a:latin typeface="Times New Roman"/>
                <a:ea typeface="Times New Roman"/>
              </a:rPr>
              <a:t>A file is owned by the user who creates it.</a:t>
            </a:r>
            <a:endParaRPr b="0" lang="en-IN" sz="2000" strike="noStrike" u="none">
              <a:solidFill>
                <a:srgbClr val="000000"/>
              </a:solidFill>
              <a:effectLst/>
              <a:uFillTx/>
              <a:latin typeface="Arial"/>
            </a:endParaRPr>
          </a:p>
          <a:p>
            <a:pPr lvl="1" marL="800280" indent="-343080">
              <a:lnSpc>
                <a:spcPct val="90000"/>
              </a:lnSpc>
              <a:spcBef>
                <a:spcPts val="720"/>
              </a:spcBef>
              <a:buClr>
                <a:srgbClr val="000000"/>
              </a:buClr>
              <a:buFont typeface=""/>
              <a:buChar char=""/>
              <a:tabLst>
                <a:tab algn="l" pos="571680"/>
                <a:tab algn="l" pos="1257480"/>
                <a:tab algn="l" pos="1943280"/>
                <a:tab algn="l" pos="2628720"/>
              </a:tabLst>
            </a:pPr>
            <a:r>
              <a:rPr b="0" lang="en-IN" sz="2000" strike="noStrike" u="none">
                <a:solidFill>
                  <a:srgbClr val="000000"/>
                </a:solidFill>
                <a:effectLst/>
                <a:uFillTx/>
                <a:latin typeface="Times New Roman"/>
                <a:ea typeface="Times New Roman"/>
              </a:rPr>
              <a:t>The initial group of a file depends on several things.</a:t>
            </a:r>
            <a:endParaRPr b="0" lang="en-IN" sz="2000" strike="noStrike" u="none">
              <a:solidFill>
                <a:srgbClr val="000000"/>
              </a:solidFill>
              <a:effectLst/>
              <a:uFillTx/>
              <a:latin typeface="Arial"/>
            </a:endParaRPr>
          </a:p>
          <a:p>
            <a:pPr lvl="1" marL="800280" indent="-343080">
              <a:lnSpc>
                <a:spcPct val="90000"/>
              </a:lnSpc>
              <a:spcBef>
                <a:spcPts val="720"/>
              </a:spcBef>
              <a:buClr>
                <a:srgbClr val="000000"/>
              </a:buClr>
              <a:buFont typeface=""/>
              <a:buChar char=""/>
              <a:tabLst>
                <a:tab algn="l" pos="571680"/>
                <a:tab algn="l" pos="1257480"/>
                <a:tab algn="l" pos="1943280"/>
                <a:tab algn="l" pos="2628720"/>
              </a:tabLst>
            </a:pPr>
            <a:r>
              <a:rPr b="0" lang="en-IN" sz="2000" strike="noStrike" u="none">
                <a:solidFill>
                  <a:srgbClr val="000000"/>
                </a:solidFill>
                <a:effectLst/>
                <a:uFillTx/>
                <a:latin typeface="Times New Roman"/>
                <a:ea typeface="Times New Roman"/>
              </a:rPr>
              <a:t>File ownership can be changed with the chown command.</a:t>
            </a:r>
            <a:endParaRPr b="0" lang="en-IN" sz="2000" strike="noStrike" u="none">
              <a:solidFill>
                <a:srgbClr val="000000"/>
              </a:solidFill>
              <a:effectLst/>
              <a:uFillTx/>
              <a:latin typeface="Arial"/>
            </a:endParaRPr>
          </a:p>
          <a:p>
            <a:pPr lvl="1" marL="800280" indent="-343080">
              <a:lnSpc>
                <a:spcPct val="90000"/>
              </a:lnSpc>
              <a:spcBef>
                <a:spcPts val="720"/>
              </a:spcBef>
              <a:buClr>
                <a:srgbClr val="000000"/>
              </a:buClr>
              <a:buFont typeface=""/>
              <a:buChar char=""/>
              <a:tabLst>
                <a:tab algn="l" pos="571680"/>
                <a:tab algn="l" pos="1257480"/>
                <a:tab algn="l" pos="1943280"/>
                <a:tab algn="l" pos="2628720"/>
              </a:tabLst>
            </a:pPr>
            <a:r>
              <a:rPr b="0" lang="en-IN" sz="2000" strike="noStrike" u="none">
                <a:solidFill>
                  <a:srgbClr val="000000"/>
                </a:solidFill>
                <a:effectLst/>
                <a:uFillTx/>
                <a:latin typeface="Times New Roman"/>
                <a:ea typeface="Times New Roman"/>
              </a:rPr>
              <a:t>File group can be changed with with chgrp command.</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 name=""/>
          <p:cNvSpPr txBox="1"/>
          <p:nvPr/>
        </p:nvSpPr>
        <p:spPr>
          <a:xfrm>
            <a:off x="3435480" y="279360"/>
            <a:ext cx="2271600" cy="660240"/>
          </a:xfrm>
          <a:prstGeom prst="rect">
            <a:avLst/>
          </a:prstGeom>
          <a:noFill/>
          <a:ln w="0">
            <a:noFill/>
          </a:ln>
        </p:spPr>
        <p:txBody>
          <a:bodyPr lIns="0" rIns="0" tIns="0" bIns="0" anchor="t">
            <a:spAutoFit/>
          </a:bodyPr>
          <a:p>
            <a:pPr algn="ctr">
              <a:lnSpc>
                <a:spcPct val="111000"/>
              </a:lnSpc>
            </a:pPr>
            <a:r>
              <a:rPr b="1" lang="en-IN" sz="3600" strike="noStrike" u="none">
                <a:solidFill>
                  <a:srgbClr val="000000"/>
                </a:solidFill>
                <a:effectLst/>
                <a:uFillTx/>
                <a:latin typeface="Times New Roman"/>
                <a:ea typeface="Times New Roman"/>
              </a:rPr>
              <a:t>File Access</a:t>
            </a:r>
            <a:endParaRPr b="0" lang="en-IN" sz="3600" strike="noStrike" u="none">
              <a:solidFill>
                <a:srgbClr val="000000"/>
              </a:solidFill>
              <a:effectLst/>
              <a:uFillTx/>
              <a:latin typeface="Arial"/>
            </a:endParaRPr>
          </a:p>
        </p:txBody>
      </p:sp>
      <p:sp>
        <p:nvSpPr>
          <p:cNvPr id="138" name=""/>
          <p:cNvSpPr txBox="1"/>
          <p:nvPr/>
        </p:nvSpPr>
        <p:spPr>
          <a:xfrm>
            <a:off x="546120" y="1003320"/>
            <a:ext cx="8217000" cy="5111640"/>
          </a:xfrm>
          <a:prstGeom prst="rect">
            <a:avLst/>
          </a:prstGeom>
          <a:noFill/>
          <a:ln w="0">
            <a:noFill/>
          </a:ln>
        </p:spPr>
        <p:txBody>
          <a:bodyPr lIns="0" rIns="0" tIns="0" bIns="0" anchor="t">
            <a:spAutoFit/>
          </a:bodyPr>
          <a:p>
            <a:pPr>
              <a:lnSpc>
                <a:spcPct val="86000"/>
              </a:lnSpc>
              <a:tabLst>
                <a:tab algn="l" pos="685800"/>
                <a:tab algn="l" pos="1371600"/>
                <a:tab algn="l" pos="2057400"/>
                <a:tab algn="l" pos="2743200"/>
                <a:tab algn="l" pos="3429000"/>
              </a:tabLst>
            </a:pPr>
            <a:r>
              <a:rPr b="0" lang="en-IN" sz="1800" strike="noStrike" u="none">
                <a:solidFill>
                  <a:srgbClr val="000000"/>
                </a:solidFill>
                <a:effectLst/>
                <a:uFillTx/>
                <a:latin typeface="Times New Roman"/>
                <a:ea typeface="Times New Roman"/>
              </a:rPr>
              <a:t>% ls -l</a:t>
            </a:r>
            <a:endParaRPr b="0" lang="en-IN" sz="18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Lst>
            </a:pPr>
            <a:r>
              <a:rPr b="0" lang="en-IN" sz="1800" strike="noStrike" u="none">
                <a:solidFill>
                  <a:srgbClr val="000000"/>
                </a:solidFill>
                <a:effectLst/>
                <a:uFillTx/>
                <a:latin typeface="Times New Roman"/>
                <a:ea typeface="Times New Roman"/>
              </a:rPr>
              <a:t>total 47</a:t>
            </a:r>
            <a:endParaRPr b="0" lang="en-IN" sz="18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Lst>
            </a:pPr>
            <a:r>
              <a:rPr b="0" lang="en-IN" sz="1800" strike="noStrike" u="none">
                <a:solidFill>
                  <a:srgbClr val="000000"/>
                </a:solidFill>
                <a:effectLst/>
                <a:uFillTx/>
                <a:latin typeface="Times New Roman"/>
                <a:ea typeface="Times New Roman"/>
              </a:rPr>
              <a:t>drwxrwsr-x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3 williams staff    512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Oct  6 13:41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a:t>
            </a:r>
            <a:endParaRPr b="0" lang="en-IN" sz="18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Lst>
            </a:pPr>
            <a:r>
              <a:rPr b="0" lang="en-IN" sz="1800" strike="noStrike" u="none">
                <a:solidFill>
                  <a:srgbClr val="000000"/>
                </a:solidFill>
                <a:effectLst/>
                <a:uFillTx/>
                <a:latin typeface="Times New Roman"/>
                <a:ea typeface="Times New Roman"/>
              </a:rPr>
              <a:t>drwxrwsr-x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4 williams staff    512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Jul 17 09:46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a:t>
            </a:r>
            <a:endParaRPr b="0" lang="en-IN" sz="18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Lst>
            </a:pPr>
            <a:r>
              <a:rPr b="0" lang="en-IN" sz="1800" strike="noStrike" u="none">
                <a:solidFill>
                  <a:srgbClr val="000000"/>
                </a:solidFill>
                <a:effectLst/>
                <a:uFillTx/>
                <a:latin typeface="Times New Roman"/>
                <a:ea typeface="Times New Roman"/>
              </a:rPr>
              <a:t>drwxr-sr-x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2 williams staff    512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Oct  6 11:02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bin</a:t>
            </a:r>
            <a:endParaRPr b="0" lang="en-IN" sz="18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Lst>
            </a:pPr>
            <a:r>
              <a:rPr b="0" lang="en-IN" sz="1800" strike="noStrike" u="none">
                <a:solidFill>
                  <a:srgbClr val="000000"/>
                </a:solidFill>
                <a:effectLst/>
                <a:uFillTx/>
                <a:latin typeface="Times New Roman"/>
                <a:ea typeface="Times New Roman"/>
              </a:rPr>
              <a:t>-rw-rw-r--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1 williams staff   1194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Sep  9 13:27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calendar</a:t>
            </a:r>
            <a:endParaRPr b="0" lang="en-IN" sz="18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Lst>
            </a:pPr>
            <a:r>
              <a:rPr b="0" lang="en-IN" sz="1800" strike="noStrike" u="none">
                <a:solidFill>
                  <a:srgbClr val="000000"/>
                </a:solidFill>
                <a:effectLst/>
                <a:uFillTx/>
                <a:latin typeface="Times New Roman"/>
                <a:ea typeface="Times New Roman"/>
              </a:rPr>
              <a:t>-rw-------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1 williams staff  17264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Oct  6 13:17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mbox</a:t>
            </a:r>
            <a:endParaRPr b="0" lang="en-IN" sz="18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Lst>
            </a:pPr>
            <a:r>
              <a:rPr b="0" lang="en-IN" sz="1800" strike="noStrike" u="none">
                <a:solidFill>
                  <a:srgbClr val="000000"/>
                </a:solidFill>
                <a:effectLst/>
                <a:uFillTx/>
                <a:latin typeface="Times New Roman"/>
                <a:ea typeface="Times New Roman"/>
              </a:rPr>
              <a:t>drwxrwxr-x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1 williams staff    161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Oct  5 16:18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mystuff</a:t>
            </a:r>
            <a:endParaRPr b="0" lang="en-IN" sz="18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In a long listing the first group of characters gives each file's </a:t>
            </a:r>
            <a:r>
              <a:rPr b="0" i="1" lang="en-IN" sz="2400" strike="noStrike" u="none">
                <a:solidFill>
                  <a:srgbClr val="000000"/>
                </a:solidFill>
                <a:effectLst/>
                <a:uFillTx/>
                <a:latin typeface="Times New Roman"/>
                <a:ea typeface="Times New Roman"/>
              </a:rPr>
              <a:t>permission bits,</a:t>
            </a:r>
            <a:r>
              <a:rPr b="0" lang="en-IN" sz="2400" strike="noStrike" u="none">
                <a:solidFill>
                  <a:srgbClr val="000000"/>
                </a:solidFill>
                <a:effectLst/>
                <a:uFillTx/>
                <a:latin typeface="Times New Roman"/>
                <a:ea typeface="Times New Roman"/>
              </a:rPr>
              <a:t> which define the access rights to the file.</a:t>
            </a:r>
            <a:endParaRPr b="0" lang="en-IN" sz="24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The first character gives the file's type, the next nine give the file’s access permissions for the owner, the group, and others.</a:t>
            </a:r>
            <a:endParaRPr b="0" lang="en-IN" sz="2400" strike="noStrike" u="none">
              <a:solidFill>
                <a:srgbClr val="000000"/>
              </a:solidFill>
              <a:effectLst/>
              <a:uFillTx/>
              <a:latin typeface="Arial"/>
            </a:endParaRPr>
          </a:p>
          <a:p>
            <a:pPr lvl="1" marL="457200" indent="-343080">
              <a:lnSpc>
                <a:spcPct val="90000"/>
              </a:lnSpc>
              <a:spcBef>
                <a:spcPts val="720"/>
              </a:spcBef>
              <a:buClr>
                <a:srgbClr val="000000"/>
              </a:buClr>
              <a:buFont typeface=""/>
              <a:buChar char=""/>
              <a:tabLst>
                <a:tab algn="l" pos="228600"/>
                <a:tab algn="l" pos="914400"/>
                <a:tab algn="l" pos="1600200"/>
                <a:tab algn="l" pos="2286000"/>
                <a:tab algn="l" pos="2971800"/>
              </a:tabLst>
            </a:pPr>
            <a:r>
              <a:rPr b="0" lang="en-IN" sz="2000" strike="noStrike" u="none">
                <a:solidFill>
                  <a:srgbClr val="000000"/>
                </a:solidFill>
                <a:effectLst/>
                <a:uFillTx/>
                <a:latin typeface="Times New Roman"/>
                <a:ea typeface="Times New Roman"/>
              </a:rPr>
              <a:t>- is used for a plain file, d is used for a directory, l is used for a symbolic link.</a:t>
            </a:r>
            <a:endParaRPr b="0" lang="en-IN" sz="2000" strike="noStrike" u="none">
              <a:solidFill>
                <a:srgbClr val="000000"/>
              </a:solidFill>
              <a:effectLst/>
              <a:uFillTx/>
              <a:latin typeface="Arial"/>
            </a:endParaRPr>
          </a:p>
          <a:p>
            <a:pPr lvl="1" marL="457200" indent="-343080">
              <a:lnSpc>
                <a:spcPct val="90000"/>
              </a:lnSpc>
              <a:spcBef>
                <a:spcPts val="720"/>
              </a:spcBef>
              <a:buClr>
                <a:srgbClr val="000000"/>
              </a:buClr>
              <a:buFont typeface=""/>
              <a:buChar char=""/>
              <a:tabLst>
                <a:tab algn="l" pos="228600"/>
                <a:tab algn="l" pos="914400"/>
                <a:tab algn="l" pos="1600200"/>
                <a:tab algn="l" pos="2286000"/>
                <a:tab algn="l" pos="2971800"/>
              </a:tabLst>
            </a:pPr>
            <a:r>
              <a:rPr b="0" lang="en-IN" sz="2000" strike="noStrike" u="none">
                <a:solidFill>
                  <a:srgbClr val="000000"/>
                </a:solidFill>
                <a:effectLst/>
                <a:uFillTx/>
                <a:latin typeface="Times New Roman"/>
                <a:ea typeface="Times New Roman"/>
              </a:rPr>
              <a:t>r, indicates read permission, w indicates write permission, x and s indicate execute permission.</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 name=""/>
          <p:cNvSpPr txBox="1"/>
          <p:nvPr/>
        </p:nvSpPr>
        <p:spPr>
          <a:xfrm>
            <a:off x="3841920" y="203040"/>
            <a:ext cx="1447920" cy="660240"/>
          </a:xfrm>
          <a:prstGeom prst="rect">
            <a:avLst/>
          </a:prstGeom>
          <a:noFill/>
          <a:ln w="0">
            <a:noFill/>
          </a:ln>
        </p:spPr>
        <p:txBody>
          <a:bodyPr lIns="0" rIns="0" tIns="0" bIns="0" anchor="t">
            <a:spAutoFit/>
          </a:bodyPr>
          <a:p>
            <a:pPr algn="ctr">
              <a:lnSpc>
                <a:spcPct val="111000"/>
              </a:lnSpc>
            </a:pPr>
            <a:r>
              <a:rPr b="1" lang="en-IN" sz="3600" strike="noStrike" u="none">
                <a:solidFill>
                  <a:srgbClr val="000000"/>
                </a:solidFill>
                <a:effectLst/>
                <a:uFillTx/>
                <a:latin typeface="Times New Roman"/>
                <a:ea typeface="Times New Roman"/>
              </a:rPr>
              <a:t>chmod</a:t>
            </a:r>
            <a:endParaRPr b="0" lang="en-IN" sz="3600" strike="noStrike" u="none">
              <a:solidFill>
                <a:srgbClr val="000000"/>
              </a:solidFill>
              <a:effectLst/>
              <a:uFillTx/>
              <a:latin typeface="Arial"/>
            </a:endParaRPr>
          </a:p>
        </p:txBody>
      </p:sp>
      <p:sp>
        <p:nvSpPr>
          <p:cNvPr id="140" name=""/>
          <p:cNvSpPr txBox="1"/>
          <p:nvPr/>
        </p:nvSpPr>
        <p:spPr>
          <a:xfrm>
            <a:off x="546120" y="927000"/>
            <a:ext cx="8064360" cy="4095720"/>
          </a:xfrm>
          <a:prstGeom prst="rect">
            <a:avLst/>
          </a:prstGeom>
          <a:noFill/>
          <a:ln w="0">
            <a:noFill/>
          </a:ln>
        </p:spPr>
        <p:txBody>
          <a:bodyPr lIns="0" rIns="0" tIns="0" bIns="0" anchor="t">
            <a:spAutoFit/>
          </a:bodyPr>
          <a:p>
            <a:pPr>
              <a:lnSpc>
                <a:spcPct val="85000"/>
              </a:lnSpc>
              <a:tabLst>
                <a:tab algn="l" pos="685800"/>
                <a:tab algn="l" pos="1371600"/>
                <a:tab algn="l" pos="2057400"/>
                <a:tab algn="l" pos="2743200"/>
                <a:tab algn="l" pos="3429000"/>
                <a:tab algn="l" pos="4114800"/>
                <a:tab algn="l" pos="4800600"/>
                <a:tab algn="l" pos="5486400"/>
                <a:tab algn="l" pos="6159600"/>
                <a:tab algn="l" pos="6858000"/>
              </a:tabLst>
            </a:pPr>
            <a:r>
              <a:rPr b="0" lang="en-IN" sz="2400" strike="noStrike" u="none">
                <a:solidFill>
                  <a:srgbClr val="000000"/>
                </a:solidFill>
                <a:effectLst/>
                <a:uFillTx/>
                <a:latin typeface="Times New Roman"/>
                <a:ea typeface="Times New Roman"/>
              </a:rPr>
              <a:t>The </a:t>
            </a:r>
            <a:r>
              <a:rPr b="0" i="1" lang="en-IN" sz="2400" strike="noStrike" u="none">
                <a:solidFill>
                  <a:srgbClr val="000000"/>
                </a:solidFill>
                <a:effectLst/>
                <a:uFillTx/>
                <a:latin typeface="Times New Roman"/>
                <a:ea typeface="Times New Roman"/>
              </a:rPr>
              <a:t>chmod</a:t>
            </a:r>
            <a:r>
              <a:rPr b="0" lang="en-IN" sz="2400" strike="noStrike" u="none">
                <a:solidFill>
                  <a:srgbClr val="000000"/>
                </a:solidFill>
                <a:effectLst/>
                <a:uFillTx/>
                <a:latin typeface="Times New Roman"/>
                <a:ea typeface="Times New Roman"/>
              </a:rPr>
              <a:t> command is used to change the permission bits (the mode) of a file.  There are two different styles of argument to chmod.  The first style, used by old-timers and programmers, uses octal numbers to change the mode of a file.</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 algn="l" pos="4114800"/>
                <a:tab algn="l" pos="4800600"/>
                <a:tab algn="l" pos="5486400"/>
                <a:tab algn="l" pos="6159600"/>
                <a:tab algn="l" pos="6858000"/>
              </a:tabLst>
            </a:pP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 algn="l" pos="4114800"/>
                <a:tab algn="l" pos="4800600"/>
                <a:tab algn="l" pos="5486400"/>
                <a:tab algn="l" pos="6159600"/>
                <a:tab algn="l" pos="6858000"/>
              </a:tabLst>
            </a:pPr>
            <a:r>
              <a:rPr b="0"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chmod 644 myfile</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 algn="l" pos="4114800"/>
                <a:tab algn="l" pos="4800600"/>
                <a:tab algn="l" pos="5486400"/>
                <a:tab algn="l" pos="6159600"/>
                <a:tab algn="l" pos="6858000"/>
              </a:tabLst>
            </a:pP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 algn="l" pos="4114800"/>
                <a:tab algn="l" pos="4800600"/>
                <a:tab algn="l" pos="5486400"/>
                <a:tab algn="l" pos="6159600"/>
                <a:tab algn="l" pos="6858000"/>
              </a:tabLst>
            </a:pPr>
            <a:r>
              <a:rPr b="0" lang="en-IN" sz="2400" strike="noStrike" u="none">
                <a:solidFill>
                  <a:srgbClr val="000000"/>
                </a:solidFill>
                <a:effectLst/>
                <a:uFillTx/>
                <a:latin typeface="Times New Roman"/>
                <a:ea typeface="Times New Roman"/>
              </a:rPr>
              <a:t>This sets myfile to have permissions -rw-r--r--.  The other option syntax uses symbolic values and is a bit more user friendly.</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 algn="l" pos="4114800"/>
                <a:tab algn="l" pos="4800600"/>
                <a:tab algn="l" pos="5486400"/>
                <a:tab algn="l" pos="6159600"/>
                <a:tab algn="l" pos="6858000"/>
              </a:tabLst>
            </a:pP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 algn="l" pos="4114800"/>
                <a:tab algn="l" pos="4800600"/>
                <a:tab algn="l" pos="5486400"/>
                <a:tab algn="l" pos="6159600"/>
                <a:tab algn="l" pos="6858000"/>
              </a:tabLst>
            </a:pPr>
            <a:r>
              <a:rPr b="0"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chmod a=r myfile</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everyone gets just read permission</a:t>
            </a:r>
            <a:endParaRPr b="0" lang="en-IN" sz="18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 algn="l" pos="4114800"/>
                <a:tab algn="l" pos="4800600"/>
                <a:tab algn="l" pos="5486400"/>
                <a:tab algn="l" pos="6159600"/>
                <a:tab algn="l" pos="6858000"/>
              </a:tabLst>
            </a:pPr>
            <a:r>
              <a:rPr b="0"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chmod ug+w myfile</a:t>
            </a:r>
            <a:r>
              <a:rPr b="0" i="1" lang="en-IN" sz="24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owner (user) and group get write permission</a:t>
            </a:r>
            <a:endParaRPr b="0" lang="en-IN" sz="18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 algn="l" pos="4114800"/>
                <a:tab algn="l" pos="4800600"/>
                <a:tab algn="l" pos="5486400"/>
                <a:tab algn="l" pos="6159600"/>
                <a:tab algn="l" pos="6858000"/>
              </a:tabLst>
            </a:pPr>
            <a:r>
              <a:rPr b="0"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chmod go-x myprog</a:t>
            </a:r>
            <a:r>
              <a:rPr b="0" i="1" lang="en-IN" sz="24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group and others have no execute permission</a:t>
            </a:r>
            <a:endParaRPr b="0" lang="en-IN"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1" name=""/>
          <p:cNvSpPr txBox="1"/>
          <p:nvPr/>
        </p:nvSpPr>
        <p:spPr>
          <a:xfrm>
            <a:off x="3181320" y="279360"/>
            <a:ext cx="2768760" cy="106056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Groups</a:t>
            </a:r>
            <a:br>
              <a:rPr sz="3600"/>
            </a:br>
            <a:r>
              <a:rPr b="1" lang="en-IN" sz="3600" strike="noStrike" u="none">
                <a:solidFill>
                  <a:srgbClr val="000000"/>
                </a:solidFill>
                <a:effectLst/>
                <a:uFillTx/>
                <a:latin typeface="Times New Roman"/>
                <a:ea typeface="Times New Roman"/>
              </a:rPr>
              <a:t>The Old Way</a:t>
            </a:r>
            <a:endParaRPr b="0" lang="en-IN" sz="3600" strike="noStrike" u="none">
              <a:solidFill>
                <a:srgbClr val="000000"/>
              </a:solidFill>
              <a:effectLst/>
              <a:uFillTx/>
              <a:latin typeface="Arial"/>
            </a:endParaRPr>
          </a:p>
        </p:txBody>
      </p:sp>
      <p:sp>
        <p:nvSpPr>
          <p:cNvPr id="142" name=""/>
          <p:cNvSpPr txBox="1"/>
          <p:nvPr/>
        </p:nvSpPr>
        <p:spPr>
          <a:xfrm>
            <a:off x="1079640" y="2146320"/>
            <a:ext cx="7074000" cy="2351160"/>
          </a:xfrm>
          <a:prstGeom prst="rect">
            <a:avLst/>
          </a:prstGeom>
          <a:noFill/>
          <a:ln w="0">
            <a:noFill/>
          </a:ln>
        </p:spPr>
        <p:txBody>
          <a:bodyPr lIns="0" rIns="0" tIns="0" bIns="0" anchor="t">
            <a:spAutoFit/>
          </a:bodyPr>
          <a:p>
            <a:pPr>
              <a:lnSpc>
                <a:spcPct val="89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At any given time, a user is “in” exactly one group.</a:t>
            </a:r>
            <a:endParaRPr b="0" lang="en-IN" sz="2400" strike="noStrike" u="none">
              <a:solidFill>
                <a:srgbClr val="000000"/>
              </a:solidFill>
              <a:effectLst/>
              <a:uFillTx/>
              <a:latin typeface="Arial"/>
            </a:endParaRPr>
          </a:p>
          <a:p>
            <a:pPr>
              <a:lnSpc>
                <a:spcPct val="89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lvl="1" marL="800280" indent="-343080">
              <a:lnSpc>
                <a:spcPct val="90000"/>
              </a:lnSpc>
              <a:spcBef>
                <a:spcPts val="720"/>
              </a:spcBef>
              <a:buClr>
                <a:srgbClr val="000000"/>
              </a:buClr>
              <a:buFont typeface=""/>
              <a:buChar char=""/>
              <a:tabLst>
                <a:tab algn="l" pos="571680"/>
                <a:tab algn="l" pos="1257480"/>
                <a:tab algn="l" pos="1943280"/>
                <a:tab algn="l" pos="2628720"/>
              </a:tabLst>
            </a:pPr>
            <a:r>
              <a:rPr b="0" lang="en-IN" sz="2000" strike="noStrike" u="none">
                <a:solidFill>
                  <a:srgbClr val="000000"/>
                </a:solidFill>
                <a:effectLst/>
                <a:uFillTx/>
                <a:latin typeface="Times New Roman"/>
                <a:ea typeface="Times New Roman"/>
              </a:rPr>
              <a:t>New files and directories are given the group ID of the user when the user creates the file. </a:t>
            </a:r>
            <a:endParaRPr b="0" lang="en-IN" sz="2000" strike="noStrike" u="none">
              <a:solidFill>
                <a:srgbClr val="000000"/>
              </a:solidFill>
              <a:effectLst/>
              <a:uFillTx/>
              <a:latin typeface="Arial"/>
            </a:endParaRPr>
          </a:p>
          <a:p>
            <a:pPr lvl="1" marL="800280" indent="-343080">
              <a:lnSpc>
                <a:spcPct val="90000"/>
              </a:lnSpc>
              <a:spcBef>
                <a:spcPts val="720"/>
              </a:spcBef>
              <a:buClr>
                <a:srgbClr val="000000"/>
              </a:buClr>
              <a:buFont typeface=""/>
              <a:buChar char=""/>
              <a:tabLst>
                <a:tab algn="l" pos="571680"/>
                <a:tab algn="l" pos="1257480"/>
                <a:tab algn="l" pos="1943280"/>
                <a:tab algn="l" pos="2628720"/>
              </a:tabLst>
            </a:pPr>
            <a:r>
              <a:rPr b="0" lang="en-IN" sz="2000" strike="noStrike" u="none">
                <a:solidFill>
                  <a:srgbClr val="000000"/>
                </a:solidFill>
                <a:effectLst/>
                <a:uFillTx/>
                <a:latin typeface="Times New Roman"/>
                <a:ea typeface="Times New Roman"/>
              </a:rPr>
              <a:t>The </a:t>
            </a:r>
            <a:r>
              <a:rPr b="0" i="1" lang="en-IN" sz="2000" strike="noStrike" u="none">
                <a:solidFill>
                  <a:srgbClr val="000000"/>
                </a:solidFill>
                <a:effectLst/>
                <a:uFillTx/>
                <a:latin typeface="Times New Roman"/>
                <a:ea typeface="Times New Roman"/>
              </a:rPr>
              <a:t>newgroup</a:t>
            </a:r>
            <a:r>
              <a:rPr b="0" lang="en-IN" sz="2000" strike="noStrike" u="none">
                <a:solidFill>
                  <a:srgbClr val="000000"/>
                </a:solidFill>
                <a:effectLst/>
                <a:uFillTx/>
                <a:latin typeface="Times New Roman"/>
                <a:ea typeface="Times New Roman"/>
              </a:rPr>
              <a:t> command allows the user to switch amongst any of the groups for which the user is authorized.</a:t>
            </a:r>
            <a:endParaRPr b="0" lang="en-IN" sz="2000" strike="noStrike" u="none">
              <a:solidFill>
                <a:srgbClr val="000000"/>
              </a:solidFill>
              <a:effectLst/>
              <a:uFillTx/>
              <a:latin typeface="Arial"/>
            </a:endParaRPr>
          </a:p>
          <a:p>
            <a:pPr lvl="1" marL="800280" indent="-343080">
              <a:lnSpc>
                <a:spcPct val="90000"/>
              </a:lnSpc>
              <a:spcBef>
                <a:spcPts val="720"/>
              </a:spcBef>
              <a:buClr>
                <a:srgbClr val="000000"/>
              </a:buClr>
              <a:buFont typeface=""/>
              <a:buChar char=""/>
              <a:tabLst>
                <a:tab algn="l" pos="571680"/>
                <a:tab algn="l" pos="1257480"/>
                <a:tab algn="l" pos="1943280"/>
                <a:tab algn="l" pos="2628720"/>
              </a:tabLst>
            </a:pPr>
            <a:r>
              <a:rPr b="0" lang="en-IN" sz="2000" strike="noStrike" u="none">
                <a:solidFill>
                  <a:srgbClr val="000000"/>
                </a:solidFill>
                <a:effectLst/>
                <a:uFillTx/>
                <a:latin typeface="Times New Roman"/>
                <a:ea typeface="Times New Roman"/>
              </a:rPr>
              <a:t>Doesn’t work well for users who work on many projects.</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 name=""/>
          <p:cNvSpPr txBox="1"/>
          <p:nvPr/>
        </p:nvSpPr>
        <p:spPr>
          <a:xfrm>
            <a:off x="3110040" y="279360"/>
            <a:ext cx="2895480" cy="106056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Groups</a:t>
            </a:r>
            <a:br>
              <a:rPr sz="3600"/>
            </a:br>
            <a:r>
              <a:rPr b="1" lang="en-IN" sz="3600" strike="noStrike" u="none">
                <a:solidFill>
                  <a:srgbClr val="000000"/>
                </a:solidFill>
                <a:effectLst/>
                <a:uFillTx/>
                <a:latin typeface="Times New Roman"/>
                <a:ea typeface="Times New Roman"/>
              </a:rPr>
              <a:t>The New Way</a:t>
            </a:r>
            <a:endParaRPr b="0" lang="en-IN" sz="3600" strike="noStrike" u="none">
              <a:solidFill>
                <a:srgbClr val="000000"/>
              </a:solidFill>
              <a:effectLst/>
              <a:uFillTx/>
              <a:latin typeface="Arial"/>
            </a:endParaRPr>
          </a:p>
        </p:txBody>
      </p:sp>
      <p:sp>
        <p:nvSpPr>
          <p:cNvPr id="144" name=""/>
          <p:cNvSpPr txBox="1"/>
          <p:nvPr/>
        </p:nvSpPr>
        <p:spPr>
          <a:xfrm>
            <a:off x="927000" y="2146320"/>
            <a:ext cx="7531200" cy="2982960"/>
          </a:xfrm>
          <a:prstGeom prst="rect">
            <a:avLst/>
          </a:prstGeom>
          <a:noFill/>
          <a:ln w="0">
            <a:noFill/>
          </a:ln>
        </p:spPr>
        <p:txBody>
          <a:bodyPr lIns="0" rIns="0" tIns="0" bIns="0" anchor="t">
            <a:spAutoFit/>
          </a:bodyPr>
          <a:p>
            <a:pPr>
              <a:lnSpc>
                <a:spcPct val="88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Starting with about BSD 4.1, a new method of setting the group ID was introduced which facilitated working on many projects at once.</a:t>
            </a: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lvl="1" marL="800280" indent="-343080">
              <a:lnSpc>
                <a:spcPct val="90000"/>
              </a:lnSpc>
              <a:spcBef>
                <a:spcPts val="720"/>
              </a:spcBef>
              <a:buClr>
                <a:srgbClr val="000000"/>
              </a:buClr>
              <a:buFont typeface=""/>
              <a:buChar char=""/>
              <a:tabLst>
                <a:tab algn="l" pos="571680"/>
                <a:tab algn="l" pos="1257480"/>
                <a:tab algn="l" pos="1943280"/>
                <a:tab algn="l" pos="2628720"/>
              </a:tabLst>
            </a:pPr>
            <a:r>
              <a:rPr b="0" lang="en-IN" sz="2000" strike="noStrike" u="none">
                <a:solidFill>
                  <a:srgbClr val="000000"/>
                </a:solidFill>
                <a:effectLst/>
                <a:uFillTx/>
                <a:latin typeface="Times New Roman"/>
                <a:ea typeface="Times New Roman"/>
              </a:rPr>
              <a:t>New files and directories are given the group ID of the directory in which they are created.</a:t>
            </a:r>
            <a:endParaRPr b="0" lang="en-IN" sz="2000" strike="noStrike" u="none">
              <a:solidFill>
                <a:srgbClr val="000000"/>
              </a:solidFill>
              <a:effectLst/>
              <a:uFillTx/>
              <a:latin typeface="Arial"/>
            </a:endParaRPr>
          </a:p>
          <a:p>
            <a:pPr lvl="1" marL="800280" indent="-343080">
              <a:lnSpc>
                <a:spcPct val="90000"/>
              </a:lnSpc>
              <a:spcBef>
                <a:spcPts val="720"/>
              </a:spcBef>
              <a:buClr>
                <a:srgbClr val="000000"/>
              </a:buClr>
              <a:buFont typeface=""/>
              <a:buChar char=""/>
              <a:tabLst>
                <a:tab algn="l" pos="571680"/>
                <a:tab algn="l" pos="1257480"/>
                <a:tab algn="l" pos="1943280"/>
                <a:tab algn="l" pos="2628720"/>
              </a:tabLst>
            </a:pPr>
            <a:r>
              <a:rPr b="0" lang="en-IN" sz="2000" strike="noStrike" u="none">
                <a:solidFill>
                  <a:srgbClr val="000000"/>
                </a:solidFill>
                <a:effectLst/>
                <a:uFillTx/>
                <a:latin typeface="Times New Roman"/>
                <a:ea typeface="Times New Roman"/>
              </a:rPr>
              <a:t>Users are always “in” all the groups they are authorized for so </a:t>
            </a:r>
            <a:r>
              <a:rPr b="0" i="1" lang="en-IN" sz="2000" strike="noStrike" u="none">
                <a:solidFill>
                  <a:srgbClr val="000000"/>
                </a:solidFill>
                <a:effectLst/>
                <a:uFillTx/>
                <a:latin typeface="Times New Roman"/>
                <a:ea typeface="Times New Roman"/>
              </a:rPr>
              <a:t>newgroup</a:t>
            </a:r>
            <a:r>
              <a:rPr b="0" lang="en-IN" sz="2000" strike="noStrike" u="none">
                <a:solidFill>
                  <a:srgbClr val="000000"/>
                </a:solidFill>
                <a:effectLst/>
                <a:uFillTx/>
                <a:latin typeface="Times New Roman"/>
                <a:ea typeface="Times New Roman"/>
              </a:rPr>
              <a:t> command is not needed.</a:t>
            </a:r>
            <a:endParaRPr b="0" lang="en-IN" sz="2000" strike="noStrike" u="none">
              <a:solidFill>
                <a:srgbClr val="000000"/>
              </a:solidFill>
              <a:effectLst/>
              <a:uFillTx/>
              <a:latin typeface="Arial"/>
            </a:endParaRPr>
          </a:p>
          <a:p>
            <a:pPr lvl="1" marL="800280" indent="-343080">
              <a:lnSpc>
                <a:spcPct val="90000"/>
              </a:lnSpc>
              <a:spcBef>
                <a:spcPts val="720"/>
              </a:spcBef>
              <a:buClr>
                <a:srgbClr val="000000"/>
              </a:buClr>
              <a:buFont typeface=""/>
              <a:buChar char=""/>
              <a:tabLst>
                <a:tab algn="l" pos="571680"/>
                <a:tab algn="l" pos="1257480"/>
                <a:tab algn="l" pos="1943280"/>
                <a:tab algn="l" pos="2628720"/>
              </a:tabLst>
            </a:pPr>
            <a:r>
              <a:rPr b="0" lang="en-IN" sz="2000" strike="noStrike" u="none">
                <a:solidFill>
                  <a:srgbClr val="000000"/>
                </a:solidFill>
                <a:effectLst/>
                <a:uFillTx/>
                <a:latin typeface="Times New Roman"/>
                <a:ea typeface="Times New Roman"/>
              </a:rPr>
              <a:t>Group ID is a property of location, not the creator.</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5" name=""/>
          <p:cNvSpPr txBox="1"/>
          <p:nvPr/>
        </p:nvSpPr>
        <p:spPr>
          <a:xfrm>
            <a:off x="2698920" y="279360"/>
            <a:ext cx="3733920" cy="106056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Groups</a:t>
            </a:r>
            <a:br>
              <a:rPr sz="3600"/>
            </a:br>
            <a:r>
              <a:rPr b="1" lang="en-IN" sz="3600" strike="noStrike" u="none">
                <a:solidFill>
                  <a:srgbClr val="000000"/>
                </a:solidFill>
                <a:effectLst/>
                <a:uFillTx/>
                <a:latin typeface="Times New Roman"/>
                <a:ea typeface="Times New Roman"/>
              </a:rPr>
              <a:t>Every Which Way</a:t>
            </a:r>
            <a:endParaRPr b="0" lang="en-IN" sz="3600" strike="noStrike" u="none">
              <a:solidFill>
                <a:srgbClr val="000000"/>
              </a:solidFill>
              <a:effectLst/>
              <a:uFillTx/>
              <a:latin typeface="Arial"/>
            </a:endParaRPr>
          </a:p>
        </p:txBody>
      </p:sp>
      <p:sp>
        <p:nvSpPr>
          <p:cNvPr id="146" name=""/>
          <p:cNvSpPr txBox="1"/>
          <p:nvPr/>
        </p:nvSpPr>
        <p:spPr>
          <a:xfrm>
            <a:off x="774720" y="2070000"/>
            <a:ext cx="7759800" cy="3532320"/>
          </a:xfrm>
          <a:prstGeom prst="rect">
            <a:avLst/>
          </a:prstGeom>
          <a:noFill/>
          <a:ln w="0">
            <a:noFill/>
          </a:ln>
        </p:spPr>
        <p:txBody>
          <a:bodyPr lIns="0" rIns="0" tIns="0" bIns="0" anchor="t">
            <a:spAutoFit/>
          </a:bodyPr>
          <a:p>
            <a:pPr>
              <a:lnSpc>
                <a:spcPct val="88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When the BSD and System V variants of </a:t>
            </a:r>
            <a:r>
              <a:rPr b="0" lang="en-IN" sz="2000" strike="noStrike" u="none">
                <a:solidFill>
                  <a:srgbClr val="000000"/>
                </a:solidFill>
                <a:effectLst/>
                <a:uFillTx/>
                <a:latin typeface="Times New Roman"/>
                <a:ea typeface="Times New Roman"/>
              </a:rPr>
              <a:t>UNIX </a:t>
            </a:r>
            <a:r>
              <a:rPr b="0" lang="en-IN" sz="2400" strike="noStrike" u="none">
                <a:solidFill>
                  <a:srgbClr val="000000"/>
                </a:solidFill>
                <a:effectLst/>
                <a:uFillTx/>
                <a:latin typeface="Times New Roman"/>
                <a:ea typeface="Times New Roman"/>
              </a:rPr>
              <a:t>were merged, some compromise on groups had to be made.  The solution allows both sorts of behavior, but is a little complex.</a:t>
            </a: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lvl="1" marL="800280" indent="-343080">
              <a:lnSpc>
                <a:spcPct val="90000"/>
              </a:lnSpc>
              <a:spcBef>
                <a:spcPts val="720"/>
              </a:spcBef>
              <a:buClr>
                <a:srgbClr val="000000"/>
              </a:buClr>
              <a:buFont typeface=""/>
              <a:buChar char=""/>
              <a:tabLst>
                <a:tab algn="l" pos="571680"/>
                <a:tab algn="l" pos="1257480"/>
                <a:tab algn="l" pos="1943280"/>
                <a:tab algn="l" pos="2628720"/>
              </a:tabLst>
            </a:pPr>
            <a:r>
              <a:rPr b="0" lang="en-IN" sz="2000" strike="noStrike" u="none">
                <a:solidFill>
                  <a:srgbClr val="000000"/>
                </a:solidFill>
                <a:effectLst/>
                <a:uFillTx/>
                <a:latin typeface="Times New Roman"/>
                <a:ea typeface="Times New Roman"/>
              </a:rPr>
              <a:t>Any directory with the set group id</a:t>
            </a:r>
            <a:r>
              <a:rPr b="0" i="1" lang="en-IN" sz="2000" strike="noStrike" u="none">
                <a:solidFill>
                  <a:srgbClr val="000000"/>
                </a:solidFill>
                <a:effectLst/>
                <a:uFillTx/>
                <a:latin typeface="Times New Roman"/>
                <a:ea typeface="Times New Roman"/>
              </a:rPr>
              <a:t> </a:t>
            </a:r>
            <a:r>
              <a:rPr b="0" lang="en-IN" sz="2000" strike="noStrike" u="none">
                <a:solidFill>
                  <a:srgbClr val="000000"/>
                </a:solidFill>
                <a:effectLst/>
                <a:uFillTx/>
                <a:latin typeface="Times New Roman"/>
                <a:ea typeface="Times New Roman"/>
              </a:rPr>
              <a:t>bit not set uses Old Way semantics.  Files created there will get the group id  of the creator.</a:t>
            </a:r>
            <a:endParaRPr b="0" lang="en-IN" sz="2000" strike="noStrike" u="none">
              <a:solidFill>
                <a:srgbClr val="000000"/>
              </a:solidFill>
              <a:effectLst/>
              <a:uFillTx/>
              <a:latin typeface="Arial"/>
            </a:endParaRPr>
          </a:p>
          <a:p>
            <a:pPr lvl="1" marL="800280" indent="-343080">
              <a:lnSpc>
                <a:spcPct val="90000"/>
              </a:lnSpc>
              <a:spcBef>
                <a:spcPts val="720"/>
              </a:spcBef>
              <a:buClr>
                <a:srgbClr val="000000"/>
              </a:buClr>
              <a:buFont typeface=""/>
              <a:buChar char=""/>
              <a:tabLst>
                <a:tab algn="l" pos="571680"/>
                <a:tab algn="l" pos="1257480"/>
                <a:tab algn="l" pos="1943280"/>
                <a:tab algn="l" pos="2628720"/>
              </a:tabLst>
            </a:pPr>
            <a:r>
              <a:rPr b="0" lang="en-IN" sz="2000" strike="noStrike" u="none">
                <a:solidFill>
                  <a:srgbClr val="000000"/>
                </a:solidFill>
                <a:effectLst/>
                <a:uFillTx/>
                <a:latin typeface="Times New Roman"/>
                <a:ea typeface="Times New Roman"/>
              </a:rPr>
              <a:t>Any directory with the set group id bit set uses New Way semantics.  Files created there will have the group id of the parent directory.</a:t>
            </a:r>
            <a:endParaRPr b="0" lang="en-IN" sz="2000" strike="noStrike" u="none">
              <a:solidFill>
                <a:srgbClr val="000000"/>
              </a:solidFill>
              <a:effectLst/>
              <a:uFillTx/>
              <a:latin typeface="Arial"/>
            </a:endParaRPr>
          </a:p>
          <a:p>
            <a:pPr lvl="1" marL="800280" indent="-343080">
              <a:lnSpc>
                <a:spcPct val="90000"/>
              </a:lnSpc>
              <a:spcBef>
                <a:spcPts val="720"/>
              </a:spcBef>
              <a:buClr>
                <a:srgbClr val="000000"/>
              </a:buClr>
              <a:buFont typeface=""/>
              <a:buChar char=""/>
              <a:tabLst>
                <a:tab algn="l" pos="571680"/>
                <a:tab algn="l" pos="1257480"/>
                <a:tab algn="l" pos="1943280"/>
                <a:tab algn="l" pos="2628720"/>
              </a:tabLst>
            </a:pPr>
            <a:r>
              <a:rPr b="0" lang="en-IN" sz="2000" strike="noStrike" u="none">
                <a:solidFill>
                  <a:srgbClr val="000000"/>
                </a:solidFill>
                <a:effectLst/>
                <a:uFillTx/>
                <a:latin typeface="Times New Roman"/>
                <a:ea typeface="Times New Roman"/>
              </a:rPr>
              <a:t>In both cases, a new directory has its set group id bit set the same as the parent directory.</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 name=""/>
          <p:cNvSpPr txBox="1"/>
          <p:nvPr/>
        </p:nvSpPr>
        <p:spPr>
          <a:xfrm>
            <a:off x="3021120" y="279360"/>
            <a:ext cx="3086280" cy="660240"/>
          </a:xfrm>
          <a:prstGeom prst="rect">
            <a:avLst/>
          </a:prstGeom>
          <a:noFill/>
          <a:ln w="0">
            <a:noFill/>
          </a:ln>
        </p:spPr>
        <p:txBody>
          <a:bodyPr lIns="0" rIns="0" tIns="0" bIns="0" anchor="t">
            <a:spAutoFit/>
          </a:bodyPr>
          <a:p>
            <a:pPr algn="ctr">
              <a:lnSpc>
                <a:spcPct val="111000"/>
              </a:lnSpc>
            </a:pPr>
            <a:r>
              <a:rPr b="1" lang="en-IN" sz="3600" strike="noStrike" u="none">
                <a:solidFill>
                  <a:srgbClr val="000000"/>
                </a:solidFill>
                <a:effectLst/>
                <a:uFillTx/>
                <a:latin typeface="Times New Roman"/>
                <a:ea typeface="Times New Roman"/>
              </a:rPr>
              <a:t>Shell Variables</a:t>
            </a:r>
            <a:endParaRPr b="0" lang="en-IN" sz="3600" strike="noStrike" u="none">
              <a:solidFill>
                <a:srgbClr val="000000"/>
              </a:solidFill>
              <a:effectLst/>
              <a:uFillTx/>
              <a:latin typeface="Arial"/>
            </a:endParaRPr>
          </a:p>
        </p:txBody>
      </p:sp>
      <p:sp>
        <p:nvSpPr>
          <p:cNvPr id="148" name=""/>
          <p:cNvSpPr txBox="1"/>
          <p:nvPr/>
        </p:nvSpPr>
        <p:spPr>
          <a:xfrm>
            <a:off x="1003320" y="1155600"/>
            <a:ext cx="7149960" cy="4813200"/>
          </a:xfrm>
          <a:prstGeom prst="rect">
            <a:avLst/>
          </a:prstGeom>
          <a:noFill/>
          <a:ln w="0">
            <a:noFill/>
          </a:ln>
        </p:spPr>
        <p:txBody>
          <a:bodyPr lIns="0" rIns="0" tIns="0" bIns="0" anchor="t">
            <a:spAutoFit/>
          </a:bodyPr>
          <a:p>
            <a:pPr>
              <a:lnSpc>
                <a:spcPct val="87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The shell maintains certain information in its own variables.  Shell variables affect how the shell searches for commands, set the shell's prompt, and otherwise customize its behavior.  Under </a:t>
            </a:r>
            <a:r>
              <a:rPr b="0" i="1" lang="en-IN" sz="2400" strike="noStrike" u="none">
                <a:solidFill>
                  <a:srgbClr val="000000"/>
                </a:solidFill>
                <a:effectLst/>
                <a:uFillTx/>
                <a:latin typeface="Times New Roman"/>
                <a:ea typeface="Times New Roman"/>
              </a:rPr>
              <a:t>sh</a:t>
            </a:r>
            <a:r>
              <a:rPr b="0" lang="en-IN" sz="2400" strike="noStrike" u="none">
                <a:solidFill>
                  <a:srgbClr val="000000"/>
                </a:solidFill>
                <a:effectLst/>
                <a:uFillTx/>
                <a:latin typeface="Times New Roman"/>
                <a:ea typeface="Times New Roman"/>
              </a:rPr>
              <a:t> and </a:t>
            </a:r>
            <a:r>
              <a:rPr b="0" i="1" lang="en-IN" sz="2400" strike="noStrike" u="none">
                <a:solidFill>
                  <a:srgbClr val="000000"/>
                </a:solidFill>
                <a:effectLst/>
                <a:uFillTx/>
                <a:latin typeface="Times New Roman"/>
                <a:ea typeface="Times New Roman"/>
              </a:rPr>
              <a:t>ksh</a:t>
            </a:r>
            <a:r>
              <a:rPr b="0" lang="en-IN" sz="2400" strike="noStrike" u="none">
                <a:solidFill>
                  <a:srgbClr val="000000"/>
                </a:solidFill>
                <a:effectLst/>
                <a:uFillTx/>
                <a:latin typeface="Times New Roman"/>
                <a:ea typeface="Times New Roman"/>
              </a:rPr>
              <a:t>, shell variables are set by following them with an equal sign (=) and the value to be set.</a:t>
            </a:r>
            <a:endParaRPr b="0" lang="en-IN" sz="2400" strike="noStrike" u="none">
              <a:solidFill>
                <a:srgbClr val="000000"/>
              </a:solidFill>
              <a:effectLst/>
              <a:uFillTx/>
              <a:latin typeface="Arial"/>
            </a:endParaRPr>
          </a:p>
          <a:p>
            <a:pPr>
              <a:lnSpc>
                <a:spcPct val="87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7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prompt=giss:</a:t>
            </a:r>
            <a:endParaRPr b="0" lang="en-IN" sz="2400" strike="noStrike" u="none">
              <a:solidFill>
                <a:srgbClr val="000000"/>
              </a:solidFill>
              <a:effectLst/>
              <a:uFillTx/>
              <a:latin typeface="Arial"/>
            </a:endParaRPr>
          </a:p>
          <a:p>
            <a:pPr>
              <a:lnSpc>
                <a:spcPct val="87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giss:</a:t>
            </a:r>
            <a:endParaRPr b="0" lang="en-IN" sz="2400" strike="noStrike" u="none">
              <a:solidFill>
                <a:srgbClr val="000000"/>
              </a:solidFill>
              <a:effectLst/>
              <a:uFillTx/>
              <a:latin typeface="Arial"/>
            </a:endParaRPr>
          </a:p>
          <a:p>
            <a:pPr>
              <a:lnSpc>
                <a:spcPct val="87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7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Note that NO SPACE is allowed on either side of the =.  To see what variables are set, use the</a:t>
            </a:r>
            <a:endParaRPr b="0" lang="en-IN" sz="2400" strike="noStrike" u="none">
              <a:solidFill>
                <a:srgbClr val="000000"/>
              </a:solidFill>
              <a:effectLst/>
              <a:uFillTx/>
              <a:latin typeface="Arial"/>
            </a:endParaRPr>
          </a:p>
          <a:p>
            <a:pPr>
              <a:lnSpc>
                <a:spcPct val="87000"/>
              </a:lnSpc>
              <a:tabLst>
                <a:tab algn="l" pos="685800"/>
                <a:tab algn="l" pos="1371600"/>
                <a:tab algn="l" pos="2057400"/>
                <a:tab algn="l" pos="2743200"/>
                <a:tab algn="l" pos="3429000"/>
              </a:tabLst>
            </a:pPr>
            <a:r>
              <a:rPr b="0" i="1" lang="en-IN" sz="2400" strike="noStrike" u="none">
                <a:solidFill>
                  <a:srgbClr val="000000"/>
                </a:solidFill>
                <a:effectLst/>
                <a:uFillTx/>
                <a:latin typeface="Times New Roman"/>
                <a:ea typeface="Times New Roman"/>
              </a:rPr>
              <a:t>set</a:t>
            </a:r>
            <a:r>
              <a:rPr b="0" lang="en-IN" sz="2400" strike="noStrike" u="none">
                <a:solidFill>
                  <a:srgbClr val="000000"/>
                </a:solidFill>
                <a:effectLst/>
                <a:uFillTx/>
                <a:latin typeface="Times New Roman"/>
                <a:ea typeface="Times New Roman"/>
              </a:rPr>
              <a:t> command with no arguments.</a:t>
            </a:r>
            <a:endParaRPr b="0" lang="en-IN" sz="2400" strike="noStrike" u="none">
              <a:solidFill>
                <a:srgbClr val="000000"/>
              </a:solidFill>
              <a:effectLst/>
              <a:uFillTx/>
              <a:latin typeface="Arial"/>
            </a:endParaRPr>
          </a:p>
          <a:p>
            <a:pPr>
              <a:lnSpc>
                <a:spcPct val="87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7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 set</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9" name=""/>
          <p:cNvSpPr txBox="1"/>
          <p:nvPr/>
        </p:nvSpPr>
        <p:spPr>
          <a:xfrm>
            <a:off x="2025720" y="279360"/>
            <a:ext cx="5054760" cy="660240"/>
          </a:xfrm>
          <a:prstGeom prst="rect">
            <a:avLst/>
          </a:prstGeom>
          <a:noFill/>
          <a:ln w="0">
            <a:noFill/>
          </a:ln>
        </p:spPr>
        <p:txBody>
          <a:bodyPr lIns="0" rIns="0" tIns="0" bIns="0" anchor="t">
            <a:spAutoFit/>
          </a:bodyPr>
          <a:p>
            <a:pPr algn="ctr">
              <a:lnSpc>
                <a:spcPct val="111000"/>
              </a:lnSpc>
            </a:pPr>
            <a:r>
              <a:rPr b="1" lang="en-IN" sz="3600" strike="noStrike" u="none">
                <a:solidFill>
                  <a:srgbClr val="000000"/>
                </a:solidFill>
                <a:effectLst/>
                <a:uFillTx/>
                <a:latin typeface="Times New Roman"/>
                <a:ea typeface="Times New Roman"/>
              </a:rPr>
              <a:t>Important shell variables</a:t>
            </a:r>
            <a:endParaRPr b="0" lang="en-IN" sz="3600" strike="noStrike" u="none">
              <a:solidFill>
                <a:srgbClr val="000000"/>
              </a:solidFill>
              <a:effectLst/>
              <a:uFillTx/>
              <a:latin typeface="Arial"/>
            </a:endParaRPr>
          </a:p>
        </p:txBody>
      </p:sp>
      <p:sp>
        <p:nvSpPr>
          <p:cNvPr id="150" name=""/>
          <p:cNvSpPr txBox="1"/>
          <p:nvPr/>
        </p:nvSpPr>
        <p:spPr>
          <a:xfrm>
            <a:off x="1003320" y="1765440"/>
            <a:ext cx="7302600" cy="3578400"/>
          </a:xfrm>
          <a:prstGeom prst="rect">
            <a:avLst/>
          </a:prstGeom>
          <a:noFill/>
          <a:ln w="0">
            <a:noFill/>
          </a:ln>
        </p:spPr>
        <p:txBody>
          <a:bodyPr lIns="0" rIns="0" tIns="0" bIns="0" anchor="t">
            <a:spAutoFit/>
          </a:bodyPr>
          <a:p>
            <a:pPr>
              <a:lnSpc>
                <a:spcPct val="88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The shell sets up some variables automatically when you log in.  You can customize these values to suit personal preferences or for special situations.  The variables below are among the more important.</a:t>
            </a: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home -</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The location of your home directory</a:t>
            </a: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path -</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A list of directories to search when trying</a:t>
            </a: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to  find a command</a:t>
            </a: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user -</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Your login name</a:t>
            </a: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prompt -</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The string to print when prompting for the</a:t>
            </a: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next command</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 name=""/>
          <p:cNvSpPr txBox="1"/>
          <p:nvPr/>
        </p:nvSpPr>
        <p:spPr>
          <a:xfrm>
            <a:off x="2260440" y="279360"/>
            <a:ext cx="4610160" cy="660240"/>
          </a:xfrm>
          <a:prstGeom prst="rect">
            <a:avLst/>
          </a:prstGeom>
          <a:noFill/>
          <a:ln w="0">
            <a:noFill/>
          </a:ln>
        </p:spPr>
        <p:txBody>
          <a:bodyPr lIns="0" rIns="0" tIns="0" bIns="0" anchor="t">
            <a:spAutoFit/>
          </a:bodyPr>
          <a:p>
            <a:pPr algn="ctr">
              <a:lnSpc>
                <a:spcPct val="111000"/>
              </a:lnSpc>
            </a:pPr>
            <a:r>
              <a:rPr b="1" lang="en-IN" sz="3600" strike="noStrike" u="none">
                <a:solidFill>
                  <a:srgbClr val="000000"/>
                </a:solidFill>
                <a:effectLst/>
                <a:uFillTx/>
                <a:latin typeface="Times New Roman"/>
                <a:ea typeface="Times New Roman"/>
              </a:rPr>
              <a:t>Environment variables</a:t>
            </a:r>
            <a:endParaRPr b="0" lang="en-IN" sz="3600" strike="noStrike" u="none">
              <a:solidFill>
                <a:srgbClr val="000000"/>
              </a:solidFill>
              <a:effectLst/>
              <a:uFillTx/>
              <a:latin typeface="Arial"/>
            </a:endParaRPr>
          </a:p>
        </p:txBody>
      </p:sp>
      <p:sp>
        <p:nvSpPr>
          <p:cNvPr id="152" name=""/>
          <p:cNvSpPr txBox="1"/>
          <p:nvPr/>
        </p:nvSpPr>
        <p:spPr>
          <a:xfrm>
            <a:off x="1003320" y="1308240"/>
            <a:ext cx="7378560" cy="4178160"/>
          </a:xfrm>
          <a:prstGeom prst="rect">
            <a:avLst/>
          </a:prstGeom>
          <a:noFill/>
          <a:ln w="0">
            <a:noFill/>
          </a:ln>
        </p:spPr>
        <p:txBody>
          <a:bodyPr lIns="0" rIns="0" tIns="0" bIns="0" anchor="t">
            <a:spAutoFit/>
          </a:bodyPr>
          <a:p>
            <a:pPr>
              <a:lnSpc>
                <a:spcPct val="87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Shell variables affect only the shell and how it interprets your commands.  Programs you run can not access shell variables.  There is a separate set of variables, called the </a:t>
            </a:r>
            <a:r>
              <a:rPr b="0" i="1" lang="en-IN" sz="2400" strike="noStrike" u="none">
                <a:solidFill>
                  <a:srgbClr val="000000"/>
                </a:solidFill>
                <a:effectLst/>
                <a:uFillTx/>
                <a:latin typeface="Times New Roman"/>
                <a:ea typeface="Times New Roman"/>
              </a:rPr>
              <a:t>environment</a:t>
            </a:r>
            <a:r>
              <a:rPr b="0" lang="en-IN" sz="2400" strike="noStrike" u="none">
                <a:solidFill>
                  <a:srgbClr val="000000"/>
                </a:solidFill>
                <a:effectLst/>
                <a:uFillTx/>
                <a:latin typeface="Times New Roman"/>
                <a:ea typeface="Times New Roman"/>
              </a:rPr>
              <a:t>, that any program can access.  All shells provide commands for manipulating these </a:t>
            </a:r>
            <a:r>
              <a:rPr b="0" i="1" lang="en-IN" sz="2400" strike="noStrike" u="none">
                <a:solidFill>
                  <a:srgbClr val="000000"/>
                </a:solidFill>
                <a:effectLst/>
                <a:uFillTx/>
                <a:latin typeface="Times New Roman"/>
                <a:ea typeface="Times New Roman"/>
              </a:rPr>
              <a:t>environment variables</a:t>
            </a:r>
            <a:r>
              <a:rPr b="0" lang="en-IN" sz="2400" strike="noStrike" u="none">
                <a:solidFill>
                  <a:srgbClr val="000000"/>
                </a:solidFill>
                <a:effectLst/>
                <a:uFillTx/>
                <a:latin typeface="Times New Roman"/>
                <a:ea typeface="Times New Roman"/>
              </a:rPr>
              <a:t>.</a:t>
            </a:r>
            <a:endParaRPr b="0" lang="en-IN" sz="2400" strike="noStrike" u="none">
              <a:solidFill>
                <a:srgbClr val="000000"/>
              </a:solidFill>
              <a:effectLst/>
              <a:uFillTx/>
              <a:latin typeface="Arial"/>
            </a:endParaRPr>
          </a:p>
          <a:p>
            <a:pPr>
              <a:lnSpc>
                <a:spcPct val="87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7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To see all currently set environment variables, use printenv.</a:t>
            </a:r>
            <a:endParaRPr b="0" lang="en-IN" sz="2400" strike="noStrike" u="none">
              <a:solidFill>
                <a:srgbClr val="000000"/>
              </a:solidFill>
              <a:effectLst/>
              <a:uFillTx/>
              <a:latin typeface="Arial"/>
            </a:endParaRPr>
          </a:p>
          <a:p>
            <a:pPr>
              <a:lnSpc>
                <a:spcPct val="87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7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printenv</a:t>
            </a:r>
            <a:endParaRPr b="0" lang="en-IN" sz="2400" strike="noStrike" u="none">
              <a:solidFill>
                <a:srgbClr val="000000"/>
              </a:solidFill>
              <a:effectLst/>
              <a:uFillTx/>
              <a:latin typeface="Arial"/>
            </a:endParaRPr>
          </a:p>
          <a:p>
            <a:pPr>
              <a:lnSpc>
                <a:spcPct val="87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HOME=/home/systems/williams</a:t>
            </a:r>
            <a:endParaRPr b="0" lang="en-IN" sz="2400" strike="noStrike" u="none">
              <a:solidFill>
                <a:srgbClr val="000000"/>
              </a:solidFill>
              <a:effectLst/>
              <a:uFillTx/>
              <a:latin typeface="Arial"/>
            </a:endParaRPr>
          </a:p>
          <a:p>
            <a:pPr>
              <a:lnSpc>
                <a:spcPct val="87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PATH=.:/bin:/usr/bin:/usr/local/bin</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 name=""/>
          <p:cNvSpPr txBox="1"/>
          <p:nvPr/>
        </p:nvSpPr>
        <p:spPr>
          <a:xfrm>
            <a:off x="2197080" y="279360"/>
            <a:ext cx="4724280" cy="1270080"/>
          </a:xfrm>
          <a:prstGeom prst="rect">
            <a:avLst/>
          </a:prstGeom>
          <a:noFill/>
          <a:ln w="0">
            <a:noFill/>
          </a:ln>
        </p:spPr>
        <p:txBody>
          <a:bodyPr lIns="0" rIns="0" tIns="0" bIns="0" anchor="t">
            <a:spAutoFit/>
          </a:bodyPr>
          <a:p>
            <a:pPr algn="ctr">
              <a:lnSpc>
                <a:spcPct val="111000"/>
              </a:lnSpc>
            </a:pPr>
            <a:r>
              <a:rPr b="1" lang="en-IN" sz="3600" strike="noStrike" u="none">
                <a:solidFill>
                  <a:srgbClr val="000000"/>
                </a:solidFill>
                <a:effectLst/>
                <a:uFillTx/>
                <a:latin typeface="Times New Roman"/>
                <a:ea typeface="Times New Roman"/>
              </a:rPr>
              <a:t>Environment variables,</a:t>
            </a:r>
            <a:br>
              <a:rPr sz="3600"/>
            </a:br>
            <a:r>
              <a:rPr b="1" lang="en-IN" sz="3600" strike="noStrike" u="none">
                <a:solidFill>
                  <a:srgbClr val="000000"/>
                </a:solidFill>
                <a:effectLst/>
                <a:uFillTx/>
                <a:latin typeface="Times New Roman"/>
                <a:ea typeface="Times New Roman"/>
              </a:rPr>
              <a:t>Cont'd.</a:t>
            </a:r>
            <a:endParaRPr b="0" lang="en-IN" sz="3600" strike="noStrike" u="none">
              <a:solidFill>
                <a:srgbClr val="000000"/>
              </a:solidFill>
              <a:effectLst/>
              <a:uFillTx/>
              <a:latin typeface="Arial"/>
            </a:endParaRPr>
          </a:p>
        </p:txBody>
      </p:sp>
      <p:sp>
        <p:nvSpPr>
          <p:cNvPr id="154" name=""/>
          <p:cNvSpPr txBox="1"/>
          <p:nvPr/>
        </p:nvSpPr>
        <p:spPr>
          <a:xfrm>
            <a:off x="774720" y="1689120"/>
            <a:ext cx="7759800" cy="4861080"/>
          </a:xfrm>
          <a:prstGeom prst="rect">
            <a:avLst/>
          </a:prstGeom>
          <a:noFill/>
          <a:ln w="0">
            <a:noFill/>
          </a:ln>
        </p:spPr>
        <p:txBody>
          <a:bodyPr lIns="0" rIns="0" tIns="0" bIns="0" anchor="t">
            <a:spAutoFit/>
          </a:bodyPr>
          <a:p>
            <a:pPr>
              <a:lnSpc>
                <a:spcPct val="88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To change the value of an environment variable, or to create a new one, use setenv.</a:t>
            </a: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setenv TERM vt100</a:t>
            </a: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Some common environment variables follow.</a:t>
            </a: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Lst>
            </a:pPr>
            <a:r>
              <a:rPr b="0" i="1" lang="en-IN" sz="2400" strike="noStrike" u="none">
                <a:solidFill>
                  <a:srgbClr val="000000"/>
                </a:solidFill>
                <a:effectLst/>
                <a:uFillTx/>
                <a:latin typeface="Times New Roman"/>
                <a:ea typeface="Times New Roman"/>
              </a:rPr>
              <a:t>HOME</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 your home directory</a:t>
            </a: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Lst>
            </a:pPr>
            <a:r>
              <a:rPr b="0" i="1" lang="en-IN" sz="2400" strike="noStrike" u="none">
                <a:solidFill>
                  <a:srgbClr val="000000"/>
                </a:solidFill>
                <a:effectLst/>
                <a:uFillTx/>
                <a:latin typeface="Times New Roman"/>
                <a:ea typeface="Times New Roman"/>
              </a:rPr>
              <a:t>TERM</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 type of terminal you are on</a:t>
            </a: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Lst>
            </a:pPr>
            <a:r>
              <a:rPr b="0" i="1" lang="en-IN" sz="2400" strike="noStrike" u="none">
                <a:solidFill>
                  <a:srgbClr val="000000"/>
                </a:solidFill>
                <a:effectLst/>
                <a:uFillTx/>
                <a:latin typeface="Times New Roman"/>
                <a:ea typeface="Times New Roman"/>
              </a:rPr>
              <a:t>PATH</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 search path for commands</a:t>
            </a: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Lst>
            </a:pPr>
            <a:r>
              <a:rPr b="0" i="1" lang="en-IN" sz="2400" strike="noStrike" u="none">
                <a:solidFill>
                  <a:srgbClr val="000000"/>
                </a:solidFill>
                <a:effectLst/>
                <a:uFillTx/>
                <a:latin typeface="Times New Roman"/>
                <a:ea typeface="Times New Roman"/>
              </a:rPr>
              <a:t>LOGNAME</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 your login name</a:t>
            </a: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Lst>
            </a:pPr>
            <a:r>
              <a:rPr b="0" i="1" lang="en-IN" sz="2400" strike="noStrike" u="none">
                <a:solidFill>
                  <a:srgbClr val="000000"/>
                </a:solidFill>
                <a:effectLst/>
                <a:uFillTx/>
                <a:latin typeface="Times New Roman"/>
                <a:ea typeface="Times New Roman"/>
              </a:rPr>
              <a:t>VISUAL</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 screen editor to use</a:t>
            </a: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Lst>
            </a:pPr>
            <a:r>
              <a:rPr b="0" i="1" lang="en-IN" sz="2400" strike="noStrike" u="none">
                <a:solidFill>
                  <a:srgbClr val="000000"/>
                </a:solidFill>
                <a:effectLst/>
                <a:uFillTx/>
                <a:latin typeface="Times New Roman"/>
                <a:ea typeface="Times New Roman"/>
              </a:rPr>
              <a:t>EDITOR</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 line editor to use</a:t>
            </a: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Lst>
            </a:pPr>
            <a:r>
              <a:rPr b="0" i="1" lang="en-IN" sz="2400" strike="noStrike" u="none">
                <a:solidFill>
                  <a:srgbClr val="000000"/>
                </a:solidFill>
                <a:effectLst/>
                <a:uFillTx/>
                <a:latin typeface="Times New Roman"/>
                <a:ea typeface="Times New Roman"/>
              </a:rPr>
              <a:t>PAGER</a:t>
            </a:r>
            <a:r>
              <a:rPr b="0" i="1"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 program to use for displaying text files</a:t>
            </a: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Lst>
            </a:pPr>
            <a:r>
              <a:rPr b="0" i="1" lang="en-IN" sz="2400" strike="noStrike" u="none">
                <a:solidFill>
                  <a:srgbClr val="000000"/>
                </a:solidFill>
                <a:effectLst/>
                <a:uFillTx/>
                <a:latin typeface="Times New Roman"/>
                <a:ea typeface="Times New Roman"/>
              </a:rPr>
              <a:t>PRINTER</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 default printer to use</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 name=""/>
          <p:cNvSpPr txBox="1"/>
          <p:nvPr/>
        </p:nvSpPr>
        <p:spPr>
          <a:xfrm>
            <a:off x="2381400" y="279360"/>
            <a:ext cx="4379760" cy="660240"/>
          </a:xfrm>
          <a:prstGeom prst="rect">
            <a:avLst/>
          </a:prstGeom>
          <a:noFill/>
          <a:ln w="0">
            <a:noFill/>
          </a:ln>
        </p:spPr>
        <p:txBody>
          <a:bodyPr lIns="0" rIns="0" tIns="0" bIns="0" anchor="t">
            <a:spAutoFit/>
          </a:bodyPr>
          <a:p>
            <a:pPr algn="ctr">
              <a:lnSpc>
                <a:spcPct val="111000"/>
              </a:lnSpc>
            </a:pPr>
            <a:r>
              <a:rPr b="1" lang="en-IN" sz="3600" strike="noStrike" u="none">
                <a:solidFill>
                  <a:srgbClr val="000000"/>
                </a:solidFill>
                <a:effectLst/>
                <a:uFillTx/>
                <a:latin typeface="Times New Roman"/>
                <a:ea typeface="Times New Roman"/>
              </a:rPr>
              <a:t>Referencing variables</a:t>
            </a:r>
            <a:endParaRPr b="0" lang="en-IN" sz="3600" strike="noStrike" u="none">
              <a:solidFill>
                <a:srgbClr val="000000"/>
              </a:solidFill>
              <a:effectLst/>
              <a:uFillTx/>
              <a:latin typeface="Arial"/>
            </a:endParaRPr>
          </a:p>
        </p:txBody>
      </p:sp>
      <p:sp>
        <p:nvSpPr>
          <p:cNvPr id="156" name=""/>
          <p:cNvSpPr txBox="1"/>
          <p:nvPr/>
        </p:nvSpPr>
        <p:spPr>
          <a:xfrm>
            <a:off x="622440" y="1994040"/>
            <a:ext cx="8064360" cy="2251080"/>
          </a:xfrm>
          <a:prstGeom prst="rect">
            <a:avLst/>
          </a:prstGeom>
          <a:noFill/>
          <a:ln w="0">
            <a:noFill/>
          </a:ln>
        </p:spPr>
        <p:txBody>
          <a:bodyPr lIns="0" rIns="0" tIns="0" bIns="0" anchor="t">
            <a:spAutoFit/>
          </a:bodyPr>
          <a:p>
            <a:pPr>
              <a:lnSpc>
                <a:spcPct val="86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Both shell and environment variables are referenced by preceding the name with a $.</a:t>
            </a:r>
            <a:endParaRPr b="0" lang="en-IN" sz="24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echo your terminal type is $TERM</a:t>
            </a:r>
            <a:endParaRPr b="0" lang="en-IN" sz="24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your terminal type is vt220</a:t>
            </a:r>
            <a:endParaRPr b="0" lang="en-IN" sz="24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cd $home/mystuff</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7" name=""/>
          <p:cNvSpPr txBox="1"/>
          <p:nvPr/>
        </p:nvSpPr>
        <p:spPr>
          <a:xfrm>
            <a:off x="3706920" y="279360"/>
            <a:ext cx="1727280" cy="660240"/>
          </a:xfrm>
          <a:prstGeom prst="rect">
            <a:avLst/>
          </a:prstGeom>
          <a:noFill/>
          <a:ln w="0">
            <a:noFill/>
          </a:ln>
        </p:spPr>
        <p:txBody>
          <a:bodyPr lIns="0" rIns="0" tIns="0" bIns="0" anchor="t">
            <a:spAutoFit/>
          </a:bodyPr>
          <a:p>
            <a:pPr algn="ctr">
              <a:lnSpc>
                <a:spcPct val="111000"/>
              </a:lnSpc>
            </a:pPr>
            <a:r>
              <a:rPr b="1" lang="en-IN" sz="3600" strike="noStrike" u="none">
                <a:solidFill>
                  <a:srgbClr val="000000"/>
                </a:solidFill>
                <a:effectLst/>
                <a:uFillTx/>
                <a:latin typeface="Times New Roman"/>
                <a:ea typeface="Times New Roman"/>
              </a:rPr>
              <a:t>Quoting</a:t>
            </a:r>
            <a:endParaRPr b="0" lang="en-IN" sz="3600" strike="noStrike" u="none">
              <a:solidFill>
                <a:srgbClr val="000000"/>
              </a:solidFill>
              <a:effectLst/>
              <a:uFillTx/>
              <a:latin typeface="Arial"/>
            </a:endParaRPr>
          </a:p>
        </p:txBody>
      </p:sp>
      <p:sp>
        <p:nvSpPr>
          <p:cNvPr id="158" name=""/>
          <p:cNvSpPr txBox="1"/>
          <p:nvPr/>
        </p:nvSpPr>
        <p:spPr>
          <a:xfrm>
            <a:off x="622440" y="1460520"/>
            <a:ext cx="7759800" cy="3543480"/>
          </a:xfrm>
          <a:prstGeom prst="rect">
            <a:avLst/>
          </a:prstGeom>
          <a:noFill/>
          <a:ln w="0">
            <a:noFill/>
          </a:ln>
        </p:spPr>
        <p:txBody>
          <a:bodyPr lIns="0" rIns="0" tIns="0" bIns="0" anchor="t">
            <a:spAutoFit/>
          </a:bodyPr>
          <a:p>
            <a:pPr>
              <a:lnSpc>
                <a:spcPct val="87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The shell interprets some characters specially.  To include these characters as arguments or options to a command, they must be </a:t>
            </a:r>
            <a:r>
              <a:rPr b="0" i="1" lang="en-IN" sz="2400" strike="noStrike" u="none">
                <a:solidFill>
                  <a:srgbClr val="000000"/>
                </a:solidFill>
                <a:effectLst/>
                <a:uFillTx/>
                <a:latin typeface="Times New Roman"/>
                <a:ea typeface="Times New Roman"/>
              </a:rPr>
              <a:t>quoted</a:t>
            </a:r>
            <a:r>
              <a:rPr b="0" lang="en-IN" sz="2400" strike="noStrike" u="none">
                <a:solidFill>
                  <a:srgbClr val="000000"/>
                </a:solidFill>
                <a:effectLst/>
                <a:uFillTx/>
                <a:latin typeface="Times New Roman"/>
                <a:ea typeface="Times New Roman"/>
              </a:rPr>
              <a:t>.  There are several quoting mechanisms, each of which serves a distinct purpose.  The simplest quoting method is to enclose the argument in single quote marks (').</a:t>
            </a:r>
            <a:endParaRPr b="0" lang="en-IN" sz="2400" strike="noStrike" u="none">
              <a:solidFill>
                <a:srgbClr val="000000"/>
              </a:solidFill>
              <a:effectLst/>
              <a:uFillTx/>
              <a:latin typeface="Arial"/>
            </a:endParaRPr>
          </a:p>
          <a:p>
            <a:pPr>
              <a:lnSpc>
                <a:spcPct val="87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7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 echo 'this is a single argument'</a:t>
            </a:r>
            <a:endParaRPr b="0" lang="en-IN" sz="2400" strike="noStrike" u="none">
              <a:solidFill>
                <a:srgbClr val="000000"/>
              </a:solidFill>
              <a:effectLst/>
              <a:uFillTx/>
              <a:latin typeface="Arial"/>
            </a:endParaRPr>
          </a:p>
          <a:p>
            <a:pPr>
              <a:lnSpc>
                <a:spcPct val="87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 grep '*foo*' list</a:t>
            </a:r>
            <a:endParaRPr b="0" lang="en-IN" sz="2400" strike="noStrike" u="none">
              <a:solidFill>
                <a:srgbClr val="000000"/>
              </a:solidFill>
              <a:effectLst/>
              <a:uFillTx/>
              <a:latin typeface="Arial"/>
            </a:endParaRPr>
          </a:p>
          <a:p>
            <a:pPr>
              <a:lnSpc>
                <a:spcPct val="87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7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Filename expansion characters such as *, ?, [ and ] lose their special meaning inside single quotes.</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9" name=""/>
          <p:cNvSpPr txBox="1"/>
          <p:nvPr/>
        </p:nvSpPr>
        <p:spPr>
          <a:xfrm>
            <a:off x="2862360" y="279360"/>
            <a:ext cx="3417840" cy="660240"/>
          </a:xfrm>
          <a:prstGeom prst="rect">
            <a:avLst/>
          </a:prstGeom>
          <a:noFill/>
          <a:ln w="0">
            <a:noFill/>
          </a:ln>
        </p:spPr>
        <p:txBody>
          <a:bodyPr lIns="0" rIns="0" tIns="0" bIns="0" anchor="t">
            <a:spAutoFit/>
          </a:bodyPr>
          <a:p>
            <a:pPr algn="ctr">
              <a:lnSpc>
                <a:spcPct val="111000"/>
              </a:lnSpc>
            </a:pPr>
            <a:r>
              <a:rPr b="1" lang="en-IN" sz="3600" strike="noStrike" u="none">
                <a:solidFill>
                  <a:srgbClr val="000000"/>
                </a:solidFill>
                <a:effectLst/>
                <a:uFillTx/>
                <a:latin typeface="Times New Roman"/>
                <a:ea typeface="Times New Roman"/>
              </a:rPr>
              <a:t>Quoting, Cont'd.</a:t>
            </a:r>
            <a:endParaRPr b="0" lang="en-IN" sz="3600" strike="noStrike" u="none">
              <a:solidFill>
                <a:srgbClr val="000000"/>
              </a:solidFill>
              <a:effectLst/>
              <a:uFillTx/>
              <a:latin typeface="Arial"/>
            </a:endParaRPr>
          </a:p>
        </p:txBody>
      </p:sp>
      <p:sp>
        <p:nvSpPr>
          <p:cNvPr id="160" name=""/>
          <p:cNvSpPr txBox="1"/>
          <p:nvPr/>
        </p:nvSpPr>
        <p:spPr>
          <a:xfrm>
            <a:off x="774720" y="1536840"/>
            <a:ext cx="7454880" cy="3473280"/>
          </a:xfrm>
          <a:prstGeom prst="rect">
            <a:avLst/>
          </a:prstGeom>
          <a:noFill/>
          <a:ln w="0">
            <a:noFill/>
          </a:ln>
        </p:spPr>
        <p:txBody>
          <a:bodyPr lIns="0" rIns="0" tIns="0" bIns="0" anchor="t">
            <a:spAutoFit/>
          </a:bodyPr>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Inside of single quote marks ('), shell and environment variables are not expanded.</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echo 'your home directory is $HOME'</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your home directory is $HOME</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If double quotes (") are used, then shell and environment variables are expanded.</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echo "your home directory is $HOME"</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your home directory is /home/williams</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1" name=""/>
          <p:cNvSpPr txBox="1"/>
          <p:nvPr/>
        </p:nvSpPr>
        <p:spPr>
          <a:xfrm>
            <a:off x="2963880" y="279360"/>
            <a:ext cx="3214800" cy="660240"/>
          </a:xfrm>
          <a:prstGeom prst="rect">
            <a:avLst/>
          </a:prstGeom>
          <a:noFill/>
          <a:ln w="0">
            <a:noFill/>
          </a:ln>
        </p:spPr>
        <p:txBody>
          <a:bodyPr lIns="0" rIns="0" tIns="0" bIns="0" anchor="t">
            <a:spAutoFit/>
          </a:bodyPr>
          <a:p>
            <a:pPr algn="ctr">
              <a:lnSpc>
                <a:spcPct val="111000"/>
              </a:lnSpc>
            </a:pPr>
            <a:r>
              <a:rPr b="1" lang="en-IN" sz="3600" strike="noStrike" u="none">
                <a:solidFill>
                  <a:srgbClr val="000000"/>
                </a:solidFill>
                <a:effectLst/>
                <a:uFillTx/>
                <a:latin typeface="Times New Roman"/>
                <a:ea typeface="Times New Roman"/>
              </a:rPr>
              <a:t>Tilde expansion</a:t>
            </a:r>
            <a:endParaRPr b="0" lang="en-IN" sz="3600" strike="noStrike" u="none">
              <a:solidFill>
                <a:srgbClr val="000000"/>
              </a:solidFill>
              <a:effectLst/>
              <a:uFillTx/>
              <a:latin typeface="Arial"/>
            </a:endParaRPr>
          </a:p>
        </p:txBody>
      </p:sp>
      <p:sp>
        <p:nvSpPr>
          <p:cNvPr id="162" name=""/>
          <p:cNvSpPr txBox="1"/>
          <p:nvPr/>
        </p:nvSpPr>
        <p:spPr>
          <a:xfrm>
            <a:off x="698400" y="1155600"/>
            <a:ext cx="7759800" cy="4765680"/>
          </a:xfrm>
          <a:prstGeom prst="rect">
            <a:avLst/>
          </a:prstGeom>
          <a:noFill/>
          <a:ln w="0">
            <a:noFill/>
          </a:ln>
        </p:spPr>
        <p:txBody>
          <a:bodyPr lIns="0" rIns="0" tIns="0" bIns="0" anchor="t">
            <a:spAutoFit/>
          </a:bodyPr>
          <a:p>
            <a:pPr>
              <a:lnSpc>
                <a:spcPct val="86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In the Korn or C shells, the tilde character (~) can be used as a convenient short hand for home directories.  When a tilde is at the beginning of a word, and the next character is a /, the tilde is replaced by the contents of $home, your home directory.  The following command sets the current directory to </a:t>
            </a:r>
            <a:r>
              <a:rPr b="0" i="1" lang="en-IN" sz="2400" strike="noStrike" u="none">
                <a:solidFill>
                  <a:srgbClr val="000000"/>
                </a:solidFill>
                <a:effectLst/>
                <a:uFillTx/>
                <a:latin typeface="Times New Roman"/>
                <a:ea typeface="Times New Roman"/>
              </a:rPr>
              <a:t>$home/mystuff</a:t>
            </a:r>
            <a:r>
              <a:rPr b="0" lang="en-IN" sz="2400" strike="noStrike" u="none">
                <a:solidFill>
                  <a:srgbClr val="000000"/>
                </a:solidFill>
                <a:effectLst/>
                <a:uFillTx/>
                <a:latin typeface="Times New Roman"/>
                <a:ea typeface="Times New Roman"/>
              </a:rPr>
              <a:t>.</a:t>
            </a:r>
            <a:endParaRPr b="0" lang="en-IN" sz="24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cd ~/mystuff</a:t>
            </a:r>
            <a:endParaRPr b="0" lang="en-IN" sz="24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If the tilde is followed by a user name, it is replaced by that user's home directory.  The command below copies the file </a:t>
            </a:r>
            <a:r>
              <a:rPr b="0" i="1" lang="en-IN" sz="2400" strike="noStrike" u="none">
                <a:solidFill>
                  <a:srgbClr val="000000"/>
                </a:solidFill>
                <a:effectLst/>
                <a:uFillTx/>
                <a:latin typeface="Times New Roman"/>
                <a:ea typeface="Times New Roman"/>
              </a:rPr>
              <a:t>engine_specs </a:t>
            </a:r>
            <a:r>
              <a:rPr b="0" lang="en-IN" sz="2400" strike="noStrike" u="none">
                <a:solidFill>
                  <a:srgbClr val="000000"/>
                </a:solidFill>
                <a:effectLst/>
                <a:uFillTx/>
                <a:latin typeface="Times New Roman"/>
                <a:ea typeface="Times New Roman"/>
              </a:rPr>
              <a:t>from user scotty's home directory and puts the copy in my directory mystuff.</a:t>
            </a:r>
            <a:endParaRPr b="0" lang="en-IN" sz="24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cp ~scotty/engine_specs mystuff</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3" name=""/>
          <p:cNvSpPr txBox="1"/>
          <p:nvPr/>
        </p:nvSpPr>
        <p:spPr>
          <a:xfrm>
            <a:off x="2133720" y="279360"/>
            <a:ext cx="487692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Customizing your Login</a:t>
            </a:r>
            <a:endParaRPr b="0" lang="en-IN" sz="3600" strike="noStrike" u="none">
              <a:solidFill>
                <a:srgbClr val="000000"/>
              </a:solidFill>
              <a:effectLst/>
              <a:uFillTx/>
              <a:latin typeface="Arial"/>
            </a:endParaRPr>
          </a:p>
        </p:txBody>
      </p:sp>
      <p:sp>
        <p:nvSpPr>
          <p:cNvPr id="164" name=""/>
          <p:cNvSpPr txBox="1"/>
          <p:nvPr/>
        </p:nvSpPr>
        <p:spPr>
          <a:xfrm>
            <a:off x="1003320" y="1460520"/>
            <a:ext cx="7149960" cy="3578400"/>
          </a:xfrm>
          <a:prstGeom prst="rect">
            <a:avLst/>
          </a:prstGeom>
          <a:noFill/>
          <a:ln w="0">
            <a:noFill/>
          </a:ln>
        </p:spPr>
        <p:txBody>
          <a:bodyPr lIns="0" rIns="0" tIns="0" bIns="0" anchor="t">
            <a:spAutoFit/>
          </a:bodyPr>
          <a:p>
            <a:pPr>
              <a:lnSpc>
                <a:spcPct val="88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When a Bourne or Korn shells start up, it looks to see if a file named </a:t>
            </a:r>
            <a:r>
              <a:rPr b="0" i="1" lang="en-IN" sz="2400" strike="noStrike" u="none">
                <a:solidFill>
                  <a:srgbClr val="000000"/>
                </a:solidFill>
                <a:effectLst/>
                <a:uFillTx/>
                <a:latin typeface="Times New Roman"/>
                <a:ea typeface="Times New Roman"/>
              </a:rPr>
              <a:t>.profile </a:t>
            </a:r>
            <a:r>
              <a:rPr b="0" lang="en-IN" sz="2400" strike="noStrike" u="none">
                <a:solidFill>
                  <a:srgbClr val="000000"/>
                </a:solidFill>
                <a:effectLst/>
                <a:uFillTx/>
                <a:latin typeface="Times New Roman"/>
                <a:ea typeface="Times New Roman"/>
              </a:rPr>
              <a:t>exists in the user's home directory.  If so, the contents of that file are executed as if typed into the user's terminal before control is given to the user.  This allows the user to put customizing command in the </a:t>
            </a:r>
            <a:r>
              <a:rPr b="0" i="1" lang="en-IN" sz="2400" strike="noStrike" u="none">
                <a:solidFill>
                  <a:srgbClr val="000000"/>
                </a:solidFill>
                <a:effectLst/>
                <a:uFillTx/>
                <a:latin typeface="Times New Roman"/>
                <a:ea typeface="Times New Roman"/>
              </a:rPr>
              <a:t>.profile </a:t>
            </a:r>
            <a:r>
              <a:rPr b="0" lang="en-IN" sz="2400" strike="noStrike" u="none">
                <a:solidFill>
                  <a:srgbClr val="000000"/>
                </a:solidFill>
                <a:effectLst/>
                <a:uFillTx/>
                <a:latin typeface="Times New Roman"/>
                <a:ea typeface="Times New Roman"/>
              </a:rPr>
              <a:t>file.  This is much like the DOS </a:t>
            </a:r>
            <a:r>
              <a:rPr b="0" i="1" lang="en-IN" sz="2400" strike="noStrike" u="none">
                <a:solidFill>
                  <a:srgbClr val="000000"/>
                </a:solidFill>
                <a:effectLst/>
                <a:uFillTx/>
                <a:latin typeface="Times New Roman"/>
                <a:ea typeface="Times New Roman"/>
              </a:rPr>
              <a:t>autoexec.bat</a:t>
            </a:r>
            <a:r>
              <a:rPr b="0" lang="en-IN" sz="2400" strike="noStrike" u="none">
                <a:solidFill>
                  <a:srgbClr val="000000"/>
                </a:solidFill>
                <a:effectLst/>
                <a:uFillTx/>
                <a:latin typeface="Times New Roman"/>
                <a:ea typeface="Times New Roman"/>
              </a:rPr>
              <a:t> file.</a:t>
            </a: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The C shell also allows customization, but since it has a different syntax for many functions, it uses the files </a:t>
            </a:r>
            <a:r>
              <a:rPr b="0" i="1" lang="en-IN" sz="2400" strike="noStrike" u="none">
                <a:solidFill>
                  <a:srgbClr val="000000"/>
                </a:solidFill>
                <a:effectLst/>
                <a:uFillTx/>
                <a:latin typeface="Times New Roman"/>
                <a:ea typeface="Times New Roman"/>
              </a:rPr>
              <a:t>.cshrc </a:t>
            </a:r>
            <a:r>
              <a:rPr b="0" lang="en-IN" sz="2400" strike="noStrike" u="none">
                <a:solidFill>
                  <a:srgbClr val="000000"/>
                </a:solidFill>
                <a:effectLst/>
                <a:uFillTx/>
                <a:latin typeface="Times New Roman"/>
                <a:ea typeface="Times New Roman"/>
              </a:rPr>
              <a:t>and </a:t>
            </a:r>
            <a:r>
              <a:rPr b="0" i="1" lang="en-IN" sz="2400" strike="noStrike" u="none">
                <a:solidFill>
                  <a:srgbClr val="000000"/>
                </a:solidFill>
                <a:effectLst/>
                <a:uFillTx/>
                <a:latin typeface="Times New Roman"/>
                <a:ea typeface="Times New Roman"/>
              </a:rPr>
              <a:t>.login </a:t>
            </a:r>
            <a:r>
              <a:rPr b="0" lang="en-IN" sz="2400" strike="noStrike" u="none">
                <a:solidFill>
                  <a:srgbClr val="000000"/>
                </a:solidFill>
                <a:effectLst/>
                <a:uFillTx/>
                <a:latin typeface="Times New Roman"/>
                <a:ea typeface="Times New Roman"/>
              </a:rPr>
              <a:t>for customization.</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5" name=""/>
          <p:cNvSpPr txBox="1"/>
          <p:nvPr/>
        </p:nvSpPr>
        <p:spPr>
          <a:xfrm>
            <a:off x="2589120" y="279360"/>
            <a:ext cx="396396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The Online Manual</a:t>
            </a:r>
            <a:endParaRPr b="0" lang="en-IN" sz="3600" strike="noStrike" u="none">
              <a:solidFill>
                <a:srgbClr val="000000"/>
              </a:solidFill>
              <a:effectLst/>
              <a:uFillTx/>
              <a:latin typeface="Arial"/>
            </a:endParaRPr>
          </a:p>
        </p:txBody>
      </p:sp>
      <p:sp>
        <p:nvSpPr>
          <p:cNvPr id="166" name=""/>
          <p:cNvSpPr txBox="1"/>
          <p:nvPr/>
        </p:nvSpPr>
        <p:spPr>
          <a:xfrm>
            <a:off x="774720" y="1155600"/>
            <a:ext cx="7683480" cy="4495680"/>
          </a:xfrm>
          <a:prstGeom prst="rect">
            <a:avLst/>
          </a:prstGeom>
          <a:noFill/>
          <a:ln w="0">
            <a:noFill/>
          </a:ln>
        </p:spPr>
        <p:txBody>
          <a:bodyPr lIns="0" rIns="0" tIns="0" bIns="0" anchor="t">
            <a:spAutoFit/>
          </a:bodyPr>
          <a:p>
            <a:pPr>
              <a:lnSpc>
                <a:spcPct val="87000"/>
              </a:lnSpc>
              <a:tabLst>
                <a:tab algn="l" pos="685800"/>
                <a:tab algn="l" pos="1371600"/>
                <a:tab algn="l" pos="2057400"/>
                <a:tab algn="l" pos="2743200"/>
                <a:tab algn="l" pos="3429000"/>
              </a:tabLst>
            </a:pPr>
            <a:r>
              <a:rPr b="0" lang="en-IN" sz="2000" strike="noStrike" u="none">
                <a:solidFill>
                  <a:srgbClr val="000000"/>
                </a:solidFill>
                <a:effectLst/>
                <a:uFillTx/>
                <a:latin typeface="Times New Roman"/>
                <a:ea typeface="Times New Roman"/>
              </a:rPr>
              <a:t>UNIX </a:t>
            </a:r>
            <a:r>
              <a:rPr b="0" lang="en-IN" sz="2400" strike="noStrike" u="none">
                <a:solidFill>
                  <a:srgbClr val="000000"/>
                </a:solidFill>
                <a:effectLst/>
                <a:uFillTx/>
                <a:latin typeface="Times New Roman"/>
                <a:ea typeface="Times New Roman"/>
              </a:rPr>
              <a:t>provides an on-line version of the User's Manual which is accessed via the man command.  If you know the name of a command, the manual page for that command may be displayed with the man command shown below.</a:t>
            </a:r>
            <a:endParaRPr b="0" lang="en-IN" sz="2400" strike="noStrike" u="none">
              <a:solidFill>
                <a:srgbClr val="000000"/>
              </a:solidFill>
              <a:effectLst/>
              <a:uFillTx/>
              <a:latin typeface="Arial"/>
            </a:endParaRPr>
          </a:p>
          <a:p>
            <a:pPr>
              <a:lnSpc>
                <a:spcPct val="87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7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a:t>
            </a:r>
            <a:r>
              <a:rPr b="0" i="1" lang="en-IN" sz="2400" strike="noStrike" u="none">
                <a:solidFill>
                  <a:srgbClr val="000000"/>
                </a:solidFill>
                <a:effectLst/>
                <a:uFillTx/>
                <a:latin typeface="Times New Roman"/>
                <a:ea typeface="Times New Roman"/>
              </a:rPr>
              <a:t> man grep</a:t>
            </a:r>
            <a:endParaRPr b="0" lang="en-IN" sz="2400" strike="noStrike" u="none">
              <a:solidFill>
                <a:srgbClr val="000000"/>
              </a:solidFill>
              <a:effectLst/>
              <a:uFillTx/>
              <a:latin typeface="Arial"/>
            </a:endParaRPr>
          </a:p>
          <a:p>
            <a:pPr>
              <a:lnSpc>
                <a:spcPct val="87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7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man can also be used to look up information about library routines.</a:t>
            </a:r>
            <a:endParaRPr b="0" lang="en-IN" sz="2400" strike="noStrike" u="none">
              <a:solidFill>
                <a:srgbClr val="000000"/>
              </a:solidFill>
              <a:effectLst/>
              <a:uFillTx/>
              <a:latin typeface="Arial"/>
            </a:endParaRPr>
          </a:p>
          <a:p>
            <a:pPr>
              <a:lnSpc>
                <a:spcPct val="87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7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man strcpy</a:t>
            </a:r>
            <a:endParaRPr b="0" lang="en-IN" sz="2400" strike="noStrike" u="none">
              <a:solidFill>
                <a:srgbClr val="000000"/>
              </a:solidFill>
              <a:effectLst/>
              <a:uFillTx/>
              <a:latin typeface="Arial"/>
            </a:endParaRPr>
          </a:p>
          <a:p>
            <a:pPr>
              <a:lnSpc>
                <a:spcPct val="87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7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This command will return information on the C library string copy function, </a:t>
            </a:r>
            <a:r>
              <a:rPr b="0" i="1" lang="en-IN" sz="2400" strike="noStrike" u="none">
                <a:solidFill>
                  <a:srgbClr val="000000"/>
                </a:solidFill>
                <a:effectLst/>
                <a:uFillTx/>
                <a:latin typeface="Times New Roman"/>
                <a:ea typeface="Times New Roman"/>
              </a:rPr>
              <a:t>strcpy</a:t>
            </a:r>
            <a:r>
              <a:rPr b="0" lang="en-IN" sz="2400" strike="noStrike" u="none">
                <a:solidFill>
                  <a:srgbClr val="000000"/>
                </a:solidFill>
                <a:effectLst/>
                <a:uFillTx/>
                <a:latin typeface="Times New Roman"/>
                <a:ea typeface="Times New Roman"/>
              </a:rPr>
              <a:t>.</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7" name=""/>
          <p:cNvSpPr txBox="1"/>
          <p:nvPr/>
        </p:nvSpPr>
        <p:spPr>
          <a:xfrm>
            <a:off x="3664080" y="279360"/>
            <a:ext cx="1803240" cy="660240"/>
          </a:xfrm>
          <a:prstGeom prst="rect">
            <a:avLst/>
          </a:prstGeom>
          <a:noFill/>
          <a:ln w="0">
            <a:noFill/>
          </a:ln>
        </p:spPr>
        <p:txBody>
          <a:bodyPr lIns="0" rIns="0" tIns="0" bIns="0" anchor="t">
            <a:spAutoFit/>
          </a:bodyPr>
          <a:p>
            <a:pPr algn="ctr">
              <a:lnSpc>
                <a:spcPct val="111000"/>
              </a:lnSpc>
            </a:pPr>
            <a:r>
              <a:rPr b="1" lang="en-IN" sz="3600" strike="noStrike" u="none">
                <a:solidFill>
                  <a:srgbClr val="000000"/>
                </a:solidFill>
                <a:effectLst/>
                <a:uFillTx/>
                <a:latin typeface="Times New Roman"/>
                <a:ea typeface="Times New Roman"/>
              </a:rPr>
              <a:t>Apropos</a:t>
            </a:r>
            <a:endParaRPr b="0" lang="en-IN" sz="3600" strike="noStrike" u="none">
              <a:solidFill>
                <a:srgbClr val="000000"/>
              </a:solidFill>
              <a:effectLst/>
              <a:uFillTx/>
              <a:latin typeface="Arial"/>
            </a:endParaRPr>
          </a:p>
        </p:txBody>
      </p:sp>
      <p:sp>
        <p:nvSpPr>
          <p:cNvPr id="168" name=""/>
          <p:cNvSpPr txBox="1"/>
          <p:nvPr/>
        </p:nvSpPr>
        <p:spPr>
          <a:xfrm>
            <a:off x="622440" y="1231920"/>
            <a:ext cx="7835760" cy="4095720"/>
          </a:xfrm>
          <a:prstGeom prst="rect">
            <a:avLst/>
          </a:prstGeom>
          <a:noFill/>
          <a:ln w="0">
            <a:noFill/>
          </a:ln>
        </p:spPr>
        <p:txBody>
          <a:bodyPr lIns="0" rIns="0" tIns="0" bIns="0" anchor="t">
            <a:spAutoFit/>
          </a:bodyPr>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If you are unsure of a command's name, but know what it does, you can use the </a:t>
            </a:r>
            <a:r>
              <a:rPr b="0" i="1" lang="en-IN" sz="2400" strike="noStrike" u="none">
                <a:solidFill>
                  <a:srgbClr val="000000"/>
                </a:solidFill>
                <a:effectLst/>
                <a:uFillTx/>
                <a:latin typeface="Times New Roman"/>
                <a:ea typeface="Times New Roman"/>
              </a:rPr>
              <a:t>-k </a:t>
            </a:r>
            <a:r>
              <a:rPr b="0" lang="en-IN" sz="2400" strike="noStrike" u="none">
                <a:solidFill>
                  <a:srgbClr val="000000"/>
                </a:solidFill>
                <a:effectLst/>
                <a:uFillTx/>
                <a:latin typeface="Times New Roman"/>
                <a:ea typeface="Times New Roman"/>
              </a:rPr>
              <a:t>option to search for the right entry.</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man </a:t>
            </a:r>
            <a:r>
              <a:rPr b="0" i="1"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-k password</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getpass (3V)</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 read a password</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getpwent (3V)</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 get password file entry</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passwd (5)</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 password file</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passwd (1)</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 change password</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putpwent (3)</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 write password file entry</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On many systems, the command apropos is the same as  </a:t>
            </a:r>
            <a:r>
              <a:rPr b="0" i="1" lang="en-IN" sz="2400" strike="noStrike" u="none">
                <a:solidFill>
                  <a:srgbClr val="000000"/>
                </a:solidFill>
                <a:effectLst/>
                <a:uFillTx/>
                <a:latin typeface="Times New Roman"/>
                <a:ea typeface="Times New Roman"/>
              </a:rPr>
              <a:t>man -k</a:t>
            </a:r>
            <a:r>
              <a:rPr b="0" lang="en-IN" sz="2400" strike="noStrike" u="none">
                <a:solidFill>
                  <a:srgbClr val="000000"/>
                </a:solidFill>
                <a:effectLst/>
                <a:uFillTx/>
                <a:latin typeface="Times New Roman"/>
                <a:ea typeface="Times New Roman"/>
              </a:rPr>
              <a:t>, but since no one can spell apropos without looking it up, this isn't of much help.</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9" name=""/>
          <p:cNvSpPr txBox="1"/>
          <p:nvPr/>
        </p:nvSpPr>
        <p:spPr>
          <a:xfrm>
            <a:off x="4032360" y="279360"/>
            <a:ext cx="106668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Who</a:t>
            </a:r>
            <a:endParaRPr b="0" lang="en-IN" sz="3600" strike="noStrike" u="none">
              <a:solidFill>
                <a:srgbClr val="000000"/>
              </a:solidFill>
              <a:effectLst/>
              <a:uFillTx/>
              <a:latin typeface="Arial"/>
            </a:endParaRPr>
          </a:p>
        </p:txBody>
      </p:sp>
      <p:sp>
        <p:nvSpPr>
          <p:cNvPr id="170" name=""/>
          <p:cNvSpPr txBox="1"/>
          <p:nvPr/>
        </p:nvSpPr>
        <p:spPr>
          <a:xfrm>
            <a:off x="927000" y="2146320"/>
            <a:ext cx="7454880" cy="2073240"/>
          </a:xfrm>
          <a:prstGeom prst="rect">
            <a:avLst/>
          </a:prstGeom>
          <a:noFill/>
          <a:ln w="0">
            <a:noFill/>
          </a:ln>
        </p:spPr>
        <p:txBody>
          <a:bodyPr lIns="0" rIns="0" tIns="0" bIns="0" anchor="t">
            <a:spAutoFit/>
          </a:bodyPr>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To find out who is on the system, use who.</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1800" strike="noStrike" u="none">
                <a:solidFill>
                  <a:srgbClr val="000000"/>
                </a:solidFill>
                <a:effectLst/>
                <a:uFillTx/>
                <a:latin typeface="Times New Roman"/>
                <a:ea typeface="Times New Roman"/>
              </a:rPr>
              <a:t>% </a:t>
            </a:r>
            <a:r>
              <a:rPr b="0" i="1" lang="en-IN" sz="1800" strike="noStrike" u="none">
                <a:solidFill>
                  <a:srgbClr val="000000"/>
                </a:solidFill>
                <a:effectLst/>
                <a:uFillTx/>
                <a:latin typeface="Times New Roman"/>
                <a:ea typeface="Times New Roman"/>
              </a:rPr>
              <a:t>who</a:t>
            </a:r>
            <a:endParaRPr b="0" lang="en-IN" sz="18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1800" strike="noStrike" u="none">
                <a:solidFill>
                  <a:srgbClr val="000000"/>
                </a:solidFill>
                <a:effectLst/>
                <a:uFillTx/>
                <a:latin typeface="Times New Roman"/>
                <a:ea typeface="Times New Roman"/>
              </a:rPr>
              <a:t>kirk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console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Oct 25 10:00</a:t>
            </a:r>
            <a:endParaRPr b="0" lang="en-IN" sz="18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1800" strike="noStrike" u="none">
                <a:solidFill>
                  <a:srgbClr val="000000"/>
                </a:solidFill>
                <a:effectLst/>
                <a:uFillTx/>
                <a:latin typeface="Times New Roman"/>
                <a:ea typeface="Times New Roman"/>
              </a:rPr>
              <a:t>williams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ttya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Oct 25 08:35</a:t>
            </a:r>
            <a:endParaRPr b="0" lang="en-IN" sz="18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1800" strike="noStrike" u="none">
                <a:solidFill>
                  <a:srgbClr val="000000"/>
                </a:solidFill>
                <a:effectLst/>
                <a:uFillTx/>
                <a:latin typeface="Times New Roman"/>
                <a:ea typeface="Times New Roman"/>
              </a:rPr>
              <a:t>spock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ttyp1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Oct 25 09:31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(sci.ncc1701.ufp)</a:t>
            </a:r>
            <a:endParaRPr b="0" lang="en-IN" sz="18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1800" strike="noStrike" u="none">
                <a:solidFill>
                  <a:srgbClr val="000000"/>
                </a:solidFill>
                <a:effectLst/>
                <a:uFillTx/>
                <a:latin typeface="Times New Roman"/>
                <a:ea typeface="Times New Roman"/>
              </a:rPr>
              <a:t>mccoy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ttyp2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Oct 25 10:12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(med.ncc1701.ufp)</a:t>
            </a:r>
            <a:endParaRPr b="0" lang="en-IN" sz="18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1800" strike="noStrike" u="none">
                <a:solidFill>
                  <a:srgbClr val="000000"/>
                </a:solidFill>
                <a:effectLst/>
                <a:uFillTx/>
                <a:latin typeface="Times New Roman"/>
                <a:ea typeface="Times New Roman"/>
              </a:rPr>
              <a:t>scott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ttyp4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Oct 23 10:01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(eng.ncc1701.ufp)</a:t>
            </a:r>
            <a:endParaRPr b="0" lang="en-IN"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1" name=""/>
          <p:cNvSpPr txBox="1"/>
          <p:nvPr/>
        </p:nvSpPr>
        <p:spPr>
          <a:xfrm>
            <a:off x="4273560" y="279360"/>
            <a:ext cx="58428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W</a:t>
            </a:r>
            <a:endParaRPr b="0" lang="en-IN" sz="3600" strike="noStrike" u="none">
              <a:solidFill>
                <a:srgbClr val="000000"/>
              </a:solidFill>
              <a:effectLst/>
              <a:uFillTx/>
              <a:latin typeface="Arial"/>
            </a:endParaRPr>
          </a:p>
        </p:txBody>
      </p:sp>
      <p:sp>
        <p:nvSpPr>
          <p:cNvPr id="172" name=""/>
          <p:cNvSpPr txBox="1"/>
          <p:nvPr/>
        </p:nvSpPr>
        <p:spPr>
          <a:xfrm>
            <a:off x="152280" y="1308240"/>
            <a:ext cx="8763120" cy="3370320"/>
          </a:xfrm>
          <a:prstGeom prst="rect">
            <a:avLst/>
          </a:prstGeom>
          <a:noFill/>
          <a:ln w="0">
            <a:noFill/>
          </a:ln>
        </p:spPr>
        <p:txBody>
          <a:bodyPr lIns="0" rIns="0" tIns="0" bIns="0" anchor="t">
            <a:spAutoFit/>
          </a:bodyPr>
          <a:p>
            <a:pPr>
              <a:lnSpc>
                <a:spcPct val="93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Some systems also have the  w command, which shows what users are doing.</a:t>
            </a:r>
            <a:endParaRPr b="0" lang="en-IN" sz="2400" strike="noStrike" u="none">
              <a:solidFill>
                <a:srgbClr val="000000"/>
              </a:solidFill>
              <a:effectLst/>
              <a:uFillTx/>
              <a:latin typeface="Arial"/>
            </a:endParaRPr>
          </a:p>
          <a:p>
            <a:pPr>
              <a:lnSpc>
                <a:spcPct val="93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93000"/>
              </a:lnSpc>
              <a:tabLst>
                <a:tab algn="l" pos="685800"/>
                <a:tab algn="l" pos="1371600"/>
                <a:tab algn="l" pos="2057400"/>
                <a:tab algn="l" pos="2743200"/>
                <a:tab algn="l" pos="3429000"/>
              </a:tabLst>
            </a:pPr>
            <a:r>
              <a:rPr b="0" lang="en-IN" sz="1800" strike="noStrike" u="none">
                <a:solidFill>
                  <a:srgbClr val="000000"/>
                </a:solidFill>
                <a:effectLst/>
                <a:uFillTx/>
                <a:latin typeface="Times New Roman"/>
                <a:ea typeface="Times New Roman"/>
              </a:rPr>
              <a:t>% w</a:t>
            </a:r>
            <a:endParaRPr b="0" lang="en-IN" sz="1800" strike="noStrike" u="none">
              <a:solidFill>
                <a:srgbClr val="000000"/>
              </a:solidFill>
              <a:effectLst/>
              <a:uFillTx/>
              <a:latin typeface="Arial"/>
            </a:endParaRPr>
          </a:p>
          <a:p>
            <a:pPr>
              <a:lnSpc>
                <a:spcPct val="93000"/>
              </a:lnSpc>
              <a:tabLst>
                <a:tab algn="l" pos="685800"/>
                <a:tab algn="l" pos="1371600"/>
                <a:tab algn="l" pos="2057400"/>
                <a:tab algn="l" pos="2743200"/>
                <a:tab algn="l" pos="3429000"/>
              </a:tabLst>
            </a:pPr>
            <a:r>
              <a:rPr b="0" lang="en-IN" sz="1800" strike="noStrike" u="none">
                <a:solidFill>
                  <a:srgbClr val="000000"/>
                </a:solidFill>
                <a:effectLst/>
                <a:uFillTx/>
                <a:latin typeface="Times New Roman"/>
                <a:ea typeface="Times New Roman"/>
              </a:rPr>
              <a:t>1:40pm  up 9 days,  3:12,  5 users,  load average: 0.07, 0.03, 0.00</a:t>
            </a:r>
            <a:endParaRPr b="0" lang="en-IN" sz="1800" strike="noStrike" u="none">
              <a:solidFill>
                <a:srgbClr val="000000"/>
              </a:solidFill>
              <a:effectLst/>
              <a:uFillTx/>
              <a:latin typeface="Arial"/>
            </a:endParaRPr>
          </a:p>
          <a:p>
            <a:pPr>
              <a:lnSpc>
                <a:spcPct val="93000"/>
              </a:lnSpc>
              <a:tabLst>
                <a:tab algn="l" pos="685800"/>
                <a:tab algn="l" pos="1371600"/>
                <a:tab algn="l" pos="2057400"/>
                <a:tab algn="l" pos="2743200"/>
                <a:tab algn="l" pos="3429000"/>
              </a:tabLst>
            </a:pPr>
            <a:endParaRPr b="0" lang="en-IN" sz="1800" strike="noStrike" u="none">
              <a:solidFill>
                <a:srgbClr val="000000"/>
              </a:solidFill>
              <a:effectLst/>
              <a:uFillTx/>
              <a:latin typeface="Arial"/>
            </a:endParaRPr>
          </a:p>
          <a:p>
            <a:pPr>
              <a:lnSpc>
                <a:spcPct val="93000"/>
              </a:lnSpc>
              <a:tabLst>
                <a:tab algn="l" pos="685800"/>
                <a:tab algn="l" pos="1371600"/>
                <a:tab algn="l" pos="2057400"/>
                <a:tab algn="l" pos="2743200"/>
                <a:tab algn="l" pos="3429000"/>
              </a:tabLst>
            </a:pPr>
            <a:r>
              <a:rPr b="0" lang="en-IN" sz="1800" strike="noStrike" u="none">
                <a:solidFill>
                  <a:srgbClr val="000000"/>
                </a:solidFill>
                <a:effectLst/>
                <a:uFillTx/>
                <a:latin typeface="Times New Roman"/>
                <a:ea typeface="Times New Roman"/>
              </a:rPr>
              <a:t>User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tty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login@</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idle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JCPU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PCPU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what</a:t>
            </a:r>
            <a:endParaRPr b="0" lang="en-IN" sz="1800" strike="noStrike" u="none">
              <a:solidFill>
                <a:srgbClr val="000000"/>
              </a:solidFill>
              <a:effectLst/>
              <a:uFillTx/>
              <a:latin typeface="Arial"/>
            </a:endParaRPr>
          </a:p>
          <a:p>
            <a:pPr>
              <a:lnSpc>
                <a:spcPct val="93000"/>
              </a:lnSpc>
              <a:tabLst>
                <a:tab algn="l" pos="685800"/>
                <a:tab algn="l" pos="1371600"/>
                <a:tab algn="l" pos="2057400"/>
                <a:tab algn="l" pos="2743200"/>
                <a:tab algn="l" pos="3429000"/>
              </a:tabLst>
            </a:pPr>
            <a:r>
              <a:rPr b="0" lang="en-IN" sz="1800" strike="noStrike" u="none">
                <a:solidFill>
                  <a:srgbClr val="000000"/>
                </a:solidFill>
                <a:effectLst/>
                <a:uFillTx/>
                <a:latin typeface="Times New Roman"/>
                <a:ea typeface="Times New Roman"/>
              </a:rPr>
              <a:t>williams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ttyp0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8:35am</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19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18:31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1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-csh </a:t>
            </a:r>
            <a:endParaRPr b="0" lang="en-IN" sz="1800" strike="noStrike" u="none">
              <a:solidFill>
                <a:srgbClr val="000000"/>
              </a:solidFill>
              <a:effectLst/>
              <a:uFillTx/>
              <a:latin typeface="Arial"/>
            </a:endParaRPr>
          </a:p>
          <a:p>
            <a:pPr>
              <a:lnSpc>
                <a:spcPct val="93000"/>
              </a:lnSpc>
              <a:tabLst>
                <a:tab algn="l" pos="685800"/>
                <a:tab algn="l" pos="1371600"/>
                <a:tab algn="l" pos="2057400"/>
                <a:tab algn="l" pos="2743200"/>
                <a:tab algn="l" pos="3429000"/>
              </a:tabLst>
            </a:pPr>
            <a:r>
              <a:rPr b="0" lang="en-IN" sz="1800" strike="noStrike" u="none">
                <a:solidFill>
                  <a:srgbClr val="000000"/>
                </a:solidFill>
                <a:effectLst/>
                <a:uFillTx/>
                <a:latin typeface="Times New Roman"/>
                <a:ea typeface="Times New Roman"/>
              </a:rPr>
              <a:t>kirk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ttyp1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9:31am</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2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20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vi cptns_log</a:t>
            </a:r>
            <a:endParaRPr b="0" lang="en-IN" sz="1800" strike="noStrike" u="none">
              <a:solidFill>
                <a:srgbClr val="000000"/>
              </a:solidFill>
              <a:effectLst/>
              <a:uFillTx/>
              <a:latin typeface="Arial"/>
            </a:endParaRPr>
          </a:p>
          <a:p>
            <a:pPr>
              <a:lnSpc>
                <a:spcPct val="93000"/>
              </a:lnSpc>
              <a:tabLst>
                <a:tab algn="l" pos="685800"/>
                <a:tab algn="l" pos="1371600"/>
                <a:tab algn="l" pos="2057400"/>
                <a:tab algn="l" pos="2743200"/>
                <a:tab algn="l" pos="3429000"/>
              </a:tabLst>
            </a:pPr>
            <a:r>
              <a:rPr b="0" lang="en-IN" sz="1800" strike="noStrike" u="none">
                <a:solidFill>
                  <a:srgbClr val="000000"/>
                </a:solidFill>
                <a:effectLst/>
                <a:uFillTx/>
                <a:latin typeface="Times New Roman"/>
                <a:ea typeface="Times New Roman"/>
              </a:rPr>
              <a:t>spock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ttyp2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10:12am</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4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15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emacs pi.c </a:t>
            </a:r>
            <a:endParaRPr b="0" lang="en-IN" sz="1800" strike="noStrike" u="none">
              <a:solidFill>
                <a:srgbClr val="000000"/>
              </a:solidFill>
              <a:effectLst/>
              <a:uFillTx/>
              <a:latin typeface="Arial"/>
            </a:endParaRPr>
          </a:p>
          <a:p>
            <a:pPr>
              <a:lnSpc>
                <a:spcPct val="93000"/>
              </a:lnSpc>
              <a:tabLst>
                <a:tab algn="l" pos="685800"/>
                <a:tab algn="l" pos="1371600"/>
                <a:tab algn="l" pos="2057400"/>
                <a:tab algn="l" pos="2743200"/>
                <a:tab algn="l" pos="3429000"/>
              </a:tabLst>
            </a:pPr>
            <a:r>
              <a:rPr b="0" lang="en-IN" sz="1800" strike="noStrike" u="none">
                <a:solidFill>
                  <a:srgbClr val="000000"/>
                </a:solidFill>
                <a:effectLst/>
                <a:uFillTx/>
                <a:latin typeface="Times New Roman"/>
                <a:ea typeface="Times New Roman"/>
              </a:rPr>
              <a:t>mccoy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ttyp4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Wed10am</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1:12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38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1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-ksh</a:t>
            </a:r>
            <a:endParaRPr b="0" lang="en-IN" sz="1800" strike="noStrike" u="none">
              <a:solidFill>
                <a:srgbClr val="000000"/>
              </a:solidFill>
              <a:effectLst/>
              <a:uFillTx/>
              <a:latin typeface="Arial"/>
            </a:endParaRPr>
          </a:p>
          <a:p>
            <a:pPr>
              <a:lnSpc>
                <a:spcPct val="93000"/>
              </a:lnSpc>
              <a:tabLst>
                <a:tab algn="l" pos="685800"/>
                <a:tab algn="l" pos="1371600"/>
                <a:tab algn="l" pos="2057400"/>
                <a:tab algn="l" pos="2743200"/>
                <a:tab algn="l" pos="3429000"/>
              </a:tabLst>
            </a:pPr>
            <a:r>
              <a:rPr b="0" lang="en-IN" sz="1800" strike="noStrike" u="none">
                <a:solidFill>
                  <a:srgbClr val="000000"/>
                </a:solidFill>
                <a:effectLst/>
                <a:uFillTx/>
                <a:latin typeface="Times New Roman"/>
                <a:ea typeface="Times New Roman"/>
              </a:rPr>
              <a:t>scotty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ttyp7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10:02am</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9:33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5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mail</a:t>
            </a:r>
            <a:endParaRPr b="0" lang="en-IN"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3" name=""/>
          <p:cNvSpPr txBox="1"/>
          <p:nvPr/>
        </p:nvSpPr>
        <p:spPr>
          <a:xfrm>
            <a:off x="3854520" y="279360"/>
            <a:ext cx="142236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Finger</a:t>
            </a:r>
            <a:endParaRPr b="0" lang="en-IN" sz="3600" strike="noStrike" u="none">
              <a:solidFill>
                <a:srgbClr val="000000"/>
              </a:solidFill>
              <a:effectLst/>
              <a:uFillTx/>
              <a:latin typeface="Arial"/>
            </a:endParaRPr>
          </a:p>
        </p:txBody>
      </p:sp>
      <p:sp>
        <p:nvSpPr>
          <p:cNvPr id="174" name=""/>
          <p:cNvSpPr txBox="1"/>
          <p:nvPr/>
        </p:nvSpPr>
        <p:spPr>
          <a:xfrm>
            <a:off x="393840" y="1460520"/>
            <a:ext cx="8445600" cy="4002120"/>
          </a:xfrm>
          <a:prstGeom prst="rect">
            <a:avLst/>
          </a:prstGeom>
          <a:noFill/>
          <a:ln w="0">
            <a:noFill/>
          </a:ln>
        </p:spPr>
        <p:txBody>
          <a:bodyPr lIns="0" rIns="0" tIns="0" bIns="0" anchor="t">
            <a:spAutoFit/>
          </a:bodyPr>
          <a:p>
            <a:pPr>
              <a:lnSpc>
                <a:spcPct val="96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If you can't recall a user's login name, you can use finger to help find it.</a:t>
            </a:r>
            <a:endParaRPr b="0" lang="en-IN" sz="2400" strike="noStrike" u="none">
              <a:solidFill>
                <a:srgbClr val="000000"/>
              </a:solidFill>
              <a:effectLst/>
              <a:uFillTx/>
              <a:latin typeface="Arial"/>
            </a:endParaRPr>
          </a:p>
          <a:p>
            <a:pPr>
              <a:lnSpc>
                <a:spcPct val="96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96000"/>
              </a:lnSpc>
              <a:tabLst>
                <a:tab algn="l" pos="685800"/>
                <a:tab algn="l" pos="1371600"/>
                <a:tab algn="l" pos="2057400"/>
                <a:tab algn="l" pos="2743200"/>
                <a:tab algn="l" pos="3429000"/>
              </a:tabLst>
            </a:pPr>
            <a:r>
              <a:rPr b="0" lang="en-IN" sz="1800" strike="noStrike" u="none">
                <a:solidFill>
                  <a:srgbClr val="000000"/>
                </a:solidFill>
                <a:effectLst/>
                <a:uFillTx/>
                <a:latin typeface="Times New Roman"/>
                <a:ea typeface="Times New Roman"/>
              </a:rPr>
              <a:t>% </a:t>
            </a:r>
            <a:r>
              <a:rPr b="0" i="1" lang="en-IN" sz="1800" strike="noStrike" u="none">
                <a:solidFill>
                  <a:srgbClr val="000000"/>
                </a:solidFill>
                <a:effectLst/>
                <a:uFillTx/>
                <a:latin typeface="Times New Roman"/>
                <a:ea typeface="Times New Roman"/>
              </a:rPr>
              <a:t>finger bones</a:t>
            </a:r>
            <a:endParaRPr b="0" lang="en-IN" sz="1800" strike="noStrike" u="none">
              <a:solidFill>
                <a:srgbClr val="000000"/>
              </a:solidFill>
              <a:effectLst/>
              <a:uFillTx/>
              <a:latin typeface="Arial"/>
            </a:endParaRPr>
          </a:p>
          <a:p>
            <a:pPr>
              <a:lnSpc>
                <a:spcPct val="96000"/>
              </a:lnSpc>
              <a:tabLst>
                <a:tab algn="l" pos="685800"/>
                <a:tab algn="l" pos="1371600"/>
                <a:tab algn="l" pos="2057400"/>
                <a:tab algn="l" pos="2743200"/>
                <a:tab algn="l" pos="3429000"/>
              </a:tabLst>
            </a:pPr>
            <a:r>
              <a:rPr b="0" lang="en-IN" sz="1800" strike="noStrike" u="none">
                <a:solidFill>
                  <a:srgbClr val="000000"/>
                </a:solidFill>
                <a:effectLst/>
                <a:uFillTx/>
                <a:latin typeface="Times New Roman"/>
                <a:ea typeface="Times New Roman"/>
              </a:rPr>
              <a:t>Login name: mccoy</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    In real life: Leonard "Bones" McCoy</a:t>
            </a:r>
            <a:endParaRPr b="0" lang="en-IN" sz="1800" strike="noStrike" u="none">
              <a:solidFill>
                <a:srgbClr val="000000"/>
              </a:solidFill>
              <a:effectLst/>
              <a:uFillTx/>
              <a:latin typeface="Arial"/>
            </a:endParaRPr>
          </a:p>
          <a:p>
            <a:pPr>
              <a:lnSpc>
                <a:spcPct val="96000"/>
              </a:lnSpc>
              <a:tabLst>
                <a:tab algn="l" pos="685800"/>
                <a:tab algn="l" pos="1371600"/>
                <a:tab algn="l" pos="2057400"/>
                <a:tab algn="l" pos="2743200"/>
                <a:tab algn="l" pos="3429000"/>
              </a:tabLst>
            </a:pPr>
            <a:r>
              <a:rPr b="0" lang="en-IN" sz="1800" strike="noStrike" u="none">
                <a:solidFill>
                  <a:srgbClr val="000000"/>
                </a:solidFill>
                <a:effectLst/>
                <a:uFillTx/>
                <a:latin typeface="Times New Roman"/>
                <a:ea typeface="Times New Roman"/>
              </a:rPr>
              <a:t>Directory: /home/sickbay/mccoy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Shell: /bin/ksh</a:t>
            </a:r>
            <a:endParaRPr b="0" lang="en-IN" sz="1800" strike="noStrike" u="none">
              <a:solidFill>
                <a:srgbClr val="000000"/>
              </a:solidFill>
              <a:effectLst/>
              <a:uFillTx/>
              <a:latin typeface="Arial"/>
            </a:endParaRPr>
          </a:p>
          <a:p>
            <a:pPr>
              <a:lnSpc>
                <a:spcPct val="96000"/>
              </a:lnSpc>
              <a:tabLst>
                <a:tab algn="l" pos="685800"/>
                <a:tab algn="l" pos="1371600"/>
                <a:tab algn="l" pos="2057400"/>
                <a:tab algn="l" pos="2743200"/>
                <a:tab algn="l" pos="3429000"/>
              </a:tabLst>
            </a:pPr>
            <a:r>
              <a:rPr b="0" lang="en-IN" sz="1800" strike="noStrike" u="none">
                <a:solidFill>
                  <a:srgbClr val="000000"/>
                </a:solidFill>
                <a:effectLst/>
                <a:uFillTx/>
                <a:latin typeface="Times New Roman"/>
                <a:ea typeface="Times New Roman"/>
              </a:rPr>
              <a:t>On since Oct 25 08:35:30 on ttyp0 from med.ncc1701.ufp</a:t>
            </a:r>
            <a:endParaRPr b="0" lang="en-IN" sz="1800" strike="noStrike" u="none">
              <a:solidFill>
                <a:srgbClr val="000000"/>
              </a:solidFill>
              <a:effectLst/>
              <a:uFillTx/>
              <a:latin typeface="Arial"/>
            </a:endParaRPr>
          </a:p>
          <a:p>
            <a:pPr>
              <a:lnSpc>
                <a:spcPct val="96000"/>
              </a:lnSpc>
              <a:tabLst>
                <a:tab algn="l" pos="685800"/>
                <a:tab algn="l" pos="1371600"/>
                <a:tab algn="l" pos="2057400"/>
                <a:tab algn="l" pos="2743200"/>
                <a:tab algn="l" pos="3429000"/>
              </a:tabLst>
            </a:pPr>
            <a:r>
              <a:rPr b="0" lang="en-IN" sz="1800" strike="noStrike" u="none">
                <a:solidFill>
                  <a:srgbClr val="000000"/>
                </a:solidFill>
                <a:effectLst/>
                <a:uFillTx/>
                <a:latin typeface="Times New Roman"/>
                <a:ea typeface="Times New Roman"/>
              </a:rPr>
              <a:t>20 minutes Idle Time</a:t>
            </a:r>
            <a:endParaRPr b="0" lang="en-IN" sz="1800" strike="noStrike" u="none">
              <a:solidFill>
                <a:srgbClr val="000000"/>
              </a:solidFill>
              <a:effectLst/>
              <a:uFillTx/>
              <a:latin typeface="Arial"/>
            </a:endParaRPr>
          </a:p>
          <a:p>
            <a:pPr>
              <a:lnSpc>
                <a:spcPct val="96000"/>
              </a:lnSpc>
              <a:tabLst>
                <a:tab algn="l" pos="685800"/>
                <a:tab algn="l" pos="1371600"/>
                <a:tab algn="l" pos="2057400"/>
                <a:tab algn="l" pos="2743200"/>
                <a:tab algn="l" pos="3429000"/>
              </a:tabLst>
            </a:pPr>
            <a:r>
              <a:rPr b="0" lang="en-IN" sz="1800" strike="noStrike" u="none">
                <a:solidFill>
                  <a:srgbClr val="000000"/>
                </a:solidFill>
                <a:effectLst/>
                <a:uFillTx/>
                <a:latin typeface="Times New Roman"/>
                <a:ea typeface="Times New Roman"/>
              </a:rPr>
              <a:t>No unread mail</a:t>
            </a:r>
            <a:endParaRPr b="0" lang="en-IN" sz="1800" strike="noStrike" u="none">
              <a:solidFill>
                <a:srgbClr val="000000"/>
              </a:solidFill>
              <a:effectLst/>
              <a:uFillTx/>
              <a:latin typeface="Arial"/>
            </a:endParaRPr>
          </a:p>
          <a:p>
            <a:pPr>
              <a:lnSpc>
                <a:spcPct val="96000"/>
              </a:lnSpc>
              <a:tabLst>
                <a:tab algn="l" pos="685800"/>
                <a:tab algn="l" pos="1371600"/>
                <a:tab algn="l" pos="2057400"/>
                <a:tab algn="l" pos="2743200"/>
                <a:tab algn="l" pos="3429000"/>
              </a:tabLst>
            </a:pPr>
            <a:r>
              <a:rPr b="0" lang="en-IN" sz="1800" strike="noStrike" u="none">
                <a:solidFill>
                  <a:srgbClr val="000000"/>
                </a:solidFill>
                <a:effectLst/>
                <a:uFillTx/>
                <a:latin typeface="Times New Roman"/>
                <a:ea typeface="Times New Roman"/>
              </a:rPr>
              <a:t>Project:  To keep the crew of the Enterprise in perfect health.</a:t>
            </a:r>
            <a:endParaRPr b="0" lang="en-IN" sz="1800" strike="noStrike" u="none">
              <a:solidFill>
                <a:srgbClr val="000000"/>
              </a:solidFill>
              <a:effectLst/>
              <a:uFillTx/>
              <a:latin typeface="Arial"/>
            </a:endParaRPr>
          </a:p>
          <a:p>
            <a:pPr>
              <a:lnSpc>
                <a:spcPct val="96000"/>
              </a:lnSpc>
              <a:tabLst>
                <a:tab algn="l" pos="685800"/>
                <a:tab algn="l" pos="1371600"/>
                <a:tab algn="l" pos="2057400"/>
                <a:tab algn="l" pos="2743200"/>
                <a:tab algn="l" pos="3429000"/>
              </a:tabLst>
            </a:pPr>
            <a:r>
              <a:rPr b="0" lang="en-IN" sz="1800" strike="noStrike" u="none">
                <a:solidFill>
                  <a:srgbClr val="000000"/>
                </a:solidFill>
                <a:effectLst/>
                <a:uFillTx/>
                <a:latin typeface="Times New Roman"/>
                <a:ea typeface="Times New Roman"/>
              </a:rPr>
              <a:t>Plan:</a:t>
            </a:r>
            <a:endParaRPr b="0" lang="en-IN" sz="1800" strike="noStrike" u="none">
              <a:solidFill>
                <a:srgbClr val="000000"/>
              </a:solidFill>
              <a:effectLst/>
              <a:uFillTx/>
              <a:latin typeface="Arial"/>
            </a:endParaRPr>
          </a:p>
          <a:p>
            <a:pPr>
              <a:lnSpc>
                <a:spcPct val="96000"/>
              </a:lnSpc>
              <a:tabLst>
                <a:tab algn="l" pos="685800"/>
                <a:tab algn="l" pos="1371600"/>
                <a:tab algn="l" pos="2057400"/>
                <a:tab algn="l" pos="2743200"/>
                <a:tab algn="l" pos="3429000"/>
              </a:tabLst>
            </a:pPr>
            <a:r>
              <a:rPr b="0" lang="en-IN" sz="1800" strike="noStrike" u="none">
                <a:solidFill>
                  <a:srgbClr val="000000"/>
                </a:solidFill>
                <a:effectLst/>
                <a:uFillTx/>
                <a:latin typeface="Times New Roman"/>
                <a:ea typeface="Times New Roman"/>
              </a:rPr>
              <a:t>I'm a doctor, not a bureaucrat!</a:t>
            </a:r>
            <a:endParaRPr b="0" lang="en-IN" sz="1800" strike="noStrike" u="none">
              <a:solidFill>
                <a:srgbClr val="000000"/>
              </a:solidFill>
              <a:effectLst/>
              <a:uFillTx/>
              <a:latin typeface="Arial"/>
            </a:endParaRPr>
          </a:p>
          <a:p>
            <a:pPr>
              <a:lnSpc>
                <a:spcPct val="96000"/>
              </a:lnSpc>
              <a:tabLst>
                <a:tab algn="l" pos="685800"/>
                <a:tab algn="l" pos="1371600"/>
                <a:tab algn="l" pos="2057400"/>
                <a:tab algn="l" pos="2743200"/>
                <a:tab algn="l" pos="3429000"/>
              </a:tabLst>
            </a:pPr>
            <a:r>
              <a:rPr b="0" lang="en-IN" sz="1800" strike="noStrike" u="none">
                <a:solidFill>
                  <a:srgbClr val="000000"/>
                </a:solidFill>
                <a:effectLst/>
                <a:uFillTx/>
                <a:latin typeface="Times New Roman"/>
                <a:ea typeface="Times New Roman"/>
              </a:rPr>
              <a:t>Cabin Phone:</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1 301 555-1131</a:t>
            </a:r>
            <a:endParaRPr b="0" lang="en-IN" sz="1800" strike="noStrike" u="none">
              <a:solidFill>
                <a:srgbClr val="000000"/>
              </a:solidFill>
              <a:effectLst/>
              <a:uFillTx/>
              <a:latin typeface="Arial"/>
            </a:endParaRPr>
          </a:p>
          <a:p>
            <a:pPr>
              <a:lnSpc>
                <a:spcPct val="96000"/>
              </a:lnSpc>
              <a:tabLst>
                <a:tab algn="l" pos="685800"/>
                <a:tab algn="l" pos="1371600"/>
                <a:tab algn="l" pos="2057400"/>
                <a:tab algn="l" pos="2743200"/>
                <a:tab algn="l" pos="3429000"/>
              </a:tabLst>
            </a:pPr>
            <a:r>
              <a:rPr b="0" lang="en-IN" sz="1800" strike="noStrike" u="none">
                <a:solidFill>
                  <a:srgbClr val="000000"/>
                </a:solidFill>
                <a:effectLst/>
                <a:uFillTx/>
                <a:latin typeface="Times New Roman"/>
                <a:ea typeface="Times New Roman"/>
              </a:rPr>
              <a:t>Lab Phone:</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1 301 555-7253</a:t>
            </a:r>
            <a:endParaRPr b="0" lang="en-IN"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5" name=""/>
          <p:cNvSpPr txBox="1"/>
          <p:nvPr/>
        </p:nvSpPr>
        <p:spPr>
          <a:xfrm>
            <a:off x="2489040" y="279360"/>
            <a:ext cx="415296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Regular Expressions</a:t>
            </a:r>
            <a:endParaRPr b="0" lang="en-IN" sz="3600" strike="noStrike" u="none">
              <a:solidFill>
                <a:srgbClr val="000000"/>
              </a:solidFill>
              <a:effectLst/>
              <a:uFillTx/>
              <a:latin typeface="Arial"/>
            </a:endParaRPr>
          </a:p>
        </p:txBody>
      </p:sp>
      <p:sp>
        <p:nvSpPr>
          <p:cNvPr id="176" name=""/>
          <p:cNvSpPr txBox="1"/>
          <p:nvPr/>
        </p:nvSpPr>
        <p:spPr>
          <a:xfrm>
            <a:off x="851040" y="2222640"/>
            <a:ext cx="7454880" cy="2328840"/>
          </a:xfrm>
          <a:prstGeom prst="rect">
            <a:avLst/>
          </a:prstGeom>
          <a:noFill/>
          <a:ln w="0">
            <a:noFill/>
          </a:ln>
        </p:spPr>
        <p:txBody>
          <a:bodyPr lIns="0" rIns="0" tIns="0" bIns="0" anchor="t">
            <a:spAutoFit/>
          </a:bodyPr>
          <a:p>
            <a:pPr>
              <a:lnSpc>
                <a:spcPct val="89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Several </a:t>
            </a:r>
            <a:r>
              <a:rPr b="0" lang="en-IN" sz="2000" strike="noStrike" u="none">
                <a:solidFill>
                  <a:srgbClr val="000000"/>
                </a:solidFill>
                <a:effectLst/>
                <a:uFillTx/>
                <a:latin typeface="Times New Roman"/>
                <a:ea typeface="Times New Roman"/>
              </a:rPr>
              <a:t>UNIX </a:t>
            </a:r>
            <a:r>
              <a:rPr b="0" lang="en-IN" sz="2400" strike="noStrike" u="none">
                <a:solidFill>
                  <a:srgbClr val="000000"/>
                </a:solidFill>
                <a:effectLst/>
                <a:uFillTx/>
                <a:latin typeface="Times New Roman"/>
                <a:ea typeface="Times New Roman"/>
              </a:rPr>
              <a:t>commands make use of the concept of a </a:t>
            </a:r>
            <a:r>
              <a:rPr b="0" i="1" lang="en-IN" sz="2400" strike="noStrike" u="none">
                <a:solidFill>
                  <a:srgbClr val="000000"/>
                </a:solidFill>
                <a:effectLst/>
                <a:uFillTx/>
                <a:latin typeface="Times New Roman"/>
                <a:ea typeface="Times New Roman"/>
              </a:rPr>
              <a:t>regular expression</a:t>
            </a:r>
            <a:r>
              <a:rPr b="0" lang="en-IN" sz="2400" strike="noStrike" u="none">
                <a:solidFill>
                  <a:srgbClr val="000000"/>
                </a:solidFill>
                <a:effectLst/>
                <a:uFillTx/>
                <a:latin typeface="Times New Roman"/>
                <a:ea typeface="Times New Roman"/>
              </a:rPr>
              <a:t>. Regular expressions are similar to filename wildcards, but much more powerful.  All of the standard editors use regular expressions, as well as commands such as </a:t>
            </a:r>
            <a:r>
              <a:rPr b="0" i="1" lang="en-IN" sz="2400" strike="noStrike" u="none">
                <a:solidFill>
                  <a:srgbClr val="000000"/>
                </a:solidFill>
                <a:effectLst/>
                <a:uFillTx/>
                <a:latin typeface="Times New Roman"/>
                <a:ea typeface="Times New Roman"/>
              </a:rPr>
              <a:t>grep, awk</a:t>
            </a:r>
            <a:r>
              <a:rPr b="0" lang="en-IN" sz="2400" strike="noStrike" u="none">
                <a:solidFill>
                  <a:srgbClr val="000000"/>
                </a:solidFill>
                <a:effectLst/>
                <a:uFillTx/>
                <a:latin typeface="Times New Roman"/>
                <a:ea typeface="Times New Roman"/>
              </a:rPr>
              <a:t>, and </a:t>
            </a:r>
            <a:r>
              <a:rPr b="0" i="1" lang="en-IN" sz="2400" strike="noStrike" u="none">
                <a:solidFill>
                  <a:srgbClr val="000000"/>
                </a:solidFill>
                <a:effectLst/>
                <a:uFillTx/>
                <a:latin typeface="Times New Roman"/>
                <a:ea typeface="Times New Roman"/>
              </a:rPr>
              <a:t>sed</a:t>
            </a:r>
            <a:r>
              <a:rPr b="0" lang="en-IN" sz="2400" strike="noStrike" u="none">
                <a:solidFill>
                  <a:srgbClr val="000000"/>
                </a:solidFill>
                <a:effectLst/>
                <a:uFillTx/>
                <a:latin typeface="Times New Roman"/>
                <a:ea typeface="Times New Roman"/>
              </a:rPr>
              <a:t>.  A solid understanding of regular expressions is vital to making full use of </a:t>
            </a:r>
            <a:r>
              <a:rPr b="0" lang="en-IN" sz="2000" strike="noStrike" u="none">
                <a:solidFill>
                  <a:srgbClr val="000000"/>
                </a:solidFill>
                <a:effectLst/>
                <a:uFillTx/>
                <a:latin typeface="Times New Roman"/>
                <a:ea typeface="Times New Roman"/>
              </a:rPr>
              <a:t>UNIX</a:t>
            </a:r>
            <a:r>
              <a:rPr b="0" lang="en-IN" sz="2400" strike="noStrike" u="none">
                <a:solidFill>
                  <a:srgbClr val="000000"/>
                </a:solidFill>
                <a:effectLst/>
                <a:uFillTx/>
                <a:latin typeface="Times New Roman"/>
                <a:ea typeface="Times New Roman"/>
              </a:rPr>
              <a:t>.</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7" name=""/>
          <p:cNvSpPr txBox="1"/>
          <p:nvPr/>
        </p:nvSpPr>
        <p:spPr>
          <a:xfrm>
            <a:off x="2379600" y="279360"/>
            <a:ext cx="4368960" cy="660240"/>
          </a:xfrm>
          <a:prstGeom prst="rect">
            <a:avLst/>
          </a:prstGeom>
          <a:noFill/>
          <a:ln w="0">
            <a:noFill/>
          </a:ln>
        </p:spPr>
        <p:txBody>
          <a:bodyPr lIns="0" rIns="0" tIns="0" bIns="0" anchor="t">
            <a:spAutoFit/>
          </a:bodyPr>
          <a:p>
            <a:pPr algn="ctr">
              <a:lnSpc>
                <a:spcPct val="111000"/>
              </a:lnSpc>
            </a:pPr>
            <a:r>
              <a:rPr b="1" lang="en-IN" sz="3600" strike="noStrike" u="none">
                <a:solidFill>
                  <a:srgbClr val="000000"/>
                </a:solidFill>
                <a:effectLst/>
                <a:uFillTx/>
                <a:latin typeface="Times New Roman"/>
                <a:ea typeface="Times New Roman"/>
              </a:rPr>
              <a:t>Single Character REs</a:t>
            </a:r>
            <a:endParaRPr b="0" lang="en-IN" sz="3600" strike="noStrike" u="none">
              <a:solidFill>
                <a:srgbClr val="000000"/>
              </a:solidFill>
              <a:effectLst/>
              <a:uFillTx/>
              <a:latin typeface="Arial"/>
            </a:endParaRPr>
          </a:p>
        </p:txBody>
      </p:sp>
      <p:sp>
        <p:nvSpPr>
          <p:cNvPr id="178" name=""/>
          <p:cNvSpPr txBox="1"/>
          <p:nvPr/>
        </p:nvSpPr>
        <p:spPr>
          <a:xfrm>
            <a:off x="1231920" y="1841400"/>
            <a:ext cx="6845400" cy="2295360"/>
          </a:xfrm>
          <a:prstGeom prst="rect">
            <a:avLst/>
          </a:prstGeom>
          <a:noFill/>
          <a:ln w="0">
            <a:noFill/>
          </a:ln>
        </p:spPr>
        <p:txBody>
          <a:bodyPr lIns="0" rIns="0" tIns="0" bIns="0" anchor="t">
            <a:spAutoFit/>
          </a:bodyPr>
          <a:p>
            <a:pPr>
              <a:lnSpc>
                <a:spcPct val="88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A single character matches itself.</a:t>
            </a: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a</a:t>
            </a: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The character . matches any single character.</a:t>
            </a: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9" name=""/>
          <p:cNvSpPr txBox="1"/>
          <p:nvPr/>
        </p:nvSpPr>
        <p:spPr>
          <a:xfrm>
            <a:off x="2455920" y="279360"/>
            <a:ext cx="4216320" cy="660240"/>
          </a:xfrm>
          <a:prstGeom prst="rect">
            <a:avLst/>
          </a:prstGeom>
          <a:noFill/>
          <a:ln w="0">
            <a:noFill/>
          </a:ln>
        </p:spPr>
        <p:txBody>
          <a:bodyPr lIns="0" rIns="0" tIns="0" bIns="0" anchor="t">
            <a:spAutoFit/>
          </a:bodyPr>
          <a:p>
            <a:pPr algn="ctr">
              <a:lnSpc>
                <a:spcPct val="111000"/>
              </a:lnSpc>
            </a:pPr>
            <a:r>
              <a:rPr b="1" lang="en-IN" sz="3600" strike="noStrike" u="none">
                <a:solidFill>
                  <a:srgbClr val="000000"/>
                </a:solidFill>
                <a:effectLst/>
                <a:uFillTx/>
                <a:latin typeface="Times New Roman"/>
                <a:ea typeface="Times New Roman"/>
              </a:rPr>
              <a:t>Character Class REs</a:t>
            </a:r>
            <a:endParaRPr b="0" lang="en-IN" sz="3600" strike="noStrike" u="none">
              <a:solidFill>
                <a:srgbClr val="000000"/>
              </a:solidFill>
              <a:effectLst/>
              <a:uFillTx/>
              <a:latin typeface="Arial"/>
            </a:endParaRPr>
          </a:p>
        </p:txBody>
      </p:sp>
      <p:sp>
        <p:nvSpPr>
          <p:cNvPr id="180" name=""/>
          <p:cNvSpPr txBox="1"/>
          <p:nvPr/>
        </p:nvSpPr>
        <p:spPr>
          <a:xfrm>
            <a:off x="546120" y="1384200"/>
            <a:ext cx="8064360" cy="4540320"/>
          </a:xfrm>
          <a:prstGeom prst="rect">
            <a:avLst/>
          </a:prstGeom>
          <a:noFill/>
          <a:ln w="0">
            <a:noFill/>
          </a:ln>
        </p:spPr>
        <p:txBody>
          <a:bodyPr lIns="0" rIns="0" tIns="0" bIns="0" anchor="t">
            <a:spAutoFit/>
          </a:bodyPr>
          <a:p>
            <a:pPr>
              <a:lnSpc>
                <a:spcPct val="88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A set of characters in a brackets ([]) matches any one of those characters.</a:t>
            </a: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[abcd] </a:t>
            </a:r>
            <a:r>
              <a:rPr b="0" lang="en-IN" sz="2400" strike="noStrike" u="none">
                <a:solidFill>
                  <a:srgbClr val="000000"/>
                </a:solidFill>
                <a:effectLst/>
                <a:uFillTx/>
                <a:latin typeface="Times New Roman"/>
                <a:ea typeface="Times New Roman"/>
              </a:rPr>
              <a:t>- matches a, b, c, or d</a:t>
            </a: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Ranges are specified by using - to separate the first and last character in the range.</a:t>
            </a: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[a-z] </a:t>
            </a:r>
            <a:r>
              <a:rPr b="0" lang="en-IN" sz="2400" strike="noStrike" u="none">
                <a:solidFill>
                  <a:srgbClr val="000000"/>
                </a:solidFill>
                <a:effectLst/>
                <a:uFillTx/>
                <a:latin typeface="Times New Roman"/>
                <a:ea typeface="Times New Roman"/>
              </a:rPr>
              <a:t>- matches any lowercase letter</a:t>
            </a: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If the first character is ^, then the range is complemented.</a:t>
            </a: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[^1234567890] </a:t>
            </a:r>
            <a:r>
              <a:rPr b="0" lang="en-IN" sz="2400" strike="noStrike" u="none">
                <a:solidFill>
                  <a:srgbClr val="000000"/>
                </a:solidFill>
                <a:effectLst/>
                <a:uFillTx/>
                <a:latin typeface="Times New Roman"/>
                <a:ea typeface="Times New Roman"/>
              </a:rPr>
              <a:t>- matches any character that is </a:t>
            </a:r>
            <a:r>
              <a:rPr b="0" i="1" lang="en-IN" sz="2400" strike="noStrike" u="none">
                <a:solidFill>
                  <a:srgbClr val="000000"/>
                </a:solidFill>
                <a:effectLst/>
                <a:uFillTx/>
                <a:latin typeface="Times New Roman"/>
                <a:ea typeface="Times New Roman"/>
              </a:rPr>
              <a:t>not </a:t>
            </a:r>
            <a:r>
              <a:rPr b="0" i="1"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a digit</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1" name=""/>
          <p:cNvSpPr txBox="1"/>
          <p:nvPr/>
        </p:nvSpPr>
        <p:spPr>
          <a:xfrm>
            <a:off x="2565360" y="279360"/>
            <a:ext cx="398772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More Complex REs</a:t>
            </a:r>
            <a:endParaRPr b="0" lang="en-IN" sz="3600" strike="noStrike" u="none">
              <a:solidFill>
                <a:srgbClr val="000000"/>
              </a:solidFill>
              <a:effectLst/>
              <a:uFillTx/>
              <a:latin typeface="Arial"/>
            </a:endParaRPr>
          </a:p>
        </p:txBody>
      </p:sp>
      <p:sp>
        <p:nvSpPr>
          <p:cNvPr id="182" name=""/>
          <p:cNvSpPr txBox="1"/>
          <p:nvPr/>
        </p:nvSpPr>
        <p:spPr>
          <a:xfrm>
            <a:off x="622440" y="1765440"/>
            <a:ext cx="8064360" cy="3162240"/>
          </a:xfrm>
          <a:prstGeom prst="rect">
            <a:avLst/>
          </a:prstGeom>
          <a:noFill/>
          <a:ln w="0">
            <a:noFill/>
          </a:ln>
        </p:spPr>
        <p:txBody>
          <a:bodyPr lIns="0" rIns="0" tIns="0" bIns="0" anchor="t">
            <a:spAutoFit/>
          </a:bodyPr>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For any regular expressions </a:t>
            </a:r>
            <a:r>
              <a:rPr b="0" i="1" lang="en-IN" sz="2400" strike="noStrike" u="none">
                <a:solidFill>
                  <a:srgbClr val="000000"/>
                </a:solidFill>
                <a:effectLst/>
                <a:uFillTx/>
                <a:latin typeface="Times New Roman"/>
                <a:ea typeface="Times New Roman"/>
              </a:rPr>
              <a:t>re, re1</a:t>
            </a:r>
            <a:r>
              <a:rPr b="0" lang="en-IN" sz="2400" strike="noStrike" u="none">
                <a:solidFill>
                  <a:srgbClr val="000000"/>
                </a:solidFill>
                <a:effectLst/>
                <a:uFillTx/>
                <a:latin typeface="Times New Roman"/>
                <a:ea typeface="Times New Roman"/>
              </a:rPr>
              <a:t>, and </a:t>
            </a:r>
            <a:r>
              <a:rPr b="0" i="1" lang="en-IN" sz="2400" strike="noStrike" u="none">
                <a:solidFill>
                  <a:srgbClr val="000000"/>
                </a:solidFill>
                <a:effectLst/>
                <a:uFillTx/>
                <a:latin typeface="Times New Roman"/>
                <a:ea typeface="Times New Roman"/>
              </a:rPr>
              <a:t>re2</a:t>
            </a:r>
            <a:r>
              <a:rPr b="0" lang="en-IN" sz="2400" strike="noStrike" u="none">
                <a:solidFill>
                  <a:srgbClr val="000000"/>
                </a:solidFill>
                <a:effectLst/>
                <a:uFillTx/>
                <a:latin typeface="Times New Roman"/>
                <a:ea typeface="Times New Roman"/>
              </a:rPr>
              <a:t>, the following are valid combinations.</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1800" strike="noStrike" u="none">
                <a:solidFill>
                  <a:srgbClr val="000000"/>
                </a:solidFill>
                <a:effectLst/>
                <a:uFillTx/>
                <a:latin typeface="Times New Roman"/>
                <a:ea typeface="Times New Roman"/>
              </a:rPr>
              <a:t>re1re2</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 matches a match for re1, followed by a match for re2</a:t>
            </a:r>
            <a:endParaRPr b="0" lang="en-IN" sz="18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1800" strike="noStrike" u="none">
                <a:solidFill>
                  <a:srgbClr val="000000"/>
                </a:solidFill>
                <a:effectLst/>
                <a:uFillTx/>
                <a:latin typeface="Times New Roman"/>
                <a:ea typeface="Times New Roman"/>
              </a:rPr>
              <a:t>re*</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 matches 0 or more occurances of re</a:t>
            </a:r>
            <a:endParaRPr b="0" lang="en-IN" sz="18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1800" strike="noStrike" u="none">
                <a:solidFill>
                  <a:srgbClr val="000000"/>
                </a:solidFill>
                <a:effectLst/>
                <a:uFillTx/>
                <a:latin typeface="Times New Roman"/>
                <a:ea typeface="Times New Roman"/>
              </a:rPr>
              <a:t>re{m-n}</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 a range of repetitions, at least m, but no more then n</a:t>
            </a:r>
            <a:endParaRPr b="0" lang="en-IN" sz="18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1800" strike="noStrike" u="none">
                <a:solidFill>
                  <a:srgbClr val="000000"/>
                </a:solidFill>
                <a:effectLst/>
                <a:uFillTx/>
                <a:latin typeface="Times New Roman"/>
                <a:ea typeface="Times New Roman"/>
              </a:rPr>
              <a:t>^re</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 re must be at the beginning of the line</a:t>
            </a:r>
            <a:endParaRPr b="0" lang="en-IN" sz="18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1800" strike="noStrike" u="none">
                <a:solidFill>
                  <a:srgbClr val="000000"/>
                </a:solidFill>
                <a:effectLst/>
                <a:uFillTx/>
                <a:latin typeface="Times New Roman"/>
                <a:ea typeface="Times New Roman"/>
              </a:rPr>
              <a:t>re$</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 re must be at the end of the line</a:t>
            </a:r>
            <a:endParaRPr b="0" lang="en-IN" sz="18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1800" strike="noStrike" u="none">
                <a:solidFill>
                  <a:srgbClr val="000000"/>
                </a:solidFill>
                <a:effectLst/>
                <a:uFillTx/>
                <a:latin typeface="Times New Roman"/>
                <a:ea typeface="Times New Roman"/>
              </a:rPr>
              <a:t>\(re\)</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 label</a:t>
            </a:r>
            <a:endParaRPr b="0" lang="en-IN" sz="18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1800" strike="noStrike" u="none">
                <a:solidFill>
                  <a:srgbClr val="000000"/>
                </a:solidFill>
                <a:effectLst/>
                <a:uFillTx/>
                <a:latin typeface="Times New Roman"/>
                <a:ea typeface="Times New Roman"/>
              </a:rPr>
              <a:t>\n</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 back reference to label n, in the range 1-9</a:t>
            </a:r>
            <a:endParaRPr b="0" lang="en-IN" sz="18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endParaRPr b="0" lang="en-IN" sz="18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A regular expression always matches the longest string possible.</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3" name=""/>
          <p:cNvSpPr txBox="1"/>
          <p:nvPr/>
        </p:nvSpPr>
        <p:spPr>
          <a:xfrm>
            <a:off x="3181320" y="279360"/>
            <a:ext cx="278136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RE Examples</a:t>
            </a:r>
            <a:endParaRPr b="0" lang="en-IN" sz="3600" strike="noStrike" u="none">
              <a:solidFill>
                <a:srgbClr val="000000"/>
              </a:solidFill>
              <a:effectLst/>
              <a:uFillTx/>
              <a:latin typeface="Arial"/>
            </a:endParaRPr>
          </a:p>
        </p:txBody>
      </p:sp>
      <p:sp>
        <p:nvSpPr>
          <p:cNvPr id="184" name=""/>
          <p:cNvSpPr txBox="1"/>
          <p:nvPr/>
        </p:nvSpPr>
        <p:spPr>
          <a:xfrm>
            <a:off x="317520" y="1155600"/>
            <a:ext cx="8597880" cy="4765680"/>
          </a:xfrm>
          <a:prstGeom prst="rect">
            <a:avLst/>
          </a:prstGeom>
          <a:noFill/>
          <a:ln w="0">
            <a:noFill/>
          </a:ln>
        </p:spPr>
        <p:txBody>
          <a:bodyPr lIns="0" rIns="0" tIns="0" bIns="0" anchor="t">
            <a:spAutoFit/>
          </a:bodyPr>
          <a:p>
            <a:pPr>
              <a:lnSpc>
                <a:spcPct val="86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[A-Za-z_][A-Za-z_0-9]*</a:t>
            </a:r>
            <a:endParaRPr b="0" lang="en-IN" sz="24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Matches any letter or underscore, followed by any number of</a:t>
            </a:r>
            <a:endParaRPr b="0" lang="en-IN" sz="24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letters, digits or underscores.</a:t>
            </a:r>
            <a:endParaRPr b="0" lang="en-IN" sz="24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[0-9][0-9]*[A-Za-z]*[0-9][0-9]*</a:t>
            </a:r>
            <a:endParaRPr b="0" lang="en-IN" sz="24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Matches at least one digit, followed by any number of letters</a:t>
            </a:r>
            <a:endParaRPr b="0" lang="en-IN" sz="24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(including none), followed by another sequence of digits.</a:t>
            </a:r>
            <a:endParaRPr b="0" lang="en-IN" sz="24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\([0-9][0-9]*\)[A-Za-z]*\1</a:t>
            </a:r>
            <a:endParaRPr b="0" lang="en-IN" sz="24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Matches at least one digit, followed by any number of letters,</a:t>
            </a:r>
            <a:endParaRPr b="0" lang="en-IN" sz="24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followed by </a:t>
            </a:r>
            <a:r>
              <a:rPr b="0" i="1" lang="en-IN" sz="2400" strike="noStrike" u="none">
                <a:solidFill>
                  <a:srgbClr val="000000"/>
                </a:solidFill>
                <a:effectLst/>
                <a:uFillTx/>
                <a:latin typeface="Times New Roman"/>
                <a:ea typeface="Times New Roman"/>
              </a:rPr>
              <a:t>exactly the same sequence </a:t>
            </a:r>
            <a:r>
              <a:rPr b="0" lang="en-IN" sz="2400" strike="noStrike" u="none">
                <a:solidFill>
                  <a:srgbClr val="000000"/>
                </a:solidFill>
                <a:effectLst/>
                <a:uFillTx/>
                <a:latin typeface="Times New Roman"/>
                <a:ea typeface="Times New Roman"/>
              </a:rPr>
              <a:t>of digits.</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5" name=""/>
          <p:cNvSpPr txBox="1"/>
          <p:nvPr/>
        </p:nvSpPr>
        <p:spPr>
          <a:xfrm>
            <a:off x="4057560" y="279360"/>
            <a:ext cx="101592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grep</a:t>
            </a:r>
            <a:endParaRPr b="0" lang="en-IN" sz="3600" strike="noStrike" u="none">
              <a:solidFill>
                <a:srgbClr val="000000"/>
              </a:solidFill>
              <a:effectLst/>
              <a:uFillTx/>
              <a:latin typeface="Arial"/>
            </a:endParaRPr>
          </a:p>
        </p:txBody>
      </p:sp>
      <p:sp>
        <p:nvSpPr>
          <p:cNvPr id="186" name=""/>
          <p:cNvSpPr txBox="1"/>
          <p:nvPr/>
        </p:nvSpPr>
        <p:spPr>
          <a:xfrm>
            <a:off x="698400" y="1155600"/>
            <a:ext cx="7759800" cy="4765680"/>
          </a:xfrm>
          <a:prstGeom prst="rect">
            <a:avLst/>
          </a:prstGeom>
          <a:noFill/>
          <a:ln w="0">
            <a:noFill/>
          </a:ln>
        </p:spPr>
        <p:txBody>
          <a:bodyPr lIns="0" rIns="0" tIns="0" bIns="0" anchor="t">
            <a:spAutoFit/>
          </a:bodyPr>
          <a:p>
            <a:pPr>
              <a:lnSpc>
                <a:spcPct val="86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The </a:t>
            </a:r>
            <a:r>
              <a:rPr b="0" i="1" lang="en-IN" sz="2400" strike="noStrike" u="none">
                <a:solidFill>
                  <a:srgbClr val="000000"/>
                </a:solidFill>
                <a:effectLst/>
                <a:uFillTx/>
                <a:latin typeface="Times New Roman"/>
                <a:ea typeface="Times New Roman"/>
              </a:rPr>
              <a:t>grep</a:t>
            </a:r>
            <a:r>
              <a:rPr b="0" lang="en-IN" sz="2400" strike="noStrike" u="none">
                <a:solidFill>
                  <a:srgbClr val="000000"/>
                </a:solidFill>
                <a:effectLst/>
                <a:uFillTx/>
                <a:latin typeface="Times New Roman"/>
                <a:ea typeface="Times New Roman"/>
              </a:rPr>
              <a:t> command is used to search one or more files for lines matching a regular expression.  For a simple string, the command would be a follows.</a:t>
            </a:r>
            <a:endParaRPr b="0" lang="en-IN" sz="24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grep Galileo data.1 data.2 data.3</a:t>
            </a:r>
            <a:endParaRPr b="0" lang="en-IN" sz="24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Regular expressions that contain special characters must be quoted, so that the shell doesn't give the characters its own special meanings.</a:t>
            </a:r>
            <a:endParaRPr b="0" lang="en-IN" sz="24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a:t>
            </a:r>
            <a:r>
              <a:rPr b="0" i="1" lang="en-IN" sz="2400" strike="noStrike" u="none">
                <a:solidFill>
                  <a:srgbClr val="000000"/>
                </a:solidFill>
                <a:effectLst/>
                <a:uFillTx/>
                <a:latin typeface="Times New Roman"/>
                <a:ea typeface="Times New Roman"/>
              </a:rPr>
              <a:t> grep '[aeiou].*[^aeiou]' wordlist</a:t>
            </a:r>
            <a:endParaRPr b="0" lang="en-IN" sz="24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The name grep comes from the equivalent editor command, </a:t>
            </a:r>
            <a:r>
              <a:rPr b="0" i="1" lang="en-IN" sz="2400" strike="noStrike" u="none">
                <a:solidFill>
                  <a:srgbClr val="000000"/>
                </a:solidFill>
                <a:effectLst/>
                <a:uFillTx/>
                <a:latin typeface="Times New Roman"/>
                <a:ea typeface="Times New Roman"/>
              </a:rPr>
              <a:t>g/RE/p</a:t>
            </a:r>
            <a:r>
              <a:rPr b="0" lang="en-IN" sz="2400" strike="noStrike" u="none">
                <a:solidFill>
                  <a:srgbClr val="000000"/>
                </a:solidFill>
                <a:effectLst/>
                <a:uFillTx/>
                <a:latin typeface="Times New Roman"/>
                <a:ea typeface="Times New Roman"/>
              </a:rPr>
              <a:t>, which means to globally search for the given RE and print each matching line.</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7" name=""/>
          <p:cNvSpPr txBox="1"/>
          <p:nvPr/>
        </p:nvSpPr>
        <p:spPr>
          <a:xfrm>
            <a:off x="3956040" y="279360"/>
            <a:ext cx="121932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egrep</a:t>
            </a:r>
            <a:endParaRPr b="0" lang="en-IN" sz="3600" strike="noStrike" u="none">
              <a:solidFill>
                <a:srgbClr val="000000"/>
              </a:solidFill>
              <a:effectLst/>
              <a:uFillTx/>
              <a:latin typeface="Arial"/>
            </a:endParaRPr>
          </a:p>
        </p:txBody>
      </p:sp>
      <p:sp>
        <p:nvSpPr>
          <p:cNvPr id="188" name=""/>
          <p:cNvSpPr txBox="1"/>
          <p:nvPr/>
        </p:nvSpPr>
        <p:spPr>
          <a:xfrm>
            <a:off x="851040" y="1384200"/>
            <a:ext cx="7683480" cy="3543480"/>
          </a:xfrm>
          <a:prstGeom prst="rect">
            <a:avLst/>
          </a:prstGeom>
          <a:noFill/>
          <a:ln w="0">
            <a:noFill/>
          </a:ln>
        </p:spPr>
        <p:txBody>
          <a:bodyPr lIns="0" rIns="0" tIns="0" bIns="0" anchor="t">
            <a:spAutoFit/>
          </a:bodyPr>
          <a:p>
            <a:pPr>
              <a:lnSpc>
                <a:spcPct val="87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The </a:t>
            </a:r>
            <a:r>
              <a:rPr b="0" i="1" lang="en-IN" sz="2400" strike="noStrike" u="none">
                <a:solidFill>
                  <a:srgbClr val="000000"/>
                </a:solidFill>
                <a:effectLst/>
                <a:uFillTx/>
                <a:latin typeface="Times New Roman"/>
                <a:ea typeface="Times New Roman"/>
              </a:rPr>
              <a:t>egrep</a:t>
            </a:r>
            <a:r>
              <a:rPr b="0" lang="en-IN" sz="2400" strike="noStrike" u="none">
                <a:solidFill>
                  <a:srgbClr val="000000"/>
                </a:solidFill>
                <a:effectLst/>
                <a:uFillTx/>
                <a:latin typeface="Times New Roman"/>
                <a:ea typeface="Times New Roman"/>
              </a:rPr>
              <a:t> command supports extensions to the regular expression syntax.</a:t>
            </a:r>
            <a:endParaRPr b="0" lang="en-IN" sz="2400" strike="noStrike" u="none">
              <a:solidFill>
                <a:srgbClr val="000000"/>
              </a:solidFill>
              <a:effectLst/>
              <a:uFillTx/>
              <a:latin typeface="Arial"/>
            </a:endParaRPr>
          </a:p>
          <a:p>
            <a:pPr>
              <a:lnSpc>
                <a:spcPct val="87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7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re+</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 one or more repetitions</a:t>
            </a:r>
            <a:endParaRPr b="0" lang="en-IN" sz="2400" strike="noStrike" u="none">
              <a:solidFill>
                <a:srgbClr val="000000"/>
              </a:solidFill>
              <a:effectLst/>
              <a:uFillTx/>
              <a:latin typeface="Arial"/>
            </a:endParaRPr>
          </a:p>
          <a:p>
            <a:pPr>
              <a:lnSpc>
                <a:spcPct val="87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re?</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 zero or one repetitions</a:t>
            </a:r>
            <a:endParaRPr b="0" lang="en-IN" sz="2400" strike="noStrike" u="none">
              <a:solidFill>
                <a:srgbClr val="000000"/>
              </a:solidFill>
              <a:effectLst/>
              <a:uFillTx/>
              <a:latin typeface="Arial"/>
            </a:endParaRPr>
          </a:p>
          <a:p>
            <a:pPr marL="91440" indent="-91440">
              <a:lnSpc>
                <a:spcPct val="87000"/>
              </a:lnSpc>
              <a:buClr>
                <a:srgbClr val="000000"/>
              </a:buClr>
              <a:buFont typeface=""/>
              <a:buChar char="|"/>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       - alternation</a:t>
            </a:r>
            <a:endParaRPr b="0" lang="en-IN" sz="2400" strike="noStrike" u="none">
              <a:solidFill>
                <a:srgbClr val="000000"/>
              </a:solidFill>
              <a:effectLst/>
              <a:uFillTx/>
              <a:latin typeface="Arial"/>
            </a:endParaRPr>
          </a:p>
          <a:p>
            <a:pPr>
              <a:lnSpc>
                <a:spcPct val="87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7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The </a:t>
            </a:r>
            <a:r>
              <a:rPr b="0" i="1" lang="en-IN" sz="2400" strike="noStrike" u="none">
                <a:solidFill>
                  <a:srgbClr val="000000"/>
                </a:solidFill>
                <a:effectLst/>
                <a:uFillTx/>
                <a:latin typeface="Times New Roman"/>
                <a:ea typeface="Times New Roman"/>
              </a:rPr>
              <a:t>egrep</a:t>
            </a:r>
            <a:r>
              <a:rPr b="0" lang="en-IN" sz="2400" strike="noStrike" u="none">
                <a:solidFill>
                  <a:srgbClr val="000000"/>
                </a:solidFill>
                <a:effectLst/>
                <a:uFillTx/>
                <a:latin typeface="Times New Roman"/>
                <a:ea typeface="Times New Roman"/>
              </a:rPr>
              <a:t> command does  not allow back references via \n.  Parentheses may be used for grouping.</a:t>
            </a:r>
            <a:endParaRPr b="0" lang="en-IN" sz="2400" strike="noStrike" u="none">
              <a:solidFill>
                <a:srgbClr val="000000"/>
              </a:solidFill>
              <a:effectLst/>
              <a:uFillTx/>
              <a:latin typeface="Arial"/>
            </a:endParaRPr>
          </a:p>
          <a:p>
            <a:pPr>
              <a:lnSpc>
                <a:spcPct val="87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7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egrep 'Galileo|Viking' data.1 data.2</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9" name=""/>
          <p:cNvSpPr txBox="1"/>
          <p:nvPr/>
        </p:nvSpPr>
        <p:spPr>
          <a:xfrm>
            <a:off x="2692440" y="279360"/>
            <a:ext cx="375912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An egrep Example</a:t>
            </a:r>
            <a:endParaRPr b="0" lang="en-IN" sz="3600" strike="noStrike" u="none">
              <a:solidFill>
                <a:srgbClr val="000000"/>
              </a:solidFill>
              <a:effectLst/>
              <a:uFillTx/>
              <a:latin typeface="Arial"/>
            </a:endParaRPr>
          </a:p>
        </p:txBody>
      </p:sp>
      <p:sp>
        <p:nvSpPr>
          <p:cNvPr id="190" name=""/>
          <p:cNvSpPr txBox="1"/>
          <p:nvPr/>
        </p:nvSpPr>
        <p:spPr>
          <a:xfrm>
            <a:off x="469800" y="1384200"/>
            <a:ext cx="8140680" cy="3822840"/>
          </a:xfrm>
          <a:prstGeom prst="rect">
            <a:avLst/>
          </a:prstGeom>
          <a:noFill/>
          <a:ln w="0">
            <a:noFill/>
          </a:ln>
        </p:spPr>
        <p:txBody>
          <a:bodyPr lIns="0" rIns="0" tIns="0" bIns="0" anchor="t">
            <a:spAutoFit/>
          </a:bodyPr>
          <a:p>
            <a:pPr>
              <a:lnSpc>
                <a:spcPct val="86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To practice an extended pattern that contains a few of the </a:t>
            </a:r>
            <a:endParaRPr b="0" lang="en-IN" sz="24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pattern-matching characters +, ?, I, (, and ), enter:</a:t>
            </a:r>
            <a:endParaRPr b="0" lang="en-IN" sz="24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Lst>
            </a:pPr>
            <a:r>
              <a:rPr b="0" i="1" lang="en-IN" sz="2400" strike="noStrike" u="none">
                <a:solidFill>
                  <a:srgbClr val="fc0128"/>
                </a:solidFill>
                <a:effectLst/>
                <a:uFillTx/>
                <a:latin typeface="Times New Roman"/>
                <a:ea typeface="Times New Roman"/>
              </a:rPr>
              <a:t>egrep “\( *([a-xA-X]*I [0-9]*)” mygrepfile.txt</a:t>
            </a:r>
            <a:endParaRPr b="0" lang="en-IN" sz="24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This displays lines that contain letters in parentheses or digits</a:t>
            </a:r>
            <a:endParaRPr b="0" lang="en-IN" sz="24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in parentheses, but not parenthisized letter - digit combinations.  It matches t and 873902, but not beta18b.</a:t>
            </a:r>
            <a:endParaRPr b="0" lang="en-IN" sz="24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Note that the reverse slash matches parentheses but without it both parentheses are used as a part of an expression (opposite to grep).</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1" name=""/>
          <p:cNvSpPr txBox="1"/>
          <p:nvPr/>
        </p:nvSpPr>
        <p:spPr>
          <a:xfrm>
            <a:off x="4049640" y="279360"/>
            <a:ext cx="104148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Mail</a:t>
            </a:r>
            <a:endParaRPr b="0" lang="en-IN" sz="3600" strike="noStrike" u="none">
              <a:solidFill>
                <a:srgbClr val="000000"/>
              </a:solidFill>
              <a:effectLst/>
              <a:uFillTx/>
              <a:latin typeface="Arial"/>
            </a:endParaRPr>
          </a:p>
        </p:txBody>
      </p:sp>
      <p:sp>
        <p:nvSpPr>
          <p:cNvPr id="192" name=""/>
          <p:cNvSpPr txBox="1"/>
          <p:nvPr/>
        </p:nvSpPr>
        <p:spPr>
          <a:xfrm>
            <a:off x="546120" y="1460520"/>
            <a:ext cx="7988400" cy="4017960"/>
          </a:xfrm>
          <a:prstGeom prst="rect">
            <a:avLst/>
          </a:prstGeom>
          <a:noFill/>
          <a:ln w="0">
            <a:noFill/>
          </a:ln>
        </p:spPr>
        <p:txBody>
          <a:bodyPr lIns="0" rIns="0" tIns="0" bIns="0" anchor="t">
            <a:spAutoFit/>
          </a:bodyPr>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There are several popular mail reading programs available under </a:t>
            </a:r>
            <a:r>
              <a:rPr b="0" lang="en-IN" sz="2000" strike="noStrike" u="none">
                <a:solidFill>
                  <a:srgbClr val="000000"/>
                </a:solidFill>
                <a:effectLst/>
                <a:uFillTx/>
                <a:latin typeface="Times New Roman"/>
                <a:ea typeface="Times New Roman"/>
              </a:rPr>
              <a:t>UNIX</a:t>
            </a:r>
            <a:r>
              <a:rPr b="0" lang="en-IN" sz="2400" strike="noStrike" u="none">
                <a:solidFill>
                  <a:srgbClr val="000000"/>
                </a:solidFill>
                <a:effectLst/>
                <a:uFillTx/>
                <a:latin typeface="Times New Roman"/>
                <a:ea typeface="Times New Roman"/>
              </a:rPr>
              <a:t>.  The most broadly available program is the Berkeley</a:t>
            </a:r>
            <a:r>
              <a:rPr b="0" i="1" lang="en-IN" sz="2400" strike="noStrike" u="none">
                <a:solidFill>
                  <a:srgbClr val="000000"/>
                </a:solidFill>
                <a:effectLst/>
                <a:uFillTx/>
                <a:latin typeface="Times New Roman"/>
                <a:ea typeface="Times New Roman"/>
              </a:rPr>
              <a:t> mail </a:t>
            </a:r>
            <a:r>
              <a:rPr b="0" lang="en-IN" sz="2400" strike="noStrike" u="none">
                <a:solidFill>
                  <a:srgbClr val="000000"/>
                </a:solidFill>
                <a:effectLst/>
                <a:uFillTx/>
                <a:latin typeface="Times New Roman"/>
                <a:ea typeface="Times New Roman"/>
              </a:rPr>
              <a:t>program.  To read your mail, you simply run </a:t>
            </a:r>
            <a:r>
              <a:rPr b="0" i="1" lang="en-IN" sz="2400" strike="noStrike" u="none">
                <a:solidFill>
                  <a:srgbClr val="000000"/>
                </a:solidFill>
                <a:effectLst/>
                <a:uFillTx/>
                <a:latin typeface="Times New Roman"/>
                <a:ea typeface="Times New Roman"/>
              </a:rPr>
              <a:t>mail</a:t>
            </a:r>
            <a:r>
              <a:rPr b="0" lang="en-IN" sz="2400" strike="noStrike" u="none">
                <a:solidFill>
                  <a:srgbClr val="000000"/>
                </a:solidFill>
                <a:effectLst/>
                <a:uFillTx/>
                <a:latin typeface="Times New Roman"/>
                <a:ea typeface="Times New Roman"/>
              </a:rPr>
              <a:t> with no arguments (on some versions of System V, this is called Mail, or mailx).</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1800" strike="noStrike" u="none">
                <a:solidFill>
                  <a:srgbClr val="000000"/>
                </a:solidFill>
                <a:effectLst/>
                <a:uFillTx/>
                <a:latin typeface="Times New Roman"/>
                <a:ea typeface="Times New Roman"/>
              </a:rPr>
              <a:t>% </a:t>
            </a:r>
            <a:r>
              <a:rPr b="0" i="1" lang="en-IN" sz="1800" strike="noStrike" u="none">
                <a:solidFill>
                  <a:srgbClr val="000000"/>
                </a:solidFill>
                <a:effectLst/>
                <a:uFillTx/>
                <a:latin typeface="Times New Roman"/>
                <a:ea typeface="Times New Roman"/>
              </a:rPr>
              <a:t>mail</a:t>
            </a:r>
            <a:endParaRPr b="0" lang="en-IN" sz="18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1800" strike="noStrike" u="none">
                <a:solidFill>
                  <a:srgbClr val="000000"/>
                </a:solidFill>
                <a:effectLst/>
                <a:uFillTx/>
                <a:latin typeface="Times New Roman"/>
                <a:ea typeface="Times New Roman"/>
              </a:rPr>
              <a:t>Mail version SMI 4.0 Mon Apr 24 17:36:21 EDT 1989 Type ? for help</a:t>
            </a:r>
            <a:endParaRPr b="0" lang="en-IN" sz="18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1800" strike="noStrike" u="none">
                <a:solidFill>
                  <a:srgbClr val="000000"/>
                </a:solidFill>
                <a:effectLst/>
                <a:uFillTx/>
                <a:latin typeface="Times New Roman"/>
                <a:ea typeface="Times New Roman"/>
              </a:rPr>
              <a:t>"/usr/spool/mail/williams":3 messages</a:t>
            </a:r>
            <a:endParaRPr b="0" lang="en-IN" sz="18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endParaRPr b="0" lang="en-IN" sz="18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1800" strike="noStrike" u="none">
                <a:solidFill>
                  <a:srgbClr val="000000"/>
                </a:solidFill>
                <a:effectLst/>
                <a:uFillTx/>
                <a:latin typeface="Times New Roman"/>
                <a:ea typeface="Times New Roman"/>
              </a:rPr>
              <a:t>&gt;N  1 kirk       Fri Jul 14 12:01 21/455 Orders for wil</a:t>
            </a:r>
            <a:endParaRPr b="0" lang="en-IN" sz="18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1800" strike="noStrike" u="none">
                <a:solidFill>
                  <a:srgbClr val="000000"/>
                </a:solidFill>
                <a:effectLst/>
                <a:uFillTx/>
                <a:latin typeface="Times New Roman"/>
                <a:ea typeface="Times New Roman"/>
              </a:rPr>
              <a:t>N  2 spock      Sat Jul 15  8:45  4/78  With regard to </a:t>
            </a:r>
            <a:endParaRPr b="0" lang="en-IN" sz="18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1800" strike="noStrike" u="none">
                <a:solidFill>
                  <a:srgbClr val="000000"/>
                </a:solidFill>
                <a:effectLst/>
                <a:uFillTx/>
                <a:latin typeface="Times New Roman"/>
                <a:ea typeface="Times New Roman"/>
              </a:rPr>
              <a:t>N  3 scotty     Sat Jul 15 15:32 23/626 New engine spe</a:t>
            </a:r>
            <a:endParaRPr b="0" lang="en-IN" sz="18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endParaRPr b="0" lang="en-IN" sz="18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1800" strike="noStrike" u="none">
                <a:solidFill>
                  <a:srgbClr val="000000"/>
                </a:solidFill>
                <a:effectLst/>
                <a:uFillTx/>
                <a:latin typeface="Times New Roman"/>
                <a:ea typeface="Times New Roman"/>
              </a:rPr>
              <a:t>&amp;</a:t>
            </a:r>
            <a:endParaRPr b="0" lang="en-IN"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3" name=""/>
          <p:cNvSpPr txBox="1"/>
          <p:nvPr/>
        </p:nvSpPr>
        <p:spPr>
          <a:xfrm>
            <a:off x="3181320" y="279360"/>
            <a:ext cx="278136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Reading Mail</a:t>
            </a:r>
            <a:endParaRPr b="0" lang="en-IN" sz="3600" strike="noStrike" u="none">
              <a:solidFill>
                <a:srgbClr val="000000"/>
              </a:solidFill>
              <a:effectLst/>
              <a:uFillTx/>
              <a:latin typeface="Arial"/>
            </a:endParaRPr>
          </a:p>
        </p:txBody>
      </p:sp>
      <p:sp>
        <p:nvSpPr>
          <p:cNvPr id="194" name=""/>
          <p:cNvSpPr txBox="1"/>
          <p:nvPr/>
        </p:nvSpPr>
        <p:spPr>
          <a:xfrm>
            <a:off x="546120" y="1536840"/>
            <a:ext cx="8140680" cy="3898800"/>
          </a:xfrm>
          <a:prstGeom prst="rect">
            <a:avLst/>
          </a:prstGeom>
          <a:noFill/>
          <a:ln w="0">
            <a:noFill/>
          </a:ln>
        </p:spPr>
        <p:txBody>
          <a:bodyPr lIns="0" rIns="0" tIns="0" bIns="0" anchor="t">
            <a:spAutoFit/>
          </a:bodyPr>
          <a:p>
            <a:pPr marL="165240">
              <a:lnSpc>
                <a:spcPct val="88000"/>
              </a:lnSpc>
              <a:tabLst>
                <a:tab algn="l" pos="520560"/>
                <a:tab algn="l" pos="1206360"/>
                <a:tab algn="l" pos="1892160"/>
                <a:tab algn="l" pos="2577960"/>
                <a:tab algn="l" pos="3263760"/>
              </a:tabLst>
            </a:pPr>
            <a:r>
              <a:rPr b="0" lang="en-IN" sz="2400" strike="noStrike" u="none">
                <a:solidFill>
                  <a:srgbClr val="000000"/>
                </a:solidFill>
                <a:effectLst/>
                <a:uFillTx/>
                <a:latin typeface="Times New Roman"/>
                <a:ea typeface="Times New Roman"/>
              </a:rPr>
              <a:t>The following commands can be given at the mail prompt (&amp;).</a:t>
            </a:r>
            <a:endParaRPr b="0" lang="en-IN" sz="2400" strike="noStrike" u="none">
              <a:solidFill>
                <a:srgbClr val="000000"/>
              </a:solidFill>
              <a:effectLst/>
              <a:uFillTx/>
              <a:latin typeface="Arial"/>
            </a:endParaRPr>
          </a:p>
          <a:p>
            <a:pPr marL="165240">
              <a:lnSpc>
                <a:spcPct val="88000"/>
              </a:lnSpc>
              <a:tabLst>
                <a:tab algn="l" pos="520560"/>
                <a:tab algn="l" pos="1206360"/>
                <a:tab algn="l" pos="1892160"/>
                <a:tab algn="l" pos="2577960"/>
                <a:tab algn="l" pos="3263760"/>
              </a:tabLst>
            </a:pPr>
            <a:endParaRPr b="0" lang="en-IN" sz="2400" strike="noStrike" u="none">
              <a:solidFill>
                <a:srgbClr val="000000"/>
              </a:solidFill>
              <a:effectLst/>
              <a:uFillTx/>
              <a:latin typeface="Arial"/>
            </a:endParaRPr>
          </a:p>
          <a:p>
            <a:pPr marL="165240">
              <a:lnSpc>
                <a:spcPct val="88000"/>
              </a:lnSpc>
              <a:tabLst>
                <a:tab algn="l" pos="520560"/>
                <a:tab algn="l" pos="1206360"/>
                <a:tab algn="l" pos="1892160"/>
                <a:tab algn="l" pos="2577960"/>
                <a:tab algn="l" pos="3263760"/>
              </a:tabLst>
            </a:pPr>
            <a:r>
              <a:rPr b="0" lang="en-IN" sz="2400" strike="noStrike" u="none">
                <a:solidFill>
                  <a:srgbClr val="000000"/>
                </a:solidFill>
                <a:effectLst/>
                <a:uFillTx/>
                <a:latin typeface="Times New Roman"/>
                <a:ea typeface="Times New Roman"/>
              </a:rPr>
              <a:t># - read the message given by the number</a:t>
            </a:r>
            <a:endParaRPr b="0" lang="en-IN" sz="2400" strike="noStrike" u="none">
              <a:solidFill>
                <a:srgbClr val="000000"/>
              </a:solidFill>
              <a:effectLst/>
              <a:uFillTx/>
              <a:latin typeface="Arial"/>
            </a:endParaRPr>
          </a:p>
          <a:p>
            <a:pPr marL="165240">
              <a:lnSpc>
                <a:spcPct val="88000"/>
              </a:lnSpc>
              <a:tabLst>
                <a:tab algn="l" pos="520560"/>
                <a:tab algn="l" pos="1206360"/>
                <a:tab algn="l" pos="1892160"/>
                <a:tab algn="l" pos="2577960"/>
                <a:tab algn="l" pos="3263760"/>
              </a:tabLst>
            </a:pPr>
            <a:r>
              <a:rPr b="0" lang="en-IN" sz="2400" strike="noStrike" u="none">
                <a:solidFill>
                  <a:srgbClr val="000000"/>
                </a:solidFill>
                <a:effectLst/>
                <a:uFillTx/>
                <a:latin typeface="Times New Roman"/>
                <a:ea typeface="Times New Roman"/>
              </a:rPr>
              <a:t>d - delete one or more messages</a:t>
            </a:r>
            <a:endParaRPr b="0" lang="en-IN" sz="2400" strike="noStrike" u="none">
              <a:solidFill>
                <a:srgbClr val="000000"/>
              </a:solidFill>
              <a:effectLst/>
              <a:uFillTx/>
              <a:latin typeface="Arial"/>
            </a:endParaRPr>
          </a:p>
          <a:p>
            <a:pPr marL="165240">
              <a:lnSpc>
                <a:spcPct val="88000"/>
              </a:lnSpc>
              <a:tabLst>
                <a:tab algn="l" pos="520560"/>
                <a:tab algn="l" pos="1206360"/>
                <a:tab algn="l" pos="1892160"/>
                <a:tab algn="l" pos="2577960"/>
                <a:tab algn="l" pos="3263760"/>
              </a:tabLst>
            </a:pPr>
            <a:r>
              <a:rPr b="0" lang="en-IN" sz="2400" strike="noStrike" u="none">
                <a:solidFill>
                  <a:srgbClr val="000000"/>
                </a:solidFill>
                <a:effectLst/>
                <a:uFillTx/>
                <a:latin typeface="Times New Roman"/>
                <a:ea typeface="Times New Roman"/>
              </a:rPr>
              <a:t>r - reply to just the sender of a message</a:t>
            </a:r>
            <a:endParaRPr b="0" lang="en-IN" sz="2400" strike="noStrike" u="none">
              <a:solidFill>
                <a:srgbClr val="000000"/>
              </a:solidFill>
              <a:effectLst/>
              <a:uFillTx/>
              <a:latin typeface="Arial"/>
            </a:endParaRPr>
          </a:p>
          <a:p>
            <a:pPr marL="165240">
              <a:lnSpc>
                <a:spcPct val="88000"/>
              </a:lnSpc>
              <a:tabLst>
                <a:tab algn="l" pos="520560"/>
                <a:tab algn="l" pos="1206360"/>
                <a:tab algn="l" pos="1892160"/>
                <a:tab algn="l" pos="2577960"/>
                <a:tab algn="l" pos="3263760"/>
              </a:tabLst>
            </a:pPr>
            <a:r>
              <a:rPr b="0" lang="en-IN" sz="2400" strike="noStrike" u="none">
                <a:solidFill>
                  <a:srgbClr val="000000"/>
                </a:solidFill>
                <a:effectLst/>
                <a:uFillTx/>
                <a:latin typeface="Times New Roman"/>
                <a:ea typeface="Times New Roman"/>
              </a:rPr>
              <a:t>R - reply to all recipients of a message</a:t>
            </a:r>
            <a:endParaRPr b="0" lang="en-IN" sz="2400" strike="noStrike" u="none">
              <a:solidFill>
                <a:srgbClr val="000000"/>
              </a:solidFill>
              <a:effectLst/>
              <a:uFillTx/>
              <a:latin typeface="Arial"/>
            </a:endParaRPr>
          </a:p>
          <a:p>
            <a:pPr marL="165240">
              <a:lnSpc>
                <a:spcPct val="88000"/>
              </a:lnSpc>
              <a:tabLst>
                <a:tab algn="l" pos="520560"/>
                <a:tab algn="l" pos="1206360"/>
                <a:tab algn="l" pos="1892160"/>
                <a:tab algn="l" pos="2577960"/>
                <a:tab algn="l" pos="3263760"/>
              </a:tabLst>
            </a:pPr>
            <a:r>
              <a:rPr b="0" lang="en-IN" sz="2400" strike="noStrike" u="none">
                <a:solidFill>
                  <a:srgbClr val="000000"/>
                </a:solidFill>
                <a:effectLst/>
                <a:uFillTx/>
                <a:latin typeface="Times New Roman"/>
                <a:ea typeface="Times New Roman"/>
              </a:rPr>
              <a:t>m - send mail</a:t>
            </a:r>
            <a:endParaRPr b="0" lang="en-IN" sz="2400" strike="noStrike" u="none">
              <a:solidFill>
                <a:srgbClr val="000000"/>
              </a:solidFill>
              <a:effectLst/>
              <a:uFillTx/>
              <a:latin typeface="Arial"/>
            </a:endParaRPr>
          </a:p>
          <a:p>
            <a:pPr marL="165240">
              <a:lnSpc>
                <a:spcPct val="88000"/>
              </a:lnSpc>
              <a:tabLst>
                <a:tab algn="l" pos="520560"/>
                <a:tab algn="l" pos="1206360"/>
                <a:tab algn="l" pos="1892160"/>
                <a:tab algn="l" pos="2577960"/>
                <a:tab algn="l" pos="3263760"/>
              </a:tabLst>
            </a:pPr>
            <a:r>
              <a:rPr b="0" lang="en-IN" sz="2400" strike="noStrike" u="none">
                <a:solidFill>
                  <a:srgbClr val="000000"/>
                </a:solidFill>
                <a:effectLst/>
                <a:uFillTx/>
                <a:latin typeface="Times New Roman"/>
                <a:ea typeface="Times New Roman"/>
              </a:rPr>
              <a:t>s - save a message in a file</a:t>
            </a:r>
            <a:endParaRPr b="0" lang="en-IN" sz="2400" strike="noStrike" u="none">
              <a:solidFill>
                <a:srgbClr val="000000"/>
              </a:solidFill>
              <a:effectLst/>
              <a:uFillTx/>
              <a:latin typeface="Arial"/>
            </a:endParaRPr>
          </a:p>
          <a:p>
            <a:pPr marL="165240">
              <a:lnSpc>
                <a:spcPct val="88000"/>
              </a:lnSpc>
              <a:tabLst>
                <a:tab algn="l" pos="520560"/>
                <a:tab algn="l" pos="1206360"/>
                <a:tab algn="l" pos="1892160"/>
                <a:tab algn="l" pos="2577960"/>
                <a:tab algn="l" pos="3263760"/>
              </a:tabLst>
            </a:pPr>
            <a:r>
              <a:rPr b="0" lang="en-IN" sz="2400" strike="noStrike" u="none">
                <a:solidFill>
                  <a:srgbClr val="000000"/>
                </a:solidFill>
                <a:effectLst/>
                <a:uFillTx/>
                <a:latin typeface="Times New Roman"/>
                <a:ea typeface="Times New Roman"/>
              </a:rPr>
              <a:t>c - copy a message to a file</a:t>
            </a:r>
            <a:endParaRPr b="0" lang="en-IN" sz="2400" strike="noStrike" u="none">
              <a:solidFill>
                <a:srgbClr val="000000"/>
              </a:solidFill>
              <a:effectLst/>
              <a:uFillTx/>
              <a:latin typeface="Arial"/>
            </a:endParaRPr>
          </a:p>
          <a:p>
            <a:pPr marL="165240">
              <a:lnSpc>
                <a:spcPct val="88000"/>
              </a:lnSpc>
              <a:tabLst>
                <a:tab algn="l" pos="520560"/>
                <a:tab algn="l" pos="1206360"/>
                <a:tab algn="l" pos="1892160"/>
                <a:tab algn="l" pos="2577960"/>
                <a:tab algn="l" pos="3263760"/>
              </a:tabLst>
            </a:pPr>
            <a:r>
              <a:rPr b="0" lang="en-IN" sz="2400" strike="noStrike" u="none">
                <a:solidFill>
                  <a:srgbClr val="000000"/>
                </a:solidFill>
                <a:effectLst/>
                <a:uFillTx/>
                <a:latin typeface="Times New Roman"/>
                <a:ea typeface="Times New Roman"/>
              </a:rPr>
              <a:t>q - quit from mail, with unread mail staying in your system mailbox and undeleted mail going to the file mbox</a:t>
            </a:r>
            <a:endParaRPr b="0" lang="en-IN" sz="2400" strike="noStrike" u="none">
              <a:solidFill>
                <a:srgbClr val="000000"/>
              </a:solidFill>
              <a:effectLst/>
              <a:uFillTx/>
              <a:latin typeface="Arial"/>
            </a:endParaRPr>
          </a:p>
          <a:p>
            <a:pPr marL="165240">
              <a:lnSpc>
                <a:spcPct val="88000"/>
              </a:lnSpc>
              <a:tabLst>
                <a:tab algn="l" pos="520560"/>
                <a:tab algn="l" pos="1206360"/>
                <a:tab algn="l" pos="1892160"/>
                <a:tab algn="l" pos="2577960"/>
                <a:tab algn="l" pos="3263760"/>
              </a:tabLst>
            </a:pPr>
            <a:r>
              <a:rPr b="0" lang="en-IN" sz="2400" strike="noStrike" u="none">
                <a:solidFill>
                  <a:srgbClr val="000000"/>
                </a:solidFill>
                <a:effectLst/>
                <a:uFillTx/>
                <a:latin typeface="Times New Roman"/>
                <a:ea typeface="Times New Roman"/>
              </a:rPr>
              <a:t>x - exit from mail as though you had done nothing</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5" name=""/>
          <p:cNvSpPr txBox="1"/>
          <p:nvPr/>
        </p:nvSpPr>
        <p:spPr>
          <a:xfrm>
            <a:off x="3200400" y="279360"/>
            <a:ext cx="273060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Sending Mail</a:t>
            </a:r>
            <a:endParaRPr b="0" lang="en-IN" sz="3600" strike="noStrike" u="none">
              <a:solidFill>
                <a:srgbClr val="000000"/>
              </a:solidFill>
              <a:effectLst/>
              <a:uFillTx/>
              <a:latin typeface="Arial"/>
            </a:endParaRPr>
          </a:p>
        </p:txBody>
      </p:sp>
      <p:sp>
        <p:nvSpPr>
          <p:cNvPr id="196" name=""/>
          <p:cNvSpPr txBox="1"/>
          <p:nvPr/>
        </p:nvSpPr>
        <p:spPr>
          <a:xfrm>
            <a:off x="622440" y="1231920"/>
            <a:ext cx="7835760" cy="4281480"/>
          </a:xfrm>
          <a:prstGeom prst="rect">
            <a:avLst/>
          </a:prstGeom>
          <a:noFill/>
          <a:ln w="0">
            <a:noFill/>
          </a:ln>
        </p:spPr>
        <p:txBody>
          <a:bodyPr lIns="0" rIns="0" tIns="0" bIns="0" anchor="t">
            <a:spAutoFit/>
          </a:bodyPr>
          <a:p>
            <a:pPr>
              <a:lnSpc>
                <a:spcPct val="89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To send mail, run the </a:t>
            </a:r>
            <a:r>
              <a:rPr b="0" i="1" lang="en-IN" sz="2400" strike="noStrike" u="none">
                <a:solidFill>
                  <a:srgbClr val="000000"/>
                </a:solidFill>
                <a:effectLst/>
                <a:uFillTx/>
                <a:latin typeface="Times New Roman"/>
                <a:ea typeface="Times New Roman"/>
              </a:rPr>
              <a:t>mail</a:t>
            </a:r>
            <a:r>
              <a:rPr b="0" lang="en-IN" sz="2400" strike="noStrike" u="none">
                <a:solidFill>
                  <a:srgbClr val="000000"/>
                </a:solidFill>
                <a:effectLst/>
                <a:uFillTx/>
                <a:latin typeface="Times New Roman"/>
                <a:ea typeface="Times New Roman"/>
              </a:rPr>
              <a:t> command with the name of the recipients as arguments.</a:t>
            </a:r>
            <a:endParaRPr b="0" lang="en-IN" sz="2400" strike="noStrike" u="none">
              <a:solidFill>
                <a:srgbClr val="000000"/>
              </a:solidFill>
              <a:effectLst/>
              <a:uFillTx/>
              <a:latin typeface="Arial"/>
            </a:endParaRPr>
          </a:p>
          <a:p>
            <a:pPr>
              <a:lnSpc>
                <a:spcPct val="89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9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mail kirk spock</a:t>
            </a:r>
            <a:endParaRPr b="0" lang="en-IN" sz="2400" strike="noStrike" u="none">
              <a:solidFill>
                <a:srgbClr val="000000"/>
              </a:solidFill>
              <a:effectLst/>
              <a:uFillTx/>
              <a:latin typeface="Arial"/>
            </a:endParaRPr>
          </a:p>
          <a:p>
            <a:pPr>
              <a:lnSpc>
                <a:spcPct val="89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Subject:</a:t>
            </a:r>
            <a:r>
              <a:rPr b="0" i="1" lang="en-IN" sz="2400" strike="noStrike" u="none">
                <a:solidFill>
                  <a:srgbClr val="000000"/>
                </a:solidFill>
                <a:effectLst/>
                <a:uFillTx/>
                <a:latin typeface="Times New Roman"/>
                <a:ea typeface="Times New Roman"/>
              </a:rPr>
              <a:t> Request for leave</a:t>
            </a:r>
            <a:endParaRPr b="0" lang="en-IN" sz="2400" strike="noStrike" u="none">
              <a:solidFill>
                <a:srgbClr val="000000"/>
              </a:solidFill>
              <a:effectLst/>
              <a:uFillTx/>
              <a:latin typeface="Arial"/>
            </a:endParaRPr>
          </a:p>
          <a:p>
            <a:pPr>
              <a:lnSpc>
                <a:spcPct val="89000"/>
              </a:lnSpc>
              <a:tabLst>
                <a:tab algn="l" pos="685800"/>
                <a:tab algn="l" pos="1371600"/>
                <a:tab algn="l" pos="2057400"/>
                <a:tab algn="l" pos="2743200"/>
                <a:tab algn="l" pos="3429000"/>
              </a:tabLst>
            </a:pPr>
            <a:r>
              <a:rPr b="0" i="1" lang="en-IN" sz="2400" strike="noStrike" u="none">
                <a:solidFill>
                  <a:srgbClr val="000000"/>
                </a:solidFill>
                <a:effectLst/>
                <a:uFillTx/>
                <a:latin typeface="Times New Roman"/>
                <a:ea typeface="Times New Roman"/>
              </a:rPr>
              <a:t>I would like to request shore leave the next time the Enterprise reaches a class M planet or a starbase.</a:t>
            </a:r>
            <a:endParaRPr b="0" lang="en-IN" sz="2400" strike="noStrike" u="none">
              <a:solidFill>
                <a:srgbClr val="000000"/>
              </a:solidFill>
              <a:effectLst/>
              <a:uFillTx/>
              <a:latin typeface="Arial"/>
            </a:endParaRPr>
          </a:p>
          <a:p>
            <a:pPr>
              <a:lnSpc>
                <a:spcPct val="89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9000"/>
              </a:lnSpc>
              <a:tabLst>
                <a:tab algn="l" pos="685800"/>
                <a:tab algn="l" pos="1371600"/>
                <a:tab algn="l" pos="2057400"/>
                <a:tab algn="l" pos="2743200"/>
                <a:tab algn="l" pos="3429000"/>
              </a:tabLst>
            </a:pPr>
            <a:r>
              <a:rPr b="0" i="1" lang="en-IN" sz="2400" strike="noStrike" u="none">
                <a:solidFill>
                  <a:srgbClr val="000000"/>
                </a:solidFill>
                <a:effectLst/>
                <a:uFillTx/>
                <a:latin typeface="Times New Roman"/>
                <a:ea typeface="Times New Roman"/>
              </a:rPr>
              <a:t>Thanks,</a:t>
            </a:r>
            <a:endParaRPr b="0" lang="en-IN" sz="2400" strike="noStrike" u="none">
              <a:solidFill>
                <a:srgbClr val="000000"/>
              </a:solidFill>
              <a:effectLst/>
              <a:uFillTx/>
              <a:latin typeface="Arial"/>
            </a:endParaRPr>
          </a:p>
          <a:p>
            <a:pPr>
              <a:lnSpc>
                <a:spcPct val="89000"/>
              </a:lnSpc>
              <a:tabLst>
                <a:tab algn="l" pos="685800"/>
                <a:tab algn="l" pos="1371600"/>
                <a:tab algn="l" pos="2057400"/>
                <a:tab algn="l" pos="2743200"/>
                <a:tab algn="l" pos="3429000"/>
              </a:tabLst>
            </a:pPr>
            <a:r>
              <a:rPr b="0" i="1" lang="en-IN" sz="2400" strike="noStrike" u="none">
                <a:solidFill>
                  <a:srgbClr val="000000"/>
                </a:solidFill>
                <a:effectLst/>
                <a:uFillTx/>
                <a:latin typeface="Times New Roman"/>
                <a:ea typeface="Times New Roman"/>
              </a:rPr>
              <a:t>Lt. Cmdr. Williams</a:t>
            </a:r>
            <a:endParaRPr b="0" lang="en-IN" sz="2400" strike="noStrike" u="none">
              <a:solidFill>
                <a:srgbClr val="000000"/>
              </a:solidFill>
              <a:effectLst/>
              <a:uFillTx/>
              <a:latin typeface="Arial"/>
            </a:endParaRPr>
          </a:p>
          <a:p>
            <a:pPr>
              <a:lnSpc>
                <a:spcPct val="89000"/>
              </a:lnSpc>
              <a:tabLst>
                <a:tab algn="l" pos="685800"/>
                <a:tab algn="l" pos="1371600"/>
                <a:tab algn="l" pos="2057400"/>
                <a:tab algn="l" pos="2743200"/>
                <a:tab algn="l" pos="3429000"/>
              </a:tabLst>
            </a:pPr>
            <a:r>
              <a:rPr b="0" i="1" lang="en-IN" sz="2400" strike="noStrike" u="none">
                <a:solidFill>
                  <a:srgbClr val="000000"/>
                </a:solidFill>
                <a:effectLst/>
                <a:uFillTx/>
                <a:latin typeface="Times New Roman"/>
                <a:ea typeface="Times New Roman"/>
              </a:rPr>
              <a:t>^D</a:t>
            </a:r>
            <a:endParaRPr b="0" lang="en-IN" sz="2400" strike="noStrike" u="none">
              <a:solidFill>
                <a:srgbClr val="000000"/>
              </a:solidFill>
              <a:effectLst/>
              <a:uFillTx/>
              <a:latin typeface="Arial"/>
            </a:endParaRPr>
          </a:p>
          <a:p>
            <a:pPr>
              <a:lnSpc>
                <a:spcPct val="89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cc:</a:t>
            </a:r>
            <a:r>
              <a:rPr b="0" i="1" lang="en-IN" sz="2400" strike="noStrike" u="none">
                <a:solidFill>
                  <a:srgbClr val="000000"/>
                </a:solidFill>
                <a:effectLst/>
                <a:uFillTx/>
                <a:latin typeface="Times New Roman"/>
                <a:ea typeface="Times New Roman"/>
              </a:rPr>
              <a:t> scotty</a:t>
            </a:r>
            <a:endParaRPr b="0" lang="en-IN" sz="2400" strike="noStrike" u="none">
              <a:solidFill>
                <a:srgbClr val="000000"/>
              </a:solidFill>
              <a:effectLst/>
              <a:uFillTx/>
              <a:latin typeface="Arial"/>
            </a:endParaRPr>
          </a:p>
          <a:p>
            <a:pPr>
              <a:lnSpc>
                <a:spcPct val="89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7" name=""/>
          <p:cNvSpPr txBox="1"/>
          <p:nvPr/>
        </p:nvSpPr>
        <p:spPr>
          <a:xfrm>
            <a:off x="3198960" y="279360"/>
            <a:ext cx="273060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Sending Mail</a:t>
            </a:r>
            <a:endParaRPr b="0" lang="en-IN" sz="3600" strike="noStrike" u="none">
              <a:solidFill>
                <a:srgbClr val="000000"/>
              </a:solidFill>
              <a:effectLst/>
              <a:uFillTx/>
              <a:latin typeface="Arial"/>
            </a:endParaRPr>
          </a:p>
        </p:txBody>
      </p:sp>
      <p:sp>
        <p:nvSpPr>
          <p:cNvPr id="198" name=""/>
          <p:cNvSpPr txBox="1"/>
          <p:nvPr/>
        </p:nvSpPr>
        <p:spPr>
          <a:xfrm>
            <a:off x="622440" y="1994040"/>
            <a:ext cx="7988400" cy="2616120"/>
          </a:xfrm>
          <a:prstGeom prst="rect">
            <a:avLst/>
          </a:prstGeom>
          <a:noFill/>
          <a:ln w="0">
            <a:noFill/>
          </a:ln>
        </p:spPr>
        <p:txBody>
          <a:bodyPr lIns="0" rIns="0" tIns="0" bIns="0" anchor="t">
            <a:spAutoFit/>
          </a:bodyPr>
          <a:p>
            <a:pPr>
              <a:lnSpc>
                <a:spcPct val="88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When sending mail, several </a:t>
            </a:r>
            <a:r>
              <a:rPr b="0" i="1" lang="en-IN" sz="2400" strike="noStrike" u="none">
                <a:solidFill>
                  <a:srgbClr val="000000"/>
                </a:solidFill>
                <a:effectLst/>
                <a:uFillTx/>
                <a:latin typeface="Times New Roman"/>
                <a:ea typeface="Times New Roman"/>
              </a:rPr>
              <a:t>tilde escapes </a:t>
            </a:r>
            <a:r>
              <a:rPr b="0" lang="en-IN" sz="2400" strike="noStrike" u="none">
                <a:solidFill>
                  <a:srgbClr val="000000"/>
                </a:solidFill>
                <a:effectLst/>
                <a:uFillTx/>
                <a:latin typeface="Times New Roman"/>
                <a:ea typeface="Times New Roman"/>
              </a:rPr>
              <a:t>are available for special purposes.</a:t>
            </a: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~m # - include the given message number in the reply</a:t>
            </a: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~r filename - read the named file into the message</a:t>
            </a: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~v - invoke the editor given in $VISUAL on the message</a:t>
            </a: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~p - print out the message as entered so far</a:t>
            </a: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~h - print out the message headers and allow corrections</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9" name=""/>
          <p:cNvSpPr txBox="1"/>
          <p:nvPr/>
        </p:nvSpPr>
        <p:spPr>
          <a:xfrm>
            <a:off x="3067200" y="279360"/>
            <a:ext cx="2984400" cy="106056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Foreground vs</a:t>
            </a:r>
            <a:br>
              <a:rPr sz="3600"/>
            </a:br>
            <a:r>
              <a:rPr b="1" lang="en-IN" sz="3600" strike="noStrike" u="none">
                <a:solidFill>
                  <a:srgbClr val="000000"/>
                </a:solidFill>
                <a:effectLst/>
                <a:uFillTx/>
                <a:latin typeface="Times New Roman"/>
                <a:ea typeface="Times New Roman"/>
              </a:rPr>
              <a:t>Background</a:t>
            </a:r>
            <a:endParaRPr b="0" lang="en-IN" sz="3600" strike="noStrike" u="none">
              <a:solidFill>
                <a:srgbClr val="000000"/>
              </a:solidFill>
              <a:effectLst/>
              <a:uFillTx/>
              <a:latin typeface="Arial"/>
            </a:endParaRPr>
          </a:p>
        </p:txBody>
      </p:sp>
      <p:sp>
        <p:nvSpPr>
          <p:cNvPr id="200" name=""/>
          <p:cNvSpPr txBox="1"/>
          <p:nvPr/>
        </p:nvSpPr>
        <p:spPr>
          <a:xfrm>
            <a:off x="546120" y="1689120"/>
            <a:ext cx="8140680" cy="4718160"/>
          </a:xfrm>
          <a:prstGeom prst="rect">
            <a:avLst/>
          </a:prstGeom>
          <a:noFill/>
          <a:ln w="0">
            <a:noFill/>
          </a:ln>
        </p:spPr>
        <p:txBody>
          <a:bodyPr lIns="0" rIns="0" tIns="0" bIns="0" anchor="t">
            <a:spAutoFit/>
          </a:bodyPr>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Normally, </a:t>
            </a:r>
            <a:r>
              <a:rPr b="0" lang="en-IN" sz="2000" strike="noStrike" u="none">
                <a:solidFill>
                  <a:srgbClr val="000000"/>
                </a:solidFill>
                <a:effectLst/>
                <a:uFillTx/>
                <a:latin typeface="Times New Roman"/>
                <a:ea typeface="Times New Roman"/>
              </a:rPr>
              <a:t>UNIX </a:t>
            </a:r>
            <a:r>
              <a:rPr b="0" lang="en-IN" sz="2400" strike="noStrike" u="none">
                <a:solidFill>
                  <a:srgbClr val="000000"/>
                </a:solidFill>
                <a:effectLst/>
                <a:uFillTx/>
                <a:latin typeface="Times New Roman"/>
                <a:ea typeface="Times New Roman"/>
              </a:rPr>
              <a:t>programs are run in the foreground, which means that the user must wait for one command to finish before entering another.  If you wish to run a command that will take a long time,  you can put the command in the background, which allows you to get on with other work.</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sort -o output very_long_file</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edit report</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To put a command in background, end it with an &amp;. The </a:t>
            </a:r>
            <a:r>
              <a:rPr b="0" i="1" lang="en-IN" sz="2400" strike="noStrike" u="none">
                <a:solidFill>
                  <a:srgbClr val="000000"/>
                </a:solidFill>
                <a:effectLst/>
                <a:uFillTx/>
                <a:latin typeface="Times New Roman"/>
                <a:ea typeface="Times New Roman"/>
              </a:rPr>
              <a:t>process ID</a:t>
            </a:r>
            <a:r>
              <a:rPr b="0" lang="en-IN" sz="2400" strike="noStrike" u="none">
                <a:solidFill>
                  <a:srgbClr val="000000"/>
                </a:solidFill>
                <a:effectLst/>
                <a:uFillTx/>
                <a:latin typeface="Times New Roman"/>
                <a:ea typeface="Times New Roman"/>
              </a:rPr>
              <a:t> of the command will be printed.</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a:t>
            </a:r>
            <a:r>
              <a:rPr b="0" i="1" lang="en-IN" sz="2400" strike="noStrike" u="none">
                <a:solidFill>
                  <a:srgbClr val="000000"/>
                </a:solidFill>
                <a:effectLst/>
                <a:uFillTx/>
                <a:latin typeface="Times New Roman"/>
                <a:ea typeface="Times New Roman"/>
              </a:rPr>
              <a:t> sort -o output very_long_file &amp;</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10324</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a:t>
            </a:r>
            <a:r>
              <a:rPr b="0" i="1" lang="en-IN" sz="2400" strike="noStrike" u="none">
                <a:solidFill>
                  <a:srgbClr val="000000"/>
                </a:solidFill>
                <a:effectLst/>
                <a:uFillTx/>
                <a:latin typeface="Times New Roman"/>
                <a:ea typeface="Times New Roman"/>
              </a:rPr>
              <a:t> edit report</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1" name=""/>
          <p:cNvSpPr txBox="1"/>
          <p:nvPr/>
        </p:nvSpPr>
        <p:spPr>
          <a:xfrm>
            <a:off x="3575160" y="279360"/>
            <a:ext cx="197964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Processes</a:t>
            </a:r>
            <a:endParaRPr b="0" lang="en-IN" sz="3600" strike="noStrike" u="none">
              <a:solidFill>
                <a:srgbClr val="000000"/>
              </a:solidFill>
              <a:effectLst/>
              <a:uFillTx/>
              <a:latin typeface="Arial"/>
            </a:endParaRPr>
          </a:p>
        </p:txBody>
      </p:sp>
      <p:sp>
        <p:nvSpPr>
          <p:cNvPr id="202" name=""/>
          <p:cNvSpPr txBox="1"/>
          <p:nvPr/>
        </p:nvSpPr>
        <p:spPr>
          <a:xfrm>
            <a:off x="774720" y="1460520"/>
            <a:ext cx="7759800" cy="3473280"/>
          </a:xfrm>
          <a:prstGeom prst="rect">
            <a:avLst/>
          </a:prstGeom>
          <a:noFill/>
          <a:ln w="0">
            <a:noFill/>
          </a:ln>
        </p:spPr>
        <p:txBody>
          <a:bodyPr lIns="0" rIns="0" tIns="0" bIns="0" anchor="t">
            <a:spAutoFit/>
          </a:bodyPr>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To see what processes you have running use the </a:t>
            </a:r>
            <a:r>
              <a:rPr b="0" i="1" lang="en-IN" sz="2400" strike="noStrike" u="none">
                <a:solidFill>
                  <a:srgbClr val="000000"/>
                </a:solidFill>
                <a:effectLst/>
                <a:uFillTx/>
                <a:latin typeface="Times New Roman"/>
                <a:ea typeface="Times New Roman"/>
              </a:rPr>
              <a:t>ps</a:t>
            </a:r>
            <a:r>
              <a:rPr b="0" lang="en-IN" sz="2400" strike="noStrike" u="none">
                <a:solidFill>
                  <a:srgbClr val="000000"/>
                </a:solidFill>
                <a:effectLst/>
                <a:uFillTx/>
                <a:latin typeface="Times New Roman"/>
                <a:ea typeface="Times New Roman"/>
              </a:rPr>
              <a:t> command.</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sort -o output very_long_file &amp;</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6542</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ps</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 PID TT STAT   TIME COMMAND</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6542 p0 R      0:00 sort very_long_file</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6543 p0 R      0:00 ps</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i="1" lang="en-IN" sz="2400" strike="noStrike" u="none">
                <a:solidFill>
                  <a:srgbClr val="000000"/>
                </a:solidFill>
                <a:effectLst/>
                <a:uFillTx/>
                <a:latin typeface="Times New Roman"/>
                <a:ea typeface="Times New Roman"/>
              </a:rPr>
              <a:t>ps</a:t>
            </a:r>
            <a:r>
              <a:rPr b="0" lang="en-IN" sz="2400" strike="noStrike" u="none">
                <a:solidFill>
                  <a:srgbClr val="000000"/>
                </a:solidFill>
                <a:effectLst/>
                <a:uFillTx/>
                <a:latin typeface="Times New Roman"/>
                <a:ea typeface="Times New Roman"/>
              </a:rPr>
              <a:t> has many options, which vary from system to system.  Consult your local man page for details.</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3" name=""/>
          <p:cNvSpPr txBox="1"/>
          <p:nvPr/>
        </p:nvSpPr>
        <p:spPr>
          <a:xfrm>
            <a:off x="4184640" y="279360"/>
            <a:ext cx="76212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kill</a:t>
            </a:r>
            <a:endParaRPr b="0" lang="en-IN" sz="3600" strike="noStrike" u="none">
              <a:solidFill>
                <a:srgbClr val="000000"/>
              </a:solidFill>
              <a:effectLst/>
              <a:uFillTx/>
              <a:latin typeface="Arial"/>
            </a:endParaRPr>
          </a:p>
        </p:txBody>
      </p:sp>
      <p:sp>
        <p:nvSpPr>
          <p:cNvPr id="204" name=""/>
          <p:cNvSpPr txBox="1"/>
          <p:nvPr/>
        </p:nvSpPr>
        <p:spPr>
          <a:xfrm>
            <a:off x="927000" y="1308240"/>
            <a:ext cx="7454880" cy="4765680"/>
          </a:xfrm>
          <a:prstGeom prst="rect">
            <a:avLst/>
          </a:prstGeom>
          <a:noFill/>
          <a:ln w="0">
            <a:noFill/>
          </a:ln>
        </p:spPr>
        <p:txBody>
          <a:bodyPr lIns="0" rIns="0" tIns="0" bIns="0" anchor="t">
            <a:spAutoFit/>
          </a:bodyPr>
          <a:p>
            <a:pPr>
              <a:lnSpc>
                <a:spcPct val="86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Sometimes it is necessary to terminate a process that is hung, or running amok, or otherwise has become undesirable.  The </a:t>
            </a:r>
            <a:r>
              <a:rPr b="0" i="1" lang="en-IN" sz="2400" strike="noStrike" u="none">
                <a:solidFill>
                  <a:srgbClr val="000000"/>
                </a:solidFill>
                <a:effectLst/>
                <a:uFillTx/>
                <a:latin typeface="Times New Roman"/>
                <a:ea typeface="Times New Roman"/>
              </a:rPr>
              <a:t>kill</a:t>
            </a:r>
            <a:r>
              <a:rPr b="0" lang="en-IN" sz="2400" strike="noStrike" u="none">
                <a:solidFill>
                  <a:srgbClr val="000000"/>
                </a:solidFill>
                <a:effectLst/>
                <a:uFillTx/>
                <a:latin typeface="Times New Roman"/>
                <a:ea typeface="Times New Roman"/>
              </a:rPr>
              <a:t> command is provided for this.  </a:t>
            </a:r>
            <a:endParaRPr b="0" lang="en-IN" sz="24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kill 1283</a:t>
            </a:r>
            <a:endParaRPr b="0" lang="en-IN" sz="24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The above command will send the </a:t>
            </a:r>
            <a:r>
              <a:rPr b="0" i="1" lang="en-IN" sz="2400" strike="noStrike" u="none">
                <a:solidFill>
                  <a:srgbClr val="000000"/>
                </a:solidFill>
                <a:effectLst/>
                <a:uFillTx/>
                <a:latin typeface="Times New Roman"/>
                <a:ea typeface="Times New Roman"/>
              </a:rPr>
              <a:t>KILL signal </a:t>
            </a:r>
            <a:r>
              <a:rPr b="0" lang="en-IN" sz="2400" strike="noStrike" u="none">
                <a:solidFill>
                  <a:srgbClr val="000000"/>
                </a:solidFill>
                <a:effectLst/>
                <a:uFillTx/>
                <a:latin typeface="Times New Roman"/>
                <a:ea typeface="Times New Roman"/>
              </a:rPr>
              <a:t>to process 1283.  Other signals</a:t>
            </a:r>
            <a:r>
              <a:rPr b="0" i="1"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are possible.  They</a:t>
            </a:r>
            <a:endParaRPr b="0" lang="en-IN" sz="24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are given as options to </a:t>
            </a:r>
            <a:r>
              <a:rPr b="0" i="1" lang="en-IN" sz="2400" strike="noStrike" u="none">
                <a:solidFill>
                  <a:srgbClr val="000000"/>
                </a:solidFill>
                <a:effectLst/>
                <a:uFillTx/>
                <a:latin typeface="Times New Roman"/>
                <a:ea typeface="Times New Roman"/>
              </a:rPr>
              <a:t>kill</a:t>
            </a:r>
            <a:r>
              <a:rPr b="0" lang="en-IN" sz="2400" strike="noStrike" u="none">
                <a:solidFill>
                  <a:srgbClr val="000000"/>
                </a:solidFill>
                <a:effectLst/>
                <a:uFillTx/>
                <a:latin typeface="Times New Roman"/>
                <a:ea typeface="Times New Roman"/>
              </a:rPr>
              <a:t>.</a:t>
            </a:r>
            <a:endParaRPr b="0" lang="en-IN" sz="24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kill -TERM 1283</a:t>
            </a:r>
            <a:endParaRPr b="0" lang="en-IN" sz="24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6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The  TERM signal allows the application to clean up before quitting.  The default KILL signal halts an application without notice.</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5" name=""/>
          <p:cNvSpPr txBox="1"/>
          <p:nvPr/>
        </p:nvSpPr>
        <p:spPr>
          <a:xfrm>
            <a:off x="3325680" y="279360"/>
            <a:ext cx="2476440" cy="660240"/>
          </a:xfrm>
          <a:prstGeom prst="rect">
            <a:avLst/>
          </a:prstGeom>
          <a:noFill/>
          <a:ln w="0">
            <a:noFill/>
          </a:ln>
        </p:spPr>
        <p:txBody>
          <a:bodyPr lIns="0" rIns="0" tIns="0" bIns="0" anchor="t">
            <a:spAutoFit/>
          </a:bodyPr>
          <a:p>
            <a:pPr algn="ctr">
              <a:lnSpc>
                <a:spcPct val="111000"/>
              </a:lnSpc>
            </a:pPr>
            <a:r>
              <a:rPr b="1" lang="en-IN" sz="3600" strike="noStrike" u="none">
                <a:solidFill>
                  <a:srgbClr val="000000"/>
                </a:solidFill>
                <a:effectLst/>
                <a:uFillTx/>
                <a:latin typeface="Times New Roman"/>
                <a:ea typeface="Times New Roman"/>
              </a:rPr>
              <a:t>Job Control</a:t>
            </a:r>
            <a:endParaRPr b="0" lang="en-IN" sz="3600" strike="noStrike" u="none">
              <a:solidFill>
                <a:srgbClr val="000000"/>
              </a:solidFill>
              <a:effectLst/>
              <a:uFillTx/>
              <a:latin typeface="Arial"/>
            </a:endParaRPr>
          </a:p>
        </p:txBody>
      </p:sp>
      <p:sp>
        <p:nvSpPr>
          <p:cNvPr id="206" name=""/>
          <p:cNvSpPr txBox="1"/>
          <p:nvPr/>
        </p:nvSpPr>
        <p:spPr>
          <a:xfrm>
            <a:off x="851040" y="1384200"/>
            <a:ext cx="7607160" cy="4219560"/>
          </a:xfrm>
          <a:prstGeom prst="rect">
            <a:avLst/>
          </a:prstGeom>
          <a:noFill/>
          <a:ln w="0">
            <a:noFill/>
          </a:ln>
        </p:spPr>
        <p:txBody>
          <a:bodyPr lIns="0" rIns="0" tIns="0" bIns="0" anchor="t">
            <a:spAutoFit/>
          </a:bodyPr>
          <a:p>
            <a:pPr>
              <a:lnSpc>
                <a:spcPct val="88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Under traditional </a:t>
            </a:r>
            <a:r>
              <a:rPr b="0" lang="en-IN" sz="2000" strike="noStrike" u="none">
                <a:solidFill>
                  <a:srgbClr val="000000"/>
                </a:solidFill>
                <a:effectLst/>
                <a:uFillTx/>
                <a:latin typeface="Times New Roman"/>
                <a:ea typeface="Times New Roman"/>
              </a:rPr>
              <a:t>UNIX</a:t>
            </a:r>
            <a:r>
              <a:rPr b="0" lang="en-IN" sz="2400" strike="noStrike" u="none">
                <a:solidFill>
                  <a:srgbClr val="000000"/>
                </a:solidFill>
                <a:effectLst/>
                <a:uFillTx/>
                <a:latin typeface="Times New Roman"/>
                <a:ea typeface="Times New Roman"/>
              </a:rPr>
              <a:t>, once a command has been started in foreground or background, that's where it stays until completion.  Berkeley </a:t>
            </a:r>
            <a:r>
              <a:rPr b="0" lang="en-IN" sz="2000" strike="noStrike" u="none">
                <a:solidFill>
                  <a:srgbClr val="000000"/>
                </a:solidFill>
                <a:effectLst/>
                <a:uFillTx/>
                <a:latin typeface="Times New Roman"/>
                <a:ea typeface="Times New Roman"/>
              </a:rPr>
              <a:t>UNIX </a:t>
            </a:r>
            <a:r>
              <a:rPr b="0" lang="en-IN" sz="2400" strike="noStrike" u="none">
                <a:solidFill>
                  <a:srgbClr val="000000"/>
                </a:solidFill>
                <a:effectLst/>
                <a:uFillTx/>
                <a:latin typeface="Times New Roman"/>
                <a:ea typeface="Times New Roman"/>
              </a:rPr>
              <a:t>introduced the notion of job control, which allows processes to be moved from foreground to background while they are running.  Job control is available in the Berkeley C shell and the Korn shell.</a:t>
            </a: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8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A job that is currently running in foreground can be </a:t>
            </a:r>
            <a:r>
              <a:rPr b="0" i="1" lang="en-IN" sz="2400" strike="noStrike" u="none">
                <a:solidFill>
                  <a:srgbClr val="000000"/>
                </a:solidFill>
                <a:effectLst/>
                <a:uFillTx/>
                <a:latin typeface="Times New Roman"/>
                <a:ea typeface="Times New Roman"/>
              </a:rPr>
              <a:t>stopped</a:t>
            </a:r>
            <a:r>
              <a:rPr b="0" lang="en-IN" sz="2400" strike="noStrike" u="none">
                <a:solidFill>
                  <a:srgbClr val="000000"/>
                </a:solidFill>
                <a:effectLst/>
                <a:uFillTx/>
                <a:latin typeface="Times New Roman"/>
                <a:ea typeface="Times New Roman"/>
              </a:rPr>
              <a:t>  by typing ^Z.  Once a job is stopped, it can be restarted in either the foreground or background with the </a:t>
            </a:r>
            <a:r>
              <a:rPr b="0" i="1" lang="en-IN" sz="2400" strike="noStrike" u="none">
                <a:solidFill>
                  <a:srgbClr val="000000"/>
                </a:solidFill>
                <a:effectLst/>
                <a:uFillTx/>
                <a:latin typeface="Times New Roman"/>
                <a:ea typeface="Times New Roman"/>
              </a:rPr>
              <a:t>fg</a:t>
            </a:r>
            <a:r>
              <a:rPr b="0" lang="en-IN" sz="2400" strike="noStrike" u="none">
                <a:solidFill>
                  <a:srgbClr val="000000"/>
                </a:solidFill>
                <a:effectLst/>
                <a:uFillTx/>
                <a:latin typeface="Times New Roman"/>
                <a:ea typeface="Times New Roman"/>
              </a:rPr>
              <a:t> or </a:t>
            </a:r>
            <a:r>
              <a:rPr b="0" i="1" lang="en-IN" sz="2400" strike="noStrike" u="none">
                <a:solidFill>
                  <a:srgbClr val="000000"/>
                </a:solidFill>
                <a:effectLst/>
                <a:uFillTx/>
                <a:latin typeface="Times New Roman"/>
                <a:ea typeface="Times New Roman"/>
              </a:rPr>
              <a:t>bg</a:t>
            </a:r>
            <a:r>
              <a:rPr b="0" lang="en-IN" sz="2400" strike="noStrike" u="none">
                <a:solidFill>
                  <a:srgbClr val="000000"/>
                </a:solidFill>
                <a:effectLst/>
                <a:uFillTx/>
                <a:latin typeface="Times New Roman"/>
                <a:ea typeface="Times New Roman"/>
              </a:rPr>
              <a:t> commands, respectively.  The </a:t>
            </a:r>
            <a:r>
              <a:rPr b="0" i="1" lang="en-IN" sz="2400" strike="noStrike" u="none">
                <a:solidFill>
                  <a:srgbClr val="000000"/>
                </a:solidFill>
                <a:effectLst/>
                <a:uFillTx/>
                <a:latin typeface="Times New Roman"/>
                <a:ea typeface="Times New Roman"/>
              </a:rPr>
              <a:t>jobs</a:t>
            </a:r>
            <a:r>
              <a:rPr b="0" lang="en-IN" sz="2400" strike="noStrike" u="none">
                <a:solidFill>
                  <a:srgbClr val="000000"/>
                </a:solidFill>
                <a:effectLst/>
                <a:uFillTx/>
                <a:latin typeface="Times New Roman"/>
                <a:ea typeface="Times New Roman"/>
              </a:rPr>
              <a:t> command displays the status of all current processes.</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7" name=""/>
          <p:cNvSpPr txBox="1"/>
          <p:nvPr/>
        </p:nvSpPr>
        <p:spPr>
          <a:xfrm>
            <a:off x="2335320" y="279360"/>
            <a:ext cx="4317840" cy="660240"/>
          </a:xfrm>
          <a:prstGeom prst="rect">
            <a:avLst/>
          </a:prstGeom>
          <a:noFill/>
          <a:ln w="0">
            <a:noFill/>
          </a:ln>
        </p:spPr>
        <p:txBody>
          <a:bodyPr lIns="0" rIns="0" tIns="0" bIns="0" anchor="t">
            <a:spAutoFit/>
          </a:bodyPr>
          <a:p>
            <a:pPr algn="ctr">
              <a:lnSpc>
                <a:spcPct val="111000"/>
              </a:lnSpc>
            </a:pPr>
            <a:r>
              <a:rPr b="1" lang="en-IN" sz="3600" strike="noStrike" u="none">
                <a:solidFill>
                  <a:srgbClr val="000000"/>
                </a:solidFill>
                <a:effectLst/>
                <a:uFillTx/>
                <a:latin typeface="Times New Roman"/>
                <a:ea typeface="Times New Roman"/>
              </a:rPr>
              <a:t>Job Control Example</a:t>
            </a:r>
            <a:endParaRPr b="0" lang="en-IN" sz="3600" strike="noStrike" u="none">
              <a:solidFill>
                <a:srgbClr val="000000"/>
              </a:solidFill>
              <a:effectLst/>
              <a:uFillTx/>
              <a:latin typeface="Arial"/>
            </a:endParaRPr>
          </a:p>
        </p:txBody>
      </p:sp>
      <p:sp>
        <p:nvSpPr>
          <p:cNvPr id="208" name=""/>
          <p:cNvSpPr txBox="1"/>
          <p:nvPr/>
        </p:nvSpPr>
        <p:spPr>
          <a:xfrm>
            <a:off x="469800" y="1155600"/>
            <a:ext cx="8292960" cy="5029200"/>
          </a:xfrm>
          <a:prstGeom prst="rect">
            <a:avLst/>
          </a:prstGeom>
          <a:noFill/>
          <a:ln w="0">
            <a:noFill/>
          </a:ln>
        </p:spPr>
        <p:txBody>
          <a:bodyPr lIns="0" rIns="0" tIns="0" bIns="0" anchor="t">
            <a:spAutoFit/>
          </a:bodyPr>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sort bigfile.1 &gt; sorted.1 &amp;</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i="1" lang="en-IN" sz="2400" strike="noStrike" u="none">
                <a:solidFill>
                  <a:srgbClr val="000000"/>
                </a:solidFill>
                <a:effectLst/>
                <a:uFillTx/>
                <a:latin typeface="Times New Roman"/>
                <a:ea typeface="Times New Roman"/>
              </a:rPr>
              <a:t>[1] 18828</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a:t>
            </a:r>
            <a:r>
              <a:rPr b="0" i="1" lang="en-IN" sz="2400" strike="noStrike" u="none">
                <a:solidFill>
                  <a:srgbClr val="000000"/>
                </a:solidFill>
                <a:effectLst/>
                <a:uFillTx/>
                <a:latin typeface="Times New Roman"/>
                <a:ea typeface="Times New Roman"/>
              </a:rPr>
              <a:t> sort bigfile.2 &gt; sorted.2</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i="1" lang="en-IN" sz="2400" strike="noStrike" u="none">
                <a:solidFill>
                  <a:srgbClr val="000000"/>
                </a:solidFill>
                <a:effectLst/>
                <a:uFillTx/>
                <a:latin typeface="Times New Roman"/>
                <a:ea typeface="Times New Roman"/>
              </a:rPr>
              <a:t>^Z</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a:t>
            </a:r>
            <a:r>
              <a:rPr b="0" i="1" lang="en-IN" sz="2400" strike="noStrike" u="none">
                <a:solidFill>
                  <a:srgbClr val="000000"/>
                </a:solidFill>
                <a:effectLst/>
                <a:uFillTx/>
                <a:latin typeface="Times New Roman"/>
                <a:ea typeface="Times New Roman"/>
              </a:rPr>
              <a:t> jobs</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[2]   + Stopped sort bigfile.2 &gt; sorted.2</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[1]   - Running sort bigfile.1 &gt; sorted.1</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bg</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[2]   sort -o bigfile.2 &gt; sorted.2</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jobs</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[1]     Running sort bigfile.2 &gt; sorted.2</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[2]   + Running sort bigfile.1 &gt; sorted.1</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fg %1</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sort bigfile.1 &gt; sorted.1</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kill %2</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[2]   Terminated   sort bigfile.2 &gt; sorted.2</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9" name=""/>
          <p:cNvSpPr txBox="1"/>
          <p:nvPr/>
        </p:nvSpPr>
        <p:spPr>
          <a:xfrm>
            <a:off x="3276720" y="279360"/>
            <a:ext cx="257796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Shell Scripts</a:t>
            </a:r>
            <a:endParaRPr b="0" lang="en-IN" sz="3600" strike="noStrike" u="none">
              <a:solidFill>
                <a:srgbClr val="000000"/>
              </a:solidFill>
              <a:effectLst/>
              <a:uFillTx/>
              <a:latin typeface="Arial"/>
            </a:endParaRPr>
          </a:p>
        </p:txBody>
      </p:sp>
      <p:sp>
        <p:nvSpPr>
          <p:cNvPr id="210" name=""/>
          <p:cNvSpPr txBox="1"/>
          <p:nvPr/>
        </p:nvSpPr>
        <p:spPr>
          <a:xfrm>
            <a:off x="698400" y="2057400"/>
            <a:ext cx="7759800" cy="2295360"/>
          </a:xfrm>
          <a:prstGeom prst="rect">
            <a:avLst/>
          </a:prstGeom>
          <a:noFill/>
          <a:ln w="0">
            <a:noFill/>
          </a:ln>
        </p:spPr>
        <p:txBody>
          <a:bodyPr lIns="0" rIns="0" tIns="0" bIns="0" anchor="t">
            <a:spAutoFit/>
          </a:bodyPr>
          <a:p>
            <a:pPr>
              <a:lnSpc>
                <a:spcPct val="88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The </a:t>
            </a:r>
            <a:r>
              <a:rPr b="0" lang="en-IN" sz="2000" strike="noStrike" u="none">
                <a:solidFill>
                  <a:srgbClr val="000000"/>
                </a:solidFill>
                <a:effectLst/>
                <a:uFillTx/>
                <a:latin typeface="Times New Roman"/>
                <a:ea typeface="Times New Roman"/>
              </a:rPr>
              <a:t>UNIX </a:t>
            </a:r>
            <a:r>
              <a:rPr b="0" lang="en-IN" sz="2400" strike="noStrike" u="none">
                <a:solidFill>
                  <a:srgbClr val="000000"/>
                </a:solidFill>
                <a:effectLst/>
                <a:uFillTx/>
                <a:latin typeface="Times New Roman"/>
                <a:ea typeface="Times New Roman"/>
              </a:rPr>
              <a:t>shells all allow for the creation and execution of </a:t>
            </a:r>
            <a:r>
              <a:rPr b="0" i="1" lang="en-IN" sz="2400" strike="noStrike" u="none">
                <a:solidFill>
                  <a:srgbClr val="000000"/>
                </a:solidFill>
                <a:effectLst/>
                <a:uFillTx/>
                <a:latin typeface="Times New Roman"/>
                <a:ea typeface="Times New Roman"/>
              </a:rPr>
              <a:t>shell scripts</a:t>
            </a:r>
            <a:r>
              <a:rPr b="0" lang="en-IN" sz="2400" strike="noStrike" u="none">
                <a:solidFill>
                  <a:srgbClr val="000000"/>
                </a:solidFill>
                <a:effectLst/>
                <a:uFillTx/>
                <a:latin typeface="Times New Roman"/>
                <a:ea typeface="Times New Roman"/>
              </a:rPr>
              <a:t>, which are simply files that contain lists of commands for the shell to run.  Unlike </a:t>
            </a:r>
            <a:r>
              <a:rPr b="0" i="1" lang="en-IN" sz="2400" strike="noStrike" u="none">
                <a:solidFill>
                  <a:srgbClr val="000000"/>
                </a:solidFill>
                <a:effectLst/>
                <a:uFillTx/>
                <a:latin typeface="Times New Roman"/>
                <a:ea typeface="Times New Roman"/>
              </a:rPr>
              <a:t>.BAT </a:t>
            </a:r>
            <a:r>
              <a:rPr b="0" lang="en-IN" sz="2400" strike="noStrike" u="none">
                <a:solidFill>
                  <a:srgbClr val="000000"/>
                </a:solidFill>
                <a:effectLst/>
                <a:uFillTx/>
                <a:latin typeface="Times New Roman"/>
                <a:ea typeface="Times New Roman"/>
              </a:rPr>
              <a:t>files  under DOS, or </a:t>
            </a:r>
            <a:r>
              <a:rPr b="0" i="1" lang="en-IN" sz="2400" strike="noStrike" u="none">
                <a:solidFill>
                  <a:srgbClr val="000000"/>
                </a:solidFill>
                <a:effectLst/>
                <a:uFillTx/>
                <a:latin typeface="Times New Roman"/>
                <a:ea typeface="Times New Roman"/>
              </a:rPr>
              <a:t>.COM </a:t>
            </a:r>
            <a:r>
              <a:rPr b="0" lang="en-IN" sz="2400" strike="noStrike" u="none">
                <a:solidFill>
                  <a:srgbClr val="000000"/>
                </a:solidFill>
                <a:effectLst/>
                <a:uFillTx/>
                <a:latin typeface="Times New Roman"/>
                <a:ea typeface="Times New Roman"/>
              </a:rPr>
              <a:t>files under VMS, there is no special extension required on </a:t>
            </a:r>
            <a:r>
              <a:rPr b="0" lang="en-IN" sz="2000" strike="noStrike" u="none">
                <a:solidFill>
                  <a:srgbClr val="000000"/>
                </a:solidFill>
                <a:effectLst/>
                <a:uFillTx/>
                <a:latin typeface="Times New Roman"/>
                <a:ea typeface="Times New Roman"/>
              </a:rPr>
              <a:t>UNIX </a:t>
            </a:r>
            <a:r>
              <a:rPr b="0" lang="en-IN" sz="2400" strike="noStrike" u="none">
                <a:solidFill>
                  <a:srgbClr val="000000"/>
                </a:solidFill>
                <a:effectLst/>
                <a:uFillTx/>
                <a:latin typeface="Times New Roman"/>
                <a:ea typeface="Times New Roman"/>
              </a:rPr>
              <a:t>shell script files.  It is, however, necessary to set the execute permission bit on a shell script file, or the shell will not execute the script.</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1" name=""/>
          <p:cNvSpPr txBox="1"/>
          <p:nvPr/>
        </p:nvSpPr>
        <p:spPr>
          <a:xfrm>
            <a:off x="2584440" y="279360"/>
            <a:ext cx="396252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Sample Shell Script</a:t>
            </a:r>
            <a:endParaRPr b="0" lang="en-IN" sz="3600" strike="noStrike" u="none">
              <a:solidFill>
                <a:srgbClr val="000000"/>
              </a:solidFill>
              <a:effectLst/>
              <a:uFillTx/>
              <a:latin typeface="Arial"/>
            </a:endParaRPr>
          </a:p>
        </p:txBody>
      </p:sp>
      <p:sp>
        <p:nvSpPr>
          <p:cNvPr id="212" name=""/>
          <p:cNvSpPr txBox="1"/>
          <p:nvPr/>
        </p:nvSpPr>
        <p:spPr>
          <a:xfrm>
            <a:off x="622440" y="1003320"/>
            <a:ext cx="7912080" cy="4718160"/>
          </a:xfrm>
          <a:prstGeom prst="rect">
            <a:avLst/>
          </a:prstGeom>
          <a:noFill/>
          <a:ln w="0">
            <a:noFill/>
          </a:ln>
        </p:spPr>
        <p:txBody>
          <a:bodyPr lIns="0" rIns="0" tIns="0" bIns="0" anchor="t">
            <a:spAutoFit/>
          </a:bodyPr>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All shell scripts should start with the characters #!, followed by the name of the shell for which the script was written.  Since the different shells have different syntaxes, this prevents errors caused when the wrong shell tries to execute a given script.</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#!/bin/sh</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 This is a korn shell script.</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 A pound sign (#) begins a comment, which</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 extends to the end of the line.</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echo -n "Today is "</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date</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echo "The users currently logged in are:"</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users</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3" name=""/>
          <p:cNvSpPr txBox="1"/>
          <p:nvPr/>
        </p:nvSpPr>
        <p:spPr>
          <a:xfrm>
            <a:off x="2216160" y="279360"/>
            <a:ext cx="471168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Control Flow in Scripts</a:t>
            </a:r>
            <a:endParaRPr b="0" lang="en-IN" sz="3600" strike="noStrike" u="none">
              <a:solidFill>
                <a:srgbClr val="000000"/>
              </a:solidFill>
              <a:effectLst/>
              <a:uFillTx/>
              <a:latin typeface="Arial"/>
            </a:endParaRPr>
          </a:p>
        </p:txBody>
      </p:sp>
      <p:sp>
        <p:nvSpPr>
          <p:cNvPr id="214" name=""/>
          <p:cNvSpPr txBox="1"/>
          <p:nvPr/>
        </p:nvSpPr>
        <p:spPr>
          <a:xfrm>
            <a:off x="774720" y="1231920"/>
            <a:ext cx="7683480" cy="5029200"/>
          </a:xfrm>
          <a:prstGeom prst="rect">
            <a:avLst/>
          </a:prstGeom>
          <a:noFill/>
          <a:ln w="0">
            <a:noFill/>
          </a:ln>
        </p:spPr>
        <p:txBody>
          <a:bodyPr lIns="0" rIns="0" tIns="0" bIns="0" anchor="t">
            <a:spAutoFit/>
          </a:bodyPr>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Shell scripts often make use of control flow statements such as those found in high level languages.</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#!/bin/sh</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 This script removes .o files that are</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 older than the corresponding .c file.</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for cf in *.c</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do</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of=${cf%.c}.o</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if [ -e $of -a $of -ot $cf ]</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then</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echo "Removing " $of</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rm $of</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fi</a:t>
            </a:r>
            <a:endParaRPr b="0" lang="en-IN" sz="2400" strike="noStrike" u="none">
              <a:solidFill>
                <a:srgbClr val="000000"/>
              </a:solidFill>
              <a:effectLst/>
              <a:uFillTx/>
              <a:latin typeface="Arial"/>
            </a:endParaRPr>
          </a:p>
          <a:p>
            <a:pPr>
              <a:lnSpc>
                <a:spcPct val="85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done</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5" name=""/>
          <p:cNvSpPr txBox="1"/>
          <p:nvPr/>
        </p:nvSpPr>
        <p:spPr>
          <a:xfrm>
            <a:off x="3371760" y="279360"/>
            <a:ext cx="238608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Parameters</a:t>
            </a:r>
            <a:endParaRPr b="0" lang="en-IN" sz="3600" strike="noStrike" u="none">
              <a:solidFill>
                <a:srgbClr val="000000"/>
              </a:solidFill>
              <a:effectLst/>
              <a:uFillTx/>
              <a:latin typeface="Arial"/>
            </a:endParaRPr>
          </a:p>
        </p:txBody>
      </p:sp>
      <p:sp>
        <p:nvSpPr>
          <p:cNvPr id="216" name=""/>
          <p:cNvSpPr txBox="1"/>
          <p:nvPr/>
        </p:nvSpPr>
        <p:spPr>
          <a:xfrm>
            <a:off x="698400" y="1612800"/>
            <a:ext cx="7912080" cy="2936880"/>
          </a:xfrm>
          <a:prstGeom prst="rect">
            <a:avLst/>
          </a:prstGeom>
          <a:noFill/>
          <a:ln w="0">
            <a:noFill/>
          </a:ln>
        </p:spPr>
        <p:txBody>
          <a:bodyPr lIns="0" rIns="0" tIns="0" bIns="0" anchor="t">
            <a:spAutoFit/>
          </a:bodyPr>
          <a:p>
            <a:pPr>
              <a:lnSpc>
                <a:spcPct val="88000"/>
              </a:lnSpc>
              <a:tabLst>
                <a:tab algn="l" pos="685800"/>
                <a:tab algn="l" pos="1371600"/>
                <a:tab algn="l" pos="2057400"/>
                <a:tab algn="l" pos="2743200"/>
                <a:tab algn="l" pos="3429000"/>
              </a:tabLst>
            </a:pPr>
            <a:r>
              <a:rPr b="0" lang="en-IN" sz="2400" strike="noStrike" u="none">
                <a:solidFill>
                  <a:srgbClr val="000000"/>
                </a:solidFill>
                <a:effectLst/>
                <a:uFillTx/>
                <a:latin typeface="Times New Roman"/>
                <a:ea typeface="Times New Roman"/>
              </a:rPr>
              <a:t>Shell scripts can take arguments and options just like programs.  These are called the </a:t>
            </a:r>
            <a:r>
              <a:rPr b="0" i="1" lang="en-IN" sz="2400" strike="noStrike" u="none">
                <a:solidFill>
                  <a:srgbClr val="000000"/>
                </a:solidFill>
                <a:effectLst/>
                <a:uFillTx/>
                <a:latin typeface="Times New Roman"/>
                <a:ea typeface="Times New Roman"/>
              </a:rPr>
              <a:t>positional parameters </a:t>
            </a:r>
            <a:r>
              <a:rPr b="0" lang="en-IN" sz="2400" strike="noStrike" u="none">
                <a:solidFill>
                  <a:srgbClr val="000000"/>
                </a:solidFill>
                <a:effectLst/>
                <a:uFillTx/>
                <a:latin typeface="Times New Roman"/>
                <a:ea typeface="Times New Roman"/>
              </a:rPr>
              <a:t>and  are refered to in the script by the variable names $1 through $9.  The number of positional parameters passed to a script is given by $#.  Parameter $0 is the name of the script.  The first argument is in $1. Under the Bourne shell, parameters beyond $9 must be accessed via the </a:t>
            </a:r>
            <a:r>
              <a:rPr b="0" i="1" lang="en-IN" sz="2400" strike="noStrike" u="none">
                <a:solidFill>
                  <a:srgbClr val="000000"/>
                </a:solidFill>
                <a:effectLst/>
                <a:uFillTx/>
                <a:latin typeface="Times New Roman"/>
                <a:ea typeface="Times New Roman"/>
              </a:rPr>
              <a:t>shift</a:t>
            </a:r>
            <a:r>
              <a:rPr b="0" lang="en-IN" sz="2400" strike="noStrike" u="none">
                <a:solidFill>
                  <a:srgbClr val="000000"/>
                </a:solidFill>
                <a:effectLst/>
                <a:uFillTx/>
                <a:latin typeface="Times New Roman"/>
                <a:ea typeface="Times New Roman"/>
              </a:rPr>
              <a:t> command, which shifts arguments left by one, starting with $1.  Under the Korn shell, arguments beyond $9 require braces, for example, ${16}. </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7" name=""/>
          <p:cNvSpPr txBox="1"/>
          <p:nvPr/>
        </p:nvSpPr>
        <p:spPr>
          <a:xfrm>
            <a:off x="996840" y="685800"/>
            <a:ext cx="715644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Important Directories</a:t>
            </a:r>
            <a:endParaRPr b="0" lang="en-IN" sz="3600" strike="noStrike" u="none">
              <a:solidFill>
                <a:srgbClr val="000000"/>
              </a:solidFill>
              <a:effectLst/>
              <a:uFillTx/>
              <a:latin typeface="Arial"/>
            </a:endParaRPr>
          </a:p>
        </p:txBody>
      </p:sp>
      <p:sp>
        <p:nvSpPr>
          <p:cNvPr id="218" name=""/>
          <p:cNvSpPr txBox="1"/>
          <p:nvPr/>
        </p:nvSpPr>
        <p:spPr>
          <a:xfrm>
            <a:off x="990720" y="1981080"/>
            <a:ext cx="7162920" cy="4539600"/>
          </a:xfrm>
          <a:prstGeom prst="rect">
            <a:avLst/>
          </a:prstGeom>
          <a:noFill/>
          <a:ln w="0">
            <a:noFill/>
          </a:ln>
        </p:spPr>
        <p:txBody>
          <a:bodyPr lIns="0" rIns="0" tIns="0" bIns="0" anchor="t">
            <a:spAutoFit/>
          </a:bodyPr>
          <a:p>
            <a:pPr marL="285840" indent="-285840">
              <a:lnSpc>
                <a:spcPct val="90000"/>
              </a:lnSpc>
              <a:spcBef>
                <a:spcPts val="720"/>
              </a:spcBef>
            </a:pPr>
            <a:r>
              <a:rPr b="0" lang="en-IN" sz="1200" strike="noStrike" u="none">
                <a:solidFill>
                  <a:srgbClr val="000000"/>
                </a:solidFill>
                <a:effectLst/>
                <a:uFillTx/>
                <a:latin typeface="Times New Roman"/>
                <a:ea typeface="Times New Roman"/>
              </a:rPr>
              <a:t>/</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root of the file system</a:t>
            </a:r>
            <a:endParaRPr b="0" lang="en-IN" sz="1200" strike="noStrike" u="none">
              <a:solidFill>
                <a:srgbClr val="000000"/>
              </a:solidFill>
              <a:effectLst/>
              <a:uFillTx/>
              <a:latin typeface="Arial"/>
            </a:endParaRPr>
          </a:p>
          <a:p>
            <a:pPr marL="285840" indent="-285840">
              <a:lnSpc>
                <a:spcPct val="90000"/>
              </a:lnSpc>
              <a:spcBef>
                <a:spcPts val="720"/>
              </a:spcBef>
            </a:pPr>
            <a:r>
              <a:rPr b="0" lang="en-IN" sz="1200" strike="noStrike" u="none">
                <a:solidFill>
                  <a:srgbClr val="000000"/>
                </a:solidFill>
                <a:effectLst/>
                <a:uFillTx/>
                <a:latin typeface="Times New Roman"/>
                <a:ea typeface="Times New Roman"/>
              </a:rPr>
              <a:t>/bin</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essential programs in executable form</a:t>
            </a:r>
            <a:endParaRPr b="0" lang="en-IN" sz="1200" strike="noStrike" u="none">
              <a:solidFill>
                <a:srgbClr val="000000"/>
              </a:solidFill>
              <a:effectLst/>
              <a:uFillTx/>
              <a:latin typeface="Arial"/>
            </a:endParaRPr>
          </a:p>
          <a:p>
            <a:pPr marL="285840" indent="-285840">
              <a:lnSpc>
                <a:spcPct val="90000"/>
              </a:lnSpc>
              <a:spcBef>
                <a:spcPts val="720"/>
              </a:spcBef>
            </a:pPr>
            <a:r>
              <a:rPr b="0" lang="en-IN" sz="1200" strike="noStrike" u="none">
                <a:solidFill>
                  <a:srgbClr val="000000"/>
                </a:solidFill>
                <a:effectLst/>
                <a:uFillTx/>
                <a:latin typeface="Times New Roman"/>
                <a:ea typeface="Times New Roman"/>
              </a:rPr>
              <a:t>/dev</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device files</a:t>
            </a:r>
            <a:endParaRPr b="0" lang="en-IN" sz="1200" strike="noStrike" u="none">
              <a:solidFill>
                <a:srgbClr val="000000"/>
              </a:solidFill>
              <a:effectLst/>
              <a:uFillTx/>
              <a:latin typeface="Arial"/>
            </a:endParaRPr>
          </a:p>
          <a:p>
            <a:pPr marL="285840" indent="-285840">
              <a:lnSpc>
                <a:spcPct val="90000"/>
              </a:lnSpc>
              <a:spcBef>
                <a:spcPts val="720"/>
              </a:spcBef>
            </a:pPr>
            <a:r>
              <a:rPr b="0" lang="en-IN" sz="1200" strike="noStrike" u="none">
                <a:solidFill>
                  <a:srgbClr val="000000"/>
                </a:solidFill>
                <a:effectLst/>
                <a:uFillTx/>
                <a:latin typeface="Times New Roman"/>
                <a:ea typeface="Times New Roman"/>
              </a:rPr>
              <a:t>/etc</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essential and miscellaneous system configuration files</a:t>
            </a:r>
            <a:endParaRPr b="0" lang="en-IN" sz="1200" strike="noStrike" u="none">
              <a:solidFill>
                <a:srgbClr val="000000"/>
              </a:solidFill>
              <a:effectLst/>
              <a:uFillTx/>
              <a:latin typeface="Arial"/>
            </a:endParaRPr>
          </a:p>
          <a:p>
            <a:pPr marL="285840" indent="-285840">
              <a:lnSpc>
                <a:spcPct val="90000"/>
              </a:lnSpc>
              <a:spcBef>
                <a:spcPts val="720"/>
              </a:spcBef>
            </a:pPr>
            <a:r>
              <a:rPr b="0" lang="en-IN" sz="1200" strike="noStrike" u="none">
                <a:solidFill>
                  <a:srgbClr val="000000"/>
                </a:solidFill>
                <a:effectLst/>
                <a:uFillTx/>
                <a:latin typeface="Times New Roman"/>
                <a:ea typeface="Times New Roman"/>
              </a:rPr>
              <a:t>/lib</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essential libraries</a:t>
            </a:r>
            <a:endParaRPr b="0" lang="en-IN" sz="1200" strike="noStrike" u="none">
              <a:solidFill>
                <a:srgbClr val="000000"/>
              </a:solidFill>
              <a:effectLst/>
              <a:uFillTx/>
              <a:latin typeface="Arial"/>
            </a:endParaRPr>
          </a:p>
          <a:p>
            <a:pPr marL="285840" indent="-285840">
              <a:lnSpc>
                <a:spcPct val="90000"/>
              </a:lnSpc>
              <a:spcBef>
                <a:spcPts val="720"/>
              </a:spcBef>
            </a:pPr>
            <a:r>
              <a:rPr b="0" lang="en-IN" sz="1200" strike="noStrike" u="none">
                <a:solidFill>
                  <a:srgbClr val="000000"/>
                </a:solidFill>
                <a:effectLst/>
                <a:uFillTx/>
                <a:latin typeface="Times New Roman"/>
                <a:ea typeface="Times New Roman"/>
              </a:rPr>
              <a:t>/tmp</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temporary files; writable by all users</a:t>
            </a:r>
            <a:endParaRPr b="0" lang="en-IN" sz="1200" strike="noStrike" u="none">
              <a:solidFill>
                <a:srgbClr val="000000"/>
              </a:solidFill>
              <a:effectLst/>
              <a:uFillTx/>
              <a:latin typeface="Arial"/>
            </a:endParaRPr>
          </a:p>
          <a:p>
            <a:pPr marL="285840" indent="-285840">
              <a:lnSpc>
                <a:spcPct val="90000"/>
              </a:lnSpc>
              <a:spcBef>
                <a:spcPts val="720"/>
              </a:spcBef>
            </a:pPr>
            <a:r>
              <a:rPr b="0" lang="en-IN" sz="1200" strike="noStrike" u="none">
                <a:solidFill>
                  <a:srgbClr val="000000"/>
                </a:solidFill>
                <a:effectLst/>
                <a:uFillTx/>
                <a:latin typeface="Times New Roman"/>
                <a:ea typeface="Times New Roman"/>
              </a:rPr>
              <a:t>/usr</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user file system</a:t>
            </a:r>
            <a:endParaRPr b="0" lang="en-IN" sz="1200" strike="noStrike" u="none">
              <a:solidFill>
                <a:srgbClr val="000000"/>
              </a:solidFill>
              <a:effectLst/>
              <a:uFillTx/>
              <a:latin typeface="Arial"/>
            </a:endParaRPr>
          </a:p>
          <a:p>
            <a:pPr marL="285840" indent="-285840">
              <a:lnSpc>
                <a:spcPct val="90000"/>
              </a:lnSpc>
              <a:spcBef>
                <a:spcPts val="720"/>
              </a:spcBef>
            </a:pPr>
            <a:r>
              <a:rPr b="0" lang="en-IN" sz="1200" strike="noStrike" u="none">
                <a:solidFill>
                  <a:srgbClr val="000000"/>
                </a:solidFill>
                <a:effectLst/>
                <a:uFillTx/>
                <a:latin typeface="Times New Roman"/>
                <a:ea typeface="Times New Roman"/>
              </a:rPr>
              <a:t>/usr/adm</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system administration; accounting info</a:t>
            </a:r>
            <a:endParaRPr b="0" lang="en-IN" sz="1200" strike="noStrike" u="none">
              <a:solidFill>
                <a:srgbClr val="000000"/>
              </a:solidFill>
              <a:effectLst/>
              <a:uFillTx/>
              <a:latin typeface="Arial"/>
            </a:endParaRPr>
          </a:p>
          <a:p>
            <a:pPr marL="285840" indent="-285840">
              <a:lnSpc>
                <a:spcPct val="90000"/>
              </a:lnSpc>
              <a:spcBef>
                <a:spcPts val="720"/>
              </a:spcBef>
            </a:pPr>
            <a:r>
              <a:rPr b="0" lang="en-IN" sz="1200" strike="noStrike" u="none">
                <a:solidFill>
                  <a:srgbClr val="000000"/>
                </a:solidFill>
                <a:effectLst/>
                <a:uFillTx/>
                <a:latin typeface="Times New Roman"/>
                <a:ea typeface="Times New Roman"/>
              </a:rPr>
              <a:t>/usr/bin</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user binaries; cut, tar, troff, etc.</a:t>
            </a:r>
            <a:endParaRPr b="0" lang="en-IN" sz="1200" strike="noStrike" u="none">
              <a:solidFill>
                <a:srgbClr val="000000"/>
              </a:solidFill>
              <a:effectLst/>
              <a:uFillTx/>
              <a:latin typeface="Arial"/>
            </a:endParaRPr>
          </a:p>
          <a:p>
            <a:pPr marL="285840" indent="-285840">
              <a:lnSpc>
                <a:spcPct val="90000"/>
              </a:lnSpc>
              <a:spcBef>
                <a:spcPts val="720"/>
              </a:spcBef>
            </a:pPr>
            <a:r>
              <a:rPr b="0" lang="en-IN" sz="1200" strike="noStrike" u="none">
                <a:solidFill>
                  <a:srgbClr val="000000"/>
                </a:solidFill>
                <a:effectLst/>
                <a:uFillTx/>
                <a:latin typeface="Times New Roman"/>
                <a:ea typeface="Times New Roman"/>
              </a:rPr>
              <a:t>/usr/include</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header files for C programs</a:t>
            </a:r>
            <a:endParaRPr b="0" lang="en-IN" sz="1200" strike="noStrike" u="none">
              <a:solidFill>
                <a:srgbClr val="000000"/>
              </a:solidFill>
              <a:effectLst/>
              <a:uFillTx/>
              <a:latin typeface="Arial"/>
            </a:endParaRPr>
          </a:p>
          <a:p>
            <a:pPr marL="285840" indent="-285840">
              <a:lnSpc>
                <a:spcPct val="90000"/>
              </a:lnSpc>
              <a:spcBef>
                <a:spcPts val="720"/>
              </a:spcBef>
            </a:pPr>
            <a:r>
              <a:rPr b="0" lang="en-IN" sz="1200" strike="noStrike" u="none">
                <a:solidFill>
                  <a:srgbClr val="000000"/>
                </a:solidFill>
                <a:effectLst/>
                <a:uFillTx/>
                <a:latin typeface="Times New Roman"/>
                <a:ea typeface="Times New Roman"/>
              </a:rPr>
              <a:t>/usr/lib</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libraries for C, Fortran, other system services</a:t>
            </a:r>
            <a:endParaRPr b="0" lang="en-IN" sz="1200" strike="noStrike" u="none">
              <a:solidFill>
                <a:srgbClr val="000000"/>
              </a:solidFill>
              <a:effectLst/>
              <a:uFillTx/>
              <a:latin typeface="Arial"/>
            </a:endParaRPr>
          </a:p>
          <a:p>
            <a:pPr marL="285840" indent="-285840">
              <a:lnSpc>
                <a:spcPct val="90000"/>
              </a:lnSpc>
              <a:spcBef>
                <a:spcPts val="720"/>
              </a:spcBef>
            </a:pPr>
            <a:r>
              <a:rPr b="0" lang="en-IN" sz="1200" strike="noStrike" u="none">
                <a:solidFill>
                  <a:srgbClr val="000000"/>
                </a:solidFill>
                <a:effectLst/>
                <a:uFillTx/>
                <a:latin typeface="Times New Roman"/>
                <a:ea typeface="Times New Roman"/>
              </a:rPr>
              <a:t>/usr/man</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on-line manual pages</a:t>
            </a:r>
            <a:endParaRPr b="0" lang="en-IN" sz="1200" strike="noStrike" u="none">
              <a:solidFill>
                <a:srgbClr val="000000"/>
              </a:solidFill>
              <a:effectLst/>
              <a:uFillTx/>
              <a:latin typeface="Arial"/>
            </a:endParaRPr>
          </a:p>
          <a:p>
            <a:pPr marL="285840" indent="-285840">
              <a:lnSpc>
                <a:spcPct val="90000"/>
              </a:lnSpc>
              <a:spcBef>
                <a:spcPts val="720"/>
              </a:spcBef>
            </a:pPr>
            <a:r>
              <a:rPr b="0" lang="en-IN" sz="1200" strike="noStrike" u="none">
                <a:solidFill>
                  <a:srgbClr val="000000"/>
                </a:solidFill>
                <a:effectLst/>
                <a:uFillTx/>
                <a:latin typeface="Times New Roman"/>
                <a:ea typeface="Times New Roman"/>
              </a:rPr>
              <a:t>/usr/man/man1</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manual pages for section 1</a:t>
            </a:r>
            <a:endParaRPr b="0" lang="en-IN" sz="1200" strike="noStrike" u="none">
              <a:solidFill>
                <a:srgbClr val="000000"/>
              </a:solidFill>
              <a:effectLst/>
              <a:uFillTx/>
              <a:latin typeface="Arial"/>
            </a:endParaRPr>
          </a:p>
          <a:p>
            <a:pPr marL="285840" indent="-285840">
              <a:lnSpc>
                <a:spcPct val="90000"/>
              </a:lnSpc>
              <a:spcBef>
                <a:spcPts val="720"/>
              </a:spcBef>
            </a:pPr>
            <a:r>
              <a:rPr b="0" lang="en-IN" sz="1200" strike="noStrike" u="none">
                <a:solidFill>
                  <a:srgbClr val="000000"/>
                </a:solidFill>
                <a:effectLst/>
                <a:uFillTx/>
                <a:latin typeface="Times New Roman"/>
                <a:ea typeface="Times New Roman"/>
              </a:rPr>
              <a:t>/usr/spool</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working directories for communications programs</a:t>
            </a:r>
            <a:endParaRPr b="0" lang="en-IN" sz="1200" strike="noStrike" u="none">
              <a:solidFill>
                <a:srgbClr val="000000"/>
              </a:solidFill>
              <a:effectLst/>
              <a:uFillTx/>
              <a:latin typeface="Arial"/>
            </a:endParaRPr>
          </a:p>
          <a:p>
            <a:pPr marL="285840" indent="-285840">
              <a:lnSpc>
                <a:spcPct val="90000"/>
              </a:lnSpc>
              <a:spcBef>
                <a:spcPts val="720"/>
              </a:spcBef>
            </a:pPr>
            <a:r>
              <a:rPr b="0" lang="en-IN" sz="1200" strike="noStrike" u="none">
                <a:solidFill>
                  <a:srgbClr val="000000"/>
                </a:solidFill>
                <a:effectLst/>
                <a:uFillTx/>
                <a:latin typeface="Times New Roman"/>
                <a:ea typeface="Times New Roman"/>
              </a:rPr>
              <a:t>/usr/spool/lpd</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line printer spool</a:t>
            </a:r>
            <a:endParaRPr b="0" lang="en-IN" sz="1200" strike="noStrike" u="none">
              <a:solidFill>
                <a:srgbClr val="000000"/>
              </a:solidFill>
              <a:effectLst/>
              <a:uFillTx/>
              <a:latin typeface="Arial"/>
            </a:endParaRPr>
          </a:p>
          <a:p>
            <a:pPr marL="285840" indent="-285840">
              <a:lnSpc>
                <a:spcPct val="90000"/>
              </a:lnSpc>
              <a:spcBef>
                <a:spcPts val="720"/>
              </a:spcBef>
            </a:pPr>
            <a:r>
              <a:rPr b="0" lang="en-IN" sz="1200" strike="noStrike" u="none">
                <a:solidFill>
                  <a:srgbClr val="000000"/>
                </a:solidFill>
                <a:effectLst/>
                <a:uFillTx/>
                <a:latin typeface="Times New Roman"/>
                <a:ea typeface="Times New Roman"/>
              </a:rPr>
              <a:t>/usr/spool/mail</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electronic mail boxes</a:t>
            </a:r>
            <a:endParaRPr b="0" lang="en-IN" sz="1200" strike="noStrike" u="none">
              <a:solidFill>
                <a:srgbClr val="000000"/>
              </a:solidFill>
              <a:effectLst/>
              <a:uFillTx/>
              <a:latin typeface="Arial"/>
            </a:endParaRPr>
          </a:p>
          <a:p>
            <a:pPr marL="285840" indent="-285840">
              <a:lnSpc>
                <a:spcPct val="90000"/>
              </a:lnSpc>
              <a:spcBef>
                <a:spcPts val="720"/>
              </a:spcBef>
            </a:pPr>
            <a:r>
              <a:rPr b="0" lang="en-IN" sz="1200" strike="noStrike" u="none">
                <a:solidFill>
                  <a:srgbClr val="000000"/>
                </a:solidFill>
                <a:effectLst/>
                <a:uFillTx/>
                <a:latin typeface="Times New Roman"/>
                <a:ea typeface="Times New Roman"/>
              </a:rPr>
              <a:t>/usr/class</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various places where user home directories reside</a:t>
            </a:r>
            <a:endParaRPr b="0" lang="en-IN" sz="1200" strike="noStrike" u="none">
              <a:solidFill>
                <a:srgbClr val="000000"/>
              </a:solidFill>
              <a:effectLst/>
              <a:uFillTx/>
              <a:latin typeface="Arial"/>
            </a:endParaRPr>
          </a:p>
          <a:p>
            <a:pPr marL="285840" indent="-285840">
              <a:lnSpc>
                <a:spcPct val="90000"/>
              </a:lnSpc>
              <a:spcBef>
                <a:spcPts val="720"/>
              </a:spcBef>
            </a:pPr>
            <a:r>
              <a:rPr b="0" lang="en-IN" sz="1200" strike="noStrike" u="none">
                <a:solidFill>
                  <a:srgbClr val="000000"/>
                </a:solidFill>
                <a:effectLst/>
                <a:uFillTx/>
                <a:latin typeface="Times New Roman"/>
                <a:ea typeface="Times New Roman"/>
              </a:rPr>
              <a:t>/usr/users/class</a:t>
            </a:r>
            <a:endParaRPr b="0" lang="en-IN" sz="1200" strike="noStrike" u="none">
              <a:solidFill>
                <a:srgbClr val="000000"/>
              </a:solidFill>
              <a:effectLst/>
              <a:uFillTx/>
              <a:latin typeface="Arial"/>
            </a:endParaRPr>
          </a:p>
          <a:p>
            <a:pPr marL="285840" indent="-285840">
              <a:lnSpc>
                <a:spcPct val="90000"/>
              </a:lnSpc>
              <a:spcBef>
                <a:spcPts val="720"/>
              </a:spcBef>
            </a:pPr>
            <a:r>
              <a:rPr b="0" lang="en-IN" sz="1200" strike="noStrike" u="none">
                <a:solidFill>
                  <a:srgbClr val="000000"/>
                </a:solidFill>
                <a:effectLst/>
                <a:uFillTx/>
                <a:latin typeface="Times New Roman"/>
                <a:ea typeface="Times New Roman"/>
              </a:rPr>
              <a:t>/home/class</a:t>
            </a:r>
            <a:r>
              <a:rPr b="0" lang="en-IN"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9" name=""/>
          <p:cNvSpPr txBox="1"/>
          <p:nvPr/>
        </p:nvSpPr>
        <p:spPr>
          <a:xfrm>
            <a:off x="996840" y="685800"/>
            <a:ext cx="715644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Manipulating Files and Inodes</a:t>
            </a:r>
            <a:endParaRPr b="0" lang="en-IN" sz="3600" strike="noStrike" u="none">
              <a:solidFill>
                <a:srgbClr val="000000"/>
              </a:solidFill>
              <a:effectLst/>
              <a:uFillTx/>
              <a:latin typeface="Arial"/>
            </a:endParaRPr>
          </a:p>
        </p:txBody>
      </p:sp>
      <p:sp>
        <p:nvSpPr>
          <p:cNvPr id="220" name=""/>
          <p:cNvSpPr txBox="1"/>
          <p:nvPr/>
        </p:nvSpPr>
        <p:spPr>
          <a:xfrm>
            <a:off x="990720" y="1981080"/>
            <a:ext cx="7162920" cy="4114800"/>
          </a:xfrm>
          <a:prstGeom prst="rect">
            <a:avLst/>
          </a:prstGeom>
          <a:noFill/>
          <a:ln w="0">
            <a:noFill/>
          </a:ln>
        </p:spPr>
        <p:txBody>
          <a:bodyPr lIns="0" rIns="0" tIns="0" bIns="0" anchor="t">
            <a:spAutoFit/>
          </a:bodyPr>
          <a:p>
            <a:pPr marL="285840" indent="-285840">
              <a:lnSpc>
                <a:spcPct val="90000"/>
              </a:lnSpc>
              <a:spcBef>
                <a:spcPts val="720"/>
              </a:spcBef>
            </a:pPr>
            <a:r>
              <a:rPr b="1" lang="en-IN" sz="2400" strike="noStrike" u="none">
                <a:solidFill>
                  <a:srgbClr val="000000"/>
                </a:solidFill>
                <a:effectLst/>
                <a:uFillTx/>
                <a:latin typeface="Times New Roman"/>
                <a:ea typeface="Times New Roman"/>
              </a:rPr>
              <a:t>ln(1)makes a new link to an existing file</a:t>
            </a:r>
            <a:endParaRPr b="0" lang="en-IN" sz="24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Using the </a:t>
            </a:r>
            <a:r>
              <a:rPr b="0" i="1" lang="en-IN" sz="2000" strike="noStrike" u="none">
                <a:solidFill>
                  <a:srgbClr val="000000"/>
                </a:solidFill>
                <a:effectLst/>
                <a:uFillTx/>
                <a:latin typeface="Times New Roman"/>
                <a:ea typeface="Times New Roman"/>
              </a:rPr>
              <a:t>link</a:t>
            </a:r>
            <a:r>
              <a:rPr b="0" lang="en-IN" sz="2000" strike="noStrike" u="none">
                <a:solidFill>
                  <a:srgbClr val="000000"/>
                </a:solidFill>
                <a:effectLst/>
                <a:uFillTx/>
                <a:latin typeface="Times New Roman"/>
                <a:ea typeface="Times New Roman"/>
              </a:rPr>
              <a:t>(2) system call</a:t>
            </a:r>
            <a:endParaRPr b="0" lang="en-IN" sz="2000" strike="noStrike" u="none">
              <a:solidFill>
                <a:srgbClr val="000000"/>
              </a:solidFill>
              <a:effectLst/>
              <a:uFillTx/>
              <a:latin typeface="Arial"/>
            </a:endParaRPr>
          </a:p>
          <a:p>
            <a:pPr marL="285840" indent="-285840">
              <a:lnSpc>
                <a:spcPct val="90000"/>
              </a:lnSpc>
              <a:spcBef>
                <a:spcPts val="720"/>
              </a:spcBef>
            </a:pPr>
            <a:r>
              <a:rPr b="1" lang="en-IN" sz="2400" strike="noStrike" u="none">
                <a:solidFill>
                  <a:srgbClr val="000000"/>
                </a:solidFill>
                <a:effectLst/>
                <a:uFillTx/>
                <a:latin typeface="Times New Roman"/>
                <a:ea typeface="Times New Roman"/>
              </a:rPr>
              <a:t>The same file will then have </a:t>
            </a:r>
            <a:r>
              <a:rPr b="1" i="1" lang="en-IN" sz="2400" strike="noStrike" u="none">
                <a:solidFill>
                  <a:srgbClr val="000000"/>
                </a:solidFill>
                <a:effectLst/>
                <a:uFillTx/>
                <a:latin typeface="Times New Roman"/>
                <a:ea typeface="Times New Roman"/>
              </a:rPr>
              <a:t>two names</a:t>
            </a:r>
            <a:endParaRPr b="0" lang="en-IN" sz="2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 </a:t>
            </a:r>
            <a:r>
              <a:rPr b="0" i="1" lang="en-IN" sz="1400" strike="noStrike" u="none">
                <a:solidFill>
                  <a:srgbClr val="000000"/>
                </a:solidFill>
                <a:effectLst/>
                <a:uFillTx/>
                <a:latin typeface="Times New Roman"/>
                <a:ea typeface="Times New Roman"/>
              </a:rPr>
              <a:t>ln junk linktojunk</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Create a new link</a:t>
            </a:r>
            <a:endParaRPr b="0" lang="en-IN" sz="1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 </a:t>
            </a:r>
            <a:r>
              <a:rPr b="0" i="1" lang="en-IN" sz="1400" strike="noStrike" u="none">
                <a:solidFill>
                  <a:srgbClr val="000000"/>
                </a:solidFill>
                <a:effectLst/>
                <a:uFillTx/>
                <a:latin typeface="Times New Roman"/>
                <a:ea typeface="Times New Roman"/>
              </a:rPr>
              <a:t>ls -li </a:t>
            </a:r>
            <a:endParaRPr b="0" lang="en-IN" sz="1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14209 -r--r--r-- 2 leb users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29 Jul 28 15:20 junk</a:t>
            </a:r>
            <a:endParaRPr b="0" lang="en-IN" sz="1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14209 -r--r--r-- 2 leb users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29 Jul 28 15:20 linktojunk</a:t>
            </a:r>
            <a:endParaRPr b="0" lang="en-IN" sz="1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 </a:t>
            </a:r>
            <a:r>
              <a:rPr b="0" i="1" lang="en-IN" sz="1400" strike="noStrike" u="none">
                <a:solidFill>
                  <a:srgbClr val="000000"/>
                </a:solidFill>
                <a:effectLst/>
                <a:uFillTx/>
                <a:latin typeface="Times New Roman"/>
                <a:ea typeface="Times New Roman"/>
              </a:rPr>
              <a:t>chmod u+w linktojunk</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Change permissions</a:t>
            </a:r>
            <a:endParaRPr b="0" lang="en-IN" sz="1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 </a:t>
            </a:r>
            <a:r>
              <a:rPr b="0" i="1" lang="en-IN" sz="1400" strike="noStrike" u="none">
                <a:solidFill>
                  <a:srgbClr val="000000"/>
                </a:solidFill>
                <a:effectLst/>
                <a:uFillTx/>
                <a:latin typeface="Times New Roman"/>
                <a:ea typeface="Times New Roman"/>
              </a:rPr>
              <a:t>ls -li</a:t>
            </a:r>
            <a:endParaRPr b="0" lang="en-IN" sz="1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14209 -rw-r--r-- 2 leb users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29 Jul 28 15:20 junk</a:t>
            </a:r>
            <a:endParaRPr b="0" lang="en-IN" sz="1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14209 -rw-r--r-- 2 leb users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29 Jul 28 15:20 linktojunk</a:t>
            </a:r>
            <a:endParaRPr b="0" lang="en-IN" sz="1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 </a:t>
            </a:r>
            <a:r>
              <a:rPr b="0" i="1" lang="en-IN" sz="1400" strike="noStrike" u="none">
                <a:solidFill>
                  <a:srgbClr val="000000"/>
                </a:solidFill>
                <a:effectLst/>
                <a:uFillTx/>
                <a:latin typeface="Times New Roman"/>
                <a:ea typeface="Times New Roman"/>
              </a:rPr>
              <a:t>rm linktojunk</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Remove the link</a:t>
            </a:r>
            <a:endParaRPr b="0" lang="en-IN" sz="1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14209 -rw-r--r-- 1 leb users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29 Jul 28 15:20 junk</a:t>
            </a:r>
            <a:endParaRPr b="0" lang="en-IN"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1" name=""/>
          <p:cNvSpPr txBox="1"/>
          <p:nvPr/>
        </p:nvSpPr>
        <p:spPr>
          <a:xfrm>
            <a:off x="996840" y="457200"/>
            <a:ext cx="7156440" cy="8920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Manipulating Files and Inodes</a:t>
            </a:r>
            <a:br>
              <a:rPr sz="3600"/>
            </a:br>
            <a:r>
              <a:rPr b="1" lang="en-IN" sz="2400" strike="noStrike" u="none">
                <a:solidFill>
                  <a:srgbClr val="000000"/>
                </a:solidFill>
                <a:effectLst/>
                <a:uFillTx/>
                <a:latin typeface="Times New Roman"/>
                <a:ea typeface="Times New Roman"/>
              </a:rPr>
              <a:t>(continued)</a:t>
            </a:r>
            <a:endParaRPr b="0" lang="en-IN" sz="2400" strike="noStrike" u="none">
              <a:solidFill>
                <a:srgbClr val="000000"/>
              </a:solidFill>
              <a:effectLst/>
              <a:uFillTx/>
              <a:latin typeface="Arial"/>
            </a:endParaRPr>
          </a:p>
        </p:txBody>
      </p:sp>
      <p:sp>
        <p:nvSpPr>
          <p:cNvPr id="222" name=""/>
          <p:cNvSpPr txBox="1"/>
          <p:nvPr/>
        </p:nvSpPr>
        <p:spPr>
          <a:xfrm>
            <a:off x="990720" y="1371600"/>
            <a:ext cx="7162920" cy="5181480"/>
          </a:xfrm>
          <a:prstGeom prst="rect">
            <a:avLst/>
          </a:prstGeom>
          <a:noFill/>
          <a:ln w="0">
            <a:noFill/>
          </a:ln>
        </p:spPr>
        <p:txBody>
          <a:bodyPr lIns="0" rIns="0" tIns="0" bIns="0" anchor="t">
            <a:spAutoFit/>
          </a:bodyPr>
          <a:p>
            <a:pPr marL="285840" indent="-285840">
              <a:lnSpc>
                <a:spcPct val="90000"/>
              </a:lnSpc>
              <a:spcBef>
                <a:spcPts val="720"/>
              </a:spcBef>
            </a:pPr>
            <a:r>
              <a:rPr b="0" i="1" lang="en-IN" sz="2400" strike="noStrike" u="none">
                <a:solidFill>
                  <a:srgbClr val="000000"/>
                </a:solidFill>
                <a:effectLst/>
                <a:uFillTx/>
                <a:latin typeface="Times New Roman"/>
                <a:ea typeface="Times New Roman"/>
              </a:rPr>
              <a:t>rm(1) </a:t>
            </a:r>
            <a:r>
              <a:rPr b="0" lang="en-IN" sz="2400" strike="noStrike" u="none">
                <a:solidFill>
                  <a:srgbClr val="000000"/>
                </a:solidFill>
                <a:effectLst/>
                <a:uFillTx/>
                <a:latin typeface="Times New Roman"/>
                <a:ea typeface="Times New Roman"/>
              </a:rPr>
              <a:t>breaks links (using the </a:t>
            </a:r>
            <a:r>
              <a:rPr b="0" i="1" lang="en-IN" sz="2400" strike="noStrike" u="none">
                <a:solidFill>
                  <a:srgbClr val="000000"/>
                </a:solidFill>
                <a:effectLst/>
                <a:uFillTx/>
                <a:latin typeface="Times New Roman"/>
                <a:ea typeface="Times New Roman"/>
              </a:rPr>
              <a:t>unlink(2) </a:t>
            </a:r>
            <a:r>
              <a:rPr b="0" lang="en-IN" sz="2400" strike="noStrike" u="none">
                <a:solidFill>
                  <a:srgbClr val="000000"/>
                </a:solidFill>
                <a:effectLst/>
                <a:uFillTx/>
                <a:latin typeface="Times New Roman"/>
                <a:ea typeface="Times New Roman"/>
              </a:rPr>
              <a:t>system call). When the link count is zero, the file contents are released.</a:t>
            </a:r>
            <a:endParaRPr b="0" lang="en-IN" sz="2400" strike="noStrike" u="none">
              <a:solidFill>
                <a:srgbClr val="000000"/>
              </a:solidFill>
              <a:effectLst/>
              <a:uFillTx/>
              <a:latin typeface="Arial"/>
            </a:endParaRPr>
          </a:p>
          <a:p>
            <a:pPr marL="285840" indent="-285840">
              <a:lnSpc>
                <a:spcPct val="90000"/>
              </a:lnSpc>
              <a:spcBef>
                <a:spcPts val="720"/>
              </a:spcBef>
            </a:pPr>
            <a:r>
              <a:rPr b="0" lang="en-IN" sz="2400" strike="noStrike" u="sng">
                <a:solidFill>
                  <a:srgbClr val="000000"/>
                </a:solidFill>
                <a:effectLst/>
                <a:uFillTx/>
                <a:latin typeface="Times New Roman"/>
                <a:ea typeface="Times New Roman"/>
              </a:rPr>
              <a:t>Once the file is gone, it is gone forever.  BE CAREFUL!</a:t>
            </a:r>
            <a:endParaRPr b="0" lang="en-IN" sz="2400" strike="noStrike" u="none">
              <a:solidFill>
                <a:srgbClr val="000000"/>
              </a:solidFill>
              <a:effectLst/>
              <a:uFillTx/>
              <a:latin typeface="Arial"/>
            </a:endParaRPr>
          </a:p>
          <a:p>
            <a:pPr marL="285840" indent="-285840">
              <a:lnSpc>
                <a:spcPct val="90000"/>
              </a:lnSpc>
              <a:spcBef>
                <a:spcPts val="720"/>
              </a:spcBef>
            </a:pPr>
            <a:r>
              <a:rPr b="0" i="1" lang="en-IN" sz="2400" strike="noStrike" u="none">
                <a:solidFill>
                  <a:srgbClr val="000000"/>
                </a:solidFill>
                <a:effectLst/>
                <a:uFillTx/>
                <a:latin typeface="Times New Roman"/>
                <a:ea typeface="Times New Roman"/>
              </a:rPr>
              <a:t>cp (1) </a:t>
            </a:r>
            <a:r>
              <a:rPr b="0" lang="en-IN" sz="2400" strike="noStrike" u="none">
                <a:solidFill>
                  <a:srgbClr val="000000"/>
                </a:solidFill>
                <a:effectLst/>
                <a:uFillTx/>
                <a:latin typeface="Times New Roman"/>
                <a:ea typeface="Times New Roman"/>
              </a:rPr>
              <a:t>makes a real copy: name, contents, and inode</a:t>
            </a:r>
            <a:endParaRPr b="0" lang="en-IN" sz="2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 </a:t>
            </a:r>
            <a:r>
              <a:rPr b="0" i="1" lang="en-IN" sz="1400" strike="noStrike" u="none">
                <a:solidFill>
                  <a:srgbClr val="000000"/>
                </a:solidFill>
                <a:effectLst/>
                <a:uFillTx/>
                <a:latin typeface="Times New Roman"/>
                <a:ea typeface="Times New Roman"/>
              </a:rPr>
              <a:t>cp junk copyofjunk</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Create a new copy</a:t>
            </a:r>
            <a:endParaRPr b="0" lang="en-IN" sz="1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 </a:t>
            </a:r>
            <a:r>
              <a:rPr b="0" i="1" lang="en-IN" sz="1400" strike="noStrike" u="none">
                <a:solidFill>
                  <a:srgbClr val="000000"/>
                </a:solidFill>
                <a:effectLst/>
                <a:uFillTx/>
                <a:latin typeface="Times New Roman"/>
                <a:ea typeface="Times New Roman"/>
              </a:rPr>
              <a:t>ls -li </a:t>
            </a:r>
            <a:endParaRPr b="0" lang="en-IN" sz="1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14211 -rw-r--r-- 1 leb users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29 Jul 28 15:28 copyofjunk</a:t>
            </a:r>
            <a:endParaRPr b="0" lang="en-IN" sz="1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14209 -rw-r--r-- 1 leb users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29 Jul 28 15:20 junk</a:t>
            </a:r>
            <a:endParaRPr b="0" lang="en-IN" sz="1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 </a:t>
            </a:r>
            <a:r>
              <a:rPr b="0" i="1" lang="en-IN" sz="1400" strike="noStrike" u="none">
                <a:solidFill>
                  <a:srgbClr val="000000"/>
                </a:solidFill>
                <a:effectLst/>
                <a:uFillTx/>
                <a:latin typeface="Times New Roman"/>
                <a:ea typeface="Times New Roman"/>
              </a:rPr>
              <a:t>chmod -w copyofjunk</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Make the copy hard to delete</a:t>
            </a:r>
            <a:endParaRPr b="0" lang="en-IN" sz="1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 </a:t>
            </a:r>
            <a:r>
              <a:rPr b="0" i="1" lang="en-IN" sz="1400" strike="noStrike" u="none">
                <a:solidFill>
                  <a:srgbClr val="000000"/>
                </a:solidFill>
                <a:effectLst/>
                <a:uFillTx/>
                <a:latin typeface="Times New Roman"/>
                <a:ea typeface="Times New Roman"/>
              </a:rPr>
              <a:t>ls -li </a:t>
            </a:r>
            <a:endParaRPr b="0" lang="en-IN" sz="1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14211 -r--r--r-- 1 leb users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29 Jul 28 15:28 copyofjunk</a:t>
            </a:r>
            <a:endParaRPr b="0" lang="en-IN" sz="1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14209 -rw-r--r-- 1 leb users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29 Jul 28 15:20 junk</a:t>
            </a:r>
            <a:endParaRPr b="0" lang="en-IN" sz="1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 </a:t>
            </a:r>
            <a:r>
              <a:rPr b="0" i="1" lang="en-IN" sz="1400" strike="noStrike" u="none">
                <a:solidFill>
                  <a:srgbClr val="000000"/>
                </a:solidFill>
                <a:effectLst/>
                <a:uFillTx/>
                <a:latin typeface="Times New Roman"/>
                <a:ea typeface="Times New Roman"/>
              </a:rPr>
              <a:t>rm copyofjunk</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rm will complain...</a:t>
            </a:r>
            <a:endParaRPr b="0" lang="en-IN" sz="1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rm: remove 'copyofjunk', overriding mode 0444? </a:t>
            </a:r>
            <a:r>
              <a:rPr b="0" i="1" lang="en-IN" sz="1400" strike="noStrike" u="none">
                <a:solidFill>
                  <a:srgbClr val="000000"/>
                </a:solidFill>
                <a:effectLst/>
                <a:uFillTx/>
                <a:latin typeface="Times New Roman"/>
                <a:ea typeface="Times New Roman"/>
              </a:rPr>
              <a:t>y</a:t>
            </a:r>
            <a:endParaRPr b="0" lang="en-IN"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3" name=""/>
          <p:cNvSpPr txBox="1"/>
          <p:nvPr/>
        </p:nvSpPr>
        <p:spPr>
          <a:xfrm>
            <a:off x="996840" y="685800"/>
            <a:ext cx="7156440" cy="8920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Manipulating Files and Inodes</a:t>
            </a:r>
            <a:br>
              <a:rPr sz="3600"/>
            </a:br>
            <a:r>
              <a:rPr b="1" lang="en-IN" sz="2400" strike="noStrike" u="none">
                <a:solidFill>
                  <a:srgbClr val="000000"/>
                </a:solidFill>
                <a:effectLst/>
                <a:uFillTx/>
                <a:latin typeface="Times New Roman"/>
                <a:ea typeface="Times New Roman"/>
              </a:rPr>
              <a:t>(continued)</a:t>
            </a:r>
            <a:endParaRPr b="0" lang="en-IN" sz="2400" strike="noStrike" u="none">
              <a:solidFill>
                <a:srgbClr val="000000"/>
              </a:solidFill>
              <a:effectLst/>
              <a:uFillTx/>
              <a:latin typeface="Arial"/>
            </a:endParaRPr>
          </a:p>
        </p:txBody>
      </p:sp>
      <p:sp>
        <p:nvSpPr>
          <p:cNvPr id="224" name=""/>
          <p:cNvSpPr txBox="1"/>
          <p:nvPr/>
        </p:nvSpPr>
        <p:spPr>
          <a:xfrm>
            <a:off x="990720" y="1981080"/>
            <a:ext cx="7162920" cy="4114800"/>
          </a:xfrm>
          <a:prstGeom prst="rect">
            <a:avLst/>
          </a:prstGeom>
          <a:noFill/>
          <a:ln w="0">
            <a:noFill/>
          </a:ln>
        </p:spPr>
        <p:txBody>
          <a:bodyPr lIns="0" rIns="0" tIns="0" bIns="0" anchor="t">
            <a:spAutoFit/>
          </a:bodyPr>
          <a:p>
            <a:pPr marL="285840" indent="-285840">
              <a:lnSpc>
                <a:spcPct val="90000"/>
              </a:lnSpc>
              <a:spcBef>
                <a:spcPts val="720"/>
              </a:spcBef>
            </a:pPr>
            <a:r>
              <a:rPr b="0" i="1" lang="en-IN" sz="2400" strike="noStrike" u="none">
                <a:solidFill>
                  <a:srgbClr val="000000"/>
                </a:solidFill>
                <a:effectLst/>
                <a:uFillTx/>
                <a:latin typeface="Times New Roman"/>
                <a:ea typeface="Times New Roman"/>
              </a:rPr>
              <a:t>mv(1) </a:t>
            </a:r>
            <a:r>
              <a:rPr b="0" lang="en-IN" sz="2400" strike="noStrike" u="none">
                <a:solidFill>
                  <a:srgbClr val="000000"/>
                </a:solidFill>
                <a:effectLst/>
                <a:uFillTx/>
                <a:latin typeface="Times New Roman"/>
                <a:ea typeface="Times New Roman"/>
              </a:rPr>
              <a:t>renames files by moving links (using a combination of the </a:t>
            </a:r>
            <a:r>
              <a:rPr b="0" i="1" lang="en-IN" sz="2400" strike="noStrike" u="none">
                <a:solidFill>
                  <a:srgbClr val="000000"/>
                </a:solidFill>
                <a:effectLst/>
                <a:uFillTx/>
                <a:latin typeface="Times New Roman"/>
                <a:ea typeface="Times New Roman"/>
              </a:rPr>
              <a:t>link(2) </a:t>
            </a:r>
            <a:r>
              <a:rPr b="0" lang="en-IN" sz="2400" strike="noStrike" u="none">
                <a:solidFill>
                  <a:srgbClr val="000000"/>
                </a:solidFill>
                <a:effectLst/>
                <a:uFillTx/>
                <a:latin typeface="Times New Roman"/>
                <a:ea typeface="Times New Roman"/>
              </a:rPr>
              <a:t>and </a:t>
            </a:r>
            <a:r>
              <a:rPr b="0" i="1" lang="en-IN" sz="2400" strike="noStrike" u="none">
                <a:solidFill>
                  <a:srgbClr val="000000"/>
                </a:solidFill>
                <a:effectLst/>
                <a:uFillTx/>
                <a:latin typeface="Times New Roman"/>
                <a:ea typeface="Times New Roman"/>
              </a:rPr>
              <a:t>unlink(2) </a:t>
            </a:r>
            <a:r>
              <a:rPr b="0" lang="en-IN" sz="2400" strike="noStrike" u="none">
                <a:solidFill>
                  <a:srgbClr val="000000"/>
                </a:solidFill>
                <a:effectLst/>
                <a:uFillTx/>
                <a:latin typeface="Times New Roman"/>
                <a:ea typeface="Times New Roman"/>
              </a:rPr>
              <a:t>system calls)</a:t>
            </a:r>
            <a:endParaRPr b="0" lang="en-IN" sz="2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 </a:t>
            </a:r>
            <a:r>
              <a:rPr b="0" i="1" lang="en-IN" sz="1400" strike="noStrike" u="none">
                <a:solidFill>
                  <a:srgbClr val="000000"/>
                </a:solidFill>
                <a:effectLst/>
                <a:uFillTx/>
                <a:latin typeface="Times New Roman"/>
                <a:ea typeface="Times New Roman"/>
              </a:rPr>
              <a:t>mv junk samejunk</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Move a link</a:t>
            </a:r>
            <a:endParaRPr b="0" lang="en-IN" sz="1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 </a:t>
            </a:r>
            <a:r>
              <a:rPr b="0" i="1" lang="en-IN" sz="1400" strike="noStrike" u="none">
                <a:solidFill>
                  <a:srgbClr val="000000"/>
                </a:solidFill>
                <a:effectLst/>
                <a:uFillTx/>
                <a:latin typeface="Times New Roman"/>
                <a:ea typeface="Times New Roman"/>
              </a:rPr>
              <a:t>ls -li </a:t>
            </a:r>
            <a:endParaRPr b="0" lang="en-IN" sz="1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14209 -rw-r--r-- 1 leb users    29 Jul 28 15:20 samejunk</a:t>
            </a:r>
            <a:endParaRPr b="0" lang="en-IN" sz="1400" strike="noStrike" u="none">
              <a:solidFill>
                <a:srgbClr val="000000"/>
              </a:solidFill>
              <a:effectLst/>
              <a:uFillTx/>
              <a:latin typeface="Arial"/>
            </a:endParaRPr>
          </a:p>
          <a:p>
            <a:pPr marL="285840" indent="-285840">
              <a:lnSpc>
                <a:spcPct val="90000"/>
              </a:lnSpc>
              <a:spcBef>
                <a:spcPts val="720"/>
              </a:spcBef>
            </a:pPr>
            <a:r>
              <a:rPr b="0" i="1" lang="en-IN" sz="2400" strike="noStrike" u="none">
                <a:solidFill>
                  <a:srgbClr val="000000"/>
                </a:solidFill>
                <a:effectLst/>
                <a:uFillTx/>
                <a:latin typeface="Times New Roman"/>
                <a:ea typeface="Times New Roman"/>
              </a:rPr>
              <a:t>mv</a:t>
            </a:r>
            <a:r>
              <a:rPr b="0" lang="en-IN" sz="2400" strike="noStrike" u="none">
                <a:solidFill>
                  <a:srgbClr val="000000"/>
                </a:solidFill>
                <a:effectLst/>
                <a:uFillTx/>
                <a:latin typeface="Times New Roman"/>
                <a:ea typeface="Times New Roman"/>
              </a:rPr>
              <a:t> also renames directories, effectively moving all files and subdirectories they contain</a:t>
            </a:r>
            <a:endParaRPr b="0" lang="en-IN" sz="2400" strike="noStrike" u="none">
              <a:solidFill>
                <a:srgbClr val="000000"/>
              </a:solidFill>
              <a:effectLst/>
              <a:uFillTx/>
              <a:latin typeface="Arial"/>
            </a:endParaRPr>
          </a:p>
          <a:p>
            <a:pPr marL="285840" indent="-285840">
              <a:lnSpc>
                <a:spcPct val="90000"/>
              </a:lnSpc>
              <a:spcBef>
                <a:spcPts val="720"/>
              </a:spcBef>
            </a:pPr>
            <a:r>
              <a:rPr b="0" i="1" lang="en-IN" sz="2400" strike="noStrike" u="none">
                <a:solidFill>
                  <a:srgbClr val="000000"/>
                </a:solidFill>
                <a:effectLst/>
                <a:uFillTx/>
                <a:latin typeface="Times New Roman"/>
                <a:ea typeface="Times New Roman"/>
              </a:rPr>
              <a:t>mv</a:t>
            </a:r>
            <a:r>
              <a:rPr b="0" lang="en-IN" sz="2400" strike="noStrike" u="none">
                <a:solidFill>
                  <a:srgbClr val="000000"/>
                </a:solidFill>
                <a:effectLst/>
                <a:uFillTx/>
                <a:latin typeface="Times New Roman"/>
                <a:ea typeface="Times New Roman"/>
              </a:rPr>
              <a:t> and cp have a special syntax for multiple files:</a:t>
            </a:r>
            <a:endParaRPr b="0" lang="en-IN" sz="24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 </a:t>
            </a:r>
            <a:r>
              <a:rPr b="0" i="1" lang="en-IN" sz="2000" strike="noStrike" u="none">
                <a:solidFill>
                  <a:srgbClr val="000000"/>
                </a:solidFill>
                <a:effectLst/>
                <a:uFillTx/>
                <a:latin typeface="Times New Roman"/>
                <a:ea typeface="Times New Roman"/>
              </a:rPr>
              <a:t>mv file1 file2 ... directory</a:t>
            </a: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 </a:t>
            </a:r>
            <a:r>
              <a:rPr b="0" i="1" lang="en-IN" sz="2000" strike="noStrike" u="none">
                <a:solidFill>
                  <a:srgbClr val="000000"/>
                </a:solidFill>
                <a:effectLst/>
                <a:uFillTx/>
                <a:latin typeface="Times New Roman"/>
                <a:ea typeface="Times New Roman"/>
              </a:rPr>
              <a:t>cp file1 file2 ... directory</a:t>
            </a:r>
            <a:endParaRPr b="0" lang="en-IN" sz="2000" strike="noStrike" u="none">
              <a:solidFill>
                <a:srgbClr val="000000"/>
              </a:solidFill>
              <a:effectLst/>
              <a:uFillTx/>
              <a:latin typeface="Arial"/>
            </a:endParaRPr>
          </a:p>
          <a:p>
            <a:pPr marL="285840" indent="-285840">
              <a:lnSpc>
                <a:spcPct val="90000"/>
              </a:lnSpc>
              <a:spcBef>
                <a:spcPts val="720"/>
              </a:spcBef>
            </a:pPr>
            <a:r>
              <a:rPr b="0" lang="en-IN" sz="2400" strike="noStrike" u="none">
                <a:solidFill>
                  <a:srgbClr val="000000"/>
                </a:solidFill>
                <a:effectLst/>
                <a:uFillTx/>
                <a:latin typeface="Times New Roman"/>
                <a:ea typeface="Times New Roman"/>
              </a:rPr>
              <a:t>Remember that . and .. are directories:</a:t>
            </a:r>
            <a:endParaRPr b="0" lang="en-IN" sz="24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 </a:t>
            </a:r>
            <a:r>
              <a:rPr b="0" i="1" lang="en-IN" sz="2000" strike="noStrike" u="none">
                <a:solidFill>
                  <a:srgbClr val="000000"/>
                </a:solidFill>
                <a:effectLst/>
                <a:uFillTx/>
                <a:latin typeface="Times New Roman"/>
                <a:ea typeface="Times New Roman"/>
              </a:rPr>
              <a:t>cp /etc/passwd /tmp/myfile .</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5" name=""/>
          <p:cNvSpPr txBox="1"/>
          <p:nvPr/>
        </p:nvSpPr>
        <p:spPr>
          <a:xfrm>
            <a:off x="996840" y="685800"/>
            <a:ext cx="715644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Device Files</a:t>
            </a:r>
            <a:endParaRPr b="0" lang="en-IN" sz="3600" strike="noStrike" u="none">
              <a:solidFill>
                <a:srgbClr val="000000"/>
              </a:solidFill>
              <a:effectLst/>
              <a:uFillTx/>
              <a:latin typeface="Arial"/>
            </a:endParaRPr>
          </a:p>
        </p:txBody>
      </p:sp>
      <p:sp>
        <p:nvSpPr>
          <p:cNvPr id="226" name=""/>
          <p:cNvSpPr txBox="1"/>
          <p:nvPr/>
        </p:nvSpPr>
        <p:spPr>
          <a:xfrm>
            <a:off x="990720" y="1676520"/>
            <a:ext cx="7162920" cy="4214160"/>
          </a:xfrm>
          <a:prstGeom prst="rect">
            <a:avLst/>
          </a:prstGeom>
          <a:noFill/>
          <a:ln w="0">
            <a:noFill/>
          </a:ln>
        </p:spPr>
        <p:txBody>
          <a:bodyPr lIns="0" rIns="0" tIns="0" bIns="0" anchor="t">
            <a:spAutoFit/>
          </a:bodyPr>
          <a:p>
            <a:pPr marL="285840" indent="-285840">
              <a:lnSpc>
                <a:spcPct val="90000"/>
              </a:lnSpc>
              <a:spcBef>
                <a:spcPts val="720"/>
              </a:spcBef>
            </a:pPr>
            <a:r>
              <a:rPr b="0" lang="en-IN" sz="2400" strike="noStrike" u="none">
                <a:solidFill>
                  <a:srgbClr val="000000"/>
                </a:solidFill>
                <a:effectLst/>
                <a:uFillTx/>
                <a:latin typeface="Times New Roman"/>
                <a:ea typeface="Times New Roman"/>
              </a:rPr>
              <a:t>UNIX treats </a:t>
            </a:r>
            <a:r>
              <a:rPr b="0" i="1" lang="en-IN" sz="2400" strike="noStrike" u="none">
                <a:solidFill>
                  <a:srgbClr val="000000"/>
                </a:solidFill>
                <a:effectLst/>
                <a:uFillTx/>
                <a:latin typeface="Times New Roman"/>
                <a:ea typeface="Times New Roman"/>
              </a:rPr>
              <a:t>peripherals</a:t>
            </a:r>
            <a:r>
              <a:rPr b="0" lang="en-IN" sz="2400" strike="noStrike" u="none">
                <a:solidFill>
                  <a:srgbClr val="000000"/>
                </a:solidFill>
                <a:effectLst/>
                <a:uFillTx/>
                <a:latin typeface="Times New Roman"/>
                <a:ea typeface="Times New Roman"/>
              </a:rPr>
              <a:t> as files</a:t>
            </a:r>
            <a:endParaRPr b="0" lang="en-IN" sz="2400" strike="noStrike" u="none">
              <a:solidFill>
                <a:srgbClr val="000000"/>
              </a:solidFill>
              <a:effectLst/>
              <a:uFillTx/>
              <a:latin typeface="Arial"/>
            </a:endParaRPr>
          </a:p>
          <a:p>
            <a:pPr marL="285840" indent="-285840">
              <a:lnSpc>
                <a:spcPct val="90000"/>
              </a:lnSpc>
              <a:spcBef>
                <a:spcPts val="720"/>
              </a:spcBef>
            </a:pPr>
            <a:r>
              <a:rPr b="0" lang="en-IN" sz="2400" strike="noStrike" u="none">
                <a:solidFill>
                  <a:srgbClr val="000000"/>
                </a:solidFill>
                <a:effectLst/>
                <a:uFillTx/>
                <a:latin typeface="Times New Roman"/>
                <a:ea typeface="Times New Roman"/>
              </a:rPr>
              <a:t>There are two classes of device files</a:t>
            </a:r>
            <a:endParaRPr b="0" lang="en-IN" sz="24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“Block” devices (tapes and disks)</a:t>
            </a:r>
            <a:endParaRPr b="0" lang="en-IN" sz="20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“Character” devices (terminals, printers, serial ports, </a:t>
            </a:r>
            <a:r>
              <a:rPr b="0" i="1" lang="en-IN" sz="2000" strike="noStrike" u="none">
                <a:solidFill>
                  <a:srgbClr val="000000"/>
                </a:solidFill>
                <a:effectLst/>
                <a:uFillTx/>
                <a:latin typeface="Times New Roman"/>
                <a:ea typeface="Times New Roman"/>
              </a:rPr>
              <a:t>etc.</a:t>
            </a:r>
            <a:r>
              <a:rPr b="0" lang="en-IN" sz="2000" strike="noStrike" u="none">
                <a:solidFill>
                  <a:srgbClr val="000000"/>
                </a:solidFill>
                <a:effectLst/>
                <a:uFillTx/>
                <a:latin typeface="Times New Roman"/>
                <a:ea typeface="Times New Roman"/>
              </a:rPr>
              <a:t>)</a:t>
            </a:r>
            <a:endParaRPr b="0" lang="en-IN" sz="20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Denoted by ‘b’ and ‘c’, respectively, in an “</a:t>
            </a:r>
            <a:r>
              <a:rPr b="0" i="1" lang="en-IN" sz="2000" strike="noStrike" u="none">
                <a:solidFill>
                  <a:srgbClr val="000000"/>
                </a:solidFill>
                <a:effectLst/>
                <a:uFillTx/>
                <a:latin typeface="Times New Roman"/>
                <a:ea typeface="Times New Roman"/>
              </a:rPr>
              <a:t>ls -l</a:t>
            </a:r>
            <a:r>
              <a:rPr b="0" lang="en-IN" sz="2000" strike="noStrike" u="none">
                <a:solidFill>
                  <a:srgbClr val="000000"/>
                </a:solidFill>
                <a:effectLst/>
                <a:uFillTx/>
                <a:latin typeface="Times New Roman"/>
                <a:ea typeface="Times New Roman"/>
              </a:rPr>
              <a:t>” listing</a:t>
            </a:r>
            <a:endParaRPr b="0" lang="en-IN" sz="2000" strike="noStrike" u="none">
              <a:solidFill>
                <a:srgbClr val="000000"/>
              </a:solidFill>
              <a:effectLst/>
              <a:uFillTx/>
              <a:latin typeface="Arial"/>
            </a:endParaRPr>
          </a:p>
          <a:p>
            <a:pPr marL="285840" indent="-285840">
              <a:lnSpc>
                <a:spcPct val="90000"/>
              </a:lnSpc>
              <a:spcBef>
                <a:spcPts val="720"/>
              </a:spcBef>
            </a:pPr>
            <a:r>
              <a:rPr b="0" lang="en-IN" sz="2400" strike="noStrike" u="none">
                <a:solidFill>
                  <a:srgbClr val="000000"/>
                </a:solidFill>
                <a:effectLst/>
                <a:uFillTx/>
                <a:latin typeface="Times New Roman"/>
                <a:ea typeface="Times New Roman"/>
              </a:rPr>
              <a:t>Device files are maintained in a table in the kernel</a:t>
            </a:r>
            <a:endParaRPr b="0" lang="en-IN" sz="2400" strike="noStrike" u="none">
              <a:solidFill>
                <a:srgbClr val="000000"/>
              </a:solidFill>
              <a:effectLst/>
              <a:uFillTx/>
              <a:latin typeface="Arial"/>
            </a:endParaRPr>
          </a:p>
          <a:p>
            <a:pPr marL="285840" indent="-285840">
              <a:lnSpc>
                <a:spcPct val="90000"/>
              </a:lnSpc>
              <a:spcBef>
                <a:spcPts val="720"/>
              </a:spcBef>
            </a:pPr>
            <a:r>
              <a:rPr b="0" lang="en-IN" sz="2400" strike="noStrike" u="none">
                <a:solidFill>
                  <a:srgbClr val="000000"/>
                </a:solidFill>
                <a:effectLst/>
                <a:uFillTx/>
                <a:latin typeface="Times New Roman"/>
                <a:ea typeface="Times New Roman"/>
              </a:rPr>
              <a:t>The table is indexed by the </a:t>
            </a:r>
            <a:r>
              <a:rPr b="0" i="1" lang="en-IN" sz="2400" strike="noStrike" u="none">
                <a:solidFill>
                  <a:srgbClr val="000000"/>
                </a:solidFill>
                <a:effectLst/>
                <a:uFillTx/>
                <a:latin typeface="Times New Roman"/>
                <a:ea typeface="Times New Roman"/>
              </a:rPr>
              <a:t>major</a:t>
            </a:r>
            <a:r>
              <a:rPr b="0" lang="en-IN" sz="2400" strike="noStrike" u="none">
                <a:solidFill>
                  <a:srgbClr val="000000"/>
                </a:solidFill>
                <a:effectLst/>
                <a:uFillTx/>
                <a:latin typeface="Times New Roman"/>
                <a:ea typeface="Times New Roman"/>
              </a:rPr>
              <a:t> and </a:t>
            </a:r>
            <a:r>
              <a:rPr b="0" i="1" lang="en-IN" sz="2400" strike="noStrike" u="none">
                <a:solidFill>
                  <a:srgbClr val="000000"/>
                </a:solidFill>
                <a:effectLst/>
                <a:uFillTx/>
                <a:latin typeface="Times New Roman"/>
                <a:ea typeface="Times New Roman"/>
              </a:rPr>
              <a:t>minor</a:t>
            </a:r>
            <a:r>
              <a:rPr b="0" lang="en-IN" sz="2400" strike="noStrike" u="none">
                <a:solidFill>
                  <a:srgbClr val="000000"/>
                </a:solidFill>
                <a:effectLst/>
                <a:uFillTx/>
                <a:latin typeface="Times New Roman"/>
                <a:ea typeface="Times New Roman"/>
              </a:rPr>
              <a:t> numbers</a:t>
            </a:r>
            <a:endParaRPr b="0" lang="en-IN" sz="24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Major number denotes the kind of device</a:t>
            </a:r>
            <a:endParaRPr b="0" lang="en-IN" sz="20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Minor number denotes instances of the device </a:t>
            </a:r>
            <a:endParaRPr b="0" lang="en-IN" sz="2000" strike="noStrike" u="none">
              <a:solidFill>
                <a:srgbClr val="000000"/>
              </a:solidFill>
              <a:effectLst/>
              <a:uFillTx/>
              <a:latin typeface="Arial"/>
            </a:endParaRPr>
          </a:p>
          <a:p>
            <a:pPr marL="285840" indent="-285840">
              <a:lnSpc>
                <a:spcPct val="90000"/>
              </a:lnSpc>
              <a:spcBef>
                <a:spcPts val="720"/>
              </a:spcBef>
            </a:pPr>
            <a:r>
              <a:rPr b="0" lang="en-IN" sz="2400" strike="noStrike" u="none">
                <a:solidFill>
                  <a:srgbClr val="000000"/>
                </a:solidFill>
                <a:effectLst/>
                <a:uFillTx/>
                <a:latin typeface="Times New Roman"/>
                <a:ea typeface="Times New Roman"/>
              </a:rPr>
              <a:t>The kernel translates calls to open, close, read, and write a device file into the hardware commands to control the device</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7" name=""/>
          <p:cNvSpPr txBox="1"/>
          <p:nvPr/>
        </p:nvSpPr>
        <p:spPr>
          <a:xfrm>
            <a:off x="996840" y="685800"/>
            <a:ext cx="7156440" cy="8920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Device Files</a:t>
            </a:r>
            <a:br>
              <a:rPr sz="3600"/>
            </a:br>
            <a:r>
              <a:rPr b="1" lang="en-IN" sz="2400" strike="noStrike" u="none">
                <a:solidFill>
                  <a:srgbClr val="000000"/>
                </a:solidFill>
                <a:effectLst/>
                <a:uFillTx/>
                <a:latin typeface="Times New Roman"/>
                <a:ea typeface="Times New Roman"/>
              </a:rPr>
              <a:t>(continued)</a:t>
            </a:r>
            <a:endParaRPr b="0" lang="en-IN" sz="2400" strike="noStrike" u="none">
              <a:solidFill>
                <a:srgbClr val="000000"/>
              </a:solidFill>
              <a:effectLst/>
              <a:uFillTx/>
              <a:latin typeface="Arial"/>
            </a:endParaRPr>
          </a:p>
        </p:txBody>
      </p:sp>
      <p:sp>
        <p:nvSpPr>
          <p:cNvPr id="228" name=""/>
          <p:cNvSpPr txBox="1"/>
          <p:nvPr/>
        </p:nvSpPr>
        <p:spPr>
          <a:xfrm>
            <a:off x="685800" y="1523880"/>
            <a:ext cx="7543800" cy="4446360"/>
          </a:xfrm>
          <a:prstGeom prst="rect">
            <a:avLst/>
          </a:prstGeom>
          <a:noFill/>
          <a:ln w="0">
            <a:noFill/>
          </a:ln>
        </p:spPr>
        <p:txBody>
          <a:bodyPr lIns="0" rIns="0" tIns="0" bIns="0" anchor="t">
            <a:spAutoFit/>
          </a:bodyPr>
          <a:p>
            <a:pPr marL="285840" indent="-285840">
              <a:lnSpc>
                <a:spcPct val="90000"/>
              </a:lnSpc>
              <a:spcBef>
                <a:spcPts val="720"/>
              </a:spcBef>
            </a:pPr>
            <a:r>
              <a:rPr b="0" lang="en-IN" sz="2400" strike="noStrike" u="none">
                <a:solidFill>
                  <a:srgbClr val="000000"/>
                </a:solidFill>
                <a:effectLst/>
                <a:uFillTx/>
                <a:latin typeface="Times New Roman"/>
                <a:ea typeface="Times New Roman"/>
              </a:rPr>
              <a:t>Device files are traditionally found in /dev</a:t>
            </a:r>
            <a:endParaRPr b="0" lang="en-IN" sz="24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 </a:t>
            </a:r>
            <a:r>
              <a:rPr b="0" i="1" lang="en-IN" sz="2000" strike="noStrike" u="none">
                <a:solidFill>
                  <a:srgbClr val="000000"/>
                </a:solidFill>
                <a:effectLst/>
                <a:uFillTx/>
                <a:latin typeface="Times New Roman"/>
                <a:ea typeface="Times New Roman"/>
              </a:rPr>
              <a:t>ls -l /dev</a:t>
            </a: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crw--w--w- 1 root      </a:t>
            </a:r>
            <a:r>
              <a:rPr b="0" lang="en-IN" sz="2000" strike="noStrike" u="none">
                <a:solidFill>
                  <a:srgbClr val="000000"/>
                </a:solidFill>
                <a:effectLst/>
                <a:uFillTx/>
                <a:latin typeface="Times New Roman"/>
                <a:ea typeface="Times New Roman"/>
              </a:rPr>
              <a:t>	</a:t>
            </a:r>
            <a:r>
              <a:rPr b="0" lang="en-IN" sz="2000" strike="noStrike" u="none">
                <a:solidFill>
                  <a:srgbClr val="000000"/>
                </a:solidFill>
                <a:effectLst/>
                <a:uFillTx/>
                <a:latin typeface="Times New Roman"/>
                <a:ea typeface="Times New Roman"/>
              </a:rPr>
              <a:t>0,  </a:t>
            </a:r>
            <a:r>
              <a:rPr b="0" lang="en-IN" sz="2000" strike="noStrike" u="none">
                <a:solidFill>
                  <a:srgbClr val="000000"/>
                </a:solidFill>
                <a:effectLst/>
                <a:uFillTx/>
                <a:latin typeface="Times New Roman"/>
                <a:ea typeface="Times New Roman"/>
              </a:rPr>
              <a:t>	</a:t>
            </a:r>
            <a:r>
              <a:rPr b="0" lang="en-IN" sz="2000" strike="noStrike" u="none">
                <a:solidFill>
                  <a:srgbClr val="000000"/>
                </a:solidFill>
                <a:effectLst/>
                <a:uFillTx/>
                <a:latin typeface="Times New Roman"/>
                <a:ea typeface="Times New Roman"/>
              </a:rPr>
              <a:t>0 </a:t>
            </a:r>
            <a:r>
              <a:rPr b="0" lang="en-IN" sz="2000" strike="noStrike" u="none">
                <a:solidFill>
                  <a:srgbClr val="000000"/>
                </a:solidFill>
                <a:effectLst/>
                <a:uFillTx/>
                <a:latin typeface="Times New Roman"/>
                <a:ea typeface="Times New Roman"/>
              </a:rPr>
              <a:t>	</a:t>
            </a:r>
            <a:r>
              <a:rPr b="0" lang="en-IN" sz="2000" strike="noStrike" u="none">
                <a:solidFill>
                  <a:srgbClr val="000000"/>
                </a:solidFill>
                <a:effectLst/>
                <a:uFillTx/>
                <a:latin typeface="Times New Roman"/>
                <a:ea typeface="Times New Roman"/>
              </a:rPr>
              <a:t>Sep 27 23:09 </a:t>
            </a:r>
            <a:r>
              <a:rPr b="0" lang="en-IN" sz="2000" strike="noStrike" u="none">
                <a:solidFill>
                  <a:srgbClr val="000000"/>
                </a:solidFill>
                <a:effectLst/>
                <a:uFillTx/>
                <a:latin typeface="Times New Roman"/>
                <a:ea typeface="Times New Roman"/>
              </a:rPr>
              <a:t>	</a:t>
            </a:r>
            <a:r>
              <a:rPr b="0" lang="en-IN" sz="2000" strike="noStrike" u="none">
                <a:solidFill>
                  <a:srgbClr val="000000"/>
                </a:solidFill>
                <a:effectLst/>
                <a:uFillTx/>
                <a:latin typeface="Times New Roman"/>
                <a:ea typeface="Times New Roman"/>
              </a:rPr>
              <a:t>console</a:t>
            </a: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crw-r--r-- 1 root      </a:t>
            </a:r>
            <a:r>
              <a:rPr b="0" lang="en-IN" sz="2000" strike="noStrike" u="none">
                <a:solidFill>
                  <a:srgbClr val="000000"/>
                </a:solidFill>
                <a:effectLst/>
                <a:uFillTx/>
                <a:latin typeface="Times New Roman"/>
                <a:ea typeface="Times New Roman"/>
              </a:rPr>
              <a:t>	</a:t>
            </a:r>
            <a:r>
              <a:rPr b="0" lang="en-IN" sz="2000" strike="noStrike" u="none">
                <a:solidFill>
                  <a:srgbClr val="000000"/>
                </a:solidFill>
                <a:effectLst/>
                <a:uFillTx/>
                <a:latin typeface="Times New Roman"/>
                <a:ea typeface="Times New Roman"/>
              </a:rPr>
              <a:t>3,  </a:t>
            </a:r>
            <a:r>
              <a:rPr b="0" lang="en-IN" sz="2000" strike="noStrike" u="none">
                <a:solidFill>
                  <a:srgbClr val="000000"/>
                </a:solidFill>
                <a:effectLst/>
                <a:uFillTx/>
                <a:latin typeface="Times New Roman"/>
                <a:ea typeface="Times New Roman"/>
              </a:rPr>
              <a:t>	</a:t>
            </a:r>
            <a:r>
              <a:rPr b="0" lang="en-IN" sz="2000" strike="noStrike" u="none">
                <a:solidFill>
                  <a:srgbClr val="000000"/>
                </a:solidFill>
                <a:effectLst/>
                <a:uFillTx/>
                <a:latin typeface="Times New Roman"/>
                <a:ea typeface="Times New Roman"/>
              </a:rPr>
              <a:t>1 </a:t>
            </a:r>
            <a:r>
              <a:rPr b="0" lang="en-IN" sz="2000" strike="noStrike" u="none">
                <a:solidFill>
                  <a:srgbClr val="000000"/>
                </a:solidFill>
                <a:effectLst/>
                <a:uFillTx/>
                <a:latin typeface="Times New Roman"/>
                <a:ea typeface="Times New Roman"/>
              </a:rPr>
              <a:t>	</a:t>
            </a:r>
            <a:r>
              <a:rPr b="0" lang="en-IN" sz="2000" strike="noStrike" u="none">
                <a:solidFill>
                  <a:srgbClr val="000000"/>
                </a:solidFill>
                <a:effectLst/>
                <a:uFillTx/>
                <a:latin typeface="Times New Roman"/>
                <a:ea typeface="Times New Roman"/>
              </a:rPr>
              <a:t>Sep 27 14:37 </a:t>
            </a:r>
            <a:r>
              <a:rPr b="0" lang="en-IN" sz="2000" strike="noStrike" u="none">
                <a:solidFill>
                  <a:srgbClr val="000000"/>
                </a:solidFill>
                <a:effectLst/>
                <a:uFillTx/>
                <a:latin typeface="Times New Roman"/>
                <a:ea typeface="Times New Roman"/>
              </a:rPr>
              <a:t>	</a:t>
            </a:r>
            <a:r>
              <a:rPr b="0" lang="en-IN" sz="2000" strike="noStrike" u="none">
                <a:solidFill>
                  <a:srgbClr val="000000"/>
                </a:solidFill>
                <a:effectLst/>
                <a:uFillTx/>
                <a:latin typeface="Times New Roman"/>
                <a:ea typeface="Times New Roman"/>
              </a:rPr>
              <a:t>kmem</a:t>
            </a: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crw-r--r-- 1 root      </a:t>
            </a:r>
            <a:r>
              <a:rPr b="0" lang="en-IN" sz="2000" strike="noStrike" u="none">
                <a:solidFill>
                  <a:srgbClr val="000000"/>
                </a:solidFill>
                <a:effectLst/>
                <a:uFillTx/>
                <a:latin typeface="Times New Roman"/>
                <a:ea typeface="Times New Roman"/>
              </a:rPr>
              <a:t>	</a:t>
            </a:r>
            <a:r>
              <a:rPr b="0" lang="en-IN" sz="2000" strike="noStrike" u="none">
                <a:solidFill>
                  <a:srgbClr val="000000"/>
                </a:solidFill>
                <a:effectLst/>
                <a:uFillTx/>
                <a:latin typeface="Times New Roman"/>
                <a:ea typeface="Times New Roman"/>
              </a:rPr>
              <a:t>3,  </a:t>
            </a:r>
            <a:r>
              <a:rPr b="0" lang="en-IN" sz="2000" strike="noStrike" u="none">
                <a:solidFill>
                  <a:srgbClr val="000000"/>
                </a:solidFill>
                <a:effectLst/>
                <a:uFillTx/>
                <a:latin typeface="Times New Roman"/>
                <a:ea typeface="Times New Roman"/>
              </a:rPr>
              <a:t>	</a:t>
            </a:r>
            <a:r>
              <a:rPr b="0" lang="en-IN" sz="2000" strike="noStrike" u="none">
                <a:solidFill>
                  <a:srgbClr val="000000"/>
                </a:solidFill>
                <a:effectLst/>
                <a:uFillTx/>
                <a:latin typeface="Times New Roman"/>
                <a:ea typeface="Times New Roman"/>
              </a:rPr>
              <a:t>0 </a:t>
            </a:r>
            <a:r>
              <a:rPr b="0" lang="en-IN" sz="2000" strike="noStrike" u="none">
                <a:solidFill>
                  <a:srgbClr val="000000"/>
                </a:solidFill>
                <a:effectLst/>
                <a:uFillTx/>
                <a:latin typeface="Times New Roman"/>
                <a:ea typeface="Times New Roman"/>
              </a:rPr>
              <a:t>	</a:t>
            </a:r>
            <a:r>
              <a:rPr b="0" lang="en-IN" sz="2000" strike="noStrike" u="none">
                <a:solidFill>
                  <a:srgbClr val="000000"/>
                </a:solidFill>
                <a:effectLst/>
                <a:uFillTx/>
                <a:latin typeface="Times New Roman"/>
                <a:ea typeface="Times New Roman"/>
              </a:rPr>
              <a:t>May  6, 1981 </a:t>
            </a:r>
            <a:r>
              <a:rPr b="0" lang="en-IN" sz="2000" strike="noStrike" u="none">
                <a:solidFill>
                  <a:srgbClr val="000000"/>
                </a:solidFill>
                <a:effectLst/>
                <a:uFillTx/>
                <a:latin typeface="Times New Roman"/>
                <a:ea typeface="Times New Roman"/>
              </a:rPr>
              <a:t>	</a:t>
            </a:r>
            <a:r>
              <a:rPr b="0" lang="en-IN" sz="2000" strike="noStrike" u="none">
                <a:solidFill>
                  <a:srgbClr val="000000"/>
                </a:solidFill>
                <a:effectLst/>
                <a:uFillTx/>
                <a:latin typeface="Times New Roman"/>
                <a:ea typeface="Times New Roman"/>
              </a:rPr>
              <a:t>mem</a:t>
            </a: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brw-r--r-- 1 root      </a:t>
            </a:r>
            <a:r>
              <a:rPr b="0" lang="en-IN" sz="2000" strike="noStrike" u="none">
                <a:solidFill>
                  <a:srgbClr val="000000"/>
                </a:solidFill>
                <a:effectLst/>
                <a:uFillTx/>
                <a:latin typeface="Times New Roman"/>
                <a:ea typeface="Times New Roman"/>
              </a:rPr>
              <a:t>	</a:t>
            </a:r>
            <a:r>
              <a:rPr b="0" lang="en-IN" sz="2000" strike="noStrike" u="none">
                <a:solidFill>
                  <a:srgbClr val="000000"/>
                </a:solidFill>
                <a:effectLst/>
                <a:uFillTx/>
                <a:latin typeface="Times New Roman"/>
                <a:ea typeface="Times New Roman"/>
              </a:rPr>
              <a:t>1, </a:t>
            </a:r>
            <a:r>
              <a:rPr b="0" lang="en-IN" sz="2000" strike="noStrike" u="none">
                <a:solidFill>
                  <a:srgbClr val="000000"/>
                </a:solidFill>
                <a:effectLst/>
                <a:uFillTx/>
                <a:latin typeface="Times New Roman"/>
                <a:ea typeface="Times New Roman"/>
              </a:rPr>
              <a:t>	</a:t>
            </a:r>
            <a:r>
              <a:rPr b="0" lang="en-IN" sz="2000" strike="noStrike" u="none">
                <a:solidFill>
                  <a:srgbClr val="000000"/>
                </a:solidFill>
                <a:effectLst/>
                <a:uFillTx/>
                <a:latin typeface="Times New Roman"/>
                <a:ea typeface="Times New Roman"/>
              </a:rPr>
              <a:t>64 </a:t>
            </a:r>
            <a:r>
              <a:rPr b="0" lang="en-IN" sz="2000" strike="noStrike" u="none">
                <a:solidFill>
                  <a:srgbClr val="000000"/>
                </a:solidFill>
                <a:effectLst/>
                <a:uFillTx/>
                <a:latin typeface="Times New Roman"/>
                <a:ea typeface="Times New Roman"/>
              </a:rPr>
              <a:t>	</a:t>
            </a:r>
            <a:r>
              <a:rPr b="0" lang="en-IN" sz="2000" strike="noStrike" u="none">
                <a:solidFill>
                  <a:srgbClr val="000000"/>
                </a:solidFill>
                <a:effectLst/>
                <a:uFillTx/>
                <a:latin typeface="Times New Roman"/>
                <a:ea typeface="Times New Roman"/>
              </a:rPr>
              <a:t>Aug 24 17:41 </a:t>
            </a:r>
            <a:r>
              <a:rPr b="0" lang="en-IN" sz="2000" strike="noStrike" u="none">
                <a:solidFill>
                  <a:srgbClr val="000000"/>
                </a:solidFill>
                <a:effectLst/>
                <a:uFillTx/>
                <a:latin typeface="Times New Roman"/>
                <a:ea typeface="Times New Roman"/>
              </a:rPr>
              <a:t>	</a:t>
            </a:r>
            <a:r>
              <a:rPr b="0" lang="en-IN" sz="2000" strike="noStrike" u="none">
                <a:solidFill>
                  <a:srgbClr val="000000"/>
                </a:solidFill>
                <a:effectLst/>
                <a:uFillTx/>
                <a:latin typeface="Times New Roman"/>
                <a:ea typeface="Times New Roman"/>
              </a:rPr>
              <a:t>mt0</a:t>
            </a: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crw-rw-rw- 1 root     </a:t>
            </a:r>
            <a:r>
              <a:rPr b="0" lang="en-IN" sz="2000" strike="noStrike" u="none">
                <a:solidFill>
                  <a:srgbClr val="000000"/>
                </a:solidFill>
                <a:effectLst/>
                <a:uFillTx/>
                <a:latin typeface="Times New Roman"/>
                <a:ea typeface="Times New Roman"/>
              </a:rPr>
              <a:t>	</a:t>
            </a:r>
            <a:r>
              <a:rPr b="0" lang="en-IN" sz="2000" strike="noStrike" u="none">
                <a:solidFill>
                  <a:srgbClr val="000000"/>
                </a:solidFill>
                <a:effectLst/>
                <a:uFillTx/>
                <a:latin typeface="Times New Roman"/>
                <a:ea typeface="Times New Roman"/>
              </a:rPr>
              <a:t>3,  </a:t>
            </a:r>
            <a:r>
              <a:rPr b="0" lang="en-IN" sz="2000" strike="noStrike" u="none">
                <a:solidFill>
                  <a:srgbClr val="000000"/>
                </a:solidFill>
                <a:effectLst/>
                <a:uFillTx/>
                <a:latin typeface="Times New Roman"/>
                <a:ea typeface="Times New Roman"/>
              </a:rPr>
              <a:t>	</a:t>
            </a:r>
            <a:r>
              <a:rPr b="0" lang="en-IN" sz="2000" strike="noStrike" u="none">
                <a:solidFill>
                  <a:srgbClr val="000000"/>
                </a:solidFill>
                <a:effectLst/>
                <a:uFillTx/>
                <a:latin typeface="Times New Roman"/>
                <a:ea typeface="Times New Roman"/>
              </a:rPr>
              <a:t>2 </a:t>
            </a:r>
            <a:r>
              <a:rPr b="0" lang="en-IN" sz="2000" strike="noStrike" u="none">
                <a:solidFill>
                  <a:srgbClr val="000000"/>
                </a:solidFill>
                <a:effectLst/>
                <a:uFillTx/>
                <a:latin typeface="Times New Roman"/>
                <a:ea typeface="Times New Roman"/>
              </a:rPr>
              <a:t>	</a:t>
            </a:r>
            <a:r>
              <a:rPr b="0" lang="en-IN" sz="2000" strike="noStrike" u="none">
                <a:solidFill>
                  <a:srgbClr val="000000"/>
                </a:solidFill>
                <a:effectLst/>
                <a:uFillTx/>
                <a:latin typeface="Times New Roman"/>
                <a:ea typeface="Times New Roman"/>
              </a:rPr>
              <a:t>Sep 28 02:03 </a:t>
            </a:r>
            <a:r>
              <a:rPr b="0" lang="en-IN" sz="2000" strike="noStrike" u="none">
                <a:solidFill>
                  <a:srgbClr val="000000"/>
                </a:solidFill>
                <a:effectLst/>
                <a:uFillTx/>
                <a:latin typeface="Times New Roman"/>
                <a:ea typeface="Times New Roman"/>
              </a:rPr>
              <a:t>	</a:t>
            </a:r>
            <a:r>
              <a:rPr b="0" lang="en-IN" sz="2000" strike="noStrike" u="none">
                <a:solidFill>
                  <a:srgbClr val="000000"/>
                </a:solidFill>
                <a:effectLst/>
                <a:uFillTx/>
                <a:latin typeface="Times New Roman"/>
                <a:ea typeface="Times New Roman"/>
              </a:rPr>
              <a:t>null</a:t>
            </a: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crw-rw-rw- 1 root      </a:t>
            </a:r>
            <a:r>
              <a:rPr b="0" lang="en-IN" sz="2000" strike="noStrike" u="none">
                <a:solidFill>
                  <a:srgbClr val="000000"/>
                </a:solidFill>
                <a:effectLst/>
                <a:uFillTx/>
                <a:latin typeface="Times New Roman"/>
                <a:ea typeface="Times New Roman"/>
              </a:rPr>
              <a:t>	</a:t>
            </a:r>
            <a:r>
              <a:rPr b="0" lang="en-IN" sz="2000" strike="noStrike" u="none">
                <a:solidFill>
                  <a:srgbClr val="000000"/>
                </a:solidFill>
                <a:effectLst/>
                <a:uFillTx/>
                <a:latin typeface="Times New Roman"/>
                <a:ea typeface="Times New Roman"/>
              </a:rPr>
              <a:t>5,  </a:t>
            </a:r>
            <a:r>
              <a:rPr b="0" lang="en-IN" sz="2000" strike="noStrike" u="none">
                <a:solidFill>
                  <a:srgbClr val="000000"/>
                </a:solidFill>
                <a:effectLst/>
                <a:uFillTx/>
                <a:latin typeface="Times New Roman"/>
                <a:ea typeface="Times New Roman"/>
              </a:rPr>
              <a:t>	</a:t>
            </a:r>
            <a:r>
              <a:rPr b="0" lang="en-IN" sz="2000" strike="noStrike" u="none">
                <a:solidFill>
                  <a:srgbClr val="000000"/>
                </a:solidFill>
                <a:effectLst/>
                <a:uFillTx/>
                <a:latin typeface="Times New Roman"/>
                <a:ea typeface="Times New Roman"/>
              </a:rPr>
              <a:t>0 </a:t>
            </a:r>
            <a:r>
              <a:rPr b="0" lang="en-IN" sz="2000" strike="noStrike" u="none">
                <a:solidFill>
                  <a:srgbClr val="000000"/>
                </a:solidFill>
                <a:effectLst/>
                <a:uFillTx/>
                <a:latin typeface="Times New Roman"/>
                <a:ea typeface="Times New Roman"/>
              </a:rPr>
              <a:t>	</a:t>
            </a:r>
            <a:r>
              <a:rPr b="0" lang="en-IN" sz="2000" strike="noStrike" u="none">
                <a:solidFill>
                  <a:srgbClr val="000000"/>
                </a:solidFill>
                <a:effectLst/>
                <a:uFillTx/>
                <a:latin typeface="Times New Roman"/>
                <a:ea typeface="Times New Roman"/>
              </a:rPr>
              <a:t>Jul  5 08:04 </a:t>
            </a:r>
            <a:r>
              <a:rPr b="0" lang="en-IN" sz="2000" strike="noStrike" u="none">
                <a:solidFill>
                  <a:srgbClr val="000000"/>
                </a:solidFill>
                <a:effectLst/>
                <a:uFillTx/>
                <a:latin typeface="Times New Roman"/>
                <a:ea typeface="Times New Roman"/>
              </a:rPr>
              <a:t>	</a:t>
            </a:r>
            <a:r>
              <a:rPr b="0" lang="en-IN" sz="2000" strike="noStrike" u="none">
                <a:solidFill>
                  <a:srgbClr val="000000"/>
                </a:solidFill>
                <a:effectLst/>
                <a:uFillTx/>
                <a:latin typeface="Times New Roman"/>
                <a:ea typeface="Times New Roman"/>
              </a:rPr>
              <a:t>tty</a:t>
            </a: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crw--w--w- 1 root      </a:t>
            </a:r>
            <a:r>
              <a:rPr b="0" lang="en-IN" sz="2000" strike="noStrike" u="none">
                <a:solidFill>
                  <a:srgbClr val="000000"/>
                </a:solidFill>
                <a:effectLst/>
                <a:uFillTx/>
                <a:latin typeface="Times New Roman"/>
                <a:ea typeface="Times New Roman"/>
              </a:rPr>
              <a:t>	</a:t>
            </a:r>
            <a:r>
              <a:rPr b="0" lang="en-IN" sz="2000" strike="noStrike" u="none">
                <a:solidFill>
                  <a:srgbClr val="000000"/>
                </a:solidFill>
                <a:effectLst/>
                <a:uFillTx/>
                <a:latin typeface="Times New Roman"/>
                <a:ea typeface="Times New Roman"/>
              </a:rPr>
              <a:t>4,  </a:t>
            </a:r>
            <a:r>
              <a:rPr b="0" lang="en-IN" sz="2000" strike="noStrike" u="none">
                <a:solidFill>
                  <a:srgbClr val="000000"/>
                </a:solidFill>
                <a:effectLst/>
                <a:uFillTx/>
                <a:latin typeface="Times New Roman"/>
                <a:ea typeface="Times New Roman"/>
              </a:rPr>
              <a:t>	</a:t>
            </a:r>
            <a:r>
              <a:rPr b="0" lang="en-IN" sz="2000" strike="noStrike" u="none">
                <a:solidFill>
                  <a:srgbClr val="000000"/>
                </a:solidFill>
                <a:effectLst/>
                <a:uFillTx/>
                <a:latin typeface="Times New Roman"/>
                <a:ea typeface="Times New Roman"/>
              </a:rPr>
              <a:t>0 </a:t>
            </a:r>
            <a:r>
              <a:rPr b="0" lang="en-IN" sz="2000" strike="noStrike" u="none">
                <a:solidFill>
                  <a:srgbClr val="000000"/>
                </a:solidFill>
                <a:effectLst/>
                <a:uFillTx/>
                <a:latin typeface="Times New Roman"/>
                <a:ea typeface="Times New Roman"/>
              </a:rPr>
              <a:t>	</a:t>
            </a:r>
            <a:r>
              <a:rPr b="0" lang="en-IN" sz="2000" strike="noStrike" u="none">
                <a:solidFill>
                  <a:srgbClr val="000000"/>
                </a:solidFill>
                <a:effectLst/>
                <a:uFillTx/>
                <a:latin typeface="Times New Roman"/>
                <a:ea typeface="Times New Roman"/>
              </a:rPr>
              <a:t>Sep 28 02:38 </a:t>
            </a:r>
            <a:r>
              <a:rPr b="0" lang="en-IN" sz="2000" strike="noStrike" u="none">
                <a:solidFill>
                  <a:srgbClr val="000000"/>
                </a:solidFill>
                <a:effectLst/>
                <a:uFillTx/>
                <a:latin typeface="Times New Roman"/>
                <a:ea typeface="Times New Roman"/>
              </a:rPr>
              <a:t>	</a:t>
            </a:r>
            <a:r>
              <a:rPr b="0" lang="en-IN" sz="2000" strike="noStrike" u="none">
                <a:solidFill>
                  <a:srgbClr val="000000"/>
                </a:solidFill>
                <a:effectLst/>
                <a:uFillTx/>
                <a:latin typeface="Times New Roman"/>
                <a:ea typeface="Times New Roman"/>
              </a:rPr>
              <a:t>tty0</a:t>
            </a: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crw--w--w- 1 root      </a:t>
            </a:r>
            <a:r>
              <a:rPr b="0" lang="en-IN" sz="2000" strike="noStrike" u="none">
                <a:solidFill>
                  <a:srgbClr val="000000"/>
                </a:solidFill>
                <a:effectLst/>
                <a:uFillTx/>
                <a:latin typeface="Times New Roman"/>
                <a:ea typeface="Times New Roman"/>
              </a:rPr>
              <a:t>	</a:t>
            </a:r>
            <a:r>
              <a:rPr b="0" lang="en-IN" sz="2000" strike="noStrike" u="none">
                <a:solidFill>
                  <a:srgbClr val="000000"/>
                </a:solidFill>
                <a:effectLst/>
                <a:uFillTx/>
                <a:latin typeface="Times New Roman"/>
                <a:ea typeface="Times New Roman"/>
              </a:rPr>
              <a:t>4,  </a:t>
            </a:r>
            <a:r>
              <a:rPr b="0" lang="en-IN" sz="2000" strike="noStrike" u="none">
                <a:solidFill>
                  <a:srgbClr val="000000"/>
                </a:solidFill>
                <a:effectLst/>
                <a:uFillTx/>
                <a:latin typeface="Times New Roman"/>
                <a:ea typeface="Times New Roman"/>
              </a:rPr>
              <a:t>	</a:t>
            </a:r>
            <a:r>
              <a:rPr b="0" lang="en-IN" sz="2000" strike="noStrike" u="none">
                <a:solidFill>
                  <a:srgbClr val="000000"/>
                </a:solidFill>
                <a:effectLst/>
                <a:uFillTx/>
                <a:latin typeface="Times New Roman"/>
                <a:ea typeface="Times New Roman"/>
              </a:rPr>
              <a:t>1 </a:t>
            </a:r>
            <a:r>
              <a:rPr b="0" lang="en-IN" sz="2000" strike="noStrike" u="none">
                <a:solidFill>
                  <a:srgbClr val="000000"/>
                </a:solidFill>
                <a:effectLst/>
                <a:uFillTx/>
                <a:latin typeface="Times New Roman"/>
                <a:ea typeface="Times New Roman"/>
              </a:rPr>
              <a:t>	</a:t>
            </a:r>
            <a:r>
              <a:rPr b="0" lang="en-IN" sz="2000" strike="noStrike" u="none">
                <a:solidFill>
                  <a:srgbClr val="000000"/>
                </a:solidFill>
                <a:effectLst/>
                <a:uFillTx/>
                <a:latin typeface="Times New Roman"/>
                <a:ea typeface="Times New Roman"/>
              </a:rPr>
              <a:t>Sep 27 23:09 </a:t>
            </a:r>
            <a:r>
              <a:rPr b="0" lang="en-IN" sz="2000" strike="noStrike" u="none">
                <a:solidFill>
                  <a:srgbClr val="000000"/>
                </a:solidFill>
                <a:effectLst/>
                <a:uFillTx/>
                <a:latin typeface="Times New Roman"/>
                <a:ea typeface="Times New Roman"/>
              </a:rPr>
              <a:t>	</a:t>
            </a:r>
            <a:r>
              <a:rPr b="0" lang="en-IN" sz="2000" strike="noStrike" u="none">
                <a:solidFill>
                  <a:srgbClr val="000000"/>
                </a:solidFill>
                <a:effectLst/>
                <a:uFillTx/>
                <a:latin typeface="Times New Roman"/>
                <a:ea typeface="Times New Roman"/>
              </a:rPr>
              <a:t>tty1</a:t>
            </a: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brw-r----- 1 root      </a:t>
            </a:r>
            <a:r>
              <a:rPr b="0" lang="en-IN" sz="2000" strike="noStrike" u="none">
                <a:solidFill>
                  <a:srgbClr val="000000"/>
                </a:solidFill>
                <a:effectLst/>
                <a:uFillTx/>
                <a:latin typeface="Times New Roman"/>
                <a:ea typeface="Times New Roman"/>
              </a:rPr>
              <a:t>	</a:t>
            </a:r>
            <a:r>
              <a:rPr b="0" lang="en-IN" sz="2000" strike="noStrike" u="none">
                <a:solidFill>
                  <a:srgbClr val="000000"/>
                </a:solidFill>
                <a:effectLst/>
                <a:uFillTx/>
                <a:latin typeface="Times New Roman"/>
                <a:ea typeface="Times New Roman"/>
              </a:rPr>
              <a:t>8,  </a:t>
            </a:r>
            <a:r>
              <a:rPr b="0" lang="en-IN" sz="2000" strike="noStrike" u="none">
                <a:solidFill>
                  <a:srgbClr val="000000"/>
                </a:solidFill>
                <a:effectLst/>
                <a:uFillTx/>
                <a:latin typeface="Times New Roman"/>
                <a:ea typeface="Times New Roman"/>
              </a:rPr>
              <a:t>	</a:t>
            </a:r>
            <a:r>
              <a:rPr b="0" lang="en-IN" sz="2000" strike="noStrike" u="none">
                <a:solidFill>
                  <a:srgbClr val="000000"/>
                </a:solidFill>
                <a:effectLst/>
                <a:uFillTx/>
                <a:latin typeface="Times New Roman"/>
                <a:ea typeface="Times New Roman"/>
              </a:rPr>
              <a:t>0 </a:t>
            </a:r>
            <a:r>
              <a:rPr b="0" lang="en-IN" sz="2000" strike="noStrike" u="none">
                <a:solidFill>
                  <a:srgbClr val="000000"/>
                </a:solidFill>
                <a:effectLst/>
                <a:uFillTx/>
                <a:latin typeface="Times New Roman"/>
                <a:ea typeface="Times New Roman"/>
              </a:rPr>
              <a:t>	</a:t>
            </a:r>
            <a:r>
              <a:rPr b="0" lang="en-IN" sz="2000" strike="noStrike" u="none">
                <a:solidFill>
                  <a:srgbClr val="000000"/>
                </a:solidFill>
                <a:effectLst/>
                <a:uFillTx/>
                <a:latin typeface="Times New Roman"/>
                <a:ea typeface="Times New Roman"/>
              </a:rPr>
              <a:t>Sep  8 08:07 </a:t>
            </a:r>
            <a:r>
              <a:rPr b="0" lang="en-IN" sz="2000" strike="noStrike" u="none">
                <a:solidFill>
                  <a:srgbClr val="000000"/>
                </a:solidFill>
                <a:effectLst/>
                <a:uFillTx/>
                <a:latin typeface="Times New Roman"/>
                <a:ea typeface="Times New Roman"/>
              </a:rPr>
              <a:t>	</a:t>
            </a:r>
            <a:r>
              <a:rPr b="0" lang="en-IN" sz="2000" strike="noStrike" u="none">
                <a:solidFill>
                  <a:srgbClr val="000000"/>
                </a:solidFill>
                <a:effectLst/>
                <a:uFillTx/>
                <a:latin typeface="Times New Roman"/>
                <a:ea typeface="Times New Roman"/>
              </a:rPr>
              <a:t>sda</a:t>
            </a: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brw-r--r-- 1 root      </a:t>
            </a:r>
            <a:r>
              <a:rPr b="0" lang="en-IN" sz="2000" strike="noStrike" u="none">
                <a:solidFill>
                  <a:srgbClr val="000000"/>
                </a:solidFill>
                <a:effectLst/>
                <a:uFillTx/>
                <a:latin typeface="Times New Roman"/>
                <a:ea typeface="Times New Roman"/>
              </a:rPr>
              <a:t>	</a:t>
            </a:r>
            <a:r>
              <a:rPr b="0" lang="en-IN" sz="2000" strike="noStrike" u="none">
                <a:solidFill>
                  <a:srgbClr val="000000"/>
                </a:solidFill>
                <a:effectLst/>
                <a:uFillTx/>
                <a:latin typeface="Times New Roman"/>
                <a:ea typeface="Times New Roman"/>
              </a:rPr>
              <a:t>8,  </a:t>
            </a:r>
            <a:r>
              <a:rPr b="0" lang="en-IN" sz="2000" strike="noStrike" u="none">
                <a:solidFill>
                  <a:srgbClr val="000000"/>
                </a:solidFill>
                <a:effectLst/>
                <a:uFillTx/>
                <a:latin typeface="Times New Roman"/>
                <a:ea typeface="Times New Roman"/>
              </a:rPr>
              <a:t>	</a:t>
            </a:r>
            <a:r>
              <a:rPr b="0" lang="en-IN" sz="2000" strike="noStrike" u="none">
                <a:solidFill>
                  <a:srgbClr val="000000"/>
                </a:solidFill>
                <a:effectLst/>
                <a:uFillTx/>
                <a:latin typeface="Times New Roman"/>
                <a:ea typeface="Times New Roman"/>
              </a:rPr>
              <a:t>1 </a:t>
            </a:r>
            <a:r>
              <a:rPr b="0" lang="en-IN" sz="2000" strike="noStrike" u="none">
                <a:solidFill>
                  <a:srgbClr val="000000"/>
                </a:solidFill>
                <a:effectLst/>
                <a:uFillTx/>
                <a:latin typeface="Times New Roman"/>
                <a:ea typeface="Times New Roman"/>
              </a:rPr>
              <a:t>	</a:t>
            </a:r>
            <a:r>
              <a:rPr b="0" lang="en-IN" sz="2000" strike="noStrike" u="none">
                <a:solidFill>
                  <a:srgbClr val="000000"/>
                </a:solidFill>
                <a:effectLst/>
                <a:uFillTx/>
                <a:latin typeface="Times New Roman"/>
                <a:ea typeface="Times New Roman"/>
              </a:rPr>
              <a:t>Sep  8 08:07 </a:t>
            </a:r>
            <a:r>
              <a:rPr b="0" lang="en-IN" sz="2000" strike="noStrike" u="none">
                <a:solidFill>
                  <a:srgbClr val="000000"/>
                </a:solidFill>
                <a:effectLst/>
                <a:uFillTx/>
                <a:latin typeface="Times New Roman"/>
                <a:ea typeface="Times New Roman"/>
              </a:rPr>
              <a:t>	</a:t>
            </a:r>
            <a:r>
              <a:rPr b="0" lang="en-IN" sz="2000" strike="noStrike" u="none">
                <a:solidFill>
                  <a:srgbClr val="000000"/>
                </a:solidFill>
                <a:effectLst/>
                <a:uFillTx/>
                <a:latin typeface="Times New Roman"/>
                <a:ea typeface="Times New Roman"/>
              </a:rPr>
              <a:t>sda1</a:t>
            </a: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brw-r--r-- 1 root      </a:t>
            </a:r>
            <a:r>
              <a:rPr b="0" lang="en-IN" sz="2000" strike="noStrike" u="none">
                <a:solidFill>
                  <a:srgbClr val="000000"/>
                </a:solidFill>
                <a:effectLst/>
                <a:uFillTx/>
                <a:latin typeface="Times New Roman"/>
                <a:ea typeface="Times New Roman"/>
              </a:rPr>
              <a:t>	</a:t>
            </a:r>
            <a:r>
              <a:rPr b="0" lang="en-IN" sz="2000" strike="noStrike" u="none">
                <a:solidFill>
                  <a:srgbClr val="000000"/>
                </a:solidFill>
                <a:effectLst/>
                <a:uFillTx/>
                <a:latin typeface="Times New Roman"/>
                <a:ea typeface="Times New Roman"/>
              </a:rPr>
              <a:t>8,  </a:t>
            </a:r>
            <a:r>
              <a:rPr b="0" lang="en-IN" sz="2000" strike="noStrike" u="none">
                <a:solidFill>
                  <a:srgbClr val="000000"/>
                </a:solidFill>
                <a:effectLst/>
                <a:uFillTx/>
                <a:latin typeface="Times New Roman"/>
                <a:ea typeface="Times New Roman"/>
              </a:rPr>
              <a:t>	</a:t>
            </a:r>
            <a:r>
              <a:rPr b="0" lang="en-IN" sz="2000" strike="noStrike" u="none">
                <a:solidFill>
                  <a:srgbClr val="000000"/>
                </a:solidFill>
                <a:effectLst/>
                <a:uFillTx/>
                <a:latin typeface="Times New Roman"/>
                <a:ea typeface="Times New Roman"/>
              </a:rPr>
              <a:t>2 </a:t>
            </a:r>
            <a:r>
              <a:rPr b="0" lang="en-IN" sz="2000" strike="noStrike" u="none">
                <a:solidFill>
                  <a:srgbClr val="000000"/>
                </a:solidFill>
                <a:effectLst/>
                <a:uFillTx/>
                <a:latin typeface="Times New Roman"/>
                <a:ea typeface="Times New Roman"/>
              </a:rPr>
              <a:t>	</a:t>
            </a:r>
            <a:r>
              <a:rPr b="0" lang="en-IN" sz="2000" strike="noStrike" u="none">
                <a:solidFill>
                  <a:srgbClr val="000000"/>
                </a:solidFill>
                <a:effectLst/>
                <a:uFillTx/>
                <a:latin typeface="Times New Roman"/>
                <a:ea typeface="Times New Roman"/>
              </a:rPr>
              <a:t>Sep  8 08:08 </a:t>
            </a:r>
            <a:r>
              <a:rPr b="0" lang="en-IN" sz="2000" strike="noStrike" u="none">
                <a:solidFill>
                  <a:srgbClr val="000000"/>
                </a:solidFill>
                <a:effectLst/>
                <a:uFillTx/>
                <a:latin typeface="Times New Roman"/>
                <a:ea typeface="Times New Roman"/>
              </a:rPr>
              <a:t>	</a:t>
            </a:r>
            <a:r>
              <a:rPr b="0" lang="en-IN" sz="2000" strike="noStrike" u="none">
                <a:solidFill>
                  <a:srgbClr val="000000"/>
                </a:solidFill>
                <a:effectLst/>
                <a:uFillTx/>
                <a:latin typeface="Times New Roman"/>
                <a:ea typeface="Times New Roman"/>
              </a:rPr>
              <a:t>sda2</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9" name=""/>
          <p:cNvSpPr txBox="1"/>
          <p:nvPr/>
        </p:nvSpPr>
        <p:spPr>
          <a:xfrm>
            <a:off x="996840" y="685800"/>
            <a:ext cx="715644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Disk Devices</a:t>
            </a:r>
            <a:endParaRPr b="0" lang="en-IN" sz="3600" strike="noStrike" u="none">
              <a:solidFill>
                <a:srgbClr val="000000"/>
              </a:solidFill>
              <a:effectLst/>
              <a:uFillTx/>
              <a:latin typeface="Arial"/>
            </a:endParaRPr>
          </a:p>
        </p:txBody>
      </p:sp>
      <p:sp>
        <p:nvSpPr>
          <p:cNvPr id="230" name=""/>
          <p:cNvSpPr txBox="1"/>
          <p:nvPr/>
        </p:nvSpPr>
        <p:spPr>
          <a:xfrm>
            <a:off x="685800" y="1219320"/>
            <a:ext cx="7696080" cy="5486400"/>
          </a:xfrm>
          <a:prstGeom prst="rect">
            <a:avLst/>
          </a:prstGeom>
          <a:noFill/>
          <a:ln w="0">
            <a:noFill/>
          </a:ln>
        </p:spPr>
        <p:txBody>
          <a:bodyPr lIns="0" rIns="0" tIns="0" bIns="0" anchor="t">
            <a:spAutoFit/>
          </a:bodyPr>
          <a:p>
            <a:pPr marL="285840" indent="-285840">
              <a:lnSpc>
                <a:spcPct val="90000"/>
              </a:lnSpc>
              <a:spcBef>
                <a:spcPts val="720"/>
              </a:spcBef>
            </a:pPr>
            <a:r>
              <a:rPr b="0" lang="en-IN" sz="2400" strike="noStrike" u="none">
                <a:solidFill>
                  <a:srgbClr val="000000"/>
                </a:solidFill>
                <a:effectLst/>
                <a:uFillTx/>
                <a:latin typeface="Times New Roman"/>
                <a:ea typeface="Times New Roman"/>
              </a:rPr>
              <a:t>Disk devices are usually named after the kind of drive</a:t>
            </a:r>
            <a:endParaRPr b="0" lang="en-IN" sz="24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For example, </a:t>
            </a:r>
            <a:r>
              <a:rPr b="0" i="1" lang="en-IN" sz="2000" strike="noStrike" u="none">
                <a:solidFill>
                  <a:srgbClr val="000000"/>
                </a:solidFill>
                <a:effectLst/>
                <a:uFillTx/>
                <a:latin typeface="Times New Roman"/>
                <a:ea typeface="Times New Roman"/>
              </a:rPr>
              <a:t>/dev/sda </a:t>
            </a:r>
            <a:r>
              <a:rPr b="0" lang="en-IN" sz="2000" strike="noStrike" u="none">
                <a:solidFill>
                  <a:srgbClr val="000000"/>
                </a:solidFill>
                <a:effectLst/>
                <a:uFillTx/>
                <a:latin typeface="Times New Roman"/>
                <a:ea typeface="Times New Roman"/>
              </a:rPr>
              <a:t>is </a:t>
            </a:r>
            <a:r>
              <a:rPr b="0" lang="en-IN" sz="2000" strike="noStrike" u="sng">
                <a:solidFill>
                  <a:srgbClr val="000000"/>
                </a:solidFill>
                <a:effectLst/>
                <a:uFillTx/>
                <a:latin typeface="Times New Roman"/>
                <a:ea typeface="Times New Roman"/>
              </a:rPr>
              <a:t>S</a:t>
            </a:r>
            <a:r>
              <a:rPr b="0" lang="en-IN" sz="2000" strike="noStrike" u="none">
                <a:solidFill>
                  <a:srgbClr val="000000"/>
                </a:solidFill>
                <a:effectLst/>
                <a:uFillTx/>
                <a:latin typeface="Times New Roman"/>
                <a:ea typeface="Times New Roman"/>
              </a:rPr>
              <a:t>CSI </a:t>
            </a:r>
            <a:r>
              <a:rPr b="0" lang="en-IN" sz="2000" strike="noStrike" u="sng">
                <a:solidFill>
                  <a:srgbClr val="000000"/>
                </a:solidFill>
                <a:effectLst/>
                <a:uFillTx/>
                <a:latin typeface="Times New Roman"/>
                <a:ea typeface="Times New Roman"/>
              </a:rPr>
              <a:t>D</a:t>
            </a:r>
            <a:r>
              <a:rPr b="0" lang="en-IN" sz="2000" strike="noStrike" u="none">
                <a:solidFill>
                  <a:srgbClr val="000000"/>
                </a:solidFill>
                <a:effectLst/>
                <a:uFillTx/>
                <a:latin typeface="Times New Roman"/>
                <a:ea typeface="Times New Roman"/>
              </a:rPr>
              <a:t>isk </a:t>
            </a:r>
            <a:r>
              <a:rPr b="0" lang="en-IN" sz="2000" strike="noStrike" u="sng">
                <a:solidFill>
                  <a:srgbClr val="000000"/>
                </a:solidFill>
                <a:effectLst/>
                <a:uFillTx/>
                <a:latin typeface="Times New Roman"/>
                <a:ea typeface="Times New Roman"/>
              </a:rPr>
              <a:t>A</a:t>
            </a:r>
            <a:endParaRPr b="0" lang="en-IN" sz="2000" strike="noStrike" u="none">
              <a:solidFill>
                <a:srgbClr val="000000"/>
              </a:solidFill>
              <a:effectLst/>
              <a:uFillTx/>
              <a:latin typeface="Arial"/>
            </a:endParaRPr>
          </a:p>
          <a:p>
            <a:pPr marL="285840" indent="-285840">
              <a:lnSpc>
                <a:spcPct val="90000"/>
              </a:lnSpc>
              <a:spcBef>
                <a:spcPts val="720"/>
              </a:spcBef>
            </a:pPr>
            <a:r>
              <a:rPr b="0" lang="en-IN" sz="2400" strike="noStrike" u="none">
                <a:solidFill>
                  <a:srgbClr val="000000"/>
                </a:solidFill>
                <a:effectLst/>
                <a:uFillTx/>
                <a:latin typeface="Times New Roman"/>
                <a:ea typeface="Times New Roman"/>
              </a:rPr>
              <a:t>Disks are divided into </a:t>
            </a:r>
            <a:r>
              <a:rPr b="0" i="1" lang="en-IN" sz="2400" strike="noStrike" u="none">
                <a:solidFill>
                  <a:srgbClr val="000000"/>
                </a:solidFill>
                <a:effectLst/>
                <a:uFillTx/>
                <a:latin typeface="Times New Roman"/>
                <a:ea typeface="Times New Roman"/>
              </a:rPr>
              <a:t>partitions</a:t>
            </a:r>
            <a:endParaRPr b="0" lang="en-IN" sz="24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/dev/sda1   /dev/sda2</a:t>
            </a:r>
            <a:endParaRPr b="0" lang="en-IN" sz="2000" strike="noStrike" u="none">
              <a:solidFill>
                <a:srgbClr val="000000"/>
              </a:solidFill>
              <a:effectLst/>
              <a:uFillTx/>
              <a:latin typeface="Arial"/>
            </a:endParaRPr>
          </a:p>
          <a:p>
            <a:pPr marL="285840" indent="-285840">
              <a:lnSpc>
                <a:spcPct val="90000"/>
              </a:lnSpc>
              <a:spcBef>
                <a:spcPts val="720"/>
              </a:spcBef>
            </a:pPr>
            <a:r>
              <a:rPr b="0" lang="en-IN" sz="2400" strike="noStrike" u="none">
                <a:solidFill>
                  <a:srgbClr val="000000"/>
                </a:solidFill>
                <a:effectLst/>
                <a:uFillTx/>
                <a:latin typeface="Times New Roman"/>
                <a:ea typeface="Times New Roman"/>
              </a:rPr>
              <a:t>Each partition is mounted, or attached, to a directory</a:t>
            </a:r>
            <a:endParaRPr b="0" lang="en-IN" sz="2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 </a:t>
            </a:r>
            <a:r>
              <a:rPr b="0" i="1" lang="en-IN" sz="1400" strike="noStrike" u="none">
                <a:solidFill>
                  <a:srgbClr val="000000"/>
                </a:solidFill>
                <a:effectLst/>
                <a:uFillTx/>
                <a:latin typeface="Times New Roman"/>
                <a:ea typeface="Times New Roman"/>
              </a:rPr>
              <a:t>/sbin/mount</a:t>
            </a:r>
            <a:endParaRPr b="0" lang="en-IN" sz="1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/dev/sda1 on /</a:t>
            </a:r>
            <a:endParaRPr b="0" lang="en-IN" sz="1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/dev/sda2 on /usr</a:t>
            </a:r>
            <a:r>
              <a:rPr b="0" lang="en-IN" sz="2000" strike="noStrike" u="none">
                <a:solidFill>
                  <a:srgbClr val="000000"/>
                </a:solidFill>
                <a:effectLst/>
                <a:uFillTx/>
                <a:latin typeface="Times New Roman"/>
                <a:ea typeface="Times New Roman"/>
              </a:rPr>
              <a:t> </a:t>
            </a:r>
            <a:endParaRPr b="0" lang="en-IN" sz="2000" strike="noStrike" u="none">
              <a:solidFill>
                <a:srgbClr val="000000"/>
              </a:solidFill>
              <a:effectLst/>
              <a:uFillTx/>
              <a:latin typeface="Arial"/>
            </a:endParaRPr>
          </a:p>
          <a:p>
            <a:pPr marL="285840" indent="-285840">
              <a:lnSpc>
                <a:spcPct val="90000"/>
              </a:lnSpc>
              <a:spcBef>
                <a:spcPts val="720"/>
              </a:spcBef>
            </a:pPr>
            <a:r>
              <a:rPr b="0" lang="en-IN" sz="2400" strike="noStrike" u="none">
                <a:solidFill>
                  <a:srgbClr val="000000"/>
                </a:solidFill>
                <a:effectLst/>
                <a:uFillTx/>
                <a:latin typeface="Times New Roman"/>
                <a:ea typeface="Times New Roman"/>
              </a:rPr>
              <a:t>Each partition contains its own </a:t>
            </a:r>
            <a:r>
              <a:rPr b="0" i="1" lang="en-IN" sz="2400" strike="noStrike" u="none">
                <a:solidFill>
                  <a:srgbClr val="000000"/>
                </a:solidFill>
                <a:effectLst/>
                <a:uFillTx/>
                <a:latin typeface="Times New Roman"/>
                <a:ea typeface="Times New Roman"/>
              </a:rPr>
              <a:t>file system</a:t>
            </a:r>
            <a:endParaRPr b="0" lang="en-IN" sz="24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A file system is a complete collection of Inodes, directories, and file blocks</a:t>
            </a:r>
            <a:endParaRPr b="0" lang="en-IN" sz="20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Inode numbers are not unique on different file systems, so links between file systems are not allowed</a:t>
            </a:r>
            <a:endParaRPr b="0" lang="en-IN" sz="20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 </a:t>
            </a:r>
            <a:r>
              <a:rPr b="0" i="1" lang="en-IN" sz="1400" strike="noStrike" u="none">
                <a:solidFill>
                  <a:srgbClr val="000000"/>
                </a:solidFill>
                <a:effectLst/>
                <a:uFillTx/>
                <a:latin typeface="Times New Roman"/>
                <a:ea typeface="Times New Roman"/>
              </a:rPr>
              <a:t>ln /bin/mail /home/class/mail</a:t>
            </a:r>
            <a:endParaRPr b="0" lang="en-IN" sz="1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ln: Cross-device link</a:t>
            </a:r>
            <a:endParaRPr b="0" lang="en-IN"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1" name=""/>
          <p:cNvSpPr txBox="1"/>
          <p:nvPr/>
        </p:nvSpPr>
        <p:spPr>
          <a:xfrm>
            <a:off x="996840" y="685800"/>
            <a:ext cx="715644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Terminal Devices</a:t>
            </a:r>
            <a:endParaRPr b="0" lang="en-IN" sz="3600" strike="noStrike" u="none">
              <a:solidFill>
                <a:srgbClr val="000000"/>
              </a:solidFill>
              <a:effectLst/>
              <a:uFillTx/>
              <a:latin typeface="Arial"/>
            </a:endParaRPr>
          </a:p>
        </p:txBody>
      </p:sp>
      <p:sp>
        <p:nvSpPr>
          <p:cNvPr id="232" name=""/>
          <p:cNvSpPr txBox="1"/>
          <p:nvPr/>
        </p:nvSpPr>
        <p:spPr>
          <a:xfrm>
            <a:off x="990720" y="1600200"/>
            <a:ext cx="7162920" cy="4502880"/>
          </a:xfrm>
          <a:prstGeom prst="rect">
            <a:avLst/>
          </a:prstGeom>
          <a:noFill/>
          <a:ln w="0">
            <a:noFill/>
          </a:ln>
        </p:spPr>
        <p:txBody>
          <a:bodyPr lIns="0" rIns="0" tIns="0" bIns="0" anchor="t">
            <a:spAutoFit/>
          </a:bodyPr>
          <a:p>
            <a:pPr marL="285840" indent="-285840">
              <a:lnSpc>
                <a:spcPct val="90000"/>
              </a:lnSpc>
              <a:spcBef>
                <a:spcPts val="720"/>
              </a:spcBef>
            </a:pPr>
            <a:r>
              <a:rPr b="0" lang="en-IN" sz="2400" strike="noStrike" u="none">
                <a:solidFill>
                  <a:srgbClr val="000000"/>
                </a:solidFill>
                <a:effectLst/>
                <a:uFillTx/>
                <a:latin typeface="Times New Roman"/>
                <a:ea typeface="Times New Roman"/>
              </a:rPr>
              <a:t>While loging in a terminal, or </a:t>
            </a:r>
            <a:r>
              <a:rPr b="0" i="1" lang="en-IN" sz="2400" strike="noStrike" u="none">
                <a:solidFill>
                  <a:srgbClr val="000000"/>
                </a:solidFill>
                <a:effectLst/>
                <a:uFillTx/>
                <a:latin typeface="Times New Roman"/>
                <a:ea typeface="Times New Roman"/>
              </a:rPr>
              <a:t>tty</a:t>
            </a:r>
            <a:r>
              <a:rPr b="0" lang="en-IN" sz="2400" strike="noStrike" u="none">
                <a:solidFill>
                  <a:srgbClr val="000000"/>
                </a:solidFill>
                <a:effectLst/>
                <a:uFillTx/>
                <a:latin typeface="Times New Roman"/>
                <a:ea typeface="Times New Roman"/>
              </a:rPr>
              <a:t>, line is assigned</a:t>
            </a:r>
            <a:endParaRPr b="0" lang="en-IN" sz="24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 </a:t>
            </a:r>
            <a:r>
              <a:rPr b="0" i="1" lang="en-IN" sz="2000" strike="noStrike" u="none">
                <a:solidFill>
                  <a:srgbClr val="000000"/>
                </a:solidFill>
                <a:effectLst/>
                <a:uFillTx/>
                <a:latin typeface="Times New Roman"/>
                <a:ea typeface="Times New Roman"/>
              </a:rPr>
              <a:t>tty</a:t>
            </a: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/dev/tty1</a:t>
            </a: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 </a:t>
            </a:r>
            <a:r>
              <a:rPr b="0" i="1" lang="en-IN" sz="2000" strike="noStrike" u="none">
                <a:solidFill>
                  <a:srgbClr val="000000"/>
                </a:solidFill>
                <a:effectLst/>
                <a:uFillTx/>
                <a:latin typeface="Times New Roman"/>
                <a:ea typeface="Times New Roman"/>
              </a:rPr>
              <a:t>ls -l /dev/tty1</a:t>
            </a: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crw--w--w- 1 class       4,  1 Sep 27 02:39 /dev/tty1</a:t>
            </a: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 </a:t>
            </a:r>
            <a:r>
              <a:rPr b="0" i="1" lang="en-IN" sz="2000" strike="noStrike" u="none">
                <a:solidFill>
                  <a:srgbClr val="000000"/>
                </a:solidFill>
                <a:effectLst/>
                <a:uFillTx/>
                <a:latin typeface="Times New Roman"/>
                <a:ea typeface="Times New Roman"/>
              </a:rPr>
              <a:t>date &gt;/dev/tty1</a:t>
            </a: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Wed Sep 27 02:39:45 EDT 1994</a:t>
            </a:r>
            <a:endParaRPr b="0" lang="en-IN" sz="2000" strike="noStrike" u="none">
              <a:solidFill>
                <a:srgbClr val="000000"/>
              </a:solidFill>
              <a:effectLst/>
              <a:uFillTx/>
              <a:latin typeface="Arial"/>
            </a:endParaRPr>
          </a:p>
          <a:p>
            <a:pPr marL="285840" indent="-285840">
              <a:lnSpc>
                <a:spcPct val="90000"/>
              </a:lnSpc>
              <a:spcBef>
                <a:spcPts val="720"/>
              </a:spcBef>
            </a:pPr>
            <a:r>
              <a:rPr b="0" lang="en-IN" sz="2400" strike="noStrike" u="none">
                <a:solidFill>
                  <a:srgbClr val="000000"/>
                </a:solidFill>
                <a:effectLst/>
                <a:uFillTx/>
                <a:latin typeface="Times New Roman"/>
                <a:ea typeface="Times New Roman"/>
              </a:rPr>
              <a:t>tty is owned by the user, with read &amp; write access</a:t>
            </a:r>
            <a:endParaRPr b="0" lang="en-IN" sz="24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All others have write access, to send messages</a:t>
            </a:r>
            <a:endParaRPr b="0" lang="en-IN" sz="2000" strike="noStrike" u="none">
              <a:solidFill>
                <a:srgbClr val="000000"/>
              </a:solidFill>
              <a:effectLst/>
              <a:uFillTx/>
              <a:latin typeface="Arial"/>
            </a:endParaRPr>
          </a:p>
          <a:p>
            <a:pPr marL="1143000" indent="-228600">
              <a:lnSpc>
                <a:spcPct val="90000"/>
              </a:lnSpc>
              <a:spcBef>
                <a:spcPts val="720"/>
              </a:spcBef>
            </a:pPr>
            <a:r>
              <a:rPr b="0" lang="en-IN" sz="2000" strike="noStrike" u="none">
                <a:solidFill>
                  <a:srgbClr val="000000"/>
                </a:solidFill>
                <a:effectLst/>
                <a:uFillTx/>
                <a:latin typeface="Times New Roman"/>
                <a:ea typeface="Times New Roman"/>
              </a:rPr>
              <a:t>$ </a:t>
            </a:r>
            <a:r>
              <a:rPr b="0" i="1" lang="en-IN" sz="2000" strike="noStrike" u="none">
                <a:solidFill>
                  <a:srgbClr val="000000"/>
                </a:solidFill>
                <a:effectLst/>
                <a:uFillTx/>
                <a:latin typeface="Times New Roman"/>
                <a:ea typeface="Times New Roman"/>
              </a:rPr>
              <a:t>echo Greetings Earthling &gt;/dev/tty3</a:t>
            </a:r>
            <a:endParaRPr b="0" lang="en-IN" sz="20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The  mesg(1) command changes write access for others </a:t>
            </a:r>
            <a:endParaRPr b="0" lang="en-IN" sz="2000" strike="noStrike" u="none">
              <a:solidFill>
                <a:srgbClr val="000000"/>
              </a:solidFill>
              <a:effectLst/>
              <a:uFillTx/>
              <a:latin typeface="Arial"/>
            </a:endParaRPr>
          </a:p>
          <a:p>
            <a:pPr marL="285840" indent="-285840">
              <a:lnSpc>
                <a:spcPct val="90000"/>
              </a:lnSpc>
              <a:spcBef>
                <a:spcPts val="720"/>
              </a:spcBef>
            </a:pPr>
            <a:r>
              <a:rPr b="0" lang="en-IN" sz="2400" strike="noStrike" u="none">
                <a:solidFill>
                  <a:srgbClr val="000000"/>
                </a:solidFill>
                <a:effectLst/>
                <a:uFillTx/>
                <a:latin typeface="Times New Roman"/>
                <a:ea typeface="Times New Roman"/>
              </a:rPr>
              <a:t>The file /dev/tty is a synonym for whatever terminal is assigned when you login</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3" name=""/>
          <p:cNvSpPr txBox="1"/>
          <p:nvPr/>
        </p:nvSpPr>
        <p:spPr>
          <a:xfrm>
            <a:off x="996840" y="685800"/>
            <a:ext cx="715644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The NULL Device</a:t>
            </a:r>
            <a:endParaRPr b="0" lang="en-IN" sz="3600" strike="noStrike" u="none">
              <a:solidFill>
                <a:srgbClr val="000000"/>
              </a:solidFill>
              <a:effectLst/>
              <a:uFillTx/>
              <a:latin typeface="Arial"/>
            </a:endParaRPr>
          </a:p>
        </p:txBody>
      </p:sp>
      <p:sp>
        <p:nvSpPr>
          <p:cNvPr id="234" name=""/>
          <p:cNvSpPr txBox="1"/>
          <p:nvPr/>
        </p:nvSpPr>
        <p:spPr>
          <a:xfrm>
            <a:off x="990720" y="1981080"/>
            <a:ext cx="7162920" cy="4114800"/>
          </a:xfrm>
          <a:prstGeom prst="rect">
            <a:avLst/>
          </a:prstGeom>
          <a:noFill/>
          <a:ln w="0">
            <a:noFill/>
          </a:ln>
        </p:spPr>
        <p:txBody>
          <a:bodyPr lIns="0" rIns="0" tIns="0" bIns="0" anchor="t">
            <a:spAutoFit/>
          </a:bodyPr>
          <a:p>
            <a:pPr marL="285840" indent="-285840">
              <a:lnSpc>
                <a:spcPct val="90000"/>
              </a:lnSpc>
              <a:spcBef>
                <a:spcPts val="720"/>
              </a:spcBef>
            </a:pPr>
            <a:r>
              <a:rPr b="0" i="1" lang="en-IN" sz="2400" strike="noStrike" u="none">
                <a:solidFill>
                  <a:srgbClr val="000000"/>
                </a:solidFill>
                <a:effectLst/>
                <a:uFillTx/>
                <a:latin typeface="Times New Roman"/>
                <a:ea typeface="Times New Roman"/>
              </a:rPr>
              <a:t>/dev/null </a:t>
            </a:r>
            <a:r>
              <a:rPr b="0" lang="en-IN" sz="2400" strike="noStrike" u="none">
                <a:solidFill>
                  <a:srgbClr val="000000"/>
                </a:solidFill>
                <a:effectLst/>
                <a:uFillTx/>
                <a:latin typeface="Times New Roman"/>
                <a:ea typeface="Times New Roman"/>
              </a:rPr>
              <a:t>is a “bit-bucket”, anything written to that file is quietly discarded, reads return an end-of-file</a:t>
            </a:r>
            <a:endParaRPr b="0" lang="en-IN" sz="2400" strike="noStrike" u="none">
              <a:solidFill>
                <a:srgbClr val="000000"/>
              </a:solidFill>
              <a:effectLst/>
              <a:uFillTx/>
              <a:latin typeface="Arial"/>
            </a:endParaRPr>
          </a:p>
          <a:p>
            <a:pPr marL="285840" indent="-285840">
              <a:lnSpc>
                <a:spcPct val="90000"/>
              </a:lnSpc>
              <a:spcBef>
                <a:spcPts val="720"/>
              </a:spcBef>
            </a:pPr>
            <a:r>
              <a:rPr b="0" lang="en-IN" sz="2400" strike="noStrike" u="none">
                <a:solidFill>
                  <a:srgbClr val="000000"/>
                </a:solidFill>
                <a:effectLst/>
                <a:uFillTx/>
                <a:latin typeface="Times New Roman"/>
                <a:ea typeface="Times New Roman"/>
              </a:rPr>
              <a:t>Can be used to discard standard output to reveal only standard error</a:t>
            </a:r>
            <a:endParaRPr b="0" lang="en-IN" sz="24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 </a:t>
            </a:r>
            <a:r>
              <a:rPr b="0" i="1" lang="en-IN" sz="2000" strike="noStrike" u="none">
                <a:solidFill>
                  <a:srgbClr val="000000"/>
                </a:solidFill>
                <a:effectLst/>
                <a:uFillTx/>
                <a:latin typeface="Times New Roman"/>
                <a:ea typeface="Times New Roman"/>
              </a:rPr>
              <a:t>time grep e /usr/dict/words &gt;/dev/null</a:t>
            </a: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real    13.0</a:t>
            </a: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user     9.0</a:t>
            </a: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sys      2.7</a:t>
            </a:r>
            <a:endParaRPr b="0" lang="en-IN" sz="2000" strike="noStrike" u="none">
              <a:solidFill>
                <a:srgbClr val="000000"/>
              </a:solidFill>
              <a:effectLst/>
              <a:uFillTx/>
              <a:latin typeface="Arial"/>
            </a:endParaRPr>
          </a:p>
          <a:p>
            <a:pPr marL="285840" indent="-285840">
              <a:lnSpc>
                <a:spcPct val="90000"/>
              </a:lnSpc>
              <a:spcBef>
                <a:spcPts val="720"/>
              </a:spcBef>
            </a:pPr>
            <a:r>
              <a:rPr b="0" lang="en-IN" sz="2400" strike="noStrike" u="none">
                <a:solidFill>
                  <a:srgbClr val="000000"/>
                </a:solidFill>
                <a:effectLst/>
                <a:uFillTx/>
                <a:latin typeface="Times New Roman"/>
                <a:ea typeface="Times New Roman"/>
              </a:rPr>
              <a:t>   This example discards output of </a:t>
            </a:r>
            <a:r>
              <a:rPr b="0" i="1" lang="en-IN" sz="2400" strike="noStrike" u="none">
                <a:solidFill>
                  <a:srgbClr val="000000"/>
                </a:solidFill>
                <a:effectLst/>
                <a:uFillTx/>
                <a:latin typeface="Times New Roman"/>
                <a:ea typeface="Times New Roman"/>
              </a:rPr>
              <a:t>grep(1) </a:t>
            </a:r>
            <a:r>
              <a:rPr b="0" lang="en-IN" sz="2400" strike="noStrike" u="none">
                <a:solidFill>
                  <a:srgbClr val="000000"/>
                </a:solidFill>
                <a:effectLst/>
                <a:uFillTx/>
                <a:latin typeface="Times New Roman"/>
                <a:ea typeface="Times New Roman"/>
              </a:rPr>
              <a:t>to reveal only the output of </a:t>
            </a:r>
            <a:r>
              <a:rPr b="0" i="1" lang="en-IN" sz="2400" strike="noStrike" u="none">
                <a:solidFill>
                  <a:srgbClr val="000000"/>
                </a:solidFill>
                <a:effectLst/>
                <a:uFillTx/>
                <a:latin typeface="Times New Roman"/>
                <a:ea typeface="Times New Roman"/>
              </a:rPr>
              <a:t>time(1)</a:t>
            </a:r>
            <a:r>
              <a:rPr b="0" lang="en-IN" sz="2400" strike="noStrike" u="none">
                <a:solidFill>
                  <a:srgbClr val="000000"/>
                </a:solidFill>
                <a:effectLst/>
                <a:uFillTx/>
                <a:latin typeface="Times New Roman"/>
                <a:ea typeface="Times New Roman"/>
              </a:rPr>
              <a:t>, which writes its output to stderr</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5" name=""/>
          <p:cNvSpPr txBox="1"/>
          <p:nvPr/>
        </p:nvSpPr>
        <p:spPr>
          <a:xfrm>
            <a:off x="996840" y="685800"/>
            <a:ext cx="715644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Yet More Shells</a:t>
            </a:r>
            <a:endParaRPr b="0" lang="en-IN" sz="3600" strike="noStrike" u="none">
              <a:solidFill>
                <a:srgbClr val="000000"/>
              </a:solidFill>
              <a:effectLst/>
              <a:uFillTx/>
              <a:latin typeface="Arial"/>
            </a:endParaRPr>
          </a:p>
        </p:txBody>
      </p:sp>
      <p:sp>
        <p:nvSpPr>
          <p:cNvPr id="236" name=""/>
          <p:cNvSpPr txBox="1"/>
          <p:nvPr/>
        </p:nvSpPr>
        <p:spPr>
          <a:xfrm>
            <a:off x="914400" y="1371600"/>
            <a:ext cx="7162920" cy="4876920"/>
          </a:xfrm>
          <a:prstGeom prst="rect">
            <a:avLst/>
          </a:prstGeom>
          <a:noFill/>
          <a:ln w="0">
            <a:noFill/>
          </a:ln>
        </p:spPr>
        <p:txBody>
          <a:bodyPr lIns="0" rIns="0" tIns="0" bIns="0" anchor="t">
            <a:spAutoFit/>
          </a:bodyPr>
          <a:p>
            <a:pPr marL="285840" indent="-285840">
              <a:lnSpc>
                <a:spcPct val="90000"/>
              </a:lnSpc>
              <a:spcBef>
                <a:spcPts val="720"/>
              </a:spcBef>
            </a:pPr>
            <a:r>
              <a:rPr b="0" lang="en-IN" sz="2400" strike="noStrike" u="none">
                <a:solidFill>
                  <a:srgbClr val="000000"/>
                </a:solidFill>
                <a:effectLst/>
                <a:uFillTx/>
                <a:latin typeface="Times New Roman"/>
                <a:ea typeface="Times New Roman"/>
              </a:rPr>
              <a:t>Terminal-mode C Shell, </a:t>
            </a:r>
            <a:r>
              <a:rPr b="0" i="1" lang="en-IN" sz="2400" strike="noStrike" u="none">
                <a:solidFill>
                  <a:srgbClr val="000000"/>
                </a:solidFill>
                <a:effectLst/>
                <a:uFillTx/>
                <a:latin typeface="Times New Roman"/>
                <a:ea typeface="Times New Roman"/>
              </a:rPr>
              <a:t>tcsh</a:t>
            </a:r>
            <a:endParaRPr b="0" lang="en-IN" sz="24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Sometimes pronounced “Taco-shell”</a:t>
            </a:r>
            <a:endParaRPr b="0" lang="en-IN" sz="20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Adds command line editing, and some addtional control features</a:t>
            </a:r>
            <a:endParaRPr b="0" lang="en-IN" sz="2000" strike="noStrike" u="none">
              <a:solidFill>
                <a:srgbClr val="000000"/>
              </a:solidFill>
              <a:effectLst/>
              <a:uFillTx/>
              <a:latin typeface="Arial"/>
            </a:endParaRPr>
          </a:p>
          <a:p>
            <a:pPr marL="285840" indent="-285840">
              <a:lnSpc>
                <a:spcPct val="90000"/>
              </a:lnSpc>
              <a:spcBef>
                <a:spcPts val="720"/>
              </a:spcBef>
            </a:pPr>
            <a:r>
              <a:rPr b="0" lang="en-IN" sz="2400" strike="noStrike" u="none">
                <a:solidFill>
                  <a:srgbClr val="000000"/>
                </a:solidFill>
                <a:effectLst/>
                <a:uFillTx/>
                <a:latin typeface="Times New Roman"/>
                <a:ea typeface="Times New Roman"/>
              </a:rPr>
              <a:t>Bourne-Again Shell, </a:t>
            </a:r>
            <a:r>
              <a:rPr b="0" i="1" lang="en-IN" sz="2400" strike="noStrike" u="none">
                <a:solidFill>
                  <a:srgbClr val="000000"/>
                </a:solidFill>
                <a:effectLst/>
                <a:uFillTx/>
                <a:latin typeface="Times New Roman"/>
                <a:ea typeface="Times New Roman"/>
              </a:rPr>
              <a:t>bash</a:t>
            </a:r>
            <a:endParaRPr b="0" lang="en-IN" sz="24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Distributed by Free Software Foundation under GNU Public License</a:t>
            </a:r>
            <a:endParaRPr b="0" lang="en-IN" sz="20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Based on Bourne Shell, with command history, command line editing and many other features</a:t>
            </a:r>
            <a:endParaRPr b="0" lang="en-IN" sz="2000" strike="noStrike" u="none">
              <a:solidFill>
                <a:srgbClr val="000000"/>
              </a:solidFill>
              <a:effectLst/>
              <a:uFillTx/>
              <a:latin typeface="Arial"/>
            </a:endParaRPr>
          </a:p>
          <a:p>
            <a:pPr marL="285840" indent="-285840">
              <a:lnSpc>
                <a:spcPct val="90000"/>
              </a:lnSpc>
              <a:spcBef>
                <a:spcPts val="720"/>
              </a:spcBef>
            </a:pPr>
            <a:r>
              <a:rPr b="0" lang="en-IN" sz="2400" strike="noStrike" u="none">
                <a:solidFill>
                  <a:srgbClr val="000000"/>
                </a:solidFill>
                <a:effectLst/>
                <a:uFillTx/>
                <a:latin typeface="Times New Roman"/>
                <a:ea typeface="Times New Roman"/>
              </a:rPr>
              <a:t>Other Shells, </a:t>
            </a:r>
            <a:r>
              <a:rPr b="0" i="1" lang="en-IN" sz="2400" strike="noStrike" u="none">
                <a:solidFill>
                  <a:srgbClr val="000000"/>
                </a:solidFill>
                <a:effectLst/>
                <a:uFillTx/>
                <a:latin typeface="Times New Roman"/>
                <a:ea typeface="Times New Roman"/>
              </a:rPr>
              <a:t>ash, zsh</a:t>
            </a:r>
            <a:r>
              <a:rPr b="0" lang="en-IN" sz="2400" strike="noStrike" u="none">
                <a:solidFill>
                  <a:srgbClr val="000000"/>
                </a:solidFill>
                <a:effectLst/>
                <a:uFillTx/>
                <a:latin typeface="Times New Roman"/>
                <a:ea typeface="Times New Roman"/>
              </a:rPr>
              <a:t>, </a:t>
            </a:r>
            <a:r>
              <a:rPr b="0" i="1" lang="en-IN" sz="2400" strike="noStrike" u="none">
                <a:solidFill>
                  <a:srgbClr val="000000"/>
                </a:solidFill>
                <a:effectLst/>
                <a:uFillTx/>
                <a:latin typeface="Times New Roman"/>
                <a:ea typeface="Times New Roman"/>
              </a:rPr>
              <a:t>et al.</a:t>
            </a:r>
            <a:endParaRPr b="0" lang="en-IN" sz="24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Offer more, fewer, and/or different features</a:t>
            </a:r>
            <a:endParaRPr b="0" lang="en-IN" sz="2000" strike="noStrike" u="none">
              <a:solidFill>
                <a:srgbClr val="000000"/>
              </a:solidFill>
              <a:effectLst/>
              <a:uFillTx/>
              <a:latin typeface="Arial"/>
            </a:endParaRPr>
          </a:p>
          <a:p>
            <a:pPr marL="285840" indent="-285840">
              <a:lnSpc>
                <a:spcPct val="90000"/>
              </a:lnSpc>
              <a:spcBef>
                <a:spcPts val="720"/>
              </a:spcBef>
            </a:pPr>
            <a:r>
              <a:rPr b="0" lang="en-IN" sz="2400" strike="noStrike" u="none">
                <a:solidFill>
                  <a:srgbClr val="000000"/>
                </a:solidFill>
                <a:effectLst/>
                <a:uFillTx/>
                <a:latin typeface="Times New Roman"/>
                <a:ea typeface="Times New Roman"/>
              </a:rPr>
              <a:t>Choice of shell is a personal decision</a:t>
            </a:r>
            <a:endParaRPr b="0" lang="en-IN" sz="2400" strike="noStrike" u="none">
              <a:solidFill>
                <a:srgbClr val="000000"/>
              </a:solidFill>
              <a:effectLst/>
              <a:uFillTx/>
              <a:latin typeface="Arial"/>
            </a:endParaRPr>
          </a:p>
          <a:p>
            <a:pPr marL="285840" indent="-285840">
              <a:lnSpc>
                <a:spcPct val="90000"/>
              </a:lnSpc>
              <a:spcBef>
                <a:spcPts val="720"/>
              </a:spcBef>
            </a:pPr>
            <a:r>
              <a:rPr b="0" lang="en-IN" sz="2400" strike="noStrike" u="none">
                <a:solidFill>
                  <a:srgbClr val="000000"/>
                </a:solidFill>
                <a:effectLst/>
                <a:uFillTx/>
                <a:latin typeface="Times New Roman"/>
                <a:ea typeface="Times New Roman"/>
              </a:rPr>
              <a:t>This course is based on Bourne Shell, which is available on every UNIX system </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7" name=""/>
          <p:cNvSpPr txBox="1"/>
          <p:nvPr/>
        </p:nvSpPr>
        <p:spPr>
          <a:xfrm>
            <a:off x="996840" y="685800"/>
            <a:ext cx="715644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Shell Metacharacters</a:t>
            </a:r>
            <a:endParaRPr b="0" lang="en-IN" sz="3600" strike="noStrike" u="none">
              <a:solidFill>
                <a:srgbClr val="000000"/>
              </a:solidFill>
              <a:effectLst/>
              <a:uFillTx/>
              <a:latin typeface="Arial"/>
            </a:endParaRPr>
          </a:p>
        </p:txBody>
      </p:sp>
      <p:sp>
        <p:nvSpPr>
          <p:cNvPr id="238" name=""/>
          <p:cNvSpPr txBox="1"/>
          <p:nvPr/>
        </p:nvSpPr>
        <p:spPr>
          <a:xfrm>
            <a:off x="1066680" y="1143000"/>
            <a:ext cx="7162920" cy="4411440"/>
          </a:xfrm>
          <a:prstGeom prst="rect">
            <a:avLst/>
          </a:prstGeom>
          <a:noFill/>
          <a:ln w="0">
            <a:noFill/>
          </a:ln>
        </p:spPr>
        <p:txBody>
          <a:bodyPr lIns="0" rIns="0" tIns="0" bIns="0" anchor="t">
            <a:spAutoFit/>
          </a:bodyPr>
          <a:p>
            <a:pPr marL="285840" indent="-285840">
              <a:lnSpc>
                <a:spcPct val="90000"/>
              </a:lnSpc>
              <a:spcBef>
                <a:spcPts val="720"/>
              </a:spcBef>
            </a:pPr>
            <a:r>
              <a:rPr b="0" lang="en-IN" sz="2400" strike="noStrike" u="none">
                <a:solidFill>
                  <a:srgbClr val="000000"/>
                </a:solidFill>
                <a:effectLst/>
                <a:uFillTx/>
                <a:latin typeface="Times New Roman"/>
                <a:ea typeface="Times New Roman"/>
              </a:rPr>
              <a:t>“Metacharacters” have a  special meaning to the shell</a:t>
            </a:r>
            <a:endParaRPr b="0" lang="en-IN" sz="2400" strike="noStrike" u="none">
              <a:solidFill>
                <a:srgbClr val="000000"/>
              </a:solidFill>
              <a:effectLst/>
              <a:uFillTx/>
              <a:latin typeface="Arial"/>
            </a:endParaRPr>
          </a:p>
          <a:p>
            <a:pPr marL="285840" indent="-285840">
              <a:lnSpc>
                <a:spcPct val="90000"/>
              </a:lnSpc>
              <a:spcBef>
                <a:spcPts val="720"/>
              </a:spcBef>
            </a:pPr>
            <a:r>
              <a:rPr b="0" lang="en-IN" sz="2400" strike="noStrike" u="none">
                <a:solidFill>
                  <a:srgbClr val="000000"/>
                </a:solidFill>
                <a:effectLst/>
                <a:uFillTx/>
                <a:latin typeface="Times New Roman"/>
                <a:ea typeface="Times New Roman"/>
              </a:rPr>
              <a:t>They control input, output, sequencing and conditional execution of commands</a:t>
            </a:r>
            <a:endParaRPr b="0" lang="en-IN" sz="2400" strike="noStrike" u="none">
              <a:solidFill>
                <a:srgbClr val="000000"/>
              </a:solidFill>
              <a:effectLst/>
              <a:uFillTx/>
              <a:latin typeface="Arial"/>
            </a:endParaRPr>
          </a:p>
          <a:p>
            <a:pPr marL="285840" indent="-285840">
              <a:lnSpc>
                <a:spcPct val="90000"/>
              </a:lnSpc>
              <a:spcBef>
                <a:spcPts val="720"/>
              </a:spcBef>
            </a:pPr>
            <a:r>
              <a:rPr b="0" lang="en-IN" sz="2400" strike="noStrike" u="none">
                <a:solidFill>
                  <a:srgbClr val="000000"/>
                </a:solidFill>
                <a:effectLst/>
                <a:uFillTx/>
                <a:latin typeface="Times New Roman"/>
                <a:ea typeface="Times New Roman"/>
              </a:rPr>
              <a:t>They provide convenient “shorthand” for file names</a:t>
            </a:r>
            <a:endParaRPr b="0" lang="en-IN" sz="24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Filename expansion wildcards replace explicit filenames </a:t>
            </a:r>
            <a:endParaRPr b="0" lang="en-IN" sz="20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 matches zero or more characters</a:t>
            </a:r>
            <a:endParaRPr b="0" lang="en-IN" sz="20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 matches exactly one character</a:t>
            </a:r>
            <a:endParaRPr b="0" lang="en-IN" sz="20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By convention, expansion avoids filenames that begin with “.” (like the directories, “.” and “..”)</a:t>
            </a:r>
            <a:endParaRPr b="0" lang="en-IN" sz="2000" strike="noStrike" u="none">
              <a:solidFill>
                <a:srgbClr val="000000"/>
              </a:solidFill>
              <a:effectLst/>
              <a:uFillTx/>
              <a:latin typeface="Arial"/>
            </a:endParaRPr>
          </a:p>
          <a:p>
            <a:pPr marL="1143000" indent="-228600">
              <a:lnSpc>
                <a:spcPct val="90000"/>
              </a:lnSpc>
              <a:spcBef>
                <a:spcPts val="720"/>
              </a:spcBef>
            </a:pPr>
            <a:r>
              <a:rPr b="0" lang="en-IN" sz="2000" strike="noStrike" u="none">
                <a:solidFill>
                  <a:srgbClr val="000000"/>
                </a:solidFill>
                <a:effectLst/>
                <a:uFillTx/>
                <a:latin typeface="Times New Roman"/>
                <a:ea typeface="Times New Roman"/>
              </a:rPr>
              <a:t>$ </a:t>
            </a:r>
            <a:r>
              <a:rPr b="0" i="1" lang="en-IN" sz="2000" strike="noStrike" u="none">
                <a:solidFill>
                  <a:srgbClr val="000000"/>
                </a:solidFill>
                <a:effectLst/>
                <a:uFillTx/>
                <a:latin typeface="Times New Roman"/>
                <a:ea typeface="Times New Roman"/>
              </a:rPr>
              <a:t>echo .*</a:t>
            </a:r>
            <a:r>
              <a:rPr b="0" i="1" lang="en-IN" sz="2000" strike="noStrike" u="none">
                <a:solidFill>
                  <a:srgbClr val="000000"/>
                </a:solidFill>
                <a:effectLst/>
                <a:uFillTx/>
                <a:latin typeface="Times New Roman"/>
                <a:ea typeface="Times New Roman"/>
              </a:rPr>
              <a:t>	</a:t>
            </a:r>
            <a:r>
              <a:rPr b="0" lang="en-IN" sz="2000" strike="noStrike" u="none">
                <a:solidFill>
                  <a:srgbClr val="000000"/>
                </a:solidFill>
                <a:effectLst/>
                <a:uFillTx/>
                <a:latin typeface="Times New Roman"/>
                <a:ea typeface="Times New Roman"/>
              </a:rPr>
              <a:t># all files that begin with .</a:t>
            </a:r>
            <a:endParaRPr b="0" lang="en-IN" sz="20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Question: in the following...</a:t>
            </a:r>
            <a:endParaRPr b="0" lang="en-IN" sz="2000" strike="noStrike" u="none">
              <a:solidFill>
                <a:srgbClr val="000000"/>
              </a:solidFill>
              <a:effectLst/>
              <a:uFillTx/>
              <a:latin typeface="Arial"/>
            </a:endParaRPr>
          </a:p>
          <a:p>
            <a:pPr marL="1143000" indent="-228600">
              <a:lnSpc>
                <a:spcPct val="90000"/>
              </a:lnSpc>
              <a:spcBef>
                <a:spcPts val="720"/>
              </a:spcBef>
            </a:pPr>
            <a:r>
              <a:rPr b="0" lang="en-IN" sz="2000" strike="noStrike" u="none">
                <a:solidFill>
                  <a:srgbClr val="000000"/>
                </a:solidFill>
                <a:effectLst/>
                <a:uFillTx/>
                <a:latin typeface="Times New Roman"/>
                <a:ea typeface="Times New Roman"/>
              </a:rPr>
              <a:t>$ </a:t>
            </a:r>
            <a:r>
              <a:rPr b="0" i="1" lang="en-IN" sz="2000" strike="noStrike" u="none">
                <a:solidFill>
                  <a:srgbClr val="000000"/>
                </a:solidFill>
                <a:effectLst/>
                <a:uFillTx/>
                <a:latin typeface="Times New Roman"/>
                <a:ea typeface="Times New Roman"/>
              </a:rPr>
              <a:t>rm *</a:t>
            </a: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   Why can’t rm warn you that you are about to delete all files?</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9" name=""/>
          <p:cNvSpPr txBox="1"/>
          <p:nvPr/>
        </p:nvSpPr>
        <p:spPr>
          <a:xfrm>
            <a:off x="996840" y="685800"/>
            <a:ext cx="715644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Table of Metacharacters</a:t>
            </a:r>
            <a:endParaRPr b="0" lang="en-IN" sz="3600" strike="noStrike" u="none">
              <a:solidFill>
                <a:srgbClr val="000000"/>
              </a:solidFill>
              <a:effectLst/>
              <a:uFillTx/>
              <a:latin typeface="Arial"/>
            </a:endParaRPr>
          </a:p>
        </p:txBody>
      </p:sp>
      <p:sp>
        <p:nvSpPr>
          <p:cNvPr id="240" name=""/>
          <p:cNvSpPr txBox="1"/>
          <p:nvPr/>
        </p:nvSpPr>
        <p:spPr>
          <a:xfrm>
            <a:off x="990720" y="1981080"/>
            <a:ext cx="7162920" cy="4114800"/>
          </a:xfrm>
          <a:prstGeom prst="rect">
            <a:avLst/>
          </a:prstGeom>
          <a:noFill/>
          <a:ln w="0">
            <a:noFill/>
          </a:ln>
        </p:spPr>
        <p:txBody>
          <a:bodyPr lIns="0" rIns="0" tIns="0" bIns="0" anchor="t">
            <a:spAutoFit/>
          </a:bodyPr>
          <a:p>
            <a:pPr marL="285840" indent="-285840">
              <a:lnSpc>
                <a:spcPct val="90000"/>
              </a:lnSpc>
              <a:spcBef>
                <a:spcPts val="720"/>
              </a:spcBef>
            </a:pPr>
            <a:r>
              <a:rPr b="0" lang="en-IN" sz="1400" strike="noStrike" u="none">
                <a:solidFill>
                  <a:srgbClr val="000000"/>
                </a:solidFill>
                <a:effectLst/>
                <a:uFillTx/>
                <a:latin typeface="Times New Roman"/>
                <a:ea typeface="Times New Roman"/>
              </a:rPr>
              <a:t>&gt;</a:t>
            </a:r>
            <a:r>
              <a:rPr b="0" i="1" lang="en-IN" sz="1400" strike="noStrike" u="none">
                <a:solidFill>
                  <a:srgbClr val="000000"/>
                </a:solidFill>
                <a:effectLst/>
                <a:uFillTx/>
                <a:latin typeface="Times New Roman"/>
                <a:ea typeface="Times New Roman"/>
              </a:rPr>
              <a:t>file</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direct stdout to </a:t>
            </a:r>
            <a:r>
              <a:rPr b="0" i="1" lang="en-IN" sz="1400" strike="noStrike" u="none">
                <a:solidFill>
                  <a:srgbClr val="000000"/>
                </a:solidFill>
                <a:effectLst/>
                <a:uFillTx/>
                <a:latin typeface="Times New Roman"/>
                <a:ea typeface="Times New Roman"/>
              </a:rPr>
              <a:t>file</a:t>
            </a:r>
            <a:endParaRPr b="0" lang="en-IN" sz="1400" strike="noStrike" u="none">
              <a:solidFill>
                <a:srgbClr val="000000"/>
              </a:solidFill>
              <a:effectLst/>
              <a:uFillTx/>
              <a:latin typeface="Arial"/>
            </a:endParaRPr>
          </a:p>
          <a:p>
            <a:pPr marL="285840" indent="-285840">
              <a:lnSpc>
                <a:spcPct val="90000"/>
              </a:lnSpc>
              <a:spcBef>
                <a:spcPts val="720"/>
              </a:spcBef>
            </a:pPr>
            <a:r>
              <a:rPr b="0" lang="en-IN" sz="1400" strike="noStrike" u="none">
                <a:solidFill>
                  <a:srgbClr val="000000"/>
                </a:solidFill>
                <a:effectLst/>
                <a:uFillTx/>
                <a:latin typeface="Times New Roman"/>
                <a:ea typeface="Times New Roman"/>
              </a:rPr>
              <a:t>&gt;&gt;</a:t>
            </a:r>
            <a:r>
              <a:rPr b="0" i="1" lang="en-IN" sz="1400" strike="noStrike" u="none">
                <a:solidFill>
                  <a:srgbClr val="000000"/>
                </a:solidFill>
                <a:effectLst/>
                <a:uFillTx/>
                <a:latin typeface="Times New Roman"/>
                <a:ea typeface="Times New Roman"/>
              </a:rPr>
              <a:t>file</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append stdout to</a:t>
            </a:r>
            <a:r>
              <a:rPr b="0" i="1" lang="en-IN" sz="1400" strike="noStrike" u="none">
                <a:solidFill>
                  <a:srgbClr val="000000"/>
                </a:solidFill>
                <a:effectLst/>
                <a:uFillTx/>
                <a:latin typeface="Times New Roman"/>
                <a:ea typeface="Times New Roman"/>
              </a:rPr>
              <a:t> file</a:t>
            </a:r>
            <a:endParaRPr b="0" lang="en-IN" sz="1400" strike="noStrike" u="none">
              <a:solidFill>
                <a:srgbClr val="000000"/>
              </a:solidFill>
              <a:effectLst/>
              <a:uFillTx/>
              <a:latin typeface="Arial"/>
            </a:endParaRPr>
          </a:p>
          <a:p>
            <a:pPr marL="285840" indent="-285840">
              <a:lnSpc>
                <a:spcPct val="90000"/>
              </a:lnSpc>
              <a:spcBef>
                <a:spcPts val="720"/>
              </a:spcBef>
            </a:pPr>
            <a:r>
              <a:rPr b="0" lang="en-IN" sz="1400" strike="noStrike" u="none">
                <a:solidFill>
                  <a:srgbClr val="000000"/>
                </a:solidFill>
                <a:effectLst/>
                <a:uFillTx/>
                <a:latin typeface="Times New Roman"/>
                <a:ea typeface="Times New Roman"/>
              </a:rPr>
              <a:t>&lt;</a:t>
            </a:r>
            <a:r>
              <a:rPr b="0" i="1" lang="en-IN" sz="1400" strike="noStrike" u="none">
                <a:solidFill>
                  <a:srgbClr val="000000"/>
                </a:solidFill>
                <a:effectLst/>
                <a:uFillTx/>
                <a:latin typeface="Times New Roman"/>
                <a:ea typeface="Times New Roman"/>
              </a:rPr>
              <a:t>file</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take stdin from  </a:t>
            </a:r>
            <a:r>
              <a:rPr b="0" i="1" lang="en-IN" sz="1400" strike="noStrike" u="none">
                <a:solidFill>
                  <a:srgbClr val="000000"/>
                </a:solidFill>
                <a:effectLst/>
                <a:uFillTx/>
                <a:latin typeface="Times New Roman"/>
                <a:ea typeface="Times New Roman"/>
              </a:rPr>
              <a:t>file</a:t>
            </a:r>
            <a:endParaRPr b="0" lang="en-IN" sz="1400" strike="noStrike" u="none">
              <a:solidFill>
                <a:srgbClr val="000000"/>
              </a:solidFill>
              <a:effectLst/>
              <a:uFillTx/>
              <a:latin typeface="Arial"/>
            </a:endParaRPr>
          </a:p>
          <a:p>
            <a:pPr marL="285840" indent="-285840">
              <a:lnSpc>
                <a:spcPct val="90000"/>
              </a:lnSpc>
              <a:spcBef>
                <a:spcPts val="720"/>
              </a:spcBef>
            </a:pPr>
            <a:r>
              <a:rPr b="0" i="1" lang="en-IN" sz="1400" strike="noStrike" u="none">
                <a:solidFill>
                  <a:srgbClr val="000000"/>
                </a:solidFill>
                <a:effectLst/>
                <a:uFillTx/>
                <a:latin typeface="Times New Roman"/>
                <a:ea typeface="Times New Roman"/>
              </a:rPr>
              <a:t>p1 | p2</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connect stdout of program </a:t>
            </a:r>
            <a:r>
              <a:rPr b="0" i="1" lang="en-IN" sz="1400" strike="noStrike" u="none">
                <a:solidFill>
                  <a:srgbClr val="000000"/>
                </a:solidFill>
                <a:effectLst/>
                <a:uFillTx/>
                <a:latin typeface="Times New Roman"/>
                <a:ea typeface="Times New Roman"/>
              </a:rPr>
              <a:t>p1</a:t>
            </a:r>
            <a:r>
              <a:rPr b="0" lang="en-IN" sz="1400" strike="noStrike" u="none">
                <a:solidFill>
                  <a:srgbClr val="000000"/>
                </a:solidFill>
                <a:effectLst/>
                <a:uFillTx/>
                <a:latin typeface="Times New Roman"/>
                <a:ea typeface="Times New Roman"/>
              </a:rPr>
              <a:t> to stdin of program </a:t>
            </a:r>
            <a:r>
              <a:rPr b="0" i="1" lang="en-IN" sz="1400" strike="noStrike" u="none">
                <a:solidFill>
                  <a:srgbClr val="000000"/>
                </a:solidFill>
                <a:effectLst/>
                <a:uFillTx/>
                <a:latin typeface="Times New Roman"/>
                <a:ea typeface="Times New Roman"/>
              </a:rPr>
              <a:t>p2</a:t>
            </a:r>
            <a:endParaRPr b="0" lang="en-IN" sz="1400" strike="noStrike" u="none">
              <a:solidFill>
                <a:srgbClr val="000000"/>
              </a:solidFill>
              <a:effectLst/>
              <a:uFillTx/>
              <a:latin typeface="Arial"/>
            </a:endParaRPr>
          </a:p>
          <a:p>
            <a:pPr marL="285840" indent="-285840">
              <a:lnSpc>
                <a:spcPct val="90000"/>
              </a:lnSpc>
              <a:spcBef>
                <a:spcPts val="720"/>
              </a:spcBef>
            </a:pPr>
            <a:r>
              <a:rPr b="0" i="1" lang="en-IN" sz="1400" strike="noStrike" u="none">
                <a:solidFill>
                  <a:srgbClr val="000000"/>
                </a:solidFill>
                <a:effectLst/>
                <a:uFillTx/>
                <a:latin typeface="Times New Roman"/>
                <a:ea typeface="Times New Roman"/>
              </a:rPr>
              <a:t>n</a:t>
            </a:r>
            <a:r>
              <a:rPr b="0" lang="en-IN" sz="1400" strike="noStrike" u="none">
                <a:solidFill>
                  <a:srgbClr val="000000"/>
                </a:solidFill>
                <a:effectLst/>
                <a:uFillTx/>
                <a:latin typeface="Times New Roman"/>
                <a:ea typeface="Times New Roman"/>
              </a:rPr>
              <a:t>&gt;</a:t>
            </a:r>
            <a:r>
              <a:rPr b="0" i="1" lang="en-IN" sz="1400" strike="noStrike" u="none">
                <a:solidFill>
                  <a:srgbClr val="000000"/>
                </a:solidFill>
                <a:effectLst/>
                <a:uFillTx/>
                <a:latin typeface="Times New Roman"/>
                <a:ea typeface="Times New Roman"/>
              </a:rPr>
              <a:t>file</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direct output from file descriptor (filedes) </a:t>
            </a:r>
            <a:r>
              <a:rPr b="0" i="1" lang="en-IN" sz="1400" strike="noStrike" u="none">
                <a:solidFill>
                  <a:srgbClr val="000000"/>
                </a:solidFill>
                <a:effectLst/>
                <a:uFillTx/>
                <a:latin typeface="Times New Roman"/>
                <a:ea typeface="Times New Roman"/>
              </a:rPr>
              <a:t>n</a:t>
            </a:r>
            <a:r>
              <a:rPr b="0" lang="en-IN" sz="1400" strike="noStrike" u="none">
                <a:solidFill>
                  <a:srgbClr val="000000"/>
                </a:solidFill>
                <a:effectLst/>
                <a:uFillTx/>
                <a:latin typeface="Times New Roman"/>
                <a:ea typeface="Times New Roman"/>
              </a:rPr>
              <a:t> to file</a:t>
            </a:r>
            <a:endParaRPr b="0" lang="en-IN" sz="1400" strike="noStrike" u="none">
              <a:solidFill>
                <a:srgbClr val="000000"/>
              </a:solidFill>
              <a:effectLst/>
              <a:uFillTx/>
              <a:latin typeface="Arial"/>
            </a:endParaRPr>
          </a:p>
          <a:p>
            <a:pPr marL="285840" indent="-285840">
              <a:lnSpc>
                <a:spcPct val="90000"/>
              </a:lnSpc>
              <a:spcBef>
                <a:spcPts val="720"/>
              </a:spcBef>
            </a:pPr>
            <a:r>
              <a:rPr b="0" i="1" lang="en-IN" sz="1400" strike="noStrike" u="none">
                <a:solidFill>
                  <a:srgbClr val="000000"/>
                </a:solidFill>
                <a:effectLst/>
                <a:uFillTx/>
                <a:latin typeface="Times New Roman"/>
                <a:ea typeface="Times New Roman"/>
              </a:rPr>
              <a:t>n</a:t>
            </a:r>
            <a:r>
              <a:rPr b="0" lang="en-IN" sz="1400" strike="noStrike" u="none">
                <a:solidFill>
                  <a:srgbClr val="000000"/>
                </a:solidFill>
                <a:effectLst/>
                <a:uFillTx/>
                <a:latin typeface="Times New Roman"/>
                <a:ea typeface="Times New Roman"/>
              </a:rPr>
              <a:t>&gt;&gt;</a:t>
            </a:r>
            <a:r>
              <a:rPr b="0" i="1" lang="en-IN" sz="1400" strike="noStrike" u="none">
                <a:solidFill>
                  <a:srgbClr val="000000"/>
                </a:solidFill>
                <a:effectLst/>
                <a:uFillTx/>
                <a:latin typeface="Times New Roman"/>
                <a:ea typeface="Times New Roman"/>
              </a:rPr>
              <a:t>file</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append output from filedes </a:t>
            </a:r>
            <a:r>
              <a:rPr b="0" i="1" lang="en-IN" sz="1400" strike="noStrike" u="none">
                <a:solidFill>
                  <a:srgbClr val="000000"/>
                </a:solidFill>
                <a:effectLst/>
                <a:uFillTx/>
                <a:latin typeface="Times New Roman"/>
                <a:ea typeface="Times New Roman"/>
              </a:rPr>
              <a:t>n</a:t>
            </a:r>
            <a:r>
              <a:rPr b="0" lang="en-IN" sz="1400" strike="noStrike" u="none">
                <a:solidFill>
                  <a:srgbClr val="000000"/>
                </a:solidFill>
                <a:effectLst/>
                <a:uFillTx/>
                <a:latin typeface="Times New Roman"/>
                <a:ea typeface="Times New Roman"/>
              </a:rPr>
              <a:t> to file</a:t>
            </a:r>
            <a:endParaRPr b="0" lang="en-IN" sz="1400" strike="noStrike" u="none">
              <a:solidFill>
                <a:srgbClr val="000000"/>
              </a:solidFill>
              <a:effectLst/>
              <a:uFillTx/>
              <a:latin typeface="Arial"/>
            </a:endParaRPr>
          </a:p>
          <a:p>
            <a:pPr marL="285840" indent="-285840">
              <a:lnSpc>
                <a:spcPct val="90000"/>
              </a:lnSpc>
              <a:spcBef>
                <a:spcPts val="720"/>
              </a:spcBef>
            </a:pPr>
            <a:r>
              <a:rPr b="0" i="1" lang="en-IN" sz="1400" strike="noStrike" u="none">
                <a:solidFill>
                  <a:srgbClr val="000000"/>
                </a:solidFill>
                <a:effectLst/>
                <a:uFillTx/>
                <a:latin typeface="Times New Roman"/>
                <a:ea typeface="Times New Roman"/>
              </a:rPr>
              <a:t>n</a:t>
            </a:r>
            <a:r>
              <a:rPr b="0" lang="en-IN" sz="1400" strike="noStrike" u="none">
                <a:solidFill>
                  <a:srgbClr val="000000"/>
                </a:solidFill>
                <a:effectLst/>
                <a:uFillTx/>
                <a:latin typeface="Times New Roman"/>
                <a:ea typeface="Times New Roman"/>
              </a:rPr>
              <a:t>&gt;&amp;</a:t>
            </a:r>
            <a:r>
              <a:rPr b="0" i="1" lang="en-IN" sz="1400" strike="noStrike" u="none">
                <a:solidFill>
                  <a:srgbClr val="000000"/>
                </a:solidFill>
                <a:effectLst/>
                <a:uFillTx/>
                <a:latin typeface="Times New Roman"/>
                <a:ea typeface="Times New Roman"/>
              </a:rPr>
              <a:t>m</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merge output from filedes </a:t>
            </a:r>
            <a:r>
              <a:rPr b="0" i="1" lang="en-IN" sz="1400" strike="noStrike" u="none">
                <a:solidFill>
                  <a:srgbClr val="000000"/>
                </a:solidFill>
                <a:effectLst/>
                <a:uFillTx/>
                <a:latin typeface="Times New Roman"/>
                <a:ea typeface="Times New Roman"/>
              </a:rPr>
              <a:t>n</a:t>
            </a:r>
            <a:r>
              <a:rPr b="0" lang="en-IN" sz="1400" strike="noStrike" u="none">
                <a:solidFill>
                  <a:srgbClr val="000000"/>
                </a:solidFill>
                <a:effectLst/>
                <a:uFillTx/>
                <a:latin typeface="Times New Roman"/>
                <a:ea typeface="Times New Roman"/>
              </a:rPr>
              <a:t> with filedes </a:t>
            </a:r>
            <a:r>
              <a:rPr b="0" i="1" lang="en-IN" sz="1400" strike="noStrike" u="none">
                <a:solidFill>
                  <a:srgbClr val="000000"/>
                </a:solidFill>
                <a:effectLst/>
                <a:uFillTx/>
                <a:latin typeface="Times New Roman"/>
                <a:ea typeface="Times New Roman"/>
              </a:rPr>
              <a:t>m</a:t>
            </a:r>
            <a:endParaRPr b="0" lang="en-IN" sz="1400" strike="noStrike" u="none">
              <a:solidFill>
                <a:srgbClr val="000000"/>
              </a:solidFill>
              <a:effectLst/>
              <a:uFillTx/>
              <a:latin typeface="Arial"/>
            </a:endParaRPr>
          </a:p>
          <a:p>
            <a:pPr marL="285840" indent="-285840">
              <a:lnSpc>
                <a:spcPct val="90000"/>
              </a:lnSpc>
              <a:spcBef>
                <a:spcPts val="720"/>
              </a:spcBef>
            </a:pPr>
            <a:r>
              <a:rPr b="0" i="1" lang="en-IN" sz="1400" strike="noStrike" u="none">
                <a:solidFill>
                  <a:srgbClr val="000000"/>
                </a:solidFill>
                <a:effectLst/>
                <a:uFillTx/>
                <a:latin typeface="Times New Roman"/>
                <a:ea typeface="Times New Roman"/>
              </a:rPr>
              <a:t>n</a:t>
            </a:r>
            <a:r>
              <a:rPr b="0" lang="en-IN" sz="1400" strike="noStrike" u="none">
                <a:solidFill>
                  <a:srgbClr val="000000"/>
                </a:solidFill>
                <a:effectLst/>
                <a:uFillTx/>
                <a:latin typeface="Times New Roman"/>
                <a:ea typeface="Times New Roman"/>
              </a:rPr>
              <a:t>&lt;&amp;</a:t>
            </a:r>
            <a:r>
              <a:rPr b="0" i="1" lang="en-IN" sz="1400" strike="noStrike" u="none">
                <a:solidFill>
                  <a:srgbClr val="000000"/>
                </a:solidFill>
                <a:effectLst/>
                <a:uFillTx/>
                <a:latin typeface="Times New Roman"/>
                <a:ea typeface="Times New Roman"/>
              </a:rPr>
              <a:t>m</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merge input from filedes </a:t>
            </a:r>
            <a:r>
              <a:rPr b="0" i="1" lang="en-IN" sz="1400" strike="noStrike" u="none">
                <a:solidFill>
                  <a:srgbClr val="000000"/>
                </a:solidFill>
                <a:effectLst/>
                <a:uFillTx/>
                <a:latin typeface="Times New Roman"/>
                <a:ea typeface="Times New Roman"/>
              </a:rPr>
              <a:t>n</a:t>
            </a:r>
            <a:r>
              <a:rPr b="0" lang="en-IN" sz="1400" strike="noStrike" u="none">
                <a:solidFill>
                  <a:srgbClr val="000000"/>
                </a:solidFill>
                <a:effectLst/>
                <a:uFillTx/>
                <a:latin typeface="Times New Roman"/>
                <a:ea typeface="Times New Roman"/>
              </a:rPr>
              <a:t> with filedes </a:t>
            </a:r>
            <a:r>
              <a:rPr b="0" i="1" lang="en-IN" sz="1400" strike="noStrike" u="none">
                <a:solidFill>
                  <a:srgbClr val="000000"/>
                </a:solidFill>
                <a:effectLst/>
                <a:uFillTx/>
                <a:latin typeface="Times New Roman"/>
                <a:ea typeface="Times New Roman"/>
              </a:rPr>
              <a:t>m</a:t>
            </a:r>
            <a:endParaRPr b="0" lang="en-IN" sz="1400" strike="noStrike" u="none">
              <a:solidFill>
                <a:srgbClr val="000000"/>
              </a:solidFill>
              <a:effectLst/>
              <a:uFillTx/>
              <a:latin typeface="Arial"/>
            </a:endParaRPr>
          </a:p>
          <a:p>
            <a:pPr marL="285840" indent="-285840">
              <a:lnSpc>
                <a:spcPct val="90000"/>
              </a:lnSpc>
              <a:spcBef>
                <a:spcPts val="720"/>
              </a:spcBef>
            </a:pPr>
            <a:r>
              <a:rPr b="0" lang="en-IN" sz="1400" strike="noStrike" u="none">
                <a:solidFill>
                  <a:srgbClr val="000000"/>
                </a:solidFill>
                <a:effectLst/>
                <a:uFillTx/>
                <a:latin typeface="Times New Roman"/>
                <a:ea typeface="Times New Roman"/>
              </a:rPr>
              <a:t>&lt;&lt;</a:t>
            </a:r>
            <a:r>
              <a:rPr b="0" i="1" lang="en-IN" sz="1400" strike="noStrike" u="none">
                <a:solidFill>
                  <a:srgbClr val="000000"/>
                </a:solidFill>
                <a:effectLst/>
                <a:uFillTx/>
                <a:latin typeface="Times New Roman"/>
                <a:ea typeface="Times New Roman"/>
              </a:rPr>
              <a:t>str</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i="1" lang="en-IN" sz="1400" strike="noStrike" u="none">
                <a:solidFill>
                  <a:srgbClr val="000000"/>
                </a:solidFill>
                <a:effectLst/>
                <a:uFillTx/>
                <a:latin typeface="Times New Roman"/>
                <a:ea typeface="Times New Roman"/>
              </a:rPr>
              <a:t>here document</a:t>
            </a:r>
            <a:r>
              <a:rPr b="0" lang="en-IN" sz="1400" strike="noStrike" u="none">
                <a:solidFill>
                  <a:srgbClr val="000000"/>
                </a:solidFill>
                <a:effectLst/>
                <a:uFillTx/>
                <a:latin typeface="Times New Roman"/>
                <a:ea typeface="Times New Roman"/>
              </a:rPr>
              <a:t>; stdin follows, up to next </a:t>
            </a:r>
            <a:r>
              <a:rPr b="0" i="1" lang="en-IN" sz="1400" strike="noStrike" u="none">
                <a:solidFill>
                  <a:srgbClr val="000000"/>
                </a:solidFill>
                <a:effectLst/>
                <a:uFillTx/>
                <a:latin typeface="Times New Roman"/>
                <a:ea typeface="Times New Roman"/>
              </a:rPr>
              <a:t>str</a:t>
            </a:r>
            <a:r>
              <a:rPr b="0" lang="en-IN" sz="1400" strike="noStrike" u="none">
                <a:solidFill>
                  <a:srgbClr val="000000"/>
                </a:solidFill>
                <a:effectLst/>
                <a:uFillTx/>
                <a:latin typeface="Times New Roman"/>
                <a:ea typeface="Times New Roman"/>
              </a:rPr>
              <a:t> on a line by itself</a:t>
            </a:r>
            <a:endParaRPr b="0" lang="en-IN" sz="1400" strike="noStrike" u="none">
              <a:solidFill>
                <a:srgbClr val="000000"/>
              </a:solidFill>
              <a:effectLst/>
              <a:uFillTx/>
              <a:latin typeface="Arial"/>
            </a:endParaRPr>
          </a:p>
          <a:p>
            <a:pPr marL="285840" indent="-285840">
              <a:lnSpc>
                <a:spcPct val="90000"/>
              </a:lnSpc>
              <a:spcBef>
                <a:spcPts val="720"/>
              </a:spcBef>
            </a:pPr>
            <a:r>
              <a:rPr b="0" lang="en-IN" sz="1400" strike="noStrike" u="none">
                <a:solidFill>
                  <a:srgbClr val="000000"/>
                </a:solidFill>
                <a:effectLst/>
                <a:uFillTx/>
                <a:latin typeface="Times New Roman"/>
                <a:ea typeface="Times New Roman"/>
              </a:rPr>
              <a:t>&lt;&lt;\</a:t>
            </a:r>
            <a:r>
              <a:rPr b="0" i="1" lang="en-IN" sz="1400" strike="noStrike" u="none">
                <a:solidFill>
                  <a:srgbClr val="000000"/>
                </a:solidFill>
                <a:effectLst/>
                <a:uFillTx/>
                <a:latin typeface="Times New Roman"/>
                <a:ea typeface="Times New Roman"/>
              </a:rPr>
              <a:t>s</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here document with no substitution</a:t>
            </a:r>
            <a:endParaRPr b="0" lang="en-IN" sz="1400" strike="noStrike" u="none">
              <a:solidFill>
                <a:srgbClr val="000000"/>
              </a:solidFill>
              <a:effectLst/>
              <a:uFillTx/>
              <a:latin typeface="Arial"/>
            </a:endParaRPr>
          </a:p>
          <a:p>
            <a:pPr marL="285840" indent="-285840">
              <a:lnSpc>
                <a:spcPct val="90000"/>
              </a:lnSpc>
              <a:spcBef>
                <a:spcPts val="720"/>
              </a:spcBef>
            </a:pPr>
            <a:r>
              <a:rPr b="0" lang="en-IN" sz="1400" strike="noStrike" u="none">
                <a:solidFill>
                  <a:srgbClr val="000000"/>
                </a:solidFill>
                <a:effectLst/>
                <a:uFillTx/>
                <a:latin typeface="Times New Roman"/>
                <a:ea typeface="Times New Roman"/>
              </a:rPr>
              <a:t>&lt;&lt;'</a:t>
            </a:r>
            <a:r>
              <a:rPr b="0" i="1" lang="en-IN" sz="1400" strike="noStrike" u="none">
                <a:solidFill>
                  <a:srgbClr val="000000"/>
                </a:solidFill>
                <a:effectLst/>
                <a:uFillTx/>
                <a:latin typeface="Times New Roman"/>
                <a:ea typeface="Times New Roman"/>
              </a:rPr>
              <a:t>s</a:t>
            </a:r>
            <a:r>
              <a:rPr b="0" lang="en-IN" sz="1400" strike="noStrike" u="none">
                <a:solidFill>
                  <a:srgbClr val="000000"/>
                </a:solidFill>
                <a:effectLst/>
                <a:uFillTx/>
                <a:latin typeface="Times New Roman"/>
                <a:ea typeface="Times New Roman"/>
              </a:rPr>
              <a:t>'</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here document with no substitution</a:t>
            </a:r>
            <a:endParaRPr b="0" lang="en-IN" sz="1400" strike="noStrike" u="none">
              <a:solidFill>
                <a:srgbClr val="000000"/>
              </a:solidFill>
              <a:effectLst/>
              <a:uFillTx/>
              <a:latin typeface="Arial"/>
            </a:endParaRPr>
          </a:p>
          <a:p>
            <a:pPr marL="285840" indent="-285840">
              <a:lnSpc>
                <a:spcPct val="90000"/>
              </a:lnSpc>
              <a:spcBef>
                <a:spcPts val="720"/>
              </a:spcBef>
            </a:pPr>
            <a:r>
              <a:rPr b="0" lang="en-IN" sz="1400" strike="noStrike" u="none">
                <a:solidFill>
                  <a:srgbClr val="000000"/>
                </a:solidFill>
                <a:effectLst/>
                <a:uFillTx/>
                <a:latin typeface="Times New Roman"/>
                <a:ea typeface="Times New Roman"/>
              </a:rPr>
              <a:t>*</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match 0 or more characters in filenames</a:t>
            </a:r>
            <a:endParaRPr b="0" lang="en-IN" sz="1400" strike="noStrike" u="none">
              <a:solidFill>
                <a:srgbClr val="000000"/>
              </a:solidFill>
              <a:effectLst/>
              <a:uFillTx/>
              <a:latin typeface="Arial"/>
            </a:endParaRPr>
          </a:p>
          <a:p>
            <a:pPr marL="285840" indent="-285840">
              <a:lnSpc>
                <a:spcPct val="90000"/>
              </a:lnSpc>
              <a:spcBef>
                <a:spcPts val="720"/>
              </a:spcBef>
            </a:pPr>
            <a:r>
              <a:rPr b="0" lang="en-IN" sz="1400" strike="noStrike" u="none">
                <a:solidFill>
                  <a:srgbClr val="000000"/>
                </a:solidFill>
                <a:effectLst/>
                <a:uFillTx/>
                <a:latin typeface="Times New Roman"/>
                <a:ea typeface="Times New Roman"/>
              </a:rPr>
              <a:t>?</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match any 1 character in filenames</a:t>
            </a:r>
            <a:endParaRPr b="0" lang="en-IN" sz="1400" strike="noStrike" u="none">
              <a:solidFill>
                <a:srgbClr val="000000"/>
              </a:solidFill>
              <a:effectLst/>
              <a:uFillTx/>
              <a:latin typeface="Arial"/>
            </a:endParaRPr>
          </a:p>
          <a:p>
            <a:pPr marL="285840" indent="-285840">
              <a:lnSpc>
                <a:spcPct val="90000"/>
              </a:lnSpc>
              <a:spcBef>
                <a:spcPts val="720"/>
              </a:spcBef>
            </a:pPr>
            <a:r>
              <a:rPr b="0" lang="en-IN" sz="1400" strike="noStrike" u="none">
                <a:solidFill>
                  <a:srgbClr val="000000"/>
                </a:solidFill>
                <a:effectLst/>
                <a:uFillTx/>
                <a:latin typeface="Times New Roman"/>
                <a:ea typeface="Times New Roman"/>
              </a:rPr>
              <a:t>[</a:t>
            </a:r>
            <a:r>
              <a:rPr b="0" i="1" lang="en-IN" sz="1400" strike="noStrike" u="none">
                <a:solidFill>
                  <a:srgbClr val="000000"/>
                </a:solidFill>
                <a:effectLst/>
                <a:uFillTx/>
                <a:latin typeface="Times New Roman"/>
                <a:ea typeface="Times New Roman"/>
              </a:rPr>
              <a:t>ccc</a:t>
            </a:r>
            <a:r>
              <a:rPr b="0" lang="en-IN" sz="1400" strike="noStrike" u="none">
                <a:solidFill>
                  <a:srgbClr val="000000"/>
                </a:solidFill>
                <a:effectLst/>
                <a:uFillTx/>
                <a:latin typeface="Times New Roman"/>
                <a:ea typeface="Times New Roman"/>
              </a:rPr>
              <a:t>]</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match any 1 character from </a:t>
            </a:r>
            <a:r>
              <a:rPr b="0" i="1" lang="en-IN" sz="1400" strike="noStrike" u="none">
                <a:solidFill>
                  <a:srgbClr val="000000"/>
                </a:solidFill>
                <a:effectLst/>
                <a:uFillTx/>
                <a:latin typeface="Times New Roman"/>
                <a:ea typeface="Times New Roman"/>
              </a:rPr>
              <a:t>ccc</a:t>
            </a:r>
            <a:r>
              <a:rPr b="0" lang="en-IN" sz="1400" strike="noStrike" u="none">
                <a:solidFill>
                  <a:srgbClr val="000000"/>
                </a:solidFill>
                <a:effectLst/>
                <a:uFillTx/>
                <a:latin typeface="Times New Roman"/>
                <a:ea typeface="Times New Roman"/>
              </a:rPr>
              <a:t> in filenames; </a:t>
            </a:r>
            <a:endParaRPr b="0" lang="en-IN" sz="1400" strike="noStrike" u="none">
              <a:solidFill>
                <a:srgbClr val="000000"/>
              </a:solidFill>
              <a:effectLst/>
              <a:uFillTx/>
              <a:latin typeface="Arial"/>
            </a:endParaRPr>
          </a:p>
          <a:p>
            <a:pPr marL="285840" indent="-285840">
              <a:lnSpc>
                <a:spcPct val="90000"/>
              </a:lnSpc>
              <a:spcBef>
                <a:spcPts val="720"/>
              </a:spcBef>
            </a:pP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ranges like 0-9 or a-z allowed</a:t>
            </a:r>
            <a:endParaRPr b="0" lang="en-IN"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1" name=""/>
          <p:cNvSpPr txBox="1"/>
          <p:nvPr/>
        </p:nvSpPr>
        <p:spPr>
          <a:xfrm>
            <a:off x="996840" y="685800"/>
            <a:ext cx="7156440" cy="8920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Table of Metacharacters</a:t>
            </a:r>
            <a:br>
              <a:rPr sz="3600"/>
            </a:br>
            <a:r>
              <a:rPr b="1" lang="en-IN" sz="2400" strike="noStrike" u="none">
                <a:solidFill>
                  <a:srgbClr val="000000"/>
                </a:solidFill>
                <a:effectLst/>
                <a:uFillTx/>
                <a:latin typeface="Times New Roman"/>
                <a:ea typeface="Times New Roman"/>
              </a:rPr>
              <a:t>(continued)</a:t>
            </a:r>
            <a:endParaRPr b="0" lang="en-IN" sz="2400" strike="noStrike" u="none">
              <a:solidFill>
                <a:srgbClr val="000000"/>
              </a:solidFill>
              <a:effectLst/>
              <a:uFillTx/>
              <a:latin typeface="Arial"/>
            </a:endParaRPr>
          </a:p>
        </p:txBody>
      </p:sp>
      <p:sp>
        <p:nvSpPr>
          <p:cNvPr id="242" name=""/>
          <p:cNvSpPr txBox="1"/>
          <p:nvPr/>
        </p:nvSpPr>
        <p:spPr>
          <a:xfrm>
            <a:off x="990720" y="1981080"/>
            <a:ext cx="7162920" cy="4114800"/>
          </a:xfrm>
          <a:prstGeom prst="rect">
            <a:avLst/>
          </a:prstGeom>
          <a:noFill/>
          <a:ln w="0">
            <a:noFill/>
          </a:ln>
        </p:spPr>
        <p:txBody>
          <a:bodyPr lIns="0" rIns="0" tIns="0" bIns="0" anchor="t">
            <a:spAutoFit/>
          </a:bodyPr>
          <a:p>
            <a:pPr marL="285840" indent="-285840">
              <a:lnSpc>
                <a:spcPct val="90000"/>
              </a:lnSpc>
              <a:spcBef>
                <a:spcPts val="720"/>
              </a:spcBef>
            </a:pPr>
            <a:r>
              <a:rPr b="0" lang="en-IN" sz="1400" strike="noStrike" u="none">
                <a:solidFill>
                  <a:srgbClr val="000000"/>
                </a:solidFill>
                <a:effectLst/>
                <a:uFillTx/>
                <a:latin typeface="Times New Roman"/>
                <a:ea typeface="Times New Roman"/>
              </a:rPr>
              <a:t>;</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command terminator; </a:t>
            </a:r>
            <a:r>
              <a:rPr b="0" i="1" lang="en-IN" sz="1400" strike="noStrike" u="none">
                <a:solidFill>
                  <a:srgbClr val="000000"/>
                </a:solidFill>
                <a:effectLst/>
                <a:uFillTx/>
                <a:latin typeface="Times New Roman"/>
                <a:ea typeface="Times New Roman"/>
              </a:rPr>
              <a:t>p1 </a:t>
            </a:r>
            <a:r>
              <a:rPr b="0" lang="en-IN" sz="1400" strike="noStrike" u="none">
                <a:solidFill>
                  <a:srgbClr val="000000"/>
                </a:solidFill>
                <a:effectLst/>
                <a:uFillTx/>
                <a:latin typeface="Times New Roman"/>
                <a:ea typeface="Times New Roman"/>
              </a:rPr>
              <a:t>;</a:t>
            </a:r>
            <a:r>
              <a:rPr b="0" i="1" lang="en-IN" sz="1400" strike="noStrike" u="none">
                <a:solidFill>
                  <a:srgbClr val="000000"/>
                </a:solidFill>
                <a:effectLst/>
                <a:uFillTx/>
                <a:latin typeface="Times New Roman"/>
                <a:ea typeface="Times New Roman"/>
              </a:rPr>
              <a:t> p2 </a:t>
            </a:r>
            <a:r>
              <a:rPr b="0" lang="en-IN" sz="1400" strike="noStrike" u="none">
                <a:solidFill>
                  <a:srgbClr val="000000"/>
                </a:solidFill>
                <a:effectLst/>
                <a:uFillTx/>
                <a:latin typeface="Times New Roman"/>
                <a:ea typeface="Times New Roman"/>
              </a:rPr>
              <a:t>runs p1, then p2</a:t>
            </a:r>
            <a:endParaRPr b="0" lang="en-IN" sz="1400" strike="noStrike" u="none">
              <a:solidFill>
                <a:srgbClr val="000000"/>
              </a:solidFill>
              <a:effectLst/>
              <a:uFillTx/>
              <a:latin typeface="Arial"/>
            </a:endParaRPr>
          </a:p>
          <a:p>
            <a:pPr marL="285840" indent="-285840">
              <a:lnSpc>
                <a:spcPct val="90000"/>
              </a:lnSpc>
              <a:spcBef>
                <a:spcPts val="720"/>
              </a:spcBef>
            </a:pPr>
            <a:r>
              <a:rPr b="0" lang="en-IN" sz="1400" strike="noStrike" u="none">
                <a:solidFill>
                  <a:srgbClr val="000000"/>
                </a:solidFill>
                <a:effectLst/>
                <a:uFillTx/>
                <a:latin typeface="Times New Roman"/>
                <a:ea typeface="Times New Roman"/>
              </a:rPr>
              <a:t>&amp;</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like ; but doesn’t wait for p1 to finish</a:t>
            </a:r>
            <a:endParaRPr b="0" lang="en-IN" sz="1400" strike="noStrike" u="none">
              <a:solidFill>
                <a:srgbClr val="000000"/>
              </a:solidFill>
              <a:effectLst/>
              <a:uFillTx/>
              <a:latin typeface="Arial"/>
            </a:endParaRPr>
          </a:p>
          <a:p>
            <a:pPr marL="285840" indent="-285840">
              <a:lnSpc>
                <a:spcPct val="90000"/>
              </a:lnSpc>
              <a:spcBef>
                <a:spcPts val="720"/>
              </a:spcBef>
            </a:pPr>
            <a:r>
              <a:rPr b="0" lang="en-IN" sz="1400" strike="noStrike" u="none">
                <a:solidFill>
                  <a:srgbClr val="000000"/>
                </a:solidFill>
                <a:effectLst/>
                <a:uFillTx/>
                <a:latin typeface="Times New Roman"/>
                <a:ea typeface="Times New Roman"/>
              </a:rPr>
              <a:t>`...`</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run commands in ...; output replaces `...`</a:t>
            </a:r>
            <a:endParaRPr b="0" lang="en-IN" sz="1400" strike="noStrike" u="none">
              <a:solidFill>
                <a:srgbClr val="000000"/>
              </a:solidFill>
              <a:effectLst/>
              <a:uFillTx/>
              <a:latin typeface="Arial"/>
            </a:endParaRPr>
          </a:p>
          <a:p>
            <a:pPr marL="285840" indent="-285840">
              <a:lnSpc>
                <a:spcPct val="90000"/>
              </a:lnSpc>
              <a:spcBef>
                <a:spcPts val="720"/>
              </a:spcBef>
            </a:pPr>
            <a:r>
              <a:rPr b="0" lang="en-IN" sz="1400" strike="noStrike" u="none">
                <a:solidFill>
                  <a:srgbClr val="000000"/>
                </a:solidFill>
                <a:effectLst/>
                <a:uFillTx/>
                <a:latin typeface="Times New Roman"/>
                <a:ea typeface="Times New Roman"/>
              </a:rPr>
              <a:t>(...)</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run commands in ... in a sub-shell</a:t>
            </a:r>
            <a:endParaRPr b="0" lang="en-IN" sz="1400" strike="noStrike" u="none">
              <a:solidFill>
                <a:srgbClr val="000000"/>
              </a:solidFill>
              <a:effectLst/>
              <a:uFillTx/>
              <a:latin typeface="Arial"/>
            </a:endParaRPr>
          </a:p>
          <a:p>
            <a:pPr marL="285840" indent="-285840">
              <a:lnSpc>
                <a:spcPct val="90000"/>
              </a:lnSpc>
              <a:spcBef>
                <a:spcPts val="720"/>
              </a:spcBef>
            </a:pPr>
            <a:r>
              <a:rPr b="0" lang="en-IN" sz="1400" strike="noStrike" u="none">
                <a:solidFill>
                  <a:srgbClr val="000000"/>
                </a:solidFill>
                <a:effectLst/>
                <a:uFillTx/>
                <a:latin typeface="Times New Roman"/>
                <a:ea typeface="Times New Roman"/>
              </a:rPr>
              <a:t>{...}</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run commands in ... in current shell</a:t>
            </a:r>
            <a:endParaRPr b="0" lang="en-IN" sz="1400" strike="noStrike" u="none">
              <a:solidFill>
                <a:srgbClr val="000000"/>
              </a:solidFill>
              <a:effectLst/>
              <a:uFillTx/>
              <a:latin typeface="Arial"/>
            </a:endParaRPr>
          </a:p>
          <a:p>
            <a:pPr marL="285840" indent="-285840">
              <a:lnSpc>
                <a:spcPct val="90000"/>
              </a:lnSpc>
              <a:spcBef>
                <a:spcPts val="720"/>
              </a:spcBef>
            </a:pPr>
            <a:r>
              <a:rPr b="0" lang="en-IN" sz="1400" strike="noStrike" u="none">
                <a:solidFill>
                  <a:srgbClr val="000000"/>
                </a:solidFill>
                <a:effectLst/>
                <a:uFillTx/>
                <a:latin typeface="Times New Roman"/>
                <a:ea typeface="Times New Roman"/>
              </a:rPr>
              <a:t>$1, $2,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$1 ... $9 replaced by arguments to shell file</a:t>
            </a:r>
            <a:endParaRPr b="0" lang="en-IN" sz="1400" strike="noStrike" u="none">
              <a:solidFill>
                <a:srgbClr val="000000"/>
              </a:solidFill>
              <a:effectLst/>
              <a:uFillTx/>
              <a:latin typeface="Arial"/>
            </a:endParaRPr>
          </a:p>
          <a:p>
            <a:pPr marL="285840" indent="-285840">
              <a:lnSpc>
                <a:spcPct val="90000"/>
              </a:lnSpc>
              <a:spcBef>
                <a:spcPts val="720"/>
              </a:spcBef>
            </a:pPr>
            <a:r>
              <a:rPr b="0" lang="en-IN" sz="1400" strike="noStrike" u="none">
                <a:solidFill>
                  <a:srgbClr val="000000"/>
                </a:solidFill>
                <a:effectLst/>
                <a:uFillTx/>
                <a:latin typeface="Times New Roman"/>
                <a:ea typeface="Times New Roman"/>
              </a:rPr>
              <a:t>$</a:t>
            </a:r>
            <a:r>
              <a:rPr b="0" i="1" lang="en-IN" sz="1400" strike="noStrike" u="none">
                <a:solidFill>
                  <a:srgbClr val="000000"/>
                </a:solidFill>
                <a:effectLst/>
                <a:uFillTx/>
                <a:latin typeface="Times New Roman"/>
                <a:ea typeface="Times New Roman"/>
              </a:rPr>
              <a:t>var</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value of shell variable </a:t>
            </a:r>
            <a:r>
              <a:rPr b="0" i="1" lang="en-IN" sz="1400" strike="noStrike" u="none">
                <a:solidFill>
                  <a:srgbClr val="000000"/>
                </a:solidFill>
                <a:effectLst/>
                <a:uFillTx/>
                <a:latin typeface="Times New Roman"/>
                <a:ea typeface="Times New Roman"/>
              </a:rPr>
              <a:t>var</a:t>
            </a:r>
            <a:endParaRPr b="0" lang="en-IN" sz="1400" strike="noStrike" u="none">
              <a:solidFill>
                <a:srgbClr val="000000"/>
              </a:solidFill>
              <a:effectLst/>
              <a:uFillTx/>
              <a:latin typeface="Arial"/>
            </a:endParaRPr>
          </a:p>
          <a:p>
            <a:pPr marL="285840" indent="-285840">
              <a:lnSpc>
                <a:spcPct val="90000"/>
              </a:lnSpc>
              <a:spcBef>
                <a:spcPts val="720"/>
              </a:spcBef>
            </a:pPr>
            <a:r>
              <a:rPr b="0" lang="en-IN" sz="1400" strike="noStrike" u="none">
                <a:solidFill>
                  <a:srgbClr val="000000"/>
                </a:solidFill>
                <a:effectLst/>
                <a:uFillTx/>
                <a:latin typeface="Times New Roman"/>
                <a:ea typeface="Times New Roman"/>
              </a:rPr>
              <a:t>${</a:t>
            </a:r>
            <a:r>
              <a:rPr b="0" i="1" lang="en-IN" sz="1400" strike="noStrike" u="none">
                <a:solidFill>
                  <a:srgbClr val="000000"/>
                </a:solidFill>
                <a:effectLst/>
                <a:uFillTx/>
                <a:latin typeface="Times New Roman"/>
                <a:ea typeface="Times New Roman"/>
              </a:rPr>
              <a:t>var</a:t>
            </a:r>
            <a:r>
              <a:rPr b="0" lang="en-IN" sz="1400" strike="noStrike" u="none">
                <a:solidFill>
                  <a:srgbClr val="000000"/>
                </a:solidFill>
                <a:effectLst/>
                <a:uFillTx/>
                <a:latin typeface="Times New Roman"/>
                <a:ea typeface="Times New Roman"/>
              </a:rPr>
              <a:t>}</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value of shell variable </a:t>
            </a:r>
            <a:r>
              <a:rPr b="0" i="1" lang="en-IN" sz="1400" strike="noStrike" u="none">
                <a:solidFill>
                  <a:srgbClr val="000000"/>
                </a:solidFill>
                <a:effectLst/>
                <a:uFillTx/>
                <a:latin typeface="Times New Roman"/>
                <a:ea typeface="Times New Roman"/>
              </a:rPr>
              <a:t>var</a:t>
            </a:r>
            <a:r>
              <a:rPr b="0" lang="en-IN" sz="1400" strike="noStrike" u="none">
                <a:solidFill>
                  <a:srgbClr val="000000"/>
                </a:solidFill>
                <a:effectLst/>
                <a:uFillTx/>
                <a:latin typeface="Times New Roman"/>
                <a:ea typeface="Times New Roman"/>
              </a:rPr>
              <a:t> when concatenated to text</a:t>
            </a:r>
            <a:endParaRPr b="0" lang="en-IN" sz="1400" strike="noStrike" u="none">
              <a:solidFill>
                <a:srgbClr val="000000"/>
              </a:solidFill>
              <a:effectLst/>
              <a:uFillTx/>
              <a:latin typeface="Arial"/>
            </a:endParaRPr>
          </a:p>
          <a:p>
            <a:pPr marL="285840" indent="-285840">
              <a:lnSpc>
                <a:spcPct val="90000"/>
              </a:lnSpc>
              <a:spcBef>
                <a:spcPts val="720"/>
              </a:spcBef>
            </a:pPr>
            <a:r>
              <a:rPr b="0" lang="en-IN" sz="1400" strike="noStrike" u="none">
                <a:solidFill>
                  <a:srgbClr val="000000"/>
                </a:solidFill>
                <a:effectLst/>
                <a:uFillTx/>
                <a:latin typeface="Times New Roman"/>
                <a:ea typeface="Times New Roman"/>
              </a:rPr>
              <a:t>\</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a:t>
            </a:r>
            <a:r>
              <a:rPr b="0" i="1" lang="en-IN" sz="1400" strike="noStrike" u="none">
                <a:solidFill>
                  <a:srgbClr val="000000"/>
                </a:solidFill>
                <a:effectLst/>
                <a:uFillTx/>
                <a:latin typeface="Times New Roman"/>
                <a:ea typeface="Times New Roman"/>
              </a:rPr>
              <a:t>c</a:t>
            </a:r>
            <a:r>
              <a:rPr b="0" lang="en-IN" sz="1400" strike="noStrike" u="none">
                <a:solidFill>
                  <a:srgbClr val="000000"/>
                </a:solidFill>
                <a:effectLst/>
                <a:uFillTx/>
                <a:latin typeface="Times New Roman"/>
                <a:ea typeface="Times New Roman"/>
              </a:rPr>
              <a:t> takes character </a:t>
            </a:r>
            <a:r>
              <a:rPr b="0" i="1" lang="en-IN" sz="1400" strike="noStrike" u="none">
                <a:solidFill>
                  <a:srgbClr val="000000"/>
                </a:solidFill>
                <a:effectLst/>
                <a:uFillTx/>
                <a:latin typeface="Times New Roman"/>
                <a:ea typeface="Times New Roman"/>
              </a:rPr>
              <a:t>c</a:t>
            </a:r>
            <a:r>
              <a:rPr b="0" lang="en-IN" sz="1400" strike="noStrike" u="none">
                <a:solidFill>
                  <a:srgbClr val="000000"/>
                </a:solidFill>
                <a:effectLst/>
                <a:uFillTx/>
                <a:latin typeface="Times New Roman"/>
                <a:ea typeface="Times New Roman"/>
              </a:rPr>
              <a:t> literally; \</a:t>
            </a:r>
            <a:r>
              <a:rPr b="0" i="1" lang="en-IN" sz="1400" strike="noStrike" u="none">
                <a:solidFill>
                  <a:srgbClr val="000000"/>
                </a:solidFill>
                <a:effectLst/>
                <a:uFillTx/>
                <a:latin typeface="Times New Roman"/>
                <a:ea typeface="Times New Roman"/>
              </a:rPr>
              <a:t>newline</a:t>
            </a:r>
            <a:r>
              <a:rPr b="0" lang="en-IN" sz="1400" strike="noStrike" u="none">
                <a:solidFill>
                  <a:srgbClr val="000000"/>
                </a:solidFill>
                <a:effectLst/>
                <a:uFillTx/>
                <a:latin typeface="Times New Roman"/>
                <a:ea typeface="Times New Roman"/>
              </a:rPr>
              <a:t> discarded</a:t>
            </a:r>
            <a:endParaRPr b="0" lang="en-IN" sz="1400" strike="noStrike" u="none">
              <a:solidFill>
                <a:srgbClr val="000000"/>
              </a:solidFill>
              <a:effectLst/>
              <a:uFillTx/>
              <a:latin typeface="Arial"/>
            </a:endParaRPr>
          </a:p>
          <a:p>
            <a:pPr marL="285840" indent="-285840">
              <a:lnSpc>
                <a:spcPct val="90000"/>
              </a:lnSpc>
              <a:spcBef>
                <a:spcPts val="720"/>
              </a:spcBef>
            </a:pPr>
            <a:r>
              <a:rPr b="0" lang="en-IN" sz="1400" strike="noStrike" u="none">
                <a:solidFill>
                  <a:srgbClr val="000000"/>
                </a:solidFill>
                <a:effectLst/>
                <a:uFillTx/>
                <a:latin typeface="Times New Roman"/>
                <a:ea typeface="Times New Roman"/>
              </a:rPr>
              <a:t>'...'</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take ... literally</a:t>
            </a:r>
            <a:endParaRPr b="0" lang="en-IN" sz="1400" strike="noStrike" u="none">
              <a:solidFill>
                <a:srgbClr val="000000"/>
              </a:solidFill>
              <a:effectLst/>
              <a:uFillTx/>
              <a:latin typeface="Arial"/>
            </a:endParaRPr>
          </a:p>
          <a:p>
            <a:pPr marL="285840" indent="-285840">
              <a:lnSpc>
                <a:spcPct val="90000"/>
              </a:lnSpc>
              <a:spcBef>
                <a:spcPts val="720"/>
              </a:spcBef>
            </a:pPr>
            <a:r>
              <a:rPr b="0" lang="en-IN" sz="1400" strike="noStrike" u="none">
                <a:solidFill>
                  <a:srgbClr val="000000"/>
                </a:solidFill>
                <a:effectLst/>
                <a:uFillTx/>
                <a:latin typeface="Times New Roman"/>
                <a:ea typeface="Times New Roman"/>
              </a:rPr>
              <a:t>"..."</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take ... literally after $, `...`, and \ interpreted</a:t>
            </a:r>
            <a:endParaRPr b="0" lang="en-IN" sz="1400" strike="noStrike" u="none">
              <a:solidFill>
                <a:srgbClr val="000000"/>
              </a:solidFill>
              <a:effectLst/>
              <a:uFillTx/>
              <a:latin typeface="Arial"/>
            </a:endParaRPr>
          </a:p>
          <a:p>
            <a:pPr marL="285840" indent="-285840">
              <a:lnSpc>
                <a:spcPct val="90000"/>
              </a:lnSpc>
              <a:spcBef>
                <a:spcPts val="720"/>
              </a:spcBef>
            </a:pPr>
            <a:r>
              <a:rPr b="0" lang="en-IN" sz="1400" strike="noStrike" u="none">
                <a:solidFill>
                  <a:srgbClr val="000000"/>
                </a:solidFill>
                <a:effectLst/>
                <a:uFillTx/>
                <a:latin typeface="Times New Roman"/>
                <a:ea typeface="Times New Roman"/>
              </a:rPr>
              <a:t>#</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if # starts a word, rest of line is a comment</a:t>
            </a:r>
            <a:endParaRPr b="0" lang="en-IN" sz="1400" strike="noStrike" u="none">
              <a:solidFill>
                <a:srgbClr val="000000"/>
              </a:solidFill>
              <a:effectLst/>
              <a:uFillTx/>
              <a:latin typeface="Arial"/>
            </a:endParaRPr>
          </a:p>
          <a:p>
            <a:pPr marL="285840" indent="-285840">
              <a:lnSpc>
                <a:spcPct val="90000"/>
              </a:lnSpc>
              <a:spcBef>
                <a:spcPts val="720"/>
              </a:spcBef>
            </a:pPr>
            <a:r>
              <a:rPr b="0" i="1" lang="en-IN" sz="1400" strike="noStrike" u="none">
                <a:solidFill>
                  <a:srgbClr val="000000"/>
                </a:solidFill>
                <a:effectLst/>
                <a:uFillTx/>
                <a:latin typeface="Times New Roman"/>
                <a:ea typeface="Times New Roman"/>
              </a:rPr>
              <a:t>var</a:t>
            </a:r>
            <a:r>
              <a:rPr b="0" lang="en-IN" sz="1400" strike="noStrike" u="none">
                <a:solidFill>
                  <a:srgbClr val="000000"/>
                </a:solidFill>
                <a:effectLst/>
                <a:uFillTx/>
                <a:latin typeface="Times New Roman"/>
                <a:ea typeface="Times New Roman"/>
              </a:rPr>
              <a:t>=</a:t>
            </a:r>
            <a:r>
              <a:rPr b="0" i="1" lang="en-IN" sz="1400" strike="noStrike" u="none">
                <a:solidFill>
                  <a:srgbClr val="000000"/>
                </a:solidFill>
                <a:effectLst/>
                <a:uFillTx/>
                <a:latin typeface="Times New Roman"/>
                <a:ea typeface="Times New Roman"/>
              </a:rPr>
              <a:t>value</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assign to variable </a:t>
            </a:r>
            <a:r>
              <a:rPr b="0" i="1" lang="en-IN" sz="1400" strike="noStrike" u="none">
                <a:solidFill>
                  <a:srgbClr val="000000"/>
                </a:solidFill>
                <a:effectLst/>
                <a:uFillTx/>
                <a:latin typeface="Times New Roman"/>
                <a:ea typeface="Times New Roman"/>
              </a:rPr>
              <a:t>var</a:t>
            </a:r>
            <a:endParaRPr b="0" lang="en-IN" sz="1400" strike="noStrike" u="none">
              <a:solidFill>
                <a:srgbClr val="000000"/>
              </a:solidFill>
              <a:effectLst/>
              <a:uFillTx/>
              <a:latin typeface="Arial"/>
            </a:endParaRPr>
          </a:p>
          <a:p>
            <a:pPr marL="285840" indent="-285840">
              <a:lnSpc>
                <a:spcPct val="90000"/>
              </a:lnSpc>
              <a:spcBef>
                <a:spcPts val="720"/>
              </a:spcBef>
            </a:pPr>
            <a:r>
              <a:rPr b="0" i="1" lang="en-IN" sz="1400" strike="noStrike" u="none">
                <a:solidFill>
                  <a:srgbClr val="000000"/>
                </a:solidFill>
                <a:effectLst/>
                <a:uFillTx/>
                <a:latin typeface="Times New Roman"/>
                <a:ea typeface="Times New Roman"/>
              </a:rPr>
              <a:t>p1</a:t>
            </a:r>
            <a:r>
              <a:rPr b="0" lang="en-IN" sz="1400" strike="noStrike" u="none">
                <a:solidFill>
                  <a:srgbClr val="000000"/>
                </a:solidFill>
                <a:effectLst/>
                <a:uFillTx/>
                <a:latin typeface="Times New Roman"/>
                <a:ea typeface="Times New Roman"/>
              </a:rPr>
              <a:t> &amp;&amp; </a:t>
            </a:r>
            <a:r>
              <a:rPr b="0" i="1" lang="en-IN" sz="1400" strike="noStrike" u="none">
                <a:solidFill>
                  <a:srgbClr val="000000"/>
                </a:solidFill>
                <a:effectLst/>
                <a:uFillTx/>
                <a:latin typeface="Times New Roman"/>
                <a:ea typeface="Times New Roman"/>
              </a:rPr>
              <a:t>p2</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run </a:t>
            </a:r>
            <a:r>
              <a:rPr b="0" i="1" lang="en-IN" sz="1400" strike="noStrike" u="none">
                <a:solidFill>
                  <a:srgbClr val="000000"/>
                </a:solidFill>
                <a:effectLst/>
                <a:uFillTx/>
                <a:latin typeface="Times New Roman"/>
                <a:ea typeface="Times New Roman"/>
              </a:rPr>
              <a:t>p1</a:t>
            </a:r>
            <a:r>
              <a:rPr b="0" lang="en-IN" sz="1400" strike="noStrike" u="none">
                <a:solidFill>
                  <a:srgbClr val="000000"/>
                </a:solidFill>
                <a:effectLst/>
                <a:uFillTx/>
                <a:latin typeface="Times New Roman"/>
                <a:ea typeface="Times New Roman"/>
              </a:rPr>
              <a:t>; if successful, run </a:t>
            </a:r>
            <a:r>
              <a:rPr b="0" i="1" lang="en-IN" sz="1400" strike="noStrike" u="none">
                <a:solidFill>
                  <a:srgbClr val="000000"/>
                </a:solidFill>
                <a:effectLst/>
                <a:uFillTx/>
                <a:latin typeface="Times New Roman"/>
                <a:ea typeface="Times New Roman"/>
              </a:rPr>
              <a:t>p2</a:t>
            </a:r>
            <a:endParaRPr b="0" lang="en-IN" sz="1400" strike="noStrike" u="none">
              <a:solidFill>
                <a:srgbClr val="000000"/>
              </a:solidFill>
              <a:effectLst/>
              <a:uFillTx/>
              <a:latin typeface="Arial"/>
            </a:endParaRPr>
          </a:p>
          <a:p>
            <a:pPr marL="285840" indent="-285840">
              <a:lnSpc>
                <a:spcPct val="90000"/>
              </a:lnSpc>
              <a:spcBef>
                <a:spcPts val="720"/>
              </a:spcBef>
            </a:pPr>
            <a:r>
              <a:rPr b="0" i="1" lang="en-IN" sz="1400" strike="noStrike" u="none">
                <a:solidFill>
                  <a:srgbClr val="000000"/>
                </a:solidFill>
                <a:effectLst/>
                <a:uFillTx/>
                <a:latin typeface="Times New Roman"/>
                <a:ea typeface="Times New Roman"/>
              </a:rPr>
              <a:t>p1 || p2</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run </a:t>
            </a:r>
            <a:r>
              <a:rPr b="0" i="1" lang="en-IN" sz="1400" strike="noStrike" u="none">
                <a:solidFill>
                  <a:srgbClr val="000000"/>
                </a:solidFill>
                <a:effectLst/>
                <a:uFillTx/>
                <a:latin typeface="Times New Roman"/>
                <a:ea typeface="Times New Roman"/>
              </a:rPr>
              <a:t>p1</a:t>
            </a:r>
            <a:r>
              <a:rPr b="0" lang="en-IN" sz="1400" strike="noStrike" u="none">
                <a:solidFill>
                  <a:srgbClr val="000000"/>
                </a:solidFill>
                <a:effectLst/>
                <a:uFillTx/>
                <a:latin typeface="Times New Roman"/>
                <a:ea typeface="Times New Roman"/>
              </a:rPr>
              <a:t>; if unsuccessful, run </a:t>
            </a:r>
            <a:r>
              <a:rPr b="0" i="1" lang="en-IN" sz="1400" strike="noStrike" u="none">
                <a:solidFill>
                  <a:srgbClr val="000000"/>
                </a:solidFill>
                <a:effectLst/>
                <a:uFillTx/>
                <a:latin typeface="Times New Roman"/>
                <a:ea typeface="Times New Roman"/>
              </a:rPr>
              <a:t>p2</a:t>
            </a:r>
            <a:endParaRPr b="0" lang="en-IN"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3" name=""/>
          <p:cNvSpPr txBox="1"/>
          <p:nvPr/>
        </p:nvSpPr>
        <p:spPr>
          <a:xfrm>
            <a:off x="996840" y="685800"/>
            <a:ext cx="715644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Quoting</a:t>
            </a:r>
            <a:endParaRPr b="0" lang="en-IN" sz="3600" strike="noStrike" u="none">
              <a:solidFill>
                <a:srgbClr val="000000"/>
              </a:solidFill>
              <a:effectLst/>
              <a:uFillTx/>
              <a:latin typeface="Arial"/>
            </a:endParaRPr>
          </a:p>
        </p:txBody>
      </p:sp>
      <p:sp>
        <p:nvSpPr>
          <p:cNvPr id="244" name=""/>
          <p:cNvSpPr txBox="1"/>
          <p:nvPr/>
        </p:nvSpPr>
        <p:spPr>
          <a:xfrm>
            <a:off x="990720" y="1523880"/>
            <a:ext cx="7162920" cy="4709520"/>
          </a:xfrm>
          <a:prstGeom prst="rect">
            <a:avLst/>
          </a:prstGeom>
          <a:noFill/>
          <a:ln w="0">
            <a:noFill/>
          </a:ln>
        </p:spPr>
        <p:txBody>
          <a:bodyPr lIns="0" rIns="0" tIns="0" bIns="0" anchor="t">
            <a:spAutoFit/>
          </a:bodyPr>
          <a:p>
            <a:pPr marL="285840" indent="-285840">
              <a:lnSpc>
                <a:spcPct val="90000"/>
              </a:lnSpc>
              <a:spcBef>
                <a:spcPts val="720"/>
              </a:spcBef>
            </a:pPr>
            <a:r>
              <a:rPr b="0" lang="en-IN" sz="2400" strike="noStrike" u="none">
                <a:solidFill>
                  <a:srgbClr val="000000"/>
                </a:solidFill>
                <a:effectLst/>
                <a:uFillTx/>
                <a:latin typeface="Times New Roman"/>
                <a:ea typeface="Times New Roman"/>
              </a:rPr>
              <a:t>Metacharacters are “protected” by ...</a:t>
            </a:r>
            <a:endParaRPr b="0" lang="en-IN" sz="24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Preceding </a:t>
            </a:r>
            <a:r>
              <a:rPr b="0" lang="en-IN" sz="2000" strike="noStrike" u="sng">
                <a:solidFill>
                  <a:srgbClr val="000000"/>
                </a:solidFill>
                <a:effectLst/>
                <a:uFillTx/>
                <a:latin typeface="Times New Roman"/>
                <a:ea typeface="Times New Roman"/>
              </a:rPr>
              <a:t>each</a:t>
            </a:r>
            <a:r>
              <a:rPr b="0" lang="en-IN" sz="2000" strike="noStrike" u="none">
                <a:solidFill>
                  <a:srgbClr val="000000"/>
                </a:solidFill>
                <a:effectLst/>
                <a:uFillTx/>
                <a:latin typeface="Times New Roman"/>
                <a:ea typeface="Times New Roman"/>
              </a:rPr>
              <a:t> metacharacter with a backslash, \</a:t>
            </a:r>
            <a:endParaRPr b="0" lang="en-IN" sz="2000" strike="noStrike" u="none">
              <a:solidFill>
                <a:srgbClr val="000000"/>
              </a:solidFill>
              <a:effectLst/>
              <a:uFillTx/>
              <a:latin typeface="Arial"/>
            </a:endParaRPr>
          </a:p>
          <a:p>
            <a:pPr marL="1143000" indent="-228600">
              <a:lnSpc>
                <a:spcPct val="90000"/>
              </a:lnSpc>
              <a:spcBef>
                <a:spcPts val="720"/>
              </a:spcBef>
            </a:pPr>
            <a:r>
              <a:rPr b="0" lang="en-IN" sz="2000" strike="noStrike" u="none">
                <a:solidFill>
                  <a:srgbClr val="000000"/>
                </a:solidFill>
                <a:effectLst/>
                <a:uFillTx/>
                <a:latin typeface="Times New Roman"/>
                <a:ea typeface="Times New Roman"/>
              </a:rPr>
              <a:t>$ </a:t>
            </a:r>
            <a:r>
              <a:rPr b="0" i="1" lang="en-IN" sz="2000" strike="noStrike" u="none">
                <a:solidFill>
                  <a:srgbClr val="000000"/>
                </a:solidFill>
                <a:effectLst/>
                <a:uFillTx/>
                <a:latin typeface="Times New Roman"/>
                <a:ea typeface="Times New Roman"/>
              </a:rPr>
              <a:t>echo \?\?\?</a:t>
            </a:r>
            <a:r>
              <a:rPr b="0" i="1" lang="en-IN" sz="2000" strike="noStrike" u="none">
                <a:solidFill>
                  <a:srgbClr val="000000"/>
                </a:solidFill>
                <a:effectLst/>
                <a:uFillTx/>
                <a:latin typeface="Times New Roman"/>
                <a:ea typeface="Times New Roman"/>
              </a:rPr>
              <a:t>	</a:t>
            </a:r>
            <a:r>
              <a:rPr b="0" lang="en-IN" sz="2000" strike="noStrike" u="none">
                <a:solidFill>
                  <a:srgbClr val="000000"/>
                </a:solidFill>
                <a:effectLst/>
                <a:uFillTx/>
                <a:latin typeface="Times New Roman"/>
                <a:ea typeface="Times New Roman"/>
              </a:rPr>
              <a:t># echo three question marks</a:t>
            </a:r>
            <a:endParaRPr b="0" lang="en-IN" sz="20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Enclosing in single quotes</a:t>
            </a:r>
            <a:endParaRPr b="0" lang="en-IN" sz="2000" strike="noStrike" u="none">
              <a:solidFill>
                <a:srgbClr val="000000"/>
              </a:solidFill>
              <a:effectLst/>
              <a:uFillTx/>
              <a:latin typeface="Arial"/>
            </a:endParaRPr>
          </a:p>
          <a:p>
            <a:pPr marL="1143000" indent="-228600">
              <a:lnSpc>
                <a:spcPct val="90000"/>
              </a:lnSpc>
              <a:spcBef>
                <a:spcPts val="720"/>
              </a:spcBef>
            </a:pPr>
            <a:r>
              <a:rPr b="0" lang="en-IN" sz="2000" strike="noStrike" u="none">
                <a:solidFill>
                  <a:srgbClr val="000000"/>
                </a:solidFill>
                <a:effectLst/>
                <a:uFillTx/>
                <a:latin typeface="Times New Roman"/>
                <a:ea typeface="Times New Roman"/>
              </a:rPr>
              <a:t>$ </a:t>
            </a:r>
            <a:r>
              <a:rPr b="0" i="1" lang="en-IN" sz="2000" strike="noStrike" u="none">
                <a:solidFill>
                  <a:srgbClr val="000000"/>
                </a:solidFill>
                <a:effectLst/>
                <a:uFillTx/>
                <a:latin typeface="Times New Roman"/>
                <a:ea typeface="Times New Roman"/>
              </a:rPr>
              <a:t>echo '*'</a:t>
            </a:r>
            <a:r>
              <a:rPr b="0" i="1" lang="en-IN" sz="2000" strike="noStrike" u="none">
                <a:solidFill>
                  <a:srgbClr val="000000"/>
                </a:solidFill>
                <a:effectLst/>
                <a:uFillTx/>
                <a:latin typeface="Times New Roman"/>
                <a:ea typeface="Times New Roman"/>
              </a:rPr>
              <a:t>	</a:t>
            </a:r>
            <a:r>
              <a:rPr b="0" lang="en-IN" sz="2000" strike="noStrike" u="none">
                <a:solidFill>
                  <a:srgbClr val="000000"/>
                </a:solidFill>
                <a:effectLst/>
                <a:uFillTx/>
                <a:latin typeface="Times New Roman"/>
                <a:ea typeface="Times New Roman"/>
              </a:rPr>
              <a:t># echo a single asterisk</a:t>
            </a:r>
            <a:endParaRPr b="0" lang="en-IN" sz="20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Enclosing in double quotes</a:t>
            </a:r>
            <a:endParaRPr b="0" lang="en-IN" sz="2000" strike="noStrike" u="none">
              <a:solidFill>
                <a:srgbClr val="000000"/>
              </a:solidFill>
              <a:effectLst/>
              <a:uFillTx/>
              <a:latin typeface="Arial"/>
            </a:endParaRPr>
          </a:p>
          <a:p>
            <a:pPr marL="1143000" indent="-228600">
              <a:lnSpc>
                <a:spcPct val="90000"/>
              </a:lnSpc>
              <a:spcBef>
                <a:spcPts val="720"/>
              </a:spcBef>
            </a:pPr>
            <a:r>
              <a:rPr b="0" lang="en-IN" sz="2000" strike="noStrike" u="none">
                <a:solidFill>
                  <a:srgbClr val="000000"/>
                </a:solidFill>
                <a:effectLst/>
                <a:uFillTx/>
                <a:latin typeface="Times New Roman"/>
                <a:ea typeface="Times New Roman"/>
              </a:rPr>
              <a:t>$ </a:t>
            </a:r>
            <a:r>
              <a:rPr b="0" i="1" lang="en-IN" sz="2000" strike="noStrike" u="none">
                <a:solidFill>
                  <a:srgbClr val="000000"/>
                </a:solidFill>
                <a:effectLst/>
                <a:uFillTx/>
                <a:latin typeface="Times New Roman"/>
                <a:ea typeface="Times New Roman"/>
              </a:rPr>
              <a:t>echo "***"</a:t>
            </a:r>
            <a:r>
              <a:rPr b="0" i="1" lang="en-IN" sz="2000" strike="noStrike" u="none">
                <a:solidFill>
                  <a:srgbClr val="000000"/>
                </a:solidFill>
                <a:effectLst/>
                <a:uFillTx/>
                <a:latin typeface="Times New Roman"/>
                <a:ea typeface="Times New Roman"/>
              </a:rPr>
              <a:t>	</a:t>
            </a:r>
            <a:r>
              <a:rPr b="0" lang="en-IN" sz="2000" strike="noStrike" u="none">
                <a:solidFill>
                  <a:srgbClr val="000000"/>
                </a:solidFill>
                <a:effectLst/>
                <a:uFillTx/>
                <a:latin typeface="Times New Roman"/>
                <a:ea typeface="Times New Roman"/>
              </a:rPr>
              <a:t># echo three asterisks</a:t>
            </a:r>
            <a:endParaRPr b="0" lang="en-IN" sz="2000" strike="noStrike" u="none">
              <a:solidFill>
                <a:srgbClr val="000000"/>
              </a:solidFill>
              <a:effectLst/>
              <a:uFillTx/>
              <a:latin typeface="Arial"/>
            </a:endParaRPr>
          </a:p>
          <a:p>
            <a:pPr lvl="2" marL="11430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The shell “peeks” inside double quotes to look for dollar signs, $, backquotes, `, and backslashes, \ </a:t>
            </a:r>
            <a:endParaRPr b="0" lang="en-IN" sz="2000" strike="noStrike" u="none">
              <a:solidFill>
                <a:srgbClr val="000000"/>
              </a:solidFill>
              <a:effectLst/>
              <a:uFillTx/>
              <a:latin typeface="Arial"/>
            </a:endParaRPr>
          </a:p>
          <a:p>
            <a:pPr marL="285840" indent="-285840">
              <a:lnSpc>
                <a:spcPct val="90000"/>
              </a:lnSpc>
              <a:spcBef>
                <a:spcPts val="720"/>
              </a:spcBef>
            </a:pPr>
            <a:r>
              <a:rPr b="0" lang="en-IN" sz="2400" strike="noStrike" u="none">
                <a:solidFill>
                  <a:srgbClr val="000000"/>
                </a:solidFill>
                <a:effectLst/>
                <a:uFillTx/>
                <a:latin typeface="Times New Roman"/>
                <a:ea typeface="Times New Roman"/>
              </a:rPr>
              <a:t>Quoted strings can contain newline characters</a:t>
            </a:r>
            <a:endParaRPr b="0" lang="en-IN" sz="2400" strike="noStrike" u="none">
              <a:solidFill>
                <a:srgbClr val="000000"/>
              </a:solidFill>
              <a:effectLst/>
              <a:uFillTx/>
              <a:latin typeface="Arial"/>
            </a:endParaRPr>
          </a:p>
          <a:p>
            <a:pPr marL="1143000" indent="-228600">
              <a:lnSpc>
                <a:spcPct val="90000"/>
              </a:lnSpc>
              <a:spcBef>
                <a:spcPts val="720"/>
              </a:spcBef>
            </a:pPr>
            <a:r>
              <a:rPr b="0" lang="en-IN" sz="1400" strike="noStrike" u="none">
                <a:solidFill>
                  <a:srgbClr val="000000"/>
                </a:solidFill>
                <a:effectLst/>
                <a:uFillTx/>
                <a:latin typeface="Times New Roman"/>
                <a:ea typeface="Times New Roman"/>
              </a:rPr>
              <a:t>$ </a:t>
            </a:r>
            <a:r>
              <a:rPr b="0" i="1" lang="en-IN" sz="1400" strike="noStrike" u="none">
                <a:solidFill>
                  <a:srgbClr val="000000"/>
                </a:solidFill>
                <a:effectLst/>
                <a:uFillTx/>
                <a:latin typeface="Times New Roman"/>
                <a:ea typeface="Times New Roman"/>
              </a:rPr>
              <a:t>echo 'hello</a:t>
            </a:r>
            <a:endParaRPr b="0" lang="en-IN" sz="1400" strike="noStrike" u="none">
              <a:solidFill>
                <a:srgbClr val="000000"/>
              </a:solidFill>
              <a:effectLst/>
              <a:uFillTx/>
              <a:latin typeface="Arial"/>
            </a:endParaRPr>
          </a:p>
          <a:p>
            <a:pPr marL="1143000" indent="-228600">
              <a:lnSpc>
                <a:spcPct val="90000"/>
              </a:lnSpc>
              <a:spcBef>
                <a:spcPts val="720"/>
              </a:spcBef>
            </a:pPr>
            <a:r>
              <a:rPr b="0" lang="en-IN" sz="1400" strike="noStrike" u="none">
                <a:solidFill>
                  <a:srgbClr val="000000"/>
                </a:solidFill>
                <a:effectLst/>
                <a:uFillTx/>
                <a:latin typeface="Times New Roman"/>
                <a:ea typeface="Times New Roman"/>
              </a:rPr>
              <a:t>&gt; </a:t>
            </a:r>
            <a:r>
              <a:rPr b="0" i="1" lang="en-IN" sz="1400" strike="noStrike" u="none">
                <a:solidFill>
                  <a:srgbClr val="000000"/>
                </a:solidFill>
                <a:effectLst/>
                <a:uFillTx/>
                <a:latin typeface="Times New Roman"/>
                <a:ea typeface="Times New Roman"/>
              </a:rPr>
              <a:t>world'</a:t>
            </a:r>
            <a:endParaRPr b="0" lang="en-IN" sz="1400" strike="noStrike" u="none">
              <a:solidFill>
                <a:srgbClr val="000000"/>
              </a:solidFill>
              <a:effectLst/>
              <a:uFillTx/>
              <a:latin typeface="Arial"/>
            </a:endParaRPr>
          </a:p>
          <a:p>
            <a:pPr marL="1143000" indent="-228600">
              <a:lnSpc>
                <a:spcPct val="90000"/>
              </a:lnSpc>
              <a:spcBef>
                <a:spcPts val="720"/>
              </a:spcBef>
            </a:pPr>
            <a:r>
              <a:rPr b="0" lang="en-IN" sz="1400" strike="noStrike" u="none">
                <a:solidFill>
                  <a:srgbClr val="000000"/>
                </a:solidFill>
                <a:effectLst/>
                <a:uFillTx/>
                <a:latin typeface="Times New Roman"/>
                <a:ea typeface="Times New Roman"/>
              </a:rPr>
              <a:t>hello</a:t>
            </a:r>
            <a:endParaRPr b="0" lang="en-IN" sz="1400" strike="noStrike" u="none">
              <a:solidFill>
                <a:srgbClr val="000000"/>
              </a:solidFill>
              <a:effectLst/>
              <a:uFillTx/>
              <a:latin typeface="Arial"/>
            </a:endParaRPr>
          </a:p>
          <a:p>
            <a:pPr marL="1143000" indent="-228600">
              <a:lnSpc>
                <a:spcPct val="90000"/>
              </a:lnSpc>
              <a:spcBef>
                <a:spcPts val="720"/>
              </a:spcBef>
            </a:pPr>
            <a:r>
              <a:rPr b="0" lang="en-IN" sz="1400" strike="noStrike" u="none">
                <a:solidFill>
                  <a:srgbClr val="000000"/>
                </a:solidFill>
                <a:effectLst/>
                <a:uFillTx/>
                <a:latin typeface="Times New Roman"/>
                <a:ea typeface="Times New Roman"/>
              </a:rPr>
              <a:t>world</a:t>
            </a:r>
            <a:endParaRPr b="0" lang="en-IN" sz="1400" strike="noStrike" u="none">
              <a:solidFill>
                <a:srgbClr val="000000"/>
              </a:solidFill>
              <a:effectLst/>
              <a:uFillTx/>
              <a:latin typeface="Arial"/>
            </a:endParaRPr>
          </a:p>
          <a:p>
            <a:pPr marL="1143000" indent="-228600">
              <a:lnSpc>
                <a:spcPct val="90000"/>
              </a:lnSpc>
              <a:spcBef>
                <a:spcPts val="720"/>
              </a:spcBef>
            </a:pPr>
            <a:r>
              <a:rPr b="0" lang="en-IN" sz="1400" strike="noStrike" u="none">
                <a:solidFill>
                  <a:srgbClr val="000000"/>
                </a:solidFill>
                <a:effectLst/>
                <a:uFillTx/>
                <a:latin typeface="Times New Roman"/>
                <a:ea typeface="Times New Roman"/>
              </a:rPr>
              <a:t>$</a:t>
            </a:r>
            <a:endParaRPr b="0" lang="en-IN"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5" name=""/>
          <p:cNvSpPr txBox="1"/>
          <p:nvPr/>
        </p:nvSpPr>
        <p:spPr>
          <a:xfrm>
            <a:off x="996840" y="685800"/>
            <a:ext cx="715644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Continuations and Comments</a:t>
            </a:r>
            <a:endParaRPr b="0" lang="en-IN" sz="3600" strike="noStrike" u="none">
              <a:solidFill>
                <a:srgbClr val="000000"/>
              </a:solidFill>
              <a:effectLst/>
              <a:uFillTx/>
              <a:latin typeface="Arial"/>
            </a:endParaRPr>
          </a:p>
        </p:txBody>
      </p:sp>
      <p:sp>
        <p:nvSpPr>
          <p:cNvPr id="246" name=""/>
          <p:cNvSpPr txBox="1"/>
          <p:nvPr/>
        </p:nvSpPr>
        <p:spPr>
          <a:xfrm>
            <a:off x="990720" y="1752480"/>
            <a:ext cx="7162920" cy="4453560"/>
          </a:xfrm>
          <a:prstGeom prst="rect">
            <a:avLst/>
          </a:prstGeom>
          <a:noFill/>
          <a:ln w="0">
            <a:noFill/>
          </a:ln>
        </p:spPr>
        <p:txBody>
          <a:bodyPr lIns="0" rIns="0" tIns="0" bIns="0" anchor="t">
            <a:spAutoFit/>
          </a:bodyPr>
          <a:p>
            <a:pPr marL="285840" indent="-285840">
              <a:lnSpc>
                <a:spcPct val="90000"/>
              </a:lnSpc>
              <a:spcBef>
                <a:spcPts val="720"/>
              </a:spcBef>
            </a:pPr>
            <a:r>
              <a:rPr b="0" lang="en-IN" sz="2400" strike="noStrike" u="none">
                <a:solidFill>
                  <a:srgbClr val="000000"/>
                </a:solidFill>
                <a:effectLst/>
                <a:uFillTx/>
                <a:latin typeface="Times New Roman"/>
                <a:ea typeface="Times New Roman"/>
              </a:rPr>
              <a:t>A backslash at the end of a line ‘quotes’ the newline, continuing the command</a:t>
            </a:r>
            <a:endParaRPr b="0" lang="en-IN" sz="2400" strike="noStrike" u="none">
              <a:solidFill>
                <a:srgbClr val="000000"/>
              </a:solidFill>
              <a:effectLst/>
              <a:uFillTx/>
              <a:latin typeface="Arial"/>
            </a:endParaRPr>
          </a:p>
          <a:p>
            <a:pPr marL="1143000" indent="-228600">
              <a:lnSpc>
                <a:spcPct val="90000"/>
              </a:lnSpc>
              <a:spcBef>
                <a:spcPts val="720"/>
              </a:spcBef>
            </a:pPr>
            <a:r>
              <a:rPr b="0" lang="en-IN" sz="2000" strike="noStrike" u="none">
                <a:solidFill>
                  <a:srgbClr val="000000"/>
                </a:solidFill>
                <a:effectLst/>
                <a:uFillTx/>
                <a:latin typeface="Times New Roman"/>
                <a:ea typeface="Times New Roman"/>
              </a:rPr>
              <a:t>$ </a:t>
            </a:r>
            <a:r>
              <a:rPr b="0" i="1" lang="en-IN" sz="2000" strike="noStrike" u="none">
                <a:solidFill>
                  <a:srgbClr val="000000"/>
                </a:solidFill>
                <a:effectLst/>
                <a:uFillTx/>
                <a:latin typeface="Times New Roman"/>
                <a:ea typeface="Times New Roman"/>
              </a:rPr>
              <a:t>echo abc\</a:t>
            </a:r>
            <a:endParaRPr b="0" lang="en-IN" sz="2000" strike="noStrike" u="none">
              <a:solidFill>
                <a:srgbClr val="000000"/>
              </a:solidFill>
              <a:effectLst/>
              <a:uFillTx/>
              <a:latin typeface="Arial"/>
            </a:endParaRPr>
          </a:p>
          <a:p>
            <a:pPr marL="1143000" indent="-228600">
              <a:lnSpc>
                <a:spcPct val="90000"/>
              </a:lnSpc>
              <a:spcBef>
                <a:spcPts val="720"/>
              </a:spcBef>
            </a:pPr>
            <a:r>
              <a:rPr b="0" lang="en-IN" sz="2000" strike="noStrike" u="none">
                <a:solidFill>
                  <a:srgbClr val="000000"/>
                </a:solidFill>
                <a:effectLst/>
                <a:uFillTx/>
                <a:latin typeface="Times New Roman"/>
                <a:ea typeface="Times New Roman"/>
              </a:rPr>
              <a:t>&gt; </a:t>
            </a:r>
            <a:r>
              <a:rPr b="0" i="1" lang="en-IN" sz="2000" strike="noStrike" u="none">
                <a:solidFill>
                  <a:srgbClr val="000000"/>
                </a:solidFill>
                <a:effectLst/>
                <a:uFillTx/>
                <a:latin typeface="Times New Roman"/>
                <a:ea typeface="Times New Roman"/>
              </a:rPr>
              <a:t>def\</a:t>
            </a:r>
            <a:endParaRPr b="0" lang="en-IN" sz="2000" strike="noStrike" u="none">
              <a:solidFill>
                <a:srgbClr val="000000"/>
              </a:solidFill>
              <a:effectLst/>
              <a:uFillTx/>
              <a:latin typeface="Arial"/>
            </a:endParaRPr>
          </a:p>
          <a:p>
            <a:pPr marL="1143000" indent="-228600">
              <a:lnSpc>
                <a:spcPct val="90000"/>
              </a:lnSpc>
              <a:spcBef>
                <a:spcPts val="720"/>
              </a:spcBef>
            </a:pPr>
            <a:r>
              <a:rPr b="0" lang="en-IN" sz="2000" strike="noStrike" u="none">
                <a:solidFill>
                  <a:srgbClr val="000000"/>
                </a:solidFill>
                <a:effectLst/>
                <a:uFillTx/>
                <a:latin typeface="Times New Roman"/>
                <a:ea typeface="Times New Roman"/>
              </a:rPr>
              <a:t>&gt; </a:t>
            </a:r>
            <a:r>
              <a:rPr b="0" i="1" lang="en-IN" sz="2000" strike="noStrike" u="none">
                <a:solidFill>
                  <a:srgbClr val="000000"/>
                </a:solidFill>
                <a:effectLst/>
                <a:uFillTx/>
                <a:latin typeface="Times New Roman"/>
                <a:ea typeface="Times New Roman"/>
              </a:rPr>
              <a:t>ghi</a:t>
            </a:r>
            <a:endParaRPr b="0" lang="en-IN" sz="2000" strike="noStrike" u="none">
              <a:solidFill>
                <a:srgbClr val="000000"/>
              </a:solidFill>
              <a:effectLst/>
              <a:uFillTx/>
              <a:latin typeface="Arial"/>
            </a:endParaRPr>
          </a:p>
          <a:p>
            <a:pPr marL="1143000" indent="-228600">
              <a:lnSpc>
                <a:spcPct val="90000"/>
              </a:lnSpc>
              <a:spcBef>
                <a:spcPts val="720"/>
              </a:spcBef>
            </a:pPr>
            <a:r>
              <a:rPr b="0" lang="en-IN" sz="2000" strike="noStrike" u="none">
                <a:solidFill>
                  <a:srgbClr val="000000"/>
                </a:solidFill>
                <a:effectLst/>
                <a:uFillTx/>
                <a:latin typeface="Times New Roman"/>
                <a:ea typeface="Times New Roman"/>
              </a:rPr>
              <a:t>abcdefghi</a:t>
            </a: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Note that the newline is discarded from the input</a:t>
            </a:r>
            <a:endParaRPr b="0" lang="en-IN" sz="2000" strike="noStrike" u="none">
              <a:solidFill>
                <a:srgbClr val="000000"/>
              </a:solidFill>
              <a:effectLst/>
              <a:uFillTx/>
              <a:latin typeface="Arial"/>
            </a:endParaRPr>
          </a:p>
          <a:p>
            <a:pPr marL="285840" indent="-285840">
              <a:lnSpc>
                <a:spcPct val="90000"/>
              </a:lnSpc>
              <a:spcBef>
                <a:spcPts val="720"/>
              </a:spcBef>
            </a:pPr>
            <a:r>
              <a:rPr b="0" lang="en-IN" sz="2400" strike="noStrike" u="none">
                <a:solidFill>
                  <a:srgbClr val="000000"/>
                </a:solidFill>
                <a:effectLst/>
                <a:uFillTx/>
                <a:latin typeface="Times New Roman"/>
                <a:ea typeface="Times New Roman"/>
              </a:rPr>
              <a:t>A hash symbol delimits a comment</a:t>
            </a:r>
            <a:endParaRPr b="0" lang="en-IN" sz="2400" strike="noStrike" u="none">
              <a:solidFill>
                <a:srgbClr val="000000"/>
              </a:solidFill>
              <a:effectLst/>
              <a:uFillTx/>
              <a:latin typeface="Arial"/>
            </a:endParaRPr>
          </a:p>
          <a:p>
            <a:pPr marL="1143000" indent="-228600">
              <a:lnSpc>
                <a:spcPct val="90000"/>
              </a:lnSpc>
              <a:spcBef>
                <a:spcPts val="720"/>
              </a:spcBef>
            </a:pPr>
            <a:r>
              <a:rPr b="0" lang="en-IN" sz="2000" strike="noStrike" u="none">
                <a:solidFill>
                  <a:srgbClr val="000000"/>
                </a:solidFill>
                <a:effectLst/>
                <a:uFillTx/>
                <a:latin typeface="Times New Roman"/>
                <a:ea typeface="Times New Roman"/>
              </a:rPr>
              <a:t>$ </a:t>
            </a:r>
            <a:r>
              <a:rPr b="0" i="1" lang="en-IN" sz="2000" strike="noStrike" u="none">
                <a:solidFill>
                  <a:srgbClr val="000000"/>
                </a:solidFill>
                <a:effectLst/>
                <a:uFillTx/>
                <a:latin typeface="Times New Roman"/>
                <a:ea typeface="Times New Roman"/>
              </a:rPr>
              <a:t>echo hello # there</a:t>
            </a:r>
            <a:endParaRPr b="0" lang="en-IN" sz="2000" strike="noStrike" u="none">
              <a:solidFill>
                <a:srgbClr val="000000"/>
              </a:solidFill>
              <a:effectLst/>
              <a:uFillTx/>
              <a:latin typeface="Arial"/>
            </a:endParaRPr>
          </a:p>
          <a:p>
            <a:pPr marL="1143000" indent="-228600">
              <a:lnSpc>
                <a:spcPct val="90000"/>
              </a:lnSpc>
              <a:spcBef>
                <a:spcPts val="720"/>
              </a:spcBef>
            </a:pPr>
            <a:r>
              <a:rPr b="0" lang="en-IN" sz="2000" strike="noStrike" u="none">
                <a:solidFill>
                  <a:srgbClr val="000000"/>
                </a:solidFill>
                <a:effectLst/>
                <a:uFillTx/>
                <a:latin typeface="Times New Roman"/>
                <a:ea typeface="Times New Roman"/>
              </a:rPr>
              <a:t>hello</a:t>
            </a:r>
            <a:endParaRPr b="0" lang="en-IN" sz="2000" strike="noStrike" u="none">
              <a:solidFill>
                <a:srgbClr val="000000"/>
              </a:solidFill>
              <a:effectLst/>
              <a:uFillTx/>
              <a:latin typeface="Arial"/>
            </a:endParaRPr>
          </a:p>
          <a:p>
            <a:pPr marL="1143000" indent="-228600">
              <a:lnSpc>
                <a:spcPct val="90000"/>
              </a:lnSpc>
              <a:spcBef>
                <a:spcPts val="720"/>
              </a:spcBef>
            </a:pPr>
            <a:r>
              <a:rPr b="0" lang="en-IN" sz="2000" strike="noStrike" u="none">
                <a:solidFill>
                  <a:srgbClr val="000000"/>
                </a:solidFill>
                <a:effectLst/>
                <a:uFillTx/>
                <a:latin typeface="Times New Roman"/>
                <a:ea typeface="Times New Roman"/>
              </a:rPr>
              <a:t>$ </a:t>
            </a:r>
            <a:r>
              <a:rPr b="0" i="1" lang="en-IN" sz="2000" strike="noStrike" u="none">
                <a:solidFill>
                  <a:srgbClr val="000000"/>
                </a:solidFill>
                <a:effectLst/>
                <a:uFillTx/>
                <a:latin typeface="Times New Roman"/>
                <a:ea typeface="Times New Roman"/>
              </a:rPr>
              <a:t>echo hello#there</a:t>
            </a:r>
            <a:endParaRPr b="0" lang="en-IN" sz="2000" strike="noStrike" u="none">
              <a:solidFill>
                <a:srgbClr val="000000"/>
              </a:solidFill>
              <a:effectLst/>
              <a:uFillTx/>
              <a:latin typeface="Arial"/>
            </a:endParaRPr>
          </a:p>
          <a:p>
            <a:pPr marL="1143000" indent="-228600">
              <a:lnSpc>
                <a:spcPct val="90000"/>
              </a:lnSpc>
              <a:spcBef>
                <a:spcPts val="720"/>
              </a:spcBef>
            </a:pPr>
            <a:r>
              <a:rPr b="0" lang="en-IN" sz="2000" strike="noStrike" u="none">
                <a:solidFill>
                  <a:srgbClr val="000000"/>
                </a:solidFill>
                <a:effectLst/>
                <a:uFillTx/>
                <a:latin typeface="Times New Roman"/>
                <a:ea typeface="Times New Roman"/>
              </a:rPr>
              <a:t>hello#there</a:t>
            </a: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Note that the hash symbol must be preceded by whitespace</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7" name=""/>
          <p:cNvSpPr txBox="1"/>
          <p:nvPr/>
        </p:nvSpPr>
        <p:spPr>
          <a:xfrm>
            <a:off x="996840" y="685800"/>
            <a:ext cx="715644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Creating New Commands</a:t>
            </a:r>
            <a:endParaRPr b="0" lang="en-IN" sz="3600" strike="noStrike" u="none">
              <a:solidFill>
                <a:srgbClr val="000000"/>
              </a:solidFill>
              <a:effectLst/>
              <a:uFillTx/>
              <a:latin typeface="Arial"/>
            </a:endParaRPr>
          </a:p>
        </p:txBody>
      </p:sp>
      <p:sp>
        <p:nvSpPr>
          <p:cNvPr id="248" name=""/>
          <p:cNvSpPr txBox="1"/>
          <p:nvPr/>
        </p:nvSpPr>
        <p:spPr>
          <a:xfrm>
            <a:off x="609480" y="1447920"/>
            <a:ext cx="7848720" cy="4419720"/>
          </a:xfrm>
          <a:prstGeom prst="rect">
            <a:avLst/>
          </a:prstGeom>
          <a:noFill/>
          <a:ln w="0">
            <a:noFill/>
          </a:ln>
        </p:spPr>
        <p:txBody>
          <a:bodyPr lIns="0" rIns="0" tIns="0" bIns="0" anchor="t">
            <a:spAutoFit/>
          </a:bodyPr>
          <a:p>
            <a:pPr marL="285840" indent="-285840">
              <a:lnSpc>
                <a:spcPct val="90000"/>
              </a:lnSpc>
              <a:spcBef>
                <a:spcPts val="720"/>
              </a:spcBef>
            </a:pPr>
            <a:r>
              <a:rPr b="0" lang="en-IN" sz="2400" strike="noStrike" u="none">
                <a:solidFill>
                  <a:srgbClr val="000000"/>
                </a:solidFill>
                <a:effectLst/>
                <a:uFillTx/>
                <a:latin typeface="Times New Roman"/>
                <a:ea typeface="Times New Roman"/>
              </a:rPr>
              <a:t>Shell programs are text files containing UNIX commands</a:t>
            </a:r>
            <a:endParaRPr b="0" lang="en-IN" sz="24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All shells provide normal programming constructs</a:t>
            </a:r>
            <a:endParaRPr b="0" lang="en-IN" sz="2000" strike="noStrike" u="none">
              <a:solidFill>
                <a:srgbClr val="000000"/>
              </a:solidFill>
              <a:effectLst/>
              <a:uFillTx/>
              <a:latin typeface="Arial"/>
            </a:endParaRPr>
          </a:p>
          <a:p>
            <a:pPr lvl="2" marL="11430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Variables</a:t>
            </a:r>
            <a:endParaRPr b="0" lang="en-IN" sz="2000" strike="noStrike" u="none">
              <a:solidFill>
                <a:srgbClr val="000000"/>
              </a:solidFill>
              <a:effectLst/>
              <a:uFillTx/>
              <a:latin typeface="Arial"/>
            </a:endParaRPr>
          </a:p>
          <a:p>
            <a:pPr lvl="2" marL="11430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Conditional execution</a:t>
            </a:r>
            <a:endParaRPr b="0" lang="en-IN" sz="2000" strike="noStrike" u="none">
              <a:solidFill>
                <a:srgbClr val="000000"/>
              </a:solidFill>
              <a:effectLst/>
              <a:uFillTx/>
              <a:latin typeface="Arial"/>
            </a:endParaRPr>
          </a:p>
          <a:p>
            <a:pPr lvl="2" marL="11430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Loops</a:t>
            </a:r>
            <a:endParaRPr b="0" lang="en-IN" sz="2000" strike="noStrike" u="none">
              <a:solidFill>
                <a:srgbClr val="000000"/>
              </a:solidFill>
              <a:effectLst/>
              <a:uFillTx/>
              <a:latin typeface="Arial"/>
            </a:endParaRPr>
          </a:p>
          <a:p>
            <a:pPr marL="285840" indent="-285840">
              <a:lnSpc>
                <a:spcPct val="90000"/>
              </a:lnSpc>
              <a:spcBef>
                <a:spcPts val="720"/>
              </a:spcBef>
            </a:pPr>
            <a:r>
              <a:rPr b="0" lang="en-IN" sz="2400" strike="noStrike" u="none">
                <a:solidFill>
                  <a:srgbClr val="000000"/>
                </a:solidFill>
                <a:effectLst/>
                <a:uFillTx/>
                <a:latin typeface="Times New Roman"/>
                <a:ea typeface="Times New Roman"/>
              </a:rPr>
              <a:t>Shell programs are best suited for:</a:t>
            </a:r>
            <a:endParaRPr b="0" lang="en-IN" sz="24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Repetitive tasks</a:t>
            </a:r>
            <a:endParaRPr b="0" lang="en-IN" sz="2000" strike="noStrike" u="none">
              <a:solidFill>
                <a:srgbClr val="000000"/>
              </a:solidFill>
              <a:effectLst/>
              <a:uFillTx/>
              <a:latin typeface="Arial"/>
            </a:endParaRPr>
          </a:p>
          <a:p>
            <a:pPr lvl="2" marL="11430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File manipulation (moves, copies, backups, </a:t>
            </a:r>
            <a:r>
              <a:rPr b="0" i="1" lang="en-IN" sz="2000" strike="noStrike" u="none">
                <a:solidFill>
                  <a:srgbClr val="000000"/>
                </a:solidFill>
                <a:effectLst/>
                <a:uFillTx/>
                <a:latin typeface="Times New Roman"/>
                <a:ea typeface="Times New Roman"/>
              </a:rPr>
              <a:t>etc.</a:t>
            </a:r>
            <a:r>
              <a:rPr b="0" lang="en-IN" sz="2000" strike="noStrike" u="none">
                <a:solidFill>
                  <a:srgbClr val="000000"/>
                </a:solidFill>
                <a:effectLst/>
                <a:uFillTx/>
                <a:latin typeface="Times New Roman"/>
                <a:ea typeface="Times New Roman"/>
              </a:rPr>
              <a:t>)</a:t>
            </a:r>
            <a:endParaRPr b="0" lang="en-IN" sz="2000" strike="noStrike" u="none">
              <a:solidFill>
                <a:srgbClr val="000000"/>
              </a:solidFill>
              <a:effectLst/>
              <a:uFillTx/>
              <a:latin typeface="Arial"/>
            </a:endParaRPr>
          </a:p>
          <a:p>
            <a:pPr lvl="2" marL="11430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Administrative tasks (checking mail, running complex programs, </a:t>
            </a:r>
            <a:r>
              <a:rPr b="0" i="1" lang="en-IN" sz="2000" strike="noStrike" u="none">
                <a:solidFill>
                  <a:srgbClr val="000000"/>
                </a:solidFill>
                <a:effectLst/>
                <a:uFillTx/>
                <a:latin typeface="Times New Roman"/>
                <a:ea typeface="Times New Roman"/>
              </a:rPr>
              <a:t>etc.</a:t>
            </a:r>
            <a:r>
              <a:rPr b="0" lang="en-IN" sz="2000" strike="noStrike" u="none">
                <a:solidFill>
                  <a:srgbClr val="000000"/>
                </a:solidFill>
                <a:effectLst/>
                <a:uFillTx/>
                <a:latin typeface="Times New Roman"/>
                <a:ea typeface="Times New Roman"/>
              </a:rPr>
              <a:t>)</a:t>
            </a:r>
            <a:endParaRPr b="0" lang="en-IN" sz="20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Text processing</a:t>
            </a:r>
            <a:endParaRPr b="0" lang="en-IN" sz="2000" strike="noStrike" u="none">
              <a:solidFill>
                <a:srgbClr val="000000"/>
              </a:solidFill>
              <a:effectLst/>
              <a:uFillTx/>
              <a:latin typeface="Arial"/>
            </a:endParaRPr>
          </a:p>
          <a:p>
            <a:pPr lvl="2" marL="11430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Filters to transform or analyse files</a:t>
            </a:r>
            <a:endParaRPr b="0" lang="en-IN" sz="2000" strike="noStrike" u="none">
              <a:solidFill>
                <a:srgbClr val="000000"/>
              </a:solidFill>
              <a:effectLst/>
              <a:uFillTx/>
              <a:latin typeface="Arial"/>
            </a:endParaRPr>
          </a:p>
          <a:p>
            <a:pPr lvl="2" marL="11430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Creating new files automatically, including new shell programs</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9" name=""/>
          <p:cNvSpPr txBox="1"/>
          <p:nvPr/>
        </p:nvSpPr>
        <p:spPr>
          <a:xfrm>
            <a:off x="996840" y="685800"/>
            <a:ext cx="7156440" cy="8920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Creating New Commands</a:t>
            </a:r>
            <a:br>
              <a:rPr sz="3600"/>
            </a:br>
            <a:r>
              <a:rPr b="1" lang="en-IN" sz="2400" strike="noStrike" u="none">
                <a:solidFill>
                  <a:srgbClr val="000000"/>
                </a:solidFill>
                <a:effectLst/>
                <a:uFillTx/>
                <a:latin typeface="Times New Roman"/>
                <a:ea typeface="Times New Roman"/>
              </a:rPr>
              <a:t>(continued)</a:t>
            </a:r>
            <a:endParaRPr b="0" lang="en-IN" sz="2400" strike="noStrike" u="none">
              <a:solidFill>
                <a:srgbClr val="000000"/>
              </a:solidFill>
              <a:effectLst/>
              <a:uFillTx/>
              <a:latin typeface="Arial"/>
            </a:endParaRPr>
          </a:p>
        </p:txBody>
      </p:sp>
      <p:sp>
        <p:nvSpPr>
          <p:cNvPr id="250" name=""/>
          <p:cNvSpPr txBox="1"/>
          <p:nvPr/>
        </p:nvSpPr>
        <p:spPr>
          <a:xfrm>
            <a:off x="990720" y="1752480"/>
            <a:ext cx="7162920" cy="4453560"/>
          </a:xfrm>
          <a:prstGeom prst="rect">
            <a:avLst/>
          </a:prstGeom>
          <a:noFill/>
          <a:ln w="0">
            <a:noFill/>
          </a:ln>
        </p:spPr>
        <p:txBody>
          <a:bodyPr lIns="0" rIns="0" tIns="0" bIns="0" anchor="t">
            <a:spAutoFit/>
          </a:bodyPr>
          <a:p>
            <a:pPr marL="285840" indent="-285840">
              <a:lnSpc>
                <a:spcPct val="90000"/>
              </a:lnSpc>
              <a:spcBef>
                <a:spcPts val="720"/>
              </a:spcBef>
            </a:pPr>
            <a:r>
              <a:rPr b="0" lang="en-IN" sz="2400" strike="noStrike" u="none">
                <a:solidFill>
                  <a:srgbClr val="000000"/>
                </a:solidFill>
                <a:effectLst/>
                <a:uFillTx/>
                <a:latin typeface="Times New Roman"/>
                <a:ea typeface="Times New Roman"/>
              </a:rPr>
              <a:t>New commands (called </a:t>
            </a:r>
            <a:r>
              <a:rPr b="0" i="1" lang="en-IN" sz="2400" strike="noStrike" u="sng">
                <a:solidFill>
                  <a:srgbClr val="000000"/>
                </a:solidFill>
                <a:effectLst/>
                <a:uFillTx/>
                <a:latin typeface="Times New Roman"/>
                <a:ea typeface="Times New Roman"/>
              </a:rPr>
              <a:t>scripts</a:t>
            </a:r>
            <a:r>
              <a:rPr b="0" lang="en-IN" sz="2400" strike="noStrike" u="none">
                <a:solidFill>
                  <a:srgbClr val="000000"/>
                </a:solidFill>
                <a:effectLst/>
                <a:uFillTx/>
                <a:latin typeface="Times New Roman"/>
                <a:ea typeface="Times New Roman"/>
              </a:rPr>
              <a:t>) are created with an editor (vi or emacs)</a:t>
            </a:r>
            <a:endParaRPr b="0" lang="en-IN" sz="24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lang="en-IN" sz="2000" strike="noStrike" u="sng">
                <a:solidFill>
                  <a:srgbClr val="000000"/>
                </a:solidFill>
                <a:effectLst/>
                <a:uFillTx/>
                <a:latin typeface="Times New Roman"/>
                <a:ea typeface="Times New Roman"/>
              </a:rPr>
              <a:t>Very</a:t>
            </a:r>
            <a:r>
              <a:rPr b="0" lang="en-IN" sz="2000" strike="noStrike" u="none">
                <a:solidFill>
                  <a:srgbClr val="000000"/>
                </a:solidFill>
                <a:effectLst/>
                <a:uFillTx/>
                <a:latin typeface="Times New Roman"/>
                <a:ea typeface="Times New Roman"/>
              </a:rPr>
              <a:t> good typists can use </a:t>
            </a:r>
            <a:r>
              <a:rPr b="0" i="1" lang="en-IN" sz="2000" strike="noStrike" u="none">
                <a:solidFill>
                  <a:srgbClr val="000000"/>
                </a:solidFill>
                <a:effectLst/>
                <a:uFillTx/>
                <a:latin typeface="Times New Roman"/>
                <a:ea typeface="Times New Roman"/>
              </a:rPr>
              <a:t>echo</a:t>
            </a:r>
            <a:endParaRPr b="0" lang="en-IN" sz="2000" strike="noStrike" u="none">
              <a:solidFill>
                <a:srgbClr val="000000"/>
              </a:solidFill>
              <a:effectLst/>
              <a:uFillTx/>
              <a:latin typeface="Arial"/>
            </a:endParaRPr>
          </a:p>
          <a:p>
            <a:pPr marL="1143000" indent="-228600">
              <a:lnSpc>
                <a:spcPct val="90000"/>
              </a:lnSpc>
              <a:spcBef>
                <a:spcPts val="720"/>
              </a:spcBef>
            </a:pPr>
            <a:r>
              <a:rPr b="0" lang="en-IN" sz="2000" strike="noStrike" u="none">
                <a:solidFill>
                  <a:srgbClr val="000000"/>
                </a:solidFill>
                <a:effectLst/>
                <a:uFillTx/>
                <a:latin typeface="Times New Roman"/>
                <a:ea typeface="Times New Roman"/>
              </a:rPr>
              <a:t>$ </a:t>
            </a:r>
            <a:r>
              <a:rPr b="0" i="1" lang="en-IN" sz="2000" strike="noStrike" u="none">
                <a:solidFill>
                  <a:srgbClr val="000000"/>
                </a:solidFill>
                <a:effectLst/>
                <a:uFillTx/>
                <a:latin typeface="Times New Roman"/>
                <a:ea typeface="Times New Roman"/>
              </a:rPr>
              <a:t>echo 'who | wc -l' &gt;nu</a:t>
            </a:r>
            <a:endParaRPr b="0" lang="en-IN" sz="2000" strike="noStrike" u="none">
              <a:solidFill>
                <a:srgbClr val="000000"/>
              </a:solidFill>
              <a:effectLst/>
              <a:uFillTx/>
              <a:latin typeface="Arial"/>
            </a:endParaRPr>
          </a:p>
          <a:p>
            <a:pPr lvl="2" marL="11430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Without qoutes, what would be in </a:t>
            </a:r>
            <a:r>
              <a:rPr b="0" i="1" lang="en-IN" sz="2000" strike="noStrike" u="none">
                <a:solidFill>
                  <a:srgbClr val="000000"/>
                </a:solidFill>
                <a:effectLst/>
                <a:uFillTx/>
                <a:latin typeface="Times New Roman"/>
                <a:ea typeface="Times New Roman"/>
              </a:rPr>
              <a:t>nu</a:t>
            </a:r>
            <a:r>
              <a:rPr b="0" lang="en-IN" sz="2000" strike="noStrike" u="none">
                <a:solidFill>
                  <a:srgbClr val="000000"/>
                </a:solidFill>
                <a:effectLst/>
                <a:uFillTx/>
                <a:latin typeface="Times New Roman"/>
                <a:ea typeface="Times New Roman"/>
              </a:rPr>
              <a:t>?</a:t>
            </a:r>
            <a:endParaRPr b="0" lang="en-IN" sz="2000" strike="noStrike" u="none">
              <a:solidFill>
                <a:srgbClr val="000000"/>
              </a:solidFill>
              <a:effectLst/>
              <a:uFillTx/>
              <a:latin typeface="Arial"/>
            </a:endParaRPr>
          </a:p>
          <a:p>
            <a:pPr marL="285840" indent="-285840">
              <a:lnSpc>
                <a:spcPct val="90000"/>
              </a:lnSpc>
              <a:spcBef>
                <a:spcPts val="720"/>
              </a:spcBef>
            </a:pPr>
            <a:r>
              <a:rPr b="0" lang="en-IN" sz="2400" strike="noStrike" u="none">
                <a:solidFill>
                  <a:srgbClr val="000000"/>
                </a:solidFill>
                <a:effectLst/>
                <a:uFillTx/>
                <a:latin typeface="Times New Roman"/>
                <a:ea typeface="Times New Roman"/>
              </a:rPr>
              <a:t>Scripts need to be </a:t>
            </a:r>
            <a:r>
              <a:rPr b="0" i="1" lang="en-IN" sz="2400" strike="noStrike" u="none">
                <a:solidFill>
                  <a:srgbClr val="000000"/>
                </a:solidFill>
                <a:effectLst/>
                <a:uFillTx/>
                <a:latin typeface="Times New Roman"/>
                <a:ea typeface="Times New Roman"/>
              </a:rPr>
              <a:t>executable</a:t>
            </a:r>
            <a:endParaRPr b="0" lang="en-IN" sz="24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 </a:t>
            </a:r>
            <a:r>
              <a:rPr b="0" i="1" lang="en-IN" sz="2000" strike="noStrike" u="none">
                <a:solidFill>
                  <a:srgbClr val="000000"/>
                </a:solidFill>
                <a:effectLst/>
                <a:uFillTx/>
                <a:latin typeface="Times New Roman"/>
                <a:ea typeface="Times New Roman"/>
              </a:rPr>
              <a:t>chmod +x nu</a:t>
            </a: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 </a:t>
            </a:r>
            <a:r>
              <a:rPr b="0" i="1" lang="en-IN" sz="2000" strike="noStrike" u="none">
                <a:solidFill>
                  <a:srgbClr val="000000"/>
                </a:solidFill>
                <a:effectLst/>
                <a:uFillTx/>
                <a:latin typeface="Times New Roman"/>
                <a:ea typeface="Times New Roman"/>
              </a:rPr>
              <a:t>who</a:t>
            </a: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leb      tty1     Aug 17 12:35</a:t>
            </a: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root     tty3     Aug 17 12:36</a:t>
            </a: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class    tty2     Aug 17 12:35</a:t>
            </a: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 </a:t>
            </a:r>
            <a:r>
              <a:rPr b="0" i="1" lang="en-IN" sz="2000" strike="noStrike" u="none">
                <a:solidFill>
                  <a:srgbClr val="000000"/>
                </a:solidFill>
                <a:effectLst/>
                <a:uFillTx/>
                <a:latin typeface="Times New Roman"/>
                <a:ea typeface="Times New Roman"/>
              </a:rPr>
              <a:t>nu</a:t>
            </a: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3</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1" name=""/>
          <p:cNvSpPr txBox="1"/>
          <p:nvPr/>
        </p:nvSpPr>
        <p:spPr>
          <a:xfrm>
            <a:off x="996840" y="685800"/>
            <a:ext cx="715644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PATH Environment Variable</a:t>
            </a:r>
            <a:endParaRPr b="0" lang="en-IN" sz="3600" strike="noStrike" u="none">
              <a:solidFill>
                <a:srgbClr val="000000"/>
              </a:solidFill>
              <a:effectLst/>
              <a:uFillTx/>
              <a:latin typeface="Arial"/>
            </a:endParaRPr>
          </a:p>
        </p:txBody>
      </p:sp>
      <p:sp>
        <p:nvSpPr>
          <p:cNvPr id="252" name=""/>
          <p:cNvSpPr txBox="1"/>
          <p:nvPr/>
        </p:nvSpPr>
        <p:spPr>
          <a:xfrm>
            <a:off x="990720" y="1981080"/>
            <a:ext cx="7162920" cy="4135320"/>
          </a:xfrm>
          <a:prstGeom prst="rect">
            <a:avLst/>
          </a:prstGeom>
          <a:noFill/>
          <a:ln w="0">
            <a:noFill/>
          </a:ln>
        </p:spPr>
        <p:txBody>
          <a:bodyPr lIns="0" rIns="0" tIns="0" bIns="0" anchor="t">
            <a:spAutoFit/>
          </a:bodyPr>
          <a:p>
            <a:pPr marL="285840" indent="-285840">
              <a:lnSpc>
                <a:spcPct val="90000"/>
              </a:lnSpc>
              <a:spcBef>
                <a:spcPts val="720"/>
              </a:spcBef>
            </a:pPr>
            <a:r>
              <a:rPr b="0" lang="en-IN" sz="2400" strike="noStrike" u="none">
                <a:solidFill>
                  <a:srgbClr val="000000"/>
                </a:solidFill>
                <a:effectLst/>
                <a:uFillTx/>
                <a:latin typeface="Times New Roman"/>
                <a:ea typeface="Times New Roman"/>
              </a:rPr>
              <a:t>For personal scripts, keep a personal library</a:t>
            </a:r>
            <a:endParaRPr b="0" lang="en-IN" sz="24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The shell finds commands by searching the </a:t>
            </a:r>
            <a:r>
              <a:rPr b="0" i="1" lang="en-IN" sz="2000" strike="noStrike" u="none">
                <a:solidFill>
                  <a:srgbClr val="000000"/>
                </a:solidFill>
                <a:effectLst/>
                <a:uFillTx/>
                <a:latin typeface="Times New Roman"/>
                <a:ea typeface="Times New Roman"/>
              </a:rPr>
              <a:t>PATH </a:t>
            </a:r>
            <a:r>
              <a:rPr b="0" lang="en-IN" sz="2000" strike="noStrike" u="none">
                <a:solidFill>
                  <a:srgbClr val="000000"/>
                </a:solidFill>
                <a:effectLst/>
                <a:uFillTx/>
                <a:latin typeface="Times New Roman"/>
                <a:ea typeface="Times New Roman"/>
              </a:rPr>
              <a:t>variable</a:t>
            </a:r>
            <a:endParaRPr b="0" lang="en-IN" sz="20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 </a:t>
            </a:r>
            <a:r>
              <a:rPr b="0" i="1" lang="en-IN" sz="1400" strike="noStrike" u="none">
                <a:solidFill>
                  <a:srgbClr val="000000"/>
                </a:solidFill>
                <a:effectLst/>
                <a:uFillTx/>
                <a:latin typeface="Times New Roman"/>
                <a:ea typeface="Times New Roman"/>
              </a:rPr>
              <a:t>echo $PATH</a:t>
            </a:r>
            <a:endParaRPr b="0" lang="en-IN" sz="1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/usr/local/bin:/bin:/usr/bin</a:t>
            </a:r>
            <a:endParaRPr b="0" lang="en-IN" sz="1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 </a:t>
            </a:r>
            <a:r>
              <a:rPr b="0" i="1" lang="en-IN" sz="1400" strike="noStrike" u="none">
                <a:solidFill>
                  <a:srgbClr val="000000"/>
                </a:solidFill>
                <a:effectLst/>
                <a:uFillTx/>
                <a:latin typeface="Times New Roman"/>
                <a:ea typeface="Times New Roman"/>
              </a:rPr>
              <a:t>pwd</a:t>
            </a:r>
            <a:endParaRPr b="0" lang="en-IN" sz="1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/home/class</a:t>
            </a:r>
            <a:endParaRPr b="0" lang="en-IN" sz="1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 </a:t>
            </a:r>
            <a:r>
              <a:rPr b="0" i="1" lang="en-IN" sz="1400" strike="noStrike" u="none">
                <a:solidFill>
                  <a:srgbClr val="000000"/>
                </a:solidFill>
                <a:effectLst/>
                <a:uFillTx/>
                <a:latin typeface="Times New Roman"/>
                <a:ea typeface="Times New Roman"/>
              </a:rPr>
              <a:t>mkdir bin</a:t>
            </a:r>
            <a:endParaRPr b="0" lang="en-IN" sz="1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 </a:t>
            </a:r>
            <a:r>
              <a:rPr b="0" i="1" lang="en-IN" sz="1400" strike="noStrike" u="none">
                <a:solidFill>
                  <a:srgbClr val="000000"/>
                </a:solidFill>
                <a:effectLst/>
                <a:uFillTx/>
                <a:latin typeface="Times New Roman"/>
                <a:ea typeface="Times New Roman"/>
              </a:rPr>
              <a:t>PATH=/home/class/bin:$PATH</a:t>
            </a:r>
            <a:endParaRPr b="0" lang="en-IN" sz="1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 </a:t>
            </a:r>
            <a:r>
              <a:rPr b="0" i="1" lang="en-IN" sz="1400" strike="noStrike" u="none">
                <a:solidFill>
                  <a:srgbClr val="000000"/>
                </a:solidFill>
                <a:effectLst/>
                <a:uFillTx/>
                <a:latin typeface="Times New Roman"/>
                <a:ea typeface="Times New Roman"/>
              </a:rPr>
              <a:t>echo $PATH</a:t>
            </a:r>
            <a:endParaRPr b="0" lang="en-IN" sz="1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/home/class/bin:/usr/local/bin:/bin:/usr/bin</a:t>
            </a:r>
            <a:endParaRPr b="0" lang="en-IN" sz="1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 </a:t>
            </a:r>
            <a:r>
              <a:rPr b="0" i="1" lang="en-IN" sz="1400" strike="noStrike" u="none">
                <a:solidFill>
                  <a:srgbClr val="000000"/>
                </a:solidFill>
                <a:effectLst/>
                <a:uFillTx/>
                <a:latin typeface="Times New Roman"/>
                <a:ea typeface="Times New Roman"/>
              </a:rPr>
              <a:t>mv nu bin</a:t>
            </a:r>
            <a:endParaRPr b="0" lang="en-IN" sz="1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 </a:t>
            </a:r>
            <a:r>
              <a:rPr b="0" i="1" lang="en-IN" sz="1400" strike="noStrike" u="none">
                <a:solidFill>
                  <a:srgbClr val="000000"/>
                </a:solidFill>
                <a:effectLst/>
                <a:uFillTx/>
                <a:latin typeface="Times New Roman"/>
                <a:ea typeface="Times New Roman"/>
              </a:rPr>
              <a:t>ls nu</a:t>
            </a:r>
            <a:endParaRPr b="0" lang="en-IN" sz="1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ls: nu: No such file or directory</a:t>
            </a:r>
            <a:endParaRPr b="0" lang="en-IN" sz="1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 </a:t>
            </a:r>
            <a:r>
              <a:rPr b="0" i="1" lang="en-IN" sz="1400" strike="noStrike" u="none">
                <a:solidFill>
                  <a:srgbClr val="000000"/>
                </a:solidFill>
                <a:effectLst/>
                <a:uFillTx/>
                <a:latin typeface="Times New Roman"/>
                <a:ea typeface="Times New Roman"/>
              </a:rPr>
              <a:t>nu</a:t>
            </a:r>
            <a:endParaRPr b="0" lang="en-IN" sz="1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     3</a:t>
            </a:r>
            <a:endParaRPr b="0" lang="en-IN"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3" name=""/>
          <p:cNvSpPr txBox="1"/>
          <p:nvPr/>
        </p:nvSpPr>
        <p:spPr>
          <a:xfrm>
            <a:off x="996840" y="685800"/>
            <a:ext cx="715644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Exercise 1. Finding shell scripts</a:t>
            </a:r>
            <a:endParaRPr b="0" lang="en-IN" sz="3600" strike="noStrike" u="none">
              <a:solidFill>
                <a:srgbClr val="000000"/>
              </a:solidFill>
              <a:effectLst/>
              <a:uFillTx/>
              <a:latin typeface="Arial"/>
            </a:endParaRPr>
          </a:p>
        </p:txBody>
      </p:sp>
      <p:sp>
        <p:nvSpPr>
          <p:cNvPr id="254" name=""/>
          <p:cNvSpPr txBox="1"/>
          <p:nvPr/>
        </p:nvSpPr>
        <p:spPr>
          <a:xfrm>
            <a:off x="990720" y="1981080"/>
            <a:ext cx="7162920" cy="4114800"/>
          </a:xfrm>
          <a:prstGeom prst="rect">
            <a:avLst/>
          </a:prstGeom>
          <a:noFill/>
          <a:ln w="0">
            <a:noFill/>
          </a:ln>
        </p:spPr>
        <p:txBody>
          <a:bodyPr lIns="0" rIns="0" tIns="0" bIns="0" anchor="t">
            <a:spAutoFit/>
          </a:bodyPr>
          <a:p>
            <a:pPr marL="285840" indent="-285840">
              <a:lnSpc>
                <a:spcPct val="90000"/>
              </a:lnSpc>
              <a:spcBef>
                <a:spcPts val="720"/>
              </a:spcBef>
            </a:pPr>
            <a:r>
              <a:rPr b="0" lang="en-IN" sz="2400" strike="noStrike" u="none">
                <a:solidFill>
                  <a:srgbClr val="000000"/>
                </a:solidFill>
                <a:effectLst/>
                <a:uFillTx/>
                <a:latin typeface="Times New Roman"/>
                <a:ea typeface="Times New Roman"/>
              </a:rPr>
              <a:t>Look in /bin and </a:t>
            </a:r>
            <a:r>
              <a:rPr b="0" i="1" lang="en-IN" sz="2400" strike="noStrike" u="none">
                <a:solidFill>
                  <a:srgbClr val="000000"/>
                </a:solidFill>
                <a:effectLst/>
                <a:uFillTx/>
                <a:latin typeface="Times New Roman"/>
                <a:ea typeface="Times New Roman"/>
              </a:rPr>
              <a:t>/usr/bin </a:t>
            </a:r>
            <a:r>
              <a:rPr b="0" lang="en-IN" sz="2400" strike="noStrike" u="none">
                <a:solidFill>
                  <a:srgbClr val="000000"/>
                </a:solidFill>
                <a:effectLst/>
                <a:uFillTx/>
                <a:latin typeface="Times New Roman"/>
                <a:ea typeface="Times New Roman"/>
              </a:rPr>
              <a:t>to see how many files are shell scripts.  Can you do it with one command (</a:t>
            </a:r>
            <a:r>
              <a:rPr b="0" i="1" lang="en-IN" sz="2400" strike="noStrike" u="none">
                <a:solidFill>
                  <a:srgbClr val="000000"/>
                </a:solidFill>
                <a:effectLst/>
                <a:uFillTx/>
                <a:latin typeface="Times New Roman"/>
                <a:ea typeface="Times New Roman"/>
              </a:rPr>
              <a:t>i.e. </a:t>
            </a:r>
            <a:r>
              <a:rPr b="0" lang="en-IN" sz="2400" strike="noStrike" u="none">
                <a:solidFill>
                  <a:srgbClr val="000000"/>
                </a:solidFill>
                <a:effectLst/>
                <a:uFillTx/>
                <a:latin typeface="Times New Roman"/>
                <a:ea typeface="Times New Roman"/>
              </a:rPr>
              <a:t>pipeline)?</a:t>
            </a:r>
            <a:endParaRPr b="0" lang="en-IN" sz="24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Hint:  Look at </a:t>
            </a:r>
            <a:r>
              <a:rPr b="0" i="1" lang="en-IN" sz="2000" strike="noStrike" u="none">
                <a:solidFill>
                  <a:srgbClr val="000000"/>
                </a:solidFill>
                <a:effectLst/>
                <a:uFillTx/>
                <a:latin typeface="Times New Roman"/>
                <a:ea typeface="Times New Roman"/>
              </a:rPr>
              <a:t>file(1)</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5" name=""/>
          <p:cNvSpPr txBox="1"/>
          <p:nvPr/>
        </p:nvSpPr>
        <p:spPr>
          <a:xfrm>
            <a:off x="996840" y="685800"/>
            <a:ext cx="715644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Arguments and Parameters</a:t>
            </a:r>
            <a:endParaRPr b="0" lang="en-IN" sz="3600" strike="noStrike" u="none">
              <a:solidFill>
                <a:srgbClr val="000000"/>
              </a:solidFill>
              <a:effectLst/>
              <a:uFillTx/>
              <a:latin typeface="Arial"/>
            </a:endParaRPr>
          </a:p>
        </p:txBody>
      </p:sp>
      <p:sp>
        <p:nvSpPr>
          <p:cNvPr id="256" name=""/>
          <p:cNvSpPr txBox="1"/>
          <p:nvPr/>
        </p:nvSpPr>
        <p:spPr>
          <a:xfrm>
            <a:off x="914400" y="1752480"/>
            <a:ext cx="7162920" cy="4465080"/>
          </a:xfrm>
          <a:prstGeom prst="rect">
            <a:avLst/>
          </a:prstGeom>
          <a:noFill/>
          <a:ln w="0">
            <a:noFill/>
          </a:ln>
        </p:spPr>
        <p:txBody>
          <a:bodyPr lIns="0" rIns="0" tIns="0" bIns="0" anchor="t">
            <a:spAutoFit/>
          </a:bodyPr>
          <a:p>
            <a:pPr marL="285840" indent="-285840">
              <a:lnSpc>
                <a:spcPct val="90000"/>
              </a:lnSpc>
              <a:spcBef>
                <a:spcPts val="720"/>
              </a:spcBef>
            </a:pPr>
            <a:r>
              <a:rPr b="0" lang="en-IN" sz="2400" strike="noStrike" u="none">
                <a:solidFill>
                  <a:srgbClr val="000000"/>
                </a:solidFill>
                <a:effectLst/>
                <a:uFillTx/>
                <a:latin typeface="Times New Roman"/>
                <a:ea typeface="Times New Roman"/>
              </a:rPr>
              <a:t>Usually, a script needs to be given </a:t>
            </a:r>
            <a:r>
              <a:rPr b="0" i="1" lang="en-IN" sz="2400" strike="noStrike" u="none">
                <a:solidFill>
                  <a:srgbClr val="000000"/>
                </a:solidFill>
                <a:effectLst/>
                <a:uFillTx/>
                <a:latin typeface="Times New Roman"/>
                <a:ea typeface="Times New Roman"/>
              </a:rPr>
              <a:t>arguments</a:t>
            </a:r>
            <a:endParaRPr b="0" lang="en-IN" sz="24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file names, search strings, options, </a:t>
            </a:r>
            <a:r>
              <a:rPr b="0" i="1" lang="en-IN" sz="2000" strike="noStrike" u="none">
                <a:solidFill>
                  <a:srgbClr val="000000"/>
                </a:solidFill>
                <a:effectLst/>
                <a:uFillTx/>
                <a:latin typeface="Times New Roman"/>
                <a:ea typeface="Times New Roman"/>
              </a:rPr>
              <a:t>etc.</a:t>
            </a:r>
            <a:endParaRPr b="0" lang="en-IN" sz="2000" strike="noStrike" u="none">
              <a:solidFill>
                <a:srgbClr val="000000"/>
              </a:solidFill>
              <a:effectLst/>
              <a:uFillTx/>
              <a:latin typeface="Arial"/>
            </a:endParaRPr>
          </a:p>
          <a:p>
            <a:pPr marL="285840" indent="-285840">
              <a:lnSpc>
                <a:spcPct val="90000"/>
              </a:lnSpc>
              <a:spcBef>
                <a:spcPts val="720"/>
              </a:spcBef>
            </a:pPr>
            <a:r>
              <a:rPr b="0" lang="en-IN" sz="2400" strike="noStrike" u="none">
                <a:solidFill>
                  <a:srgbClr val="000000"/>
                </a:solidFill>
                <a:effectLst/>
                <a:uFillTx/>
                <a:latin typeface="Times New Roman"/>
                <a:ea typeface="Times New Roman"/>
              </a:rPr>
              <a:t>Built-in variable $* represents </a:t>
            </a:r>
            <a:r>
              <a:rPr b="0" i="1" lang="en-IN" sz="2400" strike="noStrike" u="sng">
                <a:solidFill>
                  <a:srgbClr val="000000"/>
                </a:solidFill>
                <a:effectLst/>
                <a:uFillTx/>
                <a:latin typeface="Times New Roman"/>
                <a:ea typeface="Times New Roman"/>
              </a:rPr>
              <a:t>all</a:t>
            </a:r>
            <a:r>
              <a:rPr b="0" lang="en-IN" sz="2400" strike="noStrike" u="none">
                <a:solidFill>
                  <a:srgbClr val="000000"/>
                </a:solidFill>
                <a:effectLst/>
                <a:uFillTx/>
                <a:latin typeface="Times New Roman"/>
                <a:ea typeface="Times New Roman"/>
              </a:rPr>
              <a:t> the arguments</a:t>
            </a:r>
            <a:endParaRPr b="0" lang="en-IN" sz="2400" strike="noStrike" u="none">
              <a:solidFill>
                <a:srgbClr val="000000"/>
              </a:solidFill>
              <a:effectLst/>
              <a:uFillTx/>
              <a:latin typeface="Arial"/>
            </a:endParaRPr>
          </a:p>
          <a:p>
            <a:pPr marL="285840" indent="-285840">
              <a:lnSpc>
                <a:spcPct val="90000"/>
              </a:lnSpc>
              <a:spcBef>
                <a:spcPts val="720"/>
              </a:spcBef>
            </a:pPr>
            <a:r>
              <a:rPr b="0" lang="en-IN" sz="2400" strike="noStrike" u="none">
                <a:solidFill>
                  <a:srgbClr val="000000"/>
                </a:solidFill>
                <a:effectLst/>
                <a:uFillTx/>
                <a:latin typeface="Times New Roman"/>
                <a:ea typeface="Times New Roman"/>
              </a:rPr>
              <a:t>$1, $2, ..., $9 represents the first 9 args</a:t>
            </a:r>
            <a:endParaRPr b="0" lang="en-IN" sz="24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Built-in command, </a:t>
            </a:r>
            <a:r>
              <a:rPr b="0" i="1" lang="en-IN" sz="2000" strike="noStrike" u="none">
                <a:solidFill>
                  <a:srgbClr val="000000"/>
                </a:solidFill>
                <a:effectLst/>
                <a:uFillTx/>
                <a:latin typeface="Times New Roman"/>
                <a:ea typeface="Times New Roman"/>
              </a:rPr>
              <a:t>shift</a:t>
            </a:r>
            <a:r>
              <a:rPr b="0" lang="en-IN" sz="2000" strike="noStrike" u="none">
                <a:solidFill>
                  <a:srgbClr val="000000"/>
                </a:solidFill>
                <a:effectLst/>
                <a:uFillTx/>
                <a:latin typeface="Times New Roman"/>
                <a:ea typeface="Times New Roman"/>
              </a:rPr>
              <a:t>, moves all args one space “to the left”</a:t>
            </a:r>
            <a:endParaRPr b="0" lang="en-IN" sz="2000" strike="noStrike" u="none">
              <a:solidFill>
                <a:srgbClr val="000000"/>
              </a:solidFill>
              <a:effectLst/>
              <a:uFillTx/>
              <a:latin typeface="Arial"/>
            </a:endParaRPr>
          </a:p>
          <a:p>
            <a:pPr marL="1143000" indent="-228600">
              <a:lnSpc>
                <a:spcPct val="90000"/>
              </a:lnSpc>
              <a:spcBef>
                <a:spcPts val="720"/>
              </a:spcBef>
            </a:pPr>
            <a:r>
              <a:rPr b="0" lang="en-IN" sz="1400" strike="noStrike" u="none">
                <a:solidFill>
                  <a:srgbClr val="000000"/>
                </a:solidFill>
                <a:effectLst/>
                <a:uFillTx/>
                <a:latin typeface="Times New Roman"/>
                <a:ea typeface="Times New Roman"/>
              </a:rPr>
              <a:t>$ </a:t>
            </a:r>
            <a:r>
              <a:rPr b="0" i="1" lang="en-IN" sz="1400" strike="noStrike" u="none">
                <a:solidFill>
                  <a:srgbClr val="000000"/>
                </a:solidFill>
                <a:effectLst/>
                <a:uFillTx/>
                <a:latin typeface="Times New Roman"/>
                <a:ea typeface="Times New Roman"/>
              </a:rPr>
              <a:t>cat shift_echo</a:t>
            </a:r>
            <a:endParaRPr b="0" lang="en-IN" sz="1400" strike="noStrike" u="none">
              <a:solidFill>
                <a:srgbClr val="000000"/>
              </a:solidFill>
              <a:effectLst/>
              <a:uFillTx/>
              <a:latin typeface="Arial"/>
            </a:endParaRPr>
          </a:p>
          <a:p>
            <a:pPr marL="1143000" indent="-228600">
              <a:lnSpc>
                <a:spcPct val="90000"/>
              </a:lnSpc>
              <a:spcBef>
                <a:spcPts val="720"/>
              </a:spcBef>
            </a:pPr>
            <a:r>
              <a:rPr b="0" lang="en-IN" sz="1400" strike="noStrike" u="none">
                <a:solidFill>
                  <a:srgbClr val="000000"/>
                </a:solidFill>
                <a:effectLst/>
                <a:uFillTx/>
                <a:latin typeface="Times New Roman"/>
                <a:ea typeface="Times New Roman"/>
              </a:rPr>
              <a:t>echo $1 $2 $3 $4</a:t>
            </a:r>
            <a:endParaRPr b="0" lang="en-IN" sz="1400" strike="noStrike" u="none">
              <a:solidFill>
                <a:srgbClr val="000000"/>
              </a:solidFill>
              <a:effectLst/>
              <a:uFillTx/>
              <a:latin typeface="Arial"/>
            </a:endParaRPr>
          </a:p>
          <a:p>
            <a:pPr marL="1143000" indent="-228600">
              <a:lnSpc>
                <a:spcPct val="90000"/>
              </a:lnSpc>
              <a:spcBef>
                <a:spcPts val="720"/>
              </a:spcBef>
            </a:pPr>
            <a:r>
              <a:rPr b="0" lang="en-IN" sz="1400" strike="noStrike" u="none">
                <a:solidFill>
                  <a:srgbClr val="000000"/>
                </a:solidFill>
                <a:effectLst/>
                <a:uFillTx/>
                <a:latin typeface="Times New Roman"/>
                <a:ea typeface="Times New Roman"/>
              </a:rPr>
              <a:t>shift</a:t>
            </a:r>
            <a:endParaRPr b="0" lang="en-IN" sz="1400" strike="noStrike" u="none">
              <a:solidFill>
                <a:srgbClr val="000000"/>
              </a:solidFill>
              <a:effectLst/>
              <a:uFillTx/>
              <a:latin typeface="Arial"/>
            </a:endParaRPr>
          </a:p>
          <a:p>
            <a:pPr marL="1143000" indent="-228600">
              <a:lnSpc>
                <a:spcPct val="90000"/>
              </a:lnSpc>
              <a:spcBef>
                <a:spcPts val="720"/>
              </a:spcBef>
            </a:pPr>
            <a:r>
              <a:rPr b="0" lang="en-IN" sz="1400" strike="noStrike" u="none">
                <a:solidFill>
                  <a:srgbClr val="000000"/>
                </a:solidFill>
                <a:effectLst/>
                <a:uFillTx/>
                <a:latin typeface="Times New Roman"/>
                <a:ea typeface="Times New Roman"/>
              </a:rPr>
              <a:t>echo $1 $2 $3 $4</a:t>
            </a:r>
            <a:endParaRPr b="0" lang="en-IN" sz="1400" strike="noStrike" u="none">
              <a:solidFill>
                <a:srgbClr val="000000"/>
              </a:solidFill>
              <a:effectLst/>
              <a:uFillTx/>
              <a:latin typeface="Arial"/>
            </a:endParaRPr>
          </a:p>
          <a:p>
            <a:pPr marL="1143000" indent="-228600">
              <a:lnSpc>
                <a:spcPct val="90000"/>
              </a:lnSpc>
              <a:spcBef>
                <a:spcPts val="720"/>
              </a:spcBef>
            </a:pPr>
            <a:r>
              <a:rPr b="0" lang="en-IN" sz="1400" strike="noStrike" u="none">
                <a:solidFill>
                  <a:srgbClr val="000000"/>
                </a:solidFill>
                <a:effectLst/>
                <a:uFillTx/>
                <a:latin typeface="Times New Roman"/>
                <a:ea typeface="Times New Roman"/>
              </a:rPr>
              <a:t>shift</a:t>
            </a:r>
            <a:endParaRPr b="0" lang="en-IN" sz="1400" strike="noStrike" u="none">
              <a:solidFill>
                <a:srgbClr val="000000"/>
              </a:solidFill>
              <a:effectLst/>
              <a:uFillTx/>
              <a:latin typeface="Arial"/>
            </a:endParaRPr>
          </a:p>
          <a:p>
            <a:pPr marL="1143000" indent="-228600">
              <a:lnSpc>
                <a:spcPct val="90000"/>
              </a:lnSpc>
              <a:spcBef>
                <a:spcPts val="720"/>
              </a:spcBef>
            </a:pPr>
            <a:r>
              <a:rPr b="0" lang="en-IN" sz="1400" strike="noStrike" u="none">
                <a:solidFill>
                  <a:srgbClr val="000000"/>
                </a:solidFill>
                <a:effectLst/>
                <a:uFillTx/>
                <a:latin typeface="Times New Roman"/>
                <a:ea typeface="Times New Roman"/>
              </a:rPr>
              <a:t>echo $1 $2 $3 $4</a:t>
            </a:r>
            <a:endParaRPr b="0" lang="en-IN" sz="1400" strike="noStrike" u="none">
              <a:solidFill>
                <a:srgbClr val="000000"/>
              </a:solidFill>
              <a:effectLst/>
              <a:uFillTx/>
              <a:latin typeface="Arial"/>
            </a:endParaRPr>
          </a:p>
          <a:p>
            <a:pPr marL="1143000" indent="-228600">
              <a:lnSpc>
                <a:spcPct val="90000"/>
              </a:lnSpc>
              <a:spcBef>
                <a:spcPts val="720"/>
              </a:spcBef>
            </a:pPr>
            <a:r>
              <a:rPr b="0" lang="en-IN" sz="1400" strike="noStrike" u="none">
                <a:solidFill>
                  <a:srgbClr val="000000"/>
                </a:solidFill>
                <a:effectLst/>
                <a:uFillTx/>
                <a:latin typeface="Times New Roman"/>
                <a:ea typeface="Times New Roman"/>
              </a:rPr>
              <a:t>$ </a:t>
            </a:r>
            <a:r>
              <a:rPr b="0" i="1" lang="en-IN" sz="1400" strike="noStrike" u="none">
                <a:solidFill>
                  <a:srgbClr val="000000"/>
                </a:solidFill>
                <a:effectLst/>
                <a:uFillTx/>
                <a:latin typeface="Times New Roman"/>
                <a:ea typeface="Times New Roman"/>
              </a:rPr>
              <a:t>shift_echo This is a Test of Shift</a:t>
            </a:r>
            <a:endParaRPr b="0" lang="en-IN" sz="1400" strike="noStrike" u="none">
              <a:solidFill>
                <a:srgbClr val="000000"/>
              </a:solidFill>
              <a:effectLst/>
              <a:uFillTx/>
              <a:latin typeface="Arial"/>
            </a:endParaRPr>
          </a:p>
          <a:p>
            <a:pPr marL="1143000" indent="-228600">
              <a:lnSpc>
                <a:spcPct val="90000"/>
              </a:lnSpc>
              <a:spcBef>
                <a:spcPts val="720"/>
              </a:spcBef>
            </a:pPr>
            <a:r>
              <a:rPr b="0" lang="en-IN" sz="1400" strike="noStrike" u="none">
                <a:solidFill>
                  <a:srgbClr val="000000"/>
                </a:solidFill>
                <a:effectLst/>
                <a:uFillTx/>
                <a:latin typeface="Times New Roman"/>
                <a:ea typeface="Times New Roman"/>
              </a:rPr>
              <a:t>This is a Test</a:t>
            </a:r>
            <a:endParaRPr b="0" lang="en-IN" sz="1400" strike="noStrike" u="none">
              <a:solidFill>
                <a:srgbClr val="000000"/>
              </a:solidFill>
              <a:effectLst/>
              <a:uFillTx/>
              <a:latin typeface="Arial"/>
            </a:endParaRPr>
          </a:p>
          <a:p>
            <a:pPr marL="1143000" indent="-228600">
              <a:lnSpc>
                <a:spcPct val="90000"/>
              </a:lnSpc>
              <a:spcBef>
                <a:spcPts val="720"/>
              </a:spcBef>
            </a:pPr>
            <a:r>
              <a:rPr b="0" lang="en-IN" sz="1400" strike="noStrike" u="none">
                <a:solidFill>
                  <a:srgbClr val="000000"/>
                </a:solidFill>
                <a:effectLst/>
                <a:uFillTx/>
                <a:latin typeface="Times New Roman"/>
                <a:ea typeface="Times New Roman"/>
              </a:rPr>
              <a:t>is a Test of</a:t>
            </a:r>
            <a:endParaRPr b="0" lang="en-IN" sz="1400" strike="noStrike" u="none">
              <a:solidFill>
                <a:srgbClr val="000000"/>
              </a:solidFill>
              <a:effectLst/>
              <a:uFillTx/>
              <a:latin typeface="Arial"/>
            </a:endParaRPr>
          </a:p>
          <a:p>
            <a:pPr marL="1143000" indent="-228600">
              <a:lnSpc>
                <a:spcPct val="90000"/>
              </a:lnSpc>
              <a:spcBef>
                <a:spcPts val="720"/>
              </a:spcBef>
            </a:pPr>
            <a:r>
              <a:rPr b="0" lang="en-IN" sz="1400" strike="noStrike" u="none">
                <a:solidFill>
                  <a:srgbClr val="000000"/>
                </a:solidFill>
                <a:effectLst/>
                <a:uFillTx/>
                <a:latin typeface="Times New Roman"/>
                <a:ea typeface="Times New Roman"/>
              </a:rPr>
              <a:t>a Test of Shift</a:t>
            </a:r>
            <a:endParaRPr b="0" lang="en-IN"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7" name=""/>
          <p:cNvSpPr txBox="1"/>
          <p:nvPr/>
        </p:nvSpPr>
        <p:spPr>
          <a:xfrm>
            <a:off x="996840" y="685800"/>
            <a:ext cx="7156440" cy="106056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Example: 411, directory information</a:t>
            </a:r>
            <a:endParaRPr b="0" lang="en-IN" sz="3600" strike="noStrike" u="none">
              <a:solidFill>
                <a:srgbClr val="000000"/>
              </a:solidFill>
              <a:effectLst/>
              <a:uFillTx/>
              <a:latin typeface="Arial"/>
            </a:endParaRPr>
          </a:p>
        </p:txBody>
      </p:sp>
      <p:sp>
        <p:nvSpPr>
          <p:cNvPr id="258" name=""/>
          <p:cNvSpPr txBox="1"/>
          <p:nvPr/>
        </p:nvSpPr>
        <p:spPr>
          <a:xfrm>
            <a:off x="990720" y="1981080"/>
            <a:ext cx="7162920" cy="4500720"/>
          </a:xfrm>
          <a:prstGeom prst="rect">
            <a:avLst/>
          </a:prstGeom>
          <a:noFill/>
          <a:ln w="0">
            <a:noFill/>
          </a:ln>
        </p:spPr>
        <p:txBody>
          <a:bodyPr lIns="0" rIns="0" tIns="0" bIns="0" anchor="t">
            <a:spAutoFit/>
          </a:bodyPr>
          <a:p>
            <a:pPr marL="285840" indent="-285840">
              <a:lnSpc>
                <a:spcPct val="90000"/>
              </a:lnSpc>
              <a:spcBef>
                <a:spcPts val="720"/>
              </a:spcBef>
            </a:pPr>
            <a:r>
              <a:rPr b="0" lang="en-IN" sz="2400" strike="noStrike" u="none">
                <a:solidFill>
                  <a:srgbClr val="000000"/>
                </a:solidFill>
                <a:effectLst/>
                <a:uFillTx/>
                <a:latin typeface="Times New Roman"/>
                <a:ea typeface="Times New Roman"/>
              </a:rPr>
              <a:t>Consider a phone book:</a:t>
            </a:r>
            <a:endParaRPr b="0" lang="en-IN" sz="2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 </a:t>
            </a:r>
            <a:r>
              <a:rPr b="0" i="1" lang="en-IN" sz="1400" strike="noStrike" u="none">
                <a:solidFill>
                  <a:srgbClr val="000000"/>
                </a:solidFill>
                <a:effectLst/>
                <a:uFillTx/>
                <a:latin typeface="Times New Roman"/>
                <a:ea typeface="Times New Roman"/>
              </a:rPr>
              <a:t>cat /home/class/lib/phone-book</a:t>
            </a:r>
            <a:endParaRPr b="0" lang="en-IN" sz="1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Front Desk   441-4000</a:t>
            </a:r>
            <a:endParaRPr b="0" lang="en-IN" sz="1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Lee Hingle   794-5094</a:t>
            </a:r>
            <a:endParaRPr b="0" lang="en-IN" sz="1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Accounting   794-5540</a:t>
            </a:r>
            <a:endParaRPr b="0" lang="en-IN" sz="1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Lee Brotzman 776-0324</a:t>
            </a:r>
            <a:endParaRPr b="0" lang="en-IN" sz="1400" strike="noStrike" u="none">
              <a:solidFill>
                <a:srgbClr val="000000"/>
              </a:solidFill>
              <a:effectLst/>
              <a:uFillTx/>
              <a:latin typeface="Arial"/>
            </a:endParaRPr>
          </a:p>
          <a:p>
            <a:pPr marL="285840" indent="-285840">
              <a:lnSpc>
                <a:spcPct val="90000"/>
              </a:lnSpc>
              <a:spcBef>
                <a:spcPts val="720"/>
              </a:spcBef>
            </a:pPr>
            <a:r>
              <a:rPr b="0" lang="en-IN" sz="2400" strike="noStrike" u="none">
                <a:solidFill>
                  <a:srgbClr val="000000"/>
                </a:solidFill>
                <a:effectLst/>
                <a:uFillTx/>
                <a:latin typeface="Times New Roman"/>
                <a:ea typeface="Times New Roman"/>
              </a:rPr>
              <a:t>Create a very simple search program:</a:t>
            </a:r>
            <a:endParaRPr b="0" lang="en-IN" sz="2400" strike="noStrike" u="none">
              <a:solidFill>
                <a:srgbClr val="000000"/>
              </a:solidFill>
              <a:effectLst/>
              <a:uFillTx/>
              <a:latin typeface="Arial"/>
            </a:endParaRPr>
          </a:p>
          <a:p>
            <a:pPr marL="685800" indent="-228600">
              <a:lnSpc>
                <a:spcPct val="90000"/>
              </a:lnSpc>
              <a:spcBef>
                <a:spcPts val="720"/>
              </a:spcBef>
            </a:pPr>
            <a:r>
              <a:rPr b="0" lang="en-IN" sz="1200" strike="noStrike" u="none">
                <a:solidFill>
                  <a:srgbClr val="000000"/>
                </a:solidFill>
                <a:effectLst/>
                <a:uFillTx/>
                <a:latin typeface="Times New Roman"/>
                <a:ea typeface="Times New Roman"/>
              </a:rPr>
              <a:t>$ </a:t>
            </a:r>
            <a:r>
              <a:rPr b="0" i="1" lang="en-IN" sz="1200" strike="noStrike" u="none">
                <a:solidFill>
                  <a:srgbClr val="000000"/>
                </a:solidFill>
                <a:effectLst/>
                <a:uFillTx/>
                <a:latin typeface="Times New Roman"/>
                <a:ea typeface="Times New Roman"/>
              </a:rPr>
              <a:t>cat 'grep $* /home/class/lib/phone-book' &gt;411</a:t>
            </a:r>
            <a:endParaRPr b="0" lang="en-IN" sz="1200" strike="noStrike" u="none">
              <a:solidFill>
                <a:srgbClr val="000000"/>
              </a:solidFill>
              <a:effectLst/>
              <a:uFillTx/>
              <a:latin typeface="Arial"/>
            </a:endParaRPr>
          </a:p>
          <a:p>
            <a:pPr marL="685800" indent="-228600">
              <a:lnSpc>
                <a:spcPct val="90000"/>
              </a:lnSpc>
              <a:spcBef>
                <a:spcPts val="720"/>
              </a:spcBef>
            </a:pPr>
            <a:r>
              <a:rPr b="0" lang="en-IN" sz="1200" strike="noStrike" u="none">
                <a:solidFill>
                  <a:srgbClr val="000000"/>
                </a:solidFill>
                <a:effectLst/>
                <a:uFillTx/>
                <a:latin typeface="Times New Roman"/>
                <a:ea typeface="Times New Roman"/>
              </a:rPr>
              <a:t>$ </a:t>
            </a:r>
            <a:r>
              <a:rPr b="0" i="1" lang="en-IN" sz="1200" strike="noStrike" u="none">
                <a:solidFill>
                  <a:srgbClr val="000000"/>
                </a:solidFill>
                <a:effectLst/>
                <a:uFillTx/>
                <a:latin typeface="Times New Roman"/>
                <a:ea typeface="Times New Roman"/>
              </a:rPr>
              <a:t>chmod +x 411</a:t>
            </a:r>
            <a:endParaRPr b="0" lang="en-IN" sz="1200" strike="noStrike" u="none">
              <a:solidFill>
                <a:srgbClr val="000000"/>
              </a:solidFill>
              <a:effectLst/>
              <a:uFillTx/>
              <a:latin typeface="Arial"/>
            </a:endParaRPr>
          </a:p>
          <a:p>
            <a:pPr marL="685800" indent="-228600">
              <a:lnSpc>
                <a:spcPct val="90000"/>
              </a:lnSpc>
              <a:spcBef>
                <a:spcPts val="720"/>
              </a:spcBef>
            </a:pPr>
            <a:r>
              <a:rPr b="0" lang="en-IN" sz="1200" strike="noStrike" u="none">
                <a:solidFill>
                  <a:srgbClr val="000000"/>
                </a:solidFill>
                <a:effectLst/>
                <a:uFillTx/>
                <a:latin typeface="Times New Roman"/>
                <a:ea typeface="Times New Roman"/>
              </a:rPr>
              <a:t>$ </a:t>
            </a:r>
            <a:r>
              <a:rPr b="0" i="1" lang="en-IN" sz="1200" strike="noStrike" u="none">
                <a:solidFill>
                  <a:srgbClr val="000000"/>
                </a:solidFill>
                <a:effectLst/>
                <a:uFillTx/>
                <a:latin typeface="Times New Roman"/>
                <a:ea typeface="Times New Roman"/>
              </a:rPr>
              <a:t>411 Accounting</a:t>
            </a:r>
            <a:endParaRPr b="0" lang="en-IN" sz="1200" strike="noStrike" u="none">
              <a:solidFill>
                <a:srgbClr val="000000"/>
              </a:solidFill>
              <a:effectLst/>
              <a:uFillTx/>
              <a:latin typeface="Arial"/>
            </a:endParaRPr>
          </a:p>
          <a:p>
            <a:pPr marL="685800" indent="-228600">
              <a:lnSpc>
                <a:spcPct val="90000"/>
              </a:lnSpc>
              <a:spcBef>
                <a:spcPts val="720"/>
              </a:spcBef>
            </a:pPr>
            <a:r>
              <a:rPr b="0" lang="en-IN" sz="1200" strike="noStrike" u="none">
                <a:solidFill>
                  <a:srgbClr val="000000"/>
                </a:solidFill>
                <a:effectLst/>
                <a:uFillTx/>
                <a:latin typeface="Times New Roman"/>
                <a:ea typeface="Times New Roman"/>
              </a:rPr>
              <a:t>Accounting   794-5540</a:t>
            </a:r>
            <a:endParaRPr b="0" lang="en-IN" sz="1200" strike="noStrike" u="none">
              <a:solidFill>
                <a:srgbClr val="000000"/>
              </a:solidFill>
              <a:effectLst/>
              <a:uFillTx/>
              <a:latin typeface="Arial"/>
            </a:endParaRPr>
          </a:p>
          <a:p>
            <a:pPr marL="685800" indent="-228600">
              <a:lnSpc>
                <a:spcPct val="90000"/>
              </a:lnSpc>
              <a:spcBef>
                <a:spcPts val="720"/>
              </a:spcBef>
            </a:pPr>
            <a:r>
              <a:rPr b="0" lang="en-IN" sz="1200" strike="noStrike" u="none">
                <a:solidFill>
                  <a:srgbClr val="000000"/>
                </a:solidFill>
                <a:effectLst/>
                <a:uFillTx/>
                <a:latin typeface="Times New Roman"/>
                <a:ea typeface="Times New Roman"/>
              </a:rPr>
              <a:t>$ </a:t>
            </a:r>
            <a:r>
              <a:rPr b="0" i="1" lang="en-IN" sz="1200" strike="noStrike" u="none">
                <a:solidFill>
                  <a:srgbClr val="000000"/>
                </a:solidFill>
                <a:effectLst/>
                <a:uFillTx/>
                <a:latin typeface="Times New Roman"/>
                <a:ea typeface="Times New Roman"/>
              </a:rPr>
              <a:t>411 Lee</a:t>
            </a:r>
            <a:endParaRPr b="0" lang="en-IN" sz="1200" strike="noStrike" u="none">
              <a:solidFill>
                <a:srgbClr val="000000"/>
              </a:solidFill>
              <a:effectLst/>
              <a:uFillTx/>
              <a:latin typeface="Arial"/>
            </a:endParaRPr>
          </a:p>
          <a:p>
            <a:pPr marL="685800" indent="-228600">
              <a:lnSpc>
                <a:spcPct val="90000"/>
              </a:lnSpc>
              <a:spcBef>
                <a:spcPts val="720"/>
              </a:spcBef>
            </a:pPr>
            <a:r>
              <a:rPr b="0" lang="en-IN" sz="1200" strike="noStrike" u="none">
                <a:solidFill>
                  <a:srgbClr val="000000"/>
                </a:solidFill>
                <a:effectLst/>
                <a:uFillTx/>
                <a:latin typeface="Times New Roman"/>
                <a:ea typeface="Times New Roman"/>
              </a:rPr>
              <a:t>Lee Hingle   794-5094</a:t>
            </a:r>
            <a:endParaRPr b="0" lang="en-IN" sz="1200" strike="noStrike" u="none">
              <a:solidFill>
                <a:srgbClr val="000000"/>
              </a:solidFill>
              <a:effectLst/>
              <a:uFillTx/>
              <a:latin typeface="Arial"/>
            </a:endParaRPr>
          </a:p>
          <a:p>
            <a:pPr marL="685800" indent="-228600">
              <a:lnSpc>
                <a:spcPct val="90000"/>
              </a:lnSpc>
              <a:spcBef>
                <a:spcPts val="720"/>
              </a:spcBef>
            </a:pPr>
            <a:r>
              <a:rPr b="0" lang="en-IN" sz="1200" strike="noStrike" u="none">
                <a:solidFill>
                  <a:srgbClr val="000000"/>
                </a:solidFill>
                <a:effectLst/>
                <a:uFillTx/>
                <a:latin typeface="Times New Roman"/>
                <a:ea typeface="Times New Roman"/>
              </a:rPr>
              <a:t>Lee Brotzman 776-0324</a:t>
            </a:r>
            <a:endParaRPr b="0" lang="en-IN" sz="1200" strike="noStrike" u="none">
              <a:solidFill>
                <a:srgbClr val="000000"/>
              </a:solidFill>
              <a:effectLst/>
              <a:uFillTx/>
              <a:latin typeface="Arial"/>
            </a:endParaRPr>
          </a:p>
          <a:p>
            <a:pPr marL="685800" indent="-228600">
              <a:lnSpc>
                <a:spcPct val="90000"/>
              </a:lnSpc>
              <a:spcBef>
                <a:spcPts val="720"/>
              </a:spcBef>
            </a:pPr>
            <a:r>
              <a:rPr b="0" lang="en-IN" sz="1200" strike="noStrike" u="none">
                <a:solidFill>
                  <a:srgbClr val="000000"/>
                </a:solidFill>
                <a:effectLst/>
                <a:uFillTx/>
                <a:latin typeface="Times New Roman"/>
                <a:ea typeface="Times New Roman"/>
              </a:rPr>
              <a:t>$ </a:t>
            </a:r>
            <a:r>
              <a:rPr b="0" i="1" lang="en-IN" sz="1200" strike="noStrike" u="none">
                <a:solidFill>
                  <a:srgbClr val="000000"/>
                </a:solidFill>
                <a:effectLst/>
                <a:uFillTx/>
                <a:latin typeface="Times New Roman"/>
                <a:ea typeface="Times New Roman"/>
              </a:rPr>
              <a:t>411 Front Desk</a:t>
            </a:r>
            <a:endParaRPr b="0" lang="en-IN" sz="1200" strike="noStrike" u="none">
              <a:solidFill>
                <a:srgbClr val="000000"/>
              </a:solidFill>
              <a:effectLst/>
              <a:uFillTx/>
              <a:latin typeface="Arial"/>
            </a:endParaRPr>
          </a:p>
          <a:p>
            <a:pPr marL="685800" indent="-228600">
              <a:lnSpc>
                <a:spcPct val="90000"/>
              </a:lnSpc>
              <a:spcBef>
                <a:spcPts val="720"/>
              </a:spcBef>
            </a:pPr>
            <a:r>
              <a:rPr b="0" lang="en-IN" sz="1200" strike="noStrike" u="none">
                <a:solidFill>
                  <a:srgbClr val="000000"/>
                </a:solidFill>
                <a:effectLst/>
                <a:uFillTx/>
                <a:latin typeface="Times New Roman"/>
                <a:ea typeface="Times New Roman"/>
              </a:rPr>
              <a:t>grep: Desk: No such file or directory</a:t>
            </a:r>
            <a:endParaRPr b="0" lang="en-IN" sz="12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Something is wrong!?  What, and how can it be fixed? </a:t>
            </a:r>
            <a:endParaRPr b="0" lang="en-IN"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9" name=""/>
          <p:cNvSpPr txBox="1"/>
          <p:nvPr/>
        </p:nvSpPr>
        <p:spPr>
          <a:xfrm>
            <a:off x="996840" y="685800"/>
            <a:ext cx="715644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Program Output as Arguments</a:t>
            </a:r>
            <a:endParaRPr b="0" lang="en-IN" sz="3600" strike="noStrike" u="none">
              <a:solidFill>
                <a:srgbClr val="000000"/>
              </a:solidFill>
              <a:effectLst/>
              <a:uFillTx/>
              <a:latin typeface="Arial"/>
            </a:endParaRPr>
          </a:p>
        </p:txBody>
      </p:sp>
      <p:sp>
        <p:nvSpPr>
          <p:cNvPr id="260" name=""/>
          <p:cNvSpPr txBox="1"/>
          <p:nvPr/>
        </p:nvSpPr>
        <p:spPr>
          <a:xfrm>
            <a:off x="990720" y="1981080"/>
            <a:ext cx="7162920" cy="4114800"/>
          </a:xfrm>
          <a:prstGeom prst="rect">
            <a:avLst/>
          </a:prstGeom>
          <a:noFill/>
          <a:ln w="0">
            <a:noFill/>
          </a:ln>
        </p:spPr>
        <p:txBody>
          <a:bodyPr lIns="0" rIns="0" tIns="0" bIns="0" anchor="t">
            <a:spAutoFit/>
          </a:bodyPr>
          <a:p>
            <a:pPr marL="285840" indent="-285840">
              <a:lnSpc>
                <a:spcPct val="90000"/>
              </a:lnSpc>
              <a:spcBef>
                <a:spcPts val="720"/>
              </a:spcBef>
            </a:pPr>
            <a:r>
              <a:rPr b="0" lang="en-IN" sz="2400" strike="noStrike" u="none">
                <a:solidFill>
                  <a:srgbClr val="000000"/>
                </a:solidFill>
                <a:effectLst/>
                <a:uFillTx/>
                <a:latin typeface="Times New Roman"/>
                <a:ea typeface="Times New Roman"/>
              </a:rPr>
              <a:t>Arguments can be </a:t>
            </a:r>
            <a:r>
              <a:rPr b="0" i="1" lang="en-IN" sz="2400" strike="noStrike" u="none">
                <a:solidFill>
                  <a:srgbClr val="000000"/>
                </a:solidFill>
                <a:effectLst/>
                <a:uFillTx/>
                <a:latin typeface="Times New Roman"/>
                <a:ea typeface="Times New Roman"/>
              </a:rPr>
              <a:t>created</a:t>
            </a:r>
            <a:r>
              <a:rPr b="0" lang="en-IN" sz="2400" strike="noStrike" u="none">
                <a:solidFill>
                  <a:srgbClr val="000000"/>
                </a:solidFill>
                <a:effectLst/>
                <a:uFillTx/>
                <a:latin typeface="Times New Roman"/>
                <a:ea typeface="Times New Roman"/>
              </a:rPr>
              <a:t> from the output of other commands by enclosing the command in backquotes</a:t>
            </a:r>
            <a:endParaRPr b="0" lang="en-IN" sz="2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 </a:t>
            </a:r>
            <a:r>
              <a:rPr b="0" i="1" lang="en-IN" sz="1400" strike="noStrike" u="none">
                <a:solidFill>
                  <a:srgbClr val="000000"/>
                </a:solidFill>
                <a:effectLst/>
                <a:uFillTx/>
                <a:latin typeface="Times New Roman"/>
                <a:ea typeface="Times New Roman"/>
              </a:rPr>
              <a:t>echo At the tone the time will be `date`</a:t>
            </a:r>
            <a:endParaRPr b="0" lang="en-IN" sz="1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At the tone the time will be Mon Aug 15 16:40:20 EDT 1994</a:t>
            </a:r>
            <a:endParaRPr b="0" lang="en-IN" sz="1400" strike="noStrike" u="none">
              <a:solidFill>
                <a:srgbClr val="000000"/>
              </a:solidFill>
              <a:effectLst/>
              <a:uFillTx/>
              <a:latin typeface="Arial"/>
            </a:endParaRPr>
          </a:p>
          <a:p>
            <a:pPr marL="285840" indent="-285840">
              <a:lnSpc>
                <a:spcPct val="90000"/>
              </a:lnSpc>
              <a:spcBef>
                <a:spcPts val="720"/>
              </a:spcBef>
            </a:pPr>
            <a:r>
              <a:rPr b="0" lang="en-IN" sz="2400" strike="noStrike" u="none">
                <a:solidFill>
                  <a:srgbClr val="000000"/>
                </a:solidFill>
                <a:effectLst/>
                <a:uFillTx/>
                <a:latin typeface="Times New Roman"/>
                <a:ea typeface="Times New Roman"/>
              </a:rPr>
              <a:t>Backquotes are interpreted inside double quotes</a:t>
            </a:r>
            <a:endParaRPr b="0" lang="en-IN" sz="2400" strike="noStrike" u="none">
              <a:solidFill>
                <a:srgbClr val="000000"/>
              </a:solidFill>
              <a:effectLst/>
              <a:uFillTx/>
              <a:latin typeface="Arial"/>
            </a:endParaRPr>
          </a:p>
          <a:p>
            <a:pPr marL="285840" indent="-285840">
              <a:lnSpc>
                <a:spcPct val="90000"/>
              </a:lnSpc>
              <a:spcBef>
                <a:spcPts val="720"/>
              </a:spcBef>
            </a:pPr>
            <a:r>
              <a:rPr b="0" lang="en-IN" sz="2400" strike="noStrike" u="none">
                <a:solidFill>
                  <a:srgbClr val="000000"/>
                </a:solidFill>
                <a:effectLst/>
                <a:uFillTx/>
                <a:latin typeface="Times New Roman"/>
                <a:ea typeface="Times New Roman"/>
              </a:rPr>
              <a:t>Example: cheap mailing lists</a:t>
            </a:r>
            <a:endParaRPr b="0" lang="en-IN" sz="2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 </a:t>
            </a:r>
            <a:r>
              <a:rPr b="0" i="1" lang="en-IN" sz="1400" strike="noStrike" u="none">
                <a:solidFill>
                  <a:srgbClr val="000000"/>
                </a:solidFill>
                <a:effectLst/>
                <a:uFillTx/>
                <a:latin typeface="Times New Roman"/>
                <a:ea typeface="Times New Roman"/>
              </a:rPr>
              <a:t>cat mailinglist</a:t>
            </a:r>
            <a:endParaRPr b="0" lang="en-IN" sz="1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echo john paul george ringo</a:t>
            </a:r>
            <a:endParaRPr b="0" lang="en-IN" sz="1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 </a:t>
            </a:r>
            <a:r>
              <a:rPr b="0" i="1" lang="en-IN" sz="1400" strike="noStrike" u="none">
                <a:solidFill>
                  <a:srgbClr val="000000"/>
                </a:solidFill>
                <a:effectLst/>
                <a:uFillTx/>
                <a:latin typeface="Times New Roman"/>
                <a:ea typeface="Times New Roman"/>
              </a:rPr>
              <a:t>chmod +x mailinglist</a:t>
            </a:r>
            <a:endParaRPr b="0" lang="en-IN" sz="1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 </a:t>
            </a:r>
            <a:r>
              <a:rPr b="0" i="1" lang="en-IN" sz="1400" strike="noStrike" u="none">
                <a:solidFill>
                  <a:srgbClr val="000000"/>
                </a:solidFill>
                <a:effectLst/>
                <a:uFillTx/>
                <a:latin typeface="Times New Roman"/>
                <a:ea typeface="Times New Roman"/>
              </a:rPr>
              <a:t>mailinglist</a:t>
            </a:r>
            <a:endParaRPr b="0" lang="en-IN" sz="1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john paul george ringo</a:t>
            </a:r>
            <a:endParaRPr b="0" lang="en-IN" sz="1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 </a:t>
            </a:r>
            <a:r>
              <a:rPr b="0" i="1" lang="en-IN" sz="1400" strike="noStrike" u="none">
                <a:solidFill>
                  <a:srgbClr val="000000"/>
                </a:solidFill>
                <a:effectLst/>
                <a:uFillTx/>
                <a:latin typeface="Times New Roman"/>
                <a:ea typeface="Times New Roman"/>
              </a:rPr>
              <a:t>mail `mailinglist` &lt;new_song</a:t>
            </a:r>
            <a:endParaRPr b="0" lang="en-IN"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1" name=""/>
          <p:cNvSpPr txBox="1"/>
          <p:nvPr/>
        </p:nvSpPr>
        <p:spPr>
          <a:xfrm>
            <a:off x="996840" y="685800"/>
            <a:ext cx="715644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Shell Variables</a:t>
            </a:r>
            <a:endParaRPr b="0" lang="en-IN" sz="3600" strike="noStrike" u="none">
              <a:solidFill>
                <a:srgbClr val="000000"/>
              </a:solidFill>
              <a:effectLst/>
              <a:uFillTx/>
              <a:latin typeface="Arial"/>
            </a:endParaRPr>
          </a:p>
        </p:txBody>
      </p:sp>
      <p:sp>
        <p:nvSpPr>
          <p:cNvPr id="262" name=""/>
          <p:cNvSpPr txBox="1"/>
          <p:nvPr/>
        </p:nvSpPr>
        <p:spPr>
          <a:xfrm>
            <a:off x="990720" y="1752480"/>
            <a:ext cx="7162920" cy="4114800"/>
          </a:xfrm>
          <a:prstGeom prst="rect">
            <a:avLst/>
          </a:prstGeom>
          <a:noFill/>
          <a:ln w="0">
            <a:noFill/>
          </a:ln>
        </p:spPr>
        <p:txBody>
          <a:bodyPr lIns="0" rIns="0" tIns="0" bIns="0" anchor="t">
            <a:spAutoFit/>
          </a:bodyPr>
          <a:p>
            <a:pPr marL="285840" indent="-285840">
              <a:lnSpc>
                <a:spcPct val="90000"/>
              </a:lnSpc>
              <a:spcBef>
                <a:spcPts val="720"/>
              </a:spcBef>
            </a:pPr>
            <a:r>
              <a:rPr b="0" lang="en-IN" sz="2400" strike="noStrike" u="none">
                <a:solidFill>
                  <a:srgbClr val="000000"/>
                </a:solidFill>
                <a:effectLst/>
                <a:uFillTx/>
                <a:latin typeface="Times New Roman"/>
                <a:ea typeface="Times New Roman"/>
              </a:rPr>
              <a:t>Shells have variables (parameters) like other languages</a:t>
            </a:r>
            <a:endParaRPr b="0" lang="en-IN" sz="24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i="1" lang="en-IN" sz="2000" strike="noStrike" u="none">
                <a:solidFill>
                  <a:srgbClr val="000000"/>
                </a:solidFill>
                <a:effectLst/>
                <a:uFillTx/>
                <a:latin typeface="Times New Roman"/>
                <a:ea typeface="Times New Roman"/>
              </a:rPr>
              <a:t>Positional Parameters:    $1, $2, ..., $9</a:t>
            </a:r>
            <a:endParaRPr b="0" lang="en-IN" sz="20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i="1" lang="en-IN" sz="2000" strike="noStrike" u="none">
                <a:solidFill>
                  <a:srgbClr val="000000"/>
                </a:solidFill>
                <a:effectLst/>
                <a:uFillTx/>
                <a:latin typeface="Times New Roman"/>
                <a:ea typeface="Times New Roman"/>
              </a:rPr>
              <a:t>Environment Variables:  $HOME, $PATH, etc.</a:t>
            </a:r>
            <a:endParaRPr b="0" lang="en-IN" sz="2000" strike="noStrike" u="none">
              <a:solidFill>
                <a:srgbClr val="000000"/>
              </a:solidFill>
              <a:effectLst/>
              <a:uFillTx/>
              <a:latin typeface="Arial"/>
            </a:endParaRPr>
          </a:p>
          <a:p>
            <a:pPr marL="285840" indent="-285840">
              <a:lnSpc>
                <a:spcPct val="90000"/>
              </a:lnSpc>
              <a:spcBef>
                <a:spcPts val="720"/>
              </a:spcBef>
            </a:pPr>
            <a:r>
              <a:rPr b="0" lang="en-IN" sz="2400" strike="noStrike" u="none">
                <a:solidFill>
                  <a:srgbClr val="000000"/>
                </a:solidFill>
                <a:effectLst/>
                <a:uFillTx/>
                <a:latin typeface="Times New Roman"/>
                <a:ea typeface="Times New Roman"/>
              </a:rPr>
              <a:t>Variables are assigned with an equals sign</a:t>
            </a:r>
            <a:endParaRPr b="0" lang="en-IN" sz="24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i="1" lang="en-IN" sz="2000" strike="noStrike" u="none">
                <a:solidFill>
                  <a:srgbClr val="000000"/>
                </a:solidFill>
                <a:effectLst/>
                <a:uFillTx/>
                <a:latin typeface="Times New Roman"/>
                <a:ea typeface="Times New Roman"/>
              </a:rPr>
              <a:t>No spaces are allowed before or after the equals sign</a:t>
            </a:r>
            <a:endParaRPr b="0" lang="en-IN" sz="2000" strike="noStrike" u="none">
              <a:solidFill>
                <a:srgbClr val="000000"/>
              </a:solidFill>
              <a:effectLst/>
              <a:uFillTx/>
              <a:latin typeface="Arial"/>
            </a:endParaRPr>
          </a:p>
          <a:p>
            <a:pPr marL="685800" indent="-228600">
              <a:lnSpc>
                <a:spcPct val="90000"/>
              </a:lnSpc>
              <a:spcBef>
                <a:spcPts val="720"/>
              </a:spcBef>
            </a:pPr>
            <a:r>
              <a:rPr b="0" i="1" lang="en-IN" sz="1400" strike="noStrike" u="none">
                <a:solidFill>
                  <a:srgbClr val="000000"/>
                </a:solidFill>
                <a:effectLst/>
                <a:uFillTx/>
                <a:latin typeface="Times New Roman"/>
                <a:ea typeface="Times New Roman"/>
              </a:rPr>
              <a:t>$ PATH=/bin:/usr/bin:/home/class/bin</a:t>
            </a:r>
            <a:endParaRPr b="0" lang="en-IN" sz="1400" strike="noStrike" u="none">
              <a:solidFill>
                <a:srgbClr val="000000"/>
              </a:solidFill>
              <a:effectLst/>
              <a:uFillTx/>
              <a:latin typeface="Arial"/>
            </a:endParaRPr>
          </a:p>
          <a:p>
            <a:pPr marL="285840" indent="-285840">
              <a:lnSpc>
                <a:spcPct val="90000"/>
              </a:lnSpc>
              <a:spcBef>
                <a:spcPts val="720"/>
              </a:spcBef>
            </a:pPr>
            <a:r>
              <a:rPr b="0" lang="en-IN" sz="2400" strike="noStrike" u="none">
                <a:solidFill>
                  <a:srgbClr val="000000"/>
                </a:solidFill>
                <a:effectLst/>
                <a:uFillTx/>
                <a:latin typeface="Times New Roman"/>
                <a:ea typeface="Times New Roman"/>
              </a:rPr>
              <a:t>Variables are referenced by preceding with a dollar sign</a:t>
            </a:r>
            <a:endParaRPr b="0" lang="en-IN" sz="2400" strike="noStrike" u="none">
              <a:solidFill>
                <a:srgbClr val="000000"/>
              </a:solidFill>
              <a:effectLst/>
              <a:uFillTx/>
              <a:latin typeface="Arial"/>
            </a:endParaRPr>
          </a:p>
          <a:p>
            <a:pPr marL="685800" indent="-228600">
              <a:lnSpc>
                <a:spcPct val="90000"/>
              </a:lnSpc>
              <a:spcBef>
                <a:spcPts val="720"/>
              </a:spcBef>
            </a:pPr>
            <a:r>
              <a:rPr b="0" i="1" lang="en-IN" sz="1400" strike="noStrike" u="none">
                <a:solidFill>
                  <a:srgbClr val="000000"/>
                </a:solidFill>
                <a:effectLst/>
                <a:uFillTx/>
                <a:latin typeface="Times New Roman"/>
                <a:ea typeface="Times New Roman"/>
              </a:rPr>
              <a:t>$ PATH=$PATH:/usr/games</a:t>
            </a:r>
            <a:r>
              <a:rPr b="0" i="1" lang="en-IN" sz="1400" strike="noStrike" u="none">
                <a:solidFill>
                  <a:srgbClr val="000000"/>
                </a:solidFill>
                <a:effectLst/>
                <a:uFillTx/>
                <a:latin typeface="Times New Roman"/>
                <a:ea typeface="Times New Roman"/>
              </a:rPr>
              <a:t>	</a:t>
            </a:r>
            <a:r>
              <a:rPr b="0" i="1" lang="en-IN" sz="1400" strike="noStrike" u="none">
                <a:solidFill>
                  <a:srgbClr val="000000"/>
                </a:solidFill>
                <a:effectLst/>
                <a:uFillTx/>
                <a:latin typeface="Times New Roman"/>
                <a:ea typeface="Times New Roman"/>
              </a:rPr>
              <a:t># Add /usr/games to PATH</a:t>
            </a:r>
            <a:endParaRPr b="0" lang="en-IN" sz="1400" strike="noStrike" u="none">
              <a:solidFill>
                <a:srgbClr val="000000"/>
              </a:solidFill>
              <a:effectLst/>
              <a:uFillTx/>
              <a:latin typeface="Arial"/>
            </a:endParaRPr>
          </a:p>
          <a:p>
            <a:pPr marL="685800" indent="-228600">
              <a:lnSpc>
                <a:spcPct val="90000"/>
              </a:lnSpc>
              <a:spcBef>
                <a:spcPts val="720"/>
              </a:spcBef>
            </a:pPr>
            <a:r>
              <a:rPr b="0" i="1" lang="en-IN" sz="1400" strike="noStrike" u="none">
                <a:solidFill>
                  <a:srgbClr val="000000"/>
                </a:solidFill>
                <a:effectLst/>
                <a:uFillTx/>
                <a:latin typeface="Times New Roman"/>
                <a:ea typeface="Times New Roman"/>
              </a:rPr>
              <a:t>$ echo $PATH</a:t>
            </a:r>
            <a:endParaRPr b="0" lang="en-IN" sz="1400" strike="noStrike" u="none">
              <a:solidFill>
                <a:srgbClr val="000000"/>
              </a:solidFill>
              <a:effectLst/>
              <a:uFillTx/>
              <a:latin typeface="Arial"/>
            </a:endParaRPr>
          </a:p>
          <a:p>
            <a:pPr marL="685800" indent="-228600">
              <a:lnSpc>
                <a:spcPct val="90000"/>
              </a:lnSpc>
              <a:spcBef>
                <a:spcPts val="720"/>
              </a:spcBef>
            </a:pPr>
            <a:r>
              <a:rPr b="0" i="1" lang="en-IN" sz="1400" strike="noStrike" u="none">
                <a:solidFill>
                  <a:srgbClr val="000000"/>
                </a:solidFill>
                <a:effectLst/>
                <a:uFillTx/>
                <a:latin typeface="Times New Roman"/>
                <a:ea typeface="Times New Roman"/>
              </a:rPr>
              <a:t>/bin:/usr/bin:/home/class/bin:/usr/games</a:t>
            </a:r>
            <a:endParaRPr b="0" lang="en-IN" sz="1400" strike="noStrike" u="none">
              <a:solidFill>
                <a:srgbClr val="000000"/>
              </a:solidFill>
              <a:effectLst/>
              <a:uFillTx/>
              <a:latin typeface="Arial"/>
            </a:endParaRPr>
          </a:p>
          <a:p>
            <a:pPr marL="285840" indent="-285840">
              <a:lnSpc>
                <a:spcPct val="90000"/>
              </a:lnSpc>
              <a:spcBef>
                <a:spcPts val="720"/>
              </a:spcBef>
            </a:pPr>
            <a:r>
              <a:rPr b="0" lang="en-IN" sz="2400" strike="noStrike" u="none">
                <a:solidFill>
                  <a:srgbClr val="000000"/>
                </a:solidFill>
                <a:effectLst/>
                <a:uFillTx/>
                <a:latin typeface="Times New Roman"/>
                <a:ea typeface="Times New Roman"/>
              </a:rPr>
              <a:t>The set command displays all of the currently set variables</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3" name=""/>
          <p:cNvSpPr txBox="1"/>
          <p:nvPr/>
        </p:nvSpPr>
        <p:spPr>
          <a:xfrm>
            <a:off x="996840" y="685800"/>
            <a:ext cx="715644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Exporting Shell Variables</a:t>
            </a:r>
            <a:endParaRPr b="0" lang="en-IN" sz="3600" strike="noStrike" u="none">
              <a:solidFill>
                <a:srgbClr val="000000"/>
              </a:solidFill>
              <a:effectLst/>
              <a:uFillTx/>
              <a:latin typeface="Arial"/>
            </a:endParaRPr>
          </a:p>
        </p:txBody>
      </p:sp>
      <p:sp>
        <p:nvSpPr>
          <p:cNvPr id="264" name=""/>
          <p:cNvSpPr txBox="1"/>
          <p:nvPr/>
        </p:nvSpPr>
        <p:spPr>
          <a:xfrm>
            <a:off x="990720" y="1981080"/>
            <a:ext cx="7162920" cy="4228920"/>
          </a:xfrm>
          <a:prstGeom prst="rect">
            <a:avLst/>
          </a:prstGeom>
          <a:noFill/>
          <a:ln w="0">
            <a:noFill/>
          </a:ln>
        </p:spPr>
        <p:txBody>
          <a:bodyPr lIns="0" rIns="0" tIns="0" bIns="0" anchor="t">
            <a:spAutoFit/>
          </a:bodyPr>
          <a:p>
            <a:pPr marL="285840" indent="-285840">
              <a:lnSpc>
                <a:spcPct val="90000"/>
              </a:lnSpc>
              <a:spcBef>
                <a:spcPts val="720"/>
              </a:spcBef>
            </a:pPr>
            <a:r>
              <a:rPr b="0" lang="en-IN" sz="2400" strike="noStrike" u="none">
                <a:solidFill>
                  <a:srgbClr val="000000"/>
                </a:solidFill>
                <a:effectLst/>
                <a:uFillTx/>
                <a:latin typeface="Times New Roman"/>
                <a:ea typeface="Times New Roman"/>
              </a:rPr>
              <a:t>Variables are associated with the shell that creates them, not subshells (like shell scripts)</a:t>
            </a:r>
            <a:endParaRPr b="0" lang="en-IN" sz="2400" strike="noStrike" u="none">
              <a:solidFill>
                <a:srgbClr val="000000"/>
              </a:solidFill>
              <a:effectLst/>
              <a:uFillTx/>
              <a:latin typeface="Arial"/>
            </a:endParaRPr>
          </a:p>
          <a:p>
            <a:pPr marL="685800" indent="-228600">
              <a:lnSpc>
                <a:spcPct val="90000"/>
              </a:lnSpc>
              <a:spcBef>
                <a:spcPts val="720"/>
              </a:spcBef>
            </a:pPr>
            <a:r>
              <a:rPr b="0" lang="en-IN" sz="1200" strike="noStrike" u="none">
                <a:solidFill>
                  <a:srgbClr val="000000"/>
                </a:solidFill>
                <a:effectLst/>
                <a:uFillTx/>
                <a:latin typeface="Times New Roman"/>
                <a:ea typeface="Times New Roman"/>
              </a:rPr>
              <a:t>$ </a:t>
            </a:r>
            <a:r>
              <a:rPr b="0" i="1" lang="en-IN" sz="1200" strike="noStrike" u="none">
                <a:solidFill>
                  <a:srgbClr val="000000"/>
                </a:solidFill>
                <a:effectLst/>
                <a:uFillTx/>
                <a:latin typeface="Times New Roman"/>
                <a:ea typeface="Times New Roman"/>
              </a:rPr>
              <a:t>x=Hello</a:t>
            </a:r>
            <a:endParaRPr b="0" lang="en-IN" sz="1200" strike="noStrike" u="none">
              <a:solidFill>
                <a:srgbClr val="000000"/>
              </a:solidFill>
              <a:effectLst/>
              <a:uFillTx/>
              <a:latin typeface="Arial"/>
            </a:endParaRPr>
          </a:p>
          <a:p>
            <a:pPr marL="685800" indent="-228600">
              <a:lnSpc>
                <a:spcPct val="90000"/>
              </a:lnSpc>
              <a:spcBef>
                <a:spcPts val="720"/>
              </a:spcBef>
            </a:pPr>
            <a:r>
              <a:rPr b="0" lang="en-IN" sz="1200" strike="noStrike" u="none">
                <a:solidFill>
                  <a:srgbClr val="000000"/>
                </a:solidFill>
                <a:effectLst/>
                <a:uFillTx/>
                <a:latin typeface="Times New Roman"/>
                <a:ea typeface="Times New Roman"/>
              </a:rPr>
              <a:t>$ </a:t>
            </a:r>
            <a:r>
              <a:rPr b="0" i="1" lang="en-IN" sz="1200" strike="noStrike" u="none">
                <a:solidFill>
                  <a:srgbClr val="000000"/>
                </a:solidFill>
                <a:effectLst/>
                <a:uFillTx/>
                <a:latin typeface="Times New Roman"/>
                <a:ea typeface="Times New Roman"/>
              </a:rPr>
              <a:t>echo $x</a:t>
            </a:r>
            <a:endParaRPr b="0" lang="en-IN" sz="1200" strike="noStrike" u="none">
              <a:solidFill>
                <a:srgbClr val="000000"/>
              </a:solidFill>
              <a:effectLst/>
              <a:uFillTx/>
              <a:latin typeface="Arial"/>
            </a:endParaRPr>
          </a:p>
          <a:p>
            <a:pPr marL="685800" indent="-228600">
              <a:lnSpc>
                <a:spcPct val="90000"/>
              </a:lnSpc>
              <a:spcBef>
                <a:spcPts val="720"/>
              </a:spcBef>
            </a:pPr>
            <a:r>
              <a:rPr b="0" lang="en-IN" sz="1200" strike="noStrike" u="none">
                <a:solidFill>
                  <a:srgbClr val="000000"/>
                </a:solidFill>
                <a:effectLst/>
                <a:uFillTx/>
                <a:latin typeface="Times New Roman"/>
                <a:ea typeface="Times New Roman"/>
              </a:rPr>
              <a:t>Hello</a:t>
            </a:r>
            <a:endParaRPr b="0" lang="en-IN" sz="1200" strike="noStrike" u="none">
              <a:solidFill>
                <a:srgbClr val="000000"/>
              </a:solidFill>
              <a:effectLst/>
              <a:uFillTx/>
              <a:latin typeface="Arial"/>
            </a:endParaRPr>
          </a:p>
          <a:p>
            <a:pPr marL="685800" indent="-228600">
              <a:lnSpc>
                <a:spcPct val="90000"/>
              </a:lnSpc>
              <a:spcBef>
                <a:spcPts val="720"/>
              </a:spcBef>
            </a:pPr>
            <a:r>
              <a:rPr b="0" lang="en-IN" sz="1200" strike="noStrike" u="none">
                <a:solidFill>
                  <a:srgbClr val="000000"/>
                </a:solidFill>
                <a:effectLst/>
                <a:uFillTx/>
                <a:latin typeface="Times New Roman"/>
                <a:ea typeface="Times New Roman"/>
              </a:rPr>
              <a:t>$ </a:t>
            </a:r>
            <a:r>
              <a:rPr b="0" i="1" lang="en-IN" sz="1200" strike="noStrike" u="none">
                <a:solidFill>
                  <a:srgbClr val="000000"/>
                </a:solidFill>
                <a:effectLst/>
                <a:uFillTx/>
                <a:latin typeface="Times New Roman"/>
                <a:ea typeface="Times New Roman"/>
              </a:rPr>
              <a:t>sh</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 Run a new shell</a:t>
            </a:r>
            <a:endParaRPr b="0" lang="en-IN" sz="1200" strike="noStrike" u="none">
              <a:solidFill>
                <a:srgbClr val="000000"/>
              </a:solidFill>
              <a:effectLst/>
              <a:uFillTx/>
              <a:latin typeface="Arial"/>
            </a:endParaRPr>
          </a:p>
          <a:p>
            <a:pPr marL="685800" indent="-228600">
              <a:lnSpc>
                <a:spcPct val="90000"/>
              </a:lnSpc>
              <a:spcBef>
                <a:spcPts val="720"/>
              </a:spcBef>
            </a:pPr>
            <a:r>
              <a:rPr b="0" lang="en-IN" sz="1200" strike="noStrike" u="none">
                <a:solidFill>
                  <a:srgbClr val="000000"/>
                </a:solidFill>
                <a:effectLst/>
                <a:uFillTx/>
                <a:latin typeface="Times New Roman"/>
                <a:ea typeface="Times New Roman"/>
              </a:rPr>
              <a:t>$ </a:t>
            </a:r>
            <a:r>
              <a:rPr b="0" i="1" lang="en-IN" sz="1200" strike="noStrike" u="none">
                <a:solidFill>
                  <a:srgbClr val="000000"/>
                </a:solidFill>
                <a:effectLst/>
                <a:uFillTx/>
                <a:latin typeface="Times New Roman"/>
                <a:ea typeface="Times New Roman"/>
              </a:rPr>
              <a:t>echo $x</a:t>
            </a:r>
            <a:r>
              <a:rPr b="0" i="1"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 Variable x isn’t there!</a:t>
            </a:r>
            <a:endParaRPr b="0" lang="en-IN" sz="1200" strike="noStrike" u="none">
              <a:solidFill>
                <a:srgbClr val="000000"/>
              </a:solidFill>
              <a:effectLst/>
              <a:uFillTx/>
              <a:latin typeface="Arial"/>
            </a:endParaRPr>
          </a:p>
          <a:p>
            <a:pPr marL="685800" indent="-228600">
              <a:lnSpc>
                <a:spcPct val="90000"/>
              </a:lnSpc>
              <a:spcBef>
                <a:spcPts val="720"/>
              </a:spcBef>
            </a:pPr>
            <a:endParaRPr b="0" lang="en-IN" sz="1200" strike="noStrike" u="none">
              <a:solidFill>
                <a:srgbClr val="000000"/>
              </a:solidFill>
              <a:effectLst/>
              <a:uFillTx/>
              <a:latin typeface="Arial"/>
            </a:endParaRPr>
          </a:p>
          <a:p>
            <a:pPr marL="685800" indent="-228600">
              <a:lnSpc>
                <a:spcPct val="90000"/>
              </a:lnSpc>
              <a:spcBef>
                <a:spcPts val="720"/>
              </a:spcBef>
            </a:pPr>
            <a:r>
              <a:rPr b="0" lang="en-IN" sz="1200" strike="noStrike" u="none">
                <a:solidFill>
                  <a:srgbClr val="000000"/>
                </a:solidFill>
                <a:effectLst/>
                <a:uFillTx/>
                <a:latin typeface="Times New Roman"/>
                <a:ea typeface="Times New Roman"/>
              </a:rPr>
              <a:t>$ </a:t>
            </a:r>
            <a:r>
              <a:rPr b="0" i="1" lang="en-IN" sz="1200" strike="noStrike" u="none">
                <a:solidFill>
                  <a:srgbClr val="000000"/>
                </a:solidFill>
                <a:effectLst/>
                <a:uFillTx/>
                <a:latin typeface="Times New Roman"/>
                <a:ea typeface="Times New Roman"/>
              </a:rPr>
              <a:t>exit</a:t>
            </a:r>
            <a:r>
              <a:rPr b="0" i="1" lang="en-IN" sz="1200" strike="noStrike" u="none">
                <a:solidFill>
                  <a:srgbClr val="000000"/>
                </a:solidFill>
                <a:effectLst/>
                <a:uFillTx/>
                <a:latin typeface="Times New Roman"/>
                <a:ea typeface="Times New Roman"/>
              </a:rPr>
              <a:t>	</a:t>
            </a:r>
            <a:r>
              <a:rPr b="0" i="1"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 Leave the subshell</a:t>
            </a:r>
            <a:endParaRPr b="0" lang="en-IN" sz="1200" strike="noStrike" u="none">
              <a:solidFill>
                <a:srgbClr val="000000"/>
              </a:solidFill>
              <a:effectLst/>
              <a:uFillTx/>
              <a:latin typeface="Arial"/>
            </a:endParaRPr>
          </a:p>
          <a:p>
            <a:pPr marL="285840" indent="-285840">
              <a:lnSpc>
                <a:spcPct val="90000"/>
              </a:lnSpc>
              <a:spcBef>
                <a:spcPts val="720"/>
              </a:spcBef>
            </a:pPr>
            <a:r>
              <a:rPr b="0" lang="en-IN" sz="2400" strike="noStrike" u="none">
                <a:solidFill>
                  <a:srgbClr val="000000"/>
                </a:solidFill>
                <a:effectLst/>
                <a:uFillTx/>
                <a:latin typeface="Times New Roman"/>
                <a:ea typeface="Times New Roman"/>
              </a:rPr>
              <a:t>The shell is told to copy variables to subshells with the </a:t>
            </a:r>
            <a:r>
              <a:rPr b="0" i="1" lang="en-IN" sz="2400" strike="noStrike" u="none">
                <a:solidFill>
                  <a:srgbClr val="000000"/>
                </a:solidFill>
                <a:effectLst/>
                <a:uFillTx/>
                <a:latin typeface="Times New Roman"/>
                <a:ea typeface="Times New Roman"/>
              </a:rPr>
              <a:t>export</a:t>
            </a:r>
            <a:r>
              <a:rPr b="0" lang="en-IN" sz="2400" strike="noStrike" u="none">
                <a:solidFill>
                  <a:srgbClr val="000000"/>
                </a:solidFill>
                <a:effectLst/>
                <a:uFillTx/>
                <a:latin typeface="Times New Roman"/>
                <a:ea typeface="Times New Roman"/>
              </a:rPr>
              <a:t> command</a:t>
            </a:r>
            <a:endParaRPr b="0" lang="en-IN" sz="2400" strike="noStrike" u="none">
              <a:solidFill>
                <a:srgbClr val="000000"/>
              </a:solidFill>
              <a:effectLst/>
              <a:uFillTx/>
              <a:latin typeface="Arial"/>
            </a:endParaRPr>
          </a:p>
          <a:p>
            <a:pPr marL="685800" indent="-228600">
              <a:lnSpc>
                <a:spcPct val="90000"/>
              </a:lnSpc>
              <a:spcBef>
                <a:spcPts val="720"/>
              </a:spcBef>
            </a:pPr>
            <a:r>
              <a:rPr b="0" lang="en-IN" sz="1200" strike="noStrike" u="none">
                <a:solidFill>
                  <a:srgbClr val="000000"/>
                </a:solidFill>
                <a:effectLst/>
                <a:uFillTx/>
                <a:latin typeface="Times New Roman"/>
                <a:ea typeface="Times New Roman"/>
              </a:rPr>
              <a:t>$ </a:t>
            </a:r>
            <a:r>
              <a:rPr b="0" i="1" lang="en-IN" sz="1200" strike="noStrike" u="none">
                <a:solidFill>
                  <a:srgbClr val="000000"/>
                </a:solidFill>
                <a:effectLst/>
                <a:uFillTx/>
                <a:latin typeface="Times New Roman"/>
                <a:ea typeface="Times New Roman"/>
              </a:rPr>
              <a:t>export x</a:t>
            </a:r>
            <a:endParaRPr b="0" lang="en-IN" sz="1200" strike="noStrike" u="none">
              <a:solidFill>
                <a:srgbClr val="000000"/>
              </a:solidFill>
              <a:effectLst/>
              <a:uFillTx/>
              <a:latin typeface="Arial"/>
            </a:endParaRPr>
          </a:p>
          <a:p>
            <a:pPr marL="685800" indent="-228600">
              <a:lnSpc>
                <a:spcPct val="90000"/>
              </a:lnSpc>
              <a:spcBef>
                <a:spcPts val="720"/>
              </a:spcBef>
            </a:pPr>
            <a:r>
              <a:rPr b="0" lang="en-IN" sz="1200" strike="noStrike" u="none">
                <a:solidFill>
                  <a:srgbClr val="000000"/>
                </a:solidFill>
                <a:effectLst/>
                <a:uFillTx/>
                <a:latin typeface="Times New Roman"/>
                <a:ea typeface="Times New Roman"/>
              </a:rPr>
              <a:t>$ </a:t>
            </a:r>
            <a:r>
              <a:rPr b="0" i="1" lang="en-IN" sz="1200" strike="noStrike" u="none">
                <a:solidFill>
                  <a:srgbClr val="000000"/>
                </a:solidFill>
                <a:effectLst/>
                <a:uFillTx/>
                <a:latin typeface="Times New Roman"/>
                <a:ea typeface="Times New Roman"/>
              </a:rPr>
              <a:t>sh</a:t>
            </a:r>
            <a:endParaRPr b="0" lang="en-IN" sz="1200" strike="noStrike" u="none">
              <a:solidFill>
                <a:srgbClr val="000000"/>
              </a:solidFill>
              <a:effectLst/>
              <a:uFillTx/>
              <a:latin typeface="Arial"/>
            </a:endParaRPr>
          </a:p>
          <a:p>
            <a:pPr marL="685800" indent="-228600">
              <a:lnSpc>
                <a:spcPct val="90000"/>
              </a:lnSpc>
              <a:spcBef>
                <a:spcPts val="720"/>
              </a:spcBef>
            </a:pPr>
            <a:r>
              <a:rPr b="0" lang="en-IN" sz="1200" strike="noStrike" u="none">
                <a:solidFill>
                  <a:srgbClr val="000000"/>
                </a:solidFill>
                <a:effectLst/>
                <a:uFillTx/>
                <a:latin typeface="Times New Roman"/>
                <a:ea typeface="Times New Roman"/>
              </a:rPr>
              <a:t>$ </a:t>
            </a:r>
            <a:r>
              <a:rPr b="0" i="1" lang="en-IN" sz="1200" strike="noStrike" u="none">
                <a:solidFill>
                  <a:srgbClr val="000000"/>
                </a:solidFill>
                <a:effectLst/>
                <a:uFillTx/>
                <a:latin typeface="Times New Roman"/>
                <a:ea typeface="Times New Roman"/>
              </a:rPr>
              <a:t>echo $x</a:t>
            </a:r>
            <a:endParaRPr b="0" lang="en-IN" sz="1200" strike="noStrike" u="none">
              <a:solidFill>
                <a:srgbClr val="000000"/>
              </a:solidFill>
              <a:effectLst/>
              <a:uFillTx/>
              <a:latin typeface="Arial"/>
            </a:endParaRPr>
          </a:p>
          <a:p>
            <a:pPr marL="685800" indent="-228600">
              <a:lnSpc>
                <a:spcPct val="90000"/>
              </a:lnSpc>
              <a:spcBef>
                <a:spcPts val="720"/>
              </a:spcBef>
            </a:pPr>
            <a:r>
              <a:rPr b="0" lang="en-IN" sz="1200" strike="noStrike" u="none">
                <a:solidFill>
                  <a:srgbClr val="000000"/>
                </a:solidFill>
                <a:effectLst/>
                <a:uFillTx/>
                <a:latin typeface="Times New Roman"/>
                <a:ea typeface="Times New Roman"/>
              </a:rPr>
              <a:t>Hello</a:t>
            </a:r>
            <a:endParaRPr b="0" lang="en-IN" sz="1200" strike="noStrike" u="none">
              <a:solidFill>
                <a:srgbClr val="000000"/>
              </a:solidFill>
              <a:effectLst/>
              <a:uFillTx/>
              <a:latin typeface="Arial"/>
            </a:endParaRPr>
          </a:p>
          <a:p>
            <a:pPr marL="685800" indent="-228600">
              <a:lnSpc>
                <a:spcPct val="90000"/>
              </a:lnSpc>
              <a:spcBef>
                <a:spcPts val="720"/>
              </a:spcBef>
            </a:pPr>
            <a:r>
              <a:rPr b="0" lang="en-IN" sz="1200" strike="noStrike" u="none">
                <a:solidFill>
                  <a:srgbClr val="000000"/>
                </a:solidFill>
                <a:effectLst/>
                <a:uFillTx/>
                <a:latin typeface="Times New Roman"/>
                <a:ea typeface="Times New Roman"/>
              </a:rPr>
              <a:t>$ exit</a:t>
            </a:r>
            <a:endParaRPr b="0" lang="en-IN" sz="1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5" name=""/>
          <p:cNvSpPr txBox="1"/>
          <p:nvPr/>
        </p:nvSpPr>
        <p:spPr>
          <a:xfrm>
            <a:off x="996840" y="685800"/>
            <a:ext cx="7156440" cy="8920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Modifying Shell Variables</a:t>
            </a:r>
            <a:br>
              <a:rPr sz="3600"/>
            </a:br>
            <a:r>
              <a:rPr b="1" lang="en-IN" sz="2400" strike="noStrike" u="none">
                <a:solidFill>
                  <a:srgbClr val="000000"/>
                </a:solidFill>
                <a:effectLst/>
                <a:uFillTx/>
                <a:latin typeface="Times New Roman"/>
                <a:ea typeface="Times New Roman"/>
              </a:rPr>
              <a:t>The . command</a:t>
            </a:r>
            <a:endParaRPr b="0" lang="en-IN" sz="2400" strike="noStrike" u="none">
              <a:solidFill>
                <a:srgbClr val="000000"/>
              </a:solidFill>
              <a:effectLst/>
              <a:uFillTx/>
              <a:latin typeface="Arial"/>
            </a:endParaRPr>
          </a:p>
        </p:txBody>
      </p:sp>
      <p:sp>
        <p:nvSpPr>
          <p:cNvPr id="266" name=""/>
          <p:cNvSpPr txBox="1"/>
          <p:nvPr/>
        </p:nvSpPr>
        <p:spPr>
          <a:xfrm>
            <a:off x="990720" y="1981080"/>
            <a:ext cx="7162920" cy="4374000"/>
          </a:xfrm>
          <a:prstGeom prst="rect">
            <a:avLst/>
          </a:prstGeom>
          <a:noFill/>
          <a:ln w="0">
            <a:noFill/>
          </a:ln>
        </p:spPr>
        <p:txBody>
          <a:bodyPr lIns="0" rIns="0" tIns="0" bIns="0" anchor="t">
            <a:spAutoFit/>
          </a:bodyPr>
          <a:p>
            <a:pPr marL="285840" indent="-285840">
              <a:lnSpc>
                <a:spcPct val="90000"/>
              </a:lnSpc>
              <a:spcBef>
                <a:spcPts val="720"/>
              </a:spcBef>
            </a:pPr>
            <a:r>
              <a:rPr b="0" lang="en-IN" sz="2400" strike="noStrike" u="none">
                <a:solidFill>
                  <a:srgbClr val="000000"/>
                </a:solidFill>
                <a:effectLst/>
                <a:uFillTx/>
                <a:latin typeface="Times New Roman"/>
                <a:ea typeface="Times New Roman"/>
              </a:rPr>
              <a:t>The . (dot) command will run a shell script </a:t>
            </a:r>
            <a:r>
              <a:rPr b="0" i="1" lang="en-IN" sz="2400" strike="noStrike" u="sng">
                <a:solidFill>
                  <a:srgbClr val="000000"/>
                </a:solidFill>
                <a:effectLst/>
                <a:uFillTx/>
                <a:latin typeface="Times New Roman"/>
                <a:ea typeface="Times New Roman"/>
              </a:rPr>
              <a:t>in the current shell</a:t>
            </a:r>
            <a:r>
              <a:rPr b="0" lang="en-IN" sz="2400" strike="noStrike" u="none">
                <a:solidFill>
                  <a:srgbClr val="000000"/>
                </a:solidFill>
                <a:effectLst/>
                <a:uFillTx/>
                <a:latin typeface="Times New Roman"/>
                <a:ea typeface="Times New Roman"/>
              </a:rPr>
              <a:t>, not in a subshell</a:t>
            </a:r>
            <a:endParaRPr b="0" lang="en-IN" sz="24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Commonly used to reexecute the </a:t>
            </a:r>
            <a:r>
              <a:rPr b="0" i="1" lang="en-IN" sz="2000" strike="noStrike" u="none">
                <a:solidFill>
                  <a:srgbClr val="000000"/>
                </a:solidFill>
                <a:effectLst/>
                <a:uFillTx/>
                <a:latin typeface="Times New Roman"/>
                <a:ea typeface="Times New Roman"/>
              </a:rPr>
              <a:t>.profile </a:t>
            </a:r>
            <a:r>
              <a:rPr b="0" lang="en-IN" sz="2000" strike="noStrike" u="none">
                <a:solidFill>
                  <a:srgbClr val="000000"/>
                </a:solidFill>
                <a:effectLst/>
                <a:uFillTx/>
                <a:latin typeface="Times New Roman"/>
                <a:ea typeface="Times New Roman"/>
              </a:rPr>
              <a:t>startup script without logging in again</a:t>
            </a:r>
            <a:endParaRPr b="0" lang="en-IN" sz="2000" strike="noStrike" u="none">
              <a:solidFill>
                <a:srgbClr val="000000"/>
              </a:solidFill>
              <a:effectLst/>
              <a:uFillTx/>
              <a:latin typeface="Arial"/>
            </a:endParaRPr>
          </a:p>
          <a:p>
            <a:pPr marL="685800" indent="-228600">
              <a:lnSpc>
                <a:spcPct val="90000"/>
              </a:lnSpc>
              <a:spcBef>
                <a:spcPts val="720"/>
              </a:spcBef>
            </a:pPr>
            <a:r>
              <a:rPr b="0" lang="en-IN" sz="1200" strike="noStrike" u="none">
                <a:solidFill>
                  <a:srgbClr val="000000"/>
                </a:solidFill>
                <a:effectLst/>
                <a:uFillTx/>
                <a:latin typeface="Times New Roman"/>
                <a:ea typeface="Times New Roman"/>
              </a:rPr>
              <a:t>$ </a:t>
            </a:r>
            <a:r>
              <a:rPr b="0" i="1" lang="en-IN" sz="1200" strike="noStrike" u="none">
                <a:solidFill>
                  <a:srgbClr val="000000"/>
                </a:solidFill>
                <a:effectLst/>
                <a:uFillTx/>
                <a:latin typeface="Times New Roman"/>
                <a:ea typeface="Times New Roman"/>
              </a:rPr>
              <a:t>cat chvar</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 Change the value of variable x</a:t>
            </a:r>
            <a:endParaRPr b="0" lang="en-IN" sz="1200" strike="noStrike" u="none">
              <a:solidFill>
                <a:srgbClr val="000000"/>
              </a:solidFill>
              <a:effectLst/>
              <a:uFillTx/>
              <a:latin typeface="Arial"/>
            </a:endParaRPr>
          </a:p>
          <a:p>
            <a:pPr marL="685800" indent="-228600">
              <a:lnSpc>
                <a:spcPct val="90000"/>
              </a:lnSpc>
              <a:spcBef>
                <a:spcPts val="720"/>
              </a:spcBef>
            </a:pPr>
            <a:r>
              <a:rPr b="0" lang="en-IN" sz="1200" strike="noStrike" u="none">
                <a:solidFill>
                  <a:srgbClr val="000000"/>
                </a:solidFill>
                <a:effectLst/>
                <a:uFillTx/>
                <a:latin typeface="Times New Roman"/>
                <a:ea typeface="Times New Roman"/>
              </a:rPr>
              <a:t>x=$1</a:t>
            </a:r>
            <a:endParaRPr b="0" lang="en-IN" sz="1200" strike="noStrike" u="none">
              <a:solidFill>
                <a:srgbClr val="000000"/>
              </a:solidFill>
              <a:effectLst/>
              <a:uFillTx/>
              <a:latin typeface="Arial"/>
            </a:endParaRPr>
          </a:p>
          <a:p>
            <a:pPr marL="685800" indent="-228600">
              <a:lnSpc>
                <a:spcPct val="90000"/>
              </a:lnSpc>
              <a:spcBef>
                <a:spcPts val="720"/>
              </a:spcBef>
            </a:pPr>
            <a:r>
              <a:rPr b="0" lang="en-IN" sz="1200" strike="noStrike" u="none">
                <a:solidFill>
                  <a:srgbClr val="000000"/>
                </a:solidFill>
                <a:effectLst/>
                <a:uFillTx/>
                <a:latin typeface="Times New Roman"/>
                <a:ea typeface="Times New Roman"/>
              </a:rPr>
              <a:t>echo $x</a:t>
            </a:r>
            <a:endParaRPr b="0" lang="en-IN" sz="1200" strike="noStrike" u="none">
              <a:solidFill>
                <a:srgbClr val="000000"/>
              </a:solidFill>
              <a:effectLst/>
              <a:uFillTx/>
              <a:latin typeface="Arial"/>
            </a:endParaRPr>
          </a:p>
          <a:p>
            <a:pPr marL="685800" indent="-228600">
              <a:lnSpc>
                <a:spcPct val="90000"/>
              </a:lnSpc>
              <a:spcBef>
                <a:spcPts val="720"/>
              </a:spcBef>
            </a:pPr>
            <a:r>
              <a:rPr b="0" lang="en-IN" sz="1200" strike="noStrike" u="none">
                <a:solidFill>
                  <a:srgbClr val="000000"/>
                </a:solidFill>
                <a:effectLst/>
                <a:uFillTx/>
                <a:latin typeface="Times New Roman"/>
                <a:ea typeface="Times New Roman"/>
              </a:rPr>
              <a:t>$ </a:t>
            </a:r>
            <a:r>
              <a:rPr b="0" i="1" lang="en-IN" sz="1200" strike="noStrike" u="none">
                <a:solidFill>
                  <a:srgbClr val="000000"/>
                </a:solidFill>
                <a:effectLst/>
                <a:uFillTx/>
                <a:latin typeface="Times New Roman"/>
                <a:ea typeface="Times New Roman"/>
              </a:rPr>
              <a:t>echo $x</a:t>
            </a:r>
            <a:r>
              <a:rPr b="0" i="1" lang="en-IN" sz="1200" strike="noStrike" u="none">
                <a:solidFill>
                  <a:srgbClr val="000000"/>
                </a:solidFill>
                <a:effectLst/>
                <a:uFillTx/>
                <a:latin typeface="Times New Roman"/>
                <a:ea typeface="Times New Roman"/>
              </a:rPr>
              <a:t>	</a:t>
            </a:r>
            <a:r>
              <a:rPr b="0" i="1"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 What is x now?</a:t>
            </a:r>
            <a:endParaRPr b="0" lang="en-IN" sz="1200" strike="noStrike" u="none">
              <a:solidFill>
                <a:srgbClr val="000000"/>
              </a:solidFill>
              <a:effectLst/>
              <a:uFillTx/>
              <a:latin typeface="Arial"/>
            </a:endParaRPr>
          </a:p>
          <a:p>
            <a:pPr marL="685800" indent="-228600">
              <a:lnSpc>
                <a:spcPct val="90000"/>
              </a:lnSpc>
              <a:spcBef>
                <a:spcPts val="720"/>
              </a:spcBef>
            </a:pPr>
            <a:r>
              <a:rPr b="0" lang="en-IN" sz="1200" strike="noStrike" u="none">
                <a:solidFill>
                  <a:srgbClr val="000000"/>
                </a:solidFill>
                <a:effectLst/>
                <a:uFillTx/>
                <a:latin typeface="Times New Roman"/>
                <a:ea typeface="Times New Roman"/>
              </a:rPr>
              <a:t>Hello</a:t>
            </a:r>
            <a:endParaRPr b="0" lang="en-IN" sz="1200" strike="noStrike" u="none">
              <a:solidFill>
                <a:srgbClr val="000000"/>
              </a:solidFill>
              <a:effectLst/>
              <a:uFillTx/>
              <a:latin typeface="Arial"/>
            </a:endParaRPr>
          </a:p>
          <a:p>
            <a:pPr marL="685800" indent="-228600">
              <a:lnSpc>
                <a:spcPct val="90000"/>
              </a:lnSpc>
              <a:spcBef>
                <a:spcPts val="720"/>
              </a:spcBef>
            </a:pPr>
            <a:r>
              <a:rPr b="0" lang="en-IN" sz="1200" strike="noStrike" u="none">
                <a:solidFill>
                  <a:srgbClr val="000000"/>
                </a:solidFill>
                <a:effectLst/>
                <a:uFillTx/>
                <a:latin typeface="Times New Roman"/>
                <a:ea typeface="Times New Roman"/>
              </a:rPr>
              <a:t>$ </a:t>
            </a:r>
            <a:r>
              <a:rPr b="0" i="1" lang="en-IN" sz="1200" strike="noStrike" u="none">
                <a:solidFill>
                  <a:srgbClr val="000000"/>
                </a:solidFill>
                <a:effectLst/>
                <a:uFillTx/>
                <a:latin typeface="Times New Roman"/>
                <a:ea typeface="Times New Roman"/>
              </a:rPr>
              <a:t>chvar Goodbye</a:t>
            </a:r>
            <a:r>
              <a:rPr b="0" i="1" lang="en-IN" sz="1200" strike="noStrike" u="none">
                <a:solidFill>
                  <a:srgbClr val="000000"/>
                </a:solidFill>
                <a:effectLst/>
                <a:uFillTx/>
                <a:latin typeface="Times New Roman"/>
                <a:ea typeface="Times New Roman"/>
              </a:rPr>
              <a:t>	</a:t>
            </a:r>
            <a:r>
              <a:rPr b="0" i="1"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 Change x to "Goodbye" -- NOT!</a:t>
            </a:r>
            <a:endParaRPr b="0" lang="en-IN" sz="1200" strike="noStrike" u="none">
              <a:solidFill>
                <a:srgbClr val="000000"/>
              </a:solidFill>
              <a:effectLst/>
              <a:uFillTx/>
              <a:latin typeface="Arial"/>
            </a:endParaRPr>
          </a:p>
          <a:p>
            <a:pPr marL="685800" indent="-228600">
              <a:lnSpc>
                <a:spcPct val="90000"/>
              </a:lnSpc>
              <a:spcBef>
                <a:spcPts val="720"/>
              </a:spcBef>
            </a:pPr>
            <a:r>
              <a:rPr b="0" lang="en-IN" sz="1200" strike="noStrike" u="none">
                <a:solidFill>
                  <a:srgbClr val="000000"/>
                </a:solidFill>
                <a:effectLst/>
                <a:uFillTx/>
                <a:latin typeface="Times New Roman"/>
                <a:ea typeface="Times New Roman"/>
              </a:rPr>
              <a:t>Goodbye</a:t>
            </a:r>
            <a:endParaRPr b="0" lang="en-IN" sz="1200" strike="noStrike" u="none">
              <a:solidFill>
                <a:srgbClr val="000000"/>
              </a:solidFill>
              <a:effectLst/>
              <a:uFillTx/>
              <a:latin typeface="Arial"/>
            </a:endParaRPr>
          </a:p>
          <a:p>
            <a:pPr marL="685800" indent="-228600">
              <a:lnSpc>
                <a:spcPct val="90000"/>
              </a:lnSpc>
              <a:spcBef>
                <a:spcPts val="720"/>
              </a:spcBef>
            </a:pPr>
            <a:r>
              <a:rPr b="0" lang="en-IN" sz="1200" strike="noStrike" u="none">
                <a:solidFill>
                  <a:srgbClr val="000000"/>
                </a:solidFill>
                <a:effectLst/>
                <a:uFillTx/>
                <a:latin typeface="Times New Roman"/>
                <a:ea typeface="Times New Roman"/>
              </a:rPr>
              <a:t>$ </a:t>
            </a:r>
            <a:r>
              <a:rPr b="0" i="1" lang="en-IN" sz="1200" strike="noStrike" u="none">
                <a:solidFill>
                  <a:srgbClr val="000000"/>
                </a:solidFill>
                <a:effectLst/>
                <a:uFillTx/>
                <a:latin typeface="Times New Roman"/>
                <a:ea typeface="Times New Roman"/>
              </a:rPr>
              <a:t>echo $x</a:t>
            </a:r>
            <a:r>
              <a:rPr b="0" i="1" lang="en-IN" sz="1200" strike="noStrike" u="none">
                <a:solidFill>
                  <a:srgbClr val="000000"/>
                </a:solidFill>
                <a:effectLst/>
                <a:uFillTx/>
                <a:latin typeface="Times New Roman"/>
                <a:ea typeface="Times New Roman"/>
              </a:rPr>
              <a:t>	</a:t>
            </a:r>
            <a:r>
              <a:rPr b="0" i="1"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 See?  It didn't change in the current shell</a:t>
            </a:r>
            <a:endParaRPr b="0" lang="en-IN" sz="1200" strike="noStrike" u="none">
              <a:solidFill>
                <a:srgbClr val="000000"/>
              </a:solidFill>
              <a:effectLst/>
              <a:uFillTx/>
              <a:latin typeface="Arial"/>
            </a:endParaRPr>
          </a:p>
          <a:p>
            <a:pPr marL="685800" indent="-228600">
              <a:lnSpc>
                <a:spcPct val="90000"/>
              </a:lnSpc>
              <a:spcBef>
                <a:spcPts val="720"/>
              </a:spcBef>
            </a:pPr>
            <a:r>
              <a:rPr b="0" lang="en-IN" sz="1200" strike="noStrike" u="none">
                <a:solidFill>
                  <a:srgbClr val="000000"/>
                </a:solidFill>
                <a:effectLst/>
                <a:uFillTx/>
                <a:latin typeface="Times New Roman"/>
                <a:ea typeface="Times New Roman"/>
              </a:rPr>
              <a:t>Hello</a:t>
            </a:r>
            <a:endParaRPr b="0" lang="en-IN" sz="1200" strike="noStrike" u="none">
              <a:solidFill>
                <a:srgbClr val="000000"/>
              </a:solidFill>
              <a:effectLst/>
              <a:uFillTx/>
              <a:latin typeface="Arial"/>
            </a:endParaRPr>
          </a:p>
          <a:p>
            <a:pPr marL="685800" indent="-228600">
              <a:lnSpc>
                <a:spcPct val="90000"/>
              </a:lnSpc>
              <a:spcBef>
                <a:spcPts val="720"/>
              </a:spcBef>
            </a:pPr>
            <a:r>
              <a:rPr b="0" lang="en-IN" sz="1200" strike="noStrike" u="none">
                <a:solidFill>
                  <a:srgbClr val="000000"/>
                </a:solidFill>
                <a:effectLst/>
                <a:uFillTx/>
                <a:latin typeface="Times New Roman"/>
                <a:ea typeface="Times New Roman"/>
              </a:rPr>
              <a:t>$ </a:t>
            </a:r>
            <a:r>
              <a:rPr b="0" i="1" lang="en-IN" sz="1200" strike="noStrike" u="none">
                <a:solidFill>
                  <a:srgbClr val="000000"/>
                </a:solidFill>
                <a:effectLst/>
                <a:uFillTx/>
                <a:latin typeface="Times New Roman"/>
                <a:ea typeface="Times New Roman"/>
              </a:rPr>
              <a:t>. chvar Goodbye</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 Now execute chvar in the current shell</a:t>
            </a:r>
            <a:endParaRPr b="0" lang="en-IN" sz="1200" strike="noStrike" u="none">
              <a:solidFill>
                <a:srgbClr val="000000"/>
              </a:solidFill>
              <a:effectLst/>
              <a:uFillTx/>
              <a:latin typeface="Arial"/>
            </a:endParaRPr>
          </a:p>
          <a:p>
            <a:pPr marL="685800" indent="-228600">
              <a:lnSpc>
                <a:spcPct val="90000"/>
              </a:lnSpc>
              <a:spcBef>
                <a:spcPts val="720"/>
              </a:spcBef>
            </a:pPr>
            <a:r>
              <a:rPr b="0" lang="en-IN" sz="1200" strike="noStrike" u="none">
                <a:solidFill>
                  <a:srgbClr val="000000"/>
                </a:solidFill>
                <a:effectLst/>
                <a:uFillTx/>
                <a:latin typeface="Times New Roman"/>
                <a:ea typeface="Times New Roman"/>
              </a:rPr>
              <a:t>Goodbye</a:t>
            </a:r>
            <a:endParaRPr b="0" lang="en-IN" sz="1200" strike="noStrike" u="none">
              <a:solidFill>
                <a:srgbClr val="000000"/>
              </a:solidFill>
              <a:effectLst/>
              <a:uFillTx/>
              <a:latin typeface="Arial"/>
            </a:endParaRPr>
          </a:p>
          <a:p>
            <a:pPr marL="685800" indent="-228600">
              <a:lnSpc>
                <a:spcPct val="90000"/>
              </a:lnSpc>
              <a:spcBef>
                <a:spcPts val="720"/>
              </a:spcBef>
            </a:pPr>
            <a:r>
              <a:rPr b="0" lang="en-IN" sz="1200" strike="noStrike" u="none">
                <a:solidFill>
                  <a:srgbClr val="000000"/>
                </a:solidFill>
                <a:effectLst/>
                <a:uFillTx/>
                <a:latin typeface="Times New Roman"/>
                <a:ea typeface="Times New Roman"/>
              </a:rPr>
              <a:t>$ </a:t>
            </a:r>
            <a:r>
              <a:rPr b="0" i="1" lang="en-IN" sz="1200" strike="noStrike" u="none">
                <a:solidFill>
                  <a:srgbClr val="000000"/>
                </a:solidFill>
                <a:effectLst/>
                <a:uFillTx/>
                <a:latin typeface="Times New Roman"/>
                <a:ea typeface="Times New Roman"/>
              </a:rPr>
              <a:t>echo $x</a:t>
            </a:r>
            <a:r>
              <a:rPr b="0" i="1" lang="en-IN" sz="1200" strike="noStrike" u="none">
                <a:solidFill>
                  <a:srgbClr val="000000"/>
                </a:solidFill>
                <a:effectLst/>
                <a:uFillTx/>
                <a:latin typeface="Times New Roman"/>
                <a:ea typeface="Times New Roman"/>
              </a:rPr>
              <a:t>	</a:t>
            </a:r>
            <a:r>
              <a:rPr b="0" i="1"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 And x actually gets changed</a:t>
            </a:r>
            <a:endParaRPr b="0" lang="en-IN" sz="1200" strike="noStrike" u="none">
              <a:solidFill>
                <a:srgbClr val="000000"/>
              </a:solidFill>
              <a:effectLst/>
              <a:uFillTx/>
              <a:latin typeface="Arial"/>
            </a:endParaRPr>
          </a:p>
          <a:p>
            <a:pPr marL="685800" indent="-228600">
              <a:lnSpc>
                <a:spcPct val="90000"/>
              </a:lnSpc>
              <a:spcBef>
                <a:spcPts val="720"/>
              </a:spcBef>
            </a:pPr>
            <a:r>
              <a:rPr b="0" lang="en-IN" sz="1200" strike="noStrike" u="none">
                <a:solidFill>
                  <a:srgbClr val="000000"/>
                </a:solidFill>
                <a:effectLst/>
                <a:uFillTx/>
                <a:latin typeface="Times New Roman"/>
                <a:ea typeface="Times New Roman"/>
              </a:rPr>
              <a:t>Goodbye</a:t>
            </a:r>
            <a:endParaRPr b="0" lang="en-IN" sz="1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7" name=""/>
          <p:cNvSpPr txBox="1"/>
          <p:nvPr/>
        </p:nvSpPr>
        <p:spPr>
          <a:xfrm>
            <a:off x="996840" y="685800"/>
            <a:ext cx="7156440" cy="8920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Here Documents</a:t>
            </a:r>
            <a:br>
              <a:rPr sz="3600"/>
            </a:br>
            <a:r>
              <a:rPr b="1" lang="en-IN" sz="2400" strike="noStrike" u="none">
                <a:solidFill>
                  <a:srgbClr val="000000"/>
                </a:solidFill>
                <a:effectLst/>
                <a:uFillTx/>
                <a:latin typeface="Times New Roman"/>
                <a:ea typeface="Times New Roman"/>
              </a:rPr>
              <a:t>Input from within a Shell script</a:t>
            </a:r>
            <a:endParaRPr b="0" lang="en-IN" sz="2400" strike="noStrike" u="none">
              <a:solidFill>
                <a:srgbClr val="000000"/>
              </a:solidFill>
              <a:effectLst/>
              <a:uFillTx/>
              <a:latin typeface="Arial"/>
            </a:endParaRPr>
          </a:p>
        </p:txBody>
      </p:sp>
      <p:sp>
        <p:nvSpPr>
          <p:cNvPr id="268" name=""/>
          <p:cNvSpPr txBox="1"/>
          <p:nvPr/>
        </p:nvSpPr>
        <p:spPr>
          <a:xfrm>
            <a:off x="990720" y="1981080"/>
            <a:ext cx="7162920" cy="4114800"/>
          </a:xfrm>
          <a:prstGeom prst="rect">
            <a:avLst/>
          </a:prstGeom>
          <a:noFill/>
          <a:ln w="0">
            <a:noFill/>
          </a:ln>
        </p:spPr>
        <p:txBody>
          <a:bodyPr lIns="0" rIns="0" tIns="0" bIns="0" anchor="t">
            <a:spAutoFit/>
          </a:bodyPr>
          <a:p>
            <a:pPr marL="285840" indent="-285840">
              <a:lnSpc>
                <a:spcPct val="90000"/>
              </a:lnSpc>
              <a:spcBef>
                <a:spcPts val="720"/>
              </a:spcBef>
            </a:pPr>
            <a:r>
              <a:rPr b="0" lang="en-IN" sz="2400" strike="noStrike" u="none">
                <a:solidFill>
                  <a:srgbClr val="000000"/>
                </a:solidFill>
                <a:effectLst/>
                <a:uFillTx/>
                <a:latin typeface="Times New Roman"/>
                <a:ea typeface="Times New Roman"/>
              </a:rPr>
              <a:t>A shell script can provide a standard input stream from within the script itself, using the &lt;&lt; metacharacters</a:t>
            </a:r>
            <a:endParaRPr b="0" lang="en-IN" sz="24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A new version of the 411 program makes it self-contained</a:t>
            </a:r>
            <a:endParaRPr b="0" lang="en-IN" sz="2000" strike="noStrike" u="none">
              <a:solidFill>
                <a:srgbClr val="000000"/>
              </a:solidFill>
              <a:effectLst/>
              <a:uFillTx/>
              <a:latin typeface="Arial"/>
            </a:endParaRPr>
          </a:p>
          <a:p>
            <a:pPr marL="685800" indent="-228600">
              <a:lnSpc>
                <a:spcPct val="90000"/>
              </a:lnSpc>
              <a:spcBef>
                <a:spcPts val="720"/>
              </a:spcBef>
            </a:pPr>
            <a:r>
              <a:rPr b="0" lang="en-IN" sz="1200" strike="noStrike" u="none">
                <a:solidFill>
                  <a:srgbClr val="000000"/>
                </a:solidFill>
                <a:effectLst/>
                <a:uFillTx/>
                <a:latin typeface="Times New Roman"/>
                <a:ea typeface="Times New Roman"/>
              </a:rPr>
              <a:t>$ </a:t>
            </a:r>
            <a:r>
              <a:rPr b="0" i="1" lang="en-IN" sz="1200" strike="noStrike" u="none">
                <a:solidFill>
                  <a:srgbClr val="000000"/>
                </a:solidFill>
                <a:effectLst/>
                <a:uFillTx/>
                <a:latin typeface="Times New Roman"/>
                <a:ea typeface="Times New Roman"/>
              </a:rPr>
              <a:t>cat new411</a:t>
            </a:r>
            <a:endParaRPr b="0" lang="en-IN" sz="1200" strike="noStrike" u="none">
              <a:solidFill>
                <a:srgbClr val="000000"/>
              </a:solidFill>
              <a:effectLst/>
              <a:uFillTx/>
              <a:latin typeface="Arial"/>
            </a:endParaRPr>
          </a:p>
          <a:p>
            <a:pPr marL="685800" indent="-228600">
              <a:lnSpc>
                <a:spcPct val="90000"/>
              </a:lnSpc>
              <a:spcBef>
                <a:spcPts val="720"/>
              </a:spcBef>
            </a:pPr>
            <a:r>
              <a:rPr b="0" lang="en-IN" sz="1200" strike="noStrike" u="none">
                <a:solidFill>
                  <a:srgbClr val="000000"/>
                </a:solidFill>
                <a:effectLst/>
                <a:uFillTx/>
                <a:latin typeface="Times New Roman"/>
                <a:ea typeface="Times New Roman"/>
              </a:rPr>
              <a:t>grep -i "$*" &lt;&lt;End</a:t>
            </a:r>
            <a:endParaRPr b="0" lang="en-IN" sz="1200" strike="noStrike" u="none">
              <a:solidFill>
                <a:srgbClr val="000000"/>
              </a:solidFill>
              <a:effectLst/>
              <a:uFillTx/>
              <a:latin typeface="Arial"/>
            </a:endParaRPr>
          </a:p>
          <a:p>
            <a:pPr marL="685800" indent="-228600">
              <a:lnSpc>
                <a:spcPct val="90000"/>
              </a:lnSpc>
              <a:spcBef>
                <a:spcPts val="720"/>
              </a:spcBef>
            </a:pPr>
            <a:r>
              <a:rPr b="0" lang="en-IN" sz="1200" strike="noStrike" u="none">
                <a:solidFill>
                  <a:srgbClr val="000000"/>
                </a:solidFill>
                <a:effectLst/>
                <a:uFillTx/>
                <a:latin typeface="Times New Roman"/>
                <a:ea typeface="Times New Roman"/>
              </a:rPr>
              <a:t>Front Desk   441-4000</a:t>
            </a:r>
            <a:endParaRPr b="0" lang="en-IN" sz="1200" strike="noStrike" u="none">
              <a:solidFill>
                <a:srgbClr val="000000"/>
              </a:solidFill>
              <a:effectLst/>
              <a:uFillTx/>
              <a:latin typeface="Arial"/>
            </a:endParaRPr>
          </a:p>
          <a:p>
            <a:pPr marL="685800" indent="-228600">
              <a:lnSpc>
                <a:spcPct val="90000"/>
              </a:lnSpc>
              <a:spcBef>
                <a:spcPts val="720"/>
              </a:spcBef>
            </a:pPr>
            <a:r>
              <a:rPr b="0" lang="en-IN" sz="1200" strike="noStrike" u="none">
                <a:solidFill>
                  <a:srgbClr val="000000"/>
                </a:solidFill>
                <a:effectLst/>
                <a:uFillTx/>
                <a:latin typeface="Times New Roman"/>
                <a:ea typeface="Times New Roman"/>
              </a:rPr>
              <a:t>Lee Hingle   794-5094</a:t>
            </a:r>
            <a:endParaRPr b="0" lang="en-IN" sz="1200" strike="noStrike" u="none">
              <a:solidFill>
                <a:srgbClr val="000000"/>
              </a:solidFill>
              <a:effectLst/>
              <a:uFillTx/>
              <a:latin typeface="Arial"/>
            </a:endParaRPr>
          </a:p>
          <a:p>
            <a:pPr marL="685800" indent="-228600">
              <a:lnSpc>
                <a:spcPct val="90000"/>
              </a:lnSpc>
              <a:spcBef>
                <a:spcPts val="720"/>
              </a:spcBef>
            </a:pPr>
            <a:r>
              <a:rPr b="0" lang="en-IN" sz="1200" strike="noStrike" u="none">
                <a:solidFill>
                  <a:srgbClr val="000000"/>
                </a:solidFill>
                <a:effectLst/>
                <a:uFillTx/>
                <a:latin typeface="Times New Roman"/>
                <a:ea typeface="Times New Roman"/>
              </a:rPr>
              <a:t>Accounting   794-5540</a:t>
            </a:r>
            <a:endParaRPr b="0" lang="en-IN" sz="1200" strike="noStrike" u="none">
              <a:solidFill>
                <a:srgbClr val="000000"/>
              </a:solidFill>
              <a:effectLst/>
              <a:uFillTx/>
              <a:latin typeface="Arial"/>
            </a:endParaRPr>
          </a:p>
          <a:p>
            <a:pPr marL="685800" indent="-228600">
              <a:lnSpc>
                <a:spcPct val="90000"/>
              </a:lnSpc>
              <a:spcBef>
                <a:spcPts val="720"/>
              </a:spcBef>
            </a:pPr>
            <a:r>
              <a:rPr b="0" lang="en-IN" sz="1200" strike="noStrike" u="none">
                <a:solidFill>
                  <a:srgbClr val="000000"/>
                </a:solidFill>
                <a:effectLst/>
                <a:uFillTx/>
                <a:latin typeface="Times New Roman"/>
                <a:ea typeface="Times New Roman"/>
              </a:rPr>
              <a:t>Lee Brotzman 776-0324</a:t>
            </a:r>
            <a:endParaRPr b="0" lang="en-IN" sz="1200" strike="noStrike" u="none">
              <a:solidFill>
                <a:srgbClr val="000000"/>
              </a:solidFill>
              <a:effectLst/>
              <a:uFillTx/>
              <a:latin typeface="Arial"/>
            </a:endParaRPr>
          </a:p>
          <a:p>
            <a:pPr marL="685800" indent="-228600">
              <a:lnSpc>
                <a:spcPct val="90000"/>
              </a:lnSpc>
              <a:spcBef>
                <a:spcPts val="720"/>
              </a:spcBef>
            </a:pPr>
            <a:r>
              <a:rPr b="0" lang="en-IN" sz="1200" strike="noStrike" u="none">
                <a:solidFill>
                  <a:srgbClr val="000000"/>
                </a:solidFill>
                <a:effectLst/>
                <a:uFillTx/>
                <a:latin typeface="Times New Roman"/>
                <a:ea typeface="Times New Roman"/>
              </a:rPr>
              <a:t>End</a:t>
            </a:r>
            <a:endParaRPr b="0" lang="en-IN" sz="1200" strike="noStrike" u="none">
              <a:solidFill>
                <a:srgbClr val="000000"/>
              </a:solidFill>
              <a:effectLst/>
              <a:uFillTx/>
              <a:latin typeface="Arial"/>
            </a:endParaRPr>
          </a:p>
          <a:p>
            <a:pPr marL="685800" indent="-228600">
              <a:lnSpc>
                <a:spcPct val="90000"/>
              </a:lnSpc>
              <a:spcBef>
                <a:spcPts val="720"/>
              </a:spcBef>
            </a:pPr>
            <a:r>
              <a:rPr b="0" lang="en-IN" sz="1200" strike="noStrike" u="none">
                <a:solidFill>
                  <a:srgbClr val="000000"/>
                </a:solidFill>
                <a:effectLst/>
                <a:uFillTx/>
                <a:latin typeface="Times New Roman"/>
                <a:ea typeface="Times New Roman"/>
              </a:rPr>
              <a:t>$ new</a:t>
            </a:r>
            <a:r>
              <a:rPr b="0" i="1" lang="en-IN" sz="1200" strike="noStrike" u="none">
                <a:solidFill>
                  <a:srgbClr val="000000"/>
                </a:solidFill>
                <a:effectLst/>
                <a:uFillTx/>
                <a:latin typeface="Times New Roman"/>
                <a:ea typeface="Times New Roman"/>
              </a:rPr>
              <a:t>411 lee</a:t>
            </a:r>
            <a:endParaRPr b="0" lang="en-IN" sz="1200" strike="noStrike" u="none">
              <a:solidFill>
                <a:srgbClr val="000000"/>
              </a:solidFill>
              <a:effectLst/>
              <a:uFillTx/>
              <a:latin typeface="Arial"/>
            </a:endParaRPr>
          </a:p>
          <a:p>
            <a:pPr marL="685800" indent="-228600">
              <a:lnSpc>
                <a:spcPct val="90000"/>
              </a:lnSpc>
              <a:spcBef>
                <a:spcPts val="720"/>
              </a:spcBef>
            </a:pPr>
            <a:r>
              <a:rPr b="0" lang="en-IN" sz="1200" strike="noStrike" u="none">
                <a:solidFill>
                  <a:srgbClr val="000000"/>
                </a:solidFill>
                <a:effectLst/>
                <a:uFillTx/>
                <a:latin typeface="Times New Roman"/>
                <a:ea typeface="Times New Roman"/>
              </a:rPr>
              <a:t>Lee Hingle   794-5094</a:t>
            </a:r>
            <a:endParaRPr b="0" lang="en-IN" sz="1200" strike="noStrike" u="none">
              <a:solidFill>
                <a:srgbClr val="000000"/>
              </a:solidFill>
              <a:effectLst/>
              <a:uFillTx/>
              <a:latin typeface="Arial"/>
            </a:endParaRPr>
          </a:p>
          <a:p>
            <a:pPr marL="685800" indent="-228600">
              <a:lnSpc>
                <a:spcPct val="90000"/>
              </a:lnSpc>
              <a:spcBef>
                <a:spcPts val="720"/>
              </a:spcBef>
            </a:pPr>
            <a:r>
              <a:rPr b="0" lang="en-IN" sz="1200" strike="noStrike" u="none">
                <a:solidFill>
                  <a:srgbClr val="000000"/>
                </a:solidFill>
                <a:effectLst/>
                <a:uFillTx/>
                <a:latin typeface="Times New Roman"/>
                <a:ea typeface="Times New Roman"/>
              </a:rPr>
              <a:t>Lee Brotzman 776-0324</a:t>
            </a:r>
            <a:endParaRPr b="0" lang="en-IN" sz="1200" strike="noStrike" u="none">
              <a:solidFill>
                <a:srgbClr val="000000"/>
              </a:solidFill>
              <a:effectLst/>
              <a:uFillTx/>
              <a:latin typeface="Arial"/>
            </a:endParaRPr>
          </a:p>
          <a:p>
            <a:pPr marL="285840" indent="-285840">
              <a:lnSpc>
                <a:spcPct val="90000"/>
              </a:lnSpc>
              <a:spcBef>
                <a:spcPts val="720"/>
              </a:spcBef>
            </a:pPr>
            <a:r>
              <a:rPr b="0" lang="en-IN" sz="2400" strike="noStrike" u="none">
                <a:solidFill>
                  <a:srgbClr val="000000"/>
                </a:solidFill>
                <a:effectLst/>
                <a:uFillTx/>
                <a:latin typeface="Times New Roman"/>
                <a:ea typeface="Times New Roman"/>
              </a:rPr>
              <a:t>The shell substitutes for $, `...`, and \ unless the here document marker is quoted or preceded by a \</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9" name=""/>
          <p:cNvSpPr txBox="1"/>
          <p:nvPr/>
        </p:nvSpPr>
        <p:spPr>
          <a:xfrm>
            <a:off x="996840" y="685800"/>
            <a:ext cx="715644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Looping in Shell Programs</a:t>
            </a:r>
            <a:endParaRPr b="0" lang="en-IN" sz="3600" strike="noStrike" u="none">
              <a:solidFill>
                <a:srgbClr val="000000"/>
              </a:solidFill>
              <a:effectLst/>
              <a:uFillTx/>
              <a:latin typeface="Arial"/>
            </a:endParaRPr>
          </a:p>
        </p:txBody>
      </p:sp>
      <p:sp>
        <p:nvSpPr>
          <p:cNvPr id="270" name=""/>
          <p:cNvSpPr txBox="1"/>
          <p:nvPr/>
        </p:nvSpPr>
        <p:spPr>
          <a:xfrm>
            <a:off x="990720" y="1981080"/>
            <a:ext cx="7162920" cy="4114800"/>
          </a:xfrm>
          <a:prstGeom prst="rect">
            <a:avLst/>
          </a:prstGeom>
          <a:noFill/>
          <a:ln w="0">
            <a:noFill/>
          </a:ln>
        </p:spPr>
        <p:txBody>
          <a:bodyPr lIns="0" rIns="0" tIns="0" bIns="0" anchor="t">
            <a:spAutoFit/>
          </a:bodyPr>
          <a:p>
            <a:pPr marL="285840" indent="-285840">
              <a:lnSpc>
                <a:spcPct val="90000"/>
              </a:lnSpc>
              <a:spcBef>
                <a:spcPts val="720"/>
              </a:spcBef>
            </a:pPr>
            <a:r>
              <a:rPr b="0" lang="en-IN" sz="2400" strike="noStrike" u="none">
                <a:solidFill>
                  <a:srgbClr val="000000"/>
                </a:solidFill>
                <a:effectLst/>
                <a:uFillTx/>
                <a:latin typeface="Times New Roman"/>
                <a:ea typeface="Times New Roman"/>
              </a:rPr>
              <a:t>The </a:t>
            </a:r>
            <a:r>
              <a:rPr b="0" i="1" lang="en-IN" sz="2400" strike="noStrike" u="none">
                <a:solidFill>
                  <a:srgbClr val="000000"/>
                </a:solidFill>
                <a:effectLst/>
                <a:uFillTx/>
                <a:latin typeface="Times New Roman"/>
                <a:ea typeface="Times New Roman"/>
              </a:rPr>
              <a:t>for</a:t>
            </a:r>
            <a:r>
              <a:rPr b="0" lang="en-IN" sz="2400" strike="noStrike" u="none">
                <a:solidFill>
                  <a:srgbClr val="000000"/>
                </a:solidFill>
                <a:effectLst/>
                <a:uFillTx/>
                <a:latin typeface="Times New Roman"/>
                <a:ea typeface="Times New Roman"/>
              </a:rPr>
              <a:t> loop is provided for looping over the items in a list, such as filenames:</a:t>
            </a:r>
            <a:endParaRPr b="0" lang="en-IN" sz="24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A simple example, echo all filenames one per line</a:t>
            </a: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 </a:t>
            </a:r>
            <a:r>
              <a:rPr b="0" i="1" lang="en-IN" sz="2000" strike="noStrike" u="none">
                <a:solidFill>
                  <a:srgbClr val="000000"/>
                </a:solidFill>
                <a:effectLst/>
                <a:uFillTx/>
                <a:latin typeface="Times New Roman"/>
                <a:ea typeface="Times New Roman"/>
              </a:rPr>
              <a:t>for i in *</a:t>
            </a: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&gt; </a:t>
            </a:r>
            <a:r>
              <a:rPr b="0" i="1" lang="en-IN" sz="2000" strike="noStrike" u="none">
                <a:solidFill>
                  <a:srgbClr val="000000"/>
                </a:solidFill>
                <a:effectLst/>
                <a:uFillTx/>
                <a:latin typeface="Times New Roman"/>
                <a:ea typeface="Times New Roman"/>
              </a:rPr>
              <a:t>do</a:t>
            </a: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&gt; </a:t>
            </a:r>
            <a:r>
              <a:rPr b="0" lang="en-IN" sz="2000" strike="noStrike" u="none">
                <a:solidFill>
                  <a:srgbClr val="000000"/>
                </a:solidFill>
                <a:effectLst/>
                <a:uFillTx/>
                <a:latin typeface="Times New Roman"/>
                <a:ea typeface="Times New Roman"/>
              </a:rPr>
              <a:t>	</a:t>
            </a:r>
            <a:r>
              <a:rPr b="0" lang="en-IN" sz="2000" strike="noStrike" u="none">
                <a:solidFill>
                  <a:srgbClr val="000000"/>
                </a:solidFill>
                <a:effectLst/>
                <a:uFillTx/>
                <a:latin typeface="Times New Roman"/>
                <a:ea typeface="Times New Roman"/>
              </a:rPr>
              <a:t>  </a:t>
            </a:r>
            <a:r>
              <a:rPr b="0" i="1" lang="en-IN" sz="2000" strike="noStrike" u="none">
                <a:solidFill>
                  <a:srgbClr val="000000"/>
                </a:solidFill>
                <a:effectLst/>
                <a:uFillTx/>
                <a:latin typeface="Times New Roman"/>
                <a:ea typeface="Times New Roman"/>
              </a:rPr>
              <a:t>echo $i</a:t>
            </a: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&gt; </a:t>
            </a:r>
            <a:r>
              <a:rPr b="0" i="1" lang="en-IN" sz="2000" strike="noStrike" u="none">
                <a:solidFill>
                  <a:srgbClr val="000000"/>
                </a:solidFill>
                <a:effectLst/>
                <a:uFillTx/>
                <a:latin typeface="Times New Roman"/>
                <a:ea typeface="Times New Roman"/>
              </a:rPr>
              <a:t>done</a:t>
            </a:r>
            <a:endParaRPr b="0" lang="en-IN" sz="20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This multi-line format can be condensed to one line</a:t>
            </a: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 </a:t>
            </a:r>
            <a:r>
              <a:rPr b="0" i="1" lang="en-IN" sz="2000" strike="noStrike" u="none">
                <a:solidFill>
                  <a:srgbClr val="000000"/>
                </a:solidFill>
                <a:effectLst/>
                <a:uFillTx/>
                <a:latin typeface="Times New Roman"/>
                <a:ea typeface="Times New Roman"/>
              </a:rPr>
              <a:t>for i in *; do echo $i; done</a:t>
            </a:r>
            <a:endParaRPr b="0" lang="en-IN" sz="20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The i can be any variable name.  </a:t>
            </a:r>
            <a:endParaRPr b="0" lang="en-IN" sz="20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Note that </a:t>
            </a:r>
            <a:r>
              <a:rPr b="0" i="1" lang="en-IN" sz="2000" strike="noStrike" u="none">
                <a:solidFill>
                  <a:srgbClr val="000000"/>
                </a:solidFill>
                <a:effectLst/>
                <a:uFillTx/>
                <a:latin typeface="Times New Roman"/>
                <a:ea typeface="Times New Roman"/>
              </a:rPr>
              <a:t>for</a:t>
            </a:r>
            <a:r>
              <a:rPr b="0" lang="en-IN" sz="2000" strike="noStrike" u="none">
                <a:solidFill>
                  <a:srgbClr val="000000"/>
                </a:solidFill>
                <a:effectLst/>
                <a:uFillTx/>
                <a:latin typeface="Times New Roman"/>
                <a:ea typeface="Times New Roman"/>
              </a:rPr>
              <a:t> refers to a bare variable name, </a:t>
            </a:r>
            <a:r>
              <a:rPr b="0" i="1" lang="en-IN" sz="2000" strike="noStrike" u="none">
                <a:solidFill>
                  <a:srgbClr val="000000"/>
                </a:solidFill>
                <a:effectLst/>
                <a:uFillTx/>
                <a:latin typeface="Times New Roman"/>
                <a:ea typeface="Times New Roman"/>
              </a:rPr>
              <a:t>i</a:t>
            </a:r>
            <a:r>
              <a:rPr b="0" lang="en-IN" sz="2000" strike="noStrike" u="none">
                <a:solidFill>
                  <a:srgbClr val="000000"/>
                </a:solidFill>
                <a:effectLst/>
                <a:uFillTx/>
                <a:latin typeface="Times New Roman"/>
                <a:ea typeface="Times New Roman"/>
              </a:rPr>
              <a:t>, while inside the loop, the variable is referred to as </a:t>
            </a:r>
            <a:r>
              <a:rPr b="0" i="1" lang="en-IN" sz="2000" strike="noStrike" u="none">
                <a:solidFill>
                  <a:srgbClr val="000000"/>
                </a:solidFill>
                <a:effectLst/>
                <a:uFillTx/>
                <a:latin typeface="Times New Roman"/>
                <a:ea typeface="Times New Roman"/>
              </a:rPr>
              <a:t>$i</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1" name=""/>
          <p:cNvSpPr txBox="1"/>
          <p:nvPr/>
        </p:nvSpPr>
        <p:spPr>
          <a:xfrm>
            <a:off x="996840" y="685800"/>
            <a:ext cx="7156440" cy="8920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Looping in Shell Programs</a:t>
            </a:r>
            <a:br>
              <a:rPr sz="3600"/>
            </a:br>
            <a:r>
              <a:rPr b="1" lang="en-IN" sz="2400" strike="noStrike" u="none">
                <a:solidFill>
                  <a:srgbClr val="000000"/>
                </a:solidFill>
                <a:effectLst/>
                <a:uFillTx/>
                <a:latin typeface="Times New Roman"/>
                <a:ea typeface="Times New Roman"/>
              </a:rPr>
              <a:t>(continued)</a:t>
            </a:r>
            <a:endParaRPr b="0" lang="en-IN" sz="2400" strike="noStrike" u="none">
              <a:solidFill>
                <a:srgbClr val="000000"/>
              </a:solidFill>
              <a:effectLst/>
              <a:uFillTx/>
              <a:latin typeface="Arial"/>
            </a:endParaRPr>
          </a:p>
        </p:txBody>
      </p:sp>
      <p:sp>
        <p:nvSpPr>
          <p:cNvPr id="272" name=""/>
          <p:cNvSpPr txBox="1"/>
          <p:nvPr/>
        </p:nvSpPr>
        <p:spPr>
          <a:xfrm>
            <a:off x="1066680" y="1523880"/>
            <a:ext cx="7162920" cy="5029200"/>
          </a:xfrm>
          <a:prstGeom prst="rect">
            <a:avLst/>
          </a:prstGeom>
          <a:noFill/>
          <a:ln w="0">
            <a:noFill/>
          </a:ln>
        </p:spPr>
        <p:txBody>
          <a:bodyPr lIns="0" rIns="0" tIns="0" bIns="0" anchor="t">
            <a:spAutoFit/>
          </a:bodyPr>
          <a:p>
            <a:pPr marL="285840" indent="-285840">
              <a:lnSpc>
                <a:spcPct val="90000"/>
              </a:lnSpc>
              <a:spcBef>
                <a:spcPts val="720"/>
              </a:spcBef>
            </a:pPr>
            <a:r>
              <a:rPr b="0" lang="en-IN" sz="2400" strike="noStrike" u="none">
                <a:solidFill>
                  <a:srgbClr val="000000"/>
                </a:solidFill>
                <a:effectLst/>
                <a:uFillTx/>
                <a:latin typeface="Times New Roman"/>
                <a:ea typeface="Times New Roman"/>
              </a:rPr>
              <a:t>When writing scripts, be aware of commands that already loop over a list of files</a:t>
            </a:r>
            <a:endParaRPr b="0" lang="en-IN" sz="24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BAD</a:t>
            </a:r>
            <a:r>
              <a:rPr b="0" lang="en-IN" sz="20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for i in $*</a:t>
            </a:r>
            <a:endParaRPr b="0" lang="en-IN" sz="1400" strike="noStrike" u="none">
              <a:solidFill>
                <a:srgbClr val="000000"/>
              </a:solidFill>
              <a:effectLst/>
              <a:uFillTx/>
              <a:latin typeface="Arial"/>
            </a:endParaRPr>
          </a:p>
          <a:p>
            <a:pPr marL="1143000" indent="-228600">
              <a:lnSpc>
                <a:spcPct val="90000"/>
              </a:lnSpc>
              <a:spcBef>
                <a:spcPts val="720"/>
              </a:spcBef>
            </a:pP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do</a:t>
            </a:r>
            <a:endParaRPr b="0" lang="en-IN" sz="1400" strike="noStrike" u="none">
              <a:solidFill>
                <a:srgbClr val="000000"/>
              </a:solidFill>
              <a:effectLst/>
              <a:uFillTx/>
              <a:latin typeface="Arial"/>
            </a:endParaRPr>
          </a:p>
          <a:p>
            <a:pPr marL="1143000" indent="-228600">
              <a:lnSpc>
                <a:spcPct val="90000"/>
              </a:lnSpc>
              <a:spcBef>
                <a:spcPts val="720"/>
              </a:spcBef>
            </a:pP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chmod +x $i</a:t>
            </a:r>
            <a:endParaRPr b="0" lang="en-IN" sz="1400" strike="noStrike" u="none">
              <a:solidFill>
                <a:srgbClr val="000000"/>
              </a:solidFill>
              <a:effectLst/>
              <a:uFillTx/>
              <a:latin typeface="Arial"/>
            </a:endParaRPr>
          </a:p>
          <a:p>
            <a:pPr marL="1143000" indent="-228600">
              <a:lnSpc>
                <a:spcPct val="90000"/>
              </a:lnSpc>
              <a:spcBef>
                <a:spcPts val="720"/>
              </a:spcBef>
            </a:pP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done</a:t>
            </a:r>
            <a:endParaRPr b="0" lang="en-IN" sz="14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GOOD</a:t>
            </a:r>
            <a:r>
              <a:rPr b="0" lang="en-IN" sz="12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chmod +x $*</a:t>
            </a:r>
            <a:endParaRPr b="0" lang="en-IN" sz="1400" strike="noStrike" u="none">
              <a:solidFill>
                <a:srgbClr val="000000"/>
              </a:solidFill>
              <a:effectLst/>
              <a:uFillTx/>
              <a:latin typeface="Arial"/>
            </a:endParaRPr>
          </a:p>
          <a:p>
            <a:pPr marL="285840" indent="-285840">
              <a:lnSpc>
                <a:spcPct val="90000"/>
              </a:lnSpc>
              <a:spcBef>
                <a:spcPts val="720"/>
              </a:spcBef>
            </a:pPr>
            <a:r>
              <a:rPr b="0" lang="en-IN" sz="2400" strike="noStrike" u="none">
                <a:solidFill>
                  <a:srgbClr val="000000"/>
                </a:solidFill>
                <a:effectLst/>
                <a:uFillTx/>
                <a:latin typeface="Times New Roman"/>
                <a:ea typeface="Times New Roman"/>
              </a:rPr>
              <a:t>Know the difference between</a:t>
            </a:r>
            <a:endParaRPr b="0" lang="en-IN" sz="24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for i in *</a:t>
            </a:r>
            <a:r>
              <a:rPr b="0" lang="en-IN" sz="2000" strike="noStrike" u="none">
                <a:solidFill>
                  <a:srgbClr val="000000"/>
                </a:solidFill>
                <a:effectLst/>
                <a:uFillTx/>
                <a:latin typeface="Times New Roman"/>
                <a:ea typeface="Times New Roman"/>
              </a:rPr>
              <a:t>	</a:t>
            </a:r>
            <a:r>
              <a:rPr b="0" lang="en-IN" sz="2000" strike="noStrike" u="none">
                <a:solidFill>
                  <a:srgbClr val="000000"/>
                </a:solidFill>
                <a:effectLst/>
                <a:uFillTx/>
                <a:latin typeface="Times New Roman"/>
                <a:ea typeface="Times New Roman"/>
              </a:rPr>
              <a:t>   and       for i in $*</a:t>
            </a:r>
            <a:endParaRPr b="0" lang="en-IN" sz="2000" strike="noStrike" u="none">
              <a:solidFill>
                <a:srgbClr val="000000"/>
              </a:solidFill>
              <a:effectLst/>
              <a:uFillTx/>
              <a:latin typeface="Arial"/>
            </a:endParaRPr>
          </a:p>
          <a:p>
            <a:pPr marL="285840" indent="-285840">
              <a:lnSpc>
                <a:spcPct val="90000"/>
              </a:lnSpc>
              <a:spcBef>
                <a:spcPts val="720"/>
              </a:spcBef>
            </a:pPr>
            <a:r>
              <a:rPr b="0" lang="en-IN" sz="2400" strike="noStrike" u="none">
                <a:solidFill>
                  <a:srgbClr val="000000"/>
                </a:solidFill>
                <a:effectLst/>
                <a:uFillTx/>
                <a:latin typeface="Times New Roman"/>
                <a:ea typeface="Times New Roman"/>
              </a:rPr>
              <a:t>The list can come from anywhere, not just file wildcards</a:t>
            </a:r>
            <a:endParaRPr b="0" lang="en-IN" sz="2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for i in `cat users`</a:t>
            </a:r>
            <a:endParaRPr b="0" lang="en-IN" sz="1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do</a:t>
            </a:r>
            <a:endParaRPr b="0" lang="en-IN" sz="1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finger $i</a:t>
            </a:r>
            <a:endParaRPr b="0" lang="en-IN" sz="1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echo ------------------------</a:t>
            </a:r>
            <a:endParaRPr b="0" lang="en-IN" sz="1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done &gt;user-report</a:t>
            </a:r>
            <a:endParaRPr b="0" lang="en-IN"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3" name=""/>
          <p:cNvSpPr txBox="1"/>
          <p:nvPr/>
        </p:nvSpPr>
        <p:spPr>
          <a:xfrm>
            <a:off x="996840" y="685800"/>
            <a:ext cx="715644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Putting it all together</a:t>
            </a:r>
            <a:endParaRPr b="0" lang="en-IN" sz="3600" strike="noStrike" u="none">
              <a:solidFill>
                <a:srgbClr val="000000"/>
              </a:solidFill>
              <a:effectLst/>
              <a:uFillTx/>
              <a:latin typeface="Arial"/>
            </a:endParaRPr>
          </a:p>
        </p:txBody>
      </p:sp>
      <p:sp>
        <p:nvSpPr>
          <p:cNvPr id="274" name=""/>
          <p:cNvSpPr txBox="1"/>
          <p:nvPr/>
        </p:nvSpPr>
        <p:spPr>
          <a:xfrm>
            <a:off x="990720" y="1676520"/>
            <a:ext cx="7162920" cy="4361760"/>
          </a:xfrm>
          <a:prstGeom prst="rect">
            <a:avLst/>
          </a:prstGeom>
          <a:noFill/>
          <a:ln w="0">
            <a:noFill/>
          </a:ln>
        </p:spPr>
        <p:txBody>
          <a:bodyPr lIns="0" rIns="0" tIns="0" bIns="0" anchor="t">
            <a:spAutoFit/>
          </a:bodyPr>
          <a:p>
            <a:pPr marL="285840" indent="-285840">
              <a:lnSpc>
                <a:spcPct val="90000"/>
              </a:lnSpc>
              <a:spcBef>
                <a:spcPts val="720"/>
              </a:spcBef>
            </a:pPr>
            <a:r>
              <a:rPr b="0" lang="en-IN" sz="2400" strike="noStrike" u="none">
                <a:solidFill>
                  <a:srgbClr val="000000"/>
                </a:solidFill>
                <a:effectLst/>
                <a:uFillTx/>
                <a:latin typeface="Times New Roman"/>
                <a:ea typeface="Times New Roman"/>
              </a:rPr>
              <a:t>Script </a:t>
            </a:r>
            <a:r>
              <a:rPr b="0" i="1" lang="en-IN" sz="2400" strike="noStrike" u="none">
                <a:solidFill>
                  <a:srgbClr val="000000"/>
                </a:solidFill>
                <a:effectLst/>
                <a:uFillTx/>
                <a:latin typeface="Times New Roman"/>
                <a:ea typeface="Times New Roman"/>
              </a:rPr>
              <a:t>bundle</a:t>
            </a:r>
            <a:r>
              <a:rPr b="0" lang="en-IN" sz="2400" strike="noStrike" u="none">
                <a:solidFill>
                  <a:srgbClr val="000000"/>
                </a:solidFill>
                <a:effectLst/>
                <a:uFillTx/>
                <a:latin typeface="Times New Roman"/>
                <a:ea typeface="Times New Roman"/>
              </a:rPr>
              <a:t> concatenates files in a way that the shell can later extract them, for sending files through the mail, for instance</a:t>
            </a:r>
            <a:endParaRPr b="0" lang="en-IN" sz="2400" strike="noStrike" u="none">
              <a:solidFill>
                <a:srgbClr val="000000"/>
              </a:solidFill>
              <a:effectLst/>
              <a:uFillTx/>
              <a:latin typeface="Arial"/>
            </a:endParaRPr>
          </a:p>
          <a:p>
            <a:pPr marL="685800" indent="-228600">
              <a:lnSpc>
                <a:spcPct val="90000"/>
              </a:lnSpc>
              <a:spcBef>
                <a:spcPts val="720"/>
              </a:spcBef>
            </a:pP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 bundle:  group files into a distribution package</a:t>
            </a: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echo '# To unbundle, sh this file'</a:t>
            </a: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for i in $*</a:t>
            </a: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do</a:t>
            </a: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   echo "echo $i 1&gt;&amp;2"</a:t>
            </a: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   echo "cat &gt;$i &lt;&lt;'End of $i'"</a:t>
            </a: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   cat $i</a:t>
            </a: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   echo "End if $i"</a:t>
            </a: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done</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5" name=""/>
          <p:cNvSpPr txBox="1"/>
          <p:nvPr/>
        </p:nvSpPr>
        <p:spPr>
          <a:xfrm>
            <a:off x="996840" y="685800"/>
            <a:ext cx="715644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Filters</a:t>
            </a:r>
            <a:endParaRPr b="0" lang="en-IN" sz="3600" strike="noStrike" u="none">
              <a:solidFill>
                <a:srgbClr val="000000"/>
              </a:solidFill>
              <a:effectLst/>
              <a:uFillTx/>
              <a:latin typeface="Arial"/>
            </a:endParaRPr>
          </a:p>
        </p:txBody>
      </p:sp>
      <p:sp>
        <p:nvSpPr>
          <p:cNvPr id="276" name=""/>
          <p:cNvSpPr txBox="1"/>
          <p:nvPr/>
        </p:nvSpPr>
        <p:spPr>
          <a:xfrm>
            <a:off x="990720" y="1143000"/>
            <a:ext cx="7162920" cy="5105520"/>
          </a:xfrm>
          <a:prstGeom prst="rect">
            <a:avLst/>
          </a:prstGeom>
          <a:noFill/>
          <a:ln w="0">
            <a:noFill/>
          </a:ln>
        </p:spPr>
        <p:txBody>
          <a:bodyPr lIns="0" rIns="0" tIns="0" bIns="0" anchor="t">
            <a:spAutoFit/>
          </a:bodyPr>
          <a:p>
            <a:pPr marL="285840" indent="-285840">
              <a:lnSpc>
                <a:spcPct val="90000"/>
              </a:lnSpc>
              <a:spcBef>
                <a:spcPts val="720"/>
              </a:spcBef>
            </a:pPr>
            <a:r>
              <a:rPr b="0" lang="en-IN" sz="2400" strike="noStrike" u="none">
                <a:solidFill>
                  <a:srgbClr val="000000"/>
                </a:solidFill>
                <a:effectLst/>
                <a:uFillTx/>
                <a:latin typeface="Times New Roman"/>
                <a:ea typeface="Times New Roman"/>
              </a:rPr>
              <a:t>Filters are programs that accept data on standard input, process it, and write the modified data to standard output.</a:t>
            </a:r>
            <a:endParaRPr b="0" lang="en-IN" sz="24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How many unique lines are in all of my data files?</a:t>
            </a: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 cat *.dat | sort | uniq | wc -l</a:t>
            </a:r>
            <a:endParaRPr b="0" lang="en-IN" sz="2000" strike="noStrike" u="none">
              <a:solidFill>
                <a:srgbClr val="000000"/>
              </a:solidFill>
              <a:effectLst/>
              <a:uFillTx/>
              <a:latin typeface="Arial"/>
            </a:endParaRPr>
          </a:p>
          <a:p>
            <a:pPr marL="285840" indent="-285840">
              <a:lnSpc>
                <a:spcPct val="90000"/>
              </a:lnSpc>
              <a:spcBef>
                <a:spcPts val="720"/>
              </a:spcBef>
            </a:pPr>
            <a:r>
              <a:rPr b="0" i="1" lang="en-IN" sz="2400" strike="noStrike" u="none">
                <a:solidFill>
                  <a:srgbClr val="000000"/>
                </a:solidFill>
                <a:effectLst/>
                <a:uFillTx/>
                <a:latin typeface="Times New Roman"/>
                <a:ea typeface="Times New Roman"/>
              </a:rPr>
              <a:t>grep</a:t>
            </a:r>
            <a:r>
              <a:rPr b="0" lang="en-IN" sz="2400" strike="noStrike" u="none">
                <a:solidFill>
                  <a:srgbClr val="000000"/>
                </a:solidFill>
                <a:effectLst/>
                <a:uFillTx/>
                <a:latin typeface="Times New Roman"/>
                <a:ea typeface="Times New Roman"/>
              </a:rPr>
              <a:t> is one of the most often used filters </a:t>
            </a:r>
            <a:endParaRPr b="0" lang="en-IN" sz="24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Uses “regular expressions” as patterns for matching text</a:t>
            </a:r>
            <a:endParaRPr b="0" lang="en-IN" sz="20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Has many options for altering the kind of output generated</a:t>
            </a:r>
            <a:endParaRPr b="0" lang="en-IN" sz="2000" strike="noStrike" u="none">
              <a:solidFill>
                <a:srgbClr val="000000"/>
              </a:solidFill>
              <a:effectLst/>
              <a:uFillTx/>
              <a:latin typeface="Arial"/>
            </a:endParaRPr>
          </a:p>
          <a:p>
            <a:pPr marL="285840" indent="-285840">
              <a:lnSpc>
                <a:spcPct val="90000"/>
              </a:lnSpc>
              <a:spcBef>
                <a:spcPts val="720"/>
              </a:spcBef>
            </a:pPr>
            <a:r>
              <a:rPr b="0" i="1" lang="en-IN" sz="2400" strike="noStrike" u="none">
                <a:solidFill>
                  <a:srgbClr val="000000"/>
                </a:solidFill>
                <a:effectLst/>
                <a:uFillTx/>
                <a:latin typeface="Times New Roman"/>
                <a:ea typeface="Times New Roman"/>
              </a:rPr>
              <a:t>sed</a:t>
            </a:r>
            <a:r>
              <a:rPr b="0" lang="en-IN" sz="2400" strike="noStrike" u="none">
                <a:solidFill>
                  <a:srgbClr val="000000"/>
                </a:solidFill>
                <a:effectLst/>
                <a:uFillTx/>
                <a:latin typeface="Times New Roman"/>
                <a:ea typeface="Times New Roman"/>
              </a:rPr>
              <a:t> and </a:t>
            </a:r>
            <a:r>
              <a:rPr b="0" i="1" lang="en-IN" sz="2400" strike="noStrike" u="none">
                <a:solidFill>
                  <a:srgbClr val="000000"/>
                </a:solidFill>
                <a:effectLst/>
                <a:uFillTx/>
                <a:latin typeface="Times New Roman"/>
                <a:ea typeface="Times New Roman"/>
              </a:rPr>
              <a:t>awk</a:t>
            </a:r>
            <a:r>
              <a:rPr b="0" lang="en-IN" sz="2400" strike="noStrike" u="none">
                <a:solidFill>
                  <a:srgbClr val="000000"/>
                </a:solidFill>
                <a:effectLst/>
                <a:uFillTx/>
                <a:latin typeface="Times New Roman"/>
                <a:ea typeface="Times New Roman"/>
              </a:rPr>
              <a:t> are general purpose programmable filters</a:t>
            </a:r>
            <a:endParaRPr b="0" lang="en-IN" sz="24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i="1" lang="en-IN" sz="2000" strike="noStrike" u="none">
                <a:solidFill>
                  <a:srgbClr val="000000"/>
                </a:solidFill>
                <a:effectLst/>
                <a:uFillTx/>
                <a:latin typeface="Times New Roman"/>
                <a:ea typeface="Times New Roman"/>
              </a:rPr>
              <a:t>sed</a:t>
            </a:r>
            <a:r>
              <a:rPr b="0" lang="en-IN" sz="2000" strike="noStrike" u="none">
                <a:solidFill>
                  <a:srgbClr val="000000"/>
                </a:solidFill>
                <a:effectLst/>
                <a:uFillTx/>
                <a:latin typeface="Times New Roman"/>
                <a:ea typeface="Times New Roman"/>
              </a:rPr>
              <a:t> stands for “stream-editor”, it uses a “program” of </a:t>
            </a:r>
            <a:r>
              <a:rPr b="0" i="1" lang="en-IN" sz="2000" strike="noStrike" u="none">
                <a:solidFill>
                  <a:srgbClr val="000000"/>
                </a:solidFill>
                <a:effectLst/>
                <a:uFillTx/>
                <a:latin typeface="Times New Roman"/>
                <a:ea typeface="Times New Roman"/>
              </a:rPr>
              <a:t>ed</a:t>
            </a:r>
            <a:r>
              <a:rPr b="0" lang="en-IN" sz="2000" strike="noStrike" u="none">
                <a:solidFill>
                  <a:srgbClr val="000000"/>
                </a:solidFill>
                <a:effectLst/>
                <a:uFillTx/>
                <a:latin typeface="Times New Roman"/>
                <a:ea typeface="Times New Roman"/>
              </a:rPr>
              <a:t> (line editor) commands to transform data as it streams by</a:t>
            </a:r>
            <a:endParaRPr b="0" lang="en-IN" sz="20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i="1" lang="en-IN" sz="2000" strike="noStrike" u="none">
                <a:solidFill>
                  <a:srgbClr val="000000"/>
                </a:solidFill>
                <a:effectLst/>
                <a:uFillTx/>
                <a:latin typeface="Times New Roman"/>
                <a:ea typeface="Times New Roman"/>
              </a:rPr>
              <a:t>awk</a:t>
            </a:r>
            <a:r>
              <a:rPr b="0" lang="en-IN" sz="2000" strike="noStrike" u="none">
                <a:solidFill>
                  <a:srgbClr val="000000"/>
                </a:solidFill>
                <a:effectLst/>
                <a:uFillTx/>
                <a:latin typeface="Times New Roman"/>
                <a:ea typeface="Times New Roman"/>
              </a:rPr>
              <a:t>, named after the authors, is a more complete programming language, including variables, arithmetic, control flow, </a:t>
            </a:r>
            <a:r>
              <a:rPr b="0" i="1" lang="en-IN" sz="2000" strike="noStrike" u="none">
                <a:solidFill>
                  <a:srgbClr val="000000"/>
                </a:solidFill>
                <a:effectLst/>
                <a:uFillTx/>
                <a:latin typeface="Times New Roman"/>
                <a:ea typeface="Times New Roman"/>
              </a:rPr>
              <a:t>etc.</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7" name=""/>
          <p:cNvSpPr txBox="1"/>
          <p:nvPr/>
        </p:nvSpPr>
        <p:spPr>
          <a:xfrm>
            <a:off x="996840" y="685800"/>
            <a:ext cx="715644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Other Filters</a:t>
            </a:r>
            <a:endParaRPr b="0" lang="en-IN" sz="3600" strike="noStrike" u="none">
              <a:solidFill>
                <a:srgbClr val="000000"/>
              </a:solidFill>
              <a:effectLst/>
              <a:uFillTx/>
              <a:latin typeface="Arial"/>
            </a:endParaRPr>
          </a:p>
        </p:txBody>
      </p:sp>
      <p:sp>
        <p:nvSpPr>
          <p:cNvPr id="278" name=""/>
          <p:cNvSpPr txBox="1"/>
          <p:nvPr/>
        </p:nvSpPr>
        <p:spPr>
          <a:xfrm>
            <a:off x="990720" y="1981080"/>
            <a:ext cx="7162920" cy="4114800"/>
          </a:xfrm>
          <a:prstGeom prst="rect">
            <a:avLst/>
          </a:prstGeom>
          <a:noFill/>
          <a:ln w="0">
            <a:noFill/>
          </a:ln>
        </p:spPr>
        <p:txBody>
          <a:bodyPr lIns="0" rIns="0" tIns="0" bIns="0" anchor="t">
            <a:spAutoFit/>
          </a:bodyPr>
          <a:p>
            <a:pPr marL="285840" indent="-285840">
              <a:lnSpc>
                <a:spcPct val="90000"/>
              </a:lnSpc>
              <a:spcBef>
                <a:spcPts val="720"/>
              </a:spcBef>
            </a:pPr>
            <a:r>
              <a:rPr b="0" lang="en-IN" sz="2400" strike="noStrike" u="none">
                <a:solidFill>
                  <a:srgbClr val="000000"/>
                </a:solidFill>
                <a:effectLst/>
                <a:uFillTx/>
                <a:latin typeface="Times New Roman"/>
                <a:ea typeface="Times New Roman"/>
              </a:rPr>
              <a:t>UNIX comes with a myriad of small single-purpose filters</a:t>
            </a:r>
            <a:endParaRPr b="0" lang="en-IN" sz="24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lang="en-IN" sz="1400" strike="noStrike" u="none">
                <a:solidFill>
                  <a:srgbClr val="000000"/>
                </a:solidFill>
                <a:effectLst/>
                <a:uFillTx/>
                <a:latin typeface="Times New Roman"/>
                <a:ea typeface="Times New Roman"/>
              </a:rPr>
              <a:t>Better to do one thing fast and well than many things slowly and badly</a:t>
            </a:r>
            <a:endParaRPr b="0" lang="en-IN" sz="14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lang="en-IN" sz="1400" strike="noStrike" u="none">
                <a:solidFill>
                  <a:srgbClr val="000000"/>
                </a:solidFill>
                <a:effectLst/>
                <a:uFillTx/>
                <a:latin typeface="Times New Roman"/>
                <a:ea typeface="Times New Roman"/>
              </a:rPr>
              <a:t>Combining many small filters is easier than programming one big one</a:t>
            </a:r>
            <a:endParaRPr b="0" lang="en-IN" sz="1400" strike="noStrike" u="none">
              <a:solidFill>
                <a:srgbClr val="000000"/>
              </a:solidFill>
              <a:effectLst/>
              <a:uFillTx/>
              <a:latin typeface="Arial"/>
            </a:endParaRPr>
          </a:p>
          <a:p>
            <a:pPr marL="285840" indent="-285840">
              <a:lnSpc>
                <a:spcPct val="90000"/>
              </a:lnSpc>
              <a:spcBef>
                <a:spcPts val="720"/>
              </a:spcBef>
            </a:pPr>
            <a:r>
              <a:rPr b="0" i="1" lang="en-IN" sz="2400" strike="noStrike" u="none">
                <a:solidFill>
                  <a:srgbClr val="000000"/>
                </a:solidFill>
                <a:effectLst/>
                <a:uFillTx/>
                <a:latin typeface="Times New Roman"/>
                <a:ea typeface="Times New Roman"/>
              </a:rPr>
              <a:t>head(1) </a:t>
            </a:r>
            <a:r>
              <a:rPr b="0" lang="en-IN" sz="2400" strike="noStrike" u="none">
                <a:solidFill>
                  <a:srgbClr val="000000"/>
                </a:solidFill>
                <a:effectLst/>
                <a:uFillTx/>
                <a:latin typeface="Times New Roman"/>
                <a:ea typeface="Times New Roman"/>
              </a:rPr>
              <a:t>and </a:t>
            </a:r>
            <a:r>
              <a:rPr b="0" i="1" lang="en-IN" sz="2400" strike="noStrike" u="none">
                <a:solidFill>
                  <a:srgbClr val="000000"/>
                </a:solidFill>
                <a:effectLst/>
                <a:uFillTx/>
                <a:latin typeface="Times New Roman"/>
                <a:ea typeface="Times New Roman"/>
              </a:rPr>
              <a:t>tail(1) </a:t>
            </a:r>
            <a:r>
              <a:rPr b="0" lang="en-IN" sz="2400" strike="noStrike" u="none">
                <a:solidFill>
                  <a:srgbClr val="000000"/>
                </a:solidFill>
                <a:effectLst/>
                <a:uFillTx/>
                <a:latin typeface="Times New Roman"/>
                <a:ea typeface="Times New Roman"/>
              </a:rPr>
              <a:t>list the start or end of files, respectively</a:t>
            </a:r>
            <a:endParaRPr b="0" lang="en-IN" sz="2400" strike="noStrike" u="none">
              <a:solidFill>
                <a:srgbClr val="000000"/>
              </a:solidFill>
              <a:effectLst/>
              <a:uFillTx/>
              <a:latin typeface="Arial"/>
            </a:endParaRPr>
          </a:p>
          <a:p>
            <a:pPr marL="285840" indent="-285840">
              <a:lnSpc>
                <a:spcPct val="90000"/>
              </a:lnSpc>
              <a:spcBef>
                <a:spcPts val="720"/>
              </a:spcBef>
            </a:pPr>
            <a:r>
              <a:rPr b="0" i="1" lang="en-IN" sz="2400" strike="noStrike" u="none">
                <a:solidFill>
                  <a:srgbClr val="000000"/>
                </a:solidFill>
                <a:effectLst/>
                <a:uFillTx/>
                <a:latin typeface="Times New Roman"/>
                <a:ea typeface="Times New Roman"/>
              </a:rPr>
              <a:t>cut(1) </a:t>
            </a:r>
            <a:r>
              <a:rPr b="0" lang="en-IN" sz="2400" strike="noStrike" u="none">
                <a:solidFill>
                  <a:srgbClr val="000000"/>
                </a:solidFill>
                <a:effectLst/>
                <a:uFillTx/>
                <a:latin typeface="Times New Roman"/>
                <a:ea typeface="Times New Roman"/>
              </a:rPr>
              <a:t>returns specified columns from the input, </a:t>
            </a:r>
            <a:r>
              <a:rPr b="0" i="1" lang="en-IN" sz="2400" strike="noStrike" u="none">
                <a:solidFill>
                  <a:srgbClr val="000000"/>
                </a:solidFill>
                <a:effectLst/>
                <a:uFillTx/>
                <a:latin typeface="Times New Roman"/>
                <a:ea typeface="Times New Roman"/>
              </a:rPr>
              <a:t>paste(1) </a:t>
            </a:r>
            <a:r>
              <a:rPr b="0" lang="en-IN" sz="2400" strike="noStrike" u="none">
                <a:solidFill>
                  <a:srgbClr val="000000"/>
                </a:solidFill>
                <a:effectLst/>
                <a:uFillTx/>
                <a:latin typeface="Times New Roman"/>
                <a:ea typeface="Times New Roman"/>
              </a:rPr>
              <a:t>puts files together in columns.</a:t>
            </a:r>
            <a:endParaRPr b="0" lang="en-IN" sz="2400" strike="noStrike" u="none">
              <a:solidFill>
                <a:srgbClr val="000000"/>
              </a:solidFill>
              <a:effectLst/>
              <a:uFillTx/>
              <a:latin typeface="Arial"/>
            </a:endParaRPr>
          </a:p>
          <a:p>
            <a:pPr marL="285840" indent="-285840">
              <a:lnSpc>
                <a:spcPct val="90000"/>
              </a:lnSpc>
              <a:spcBef>
                <a:spcPts val="720"/>
              </a:spcBef>
            </a:pPr>
            <a:r>
              <a:rPr b="0" i="1" lang="en-IN" sz="2400" strike="noStrike" u="none">
                <a:solidFill>
                  <a:srgbClr val="000000"/>
                </a:solidFill>
                <a:effectLst/>
                <a:uFillTx/>
                <a:latin typeface="Times New Roman"/>
                <a:ea typeface="Times New Roman"/>
              </a:rPr>
              <a:t>uniq(1) </a:t>
            </a:r>
            <a:r>
              <a:rPr b="0" lang="en-IN" sz="2400" strike="noStrike" u="none">
                <a:solidFill>
                  <a:srgbClr val="000000"/>
                </a:solidFill>
                <a:effectLst/>
                <a:uFillTx/>
                <a:latin typeface="Times New Roman"/>
                <a:ea typeface="Times New Roman"/>
              </a:rPr>
              <a:t>returns only unique lines from the input</a:t>
            </a:r>
            <a:endParaRPr b="0" lang="en-IN" sz="2400" strike="noStrike" u="none">
              <a:solidFill>
                <a:srgbClr val="000000"/>
              </a:solidFill>
              <a:effectLst/>
              <a:uFillTx/>
              <a:latin typeface="Arial"/>
            </a:endParaRPr>
          </a:p>
          <a:p>
            <a:pPr marL="285840" indent="-285840">
              <a:lnSpc>
                <a:spcPct val="90000"/>
              </a:lnSpc>
              <a:spcBef>
                <a:spcPts val="720"/>
              </a:spcBef>
            </a:pPr>
            <a:r>
              <a:rPr b="0" i="1" lang="en-IN" sz="2400" strike="noStrike" u="none">
                <a:solidFill>
                  <a:srgbClr val="000000"/>
                </a:solidFill>
                <a:effectLst/>
                <a:uFillTx/>
                <a:latin typeface="Times New Roman"/>
                <a:ea typeface="Times New Roman"/>
              </a:rPr>
              <a:t>tr(1) </a:t>
            </a:r>
            <a:r>
              <a:rPr b="0" lang="en-IN" sz="2400" strike="noStrike" u="none">
                <a:solidFill>
                  <a:srgbClr val="000000"/>
                </a:solidFill>
                <a:effectLst/>
                <a:uFillTx/>
                <a:latin typeface="Times New Roman"/>
                <a:ea typeface="Times New Roman"/>
              </a:rPr>
              <a:t>transliterates characters</a:t>
            </a:r>
            <a:endParaRPr b="0" lang="en-IN" sz="24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      # "fold" lowercase to upper case</a:t>
            </a: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 </a:t>
            </a:r>
            <a:r>
              <a:rPr b="0" i="1" lang="en-IN" sz="2000" strike="noStrike" u="none">
                <a:solidFill>
                  <a:srgbClr val="000000"/>
                </a:solidFill>
                <a:effectLst/>
                <a:uFillTx/>
                <a:latin typeface="Times New Roman"/>
                <a:ea typeface="Times New Roman"/>
              </a:rPr>
              <a:t>tr a-z A-Z</a:t>
            </a:r>
            <a:r>
              <a:rPr b="0" lang="en-IN" sz="2000" strike="noStrike" u="none">
                <a:solidFill>
                  <a:srgbClr val="000000"/>
                </a:solidFill>
                <a:effectLst/>
                <a:uFillTx/>
                <a:latin typeface="Times New Roman"/>
                <a:ea typeface="Times New Roman"/>
              </a:rPr>
              <a:t> &lt;lower.txt &gt;upper.txt</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9" name=""/>
          <p:cNvSpPr txBox="1"/>
          <p:nvPr/>
        </p:nvSpPr>
        <p:spPr>
          <a:xfrm>
            <a:off x="996840" y="685800"/>
            <a:ext cx="715644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sort</a:t>
            </a:r>
            <a:endParaRPr b="0" lang="en-IN" sz="3600" strike="noStrike" u="none">
              <a:solidFill>
                <a:srgbClr val="000000"/>
              </a:solidFill>
              <a:effectLst/>
              <a:uFillTx/>
              <a:latin typeface="Arial"/>
            </a:endParaRPr>
          </a:p>
        </p:txBody>
      </p:sp>
      <p:sp>
        <p:nvSpPr>
          <p:cNvPr id="280" name=""/>
          <p:cNvSpPr txBox="1"/>
          <p:nvPr/>
        </p:nvSpPr>
        <p:spPr>
          <a:xfrm>
            <a:off x="990720" y="1981080"/>
            <a:ext cx="7162920" cy="4114800"/>
          </a:xfrm>
          <a:prstGeom prst="rect">
            <a:avLst/>
          </a:prstGeom>
          <a:noFill/>
          <a:ln w="0">
            <a:noFill/>
          </a:ln>
        </p:spPr>
        <p:txBody>
          <a:bodyPr lIns="0" rIns="0" tIns="0" bIns="0" anchor="t">
            <a:spAutoFit/>
          </a:bodyPr>
          <a:p>
            <a:pPr marL="285840" indent="-285840">
              <a:lnSpc>
                <a:spcPct val="90000"/>
              </a:lnSpc>
              <a:spcBef>
                <a:spcPts val="720"/>
              </a:spcBef>
            </a:pPr>
            <a:r>
              <a:rPr b="0" i="1" lang="en-IN" sz="2400" strike="noStrike" u="none">
                <a:solidFill>
                  <a:srgbClr val="000000"/>
                </a:solidFill>
                <a:effectLst/>
                <a:uFillTx/>
                <a:latin typeface="Times New Roman"/>
                <a:ea typeface="Times New Roman"/>
              </a:rPr>
              <a:t>sort</a:t>
            </a:r>
            <a:r>
              <a:rPr b="0" lang="en-IN" sz="2400" strike="noStrike" u="none">
                <a:solidFill>
                  <a:srgbClr val="000000"/>
                </a:solidFill>
                <a:effectLst/>
                <a:uFillTx/>
                <a:latin typeface="Times New Roman"/>
                <a:ea typeface="Times New Roman"/>
              </a:rPr>
              <a:t> is one of the more useful filters</a:t>
            </a:r>
            <a:endParaRPr b="0" lang="en-IN" sz="2400" strike="noStrike" u="none">
              <a:solidFill>
                <a:srgbClr val="000000"/>
              </a:solidFill>
              <a:effectLst/>
              <a:uFillTx/>
              <a:latin typeface="Arial"/>
            </a:endParaRPr>
          </a:p>
          <a:p>
            <a:pPr marL="285840" indent="-285840">
              <a:lnSpc>
                <a:spcPct val="90000"/>
              </a:lnSpc>
              <a:spcBef>
                <a:spcPts val="720"/>
              </a:spcBef>
            </a:pPr>
            <a:r>
              <a:rPr b="0" lang="en-IN" sz="2400" strike="noStrike" u="none">
                <a:solidFill>
                  <a:srgbClr val="000000"/>
                </a:solidFill>
                <a:effectLst/>
                <a:uFillTx/>
                <a:latin typeface="Times New Roman"/>
                <a:ea typeface="Times New Roman"/>
              </a:rPr>
              <a:t>Many switches to control the sorting process</a:t>
            </a:r>
            <a:endParaRPr b="0" lang="en-IN" sz="24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-f </a:t>
            </a:r>
            <a:r>
              <a:rPr b="0" lang="en-IN" sz="2000" strike="noStrike" u="none">
                <a:solidFill>
                  <a:srgbClr val="000000"/>
                </a:solidFill>
                <a:effectLst/>
                <a:uFillTx/>
                <a:latin typeface="Times New Roman"/>
                <a:ea typeface="Times New Roman"/>
              </a:rPr>
              <a:t>	</a:t>
            </a:r>
            <a:r>
              <a:rPr b="0" lang="en-IN" sz="2000" strike="noStrike" u="none">
                <a:solidFill>
                  <a:srgbClr val="000000"/>
                </a:solidFill>
                <a:effectLst/>
                <a:uFillTx/>
                <a:latin typeface="Times New Roman"/>
                <a:ea typeface="Times New Roman"/>
              </a:rPr>
              <a:t>“Fold” upper and lower case</a:t>
            </a: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-d </a:t>
            </a:r>
            <a:r>
              <a:rPr b="0" lang="en-IN" sz="2000" strike="noStrike" u="none">
                <a:solidFill>
                  <a:srgbClr val="000000"/>
                </a:solidFill>
                <a:effectLst/>
                <a:uFillTx/>
                <a:latin typeface="Times New Roman"/>
                <a:ea typeface="Times New Roman"/>
              </a:rPr>
              <a:t>	</a:t>
            </a:r>
            <a:r>
              <a:rPr b="0" lang="en-IN" sz="2000" strike="noStrike" u="none">
                <a:solidFill>
                  <a:srgbClr val="000000"/>
                </a:solidFill>
                <a:effectLst/>
                <a:uFillTx/>
                <a:latin typeface="Times New Roman"/>
                <a:ea typeface="Times New Roman"/>
              </a:rPr>
              <a:t>“Dictionary order” - ignore all but letters, digits and blanks</a:t>
            </a: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-r </a:t>
            </a:r>
            <a:r>
              <a:rPr b="0" lang="en-IN" sz="2000" strike="noStrike" u="none">
                <a:solidFill>
                  <a:srgbClr val="000000"/>
                </a:solidFill>
                <a:effectLst/>
                <a:uFillTx/>
                <a:latin typeface="Times New Roman"/>
                <a:ea typeface="Times New Roman"/>
              </a:rPr>
              <a:t>	</a:t>
            </a:r>
            <a:r>
              <a:rPr b="0" lang="en-IN" sz="2000" strike="noStrike" u="none">
                <a:solidFill>
                  <a:srgbClr val="000000"/>
                </a:solidFill>
                <a:effectLst/>
                <a:uFillTx/>
                <a:latin typeface="Times New Roman"/>
                <a:ea typeface="Times New Roman"/>
              </a:rPr>
              <a:t>Sort in reverse order</a:t>
            </a: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-n </a:t>
            </a:r>
            <a:r>
              <a:rPr b="0" lang="en-IN" sz="2000" strike="noStrike" u="none">
                <a:solidFill>
                  <a:srgbClr val="000000"/>
                </a:solidFill>
                <a:effectLst/>
                <a:uFillTx/>
                <a:latin typeface="Times New Roman"/>
                <a:ea typeface="Times New Roman"/>
              </a:rPr>
              <a:t>	</a:t>
            </a:r>
            <a:r>
              <a:rPr b="0" lang="en-IN" sz="2000" strike="noStrike" u="none">
                <a:solidFill>
                  <a:srgbClr val="000000"/>
                </a:solidFill>
                <a:effectLst/>
                <a:uFillTx/>
                <a:latin typeface="Times New Roman"/>
                <a:ea typeface="Times New Roman"/>
              </a:rPr>
              <a:t>Sort by numeric value, rather than by ASCII collating sequence</a:t>
            </a: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+n </a:t>
            </a:r>
            <a:r>
              <a:rPr b="0" lang="en-IN" sz="2000" strike="noStrike" u="none">
                <a:solidFill>
                  <a:srgbClr val="000000"/>
                </a:solidFill>
                <a:effectLst/>
                <a:uFillTx/>
                <a:latin typeface="Times New Roman"/>
                <a:ea typeface="Times New Roman"/>
              </a:rPr>
              <a:t>	</a:t>
            </a:r>
            <a:r>
              <a:rPr b="0" lang="en-IN" sz="2000" strike="noStrike" u="none">
                <a:solidFill>
                  <a:srgbClr val="000000"/>
                </a:solidFill>
                <a:effectLst/>
                <a:uFillTx/>
                <a:latin typeface="Times New Roman"/>
                <a:ea typeface="Times New Roman"/>
              </a:rPr>
              <a:t>Sort within a column n</a:t>
            </a:r>
            <a:endParaRPr b="0" lang="en-IN" sz="2000" strike="noStrike" u="none">
              <a:solidFill>
                <a:srgbClr val="000000"/>
              </a:solidFill>
              <a:effectLst/>
              <a:uFillTx/>
              <a:latin typeface="Arial"/>
            </a:endParaRPr>
          </a:p>
          <a:p>
            <a:pPr marL="285840" indent="-285840">
              <a:lnSpc>
                <a:spcPct val="90000"/>
              </a:lnSpc>
              <a:spcBef>
                <a:spcPts val="720"/>
              </a:spcBef>
            </a:pPr>
            <a:r>
              <a:rPr b="0" lang="en-IN" sz="2400" strike="noStrike" u="none">
                <a:solidFill>
                  <a:srgbClr val="000000"/>
                </a:solidFill>
                <a:effectLst/>
                <a:uFillTx/>
                <a:latin typeface="Times New Roman"/>
                <a:ea typeface="Times New Roman"/>
              </a:rPr>
              <a:t>Examples</a:t>
            </a:r>
            <a:endParaRPr b="0" lang="en-IN" sz="2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 </a:t>
            </a:r>
            <a:r>
              <a:rPr b="0" i="1" lang="en-IN" sz="1400" strike="noStrike" u="none">
                <a:solidFill>
                  <a:srgbClr val="000000"/>
                </a:solidFill>
                <a:effectLst/>
                <a:uFillTx/>
                <a:latin typeface="Times New Roman"/>
                <a:ea typeface="Times New Roman"/>
              </a:rPr>
              <a:t>ls -l | sort +3nr</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sort by byte count, largest first</a:t>
            </a:r>
            <a:endParaRPr b="0" lang="en-IN" sz="1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 </a:t>
            </a:r>
            <a:r>
              <a:rPr b="0" i="1" lang="en-IN" sz="1400" strike="noStrike" u="none">
                <a:solidFill>
                  <a:srgbClr val="000000"/>
                </a:solidFill>
                <a:effectLst/>
                <a:uFillTx/>
                <a:latin typeface="Times New Roman"/>
                <a:ea typeface="Times New Roman"/>
              </a:rPr>
              <a:t>sort -d phone-book</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dictionary order, Dewitt after de Kalb</a:t>
            </a:r>
            <a:endParaRPr b="0" lang="en-IN"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1" name=""/>
          <p:cNvSpPr txBox="1"/>
          <p:nvPr/>
        </p:nvSpPr>
        <p:spPr>
          <a:xfrm>
            <a:off x="996840" y="685800"/>
            <a:ext cx="715644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Stream Editor, sed</a:t>
            </a:r>
            <a:endParaRPr b="0" lang="en-IN" sz="3600" strike="noStrike" u="none">
              <a:solidFill>
                <a:srgbClr val="000000"/>
              </a:solidFill>
              <a:effectLst/>
              <a:uFillTx/>
              <a:latin typeface="Arial"/>
            </a:endParaRPr>
          </a:p>
        </p:txBody>
      </p:sp>
      <p:sp>
        <p:nvSpPr>
          <p:cNvPr id="282" name=""/>
          <p:cNvSpPr txBox="1"/>
          <p:nvPr/>
        </p:nvSpPr>
        <p:spPr>
          <a:xfrm>
            <a:off x="990720" y="1981080"/>
            <a:ext cx="7162920" cy="4114800"/>
          </a:xfrm>
          <a:prstGeom prst="rect">
            <a:avLst/>
          </a:prstGeom>
          <a:noFill/>
          <a:ln w="0">
            <a:noFill/>
          </a:ln>
        </p:spPr>
        <p:txBody>
          <a:bodyPr lIns="0" rIns="0" tIns="0" bIns="0" anchor="t">
            <a:spAutoFit/>
          </a:bodyPr>
          <a:p>
            <a:pPr marL="285840" indent="-285840">
              <a:lnSpc>
                <a:spcPct val="90000"/>
              </a:lnSpc>
              <a:spcBef>
                <a:spcPts val="720"/>
              </a:spcBef>
            </a:pPr>
            <a:r>
              <a:rPr b="0" i="1" lang="en-IN" sz="2400" strike="noStrike" u="none">
                <a:solidFill>
                  <a:srgbClr val="000000"/>
                </a:solidFill>
                <a:effectLst/>
                <a:uFillTx/>
                <a:latin typeface="Times New Roman"/>
                <a:ea typeface="Times New Roman"/>
              </a:rPr>
              <a:t>sed(1) </a:t>
            </a:r>
            <a:r>
              <a:rPr b="0" lang="en-IN" sz="2400" strike="noStrike" u="none">
                <a:solidFill>
                  <a:srgbClr val="000000"/>
                </a:solidFill>
                <a:effectLst/>
                <a:uFillTx/>
                <a:latin typeface="Times New Roman"/>
                <a:ea typeface="Times New Roman"/>
              </a:rPr>
              <a:t>was originally derived from </a:t>
            </a:r>
            <a:r>
              <a:rPr b="0" i="1" lang="en-IN" sz="2400" strike="noStrike" u="none">
                <a:solidFill>
                  <a:srgbClr val="000000"/>
                </a:solidFill>
                <a:effectLst/>
                <a:uFillTx/>
                <a:latin typeface="Times New Roman"/>
                <a:ea typeface="Times New Roman"/>
              </a:rPr>
              <a:t>ed(1)</a:t>
            </a:r>
            <a:r>
              <a:rPr b="0" lang="en-IN" sz="2400" strike="noStrike" u="none">
                <a:solidFill>
                  <a:srgbClr val="000000"/>
                </a:solidFill>
                <a:effectLst/>
                <a:uFillTx/>
                <a:latin typeface="Times New Roman"/>
                <a:ea typeface="Times New Roman"/>
              </a:rPr>
              <a:t>, the original UNIX line-oriented text editor</a:t>
            </a:r>
            <a:endParaRPr b="0" lang="en-IN" sz="2400" strike="noStrike" u="none">
              <a:solidFill>
                <a:srgbClr val="000000"/>
              </a:solidFill>
              <a:effectLst/>
              <a:uFillTx/>
              <a:latin typeface="Arial"/>
            </a:endParaRPr>
          </a:p>
          <a:p>
            <a:pPr marL="285840" indent="-285840">
              <a:lnSpc>
                <a:spcPct val="90000"/>
              </a:lnSpc>
              <a:spcBef>
                <a:spcPts val="720"/>
              </a:spcBef>
            </a:pPr>
            <a:r>
              <a:rPr b="0" lang="en-IN" sz="2400" strike="noStrike" u="none">
                <a:solidFill>
                  <a:srgbClr val="000000"/>
                </a:solidFill>
                <a:effectLst/>
                <a:uFillTx/>
                <a:latin typeface="Times New Roman"/>
                <a:ea typeface="Times New Roman"/>
              </a:rPr>
              <a:t>Basic command is simple:</a:t>
            </a:r>
            <a:endParaRPr b="0" lang="en-IN" sz="24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 </a:t>
            </a:r>
            <a:r>
              <a:rPr b="0" i="1" lang="en-IN" sz="2000" strike="noStrike" u="none">
                <a:solidFill>
                  <a:srgbClr val="000000"/>
                </a:solidFill>
                <a:effectLst/>
                <a:uFillTx/>
                <a:latin typeface="Times New Roman"/>
                <a:ea typeface="Times New Roman"/>
              </a:rPr>
              <a:t>sed 'list of ed commands' filenames</a:t>
            </a:r>
            <a:r>
              <a:rPr b="0" lang="en-IN" sz="2000" strike="noStrike" u="none">
                <a:solidFill>
                  <a:srgbClr val="000000"/>
                </a:solidFill>
                <a:effectLst/>
                <a:uFillTx/>
                <a:latin typeface="Times New Roman"/>
                <a:ea typeface="Times New Roman"/>
              </a:rPr>
              <a:t> ...</a:t>
            </a:r>
            <a:endParaRPr b="0" lang="en-IN" sz="20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reads a line at a time</a:t>
            </a:r>
            <a:endParaRPr b="0" lang="en-IN" sz="20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applies each command to the line, in order</a:t>
            </a:r>
            <a:endParaRPr b="0" lang="en-IN" sz="20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writes the edited line to standard output</a:t>
            </a:r>
            <a:endParaRPr b="0" lang="en-IN" sz="20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without a list of filenames, sed edits standard input</a:t>
            </a:r>
            <a:endParaRPr b="0" lang="en-IN" sz="2000" strike="noStrike" u="none">
              <a:solidFill>
                <a:srgbClr val="000000"/>
              </a:solidFill>
              <a:effectLst/>
              <a:uFillTx/>
              <a:latin typeface="Arial"/>
            </a:endParaRPr>
          </a:p>
          <a:p>
            <a:pPr marL="285840" indent="-285840">
              <a:lnSpc>
                <a:spcPct val="90000"/>
              </a:lnSpc>
              <a:spcBef>
                <a:spcPts val="720"/>
              </a:spcBef>
            </a:pPr>
            <a:r>
              <a:rPr b="0" lang="en-IN" sz="2400" strike="noStrike" u="none">
                <a:solidFill>
                  <a:srgbClr val="000000"/>
                </a:solidFill>
                <a:effectLst/>
                <a:uFillTx/>
                <a:latin typeface="Times New Roman"/>
                <a:ea typeface="Times New Roman"/>
              </a:rPr>
              <a:t>Has </a:t>
            </a:r>
            <a:r>
              <a:rPr b="0" i="1" lang="en-IN" sz="2400" strike="noStrike" u="none">
                <a:solidFill>
                  <a:srgbClr val="000000"/>
                </a:solidFill>
                <a:effectLst/>
                <a:uFillTx/>
                <a:latin typeface="Times New Roman"/>
                <a:ea typeface="Times New Roman"/>
              </a:rPr>
              <a:t>-f  </a:t>
            </a:r>
            <a:r>
              <a:rPr b="0" lang="en-IN" sz="2400" strike="noStrike" u="none">
                <a:solidFill>
                  <a:srgbClr val="000000"/>
                </a:solidFill>
                <a:effectLst/>
                <a:uFillTx/>
                <a:latin typeface="Times New Roman"/>
                <a:ea typeface="Times New Roman"/>
              </a:rPr>
              <a:t>switch to include sed commands from an external file</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3" name=""/>
          <p:cNvSpPr txBox="1"/>
          <p:nvPr/>
        </p:nvSpPr>
        <p:spPr>
          <a:xfrm>
            <a:off x="996840" y="685800"/>
            <a:ext cx="715644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Sample sed Commands</a:t>
            </a:r>
            <a:endParaRPr b="0" lang="en-IN" sz="3600" strike="noStrike" u="none">
              <a:solidFill>
                <a:srgbClr val="000000"/>
              </a:solidFill>
              <a:effectLst/>
              <a:uFillTx/>
              <a:latin typeface="Arial"/>
            </a:endParaRPr>
          </a:p>
        </p:txBody>
      </p:sp>
      <p:sp>
        <p:nvSpPr>
          <p:cNvPr id="284" name=""/>
          <p:cNvSpPr txBox="1"/>
          <p:nvPr/>
        </p:nvSpPr>
        <p:spPr>
          <a:xfrm>
            <a:off x="990720" y="1981080"/>
            <a:ext cx="7162920" cy="4114800"/>
          </a:xfrm>
          <a:prstGeom prst="rect">
            <a:avLst/>
          </a:prstGeom>
          <a:noFill/>
          <a:ln w="0">
            <a:noFill/>
          </a:ln>
        </p:spPr>
        <p:txBody>
          <a:bodyPr lIns="0" rIns="0" tIns="0" bIns="0" anchor="t">
            <a:spAutoFit/>
          </a:bodyPr>
          <a:p>
            <a:pPr marL="285840" indent="-285840">
              <a:lnSpc>
                <a:spcPct val="90000"/>
              </a:lnSpc>
              <a:spcBef>
                <a:spcPts val="720"/>
              </a:spcBef>
            </a:pPr>
            <a:r>
              <a:rPr b="0" lang="en-IN" sz="1600" strike="noStrike" u="none">
                <a:solidFill>
                  <a:srgbClr val="000000"/>
                </a:solidFill>
                <a:effectLst/>
                <a:uFillTx/>
                <a:latin typeface="Times New Roman"/>
                <a:ea typeface="Times New Roman"/>
              </a:rPr>
              <a:t>Convert all instances of 'UNIX' to 'UNIX(TM)'</a:t>
            </a:r>
            <a:endParaRPr b="0" lang="en-IN" sz="16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 </a:t>
            </a:r>
            <a:r>
              <a:rPr b="0" i="1" lang="en-IN" sz="1400" strike="noStrike" u="none">
                <a:solidFill>
                  <a:srgbClr val="000000"/>
                </a:solidFill>
                <a:effectLst/>
                <a:uFillTx/>
                <a:latin typeface="Times New Roman"/>
                <a:ea typeface="Times New Roman"/>
              </a:rPr>
              <a:t>sed 's/UNIX/UNIX(TM)/g' class.txt &gt;class.new.txt</a:t>
            </a:r>
            <a:endParaRPr b="0" lang="en-IN" sz="1400" strike="noStrike" u="none">
              <a:solidFill>
                <a:srgbClr val="000000"/>
              </a:solidFill>
              <a:effectLst/>
              <a:uFillTx/>
              <a:latin typeface="Arial"/>
            </a:endParaRPr>
          </a:p>
          <a:p>
            <a:pPr marL="285840" indent="-285840">
              <a:lnSpc>
                <a:spcPct val="90000"/>
              </a:lnSpc>
              <a:spcBef>
                <a:spcPts val="720"/>
              </a:spcBef>
            </a:pPr>
            <a:r>
              <a:rPr b="0" lang="en-IN" sz="1600" strike="noStrike" u="none">
                <a:solidFill>
                  <a:srgbClr val="000000"/>
                </a:solidFill>
                <a:effectLst/>
                <a:uFillTx/>
                <a:latin typeface="Times New Roman"/>
                <a:ea typeface="Times New Roman"/>
              </a:rPr>
              <a:t>List userids and login times</a:t>
            </a:r>
            <a:endParaRPr b="0" lang="en-IN" sz="16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 </a:t>
            </a:r>
            <a:r>
              <a:rPr b="0" i="1" lang="en-IN" sz="1400" strike="noStrike" u="none">
                <a:solidFill>
                  <a:srgbClr val="000000"/>
                </a:solidFill>
                <a:effectLst/>
                <a:uFillTx/>
                <a:latin typeface="Times New Roman"/>
                <a:ea typeface="Times New Roman"/>
              </a:rPr>
              <a:t>who | sed 's/ .* / /'</a:t>
            </a:r>
            <a:endParaRPr b="0" lang="en-IN" sz="1400" strike="noStrike" u="none">
              <a:solidFill>
                <a:srgbClr val="000000"/>
              </a:solidFill>
              <a:effectLst/>
              <a:uFillTx/>
              <a:latin typeface="Arial"/>
            </a:endParaRPr>
          </a:p>
          <a:p>
            <a:pPr marL="285840" indent="-285840">
              <a:lnSpc>
                <a:spcPct val="90000"/>
              </a:lnSpc>
              <a:spcBef>
                <a:spcPts val="720"/>
              </a:spcBef>
            </a:pPr>
            <a:r>
              <a:rPr b="0" lang="en-IN" sz="1600" strike="noStrike" u="none">
                <a:solidFill>
                  <a:srgbClr val="000000"/>
                </a:solidFill>
                <a:effectLst/>
                <a:uFillTx/>
                <a:latin typeface="Times New Roman"/>
                <a:ea typeface="Times New Roman"/>
              </a:rPr>
              <a:t>Print the header of a mail message (up to the first blank line)</a:t>
            </a:r>
            <a:endParaRPr b="0" lang="en-IN" sz="16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a:t>
            </a:r>
            <a:r>
              <a:rPr b="0" i="1" lang="en-IN" sz="1400" strike="noStrike" u="none">
                <a:solidFill>
                  <a:srgbClr val="000000"/>
                </a:solidFill>
                <a:effectLst/>
                <a:uFillTx/>
                <a:latin typeface="Times New Roman"/>
                <a:ea typeface="Times New Roman"/>
              </a:rPr>
              <a:t> sed '/^$/q' mail.msg </a:t>
            </a:r>
            <a:endParaRPr b="0" lang="en-IN" sz="1400" strike="noStrike" u="none">
              <a:solidFill>
                <a:srgbClr val="000000"/>
              </a:solidFill>
              <a:effectLst/>
              <a:uFillTx/>
              <a:latin typeface="Arial"/>
            </a:endParaRPr>
          </a:p>
          <a:p>
            <a:pPr marL="285840" indent="-285840">
              <a:lnSpc>
                <a:spcPct val="90000"/>
              </a:lnSpc>
              <a:spcBef>
                <a:spcPts val="720"/>
              </a:spcBef>
            </a:pPr>
            <a:r>
              <a:rPr b="0" lang="en-IN" sz="1600" strike="noStrike" u="none">
                <a:solidFill>
                  <a:srgbClr val="000000"/>
                </a:solidFill>
                <a:effectLst/>
                <a:uFillTx/>
                <a:latin typeface="Times New Roman"/>
                <a:ea typeface="Times New Roman"/>
              </a:rPr>
              <a:t>Delete the header of a mail message</a:t>
            </a:r>
            <a:endParaRPr b="0" lang="en-IN" sz="16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 </a:t>
            </a:r>
            <a:r>
              <a:rPr b="0" i="1" lang="en-IN" sz="1400" strike="noStrike" u="none">
                <a:solidFill>
                  <a:srgbClr val="000000"/>
                </a:solidFill>
                <a:effectLst/>
                <a:uFillTx/>
                <a:latin typeface="Times New Roman"/>
                <a:ea typeface="Times New Roman"/>
              </a:rPr>
              <a:t>sed '1,/^$/d' mail.msg &gt;mail.body</a:t>
            </a:r>
            <a:endParaRPr b="0" lang="en-IN" sz="1400" strike="noStrike" u="none">
              <a:solidFill>
                <a:srgbClr val="000000"/>
              </a:solidFill>
              <a:effectLst/>
              <a:uFillTx/>
              <a:latin typeface="Arial"/>
            </a:endParaRPr>
          </a:p>
          <a:p>
            <a:pPr marL="285840" indent="-285840">
              <a:lnSpc>
                <a:spcPct val="90000"/>
              </a:lnSpc>
              <a:spcBef>
                <a:spcPts val="720"/>
              </a:spcBef>
            </a:pPr>
            <a:r>
              <a:rPr b="0" lang="en-IN" sz="1600" strike="noStrike" u="none">
                <a:solidFill>
                  <a:srgbClr val="000000"/>
                </a:solidFill>
                <a:effectLst/>
                <a:uFillTx/>
                <a:latin typeface="Times New Roman"/>
                <a:ea typeface="Times New Roman"/>
              </a:rPr>
              <a:t>Print only the lines containing an E-mail address (userid@host)</a:t>
            </a:r>
            <a:endParaRPr b="0" lang="en-IN" sz="16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 </a:t>
            </a:r>
            <a:r>
              <a:rPr b="0" i="1" lang="en-IN" sz="1400" strike="noStrike" u="none">
                <a:solidFill>
                  <a:srgbClr val="000000"/>
                </a:solidFill>
                <a:effectLst/>
                <a:uFillTx/>
                <a:latin typeface="Times New Roman"/>
                <a:ea typeface="Times New Roman"/>
              </a:rPr>
              <a:t>sed -n '/ [^ ]+@[^ ]+/p'</a:t>
            </a:r>
            <a:endParaRPr b="0" lang="en-IN" sz="1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-n switch tells sed to print </a:t>
            </a:r>
            <a:r>
              <a:rPr b="0" lang="en-IN" sz="1400" strike="noStrike" u="sng">
                <a:solidFill>
                  <a:srgbClr val="000000"/>
                </a:solidFill>
                <a:effectLst/>
                <a:uFillTx/>
                <a:latin typeface="Times New Roman"/>
                <a:ea typeface="Times New Roman"/>
              </a:rPr>
              <a:t>only</a:t>
            </a:r>
            <a:r>
              <a:rPr b="0" lang="en-IN" sz="1400" strike="noStrike" u="none">
                <a:solidFill>
                  <a:srgbClr val="000000"/>
                </a:solidFill>
                <a:effectLst/>
                <a:uFillTx/>
                <a:latin typeface="Times New Roman"/>
                <a:ea typeface="Times New Roman"/>
              </a:rPr>
              <a:t> with explicit print commands (p)</a:t>
            </a:r>
            <a:endParaRPr b="0" lang="en-IN" sz="1400" strike="noStrike" u="none">
              <a:solidFill>
                <a:srgbClr val="000000"/>
              </a:solidFill>
              <a:effectLst/>
              <a:uFillTx/>
              <a:latin typeface="Arial"/>
            </a:endParaRPr>
          </a:p>
          <a:p>
            <a:pPr marL="285840" indent="-285840">
              <a:lnSpc>
                <a:spcPct val="90000"/>
              </a:lnSpc>
              <a:spcBef>
                <a:spcPts val="720"/>
              </a:spcBef>
            </a:pPr>
            <a:r>
              <a:rPr b="0" lang="en-IN" sz="1600" strike="noStrike" u="none">
                <a:solidFill>
                  <a:srgbClr val="000000"/>
                </a:solidFill>
                <a:effectLst/>
                <a:uFillTx/>
                <a:latin typeface="Times New Roman"/>
                <a:ea typeface="Times New Roman"/>
              </a:rPr>
              <a:t>Doublespace a document (insert an extra newline)</a:t>
            </a:r>
            <a:endParaRPr b="0" lang="en-IN" sz="16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 </a:t>
            </a:r>
            <a:r>
              <a:rPr b="0" i="1" lang="en-IN" sz="1400" strike="noStrike" u="none">
                <a:solidFill>
                  <a:srgbClr val="000000"/>
                </a:solidFill>
                <a:effectLst/>
                <a:uFillTx/>
                <a:latin typeface="Times New Roman"/>
                <a:ea typeface="Times New Roman"/>
              </a:rPr>
              <a:t>sed 's/$/\</a:t>
            </a:r>
            <a:endParaRPr b="0" lang="en-IN" sz="1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&gt; </a:t>
            </a:r>
            <a:r>
              <a:rPr b="0" i="1" lang="en-IN" sz="1400" strike="noStrike" u="none">
                <a:solidFill>
                  <a:srgbClr val="000000"/>
                </a:solidFill>
                <a:effectLst/>
                <a:uFillTx/>
                <a:latin typeface="Times New Roman"/>
                <a:ea typeface="Times New Roman"/>
              </a:rPr>
              <a:t>/'</a:t>
            </a:r>
            <a:endParaRPr b="0" lang="en-IN"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5" name=""/>
          <p:cNvSpPr txBox="1"/>
          <p:nvPr/>
        </p:nvSpPr>
        <p:spPr>
          <a:xfrm>
            <a:off x="996840" y="685800"/>
            <a:ext cx="715644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Summary of sed Commands</a:t>
            </a:r>
            <a:endParaRPr b="0" lang="en-IN" sz="3600" strike="noStrike" u="none">
              <a:solidFill>
                <a:srgbClr val="000000"/>
              </a:solidFill>
              <a:effectLst/>
              <a:uFillTx/>
              <a:latin typeface="Arial"/>
            </a:endParaRPr>
          </a:p>
        </p:txBody>
      </p:sp>
      <p:sp>
        <p:nvSpPr>
          <p:cNvPr id="286" name=""/>
          <p:cNvSpPr txBox="1"/>
          <p:nvPr/>
        </p:nvSpPr>
        <p:spPr>
          <a:xfrm>
            <a:off x="990720" y="1981080"/>
            <a:ext cx="7162920" cy="4356720"/>
          </a:xfrm>
          <a:prstGeom prst="rect">
            <a:avLst/>
          </a:prstGeom>
          <a:noFill/>
          <a:ln w="0">
            <a:noFill/>
          </a:ln>
        </p:spPr>
        <p:txBody>
          <a:bodyPr lIns="0" rIns="0" tIns="0" bIns="0" anchor="t">
            <a:spAutoFit/>
          </a:bodyPr>
          <a:p>
            <a:pPr marL="285840" indent="-285840">
              <a:lnSpc>
                <a:spcPct val="90000"/>
              </a:lnSpc>
              <a:spcBef>
                <a:spcPts val="720"/>
              </a:spcBef>
            </a:pPr>
            <a:r>
              <a:rPr b="0" lang="en-IN" sz="1200" strike="noStrike" u="none">
                <a:solidFill>
                  <a:srgbClr val="000000"/>
                </a:solidFill>
                <a:effectLst/>
                <a:uFillTx/>
                <a:latin typeface="Times New Roman"/>
                <a:ea typeface="Times New Roman"/>
              </a:rPr>
              <a:t>a\</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append lines to output until one not ending in \</a:t>
            </a:r>
            <a:endParaRPr b="0" lang="en-IN" sz="1200" strike="noStrike" u="none">
              <a:solidFill>
                <a:srgbClr val="000000"/>
              </a:solidFill>
              <a:effectLst/>
              <a:uFillTx/>
              <a:latin typeface="Arial"/>
            </a:endParaRPr>
          </a:p>
          <a:p>
            <a:pPr marL="285840" indent="-285840">
              <a:lnSpc>
                <a:spcPct val="90000"/>
              </a:lnSpc>
              <a:spcBef>
                <a:spcPts val="720"/>
              </a:spcBef>
            </a:pPr>
            <a:r>
              <a:rPr b="0" lang="en-IN" sz="1200" strike="noStrike" u="none">
                <a:solidFill>
                  <a:srgbClr val="000000"/>
                </a:solidFill>
                <a:effectLst/>
                <a:uFillTx/>
                <a:latin typeface="Times New Roman"/>
                <a:ea typeface="Times New Roman"/>
              </a:rPr>
              <a:t>b </a:t>
            </a:r>
            <a:r>
              <a:rPr b="0" i="1" lang="en-IN" sz="1200" strike="noStrike" u="none">
                <a:solidFill>
                  <a:srgbClr val="000000"/>
                </a:solidFill>
                <a:effectLst/>
                <a:uFillTx/>
                <a:latin typeface="Times New Roman"/>
                <a:ea typeface="Times New Roman"/>
              </a:rPr>
              <a:t>label</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branch to command : </a:t>
            </a:r>
            <a:r>
              <a:rPr b="0" i="1" lang="en-IN" sz="1200" strike="noStrike" u="none">
                <a:solidFill>
                  <a:srgbClr val="000000"/>
                </a:solidFill>
                <a:effectLst/>
                <a:uFillTx/>
                <a:latin typeface="Times New Roman"/>
                <a:ea typeface="Times New Roman"/>
              </a:rPr>
              <a:t>label</a:t>
            </a:r>
            <a:endParaRPr b="0" lang="en-IN" sz="1200" strike="noStrike" u="none">
              <a:solidFill>
                <a:srgbClr val="000000"/>
              </a:solidFill>
              <a:effectLst/>
              <a:uFillTx/>
              <a:latin typeface="Arial"/>
            </a:endParaRPr>
          </a:p>
          <a:p>
            <a:pPr marL="285840" indent="-285840">
              <a:lnSpc>
                <a:spcPct val="90000"/>
              </a:lnSpc>
              <a:spcBef>
                <a:spcPts val="720"/>
              </a:spcBef>
            </a:pPr>
            <a:r>
              <a:rPr b="0" lang="en-IN" sz="1200" strike="noStrike" u="none">
                <a:solidFill>
                  <a:srgbClr val="000000"/>
                </a:solidFill>
                <a:effectLst/>
                <a:uFillTx/>
                <a:latin typeface="Times New Roman"/>
                <a:ea typeface="Times New Roman"/>
              </a:rPr>
              <a:t>c\</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change lines to following text as in a command</a:t>
            </a:r>
            <a:endParaRPr b="0" lang="en-IN" sz="1200" strike="noStrike" u="none">
              <a:solidFill>
                <a:srgbClr val="000000"/>
              </a:solidFill>
              <a:effectLst/>
              <a:uFillTx/>
              <a:latin typeface="Arial"/>
            </a:endParaRPr>
          </a:p>
          <a:p>
            <a:pPr marL="285840" indent="-285840">
              <a:lnSpc>
                <a:spcPct val="90000"/>
              </a:lnSpc>
              <a:spcBef>
                <a:spcPts val="720"/>
              </a:spcBef>
            </a:pPr>
            <a:r>
              <a:rPr b="0" lang="en-IN" sz="1200" strike="noStrike" u="none">
                <a:solidFill>
                  <a:srgbClr val="000000"/>
                </a:solidFill>
                <a:effectLst/>
                <a:uFillTx/>
                <a:latin typeface="Times New Roman"/>
                <a:ea typeface="Times New Roman"/>
              </a:rPr>
              <a:t>d</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delete line; read next input line</a:t>
            </a:r>
            <a:endParaRPr b="0" lang="en-IN" sz="1200" strike="noStrike" u="none">
              <a:solidFill>
                <a:srgbClr val="000000"/>
              </a:solidFill>
              <a:effectLst/>
              <a:uFillTx/>
              <a:latin typeface="Arial"/>
            </a:endParaRPr>
          </a:p>
          <a:p>
            <a:pPr marL="285840" indent="-285840">
              <a:lnSpc>
                <a:spcPct val="90000"/>
              </a:lnSpc>
              <a:spcBef>
                <a:spcPts val="720"/>
              </a:spcBef>
            </a:pPr>
            <a:r>
              <a:rPr b="0" lang="en-IN" sz="1200" strike="noStrike" u="none">
                <a:solidFill>
                  <a:srgbClr val="000000"/>
                </a:solidFill>
                <a:effectLst/>
                <a:uFillTx/>
                <a:latin typeface="Times New Roman"/>
                <a:ea typeface="Times New Roman"/>
              </a:rPr>
              <a:t>i\</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insert following text before next output</a:t>
            </a:r>
            <a:endParaRPr b="0" lang="en-IN" sz="1200" strike="noStrike" u="none">
              <a:solidFill>
                <a:srgbClr val="000000"/>
              </a:solidFill>
              <a:effectLst/>
              <a:uFillTx/>
              <a:latin typeface="Arial"/>
            </a:endParaRPr>
          </a:p>
          <a:p>
            <a:pPr marL="285840" indent="-285840">
              <a:lnSpc>
                <a:spcPct val="90000"/>
              </a:lnSpc>
              <a:spcBef>
                <a:spcPts val="720"/>
              </a:spcBef>
            </a:pPr>
            <a:r>
              <a:rPr b="0" lang="en-IN" sz="1200" strike="noStrike" u="none">
                <a:solidFill>
                  <a:srgbClr val="000000"/>
                </a:solidFill>
                <a:effectLst/>
                <a:uFillTx/>
                <a:latin typeface="Times New Roman"/>
                <a:ea typeface="Times New Roman"/>
              </a:rPr>
              <a:t>l</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list line, making all non-printing characters visible</a:t>
            </a:r>
            <a:endParaRPr b="0" lang="en-IN" sz="1200" strike="noStrike" u="none">
              <a:solidFill>
                <a:srgbClr val="000000"/>
              </a:solidFill>
              <a:effectLst/>
              <a:uFillTx/>
              <a:latin typeface="Arial"/>
            </a:endParaRPr>
          </a:p>
          <a:p>
            <a:pPr marL="285840" indent="-285840">
              <a:lnSpc>
                <a:spcPct val="90000"/>
              </a:lnSpc>
              <a:spcBef>
                <a:spcPts val="720"/>
              </a:spcBef>
            </a:pPr>
            <a:r>
              <a:rPr b="0" lang="en-IN" sz="1200" strike="noStrike" u="none">
                <a:solidFill>
                  <a:srgbClr val="000000"/>
                </a:solidFill>
                <a:effectLst/>
                <a:uFillTx/>
                <a:latin typeface="Times New Roman"/>
                <a:ea typeface="Times New Roman"/>
              </a:rPr>
              <a:t>p</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print line</a:t>
            </a:r>
            <a:endParaRPr b="0" lang="en-IN" sz="1200" strike="noStrike" u="none">
              <a:solidFill>
                <a:srgbClr val="000000"/>
              </a:solidFill>
              <a:effectLst/>
              <a:uFillTx/>
              <a:latin typeface="Arial"/>
            </a:endParaRPr>
          </a:p>
          <a:p>
            <a:pPr marL="285840" indent="-285840">
              <a:lnSpc>
                <a:spcPct val="90000"/>
              </a:lnSpc>
              <a:spcBef>
                <a:spcPts val="720"/>
              </a:spcBef>
            </a:pPr>
            <a:r>
              <a:rPr b="0" lang="en-IN" sz="1200" strike="noStrike" u="none">
                <a:solidFill>
                  <a:srgbClr val="000000"/>
                </a:solidFill>
                <a:effectLst/>
                <a:uFillTx/>
                <a:latin typeface="Times New Roman"/>
                <a:ea typeface="Times New Roman"/>
              </a:rPr>
              <a:t>q</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quit</a:t>
            </a:r>
            <a:endParaRPr b="0" lang="en-IN" sz="1200" strike="noStrike" u="none">
              <a:solidFill>
                <a:srgbClr val="000000"/>
              </a:solidFill>
              <a:effectLst/>
              <a:uFillTx/>
              <a:latin typeface="Arial"/>
            </a:endParaRPr>
          </a:p>
          <a:p>
            <a:pPr marL="285840" indent="-285840">
              <a:lnSpc>
                <a:spcPct val="90000"/>
              </a:lnSpc>
              <a:spcBef>
                <a:spcPts val="720"/>
              </a:spcBef>
            </a:pPr>
            <a:r>
              <a:rPr b="0" lang="en-IN" sz="1200" strike="noStrike" u="none">
                <a:solidFill>
                  <a:srgbClr val="000000"/>
                </a:solidFill>
                <a:effectLst/>
                <a:uFillTx/>
                <a:latin typeface="Times New Roman"/>
                <a:ea typeface="Times New Roman"/>
              </a:rPr>
              <a:t>r </a:t>
            </a:r>
            <a:r>
              <a:rPr b="0" i="1" lang="en-IN" sz="1200" strike="noStrike" u="none">
                <a:solidFill>
                  <a:srgbClr val="000000"/>
                </a:solidFill>
                <a:effectLst/>
                <a:uFillTx/>
                <a:latin typeface="Times New Roman"/>
                <a:ea typeface="Times New Roman"/>
              </a:rPr>
              <a:t>file</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read </a:t>
            </a:r>
            <a:r>
              <a:rPr b="0" i="1" lang="en-IN" sz="1200" strike="noStrike" u="none">
                <a:solidFill>
                  <a:srgbClr val="000000"/>
                </a:solidFill>
                <a:effectLst/>
                <a:uFillTx/>
                <a:latin typeface="Times New Roman"/>
                <a:ea typeface="Times New Roman"/>
              </a:rPr>
              <a:t>file</a:t>
            </a:r>
            <a:r>
              <a:rPr b="0" lang="en-IN" sz="1200" strike="noStrike" u="none">
                <a:solidFill>
                  <a:srgbClr val="000000"/>
                </a:solidFill>
                <a:effectLst/>
                <a:uFillTx/>
                <a:latin typeface="Times New Roman"/>
                <a:ea typeface="Times New Roman"/>
              </a:rPr>
              <a:t>, copy contents to output</a:t>
            </a:r>
            <a:endParaRPr b="0" lang="en-IN" sz="1200" strike="noStrike" u="none">
              <a:solidFill>
                <a:srgbClr val="000000"/>
              </a:solidFill>
              <a:effectLst/>
              <a:uFillTx/>
              <a:latin typeface="Arial"/>
            </a:endParaRPr>
          </a:p>
          <a:p>
            <a:pPr marL="285840" indent="-285840">
              <a:lnSpc>
                <a:spcPct val="90000"/>
              </a:lnSpc>
              <a:spcBef>
                <a:spcPts val="720"/>
              </a:spcBef>
            </a:pPr>
            <a:r>
              <a:rPr b="0" lang="en-IN" sz="1200" strike="noStrike" u="none">
                <a:solidFill>
                  <a:srgbClr val="000000"/>
                </a:solidFill>
                <a:effectLst/>
                <a:uFillTx/>
                <a:latin typeface="Times New Roman"/>
                <a:ea typeface="Times New Roman"/>
              </a:rPr>
              <a:t>s/</a:t>
            </a:r>
            <a:r>
              <a:rPr b="0" i="1" lang="en-IN" sz="1200" strike="noStrike" u="none">
                <a:solidFill>
                  <a:srgbClr val="000000"/>
                </a:solidFill>
                <a:effectLst/>
                <a:uFillTx/>
                <a:latin typeface="Times New Roman"/>
                <a:ea typeface="Times New Roman"/>
              </a:rPr>
              <a:t>old</a:t>
            </a:r>
            <a:r>
              <a:rPr b="0" lang="en-IN" sz="1200" strike="noStrike" u="none">
                <a:solidFill>
                  <a:srgbClr val="000000"/>
                </a:solidFill>
                <a:effectLst/>
                <a:uFillTx/>
                <a:latin typeface="Times New Roman"/>
                <a:ea typeface="Times New Roman"/>
              </a:rPr>
              <a:t>/</a:t>
            </a:r>
            <a:r>
              <a:rPr b="0" i="1" lang="en-IN" sz="1200" strike="noStrike" u="none">
                <a:solidFill>
                  <a:srgbClr val="000000"/>
                </a:solidFill>
                <a:effectLst/>
                <a:uFillTx/>
                <a:latin typeface="Times New Roman"/>
                <a:ea typeface="Times New Roman"/>
              </a:rPr>
              <a:t>new</a:t>
            </a:r>
            <a:r>
              <a:rPr b="0" lang="en-IN" sz="1200" strike="noStrike" u="none">
                <a:solidFill>
                  <a:srgbClr val="000000"/>
                </a:solidFill>
                <a:effectLst/>
                <a:uFillTx/>
                <a:latin typeface="Times New Roman"/>
                <a:ea typeface="Times New Roman"/>
              </a:rPr>
              <a:t>/</a:t>
            </a:r>
            <a:r>
              <a:rPr b="0" i="1" lang="en-IN" sz="1200" strike="noStrike" u="none">
                <a:solidFill>
                  <a:srgbClr val="000000"/>
                </a:solidFill>
                <a:effectLst/>
                <a:uFillTx/>
                <a:latin typeface="Times New Roman"/>
                <a:ea typeface="Times New Roman"/>
              </a:rPr>
              <a:t>f</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substitute </a:t>
            </a:r>
            <a:r>
              <a:rPr b="0" i="1" lang="en-IN" sz="1200" strike="noStrike" u="none">
                <a:solidFill>
                  <a:srgbClr val="000000"/>
                </a:solidFill>
                <a:effectLst/>
                <a:uFillTx/>
                <a:latin typeface="Times New Roman"/>
                <a:ea typeface="Times New Roman"/>
              </a:rPr>
              <a:t>new</a:t>
            </a:r>
            <a:r>
              <a:rPr b="0" lang="en-IN" sz="1200" strike="noStrike" u="none">
                <a:solidFill>
                  <a:srgbClr val="000000"/>
                </a:solidFill>
                <a:effectLst/>
                <a:uFillTx/>
                <a:latin typeface="Times New Roman"/>
                <a:ea typeface="Times New Roman"/>
              </a:rPr>
              <a:t> for </a:t>
            </a:r>
            <a:r>
              <a:rPr b="0" i="1" lang="en-IN" sz="1200" strike="noStrike" u="none">
                <a:solidFill>
                  <a:srgbClr val="000000"/>
                </a:solidFill>
                <a:effectLst/>
                <a:uFillTx/>
                <a:latin typeface="Times New Roman"/>
                <a:ea typeface="Times New Roman"/>
              </a:rPr>
              <a:t>old</a:t>
            </a:r>
            <a:r>
              <a:rPr b="0" lang="en-IN" sz="1200" strike="noStrike" u="none">
                <a:solidFill>
                  <a:srgbClr val="000000"/>
                </a:solidFill>
                <a:effectLst/>
                <a:uFillTx/>
                <a:latin typeface="Times New Roman"/>
                <a:ea typeface="Times New Roman"/>
              </a:rPr>
              <a:t>.  If </a:t>
            </a:r>
            <a:r>
              <a:rPr b="0" i="1" lang="en-IN" sz="1200" strike="noStrike" u="none">
                <a:solidFill>
                  <a:srgbClr val="000000"/>
                </a:solidFill>
                <a:effectLst/>
                <a:uFillTx/>
                <a:latin typeface="Times New Roman"/>
                <a:ea typeface="Times New Roman"/>
              </a:rPr>
              <a:t>f</a:t>
            </a:r>
            <a:r>
              <a:rPr b="0" lang="en-IN" sz="1200" strike="noStrike" u="none">
                <a:solidFill>
                  <a:srgbClr val="000000"/>
                </a:solidFill>
                <a:effectLst/>
                <a:uFillTx/>
                <a:latin typeface="Times New Roman"/>
                <a:ea typeface="Times New Roman"/>
              </a:rPr>
              <a:t>=g, replace all occurrences;  </a:t>
            </a:r>
            <a:r>
              <a:rPr b="0" i="1" lang="en-IN" sz="1200" strike="noStrike" u="none">
                <a:solidFill>
                  <a:srgbClr val="000000"/>
                </a:solidFill>
                <a:effectLst/>
                <a:uFillTx/>
                <a:latin typeface="Times New Roman"/>
                <a:ea typeface="Times New Roman"/>
              </a:rPr>
              <a:t>f</a:t>
            </a:r>
            <a:r>
              <a:rPr b="0" lang="en-IN" sz="1200" strike="noStrike" u="none">
                <a:solidFill>
                  <a:srgbClr val="000000"/>
                </a:solidFill>
                <a:effectLst/>
                <a:uFillTx/>
                <a:latin typeface="Times New Roman"/>
                <a:ea typeface="Times New Roman"/>
              </a:rPr>
              <a:t>=p, print; </a:t>
            </a:r>
            <a:r>
              <a:rPr b="0" i="1" lang="en-IN" sz="1200" strike="noStrike" u="none">
                <a:solidFill>
                  <a:srgbClr val="000000"/>
                </a:solidFill>
                <a:effectLst/>
                <a:uFillTx/>
                <a:latin typeface="Times New Roman"/>
                <a:ea typeface="Times New Roman"/>
              </a:rPr>
              <a:t>f</a:t>
            </a:r>
            <a:r>
              <a:rPr b="0" lang="en-IN" sz="1200" strike="noStrike" u="none">
                <a:solidFill>
                  <a:srgbClr val="000000"/>
                </a:solidFill>
                <a:effectLst/>
                <a:uFillTx/>
                <a:latin typeface="Times New Roman"/>
                <a:ea typeface="Times New Roman"/>
              </a:rPr>
              <a:t>=w file, write to </a:t>
            </a:r>
            <a:r>
              <a:rPr b="0" i="1" lang="en-IN" sz="1200" strike="noStrike" u="none">
                <a:solidFill>
                  <a:srgbClr val="000000"/>
                </a:solidFill>
                <a:effectLst/>
                <a:uFillTx/>
                <a:latin typeface="Times New Roman"/>
                <a:ea typeface="Times New Roman"/>
              </a:rPr>
              <a:t>f</a:t>
            </a:r>
            <a:r>
              <a:rPr b="0" i="1" lang="en-IN" sz="1200" strike="noStrike" u="none">
                <a:solidFill>
                  <a:srgbClr val="000000"/>
                </a:solidFill>
                <a:effectLst/>
                <a:uFillTx/>
                <a:latin typeface="Times New Roman"/>
                <a:ea typeface="Times New Roman"/>
              </a:rPr>
              <a:t>	</a:t>
            </a:r>
            <a:r>
              <a:rPr b="0" i="1" lang="en-IN" sz="1200" strike="noStrike" u="none">
                <a:solidFill>
                  <a:srgbClr val="000000"/>
                </a:solidFill>
                <a:effectLst/>
                <a:uFillTx/>
                <a:latin typeface="Times New Roman"/>
                <a:ea typeface="Times New Roman"/>
              </a:rPr>
              <a:t>	</a:t>
            </a:r>
            <a:r>
              <a:rPr b="0" i="1" lang="en-IN" sz="1200" strike="noStrike" u="none">
                <a:solidFill>
                  <a:srgbClr val="000000"/>
                </a:solidFill>
                <a:effectLst/>
                <a:uFillTx/>
                <a:latin typeface="Times New Roman"/>
                <a:ea typeface="Times New Roman"/>
              </a:rPr>
              <a:t>	</a:t>
            </a:r>
            <a:r>
              <a:rPr b="0" i="1" lang="en-IN" sz="1200" strike="noStrike" u="none">
                <a:solidFill>
                  <a:srgbClr val="000000"/>
                </a:solidFill>
                <a:effectLst/>
                <a:uFillTx/>
                <a:latin typeface="Times New Roman"/>
                <a:ea typeface="Times New Roman"/>
              </a:rPr>
              <a:t>ile</a:t>
            </a:r>
            <a:endParaRPr b="0" lang="en-IN" sz="1200" strike="noStrike" u="none">
              <a:solidFill>
                <a:srgbClr val="000000"/>
              </a:solidFill>
              <a:effectLst/>
              <a:uFillTx/>
              <a:latin typeface="Arial"/>
            </a:endParaRPr>
          </a:p>
          <a:p>
            <a:pPr marL="285840" indent="-285840">
              <a:lnSpc>
                <a:spcPct val="90000"/>
              </a:lnSpc>
              <a:spcBef>
                <a:spcPts val="720"/>
              </a:spcBef>
            </a:pPr>
            <a:r>
              <a:rPr b="0" lang="en-IN" sz="1200" strike="noStrike" u="none">
                <a:solidFill>
                  <a:srgbClr val="000000"/>
                </a:solidFill>
                <a:effectLst/>
                <a:uFillTx/>
                <a:latin typeface="Times New Roman"/>
                <a:ea typeface="Times New Roman"/>
              </a:rPr>
              <a:t>t </a:t>
            </a:r>
            <a:r>
              <a:rPr b="0" i="1" lang="en-IN" sz="1200" strike="noStrike" u="none">
                <a:solidFill>
                  <a:srgbClr val="000000"/>
                </a:solidFill>
                <a:effectLst/>
                <a:uFillTx/>
                <a:latin typeface="Times New Roman"/>
                <a:ea typeface="Times New Roman"/>
              </a:rPr>
              <a:t>label</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test; branch to </a:t>
            </a:r>
            <a:r>
              <a:rPr b="0" i="1" lang="en-IN" sz="1200" strike="noStrike" u="none">
                <a:solidFill>
                  <a:srgbClr val="000000"/>
                </a:solidFill>
                <a:effectLst/>
                <a:uFillTx/>
                <a:latin typeface="Times New Roman"/>
                <a:ea typeface="Times New Roman"/>
              </a:rPr>
              <a:t>label</a:t>
            </a:r>
            <a:r>
              <a:rPr b="0" lang="en-IN" sz="1200" strike="noStrike" u="none">
                <a:solidFill>
                  <a:srgbClr val="000000"/>
                </a:solidFill>
                <a:effectLst/>
                <a:uFillTx/>
                <a:latin typeface="Times New Roman"/>
                <a:ea typeface="Times New Roman"/>
              </a:rPr>
              <a:t> if substitution made to current line</a:t>
            </a:r>
            <a:endParaRPr b="0" lang="en-IN" sz="1200" strike="noStrike" u="none">
              <a:solidFill>
                <a:srgbClr val="000000"/>
              </a:solidFill>
              <a:effectLst/>
              <a:uFillTx/>
              <a:latin typeface="Arial"/>
            </a:endParaRPr>
          </a:p>
          <a:p>
            <a:pPr marL="285840" indent="-285840">
              <a:lnSpc>
                <a:spcPct val="90000"/>
              </a:lnSpc>
              <a:spcBef>
                <a:spcPts val="720"/>
              </a:spcBef>
            </a:pPr>
            <a:r>
              <a:rPr b="0" lang="en-IN" sz="1200" strike="noStrike" u="none">
                <a:solidFill>
                  <a:srgbClr val="000000"/>
                </a:solidFill>
                <a:effectLst/>
                <a:uFillTx/>
                <a:latin typeface="Times New Roman"/>
                <a:ea typeface="Times New Roman"/>
              </a:rPr>
              <a:t>w </a:t>
            </a:r>
            <a:r>
              <a:rPr b="0" i="1" lang="en-IN" sz="1200" strike="noStrike" u="none">
                <a:solidFill>
                  <a:srgbClr val="000000"/>
                </a:solidFill>
                <a:effectLst/>
                <a:uFillTx/>
                <a:latin typeface="Times New Roman"/>
                <a:ea typeface="Times New Roman"/>
              </a:rPr>
              <a:t>file</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write line to </a:t>
            </a:r>
            <a:r>
              <a:rPr b="0" i="1" lang="en-IN" sz="1200" strike="noStrike" u="none">
                <a:solidFill>
                  <a:srgbClr val="000000"/>
                </a:solidFill>
                <a:effectLst/>
                <a:uFillTx/>
                <a:latin typeface="Times New Roman"/>
                <a:ea typeface="Times New Roman"/>
              </a:rPr>
              <a:t>file</a:t>
            </a:r>
            <a:endParaRPr b="0" lang="en-IN" sz="1200" strike="noStrike" u="none">
              <a:solidFill>
                <a:srgbClr val="000000"/>
              </a:solidFill>
              <a:effectLst/>
              <a:uFillTx/>
              <a:latin typeface="Arial"/>
            </a:endParaRPr>
          </a:p>
          <a:p>
            <a:pPr marL="285840" indent="-285840">
              <a:lnSpc>
                <a:spcPct val="90000"/>
              </a:lnSpc>
              <a:spcBef>
                <a:spcPts val="720"/>
              </a:spcBef>
            </a:pPr>
            <a:r>
              <a:rPr b="0" lang="en-IN" sz="1200" strike="noStrike" u="none">
                <a:solidFill>
                  <a:srgbClr val="000000"/>
                </a:solidFill>
                <a:effectLst/>
                <a:uFillTx/>
                <a:latin typeface="Times New Roman"/>
                <a:ea typeface="Times New Roman"/>
              </a:rPr>
              <a:t>y/</a:t>
            </a:r>
            <a:r>
              <a:rPr b="0" i="1" lang="en-IN" sz="1200" strike="noStrike" u="none">
                <a:solidFill>
                  <a:srgbClr val="000000"/>
                </a:solidFill>
                <a:effectLst/>
                <a:uFillTx/>
                <a:latin typeface="Times New Roman"/>
                <a:ea typeface="Times New Roman"/>
              </a:rPr>
              <a:t>str1</a:t>
            </a:r>
            <a:r>
              <a:rPr b="0" lang="en-IN" sz="1200" strike="noStrike" u="none">
                <a:solidFill>
                  <a:srgbClr val="000000"/>
                </a:solidFill>
                <a:effectLst/>
                <a:uFillTx/>
                <a:latin typeface="Times New Roman"/>
                <a:ea typeface="Times New Roman"/>
              </a:rPr>
              <a:t>/</a:t>
            </a:r>
            <a:r>
              <a:rPr b="0" i="1" lang="en-IN" sz="1200" strike="noStrike" u="none">
                <a:solidFill>
                  <a:srgbClr val="000000"/>
                </a:solidFill>
                <a:effectLst/>
                <a:uFillTx/>
                <a:latin typeface="Times New Roman"/>
                <a:ea typeface="Times New Roman"/>
              </a:rPr>
              <a:t>str2</a:t>
            </a:r>
            <a:r>
              <a:rPr b="0" lang="en-IN" sz="1200" strike="noStrike" u="none">
                <a:solidFill>
                  <a:srgbClr val="000000"/>
                </a:solidFill>
                <a:effectLst/>
                <a:uFillTx/>
                <a:latin typeface="Times New Roman"/>
                <a:ea typeface="Times New Roman"/>
              </a:rPr>
              <a:t>/</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replace each character from </a:t>
            </a:r>
            <a:r>
              <a:rPr b="0" i="1" lang="en-IN" sz="1200" strike="noStrike" u="none">
                <a:solidFill>
                  <a:srgbClr val="000000"/>
                </a:solidFill>
                <a:effectLst/>
                <a:uFillTx/>
                <a:latin typeface="Times New Roman"/>
                <a:ea typeface="Times New Roman"/>
              </a:rPr>
              <a:t>str1</a:t>
            </a:r>
            <a:r>
              <a:rPr b="0" lang="en-IN" sz="1200" strike="noStrike" u="none">
                <a:solidFill>
                  <a:srgbClr val="000000"/>
                </a:solidFill>
                <a:effectLst/>
                <a:uFillTx/>
                <a:latin typeface="Times New Roman"/>
                <a:ea typeface="Times New Roman"/>
              </a:rPr>
              <a:t> with corresponding character from </a:t>
            </a:r>
            <a:r>
              <a:rPr b="0" i="1" lang="en-IN" sz="1200" strike="noStrike" u="none">
                <a:solidFill>
                  <a:srgbClr val="000000"/>
                </a:solidFill>
                <a:effectLst/>
                <a:uFillTx/>
                <a:latin typeface="Times New Roman"/>
                <a:ea typeface="Times New Roman"/>
              </a:rPr>
              <a:t>str2</a:t>
            </a:r>
            <a:r>
              <a:rPr b="0" lang="en-IN" sz="1200" strike="noStrike" u="none">
                <a:solidFill>
                  <a:srgbClr val="000000"/>
                </a:solidFill>
                <a:effectLst/>
                <a:uFillTx/>
                <a:latin typeface="Times New Roman"/>
                <a:ea typeface="Times New Roman"/>
              </a:rPr>
              <a:t> (no ranges </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allowed)</a:t>
            </a:r>
            <a:endParaRPr b="0" lang="en-IN" sz="1200" strike="noStrike" u="none">
              <a:solidFill>
                <a:srgbClr val="000000"/>
              </a:solidFill>
              <a:effectLst/>
              <a:uFillTx/>
              <a:latin typeface="Arial"/>
            </a:endParaRPr>
          </a:p>
          <a:p>
            <a:pPr marL="285840" indent="-285840">
              <a:lnSpc>
                <a:spcPct val="90000"/>
              </a:lnSpc>
              <a:spcBef>
                <a:spcPts val="720"/>
              </a:spcBef>
            </a:pPr>
            <a:r>
              <a:rPr b="0" lang="en-IN" sz="1200" strike="noStrike" u="none">
                <a:solidFill>
                  <a:srgbClr val="000000"/>
                </a:solidFill>
                <a:effectLst/>
                <a:uFillTx/>
                <a:latin typeface="Times New Roman"/>
                <a:ea typeface="Times New Roman"/>
              </a:rPr>
              <a:t>=</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print current input line number</a:t>
            </a:r>
            <a:endParaRPr b="0" lang="en-IN" sz="1200" strike="noStrike" u="none">
              <a:solidFill>
                <a:srgbClr val="000000"/>
              </a:solidFill>
              <a:effectLst/>
              <a:uFillTx/>
              <a:latin typeface="Arial"/>
            </a:endParaRPr>
          </a:p>
          <a:p>
            <a:pPr marL="285840" indent="-285840">
              <a:lnSpc>
                <a:spcPct val="90000"/>
              </a:lnSpc>
              <a:spcBef>
                <a:spcPts val="720"/>
              </a:spcBef>
            </a:pPr>
            <a:r>
              <a:rPr b="0" lang="en-IN" sz="1200" strike="noStrike" u="none">
                <a:solidFill>
                  <a:srgbClr val="000000"/>
                </a:solidFill>
                <a:effectLst/>
                <a:uFillTx/>
                <a:latin typeface="Times New Roman"/>
                <a:ea typeface="Times New Roman"/>
              </a:rPr>
              <a:t>!</a:t>
            </a:r>
            <a:r>
              <a:rPr b="0" i="1" lang="en-IN" sz="1200" strike="noStrike" u="none">
                <a:solidFill>
                  <a:srgbClr val="000000"/>
                </a:solidFill>
                <a:effectLst/>
                <a:uFillTx/>
                <a:latin typeface="Times New Roman"/>
                <a:ea typeface="Times New Roman"/>
              </a:rPr>
              <a:t>cmd</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do sed </a:t>
            </a:r>
            <a:r>
              <a:rPr b="0" i="1" lang="en-IN" sz="1200" strike="noStrike" u="none">
                <a:solidFill>
                  <a:srgbClr val="000000"/>
                </a:solidFill>
                <a:effectLst/>
                <a:uFillTx/>
                <a:latin typeface="Times New Roman"/>
                <a:ea typeface="Times New Roman"/>
              </a:rPr>
              <a:t>cmd</a:t>
            </a:r>
            <a:r>
              <a:rPr b="0" lang="en-IN" sz="1200" strike="noStrike" u="none">
                <a:solidFill>
                  <a:srgbClr val="000000"/>
                </a:solidFill>
                <a:effectLst/>
                <a:uFillTx/>
                <a:latin typeface="Times New Roman"/>
                <a:ea typeface="Times New Roman"/>
              </a:rPr>
              <a:t> only if line is not selected</a:t>
            </a:r>
            <a:endParaRPr b="0" lang="en-IN" sz="1200" strike="noStrike" u="none">
              <a:solidFill>
                <a:srgbClr val="000000"/>
              </a:solidFill>
              <a:effectLst/>
              <a:uFillTx/>
              <a:latin typeface="Arial"/>
            </a:endParaRPr>
          </a:p>
          <a:p>
            <a:pPr marL="285840" indent="-285840">
              <a:lnSpc>
                <a:spcPct val="90000"/>
              </a:lnSpc>
              <a:spcBef>
                <a:spcPts val="720"/>
              </a:spcBef>
            </a:pPr>
            <a:r>
              <a:rPr b="0" lang="en-IN" sz="1200" strike="noStrike" u="none">
                <a:solidFill>
                  <a:srgbClr val="000000"/>
                </a:solidFill>
                <a:effectLst/>
                <a:uFillTx/>
                <a:latin typeface="Times New Roman"/>
                <a:ea typeface="Times New Roman"/>
              </a:rPr>
              <a:t>: </a:t>
            </a:r>
            <a:r>
              <a:rPr b="0" i="1" lang="en-IN" sz="1200" strike="noStrike" u="none">
                <a:solidFill>
                  <a:srgbClr val="000000"/>
                </a:solidFill>
                <a:effectLst/>
                <a:uFillTx/>
                <a:latin typeface="Times New Roman"/>
                <a:ea typeface="Times New Roman"/>
              </a:rPr>
              <a:t>label</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set label for b and t commands</a:t>
            </a:r>
            <a:endParaRPr b="0" lang="en-IN" sz="1200" strike="noStrike" u="none">
              <a:solidFill>
                <a:srgbClr val="000000"/>
              </a:solidFill>
              <a:effectLst/>
              <a:uFillTx/>
              <a:latin typeface="Arial"/>
            </a:endParaRPr>
          </a:p>
          <a:p>
            <a:pPr marL="285840" indent="-285840">
              <a:lnSpc>
                <a:spcPct val="90000"/>
              </a:lnSpc>
              <a:spcBef>
                <a:spcPts val="720"/>
              </a:spcBef>
            </a:pPr>
            <a:r>
              <a:rPr b="0" lang="en-IN" sz="1200" strike="noStrike" u="none">
                <a:solidFill>
                  <a:srgbClr val="000000"/>
                </a:solidFill>
                <a:effectLst/>
                <a:uFillTx/>
                <a:latin typeface="Times New Roman"/>
                <a:ea typeface="Times New Roman"/>
              </a:rPr>
              <a:t>{</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treat commands up to matching } as a group</a:t>
            </a:r>
            <a:endParaRPr b="0" lang="en-IN" sz="1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7" name=""/>
          <p:cNvSpPr txBox="1"/>
          <p:nvPr/>
        </p:nvSpPr>
        <p:spPr>
          <a:xfrm>
            <a:off x="996840" y="685800"/>
            <a:ext cx="715644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Exercise: sed</a:t>
            </a:r>
            <a:endParaRPr b="0" lang="en-IN" sz="3600" strike="noStrike" u="none">
              <a:solidFill>
                <a:srgbClr val="000000"/>
              </a:solidFill>
              <a:effectLst/>
              <a:uFillTx/>
              <a:latin typeface="Arial"/>
            </a:endParaRPr>
          </a:p>
        </p:txBody>
      </p:sp>
      <p:sp>
        <p:nvSpPr>
          <p:cNvPr id="288" name=""/>
          <p:cNvSpPr txBox="1"/>
          <p:nvPr/>
        </p:nvSpPr>
        <p:spPr>
          <a:xfrm>
            <a:off x="990720" y="1981080"/>
            <a:ext cx="7162920" cy="4114800"/>
          </a:xfrm>
          <a:prstGeom prst="rect">
            <a:avLst/>
          </a:prstGeom>
          <a:noFill/>
          <a:ln w="0">
            <a:noFill/>
          </a:ln>
        </p:spPr>
        <p:txBody>
          <a:bodyPr lIns="0" rIns="0" tIns="0" bIns="0" anchor="t">
            <a:spAutoFit/>
          </a:bodyPr>
          <a:p>
            <a:pPr marL="285840" indent="-285840">
              <a:lnSpc>
                <a:spcPct val="90000"/>
              </a:lnSpc>
              <a:spcBef>
                <a:spcPts val="720"/>
              </a:spcBef>
            </a:pPr>
            <a:r>
              <a:rPr b="0" lang="en-IN" sz="2400" strike="noStrike" u="none">
                <a:solidFill>
                  <a:srgbClr val="000000"/>
                </a:solidFill>
                <a:effectLst/>
                <a:uFillTx/>
                <a:latin typeface="Times New Roman"/>
                <a:ea typeface="Times New Roman"/>
              </a:rPr>
              <a:t>Modify the sample </a:t>
            </a:r>
            <a:r>
              <a:rPr b="0" i="1" lang="en-IN" sz="2400" strike="noStrike" u="none">
                <a:solidFill>
                  <a:srgbClr val="000000"/>
                </a:solidFill>
                <a:effectLst/>
                <a:uFillTx/>
                <a:latin typeface="Times New Roman"/>
                <a:ea typeface="Times New Roman"/>
              </a:rPr>
              <a:t>sed</a:t>
            </a:r>
            <a:r>
              <a:rPr b="0" lang="en-IN" sz="2400" strike="noStrike" u="none">
                <a:solidFill>
                  <a:srgbClr val="000000"/>
                </a:solidFill>
                <a:effectLst/>
                <a:uFillTx/>
                <a:latin typeface="Times New Roman"/>
                <a:ea typeface="Times New Roman"/>
              </a:rPr>
              <a:t> command to list userids and login times so that the login times appear at the beginning of the line, </a:t>
            </a:r>
            <a:r>
              <a:rPr b="0" i="1" lang="en-IN" sz="2400" strike="noStrike" u="none">
                <a:solidFill>
                  <a:srgbClr val="000000"/>
                </a:solidFill>
                <a:effectLst/>
                <a:uFillTx/>
                <a:latin typeface="Times New Roman"/>
                <a:ea typeface="Times New Roman"/>
              </a:rPr>
              <a:t>e.g.</a:t>
            </a:r>
            <a:endParaRPr b="0" lang="en-IN" sz="2400" strike="noStrike" u="none">
              <a:solidFill>
                <a:srgbClr val="000000"/>
              </a:solidFill>
              <a:effectLst/>
              <a:uFillTx/>
              <a:latin typeface="Arial"/>
            </a:endParaRPr>
          </a:p>
          <a:p>
            <a:pPr marL="285840" indent="-285840">
              <a:lnSpc>
                <a:spcPct val="90000"/>
              </a:lnSpc>
              <a:spcBef>
                <a:spcPts val="720"/>
              </a:spcBef>
            </a:pP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 </a:t>
            </a:r>
            <a:r>
              <a:rPr b="0" i="1" lang="en-IN" sz="1800" strike="noStrike" u="none">
                <a:solidFill>
                  <a:srgbClr val="000000"/>
                </a:solidFill>
                <a:effectLst/>
                <a:uFillTx/>
                <a:latin typeface="Times New Roman"/>
                <a:ea typeface="Times New Roman"/>
              </a:rPr>
              <a:t>who | sed </a:t>
            </a:r>
            <a:r>
              <a:rPr b="0" lang="en-IN" sz="1800" strike="noStrike" u="none">
                <a:solidFill>
                  <a:srgbClr val="000000"/>
                </a:solidFill>
                <a:effectLst/>
                <a:uFillTx/>
                <a:latin typeface="Times New Roman"/>
                <a:ea typeface="Times New Roman"/>
              </a:rPr>
              <a:t>...</a:t>
            </a:r>
            <a:endParaRPr b="0" lang="en-IN" sz="1800" strike="noStrike" u="none">
              <a:solidFill>
                <a:srgbClr val="000000"/>
              </a:solidFill>
              <a:effectLst/>
              <a:uFillTx/>
              <a:latin typeface="Arial"/>
            </a:endParaRPr>
          </a:p>
          <a:p>
            <a:pPr marL="285840" indent="-285840">
              <a:lnSpc>
                <a:spcPct val="90000"/>
              </a:lnSpc>
              <a:spcBef>
                <a:spcPts val="720"/>
              </a:spcBef>
            </a:pP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11:14 root</a:t>
            </a:r>
            <a:endParaRPr b="0" lang="en-IN" sz="1800" strike="noStrike" u="none">
              <a:solidFill>
                <a:srgbClr val="000000"/>
              </a:solidFill>
              <a:effectLst/>
              <a:uFillTx/>
              <a:latin typeface="Arial"/>
            </a:endParaRPr>
          </a:p>
          <a:p>
            <a:pPr marL="285840" indent="-285840">
              <a:lnSpc>
                <a:spcPct val="90000"/>
              </a:lnSpc>
              <a:spcBef>
                <a:spcPts val="720"/>
              </a:spcBef>
            </a:pP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10:52 class</a:t>
            </a:r>
            <a:endParaRPr b="0" lang="en-IN" sz="1800" strike="noStrike" u="none">
              <a:solidFill>
                <a:srgbClr val="000000"/>
              </a:solidFill>
              <a:effectLst/>
              <a:uFillTx/>
              <a:latin typeface="Arial"/>
            </a:endParaRPr>
          </a:p>
          <a:p>
            <a:pPr marL="285840" indent="-285840">
              <a:lnSpc>
                <a:spcPct val="90000"/>
              </a:lnSpc>
              <a:spcBef>
                <a:spcPts val="720"/>
              </a:spcBef>
            </a:pP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09:39 leb</a:t>
            </a:r>
            <a:endParaRPr b="0" lang="en-IN" sz="1800" strike="noStrike" u="none">
              <a:solidFill>
                <a:srgbClr val="000000"/>
              </a:solidFill>
              <a:effectLst/>
              <a:uFillTx/>
              <a:latin typeface="Arial"/>
            </a:endParaRPr>
          </a:p>
          <a:p>
            <a:pPr marL="285840" indent="-285840">
              <a:lnSpc>
                <a:spcPct val="90000"/>
              </a:lnSpc>
              <a:spcBef>
                <a:spcPts val="720"/>
              </a:spcBef>
            </a:pPr>
            <a:r>
              <a:rPr b="0" lang="en-IN" sz="2400" strike="noStrike" u="none">
                <a:solidFill>
                  <a:srgbClr val="000000"/>
                </a:solidFill>
                <a:effectLst/>
                <a:uFillTx/>
                <a:latin typeface="Times New Roman"/>
                <a:ea typeface="Times New Roman"/>
              </a:rPr>
              <a:t>Hint: remember tagged regular expressions from </a:t>
            </a:r>
            <a:r>
              <a:rPr b="0" i="1" lang="en-IN" sz="2400" strike="noStrike" u="none">
                <a:solidFill>
                  <a:srgbClr val="000000"/>
                </a:solidFill>
                <a:effectLst/>
                <a:uFillTx/>
                <a:latin typeface="Times New Roman"/>
                <a:ea typeface="Times New Roman"/>
              </a:rPr>
              <a:t>grep</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9" name=""/>
          <p:cNvSpPr txBox="1"/>
          <p:nvPr/>
        </p:nvSpPr>
        <p:spPr>
          <a:xfrm>
            <a:off x="996840" y="380880"/>
            <a:ext cx="7156440" cy="782640"/>
          </a:xfrm>
          <a:prstGeom prst="rect">
            <a:avLst/>
          </a:prstGeom>
          <a:noFill/>
          <a:ln w="0">
            <a:noFill/>
          </a:ln>
        </p:spPr>
        <p:txBody>
          <a:bodyPr lIns="0" rIns="0" tIns="0" bIns="0" anchor="t">
            <a:spAutoFit/>
          </a:bodyPr>
          <a:p>
            <a:pPr algn="ctr">
              <a:lnSpc>
                <a:spcPct val="80000"/>
              </a:lnSpc>
            </a:pPr>
            <a:r>
              <a:rPr b="1" lang="en-IN" sz="3600" strike="noStrike" u="none">
                <a:solidFill>
                  <a:srgbClr val="000000"/>
                </a:solidFill>
                <a:effectLst/>
                <a:uFillTx/>
                <a:latin typeface="Times New Roman"/>
                <a:ea typeface="Times New Roman"/>
              </a:rPr>
              <a:t>awk </a:t>
            </a:r>
            <a:br>
              <a:rPr sz="3600"/>
            </a:br>
            <a:r>
              <a:rPr b="1" lang="en-IN" sz="2400" strike="noStrike" u="none">
                <a:solidFill>
                  <a:srgbClr val="000000"/>
                </a:solidFill>
                <a:effectLst/>
                <a:uFillTx/>
                <a:latin typeface="Times New Roman"/>
                <a:ea typeface="Times New Roman"/>
              </a:rPr>
              <a:t>pattern scanning and processing language</a:t>
            </a:r>
            <a:endParaRPr b="0" lang="en-IN" sz="2400" strike="noStrike" u="none">
              <a:solidFill>
                <a:srgbClr val="000000"/>
              </a:solidFill>
              <a:effectLst/>
              <a:uFillTx/>
              <a:latin typeface="Arial"/>
            </a:endParaRPr>
          </a:p>
        </p:txBody>
      </p:sp>
      <p:sp>
        <p:nvSpPr>
          <p:cNvPr id="290" name=""/>
          <p:cNvSpPr txBox="1"/>
          <p:nvPr/>
        </p:nvSpPr>
        <p:spPr>
          <a:xfrm>
            <a:off x="1066680" y="1295280"/>
            <a:ext cx="7162920" cy="5334120"/>
          </a:xfrm>
          <a:prstGeom prst="rect">
            <a:avLst/>
          </a:prstGeom>
          <a:noFill/>
          <a:ln w="0">
            <a:noFill/>
          </a:ln>
        </p:spPr>
        <p:txBody>
          <a:bodyPr lIns="0" rIns="0" tIns="0" bIns="0" anchor="t">
            <a:spAutoFit/>
          </a:bodyPr>
          <a:p>
            <a:pPr marL="285840" indent="-285840">
              <a:lnSpc>
                <a:spcPct val="90000"/>
              </a:lnSpc>
              <a:spcBef>
                <a:spcPts val="720"/>
              </a:spcBef>
            </a:pPr>
            <a:r>
              <a:rPr b="0" i="1" lang="en-IN" sz="2400" strike="noStrike" u="none">
                <a:solidFill>
                  <a:srgbClr val="000000"/>
                </a:solidFill>
                <a:effectLst/>
                <a:uFillTx/>
                <a:latin typeface="Times New Roman"/>
                <a:ea typeface="Times New Roman"/>
              </a:rPr>
              <a:t>awk</a:t>
            </a:r>
            <a:r>
              <a:rPr b="0" lang="en-IN" sz="2400" strike="noStrike" u="none">
                <a:solidFill>
                  <a:srgbClr val="000000"/>
                </a:solidFill>
                <a:effectLst/>
                <a:uFillTx/>
                <a:latin typeface="Times New Roman"/>
                <a:ea typeface="Times New Roman"/>
              </a:rPr>
              <a:t> overcomes some of the limitations of </a:t>
            </a:r>
            <a:r>
              <a:rPr b="0" i="1" lang="en-IN" sz="2400" strike="noStrike" u="none">
                <a:solidFill>
                  <a:srgbClr val="000000"/>
                </a:solidFill>
                <a:effectLst/>
                <a:uFillTx/>
                <a:latin typeface="Times New Roman"/>
                <a:ea typeface="Times New Roman"/>
              </a:rPr>
              <a:t>sed</a:t>
            </a:r>
            <a:endParaRPr b="0" lang="en-IN" sz="24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arithmetic and builtin functions</a:t>
            </a:r>
            <a:endParaRPr b="0" lang="en-IN" sz="20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variables and arrays</a:t>
            </a:r>
            <a:endParaRPr b="0" lang="en-IN" sz="20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control flow (if, for, while)</a:t>
            </a:r>
            <a:endParaRPr b="0" lang="en-IN" sz="2000" strike="noStrike" u="none">
              <a:solidFill>
                <a:srgbClr val="000000"/>
              </a:solidFill>
              <a:effectLst/>
              <a:uFillTx/>
              <a:latin typeface="Arial"/>
            </a:endParaRPr>
          </a:p>
          <a:p>
            <a:pPr marL="285840" indent="-285840">
              <a:lnSpc>
                <a:spcPct val="90000"/>
              </a:lnSpc>
              <a:spcBef>
                <a:spcPts val="720"/>
              </a:spcBef>
            </a:pPr>
            <a:r>
              <a:rPr b="0" lang="en-IN" sz="2400" strike="noStrike" u="none">
                <a:solidFill>
                  <a:srgbClr val="000000"/>
                </a:solidFill>
                <a:effectLst/>
                <a:uFillTx/>
                <a:latin typeface="Times New Roman"/>
                <a:ea typeface="Times New Roman"/>
              </a:rPr>
              <a:t>Basic </a:t>
            </a:r>
            <a:r>
              <a:rPr b="0" i="1" lang="en-IN" sz="2400" strike="noStrike" u="none">
                <a:solidFill>
                  <a:srgbClr val="000000"/>
                </a:solidFill>
                <a:effectLst/>
                <a:uFillTx/>
                <a:latin typeface="Times New Roman"/>
                <a:ea typeface="Times New Roman"/>
              </a:rPr>
              <a:t>awk  </a:t>
            </a:r>
            <a:r>
              <a:rPr b="0" lang="en-IN" sz="2400" strike="noStrike" u="none">
                <a:solidFill>
                  <a:srgbClr val="000000"/>
                </a:solidFill>
                <a:effectLst/>
                <a:uFillTx/>
                <a:latin typeface="Times New Roman"/>
                <a:ea typeface="Times New Roman"/>
              </a:rPr>
              <a:t>programs are lists of patterns and actions, which are applied to each line of the input in turn</a:t>
            </a:r>
            <a:endParaRPr b="0" lang="en-IN" sz="2400" strike="noStrike" u="none">
              <a:solidFill>
                <a:srgbClr val="000000"/>
              </a:solidFill>
              <a:effectLst/>
              <a:uFillTx/>
              <a:latin typeface="Arial"/>
            </a:endParaRPr>
          </a:p>
          <a:p>
            <a:pPr marL="685800" indent="-228600">
              <a:lnSpc>
                <a:spcPct val="90000"/>
              </a:lnSpc>
              <a:spcBef>
                <a:spcPts val="720"/>
              </a:spcBef>
            </a:pPr>
            <a:r>
              <a:rPr b="0" i="1" lang="en-IN" sz="2000" strike="noStrike" u="none">
                <a:solidFill>
                  <a:srgbClr val="000000"/>
                </a:solidFill>
                <a:effectLst/>
                <a:uFillTx/>
                <a:latin typeface="Times New Roman"/>
                <a:ea typeface="Times New Roman"/>
              </a:rPr>
              <a:t>pattern</a:t>
            </a:r>
            <a:r>
              <a:rPr b="0" lang="en-IN" sz="2000" strike="noStrike" u="none">
                <a:solidFill>
                  <a:srgbClr val="000000"/>
                </a:solidFill>
                <a:effectLst/>
                <a:uFillTx/>
                <a:latin typeface="Times New Roman"/>
                <a:ea typeface="Times New Roman"/>
              </a:rPr>
              <a:t> { </a:t>
            </a:r>
            <a:r>
              <a:rPr b="0" i="1" lang="en-IN" sz="2000" strike="noStrike" u="none">
                <a:solidFill>
                  <a:srgbClr val="000000"/>
                </a:solidFill>
                <a:effectLst/>
                <a:uFillTx/>
                <a:latin typeface="Times New Roman"/>
                <a:ea typeface="Times New Roman"/>
              </a:rPr>
              <a:t>action</a:t>
            </a:r>
            <a:r>
              <a:rPr b="0" lang="en-IN" sz="2000" strike="noStrike" u="none">
                <a:solidFill>
                  <a:srgbClr val="000000"/>
                </a:solidFill>
                <a:effectLst/>
                <a:uFillTx/>
                <a:latin typeface="Times New Roman"/>
                <a:ea typeface="Times New Roman"/>
              </a:rPr>
              <a:t> }</a:t>
            </a:r>
            <a:endParaRPr b="0" lang="en-IN" sz="2000" strike="noStrike" u="none">
              <a:solidFill>
                <a:srgbClr val="000000"/>
              </a:solidFill>
              <a:effectLst/>
              <a:uFillTx/>
              <a:latin typeface="Arial"/>
            </a:endParaRPr>
          </a:p>
          <a:p>
            <a:pPr marL="685800" indent="-228600">
              <a:lnSpc>
                <a:spcPct val="90000"/>
              </a:lnSpc>
              <a:spcBef>
                <a:spcPts val="720"/>
              </a:spcBef>
            </a:pPr>
            <a:r>
              <a:rPr b="0" i="1" lang="en-IN" sz="2000" strike="noStrike" u="none">
                <a:solidFill>
                  <a:srgbClr val="000000"/>
                </a:solidFill>
                <a:effectLst/>
                <a:uFillTx/>
                <a:latin typeface="Times New Roman"/>
                <a:ea typeface="Times New Roman"/>
              </a:rPr>
              <a:t>pattern</a:t>
            </a:r>
            <a:r>
              <a:rPr b="0" lang="en-IN" sz="2000" strike="noStrike" u="none">
                <a:solidFill>
                  <a:srgbClr val="000000"/>
                </a:solidFill>
                <a:effectLst/>
                <a:uFillTx/>
                <a:latin typeface="Times New Roman"/>
                <a:ea typeface="Times New Roman"/>
              </a:rPr>
              <a:t> { </a:t>
            </a:r>
            <a:r>
              <a:rPr b="0" i="1" lang="en-IN" sz="2000" strike="noStrike" u="none">
                <a:solidFill>
                  <a:srgbClr val="000000"/>
                </a:solidFill>
                <a:effectLst/>
                <a:uFillTx/>
                <a:latin typeface="Times New Roman"/>
                <a:ea typeface="Times New Roman"/>
              </a:rPr>
              <a:t>action</a:t>
            </a:r>
            <a:r>
              <a:rPr b="0" lang="en-IN" sz="2000" strike="noStrike" u="none">
                <a:solidFill>
                  <a:srgbClr val="000000"/>
                </a:solidFill>
                <a:effectLst/>
                <a:uFillTx/>
                <a:latin typeface="Times New Roman"/>
                <a:ea typeface="Times New Roman"/>
              </a:rPr>
              <a:t> }</a:t>
            </a:r>
            <a:endParaRPr b="0" lang="en-IN" sz="2000" strike="noStrike" u="none">
              <a:solidFill>
                <a:srgbClr val="000000"/>
              </a:solidFill>
              <a:effectLst/>
              <a:uFillTx/>
              <a:latin typeface="Arial"/>
            </a:endParaRPr>
          </a:p>
          <a:p>
            <a:pPr marL="285840" indent="-285840">
              <a:lnSpc>
                <a:spcPct val="90000"/>
              </a:lnSpc>
              <a:spcBef>
                <a:spcPts val="720"/>
              </a:spcBef>
            </a:pPr>
            <a:r>
              <a:rPr b="0" lang="en-IN" sz="2400" strike="noStrike" u="none">
                <a:solidFill>
                  <a:srgbClr val="000000"/>
                </a:solidFill>
                <a:effectLst/>
                <a:uFillTx/>
                <a:latin typeface="Times New Roman"/>
                <a:ea typeface="Times New Roman"/>
              </a:rPr>
              <a:t>Patterns in </a:t>
            </a:r>
            <a:r>
              <a:rPr b="0" i="1" lang="en-IN" sz="2400" strike="noStrike" u="none">
                <a:solidFill>
                  <a:srgbClr val="000000"/>
                </a:solidFill>
                <a:effectLst/>
                <a:uFillTx/>
                <a:latin typeface="Times New Roman"/>
                <a:ea typeface="Times New Roman"/>
              </a:rPr>
              <a:t>awk</a:t>
            </a:r>
            <a:r>
              <a:rPr b="0" lang="en-IN" sz="2400" strike="noStrike" u="none">
                <a:solidFill>
                  <a:srgbClr val="000000"/>
                </a:solidFill>
                <a:effectLst/>
                <a:uFillTx/>
                <a:latin typeface="Times New Roman"/>
                <a:ea typeface="Times New Roman"/>
              </a:rPr>
              <a:t> can be regular expressions, ala sed</a:t>
            </a:r>
            <a:endParaRPr b="0" lang="en-IN" sz="24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 </a:t>
            </a:r>
            <a:r>
              <a:rPr b="0" i="1" lang="en-IN" sz="2000" strike="noStrike" u="none">
                <a:solidFill>
                  <a:srgbClr val="000000"/>
                </a:solidFill>
                <a:effectLst/>
                <a:uFillTx/>
                <a:latin typeface="Times New Roman"/>
                <a:ea typeface="Times New Roman"/>
              </a:rPr>
              <a:t>awk '/[^ ]@[^ ]/ { print }' mail.msg</a:t>
            </a:r>
            <a:endParaRPr b="0" lang="en-IN" sz="2000" strike="noStrike" u="none">
              <a:solidFill>
                <a:srgbClr val="000000"/>
              </a:solidFill>
              <a:effectLst/>
              <a:uFillTx/>
              <a:latin typeface="Arial"/>
            </a:endParaRPr>
          </a:p>
          <a:p>
            <a:pPr marL="285840" indent="-285840">
              <a:lnSpc>
                <a:spcPct val="90000"/>
              </a:lnSpc>
              <a:spcBef>
                <a:spcPts val="720"/>
              </a:spcBef>
            </a:pPr>
            <a:r>
              <a:rPr b="0" lang="en-IN" sz="2400" strike="noStrike" u="none">
                <a:solidFill>
                  <a:srgbClr val="000000"/>
                </a:solidFill>
                <a:effectLst/>
                <a:uFillTx/>
                <a:latin typeface="Times New Roman"/>
                <a:ea typeface="Times New Roman"/>
              </a:rPr>
              <a:t>Patterns can be logical expressions</a:t>
            </a:r>
            <a:endParaRPr b="0" lang="en-IN" sz="24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 </a:t>
            </a:r>
            <a:r>
              <a:rPr b="0" i="1" lang="en-IN" sz="2000" strike="noStrike" u="none">
                <a:solidFill>
                  <a:srgbClr val="000000"/>
                </a:solidFill>
                <a:effectLst/>
                <a:uFillTx/>
                <a:latin typeface="Times New Roman"/>
                <a:ea typeface="Times New Roman"/>
              </a:rPr>
              <a:t>awk 'NF == 1 { print $1 }' test.dat</a:t>
            </a:r>
            <a:r>
              <a:rPr b="0" lang="en-IN" sz="2000" strike="noStrike" u="none">
                <a:solidFill>
                  <a:srgbClr val="000000"/>
                </a:solidFill>
                <a:effectLst/>
                <a:uFillTx/>
                <a:latin typeface="Times New Roman"/>
                <a:ea typeface="Times New Roman"/>
              </a:rPr>
              <a:t>  </a:t>
            </a:r>
            <a:endParaRPr b="0" lang="en-IN" sz="20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prints lines with only one field</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1" name=""/>
          <p:cNvSpPr txBox="1"/>
          <p:nvPr/>
        </p:nvSpPr>
        <p:spPr>
          <a:xfrm>
            <a:off x="996840" y="685800"/>
            <a:ext cx="7156440" cy="8920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awk</a:t>
            </a:r>
            <a:br>
              <a:rPr sz="3600"/>
            </a:br>
            <a:r>
              <a:rPr b="1" lang="en-IN" sz="2400" strike="noStrike" u="none">
                <a:solidFill>
                  <a:srgbClr val="000000"/>
                </a:solidFill>
                <a:effectLst/>
                <a:uFillTx/>
                <a:latin typeface="Times New Roman"/>
                <a:ea typeface="Times New Roman"/>
              </a:rPr>
              <a:t>(continued)</a:t>
            </a:r>
            <a:endParaRPr b="0" lang="en-IN" sz="2400" strike="noStrike" u="none">
              <a:solidFill>
                <a:srgbClr val="000000"/>
              </a:solidFill>
              <a:effectLst/>
              <a:uFillTx/>
              <a:latin typeface="Arial"/>
            </a:endParaRPr>
          </a:p>
        </p:txBody>
      </p:sp>
      <p:sp>
        <p:nvSpPr>
          <p:cNvPr id="292" name=""/>
          <p:cNvSpPr txBox="1"/>
          <p:nvPr/>
        </p:nvSpPr>
        <p:spPr>
          <a:xfrm>
            <a:off x="990720" y="1752480"/>
            <a:ext cx="7162920" cy="4285080"/>
          </a:xfrm>
          <a:prstGeom prst="rect">
            <a:avLst/>
          </a:prstGeom>
          <a:noFill/>
          <a:ln w="0">
            <a:noFill/>
          </a:ln>
        </p:spPr>
        <p:txBody>
          <a:bodyPr lIns="0" rIns="0" tIns="0" bIns="0" anchor="t">
            <a:spAutoFit/>
          </a:bodyPr>
          <a:p>
            <a:pPr marL="285840" indent="-285840">
              <a:lnSpc>
                <a:spcPct val="90000"/>
              </a:lnSpc>
              <a:spcBef>
                <a:spcPts val="720"/>
              </a:spcBef>
            </a:pPr>
            <a:r>
              <a:rPr b="0" i="1" lang="en-IN" sz="2400" strike="noStrike" u="none">
                <a:solidFill>
                  <a:srgbClr val="000000"/>
                </a:solidFill>
                <a:effectLst/>
                <a:uFillTx/>
                <a:latin typeface="Times New Roman"/>
                <a:ea typeface="Times New Roman"/>
              </a:rPr>
              <a:t>awk</a:t>
            </a:r>
            <a:r>
              <a:rPr b="0" lang="en-IN" sz="2400" strike="noStrike" u="none">
                <a:solidFill>
                  <a:srgbClr val="000000"/>
                </a:solidFill>
                <a:effectLst/>
                <a:uFillTx/>
                <a:latin typeface="Times New Roman"/>
                <a:ea typeface="Times New Roman"/>
              </a:rPr>
              <a:t> automatically splits each input line into fields, called </a:t>
            </a:r>
            <a:r>
              <a:rPr b="0" i="1" lang="en-IN" sz="2400" strike="noStrike" u="none">
                <a:solidFill>
                  <a:srgbClr val="000000"/>
                </a:solidFill>
                <a:effectLst/>
                <a:uFillTx/>
                <a:latin typeface="Times New Roman"/>
                <a:ea typeface="Times New Roman"/>
              </a:rPr>
              <a:t>$1, $2, ... $NF</a:t>
            </a:r>
            <a:r>
              <a:rPr b="0" lang="en-IN" sz="2400" strike="noStrike" u="none">
                <a:solidFill>
                  <a:srgbClr val="000000"/>
                </a:solidFill>
                <a:effectLst/>
                <a:uFillTx/>
                <a:latin typeface="Times New Roman"/>
                <a:ea typeface="Times New Roman"/>
              </a:rPr>
              <a:t>, where </a:t>
            </a:r>
            <a:r>
              <a:rPr b="0" i="1" lang="en-IN" sz="2400" strike="noStrike" u="none">
                <a:solidFill>
                  <a:srgbClr val="000000"/>
                </a:solidFill>
                <a:effectLst/>
                <a:uFillTx/>
                <a:latin typeface="Times New Roman"/>
                <a:ea typeface="Times New Roman"/>
              </a:rPr>
              <a:t>NF</a:t>
            </a:r>
            <a:r>
              <a:rPr b="0" lang="en-IN" sz="2400" strike="noStrike" u="none">
                <a:solidFill>
                  <a:srgbClr val="000000"/>
                </a:solidFill>
                <a:effectLst/>
                <a:uFillTx/>
                <a:latin typeface="Times New Roman"/>
                <a:ea typeface="Times New Roman"/>
              </a:rPr>
              <a:t> is a variable set to the total number of fields.</a:t>
            </a:r>
            <a:endParaRPr b="0" lang="en-IN" sz="24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Here is an easier way to print the login times and userids from our exercise in sed programming:</a:t>
            </a:r>
            <a:endParaRPr b="0" lang="en-IN" sz="2000" strike="noStrike" u="none">
              <a:solidFill>
                <a:srgbClr val="000000"/>
              </a:solidFill>
              <a:effectLst/>
              <a:uFillTx/>
              <a:latin typeface="Arial"/>
            </a:endParaRPr>
          </a:p>
          <a:p>
            <a:pPr marL="1143000" indent="-228600">
              <a:lnSpc>
                <a:spcPct val="90000"/>
              </a:lnSpc>
              <a:spcBef>
                <a:spcPts val="720"/>
              </a:spcBef>
            </a:pPr>
            <a:r>
              <a:rPr b="0" lang="en-IN" sz="2000" strike="noStrike" u="none">
                <a:solidFill>
                  <a:srgbClr val="000000"/>
                </a:solidFill>
                <a:effectLst/>
                <a:uFillTx/>
                <a:latin typeface="Times New Roman"/>
                <a:ea typeface="Times New Roman"/>
              </a:rPr>
              <a:t>$ </a:t>
            </a:r>
            <a:r>
              <a:rPr b="0" i="1" lang="en-IN" sz="2000" strike="noStrike" u="none">
                <a:solidFill>
                  <a:srgbClr val="000000"/>
                </a:solidFill>
                <a:effectLst/>
                <a:uFillTx/>
                <a:latin typeface="Times New Roman"/>
                <a:ea typeface="Times New Roman"/>
              </a:rPr>
              <a:t>who | awk '{ print $5, $1 }'</a:t>
            </a:r>
            <a:endParaRPr b="0" lang="en-IN" sz="2000" strike="noStrike" u="none">
              <a:solidFill>
                <a:srgbClr val="000000"/>
              </a:solidFill>
              <a:effectLst/>
              <a:uFillTx/>
              <a:latin typeface="Arial"/>
            </a:endParaRPr>
          </a:p>
          <a:p>
            <a:pPr marL="285840" indent="-285840">
              <a:lnSpc>
                <a:spcPct val="90000"/>
              </a:lnSpc>
              <a:spcBef>
                <a:spcPts val="720"/>
              </a:spcBef>
            </a:pPr>
            <a:r>
              <a:rPr b="0" lang="en-IN" sz="2400" strike="noStrike" u="none">
                <a:solidFill>
                  <a:srgbClr val="000000"/>
                </a:solidFill>
                <a:effectLst/>
                <a:uFillTx/>
                <a:latin typeface="Times New Roman"/>
                <a:ea typeface="Times New Roman"/>
              </a:rPr>
              <a:t>The </a:t>
            </a:r>
            <a:r>
              <a:rPr b="0" i="1" lang="en-IN" sz="2400" strike="noStrike" u="none">
                <a:solidFill>
                  <a:srgbClr val="000000"/>
                </a:solidFill>
                <a:effectLst/>
                <a:uFillTx/>
                <a:latin typeface="Times New Roman"/>
                <a:ea typeface="Times New Roman"/>
              </a:rPr>
              <a:t>-Fc </a:t>
            </a:r>
            <a:r>
              <a:rPr b="0" lang="en-IN" sz="2400" strike="noStrike" u="none">
                <a:solidFill>
                  <a:srgbClr val="000000"/>
                </a:solidFill>
                <a:effectLst/>
                <a:uFillTx/>
                <a:latin typeface="Times New Roman"/>
                <a:ea typeface="Times New Roman"/>
              </a:rPr>
              <a:t>switch sets the field delimiter from whitespace (blanks and tabs) to the character </a:t>
            </a:r>
            <a:r>
              <a:rPr b="0" i="1" lang="en-IN" sz="2400" strike="noStrike" u="none">
                <a:solidFill>
                  <a:srgbClr val="000000"/>
                </a:solidFill>
                <a:effectLst/>
                <a:uFillTx/>
                <a:latin typeface="Times New Roman"/>
                <a:ea typeface="Times New Roman"/>
              </a:rPr>
              <a:t>c</a:t>
            </a:r>
            <a:endParaRPr b="0" lang="en-IN" sz="24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 </a:t>
            </a:r>
            <a:r>
              <a:rPr b="0" i="1" lang="en-IN" sz="2000" strike="noStrike" u="none">
                <a:solidFill>
                  <a:srgbClr val="000000"/>
                </a:solidFill>
                <a:effectLst/>
                <a:uFillTx/>
                <a:latin typeface="Times New Roman"/>
                <a:ea typeface="Times New Roman"/>
              </a:rPr>
              <a:t>awk -F: '{ print $1, $7 }' /etc/passwd</a:t>
            </a:r>
            <a:endParaRPr b="0" lang="en-IN" sz="20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prints userids and the shells they use</a:t>
            </a:r>
            <a:endParaRPr b="0" lang="en-IN" sz="2000" strike="noStrike" u="none">
              <a:solidFill>
                <a:srgbClr val="000000"/>
              </a:solidFill>
              <a:effectLst/>
              <a:uFillTx/>
              <a:latin typeface="Arial"/>
            </a:endParaRPr>
          </a:p>
          <a:p>
            <a:pPr marL="285840" indent="-285840">
              <a:lnSpc>
                <a:spcPct val="90000"/>
              </a:lnSpc>
              <a:spcBef>
                <a:spcPts val="720"/>
              </a:spcBef>
            </a:pPr>
            <a:r>
              <a:rPr b="0" lang="en-IN" sz="2400" strike="noStrike" u="none">
                <a:solidFill>
                  <a:srgbClr val="000000"/>
                </a:solidFill>
                <a:effectLst/>
                <a:uFillTx/>
                <a:latin typeface="Times New Roman"/>
                <a:ea typeface="Times New Roman"/>
              </a:rPr>
              <a:t>Two special "patterns", </a:t>
            </a:r>
            <a:r>
              <a:rPr b="0" i="1" lang="en-IN" sz="2400" strike="noStrike" u="none">
                <a:solidFill>
                  <a:srgbClr val="000000"/>
                </a:solidFill>
                <a:effectLst/>
                <a:uFillTx/>
                <a:latin typeface="Times New Roman"/>
                <a:ea typeface="Times New Roman"/>
              </a:rPr>
              <a:t>BEGIN</a:t>
            </a:r>
            <a:r>
              <a:rPr b="0" lang="en-IN" sz="2400" strike="noStrike" u="none">
                <a:solidFill>
                  <a:srgbClr val="000000"/>
                </a:solidFill>
                <a:effectLst/>
                <a:uFillTx/>
                <a:latin typeface="Times New Roman"/>
                <a:ea typeface="Times New Roman"/>
              </a:rPr>
              <a:t> and </a:t>
            </a:r>
            <a:r>
              <a:rPr b="0" i="1" lang="en-IN" sz="2400" strike="noStrike" u="none">
                <a:solidFill>
                  <a:srgbClr val="000000"/>
                </a:solidFill>
                <a:effectLst/>
                <a:uFillTx/>
                <a:latin typeface="Times New Roman"/>
                <a:ea typeface="Times New Roman"/>
              </a:rPr>
              <a:t>END</a:t>
            </a:r>
            <a:r>
              <a:rPr b="0" lang="en-IN" sz="2400" strike="noStrike" u="none">
                <a:solidFill>
                  <a:srgbClr val="000000"/>
                </a:solidFill>
                <a:effectLst/>
                <a:uFillTx/>
                <a:latin typeface="Times New Roman"/>
                <a:ea typeface="Times New Roman"/>
              </a:rPr>
              <a:t> match the beginning and end of the file, respectively</a:t>
            </a:r>
            <a:endParaRPr b="0" lang="en-IN" sz="24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Normally used for initialization and cleanup</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3" name=""/>
          <p:cNvSpPr txBox="1"/>
          <p:nvPr/>
        </p:nvSpPr>
        <p:spPr>
          <a:xfrm>
            <a:off x="996840" y="685800"/>
            <a:ext cx="715644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awk Arrays</a:t>
            </a:r>
            <a:endParaRPr b="0" lang="en-IN" sz="3600" strike="noStrike" u="none">
              <a:solidFill>
                <a:srgbClr val="000000"/>
              </a:solidFill>
              <a:effectLst/>
              <a:uFillTx/>
              <a:latin typeface="Arial"/>
            </a:endParaRPr>
          </a:p>
        </p:txBody>
      </p:sp>
      <p:sp>
        <p:nvSpPr>
          <p:cNvPr id="294" name=""/>
          <p:cNvSpPr txBox="1"/>
          <p:nvPr/>
        </p:nvSpPr>
        <p:spPr>
          <a:xfrm>
            <a:off x="990720" y="1981080"/>
            <a:ext cx="7162920" cy="4114800"/>
          </a:xfrm>
          <a:prstGeom prst="rect">
            <a:avLst/>
          </a:prstGeom>
          <a:noFill/>
          <a:ln w="0">
            <a:noFill/>
          </a:ln>
        </p:spPr>
        <p:txBody>
          <a:bodyPr lIns="0" rIns="0" tIns="0" bIns="0" anchor="t">
            <a:spAutoFit/>
          </a:bodyPr>
          <a:p>
            <a:pPr marL="285840" indent="-285840">
              <a:lnSpc>
                <a:spcPct val="90000"/>
              </a:lnSpc>
              <a:spcBef>
                <a:spcPts val="720"/>
              </a:spcBef>
            </a:pPr>
            <a:r>
              <a:rPr b="0" lang="en-IN" sz="2400" strike="noStrike" u="none">
                <a:solidFill>
                  <a:srgbClr val="000000"/>
                </a:solidFill>
                <a:effectLst/>
                <a:uFillTx/>
                <a:latin typeface="Times New Roman"/>
                <a:ea typeface="Times New Roman"/>
              </a:rPr>
              <a:t>Arrays are allowed as in other languages</a:t>
            </a:r>
            <a:endParaRPr b="0" lang="en-IN" sz="24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 </a:t>
            </a:r>
            <a:r>
              <a:rPr b="0" i="1" lang="en-IN" sz="2000" strike="noStrike" u="none">
                <a:solidFill>
                  <a:srgbClr val="000000"/>
                </a:solidFill>
                <a:effectLst/>
                <a:uFillTx/>
                <a:latin typeface="Times New Roman"/>
                <a:ea typeface="Times New Roman"/>
              </a:rPr>
              <a:t>cat backwards</a:t>
            </a: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 backwards: print output in reverse line order</a:t>
            </a: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awk '{ line[NR] = $0 }</a:t>
            </a: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END  { for (i = NR; i &gt; 0; i--) print line[i] }' $*</a:t>
            </a:r>
            <a:endParaRPr b="0" lang="en-IN" sz="2000" strike="noStrike" u="none">
              <a:solidFill>
                <a:srgbClr val="000000"/>
              </a:solidFill>
              <a:effectLst/>
              <a:uFillTx/>
              <a:latin typeface="Arial"/>
            </a:endParaRPr>
          </a:p>
          <a:p>
            <a:pPr marL="285840" indent="-285840">
              <a:lnSpc>
                <a:spcPct val="90000"/>
              </a:lnSpc>
              <a:spcBef>
                <a:spcPts val="720"/>
              </a:spcBef>
            </a:pPr>
            <a:r>
              <a:rPr b="0" lang="en-IN" sz="2400" strike="noStrike" u="sng">
                <a:solidFill>
                  <a:srgbClr val="000000"/>
                </a:solidFill>
                <a:effectLst/>
                <a:uFillTx/>
                <a:latin typeface="Times New Roman"/>
                <a:ea typeface="Times New Roman"/>
              </a:rPr>
              <a:t>Associative arrays</a:t>
            </a:r>
            <a:r>
              <a:rPr b="0" lang="en-IN" sz="2400" strike="noStrike" u="none">
                <a:solidFill>
                  <a:srgbClr val="000000"/>
                </a:solidFill>
                <a:effectLst/>
                <a:uFillTx/>
                <a:latin typeface="Times New Roman"/>
                <a:ea typeface="Times New Roman"/>
              </a:rPr>
              <a:t> are indexed by </a:t>
            </a:r>
            <a:r>
              <a:rPr b="0" lang="en-IN" sz="2400" strike="noStrike" u="sng">
                <a:solidFill>
                  <a:srgbClr val="000000"/>
                </a:solidFill>
                <a:effectLst/>
                <a:uFillTx/>
                <a:latin typeface="Times New Roman"/>
                <a:ea typeface="Times New Roman"/>
              </a:rPr>
              <a:t>strings</a:t>
            </a:r>
            <a:r>
              <a:rPr b="0" lang="en-IN" sz="2400" strike="noStrike" u="none">
                <a:solidFill>
                  <a:srgbClr val="000000"/>
                </a:solidFill>
                <a:effectLst/>
                <a:uFillTx/>
                <a:latin typeface="Times New Roman"/>
                <a:ea typeface="Times New Roman"/>
              </a:rPr>
              <a:t> rather than by numbers</a:t>
            </a:r>
            <a:endParaRPr b="0" lang="en-IN" sz="24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 cat wordfreq</a:t>
            </a: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 wordfreq: print word counts from input</a:t>
            </a: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awk '{ for (i = 1; i &lt;= NF; i++) num[$i]++ }</a:t>
            </a: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END  { for (word in num) print num[word], "  ", word } </a:t>
            </a: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 $* | sort -nr</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5" name=""/>
          <p:cNvSpPr txBox="1"/>
          <p:nvPr/>
        </p:nvSpPr>
        <p:spPr>
          <a:xfrm>
            <a:off x="996840" y="685800"/>
            <a:ext cx="715644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sed and awk</a:t>
            </a:r>
            <a:endParaRPr b="0" lang="en-IN" sz="3600" strike="noStrike" u="none">
              <a:solidFill>
                <a:srgbClr val="000000"/>
              </a:solidFill>
              <a:effectLst/>
              <a:uFillTx/>
              <a:latin typeface="Arial"/>
            </a:endParaRPr>
          </a:p>
        </p:txBody>
      </p:sp>
      <p:sp>
        <p:nvSpPr>
          <p:cNvPr id="296" name=""/>
          <p:cNvSpPr txBox="1"/>
          <p:nvPr/>
        </p:nvSpPr>
        <p:spPr>
          <a:xfrm>
            <a:off x="990720" y="1981080"/>
            <a:ext cx="7162920" cy="4114800"/>
          </a:xfrm>
          <a:prstGeom prst="rect">
            <a:avLst/>
          </a:prstGeom>
          <a:noFill/>
          <a:ln w="0">
            <a:noFill/>
          </a:ln>
        </p:spPr>
        <p:txBody>
          <a:bodyPr lIns="0" rIns="0" tIns="0" bIns="0" anchor="t">
            <a:spAutoFit/>
          </a:bodyPr>
          <a:p>
            <a:pPr marL="285840" indent="-285840">
              <a:lnSpc>
                <a:spcPct val="90000"/>
              </a:lnSpc>
              <a:spcBef>
                <a:spcPts val="720"/>
              </a:spcBef>
            </a:pPr>
            <a:r>
              <a:rPr b="0" lang="en-IN" sz="2400" strike="noStrike" u="none">
                <a:solidFill>
                  <a:srgbClr val="000000"/>
                </a:solidFill>
                <a:effectLst/>
                <a:uFillTx/>
                <a:latin typeface="Times New Roman"/>
                <a:ea typeface="Times New Roman"/>
              </a:rPr>
              <a:t>There is much more to say about </a:t>
            </a:r>
            <a:r>
              <a:rPr b="0" i="1" lang="en-IN" sz="2400" strike="noStrike" u="none">
                <a:solidFill>
                  <a:srgbClr val="000000"/>
                </a:solidFill>
                <a:effectLst/>
                <a:uFillTx/>
                <a:latin typeface="Times New Roman"/>
                <a:ea typeface="Times New Roman"/>
              </a:rPr>
              <a:t>sed</a:t>
            </a:r>
            <a:r>
              <a:rPr b="0" lang="en-IN" sz="2400" strike="noStrike" u="none">
                <a:solidFill>
                  <a:srgbClr val="000000"/>
                </a:solidFill>
                <a:effectLst/>
                <a:uFillTx/>
                <a:latin typeface="Times New Roman"/>
                <a:ea typeface="Times New Roman"/>
              </a:rPr>
              <a:t> and especially about </a:t>
            </a:r>
            <a:r>
              <a:rPr b="0" i="1" lang="en-IN" sz="2400" strike="noStrike" u="none">
                <a:solidFill>
                  <a:srgbClr val="000000"/>
                </a:solidFill>
                <a:effectLst/>
                <a:uFillTx/>
                <a:latin typeface="Times New Roman"/>
                <a:ea typeface="Times New Roman"/>
              </a:rPr>
              <a:t>awk</a:t>
            </a:r>
            <a:endParaRPr b="0" lang="en-IN" sz="24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Get the O'Reilly and Associates book for sed and awk programming</a:t>
            </a:r>
            <a:endParaRPr b="0" lang="en-IN" sz="2000" strike="noStrike" u="none">
              <a:solidFill>
                <a:srgbClr val="000000"/>
              </a:solidFill>
              <a:effectLst/>
              <a:uFillTx/>
              <a:latin typeface="Arial"/>
            </a:endParaRPr>
          </a:p>
          <a:p>
            <a:pPr marL="285840" indent="-285840">
              <a:lnSpc>
                <a:spcPct val="90000"/>
              </a:lnSpc>
              <a:spcBef>
                <a:spcPts val="720"/>
              </a:spcBef>
            </a:pPr>
            <a:r>
              <a:rPr b="0" i="1" lang="en-IN" sz="2400" strike="noStrike" u="none">
                <a:solidFill>
                  <a:srgbClr val="000000"/>
                </a:solidFill>
                <a:effectLst/>
                <a:uFillTx/>
                <a:latin typeface="Times New Roman"/>
                <a:ea typeface="Times New Roman"/>
              </a:rPr>
              <a:t>sed</a:t>
            </a:r>
            <a:r>
              <a:rPr b="0" lang="en-IN" sz="2400" strike="noStrike" u="none">
                <a:solidFill>
                  <a:srgbClr val="000000"/>
                </a:solidFill>
                <a:effectLst/>
                <a:uFillTx/>
                <a:latin typeface="Times New Roman"/>
                <a:ea typeface="Times New Roman"/>
              </a:rPr>
              <a:t> is generally useful for quick general purpose filters to supplement those already provided by every typical UNIX</a:t>
            </a:r>
            <a:endParaRPr b="0" lang="en-IN" sz="2400" strike="noStrike" u="none">
              <a:solidFill>
                <a:srgbClr val="000000"/>
              </a:solidFill>
              <a:effectLst/>
              <a:uFillTx/>
              <a:latin typeface="Arial"/>
            </a:endParaRPr>
          </a:p>
          <a:p>
            <a:pPr marL="285840" indent="-285840">
              <a:lnSpc>
                <a:spcPct val="90000"/>
              </a:lnSpc>
              <a:spcBef>
                <a:spcPts val="720"/>
              </a:spcBef>
            </a:pPr>
            <a:r>
              <a:rPr b="0" i="1" lang="en-IN" sz="2400" strike="noStrike" u="none">
                <a:solidFill>
                  <a:srgbClr val="000000"/>
                </a:solidFill>
                <a:effectLst/>
                <a:uFillTx/>
                <a:latin typeface="Times New Roman"/>
                <a:ea typeface="Times New Roman"/>
              </a:rPr>
              <a:t>awk</a:t>
            </a:r>
            <a:r>
              <a:rPr b="0" lang="en-IN" sz="2400" strike="noStrike" u="none">
                <a:solidFill>
                  <a:srgbClr val="000000"/>
                </a:solidFill>
                <a:effectLst/>
                <a:uFillTx/>
                <a:latin typeface="Times New Roman"/>
                <a:ea typeface="Times New Roman"/>
              </a:rPr>
              <a:t> is a powerful, full-fledged text processor and report generator, with a rather complete suite of features and tools</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7" name=""/>
          <p:cNvSpPr txBox="1"/>
          <p:nvPr/>
        </p:nvSpPr>
        <p:spPr>
          <a:xfrm>
            <a:off x="996840" y="685800"/>
            <a:ext cx="715644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Bourne Shell Programming</a:t>
            </a:r>
            <a:endParaRPr b="0" lang="en-IN" sz="3600" strike="noStrike" u="none">
              <a:solidFill>
                <a:srgbClr val="000000"/>
              </a:solidFill>
              <a:effectLst/>
              <a:uFillTx/>
              <a:latin typeface="Arial"/>
            </a:endParaRPr>
          </a:p>
        </p:txBody>
      </p:sp>
      <p:sp>
        <p:nvSpPr>
          <p:cNvPr id="298" name=""/>
          <p:cNvSpPr txBox="1"/>
          <p:nvPr/>
        </p:nvSpPr>
        <p:spPr>
          <a:xfrm>
            <a:off x="990720" y="1981080"/>
            <a:ext cx="7162920" cy="4114800"/>
          </a:xfrm>
          <a:prstGeom prst="rect">
            <a:avLst/>
          </a:prstGeom>
          <a:noFill/>
          <a:ln w="0">
            <a:noFill/>
          </a:ln>
        </p:spPr>
        <p:txBody>
          <a:bodyPr lIns="0" rIns="0" tIns="0" bIns="0" anchor="t">
            <a:spAutoFit/>
          </a:bodyPr>
          <a:p>
            <a:pPr marL="285840" indent="-285840">
              <a:lnSpc>
                <a:spcPct val="90000"/>
              </a:lnSpc>
              <a:spcBef>
                <a:spcPts val="720"/>
              </a:spcBef>
            </a:pPr>
            <a:r>
              <a:rPr b="0" lang="en-IN" sz="2400" strike="noStrike" u="none">
                <a:solidFill>
                  <a:srgbClr val="000000"/>
                </a:solidFill>
                <a:effectLst/>
                <a:uFillTx/>
                <a:latin typeface="Times New Roman"/>
                <a:ea typeface="Times New Roman"/>
              </a:rPr>
              <a:t>The Bourne shell is the original UNIX shell.</a:t>
            </a:r>
            <a:endParaRPr b="0" lang="en-IN" sz="2400" strike="noStrike" u="none">
              <a:solidFill>
                <a:srgbClr val="000000"/>
              </a:solidFill>
              <a:effectLst/>
              <a:uFillTx/>
              <a:latin typeface="Arial"/>
            </a:endParaRPr>
          </a:p>
          <a:p>
            <a:pPr marL="285840" indent="-285840">
              <a:lnSpc>
                <a:spcPct val="90000"/>
              </a:lnSpc>
              <a:spcBef>
                <a:spcPts val="720"/>
              </a:spcBef>
            </a:pPr>
            <a:r>
              <a:rPr b="0" lang="en-IN" sz="2400" strike="noStrike" u="none">
                <a:solidFill>
                  <a:srgbClr val="000000"/>
                </a:solidFill>
                <a:effectLst/>
                <a:uFillTx/>
                <a:latin typeface="Times New Roman"/>
                <a:ea typeface="Times New Roman"/>
              </a:rPr>
              <a:t>It is available on </a:t>
            </a:r>
            <a:r>
              <a:rPr b="0" lang="en-IN" sz="2400" strike="noStrike" u="sng">
                <a:solidFill>
                  <a:srgbClr val="000000"/>
                </a:solidFill>
                <a:effectLst/>
                <a:uFillTx/>
                <a:latin typeface="Times New Roman"/>
                <a:ea typeface="Times New Roman"/>
              </a:rPr>
              <a:t>all</a:t>
            </a:r>
            <a:r>
              <a:rPr b="0" lang="en-IN" sz="2400" strike="noStrike" u="none">
                <a:solidFill>
                  <a:srgbClr val="000000"/>
                </a:solidFill>
                <a:effectLst/>
                <a:uFillTx/>
                <a:latin typeface="Times New Roman"/>
                <a:ea typeface="Times New Roman"/>
              </a:rPr>
              <a:t> variants of UNIX, unlike the C shell (csh).</a:t>
            </a:r>
            <a:endParaRPr b="0" lang="en-IN" sz="2400" strike="noStrike" u="none">
              <a:solidFill>
                <a:srgbClr val="000000"/>
              </a:solidFill>
              <a:effectLst/>
              <a:uFillTx/>
              <a:latin typeface="Arial"/>
            </a:endParaRPr>
          </a:p>
          <a:p>
            <a:pPr marL="285840" indent="-285840">
              <a:lnSpc>
                <a:spcPct val="90000"/>
              </a:lnSpc>
              <a:spcBef>
                <a:spcPts val="720"/>
              </a:spcBef>
            </a:pPr>
            <a:r>
              <a:rPr b="0" lang="en-IN" sz="2400" strike="noStrike" u="none">
                <a:solidFill>
                  <a:srgbClr val="000000"/>
                </a:solidFill>
                <a:effectLst/>
                <a:uFillTx/>
                <a:latin typeface="Times New Roman"/>
                <a:ea typeface="Times New Roman"/>
              </a:rPr>
              <a:t>The Korn Shell is compatible on a source code level with Bourne shell.</a:t>
            </a:r>
            <a:endParaRPr b="0" lang="en-IN" sz="2400" strike="noStrike" u="none">
              <a:solidFill>
                <a:srgbClr val="000000"/>
              </a:solidFill>
              <a:effectLst/>
              <a:uFillTx/>
              <a:latin typeface="Arial"/>
            </a:endParaRPr>
          </a:p>
          <a:p>
            <a:pPr marL="285840" indent="-285840">
              <a:lnSpc>
                <a:spcPct val="90000"/>
              </a:lnSpc>
              <a:spcBef>
                <a:spcPts val="720"/>
              </a:spcBef>
            </a:pPr>
            <a:r>
              <a:rPr b="0" lang="en-IN" sz="2400" strike="noStrike" u="none">
                <a:solidFill>
                  <a:srgbClr val="000000"/>
                </a:solidFill>
                <a:effectLst/>
                <a:uFillTx/>
                <a:latin typeface="Times New Roman"/>
                <a:ea typeface="Times New Roman"/>
              </a:rPr>
              <a:t>The Bourne-Again Shell (bash) is a popular replacement from the Foundation for Software Freedom (FSF).</a:t>
            </a:r>
            <a:endParaRPr b="0" lang="en-IN" sz="2400" strike="noStrike" u="none">
              <a:solidFill>
                <a:srgbClr val="000000"/>
              </a:solidFill>
              <a:effectLst/>
              <a:uFillTx/>
              <a:latin typeface="Arial"/>
            </a:endParaRPr>
          </a:p>
          <a:p>
            <a:pPr marL="285840" indent="-285840">
              <a:lnSpc>
                <a:spcPct val="90000"/>
              </a:lnSpc>
              <a:spcBef>
                <a:spcPts val="720"/>
              </a:spcBef>
            </a:pPr>
            <a:r>
              <a:rPr b="0" lang="en-IN" sz="2400" strike="noStrike" u="none">
                <a:solidFill>
                  <a:srgbClr val="000000"/>
                </a:solidFill>
                <a:effectLst/>
                <a:uFillTx/>
                <a:latin typeface="Times New Roman"/>
                <a:ea typeface="Times New Roman"/>
              </a:rPr>
              <a:t>The features studied here are the most basic elements of the shell, see the man pages and the text for more detailed information.</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9" name=""/>
          <p:cNvSpPr txBox="1"/>
          <p:nvPr/>
        </p:nvSpPr>
        <p:spPr>
          <a:xfrm>
            <a:off x="996840" y="685800"/>
            <a:ext cx="715644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Shell Built-In Variables</a:t>
            </a:r>
            <a:endParaRPr b="0" lang="en-IN" sz="3600" strike="noStrike" u="none">
              <a:solidFill>
                <a:srgbClr val="000000"/>
              </a:solidFill>
              <a:effectLst/>
              <a:uFillTx/>
              <a:latin typeface="Arial"/>
            </a:endParaRPr>
          </a:p>
        </p:txBody>
      </p:sp>
      <p:sp>
        <p:nvSpPr>
          <p:cNvPr id="300" name=""/>
          <p:cNvSpPr txBox="1"/>
          <p:nvPr/>
        </p:nvSpPr>
        <p:spPr>
          <a:xfrm>
            <a:off x="990720" y="1981080"/>
            <a:ext cx="7162920" cy="4114800"/>
          </a:xfrm>
          <a:prstGeom prst="rect">
            <a:avLst/>
          </a:prstGeom>
          <a:noFill/>
          <a:ln w="0">
            <a:noFill/>
          </a:ln>
        </p:spPr>
        <p:txBody>
          <a:bodyPr lIns="0" rIns="0" tIns="0" bIns="0" anchor="t">
            <a:spAutoFit/>
          </a:bodyPr>
          <a:p>
            <a:pPr marL="285840" indent="-285840">
              <a:lnSpc>
                <a:spcPct val="90000"/>
              </a:lnSpc>
              <a:spcBef>
                <a:spcPts val="720"/>
              </a:spcBef>
            </a:pPr>
            <a:r>
              <a:rPr b="0" lang="en-IN" sz="1600" strike="noStrike" u="none">
                <a:solidFill>
                  <a:srgbClr val="000000"/>
                </a:solidFill>
                <a:effectLst/>
                <a:uFillTx/>
                <a:latin typeface="Times New Roman"/>
                <a:ea typeface="Times New Roman"/>
              </a:rPr>
              <a:t>$# </a:t>
            </a:r>
            <a:r>
              <a:rPr b="0" lang="en-IN" sz="1600" strike="noStrike" u="none">
                <a:solidFill>
                  <a:srgbClr val="000000"/>
                </a:solidFill>
                <a:effectLst/>
                <a:uFillTx/>
                <a:latin typeface="Times New Roman"/>
                <a:ea typeface="Times New Roman"/>
              </a:rPr>
              <a:t>	</a:t>
            </a:r>
            <a:r>
              <a:rPr b="0" lang="en-IN" sz="1600" strike="noStrike" u="none">
                <a:solidFill>
                  <a:srgbClr val="000000"/>
                </a:solidFill>
                <a:effectLst/>
                <a:uFillTx/>
                <a:latin typeface="Times New Roman"/>
                <a:ea typeface="Times New Roman"/>
              </a:rPr>
              <a:t>	</a:t>
            </a:r>
            <a:r>
              <a:rPr b="0" lang="en-IN" sz="1600" strike="noStrike" u="none">
                <a:solidFill>
                  <a:srgbClr val="000000"/>
                </a:solidFill>
                <a:effectLst/>
                <a:uFillTx/>
                <a:latin typeface="Times New Roman"/>
                <a:ea typeface="Times New Roman"/>
              </a:rPr>
              <a:t>the number of arguments</a:t>
            </a:r>
            <a:endParaRPr b="0" lang="en-IN" sz="1600" strike="noStrike" u="none">
              <a:solidFill>
                <a:srgbClr val="000000"/>
              </a:solidFill>
              <a:effectLst/>
              <a:uFillTx/>
              <a:latin typeface="Arial"/>
            </a:endParaRPr>
          </a:p>
          <a:p>
            <a:pPr marL="285840" indent="-285840">
              <a:lnSpc>
                <a:spcPct val="90000"/>
              </a:lnSpc>
              <a:spcBef>
                <a:spcPts val="720"/>
              </a:spcBef>
            </a:pPr>
            <a:r>
              <a:rPr b="0" lang="en-IN" sz="1600" strike="noStrike" u="none">
                <a:solidFill>
                  <a:srgbClr val="000000"/>
                </a:solidFill>
                <a:effectLst/>
                <a:uFillTx/>
                <a:latin typeface="Times New Roman"/>
                <a:ea typeface="Times New Roman"/>
              </a:rPr>
              <a:t>$* </a:t>
            </a:r>
            <a:r>
              <a:rPr b="0" lang="en-IN" sz="1600" strike="noStrike" u="none">
                <a:solidFill>
                  <a:srgbClr val="000000"/>
                </a:solidFill>
                <a:effectLst/>
                <a:uFillTx/>
                <a:latin typeface="Times New Roman"/>
                <a:ea typeface="Times New Roman"/>
              </a:rPr>
              <a:t>	</a:t>
            </a:r>
            <a:r>
              <a:rPr b="0" lang="en-IN" sz="1600" strike="noStrike" u="none">
                <a:solidFill>
                  <a:srgbClr val="000000"/>
                </a:solidFill>
                <a:effectLst/>
                <a:uFillTx/>
                <a:latin typeface="Times New Roman"/>
                <a:ea typeface="Times New Roman"/>
              </a:rPr>
              <a:t>	</a:t>
            </a:r>
            <a:r>
              <a:rPr b="0" lang="en-IN" sz="1600" strike="noStrike" u="none">
                <a:solidFill>
                  <a:srgbClr val="000000"/>
                </a:solidFill>
                <a:effectLst/>
                <a:uFillTx/>
                <a:latin typeface="Times New Roman"/>
                <a:ea typeface="Times New Roman"/>
              </a:rPr>
              <a:t>all arguments to shell</a:t>
            </a:r>
            <a:endParaRPr b="0" lang="en-IN" sz="1600" strike="noStrike" u="none">
              <a:solidFill>
                <a:srgbClr val="000000"/>
              </a:solidFill>
              <a:effectLst/>
              <a:uFillTx/>
              <a:latin typeface="Arial"/>
            </a:endParaRPr>
          </a:p>
          <a:p>
            <a:pPr marL="285840" indent="-285840">
              <a:lnSpc>
                <a:spcPct val="90000"/>
              </a:lnSpc>
              <a:spcBef>
                <a:spcPts val="720"/>
              </a:spcBef>
            </a:pPr>
            <a:r>
              <a:rPr b="0" lang="en-IN" sz="1600" strike="noStrike" u="none">
                <a:solidFill>
                  <a:srgbClr val="000000"/>
                </a:solidFill>
                <a:effectLst/>
                <a:uFillTx/>
                <a:latin typeface="Times New Roman"/>
                <a:ea typeface="Times New Roman"/>
              </a:rPr>
              <a:t>$@ </a:t>
            </a:r>
            <a:r>
              <a:rPr b="0" lang="en-IN" sz="1600" strike="noStrike" u="none">
                <a:solidFill>
                  <a:srgbClr val="000000"/>
                </a:solidFill>
                <a:effectLst/>
                <a:uFillTx/>
                <a:latin typeface="Times New Roman"/>
                <a:ea typeface="Times New Roman"/>
              </a:rPr>
              <a:t>	</a:t>
            </a:r>
            <a:r>
              <a:rPr b="0" lang="en-IN" sz="1600" strike="noStrike" u="none">
                <a:solidFill>
                  <a:srgbClr val="000000"/>
                </a:solidFill>
                <a:effectLst/>
                <a:uFillTx/>
                <a:latin typeface="Times New Roman"/>
                <a:ea typeface="Times New Roman"/>
              </a:rPr>
              <a:t>similar to $*, explained in detail later</a:t>
            </a:r>
            <a:endParaRPr b="0" lang="en-IN" sz="1600" strike="noStrike" u="none">
              <a:solidFill>
                <a:srgbClr val="000000"/>
              </a:solidFill>
              <a:effectLst/>
              <a:uFillTx/>
              <a:latin typeface="Arial"/>
            </a:endParaRPr>
          </a:p>
          <a:p>
            <a:pPr marL="285840" indent="-285840">
              <a:lnSpc>
                <a:spcPct val="90000"/>
              </a:lnSpc>
              <a:spcBef>
                <a:spcPts val="720"/>
              </a:spcBef>
            </a:pPr>
            <a:r>
              <a:rPr b="0" lang="en-IN" sz="1600" strike="noStrike" u="none">
                <a:solidFill>
                  <a:srgbClr val="000000"/>
                </a:solidFill>
                <a:effectLst/>
                <a:uFillTx/>
                <a:latin typeface="Times New Roman"/>
                <a:ea typeface="Times New Roman"/>
              </a:rPr>
              <a:t>$- </a:t>
            </a:r>
            <a:r>
              <a:rPr b="0" lang="en-IN" sz="1600" strike="noStrike" u="none">
                <a:solidFill>
                  <a:srgbClr val="000000"/>
                </a:solidFill>
                <a:effectLst/>
                <a:uFillTx/>
                <a:latin typeface="Times New Roman"/>
                <a:ea typeface="Times New Roman"/>
              </a:rPr>
              <a:t>	</a:t>
            </a:r>
            <a:r>
              <a:rPr b="0" lang="en-IN" sz="1600" strike="noStrike" u="none">
                <a:solidFill>
                  <a:srgbClr val="000000"/>
                </a:solidFill>
                <a:effectLst/>
                <a:uFillTx/>
                <a:latin typeface="Times New Roman"/>
                <a:ea typeface="Times New Roman"/>
              </a:rPr>
              <a:t>	</a:t>
            </a:r>
            <a:r>
              <a:rPr b="0" lang="en-IN" sz="1600" strike="noStrike" u="none">
                <a:solidFill>
                  <a:srgbClr val="000000"/>
                </a:solidFill>
                <a:effectLst/>
                <a:uFillTx/>
                <a:latin typeface="Times New Roman"/>
                <a:ea typeface="Times New Roman"/>
              </a:rPr>
              <a:t>options supplied to the shell</a:t>
            </a:r>
            <a:endParaRPr b="0" lang="en-IN" sz="1600" strike="noStrike" u="none">
              <a:solidFill>
                <a:srgbClr val="000000"/>
              </a:solidFill>
              <a:effectLst/>
              <a:uFillTx/>
              <a:latin typeface="Arial"/>
            </a:endParaRPr>
          </a:p>
          <a:p>
            <a:pPr marL="285840" indent="-285840">
              <a:lnSpc>
                <a:spcPct val="90000"/>
              </a:lnSpc>
              <a:spcBef>
                <a:spcPts val="720"/>
              </a:spcBef>
            </a:pPr>
            <a:r>
              <a:rPr b="0" lang="en-IN" sz="1600" strike="noStrike" u="none">
                <a:solidFill>
                  <a:srgbClr val="000000"/>
                </a:solidFill>
                <a:effectLst/>
                <a:uFillTx/>
                <a:latin typeface="Times New Roman"/>
                <a:ea typeface="Times New Roman"/>
              </a:rPr>
              <a:t>$? </a:t>
            </a:r>
            <a:r>
              <a:rPr b="0" lang="en-IN" sz="1600" strike="noStrike" u="none">
                <a:solidFill>
                  <a:srgbClr val="000000"/>
                </a:solidFill>
                <a:effectLst/>
                <a:uFillTx/>
                <a:latin typeface="Times New Roman"/>
                <a:ea typeface="Times New Roman"/>
              </a:rPr>
              <a:t>	</a:t>
            </a:r>
            <a:r>
              <a:rPr b="0" lang="en-IN" sz="1600" strike="noStrike" u="none">
                <a:solidFill>
                  <a:srgbClr val="000000"/>
                </a:solidFill>
                <a:effectLst/>
                <a:uFillTx/>
                <a:latin typeface="Times New Roman"/>
                <a:ea typeface="Times New Roman"/>
              </a:rPr>
              <a:t>	</a:t>
            </a:r>
            <a:r>
              <a:rPr b="0" lang="en-IN" sz="1600" strike="noStrike" u="none">
                <a:solidFill>
                  <a:srgbClr val="000000"/>
                </a:solidFill>
                <a:effectLst/>
                <a:uFillTx/>
                <a:latin typeface="Times New Roman"/>
                <a:ea typeface="Times New Roman"/>
              </a:rPr>
              <a:t>return value of the last command executed</a:t>
            </a:r>
            <a:endParaRPr b="0" lang="en-IN" sz="1600" strike="noStrike" u="none">
              <a:solidFill>
                <a:srgbClr val="000000"/>
              </a:solidFill>
              <a:effectLst/>
              <a:uFillTx/>
              <a:latin typeface="Arial"/>
            </a:endParaRPr>
          </a:p>
          <a:p>
            <a:pPr marL="285840" indent="-285840">
              <a:lnSpc>
                <a:spcPct val="90000"/>
              </a:lnSpc>
              <a:spcBef>
                <a:spcPts val="720"/>
              </a:spcBef>
            </a:pPr>
            <a:r>
              <a:rPr b="0" lang="en-IN" sz="1600" strike="noStrike" u="none">
                <a:solidFill>
                  <a:srgbClr val="000000"/>
                </a:solidFill>
                <a:effectLst/>
                <a:uFillTx/>
                <a:latin typeface="Times New Roman"/>
                <a:ea typeface="Times New Roman"/>
              </a:rPr>
              <a:t>$$ </a:t>
            </a:r>
            <a:r>
              <a:rPr b="0" lang="en-IN" sz="1600" strike="noStrike" u="none">
                <a:solidFill>
                  <a:srgbClr val="000000"/>
                </a:solidFill>
                <a:effectLst/>
                <a:uFillTx/>
                <a:latin typeface="Times New Roman"/>
                <a:ea typeface="Times New Roman"/>
              </a:rPr>
              <a:t>	</a:t>
            </a:r>
            <a:r>
              <a:rPr b="0" lang="en-IN" sz="1600" strike="noStrike" u="none">
                <a:solidFill>
                  <a:srgbClr val="000000"/>
                </a:solidFill>
                <a:effectLst/>
                <a:uFillTx/>
                <a:latin typeface="Times New Roman"/>
                <a:ea typeface="Times New Roman"/>
              </a:rPr>
              <a:t>	</a:t>
            </a:r>
            <a:r>
              <a:rPr b="0" lang="en-IN" sz="1600" strike="noStrike" u="none">
                <a:solidFill>
                  <a:srgbClr val="000000"/>
                </a:solidFill>
                <a:effectLst/>
                <a:uFillTx/>
                <a:latin typeface="Times New Roman"/>
                <a:ea typeface="Times New Roman"/>
              </a:rPr>
              <a:t>process-id of the shell</a:t>
            </a:r>
            <a:endParaRPr b="0" lang="en-IN" sz="1600" strike="noStrike" u="none">
              <a:solidFill>
                <a:srgbClr val="000000"/>
              </a:solidFill>
              <a:effectLst/>
              <a:uFillTx/>
              <a:latin typeface="Arial"/>
            </a:endParaRPr>
          </a:p>
          <a:p>
            <a:pPr marL="285840" indent="-285840">
              <a:lnSpc>
                <a:spcPct val="90000"/>
              </a:lnSpc>
              <a:spcBef>
                <a:spcPts val="720"/>
              </a:spcBef>
            </a:pPr>
            <a:r>
              <a:rPr b="0" lang="en-IN" sz="1600" strike="noStrike" u="none">
                <a:solidFill>
                  <a:srgbClr val="000000"/>
                </a:solidFill>
                <a:effectLst/>
                <a:uFillTx/>
                <a:latin typeface="Times New Roman"/>
                <a:ea typeface="Times New Roman"/>
              </a:rPr>
              <a:t>$! </a:t>
            </a:r>
            <a:r>
              <a:rPr b="0" lang="en-IN" sz="1600" strike="noStrike" u="none">
                <a:solidFill>
                  <a:srgbClr val="000000"/>
                </a:solidFill>
                <a:effectLst/>
                <a:uFillTx/>
                <a:latin typeface="Times New Roman"/>
                <a:ea typeface="Times New Roman"/>
              </a:rPr>
              <a:t>	</a:t>
            </a:r>
            <a:r>
              <a:rPr b="0" lang="en-IN" sz="1600" strike="noStrike" u="none">
                <a:solidFill>
                  <a:srgbClr val="000000"/>
                </a:solidFill>
                <a:effectLst/>
                <a:uFillTx/>
                <a:latin typeface="Times New Roman"/>
                <a:ea typeface="Times New Roman"/>
              </a:rPr>
              <a:t>	</a:t>
            </a:r>
            <a:r>
              <a:rPr b="0" lang="en-IN" sz="1600" strike="noStrike" u="none">
                <a:solidFill>
                  <a:srgbClr val="000000"/>
                </a:solidFill>
                <a:effectLst/>
                <a:uFillTx/>
                <a:latin typeface="Times New Roman"/>
                <a:ea typeface="Times New Roman"/>
              </a:rPr>
              <a:t>process-id of the last command started with &amp;</a:t>
            </a:r>
            <a:endParaRPr b="0" lang="en-IN" sz="1600" strike="noStrike" u="none">
              <a:solidFill>
                <a:srgbClr val="000000"/>
              </a:solidFill>
              <a:effectLst/>
              <a:uFillTx/>
              <a:latin typeface="Arial"/>
            </a:endParaRPr>
          </a:p>
          <a:p>
            <a:pPr marL="285840" indent="-285840">
              <a:lnSpc>
                <a:spcPct val="90000"/>
              </a:lnSpc>
              <a:spcBef>
                <a:spcPts val="720"/>
              </a:spcBef>
            </a:pPr>
            <a:r>
              <a:rPr b="0" lang="en-IN" sz="1600" strike="noStrike" u="none">
                <a:solidFill>
                  <a:srgbClr val="000000"/>
                </a:solidFill>
                <a:effectLst/>
                <a:uFillTx/>
                <a:latin typeface="Times New Roman"/>
                <a:ea typeface="Times New Roman"/>
              </a:rPr>
              <a:t>$HOME </a:t>
            </a:r>
            <a:r>
              <a:rPr b="0" lang="en-IN" sz="1600" strike="noStrike" u="none">
                <a:solidFill>
                  <a:srgbClr val="000000"/>
                </a:solidFill>
                <a:effectLst/>
                <a:uFillTx/>
                <a:latin typeface="Times New Roman"/>
                <a:ea typeface="Times New Roman"/>
              </a:rPr>
              <a:t>	</a:t>
            </a:r>
            <a:r>
              <a:rPr b="0" lang="en-IN" sz="1600" strike="noStrike" u="none">
                <a:solidFill>
                  <a:srgbClr val="000000"/>
                </a:solidFill>
                <a:effectLst/>
                <a:uFillTx/>
                <a:latin typeface="Times New Roman"/>
                <a:ea typeface="Times New Roman"/>
              </a:rPr>
              <a:t>default argument for cd command</a:t>
            </a:r>
            <a:endParaRPr b="0" lang="en-IN" sz="1600" strike="noStrike" u="none">
              <a:solidFill>
                <a:srgbClr val="000000"/>
              </a:solidFill>
              <a:effectLst/>
              <a:uFillTx/>
              <a:latin typeface="Arial"/>
            </a:endParaRPr>
          </a:p>
          <a:p>
            <a:pPr marL="285840" indent="-285840">
              <a:lnSpc>
                <a:spcPct val="90000"/>
              </a:lnSpc>
              <a:spcBef>
                <a:spcPts val="720"/>
              </a:spcBef>
            </a:pPr>
            <a:r>
              <a:rPr b="0" lang="en-IN" sz="1600" strike="noStrike" u="none">
                <a:solidFill>
                  <a:srgbClr val="000000"/>
                </a:solidFill>
                <a:effectLst/>
                <a:uFillTx/>
                <a:latin typeface="Times New Roman"/>
                <a:ea typeface="Times New Roman"/>
              </a:rPr>
              <a:t>$IFS </a:t>
            </a:r>
            <a:r>
              <a:rPr b="0" lang="en-IN" sz="1600" strike="noStrike" u="none">
                <a:solidFill>
                  <a:srgbClr val="000000"/>
                </a:solidFill>
                <a:effectLst/>
                <a:uFillTx/>
                <a:latin typeface="Times New Roman"/>
                <a:ea typeface="Times New Roman"/>
              </a:rPr>
              <a:t>	</a:t>
            </a:r>
            <a:r>
              <a:rPr b="0" lang="en-IN" sz="1600" strike="noStrike" u="none">
                <a:solidFill>
                  <a:srgbClr val="000000"/>
                </a:solidFill>
                <a:effectLst/>
                <a:uFillTx/>
                <a:latin typeface="Times New Roman"/>
                <a:ea typeface="Times New Roman"/>
              </a:rPr>
              <a:t>list of characters that separate words in arguments</a:t>
            </a:r>
            <a:endParaRPr b="0" lang="en-IN" sz="1600" strike="noStrike" u="none">
              <a:solidFill>
                <a:srgbClr val="000000"/>
              </a:solidFill>
              <a:effectLst/>
              <a:uFillTx/>
              <a:latin typeface="Arial"/>
            </a:endParaRPr>
          </a:p>
          <a:p>
            <a:pPr marL="285840" indent="-285840">
              <a:lnSpc>
                <a:spcPct val="90000"/>
              </a:lnSpc>
              <a:spcBef>
                <a:spcPts val="720"/>
              </a:spcBef>
            </a:pPr>
            <a:r>
              <a:rPr b="0" lang="en-IN" sz="1600" strike="noStrike" u="none">
                <a:solidFill>
                  <a:srgbClr val="000000"/>
                </a:solidFill>
                <a:effectLst/>
                <a:uFillTx/>
                <a:latin typeface="Times New Roman"/>
                <a:ea typeface="Times New Roman"/>
              </a:rPr>
              <a:t>$MAIL </a:t>
            </a:r>
            <a:r>
              <a:rPr b="0" lang="en-IN" sz="1600" strike="noStrike" u="none">
                <a:solidFill>
                  <a:srgbClr val="000000"/>
                </a:solidFill>
                <a:effectLst/>
                <a:uFillTx/>
                <a:latin typeface="Times New Roman"/>
                <a:ea typeface="Times New Roman"/>
              </a:rPr>
              <a:t>	</a:t>
            </a:r>
            <a:r>
              <a:rPr b="0" lang="en-IN" sz="1600" strike="noStrike" u="none">
                <a:solidFill>
                  <a:srgbClr val="000000"/>
                </a:solidFill>
                <a:effectLst/>
                <a:uFillTx/>
                <a:latin typeface="Times New Roman"/>
                <a:ea typeface="Times New Roman"/>
              </a:rPr>
              <a:t>file that, when changed, triggers "you have mail" message</a:t>
            </a:r>
            <a:endParaRPr b="0" lang="en-IN" sz="1600" strike="noStrike" u="none">
              <a:solidFill>
                <a:srgbClr val="000000"/>
              </a:solidFill>
              <a:effectLst/>
              <a:uFillTx/>
              <a:latin typeface="Arial"/>
            </a:endParaRPr>
          </a:p>
          <a:p>
            <a:pPr marL="285840" indent="-285840">
              <a:lnSpc>
                <a:spcPct val="90000"/>
              </a:lnSpc>
              <a:spcBef>
                <a:spcPts val="720"/>
              </a:spcBef>
            </a:pPr>
            <a:r>
              <a:rPr b="0" lang="en-IN" sz="1600" strike="noStrike" u="none">
                <a:solidFill>
                  <a:srgbClr val="000000"/>
                </a:solidFill>
                <a:effectLst/>
                <a:uFillTx/>
                <a:latin typeface="Times New Roman"/>
                <a:ea typeface="Times New Roman"/>
              </a:rPr>
              <a:t>$PATH </a:t>
            </a:r>
            <a:r>
              <a:rPr b="0" lang="en-IN" sz="1600" strike="noStrike" u="none">
                <a:solidFill>
                  <a:srgbClr val="000000"/>
                </a:solidFill>
                <a:effectLst/>
                <a:uFillTx/>
                <a:latin typeface="Times New Roman"/>
                <a:ea typeface="Times New Roman"/>
              </a:rPr>
              <a:t>	</a:t>
            </a:r>
            <a:r>
              <a:rPr b="0" lang="en-IN" sz="1600" strike="noStrike" u="none">
                <a:solidFill>
                  <a:srgbClr val="000000"/>
                </a:solidFill>
                <a:effectLst/>
                <a:uFillTx/>
                <a:latin typeface="Times New Roman"/>
                <a:ea typeface="Times New Roman"/>
              </a:rPr>
              <a:t>list of directories to search for commands</a:t>
            </a:r>
            <a:endParaRPr b="0" lang="en-IN" sz="1600" strike="noStrike" u="none">
              <a:solidFill>
                <a:srgbClr val="000000"/>
              </a:solidFill>
              <a:effectLst/>
              <a:uFillTx/>
              <a:latin typeface="Arial"/>
            </a:endParaRPr>
          </a:p>
          <a:p>
            <a:pPr marL="285840" indent="-285840">
              <a:lnSpc>
                <a:spcPct val="90000"/>
              </a:lnSpc>
              <a:spcBef>
                <a:spcPts val="720"/>
              </a:spcBef>
            </a:pPr>
            <a:r>
              <a:rPr b="0" lang="en-IN" sz="1600" strike="noStrike" u="none">
                <a:solidFill>
                  <a:srgbClr val="000000"/>
                </a:solidFill>
                <a:effectLst/>
                <a:uFillTx/>
                <a:latin typeface="Times New Roman"/>
                <a:ea typeface="Times New Roman"/>
              </a:rPr>
              <a:t>$PS1 </a:t>
            </a:r>
            <a:r>
              <a:rPr b="0" lang="en-IN" sz="1600" strike="noStrike" u="none">
                <a:solidFill>
                  <a:srgbClr val="000000"/>
                </a:solidFill>
                <a:effectLst/>
                <a:uFillTx/>
                <a:latin typeface="Times New Roman"/>
                <a:ea typeface="Times New Roman"/>
              </a:rPr>
              <a:t>	</a:t>
            </a:r>
            <a:r>
              <a:rPr b="0" lang="en-IN" sz="1600" strike="noStrike" u="none">
                <a:solidFill>
                  <a:srgbClr val="000000"/>
                </a:solidFill>
                <a:effectLst/>
                <a:uFillTx/>
                <a:latin typeface="Times New Roman"/>
                <a:ea typeface="Times New Roman"/>
              </a:rPr>
              <a:t>prompt string, default '$ '</a:t>
            </a:r>
            <a:endParaRPr b="0" lang="en-IN" sz="1600" strike="noStrike" u="none">
              <a:solidFill>
                <a:srgbClr val="000000"/>
              </a:solidFill>
              <a:effectLst/>
              <a:uFillTx/>
              <a:latin typeface="Arial"/>
            </a:endParaRPr>
          </a:p>
          <a:p>
            <a:pPr marL="285840" indent="-285840">
              <a:lnSpc>
                <a:spcPct val="90000"/>
              </a:lnSpc>
              <a:spcBef>
                <a:spcPts val="720"/>
              </a:spcBef>
            </a:pPr>
            <a:r>
              <a:rPr b="0" lang="en-IN" sz="1600" strike="noStrike" u="none">
                <a:solidFill>
                  <a:srgbClr val="000000"/>
                </a:solidFill>
                <a:effectLst/>
                <a:uFillTx/>
                <a:latin typeface="Times New Roman"/>
                <a:ea typeface="Times New Roman"/>
              </a:rPr>
              <a:t>$PS2 </a:t>
            </a:r>
            <a:r>
              <a:rPr b="0" lang="en-IN" sz="1600" strike="noStrike" u="none">
                <a:solidFill>
                  <a:srgbClr val="000000"/>
                </a:solidFill>
                <a:effectLst/>
                <a:uFillTx/>
                <a:latin typeface="Times New Roman"/>
                <a:ea typeface="Times New Roman"/>
              </a:rPr>
              <a:t>	</a:t>
            </a:r>
            <a:r>
              <a:rPr b="0" lang="en-IN" sz="1600" strike="noStrike" u="none">
                <a:solidFill>
                  <a:srgbClr val="000000"/>
                </a:solidFill>
                <a:effectLst/>
                <a:uFillTx/>
                <a:latin typeface="Times New Roman"/>
                <a:ea typeface="Times New Roman"/>
              </a:rPr>
              <a:t>prompt string for continued command line, default '&gt; '</a:t>
            </a:r>
            <a:endParaRPr b="0" lang="en-IN" sz="1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1" name=""/>
          <p:cNvSpPr txBox="1"/>
          <p:nvPr/>
        </p:nvSpPr>
        <p:spPr>
          <a:xfrm>
            <a:off x="996840" y="685800"/>
            <a:ext cx="715644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The set command</a:t>
            </a:r>
            <a:endParaRPr b="0" lang="en-IN" sz="3600" strike="noStrike" u="none">
              <a:solidFill>
                <a:srgbClr val="000000"/>
              </a:solidFill>
              <a:effectLst/>
              <a:uFillTx/>
              <a:latin typeface="Arial"/>
            </a:endParaRPr>
          </a:p>
        </p:txBody>
      </p:sp>
      <p:sp>
        <p:nvSpPr>
          <p:cNvPr id="302" name=""/>
          <p:cNvSpPr txBox="1"/>
          <p:nvPr/>
        </p:nvSpPr>
        <p:spPr>
          <a:xfrm>
            <a:off x="990720" y="1981080"/>
            <a:ext cx="7162920" cy="4114800"/>
          </a:xfrm>
          <a:prstGeom prst="rect">
            <a:avLst/>
          </a:prstGeom>
          <a:noFill/>
          <a:ln w="0">
            <a:noFill/>
          </a:ln>
        </p:spPr>
        <p:txBody>
          <a:bodyPr lIns="0" rIns="0" tIns="0" bIns="0" anchor="t">
            <a:spAutoFit/>
          </a:bodyPr>
          <a:p>
            <a:pPr marL="285840" indent="-285840">
              <a:lnSpc>
                <a:spcPct val="90000"/>
              </a:lnSpc>
              <a:spcBef>
                <a:spcPts val="720"/>
              </a:spcBef>
            </a:pPr>
            <a:r>
              <a:rPr b="0" i="1" lang="en-IN" sz="2400" strike="noStrike" u="none">
                <a:solidFill>
                  <a:srgbClr val="000000"/>
                </a:solidFill>
                <a:effectLst/>
                <a:uFillTx/>
                <a:latin typeface="Times New Roman"/>
                <a:ea typeface="Times New Roman"/>
              </a:rPr>
              <a:t>set</a:t>
            </a:r>
            <a:r>
              <a:rPr b="0" lang="en-IN" sz="2400" strike="noStrike" u="none">
                <a:solidFill>
                  <a:srgbClr val="000000"/>
                </a:solidFill>
                <a:effectLst/>
                <a:uFillTx/>
                <a:latin typeface="Times New Roman"/>
                <a:ea typeface="Times New Roman"/>
              </a:rPr>
              <a:t> is a builtin shell command that does too much</a:t>
            </a:r>
            <a:endParaRPr b="0" lang="en-IN" sz="24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by itself prints values of current variables</a:t>
            </a:r>
            <a:endParaRPr b="0" lang="en-IN" sz="20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with ordinary arguments, it resets $1, $2, etc. to those arguments</a:t>
            </a:r>
            <a:endParaRPr b="0" lang="en-IN" sz="2000" strike="noStrike" u="none">
              <a:solidFill>
                <a:srgbClr val="000000"/>
              </a:solidFill>
              <a:effectLst/>
              <a:uFillTx/>
              <a:latin typeface="Arial"/>
            </a:endParaRPr>
          </a:p>
          <a:p>
            <a:pPr marL="285840" indent="-285840">
              <a:lnSpc>
                <a:spcPct val="90000"/>
              </a:lnSpc>
              <a:spcBef>
                <a:spcPts val="720"/>
              </a:spcBef>
            </a:pPr>
            <a:r>
              <a:rPr b="0" lang="en-IN" sz="2400" strike="noStrike" u="none">
                <a:solidFill>
                  <a:srgbClr val="000000"/>
                </a:solidFill>
                <a:effectLst/>
                <a:uFillTx/>
                <a:latin typeface="Times New Roman"/>
                <a:ea typeface="Times New Roman"/>
              </a:rPr>
              <a:t>Several options are available (depending on the implementation).  These are good for debugging:</a:t>
            </a:r>
            <a:endParaRPr b="0" lang="en-IN" sz="24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-e    cause the shell to exit when a command terminates with </a:t>
            </a:r>
            <a:r>
              <a:rPr b="0" lang="en-IN" sz="2000" strike="noStrike" u="none">
                <a:solidFill>
                  <a:srgbClr val="000000"/>
                </a:solidFill>
                <a:effectLst/>
                <a:uFillTx/>
                <a:latin typeface="Times New Roman"/>
                <a:ea typeface="Times New Roman"/>
              </a:rPr>
              <a:t>	</a:t>
            </a:r>
            <a:r>
              <a:rPr b="0" lang="en-IN" sz="2000" strike="noStrike" u="none">
                <a:solidFill>
                  <a:srgbClr val="000000"/>
                </a:solidFill>
                <a:effectLst/>
                <a:uFillTx/>
                <a:latin typeface="Times New Roman"/>
                <a:ea typeface="Times New Roman"/>
              </a:rPr>
              <a:t>non-zero status</a:t>
            </a: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-n    read commands but don't execute (used to check syntax)</a:t>
            </a: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-v    print shell input lines as they are read</a:t>
            </a: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-x    after expanding commands, display command and </a:t>
            </a:r>
            <a:r>
              <a:rPr b="0" lang="en-IN" sz="2000" strike="noStrike" u="none">
                <a:solidFill>
                  <a:srgbClr val="000000"/>
                </a:solidFill>
                <a:effectLst/>
                <a:uFillTx/>
                <a:latin typeface="Times New Roman"/>
                <a:ea typeface="Times New Roman"/>
              </a:rPr>
              <a:t>	</a:t>
            </a:r>
            <a:r>
              <a:rPr b="0" lang="en-IN" sz="2000" strike="noStrike" u="none">
                <a:solidFill>
                  <a:srgbClr val="000000"/>
                </a:solidFill>
                <a:effectLst/>
                <a:uFillTx/>
                <a:latin typeface="Times New Roman"/>
                <a:ea typeface="Times New Roman"/>
              </a:rPr>
              <a:t>	</a:t>
            </a:r>
            <a:r>
              <a:rPr b="0" lang="en-IN" sz="2000" strike="noStrike" u="none">
                <a:solidFill>
                  <a:srgbClr val="000000"/>
                </a:solidFill>
                <a:effectLst/>
                <a:uFillTx/>
                <a:latin typeface="Times New Roman"/>
                <a:ea typeface="Times New Roman"/>
              </a:rPr>
              <a:t>expanded arguments</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3" name=""/>
          <p:cNvSpPr txBox="1"/>
          <p:nvPr/>
        </p:nvSpPr>
        <p:spPr>
          <a:xfrm>
            <a:off x="996840" y="685800"/>
            <a:ext cx="715644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case Statements</a:t>
            </a:r>
            <a:endParaRPr b="0" lang="en-IN" sz="3600" strike="noStrike" u="none">
              <a:solidFill>
                <a:srgbClr val="000000"/>
              </a:solidFill>
              <a:effectLst/>
              <a:uFillTx/>
              <a:latin typeface="Arial"/>
            </a:endParaRPr>
          </a:p>
        </p:txBody>
      </p:sp>
      <p:sp>
        <p:nvSpPr>
          <p:cNvPr id="304" name=""/>
          <p:cNvSpPr txBox="1"/>
          <p:nvPr/>
        </p:nvSpPr>
        <p:spPr>
          <a:xfrm>
            <a:off x="990720" y="1676520"/>
            <a:ext cx="7162920" cy="4364280"/>
          </a:xfrm>
          <a:prstGeom prst="rect">
            <a:avLst/>
          </a:prstGeom>
          <a:noFill/>
          <a:ln w="0">
            <a:noFill/>
          </a:ln>
        </p:spPr>
        <p:txBody>
          <a:bodyPr lIns="0" rIns="0" tIns="0" bIns="0" anchor="t">
            <a:spAutoFit/>
          </a:bodyPr>
          <a:p>
            <a:pPr marL="285840" indent="-285840">
              <a:lnSpc>
                <a:spcPct val="90000"/>
              </a:lnSpc>
              <a:spcBef>
                <a:spcPts val="720"/>
              </a:spcBef>
            </a:pPr>
            <a:r>
              <a:rPr b="0" i="1" lang="en-IN" sz="2400" strike="noStrike" u="none">
                <a:solidFill>
                  <a:srgbClr val="000000"/>
                </a:solidFill>
                <a:effectLst/>
                <a:uFillTx/>
                <a:latin typeface="Times New Roman"/>
                <a:ea typeface="Times New Roman"/>
              </a:rPr>
              <a:t>case</a:t>
            </a:r>
            <a:r>
              <a:rPr b="0" lang="en-IN" sz="2400" strike="noStrike" u="none">
                <a:solidFill>
                  <a:srgbClr val="000000"/>
                </a:solidFill>
                <a:effectLst/>
                <a:uFillTx/>
                <a:latin typeface="Times New Roman"/>
                <a:ea typeface="Times New Roman"/>
              </a:rPr>
              <a:t> statements allow for selecting one of several choices</a:t>
            </a:r>
            <a:endParaRPr b="0" lang="en-IN" sz="2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case </a:t>
            </a:r>
            <a:r>
              <a:rPr b="0" i="1" lang="en-IN" sz="1400" strike="noStrike" u="none">
                <a:solidFill>
                  <a:srgbClr val="000000"/>
                </a:solidFill>
                <a:effectLst/>
                <a:uFillTx/>
                <a:latin typeface="Times New Roman"/>
                <a:ea typeface="Times New Roman"/>
              </a:rPr>
              <a:t>word</a:t>
            </a:r>
            <a:r>
              <a:rPr b="0" lang="en-IN" sz="1400" strike="noStrike" u="none">
                <a:solidFill>
                  <a:srgbClr val="000000"/>
                </a:solidFill>
                <a:effectLst/>
                <a:uFillTx/>
                <a:latin typeface="Times New Roman"/>
                <a:ea typeface="Times New Roman"/>
              </a:rPr>
              <a:t> in</a:t>
            </a:r>
            <a:endParaRPr b="0" lang="en-IN" sz="1400" strike="noStrike" u="none">
              <a:solidFill>
                <a:srgbClr val="000000"/>
              </a:solidFill>
              <a:effectLst/>
              <a:uFillTx/>
              <a:latin typeface="Arial"/>
            </a:endParaRPr>
          </a:p>
          <a:p>
            <a:pPr marL="685800" indent="-228600">
              <a:lnSpc>
                <a:spcPct val="90000"/>
              </a:lnSpc>
              <a:spcBef>
                <a:spcPts val="720"/>
              </a:spcBef>
            </a:pPr>
            <a:r>
              <a:rPr b="0" i="1" lang="en-IN" sz="1400" strike="noStrike" u="none">
                <a:solidFill>
                  <a:srgbClr val="000000"/>
                </a:solidFill>
                <a:effectLst/>
                <a:uFillTx/>
                <a:latin typeface="Times New Roman"/>
                <a:ea typeface="Times New Roman"/>
              </a:rPr>
              <a:t>pattern</a:t>
            </a:r>
            <a:r>
              <a:rPr b="0" lang="en-IN" sz="1400" strike="noStrike" u="none">
                <a:solidFill>
                  <a:srgbClr val="000000"/>
                </a:solidFill>
                <a:effectLst/>
                <a:uFillTx/>
                <a:latin typeface="Times New Roman"/>
                <a:ea typeface="Times New Roman"/>
              </a:rPr>
              <a:t>) </a:t>
            </a:r>
            <a:r>
              <a:rPr b="0" i="1" lang="en-IN" sz="1400" strike="noStrike" u="none">
                <a:solidFill>
                  <a:srgbClr val="000000"/>
                </a:solidFill>
                <a:effectLst/>
                <a:uFillTx/>
                <a:latin typeface="Times New Roman"/>
                <a:ea typeface="Times New Roman"/>
              </a:rPr>
              <a:t>commands</a:t>
            </a:r>
            <a:r>
              <a:rPr b="0" lang="en-IN" sz="1400" strike="noStrike" u="none">
                <a:solidFill>
                  <a:srgbClr val="000000"/>
                </a:solidFill>
                <a:effectLst/>
                <a:uFillTx/>
                <a:latin typeface="Times New Roman"/>
                <a:ea typeface="Times New Roman"/>
              </a:rPr>
              <a:t> ;;</a:t>
            </a:r>
            <a:endParaRPr b="0" lang="en-IN" sz="1400" strike="noStrike" u="none">
              <a:solidFill>
                <a:srgbClr val="000000"/>
              </a:solidFill>
              <a:effectLst/>
              <a:uFillTx/>
              <a:latin typeface="Arial"/>
            </a:endParaRPr>
          </a:p>
          <a:p>
            <a:pPr marL="685800" indent="-228600">
              <a:lnSpc>
                <a:spcPct val="90000"/>
              </a:lnSpc>
              <a:spcBef>
                <a:spcPts val="720"/>
              </a:spcBef>
            </a:pPr>
            <a:r>
              <a:rPr b="0" i="1" lang="en-IN" sz="1400" strike="noStrike" u="none">
                <a:solidFill>
                  <a:srgbClr val="000000"/>
                </a:solidFill>
                <a:effectLst/>
                <a:uFillTx/>
                <a:latin typeface="Times New Roman"/>
                <a:ea typeface="Times New Roman"/>
              </a:rPr>
              <a:t>pattern</a:t>
            </a:r>
            <a:r>
              <a:rPr b="0" lang="en-IN" sz="1400" strike="noStrike" u="none">
                <a:solidFill>
                  <a:srgbClr val="000000"/>
                </a:solidFill>
                <a:effectLst/>
                <a:uFillTx/>
                <a:latin typeface="Times New Roman"/>
                <a:ea typeface="Times New Roman"/>
              </a:rPr>
              <a:t>) </a:t>
            </a:r>
            <a:r>
              <a:rPr b="0" i="1" lang="en-IN" sz="1400" strike="noStrike" u="none">
                <a:solidFill>
                  <a:srgbClr val="000000"/>
                </a:solidFill>
                <a:effectLst/>
                <a:uFillTx/>
                <a:latin typeface="Times New Roman"/>
                <a:ea typeface="Times New Roman"/>
              </a:rPr>
              <a:t>commands</a:t>
            </a:r>
            <a:r>
              <a:rPr b="0" lang="en-IN" sz="1400" strike="noStrike" u="none">
                <a:solidFill>
                  <a:srgbClr val="000000"/>
                </a:solidFill>
                <a:effectLst/>
                <a:uFillTx/>
                <a:latin typeface="Times New Roman"/>
                <a:ea typeface="Times New Roman"/>
              </a:rPr>
              <a:t> ;;</a:t>
            </a:r>
            <a:endParaRPr b="0" lang="en-IN" sz="1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a:t>
            </a:r>
            <a:endParaRPr b="0" lang="en-IN" sz="1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esac</a:t>
            </a:r>
            <a:endParaRPr b="0" lang="en-IN" sz="14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compares </a:t>
            </a:r>
            <a:r>
              <a:rPr b="0" i="1" lang="en-IN" sz="2000" strike="noStrike" u="none">
                <a:solidFill>
                  <a:srgbClr val="000000"/>
                </a:solidFill>
                <a:effectLst/>
                <a:uFillTx/>
                <a:latin typeface="Times New Roman"/>
                <a:ea typeface="Times New Roman"/>
              </a:rPr>
              <a:t>word</a:t>
            </a:r>
            <a:r>
              <a:rPr b="0" lang="en-IN" sz="2000" strike="noStrike" u="none">
                <a:solidFill>
                  <a:srgbClr val="000000"/>
                </a:solidFill>
                <a:effectLst/>
                <a:uFillTx/>
                <a:latin typeface="Times New Roman"/>
                <a:ea typeface="Times New Roman"/>
              </a:rPr>
              <a:t> to each of the patterns in turn and executes the commands for the first match found</a:t>
            </a:r>
            <a:endParaRPr b="0" lang="en-IN" sz="2000" strike="noStrike" u="none">
              <a:solidFill>
                <a:srgbClr val="000000"/>
              </a:solidFill>
              <a:effectLst/>
              <a:uFillTx/>
              <a:latin typeface="Arial"/>
            </a:endParaRPr>
          </a:p>
          <a:p>
            <a:pPr marL="285840" indent="-285840">
              <a:lnSpc>
                <a:spcPct val="90000"/>
              </a:lnSpc>
              <a:spcBef>
                <a:spcPts val="720"/>
              </a:spcBef>
            </a:pPr>
            <a:r>
              <a:rPr b="0" lang="en-IN" sz="2400" strike="noStrike" u="none">
                <a:solidFill>
                  <a:srgbClr val="000000"/>
                </a:solidFill>
                <a:effectLst/>
                <a:uFillTx/>
                <a:latin typeface="Times New Roman"/>
                <a:ea typeface="Times New Roman"/>
              </a:rPr>
              <a:t>Efficient way to check arguments</a:t>
            </a:r>
            <a:endParaRPr b="0" lang="en-IN" sz="24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case $# in</a:t>
            </a: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0)</a:t>
            </a:r>
            <a:r>
              <a:rPr b="0" lang="en-IN" sz="2000" strike="noStrike" u="none">
                <a:solidFill>
                  <a:srgbClr val="000000"/>
                </a:solidFill>
                <a:effectLst/>
                <a:uFillTx/>
                <a:latin typeface="Times New Roman"/>
                <a:ea typeface="Times New Roman"/>
              </a:rPr>
              <a:t>	</a:t>
            </a:r>
            <a:r>
              <a:rPr b="0" lang="en-IN" sz="2000" strike="noStrike" u="none">
                <a:solidFill>
                  <a:srgbClr val="000000"/>
                </a:solidFill>
                <a:effectLst/>
                <a:uFillTx/>
                <a:latin typeface="Times New Roman"/>
                <a:ea typeface="Times New Roman"/>
              </a:rPr>
              <a:t>echo "Usage: $0 args..." ; exit 1 ;;</a:t>
            </a: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1)  arg1=$1; arg2="default" ;;</a:t>
            </a: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  arg1=$1; arg2=$2 ;;</a:t>
            </a: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esac</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5" name=""/>
          <p:cNvSpPr txBox="1"/>
          <p:nvPr/>
        </p:nvSpPr>
        <p:spPr>
          <a:xfrm>
            <a:off x="996840" y="685800"/>
            <a:ext cx="715644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Shell Pattern Matching Rules</a:t>
            </a:r>
            <a:endParaRPr b="0" lang="en-IN" sz="3600" strike="noStrike" u="none">
              <a:solidFill>
                <a:srgbClr val="000000"/>
              </a:solidFill>
              <a:effectLst/>
              <a:uFillTx/>
              <a:latin typeface="Arial"/>
            </a:endParaRPr>
          </a:p>
        </p:txBody>
      </p:sp>
      <p:sp>
        <p:nvSpPr>
          <p:cNvPr id="306" name=""/>
          <p:cNvSpPr txBox="1"/>
          <p:nvPr/>
        </p:nvSpPr>
        <p:spPr>
          <a:xfrm>
            <a:off x="990720" y="1981080"/>
            <a:ext cx="7162920" cy="4114800"/>
          </a:xfrm>
          <a:prstGeom prst="rect">
            <a:avLst/>
          </a:prstGeom>
          <a:noFill/>
          <a:ln w="0">
            <a:noFill/>
          </a:ln>
        </p:spPr>
        <p:txBody>
          <a:bodyPr lIns="0" rIns="0" tIns="0" bIns="0" anchor="t">
            <a:spAutoFit/>
          </a:bodyPr>
          <a:p>
            <a:pPr marL="285840" indent="-285840">
              <a:lnSpc>
                <a:spcPct val="90000"/>
              </a:lnSpc>
              <a:spcBef>
                <a:spcPts val="720"/>
              </a:spcBef>
            </a:pPr>
            <a:r>
              <a:rPr b="0" lang="en-IN" sz="1800" strike="noStrike" u="none">
                <a:solidFill>
                  <a:srgbClr val="000000"/>
                </a:solidFill>
                <a:effectLst/>
                <a:uFillTx/>
                <a:latin typeface="Times New Roman"/>
                <a:ea typeface="Times New Roman"/>
              </a:rPr>
              <a:t>*</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match any string, including the null string</a:t>
            </a:r>
            <a:endParaRPr b="0" lang="en-IN" sz="1800" strike="noStrike" u="none">
              <a:solidFill>
                <a:srgbClr val="000000"/>
              </a:solidFill>
              <a:effectLst/>
              <a:uFillTx/>
              <a:latin typeface="Arial"/>
            </a:endParaRPr>
          </a:p>
          <a:p>
            <a:pPr marL="285840" indent="-285840">
              <a:lnSpc>
                <a:spcPct val="90000"/>
              </a:lnSpc>
              <a:spcBef>
                <a:spcPts val="720"/>
              </a:spcBef>
            </a:pPr>
            <a:r>
              <a:rPr b="0" lang="en-IN" sz="1800" strike="noStrike" u="none">
                <a:solidFill>
                  <a:srgbClr val="000000"/>
                </a:solidFill>
                <a:effectLst/>
                <a:uFillTx/>
                <a:latin typeface="Times New Roman"/>
                <a:ea typeface="Times New Roman"/>
              </a:rPr>
              <a:t>?</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match any single character</a:t>
            </a:r>
            <a:endParaRPr b="0" lang="en-IN" sz="1800" strike="noStrike" u="none">
              <a:solidFill>
                <a:srgbClr val="000000"/>
              </a:solidFill>
              <a:effectLst/>
              <a:uFillTx/>
              <a:latin typeface="Arial"/>
            </a:endParaRPr>
          </a:p>
          <a:p>
            <a:pPr marL="285840" indent="-285840">
              <a:lnSpc>
                <a:spcPct val="90000"/>
              </a:lnSpc>
              <a:spcBef>
                <a:spcPts val="720"/>
              </a:spcBef>
            </a:pPr>
            <a:r>
              <a:rPr b="0" lang="en-IN" sz="1800" strike="noStrike" u="none">
                <a:solidFill>
                  <a:srgbClr val="000000"/>
                </a:solidFill>
                <a:effectLst/>
                <a:uFillTx/>
                <a:latin typeface="Times New Roman"/>
                <a:ea typeface="Times New Roman"/>
              </a:rPr>
              <a:t>[ccc]</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match any of the characters in ccc, ranges are allowed</a:t>
            </a:r>
            <a:endParaRPr b="0" lang="en-IN" sz="1800" strike="noStrike" u="none">
              <a:solidFill>
                <a:srgbClr val="000000"/>
              </a:solidFill>
              <a:effectLst/>
              <a:uFillTx/>
              <a:latin typeface="Arial"/>
            </a:endParaRPr>
          </a:p>
          <a:p>
            <a:pPr marL="285840" indent="-285840">
              <a:lnSpc>
                <a:spcPct val="90000"/>
              </a:lnSpc>
              <a:spcBef>
                <a:spcPts val="720"/>
              </a:spcBef>
            </a:pPr>
            <a:r>
              <a:rPr b="0" lang="en-IN" sz="1800" strike="noStrike" u="none">
                <a:solidFill>
                  <a:srgbClr val="000000"/>
                </a:solidFill>
                <a:effectLst/>
                <a:uFillTx/>
                <a:latin typeface="Times New Roman"/>
                <a:ea typeface="Times New Roman"/>
              </a:rPr>
              <a:t>"..."</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match ... exactly; quotes protect special characters.  Also '...'</a:t>
            </a:r>
            <a:endParaRPr b="0" lang="en-IN" sz="1800" strike="noStrike" u="none">
              <a:solidFill>
                <a:srgbClr val="000000"/>
              </a:solidFill>
              <a:effectLst/>
              <a:uFillTx/>
              <a:latin typeface="Arial"/>
            </a:endParaRPr>
          </a:p>
          <a:p>
            <a:pPr marL="285840" indent="-285840">
              <a:lnSpc>
                <a:spcPct val="90000"/>
              </a:lnSpc>
              <a:spcBef>
                <a:spcPts val="720"/>
              </a:spcBef>
            </a:pPr>
            <a:r>
              <a:rPr b="0" lang="en-IN" sz="1800" strike="noStrike" u="none">
                <a:solidFill>
                  <a:srgbClr val="000000"/>
                </a:solidFill>
                <a:effectLst/>
                <a:uFillTx/>
                <a:latin typeface="Times New Roman"/>
                <a:ea typeface="Times New Roman"/>
              </a:rPr>
              <a:t>\c</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match c literally</a:t>
            </a:r>
            <a:endParaRPr b="0" lang="en-IN" sz="1800" strike="noStrike" u="none">
              <a:solidFill>
                <a:srgbClr val="000000"/>
              </a:solidFill>
              <a:effectLst/>
              <a:uFillTx/>
              <a:latin typeface="Arial"/>
            </a:endParaRPr>
          </a:p>
          <a:p>
            <a:pPr marL="285840" indent="-285840">
              <a:lnSpc>
                <a:spcPct val="90000"/>
              </a:lnSpc>
              <a:spcBef>
                <a:spcPts val="720"/>
              </a:spcBef>
            </a:pPr>
            <a:r>
              <a:rPr b="0" lang="en-IN" sz="1800" strike="noStrike" u="none">
                <a:solidFill>
                  <a:srgbClr val="000000"/>
                </a:solidFill>
                <a:effectLst/>
                <a:uFillTx/>
                <a:latin typeface="Times New Roman"/>
                <a:ea typeface="Times New Roman"/>
              </a:rPr>
              <a:t>a|b</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in case expressions only, matches either a or b</a:t>
            </a:r>
            <a:endParaRPr b="0" lang="en-IN" sz="1800" strike="noStrike" u="none">
              <a:solidFill>
                <a:srgbClr val="000000"/>
              </a:solidFill>
              <a:effectLst/>
              <a:uFillTx/>
              <a:latin typeface="Arial"/>
            </a:endParaRPr>
          </a:p>
          <a:p>
            <a:pPr marL="285840" indent="-285840">
              <a:lnSpc>
                <a:spcPct val="90000"/>
              </a:lnSpc>
              <a:spcBef>
                <a:spcPts val="720"/>
              </a:spcBef>
            </a:pPr>
            <a:r>
              <a:rPr b="0" lang="en-IN" sz="1800" strike="noStrike" u="none">
                <a:solidFill>
                  <a:srgbClr val="000000"/>
                </a:solidFill>
                <a:effectLst/>
                <a:uFillTx/>
                <a:latin typeface="Times New Roman"/>
                <a:ea typeface="Times New Roman"/>
              </a:rPr>
              <a:t>/</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in filenames, matched only by an explicit / in the expression; in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case, matched like any other character</a:t>
            </a:r>
            <a:endParaRPr b="0" lang="en-IN" sz="1800" strike="noStrike" u="none">
              <a:solidFill>
                <a:srgbClr val="000000"/>
              </a:solidFill>
              <a:effectLst/>
              <a:uFillTx/>
              <a:latin typeface="Arial"/>
            </a:endParaRPr>
          </a:p>
          <a:p>
            <a:pPr marL="285840" indent="-285840">
              <a:lnSpc>
                <a:spcPct val="90000"/>
              </a:lnSpc>
              <a:spcBef>
                <a:spcPts val="720"/>
              </a:spcBef>
            </a:pPr>
            <a:r>
              <a:rPr b="0" lang="en-IN" sz="1800" strike="noStrike" u="none">
                <a:solidFill>
                  <a:srgbClr val="000000"/>
                </a:solidFill>
                <a:effectLst/>
                <a:uFillTx/>
                <a:latin typeface="Times New Roman"/>
                <a:ea typeface="Times New Roman"/>
              </a:rPr>
              <a:t>.</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as the first character of a filename, is matched only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	</a:t>
            </a:r>
            <a:r>
              <a:rPr b="0" lang="en-IN" sz="1800" strike="noStrike" u="none">
                <a:solidFill>
                  <a:srgbClr val="000000"/>
                </a:solidFill>
                <a:effectLst/>
                <a:uFillTx/>
                <a:latin typeface="Times New Roman"/>
                <a:ea typeface="Times New Roman"/>
              </a:rPr>
              <a:t>by an explicit . in the expression</a:t>
            </a:r>
            <a:endParaRPr b="0" lang="en-IN"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7" name=""/>
          <p:cNvSpPr txBox="1"/>
          <p:nvPr/>
        </p:nvSpPr>
        <p:spPr>
          <a:xfrm>
            <a:off x="996840" y="685800"/>
            <a:ext cx="715644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Example case Statements</a:t>
            </a:r>
            <a:endParaRPr b="0" lang="en-IN" sz="3600" strike="noStrike" u="none">
              <a:solidFill>
                <a:srgbClr val="000000"/>
              </a:solidFill>
              <a:effectLst/>
              <a:uFillTx/>
              <a:latin typeface="Arial"/>
            </a:endParaRPr>
          </a:p>
        </p:txBody>
      </p:sp>
      <p:sp>
        <p:nvSpPr>
          <p:cNvPr id="308" name=""/>
          <p:cNvSpPr txBox="1"/>
          <p:nvPr/>
        </p:nvSpPr>
        <p:spPr>
          <a:xfrm>
            <a:off x="990720" y="1981080"/>
            <a:ext cx="7162920" cy="4468320"/>
          </a:xfrm>
          <a:prstGeom prst="rect">
            <a:avLst/>
          </a:prstGeom>
          <a:noFill/>
          <a:ln w="0">
            <a:noFill/>
          </a:ln>
        </p:spPr>
        <p:txBody>
          <a:bodyPr lIns="0" rIns="0" tIns="0" bIns="0" anchor="t">
            <a:spAutoFit/>
          </a:bodyPr>
          <a:p>
            <a:pPr marL="285840" indent="-285840">
              <a:lnSpc>
                <a:spcPct val="90000"/>
              </a:lnSpc>
              <a:spcBef>
                <a:spcPts val="720"/>
              </a:spcBef>
            </a:pPr>
            <a:r>
              <a:rPr b="0" lang="en-IN" sz="1400" strike="noStrike" u="none">
                <a:solidFill>
                  <a:srgbClr val="000000"/>
                </a:solidFill>
                <a:effectLst/>
                <a:uFillTx/>
                <a:latin typeface="Times New Roman"/>
                <a:ea typeface="Times New Roman"/>
              </a:rPr>
              <a:t># cal: nicer interface to /usr/bin/cal, with month names</a:t>
            </a:r>
            <a:endParaRPr b="0" lang="en-IN" sz="1400" strike="noStrike" u="none">
              <a:solidFill>
                <a:srgbClr val="000000"/>
              </a:solidFill>
              <a:effectLst/>
              <a:uFillTx/>
              <a:latin typeface="Arial"/>
            </a:endParaRPr>
          </a:p>
          <a:p>
            <a:pPr marL="285840" indent="-285840">
              <a:lnSpc>
                <a:spcPct val="90000"/>
              </a:lnSpc>
              <a:spcBef>
                <a:spcPts val="720"/>
              </a:spcBef>
            </a:pPr>
            <a:r>
              <a:rPr b="0" lang="en-IN" sz="1400" strike="noStrike" u="none">
                <a:solidFill>
                  <a:srgbClr val="000000"/>
                </a:solidFill>
                <a:effectLst/>
                <a:uFillTx/>
                <a:latin typeface="Times New Roman"/>
                <a:ea typeface="Times New Roman"/>
              </a:rPr>
              <a:t>case $# in</a:t>
            </a:r>
            <a:endParaRPr b="0" lang="en-IN" sz="1400" strike="noStrike" u="none">
              <a:solidFill>
                <a:srgbClr val="000000"/>
              </a:solidFill>
              <a:effectLst/>
              <a:uFillTx/>
              <a:latin typeface="Arial"/>
            </a:endParaRPr>
          </a:p>
          <a:p>
            <a:pPr marL="285840" indent="-285840">
              <a:lnSpc>
                <a:spcPct val="90000"/>
              </a:lnSpc>
              <a:spcBef>
                <a:spcPts val="720"/>
              </a:spcBef>
            </a:pPr>
            <a:r>
              <a:rPr b="0" lang="en-IN" sz="1400" strike="noStrike" u="none">
                <a:solidFill>
                  <a:srgbClr val="000000"/>
                </a:solidFill>
                <a:effectLst/>
                <a:uFillTx/>
                <a:latin typeface="Times New Roman"/>
                <a:ea typeface="Times New Roman"/>
              </a:rPr>
              <a:t>0)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set `date`; m=$2; y=$6 ;;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no args: use today</a:t>
            </a:r>
            <a:endParaRPr b="0" lang="en-IN" sz="1400" strike="noStrike" u="none">
              <a:solidFill>
                <a:srgbClr val="000000"/>
              </a:solidFill>
              <a:effectLst/>
              <a:uFillTx/>
              <a:latin typeface="Arial"/>
            </a:endParaRPr>
          </a:p>
          <a:p>
            <a:pPr marL="285840" indent="-285840">
              <a:lnSpc>
                <a:spcPct val="90000"/>
              </a:lnSpc>
              <a:spcBef>
                <a:spcPts val="720"/>
              </a:spcBef>
            </a:pPr>
            <a:r>
              <a:rPr b="0" lang="en-IN" sz="1400" strike="noStrike" u="none">
                <a:solidFill>
                  <a:srgbClr val="000000"/>
                </a:solidFill>
                <a:effectLst/>
                <a:uFillTx/>
                <a:latin typeface="Times New Roman"/>
                <a:ea typeface="Times New Roman"/>
              </a:rPr>
              <a:t>1)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m=$1; set `date`; y=$6 ;;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1 arg: use this year</a:t>
            </a:r>
            <a:endParaRPr b="0" lang="en-IN" sz="1400" strike="noStrike" u="none">
              <a:solidFill>
                <a:srgbClr val="000000"/>
              </a:solidFill>
              <a:effectLst/>
              <a:uFillTx/>
              <a:latin typeface="Arial"/>
            </a:endParaRPr>
          </a:p>
          <a:p>
            <a:pPr marL="285840" indent="-285840">
              <a:lnSpc>
                <a:spcPct val="90000"/>
              </a:lnSpc>
              <a:spcBef>
                <a:spcPts val="720"/>
              </a:spcBef>
            </a:pP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m=$1; y=$2 ;;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2 args: month and year</a:t>
            </a:r>
            <a:endParaRPr b="0" lang="en-IN" sz="1400" strike="noStrike" u="none">
              <a:solidFill>
                <a:srgbClr val="000000"/>
              </a:solidFill>
              <a:effectLst/>
              <a:uFillTx/>
              <a:latin typeface="Arial"/>
            </a:endParaRPr>
          </a:p>
          <a:p>
            <a:pPr marL="285840" indent="-285840">
              <a:lnSpc>
                <a:spcPct val="90000"/>
              </a:lnSpc>
              <a:spcBef>
                <a:spcPts val="720"/>
              </a:spcBef>
            </a:pPr>
            <a:r>
              <a:rPr b="0" lang="en-IN" sz="1400" strike="noStrike" u="none">
                <a:solidFill>
                  <a:srgbClr val="000000"/>
                </a:solidFill>
                <a:effectLst/>
                <a:uFillTx/>
                <a:latin typeface="Times New Roman"/>
                <a:ea typeface="Times New Roman"/>
              </a:rPr>
              <a:t>esac</a:t>
            </a:r>
            <a:endParaRPr b="0" lang="en-IN" sz="1400" strike="noStrike" u="none">
              <a:solidFill>
                <a:srgbClr val="000000"/>
              </a:solidFill>
              <a:effectLst/>
              <a:uFillTx/>
              <a:latin typeface="Arial"/>
            </a:endParaRPr>
          </a:p>
          <a:p>
            <a:pPr marL="285840" indent="-285840">
              <a:lnSpc>
                <a:spcPct val="90000"/>
              </a:lnSpc>
              <a:spcBef>
                <a:spcPts val="720"/>
              </a:spcBef>
            </a:pPr>
            <a:endParaRPr b="0" lang="en-IN" sz="1400" strike="noStrike" u="none">
              <a:solidFill>
                <a:srgbClr val="000000"/>
              </a:solidFill>
              <a:effectLst/>
              <a:uFillTx/>
              <a:latin typeface="Arial"/>
            </a:endParaRPr>
          </a:p>
          <a:p>
            <a:pPr marL="285840" indent="-285840">
              <a:lnSpc>
                <a:spcPct val="90000"/>
              </a:lnSpc>
              <a:spcBef>
                <a:spcPts val="720"/>
              </a:spcBef>
            </a:pPr>
            <a:r>
              <a:rPr b="0" lang="en-IN" sz="1400" strike="noStrike" u="none">
                <a:solidFill>
                  <a:srgbClr val="000000"/>
                </a:solidFill>
                <a:effectLst/>
                <a:uFillTx/>
                <a:latin typeface="Times New Roman"/>
                <a:ea typeface="Times New Roman"/>
              </a:rPr>
              <a:t>case $m in</a:t>
            </a:r>
            <a:endParaRPr b="0" lang="en-IN" sz="1400" strike="noStrike" u="none">
              <a:solidFill>
                <a:srgbClr val="000000"/>
              </a:solidFill>
              <a:effectLst/>
              <a:uFillTx/>
              <a:latin typeface="Arial"/>
            </a:endParaRPr>
          </a:p>
          <a:p>
            <a:pPr marL="285840" indent="-285840">
              <a:lnSpc>
                <a:spcPct val="90000"/>
              </a:lnSpc>
              <a:spcBef>
                <a:spcPts val="720"/>
              </a:spcBef>
            </a:pPr>
            <a:r>
              <a:rPr b="0" lang="en-IN" sz="1400" strike="noStrike" u="none">
                <a:solidFill>
                  <a:srgbClr val="000000"/>
                </a:solidFill>
                <a:effectLst/>
                <a:uFillTx/>
                <a:latin typeface="Times New Roman"/>
                <a:ea typeface="Times New Roman"/>
              </a:rPr>
              <a:t>jan*|Jan*)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m=1 ;;</a:t>
            </a:r>
            <a:endParaRPr b="0" lang="en-IN" sz="1400" strike="noStrike" u="none">
              <a:solidFill>
                <a:srgbClr val="000000"/>
              </a:solidFill>
              <a:effectLst/>
              <a:uFillTx/>
              <a:latin typeface="Arial"/>
            </a:endParaRPr>
          </a:p>
          <a:p>
            <a:pPr marL="285840" indent="-285840">
              <a:lnSpc>
                <a:spcPct val="90000"/>
              </a:lnSpc>
              <a:spcBef>
                <a:spcPts val="720"/>
              </a:spcBef>
            </a:pPr>
            <a:r>
              <a:rPr b="0" lang="en-IN" sz="1400" strike="noStrike" u="none">
                <a:solidFill>
                  <a:srgbClr val="000000"/>
                </a:solidFill>
                <a:effectLst/>
                <a:uFillTx/>
                <a:latin typeface="Times New Roman"/>
                <a:ea typeface="Times New Roman"/>
              </a:rPr>
              <a:t>feb*|Feb*)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m=2 ;;</a:t>
            </a:r>
            <a:endParaRPr b="0" lang="en-IN" sz="1400" strike="noStrike" u="none">
              <a:solidFill>
                <a:srgbClr val="000000"/>
              </a:solidFill>
              <a:effectLst/>
              <a:uFillTx/>
              <a:latin typeface="Arial"/>
            </a:endParaRPr>
          </a:p>
          <a:p>
            <a:pPr marL="285840" indent="-285840">
              <a:lnSpc>
                <a:spcPct val="90000"/>
              </a:lnSpc>
              <a:spcBef>
                <a:spcPts val="720"/>
              </a:spcBef>
            </a:pPr>
            <a:r>
              <a:rPr b="0" lang="en-IN" sz="1400" strike="noStrike" u="none">
                <a:solidFill>
                  <a:srgbClr val="000000"/>
                </a:solidFill>
                <a:effectLst/>
                <a:uFillTx/>
                <a:latin typeface="Times New Roman"/>
                <a:ea typeface="Times New Roman"/>
              </a:rPr>
              <a:t>...</a:t>
            </a:r>
            <a:endParaRPr b="0" lang="en-IN" sz="1400" strike="noStrike" u="none">
              <a:solidFill>
                <a:srgbClr val="000000"/>
              </a:solidFill>
              <a:effectLst/>
              <a:uFillTx/>
              <a:latin typeface="Arial"/>
            </a:endParaRPr>
          </a:p>
          <a:p>
            <a:pPr marL="285840" indent="-285840">
              <a:lnSpc>
                <a:spcPct val="90000"/>
              </a:lnSpc>
              <a:spcBef>
                <a:spcPts val="720"/>
              </a:spcBef>
            </a:pPr>
            <a:r>
              <a:rPr b="0" lang="en-IN" sz="1400" strike="noStrike" u="none">
                <a:solidFill>
                  <a:srgbClr val="000000"/>
                </a:solidFill>
                <a:effectLst/>
                <a:uFillTx/>
                <a:latin typeface="Times New Roman"/>
                <a:ea typeface="Times New Roman"/>
              </a:rPr>
              <a:t>dec*|Dec*)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m=12 ;;</a:t>
            </a:r>
            <a:endParaRPr b="0" lang="en-IN" sz="1400" strike="noStrike" u="none">
              <a:solidFill>
                <a:srgbClr val="000000"/>
              </a:solidFill>
              <a:effectLst/>
              <a:uFillTx/>
              <a:latin typeface="Arial"/>
            </a:endParaRPr>
          </a:p>
          <a:p>
            <a:pPr marL="285840" indent="-285840">
              <a:lnSpc>
                <a:spcPct val="90000"/>
              </a:lnSpc>
              <a:spcBef>
                <a:spcPts val="720"/>
              </a:spcBef>
            </a:pPr>
            <a:r>
              <a:rPr b="0" lang="en-IN" sz="1400" strike="noStrike" u="none">
                <a:solidFill>
                  <a:srgbClr val="000000"/>
                </a:solidFill>
                <a:effectLst/>
                <a:uFillTx/>
                <a:latin typeface="Times New Roman"/>
                <a:ea typeface="Times New Roman"/>
              </a:rPr>
              <a:t>[1-9]|10|11|12)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numeric month</a:t>
            </a:r>
            <a:endParaRPr b="0" lang="en-IN" sz="1400" strike="noStrike" u="none">
              <a:solidFill>
                <a:srgbClr val="000000"/>
              </a:solidFill>
              <a:effectLst/>
              <a:uFillTx/>
              <a:latin typeface="Arial"/>
            </a:endParaRPr>
          </a:p>
          <a:p>
            <a:pPr marL="285840" indent="-285840">
              <a:lnSpc>
                <a:spcPct val="90000"/>
              </a:lnSpc>
              <a:spcBef>
                <a:spcPts val="720"/>
              </a:spcBef>
            </a:pP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y=$m; m="" ;;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plain year</a:t>
            </a:r>
            <a:endParaRPr b="0" lang="en-IN" sz="1400" strike="noStrike" u="none">
              <a:solidFill>
                <a:srgbClr val="000000"/>
              </a:solidFill>
              <a:effectLst/>
              <a:uFillTx/>
              <a:latin typeface="Arial"/>
            </a:endParaRPr>
          </a:p>
          <a:p>
            <a:pPr marL="285840" indent="-285840">
              <a:lnSpc>
                <a:spcPct val="90000"/>
              </a:lnSpc>
              <a:spcBef>
                <a:spcPts val="720"/>
              </a:spcBef>
            </a:pPr>
            <a:r>
              <a:rPr b="0" lang="en-IN" sz="1400" strike="noStrike" u="none">
                <a:solidFill>
                  <a:srgbClr val="000000"/>
                </a:solidFill>
                <a:effectLst/>
                <a:uFillTx/>
                <a:latin typeface="Times New Roman"/>
                <a:ea typeface="Times New Roman"/>
              </a:rPr>
              <a:t>esac</a:t>
            </a:r>
            <a:endParaRPr b="0" lang="en-IN" sz="1400" strike="noStrike" u="none">
              <a:solidFill>
                <a:srgbClr val="000000"/>
              </a:solidFill>
              <a:effectLst/>
              <a:uFillTx/>
              <a:latin typeface="Arial"/>
            </a:endParaRPr>
          </a:p>
          <a:p>
            <a:pPr marL="285840" indent="-285840">
              <a:lnSpc>
                <a:spcPct val="90000"/>
              </a:lnSpc>
              <a:spcBef>
                <a:spcPts val="720"/>
              </a:spcBef>
            </a:pPr>
            <a:endParaRPr b="0" lang="en-IN" sz="1400" strike="noStrike" u="none">
              <a:solidFill>
                <a:srgbClr val="000000"/>
              </a:solidFill>
              <a:effectLst/>
              <a:uFillTx/>
              <a:latin typeface="Arial"/>
            </a:endParaRPr>
          </a:p>
          <a:p>
            <a:pPr marL="285840" indent="-285840">
              <a:lnSpc>
                <a:spcPct val="90000"/>
              </a:lnSpc>
              <a:spcBef>
                <a:spcPts val="720"/>
              </a:spcBef>
            </a:pPr>
            <a:r>
              <a:rPr b="0" lang="en-IN" sz="1400" strike="noStrike" u="none">
                <a:solidFill>
                  <a:srgbClr val="000000"/>
                </a:solidFill>
                <a:effectLst/>
                <a:uFillTx/>
                <a:latin typeface="Times New Roman"/>
                <a:ea typeface="Times New Roman"/>
              </a:rPr>
              <a:t>/usr/bin/cal $m $y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 run the real cal program</a:t>
            </a:r>
            <a:endParaRPr b="0" lang="en-IN"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9" name=""/>
          <p:cNvSpPr txBox="1"/>
          <p:nvPr/>
        </p:nvSpPr>
        <p:spPr>
          <a:xfrm>
            <a:off x="996840" y="685800"/>
            <a:ext cx="715644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Control flow: which command?</a:t>
            </a:r>
            <a:endParaRPr b="0" lang="en-IN" sz="3600" strike="noStrike" u="none">
              <a:solidFill>
                <a:srgbClr val="000000"/>
              </a:solidFill>
              <a:effectLst/>
              <a:uFillTx/>
              <a:latin typeface="Arial"/>
            </a:endParaRPr>
          </a:p>
        </p:txBody>
      </p:sp>
      <p:sp>
        <p:nvSpPr>
          <p:cNvPr id="310" name=""/>
          <p:cNvSpPr txBox="1"/>
          <p:nvPr/>
        </p:nvSpPr>
        <p:spPr>
          <a:xfrm>
            <a:off x="990720" y="1981080"/>
            <a:ext cx="7162920" cy="4152600"/>
          </a:xfrm>
          <a:prstGeom prst="rect">
            <a:avLst/>
          </a:prstGeom>
          <a:noFill/>
          <a:ln w="0">
            <a:noFill/>
          </a:ln>
        </p:spPr>
        <p:txBody>
          <a:bodyPr lIns="0" rIns="0" tIns="0" bIns="0" anchor="t">
            <a:spAutoFit/>
          </a:bodyPr>
          <a:p>
            <a:pPr marL="285840" indent="-285840">
              <a:lnSpc>
                <a:spcPct val="90000"/>
              </a:lnSpc>
              <a:spcBef>
                <a:spcPts val="720"/>
              </a:spcBef>
            </a:pPr>
            <a:r>
              <a:rPr b="0" lang="en-IN" sz="2400" strike="noStrike" u="none">
                <a:solidFill>
                  <a:srgbClr val="000000"/>
                </a:solidFill>
                <a:effectLst/>
                <a:uFillTx/>
                <a:latin typeface="Times New Roman"/>
                <a:ea typeface="Times New Roman"/>
              </a:rPr>
              <a:t>In the next few slides we will use some basic control flow structures to determine where in the PATH a command can be found, </a:t>
            </a:r>
            <a:r>
              <a:rPr b="0" i="1" lang="en-IN" sz="2400" strike="noStrike" u="none">
                <a:solidFill>
                  <a:srgbClr val="000000"/>
                </a:solidFill>
                <a:effectLst/>
                <a:uFillTx/>
                <a:latin typeface="Times New Roman"/>
                <a:ea typeface="Times New Roman"/>
              </a:rPr>
              <a:t>e.g.</a:t>
            </a:r>
            <a:endParaRPr b="0" lang="en-IN" sz="24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 </a:t>
            </a:r>
            <a:r>
              <a:rPr b="0" i="1" lang="en-IN" sz="2000" strike="noStrike" u="none">
                <a:solidFill>
                  <a:srgbClr val="000000"/>
                </a:solidFill>
                <a:effectLst/>
                <a:uFillTx/>
                <a:latin typeface="Times New Roman"/>
                <a:ea typeface="Times New Roman"/>
              </a:rPr>
              <a:t>which ls</a:t>
            </a: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/bin/ls</a:t>
            </a: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 </a:t>
            </a:r>
            <a:r>
              <a:rPr b="0" i="1" lang="en-IN" sz="2000" strike="noStrike" u="none">
                <a:solidFill>
                  <a:srgbClr val="000000"/>
                </a:solidFill>
                <a:effectLst/>
                <a:uFillTx/>
                <a:latin typeface="Times New Roman"/>
                <a:ea typeface="Times New Roman"/>
              </a:rPr>
              <a:t>which cut</a:t>
            </a: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/usr/bin/cut</a:t>
            </a:r>
            <a:endParaRPr b="0" lang="en-IN" sz="2000" strike="noStrike" u="none">
              <a:solidFill>
                <a:srgbClr val="000000"/>
              </a:solidFill>
              <a:effectLst/>
              <a:uFillTx/>
              <a:latin typeface="Arial"/>
            </a:endParaRPr>
          </a:p>
          <a:p>
            <a:pPr marL="285840" indent="-285840">
              <a:lnSpc>
                <a:spcPct val="90000"/>
              </a:lnSpc>
              <a:spcBef>
                <a:spcPts val="720"/>
              </a:spcBef>
            </a:pPr>
            <a:r>
              <a:rPr b="0" lang="en-IN" sz="2400" strike="noStrike" u="none">
                <a:solidFill>
                  <a:srgbClr val="000000"/>
                </a:solidFill>
                <a:effectLst/>
                <a:uFillTx/>
                <a:latin typeface="Times New Roman"/>
                <a:ea typeface="Times New Roman"/>
              </a:rPr>
              <a:t>Basic algorithm:</a:t>
            </a:r>
            <a:endParaRPr b="0" lang="en-IN" sz="2400" strike="noStrike" u="none">
              <a:solidFill>
                <a:srgbClr val="000000"/>
              </a:solidFill>
              <a:effectLst/>
              <a:uFillTx/>
              <a:latin typeface="Arial"/>
            </a:endParaRPr>
          </a:p>
          <a:p>
            <a:pPr marL="285840" indent="-285840">
              <a:lnSpc>
                <a:spcPct val="90000"/>
              </a:lnSpc>
              <a:spcBef>
                <a:spcPts val="720"/>
              </a:spcBef>
            </a:pP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for i in </a:t>
            </a:r>
            <a:r>
              <a:rPr b="0" i="1" lang="en-IN" sz="1400" strike="noStrike" u="none">
                <a:solidFill>
                  <a:srgbClr val="000000"/>
                </a:solidFill>
                <a:effectLst/>
                <a:uFillTx/>
                <a:latin typeface="Times New Roman"/>
                <a:ea typeface="Times New Roman"/>
              </a:rPr>
              <a:t>each component of PATH</a:t>
            </a:r>
            <a:endParaRPr b="0" lang="en-IN" sz="1400" strike="noStrike" u="none">
              <a:solidFill>
                <a:srgbClr val="000000"/>
              </a:solidFill>
              <a:effectLst/>
              <a:uFillTx/>
              <a:latin typeface="Arial"/>
            </a:endParaRPr>
          </a:p>
          <a:p>
            <a:pPr marL="285840" indent="-285840">
              <a:lnSpc>
                <a:spcPct val="90000"/>
              </a:lnSpc>
              <a:spcBef>
                <a:spcPts val="720"/>
              </a:spcBef>
            </a:pP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do</a:t>
            </a:r>
            <a:endParaRPr b="0" lang="en-IN" sz="1400" strike="noStrike" u="none">
              <a:solidFill>
                <a:srgbClr val="000000"/>
              </a:solidFill>
              <a:effectLst/>
              <a:uFillTx/>
              <a:latin typeface="Arial"/>
            </a:endParaRPr>
          </a:p>
          <a:p>
            <a:pPr marL="285840" indent="-285840">
              <a:lnSpc>
                <a:spcPct val="90000"/>
              </a:lnSpc>
              <a:spcBef>
                <a:spcPts val="720"/>
              </a:spcBef>
            </a:pP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i="1" lang="en-IN" sz="1400" strike="noStrike" u="none">
                <a:solidFill>
                  <a:srgbClr val="000000"/>
                </a:solidFill>
                <a:effectLst/>
                <a:uFillTx/>
                <a:latin typeface="Times New Roman"/>
                <a:ea typeface="Times New Roman"/>
              </a:rPr>
              <a:t>if given name is in directory i  print its full pathname</a:t>
            </a:r>
            <a:endParaRPr b="0" lang="en-IN" sz="1400" strike="noStrike" u="none">
              <a:solidFill>
                <a:srgbClr val="000000"/>
              </a:solidFill>
              <a:effectLst/>
              <a:uFillTx/>
              <a:latin typeface="Arial"/>
            </a:endParaRPr>
          </a:p>
          <a:p>
            <a:pPr marL="285840" indent="-285840">
              <a:lnSpc>
                <a:spcPct val="90000"/>
              </a:lnSpc>
              <a:spcBef>
                <a:spcPts val="720"/>
              </a:spcBef>
            </a:pP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done</a:t>
            </a:r>
            <a:endParaRPr b="0" lang="en-IN" sz="1400" strike="noStrike" u="none">
              <a:solidFill>
                <a:srgbClr val="000000"/>
              </a:solidFill>
              <a:effectLst/>
              <a:uFillTx/>
              <a:latin typeface="Arial"/>
            </a:endParaRPr>
          </a:p>
          <a:p>
            <a:pPr marL="285840" indent="-285840">
              <a:lnSpc>
                <a:spcPct val="90000"/>
              </a:lnSpc>
              <a:spcBef>
                <a:spcPts val="720"/>
              </a:spcBef>
            </a:pPr>
            <a:r>
              <a:rPr b="0" lang="en-IN" sz="2400" strike="noStrike" u="none">
                <a:solidFill>
                  <a:srgbClr val="000000"/>
                </a:solidFill>
                <a:effectLst/>
                <a:uFillTx/>
                <a:latin typeface="Times New Roman"/>
                <a:ea typeface="Times New Roman"/>
              </a:rPr>
              <a:t>First, we need to get a list of the PATH directories</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1" name=""/>
          <p:cNvSpPr txBox="1"/>
          <p:nvPr/>
        </p:nvSpPr>
        <p:spPr>
          <a:xfrm>
            <a:off x="996840" y="685800"/>
            <a:ext cx="7156440" cy="8920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which command? </a:t>
            </a:r>
            <a:br>
              <a:rPr sz="3600"/>
            </a:br>
            <a:r>
              <a:rPr b="1" lang="en-IN" sz="2400" strike="noStrike" u="none">
                <a:solidFill>
                  <a:srgbClr val="000000"/>
                </a:solidFill>
                <a:effectLst/>
                <a:uFillTx/>
                <a:latin typeface="Times New Roman"/>
                <a:ea typeface="Times New Roman"/>
              </a:rPr>
              <a:t>PATH elements</a:t>
            </a:r>
            <a:endParaRPr b="0" lang="en-IN" sz="2400" strike="noStrike" u="none">
              <a:solidFill>
                <a:srgbClr val="000000"/>
              </a:solidFill>
              <a:effectLst/>
              <a:uFillTx/>
              <a:latin typeface="Arial"/>
            </a:endParaRPr>
          </a:p>
        </p:txBody>
      </p:sp>
      <p:sp>
        <p:nvSpPr>
          <p:cNvPr id="312" name=""/>
          <p:cNvSpPr txBox="1"/>
          <p:nvPr/>
        </p:nvSpPr>
        <p:spPr>
          <a:xfrm>
            <a:off x="990720" y="1981080"/>
            <a:ext cx="7162920" cy="4114800"/>
          </a:xfrm>
          <a:prstGeom prst="rect">
            <a:avLst/>
          </a:prstGeom>
          <a:noFill/>
          <a:ln w="0">
            <a:noFill/>
          </a:ln>
        </p:spPr>
        <p:txBody>
          <a:bodyPr lIns="0" rIns="0" tIns="0" bIns="0" anchor="t">
            <a:spAutoFit/>
          </a:bodyPr>
          <a:p>
            <a:pPr marL="285840" indent="-285840">
              <a:lnSpc>
                <a:spcPct val="90000"/>
              </a:lnSpc>
              <a:spcBef>
                <a:spcPts val="720"/>
              </a:spcBef>
            </a:pPr>
            <a:r>
              <a:rPr b="0" lang="en-IN" sz="2400" strike="noStrike" u="none">
                <a:solidFill>
                  <a:srgbClr val="000000"/>
                </a:solidFill>
                <a:effectLst/>
                <a:uFillTx/>
                <a:latin typeface="Times New Roman"/>
                <a:ea typeface="Times New Roman"/>
              </a:rPr>
              <a:t>In the PATH, “::” is equivalent to “:.:”, as is a bare “:” at the beginning or end of the PATH list</a:t>
            </a:r>
            <a:endParaRPr b="0" lang="en-IN" sz="24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 </a:t>
            </a:r>
            <a:r>
              <a:rPr b="0" i="1" lang="en-IN" sz="2000" strike="noStrike" u="none">
                <a:solidFill>
                  <a:srgbClr val="000000"/>
                </a:solidFill>
                <a:effectLst/>
                <a:uFillTx/>
                <a:latin typeface="Times New Roman"/>
                <a:ea typeface="Times New Roman"/>
              </a:rPr>
              <a:t>echo $PATH</a:t>
            </a: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/bin:/usr/bin:/home/class/bin:</a:t>
            </a:r>
            <a:endParaRPr b="0" lang="en-IN" sz="2000" strike="noStrike" u="none">
              <a:solidFill>
                <a:srgbClr val="000000"/>
              </a:solidFill>
              <a:effectLst/>
              <a:uFillTx/>
              <a:latin typeface="Arial"/>
            </a:endParaRPr>
          </a:p>
          <a:p>
            <a:pPr marL="285840" indent="-285840">
              <a:lnSpc>
                <a:spcPct val="90000"/>
              </a:lnSpc>
              <a:spcBef>
                <a:spcPts val="720"/>
              </a:spcBef>
            </a:pPr>
            <a:r>
              <a:rPr b="0" lang="en-IN" sz="2400" strike="noStrike" u="none">
                <a:solidFill>
                  <a:srgbClr val="000000"/>
                </a:solidFill>
                <a:effectLst/>
                <a:uFillTx/>
                <a:latin typeface="Times New Roman"/>
                <a:ea typeface="Times New Roman"/>
              </a:rPr>
              <a:t>We use </a:t>
            </a:r>
            <a:r>
              <a:rPr b="0" i="1" lang="en-IN" sz="2400" strike="noStrike" u="none">
                <a:solidFill>
                  <a:srgbClr val="000000"/>
                </a:solidFill>
                <a:effectLst/>
                <a:uFillTx/>
                <a:latin typeface="Times New Roman"/>
                <a:ea typeface="Times New Roman"/>
              </a:rPr>
              <a:t>sed</a:t>
            </a:r>
            <a:r>
              <a:rPr b="0" lang="en-IN" sz="2400" strike="noStrike" u="none">
                <a:solidFill>
                  <a:srgbClr val="000000"/>
                </a:solidFill>
                <a:effectLst/>
                <a:uFillTx/>
                <a:latin typeface="Times New Roman"/>
                <a:ea typeface="Times New Roman"/>
              </a:rPr>
              <a:t> to change each “:” to a blank, taking into account the “phantom dot” directory, if it exists</a:t>
            </a:r>
            <a:endParaRPr b="0" lang="en-IN" sz="24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 </a:t>
            </a:r>
            <a:r>
              <a:rPr b="0" i="1" lang="en-IN" sz="2000" strike="noStrike" u="none">
                <a:solidFill>
                  <a:srgbClr val="000000"/>
                </a:solidFill>
                <a:effectLst/>
                <a:uFillTx/>
                <a:latin typeface="Times New Roman"/>
                <a:ea typeface="Times New Roman"/>
              </a:rPr>
              <a:t>echo $PATH | sed 's/^:/.:/</a:t>
            </a: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&gt;                   </a:t>
            </a:r>
            <a:r>
              <a:rPr b="0" i="1" lang="en-IN" sz="2000" strike="noStrike" u="none">
                <a:solidFill>
                  <a:srgbClr val="000000"/>
                </a:solidFill>
                <a:effectLst/>
                <a:uFillTx/>
                <a:latin typeface="Times New Roman"/>
                <a:ea typeface="Times New Roman"/>
              </a:rPr>
              <a:t>s/::/:.:/g</a:t>
            </a: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&gt;                   </a:t>
            </a:r>
            <a:r>
              <a:rPr b="0" i="1" lang="en-IN" sz="2000" strike="noStrike" u="none">
                <a:solidFill>
                  <a:srgbClr val="000000"/>
                </a:solidFill>
                <a:effectLst/>
                <a:uFillTx/>
                <a:latin typeface="Times New Roman"/>
                <a:ea typeface="Times New Roman"/>
              </a:rPr>
              <a:t>s/:$/:./</a:t>
            </a: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&gt;                   </a:t>
            </a:r>
            <a:r>
              <a:rPr b="0" i="1" lang="en-IN" sz="2000" strike="noStrike" u="none">
                <a:solidFill>
                  <a:srgbClr val="000000"/>
                </a:solidFill>
                <a:effectLst/>
                <a:uFillTx/>
                <a:latin typeface="Times New Roman"/>
                <a:ea typeface="Times New Roman"/>
              </a:rPr>
              <a:t>s/:/ /g'</a:t>
            </a: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/bin /usr/bin /home/class/bin .</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3" name=""/>
          <p:cNvSpPr txBox="1"/>
          <p:nvPr/>
        </p:nvSpPr>
        <p:spPr>
          <a:xfrm>
            <a:off x="996840" y="685800"/>
            <a:ext cx="715644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Conditional execution: if</a:t>
            </a:r>
            <a:endParaRPr b="0" lang="en-IN" sz="3600" strike="noStrike" u="none">
              <a:solidFill>
                <a:srgbClr val="000000"/>
              </a:solidFill>
              <a:effectLst/>
              <a:uFillTx/>
              <a:latin typeface="Arial"/>
            </a:endParaRPr>
          </a:p>
        </p:txBody>
      </p:sp>
      <p:sp>
        <p:nvSpPr>
          <p:cNvPr id="314" name=""/>
          <p:cNvSpPr txBox="1"/>
          <p:nvPr/>
        </p:nvSpPr>
        <p:spPr>
          <a:xfrm>
            <a:off x="990720" y="1981080"/>
            <a:ext cx="7162920" cy="4380840"/>
          </a:xfrm>
          <a:prstGeom prst="rect">
            <a:avLst/>
          </a:prstGeom>
          <a:noFill/>
          <a:ln w="0">
            <a:noFill/>
          </a:ln>
        </p:spPr>
        <p:txBody>
          <a:bodyPr lIns="0" rIns="0" tIns="0" bIns="0" anchor="t">
            <a:spAutoFit/>
          </a:bodyPr>
          <a:p>
            <a:pPr marL="285840" indent="-285840">
              <a:lnSpc>
                <a:spcPct val="90000"/>
              </a:lnSpc>
              <a:spcBef>
                <a:spcPts val="720"/>
              </a:spcBef>
            </a:pPr>
            <a:r>
              <a:rPr b="0" lang="en-IN" sz="2400" strike="noStrike" u="none">
                <a:solidFill>
                  <a:srgbClr val="000000"/>
                </a:solidFill>
                <a:effectLst/>
                <a:uFillTx/>
                <a:latin typeface="Times New Roman"/>
                <a:ea typeface="Times New Roman"/>
              </a:rPr>
              <a:t>Basic structure</a:t>
            </a:r>
            <a:endParaRPr b="0" lang="en-IN" sz="2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if </a:t>
            </a:r>
            <a:r>
              <a:rPr b="0" i="1" lang="en-IN" sz="1400" strike="noStrike" u="none">
                <a:solidFill>
                  <a:srgbClr val="000000"/>
                </a:solidFill>
                <a:effectLst/>
                <a:uFillTx/>
                <a:latin typeface="Times New Roman"/>
                <a:ea typeface="Times New Roman"/>
              </a:rPr>
              <a:t>command</a:t>
            </a:r>
            <a:endParaRPr b="0" lang="en-IN" sz="1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then</a:t>
            </a:r>
            <a:endParaRPr b="0" lang="en-IN" sz="1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i="1" lang="en-IN" sz="1400" strike="noStrike" u="none">
                <a:solidFill>
                  <a:srgbClr val="000000"/>
                </a:solidFill>
                <a:effectLst/>
                <a:uFillTx/>
                <a:latin typeface="Times New Roman"/>
                <a:ea typeface="Times New Roman"/>
              </a:rPr>
              <a:t>commands if condition true</a:t>
            </a:r>
            <a:endParaRPr b="0" lang="en-IN" sz="1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else</a:t>
            </a:r>
            <a:endParaRPr b="0" lang="en-IN" sz="1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i="1" lang="en-IN" sz="1400" strike="noStrike" u="none">
                <a:solidFill>
                  <a:srgbClr val="000000"/>
                </a:solidFill>
                <a:effectLst/>
                <a:uFillTx/>
                <a:latin typeface="Times New Roman"/>
                <a:ea typeface="Times New Roman"/>
              </a:rPr>
              <a:t>commands if condition false</a:t>
            </a:r>
            <a:endParaRPr b="0" lang="en-IN" sz="1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fi</a:t>
            </a:r>
            <a:endParaRPr b="0" lang="en-IN" sz="1400" strike="noStrike" u="none">
              <a:solidFill>
                <a:srgbClr val="000000"/>
              </a:solidFill>
              <a:effectLst/>
              <a:uFillTx/>
              <a:latin typeface="Arial"/>
            </a:endParaRPr>
          </a:p>
          <a:p>
            <a:pPr marL="285840" indent="-285840">
              <a:lnSpc>
                <a:spcPct val="90000"/>
              </a:lnSpc>
              <a:spcBef>
                <a:spcPts val="720"/>
              </a:spcBef>
            </a:pPr>
            <a:r>
              <a:rPr b="0" lang="en-IN" sz="2400" strike="noStrike" u="none">
                <a:solidFill>
                  <a:srgbClr val="000000"/>
                </a:solidFill>
                <a:effectLst/>
                <a:uFillTx/>
                <a:latin typeface="Times New Roman"/>
                <a:ea typeface="Times New Roman"/>
              </a:rPr>
              <a:t>UNIX commands return a status of 0 (true) on success or nonzero (usually 1 for false) on failure.</a:t>
            </a:r>
            <a:endParaRPr b="0" lang="en-IN" sz="2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 </a:t>
            </a:r>
            <a:r>
              <a:rPr b="0" i="1" lang="en-IN" sz="1400" strike="noStrike" u="none">
                <a:solidFill>
                  <a:srgbClr val="000000"/>
                </a:solidFill>
                <a:effectLst/>
                <a:uFillTx/>
                <a:latin typeface="Times New Roman"/>
                <a:ea typeface="Times New Roman"/>
              </a:rPr>
              <a:t>if who | grep class &gt;/dev/null</a:t>
            </a:r>
            <a:endParaRPr b="0" lang="en-IN" sz="1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&gt; </a:t>
            </a:r>
            <a:r>
              <a:rPr b="0" i="1" lang="en-IN" sz="1400" strike="noStrike" u="none">
                <a:solidFill>
                  <a:srgbClr val="000000"/>
                </a:solidFill>
                <a:effectLst/>
                <a:uFillTx/>
                <a:latin typeface="Times New Roman"/>
                <a:ea typeface="Times New Roman"/>
              </a:rPr>
              <a:t>then</a:t>
            </a:r>
            <a:endParaRPr b="0" lang="en-IN" sz="1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&gt;   </a:t>
            </a:r>
            <a:r>
              <a:rPr b="0" i="1" lang="en-IN" sz="1400" strike="noStrike" u="none">
                <a:solidFill>
                  <a:srgbClr val="000000"/>
                </a:solidFill>
                <a:effectLst/>
                <a:uFillTx/>
                <a:latin typeface="Times New Roman"/>
                <a:ea typeface="Times New Roman"/>
              </a:rPr>
              <a:t>echo "Class logged on"</a:t>
            </a:r>
            <a:endParaRPr b="0" lang="en-IN" sz="1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&gt; </a:t>
            </a:r>
            <a:r>
              <a:rPr b="0" i="1" lang="en-IN" sz="1400" strike="noStrike" u="none">
                <a:solidFill>
                  <a:srgbClr val="000000"/>
                </a:solidFill>
                <a:effectLst/>
                <a:uFillTx/>
                <a:latin typeface="Times New Roman"/>
                <a:ea typeface="Times New Roman"/>
              </a:rPr>
              <a:t>fi</a:t>
            </a:r>
            <a:endParaRPr b="0" lang="en-IN" sz="1400" strike="noStrike" u="none">
              <a:solidFill>
                <a:srgbClr val="000000"/>
              </a:solidFill>
              <a:effectLst/>
              <a:uFillTx/>
              <a:latin typeface="Arial"/>
            </a:endParaRPr>
          </a:p>
          <a:p>
            <a:pPr marL="285840" indent="-285840">
              <a:lnSpc>
                <a:spcPct val="90000"/>
              </a:lnSpc>
              <a:spcBef>
                <a:spcPts val="720"/>
              </a:spcBef>
            </a:pPr>
            <a:r>
              <a:rPr b="0" lang="en-IN" sz="2400" strike="noStrike" u="none">
                <a:solidFill>
                  <a:srgbClr val="000000"/>
                </a:solidFill>
                <a:effectLst/>
                <a:uFillTx/>
                <a:latin typeface="Times New Roman"/>
                <a:ea typeface="Times New Roman"/>
              </a:rPr>
              <a:t>The status code returned by a pipeline is that of the last command in the pipe</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5" name=""/>
          <p:cNvSpPr txBox="1"/>
          <p:nvPr/>
        </p:nvSpPr>
        <p:spPr>
          <a:xfrm>
            <a:off x="996840" y="685800"/>
            <a:ext cx="715644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Testing Things</a:t>
            </a:r>
            <a:endParaRPr b="0" lang="en-IN" sz="3600" strike="noStrike" u="none">
              <a:solidFill>
                <a:srgbClr val="000000"/>
              </a:solidFill>
              <a:effectLst/>
              <a:uFillTx/>
              <a:latin typeface="Arial"/>
            </a:endParaRPr>
          </a:p>
        </p:txBody>
      </p:sp>
      <p:sp>
        <p:nvSpPr>
          <p:cNvPr id="316" name=""/>
          <p:cNvSpPr txBox="1"/>
          <p:nvPr/>
        </p:nvSpPr>
        <p:spPr>
          <a:xfrm>
            <a:off x="990720" y="1981080"/>
            <a:ext cx="7162920" cy="4446720"/>
          </a:xfrm>
          <a:prstGeom prst="rect">
            <a:avLst/>
          </a:prstGeom>
          <a:noFill/>
          <a:ln w="0">
            <a:noFill/>
          </a:ln>
        </p:spPr>
        <p:txBody>
          <a:bodyPr lIns="0" rIns="0" tIns="0" bIns="0" anchor="t">
            <a:spAutoFit/>
          </a:bodyPr>
          <a:p>
            <a:pPr marL="285840" indent="-285840">
              <a:lnSpc>
                <a:spcPct val="90000"/>
              </a:lnSpc>
              <a:spcBef>
                <a:spcPts val="720"/>
              </a:spcBef>
            </a:pPr>
            <a:r>
              <a:rPr b="0" i="1" lang="en-IN" sz="2400" strike="noStrike" u="none">
                <a:solidFill>
                  <a:srgbClr val="000000"/>
                </a:solidFill>
                <a:effectLst/>
                <a:uFillTx/>
                <a:latin typeface="Times New Roman"/>
                <a:ea typeface="Times New Roman"/>
              </a:rPr>
              <a:t>test(1) </a:t>
            </a:r>
            <a:r>
              <a:rPr b="0" lang="en-IN" sz="2400" strike="noStrike" u="none">
                <a:solidFill>
                  <a:srgbClr val="000000"/>
                </a:solidFill>
                <a:effectLst/>
                <a:uFillTx/>
                <a:latin typeface="Times New Roman"/>
                <a:ea typeface="Times New Roman"/>
              </a:rPr>
              <a:t>returns a true/false based on some condition</a:t>
            </a:r>
            <a:endParaRPr b="0" lang="en-IN" sz="2400" strike="noStrike" u="none">
              <a:solidFill>
                <a:srgbClr val="000000"/>
              </a:solidFill>
              <a:effectLst/>
              <a:uFillTx/>
              <a:latin typeface="Arial"/>
            </a:endParaRPr>
          </a:p>
          <a:p>
            <a:pPr marL="285840" indent="-285840">
              <a:lnSpc>
                <a:spcPct val="90000"/>
              </a:lnSpc>
              <a:spcBef>
                <a:spcPts val="720"/>
              </a:spcBef>
            </a:pP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-d </a:t>
            </a:r>
            <a:r>
              <a:rPr b="0" i="1" lang="en-IN" sz="1200" strike="noStrike" u="none">
                <a:solidFill>
                  <a:srgbClr val="000000"/>
                </a:solidFill>
                <a:effectLst/>
                <a:uFillTx/>
                <a:latin typeface="Times New Roman"/>
                <a:ea typeface="Times New Roman"/>
              </a:rPr>
              <a:t>file</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True if file exists and is a directory</a:t>
            </a:r>
            <a:endParaRPr b="0" lang="en-IN" sz="1200" strike="noStrike" u="none">
              <a:solidFill>
                <a:srgbClr val="000000"/>
              </a:solidFill>
              <a:effectLst/>
              <a:uFillTx/>
              <a:latin typeface="Arial"/>
            </a:endParaRPr>
          </a:p>
          <a:p>
            <a:pPr marL="285840" indent="-285840">
              <a:lnSpc>
                <a:spcPct val="90000"/>
              </a:lnSpc>
              <a:spcBef>
                <a:spcPts val="720"/>
              </a:spcBef>
            </a:pP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-e </a:t>
            </a:r>
            <a:r>
              <a:rPr b="0" i="1" lang="en-IN" sz="1200" strike="noStrike" u="none">
                <a:solidFill>
                  <a:srgbClr val="000000"/>
                </a:solidFill>
                <a:effectLst/>
                <a:uFillTx/>
                <a:latin typeface="Times New Roman"/>
                <a:ea typeface="Times New Roman"/>
              </a:rPr>
              <a:t>file</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True if file exists</a:t>
            </a:r>
            <a:endParaRPr b="0" lang="en-IN" sz="1200" strike="noStrike" u="none">
              <a:solidFill>
                <a:srgbClr val="000000"/>
              </a:solidFill>
              <a:effectLst/>
              <a:uFillTx/>
              <a:latin typeface="Arial"/>
            </a:endParaRPr>
          </a:p>
          <a:p>
            <a:pPr marL="285840" indent="-285840">
              <a:lnSpc>
                <a:spcPct val="90000"/>
              </a:lnSpc>
              <a:spcBef>
                <a:spcPts val="720"/>
              </a:spcBef>
            </a:pP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-f </a:t>
            </a:r>
            <a:r>
              <a:rPr b="0" i="1" lang="en-IN" sz="1200" strike="noStrike" u="none">
                <a:solidFill>
                  <a:srgbClr val="000000"/>
                </a:solidFill>
                <a:effectLst/>
                <a:uFillTx/>
                <a:latin typeface="Times New Roman"/>
                <a:ea typeface="Times New Roman"/>
              </a:rPr>
              <a:t>file</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True if file exists and is a regular file</a:t>
            </a:r>
            <a:endParaRPr b="0" lang="en-IN" sz="1200" strike="noStrike" u="none">
              <a:solidFill>
                <a:srgbClr val="000000"/>
              </a:solidFill>
              <a:effectLst/>
              <a:uFillTx/>
              <a:latin typeface="Arial"/>
            </a:endParaRPr>
          </a:p>
          <a:p>
            <a:pPr marL="285840" indent="-285840">
              <a:lnSpc>
                <a:spcPct val="90000"/>
              </a:lnSpc>
              <a:spcBef>
                <a:spcPts val="720"/>
              </a:spcBef>
            </a:pP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-r </a:t>
            </a:r>
            <a:r>
              <a:rPr b="0" i="1" lang="en-IN" sz="1200" strike="noStrike" u="none">
                <a:solidFill>
                  <a:srgbClr val="000000"/>
                </a:solidFill>
                <a:effectLst/>
                <a:uFillTx/>
                <a:latin typeface="Times New Roman"/>
                <a:ea typeface="Times New Roman"/>
              </a:rPr>
              <a:t>file</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True if file exists and is readable</a:t>
            </a:r>
            <a:endParaRPr b="0" lang="en-IN" sz="1200" strike="noStrike" u="none">
              <a:solidFill>
                <a:srgbClr val="000000"/>
              </a:solidFill>
              <a:effectLst/>
              <a:uFillTx/>
              <a:latin typeface="Arial"/>
            </a:endParaRPr>
          </a:p>
          <a:p>
            <a:pPr marL="285840" indent="-285840">
              <a:lnSpc>
                <a:spcPct val="90000"/>
              </a:lnSpc>
              <a:spcBef>
                <a:spcPts val="720"/>
              </a:spcBef>
            </a:pP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-s </a:t>
            </a:r>
            <a:r>
              <a:rPr b="0" i="1" lang="en-IN" sz="1200" strike="noStrike" u="none">
                <a:solidFill>
                  <a:srgbClr val="000000"/>
                </a:solidFill>
                <a:effectLst/>
                <a:uFillTx/>
                <a:latin typeface="Times New Roman"/>
                <a:ea typeface="Times New Roman"/>
              </a:rPr>
              <a:t>file</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True is file exists and has a size greater than zero</a:t>
            </a:r>
            <a:endParaRPr b="0" lang="en-IN" sz="1200" strike="noStrike" u="none">
              <a:solidFill>
                <a:srgbClr val="000000"/>
              </a:solidFill>
              <a:effectLst/>
              <a:uFillTx/>
              <a:latin typeface="Arial"/>
            </a:endParaRPr>
          </a:p>
          <a:p>
            <a:pPr marL="285840" indent="-285840">
              <a:lnSpc>
                <a:spcPct val="90000"/>
              </a:lnSpc>
              <a:spcBef>
                <a:spcPts val="720"/>
              </a:spcBef>
            </a:pP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-w </a:t>
            </a:r>
            <a:r>
              <a:rPr b="0" i="1" lang="en-IN" sz="1200" strike="noStrike" u="none">
                <a:solidFill>
                  <a:srgbClr val="000000"/>
                </a:solidFill>
                <a:effectLst/>
                <a:uFillTx/>
                <a:latin typeface="Times New Roman"/>
                <a:ea typeface="Times New Roman"/>
              </a:rPr>
              <a:t>file</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True if file exists and is writable</a:t>
            </a:r>
            <a:endParaRPr b="0" lang="en-IN" sz="1200" strike="noStrike" u="none">
              <a:solidFill>
                <a:srgbClr val="000000"/>
              </a:solidFill>
              <a:effectLst/>
              <a:uFillTx/>
              <a:latin typeface="Arial"/>
            </a:endParaRPr>
          </a:p>
          <a:p>
            <a:pPr marL="285840" indent="-285840">
              <a:lnSpc>
                <a:spcPct val="90000"/>
              </a:lnSpc>
              <a:spcBef>
                <a:spcPts val="720"/>
              </a:spcBef>
            </a:pP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-x </a:t>
            </a:r>
            <a:r>
              <a:rPr b="0" i="1" lang="en-IN" sz="1200" strike="noStrike" u="none">
                <a:solidFill>
                  <a:srgbClr val="000000"/>
                </a:solidFill>
                <a:effectLst/>
                <a:uFillTx/>
                <a:latin typeface="Times New Roman"/>
                <a:ea typeface="Times New Roman"/>
              </a:rPr>
              <a:t>file</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True if file exists and is executable</a:t>
            </a:r>
            <a:endParaRPr b="0" lang="en-IN" sz="1200" strike="noStrike" u="none">
              <a:solidFill>
                <a:srgbClr val="000000"/>
              </a:solidFill>
              <a:effectLst/>
              <a:uFillTx/>
              <a:latin typeface="Arial"/>
            </a:endParaRPr>
          </a:p>
          <a:p>
            <a:pPr marL="285840" indent="-285840">
              <a:lnSpc>
                <a:spcPct val="90000"/>
              </a:lnSpc>
              <a:spcBef>
                <a:spcPts val="720"/>
              </a:spcBef>
            </a:pP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-z </a:t>
            </a:r>
            <a:r>
              <a:rPr b="0" i="1" lang="en-IN" sz="1200" strike="noStrike" u="none">
                <a:solidFill>
                  <a:srgbClr val="000000"/>
                </a:solidFill>
                <a:effectLst/>
                <a:uFillTx/>
                <a:latin typeface="Times New Roman"/>
                <a:ea typeface="Times New Roman"/>
              </a:rPr>
              <a:t>string</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True if the length of string is zero</a:t>
            </a:r>
            <a:endParaRPr b="0" lang="en-IN" sz="1200" strike="noStrike" u="none">
              <a:solidFill>
                <a:srgbClr val="000000"/>
              </a:solidFill>
              <a:effectLst/>
              <a:uFillTx/>
              <a:latin typeface="Arial"/>
            </a:endParaRPr>
          </a:p>
          <a:p>
            <a:pPr marL="285840" indent="-285840">
              <a:lnSpc>
                <a:spcPct val="90000"/>
              </a:lnSpc>
              <a:spcBef>
                <a:spcPts val="720"/>
              </a:spcBef>
            </a:pP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-n </a:t>
            </a:r>
            <a:r>
              <a:rPr b="0" i="1" lang="en-IN" sz="1200" strike="noStrike" u="none">
                <a:solidFill>
                  <a:srgbClr val="000000"/>
                </a:solidFill>
                <a:effectLst/>
                <a:uFillTx/>
                <a:latin typeface="Times New Roman"/>
                <a:ea typeface="Times New Roman"/>
              </a:rPr>
              <a:t>string</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True if length of string is nonzero</a:t>
            </a:r>
            <a:endParaRPr b="0" lang="en-IN" sz="1200" strike="noStrike" u="none">
              <a:solidFill>
                <a:srgbClr val="000000"/>
              </a:solidFill>
              <a:effectLst/>
              <a:uFillTx/>
              <a:latin typeface="Arial"/>
            </a:endParaRPr>
          </a:p>
          <a:p>
            <a:pPr marL="285840" indent="-285840">
              <a:lnSpc>
                <a:spcPct val="90000"/>
              </a:lnSpc>
              <a:spcBef>
                <a:spcPts val="720"/>
              </a:spcBef>
            </a:pPr>
            <a:r>
              <a:rPr b="0" lang="en-IN" sz="1200" strike="noStrike" u="none">
                <a:solidFill>
                  <a:srgbClr val="000000"/>
                </a:solidFill>
                <a:effectLst/>
                <a:uFillTx/>
                <a:latin typeface="Times New Roman"/>
                <a:ea typeface="Times New Roman"/>
              </a:rPr>
              <a:t>	</a:t>
            </a:r>
            <a:r>
              <a:rPr b="0" i="1" lang="en-IN" sz="1200" strike="noStrike" u="none">
                <a:solidFill>
                  <a:srgbClr val="000000"/>
                </a:solidFill>
                <a:effectLst/>
                <a:uFillTx/>
                <a:latin typeface="Times New Roman"/>
                <a:ea typeface="Times New Roman"/>
              </a:rPr>
              <a:t>string</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True if length of string is nonzero</a:t>
            </a:r>
            <a:endParaRPr b="0" lang="en-IN" sz="1200" strike="noStrike" u="none">
              <a:solidFill>
                <a:srgbClr val="000000"/>
              </a:solidFill>
              <a:effectLst/>
              <a:uFillTx/>
              <a:latin typeface="Arial"/>
            </a:endParaRPr>
          </a:p>
          <a:p>
            <a:pPr marL="285840" indent="-285840">
              <a:lnSpc>
                <a:spcPct val="90000"/>
              </a:lnSpc>
              <a:spcBef>
                <a:spcPts val="720"/>
              </a:spcBef>
            </a:pPr>
            <a:r>
              <a:rPr b="0" lang="en-IN" sz="1200" strike="noStrike" u="none">
                <a:solidFill>
                  <a:srgbClr val="000000"/>
                </a:solidFill>
                <a:effectLst/>
                <a:uFillTx/>
                <a:latin typeface="Times New Roman"/>
                <a:ea typeface="Times New Roman"/>
              </a:rPr>
              <a:t>	</a:t>
            </a:r>
            <a:r>
              <a:rPr b="0" i="1" lang="en-IN" sz="1200" strike="noStrike" u="none">
                <a:solidFill>
                  <a:srgbClr val="000000"/>
                </a:solidFill>
                <a:effectLst/>
                <a:uFillTx/>
                <a:latin typeface="Times New Roman"/>
                <a:ea typeface="Times New Roman"/>
              </a:rPr>
              <a:t>string1</a:t>
            </a:r>
            <a:r>
              <a:rPr b="0" lang="en-IN" sz="1200" strike="noStrike" u="none">
                <a:solidFill>
                  <a:srgbClr val="000000"/>
                </a:solidFill>
                <a:effectLst/>
                <a:uFillTx/>
                <a:latin typeface="Times New Roman"/>
                <a:ea typeface="Times New Roman"/>
              </a:rPr>
              <a:t> = </a:t>
            </a:r>
            <a:r>
              <a:rPr b="0" i="1" lang="en-IN" sz="1200" strike="noStrike" u="none">
                <a:solidFill>
                  <a:srgbClr val="000000"/>
                </a:solidFill>
                <a:effectLst/>
                <a:uFillTx/>
                <a:latin typeface="Times New Roman"/>
                <a:ea typeface="Times New Roman"/>
              </a:rPr>
              <a:t>string2</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True if strings are equal</a:t>
            </a:r>
            <a:endParaRPr b="0" lang="en-IN" sz="1200" strike="noStrike" u="none">
              <a:solidFill>
                <a:srgbClr val="000000"/>
              </a:solidFill>
              <a:effectLst/>
              <a:uFillTx/>
              <a:latin typeface="Arial"/>
            </a:endParaRPr>
          </a:p>
          <a:p>
            <a:pPr marL="285840" indent="-285840">
              <a:lnSpc>
                <a:spcPct val="90000"/>
              </a:lnSpc>
              <a:spcBef>
                <a:spcPts val="720"/>
              </a:spcBef>
            </a:pPr>
            <a:r>
              <a:rPr b="0" lang="en-IN" sz="1200" strike="noStrike" u="none">
                <a:solidFill>
                  <a:srgbClr val="000000"/>
                </a:solidFill>
                <a:effectLst/>
                <a:uFillTx/>
                <a:latin typeface="Times New Roman"/>
                <a:ea typeface="Times New Roman"/>
              </a:rPr>
              <a:t>	</a:t>
            </a:r>
            <a:r>
              <a:rPr b="0" i="1" lang="en-IN" sz="1200" strike="noStrike" u="none">
                <a:solidFill>
                  <a:srgbClr val="000000"/>
                </a:solidFill>
                <a:effectLst/>
                <a:uFillTx/>
                <a:latin typeface="Times New Roman"/>
                <a:ea typeface="Times New Roman"/>
              </a:rPr>
              <a:t>string1</a:t>
            </a:r>
            <a:r>
              <a:rPr b="0" lang="en-IN" sz="1200" strike="noStrike" u="none">
                <a:solidFill>
                  <a:srgbClr val="000000"/>
                </a:solidFill>
                <a:effectLst/>
                <a:uFillTx/>
                <a:latin typeface="Times New Roman"/>
                <a:ea typeface="Times New Roman"/>
              </a:rPr>
              <a:t> != </a:t>
            </a:r>
            <a:r>
              <a:rPr b="0" i="1" lang="en-IN" sz="1200" strike="noStrike" u="none">
                <a:solidFill>
                  <a:srgbClr val="000000"/>
                </a:solidFill>
                <a:effectLst/>
                <a:uFillTx/>
                <a:latin typeface="Times New Roman"/>
                <a:ea typeface="Times New Roman"/>
              </a:rPr>
              <a:t>string2</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True if strings are not equal</a:t>
            </a:r>
            <a:endParaRPr b="0" lang="en-IN" sz="1200" strike="noStrike" u="none">
              <a:solidFill>
                <a:srgbClr val="000000"/>
              </a:solidFill>
              <a:effectLst/>
              <a:uFillTx/>
              <a:latin typeface="Arial"/>
            </a:endParaRPr>
          </a:p>
          <a:p>
            <a:pPr marL="285840" indent="-285840">
              <a:lnSpc>
                <a:spcPct val="90000"/>
              </a:lnSpc>
              <a:spcBef>
                <a:spcPts val="720"/>
              </a:spcBef>
            </a:pP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 </a:t>
            </a:r>
            <a:r>
              <a:rPr b="0" i="1" lang="en-IN" sz="1200" strike="noStrike" u="none">
                <a:solidFill>
                  <a:srgbClr val="000000"/>
                </a:solidFill>
                <a:effectLst/>
                <a:uFillTx/>
                <a:latin typeface="Times New Roman"/>
                <a:ea typeface="Times New Roman"/>
              </a:rPr>
              <a:t>expr</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True if expr is false</a:t>
            </a:r>
            <a:endParaRPr b="0" lang="en-IN" sz="1200" strike="noStrike" u="none">
              <a:solidFill>
                <a:srgbClr val="000000"/>
              </a:solidFill>
              <a:effectLst/>
              <a:uFillTx/>
              <a:latin typeface="Arial"/>
            </a:endParaRPr>
          </a:p>
          <a:p>
            <a:pPr marL="285840" indent="-285840">
              <a:lnSpc>
                <a:spcPct val="90000"/>
              </a:lnSpc>
              <a:spcBef>
                <a:spcPts val="720"/>
              </a:spcBef>
            </a:pPr>
            <a:r>
              <a:rPr b="0" lang="en-IN" sz="1200" strike="noStrike" u="none">
                <a:solidFill>
                  <a:srgbClr val="000000"/>
                </a:solidFill>
                <a:effectLst/>
                <a:uFillTx/>
                <a:latin typeface="Times New Roman"/>
                <a:ea typeface="Times New Roman"/>
              </a:rPr>
              <a:t>	</a:t>
            </a:r>
            <a:r>
              <a:rPr b="0" i="1" lang="en-IN" sz="1200" strike="noStrike" u="none">
                <a:solidFill>
                  <a:srgbClr val="000000"/>
                </a:solidFill>
                <a:effectLst/>
                <a:uFillTx/>
                <a:latin typeface="Times New Roman"/>
                <a:ea typeface="Times New Roman"/>
              </a:rPr>
              <a:t>expr1</a:t>
            </a:r>
            <a:r>
              <a:rPr b="0" lang="en-IN" sz="1200" strike="noStrike" u="none">
                <a:solidFill>
                  <a:srgbClr val="000000"/>
                </a:solidFill>
                <a:effectLst/>
                <a:uFillTx/>
                <a:latin typeface="Times New Roman"/>
                <a:ea typeface="Times New Roman"/>
              </a:rPr>
              <a:t> -a </a:t>
            </a:r>
            <a:r>
              <a:rPr b="0" i="1" lang="en-IN" sz="1200" strike="noStrike" u="none">
                <a:solidFill>
                  <a:srgbClr val="000000"/>
                </a:solidFill>
                <a:effectLst/>
                <a:uFillTx/>
                <a:latin typeface="Times New Roman"/>
                <a:ea typeface="Times New Roman"/>
              </a:rPr>
              <a:t>expr2</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True if both expr1 and expr2 are true</a:t>
            </a:r>
            <a:endParaRPr b="0" lang="en-IN" sz="1200" strike="noStrike" u="none">
              <a:solidFill>
                <a:srgbClr val="000000"/>
              </a:solidFill>
              <a:effectLst/>
              <a:uFillTx/>
              <a:latin typeface="Arial"/>
            </a:endParaRPr>
          </a:p>
          <a:p>
            <a:pPr marL="285840" indent="-285840">
              <a:lnSpc>
                <a:spcPct val="90000"/>
              </a:lnSpc>
              <a:spcBef>
                <a:spcPts val="720"/>
              </a:spcBef>
            </a:pPr>
            <a:r>
              <a:rPr b="0" lang="en-IN" sz="1200" strike="noStrike" u="none">
                <a:solidFill>
                  <a:srgbClr val="000000"/>
                </a:solidFill>
                <a:effectLst/>
                <a:uFillTx/>
                <a:latin typeface="Times New Roman"/>
                <a:ea typeface="Times New Roman"/>
              </a:rPr>
              <a:t>	</a:t>
            </a:r>
            <a:r>
              <a:rPr b="0" i="1" lang="en-IN" sz="1200" strike="noStrike" u="none">
                <a:solidFill>
                  <a:srgbClr val="000000"/>
                </a:solidFill>
                <a:effectLst/>
                <a:uFillTx/>
                <a:latin typeface="Times New Roman"/>
                <a:ea typeface="Times New Roman"/>
              </a:rPr>
              <a:t>expr1</a:t>
            </a:r>
            <a:r>
              <a:rPr b="0" lang="en-IN" sz="1200" strike="noStrike" u="none">
                <a:solidFill>
                  <a:srgbClr val="000000"/>
                </a:solidFill>
                <a:effectLst/>
                <a:uFillTx/>
                <a:latin typeface="Times New Roman"/>
                <a:ea typeface="Times New Roman"/>
              </a:rPr>
              <a:t> -o </a:t>
            </a:r>
            <a:r>
              <a:rPr b="0" i="1" lang="en-IN" sz="1200" strike="noStrike" u="none">
                <a:solidFill>
                  <a:srgbClr val="000000"/>
                </a:solidFill>
                <a:effectLst/>
                <a:uFillTx/>
                <a:latin typeface="Times New Roman"/>
                <a:ea typeface="Times New Roman"/>
              </a:rPr>
              <a:t>expr2</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True if either expr1 or expr2 are true</a:t>
            </a:r>
            <a:endParaRPr b="0" lang="en-IN" sz="1200" strike="noStrike" u="none">
              <a:solidFill>
                <a:srgbClr val="000000"/>
              </a:solidFill>
              <a:effectLst/>
              <a:uFillTx/>
              <a:latin typeface="Arial"/>
            </a:endParaRPr>
          </a:p>
          <a:p>
            <a:pPr marL="285840" indent="-285840">
              <a:lnSpc>
                <a:spcPct val="90000"/>
              </a:lnSpc>
              <a:spcBef>
                <a:spcPts val="720"/>
              </a:spcBef>
            </a:pPr>
            <a:r>
              <a:rPr b="0" lang="en-IN" sz="1200" strike="noStrike" u="none">
                <a:solidFill>
                  <a:srgbClr val="000000"/>
                </a:solidFill>
                <a:effectLst/>
                <a:uFillTx/>
                <a:latin typeface="Times New Roman"/>
                <a:ea typeface="Times New Roman"/>
              </a:rPr>
              <a:t>	</a:t>
            </a:r>
            <a:r>
              <a:rPr b="0" i="1" lang="en-IN" sz="1200" strike="noStrike" u="none">
                <a:solidFill>
                  <a:srgbClr val="000000"/>
                </a:solidFill>
                <a:effectLst/>
                <a:uFillTx/>
                <a:latin typeface="Times New Roman"/>
                <a:ea typeface="Times New Roman"/>
              </a:rPr>
              <a:t>arg1</a:t>
            </a:r>
            <a:r>
              <a:rPr b="0" lang="en-IN" sz="1200" strike="noStrike" u="none">
                <a:solidFill>
                  <a:srgbClr val="000000"/>
                </a:solidFill>
                <a:effectLst/>
                <a:uFillTx/>
                <a:latin typeface="Times New Roman"/>
                <a:ea typeface="Times New Roman"/>
              </a:rPr>
              <a:t> OP </a:t>
            </a:r>
            <a:r>
              <a:rPr b="0" i="1" lang="en-IN" sz="1200" strike="noStrike" u="none">
                <a:solidFill>
                  <a:srgbClr val="000000"/>
                </a:solidFill>
                <a:effectLst/>
                <a:uFillTx/>
                <a:latin typeface="Times New Roman"/>
                <a:ea typeface="Times New Roman"/>
              </a:rPr>
              <a:t>arg2</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Where OP is -eq, -ne, -lt, -le, -gt or -ge</a:t>
            </a:r>
            <a:endParaRPr b="0" lang="en-IN" sz="1200" strike="noStrike" u="none">
              <a:solidFill>
                <a:srgbClr val="000000"/>
              </a:solidFill>
              <a:effectLst/>
              <a:uFillTx/>
              <a:latin typeface="Arial"/>
            </a:endParaRPr>
          </a:p>
          <a:p>
            <a:pPr marL="285840" indent="-285840">
              <a:lnSpc>
                <a:spcPct val="90000"/>
              </a:lnSpc>
              <a:spcBef>
                <a:spcPts val="720"/>
              </a:spcBef>
            </a:pP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	</a:t>
            </a:r>
            <a:r>
              <a:rPr b="0" lang="en-IN" sz="1200" strike="noStrike" u="none">
                <a:solidFill>
                  <a:srgbClr val="000000"/>
                </a:solidFill>
                <a:effectLst/>
                <a:uFillTx/>
                <a:latin typeface="Times New Roman"/>
                <a:ea typeface="Times New Roman"/>
              </a:rPr>
              <a:t>True if numeric values meet condition</a:t>
            </a:r>
            <a:endParaRPr b="0" lang="en-IN" sz="1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7" name=""/>
          <p:cNvSpPr txBox="1"/>
          <p:nvPr/>
        </p:nvSpPr>
        <p:spPr>
          <a:xfrm>
            <a:off x="996840" y="380880"/>
            <a:ext cx="715644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test continued</a:t>
            </a:r>
            <a:endParaRPr b="0" lang="en-IN" sz="3600" strike="noStrike" u="none">
              <a:solidFill>
                <a:srgbClr val="000000"/>
              </a:solidFill>
              <a:effectLst/>
              <a:uFillTx/>
              <a:latin typeface="Arial"/>
            </a:endParaRPr>
          </a:p>
        </p:txBody>
      </p:sp>
      <p:sp>
        <p:nvSpPr>
          <p:cNvPr id="318" name=""/>
          <p:cNvSpPr txBox="1"/>
          <p:nvPr/>
        </p:nvSpPr>
        <p:spPr>
          <a:xfrm>
            <a:off x="914400" y="1066680"/>
            <a:ext cx="7162920" cy="5410080"/>
          </a:xfrm>
          <a:prstGeom prst="rect">
            <a:avLst/>
          </a:prstGeom>
          <a:noFill/>
          <a:ln w="0">
            <a:noFill/>
          </a:ln>
        </p:spPr>
        <p:txBody>
          <a:bodyPr lIns="0" rIns="0" tIns="0" bIns="0" anchor="t">
            <a:spAutoFit/>
          </a:bodyPr>
          <a:p>
            <a:pPr marL="285840" indent="-285840">
              <a:lnSpc>
                <a:spcPct val="90000"/>
              </a:lnSpc>
              <a:spcBef>
                <a:spcPts val="720"/>
              </a:spcBef>
            </a:pPr>
            <a:r>
              <a:rPr b="0" i="1" lang="en-IN" sz="2400" strike="noStrike" u="none">
                <a:solidFill>
                  <a:srgbClr val="000000"/>
                </a:solidFill>
                <a:effectLst/>
                <a:uFillTx/>
                <a:latin typeface="Times New Roman"/>
                <a:ea typeface="Times New Roman"/>
              </a:rPr>
              <a:t>test</a:t>
            </a:r>
            <a:r>
              <a:rPr b="0" lang="en-IN" sz="2400" strike="noStrike" u="none">
                <a:solidFill>
                  <a:srgbClr val="000000"/>
                </a:solidFill>
                <a:effectLst/>
                <a:uFillTx/>
                <a:latin typeface="Times New Roman"/>
                <a:ea typeface="Times New Roman"/>
              </a:rPr>
              <a:t> and its synonym, [, are usually builtin operators of the shell</a:t>
            </a:r>
            <a:endParaRPr b="0" lang="en-IN" sz="24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 requires a closing bracket, ]</a:t>
            </a:r>
            <a:endParaRPr b="0" lang="en-IN" sz="2000" strike="noStrike" u="none">
              <a:solidFill>
                <a:srgbClr val="000000"/>
              </a:solidFill>
              <a:effectLst/>
              <a:uFillTx/>
              <a:latin typeface="Arial"/>
            </a:endParaRPr>
          </a:p>
          <a:p>
            <a:pPr marL="1143000" indent="-228600">
              <a:lnSpc>
                <a:spcPct val="90000"/>
              </a:lnSpc>
              <a:spcBef>
                <a:spcPts val="720"/>
              </a:spcBef>
            </a:pPr>
            <a:r>
              <a:rPr b="0" lang="en-IN" sz="2000" strike="noStrike" u="none">
                <a:solidFill>
                  <a:srgbClr val="000000"/>
                </a:solidFill>
                <a:effectLst/>
                <a:uFillTx/>
                <a:latin typeface="Times New Roman"/>
                <a:ea typeface="Times New Roman"/>
              </a:rPr>
              <a:t>if [ -r /home/class/lib/phone-book ]</a:t>
            </a:r>
            <a:endParaRPr b="0" lang="en-IN" sz="2000" strike="noStrike" u="none">
              <a:solidFill>
                <a:srgbClr val="000000"/>
              </a:solidFill>
              <a:effectLst/>
              <a:uFillTx/>
              <a:latin typeface="Arial"/>
            </a:endParaRPr>
          </a:p>
          <a:p>
            <a:pPr marL="1143000" indent="-228600">
              <a:lnSpc>
                <a:spcPct val="90000"/>
              </a:lnSpc>
              <a:spcBef>
                <a:spcPts val="720"/>
              </a:spcBef>
            </a:pPr>
            <a:r>
              <a:rPr b="0" lang="en-IN" sz="2000" strike="noStrike" u="none">
                <a:solidFill>
                  <a:srgbClr val="000000"/>
                </a:solidFill>
                <a:effectLst/>
                <a:uFillTx/>
                <a:latin typeface="Times New Roman"/>
                <a:ea typeface="Times New Roman"/>
              </a:rPr>
              <a:t>then</a:t>
            </a:r>
            <a:endParaRPr b="0" lang="en-IN" sz="2000" strike="noStrike" u="none">
              <a:solidFill>
                <a:srgbClr val="000000"/>
              </a:solidFill>
              <a:effectLst/>
              <a:uFillTx/>
              <a:latin typeface="Arial"/>
            </a:endParaRPr>
          </a:p>
          <a:p>
            <a:pPr marL="1143000" indent="-228600">
              <a:lnSpc>
                <a:spcPct val="90000"/>
              </a:lnSpc>
              <a:spcBef>
                <a:spcPts val="720"/>
              </a:spcBef>
            </a:pPr>
            <a:r>
              <a:rPr b="0" lang="en-IN" sz="2000" strike="noStrike" u="none">
                <a:solidFill>
                  <a:srgbClr val="000000"/>
                </a:solidFill>
                <a:effectLst/>
                <a:uFillTx/>
                <a:latin typeface="Times New Roman"/>
                <a:ea typeface="Times New Roman"/>
              </a:rPr>
              <a:t>	</a:t>
            </a:r>
            <a:r>
              <a:rPr b="0" lang="en-IN" sz="2000" strike="noStrike" u="none">
                <a:solidFill>
                  <a:srgbClr val="000000"/>
                </a:solidFill>
                <a:effectLst/>
                <a:uFillTx/>
                <a:latin typeface="Times New Roman"/>
                <a:ea typeface="Times New Roman"/>
              </a:rPr>
              <a:t>	</a:t>
            </a:r>
            <a:r>
              <a:rPr b="0" lang="en-IN" sz="2000" strike="noStrike" u="none">
                <a:solidFill>
                  <a:srgbClr val="000000"/>
                </a:solidFill>
                <a:effectLst/>
                <a:uFillTx/>
                <a:latin typeface="Times New Roman"/>
                <a:ea typeface="Times New Roman"/>
              </a:rPr>
              <a:t>grep -i "$*" /home/class/lib/phone-book</a:t>
            </a:r>
            <a:endParaRPr b="0" lang="en-IN" sz="2000" strike="noStrike" u="none">
              <a:solidFill>
                <a:srgbClr val="000000"/>
              </a:solidFill>
              <a:effectLst/>
              <a:uFillTx/>
              <a:latin typeface="Arial"/>
            </a:endParaRPr>
          </a:p>
          <a:p>
            <a:pPr marL="1143000" indent="-228600">
              <a:lnSpc>
                <a:spcPct val="90000"/>
              </a:lnSpc>
              <a:spcBef>
                <a:spcPts val="720"/>
              </a:spcBef>
            </a:pPr>
            <a:r>
              <a:rPr b="0" lang="en-IN" sz="2000" strike="noStrike" u="none">
                <a:solidFill>
                  <a:srgbClr val="000000"/>
                </a:solidFill>
                <a:effectLst/>
                <a:uFillTx/>
                <a:latin typeface="Times New Roman"/>
                <a:ea typeface="Times New Roman"/>
              </a:rPr>
              <a:t>else</a:t>
            </a:r>
            <a:endParaRPr b="0" lang="en-IN" sz="2000" strike="noStrike" u="none">
              <a:solidFill>
                <a:srgbClr val="000000"/>
              </a:solidFill>
              <a:effectLst/>
              <a:uFillTx/>
              <a:latin typeface="Arial"/>
            </a:endParaRPr>
          </a:p>
          <a:p>
            <a:pPr marL="1143000" indent="-228600">
              <a:lnSpc>
                <a:spcPct val="90000"/>
              </a:lnSpc>
              <a:spcBef>
                <a:spcPts val="720"/>
              </a:spcBef>
            </a:pPr>
            <a:r>
              <a:rPr b="0" lang="en-IN" sz="2000" strike="noStrike" u="none">
                <a:solidFill>
                  <a:srgbClr val="000000"/>
                </a:solidFill>
                <a:effectLst/>
                <a:uFillTx/>
                <a:latin typeface="Times New Roman"/>
                <a:ea typeface="Times New Roman"/>
              </a:rPr>
              <a:t>	</a:t>
            </a:r>
            <a:r>
              <a:rPr b="0" lang="en-IN" sz="2000" strike="noStrike" u="none">
                <a:solidFill>
                  <a:srgbClr val="000000"/>
                </a:solidFill>
                <a:effectLst/>
                <a:uFillTx/>
                <a:latin typeface="Times New Roman"/>
                <a:ea typeface="Times New Roman"/>
              </a:rPr>
              <a:t>	</a:t>
            </a:r>
            <a:r>
              <a:rPr b="0" lang="en-IN" sz="2000" strike="noStrike" u="none">
                <a:solidFill>
                  <a:srgbClr val="000000"/>
                </a:solidFill>
                <a:effectLst/>
                <a:uFillTx/>
                <a:latin typeface="Times New Roman"/>
                <a:ea typeface="Times New Roman"/>
              </a:rPr>
              <a:t>echo Call 441-4000 for information</a:t>
            </a:r>
            <a:endParaRPr b="0" lang="en-IN" sz="2000" strike="noStrike" u="none">
              <a:solidFill>
                <a:srgbClr val="000000"/>
              </a:solidFill>
              <a:effectLst/>
              <a:uFillTx/>
              <a:latin typeface="Arial"/>
            </a:endParaRPr>
          </a:p>
          <a:p>
            <a:pPr marL="1143000" indent="-228600">
              <a:lnSpc>
                <a:spcPct val="90000"/>
              </a:lnSpc>
              <a:spcBef>
                <a:spcPts val="720"/>
              </a:spcBef>
            </a:pPr>
            <a:r>
              <a:rPr b="0" lang="en-IN" sz="2000" strike="noStrike" u="none">
                <a:solidFill>
                  <a:srgbClr val="000000"/>
                </a:solidFill>
                <a:effectLst/>
                <a:uFillTx/>
                <a:latin typeface="Times New Roman"/>
                <a:ea typeface="Times New Roman"/>
              </a:rPr>
              <a:t>fi</a:t>
            </a:r>
            <a:endParaRPr b="0" lang="en-IN" sz="2000" strike="noStrike" u="none">
              <a:solidFill>
                <a:srgbClr val="000000"/>
              </a:solidFill>
              <a:effectLst/>
              <a:uFillTx/>
              <a:latin typeface="Arial"/>
            </a:endParaRPr>
          </a:p>
          <a:p>
            <a:pPr marL="285840" indent="-285840">
              <a:lnSpc>
                <a:spcPct val="90000"/>
              </a:lnSpc>
              <a:spcBef>
                <a:spcPts val="720"/>
              </a:spcBef>
            </a:pPr>
            <a:r>
              <a:rPr b="0" lang="en-IN" sz="2400" strike="noStrike" u="none">
                <a:solidFill>
                  <a:srgbClr val="000000"/>
                </a:solidFill>
                <a:effectLst/>
                <a:uFillTx/>
                <a:latin typeface="Times New Roman"/>
                <a:ea typeface="Times New Roman"/>
              </a:rPr>
              <a:t>For our </a:t>
            </a:r>
            <a:r>
              <a:rPr b="0" i="1" lang="en-IN" sz="2400" strike="noStrike" u="none">
                <a:solidFill>
                  <a:srgbClr val="000000"/>
                </a:solidFill>
                <a:effectLst/>
                <a:uFillTx/>
                <a:latin typeface="Times New Roman"/>
                <a:ea typeface="Times New Roman"/>
              </a:rPr>
              <a:t>which</a:t>
            </a:r>
            <a:r>
              <a:rPr b="0" lang="en-IN" sz="2400" strike="noStrike" u="none">
                <a:solidFill>
                  <a:srgbClr val="000000"/>
                </a:solidFill>
                <a:effectLst/>
                <a:uFillTx/>
                <a:latin typeface="Times New Roman"/>
                <a:ea typeface="Times New Roman"/>
              </a:rPr>
              <a:t> command, we want to find executables</a:t>
            </a:r>
            <a:endParaRPr b="0" lang="en-IN" sz="24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if [ -x </a:t>
            </a:r>
            <a:r>
              <a:rPr b="0" i="1" lang="en-IN" sz="2000" strike="noStrike" u="none">
                <a:solidFill>
                  <a:srgbClr val="000000"/>
                </a:solidFill>
                <a:effectLst/>
                <a:uFillTx/>
                <a:latin typeface="Times New Roman"/>
                <a:ea typeface="Times New Roman"/>
              </a:rPr>
              <a:t>file in PATH directory</a:t>
            </a:r>
            <a:r>
              <a:rPr b="0" lang="en-IN" sz="2000" strike="noStrike" u="none">
                <a:solidFill>
                  <a:srgbClr val="000000"/>
                </a:solidFill>
                <a:effectLst/>
                <a:uFillTx/>
                <a:latin typeface="Times New Roman"/>
                <a:ea typeface="Times New Roman"/>
              </a:rPr>
              <a:t> ]</a:t>
            </a: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then</a:t>
            </a: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	</a:t>
            </a:r>
            <a:r>
              <a:rPr b="0" lang="en-IN" sz="2000" strike="noStrike" u="none">
                <a:solidFill>
                  <a:srgbClr val="000000"/>
                </a:solidFill>
                <a:effectLst/>
                <a:uFillTx/>
                <a:latin typeface="Times New Roman"/>
                <a:ea typeface="Times New Roman"/>
              </a:rPr>
              <a:t>	</a:t>
            </a:r>
            <a:r>
              <a:rPr b="0" lang="en-IN" sz="2000" strike="noStrike" u="none">
                <a:solidFill>
                  <a:srgbClr val="000000"/>
                </a:solidFill>
                <a:effectLst/>
                <a:uFillTx/>
                <a:latin typeface="Times New Roman"/>
                <a:ea typeface="Times New Roman"/>
              </a:rPr>
              <a:t>echo </a:t>
            </a:r>
            <a:r>
              <a:rPr b="0" i="1" lang="en-IN" sz="2000" strike="noStrike" u="none">
                <a:solidFill>
                  <a:srgbClr val="000000"/>
                </a:solidFill>
                <a:effectLst/>
                <a:uFillTx/>
                <a:latin typeface="Times New Roman"/>
                <a:ea typeface="Times New Roman"/>
              </a:rPr>
              <a:t>complete pathname</a:t>
            </a: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fi</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9" name=""/>
          <p:cNvSpPr txBox="1"/>
          <p:nvPr/>
        </p:nvSpPr>
        <p:spPr>
          <a:xfrm>
            <a:off x="996840" y="685800"/>
            <a:ext cx="7156440" cy="106056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Which Command? </a:t>
            </a:r>
            <a:br>
              <a:rPr sz="3600"/>
            </a:br>
            <a:r>
              <a:rPr b="1" lang="en-IN" sz="3600" strike="noStrike" u="none">
                <a:solidFill>
                  <a:srgbClr val="000000"/>
                </a:solidFill>
                <a:effectLst/>
                <a:uFillTx/>
                <a:latin typeface="Times New Roman"/>
                <a:ea typeface="Times New Roman"/>
              </a:rPr>
              <a:t>which</a:t>
            </a:r>
            <a:endParaRPr b="0" lang="en-IN" sz="3600" strike="noStrike" u="none">
              <a:solidFill>
                <a:srgbClr val="000000"/>
              </a:solidFill>
              <a:effectLst/>
              <a:uFillTx/>
              <a:latin typeface="Arial"/>
            </a:endParaRPr>
          </a:p>
        </p:txBody>
      </p:sp>
      <p:sp>
        <p:nvSpPr>
          <p:cNvPr id="320" name=""/>
          <p:cNvSpPr txBox="1"/>
          <p:nvPr/>
        </p:nvSpPr>
        <p:spPr>
          <a:xfrm>
            <a:off x="990720" y="1981080"/>
            <a:ext cx="7162920" cy="4200120"/>
          </a:xfrm>
          <a:prstGeom prst="rect">
            <a:avLst/>
          </a:prstGeom>
          <a:noFill/>
          <a:ln w="0">
            <a:noFill/>
          </a:ln>
        </p:spPr>
        <p:txBody>
          <a:bodyPr lIns="0" rIns="0" tIns="0" bIns="0" anchor="t">
            <a:spAutoFit/>
          </a:bodyPr>
          <a:p>
            <a:pPr marL="285840" indent="-285840">
              <a:lnSpc>
                <a:spcPct val="90000"/>
              </a:lnSpc>
              <a:spcBef>
                <a:spcPts val="720"/>
              </a:spcBef>
            </a:pPr>
            <a:r>
              <a:rPr b="0" lang="en-IN" sz="1400" strike="noStrike" u="none">
                <a:solidFill>
                  <a:srgbClr val="000000"/>
                </a:solidFill>
                <a:effectLst/>
                <a:uFillTx/>
                <a:latin typeface="Times New Roman"/>
                <a:ea typeface="Times New Roman"/>
              </a:rPr>
              <a:t># which cmd:  which cmd in PATH is executed</a:t>
            </a:r>
            <a:endParaRPr b="0" lang="en-IN" sz="1400" strike="noStrike" u="none">
              <a:solidFill>
                <a:srgbClr val="000000"/>
              </a:solidFill>
              <a:effectLst/>
              <a:uFillTx/>
              <a:latin typeface="Arial"/>
            </a:endParaRPr>
          </a:p>
          <a:p>
            <a:pPr marL="285840" indent="-285840">
              <a:lnSpc>
                <a:spcPct val="90000"/>
              </a:lnSpc>
              <a:spcBef>
                <a:spcPts val="720"/>
              </a:spcBef>
            </a:pPr>
            <a:r>
              <a:rPr b="0" lang="en-IN" sz="1400" strike="noStrike" u="none">
                <a:solidFill>
                  <a:srgbClr val="000000"/>
                </a:solidFill>
                <a:effectLst/>
                <a:uFillTx/>
                <a:latin typeface="Times New Roman"/>
                <a:ea typeface="Times New Roman"/>
              </a:rPr>
              <a:t>case $# in</a:t>
            </a:r>
            <a:endParaRPr b="0" lang="en-IN" sz="1400" strike="noStrike" u="none">
              <a:solidFill>
                <a:srgbClr val="000000"/>
              </a:solidFill>
              <a:effectLst/>
              <a:uFillTx/>
              <a:latin typeface="Arial"/>
            </a:endParaRPr>
          </a:p>
          <a:p>
            <a:pPr marL="285840" indent="-285840">
              <a:lnSpc>
                <a:spcPct val="90000"/>
              </a:lnSpc>
              <a:spcBef>
                <a:spcPts val="720"/>
              </a:spcBef>
            </a:pPr>
            <a:r>
              <a:rPr b="0" lang="en-IN" sz="1400" strike="noStrike" u="none">
                <a:solidFill>
                  <a:srgbClr val="000000"/>
                </a:solidFill>
                <a:effectLst/>
                <a:uFillTx/>
                <a:latin typeface="Times New Roman"/>
                <a:ea typeface="Times New Roman"/>
              </a:rPr>
              <a:t>0)      echo "Usage: $0 command" 1&gt;&amp;2; exit 2</a:t>
            </a:r>
            <a:endParaRPr b="0" lang="en-IN" sz="1400" strike="noStrike" u="none">
              <a:solidFill>
                <a:srgbClr val="000000"/>
              </a:solidFill>
              <a:effectLst/>
              <a:uFillTx/>
              <a:latin typeface="Arial"/>
            </a:endParaRPr>
          </a:p>
          <a:p>
            <a:pPr marL="285840" indent="-285840">
              <a:lnSpc>
                <a:spcPct val="90000"/>
              </a:lnSpc>
              <a:spcBef>
                <a:spcPts val="720"/>
              </a:spcBef>
            </a:pPr>
            <a:r>
              <a:rPr b="0" lang="en-IN" sz="1400" strike="noStrike" u="none">
                <a:solidFill>
                  <a:srgbClr val="000000"/>
                </a:solidFill>
                <a:effectLst/>
                <a:uFillTx/>
                <a:latin typeface="Times New Roman"/>
                <a:ea typeface="Times New Roman"/>
              </a:rPr>
              <a:t>esac</a:t>
            </a:r>
            <a:endParaRPr b="0" lang="en-IN" sz="1400" strike="noStrike" u="none">
              <a:solidFill>
                <a:srgbClr val="000000"/>
              </a:solidFill>
              <a:effectLst/>
              <a:uFillTx/>
              <a:latin typeface="Arial"/>
            </a:endParaRPr>
          </a:p>
          <a:p>
            <a:pPr marL="285840" indent="-285840">
              <a:lnSpc>
                <a:spcPct val="90000"/>
              </a:lnSpc>
              <a:spcBef>
                <a:spcPts val="720"/>
              </a:spcBef>
            </a:pPr>
            <a:r>
              <a:rPr b="0" lang="en-IN" sz="1400" strike="noStrike" u="none">
                <a:solidFill>
                  <a:srgbClr val="000000"/>
                </a:solidFill>
                <a:effectLst/>
                <a:uFillTx/>
                <a:latin typeface="Times New Roman"/>
                <a:ea typeface="Times New Roman"/>
              </a:rPr>
              <a:t>for i in `echo $PATH | sed 's/^:/.:/</a:t>
            </a:r>
            <a:endParaRPr b="0" lang="en-IN" sz="1400" strike="noStrike" u="none">
              <a:solidFill>
                <a:srgbClr val="000000"/>
              </a:solidFill>
              <a:effectLst/>
              <a:uFillTx/>
              <a:latin typeface="Arial"/>
            </a:endParaRPr>
          </a:p>
          <a:p>
            <a:pPr marL="285840" indent="-285840">
              <a:lnSpc>
                <a:spcPct val="90000"/>
              </a:lnSpc>
              <a:spcBef>
                <a:spcPts val="720"/>
              </a:spcBef>
            </a:pPr>
            <a:r>
              <a:rPr b="0" lang="en-IN" sz="1400" strike="noStrike" u="none">
                <a:solidFill>
                  <a:srgbClr val="000000"/>
                </a:solidFill>
                <a:effectLst/>
                <a:uFillTx/>
                <a:latin typeface="Times New Roman"/>
                <a:ea typeface="Times New Roman"/>
              </a:rPr>
              <a:t>                          s/::/:.:/g</a:t>
            </a:r>
            <a:endParaRPr b="0" lang="en-IN" sz="1400" strike="noStrike" u="none">
              <a:solidFill>
                <a:srgbClr val="000000"/>
              </a:solidFill>
              <a:effectLst/>
              <a:uFillTx/>
              <a:latin typeface="Arial"/>
            </a:endParaRPr>
          </a:p>
          <a:p>
            <a:pPr marL="285840" indent="-285840">
              <a:lnSpc>
                <a:spcPct val="90000"/>
              </a:lnSpc>
              <a:spcBef>
                <a:spcPts val="720"/>
              </a:spcBef>
            </a:pPr>
            <a:r>
              <a:rPr b="0" lang="en-IN" sz="1400" strike="noStrike" u="none">
                <a:solidFill>
                  <a:srgbClr val="000000"/>
                </a:solidFill>
                <a:effectLst/>
                <a:uFillTx/>
                <a:latin typeface="Times New Roman"/>
                <a:ea typeface="Times New Roman"/>
              </a:rPr>
              <a:t>                          s/:$/:./</a:t>
            </a:r>
            <a:endParaRPr b="0" lang="en-IN" sz="1400" strike="noStrike" u="none">
              <a:solidFill>
                <a:srgbClr val="000000"/>
              </a:solidFill>
              <a:effectLst/>
              <a:uFillTx/>
              <a:latin typeface="Arial"/>
            </a:endParaRPr>
          </a:p>
          <a:p>
            <a:pPr marL="285840" indent="-285840">
              <a:lnSpc>
                <a:spcPct val="90000"/>
              </a:lnSpc>
              <a:spcBef>
                <a:spcPts val="720"/>
              </a:spcBef>
            </a:pPr>
            <a:r>
              <a:rPr b="0" lang="en-IN" sz="1400" strike="noStrike" u="none">
                <a:solidFill>
                  <a:srgbClr val="000000"/>
                </a:solidFill>
                <a:effectLst/>
                <a:uFillTx/>
                <a:latin typeface="Times New Roman"/>
                <a:ea typeface="Times New Roman"/>
              </a:rPr>
              <a:t>                          s/:/ /g'`</a:t>
            </a:r>
            <a:endParaRPr b="0" lang="en-IN" sz="1400" strike="noStrike" u="none">
              <a:solidFill>
                <a:srgbClr val="000000"/>
              </a:solidFill>
              <a:effectLst/>
              <a:uFillTx/>
              <a:latin typeface="Arial"/>
            </a:endParaRPr>
          </a:p>
          <a:p>
            <a:pPr marL="285840" indent="-285840">
              <a:lnSpc>
                <a:spcPct val="90000"/>
              </a:lnSpc>
              <a:spcBef>
                <a:spcPts val="720"/>
              </a:spcBef>
            </a:pPr>
            <a:r>
              <a:rPr b="0" lang="en-IN" sz="1400" strike="noStrike" u="none">
                <a:solidFill>
                  <a:srgbClr val="000000"/>
                </a:solidFill>
                <a:effectLst/>
                <a:uFillTx/>
                <a:latin typeface="Times New Roman"/>
                <a:ea typeface="Times New Roman"/>
              </a:rPr>
              <a:t>do</a:t>
            </a:r>
            <a:endParaRPr b="0" lang="en-IN" sz="1400" strike="noStrike" u="none">
              <a:solidFill>
                <a:srgbClr val="000000"/>
              </a:solidFill>
              <a:effectLst/>
              <a:uFillTx/>
              <a:latin typeface="Arial"/>
            </a:endParaRPr>
          </a:p>
          <a:p>
            <a:pPr marL="285840" indent="-285840">
              <a:lnSpc>
                <a:spcPct val="90000"/>
              </a:lnSpc>
              <a:spcBef>
                <a:spcPts val="720"/>
              </a:spcBef>
            </a:pPr>
            <a:r>
              <a:rPr b="0" lang="en-IN" sz="1400" strike="noStrike" u="none">
                <a:solidFill>
                  <a:srgbClr val="000000"/>
                </a:solidFill>
                <a:effectLst/>
                <a:uFillTx/>
                <a:latin typeface="Times New Roman"/>
                <a:ea typeface="Times New Roman"/>
              </a:rPr>
              <a:t>       if [ -x $i/$1 ]</a:t>
            </a:r>
            <a:endParaRPr b="0" lang="en-IN" sz="1400" strike="noStrike" u="none">
              <a:solidFill>
                <a:srgbClr val="000000"/>
              </a:solidFill>
              <a:effectLst/>
              <a:uFillTx/>
              <a:latin typeface="Arial"/>
            </a:endParaRPr>
          </a:p>
          <a:p>
            <a:pPr marL="285840" indent="-285840">
              <a:lnSpc>
                <a:spcPct val="90000"/>
              </a:lnSpc>
              <a:spcBef>
                <a:spcPts val="720"/>
              </a:spcBef>
            </a:pPr>
            <a:r>
              <a:rPr b="0" lang="en-IN" sz="1400" strike="noStrike" u="none">
                <a:solidFill>
                  <a:srgbClr val="000000"/>
                </a:solidFill>
                <a:effectLst/>
                <a:uFillTx/>
                <a:latin typeface="Times New Roman"/>
                <a:ea typeface="Times New Roman"/>
              </a:rPr>
              <a:t>       then</a:t>
            </a:r>
            <a:endParaRPr b="0" lang="en-IN" sz="1400" strike="noStrike" u="none">
              <a:solidFill>
                <a:srgbClr val="000000"/>
              </a:solidFill>
              <a:effectLst/>
              <a:uFillTx/>
              <a:latin typeface="Arial"/>
            </a:endParaRPr>
          </a:p>
          <a:p>
            <a:pPr marL="285840" indent="-285840">
              <a:lnSpc>
                <a:spcPct val="90000"/>
              </a:lnSpc>
              <a:spcBef>
                <a:spcPts val="720"/>
              </a:spcBef>
            </a:pPr>
            <a:r>
              <a:rPr b="0" lang="en-IN" sz="1400" strike="noStrike" u="none">
                <a:solidFill>
                  <a:srgbClr val="000000"/>
                </a:solidFill>
                <a:effectLst/>
                <a:uFillTx/>
                <a:latin typeface="Times New Roman"/>
                <a:ea typeface="Times New Roman"/>
              </a:rPr>
              <a:t>               echo $i/$1</a:t>
            </a:r>
            <a:endParaRPr b="0" lang="en-IN" sz="1400" strike="noStrike" u="none">
              <a:solidFill>
                <a:srgbClr val="000000"/>
              </a:solidFill>
              <a:effectLst/>
              <a:uFillTx/>
              <a:latin typeface="Arial"/>
            </a:endParaRPr>
          </a:p>
          <a:p>
            <a:pPr marL="285840" indent="-285840">
              <a:lnSpc>
                <a:spcPct val="90000"/>
              </a:lnSpc>
              <a:spcBef>
                <a:spcPts val="720"/>
              </a:spcBef>
            </a:pPr>
            <a:r>
              <a:rPr b="0" lang="en-IN" sz="1400" strike="noStrike" u="none">
                <a:solidFill>
                  <a:srgbClr val="000000"/>
                </a:solidFill>
                <a:effectLst/>
                <a:uFillTx/>
                <a:latin typeface="Times New Roman"/>
                <a:ea typeface="Times New Roman"/>
              </a:rPr>
              <a:t>               exit 0</a:t>
            </a:r>
            <a:endParaRPr b="0" lang="en-IN" sz="1400" strike="noStrike" u="none">
              <a:solidFill>
                <a:srgbClr val="000000"/>
              </a:solidFill>
              <a:effectLst/>
              <a:uFillTx/>
              <a:latin typeface="Arial"/>
            </a:endParaRPr>
          </a:p>
          <a:p>
            <a:pPr marL="285840" indent="-285840">
              <a:lnSpc>
                <a:spcPct val="90000"/>
              </a:lnSpc>
              <a:spcBef>
                <a:spcPts val="720"/>
              </a:spcBef>
            </a:pPr>
            <a:r>
              <a:rPr b="0" lang="en-IN" sz="1400" strike="noStrike" u="none">
                <a:solidFill>
                  <a:srgbClr val="000000"/>
                </a:solidFill>
                <a:effectLst/>
                <a:uFillTx/>
                <a:latin typeface="Times New Roman"/>
                <a:ea typeface="Times New Roman"/>
              </a:rPr>
              <a:t>       fi</a:t>
            </a:r>
            <a:endParaRPr b="0" lang="en-IN" sz="1400" strike="noStrike" u="none">
              <a:solidFill>
                <a:srgbClr val="000000"/>
              </a:solidFill>
              <a:effectLst/>
              <a:uFillTx/>
              <a:latin typeface="Arial"/>
            </a:endParaRPr>
          </a:p>
          <a:p>
            <a:pPr marL="285840" indent="-285840">
              <a:lnSpc>
                <a:spcPct val="90000"/>
              </a:lnSpc>
              <a:spcBef>
                <a:spcPts val="720"/>
              </a:spcBef>
            </a:pPr>
            <a:r>
              <a:rPr b="0" lang="en-IN" sz="1400" strike="noStrike" u="none">
                <a:solidFill>
                  <a:srgbClr val="000000"/>
                </a:solidFill>
                <a:effectLst/>
                <a:uFillTx/>
                <a:latin typeface="Times New Roman"/>
                <a:ea typeface="Times New Roman"/>
              </a:rPr>
              <a:t>done</a:t>
            </a:r>
            <a:endParaRPr b="0" lang="en-IN" sz="1400" strike="noStrike" u="none">
              <a:solidFill>
                <a:srgbClr val="000000"/>
              </a:solidFill>
              <a:effectLst/>
              <a:uFillTx/>
              <a:latin typeface="Arial"/>
            </a:endParaRPr>
          </a:p>
          <a:p>
            <a:pPr marL="285840" indent="-285840">
              <a:lnSpc>
                <a:spcPct val="90000"/>
              </a:lnSpc>
              <a:spcBef>
                <a:spcPts val="720"/>
              </a:spcBef>
            </a:pPr>
            <a:r>
              <a:rPr b="0" lang="en-IN" sz="1400" strike="noStrike" u="none">
                <a:solidFill>
                  <a:srgbClr val="000000"/>
                </a:solidFill>
                <a:effectLst/>
                <a:uFillTx/>
                <a:latin typeface="Times New Roman"/>
                <a:ea typeface="Times New Roman"/>
              </a:rPr>
              <a:t>exit 1</a:t>
            </a:r>
            <a:endParaRPr b="0" lang="en-IN"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1" name=""/>
          <p:cNvSpPr txBox="1"/>
          <p:nvPr/>
        </p:nvSpPr>
        <p:spPr>
          <a:xfrm>
            <a:off x="996840" y="685800"/>
            <a:ext cx="715644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for loops revisited</a:t>
            </a:r>
            <a:endParaRPr b="0" lang="en-IN" sz="3600" strike="noStrike" u="none">
              <a:solidFill>
                <a:srgbClr val="000000"/>
              </a:solidFill>
              <a:effectLst/>
              <a:uFillTx/>
              <a:latin typeface="Arial"/>
            </a:endParaRPr>
          </a:p>
        </p:txBody>
      </p:sp>
      <p:sp>
        <p:nvSpPr>
          <p:cNvPr id="322" name=""/>
          <p:cNvSpPr txBox="1"/>
          <p:nvPr/>
        </p:nvSpPr>
        <p:spPr>
          <a:xfrm>
            <a:off x="990720" y="1600200"/>
            <a:ext cx="7162920" cy="4114800"/>
          </a:xfrm>
          <a:prstGeom prst="rect">
            <a:avLst/>
          </a:prstGeom>
          <a:noFill/>
          <a:ln w="0">
            <a:noFill/>
          </a:ln>
        </p:spPr>
        <p:txBody>
          <a:bodyPr lIns="0" rIns="0" tIns="0" bIns="0" anchor="t">
            <a:spAutoFit/>
          </a:bodyPr>
          <a:p>
            <a:pPr marL="285840" indent="-285840">
              <a:lnSpc>
                <a:spcPct val="90000"/>
              </a:lnSpc>
              <a:spcBef>
                <a:spcPts val="720"/>
              </a:spcBef>
            </a:pPr>
            <a:r>
              <a:rPr b="0" i="1" lang="en-IN" sz="2400" strike="noStrike" u="none">
                <a:solidFill>
                  <a:srgbClr val="000000"/>
                </a:solidFill>
                <a:effectLst/>
                <a:uFillTx/>
                <a:latin typeface="Times New Roman"/>
                <a:ea typeface="Times New Roman"/>
              </a:rPr>
              <a:t>for</a:t>
            </a:r>
            <a:r>
              <a:rPr b="0" lang="en-IN" sz="2400" strike="noStrike" u="none">
                <a:solidFill>
                  <a:srgbClr val="000000"/>
                </a:solidFill>
                <a:effectLst/>
                <a:uFillTx/>
                <a:latin typeface="Times New Roman"/>
                <a:ea typeface="Times New Roman"/>
              </a:rPr>
              <a:t> is the most common loop, iterating over a list of items</a:t>
            </a:r>
            <a:endParaRPr b="0" lang="en-IN" sz="2400" strike="noStrike" u="none">
              <a:solidFill>
                <a:srgbClr val="000000"/>
              </a:solidFill>
              <a:effectLst/>
              <a:uFillTx/>
              <a:latin typeface="Arial"/>
            </a:endParaRPr>
          </a:p>
          <a:p>
            <a:pPr marL="285840" indent="-285840">
              <a:lnSpc>
                <a:spcPct val="90000"/>
              </a:lnSpc>
              <a:spcBef>
                <a:spcPts val="720"/>
              </a:spcBef>
            </a:pPr>
            <a:r>
              <a:rPr b="0" lang="en-IN" sz="2400" strike="noStrike" u="none">
                <a:solidFill>
                  <a:srgbClr val="000000"/>
                </a:solidFill>
                <a:effectLst/>
                <a:uFillTx/>
                <a:latin typeface="Times New Roman"/>
                <a:ea typeface="Times New Roman"/>
              </a:rPr>
              <a:t>There are two basic forms, the one we’ve seen:</a:t>
            </a:r>
            <a:endParaRPr b="0" lang="en-IN" sz="24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for i in </a:t>
            </a:r>
            <a:r>
              <a:rPr b="0" i="1" lang="en-IN" sz="2000" strike="noStrike" u="none">
                <a:solidFill>
                  <a:srgbClr val="000000"/>
                </a:solidFill>
                <a:effectLst/>
                <a:uFillTx/>
                <a:latin typeface="Times New Roman"/>
                <a:ea typeface="Times New Roman"/>
              </a:rPr>
              <a:t>list of words</a:t>
            </a: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do</a:t>
            </a: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   </a:t>
            </a:r>
            <a:r>
              <a:rPr b="0" i="1" lang="en-IN" sz="2000" strike="noStrike" u="none">
                <a:solidFill>
                  <a:srgbClr val="000000"/>
                </a:solidFill>
                <a:effectLst/>
                <a:uFillTx/>
                <a:latin typeface="Times New Roman"/>
                <a:ea typeface="Times New Roman"/>
              </a:rPr>
              <a:t>loop body, $i set to successive elements of list</a:t>
            </a: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done</a:t>
            </a:r>
            <a:endParaRPr b="0" lang="en-IN" sz="2000" strike="noStrike" u="none">
              <a:solidFill>
                <a:srgbClr val="000000"/>
              </a:solidFill>
              <a:effectLst/>
              <a:uFillTx/>
              <a:latin typeface="Arial"/>
            </a:endParaRPr>
          </a:p>
          <a:p>
            <a:pPr marL="285840" indent="-285840">
              <a:lnSpc>
                <a:spcPct val="90000"/>
              </a:lnSpc>
              <a:spcBef>
                <a:spcPts val="720"/>
              </a:spcBef>
            </a:pPr>
            <a:r>
              <a:rPr b="0" lang="en-IN" sz="2400" strike="noStrike" u="none">
                <a:solidFill>
                  <a:srgbClr val="000000"/>
                </a:solidFill>
                <a:effectLst/>
                <a:uFillTx/>
                <a:latin typeface="Times New Roman"/>
                <a:ea typeface="Times New Roman"/>
              </a:rPr>
              <a:t>And one specifically for looping over the input arguments</a:t>
            </a:r>
            <a:endParaRPr b="0" lang="en-IN" sz="24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for i    </a:t>
            </a:r>
            <a:r>
              <a:rPr b="0" i="1" lang="en-IN" sz="2000" strike="noStrike" u="none">
                <a:solidFill>
                  <a:srgbClr val="000000"/>
                </a:solidFill>
                <a:effectLst/>
                <a:uFillTx/>
                <a:latin typeface="Times New Roman"/>
                <a:ea typeface="Times New Roman"/>
              </a:rPr>
              <a:t>(List is implicitly all arguments, i.e. $*)</a:t>
            </a: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do</a:t>
            </a: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   </a:t>
            </a:r>
            <a:r>
              <a:rPr b="0" i="1" lang="en-IN" sz="2000" strike="noStrike" u="none">
                <a:solidFill>
                  <a:srgbClr val="000000"/>
                </a:solidFill>
                <a:effectLst/>
                <a:uFillTx/>
                <a:latin typeface="Times New Roman"/>
                <a:ea typeface="Times New Roman"/>
              </a:rPr>
              <a:t>loop body, $i set to successive elements of list</a:t>
            </a: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done</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3" name=""/>
          <p:cNvSpPr txBox="1"/>
          <p:nvPr/>
        </p:nvSpPr>
        <p:spPr>
          <a:xfrm>
            <a:off x="996840" y="685800"/>
            <a:ext cx="715644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while and until loops</a:t>
            </a:r>
            <a:endParaRPr b="0" lang="en-IN" sz="3600" strike="noStrike" u="none">
              <a:solidFill>
                <a:srgbClr val="000000"/>
              </a:solidFill>
              <a:effectLst/>
              <a:uFillTx/>
              <a:latin typeface="Arial"/>
            </a:endParaRPr>
          </a:p>
        </p:txBody>
      </p:sp>
      <p:sp>
        <p:nvSpPr>
          <p:cNvPr id="324" name=""/>
          <p:cNvSpPr txBox="1"/>
          <p:nvPr/>
        </p:nvSpPr>
        <p:spPr>
          <a:xfrm>
            <a:off x="990720" y="1981080"/>
            <a:ext cx="7162920" cy="4114800"/>
          </a:xfrm>
          <a:prstGeom prst="rect">
            <a:avLst/>
          </a:prstGeom>
          <a:noFill/>
          <a:ln w="0">
            <a:noFill/>
          </a:ln>
        </p:spPr>
        <p:txBody>
          <a:bodyPr lIns="0" rIns="0" tIns="0" bIns="0" anchor="t">
            <a:spAutoFit/>
          </a:bodyPr>
          <a:p>
            <a:pPr marL="285840" indent="-285840">
              <a:lnSpc>
                <a:spcPct val="90000"/>
              </a:lnSpc>
              <a:spcBef>
                <a:spcPts val="720"/>
              </a:spcBef>
            </a:pPr>
            <a:r>
              <a:rPr b="1" i="1" lang="en-IN" sz="2400" strike="noStrike" u="none">
                <a:solidFill>
                  <a:srgbClr val="000000"/>
                </a:solidFill>
                <a:effectLst/>
                <a:uFillTx/>
                <a:latin typeface="Times New Roman"/>
                <a:ea typeface="Times New Roman"/>
              </a:rPr>
              <a:t>while</a:t>
            </a:r>
            <a:r>
              <a:rPr b="1" lang="en-IN" sz="2400" strike="noStrike" u="none">
                <a:solidFill>
                  <a:srgbClr val="000000"/>
                </a:solidFill>
                <a:effectLst/>
                <a:uFillTx/>
                <a:latin typeface="Times New Roman"/>
                <a:ea typeface="Times New Roman"/>
              </a:rPr>
              <a:t> and </a:t>
            </a:r>
            <a:r>
              <a:rPr b="1" i="1" lang="en-IN" sz="2400" strike="noStrike" u="none">
                <a:solidFill>
                  <a:srgbClr val="000000"/>
                </a:solidFill>
                <a:effectLst/>
                <a:uFillTx/>
                <a:latin typeface="Times New Roman"/>
                <a:ea typeface="Times New Roman"/>
              </a:rPr>
              <a:t>until</a:t>
            </a:r>
            <a:r>
              <a:rPr b="1" lang="en-IN" sz="2400" strike="noStrike" u="none">
                <a:solidFill>
                  <a:srgbClr val="000000"/>
                </a:solidFill>
                <a:effectLst/>
                <a:uFillTx/>
                <a:latin typeface="Times New Roman"/>
                <a:ea typeface="Times New Roman"/>
              </a:rPr>
              <a:t> loops use the exit status of a command to control termination of the loop</a:t>
            </a:r>
            <a:endParaRPr b="0" lang="en-IN" sz="2400" strike="noStrike" u="none">
              <a:solidFill>
                <a:srgbClr val="000000"/>
              </a:solidFill>
              <a:effectLst/>
              <a:uFillTx/>
              <a:latin typeface="Arial"/>
            </a:endParaRPr>
          </a:p>
          <a:p>
            <a:pPr marL="285840" indent="-285840">
              <a:lnSpc>
                <a:spcPct val="90000"/>
              </a:lnSpc>
              <a:spcBef>
                <a:spcPts val="720"/>
              </a:spcBef>
            </a:pPr>
            <a:r>
              <a:rPr b="1" i="1" lang="en-IN" sz="2400" strike="noStrike" u="none">
                <a:solidFill>
                  <a:srgbClr val="000000"/>
                </a:solidFill>
                <a:effectLst/>
                <a:uFillTx/>
                <a:latin typeface="Times New Roman"/>
                <a:ea typeface="Times New Roman"/>
              </a:rPr>
              <a:t>while</a:t>
            </a:r>
            <a:r>
              <a:rPr b="1" lang="en-IN" sz="2400" strike="noStrike" u="none">
                <a:solidFill>
                  <a:srgbClr val="000000"/>
                </a:solidFill>
                <a:effectLst/>
                <a:uFillTx/>
                <a:latin typeface="Times New Roman"/>
                <a:ea typeface="Times New Roman"/>
              </a:rPr>
              <a:t> and </a:t>
            </a:r>
            <a:r>
              <a:rPr b="1" i="1" lang="en-IN" sz="2400" strike="noStrike" u="none">
                <a:solidFill>
                  <a:srgbClr val="000000"/>
                </a:solidFill>
                <a:effectLst/>
                <a:uFillTx/>
                <a:latin typeface="Times New Roman"/>
                <a:ea typeface="Times New Roman"/>
              </a:rPr>
              <a:t>until</a:t>
            </a:r>
            <a:r>
              <a:rPr b="1" lang="en-IN" sz="2400" strike="noStrike" u="none">
                <a:solidFill>
                  <a:srgbClr val="000000"/>
                </a:solidFill>
                <a:effectLst/>
                <a:uFillTx/>
                <a:latin typeface="Times New Roman"/>
                <a:ea typeface="Times New Roman"/>
              </a:rPr>
              <a:t> complement each other in interpretation of the exit status</a:t>
            </a:r>
            <a:endParaRPr b="0" lang="en-IN" sz="24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1" lang="en-IN" sz="2000" strike="noStrike" u="none">
                <a:solidFill>
                  <a:srgbClr val="000000"/>
                </a:solidFill>
                <a:effectLst/>
                <a:uFillTx/>
                <a:latin typeface="Times New Roman"/>
                <a:ea typeface="Times New Roman"/>
              </a:rPr>
              <a:t>while continues looping if the exit status is true</a:t>
            </a:r>
            <a:endParaRPr b="0" lang="en-IN" sz="20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1" lang="en-IN" sz="2000" strike="noStrike" u="none">
                <a:solidFill>
                  <a:srgbClr val="000000"/>
                </a:solidFill>
                <a:effectLst/>
                <a:uFillTx/>
                <a:latin typeface="Times New Roman"/>
                <a:ea typeface="Times New Roman"/>
              </a:rPr>
              <a:t>until continues looping if the exit status is false</a:t>
            </a:r>
            <a:endParaRPr b="0" lang="en-IN" sz="2000" strike="noStrike" u="none">
              <a:solidFill>
                <a:srgbClr val="000000"/>
              </a:solidFill>
              <a:effectLst/>
              <a:uFillTx/>
              <a:latin typeface="Arial"/>
            </a:endParaRPr>
          </a:p>
          <a:p>
            <a:pPr marL="285840" indent="-285840">
              <a:lnSpc>
                <a:spcPct val="90000"/>
              </a:lnSpc>
              <a:spcBef>
                <a:spcPts val="720"/>
              </a:spcBef>
            </a:pPr>
            <a:r>
              <a:rPr b="1" lang="en-IN" sz="2400" strike="noStrike" u="none">
                <a:solidFill>
                  <a:srgbClr val="000000"/>
                </a:solidFill>
                <a:effectLst/>
                <a:uFillTx/>
                <a:latin typeface="Times New Roman"/>
                <a:ea typeface="Times New Roman"/>
              </a:rPr>
              <a:t>Basic structure</a:t>
            </a:r>
            <a:endParaRPr b="0" lang="en-IN" sz="2400" strike="noStrike" u="none">
              <a:solidFill>
                <a:srgbClr val="000000"/>
              </a:solidFill>
              <a:effectLst/>
              <a:uFillTx/>
              <a:latin typeface="Arial"/>
            </a:endParaRPr>
          </a:p>
          <a:p>
            <a:pPr marL="685800" indent="-228600">
              <a:lnSpc>
                <a:spcPct val="90000"/>
              </a:lnSpc>
              <a:spcBef>
                <a:spcPts val="720"/>
              </a:spcBef>
            </a:pPr>
            <a:r>
              <a:rPr b="1" lang="en-IN" sz="2000" strike="noStrike" u="none">
                <a:solidFill>
                  <a:srgbClr val="000000"/>
                </a:solidFill>
                <a:effectLst/>
                <a:uFillTx/>
                <a:latin typeface="Times New Roman"/>
                <a:ea typeface="Times New Roman"/>
              </a:rPr>
              <a:t>[while|until] </a:t>
            </a:r>
            <a:r>
              <a:rPr b="1" i="1" lang="en-IN" sz="2000" strike="noStrike" u="none">
                <a:solidFill>
                  <a:srgbClr val="000000"/>
                </a:solidFill>
                <a:effectLst/>
                <a:uFillTx/>
                <a:latin typeface="Times New Roman"/>
                <a:ea typeface="Times New Roman"/>
              </a:rPr>
              <a:t>command</a:t>
            </a:r>
            <a:endParaRPr b="0" lang="en-IN" sz="2000" strike="noStrike" u="none">
              <a:solidFill>
                <a:srgbClr val="000000"/>
              </a:solidFill>
              <a:effectLst/>
              <a:uFillTx/>
              <a:latin typeface="Arial"/>
            </a:endParaRPr>
          </a:p>
          <a:p>
            <a:pPr marL="685800" indent="-228600">
              <a:lnSpc>
                <a:spcPct val="90000"/>
              </a:lnSpc>
              <a:spcBef>
                <a:spcPts val="720"/>
              </a:spcBef>
            </a:pPr>
            <a:r>
              <a:rPr b="1" lang="en-IN" sz="2000" strike="noStrike" u="none">
                <a:solidFill>
                  <a:srgbClr val="000000"/>
                </a:solidFill>
                <a:effectLst/>
                <a:uFillTx/>
                <a:latin typeface="Times New Roman"/>
                <a:ea typeface="Times New Roman"/>
              </a:rPr>
              <a:t>do</a:t>
            </a:r>
            <a:endParaRPr b="0" lang="en-IN" sz="2000" strike="noStrike" u="none">
              <a:solidFill>
                <a:srgbClr val="000000"/>
              </a:solidFill>
              <a:effectLst/>
              <a:uFillTx/>
              <a:latin typeface="Arial"/>
            </a:endParaRPr>
          </a:p>
          <a:p>
            <a:pPr marL="685800" indent="-228600">
              <a:lnSpc>
                <a:spcPct val="90000"/>
              </a:lnSpc>
              <a:spcBef>
                <a:spcPts val="720"/>
              </a:spcBef>
            </a:pPr>
            <a:r>
              <a:rPr b="1" lang="en-IN" sz="2000" strike="noStrike" u="none">
                <a:solidFill>
                  <a:srgbClr val="000000"/>
                </a:solidFill>
                <a:effectLst/>
                <a:uFillTx/>
                <a:latin typeface="Times New Roman"/>
                <a:ea typeface="Times New Roman"/>
              </a:rPr>
              <a:t>   </a:t>
            </a:r>
            <a:r>
              <a:rPr b="1" i="1" lang="en-IN" sz="2000" strike="noStrike" u="none">
                <a:solidFill>
                  <a:srgbClr val="000000"/>
                </a:solidFill>
                <a:effectLst/>
                <a:uFillTx/>
                <a:latin typeface="Times New Roman"/>
                <a:ea typeface="Times New Roman"/>
              </a:rPr>
              <a:t>loop body</a:t>
            </a:r>
            <a:endParaRPr b="0" lang="en-IN" sz="2000" strike="noStrike" u="none">
              <a:solidFill>
                <a:srgbClr val="000000"/>
              </a:solidFill>
              <a:effectLst/>
              <a:uFillTx/>
              <a:latin typeface="Arial"/>
            </a:endParaRPr>
          </a:p>
          <a:p>
            <a:pPr marL="685800" indent="-228600">
              <a:lnSpc>
                <a:spcPct val="90000"/>
              </a:lnSpc>
              <a:spcBef>
                <a:spcPts val="720"/>
              </a:spcBef>
            </a:pPr>
            <a:r>
              <a:rPr b="1" lang="en-IN" sz="2000" strike="noStrike" u="none">
                <a:solidFill>
                  <a:srgbClr val="000000"/>
                </a:solidFill>
                <a:effectLst/>
                <a:uFillTx/>
                <a:latin typeface="Times New Roman"/>
                <a:ea typeface="Times New Roman"/>
              </a:rPr>
              <a:t>done</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5" name=""/>
          <p:cNvSpPr txBox="1"/>
          <p:nvPr/>
        </p:nvSpPr>
        <p:spPr>
          <a:xfrm>
            <a:off x="996840" y="685800"/>
            <a:ext cx="715644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Example: while and until</a:t>
            </a:r>
            <a:endParaRPr b="0" lang="en-IN" sz="3600" strike="noStrike" u="none">
              <a:solidFill>
                <a:srgbClr val="000000"/>
              </a:solidFill>
              <a:effectLst/>
              <a:uFillTx/>
              <a:latin typeface="Arial"/>
            </a:endParaRPr>
          </a:p>
        </p:txBody>
      </p:sp>
      <p:sp>
        <p:nvSpPr>
          <p:cNvPr id="326" name=""/>
          <p:cNvSpPr txBox="1"/>
          <p:nvPr/>
        </p:nvSpPr>
        <p:spPr>
          <a:xfrm>
            <a:off x="990720" y="1371600"/>
            <a:ext cx="7162920" cy="4756320"/>
          </a:xfrm>
          <a:prstGeom prst="rect">
            <a:avLst/>
          </a:prstGeom>
          <a:noFill/>
          <a:ln w="0">
            <a:noFill/>
          </a:ln>
        </p:spPr>
        <p:txBody>
          <a:bodyPr lIns="0" rIns="0" tIns="0" bIns="0" anchor="t">
            <a:spAutoFit/>
          </a:bodyPr>
          <a:p>
            <a:pPr marL="285840" indent="-285840">
              <a:lnSpc>
                <a:spcPct val="90000"/>
              </a:lnSpc>
              <a:spcBef>
                <a:spcPts val="720"/>
              </a:spcBef>
            </a:pPr>
            <a:r>
              <a:rPr b="0" lang="en-IN" sz="2400" strike="noStrike" u="none">
                <a:solidFill>
                  <a:srgbClr val="000000"/>
                </a:solidFill>
                <a:effectLst/>
                <a:uFillTx/>
                <a:latin typeface="Times New Roman"/>
                <a:ea typeface="Times New Roman"/>
              </a:rPr>
              <a:t>The following two examples do the same thing: wait for user </a:t>
            </a:r>
            <a:r>
              <a:rPr b="0" i="1" lang="en-IN" sz="2400" strike="noStrike" u="none">
                <a:solidFill>
                  <a:srgbClr val="000000"/>
                </a:solidFill>
                <a:effectLst/>
                <a:uFillTx/>
                <a:latin typeface="Times New Roman"/>
                <a:ea typeface="Times New Roman"/>
              </a:rPr>
              <a:t>class</a:t>
            </a:r>
            <a:r>
              <a:rPr b="0" lang="en-IN" sz="2400" strike="noStrike" u="none">
                <a:solidFill>
                  <a:srgbClr val="000000"/>
                </a:solidFill>
                <a:effectLst/>
                <a:uFillTx/>
                <a:latin typeface="Times New Roman"/>
                <a:ea typeface="Times New Roman"/>
              </a:rPr>
              <a:t> to log in</a:t>
            </a:r>
            <a:endParaRPr b="0" lang="en-IN" sz="24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while sleep 60</a:t>
            </a: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do</a:t>
            </a: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       who | grep class</a:t>
            </a: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done</a:t>
            </a:r>
            <a:endParaRPr b="0" lang="en-IN" sz="2000" strike="noStrike" u="none">
              <a:solidFill>
                <a:srgbClr val="000000"/>
              </a:solidFill>
              <a:effectLst/>
              <a:uFillTx/>
              <a:latin typeface="Arial"/>
            </a:endParaRPr>
          </a:p>
          <a:p>
            <a:pPr marL="685800" indent="-228600">
              <a:lnSpc>
                <a:spcPct val="90000"/>
              </a:lnSpc>
              <a:spcBef>
                <a:spcPts val="720"/>
              </a:spcBef>
            </a:pP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until who | grep class</a:t>
            </a: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do</a:t>
            </a: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       sleep 60</a:t>
            </a:r>
            <a:endParaRPr b="0" lang="en-IN" sz="20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done</a:t>
            </a:r>
            <a:endParaRPr b="0" lang="en-IN" sz="20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Which do you prefer and why?</a:t>
            </a:r>
            <a:endParaRPr b="0" lang="en-IN" sz="2000" strike="noStrike" u="none">
              <a:solidFill>
                <a:srgbClr val="000000"/>
              </a:solidFill>
              <a:effectLst/>
              <a:uFillTx/>
              <a:latin typeface="Arial"/>
            </a:endParaRPr>
          </a:p>
          <a:p>
            <a:pPr marL="285840" indent="-285840">
              <a:lnSpc>
                <a:spcPct val="90000"/>
              </a:lnSpc>
              <a:spcBef>
                <a:spcPts val="720"/>
              </a:spcBef>
            </a:pPr>
            <a:r>
              <a:rPr b="0" lang="en-IN" sz="2400" strike="noStrike" u="none">
                <a:solidFill>
                  <a:srgbClr val="000000"/>
                </a:solidFill>
                <a:effectLst/>
                <a:uFillTx/>
                <a:latin typeface="Times New Roman"/>
                <a:ea typeface="Times New Roman"/>
              </a:rPr>
              <a:t>Remember that the exit status of a pipeline is the status of the last command in the pipe</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7" name=""/>
          <p:cNvSpPr txBox="1"/>
          <p:nvPr/>
        </p:nvSpPr>
        <p:spPr>
          <a:xfrm>
            <a:off x="996840" y="685800"/>
            <a:ext cx="715644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Exercise: looping</a:t>
            </a:r>
            <a:endParaRPr b="0" lang="en-IN" sz="3600" strike="noStrike" u="none">
              <a:solidFill>
                <a:srgbClr val="000000"/>
              </a:solidFill>
              <a:effectLst/>
              <a:uFillTx/>
              <a:latin typeface="Arial"/>
            </a:endParaRPr>
          </a:p>
        </p:txBody>
      </p:sp>
      <p:sp>
        <p:nvSpPr>
          <p:cNvPr id="328" name=""/>
          <p:cNvSpPr txBox="1"/>
          <p:nvPr/>
        </p:nvSpPr>
        <p:spPr>
          <a:xfrm>
            <a:off x="990720" y="1981080"/>
            <a:ext cx="7162920" cy="4114800"/>
          </a:xfrm>
          <a:prstGeom prst="rect">
            <a:avLst/>
          </a:prstGeom>
          <a:noFill/>
          <a:ln w="0">
            <a:noFill/>
          </a:ln>
        </p:spPr>
        <p:txBody>
          <a:bodyPr lIns="0" rIns="0" tIns="0" bIns="0" anchor="t">
            <a:spAutoFit/>
          </a:bodyPr>
          <a:p>
            <a:pPr marL="285840" indent="-285840">
              <a:lnSpc>
                <a:spcPct val="90000"/>
              </a:lnSpc>
              <a:spcBef>
                <a:spcPts val="720"/>
              </a:spcBef>
            </a:pPr>
            <a:r>
              <a:rPr b="0" lang="en-IN" sz="2400" strike="noStrike" u="none">
                <a:solidFill>
                  <a:srgbClr val="000000"/>
                </a:solidFill>
                <a:effectLst/>
                <a:uFillTx/>
                <a:latin typeface="Times New Roman"/>
                <a:ea typeface="Times New Roman"/>
              </a:rPr>
              <a:t>Use an until loop to watch for a </a:t>
            </a:r>
            <a:r>
              <a:rPr b="0" lang="en-IN" sz="2400" strike="noStrike" u="sng">
                <a:solidFill>
                  <a:srgbClr val="000000"/>
                </a:solidFill>
                <a:effectLst/>
                <a:uFillTx/>
                <a:latin typeface="Times New Roman"/>
                <a:ea typeface="Times New Roman"/>
              </a:rPr>
              <a:t>list of users</a:t>
            </a:r>
            <a:r>
              <a:rPr b="0" lang="en-IN" sz="2400" strike="noStrike" u="none">
                <a:solidFill>
                  <a:srgbClr val="000000"/>
                </a:solidFill>
                <a:effectLst/>
                <a:uFillTx/>
                <a:latin typeface="Times New Roman"/>
                <a:ea typeface="Times New Roman"/>
              </a:rPr>
              <a:t> given on the command line.  The script will exit when any one of the users logs in.</a:t>
            </a:r>
            <a:endParaRPr b="0" lang="en-IN" sz="24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Hint: this will require egrep regular expressions and a sed filter.</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9" name=""/>
          <p:cNvSpPr txBox="1"/>
          <p:nvPr/>
        </p:nvSpPr>
        <p:spPr>
          <a:xfrm>
            <a:off x="996840" y="685800"/>
            <a:ext cx="715644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Evaluation of shell variables</a:t>
            </a:r>
            <a:endParaRPr b="0" lang="en-IN" sz="3600" strike="noStrike" u="none">
              <a:solidFill>
                <a:srgbClr val="000000"/>
              </a:solidFill>
              <a:effectLst/>
              <a:uFillTx/>
              <a:latin typeface="Arial"/>
            </a:endParaRPr>
          </a:p>
        </p:txBody>
      </p:sp>
      <p:sp>
        <p:nvSpPr>
          <p:cNvPr id="330" name=""/>
          <p:cNvSpPr txBox="1"/>
          <p:nvPr/>
        </p:nvSpPr>
        <p:spPr>
          <a:xfrm>
            <a:off x="990720" y="1981080"/>
            <a:ext cx="7162920" cy="4114800"/>
          </a:xfrm>
          <a:prstGeom prst="rect">
            <a:avLst/>
          </a:prstGeom>
          <a:noFill/>
          <a:ln w="0">
            <a:noFill/>
          </a:ln>
        </p:spPr>
        <p:txBody>
          <a:bodyPr lIns="0" rIns="0" tIns="0" bIns="0" anchor="t">
            <a:spAutoFit/>
          </a:bodyPr>
          <a:p>
            <a:pPr marL="285840" indent="-285840">
              <a:lnSpc>
                <a:spcPct val="90000"/>
              </a:lnSpc>
              <a:spcBef>
                <a:spcPts val="720"/>
              </a:spcBef>
            </a:pPr>
            <a:r>
              <a:rPr b="0" lang="en-IN" sz="1600" strike="noStrike" u="none">
                <a:solidFill>
                  <a:srgbClr val="000000"/>
                </a:solidFill>
                <a:effectLst/>
                <a:uFillTx/>
                <a:latin typeface="Times New Roman"/>
                <a:ea typeface="Times New Roman"/>
              </a:rPr>
              <a:t>$var</a:t>
            </a:r>
            <a:r>
              <a:rPr b="0" lang="en-IN" sz="1600" strike="noStrike" u="none">
                <a:solidFill>
                  <a:srgbClr val="000000"/>
                </a:solidFill>
                <a:effectLst/>
                <a:uFillTx/>
                <a:latin typeface="Times New Roman"/>
                <a:ea typeface="Times New Roman"/>
              </a:rPr>
              <a:t>	</a:t>
            </a:r>
            <a:r>
              <a:rPr b="0" lang="en-IN" sz="1600" strike="noStrike" u="none">
                <a:solidFill>
                  <a:srgbClr val="000000"/>
                </a:solidFill>
                <a:effectLst/>
                <a:uFillTx/>
                <a:latin typeface="Times New Roman"/>
                <a:ea typeface="Times New Roman"/>
              </a:rPr>
              <a:t>	</a:t>
            </a:r>
            <a:r>
              <a:rPr b="0" lang="en-IN" sz="1600" strike="noStrike" u="none">
                <a:solidFill>
                  <a:srgbClr val="000000"/>
                </a:solidFill>
                <a:effectLst/>
                <a:uFillTx/>
                <a:latin typeface="Times New Roman"/>
                <a:ea typeface="Times New Roman"/>
              </a:rPr>
              <a:t>value of </a:t>
            </a:r>
            <a:r>
              <a:rPr b="0" i="1" lang="en-IN" sz="1600" strike="noStrike" u="none">
                <a:solidFill>
                  <a:srgbClr val="000000"/>
                </a:solidFill>
                <a:effectLst/>
                <a:uFillTx/>
                <a:latin typeface="Times New Roman"/>
                <a:ea typeface="Times New Roman"/>
              </a:rPr>
              <a:t>var</a:t>
            </a:r>
            <a:r>
              <a:rPr b="0" lang="en-IN" sz="1600" strike="noStrike" u="none">
                <a:solidFill>
                  <a:srgbClr val="000000"/>
                </a:solidFill>
                <a:effectLst/>
                <a:uFillTx/>
                <a:latin typeface="Times New Roman"/>
                <a:ea typeface="Times New Roman"/>
              </a:rPr>
              <a:t>; nothing if </a:t>
            </a:r>
            <a:r>
              <a:rPr b="0" i="1" lang="en-IN" sz="1600" strike="noStrike" u="none">
                <a:solidFill>
                  <a:srgbClr val="000000"/>
                </a:solidFill>
                <a:effectLst/>
                <a:uFillTx/>
                <a:latin typeface="Times New Roman"/>
                <a:ea typeface="Times New Roman"/>
              </a:rPr>
              <a:t>var</a:t>
            </a:r>
            <a:r>
              <a:rPr b="0" lang="en-IN" sz="1600" strike="noStrike" u="none">
                <a:solidFill>
                  <a:srgbClr val="000000"/>
                </a:solidFill>
                <a:effectLst/>
                <a:uFillTx/>
                <a:latin typeface="Times New Roman"/>
                <a:ea typeface="Times New Roman"/>
              </a:rPr>
              <a:t> undefined</a:t>
            </a:r>
            <a:endParaRPr b="0" lang="en-IN" sz="1600" strike="noStrike" u="none">
              <a:solidFill>
                <a:srgbClr val="000000"/>
              </a:solidFill>
              <a:effectLst/>
              <a:uFillTx/>
              <a:latin typeface="Arial"/>
            </a:endParaRPr>
          </a:p>
          <a:p>
            <a:pPr marL="285840" indent="-285840">
              <a:lnSpc>
                <a:spcPct val="90000"/>
              </a:lnSpc>
              <a:spcBef>
                <a:spcPts val="720"/>
              </a:spcBef>
            </a:pPr>
            <a:r>
              <a:rPr b="0" lang="en-IN" sz="1600" strike="noStrike" u="none">
                <a:solidFill>
                  <a:srgbClr val="000000"/>
                </a:solidFill>
                <a:effectLst/>
                <a:uFillTx/>
                <a:latin typeface="Times New Roman"/>
                <a:ea typeface="Times New Roman"/>
              </a:rPr>
              <a:t>${var}</a:t>
            </a:r>
            <a:r>
              <a:rPr b="0" lang="en-IN" sz="1600" strike="noStrike" u="none">
                <a:solidFill>
                  <a:srgbClr val="000000"/>
                </a:solidFill>
                <a:effectLst/>
                <a:uFillTx/>
                <a:latin typeface="Times New Roman"/>
                <a:ea typeface="Times New Roman"/>
              </a:rPr>
              <a:t>	</a:t>
            </a:r>
            <a:r>
              <a:rPr b="0" lang="en-IN" sz="1600" strike="noStrike" u="none">
                <a:solidFill>
                  <a:srgbClr val="000000"/>
                </a:solidFill>
                <a:effectLst/>
                <a:uFillTx/>
                <a:latin typeface="Times New Roman"/>
                <a:ea typeface="Times New Roman"/>
              </a:rPr>
              <a:t>	</a:t>
            </a:r>
            <a:r>
              <a:rPr b="0" lang="en-IN" sz="1600" strike="noStrike" u="none">
                <a:solidFill>
                  <a:srgbClr val="000000"/>
                </a:solidFill>
                <a:effectLst/>
                <a:uFillTx/>
                <a:latin typeface="Times New Roman"/>
                <a:ea typeface="Times New Roman"/>
              </a:rPr>
              <a:t>same; useful if alphanumerics follow variable name</a:t>
            </a:r>
            <a:endParaRPr b="0" lang="en-IN" sz="1600" strike="noStrike" u="none">
              <a:solidFill>
                <a:srgbClr val="000000"/>
              </a:solidFill>
              <a:effectLst/>
              <a:uFillTx/>
              <a:latin typeface="Arial"/>
            </a:endParaRPr>
          </a:p>
          <a:p>
            <a:pPr marL="285840" indent="-285840">
              <a:lnSpc>
                <a:spcPct val="90000"/>
              </a:lnSpc>
              <a:spcBef>
                <a:spcPts val="720"/>
              </a:spcBef>
            </a:pPr>
            <a:r>
              <a:rPr b="0" lang="en-IN" sz="1600" strike="noStrike" u="none">
                <a:solidFill>
                  <a:srgbClr val="000000"/>
                </a:solidFill>
                <a:effectLst/>
                <a:uFillTx/>
                <a:latin typeface="Times New Roman"/>
                <a:ea typeface="Times New Roman"/>
              </a:rPr>
              <a:t>${var-value}</a:t>
            </a:r>
            <a:r>
              <a:rPr b="0" lang="en-IN" sz="1600" strike="noStrike" u="none">
                <a:solidFill>
                  <a:srgbClr val="000000"/>
                </a:solidFill>
                <a:effectLst/>
                <a:uFillTx/>
                <a:latin typeface="Times New Roman"/>
                <a:ea typeface="Times New Roman"/>
              </a:rPr>
              <a:t>	</a:t>
            </a:r>
            <a:r>
              <a:rPr b="0" lang="en-IN" sz="1600" strike="noStrike" u="none">
                <a:solidFill>
                  <a:srgbClr val="000000"/>
                </a:solidFill>
                <a:effectLst/>
                <a:uFillTx/>
                <a:latin typeface="Times New Roman"/>
                <a:ea typeface="Times New Roman"/>
              </a:rPr>
              <a:t>value of </a:t>
            </a:r>
            <a:r>
              <a:rPr b="0" i="1" lang="en-IN" sz="1600" strike="noStrike" u="none">
                <a:solidFill>
                  <a:srgbClr val="000000"/>
                </a:solidFill>
                <a:effectLst/>
                <a:uFillTx/>
                <a:latin typeface="Times New Roman"/>
                <a:ea typeface="Times New Roman"/>
              </a:rPr>
              <a:t>var</a:t>
            </a:r>
            <a:r>
              <a:rPr b="0" lang="en-IN" sz="1600" strike="noStrike" u="none">
                <a:solidFill>
                  <a:srgbClr val="000000"/>
                </a:solidFill>
                <a:effectLst/>
                <a:uFillTx/>
                <a:latin typeface="Times New Roman"/>
                <a:ea typeface="Times New Roman"/>
              </a:rPr>
              <a:t> if defined; otherwise value.  </a:t>
            </a:r>
            <a:r>
              <a:rPr b="0" i="1" lang="en-IN" sz="1600" strike="noStrike" u="none">
                <a:solidFill>
                  <a:srgbClr val="000000"/>
                </a:solidFill>
                <a:effectLst/>
                <a:uFillTx/>
                <a:latin typeface="Times New Roman"/>
                <a:ea typeface="Times New Roman"/>
              </a:rPr>
              <a:t>$var </a:t>
            </a:r>
            <a:r>
              <a:rPr b="0" lang="en-IN" sz="1600" strike="noStrike" u="none">
                <a:solidFill>
                  <a:srgbClr val="000000"/>
                </a:solidFill>
                <a:effectLst/>
                <a:uFillTx/>
                <a:latin typeface="Times New Roman"/>
                <a:ea typeface="Times New Roman"/>
              </a:rPr>
              <a:t>	</a:t>
            </a:r>
            <a:r>
              <a:rPr b="0" lang="en-IN" sz="1600" strike="noStrike" u="none">
                <a:solidFill>
                  <a:srgbClr val="000000"/>
                </a:solidFill>
                <a:effectLst/>
                <a:uFillTx/>
                <a:latin typeface="Times New Roman"/>
                <a:ea typeface="Times New Roman"/>
              </a:rPr>
              <a:t>	</a:t>
            </a:r>
            <a:r>
              <a:rPr b="0" lang="en-IN" sz="1600" strike="noStrike" u="none">
                <a:solidFill>
                  <a:srgbClr val="000000"/>
                </a:solidFill>
                <a:effectLst/>
                <a:uFillTx/>
                <a:latin typeface="Times New Roman"/>
                <a:ea typeface="Times New Roman"/>
              </a:rPr>
              <a:t>	</a:t>
            </a:r>
            <a:r>
              <a:rPr b="0" lang="en-IN" sz="1600" strike="noStrike" u="none">
                <a:solidFill>
                  <a:srgbClr val="000000"/>
                </a:solidFill>
                <a:effectLst/>
                <a:uFillTx/>
                <a:latin typeface="Times New Roman"/>
                <a:ea typeface="Times New Roman"/>
              </a:rPr>
              <a:t>unchanged</a:t>
            </a:r>
            <a:endParaRPr b="0" lang="en-IN" sz="1600" strike="noStrike" u="none">
              <a:solidFill>
                <a:srgbClr val="000000"/>
              </a:solidFill>
              <a:effectLst/>
              <a:uFillTx/>
              <a:latin typeface="Arial"/>
            </a:endParaRPr>
          </a:p>
          <a:p>
            <a:pPr marL="285840" indent="-285840">
              <a:lnSpc>
                <a:spcPct val="90000"/>
              </a:lnSpc>
              <a:spcBef>
                <a:spcPts val="720"/>
              </a:spcBef>
            </a:pPr>
            <a:r>
              <a:rPr b="0" lang="en-IN" sz="1600" strike="noStrike" u="none">
                <a:solidFill>
                  <a:srgbClr val="000000"/>
                </a:solidFill>
                <a:effectLst/>
                <a:uFillTx/>
                <a:latin typeface="Times New Roman"/>
                <a:ea typeface="Times New Roman"/>
              </a:rPr>
              <a:t>${var=value}</a:t>
            </a:r>
            <a:r>
              <a:rPr b="0" lang="en-IN" sz="1600" strike="noStrike" u="none">
                <a:solidFill>
                  <a:srgbClr val="000000"/>
                </a:solidFill>
                <a:effectLst/>
                <a:uFillTx/>
                <a:latin typeface="Times New Roman"/>
                <a:ea typeface="Times New Roman"/>
              </a:rPr>
              <a:t>	</a:t>
            </a:r>
            <a:r>
              <a:rPr b="0" lang="en-IN" sz="1600" strike="noStrike" u="none">
                <a:solidFill>
                  <a:srgbClr val="000000"/>
                </a:solidFill>
                <a:effectLst/>
                <a:uFillTx/>
                <a:latin typeface="Times New Roman"/>
                <a:ea typeface="Times New Roman"/>
              </a:rPr>
              <a:t>value of </a:t>
            </a:r>
            <a:r>
              <a:rPr b="0" i="1" lang="en-IN" sz="1600" strike="noStrike" u="none">
                <a:solidFill>
                  <a:srgbClr val="000000"/>
                </a:solidFill>
                <a:effectLst/>
                <a:uFillTx/>
                <a:latin typeface="Times New Roman"/>
                <a:ea typeface="Times New Roman"/>
              </a:rPr>
              <a:t>var</a:t>
            </a:r>
            <a:r>
              <a:rPr b="0" lang="en-IN" sz="1600" strike="noStrike" u="none">
                <a:solidFill>
                  <a:srgbClr val="000000"/>
                </a:solidFill>
                <a:effectLst/>
                <a:uFillTx/>
                <a:latin typeface="Times New Roman"/>
                <a:ea typeface="Times New Roman"/>
              </a:rPr>
              <a:t> if defined; otherwise value. If undefined, </a:t>
            </a:r>
            <a:r>
              <a:rPr b="0" lang="en-IN" sz="1600" strike="noStrike" u="none">
                <a:solidFill>
                  <a:srgbClr val="000000"/>
                </a:solidFill>
                <a:effectLst/>
                <a:uFillTx/>
                <a:latin typeface="Times New Roman"/>
                <a:ea typeface="Times New Roman"/>
              </a:rPr>
              <a:t>	</a:t>
            </a:r>
            <a:r>
              <a:rPr b="0" lang="en-IN" sz="1600" strike="noStrike" u="none">
                <a:solidFill>
                  <a:srgbClr val="000000"/>
                </a:solidFill>
                <a:effectLst/>
                <a:uFillTx/>
                <a:latin typeface="Times New Roman"/>
                <a:ea typeface="Times New Roman"/>
              </a:rPr>
              <a:t>	</a:t>
            </a:r>
            <a:r>
              <a:rPr b="0" lang="en-IN" sz="1600" strike="noStrike" u="none">
                <a:solidFill>
                  <a:srgbClr val="000000"/>
                </a:solidFill>
                <a:effectLst/>
                <a:uFillTx/>
                <a:latin typeface="Times New Roman"/>
                <a:ea typeface="Times New Roman"/>
              </a:rPr>
              <a:t>	</a:t>
            </a:r>
            <a:r>
              <a:rPr b="0" i="1" lang="en-IN" sz="1600" strike="noStrike" u="none">
                <a:solidFill>
                  <a:srgbClr val="000000"/>
                </a:solidFill>
                <a:effectLst/>
                <a:uFillTx/>
                <a:latin typeface="Times New Roman"/>
                <a:ea typeface="Times New Roman"/>
              </a:rPr>
              <a:t>$var </a:t>
            </a:r>
            <a:r>
              <a:rPr b="0" lang="en-IN" sz="1600" strike="noStrike" u="none">
                <a:solidFill>
                  <a:srgbClr val="000000"/>
                </a:solidFill>
                <a:effectLst/>
                <a:uFillTx/>
                <a:latin typeface="Times New Roman"/>
                <a:ea typeface="Times New Roman"/>
              </a:rPr>
              <a:t>set to value</a:t>
            </a:r>
            <a:endParaRPr b="0" lang="en-IN" sz="1600" strike="noStrike" u="none">
              <a:solidFill>
                <a:srgbClr val="000000"/>
              </a:solidFill>
              <a:effectLst/>
              <a:uFillTx/>
              <a:latin typeface="Arial"/>
            </a:endParaRPr>
          </a:p>
          <a:p>
            <a:pPr marL="285840" indent="-285840">
              <a:lnSpc>
                <a:spcPct val="90000"/>
              </a:lnSpc>
              <a:spcBef>
                <a:spcPts val="720"/>
              </a:spcBef>
            </a:pPr>
            <a:r>
              <a:rPr b="0" lang="en-IN" sz="1600" strike="noStrike" u="none">
                <a:solidFill>
                  <a:srgbClr val="000000"/>
                </a:solidFill>
                <a:effectLst/>
                <a:uFillTx/>
                <a:latin typeface="Times New Roman"/>
                <a:ea typeface="Times New Roman"/>
              </a:rPr>
              <a:t>${var?message}</a:t>
            </a:r>
            <a:r>
              <a:rPr b="0" lang="en-IN" sz="1600" strike="noStrike" u="none">
                <a:solidFill>
                  <a:srgbClr val="000000"/>
                </a:solidFill>
                <a:effectLst/>
                <a:uFillTx/>
                <a:latin typeface="Times New Roman"/>
                <a:ea typeface="Times New Roman"/>
              </a:rPr>
              <a:t>	</a:t>
            </a:r>
            <a:r>
              <a:rPr b="0" lang="en-IN" sz="1600" strike="noStrike" u="none">
                <a:solidFill>
                  <a:srgbClr val="000000"/>
                </a:solidFill>
                <a:effectLst/>
                <a:uFillTx/>
                <a:latin typeface="Times New Roman"/>
                <a:ea typeface="Times New Roman"/>
              </a:rPr>
              <a:t>if defined, </a:t>
            </a:r>
            <a:r>
              <a:rPr b="0" i="1" lang="en-IN" sz="1600" strike="noStrike" u="none">
                <a:solidFill>
                  <a:srgbClr val="000000"/>
                </a:solidFill>
                <a:effectLst/>
                <a:uFillTx/>
                <a:latin typeface="Times New Roman"/>
                <a:ea typeface="Times New Roman"/>
              </a:rPr>
              <a:t>$var</a:t>
            </a:r>
            <a:r>
              <a:rPr b="0" lang="en-IN" sz="1600" strike="noStrike" u="none">
                <a:solidFill>
                  <a:srgbClr val="000000"/>
                </a:solidFill>
                <a:effectLst/>
                <a:uFillTx/>
                <a:latin typeface="Times New Roman"/>
                <a:ea typeface="Times New Roman"/>
              </a:rPr>
              <a:t>.  Otherwise, print message and exit </a:t>
            </a:r>
            <a:r>
              <a:rPr b="0" lang="en-IN" sz="1600" strike="noStrike" u="none">
                <a:solidFill>
                  <a:srgbClr val="000000"/>
                </a:solidFill>
                <a:effectLst/>
                <a:uFillTx/>
                <a:latin typeface="Times New Roman"/>
                <a:ea typeface="Times New Roman"/>
              </a:rPr>
              <a:t>	</a:t>
            </a:r>
            <a:r>
              <a:rPr b="0" lang="en-IN" sz="1600" strike="noStrike" u="none">
                <a:solidFill>
                  <a:srgbClr val="000000"/>
                </a:solidFill>
                <a:effectLst/>
                <a:uFillTx/>
                <a:latin typeface="Times New Roman"/>
                <a:ea typeface="Times New Roman"/>
              </a:rPr>
              <a:t>	</a:t>
            </a:r>
            <a:r>
              <a:rPr b="0" lang="en-IN" sz="1600" strike="noStrike" u="none">
                <a:solidFill>
                  <a:srgbClr val="000000"/>
                </a:solidFill>
                <a:effectLst/>
                <a:uFillTx/>
                <a:latin typeface="Times New Roman"/>
                <a:ea typeface="Times New Roman"/>
              </a:rPr>
              <a:t>	</a:t>
            </a:r>
            <a:r>
              <a:rPr b="0" lang="en-IN" sz="1600" strike="noStrike" u="none">
                <a:solidFill>
                  <a:srgbClr val="000000"/>
                </a:solidFill>
                <a:effectLst/>
                <a:uFillTx/>
                <a:latin typeface="Times New Roman"/>
                <a:ea typeface="Times New Roman"/>
              </a:rPr>
              <a:t>shell.  If message empty, print default message </a:t>
            </a:r>
            <a:r>
              <a:rPr b="0" lang="en-IN" sz="1600" strike="noStrike" u="none">
                <a:solidFill>
                  <a:srgbClr val="000000"/>
                </a:solidFill>
                <a:effectLst/>
                <a:uFillTx/>
                <a:latin typeface="Times New Roman"/>
                <a:ea typeface="Times New Roman"/>
              </a:rPr>
              <a:t>	</a:t>
            </a:r>
            <a:r>
              <a:rPr b="0" lang="en-IN" sz="1600" strike="noStrike" u="none">
                <a:solidFill>
                  <a:srgbClr val="000000"/>
                </a:solidFill>
                <a:effectLst/>
                <a:uFillTx/>
                <a:latin typeface="Times New Roman"/>
                <a:ea typeface="Times New Roman"/>
              </a:rPr>
              <a:t>	</a:t>
            </a:r>
            <a:r>
              <a:rPr b="0" lang="en-IN" sz="1600" strike="noStrike" u="none">
                <a:solidFill>
                  <a:srgbClr val="000000"/>
                </a:solidFill>
                <a:effectLst/>
                <a:uFillTx/>
                <a:latin typeface="Times New Roman"/>
                <a:ea typeface="Times New Roman"/>
              </a:rPr>
              <a:t>	</a:t>
            </a:r>
            <a:r>
              <a:rPr b="0" lang="en-IN" sz="1600" strike="noStrike" u="none">
                <a:solidFill>
                  <a:srgbClr val="000000"/>
                </a:solidFill>
                <a:effectLst/>
                <a:uFillTx/>
                <a:latin typeface="Times New Roman"/>
                <a:ea typeface="Times New Roman"/>
              </a:rPr>
              <a:t>"parameter not set"</a:t>
            </a:r>
            <a:endParaRPr b="0" lang="en-IN" sz="1600" strike="noStrike" u="none">
              <a:solidFill>
                <a:srgbClr val="000000"/>
              </a:solidFill>
              <a:effectLst/>
              <a:uFillTx/>
              <a:latin typeface="Arial"/>
            </a:endParaRPr>
          </a:p>
          <a:p>
            <a:pPr marL="285840" indent="-285840">
              <a:lnSpc>
                <a:spcPct val="90000"/>
              </a:lnSpc>
              <a:spcBef>
                <a:spcPts val="720"/>
              </a:spcBef>
            </a:pPr>
            <a:r>
              <a:rPr b="0" lang="en-IN" sz="1600" strike="noStrike" u="none">
                <a:solidFill>
                  <a:srgbClr val="000000"/>
                </a:solidFill>
                <a:effectLst/>
                <a:uFillTx/>
                <a:latin typeface="Times New Roman"/>
                <a:ea typeface="Times New Roman"/>
              </a:rPr>
              <a:t>${var+value}</a:t>
            </a:r>
            <a:r>
              <a:rPr b="0" lang="en-IN" sz="1600" strike="noStrike" u="none">
                <a:solidFill>
                  <a:srgbClr val="000000"/>
                </a:solidFill>
                <a:effectLst/>
                <a:uFillTx/>
                <a:latin typeface="Times New Roman"/>
                <a:ea typeface="Times New Roman"/>
              </a:rPr>
              <a:t>	</a:t>
            </a:r>
            <a:r>
              <a:rPr b="0" lang="en-IN" sz="1600" strike="noStrike" u="none">
                <a:solidFill>
                  <a:srgbClr val="000000"/>
                </a:solidFill>
                <a:effectLst/>
                <a:uFillTx/>
                <a:latin typeface="Times New Roman"/>
                <a:ea typeface="Times New Roman"/>
              </a:rPr>
              <a:t>value if </a:t>
            </a:r>
            <a:r>
              <a:rPr b="0" i="1" lang="en-IN" sz="1600" strike="noStrike" u="none">
                <a:solidFill>
                  <a:srgbClr val="000000"/>
                </a:solidFill>
                <a:effectLst/>
                <a:uFillTx/>
                <a:latin typeface="Times New Roman"/>
                <a:ea typeface="Times New Roman"/>
              </a:rPr>
              <a:t>$var </a:t>
            </a:r>
            <a:r>
              <a:rPr b="0" lang="en-IN" sz="1600" strike="noStrike" u="none">
                <a:solidFill>
                  <a:srgbClr val="000000"/>
                </a:solidFill>
                <a:effectLst/>
                <a:uFillTx/>
                <a:latin typeface="Times New Roman"/>
                <a:ea typeface="Times New Roman"/>
              </a:rPr>
              <a:t>defined, otherwise nothing</a:t>
            </a:r>
            <a:endParaRPr b="0" lang="en-IN" sz="1600" strike="noStrike" u="none">
              <a:solidFill>
                <a:srgbClr val="000000"/>
              </a:solidFill>
              <a:effectLst/>
              <a:uFillTx/>
              <a:latin typeface="Arial"/>
            </a:endParaRPr>
          </a:p>
          <a:p>
            <a:pPr marL="285840" indent="-285840">
              <a:lnSpc>
                <a:spcPct val="90000"/>
              </a:lnSpc>
              <a:spcBef>
                <a:spcPts val="720"/>
              </a:spcBef>
            </a:pPr>
            <a:endParaRPr b="0" lang="en-IN" sz="2400" strike="noStrike" u="none">
              <a:solidFill>
                <a:srgbClr val="000000"/>
              </a:solidFill>
              <a:effectLst/>
              <a:uFillTx/>
              <a:latin typeface="Arial"/>
            </a:endParaRPr>
          </a:p>
          <a:p>
            <a:pPr marL="285840" indent="-285840">
              <a:lnSpc>
                <a:spcPct val="90000"/>
              </a:lnSpc>
              <a:spcBef>
                <a:spcPts val="720"/>
              </a:spcBef>
            </a:pPr>
            <a:r>
              <a:rPr b="0" lang="en-IN" sz="2400" strike="noStrike" u="none">
                <a:solidFill>
                  <a:srgbClr val="000000"/>
                </a:solidFill>
                <a:effectLst/>
                <a:uFillTx/>
                <a:latin typeface="Times New Roman"/>
                <a:ea typeface="Times New Roman"/>
              </a:rPr>
              <a:t>Take a few moments to try some of these by setting variables and echoing them (or echoing non-existent variables)</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1" name=""/>
          <p:cNvSpPr txBox="1"/>
          <p:nvPr/>
        </p:nvSpPr>
        <p:spPr>
          <a:xfrm>
            <a:off x="996840" y="685800"/>
            <a:ext cx="715644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Accepting User Input: read</a:t>
            </a:r>
            <a:endParaRPr b="0" lang="en-IN" sz="3600" strike="noStrike" u="none">
              <a:solidFill>
                <a:srgbClr val="000000"/>
              </a:solidFill>
              <a:effectLst/>
              <a:uFillTx/>
              <a:latin typeface="Arial"/>
            </a:endParaRPr>
          </a:p>
        </p:txBody>
      </p:sp>
      <p:sp>
        <p:nvSpPr>
          <p:cNvPr id="332" name=""/>
          <p:cNvSpPr txBox="1"/>
          <p:nvPr/>
        </p:nvSpPr>
        <p:spPr>
          <a:xfrm>
            <a:off x="990720" y="1523880"/>
            <a:ext cx="7162920" cy="4537080"/>
          </a:xfrm>
          <a:prstGeom prst="rect">
            <a:avLst/>
          </a:prstGeom>
          <a:noFill/>
          <a:ln w="0">
            <a:noFill/>
          </a:ln>
        </p:spPr>
        <p:txBody>
          <a:bodyPr lIns="0" rIns="0" tIns="0" bIns="0" anchor="t">
            <a:spAutoFit/>
          </a:bodyPr>
          <a:p>
            <a:pPr marL="285840" indent="-285840">
              <a:lnSpc>
                <a:spcPct val="90000"/>
              </a:lnSpc>
              <a:spcBef>
                <a:spcPts val="720"/>
              </a:spcBef>
            </a:pPr>
            <a:r>
              <a:rPr b="0" i="1" lang="en-IN" sz="2400" strike="noStrike" u="none">
                <a:solidFill>
                  <a:srgbClr val="000000"/>
                </a:solidFill>
                <a:effectLst/>
                <a:uFillTx/>
                <a:latin typeface="Times New Roman"/>
                <a:ea typeface="Times New Roman"/>
              </a:rPr>
              <a:t>read</a:t>
            </a:r>
            <a:r>
              <a:rPr b="0" lang="en-IN" sz="2400" strike="noStrike" u="none">
                <a:solidFill>
                  <a:srgbClr val="000000"/>
                </a:solidFill>
                <a:effectLst/>
                <a:uFillTx/>
                <a:latin typeface="Times New Roman"/>
                <a:ea typeface="Times New Roman"/>
              </a:rPr>
              <a:t> reads in one line of input from standard input and assigns the text(without a newline) as the value of the named variable</a:t>
            </a:r>
            <a:endParaRPr b="0" lang="en-IN" sz="2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 </a:t>
            </a:r>
            <a:r>
              <a:rPr b="0" i="1" lang="en-IN" sz="1400" strike="noStrike" u="none">
                <a:solidFill>
                  <a:srgbClr val="000000"/>
                </a:solidFill>
                <a:effectLst/>
                <a:uFillTx/>
                <a:latin typeface="Times New Roman"/>
                <a:ea typeface="Times New Roman"/>
              </a:rPr>
              <a:t>read something</a:t>
            </a:r>
            <a:endParaRPr b="0" lang="en-IN" sz="1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Hello, world</a:t>
            </a:r>
            <a:endParaRPr b="0" lang="en-IN" sz="1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 </a:t>
            </a:r>
            <a:r>
              <a:rPr b="0" i="1" lang="en-IN" sz="1400" strike="noStrike" u="none">
                <a:solidFill>
                  <a:srgbClr val="000000"/>
                </a:solidFill>
                <a:effectLst/>
                <a:uFillTx/>
                <a:latin typeface="Times New Roman"/>
                <a:ea typeface="Times New Roman"/>
              </a:rPr>
              <a:t>echo $something</a:t>
            </a:r>
            <a:endParaRPr b="0" lang="en-IN" sz="1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Hello, world</a:t>
            </a:r>
            <a:endParaRPr b="0" lang="en-IN" sz="1400" strike="noStrike" u="none">
              <a:solidFill>
                <a:srgbClr val="000000"/>
              </a:solidFill>
              <a:effectLst/>
              <a:uFillTx/>
              <a:latin typeface="Arial"/>
            </a:endParaRPr>
          </a:p>
          <a:p>
            <a:pPr marL="285840" indent="-285840">
              <a:lnSpc>
                <a:spcPct val="90000"/>
              </a:lnSpc>
              <a:spcBef>
                <a:spcPts val="720"/>
              </a:spcBef>
            </a:pPr>
            <a:r>
              <a:rPr b="0" lang="en-IN" sz="2400" strike="noStrike" u="none">
                <a:solidFill>
                  <a:srgbClr val="000000"/>
                </a:solidFill>
                <a:effectLst/>
                <a:uFillTx/>
                <a:latin typeface="Times New Roman"/>
                <a:ea typeface="Times New Roman"/>
              </a:rPr>
              <a:t>Older versions of the shell did not allow redirection of standard input (read is a builtin command)</a:t>
            </a:r>
            <a:endParaRPr b="0" lang="en-IN" sz="2400" strike="noStrike" u="none">
              <a:solidFill>
                <a:srgbClr val="000000"/>
              </a:solidFill>
              <a:effectLst/>
              <a:uFillTx/>
              <a:latin typeface="Arial"/>
            </a:endParaRPr>
          </a:p>
          <a:p>
            <a:pPr marL="285840" indent="-285840">
              <a:lnSpc>
                <a:spcPct val="90000"/>
              </a:lnSpc>
              <a:spcBef>
                <a:spcPts val="720"/>
              </a:spcBef>
            </a:pPr>
            <a:r>
              <a:rPr b="0" lang="en-IN" sz="2400" strike="noStrike" u="none">
                <a:solidFill>
                  <a:srgbClr val="000000"/>
                </a:solidFill>
                <a:effectLst/>
                <a:uFillTx/>
                <a:latin typeface="Times New Roman"/>
                <a:ea typeface="Times New Roman"/>
              </a:rPr>
              <a:t>Modern shells allow redirection, but not with pipes.</a:t>
            </a:r>
            <a:endParaRPr b="0" lang="en-IN" sz="2400" strike="noStrike" u="none">
              <a:solidFill>
                <a:srgbClr val="000000"/>
              </a:solidFill>
              <a:effectLst/>
              <a:uFillTx/>
              <a:latin typeface="Arial"/>
            </a:endParaRPr>
          </a:p>
          <a:p>
            <a:pPr marL="685800" indent="-228600">
              <a:lnSpc>
                <a:spcPct val="90000"/>
              </a:lnSpc>
              <a:spcBef>
                <a:spcPts val="720"/>
              </a:spcBef>
            </a:pPr>
            <a:r>
              <a:rPr b="0" lang="en-IN" sz="1200" strike="noStrike" u="none">
                <a:solidFill>
                  <a:srgbClr val="000000"/>
                </a:solidFill>
                <a:effectLst/>
                <a:uFillTx/>
                <a:latin typeface="Times New Roman"/>
                <a:ea typeface="Times New Roman"/>
              </a:rPr>
              <a:t>$ </a:t>
            </a:r>
            <a:r>
              <a:rPr b="0" i="1" lang="en-IN" sz="1200" strike="noStrike" u="none">
                <a:solidFill>
                  <a:srgbClr val="000000"/>
                </a:solidFill>
                <a:effectLst/>
                <a:uFillTx/>
                <a:latin typeface="Times New Roman"/>
                <a:ea typeface="Times New Roman"/>
              </a:rPr>
              <a:t>echo $upper</a:t>
            </a:r>
            <a:endParaRPr b="0" lang="en-IN" sz="1200" strike="noStrike" u="none">
              <a:solidFill>
                <a:srgbClr val="000000"/>
              </a:solidFill>
              <a:effectLst/>
              <a:uFillTx/>
              <a:latin typeface="Arial"/>
            </a:endParaRPr>
          </a:p>
          <a:p>
            <a:pPr marL="685800" indent="-228600">
              <a:lnSpc>
                <a:spcPct val="90000"/>
              </a:lnSpc>
              <a:spcBef>
                <a:spcPts val="720"/>
              </a:spcBef>
            </a:pPr>
            <a:r>
              <a:rPr b="0" lang="en-IN" sz="1200" strike="noStrike" u="none">
                <a:solidFill>
                  <a:srgbClr val="000000"/>
                </a:solidFill>
                <a:effectLst/>
                <a:uFillTx/>
                <a:latin typeface="Times New Roman"/>
                <a:ea typeface="Times New Roman"/>
              </a:rPr>
              <a:t>ALL UPPER CASE</a:t>
            </a:r>
            <a:endParaRPr b="0" lang="en-IN" sz="1200" strike="noStrike" u="none">
              <a:solidFill>
                <a:srgbClr val="000000"/>
              </a:solidFill>
              <a:effectLst/>
              <a:uFillTx/>
              <a:latin typeface="Arial"/>
            </a:endParaRPr>
          </a:p>
          <a:p>
            <a:pPr marL="685800" indent="-228600">
              <a:lnSpc>
                <a:spcPct val="90000"/>
              </a:lnSpc>
              <a:spcBef>
                <a:spcPts val="720"/>
              </a:spcBef>
            </a:pPr>
            <a:r>
              <a:rPr b="0" lang="en-IN" sz="1200" strike="noStrike" u="none">
                <a:solidFill>
                  <a:srgbClr val="000000"/>
                </a:solidFill>
                <a:effectLst/>
                <a:uFillTx/>
                <a:latin typeface="Times New Roman"/>
                <a:ea typeface="Times New Roman"/>
              </a:rPr>
              <a:t>$ </a:t>
            </a:r>
            <a:r>
              <a:rPr b="0" i="1" lang="en-IN" sz="1200" strike="noStrike" u="none">
                <a:solidFill>
                  <a:srgbClr val="000000"/>
                </a:solidFill>
                <a:effectLst/>
                <a:uFillTx/>
                <a:latin typeface="Times New Roman"/>
                <a:ea typeface="Times New Roman"/>
              </a:rPr>
              <a:t>echo $upper | tr A-Z a-z | sed 's/upper/lower/' &gt;/tmp/var</a:t>
            </a:r>
            <a:endParaRPr b="0" lang="en-IN" sz="1200" strike="noStrike" u="none">
              <a:solidFill>
                <a:srgbClr val="000000"/>
              </a:solidFill>
              <a:effectLst/>
              <a:uFillTx/>
              <a:latin typeface="Arial"/>
            </a:endParaRPr>
          </a:p>
          <a:p>
            <a:pPr marL="685800" indent="-228600">
              <a:lnSpc>
                <a:spcPct val="90000"/>
              </a:lnSpc>
              <a:spcBef>
                <a:spcPts val="720"/>
              </a:spcBef>
            </a:pPr>
            <a:r>
              <a:rPr b="0" lang="en-IN" sz="1200" strike="noStrike" u="none">
                <a:solidFill>
                  <a:srgbClr val="000000"/>
                </a:solidFill>
                <a:effectLst/>
                <a:uFillTx/>
                <a:latin typeface="Times New Roman"/>
                <a:ea typeface="Times New Roman"/>
              </a:rPr>
              <a:t>$ </a:t>
            </a:r>
            <a:r>
              <a:rPr b="0" i="1" lang="en-IN" sz="1200" strike="noStrike" u="none">
                <a:solidFill>
                  <a:srgbClr val="000000"/>
                </a:solidFill>
                <a:effectLst/>
                <a:uFillTx/>
                <a:latin typeface="Times New Roman"/>
                <a:ea typeface="Times New Roman"/>
              </a:rPr>
              <a:t>read lower &lt;/tmp/var</a:t>
            </a:r>
            <a:endParaRPr b="0" lang="en-IN" sz="1200" strike="noStrike" u="none">
              <a:solidFill>
                <a:srgbClr val="000000"/>
              </a:solidFill>
              <a:effectLst/>
              <a:uFillTx/>
              <a:latin typeface="Arial"/>
            </a:endParaRPr>
          </a:p>
          <a:p>
            <a:pPr marL="685800" indent="-228600">
              <a:lnSpc>
                <a:spcPct val="90000"/>
              </a:lnSpc>
              <a:spcBef>
                <a:spcPts val="720"/>
              </a:spcBef>
            </a:pPr>
            <a:r>
              <a:rPr b="0" lang="en-IN" sz="1200" strike="noStrike" u="none">
                <a:solidFill>
                  <a:srgbClr val="000000"/>
                </a:solidFill>
                <a:effectLst/>
                <a:uFillTx/>
                <a:latin typeface="Times New Roman"/>
                <a:ea typeface="Times New Roman"/>
              </a:rPr>
              <a:t>$ </a:t>
            </a:r>
            <a:r>
              <a:rPr b="0" i="1" lang="en-IN" sz="1200" strike="noStrike" u="none">
                <a:solidFill>
                  <a:srgbClr val="000000"/>
                </a:solidFill>
                <a:effectLst/>
                <a:uFillTx/>
                <a:latin typeface="Times New Roman"/>
                <a:ea typeface="Times New Roman"/>
              </a:rPr>
              <a:t>echo $lower</a:t>
            </a:r>
            <a:endParaRPr b="0" lang="en-IN" sz="1200" strike="noStrike" u="none">
              <a:solidFill>
                <a:srgbClr val="000000"/>
              </a:solidFill>
              <a:effectLst/>
              <a:uFillTx/>
              <a:latin typeface="Arial"/>
            </a:endParaRPr>
          </a:p>
          <a:p>
            <a:pPr marL="685800" indent="-228600">
              <a:lnSpc>
                <a:spcPct val="90000"/>
              </a:lnSpc>
              <a:spcBef>
                <a:spcPts val="720"/>
              </a:spcBef>
            </a:pPr>
            <a:r>
              <a:rPr b="0" lang="en-IN" sz="1200" strike="noStrike" u="none">
                <a:solidFill>
                  <a:srgbClr val="000000"/>
                </a:solidFill>
                <a:effectLst/>
                <a:uFillTx/>
                <a:latin typeface="Times New Roman"/>
                <a:ea typeface="Times New Roman"/>
              </a:rPr>
              <a:t>all lower case</a:t>
            </a:r>
            <a:endParaRPr b="0" lang="en-IN" sz="1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3" name=""/>
          <p:cNvSpPr txBox="1"/>
          <p:nvPr/>
        </p:nvSpPr>
        <p:spPr>
          <a:xfrm>
            <a:off x="996840" y="685800"/>
            <a:ext cx="715644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Traps: catching interrupts</a:t>
            </a:r>
            <a:endParaRPr b="0" lang="en-IN" sz="3600" strike="noStrike" u="none">
              <a:solidFill>
                <a:srgbClr val="000000"/>
              </a:solidFill>
              <a:effectLst/>
              <a:uFillTx/>
              <a:latin typeface="Arial"/>
            </a:endParaRPr>
          </a:p>
        </p:txBody>
      </p:sp>
      <p:sp>
        <p:nvSpPr>
          <p:cNvPr id="334" name=""/>
          <p:cNvSpPr txBox="1"/>
          <p:nvPr/>
        </p:nvSpPr>
        <p:spPr>
          <a:xfrm>
            <a:off x="990720" y="1981080"/>
            <a:ext cx="7162920" cy="4114800"/>
          </a:xfrm>
          <a:prstGeom prst="rect">
            <a:avLst/>
          </a:prstGeom>
          <a:noFill/>
          <a:ln w="0">
            <a:noFill/>
          </a:ln>
        </p:spPr>
        <p:txBody>
          <a:bodyPr lIns="0" rIns="0" tIns="0" bIns="0" anchor="t">
            <a:spAutoFit/>
          </a:bodyPr>
          <a:p>
            <a:pPr marL="285840" indent="-285840">
              <a:lnSpc>
                <a:spcPct val="90000"/>
              </a:lnSpc>
              <a:spcBef>
                <a:spcPts val="720"/>
              </a:spcBef>
            </a:pPr>
            <a:r>
              <a:rPr b="0" lang="en-IN" sz="2400" strike="noStrike" u="none">
                <a:solidFill>
                  <a:srgbClr val="000000"/>
                </a:solidFill>
                <a:effectLst/>
                <a:uFillTx/>
                <a:latin typeface="Times New Roman"/>
                <a:ea typeface="Times New Roman"/>
              </a:rPr>
              <a:t>If a shell script is interrupted by a ^C or some other signal, any temporary files will be left behind</a:t>
            </a:r>
            <a:endParaRPr b="0" lang="en-IN" sz="2400" strike="noStrike" u="none">
              <a:solidFill>
                <a:srgbClr val="000000"/>
              </a:solidFill>
              <a:effectLst/>
              <a:uFillTx/>
              <a:latin typeface="Arial"/>
            </a:endParaRPr>
          </a:p>
          <a:p>
            <a:pPr marL="285840" indent="-285840">
              <a:lnSpc>
                <a:spcPct val="90000"/>
              </a:lnSpc>
              <a:spcBef>
                <a:spcPts val="720"/>
              </a:spcBef>
            </a:pPr>
            <a:r>
              <a:rPr b="0" lang="en-IN" sz="2400" strike="noStrike" u="none">
                <a:solidFill>
                  <a:srgbClr val="000000"/>
                </a:solidFill>
                <a:effectLst/>
                <a:uFillTx/>
                <a:latin typeface="Times New Roman"/>
                <a:ea typeface="Times New Roman"/>
              </a:rPr>
              <a:t>Need to "catch" the interrupt signal, cleanup anything that needs it, and exit</a:t>
            </a:r>
            <a:endParaRPr b="0" lang="en-IN" sz="2400" strike="noStrike" u="none">
              <a:solidFill>
                <a:srgbClr val="000000"/>
              </a:solidFill>
              <a:effectLst/>
              <a:uFillTx/>
              <a:latin typeface="Arial"/>
            </a:endParaRPr>
          </a:p>
          <a:p>
            <a:pPr marL="285840" indent="-285840">
              <a:lnSpc>
                <a:spcPct val="90000"/>
              </a:lnSpc>
              <a:spcBef>
                <a:spcPts val="720"/>
              </a:spcBef>
            </a:pPr>
            <a:r>
              <a:rPr b="0" lang="en-IN" sz="2400" strike="noStrike" u="none">
                <a:solidFill>
                  <a:srgbClr val="000000"/>
                </a:solidFill>
                <a:effectLst/>
                <a:uFillTx/>
                <a:latin typeface="Times New Roman"/>
                <a:ea typeface="Times New Roman"/>
              </a:rPr>
              <a:t>Basic command:</a:t>
            </a:r>
            <a:endParaRPr b="0" lang="en-IN" sz="2400" strike="noStrike" u="none">
              <a:solidFill>
                <a:srgbClr val="000000"/>
              </a:solidFill>
              <a:effectLst/>
              <a:uFillTx/>
              <a:latin typeface="Arial"/>
            </a:endParaRPr>
          </a:p>
          <a:p>
            <a:pPr marL="685800" indent="-228600">
              <a:lnSpc>
                <a:spcPct val="90000"/>
              </a:lnSpc>
              <a:spcBef>
                <a:spcPts val="720"/>
              </a:spcBef>
            </a:pPr>
            <a:r>
              <a:rPr b="0" i="1" lang="en-IN" sz="2000" strike="noStrike" u="none">
                <a:solidFill>
                  <a:srgbClr val="000000"/>
                </a:solidFill>
                <a:effectLst/>
                <a:uFillTx/>
                <a:latin typeface="Times New Roman"/>
                <a:ea typeface="Times New Roman"/>
              </a:rPr>
              <a:t>trap</a:t>
            </a:r>
            <a:r>
              <a:rPr b="0" lang="en-IN" sz="2000" strike="noStrike" u="none">
                <a:solidFill>
                  <a:srgbClr val="000000"/>
                </a:solidFill>
                <a:effectLst/>
                <a:uFillTx/>
                <a:latin typeface="Times New Roman"/>
                <a:ea typeface="Times New Roman"/>
              </a:rPr>
              <a:t> </a:t>
            </a:r>
            <a:r>
              <a:rPr b="0" i="1" lang="en-IN" sz="2000" strike="noStrike" u="none">
                <a:solidFill>
                  <a:srgbClr val="000000"/>
                </a:solidFill>
                <a:effectLst/>
                <a:uFillTx/>
                <a:latin typeface="Times New Roman"/>
                <a:ea typeface="Times New Roman"/>
              </a:rPr>
              <a:t>sequence-of-commands</a:t>
            </a:r>
            <a:r>
              <a:rPr b="0" lang="en-IN" sz="2000" strike="noStrike" u="none">
                <a:solidFill>
                  <a:srgbClr val="000000"/>
                </a:solidFill>
                <a:effectLst/>
                <a:uFillTx/>
                <a:latin typeface="Times New Roman"/>
                <a:ea typeface="Times New Roman"/>
              </a:rPr>
              <a:t> </a:t>
            </a:r>
            <a:r>
              <a:rPr b="0" i="1" lang="en-IN" sz="2000" strike="noStrike" u="none">
                <a:solidFill>
                  <a:srgbClr val="000000"/>
                </a:solidFill>
                <a:effectLst/>
                <a:uFillTx/>
                <a:latin typeface="Times New Roman"/>
                <a:ea typeface="Times New Roman"/>
              </a:rPr>
              <a:t>list-of-signal-numbers</a:t>
            </a:r>
            <a:endParaRPr b="0" lang="en-IN" sz="2000" strike="noStrike" u="none">
              <a:solidFill>
                <a:srgbClr val="000000"/>
              </a:solidFill>
              <a:effectLst/>
              <a:uFillTx/>
              <a:latin typeface="Arial"/>
            </a:endParaRPr>
          </a:p>
          <a:p>
            <a:pPr marL="285840" indent="-285840">
              <a:lnSpc>
                <a:spcPct val="90000"/>
              </a:lnSpc>
              <a:spcBef>
                <a:spcPts val="720"/>
              </a:spcBef>
            </a:pPr>
            <a:r>
              <a:rPr b="0" lang="en-IN" sz="2400" strike="noStrike" u="none">
                <a:solidFill>
                  <a:srgbClr val="000000"/>
                </a:solidFill>
                <a:effectLst/>
                <a:uFillTx/>
                <a:latin typeface="Times New Roman"/>
                <a:ea typeface="Times New Roman"/>
              </a:rPr>
              <a:t>Example: clean up a temporary file on receiving an interrupt or terminate signal</a:t>
            </a:r>
            <a:endParaRPr b="0" lang="en-IN" sz="2400" strike="noStrike" u="none">
              <a:solidFill>
                <a:srgbClr val="000000"/>
              </a:solidFill>
              <a:effectLst/>
              <a:uFillTx/>
              <a:latin typeface="Arial"/>
            </a:endParaRPr>
          </a:p>
          <a:p>
            <a:pPr marL="685800" indent="-228600">
              <a:lnSpc>
                <a:spcPct val="90000"/>
              </a:lnSpc>
              <a:spcBef>
                <a:spcPts val="720"/>
              </a:spcBef>
            </a:pPr>
            <a:r>
              <a:rPr b="0" i="1" lang="en-IN" sz="2000" strike="noStrike" u="none">
                <a:solidFill>
                  <a:srgbClr val="000000"/>
                </a:solidFill>
                <a:effectLst/>
                <a:uFillTx/>
                <a:latin typeface="Times New Roman"/>
                <a:ea typeface="Times New Roman"/>
              </a:rPr>
              <a:t>trap 'rm -f /tmp/tmpfile; exit 1' 1 15</a:t>
            </a:r>
            <a:endParaRPr b="0" lang="en-IN" sz="2000" strike="noStrike" u="none">
              <a:solidFill>
                <a:srgbClr val="000000"/>
              </a:solidFill>
              <a:effectLst/>
              <a:uFillTx/>
              <a:latin typeface="Arial"/>
            </a:endParaRPr>
          </a:p>
          <a:p>
            <a:pPr marL="285840" indent="-285840">
              <a:lnSpc>
                <a:spcPct val="90000"/>
              </a:lnSpc>
              <a:spcBef>
                <a:spcPts val="720"/>
              </a:spcBef>
            </a:pPr>
            <a:r>
              <a:rPr b="0" lang="en-IN" sz="2400" strike="noStrike" u="none">
                <a:solidFill>
                  <a:srgbClr val="000000"/>
                </a:solidFill>
                <a:effectLst/>
                <a:uFillTx/>
                <a:latin typeface="Times New Roman"/>
                <a:ea typeface="Times New Roman"/>
              </a:rPr>
              <a:t>See the next slide for common signal numbers</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5" name=""/>
          <p:cNvSpPr txBox="1"/>
          <p:nvPr/>
        </p:nvSpPr>
        <p:spPr>
          <a:xfrm>
            <a:off x="996840" y="685800"/>
            <a:ext cx="715644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Shell Signal Numbers</a:t>
            </a:r>
            <a:endParaRPr b="0" lang="en-IN" sz="3600" strike="noStrike" u="none">
              <a:solidFill>
                <a:srgbClr val="000000"/>
              </a:solidFill>
              <a:effectLst/>
              <a:uFillTx/>
              <a:latin typeface="Arial"/>
            </a:endParaRPr>
          </a:p>
        </p:txBody>
      </p:sp>
      <p:sp>
        <p:nvSpPr>
          <p:cNvPr id="336" name=""/>
          <p:cNvSpPr txBox="1"/>
          <p:nvPr/>
        </p:nvSpPr>
        <p:spPr>
          <a:xfrm>
            <a:off x="990720" y="1981080"/>
            <a:ext cx="7162920" cy="4114800"/>
          </a:xfrm>
          <a:prstGeom prst="rect">
            <a:avLst/>
          </a:prstGeom>
          <a:noFill/>
          <a:ln w="0">
            <a:noFill/>
          </a:ln>
        </p:spPr>
        <p:txBody>
          <a:bodyPr lIns="0" rIns="0" tIns="0" bIns="0" anchor="t">
            <a:spAutoFit/>
          </a:bodyPr>
          <a:p>
            <a:pPr marL="285840" indent="-285840">
              <a:lnSpc>
                <a:spcPct val="90000"/>
              </a:lnSpc>
              <a:spcBef>
                <a:spcPts val="720"/>
              </a:spcBef>
            </a:pPr>
            <a:r>
              <a:rPr b="0" lang="en-IN" sz="2400" strike="noStrike" u="none">
                <a:solidFill>
                  <a:srgbClr val="000000"/>
                </a:solidFill>
                <a:effectLst/>
                <a:uFillTx/>
                <a:latin typeface="Times New Roman"/>
                <a:ea typeface="Times New Roman"/>
              </a:rPr>
              <a:t>0</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shell exit (for any reason, including end of file)</a:t>
            </a:r>
            <a:endParaRPr b="0" lang="en-IN" sz="2400" strike="noStrike" u="none">
              <a:solidFill>
                <a:srgbClr val="000000"/>
              </a:solidFill>
              <a:effectLst/>
              <a:uFillTx/>
              <a:latin typeface="Arial"/>
            </a:endParaRPr>
          </a:p>
          <a:p>
            <a:pPr marL="285840" indent="-285840">
              <a:lnSpc>
                <a:spcPct val="90000"/>
              </a:lnSpc>
              <a:spcBef>
                <a:spcPts val="720"/>
              </a:spcBef>
            </a:pPr>
            <a:r>
              <a:rPr b="0" lang="en-IN" sz="2400" strike="noStrike" u="none">
                <a:solidFill>
                  <a:srgbClr val="000000"/>
                </a:solidFill>
                <a:effectLst/>
                <a:uFillTx/>
                <a:latin typeface="Times New Roman"/>
                <a:ea typeface="Times New Roman"/>
              </a:rPr>
              <a:t>1</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hangup</a:t>
            </a:r>
            <a:endParaRPr b="0" lang="en-IN" sz="2400" strike="noStrike" u="none">
              <a:solidFill>
                <a:srgbClr val="000000"/>
              </a:solidFill>
              <a:effectLst/>
              <a:uFillTx/>
              <a:latin typeface="Arial"/>
            </a:endParaRPr>
          </a:p>
          <a:p>
            <a:pPr marL="285840" indent="-285840">
              <a:lnSpc>
                <a:spcPct val="90000"/>
              </a:lnSpc>
              <a:spcBef>
                <a:spcPts val="720"/>
              </a:spcBef>
            </a:pPr>
            <a:r>
              <a:rPr b="0" lang="en-IN" sz="2400" strike="noStrike" u="none">
                <a:solidFill>
                  <a:srgbClr val="000000"/>
                </a:solidFill>
                <a:effectLst/>
                <a:uFillTx/>
                <a:latin typeface="Times New Roman"/>
                <a:ea typeface="Times New Roman"/>
              </a:rPr>
              <a:t>2</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interrupt (^C)</a:t>
            </a:r>
            <a:endParaRPr b="0" lang="en-IN" sz="2400" strike="noStrike" u="none">
              <a:solidFill>
                <a:srgbClr val="000000"/>
              </a:solidFill>
              <a:effectLst/>
              <a:uFillTx/>
              <a:latin typeface="Arial"/>
            </a:endParaRPr>
          </a:p>
          <a:p>
            <a:pPr marL="285840" indent="-285840">
              <a:lnSpc>
                <a:spcPct val="90000"/>
              </a:lnSpc>
              <a:spcBef>
                <a:spcPts val="720"/>
              </a:spcBef>
            </a:pPr>
            <a:r>
              <a:rPr b="0" lang="en-IN" sz="2400" strike="noStrike" u="none">
                <a:solidFill>
                  <a:srgbClr val="000000"/>
                </a:solidFill>
                <a:effectLst/>
                <a:uFillTx/>
                <a:latin typeface="Times New Roman"/>
                <a:ea typeface="Times New Roman"/>
              </a:rPr>
              <a:t>3</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quit (^\; causes program to produce core dump)</a:t>
            </a:r>
            <a:endParaRPr b="0" lang="en-IN" sz="2400" strike="noStrike" u="none">
              <a:solidFill>
                <a:srgbClr val="000000"/>
              </a:solidFill>
              <a:effectLst/>
              <a:uFillTx/>
              <a:latin typeface="Arial"/>
            </a:endParaRPr>
          </a:p>
          <a:p>
            <a:pPr marL="285840" indent="-285840">
              <a:lnSpc>
                <a:spcPct val="90000"/>
              </a:lnSpc>
              <a:spcBef>
                <a:spcPts val="720"/>
              </a:spcBef>
            </a:pPr>
            <a:r>
              <a:rPr b="0" lang="en-IN" sz="2400" strike="noStrike" u="none">
                <a:solidFill>
                  <a:srgbClr val="000000"/>
                </a:solidFill>
                <a:effectLst/>
                <a:uFillTx/>
                <a:latin typeface="Times New Roman"/>
                <a:ea typeface="Times New Roman"/>
              </a:rPr>
              <a:t>9</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kill (cannot be caught or ignored)</a:t>
            </a:r>
            <a:endParaRPr b="0" lang="en-IN" sz="2400" strike="noStrike" u="none">
              <a:solidFill>
                <a:srgbClr val="000000"/>
              </a:solidFill>
              <a:effectLst/>
              <a:uFillTx/>
              <a:latin typeface="Arial"/>
            </a:endParaRPr>
          </a:p>
          <a:p>
            <a:pPr marL="285840" indent="-285840">
              <a:lnSpc>
                <a:spcPct val="90000"/>
              </a:lnSpc>
              <a:spcBef>
                <a:spcPts val="720"/>
              </a:spcBef>
            </a:pPr>
            <a:r>
              <a:rPr b="0" lang="en-IN" sz="2400" strike="noStrike" u="none">
                <a:solidFill>
                  <a:srgbClr val="000000"/>
                </a:solidFill>
                <a:effectLst/>
                <a:uFillTx/>
                <a:latin typeface="Times New Roman"/>
                <a:ea typeface="Times New Roman"/>
              </a:rPr>
              <a:t>15</a:t>
            </a:r>
            <a:r>
              <a:rPr b="0" lang="en-IN" sz="2400" strike="noStrike" u="none">
                <a:solidFill>
                  <a:srgbClr val="000000"/>
                </a:solidFill>
                <a:effectLst/>
                <a:uFillTx/>
                <a:latin typeface="Times New Roman"/>
                <a:ea typeface="Times New Roman"/>
              </a:rPr>
              <a:t>	</a:t>
            </a:r>
            <a:r>
              <a:rPr b="0" lang="en-IN" sz="2400" strike="noStrike" u="none">
                <a:solidFill>
                  <a:srgbClr val="000000"/>
                </a:solidFill>
                <a:effectLst/>
                <a:uFillTx/>
                <a:latin typeface="Times New Roman"/>
                <a:ea typeface="Times New Roman"/>
              </a:rPr>
              <a:t>terminate, default signal generated by kill(1)</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7" name=""/>
          <p:cNvSpPr txBox="1"/>
          <p:nvPr/>
        </p:nvSpPr>
        <p:spPr>
          <a:xfrm>
            <a:off x="996840" y="685800"/>
            <a:ext cx="715644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Aliases</a:t>
            </a:r>
            <a:endParaRPr b="0" lang="en-IN" sz="3600" strike="noStrike" u="none">
              <a:solidFill>
                <a:srgbClr val="000000"/>
              </a:solidFill>
              <a:effectLst/>
              <a:uFillTx/>
              <a:latin typeface="Arial"/>
            </a:endParaRPr>
          </a:p>
        </p:txBody>
      </p:sp>
      <p:sp>
        <p:nvSpPr>
          <p:cNvPr id="338" name=""/>
          <p:cNvSpPr txBox="1"/>
          <p:nvPr/>
        </p:nvSpPr>
        <p:spPr>
          <a:xfrm>
            <a:off x="990720" y="1600200"/>
            <a:ext cx="7162920" cy="4608720"/>
          </a:xfrm>
          <a:prstGeom prst="rect">
            <a:avLst/>
          </a:prstGeom>
          <a:noFill/>
          <a:ln w="0">
            <a:noFill/>
          </a:ln>
        </p:spPr>
        <p:txBody>
          <a:bodyPr lIns="0" rIns="0" tIns="0" bIns="0" anchor="t">
            <a:spAutoFit/>
          </a:bodyPr>
          <a:p>
            <a:pPr marL="285840" indent="-285840">
              <a:lnSpc>
                <a:spcPct val="90000"/>
              </a:lnSpc>
              <a:spcBef>
                <a:spcPts val="720"/>
              </a:spcBef>
            </a:pPr>
            <a:r>
              <a:rPr b="0" lang="en-IN" sz="2400" strike="noStrike" u="none">
                <a:solidFill>
                  <a:srgbClr val="000000"/>
                </a:solidFill>
                <a:effectLst/>
                <a:uFillTx/>
                <a:latin typeface="Times New Roman"/>
                <a:ea typeface="Times New Roman"/>
              </a:rPr>
              <a:t>Most implementations of shells allow for </a:t>
            </a:r>
            <a:r>
              <a:rPr b="0" i="1" lang="en-IN" sz="2400" strike="noStrike" u="none">
                <a:solidFill>
                  <a:srgbClr val="000000"/>
                </a:solidFill>
                <a:effectLst/>
                <a:uFillTx/>
                <a:latin typeface="Times New Roman"/>
                <a:ea typeface="Times New Roman"/>
              </a:rPr>
              <a:t>aliases</a:t>
            </a:r>
            <a:endParaRPr b="0" lang="en-IN" sz="24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Commonly used to set default switches for commands</a:t>
            </a:r>
            <a:endParaRPr b="0" lang="en-IN" sz="2000" strike="noStrike" u="none">
              <a:solidFill>
                <a:srgbClr val="000000"/>
              </a:solidFill>
              <a:effectLst/>
              <a:uFillTx/>
              <a:latin typeface="Arial"/>
            </a:endParaRPr>
          </a:p>
          <a:p>
            <a:pPr marL="1143000" indent="-228600">
              <a:lnSpc>
                <a:spcPct val="90000"/>
              </a:lnSpc>
              <a:spcBef>
                <a:spcPts val="720"/>
              </a:spcBef>
            </a:pPr>
            <a:r>
              <a:rPr b="0" lang="en-IN" sz="2000" strike="noStrike" u="none">
                <a:solidFill>
                  <a:srgbClr val="000000"/>
                </a:solidFill>
                <a:effectLst/>
                <a:uFillTx/>
                <a:latin typeface="Times New Roman"/>
                <a:ea typeface="Times New Roman"/>
              </a:rPr>
              <a:t>alias ls='ls -F'</a:t>
            </a:r>
            <a:endParaRPr b="0" lang="en-IN" sz="2000" strike="noStrike" u="none">
              <a:solidFill>
                <a:srgbClr val="000000"/>
              </a:solidFill>
              <a:effectLst/>
              <a:uFillTx/>
              <a:latin typeface="Arial"/>
            </a:endParaRPr>
          </a:p>
          <a:p>
            <a:pPr marL="1143000" indent="-228600">
              <a:lnSpc>
                <a:spcPct val="90000"/>
              </a:lnSpc>
              <a:spcBef>
                <a:spcPts val="720"/>
              </a:spcBef>
            </a:pPr>
            <a:r>
              <a:rPr b="0" lang="en-IN" sz="2000" strike="noStrike" u="none">
                <a:solidFill>
                  <a:srgbClr val="000000"/>
                </a:solidFill>
                <a:effectLst/>
                <a:uFillTx/>
                <a:latin typeface="Times New Roman"/>
                <a:ea typeface="Times New Roman"/>
              </a:rPr>
              <a:t>alias ll='ls -l'</a:t>
            </a:r>
            <a:endParaRPr b="0" lang="en-IN" sz="2000" strike="noStrike" u="none">
              <a:solidFill>
                <a:srgbClr val="000000"/>
              </a:solidFill>
              <a:effectLst/>
              <a:uFillTx/>
              <a:latin typeface="Arial"/>
            </a:endParaRPr>
          </a:p>
          <a:p>
            <a:pPr marL="1143000" indent="-228600">
              <a:lnSpc>
                <a:spcPct val="90000"/>
              </a:lnSpc>
              <a:spcBef>
                <a:spcPts val="720"/>
              </a:spcBef>
            </a:pPr>
            <a:r>
              <a:rPr b="0" lang="en-IN" sz="2000" strike="noStrike" u="none">
                <a:solidFill>
                  <a:srgbClr val="000000"/>
                </a:solidFill>
                <a:effectLst/>
                <a:uFillTx/>
                <a:latin typeface="Times New Roman"/>
                <a:ea typeface="Times New Roman"/>
              </a:rPr>
              <a:t>alias rm='rm -i'</a:t>
            </a:r>
            <a:endParaRPr b="0" lang="en-IN" sz="20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Can be used to string several commands together</a:t>
            </a:r>
            <a:endParaRPr b="0" lang="en-IN" sz="2000" strike="noStrike" u="none">
              <a:solidFill>
                <a:srgbClr val="000000"/>
              </a:solidFill>
              <a:effectLst/>
              <a:uFillTx/>
              <a:latin typeface="Arial"/>
            </a:endParaRPr>
          </a:p>
          <a:p>
            <a:pPr marL="1143000" indent="-228600">
              <a:lnSpc>
                <a:spcPct val="90000"/>
              </a:lnSpc>
              <a:spcBef>
                <a:spcPts val="720"/>
              </a:spcBef>
            </a:pPr>
            <a:r>
              <a:rPr b="0" lang="en-IN" sz="2000" strike="noStrike" u="none">
                <a:solidFill>
                  <a:srgbClr val="000000"/>
                </a:solidFill>
                <a:effectLst/>
                <a:uFillTx/>
                <a:latin typeface="Times New Roman"/>
                <a:ea typeface="Times New Roman"/>
              </a:rPr>
              <a:t>alias dir='pwd; ls -l'</a:t>
            </a:r>
            <a:endParaRPr b="0" lang="en-IN" sz="2000" strike="noStrike" u="none">
              <a:solidFill>
                <a:srgbClr val="000000"/>
              </a:solidFill>
              <a:effectLst/>
              <a:uFillTx/>
              <a:latin typeface="Arial"/>
            </a:endParaRPr>
          </a:p>
          <a:p>
            <a:pPr marL="1143000" indent="-228600">
              <a:lnSpc>
                <a:spcPct val="90000"/>
              </a:lnSpc>
              <a:spcBef>
                <a:spcPts val="720"/>
              </a:spcBef>
            </a:pPr>
            <a:r>
              <a:rPr b="0" lang="en-IN" sz="2000" strike="noStrike" u="none">
                <a:solidFill>
                  <a:srgbClr val="000000"/>
                </a:solidFill>
                <a:effectLst/>
                <a:uFillTx/>
                <a:latin typeface="Times New Roman"/>
                <a:ea typeface="Times New Roman"/>
              </a:rPr>
              <a:t>alias logout='clear; exit'</a:t>
            </a:r>
            <a:endParaRPr b="0" lang="en-IN" sz="2000" strike="noStrike" u="none">
              <a:solidFill>
                <a:srgbClr val="000000"/>
              </a:solidFill>
              <a:effectLst/>
              <a:uFillTx/>
              <a:latin typeface="Arial"/>
            </a:endParaRPr>
          </a:p>
          <a:p>
            <a:pPr marL="1143000" indent="-228600">
              <a:lnSpc>
                <a:spcPct val="90000"/>
              </a:lnSpc>
              <a:spcBef>
                <a:spcPts val="720"/>
              </a:spcBef>
            </a:pPr>
            <a:r>
              <a:rPr b="0" lang="en-IN" sz="2000" strike="noStrike" u="none">
                <a:solidFill>
                  <a:srgbClr val="000000"/>
                </a:solidFill>
                <a:effectLst/>
                <a:uFillTx/>
                <a:latin typeface="Times New Roman"/>
                <a:ea typeface="Times New Roman"/>
              </a:rPr>
              <a:t>alias whoops='ps -axu | grep'</a:t>
            </a:r>
            <a:endParaRPr b="0" lang="en-IN" sz="20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Any arguments following the alias are appending to the replacement text after the alias is expanded</a:t>
            </a:r>
            <a:endParaRPr b="0" lang="en-IN" sz="20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However, </a:t>
            </a:r>
            <a:r>
              <a:rPr b="0" lang="en-IN" sz="2000" strike="noStrike" u="sng">
                <a:solidFill>
                  <a:srgbClr val="000000"/>
                </a:solidFill>
                <a:effectLst/>
                <a:uFillTx/>
                <a:latin typeface="Times New Roman"/>
                <a:ea typeface="Times New Roman"/>
              </a:rPr>
              <a:t>there is no mechanism for using arguments within the replacement text</a:t>
            </a:r>
            <a:endParaRPr b="0" lang="en-IN" sz="2000" strike="noStrike" u="none">
              <a:solidFill>
                <a:srgbClr val="000000"/>
              </a:solidFill>
              <a:effectLst/>
              <a:uFillTx/>
              <a:latin typeface="Arial"/>
            </a:endParaRPr>
          </a:p>
          <a:p>
            <a:pPr lvl="2" marL="11430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If arguments are needed, use a shell function</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9" name=""/>
          <p:cNvSpPr txBox="1"/>
          <p:nvPr/>
        </p:nvSpPr>
        <p:spPr>
          <a:xfrm>
            <a:off x="996840" y="685800"/>
            <a:ext cx="715644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Shell Functions</a:t>
            </a:r>
            <a:endParaRPr b="0" lang="en-IN" sz="3600" strike="noStrike" u="none">
              <a:solidFill>
                <a:srgbClr val="000000"/>
              </a:solidFill>
              <a:effectLst/>
              <a:uFillTx/>
              <a:latin typeface="Arial"/>
            </a:endParaRPr>
          </a:p>
        </p:txBody>
      </p:sp>
      <p:sp>
        <p:nvSpPr>
          <p:cNvPr id="340" name=""/>
          <p:cNvSpPr txBox="1"/>
          <p:nvPr/>
        </p:nvSpPr>
        <p:spPr>
          <a:xfrm>
            <a:off x="914400" y="1295280"/>
            <a:ext cx="7391520" cy="5029200"/>
          </a:xfrm>
          <a:prstGeom prst="rect">
            <a:avLst/>
          </a:prstGeom>
          <a:noFill/>
          <a:ln w="0">
            <a:noFill/>
          </a:ln>
        </p:spPr>
        <p:txBody>
          <a:bodyPr lIns="0" rIns="0" tIns="0" bIns="0" anchor="t">
            <a:spAutoFit/>
          </a:bodyPr>
          <a:p>
            <a:pPr marL="285840" indent="-285840">
              <a:lnSpc>
                <a:spcPct val="90000"/>
              </a:lnSpc>
              <a:spcBef>
                <a:spcPts val="720"/>
              </a:spcBef>
            </a:pPr>
            <a:r>
              <a:rPr b="0" lang="en-IN" sz="2400" strike="noStrike" u="none">
                <a:solidFill>
                  <a:srgbClr val="000000"/>
                </a:solidFill>
                <a:effectLst/>
                <a:uFillTx/>
                <a:latin typeface="Times New Roman"/>
                <a:ea typeface="Times New Roman"/>
              </a:rPr>
              <a:t>Modern versions of the Bourne shell allow functions</a:t>
            </a:r>
            <a:endParaRPr b="0" lang="en-IN" sz="2400" strike="noStrike" u="none">
              <a:solidFill>
                <a:srgbClr val="000000"/>
              </a:solidFill>
              <a:effectLst/>
              <a:uFillTx/>
              <a:latin typeface="Arial"/>
            </a:endParaRPr>
          </a:p>
          <a:p>
            <a:pPr marL="285840" indent="-285840">
              <a:lnSpc>
                <a:spcPct val="90000"/>
              </a:lnSpc>
              <a:spcBef>
                <a:spcPts val="720"/>
              </a:spcBef>
            </a:pPr>
            <a:r>
              <a:rPr b="0" lang="en-IN" sz="2400" strike="noStrike" u="none">
                <a:solidFill>
                  <a:srgbClr val="000000"/>
                </a:solidFill>
                <a:effectLst/>
                <a:uFillTx/>
                <a:latin typeface="Times New Roman"/>
                <a:ea typeface="Times New Roman"/>
              </a:rPr>
              <a:t>Functions store a series of commands for later execution</a:t>
            </a:r>
            <a:endParaRPr b="0" lang="en-IN" sz="24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Functions declared in .profile are available as interactive commands, like aliases</a:t>
            </a:r>
            <a:endParaRPr b="0" lang="en-IN" sz="2000" strike="noStrike" u="none">
              <a:solidFill>
                <a:srgbClr val="000000"/>
              </a:solidFill>
              <a:effectLst/>
              <a:uFillTx/>
              <a:latin typeface="Arial"/>
            </a:endParaRPr>
          </a:p>
          <a:p>
            <a:pPr marL="285840" indent="-285840">
              <a:lnSpc>
                <a:spcPct val="90000"/>
              </a:lnSpc>
              <a:spcBef>
                <a:spcPts val="720"/>
              </a:spcBef>
            </a:pPr>
            <a:r>
              <a:rPr b="0" lang="en-IN" sz="2400" strike="noStrike" u="none">
                <a:solidFill>
                  <a:srgbClr val="000000"/>
                </a:solidFill>
                <a:effectLst/>
                <a:uFillTx/>
                <a:latin typeface="Times New Roman"/>
                <a:ea typeface="Times New Roman"/>
              </a:rPr>
              <a:t>Functions are executed in the context of the current shell; not a subshell</a:t>
            </a:r>
            <a:endParaRPr b="0" lang="en-IN" sz="2400" strike="noStrike" u="none">
              <a:solidFill>
                <a:srgbClr val="000000"/>
              </a:solidFill>
              <a:effectLst/>
              <a:uFillTx/>
              <a:latin typeface="Arial"/>
            </a:endParaRPr>
          </a:p>
          <a:p>
            <a:pPr marL="285840" indent="-285840">
              <a:lnSpc>
                <a:spcPct val="90000"/>
              </a:lnSpc>
              <a:spcBef>
                <a:spcPts val="720"/>
              </a:spcBef>
            </a:pPr>
            <a:r>
              <a:rPr b="0" lang="en-IN" sz="2400" strike="noStrike" u="none">
                <a:solidFill>
                  <a:srgbClr val="000000"/>
                </a:solidFill>
                <a:effectLst/>
                <a:uFillTx/>
                <a:latin typeface="Times New Roman"/>
                <a:ea typeface="Times New Roman"/>
              </a:rPr>
              <a:t>Arguments to the function become positional parameters, $1, $2, ...</a:t>
            </a:r>
            <a:endParaRPr b="0" lang="en-IN" sz="24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After the function exits, the original positional parameters are restored</a:t>
            </a:r>
            <a:endParaRPr b="0" lang="en-IN" sz="2000" strike="noStrike" u="none">
              <a:solidFill>
                <a:srgbClr val="000000"/>
              </a:solidFill>
              <a:effectLst/>
              <a:uFillTx/>
              <a:latin typeface="Arial"/>
            </a:endParaRPr>
          </a:p>
          <a:p>
            <a:pPr marL="285840" indent="-285840">
              <a:lnSpc>
                <a:spcPct val="90000"/>
              </a:lnSpc>
              <a:spcBef>
                <a:spcPts val="720"/>
              </a:spcBef>
            </a:pPr>
            <a:r>
              <a:rPr b="0" lang="en-IN" sz="2400" strike="noStrike" u="none">
                <a:solidFill>
                  <a:srgbClr val="000000"/>
                </a:solidFill>
                <a:effectLst/>
                <a:uFillTx/>
                <a:latin typeface="Times New Roman"/>
                <a:ea typeface="Times New Roman"/>
              </a:rPr>
              <a:t>Variables local to the function can be declared by “</a:t>
            </a:r>
            <a:r>
              <a:rPr b="0" i="1" lang="en-IN" sz="2400" strike="noStrike" u="none">
                <a:solidFill>
                  <a:srgbClr val="000000"/>
                </a:solidFill>
                <a:effectLst/>
                <a:uFillTx/>
                <a:latin typeface="Times New Roman"/>
                <a:ea typeface="Times New Roman"/>
              </a:rPr>
              <a:t>local</a:t>
            </a:r>
            <a:r>
              <a:rPr b="0" lang="en-IN" sz="2400" strike="noStrike" u="none">
                <a:solidFill>
                  <a:srgbClr val="000000"/>
                </a:solidFill>
                <a:effectLst/>
                <a:uFillTx/>
                <a:latin typeface="Times New Roman"/>
                <a:ea typeface="Times New Roman"/>
              </a:rPr>
              <a:t>” builtin command</a:t>
            </a:r>
            <a:endParaRPr b="0" lang="en-IN" sz="24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These variables exist only during the execution of the function</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1" name=""/>
          <p:cNvSpPr txBox="1"/>
          <p:nvPr/>
        </p:nvSpPr>
        <p:spPr>
          <a:xfrm>
            <a:off x="996840" y="685800"/>
            <a:ext cx="715644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Example Shell Function</a:t>
            </a:r>
            <a:endParaRPr b="0" lang="en-IN" sz="3600" strike="noStrike" u="none">
              <a:solidFill>
                <a:srgbClr val="000000"/>
              </a:solidFill>
              <a:effectLst/>
              <a:uFillTx/>
              <a:latin typeface="Arial"/>
            </a:endParaRPr>
          </a:p>
        </p:txBody>
      </p:sp>
      <p:sp>
        <p:nvSpPr>
          <p:cNvPr id="342" name=""/>
          <p:cNvSpPr txBox="1"/>
          <p:nvPr/>
        </p:nvSpPr>
        <p:spPr>
          <a:xfrm>
            <a:off x="990720" y="1676520"/>
            <a:ext cx="7162920" cy="4597560"/>
          </a:xfrm>
          <a:prstGeom prst="rect">
            <a:avLst/>
          </a:prstGeom>
          <a:noFill/>
          <a:ln w="0">
            <a:noFill/>
          </a:ln>
        </p:spPr>
        <p:txBody>
          <a:bodyPr lIns="0" rIns="0" tIns="0" bIns="0" anchor="t">
            <a:spAutoFit/>
          </a:bodyPr>
          <a:p>
            <a:pPr marL="285840" indent="-285840">
              <a:lnSpc>
                <a:spcPct val="90000"/>
              </a:lnSpc>
              <a:spcBef>
                <a:spcPts val="720"/>
              </a:spcBef>
            </a:pPr>
            <a:r>
              <a:rPr b="0" lang="en-IN" sz="2400" strike="noStrike" u="none">
                <a:solidFill>
                  <a:srgbClr val="000000"/>
                </a:solidFill>
                <a:effectLst/>
                <a:uFillTx/>
                <a:latin typeface="Times New Roman"/>
                <a:ea typeface="Times New Roman"/>
              </a:rPr>
              <a:t>Rename a list of files to all lowercase characters</a:t>
            </a:r>
            <a:endParaRPr b="0" lang="en-IN" sz="2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tolow()</a:t>
            </a:r>
            <a:endParaRPr b="0" lang="en-IN" sz="1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a:t>
            </a:r>
            <a:endParaRPr b="0" lang="en-IN" sz="1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for i</a:t>
            </a:r>
            <a:endParaRPr b="0" lang="en-IN" sz="1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do</a:t>
            </a:r>
            <a:endParaRPr b="0" lang="en-IN" sz="1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mv $i `echo $i | tr [A-Z] [a-z]`</a:t>
            </a:r>
            <a:endParaRPr b="0" lang="en-IN" sz="1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done</a:t>
            </a:r>
            <a:endParaRPr b="0" lang="en-IN" sz="1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a:t>
            </a:r>
            <a:endParaRPr b="0" lang="en-IN" sz="14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i="1" lang="en-IN" sz="2000" strike="noStrike" u="none">
                <a:solidFill>
                  <a:srgbClr val="000000"/>
                </a:solidFill>
                <a:effectLst/>
                <a:uFillTx/>
                <a:latin typeface="Times New Roman"/>
                <a:ea typeface="Times New Roman"/>
              </a:rPr>
              <a:t>e.g.</a:t>
            </a:r>
            <a:endParaRPr b="0" lang="en-IN" sz="2000" strike="noStrike" u="none">
              <a:solidFill>
                <a:srgbClr val="000000"/>
              </a:solidFill>
              <a:effectLst/>
              <a:uFillTx/>
              <a:latin typeface="Arial"/>
            </a:endParaRPr>
          </a:p>
          <a:p>
            <a:pPr marL="1143000" indent="-228600">
              <a:lnSpc>
                <a:spcPct val="90000"/>
              </a:lnSpc>
              <a:spcBef>
                <a:spcPts val="720"/>
              </a:spcBef>
            </a:pPr>
            <a:r>
              <a:rPr b="0" lang="en-IN" sz="2000" strike="noStrike" u="none">
                <a:solidFill>
                  <a:srgbClr val="000000"/>
                </a:solidFill>
                <a:effectLst/>
                <a:uFillTx/>
                <a:latin typeface="Times New Roman"/>
                <a:ea typeface="Times New Roman"/>
              </a:rPr>
              <a:t>$ </a:t>
            </a:r>
            <a:r>
              <a:rPr b="0" i="1" lang="en-IN" sz="2000" strike="noStrike" u="none">
                <a:solidFill>
                  <a:srgbClr val="000000"/>
                </a:solidFill>
                <a:effectLst/>
                <a:uFillTx/>
                <a:latin typeface="Times New Roman"/>
                <a:ea typeface="Times New Roman"/>
              </a:rPr>
              <a:t>ls</a:t>
            </a:r>
            <a:endParaRPr b="0" lang="en-IN" sz="2000" strike="noStrike" u="none">
              <a:solidFill>
                <a:srgbClr val="000000"/>
              </a:solidFill>
              <a:effectLst/>
              <a:uFillTx/>
              <a:latin typeface="Arial"/>
            </a:endParaRPr>
          </a:p>
          <a:p>
            <a:pPr marL="1143000" indent="-228600">
              <a:lnSpc>
                <a:spcPct val="90000"/>
              </a:lnSpc>
              <a:spcBef>
                <a:spcPts val="720"/>
              </a:spcBef>
            </a:pPr>
            <a:r>
              <a:rPr b="0" lang="en-IN" sz="2000" strike="noStrike" u="none">
                <a:solidFill>
                  <a:srgbClr val="000000"/>
                </a:solidFill>
                <a:effectLst/>
                <a:uFillTx/>
                <a:latin typeface="Times New Roman"/>
                <a:ea typeface="Times New Roman"/>
              </a:rPr>
              <a:t>This      That      TheOther</a:t>
            </a:r>
            <a:endParaRPr b="0" lang="en-IN" sz="2000" strike="noStrike" u="none">
              <a:solidFill>
                <a:srgbClr val="000000"/>
              </a:solidFill>
              <a:effectLst/>
              <a:uFillTx/>
              <a:latin typeface="Arial"/>
            </a:endParaRPr>
          </a:p>
          <a:p>
            <a:pPr marL="1143000" indent="-228600">
              <a:lnSpc>
                <a:spcPct val="90000"/>
              </a:lnSpc>
              <a:spcBef>
                <a:spcPts val="720"/>
              </a:spcBef>
            </a:pPr>
            <a:r>
              <a:rPr b="0" lang="en-IN" sz="2000" strike="noStrike" u="none">
                <a:solidFill>
                  <a:srgbClr val="000000"/>
                </a:solidFill>
                <a:effectLst/>
                <a:uFillTx/>
                <a:latin typeface="Times New Roman"/>
                <a:ea typeface="Times New Roman"/>
              </a:rPr>
              <a:t>$ </a:t>
            </a:r>
            <a:r>
              <a:rPr b="0" i="1" lang="en-IN" sz="2000" strike="noStrike" u="none">
                <a:solidFill>
                  <a:srgbClr val="000000"/>
                </a:solidFill>
                <a:effectLst/>
                <a:uFillTx/>
                <a:latin typeface="Times New Roman"/>
                <a:ea typeface="Times New Roman"/>
              </a:rPr>
              <a:t>tolow *; ls</a:t>
            </a:r>
            <a:endParaRPr b="0" lang="en-IN" sz="2000" strike="noStrike" u="none">
              <a:solidFill>
                <a:srgbClr val="000000"/>
              </a:solidFill>
              <a:effectLst/>
              <a:uFillTx/>
              <a:latin typeface="Arial"/>
            </a:endParaRPr>
          </a:p>
          <a:p>
            <a:pPr marL="1143000" indent="-228600">
              <a:lnSpc>
                <a:spcPct val="90000"/>
              </a:lnSpc>
              <a:spcBef>
                <a:spcPts val="720"/>
              </a:spcBef>
            </a:pPr>
            <a:r>
              <a:rPr b="0" lang="en-IN" sz="2000" strike="noStrike" u="none">
                <a:solidFill>
                  <a:srgbClr val="000000"/>
                </a:solidFill>
                <a:effectLst/>
                <a:uFillTx/>
                <a:latin typeface="Times New Roman"/>
                <a:ea typeface="Times New Roman"/>
              </a:rPr>
              <a:t>this      that      theother</a:t>
            </a:r>
            <a:endParaRPr b="0" lang="en-IN" sz="20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What happens if the filename is already all lowercase?</a:t>
            </a:r>
            <a:endParaRPr b="0" lang="en-IN" sz="20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How can this behavior be avoided?</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3" name=""/>
          <p:cNvSpPr txBox="1"/>
          <p:nvPr/>
        </p:nvSpPr>
        <p:spPr>
          <a:xfrm>
            <a:off x="996840" y="685800"/>
            <a:ext cx="7156440" cy="8920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Example Shell Function</a:t>
            </a:r>
            <a:br>
              <a:rPr sz="3600"/>
            </a:br>
            <a:r>
              <a:rPr b="1" lang="en-IN" sz="2400" strike="noStrike" u="none">
                <a:solidFill>
                  <a:srgbClr val="000000"/>
                </a:solidFill>
                <a:effectLst/>
                <a:uFillTx/>
                <a:latin typeface="Times New Roman"/>
                <a:ea typeface="Times New Roman"/>
              </a:rPr>
              <a:t>(continued)</a:t>
            </a:r>
            <a:endParaRPr b="0" lang="en-IN" sz="2400" strike="noStrike" u="none">
              <a:solidFill>
                <a:srgbClr val="000000"/>
              </a:solidFill>
              <a:effectLst/>
              <a:uFillTx/>
              <a:latin typeface="Arial"/>
            </a:endParaRPr>
          </a:p>
        </p:txBody>
      </p:sp>
      <p:sp>
        <p:nvSpPr>
          <p:cNvPr id="344" name=""/>
          <p:cNvSpPr txBox="1"/>
          <p:nvPr/>
        </p:nvSpPr>
        <p:spPr>
          <a:xfrm>
            <a:off x="990720" y="1981080"/>
            <a:ext cx="7162920" cy="4275000"/>
          </a:xfrm>
          <a:prstGeom prst="rect">
            <a:avLst/>
          </a:prstGeom>
          <a:noFill/>
          <a:ln w="0">
            <a:noFill/>
          </a:ln>
        </p:spPr>
        <p:txBody>
          <a:bodyPr lIns="0" rIns="0" tIns="0" bIns="0" anchor="t">
            <a:spAutoFit/>
          </a:bodyPr>
          <a:p>
            <a:pPr marL="285840" indent="-285840">
              <a:lnSpc>
                <a:spcPct val="90000"/>
              </a:lnSpc>
              <a:spcBef>
                <a:spcPts val="720"/>
              </a:spcBef>
            </a:pPr>
            <a:r>
              <a:rPr b="0" lang="en-IN" sz="2400" strike="noStrike" u="none">
                <a:solidFill>
                  <a:srgbClr val="000000"/>
                </a:solidFill>
                <a:effectLst/>
                <a:uFillTx/>
                <a:latin typeface="Times New Roman"/>
                <a:ea typeface="Times New Roman"/>
              </a:rPr>
              <a:t>Repeat a command:  </a:t>
            </a:r>
            <a:endParaRPr b="0" lang="en-IN" sz="24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Usage:  repeat </a:t>
            </a:r>
            <a:r>
              <a:rPr b="0" i="1" lang="en-IN" sz="2000" strike="noStrike" u="none">
                <a:solidFill>
                  <a:srgbClr val="000000"/>
                </a:solidFill>
                <a:effectLst/>
                <a:uFillTx/>
                <a:latin typeface="Times New Roman"/>
                <a:ea typeface="Times New Roman"/>
              </a:rPr>
              <a:t>n  command</a:t>
            </a:r>
            <a:endParaRPr b="0" lang="en-IN" sz="20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i="1" lang="en-IN" sz="2000" strike="noStrike" u="none">
                <a:solidFill>
                  <a:srgbClr val="000000"/>
                </a:solidFill>
                <a:effectLst/>
                <a:uFillTx/>
                <a:latin typeface="Times New Roman"/>
                <a:ea typeface="Times New Roman"/>
              </a:rPr>
              <a:t>e.g.</a:t>
            </a:r>
            <a:r>
              <a:rPr b="0" lang="en-IN" sz="2000" strike="noStrike" u="none">
                <a:solidFill>
                  <a:srgbClr val="000000"/>
                </a:solidFill>
                <a:effectLst/>
                <a:uFillTx/>
                <a:latin typeface="Times New Roman"/>
                <a:ea typeface="Times New Roman"/>
              </a:rPr>
              <a:t>:       repeat 80 echo -n "-"</a:t>
            </a:r>
            <a:endParaRPr b="0" lang="en-IN" sz="2000" strike="noStrike" u="none">
              <a:solidFill>
                <a:srgbClr val="000000"/>
              </a:solidFill>
              <a:effectLst/>
              <a:uFillTx/>
              <a:latin typeface="Arial"/>
            </a:endParaRPr>
          </a:p>
          <a:p>
            <a:pPr marL="285840" indent="-285840">
              <a:lnSpc>
                <a:spcPct val="90000"/>
              </a:lnSpc>
              <a:spcBef>
                <a:spcPts val="720"/>
              </a:spcBef>
            </a:pP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repeat()</a:t>
            </a:r>
            <a:endParaRPr b="0" lang="en-IN" sz="1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a:t>
            </a:r>
            <a:endParaRPr b="0" lang="en-IN" sz="1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local count=$1</a:t>
            </a:r>
            <a:endParaRPr b="0" lang="en-IN" sz="1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shift</a:t>
            </a:r>
            <a:endParaRPr b="0" lang="en-IN" sz="1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while [ "$count" -gt 0 ]</a:t>
            </a:r>
            <a:endParaRPr b="0" lang="en-IN" sz="1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do</a:t>
            </a:r>
            <a:endParaRPr b="0" lang="en-IN" sz="1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a:t>
            </a:r>
            <a:endParaRPr b="0" lang="en-IN" sz="1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count=`expr $count - 1`</a:t>
            </a:r>
            <a:endParaRPr b="0" lang="en-IN" sz="1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	</a:t>
            </a:r>
            <a:r>
              <a:rPr b="0" lang="en-IN" sz="1400" strike="noStrike" u="none">
                <a:solidFill>
                  <a:srgbClr val="000000"/>
                </a:solidFill>
                <a:effectLst/>
                <a:uFillTx/>
                <a:latin typeface="Times New Roman"/>
                <a:ea typeface="Times New Roman"/>
              </a:rPr>
              <a:t>done</a:t>
            </a:r>
            <a:endParaRPr b="0" lang="en-IN" sz="1400" strike="noStrike" u="none">
              <a:solidFill>
                <a:srgbClr val="000000"/>
              </a:solidFill>
              <a:effectLst/>
              <a:uFillTx/>
              <a:latin typeface="Arial"/>
            </a:endParaRPr>
          </a:p>
          <a:p>
            <a:pPr marL="685800" indent="-228600">
              <a:lnSpc>
                <a:spcPct val="90000"/>
              </a:lnSpc>
              <a:spcBef>
                <a:spcPts val="720"/>
              </a:spcBef>
            </a:pPr>
            <a:r>
              <a:rPr b="0" lang="en-IN" sz="1400" strike="noStrike" u="none">
                <a:solidFill>
                  <a:srgbClr val="000000"/>
                </a:solidFill>
                <a:effectLst/>
                <a:uFillTx/>
                <a:latin typeface="Times New Roman"/>
                <a:ea typeface="Times New Roman"/>
              </a:rPr>
              <a:t>}</a:t>
            </a:r>
            <a:endParaRPr b="0" lang="en-IN" sz="14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Note:  This function is </a:t>
            </a:r>
            <a:r>
              <a:rPr b="0" lang="en-IN" sz="2000" strike="noStrike" u="sng">
                <a:solidFill>
                  <a:srgbClr val="000000"/>
                </a:solidFill>
                <a:effectLst/>
                <a:uFillTx/>
                <a:latin typeface="Times New Roman"/>
                <a:ea typeface="Times New Roman"/>
              </a:rPr>
              <a:t>really slow</a:t>
            </a:r>
            <a:r>
              <a:rPr b="0" lang="en-IN" sz="2000" strike="noStrike" u="none">
                <a:solidFill>
                  <a:srgbClr val="000000"/>
                </a:solidFill>
                <a:effectLst/>
                <a:uFillTx/>
                <a:latin typeface="Times New Roman"/>
                <a:ea typeface="Times New Roman"/>
              </a:rPr>
              <a:t>.  Repeated arithmetic with </a:t>
            </a:r>
            <a:r>
              <a:rPr b="0" i="1" lang="en-IN" sz="2000" strike="noStrike" u="none">
                <a:solidFill>
                  <a:srgbClr val="000000"/>
                </a:solidFill>
                <a:effectLst/>
                <a:uFillTx/>
                <a:latin typeface="Times New Roman"/>
                <a:ea typeface="Times New Roman"/>
              </a:rPr>
              <a:t>expr</a:t>
            </a:r>
            <a:r>
              <a:rPr b="0" lang="en-IN" sz="2000" strike="noStrike" u="none">
                <a:solidFill>
                  <a:srgbClr val="000000"/>
                </a:solidFill>
                <a:effectLst/>
                <a:uFillTx/>
                <a:latin typeface="Times New Roman"/>
                <a:ea typeface="Times New Roman"/>
              </a:rPr>
              <a:t> takes a lot of CPU time.</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5" name=""/>
          <p:cNvSpPr txBox="1"/>
          <p:nvPr/>
        </p:nvSpPr>
        <p:spPr>
          <a:xfrm>
            <a:off x="996840" y="533520"/>
            <a:ext cx="7156440" cy="555480"/>
          </a:xfrm>
          <a:prstGeom prst="rect">
            <a:avLst/>
          </a:prstGeom>
          <a:noFill/>
          <a:ln w="0">
            <a:noFill/>
          </a:ln>
        </p:spPr>
        <p:txBody>
          <a:bodyPr lIns="0" rIns="0" tIns="0" bIns="0" anchor="t">
            <a:spAutoFit/>
          </a:bodyPr>
          <a:p>
            <a:pPr algn="ctr">
              <a:lnSpc>
                <a:spcPct val="92000"/>
              </a:lnSpc>
            </a:pPr>
            <a:r>
              <a:rPr b="1" lang="en-IN" sz="3600" strike="noStrike" u="none">
                <a:solidFill>
                  <a:srgbClr val="000000"/>
                </a:solidFill>
                <a:effectLst/>
                <a:uFillTx/>
                <a:latin typeface="Times New Roman"/>
                <a:ea typeface="Times New Roman"/>
              </a:rPr>
              <a:t>Style</a:t>
            </a:r>
            <a:endParaRPr b="0" lang="en-IN" sz="3600" strike="noStrike" u="none">
              <a:solidFill>
                <a:srgbClr val="000000"/>
              </a:solidFill>
              <a:effectLst/>
              <a:uFillTx/>
              <a:latin typeface="Arial"/>
            </a:endParaRPr>
          </a:p>
        </p:txBody>
      </p:sp>
      <p:sp>
        <p:nvSpPr>
          <p:cNvPr id="346" name=""/>
          <p:cNvSpPr txBox="1"/>
          <p:nvPr/>
        </p:nvSpPr>
        <p:spPr>
          <a:xfrm>
            <a:off x="990720" y="1219320"/>
            <a:ext cx="7238880" cy="4876920"/>
          </a:xfrm>
          <a:prstGeom prst="rect">
            <a:avLst/>
          </a:prstGeom>
          <a:noFill/>
          <a:ln w="0">
            <a:noFill/>
          </a:ln>
        </p:spPr>
        <p:txBody>
          <a:bodyPr lIns="0" rIns="0" tIns="0" bIns="0" anchor="t">
            <a:spAutoFit/>
          </a:bodyPr>
          <a:p>
            <a:pPr marL="285840" indent="-285840">
              <a:lnSpc>
                <a:spcPct val="90000"/>
              </a:lnSpc>
              <a:spcBef>
                <a:spcPts val="720"/>
              </a:spcBef>
            </a:pPr>
            <a:r>
              <a:rPr b="0" lang="en-IN" sz="2400" strike="noStrike" u="none">
                <a:solidFill>
                  <a:srgbClr val="000000"/>
                </a:solidFill>
                <a:effectLst/>
                <a:uFillTx/>
                <a:latin typeface="Times New Roman"/>
                <a:ea typeface="Times New Roman"/>
              </a:rPr>
              <a:t>Use script “magic number” to unambiguously identify the shell</a:t>
            </a:r>
            <a:endParaRPr b="0" lang="en-IN" sz="2400" strike="noStrike" u="none">
              <a:solidFill>
                <a:srgbClr val="000000"/>
              </a:solidFill>
              <a:effectLst/>
              <a:uFillTx/>
              <a:latin typeface="Arial"/>
            </a:endParaRPr>
          </a:p>
          <a:p>
            <a:pPr marL="685800" indent="-228600">
              <a:lnSpc>
                <a:spcPct val="90000"/>
              </a:lnSpc>
              <a:spcBef>
                <a:spcPts val="720"/>
              </a:spcBef>
            </a:pPr>
            <a:r>
              <a:rPr b="0" lang="en-IN" sz="2000" strike="noStrike" u="none">
                <a:solidFill>
                  <a:srgbClr val="000000"/>
                </a:solidFill>
                <a:effectLst/>
                <a:uFillTx/>
                <a:latin typeface="Times New Roman"/>
                <a:ea typeface="Times New Roman"/>
              </a:rPr>
              <a:t>#!/bin/sh</a:t>
            </a:r>
            <a:endParaRPr b="0" lang="en-IN" sz="2000" strike="noStrike" u="none">
              <a:solidFill>
                <a:srgbClr val="000000"/>
              </a:solidFill>
              <a:effectLst/>
              <a:uFillTx/>
              <a:latin typeface="Arial"/>
            </a:endParaRPr>
          </a:p>
          <a:p>
            <a:pPr marL="285840" indent="-285840">
              <a:lnSpc>
                <a:spcPct val="90000"/>
              </a:lnSpc>
              <a:spcBef>
                <a:spcPts val="720"/>
              </a:spcBef>
            </a:pPr>
            <a:r>
              <a:rPr b="0" lang="en-IN" sz="2400" strike="noStrike" u="sng">
                <a:solidFill>
                  <a:srgbClr val="000000"/>
                </a:solidFill>
                <a:effectLst/>
                <a:uFillTx/>
                <a:latin typeface="Times New Roman"/>
                <a:ea typeface="Times New Roman"/>
              </a:rPr>
              <a:t>Use liberal comments!</a:t>
            </a:r>
            <a:endParaRPr b="0" lang="en-IN" sz="2400" strike="noStrike" u="none">
              <a:solidFill>
                <a:srgbClr val="000000"/>
              </a:solidFill>
              <a:effectLst/>
              <a:uFillTx/>
              <a:latin typeface="Arial"/>
            </a:endParaRPr>
          </a:p>
          <a:p>
            <a:pPr marL="285840" indent="-285840">
              <a:lnSpc>
                <a:spcPct val="90000"/>
              </a:lnSpc>
              <a:spcBef>
                <a:spcPts val="720"/>
              </a:spcBef>
            </a:pPr>
            <a:r>
              <a:rPr b="0" lang="en-IN" sz="2400" strike="noStrike" u="none">
                <a:solidFill>
                  <a:srgbClr val="000000"/>
                </a:solidFill>
                <a:effectLst/>
                <a:uFillTx/>
                <a:latin typeface="Times New Roman"/>
                <a:ea typeface="Times New Roman"/>
              </a:rPr>
              <a:t>Use tabs and blank lines for readability</a:t>
            </a:r>
            <a:endParaRPr b="0" lang="en-IN" sz="2400" strike="noStrike" u="none">
              <a:solidFill>
                <a:srgbClr val="000000"/>
              </a:solidFill>
              <a:effectLst/>
              <a:uFillTx/>
              <a:latin typeface="Arial"/>
            </a:endParaRPr>
          </a:p>
          <a:p>
            <a:pPr marL="285840" indent="-285840">
              <a:lnSpc>
                <a:spcPct val="90000"/>
              </a:lnSpc>
              <a:spcBef>
                <a:spcPts val="720"/>
              </a:spcBef>
            </a:pPr>
            <a:r>
              <a:rPr b="0" lang="en-IN" sz="2400" strike="noStrike" u="none">
                <a:solidFill>
                  <a:srgbClr val="000000"/>
                </a:solidFill>
                <a:effectLst/>
                <a:uFillTx/>
                <a:latin typeface="Times New Roman"/>
                <a:ea typeface="Times New Roman"/>
              </a:rPr>
              <a:t>Keep things simple if at all possible</a:t>
            </a:r>
            <a:endParaRPr b="0" lang="en-IN" sz="24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Use several small single-purpose scripts, not one large general- purpose one</a:t>
            </a:r>
            <a:endParaRPr b="0" lang="en-IN" sz="2000" strike="noStrike" u="none">
              <a:solidFill>
                <a:srgbClr val="000000"/>
              </a:solidFill>
              <a:effectLst/>
              <a:uFillTx/>
              <a:latin typeface="Arial"/>
            </a:endParaRPr>
          </a:p>
          <a:p>
            <a:pPr lvl="1" marL="6858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Try to keep a UNIX “flavor”</a:t>
            </a:r>
            <a:endParaRPr b="0" lang="en-IN" sz="2000" strike="noStrike" u="none">
              <a:solidFill>
                <a:srgbClr val="000000"/>
              </a:solidFill>
              <a:effectLst/>
              <a:uFillTx/>
              <a:latin typeface="Arial"/>
            </a:endParaRPr>
          </a:p>
          <a:p>
            <a:pPr lvl="2" marL="11430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Print Usage message if arguments are required but not supplied</a:t>
            </a:r>
            <a:endParaRPr b="0" lang="en-IN" sz="2000" strike="noStrike" u="none">
              <a:solidFill>
                <a:srgbClr val="000000"/>
              </a:solidFill>
              <a:effectLst/>
              <a:uFillTx/>
              <a:latin typeface="Arial"/>
            </a:endParaRPr>
          </a:p>
          <a:p>
            <a:pPr lvl="2" marL="11430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Keep intermediate (“OK to here, Bob”) messages to a minimum</a:t>
            </a:r>
            <a:endParaRPr b="0" lang="en-IN" sz="2000" strike="noStrike" u="none">
              <a:solidFill>
                <a:srgbClr val="000000"/>
              </a:solidFill>
              <a:effectLst/>
              <a:uFillTx/>
              <a:latin typeface="Arial"/>
            </a:endParaRPr>
          </a:p>
          <a:p>
            <a:pPr lvl="2" marL="1143000" indent="-228600">
              <a:lnSpc>
                <a:spcPct val="90000"/>
              </a:lnSpc>
              <a:spcBef>
                <a:spcPts val="720"/>
              </a:spcBef>
              <a:buClr>
                <a:srgbClr val="000000"/>
              </a:buClr>
              <a:buFont typeface=""/>
              <a:buChar char=""/>
            </a:pPr>
            <a:r>
              <a:rPr b="0" lang="en-IN" sz="2000" strike="noStrike" u="none">
                <a:solidFill>
                  <a:srgbClr val="000000"/>
                </a:solidFill>
                <a:effectLst/>
                <a:uFillTx/>
                <a:latin typeface="Times New Roman"/>
                <a:ea typeface="Times New Roman"/>
              </a:rPr>
              <a:t>Use proper exit status for success (0) or failure (1 or some other nonzero value)</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LibreOffice/25.2.3.2$Windows_X86_64 LibreOffice_project/bbb074479178df812d175f709636b368952c2ce3</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Jim Williams/Rhonda Harris/George Vassilou</dc:creator>
  <dc:description/>
  <dc:language>en-IN</dc:language>
  <cp:lastModifiedBy>NASIRC</cp:lastModifiedBy>
  <cp:revision>0</cp:revision>
  <dc:subject>UNIX Training</dc:subject>
  <dc:title>Introduction to UNIX</dc:title>
</cp:coreProperties>
</file>