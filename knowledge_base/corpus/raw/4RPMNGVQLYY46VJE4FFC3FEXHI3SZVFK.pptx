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media/image1.wmf" ContentType="image/x-wmf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2795400" y="8710560"/>
            <a:ext cx="12686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7480" rIns="87480" tIns="44280" bIns="44280" anchor="t">
            <a:spAutoFit/>
          </a:bodyPr>
          <a:p>
            <a:pPr algn="ctr">
              <a:lnSpc>
                <a:spcPct val="90000"/>
              </a:lnSpc>
              <a:tabLst>
                <a:tab algn="l" pos="0"/>
                <a:tab algn="l" pos="868320"/>
                <a:tab algn="l" pos="1736640"/>
                <a:tab algn="l" pos="2604960"/>
                <a:tab algn="l" pos="3473280"/>
                <a:tab algn="l" pos="4341960"/>
                <a:tab algn="l" pos="5210280"/>
                <a:tab algn="l" pos="6078600"/>
                <a:tab algn="l" pos="6946920"/>
                <a:tab algn="l" pos="7815240"/>
                <a:tab algn="l" pos="8683560"/>
                <a:tab algn="l" pos="9551880"/>
                <a:tab algn="l" pos="1042020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Page </a:t>
            </a:r>
            <a:fld id="{AF8B1524-BA44-4D2F-95D4-D61FE2285657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sldImg"/>
          </p:nvPr>
        </p:nvSpPr>
        <p:spPr>
          <a:xfrm>
            <a:off x="1149480" y="691920"/>
            <a:ext cx="4559040" cy="3416040"/>
          </a:xfrm>
          <a:prstGeom prst="rect">
            <a:avLst/>
          </a:prstGeom>
          <a:noFill/>
          <a:ln w="12600">
            <a:solidFill>
              <a:srgbClr val="000000"/>
            </a:solidFill>
            <a:miter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89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Click to move the slide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Autofit/>
          </a:bodyPr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Click to edit the notes format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80" rIns="19080" tIns="0" bIns="0" anchor="b">
            <a:noAutofit/>
          </a:bodyPr>
          <a:p>
            <a:pPr algn="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1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r>
            <a:endParaRPr b="0" lang="en-IN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150920" y="692280"/>
            <a:ext cx="4556160" cy="34160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Autofit/>
          </a:bodyPr>
          <a:p>
            <a:pPr indent="0">
              <a:lnSpc>
                <a:spcPct val="89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This is the template to use for the 2000 ASCI PI meeting at LLNL.  All text enclosed in [] should be either removed or updated to the appropriate value (with the [] removed after updating).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89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1150920" y="692280"/>
            <a:ext cx="4556160" cy="341604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Autofit/>
          </a:bodyPr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the objectives of the project, it’s relevance to ASCI, and the impact of the project on the program.  Objectives should include what is new or novel, approaches, and methods.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a summary of the accomplishments of this project over the past year.  You can go into technical detail on subsequent slides.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interfaces to other projects in the ASCI programs.  What is needed from other projects?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Maximum of two slides on this topic.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1150920" y="692280"/>
            <a:ext cx="4556160" cy="341604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Autofit/>
          </a:bodyPr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the objectives of the project, it’s relevance to ASCI, and the impact of the project on the program.  Objectives should include what is new or novel, approaches, and methods.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a summary of the accomplishments of this project over the past year.  You can go into technical detail on subsequent slides.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interfaces to other projects in the ASCI programs.  What is needed from other projects?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Maximum of two slides on this topic.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50920" y="692280"/>
            <a:ext cx="4556160" cy="34160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Autofit/>
          </a:bodyPr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the objectives of the project, it’s relevance to ASCI, and the impact of the project on the program.  Objectives should include what is new or novel, approaches, and methods.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a summary of the accomplishments of this project over the past year.  You can go into technical detail on subsequent slides.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List interfaces to other projects in the ASCI programs.  What is needed from other projects?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  <a:p>
            <a:pPr indent="0">
              <a:lnSpc>
                <a:spcPct val="90000"/>
              </a:lnSpc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600" strike="noStrike" u="none">
                <a:solidFill>
                  <a:srgbClr val="000000"/>
                </a:solidFill>
                <a:effectLst/>
                <a:uFillTx/>
                <a:latin typeface="1Stone Serif"/>
              </a:rPr>
              <a:t>Maximum of two slides on this topic.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1Stone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14440" y="-360"/>
            <a:ext cx="6316560" cy="10731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sp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990720" y="1676520"/>
            <a:ext cx="7162560" cy="441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89000"/>
              </a:lnSpc>
              <a:spcBef>
                <a:spcPts val="675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414440" y="-360"/>
            <a:ext cx="6316560" cy="10731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sp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990720" y="1676520"/>
            <a:ext cx="7162560" cy="4419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indent="0">
              <a:lnSpc>
                <a:spcPct val="89000"/>
              </a:lnSpc>
              <a:spcBef>
                <a:spcPts val="67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wmf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414440" y="-360"/>
            <a:ext cx="6316560" cy="10731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Click to edit the title text format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990720" y="1676520"/>
            <a:ext cx="7162560" cy="441936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Click to edit the outline text format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Second Outline Level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Third Outline Level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3" marL="12574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Fourth Outline Level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4" marL="16002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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Fifth Outline Level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5" marL="16002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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Sixth Outline Level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6" marL="16002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Wingdings" charset="2"/>
              <a:buChar char="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Seventh Outline Level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2" name=""/>
          <p:cNvSpPr/>
          <p:nvPr/>
        </p:nvSpPr>
        <p:spPr>
          <a:xfrm>
            <a:off x="685800" y="6248520"/>
            <a:ext cx="120636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360" rIns="63360" tIns="25560" bIns="25560" anchor="t">
            <a:spAutoFit/>
          </a:bodyPr>
          <a:p>
            <a:pPr marL="343080" indent="-343080">
              <a:lnSpc>
                <a:spcPct val="166000"/>
              </a:lnSpc>
              <a:spcBef>
                <a:spcPts val="825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[1/4/00]</a:t>
            </a: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fld id="{DA268824-5AE4-4B2E-9FC7-15B3B53B065B}" type="slidenum"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b="0" lang="en-IN" sz="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" name="" descr=""/>
          <p:cNvPicPr/>
          <p:nvPr/>
        </p:nvPicPr>
        <p:blipFill>
          <a:blip r:embed="rId2"/>
          <a:stretch/>
        </p:blipFill>
        <p:spPr>
          <a:xfrm>
            <a:off x="0" y="0"/>
            <a:ext cx="1136520" cy="102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"/>
          <p:cNvSpPr/>
          <p:nvPr/>
        </p:nvSpPr>
        <p:spPr>
          <a:xfrm>
            <a:off x="304920" y="1219320"/>
            <a:ext cx="8381880" cy="75960"/>
          </a:xfrm>
          <a:prstGeom prst="parallelogram">
            <a:avLst>
              <a:gd name="adj" fmla="val -2330175"/>
            </a:avLst>
          </a:prstGeom>
          <a:solidFill>
            <a:srgbClr val="3e7cb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1080" bIns="108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" name="" descr=""/>
          <p:cNvPicPr/>
          <p:nvPr/>
        </p:nvPicPr>
        <p:blipFill>
          <a:blip r:embed="rId3"/>
          <a:stretch/>
        </p:blipFill>
        <p:spPr>
          <a:xfrm>
            <a:off x="7696080" y="6248520"/>
            <a:ext cx="1219320" cy="495360"/>
          </a:xfrm>
          <a:prstGeom prst="rect">
            <a:avLst/>
          </a:prstGeom>
          <a:noFill/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1599840"/>
            <a:ext cx="777240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1600"/>
            </a:br>
            <a:r>
              <a:rPr b="1" lang="en-US" sz="2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The Software Revolution</a:t>
            </a:r>
            <a:br>
              <a:rPr sz="2800"/>
            </a:br>
            <a:br>
              <a:rPr sz="1600"/>
            </a:br>
            <a:br>
              <a:rPr sz="1600"/>
            </a:br>
            <a:br>
              <a:rPr sz="1600"/>
            </a:br>
            <a:br>
              <a:rPr sz="1600"/>
            </a:br>
            <a:br>
              <a:rPr sz="1600"/>
            </a:br>
            <a:r>
              <a:rPr b="1" lang="en-US" sz="16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FOURTH WORKSHOP ON DISTRIBUTED SUPERCOMPUTERS</a:t>
            </a:r>
            <a:br>
              <a:rPr sz="1600"/>
            </a:br>
            <a:br>
              <a:rPr sz="1600"/>
            </a:br>
            <a:r>
              <a:rPr b="1" lang="en-US" sz="1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March 9-10, 2000</a:t>
            </a:r>
            <a:br>
              <a:rPr sz="1400"/>
            </a:br>
            <a:r>
              <a:rPr b="1" lang="en-US" sz="1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Parc St. Charles Hotel</a:t>
            </a:r>
            <a:br>
              <a:rPr sz="1400"/>
            </a:br>
            <a:r>
              <a:rPr b="1" lang="en-US" sz="1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New Orleans, LA, USA</a:t>
            </a:r>
            <a:br>
              <a:rPr sz="1400"/>
            </a:br>
            <a:br>
              <a:rPr sz="1400"/>
            </a:br>
            <a:r>
              <a:rPr b="1" lang="en-US" sz="1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John Reynders</a:t>
            </a:r>
            <a:br>
              <a:rPr sz="1400"/>
            </a:br>
            <a:r>
              <a:rPr b="1" lang="en-US" sz="1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Advanced Computing Laboratory</a:t>
            </a:r>
            <a:br>
              <a:rPr sz="1400"/>
            </a:br>
            <a:r>
              <a:rPr b="1" lang="en-US" sz="1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Los Alamos</a:t>
            </a:r>
            <a:br>
              <a:rPr sz="1200"/>
            </a:br>
            <a:endParaRPr b="1" lang="en-IN" sz="1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414440" y="152280"/>
            <a:ext cx="631656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The Innovator’s Dilemma</a:t>
            </a:r>
            <a:br>
              <a:rPr sz="2400"/>
            </a:b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	</a:t>
            </a: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	</a:t>
            </a: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	</a:t>
            </a:r>
            <a:r>
              <a:rPr b="1" lang="en-US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-Christensen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837720" y="1371240"/>
            <a:ext cx="754380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228600" indent="-228600">
              <a:lnSpc>
                <a:spcPct val="89000"/>
              </a:lnSpc>
              <a:spcBef>
                <a:spcPts val="901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Sustaining Change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sustain the current rate of technology growth</a:t>
            </a:r>
            <a:endParaRPr b="0" lang="en-IN" sz="24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901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Disruptive Change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redefine performance trajectories</a:t>
            </a:r>
            <a:endParaRPr b="0" lang="en-IN" sz="24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 flipV="1">
            <a:off x="2092320" y="3844440"/>
            <a:ext cx="0" cy="205740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2092320" y="5902200"/>
            <a:ext cx="426708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925280" y="598968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1974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5827320" y="605484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1990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84280" y="5521320"/>
            <a:ext cx="2700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484280" y="5114880"/>
            <a:ext cx="358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10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483920" y="4708440"/>
            <a:ext cx="4482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100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483920" y="430200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1000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 flipV="1">
            <a:off x="2092320" y="3844800"/>
            <a:ext cx="2514600" cy="914400"/>
          </a:xfrm>
          <a:prstGeom prst="line">
            <a:avLst/>
          </a:prstGeom>
          <a:ln w="12600">
            <a:solidFill>
              <a:srgbClr val="fc0128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 flipV="1">
            <a:off x="3159000" y="3768840"/>
            <a:ext cx="2895840" cy="1371600"/>
          </a:xfrm>
          <a:prstGeom prst="line">
            <a:avLst/>
          </a:prstGeom>
          <a:ln w="12600">
            <a:solidFill>
              <a:srgbClr val="3366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 flipV="1">
            <a:off x="3540240" y="4301640"/>
            <a:ext cx="2514600" cy="1219320"/>
          </a:xfrm>
          <a:prstGeom prst="line">
            <a:avLst/>
          </a:prstGeom>
          <a:ln w="12600">
            <a:solidFill>
              <a:srgbClr val="00ae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 flipV="1">
            <a:off x="2092320" y="3997440"/>
            <a:ext cx="3962520" cy="76176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 flipV="1">
            <a:off x="3235320" y="4454640"/>
            <a:ext cx="2743200" cy="83808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 flipV="1">
            <a:off x="3616200" y="4835160"/>
            <a:ext cx="2438640" cy="76212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2328840" y="4226040"/>
            <a:ext cx="438120" cy="307440"/>
          </a:xfrm>
          <a:prstGeom prst="rect">
            <a:avLst/>
          </a:prstGeom>
          <a:noFill/>
          <a:ln w="12600">
            <a:solidFill>
              <a:srgbClr val="fc01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14”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2786040" y="4987800"/>
            <a:ext cx="348840" cy="307440"/>
          </a:xfrm>
          <a:prstGeom prst="rect">
            <a:avLst/>
          </a:prstGeom>
          <a:noFill/>
          <a:ln w="12600">
            <a:solidFill>
              <a:srgbClr val="33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8”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2861640" y="5369040"/>
            <a:ext cx="636120" cy="307440"/>
          </a:xfrm>
          <a:prstGeom prst="rect">
            <a:avLst/>
          </a:prstGeom>
          <a:noFill/>
          <a:ln w="12600">
            <a:solidFill>
              <a:srgbClr val="00a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5-1/4”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6131520" y="3844800"/>
            <a:ext cx="9529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mainframe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6130800" y="4302000"/>
            <a:ext cx="1260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Mini-computer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132240" y="4759200"/>
            <a:ext cx="398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PC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705240" y="3733920"/>
            <a:ext cx="12639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Capacity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3770280" y="6207120"/>
            <a:ext cx="7729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Year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2118960" y="3317760"/>
            <a:ext cx="1467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Hardrives: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414440" y="152280"/>
            <a:ext cx="631656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MPP/Vectors vs. Clustered SMPs vs. Linux Clusters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837720" y="1371240"/>
            <a:ext cx="754380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228600" indent="-228600">
              <a:lnSpc>
                <a:spcPct val="89000"/>
              </a:lnSpc>
              <a:spcBef>
                <a:spcPts val="901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Sustaining Change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sustain the current rate of technology growth</a:t>
            </a:r>
            <a:endParaRPr b="0" lang="en-IN" sz="24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901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Disruptive Change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redefine performance trajectories</a:t>
            </a:r>
            <a:endParaRPr b="0" lang="en-IN" sz="24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 flipV="1">
            <a:off x="1752480" y="3352320"/>
            <a:ext cx="0" cy="205740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752480" y="5410080"/>
            <a:ext cx="426744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585440" y="549756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1985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5487840" y="5562720"/>
            <a:ext cx="487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now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 flipV="1">
            <a:off x="1752480" y="3352680"/>
            <a:ext cx="2514600" cy="914400"/>
          </a:xfrm>
          <a:prstGeom prst="line">
            <a:avLst/>
          </a:prstGeom>
          <a:ln w="12600">
            <a:solidFill>
              <a:srgbClr val="fc0128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 flipV="1">
            <a:off x="2819520" y="3352320"/>
            <a:ext cx="2133360" cy="1295640"/>
          </a:xfrm>
          <a:prstGeom prst="line">
            <a:avLst/>
          </a:prstGeom>
          <a:ln w="12600">
            <a:solidFill>
              <a:srgbClr val="3366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 flipV="1">
            <a:off x="3200400" y="3428640"/>
            <a:ext cx="2286000" cy="1600200"/>
          </a:xfrm>
          <a:prstGeom prst="line">
            <a:avLst/>
          </a:prstGeom>
          <a:ln w="12600">
            <a:solidFill>
              <a:srgbClr val="00ae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 flipV="1">
            <a:off x="1752480" y="3505320"/>
            <a:ext cx="3962520" cy="76176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 flipV="1">
            <a:off x="2895480" y="3962520"/>
            <a:ext cx="2743200" cy="83808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 flipV="1">
            <a:off x="3276720" y="4343040"/>
            <a:ext cx="2438280" cy="76212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912680" y="3505320"/>
            <a:ext cx="735120" cy="307440"/>
          </a:xfrm>
          <a:prstGeom prst="rect">
            <a:avLst/>
          </a:prstGeom>
          <a:noFill/>
          <a:ln w="12600">
            <a:solidFill>
              <a:srgbClr val="fc01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Vectors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217240" y="4343400"/>
            <a:ext cx="606960" cy="307440"/>
          </a:xfrm>
          <a:prstGeom prst="rect">
            <a:avLst/>
          </a:prstGeom>
          <a:noFill/>
          <a:ln w="12600">
            <a:solidFill>
              <a:srgbClr val="33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MPPs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1858320" y="4876920"/>
            <a:ext cx="1334880" cy="307440"/>
          </a:xfrm>
          <a:prstGeom prst="rect">
            <a:avLst/>
          </a:prstGeom>
          <a:noFill/>
          <a:ln w="12600">
            <a:solidFill>
              <a:srgbClr val="00a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Clustered SMPs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5791320" y="3352680"/>
            <a:ext cx="1339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Supercomputers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5792400" y="3809880"/>
            <a:ext cx="14338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Regional systems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5792040" y="4267080"/>
            <a:ext cx="163152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systems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136080" y="3367080"/>
            <a:ext cx="1480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Performance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4207320" y="4940280"/>
            <a:ext cx="1275120" cy="307440"/>
          </a:xfrm>
          <a:prstGeom prst="rect">
            <a:avLst/>
          </a:prstGeom>
          <a:noFill/>
          <a:ln w="1260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Linux clusters?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 flipV="1">
            <a:off x="4648320" y="3809880"/>
            <a:ext cx="761760" cy="1067040"/>
          </a:xfrm>
          <a:prstGeom prst="line">
            <a:avLst/>
          </a:prstGeom>
          <a:ln w="12600">
            <a:solidFill>
              <a:srgbClr val="ff99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14440" y="152280"/>
            <a:ext cx="631656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Thesis:</a:t>
            </a:r>
            <a:endParaRPr b="1" lang="en-IN" sz="36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914040" y="1599840"/>
            <a:ext cx="701028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228600" indent="-228600" algn="ctr">
              <a:lnSpc>
                <a:spcPct val="89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	</a:t>
            </a:r>
            <a:r>
              <a:rPr b="1" lang="en-IN" sz="36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One of the principal challenges facing the future of HPC software development is the encapsulation of architectural complexity </a:t>
            </a:r>
            <a:endParaRPr b="1" lang="en-IN" sz="36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414080" y="152280"/>
            <a:ext cx="689148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Sustaining software encapsulation </a:t>
            </a:r>
            <a:br>
              <a:rPr sz="2400"/>
            </a:b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challenges of the future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990720" y="1371240"/>
            <a:ext cx="777240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lnSpcReduction="9999"/>
          </a:bodyPr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Software to punch through the Memory wall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Until processing starts to move out into the memory, the memory wall is only getting worse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Must program for deep memory hierarchies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cache-based threading, nano-tasking, blocking, memory affinity, 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Encapsulate System Factorization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Separate “curves” for nodes, interconnect, and I/O follow best-of breed trajectories and are integrated 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Heterogeneous computing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Linux nodes age like fruit flies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software must manage differing CPU speeds, memory sizes, interconnect latency/b-w, and memory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Fault tolerant software systems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interconnect, nodes, I/O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Like Blue Gene - must have self-correction to scale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0">
              <a:lnSpc>
                <a:spcPct val="89000"/>
              </a:lnSpc>
              <a:spcBef>
                <a:spcPts val="675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414440" y="152280"/>
            <a:ext cx="631656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MPP/Vectors vs. Clustered SMPs vs. Linux Clusters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7720" y="1371240"/>
            <a:ext cx="754380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228600" indent="-228600">
              <a:lnSpc>
                <a:spcPct val="89000"/>
              </a:lnSpc>
              <a:spcBef>
                <a:spcPts val="901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Sustaining Change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sustain the current rate of technology growth</a:t>
            </a:r>
            <a:endParaRPr b="0" lang="en-IN" sz="24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901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Disruptive Change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redefine performance trajectories</a:t>
            </a:r>
            <a:endParaRPr b="0" lang="en-IN" sz="24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1752480" y="3352320"/>
            <a:ext cx="0" cy="205740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752480" y="5410080"/>
            <a:ext cx="4267440" cy="0"/>
          </a:xfrm>
          <a:prstGeom prst="line">
            <a:avLst/>
          </a:prstGeom>
          <a:ln w="1260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6800" bIns="-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585440" y="5497560"/>
            <a:ext cx="53748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1985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5487840" y="5562720"/>
            <a:ext cx="4878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now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 flipV="1">
            <a:off x="1752480" y="3352680"/>
            <a:ext cx="2514600" cy="914400"/>
          </a:xfrm>
          <a:prstGeom prst="line">
            <a:avLst/>
          </a:prstGeom>
          <a:ln w="12600">
            <a:solidFill>
              <a:srgbClr val="fc0128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2819520" y="3352320"/>
            <a:ext cx="2133360" cy="1295640"/>
          </a:xfrm>
          <a:prstGeom prst="line">
            <a:avLst/>
          </a:prstGeom>
          <a:ln w="12600">
            <a:solidFill>
              <a:srgbClr val="336699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 flipV="1">
            <a:off x="3200400" y="3428640"/>
            <a:ext cx="2286000" cy="1600200"/>
          </a:xfrm>
          <a:prstGeom prst="line">
            <a:avLst/>
          </a:prstGeom>
          <a:ln w="12600">
            <a:solidFill>
              <a:srgbClr val="00ae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 flipV="1">
            <a:off x="1752480" y="3505320"/>
            <a:ext cx="3962520" cy="76176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 flipV="1">
            <a:off x="2895480" y="3962520"/>
            <a:ext cx="2743200" cy="83808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 flipV="1">
            <a:off x="3276720" y="4343040"/>
            <a:ext cx="2438280" cy="762120"/>
          </a:xfrm>
          <a:prstGeom prst="line">
            <a:avLst/>
          </a:prstGeom>
          <a:ln w="12600">
            <a:solidFill>
              <a:srgbClr val="000000"/>
            </a:solidFill>
            <a:prstDash val="sysDot"/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912680" y="3505320"/>
            <a:ext cx="735120" cy="307440"/>
          </a:xfrm>
          <a:prstGeom prst="rect">
            <a:avLst/>
          </a:prstGeom>
          <a:noFill/>
          <a:ln w="12600">
            <a:solidFill>
              <a:srgbClr val="fc012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Vectors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2217240" y="4343400"/>
            <a:ext cx="606960" cy="307440"/>
          </a:xfrm>
          <a:prstGeom prst="rect">
            <a:avLst/>
          </a:prstGeom>
          <a:noFill/>
          <a:ln w="12600">
            <a:solidFill>
              <a:srgbClr val="336699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MPPs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858320" y="4876920"/>
            <a:ext cx="1334880" cy="307440"/>
          </a:xfrm>
          <a:prstGeom prst="rect">
            <a:avLst/>
          </a:prstGeom>
          <a:noFill/>
          <a:ln w="12600">
            <a:solidFill>
              <a:srgbClr val="00ae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Clustered SMPs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791320" y="3352680"/>
            <a:ext cx="1339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Supercomputers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5792400" y="3809880"/>
            <a:ext cx="1364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Regional system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5791680" y="4267080"/>
            <a:ext cx="156240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Department system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36080" y="3367080"/>
            <a:ext cx="1480680" cy="39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Performance</a:t>
            </a:r>
            <a:endParaRPr b="0" lang="en-IN" sz="2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3664440" y="4876920"/>
            <a:ext cx="1275120" cy="307440"/>
          </a:xfrm>
          <a:prstGeom prst="rect">
            <a:avLst/>
          </a:prstGeom>
          <a:noFill/>
          <a:ln w="12600">
            <a:solidFill>
              <a:srgbClr val="ff99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Linux clusters?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 flipV="1">
            <a:off x="4724280" y="3809880"/>
            <a:ext cx="762120" cy="1067040"/>
          </a:xfrm>
          <a:prstGeom prst="line">
            <a:avLst/>
          </a:prstGeom>
          <a:ln w="12600">
            <a:solidFill>
              <a:srgbClr val="ff99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 flipV="1">
            <a:off x="5181480" y="4190760"/>
            <a:ext cx="304920" cy="609480"/>
          </a:xfrm>
          <a:prstGeom prst="line">
            <a:avLst/>
          </a:prstGeom>
          <a:ln w="38160">
            <a:solidFill>
              <a:srgbClr val="919191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5112720" y="4800600"/>
            <a:ext cx="666000" cy="307440"/>
          </a:xfrm>
          <a:prstGeom prst="rect">
            <a:avLst/>
          </a:prstGeom>
          <a:noFill/>
          <a:ln w="12600">
            <a:solidFill>
              <a:srgbClr val="919191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Other?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218960" y="152280"/>
            <a:ext cx="757692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Disruptive software encapsulation challenges of the future</a:t>
            </a:r>
            <a:br>
              <a:rPr sz="2400"/>
            </a:b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( other market drivers besides clustering )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990720" y="1371240"/>
            <a:ext cx="769608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228600" indent="0">
              <a:lnSpc>
                <a:spcPct val="89000"/>
              </a:lnSpc>
              <a:spcBef>
                <a:spcPts val="67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Data-centric computing ( OLTP, Warehouses )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Getting too expensive to save, move, visualize data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Bringing services too the data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e.g. viz engines, direct attached storage devices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Software must become more data-aware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higher-level schema for data partitioning, movement, and affinity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Reconfigurable computing ( signal processing, cryptoanalysis )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Xilinx and Altera have multi-million transistor FPGAs which fit into Linux clusters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can burn in multiple FP ALUs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marL="228600" indent="0">
              <a:lnSpc>
                <a:spcPct val="89000"/>
              </a:lnSpc>
              <a:spcBef>
                <a:spcPts val="67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0">
              <a:lnSpc>
                <a:spcPct val="89000"/>
              </a:lnSpc>
              <a:spcBef>
                <a:spcPts val="67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0">
              <a:lnSpc>
                <a:spcPct val="89000"/>
              </a:lnSpc>
              <a:spcBef>
                <a:spcPts val="67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0">
              <a:lnSpc>
                <a:spcPct val="89000"/>
              </a:lnSpc>
              <a:spcBef>
                <a:spcPts val="675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218960" y="152280"/>
            <a:ext cx="757692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Disruptive software encapsulation challenges of the future</a:t>
            </a:r>
            <a:br>
              <a:rPr sz="2400"/>
            </a:b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 ( other market drivers besides clustering )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990360" y="1371240"/>
            <a:ext cx="754380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/>
          </a:bodyPr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Software integration of smarter components ( general trend of making each component in a system more capable )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how many computing devices are in your car?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Soon: Smart NICS, Smart switches, Smart disks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message processing on the NIC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network-aware gather/scatter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disk-based stride/sub-block processing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Later: Smart memory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balance of CPU and memory across architecture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breaking memory-access/FPU components of algorithms up into different instruction streams.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414440" y="152280"/>
            <a:ext cx="631656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Software Futures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761760" y="1371240"/>
            <a:ext cx="754380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lnSpcReduction="9999"/>
          </a:bodyPr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Compiler design/Run-time design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Computing across heterogeneous resources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disks, NICS,CPU, memory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Deeper and deeper memory hierarchy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High-level language to FPGA/VHDL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Explicit Data management ( remember NEWS and HPF:::Layout )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threading everywhere - even in the CPU level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enable gray area between compile and run times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e.g., run-time compilation, telescoping compilers ( Kennedy 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Language trends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Fortran into C++ - happening now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C++  into Java- happening soon ( attacking from the bottom )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Java into ??? ( more explicit language based concurrency? ) 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Final thought: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2" marL="914400" indent="0">
              <a:lnSpc>
                <a:spcPct val="89000"/>
              </a:lnSpc>
              <a:spcBef>
                <a:spcPts val="675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14440" y="152280"/>
            <a:ext cx="631656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4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Software Futures</a:t>
            </a:r>
            <a:endParaRPr b="1" lang="en-IN" sz="24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62120" y="1371240"/>
            <a:ext cx="815328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92500" lnSpcReduction="9999"/>
          </a:bodyPr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Compiler design/Run-time design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Computing across heterogeneous resources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disks, NICS,CPU, memory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Deeper and deeper memory hierarchy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High-level language to FPGA/VHDL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Explicit data management ( remember NEWS and HPF::Layout )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threading everywhere - even in the CPU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enable gray area between compile and run times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»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e.g., run-time compilation, telescoping compilers ( Kennedy )</a:t>
            </a: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Language trends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Fortran into C++ - happening now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C++  into Java- happening soon ( attacking from the bottom )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Java into ??? ( commodity directions? explicit language concurrency? )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marL="228600" indent="-228600">
              <a:lnSpc>
                <a:spcPct val="89000"/>
              </a:lnSpc>
              <a:spcBef>
                <a:spcPts val="675"/>
              </a:spcBef>
              <a:buClr>
                <a:srgbClr val="ff9900"/>
              </a:buClr>
              <a:buFont typeface="Symbol" charset="2"/>
              <a:buChar char="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Final thought:</a:t>
            </a:r>
            <a:endParaRPr b="1" lang="en-IN" sz="18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1" marL="571680" indent="-228600">
              <a:lnSpc>
                <a:spcPct val="89000"/>
              </a:lnSpc>
              <a:spcBef>
                <a:spcPts val="675"/>
              </a:spcBef>
              <a:buClr>
                <a:srgbClr val="000000"/>
              </a:buClr>
              <a:buFont typeface="Arial"/>
              <a:buChar char="+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trike="noStrike" u="none">
                <a:solidFill>
                  <a:srgbClr val="618ffd"/>
                </a:solidFill>
                <a:effectLst/>
                <a:uFillTx/>
                <a:latin typeface="Arial"/>
              </a:rPr>
              <a:t>Reynders 3 years from now: a C++ dinosaur… ;)</a:t>
            </a:r>
            <a:endParaRPr b="0" lang="en-IN" sz="1800" strike="noStrike" u="none">
              <a:solidFill>
                <a:srgbClr val="618ffd"/>
              </a:solidFill>
              <a:effectLst/>
              <a:uFillTx/>
              <a:latin typeface="Arial"/>
            </a:endParaRPr>
          </a:p>
          <a:p>
            <a:pPr lvl="2" marL="914400" indent="0">
              <a:lnSpc>
                <a:spcPct val="89000"/>
              </a:lnSpc>
              <a:spcBef>
                <a:spcPts val="675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414440" y="152280"/>
            <a:ext cx="6316560" cy="92088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ctr">
            <a:noAutofit/>
          </a:bodyPr>
          <a:p>
            <a:pPr indent="0" algn="ctr">
              <a:lnSpc>
                <a:spcPct val="89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600" strike="noStrike" u="none">
                <a:solidFill>
                  <a:srgbClr val="336699"/>
                </a:solidFill>
                <a:effectLst/>
                <a:uFillTx/>
                <a:latin typeface="Arial"/>
                <a:ea typeface="Times New Roman"/>
              </a:rPr>
              <a:t>Vision Summary:</a:t>
            </a:r>
            <a:endParaRPr b="1" lang="en-IN" sz="36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914040" y="1599840"/>
            <a:ext cx="7010280" cy="4419720"/>
          </a:xfrm>
          <a:prstGeom prst="rect">
            <a:avLst/>
          </a:prstGeom>
          <a:noFill/>
          <a:ln w="0">
            <a:noFill/>
          </a:ln>
        </p:spPr>
        <p:txBody>
          <a:bodyPr lIns="90360" rIns="90360" tIns="44280" bIns="44280" anchor="t">
            <a:normAutofit fontScale="92500" lnSpcReduction="9999"/>
          </a:bodyPr>
          <a:p>
            <a:pPr marL="228600" indent="-228600" algn="ctr">
              <a:lnSpc>
                <a:spcPct val="89000"/>
              </a:lnSpc>
              <a:spcBef>
                <a:spcPts val="134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8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	</a:t>
            </a:r>
            <a:r>
              <a:rPr b="1" lang="en-IN" sz="3600" strike="noStrike" u="none">
                <a:solidFill>
                  <a:srgbClr val="336699"/>
                </a:solidFill>
                <a:effectLst/>
                <a:uFillTx/>
                <a:latin typeface="Arial"/>
              </a:rPr>
              <a:t>The Software Revolution must move the complexity of the evolving cluster architecture into compilers, run-time systems, encapsulating components, and perhaps languages to manage the revolution of architectural complexity that is coming down the road.</a:t>
            </a:r>
            <a:endParaRPr b="1" lang="en-IN" sz="3600" strike="noStrike" u="none">
              <a:solidFill>
                <a:srgbClr val="336699"/>
              </a:solidFill>
              <a:effectLst/>
              <a:uFillTx/>
              <a:latin typeface="Arial"/>
            </a:endParaRPr>
          </a:p>
          <a:p>
            <a:pPr lvl="2" marL="914400" indent="0">
              <a:lnSpc>
                <a:spcPct val="89000"/>
              </a:lnSpc>
              <a:spcBef>
                <a:spcPts val="1349"/>
              </a:spcBef>
              <a:buNone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1670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1998-01-12T13:27:14Z</dcterms:created>
  <dc:creator>SNL-Staff</dc:creator>
  <dc:description/>
  <dc:language>en-IN</dc:language>
  <cp:lastModifiedBy>SNL-Staff</cp:lastModifiedBy>
  <cp:lastPrinted>2000-01-04T17:21:22Z</cp:lastPrinted>
  <dcterms:modified xsi:type="dcterms:W3CDTF">2000-07-13T11:52:58Z</dcterms:modified>
  <cp:revision>78</cp:revision>
  <dc:subject/>
  <dc:title>ASCI Principal InvestigatorsÕ Meeting January 26-30, 1998</dc:title>
</cp:coreProperties>
</file>