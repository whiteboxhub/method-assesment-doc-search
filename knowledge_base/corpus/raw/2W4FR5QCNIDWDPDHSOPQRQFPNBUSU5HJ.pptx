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media/image2.jpeg" ContentType="image/jpeg"/>
  <Override PartName="/ppt/media/image7.wmf" ContentType="image/x-wmf"/>
  <Override PartName="/ppt/media/image8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9.png" ContentType="image/png"/>
  <Override PartName="/ppt/media/image10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948488" cy="9220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Rectangle 8"/>
          <p:cNvGrpSpPr/>
          <p:nvPr/>
        </p:nvGrpSpPr>
        <p:grpSpPr>
          <a:xfrm>
            <a:off x="-6480" y="-6480"/>
            <a:ext cx="403200" cy="6870960"/>
            <a:chOff x="-6480" y="-6480"/>
            <a:chExt cx="403200" cy="6870960"/>
          </a:xfrm>
        </p:grpSpPr>
        <p:pic>
          <p:nvPicPr>
            <p:cNvPr id="1" name="Rectangle 8" descr=""/>
            <p:cNvPicPr/>
            <p:nvPr/>
          </p:nvPicPr>
          <p:blipFill>
            <a:blip r:embed="rId2"/>
            <a:stretch/>
          </p:blipFill>
          <p:spPr>
            <a:xfrm>
              <a:off x="-6480" y="-6480"/>
              <a:ext cx="403200" cy="6870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" name=""/>
            <p:cNvSpPr/>
            <p:nvPr/>
          </p:nvSpPr>
          <p:spPr>
            <a:xfrm>
              <a:off x="0" y="0"/>
              <a:ext cx="392040" cy="685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74280" y="320760"/>
            <a:ext cx="8263080" cy="441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Click to edit the title text format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63480" y="902880"/>
            <a:ext cx="8251920" cy="555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601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Second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2" marL="758880" indent="-228600">
              <a:spcBef>
                <a:spcPts val="601"/>
              </a:spcBef>
              <a:buClr>
                <a:srgbClr val="f9b639"/>
              </a:buClr>
              <a:buSzPct val="60000"/>
              <a:buFont typeface="Wingdings" charset="2"/>
              <a:buChar char="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Third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3" marL="1004760" indent="-228600">
              <a:spcBef>
                <a:spcPts val="601"/>
              </a:spcBef>
              <a:buClr>
                <a:srgbClr val="f9b639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Fourth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4" marL="1279440" indent="-228600">
              <a:spcBef>
                <a:spcPts val="601"/>
              </a:spcBef>
              <a:buClr>
                <a:srgbClr val="f9b639"/>
              </a:buClr>
              <a:buSzPct val="70000"/>
              <a:buFont typeface="Wingdings" charset="2"/>
              <a:buChar char="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Fifth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5" marL="1279440" indent="-228600">
              <a:spcBef>
                <a:spcPts val="601"/>
              </a:spcBef>
              <a:buClr>
                <a:srgbClr val="000000"/>
              </a:buClr>
              <a:buSzPct val="70000"/>
              <a:buFont typeface="Wingdings" charset="2"/>
              <a:buChar char="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Sixth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6" marL="1279440" indent="-228600">
              <a:spcBef>
                <a:spcPts val="601"/>
              </a:spcBef>
              <a:buClr>
                <a:srgbClr val="000000"/>
              </a:buClr>
              <a:buSzPct val="70000"/>
              <a:buFont typeface="Wingdings" charset="2"/>
              <a:buChar char="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Seventh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246200" y="6558120"/>
            <a:ext cx="2001960" cy="22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b13f9a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Times New Roman"/>
              </a:rPr>
              <a:t>6/11/2010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57200" y="6557760"/>
            <a:ext cx="3657600" cy="22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b13f9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Times New Roman"/>
              </a:rPr>
              <a:t>E. Prebys – Lee Teng Welcome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337600" y="6533640"/>
            <a:ext cx="588960" cy="22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100" strike="noStrike" u="none">
                <a:solidFill>
                  <a:srgbClr val="b13f9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563C57-F885-426A-823A-817B2FBC335A}" type="slidenum">
              <a:rPr b="0" lang="en-US" sz="1100" strike="noStrike" u="none">
                <a:solidFill>
                  <a:srgbClr val="b13f9a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Rectangle 7"/>
          <p:cNvGrpSpPr/>
          <p:nvPr/>
        </p:nvGrpSpPr>
        <p:grpSpPr>
          <a:xfrm>
            <a:off x="-6480" y="-6480"/>
            <a:ext cx="9156960" cy="6870960"/>
            <a:chOff x="-6480" y="-6480"/>
            <a:chExt cx="9156960" cy="6870960"/>
          </a:xfrm>
        </p:grpSpPr>
        <p:pic>
          <p:nvPicPr>
            <p:cNvPr id="9" name="Rectangle 7" descr=""/>
            <p:cNvPicPr/>
            <p:nvPr/>
          </p:nvPicPr>
          <p:blipFill>
            <a:blip r:embed="rId3"/>
            <a:stretch/>
          </p:blipFill>
          <p:spPr>
            <a:xfrm>
              <a:off x="-6480" y="-6480"/>
              <a:ext cx="9156960" cy="6870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" name="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Straight Connector 9"/>
          <p:cNvSpPr/>
          <p:nvPr/>
        </p:nvSpPr>
        <p:spPr>
          <a:xfrm flipV="1">
            <a:off x="892080" y="0"/>
            <a:ext cx="0" cy="6858000"/>
          </a:xfrm>
          <a:prstGeom prst="line">
            <a:avLst/>
          </a:prstGeom>
          <a:ln w="11520">
            <a:solidFill>
              <a:srgbClr val="f9f9f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74280" y="320760"/>
            <a:ext cx="8263080" cy="441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Click to edit the title text format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63480" y="902880"/>
            <a:ext cx="8251920" cy="555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601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Second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2" marL="758880" indent="-228600">
              <a:spcBef>
                <a:spcPts val="601"/>
              </a:spcBef>
              <a:buClr>
                <a:srgbClr val="f9b639"/>
              </a:buClr>
              <a:buSzPct val="60000"/>
              <a:buFont typeface="Wingdings" charset="2"/>
              <a:buChar char="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Third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3" marL="1004760" indent="-228600">
              <a:spcBef>
                <a:spcPts val="601"/>
              </a:spcBef>
              <a:buClr>
                <a:srgbClr val="f9b639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Fourth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4" marL="1279440" indent="-228600">
              <a:spcBef>
                <a:spcPts val="601"/>
              </a:spcBef>
              <a:buClr>
                <a:srgbClr val="f9b639"/>
              </a:buClr>
              <a:buSzPct val="70000"/>
              <a:buFont typeface="Wingdings" charset="2"/>
              <a:buChar char="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Fifth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5" marL="1279440" indent="-228600">
              <a:spcBef>
                <a:spcPts val="601"/>
              </a:spcBef>
              <a:buClr>
                <a:srgbClr val="000000"/>
              </a:buClr>
              <a:buSzPct val="70000"/>
              <a:buFont typeface="Wingdings" charset="2"/>
              <a:buChar char="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Sixth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6" marL="1279440" indent="-228600">
              <a:spcBef>
                <a:spcPts val="601"/>
              </a:spcBef>
              <a:buClr>
                <a:srgbClr val="000000"/>
              </a:buClr>
              <a:buSzPct val="70000"/>
              <a:buFont typeface="Wingdings" charset="2"/>
              <a:buChar char="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Seventh Outline Level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5870160" y="6558120"/>
            <a:ext cx="2003400" cy="22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6/11/2010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wmf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Title 1" descr=""/>
          <p:cNvPicPr/>
          <p:nvPr/>
        </p:nvPicPr>
        <p:blipFill>
          <a:blip r:embed="rId1"/>
          <a:stretch/>
        </p:blipFill>
        <p:spPr>
          <a:xfrm>
            <a:off x="3108240" y="530280"/>
            <a:ext cx="5797800" cy="28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3354480" y="3540240"/>
            <a:ext cx="5114880" cy="11016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>
            <a:noAutofit/>
          </a:bodyPr>
          <a:p>
            <a:pPr algn="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Trebuchet MS"/>
              </a:rPr>
              <a:t>Eric Prebys, FNAL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algn="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Trebuchet MS"/>
              </a:rPr>
              <a:t>Selection Committee Chair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</p:txBody>
      </p:sp>
      <p:sp>
        <p:nvSpPr>
          <p:cNvPr id="17" name="Date Placeholder 4"/>
          <p:cNvSpPr/>
          <p:nvPr/>
        </p:nvSpPr>
        <p:spPr>
          <a:xfrm>
            <a:off x="5870520" y="6558120"/>
            <a:ext cx="2003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6/11/2010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 thruBlk="tru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Title 1" descr=""/>
          <p:cNvPicPr/>
          <p:nvPr/>
        </p:nvPicPr>
        <p:blipFill>
          <a:blip r:embed="rId1"/>
          <a:stretch/>
        </p:blipFill>
        <p:spPr>
          <a:xfrm>
            <a:off x="433440" y="92160"/>
            <a:ext cx="8442360" cy="53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"/>
          <p:cNvSpPr txBox="1"/>
          <p:nvPr/>
        </p:nvSpPr>
        <p:spPr>
          <a:xfrm>
            <a:off x="522360" y="587160"/>
            <a:ext cx="8251920" cy="555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Joint Argonne/Fermilab Venture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Patterned after existing internships, but focused on accelerator physics</a:t>
            </a:r>
            <a:endParaRPr b="0" lang="en-IN" sz="18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Under auspices of virtual “Illinois Accelerator Institute” (also new)</a:t>
            </a:r>
            <a:endParaRPr b="0" lang="en-IN" sz="18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~5 students at each lab</a:t>
            </a:r>
            <a:endParaRPr b="0" lang="en-IN" sz="18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Joint selection process, after which program administered separately at the two labs </a:t>
            </a:r>
            <a:endParaRPr b="0" lang="en-IN" sz="18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Nominally June 7-August 13, to match SULI/IPM</a:t>
            </a:r>
            <a:endParaRPr b="0" lang="en-IN" sz="18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2" marL="75888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charset="2"/>
              <a:buChar char="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June 14-June 25 spent at the USPAS (MIT, Boston)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Student works closely with a mentor on a predetermined project involving accelerator physics or related technology</a:t>
            </a:r>
            <a:endParaRPr b="0" lang="en-IN" sz="18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Eligible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Physics, Math, Engineering, or Computer Science majors at U.S. Universities (not necessarily U.S. citizens)</a:t>
            </a:r>
            <a:endParaRPr b="0" lang="en-IN" sz="18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Juniors or outstanding Sophomores</a:t>
            </a:r>
            <a:endParaRPr b="0" lang="en-IN" sz="18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marL="272880" indent="-2728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</p:txBody>
      </p:sp>
      <p:sp>
        <p:nvSpPr>
          <p:cNvPr id="20" name="Date Placeholder 6"/>
          <p:cNvSpPr/>
          <p:nvPr/>
        </p:nvSpPr>
        <p:spPr>
          <a:xfrm>
            <a:off x="4246560" y="6558120"/>
            <a:ext cx="20019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6/11/2010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lide Number Placeholder 7"/>
          <p:cNvSpPr/>
          <p:nvPr/>
        </p:nvSpPr>
        <p:spPr>
          <a:xfrm>
            <a:off x="8337600" y="6534000"/>
            <a:ext cx="588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6CBB3E-EB8C-4857-9286-E5813C3624BF}" type="slidenum">
              <a:rPr b="0" lang="en-US" sz="11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&lt;number&gt;</a:t>
            </a:fld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ooter Placeholder 8"/>
          <p:cNvSpPr/>
          <p:nvPr/>
        </p:nvSpPr>
        <p:spPr>
          <a:xfrm>
            <a:off x="457200" y="6558120"/>
            <a:ext cx="36576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E. Prebys – Lee Teng Welcome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 thruBlk="true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Title 4" descr=""/>
          <p:cNvPicPr/>
          <p:nvPr/>
        </p:nvPicPr>
        <p:blipFill>
          <a:blip r:embed="rId1"/>
          <a:stretch/>
        </p:blipFill>
        <p:spPr>
          <a:xfrm>
            <a:off x="384120" y="85680"/>
            <a:ext cx="8442360" cy="536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4" name=""/>
          <p:cNvGraphicFramePr/>
          <p:nvPr/>
        </p:nvGraphicFramePr>
        <p:xfrm>
          <a:off x="7461360" y="3822840"/>
          <a:ext cx="1071360" cy="482400"/>
        </p:xfrm>
        <a:graphic>
          <a:graphicData uri="http://schemas.openxmlformats.org/drawingml/2006/table">
            <a:tbl>
              <a:tblPr/>
              <a:tblGrid>
                <a:gridCol w="534960"/>
                <a:gridCol w="536400"/>
              </a:tblGrid>
              <a:tr h="2412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Verdana"/>
                        </a:rPr>
                        <a:t> 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Verdana"/>
                        </a:rPr>
                        <a:t>FNAL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12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Verdana"/>
                        </a:rPr>
                        <a:t> 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Verdana"/>
                        </a:rPr>
                        <a:t>ANL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"/>
          <p:cNvGraphicFramePr/>
          <p:nvPr/>
        </p:nvGraphicFramePr>
        <p:xfrm>
          <a:off x="880920" y="3429000"/>
          <a:ext cx="4133880" cy="3122640"/>
        </p:xfrm>
        <a:graphic>
          <a:graphicData uri="http://schemas.openxmlformats.org/drawingml/2006/table">
            <a:tbl>
              <a:tblPr/>
              <a:tblGrid>
                <a:gridCol w="1784520"/>
                <a:gridCol w="836640"/>
                <a:gridCol w="755640"/>
                <a:gridCol w="757080"/>
              </a:tblGrid>
              <a:tr h="28404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2008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2009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2010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4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Argonne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6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FNAL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 offers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13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Rejections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4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Males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Females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6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non-US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Illinois schools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4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Sophomores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Juniors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Date Placeholder 6"/>
          <p:cNvSpPr/>
          <p:nvPr/>
        </p:nvSpPr>
        <p:spPr>
          <a:xfrm>
            <a:off x="4246560" y="6558120"/>
            <a:ext cx="20019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6/11/2010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lide Number Placeholder 7"/>
          <p:cNvSpPr/>
          <p:nvPr/>
        </p:nvSpPr>
        <p:spPr>
          <a:xfrm>
            <a:off x="8337600" y="6534000"/>
            <a:ext cx="588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428367-5127-474F-8559-AA94954FCE6F}" type="slidenum">
              <a:rPr b="0" lang="en-US" sz="11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&lt;number&gt;</a:t>
            </a:fld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ooter Placeholder 8"/>
          <p:cNvSpPr/>
          <p:nvPr/>
        </p:nvSpPr>
        <p:spPr>
          <a:xfrm>
            <a:off x="457200" y="6558120"/>
            <a:ext cx="36576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E. Prebys – Lee Teng Welcome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Picture 62" descr=""/>
          <p:cNvPicPr/>
          <p:nvPr/>
        </p:nvPicPr>
        <p:blipFill>
          <a:blip r:embed="rId2"/>
          <a:stretch/>
        </p:blipFill>
        <p:spPr>
          <a:xfrm>
            <a:off x="660240" y="615960"/>
            <a:ext cx="8064720" cy="27576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 thruBlk="true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Title 1" descr=""/>
          <p:cNvPicPr/>
          <p:nvPr/>
        </p:nvPicPr>
        <p:blipFill>
          <a:blip r:embed="rId1"/>
          <a:stretch/>
        </p:blipFill>
        <p:spPr>
          <a:xfrm>
            <a:off x="268200" y="-92160"/>
            <a:ext cx="8442360" cy="53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 txBox="1"/>
          <p:nvPr/>
        </p:nvSpPr>
        <p:spPr>
          <a:xfrm>
            <a:off x="446040" y="445680"/>
            <a:ext cx="8251920" cy="555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Accelerator science is a very exciting and growing field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High energy and nuclear physics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Light sources (materials, biophysics, etc)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Spallation neutron sources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Medical applications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2" marL="75888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charset="2"/>
              <a:buChar char="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Hadron therapy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2" marL="75888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charset="2"/>
              <a:buChar char="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Isotope production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Power production (sub-critical reactors)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Security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Industrial applications (food sterilization, welding)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Art (see T. Johnson’s work, 2</a:t>
            </a:r>
            <a:r>
              <a:rPr b="0" lang="en-US" sz="2000" strike="noStrike" u="none" baseline="30000">
                <a:solidFill>
                  <a:srgbClr val="6c6c6c"/>
                </a:solidFill>
                <a:effectLst/>
                <a:uFillTx/>
                <a:latin typeface="Trebuchet MS"/>
              </a:rPr>
              <a:t>nd</a:t>
            </a: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 floor)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This program is an excellent opportunity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Real world experience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USPAS!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Good step toward graduate school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</p:txBody>
      </p:sp>
      <p:sp>
        <p:nvSpPr>
          <p:cNvPr id="32" name="Date Placeholder 6"/>
          <p:cNvSpPr/>
          <p:nvPr/>
        </p:nvSpPr>
        <p:spPr>
          <a:xfrm>
            <a:off x="4246560" y="6558120"/>
            <a:ext cx="20019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6/11/2010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lide Number Placeholder 7"/>
          <p:cNvSpPr/>
          <p:nvPr/>
        </p:nvSpPr>
        <p:spPr>
          <a:xfrm>
            <a:off x="8337600" y="6534000"/>
            <a:ext cx="588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EED65F-0FE1-44EC-844C-E4081346D193}" type="slidenum">
              <a:rPr b="0" lang="en-US" sz="11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&lt;number&gt;</a:t>
            </a:fld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ooter Placeholder 8"/>
          <p:cNvSpPr/>
          <p:nvPr/>
        </p:nvSpPr>
        <p:spPr>
          <a:xfrm>
            <a:off x="457200" y="6558120"/>
            <a:ext cx="36576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E. Prebys – Lee Teng Welcome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 thruBlk="true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ate Placeholder 3"/>
          <p:cNvSpPr/>
          <p:nvPr/>
        </p:nvSpPr>
        <p:spPr>
          <a:xfrm>
            <a:off x="4246560" y="6558120"/>
            <a:ext cx="20019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6/11/2010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ooter Placeholder 4"/>
          <p:cNvSpPr/>
          <p:nvPr/>
        </p:nvSpPr>
        <p:spPr>
          <a:xfrm>
            <a:off x="457200" y="6558120"/>
            <a:ext cx="36576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E. Prebys – Lee Teng Welcome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lide Number Placeholder 5"/>
          <p:cNvSpPr/>
          <p:nvPr/>
        </p:nvSpPr>
        <p:spPr>
          <a:xfrm>
            <a:off x="8337600" y="6534000"/>
            <a:ext cx="588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48F2CD-E3C7-4B60-87EC-4368557A8635}" type="slidenum">
              <a:rPr b="0" lang="en-US" sz="11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&lt;number&gt;</a:t>
            </a:fld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6" descr=""/>
          <p:cNvPicPr/>
          <p:nvPr/>
        </p:nvPicPr>
        <p:blipFill>
          <a:blip r:embed="rId1"/>
          <a:srcRect l="2327" t="33481" r="18150" b="7335"/>
          <a:stretch/>
        </p:blipFill>
        <p:spPr>
          <a:xfrm>
            <a:off x="825480" y="295200"/>
            <a:ext cx="7650360" cy="57214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 thruBlk="true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Title 1" descr=""/>
          <p:cNvPicPr/>
          <p:nvPr/>
        </p:nvPicPr>
        <p:blipFill>
          <a:blip r:embed="rId1"/>
          <a:stretch/>
        </p:blipFill>
        <p:spPr>
          <a:xfrm>
            <a:off x="268200" y="96840"/>
            <a:ext cx="8442360" cy="53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 txBox="1"/>
          <p:nvPr/>
        </p:nvSpPr>
        <p:spPr>
          <a:xfrm>
            <a:off x="633240" y="652320"/>
            <a:ext cx="8251920" cy="5553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Make the most of it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Lots of opportunities to talk to scientists, graduate students and fellow undergrads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lvl="2" marL="75888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charset="2"/>
              <a:buChar char="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Don’t be shy! (accelerator students can be a bit isolated)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Lots of opportunities for fun (but keep it legal)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Let us know how it goes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This is still a pretty new program and we’re looking for ways to improve things!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  <a:p>
            <a:pPr marL="272880" indent="-272880"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Stay in touch!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520560" indent="-228600"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6c6c6c"/>
                </a:solidFill>
                <a:effectLst/>
                <a:uFillTx/>
                <a:latin typeface="Trebuchet MS"/>
              </a:rPr>
              <a:t>Let us know how you’re doing, particularly if you’re considering accelerator physics as a career.</a:t>
            </a:r>
            <a:endParaRPr b="0" lang="en-IN" sz="2000" strike="noStrike" u="none">
              <a:solidFill>
                <a:srgbClr val="6c6c6c"/>
              </a:solidFill>
              <a:effectLst/>
              <a:uFillTx/>
              <a:latin typeface="Trebuchet MS"/>
            </a:endParaRPr>
          </a:p>
        </p:txBody>
      </p:sp>
      <p:sp>
        <p:nvSpPr>
          <p:cNvPr id="41" name="Date Placeholder 6"/>
          <p:cNvSpPr/>
          <p:nvPr/>
        </p:nvSpPr>
        <p:spPr>
          <a:xfrm>
            <a:off x="4246560" y="6558120"/>
            <a:ext cx="20019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6/11/2010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lide Number Placeholder 7"/>
          <p:cNvSpPr/>
          <p:nvPr/>
        </p:nvSpPr>
        <p:spPr>
          <a:xfrm>
            <a:off x="8337600" y="6534000"/>
            <a:ext cx="588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FDD05C-1B35-411A-B59C-7FC725199EE3}" type="slidenum">
              <a:rPr b="0" lang="en-US" sz="11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&lt;number&gt;</a:t>
            </a:fld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ooter Placeholder 8"/>
          <p:cNvSpPr/>
          <p:nvPr/>
        </p:nvSpPr>
        <p:spPr>
          <a:xfrm>
            <a:off x="457200" y="6558120"/>
            <a:ext cx="36576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b13f9a"/>
                </a:solidFill>
                <a:effectLst/>
                <a:uFillTx/>
                <a:latin typeface="Arial"/>
              </a:rPr>
              <a:t>E. Prebys – Lee Teng Welcome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 thruBlk="true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14535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2003-09-15T14:58:19Z</dcterms:created>
  <dc:creator>Pushpa Bhat</dc:creator>
  <dc:description/>
  <dc:language>en-IN</dc:language>
  <cp:lastModifiedBy>Eric Prebys</cp:lastModifiedBy>
  <dcterms:modified xsi:type="dcterms:W3CDTF">2010-06-11T09:30:17Z</dcterms:modified>
  <cp:revision>957</cp:revision>
  <dc:subject/>
  <dc:title>PMG Slides</dc:title>
</cp:coreProperties>
</file>