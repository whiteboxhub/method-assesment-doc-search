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png" ContentType="image/png"/>
  <Override PartName="/ppt/media/image2.jpeg" ContentType="image/jpeg"/>
  <Override PartName="/ppt/media/image3.wmf" ContentType="image/x-wmf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/>
  <p:notesSz cx="6951663" cy="9240838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456840"/>
            <a:ext cx="7925040" cy="76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3200" strike="noStrike" u="none">
              <a:solidFill>
                <a:srgbClr val="000099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3880"/>
            <a:ext cx="7925040" cy="426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000099"/>
              </a:buClr>
              <a:buSzPct val="12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Second Outline Level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499"/>
              </a:spcBef>
              <a:buClr>
                <a:srgbClr val="006600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Third Outline Level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4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4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4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  <p:sp>
        <p:nvSpPr>
          <p:cNvPr id="2" name=""/>
          <p:cNvSpPr/>
          <p:nvPr/>
        </p:nvSpPr>
        <p:spPr>
          <a:xfrm>
            <a:off x="609480" y="1295280"/>
            <a:ext cx="7925040" cy="76320"/>
          </a:xfrm>
          <a:prstGeom prst="rect">
            <a:avLst/>
          </a:prstGeom>
          <a:gradFill rotWithShape="0">
            <a:gsLst>
              <a:gs pos="0">
                <a:srgbClr val="f1c0c0"/>
              </a:gs>
              <a:gs pos="100000">
                <a:srgbClr val="cc0000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9520" bIns="2952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"/>
          <p:cNvSpPr/>
          <p:nvPr/>
        </p:nvSpPr>
        <p:spPr>
          <a:xfrm>
            <a:off x="7467480" y="6248520"/>
            <a:ext cx="9144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indent="0">
              <a:spcBef>
                <a:spcPts val="15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"/>
          <p:cNvSpPr/>
          <p:nvPr/>
        </p:nvSpPr>
        <p:spPr>
          <a:xfrm>
            <a:off x="6934320" y="6095880"/>
            <a:ext cx="16002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indent="0" algn="r">
              <a:spcBef>
                <a:spcPts val="7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1200" strike="noStrike" u="none">
                <a:solidFill>
                  <a:srgbClr val="000099"/>
                </a:solidFill>
                <a:effectLst/>
                <a:uFillTx/>
                <a:latin typeface="Times New Roman"/>
              </a:rPr>
              <a:t>Page</a:t>
            </a:r>
            <a:r>
              <a:rPr b="0" i="1" lang="en-IN" sz="2400" strike="noStrike" u="none">
                <a:solidFill>
                  <a:srgbClr val="000099"/>
                </a:solidFill>
                <a:effectLst/>
                <a:uFillTx/>
                <a:latin typeface="Times New Roman"/>
              </a:rPr>
              <a:t> </a:t>
            </a:r>
            <a:fld id="{2B8A7CCE-2797-4DF9-A16A-FE4814C05528}" type="slidenum">
              <a:rPr b="0" i="1" lang="en-IN" sz="1200" strike="noStrike" u="none">
                <a:solidFill>
                  <a:srgbClr val="000099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685800" y="6248520"/>
            <a:ext cx="33526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indent="0">
              <a:spcBef>
                <a:spcPts val="7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1200" strike="noStrike" u="none">
                <a:solidFill>
                  <a:srgbClr val="000099"/>
                </a:solidFill>
                <a:effectLst/>
                <a:uFillTx/>
                <a:latin typeface="Times New Roman"/>
              </a:rPr>
              <a:t>Project X Director’s Review, March 16, 2009   Steve Holmes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09480" y="6095880"/>
            <a:ext cx="7925040" cy="0"/>
          </a:xfrm>
          <a:prstGeom prst="line">
            <a:avLst/>
          </a:prstGeom>
          <a:ln w="28440">
            <a:solidFill>
              <a:srgbClr val="0000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" name="" descr=""/>
          <p:cNvPicPr/>
          <p:nvPr/>
        </p:nvPicPr>
        <p:blipFill>
          <a:blip r:embed="rId2"/>
          <a:stretch/>
        </p:blipFill>
        <p:spPr>
          <a:xfrm>
            <a:off x="7848720" y="457200"/>
            <a:ext cx="685800" cy="68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" descr=""/>
          <p:cNvPicPr/>
          <p:nvPr/>
        </p:nvPicPr>
        <p:blipFill>
          <a:blip r:embed="rId3"/>
          <a:stretch/>
        </p:blipFill>
        <p:spPr>
          <a:xfrm>
            <a:off x="685800" y="573120"/>
            <a:ext cx="1600200" cy="5698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308240" y="2666880"/>
            <a:ext cx="7162560" cy="13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99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Click to edit the outline text format</a:t>
            </a:r>
            <a:endParaRPr b="1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451"/>
              </a:spcBef>
              <a:buClr>
                <a:srgbClr val="006600"/>
              </a:buClr>
              <a:buFont typeface="Wingdings" charset="2"/>
              <a:buChar char="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6600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00"/>
              </a:spcBef>
              <a:buClr>
                <a:srgbClr val="000000"/>
              </a:buClr>
              <a:buFont typeface="Arial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00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00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66320" y="1981080"/>
            <a:ext cx="7162920" cy="13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cc0000"/>
                </a:solidFill>
                <a:effectLst/>
                <a:uFillTx/>
                <a:latin typeface="Arial"/>
                <a:ea typeface="Times New Roman"/>
              </a:rPr>
              <a:t>Director’s Preliminary Cost and Schedule Review of Project X: Introduction and Overview</a:t>
            </a:r>
            <a:r>
              <a:rPr b="1" lang="en-IN" sz="3200" strike="noStrike" u="none">
                <a:solidFill>
                  <a:srgbClr val="cc3300"/>
                </a:solidFill>
                <a:effectLst/>
                <a:uFillTx/>
                <a:latin typeface="Comic Sans MS"/>
              </a:rPr>
              <a:t> </a:t>
            </a:r>
            <a:br>
              <a:rPr sz="3200"/>
            </a:br>
            <a:endParaRPr b="0" lang="en-IN" sz="3200" strike="noStrike" u="none">
              <a:solidFill>
                <a:srgbClr val="000099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Steve Holmes</a:t>
            </a:r>
            <a:endParaRPr b="1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Project X Director’s Review</a:t>
            </a:r>
            <a:endParaRPr b="1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March 16, 2009</a:t>
            </a:r>
            <a:endParaRPr b="1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http://www.fnal.gov/directorate/OPMO/Projects/PX/DirRev/2009/03_16/review.htm</a:t>
            </a:r>
            <a:endParaRPr b="1" lang="en-IN" sz="16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600200" y="456840"/>
            <a:ext cx="6934320" cy="76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lnSpc>
                <a:spcPct val="9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Role in Fermilab’s Future</a:t>
            </a:r>
            <a:br>
              <a:rPr sz="3200"/>
            </a:br>
            <a:r>
              <a:rPr b="1" lang="en-US" sz="24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Fermilab Long Range Plan</a:t>
            </a:r>
            <a:endParaRPr b="1" lang="en-IN" sz="2400" strike="noStrike" u="none">
              <a:solidFill>
                <a:srgbClr val="000099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417320"/>
            <a:ext cx="792504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>
              <a:spcBef>
                <a:spcPts val="499"/>
              </a:spcBef>
              <a:buClr>
                <a:srgbClr val="000099"/>
              </a:buClr>
              <a:buSzPct val="12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Fermilab is the sole remaining U.S. laboratory providing facilities in support of accelerator-based Elementary Particle Physics.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749"/>
              </a:spcBef>
              <a:buClr>
                <a:srgbClr val="000099"/>
              </a:buClr>
              <a:buSzPct val="12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The Fermilab long-term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marL="343080" indent="-34308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	</a:t>
            </a:r>
            <a:r>
              <a:rPr b="0" lang="en-US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strategy is fully aligned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marL="343080" indent="-34308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	</a:t>
            </a:r>
            <a:r>
              <a:rPr b="0" lang="en-US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with the HEPAP/P5 plan: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 Unicode MS"/>
              <a:buChar char="−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Energy and intensity frontiers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share strong reliance 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accelerators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	</a:t>
            </a:r>
            <a:r>
              <a:rPr b="0" lang="en-US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“The panel recommends an R&amp;D program in the immediate future to design a multi-megawatt proton source at Fermilab and a neutrino beamline to DUSEL… “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1" marL="743040" indent="-28584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99ccff"/>
                </a:solidFill>
                <a:effectLst/>
                <a:uFillTx/>
                <a:latin typeface="Arial"/>
              </a:rPr>
              <a:t>(</a:t>
            </a:r>
            <a:r>
              <a:rPr b="0" lang="en-US" sz="1600" strike="noStrike" u="none">
                <a:solidFill>
                  <a:srgbClr val="99ccff"/>
                </a:solidFill>
                <a:effectLst/>
                <a:uFillTx/>
                <a:latin typeface="Arial"/>
              </a:rPr>
              <a:t>www.science.doe.gov/hep/files/pdfs/P5_Report%2006022008.pdf)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4800600" y="2057400"/>
            <a:ext cx="3327480" cy="287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600200" y="456840"/>
            <a:ext cx="6934320" cy="76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lnSpc>
                <a:spcPct val="9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Role in Fermilab’s Future</a:t>
            </a:r>
            <a:br>
              <a:rPr sz="3200"/>
            </a:br>
            <a:r>
              <a:rPr b="1" lang="en-US" sz="24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Evolution of the Accelerator Complex</a:t>
            </a:r>
            <a:endParaRPr b="1" lang="en-IN" sz="2400" strike="noStrike" u="none">
              <a:solidFill>
                <a:srgbClr val="000099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85800" y="1472760"/>
            <a:ext cx="8020080" cy="480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91960" indent="-291960">
              <a:spcBef>
                <a:spcPts val="1001"/>
              </a:spcBef>
              <a:buClr>
                <a:srgbClr val="000099"/>
              </a:buClr>
              <a:buSzPct val="12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A multi-MW Proton Source (aka Project X) is the lynchpin of Fermilab’s strategy for future development of the accelerator complex: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1" marL="685800" indent="-279360"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Energy Frontier: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7936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Tevatron </a:t>
            </a:r>
            <a:r>
              <a:rPr b="0" lang="en-US" sz="1800" strike="noStrike" u="none">
                <a:solidFill>
                  <a:srgbClr val="cc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b="0" lang="en-US" sz="18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 ILC or Muon Collider as options for the Fermilab site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buClr>
                <a:srgbClr val="006600"/>
              </a:buClr>
              <a:buFont typeface="Wingdings" charset="2"/>
              <a:buChar char="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Aligned with ILC technology development;</a:t>
            </a:r>
            <a:endParaRPr b="0" lang="en-IN" sz="1800" strike="noStrike" u="none">
              <a:solidFill>
                <a:srgbClr val="006600"/>
              </a:solidFill>
              <a:effectLst/>
              <a:uFillTx/>
              <a:latin typeface="Arial"/>
            </a:endParaRPr>
          </a:p>
          <a:p>
            <a:pPr lvl="2" marL="1143000" indent="-228600">
              <a:buClr>
                <a:srgbClr val="006600"/>
              </a:buClr>
              <a:buFont typeface="Wingdings" charset="2"/>
              <a:buChar char="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Preserves Fermilab as potential site for ILC or a Muon Collider</a:t>
            </a:r>
            <a:endParaRPr b="0" lang="en-IN" sz="1800" strike="noStrike" u="none">
              <a:solidFill>
                <a:srgbClr val="006600"/>
              </a:solidFill>
              <a:effectLst/>
              <a:uFillTx/>
              <a:latin typeface="Arial"/>
            </a:endParaRPr>
          </a:p>
          <a:p>
            <a:pPr lvl="1" marL="685800" indent="-279360">
              <a:spcBef>
                <a:spcPts val="1125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Intensity Frontier: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7936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NuMI</a:t>
            </a:r>
            <a:r>
              <a:rPr b="0" lang="en-US" sz="1800" strike="noStrike" u="none">
                <a:solidFill>
                  <a:srgbClr val="cc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b="0" lang="en-US" sz="18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 NO</a:t>
            </a:r>
            <a:r>
              <a:rPr b="0" lang="en-US" sz="2000" strike="noStrike" u="none">
                <a:solidFill>
                  <a:srgbClr val="cc0000"/>
                </a:solidFill>
                <a:effectLst/>
                <a:uFillTx/>
                <a:latin typeface="Symbol"/>
                <a:ea typeface="Symbol"/>
              </a:rPr>
              <a:t></a:t>
            </a:r>
            <a:r>
              <a:rPr b="0" lang="en-US" sz="18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A</a:t>
            </a:r>
            <a:r>
              <a:rPr b="0" lang="en-US" sz="1800" strike="noStrike" u="none">
                <a:solidFill>
                  <a:srgbClr val="cc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b="0" lang="en-US" sz="18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 LB</a:t>
            </a:r>
            <a:r>
              <a:rPr b="0" lang="en-US" sz="2000" strike="noStrike" u="none">
                <a:solidFill>
                  <a:srgbClr val="cc0000"/>
                </a:solidFill>
                <a:effectLst/>
                <a:uFillTx/>
                <a:latin typeface="Symbol"/>
                <a:ea typeface="Symbol"/>
              </a:rPr>
              <a:t></a:t>
            </a:r>
            <a:r>
              <a:rPr b="0" lang="en-US" sz="18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/</a:t>
            </a:r>
            <a:r>
              <a:rPr b="0" lang="en-US" sz="2000" strike="noStrike" u="none">
                <a:solidFill>
                  <a:srgbClr val="cc0000"/>
                </a:solidFill>
                <a:effectLst/>
                <a:uFillTx/>
                <a:latin typeface="Symbol"/>
                <a:ea typeface="Symbol"/>
              </a:rPr>
              <a:t></a:t>
            </a:r>
            <a:r>
              <a:rPr b="0" lang="en-US" sz="18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2e</a:t>
            </a:r>
            <a:r>
              <a:rPr b="0" lang="en-US" sz="1800" strike="noStrike" u="none">
                <a:solidFill>
                  <a:srgbClr val="cc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b="0" lang="en-US" sz="18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 multi-MW Proton Source </a:t>
            </a:r>
            <a:r>
              <a:rPr b="0" lang="en-US" sz="1800" strike="noStrike" u="none">
                <a:solidFill>
                  <a:srgbClr val="cc0000"/>
                </a:solidFill>
                <a:effectLst/>
                <a:uFillTx/>
                <a:latin typeface="Symbol"/>
                <a:ea typeface="Symbol"/>
              </a:rPr>
              <a:t></a:t>
            </a:r>
            <a:r>
              <a:rPr b="0" lang="en-US" sz="18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 NuFact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451"/>
              </a:spcBef>
              <a:buClr>
                <a:srgbClr val="006600"/>
              </a:buClr>
              <a:buFont typeface="Wingdings" charset="2"/>
              <a:buChar char="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Steady increase in power and baseline length up to 2 MW @ 1300 km;</a:t>
            </a:r>
            <a:endParaRPr b="0" lang="en-IN" sz="1800" strike="noStrike" u="none">
              <a:solidFill>
                <a:srgbClr val="0066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451"/>
              </a:spcBef>
              <a:buClr>
                <a:srgbClr val="006600"/>
              </a:buClr>
              <a:buFont typeface="Wingdings" charset="2"/>
              <a:buChar char="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Several x 100 kW to rare processes experiments;</a:t>
            </a:r>
            <a:endParaRPr b="0" lang="en-IN" sz="1800" strike="noStrike" u="none">
              <a:solidFill>
                <a:srgbClr val="0066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451"/>
              </a:spcBef>
              <a:buClr>
                <a:srgbClr val="006600"/>
              </a:buClr>
              <a:buFont typeface="Wingdings" charset="2"/>
              <a:buChar char="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Preserves Fermilab as potential site for a Neutrino Factory</a:t>
            </a:r>
            <a:endParaRPr b="0" lang="en-IN" sz="1800" strike="noStrike" u="none">
              <a:solidFill>
                <a:srgbClr val="006600"/>
              </a:solidFill>
              <a:effectLst/>
              <a:uFillTx/>
              <a:latin typeface="Arial"/>
            </a:endParaRPr>
          </a:p>
          <a:p>
            <a:pPr marL="291960" indent="0">
              <a:spcBef>
                <a:spcPts val="12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1" marL="685800" indent="0"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0">
              <a:spcBef>
                <a:spcPts val="224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676520" y="456840"/>
            <a:ext cx="6858000" cy="76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Guidelines for Reviewers</a:t>
            </a:r>
            <a:endParaRPr b="1" lang="en-IN" sz="3200" strike="noStrike" u="none">
              <a:solidFill>
                <a:srgbClr val="000099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371240"/>
            <a:ext cx="792504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499"/>
              </a:spcBef>
              <a:buClr>
                <a:srgbClr val="000099"/>
              </a:buClr>
              <a:buSzPct val="12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This is </a:t>
            </a:r>
            <a:r>
              <a:rPr b="0" lang="en-IN" sz="2000" strike="noStrike" u="sng">
                <a:solidFill>
                  <a:srgbClr val="003399"/>
                </a:solidFill>
                <a:effectLst/>
                <a:uFillTx/>
                <a:latin typeface="Arial"/>
              </a:rPr>
              <a:t>not</a:t>
            </a:r>
            <a:r>
              <a:rPr b="0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 a technical review.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1" marL="743040" indent="-285840"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technical design was looked at by the Accelerator Advisory Committee in February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buClr>
                <a:srgbClr val="006600"/>
              </a:buClr>
              <a:buFont typeface="Wingdings" charset="2"/>
              <a:buChar char="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(AAC were told “this is not a cost review”)</a:t>
            </a:r>
            <a:endParaRPr b="0" lang="en-IN" sz="1800" strike="noStrike" u="none">
              <a:solidFill>
                <a:srgbClr val="0066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first order you should accept that the configuration described will meet the technical goals.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second order we expect to utilize your technical expertise to identify areas of particular risk, either technical or cost, and/or opportunities for reductions.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250"/>
              </a:spcBef>
              <a:buClr>
                <a:srgbClr val="000099"/>
              </a:buClr>
              <a:buSzPct val="12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This is </a:t>
            </a:r>
            <a:r>
              <a:rPr b="0" lang="en-IN" sz="2000" strike="noStrike" u="sng">
                <a:solidFill>
                  <a:srgbClr val="003399"/>
                </a:solidFill>
                <a:effectLst/>
                <a:uFillTx/>
                <a:latin typeface="Arial"/>
              </a:rPr>
              <a:t>not</a:t>
            </a:r>
            <a:r>
              <a:rPr b="0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 a baseline estimate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1" marL="743040" indent="-285840"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Baseline configuration is not established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Level of detail in the basis of estimates is not at baseline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DOE Order asks for a cost estimate range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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This is a single point in time snapshot, developed very early in the process.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676520" y="456840"/>
            <a:ext cx="6858000" cy="76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Guidelines for Reviewers</a:t>
            </a:r>
            <a:endParaRPr b="1" lang="en-IN" sz="3200" strike="noStrike" u="none">
              <a:solidFill>
                <a:srgbClr val="000099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371240"/>
            <a:ext cx="792504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1250"/>
              </a:spcBef>
              <a:buClr>
                <a:srgbClr val="000099"/>
              </a:buClr>
              <a:buSzPct val="12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Review of the schedule is secondary to the cost estimate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1" marL="743040" indent="-285840"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Estimates are tied to a resource loaded, “technically limited”, schedule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buClr>
                <a:srgbClr val="006600"/>
              </a:buClr>
              <a:buFont typeface="Wingdings" charset="2"/>
              <a:buChar char="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CD-0</a:t>
            </a: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	</a:t>
            </a: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July 2009</a:t>
            </a:r>
            <a:endParaRPr b="0" lang="en-IN" sz="1800" strike="noStrike" u="none">
              <a:solidFill>
                <a:srgbClr val="006600"/>
              </a:solidFill>
              <a:effectLst/>
              <a:uFillTx/>
              <a:latin typeface="Arial"/>
            </a:endParaRPr>
          </a:p>
          <a:p>
            <a:pPr lvl="2" marL="1143000" indent="-228600">
              <a:buClr>
                <a:srgbClr val="006600"/>
              </a:buClr>
              <a:buFont typeface="Wingdings" charset="2"/>
              <a:buChar char="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CD-1</a:t>
            </a: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	</a:t>
            </a: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December 2010</a:t>
            </a:r>
            <a:endParaRPr b="0" lang="en-IN" sz="1800" strike="noStrike" u="none">
              <a:solidFill>
                <a:srgbClr val="006600"/>
              </a:solidFill>
              <a:effectLst/>
              <a:uFillTx/>
              <a:latin typeface="Arial"/>
            </a:endParaRPr>
          </a:p>
          <a:p>
            <a:pPr lvl="2" marL="1143000" indent="-228600">
              <a:buClr>
                <a:srgbClr val="006600"/>
              </a:buClr>
              <a:buFont typeface="Wingdings" charset="2"/>
              <a:buChar char="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CD-2</a:t>
            </a: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	</a:t>
            </a: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July 2012</a:t>
            </a:r>
            <a:endParaRPr b="0" lang="en-IN" sz="1800" strike="noStrike" u="none">
              <a:solidFill>
                <a:srgbClr val="006600"/>
              </a:solidFill>
              <a:effectLst/>
              <a:uFillTx/>
              <a:latin typeface="Arial"/>
            </a:endParaRPr>
          </a:p>
          <a:p>
            <a:pPr lvl="2" marL="1143000" indent="-228600">
              <a:buClr>
                <a:srgbClr val="006600"/>
              </a:buClr>
              <a:buFont typeface="Wingdings" charset="2"/>
              <a:buChar char="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CD-3</a:t>
            </a: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	</a:t>
            </a: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August 2013</a:t>
            </a:r>
            <a:endParaRPr b="0" lang="en-IN" sz="1800" strike="noStrike" u="none">
              <a:solidFill>
                <a:srgbClr val="006600"/>
              </a:solidFill>
              <a:effectLst/>
              <a:uFillTx/>
              <a:latin typeface="Arial"/>
            </a:endParaRPr>
          </a:p>
          <a:p>
            <a:pPr lvl="2" marL="1143000" indent="-228600">
              <a:buClr>
                <a:srgbClr val="006600"/>
              </a:buClr>
              <a:buFont typeface="Wingdings" charset="2"/>
              <a:buChar char="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CD-4</a:t>
            </a: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	</a:t>
            </a: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March 2018</a:t>
            </a:r>
            <a:endParaRPr b="0" lang="en-IN" sz="1800" strike="noStrike" u="none">
              <a:solidFill>
                <a:srgbClr val="0066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There has been no effort to either optimize or load level the schedule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250"/>
              </a:spcBef>
              <a:buClr>
                <a:srgbClr val="000099"/>
              </a:buClr>
              <a:buSzPct val="12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Scope of the estimate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1" marL="743040" indent="-285840"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Hydrogen bottle through extraction kickers (MI and Recycler)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CD-0 to CD-4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451"/>
              </a:spcBef>
              <a:buClr>
                <a:srgbClr val="006600"/>
              </a:buClr>
              <a:buFont typeface="Wingdings" charset="2"/>
              <a:buChar char="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 CD-4 = complete hardware checkout </a:t>
            </a:r>
            <a:endParaRPr b="0" lang="en-IN" sz="1800" strike="noStrike" u="none">
              <a:solidFill>
                <a:srgbClr val="0066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4191120" y="2286000"/>
            <a:ext cx="75960" cy="762120"/>
          </a:xfrm>
          <a:custGeom>
            <a:avLst/>
            <a:gdLst>
              <a:gd name="textAreaLeft" fmla="*/ 0 w 75960"/>
              <a:gd name="textAreaRight" fmla="*/ 27360 w 75960"/>
              <a:gd name="textAreaTop" fmla="*/ 19800 h 762120"/>
              <a:gd name="textAreaBottom" fmla="*/ 742320 h 762120"/>
              <a:gd name="GluePoint1X" fmla="*/ 0 w 21600"/>
              <a:gd name="GluePoint1Y" fmla="*/ 0 h 21600"/>
              <a:gd name="GluePoint2X" fmla="*/ 0 w 21600"/>
              <a:gd name="GluePoint2Y" fmla="*/ 21600 h 21600"/>
              <a:gd name="GluePoint3X" fmla="*/ 21600 w 21600"/>
              <a:gd name="GluePoint3Y" fmla="*/ 108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16200" y="10800"/>
                  <a:pt x="21600" y="10800"/>
                </a:cubicBezTo>
                <a:cubicBezTo>
                  <a:pt x="162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5400" y="21600"/>
                  <a:pt x="0" y="21600"/>
                </a:cubicBezTo>
              </a:path>
            </a:pathLst>
          </a:custGeom>
          <a:noFill/>
          <a:ln w="936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4381560" y="2590920"/>
            <a:ext cx="76320" cy="761760"/>
          </a:xfrm>
          <a:custGeom>
            <a:avLst/>
            <a:gdLst>
              <a:gd name="textAreaLeft" fmla="*/ 0 w 76320"/>
              <a:gd name="textAreaRight" fmla="*/ 27360 w 76320"/>
              <a:gd name="textAreaTop" fmla="*/ 19800 h 761760"/>
              <a:gd name="textAreaBottom" fmla="*/ 741960 h 761760"/>
              <a:gd name="GluePoint1X" fmla="*/ 0 w 21600"/>
              <a:gd name="GluePoint1Y" fmla="*/ 0 h 21600"/>
              <a:gd name="GluePoint2X" fmla="*/ 0 w 21600"/>
              <a:gd name="GluePoint2Y" fmla="*/ 21600 h 21600"/>
              <a:gd name="GluePoint3X" fmla="*/ 21600 w 21600"/>
              <a:gd name="GluePoint3Y" fmla="*/ 108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16200" y="10800"/>
                  <a:pt x="21600" y="10800"/>
                </a:cubicBezTo>
                <a:cubicBezTo>
                  <a:pt x="162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5400" y="21600"/>
                  <a:pt x="0" y="21600"/>
                </a:cubicBezTo>
              </a:path>
            </a:pathLst>
          </a:custGeom>
          <a:noFill/>
          <a:ln w="9360">
            <a:solidFill>
              <a:srgbClr val="00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4381560" y="2438280"/>
            <a:ext cx="876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RD&amp;D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4648320" y="2819520"/>
            <a:ext cx="10666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PED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676520" y="456840"/>
            <a:ext cx="6858000" cy="76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Guidelines for Reviewers</a:t>
            </a:r>
            <a:endParaRPr b="1" lang="en-IN" sz="3200" strike="noStrike" u="none">
              <a:solidFill>
                <a:srgbClr val="000099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371240"/>
            <a:ext cx="792504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499"/>
              </a:spcBef>
              <a:buClr>
                <a:srgbClr val="000099"/>
              </a:buClr>
              <a:buSzPct val="12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Discussion of the PED profile should be confined to the Project Management breakout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All other breakout sessions should address the adequacy of the RD&amp;D plan as supporting the needs of the construction project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250"/>
              </a:spcBef>
              <a:buClr>
                <a:srgbClr val="000099"/>
              </a:buClr>
              <a:buSzPct val="12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Breakout sessions speakers will be presenting estimates in FY2009 dollars (M&amp;S) and person-years, with no overheads and no contingency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1" marL="743040" indent="-285840"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Overheads, escalation, and contingency are applied at the highest level and will be discussed in the Project Management breakout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250"/>
              </a:spcBef>
              <a:buClr>
                <a:srgbClr val="000099"/>
              </a:buClr>
              <a:buSzPct val="12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The specific role of collaborators is not integrated into the estimate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1" marL="743040" indent="-285840"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Labor is estimated as if provided by Fermilab staff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buClr>
                <a:srgbClr val="006600"/>
              </a:buClr>
              <a:buFont typeface="Wingdings" charset="2"/>
              <a:buChar char="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6600"/>
                </a:solidFill>
                <a:effectLst/>
                <a:uFillTx/>
                <a:latin typeface="Arial"/>
              </a:rPr>
              <a:t>Fermilab labor rates are used</a:t>
            </a:r>
            <a:endParaRPr b="0" lang="en-IN" sz="1800" strike="noStrike" u="none">
              <a:solidFill>
                <a:srgbClr val="0066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(With a few exceptions within the RD&amp;D estimate)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12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1125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1250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676520" y="456840"/>
            <a:ext cx="6858000" cy="76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Review Structure</a:t>
            </a:r>
            <a:endParaRPr b="1" lang="en-IN" sz="3200" strike="noStrike" u="none">
              <a:solidFill>
                <a:srgbClr val="000099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371240"/>
            <a:ext cx="7925040" cy="426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499"/>
              </a:spcBef>
              <a:buClr>
                <a:srgbClr val="000099"/>
              </a:buClr>
              <a:buSzPct val="125000"/>
              <a:buFont typeface="Arial"/>
              <a:buChar char="•"/>
              <a:tabLst>
                <a:tab algn="r" pos="765828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Three plenary talks: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r" pos="765828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Description of the initial configuration – Paul D.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r" pos="765828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High level description of systems and interfaces – Sergei N.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r" pos="765828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Description of cost estimating methodology and high level estimate summary – Jim K.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1250"/>
              </a:spcBef>
              <a:buClr>
                <a:srgbClr val="000099"/>
              </a:buClr>
              <a:buSzPct val="125000"/>
              <a:buFont typeface="Arial"/>
              <a:buChar char="•"/>
              <a:tabLst>
                <a:tab algn="r" pos="765828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Seven breakout sessions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1" marL="743040" indent="-285840">
              <a:buClr>
                <a:srgbClr val="000000"/>
              </a:buClr>
              <a:buFont typeface="Arial"/>
              <a:buChar char="–"/>
              <a:tabLst>
                <a:tab algn="r" pos="765828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Project Management/Cost/Schedule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Black Hole (WH2NW)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r" pos="765828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Cavities &amp; Cryomodules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 North (WH1NW)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r" pos="765828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RF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Theory Conf Rm (WH3NE)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r" pos="765828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Main Injector/Recycler/Beam Transfers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Hornets Nest (WH8N)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r" pos="765828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Instrumentation and Controls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Req Room (WH4NW)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r" pos="765828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Cryogenics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Snake Pit (WH2NE)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r" pos="765828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Conventional Facilities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Confessional (WH5NE)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451"/>
              </a:spcBef>
              <a:buNone/>
              <a:tabLst>
                <a:tab algn="r" pos="765828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451"/>
              </a:spcBef>
              <a:buNone/>
              <a:tabLst>
                <a:tab algn="r" pos="765828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676160" y="456840"/>
            <a:ext cx="6476760" cy="76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trike="noStrike" u="none">
                <a:solidFill>
                  <a:srgbClr val="000099"/>
                </a:solidFill>
                <a:effectLst/>
                <a:uFillTx/>
                <a:latin typeface="Arial"/>
              </a:rPr>
              <a:t>Summary</a:t>
            </a:r>
            <a:endParaRPr b="1" lang="en-IN" sz="3200" strike="noStrike" u="none">
              <a:solidFill>
                <a:srgbClr val="000099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523880"/>
            <a:ext cx="7925040" cy="426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000099"/>
              </a:buClr>
              <a:buSzPct val="12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The preliminary TPC estimate is $1.49B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000099"/>
              </a:buClr>
              <a:buSzPct val="125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3399"/>
                </a:solidFill>
                <a:effectLst/>
                <a:uFillTx/>
                <a:latin typeface="Arial"/>
              </a:rPr>
              <a:t>We hope the committee will concur in our view that:</a:t>
            </a: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ICD represents a complete, well defined, scope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preliminary estimate is a complete representation of the ICD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methodologies used and the estimated costs are reasonable for this stage of the project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preliminary estimate is sufficiently detailed and based on conservative assumptions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Opportunities for reduction of the estimate, while preserving the core mission needs, exist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preliminary estimate is likely to represent the upper range of  a subsequent baseline cost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0">
              <a:spcBef>
                <a:spcPts val="4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339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39559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1999-04-11T10:59:44Z</dcterms:created>
  <dc:creator>Stephen D. Holmes</dc:creator>
  <dc:description/>
  <dc:language>en-IN</dc:language>
  <cp:lastModifiedBy>Stephen Holmes</cp:lastModifiedBy>
  <cp:lastPrinted>2000-07-20T20:06:40Z</cp:lastPrinted>
  <dcterms:modified xsi:type="dcterms:W3CDTF">2009-03-13T07:20:19Z</dcterms:modified>
  <cp:revision>932</cp:revision>
  <dc:subject/>
  <dc:title>DOE Run II Review</dc:title>
</cp:coreProperties>
</file>