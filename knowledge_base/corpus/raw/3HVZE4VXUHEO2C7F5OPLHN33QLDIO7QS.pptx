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embeddings/oleObject1.xlsx" ContentType="application/vnd.openxmlformats-officedocument.spreadsheetml.sheet"/>
  <Override PartName="/ppt/embeddings/oleObject2.xlsx" ContentType="application/vnd.openxmlformats-officedocument.spreadsheetml.sheet"/>
  <Override PartName="/ppt/media/image1.jpeg" ContentType="image/jpeg"/>
  <Override PartName="/ppt/media/image2.jpeg" ContentType="image/jpeg"/>
  <Override PartName="/ppt/media/image3.wmf" ContentType="image/x-wmf"/>
  <Override PartName="/ppt/media/image6.jpeg" ContentType="image/jpeg"/>
  <Override PartName="/ppt/media/image4.wmf" ContentType="image/x-wmf"/>
  <Override PartName="/ppt/media/image5.png" ContentType="image/png"/>
  <Override PartName="/ppt/media/image7.png" ContentType="image/png"/>
  <Override PartName="/ppt/media/image8.jpeg" ContentType="image/jpeg"/>
  <Override PartName="/ppt/media/image9.png" ContentType="image/png"/>
  <Override PartName="/ppt/media/image10.png" ContentType="image/png"/>
  <Override PartName="/ppt/media/image11.wmf" ContentType="image/x-wmf"/>
  <Override PartName="/ppt/media/image12.wmf" ContentType="image/x-wmf"/>
  <Override PartName="/ppt/media/image13.wmf" ContentType="image/x-wmf"/>
  <Override PartName="/ppt/media/image14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/>
  <p:notesSz cx="7008813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1426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200" strike="noStrike" u="none">
              <a:solidFill>
                <a:srgbClr val="0b3d9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05120"/>
            <a:ext cx="7772400" cy="39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2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7A9ABC-997B-489C-ACD5-B8C6B6399B4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11426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200" strike="noStrike" u="none">
              <a:solidFill>
                <a:srgbClr val="0b3d9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05120"/>
            <a:ext cx="7772400" cy="39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12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102EE7-15BB-4CB4-A5A5-FBE0F6CABF6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F1ABC5-BFE3-4063-96A9-B0694BD049D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11426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200" strike="noStrike" u="none">
              <a:solidFill>
                <a:srgbClr val="0b3d9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05120"/>
            <a:ext cx="7772400" cy="39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12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C3294E-B855-4094-AAED-74C3A9CEAC5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5440" cy="97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85800" y="11426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b3d91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200" strike="noStrike" u="none">
              <a:solidFill>
                <a:srgbClr val="0b3d9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7772400" cy="39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spcBef>
                <a:spcPts val="12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95240" indent="-162000">
              <a:spcBef>
                <a:spcPts val="12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82520" indent="-172800">
              <a:spcBef>
                <a:spcPts val="12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370160" indent="-173160">
              <a:spcBef>
                <a:spcPts val="125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370160" indent="-173160">
              <a:spcBef>
                <a:spcPts val="125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370160" indent="-173160">
              <a:spcBef>
                <a:spcPts val="125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1"/>
          </p:nvPr>
        </p:nvSpPr>
        <p:spPr>
          <a:xfrm>
            <a:off x="674280" y="6197760"/>
            <a:ext cx="34909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trike="noStrike" u="none">
                <a:solidFill>
                  <a:srgbClr val="0033cc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33cc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2"/>
          </p:nvPr>
        </p:nvSpPr>
        <p:spPr>
          <a:xfrm>
            <a:off x="7162560" y="6553080"/>
            <a:ext cx="1904760" cy="26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900" strike="noStrike" u="none">
                <a:solidFill>
                  <a:srgbClr val="918873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FD9347-4DEE-4987-996B-B686A67C9AE7}" type="slidenum">
              <a:rPr b="0" lang="en-IN" sz="900" strike="noStrike" u="none">
                <a:solidFill>
                  <a:srgbClr val="918873"/>
                </a:solidFill>
                <a:effectLst/>
                <a:uFillTx/>
                <a:latin typeface="Arial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://www.emc.com/products/detail/hardware/symmetrix-dmx-4-950.htm" TargetMode="External"/><Relationship Id="rId2" Type="http://schemas.openxmlformats.org/officeDocument/2006/relationships/image" Target="../media/image5.png"/><Relationship Id="rId3" Type="http://schemas.openxmlformats.org/officeDocument/2006/relationships/hyperlink" Target="http://www-03.ibm.com/systems/z/hardware/z890/" TargetMode="External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jpeg"/><Relationship Id="rId7" Type="http://schemas.openxmlformats.org/officeDocument/2006/relationships/image" Target="../media/image9.png"/><Relationship Id="rId8" Type="http://schemas.openxmlformats.org/officeDocument/2006/relationships/hyperlink" Target="http://www.emc.com/products/detail/hardware/symmetrix-dmx-4-950.htm" TargetMode="External"/><Relationship Id="rId9" Type="http://schemas.openxmlformats.org/officeDocument/2006/relationships/image" Target="../media/image5.png"/><Relationship Id="rId10" Type="http://schemas.openxmlformats.org/officeDocument/2006/relationships/image" Target="../media/image7.png"/><Relationship Id="rId11" Type="http://schemas.openxmlformats.org/officeDocument/2006/relationships/image" Target="../media/image8.jpeg"/><Relationship Id="rId12" Type="http://schemas.openxmlformats.org/officeDocument/2006/relationships/image" Target="../media/image9.png"/><Relationship Id="rId13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://www.emc.com/products/detail/hardware/symmetrix-dmx-4-950.htm" TargetMode="External"/><Relationship Id="rId2" Type="http://schemas.openxmlformats.org/officeDocument/2006/relationships/image" Target="../media/image5.png"/><Relationship Id="rId3" Type="http://schemas.openxmlformats.org/officeDocument/2006/relationships/hyperlink" Target="http://www-03.ibm.com/systems/z/hardware/z890/" TargetMode="External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jpeg"/><Relationship Id="rId7" Type="http://schemas.openxmlformats.org/officeDocument/2006/relationships/image" Target="../media/image9.png"/><Relationship Id="rId8" Type="http://schemas.openxmlformats.org/officeDocument/2006/relationships/hyperlink" Target="http://www.emc.com/products/detail/hardware/symmetrix-dmx-4-950.htm" TargetMode="External"/><Relationship Id="rId9" Type="http://schemas.openxmlformats.org/officeDocument/2006/relationships/image" Target="../media/image5.png"/><Relationship Id="rId10" Type="http://schemas.openxmlformats.org/officeDocument/2006/relationships/image" Target="../media/image7.png"/><Relationship Id="rId11" Type="http://schemas.openxmlformats.org/officeDocument/2006/relationships/image" Target="../media/image8.jpe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0.png"/><Relationship Id="rId15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://www.emc.com/products/detail/hardware/symmetrix-dmx-4-950.htm" TargetMode="Externa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8.jpe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2.wmf"/><Relationship Id="rId3" Type="http://schemas.openxmlformats.org/officeDocument/2006/relationships/package" Target="../embeddings/oleObject2.xlsx"/><Relationship Id="rId4" Type="http://schemas.openxmlformats.org/officeDocument/2006/relationships/image" Target="../media/image13.wmf"/><Relationship Id="rId5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5440" cy="685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687240" y="4497480"/>
            <a:ext cx="77724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Joshua Haravay, VITA Disaster Recovery Specialist</a:t>
            </a:r>
            <a:br>
              <a:rPr sz="1200"/>
            </a:b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Michael Elkins, NG Director – Data Center Transformation</a:t>
            </a:r>
            <a:br>
              <a:rPr sz="1200"/>
            </a:b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August 26, 2008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503280" y="1843200"/>
            <a:ext cx="8285040" cy="21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noAutofit/>
          </a:bodyPr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Disaster Recovery Services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Expanded Services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1426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b3d91"/>
                </a:solidFill>
                <a:effectLst/>
                <a:uFillTx/>
                <a:latin typeface="Arial"/>
              </a:rPr>
              <a:t>Agenda</a:t>
            </a:r>
            <a:endParaRPr b="1" lang="en-IN" sz="3200" strike="noStrike" u="none">
              <a:solidFill>
                <a:srgbClr val="0b3d9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05120"/>
            <a:ext cx="7772400" cy="39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Objective and Goals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 Service Catalog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Architecture and Proposed Tier Architecture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Agency Requirements Gathering and DR Tier Mapping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Other Services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Questions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0">
              <a:spcBef>
                <a:spcPts val="12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5DDC8C-775B-491E-8441-2493345CAD8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11426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b3d91"/>
                </a:solidFill>
                <a:effectLst/>
                <a:uFillTx/>
                <a:latin typeface="Arial"/>
              </a:rPr>
              <a:t>Objective and Goals</a:t>
            </a:r>
            <a:endParaRPr b="1" lang="en-IN" sz="3200" strike="noStrike" u="none">
              <a:solidFill>
                <a:srgbClr val="0b3d9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5800" y="1905120"/>
            <a:ext cx="7772400" cy="39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an overview of the Services that will be offered under the DR Services Catalog.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an overview of the solution that falls under a tier level of DR service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an understanding of the criteria used to help map an agency to a DR Service Tier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250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an overview of other available DR Services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2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916313-0FD4-4112-A263-B08B2852E42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5016600" y="139680"/>
            <a:ext cx="4127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Advantages of DR Services Catalog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68440" y="1916280"/>
            <a:ext cx="8096040" cy="35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indent="228600">
              <a:spcBef>
                <a:spcPts val="112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Provides more granularity on costs of services for the Agencies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228600">
              <a:lnSpc>
                <a:spcPct val="100000"/>
              </a:lnSpc>
              <a:spcBef>
                <a:spcPts val="112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Agencies can choose between a larger range of services and choose the most applicable for their case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228600">
              <a:lnSpc>
                <a:spcPct val="100000"/>
              </a:lnSpc>
              <a:spcBef>
                <a:spcPts val="112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Agencies can select lower DR levels with lower costs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228600">
              <a:lnSpc>
                <a:spcPct val="100000"/>
              </a:lnSpc>
              <a:spcBef>
                <a:spcPts val="112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Agencies can match the solution to their RTO/RPO requirements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228600">
              <a:spcBef>
                <a:spcPts val="112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Offers support for immediate needs of the Agencies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228600">
              <a:lnSpc>
                <a:spcPct val="100000"/>
              </a:lnSpc>
              <a:spcBef>
                <a:spcPts val="112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Agencies desire DR support for their local IT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228600">
              <a:lnSpc>
                <a:spcPct val="100000"/>
              </a:lnSpc>
              <a:spcBef>
                <a:spcPts val="112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Some Agency ITs cannot have SAN infrastructure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228600">
              <a:spcBef>
                <a:spcPts val="112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Provides a logical migration path for the Agencies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BE6349-8C10-49DD-8ADF-C6FDD168FE7B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3214800" y="88920"/>
            <a:ext cx="59292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Disaster Recovery Service Measures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" name=""/>
          <p:cNvGrpSpPr/>
          <p:nvPr/>
        </p:nvGrpSpPr>
        <p:grpSpPr>
          <a:xfrm>
            <a:off x="582840" y="1591920"/>
            <a:ext cx="8026200" cy="4161960"/>
            <a:chOff x="582840" y="1591920"/>
            <a:chExt cx="8026200" cy="4161960"/>
          </a:xfrm>
        </p:grpSpPr>
        <p:grpSp>
          <p:nvGrpSpPr>
            <p:cNvPr id="22" name=""/>
            <p:cNvGrpSpPr/>
            <p:nvPr/>
          </p:nvGrpSpPr>
          <p:grpSpPr>
            <a:xfrm>
              <a:off x="582840" y="1591920"/>
              <a:ext cx="8026200" cy="3582360"/>
              <a:chOff x="582840" y="1591920"/>
              <a:chExt cx="8026200" cy="3582360"/>
            </a:xfrm>
          </p:grpSpPr>
          <p:sp>
            <p:nvSpPr>
              <p:cNvPr id="23" name=""/>
              <p:cNvSpPr/>
              <p:nvPr/>
            </p:nvSpPr>
            <p:spPr>
              <a:xfrm>
                <a:off x="847800" y="1591920"/>
                <a:ext cx="1800" cy="27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1052640" y="1591920"/>
                <a:ext cx="56880" cy="24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3975120" y="1591920"/>
                <a:ext cx="1800" cy="27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6421680" y="1591920"/>
                <a:ext cx="56880" cy="24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970200" y="1924920"/>
                <a:ext cx="1440" cy="27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1269720" y="192492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1970280" y="1924920"/>
                <a:ext cx="1440" cy="27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2413080" y="1924920"/>
                <a:ext cx="1800" cy="27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4172040" y="1924920"/>
                <a:ext cx="1800" cy="27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5451120" y="192492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594000" y="2255040"/>
                <a:ext cx="6192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2059200" y="2255040"/>
                <a:ext cx="6660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>
                <a:off x="594000" y="2532960"/>
                <a:ext cx="1531800" cy="14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655920" y="2255040"/>
                <a:ext cx="140328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708120" y="2288520"/>
                <a:ext cx="82296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Definition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>
                <a:off x="1488600" y="228852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2249640" y="2296440"/>
                <a:ext cx="12888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Time to recover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>
                <a:off x="3458520" y="2296440"/>
                <a:ext cx="103176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the affected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4428360" y="2296440"/>
                <a:ext cx="128916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Commonwealth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5659200" y="2296440"/>
                <a:ext cx="73404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Services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6362640" y="2296440"/>
                <a:ext cx="40716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after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6757920" y="2296440"/>
                <a:ext cx="88308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a declared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7603200" y="2296440"/>
                <a:ext cx="9720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DR incident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>
                <a:off x="8529480" y="229644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>
                <a:off x="582840" y="2242440"/>
                <a:ext cx="111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582840" y="2242440"/>
                <a:ext cx="111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594000" y="2242440"/>
                <a:ext cx="15318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2125800" y="224244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2138400" y="2242440"/>
                <a:ext cx="645804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8596440" y="224244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>
                <a:off x="8596440" y="224244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582840" y="2255040"/>
                <a:ext cx="11160" cy="279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582840" y="2534760"/>
                <a:ext cx="111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582840" y="2534760"/>
                <a:ext cx="111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594000" y="2534760"/>
                <a:ext cx="15318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2125800" y="2255040"/>
                <a:ext cx="7920" cy="279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2125800" y="253476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>
                <a:off x="2138400" y="2534760"/>
                <a:ext cx="645804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8596440" y="2255040"/>
                <a:ext cx="12600" cy="2793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>
                <a:off x="8596440" y="253476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8596440" y="253476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630360" y="2555280"/>
                <a:ext cx="56880" cy="24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>
                <a:off x="594000" y="2790360"/>
                <a:ext cx="61920" cy="2739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>
                <a:off x="8533080" y="2790360"/>
                <a:ext cx="7920" cy="2739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594000" y="3064680"/>
                <a:ext cx="7947000" cy="28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920" bIns="-4392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655920" y="2787120"/>
                <a:ext cx="7877160" cy="2772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2765520" y="2822040"/>
                <a:ext cx="39852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Disaster Recovery Service Level Requirements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>
                <a:off x="6551280" y="282204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>
                <a:off x="582840" y="2774160"/>
                <a:ext cx="1116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>
                <a:off x="582840" y="2774160"/>
                <a:ext cx="1116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594000" y="2774160"/>
                <a:ext cx="800244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8596440" y="2774160"/>
                <a:ext cx="1260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8596440" y="2774160"/>
                <a:ext cx="1260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582840" y="2787120"/>
                <a:ext cx="11160" cy="2804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8596440" y="2787120"/>
                <a:ext cx="12600" cy="2804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594000" y="3080880"/>
                <a:ext cx="1530360" cy="223200"/>
              </a:xfrm>
              <a:prstGeom prst="rect">
                <a:avLst/>
              </a:prstGeom>
              <a:solidFill>
                <a:srgbClr val="9f9f9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594000" y="3304440"/>
                <a:ext cx="61920" cy="431640"/>
              </a:xfrm>
              <a:prstGeom prst="rect">
                <a:avLst/>
              </a:prstGeom>
              <a:solidFill>
                <a:srgbClr val="9f9f9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2059200" y="3304440"/>
                <a:ext cx="65160" cy="431640"/>
              </a:xfrm>
              <a:prstGeom prst="rect">
                <a:avLst/>
              </a:prstGeom>
              <a:solidFill>
                <a:srgbClr val="9f9f9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655920" y="3304440"/>
                <a:ext cx="1403280" cy="207720"/>
              </a:xfrm>
              <a:prstGeom prst="rect">
                <a:avLst/>
              </a:prstGeom>
              <a:solidFill>
                <a:srgbClr val="9f9f9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776520" y="3301560"/>
                <a:ext cx="13777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BIA Application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655920" y="3512520"/>
                <a:ext cx="1403280" cy="223560"/>
              </a:xfrm>
              <a:prstGeom prst="rect">
                <a:avLst/>
              </a:prstGeom>
              <a:solidFill>
                <a:srgbClr val="9f9f9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1017360" y="3511080"/>
                <a:ext cx="1296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R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>
                <a:off x="1144800" y="3511080"/>
                <a:ext cx="67464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ankings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1785600" y="35110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2628360" y="3511080"/>
                <a:ext cx="14083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Service Measure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3965400" y="35110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5242680" y="3301560"/>
                <a:ext cx="10908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Performance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6279840" y="330156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5497200" y="3511080"/>
                <a:ext cx="54576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Target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6017760" y="35110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7505640" y="3077640"/>
                <a:ext cx="83268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Minimum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7261920" y="3287160"/>
                <a:ext cx="129888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Performance %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>
                <a:off x="8497440" y="328716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>
                <a:off x="7440120" y="3511080"/>
                <a:ext cx="92196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ALL SOWs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8316720" y="35110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>
                <a:off x="582840" y="3067920"/>
                <a:ext cx="1116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594000" y="3067920"/>
                <a:ext cx="153036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>
                <a:off x="2124360" y="3067920"/>
                <a:ext cx="1080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2135160" y="3067920"/>
                <a:ext cx="222408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4359240" y="3067920"/>
                <a:ext cx="1296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4372200" y="3067920"/>
                <a:ext cx="268272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>
                <a:off x="7054920" y="3067920"/>
                <a:ext cx="1260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7067520" y="3067920"/>
                <a:ext cx="152892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8596440" y="3067920"/>
                <a:ext cx="1260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>
                <a:off x="582840" y="3080880"/>
                <a:ext cx="11160" cy="6552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2124360" y="3080880"/>
                <a:ext cx="10800" cy="6552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4359240" y="3080880"/>
                <a:ext cx="12960" cy="6552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7054920" y="3080880"/>
                <a:ext cx="12600" cy="6552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8596440" y="3080880"/>
                <a:ext cx="12600" cy="6552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1350360" y="3791880"/>
                <a:ext cx="997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1449000" y="378540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2250000" y="3791880"/>
                <a:ext cx="12391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Time to recover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3425400" y="37918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5402520" y="3791880"/>
                <a:ext cx="74916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&lt; 4 hours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6111720" y="37918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7703640" y="3791880"/>
                <a:ext cx="35748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98%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>
                <a:off x="8042040" y="37918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582840" y="3736440"/>
                <a:ext cx="111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>
                <a:off x="594000" y="3736440"/>
                <a:ext cx="15303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>
                <a:off x="2124360" y="3736440"/>
                <a:ext cx="108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2135160" y="3736440"/>
                <a:ext cx="222408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>
                <a:off x="4359240" y="3736440"/>
                <a:ext cx="129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>
                <a:off x="4372200" y="3736440"/>
                <a:ext cx="26827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7054920" y="373644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7067520" y="3736440"/>
                <a:ext cx="15289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8596440" y="373644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582840" y="3749040"/>
                <a:ext cx="11160" cy="2808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2124360" y="3749040"/>
                <a:ext cx="10800" cy="2808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4359240" y="3749040"/>
                <a:ext cx="12960" cy="2808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7054920" y="3749040"/>
                <a:ext cx="12600" cy="2808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>
                <a:off x="8596440" y="3749040"/>
                <a:ext cx="12600" cy="2808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1350360" y="4083840"/>
                <a:ext cx="997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>
                <a:off x="1445760" y="408384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2250000" y="4083840"/>
                <a:ext cx="12391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Time to recover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425400" y="408384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5266800" y="4083840"/>
                <a:ext cx="104148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 to 24 hours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6254280" y="408384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7703640" y="4083840"/>
                <a:ext cx="35748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98%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8042040" y="408384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582840" y="4030200"/>
                <a:ext cx="111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594000" y="4030200"/>
                <a:ext cx="15303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2124360" y="4030200"/>
                <a:ext cx="108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2135160" y="4030200"/>
                <a:ext cx="222408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4359240" y="4030200"/>
                <a:ext cx="129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4372200" y="4030200"/>
                <a:ext cx="26827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>
                <a:off x="7054920" y="403020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7067520" y="4030200"/>
                <a:ext cx="15289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>
                <a:off x="8596440" y="403020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"/>
              <p:cNvSpPr/>
              <p:nvPr/>
            </p:nvSpPr>
            <p:spPr>
              <a:xfrm>
                <a:off x="582840" y="4042800"/>
                <a:ext cx="1116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"/>
              <p:cNvSpPr/>
              <p:nvPr/>
            </p:nvSpPr>
            <p:spPr>
              <a:xfrm>
                <a:off x="2124360" y="4042800"/>
                <a:ext cx="1080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" name=""/>
              <p:cNvSpPr/>
              <p:nvPr/>
            </p:nvSpPr>
            <p:spPr>
              <a:xfrm>
                <a:off x="4359240" y="4042800"/>
                <a:ext cx="1296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" name=""/>
              <p:cNvSpPr/>
              <p:nvPr/>
            </p:nvSpPr>
            <p:spPr>
              <a:xfrm>
                <a:off x="7054920" y="4042800"/>
                <a:ext cx="1260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" name=""/>
              <p:cNvSpPr/>
              <p:nvPr/>
            </p:nvSpPr>
            <p:spPr>
              <a:xfrm>
                <a:off x="8596440" y="4042800"/>
                <a:ext cx="1260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"/>
              <p:cNvSpPr/>
              <p:nvPr/>
            </p:nvSpPr>
            <p:spPr>
              <a:xfrm>
                <a:off x="1350360" y="4376160"/>
                <a:ext cx="997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"/>
              <p:cNvSpPr/>
              <p:nvPr/>
            </p:nvSpPr>
            <p:spPr>
              <a:xfrm>
                <a:off x="1449000" y="43696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"/>
              <p:cNvSpPr/>
              <p:nvPr/>
            </p:nvSpPr>
            <p:spPr>
              <a:xfrm>
                <a:off x="2250000" y="4376160"/>
                <a:ext cx="12391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Time to recover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3425400" y="437616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"/>
              <p:cNvSpPr/>
              <p:nvPr/>
            </p:nvSpPr>
            <p:spPr>
              <a:xfrm>
                <a:off x="5220360" y="4376160"/>
                <a:ext cx="114084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25 to 48 hours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"/>
              <p:cNvSpPr/>
              <p:nvPr/>
            </p:nvSpPr>
            <p:spPr>
              <a:xfrm>
                <a:off x="6300360" y="437616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"/>
              <p:cNvSpPr/>
              <p:nvPr/>
            </p:nvSpPr>
            <p:spPr>
              <a:xfrm>
                <a:off x="7703640" y="4376160"/>
                <a:ext cx="35748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98%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"/>
              <p:cNvSpPr/>
              <p:nvPr/>
            </p:nvSpPr>
            <p:spPr>
              <a:xfrm>
                <a:off x="8042040" y="437616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"/>
              <p:cNvSpPr/>
              <p:nvPr/>
            </p:nvSpPr>
            <p:spPr>
              <a:xfrm>
                <a:off x="584280" y="4328640"/>
                <a:ext cx="7920" cy="432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2480" bIns="-4248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"/>
              <p:cNvSpPr/>
              <p:nvPr/>
            </p:nvSpPr>
            <p:spPr>
              <a:xfrm>
                <a:off x="582840" y="4320720"/>
                <a:ext cx="11160" cy="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240" bIns="-392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"/>
              <p:cNvSpPr/>
              <p:nvPr/>
            </p:nvSpPr>
            <p:spPr>
              <a:xfrm>
                <a:off x="594000" y="4320720"/>
                <a:ext cx="9360" cy="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240" bIns="-392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"/>
              <p:cNvSpPr/>
              <p:nvPr/>
            </p:nvSpPr>
            <p:spPr>
              <a:xfrm>
                <a:off x="603360" y="4320720"/>
                <a:ext cx="1521000" cy="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240" bIns="-392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"/>
              <p:cNvSpPr/>
              <p:nvPr/>
            </p:nvSpPr>
            <p:spPr>
              <a:xfrm>
                <a:off x="2124360" y="4320720"/>
                <a:ext cx="108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"/>
              <p:cNvSpPr/>
              <p:nvPr/>
            </p:nvSpPr>
            <p:spPr>
              <a:xfrm>
                <a:off x="2124360" y="4320720"/>
                <a:ext cx="108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2135160" y="4320720"/>
                <a:ext cx="129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"/>
              <p:cNvSpPr/>
              <p:nvPr/>
            </p:nvSpPr>
            <p:spPr>
              <a:xfrm>
                <a:off x="2148120" y="4320720"/>
                <a:ext cx="22111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"/>
              <p:cNvSpPr/>
              <p:nvPr/>
            </p:nvSpPr>
            <p:spPr>
              <a:xfrm>
                <a:off x="4359240" y="4320720"/>
                <a:ext cx="129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"/>
              <p:cNvSpPr/>
              <p:nvPr/>
            </p:nvSpPr>
            <p:spPr>
              <a:xfrm>
                <a:off x="4372200" y="4320720"/>
                <a:ext cx="26827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"/>
              <p:cNvSpPr/>
              <p:nvPr/>
            </p:nvSpPr>
            <p:spPr>
              <a:xfrm>
                <a:off x="7054920" y="432072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"/>
              <p:cNvSpPr/>
              <p:nvPr/>
            </p:nvSpPr>
            <p:spPr>
              <a:xfrm>
                <a:off x="7067520" y="4320720"/>
                <a:ext cx="15289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"/>
              <p:cNvSpPr/>
              <p:nvPr/>
            </p:nvSpPr>
            <p:spPr>
              <a:xfrm>
                <a:off x="8596440" y="432072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"/>
              <p:cNvSpPr/>
              <p:nvPr/>
            </p:nvSpPr>
            <p:spPr>
              <a:xfrm>
                <a:off x="584280" y="4333320"/>
                <a:ext cx="792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"/>
              <p:cNvSpPr/>
              <p:nvPr/>
            </p:nvSpPr>
            <p:spPr>
              <a:xfrm>
                <a:off x="2125800" y="4333320"/>
                <a:ext cx="792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" name=""/>
              <p:cNvSpPr/>
              <p:nvPr/>
            </p:nvSpPr>
            <p:spPr>
              <a:xfrm>
                <a:off x="4359240" y="4333320"/>
                <a:ext cx="1296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" name=""/>
              <p:cNvSpPr/>
              <p:nvPr/>
            </p:nvSpPr>
            <p:spPr>
              <a:xfrm>
                <a:off x="7054920" y="4333320"/>
                <a:ext cx="1260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" name=""/>
              <p:cNvSpPr/>
              <p:nvPr/>
            </p:nvSpPr>
            <p:spPr>
              <a:xfrm>
                <a:off x="8596440" y="4333320"/>
                <a:ext cx="12600" cy="27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"/>
              <p:cNvSpPr/>
              <p:nvPr/>
            </p:nvSpPr>
            <p:spPr>
              <a:xfrm>
                <a:off x="1350360" y="4666680"/>
                <a:ext cx="997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" name=""/>
              <p:cNvSpPr/>
              <p:nvPr/>
            </p:nvSpPr>
            <p:spPr>
              <a:xfrm>
                <a:off x="1449000" y="466020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"/>
              <p:cNvSpPr/>
              <p:nvPr/>
            </p:nvSpPr>
            <p:spPr>
              <a:xfrm>
                <a:off x="2250000" y="4666680"/>
                <a:ext cx="12391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Time to recover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"/>
              <p:cNvSpPr/>
              <p:nvPr/>
            </p:nvSpPr>
            <p:spPr>
              <a:xfrm>
                <a:off x="3425400" y="46666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"/>
              <p:cNvSpPr/>
              <p:nvPr/>
            </p:nvSpPr>
            <p:spPr>
              <a:xfrm>
                <a:off x="5452200" y="4666680"/>
                <a:ext cx="6451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49 to 72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"/>
              <p:cNvSpPr/>
              <p:nvPr/>
            </p:nvSpPr>
            <p:spPr>
              <a:xfrm>
                <a:off x="6062400" y="46666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"/>
              <p:cNvSpPr/>
              <p:nvPr/>
            </p:nvSpPr>
            <p:spPr>
              <a:xfrm>
                <a:off x="7703640" y="4666680"/>
                <a:ext cx="35748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98%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"/>
              <p:cNvSpPr/>
              <p:nvPr/>
            </p:nvSpPr>
            <p:spPr>
              <a:xfrm>
                <a:off x="8042040" y="466668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"/>
              <p:cNvSpPr/>
              <p:nvPr/>
            </p:nvSpPr>
            <p:spPr>
              <a:xfrm>
                <a:off x="582840" y="4620600"/>
                <a:ext cx="11160" cy="28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920" bIns="-4392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"/>
              <p:cNvSpPr/>
              <p:nvPr/>
            </p:nvSpPr>
            <p:spPr>
              <a:xfrm>
                <a:off x="582840" y="4611240"/>
                <a:ext cx="11160" cy="90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7800" bIns="-37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"/>
              <p:cNvSpPr/>
              <p:nvPr/>
            </p:nvSpPr>
            <p:spPr>
              <a:xfrm>
                <a:off x="594000" y="4611240"/>
                <a:ext cx="9360" cy="90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7800" bIns="-37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"/>
              <p:cNvSpPr/>
              <p:nvPr/>
            </p:nvSpPr>
            <p:spPr>
              <a:xfrm>
                <a:off x="603360" y="4611240"/>
                <a:ext cx="1521000" cy="90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7800" bIns="-37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"/>
              <p:cNvSpPr/>
              <p:nvPr/>
            </p:nvSpPr>
            <p:spPr>
              <a:xfrm>
                <a:off x="2124360" y="4611240"/>
                <a:ext cx="108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" name=""/>
              <p:cNvSpPr/>
              <p:nvPr/>
            </p:nvSpPr>
            <p:spPr>
              <a:xfrm>
                <a:off x="2124360" y="4611240"/>
                <a:ext cx="108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"/>
              <p:cNvSpPr/>
              <p:nvPr/>
            </p:nvSpPr>
            <p:spPr>
              <a:xfrm>
                <a:off x="2135160" y="4611240"/>
                <a:ext cx="129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"/>
              <p:cNvSpPr/>
              <p:nvPr/>
            </p:nvSpPr>
            <p:spPr>
              <a:xfrm>
                <a:off x="2148120" y="4611240"/>
                <a:ext cx="22111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"/>
              <p:cNvSpPr/>
              <p:nvPr/>
            </p:nvSpPr>
            <p:spPr>
              <a:xfrm>
                <a:off x="4359240" y="4611240"/>
                <a:ext cx="1296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" name=""/>
              <p:cNvSpPr/>
              <p:nvPr/>
            </p:nvSpPr>
            <p:spPr>
              <a:xfrm>
                <a:off x="4372200" y="4611240"/>
                <a:ext cx="26827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"/>
              <p:cNvSpPr/>
              <p:nvPr/>
            </p:nvSpPr>
            <p:spPr>
              <a:xfrm>
                <a:off x="7054920" y="461124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"/>
              <p:cNvSpPr/>
              <p:nvPr/>
            </p:nvSpPr>
            <p:spPr>
              <a:xfrm>
                <a:off x="7067520" y="4611240"/>
                <a:ext cx="152892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"/>
              <p:cNvSpPr/>
              <p:nvPr/>
            </p:nvSpPr>
            <p:spPr>
              <a:xfrm>
                <a:off x="8596440" y="4611240"/>
                <a:ext cx="12600" cy="122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560" bIns="-345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"/>
              <p:cNvSpPr/>
              <p:nvPr/>
            </p:nvSpPr>
            <p:spPr>
              <a:xfrm>
                <a:off x="582840" y="4623840"/>
                <a:ext cx="11160" cy="2804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"/>
              <p:cNvSpPr/>
              <p:nvPr/>
            </p:nvSpPr>
            <p:spPr>
              <a:xfrm>
                <a:off x="2124360" y="4623840"/>
                <a:ext cx="10800" cy="2804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"/>
              <p:cNvSpPr/>
              <p:nvPr/>
            </p:nvSpPr>
            <p:spPr>
              <a:xfrm>
                <a:off x="4359240" y="4623840"/>
                <a:ext cx="12960" cy="2804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"/>
              <p:cNvSpPr/>
              <p:nvPr/>
            </p:nvSpPr>
            <p:spPr>
              <a:xfrm>
                <a:off x="7054920" y="4623840"/>
                <a:ext cx="12600" cy="2804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"/>
              <p:cNvSpPr/>
              <p:nvPr/>
            </p:nvSpPr>
            <p:spPr>
              <a:xfrm>
                <a:off x="8596440" y="4623840"/>
                <a:ext cx="12600" cy="2804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"/>
              <p:cNvSpPr/>
              <p:nvPr/>
            </p:nvSpPr>
            <p:spPr>
              <a:xfrm>
                <a:off x="1350360" y="4960440"/>
                <a:ext cx="997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"/>
              <p:cNvSpPr/>
              <p:nvPr/>
            </p:nvSpPr>
            <p:spPr>
              <a:xfrm>
                <a:off x="1449000" y="495396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"/>
              <p:cNvSpPr/>
              <p:nvPr/>
            </p:nvSpPr>
            <p:spPr>
              <a:xfrm>
                <a:off x="2250000" y="4960440"/>
                <a:ext cx="123912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Time to recover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"/>
              <p:cNvSpPr/>
              <p:nvPr/>
            </p:nvSpPr>
            <p:spPr>
              <a:xfrm>
                <a:off x="3425400" y="496044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"/>
              <p:cNvSpPr/>
              <p:nvPr/>
            </p:nvSpPr>
            <p:spPr>
              <a:xfrm>
                <a:off x="5376960" y="4960440"/>
                <a:ext cx="79884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&gt;73 hours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"/>
              <p:cNvSpPr/>
              <p:nvPr/>
            </p:nvSpPr>
            <p:spPr>
              <a:xfrm>
                <a:off x="6136920" y="496044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"/>
              <p:cNvSpPr/>
              <p:nvPr/>
            </p:nvSpPr>
            <p:spPr>
              <a:xfrm>
                <a:off x="7703640" y="4960440"/>
                <a:ext cx="35748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98%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"/>
              <p:cNvSpPr/>
              <p:nvPr/>
            </p:nvSpPr>
            <p:spPr>
              <a:xfrm>
                <a:off x="8042040" y="4960440"/>
                <a:ext cx="50400" cy="21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</a:t>
                </a: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"/>
              <p:cNvSpPr/>
              <p:nvPr/>
            </p:nvSpPr>
            <p:spPr>
              <a:xfrm>
                <a:off x="584280" y="4912560"/>
                <a:ext cx="7920" cy="46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2120" bIns="-4212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"/>
              <p:cNvSpPr/>
              <p:nvPr/>
            </p:nvSpPr>
            <p:spPr>
              <a:xfrm>
                <a:off x="582840" y="4904640"/>
                <a:ext cx="11160" cy="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240" bIns="-392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"/>
              <p:cNvSpPr/>
              <p:nvPr/>
            </p:nvSpPr>
            <p:spPr>
              <a:xfrm>
                <a:off x="594000" y="4904640"/>
                <a:ext cx="9360" cy="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240" bIns="-392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"/>
              <p:cNvSpPr/>
              <p:nvPr/>
            </p:nvSpPr>
            <p:spPr>
              <a:xfrm>
                <a:off x="603360" y="4904640"/>
                <a:ext cx="1521000" cy="756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240" bIns="-392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>
                <a:off x="2124360" y="4904640"/>
                <a:ext cx="1080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"/>
              <p:cNvSpPr/>
              <p:nvPr/>
            </p:nvSpPr>
            <p:spPr>
              <a:xfrm>
                <a:off x="2124360" y="4904640"/>
                <a:ext cx="1080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"/>
              <p:cNvSpPr/>
              <p:nvPr/>
            </p:nvSpPr>
            <p:spPr>
              <a:xfrm>
                <a:off x="2135160" y="4904640"/>
                <a:ext cx="12960" cy="126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200" bIns="-342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3" name=""/>
            <p:cNvSpPr/>
            <p:nvPr/>
          </p:nvSpPr>
          <p:spPr>
            <a:xfrm>
              <a:off x="2148120" y="4905000"/>
              <a:ext cx="2211120" cy="126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4359240" y="4905000"/>
              <a:ext cx="12960" cy="126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4372200" y="4905000"/>
              <a:ext cx="2682720" cy="126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"/>
            <p:cNvSpPr/>
            <p:nvPr/>
          </p:nvSpPr>
          <p:spPr>
            <a:xfrm>
              <a:off x="7054920" y="4905000"/>
              <a:ext cx="12600" cy="126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7067520" y="4905000"/>
              <a:ext cx="1528920" cy="126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8596440" y="4905000"/>
              <a:ext cx="12600" cy="126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584280" y="4917960"/>
              <a:ext cx="7920" cy="2772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2125800" y="4917960"/>
              <a:ext cx="7920" cy="2772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4359240" y="4917960"/>
              <a:ext cx="12960" cy="2772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7054920" y="4917960"/>
              <a:ext cx="12600" cy="2772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8596440" y="4917960"/>
              <a:ext cx="12600" cy="2772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1350360" y="5251320"/>
              <a:ext cx="9972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6</a:t>
              </a: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1445760" y="5251320"/>
              <a:ext cx="5040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2241360" y="5251320"/>
              <a:ext cx="49608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Time t</a:t>
              </a: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2721240" y="5251320"/>
              <a:ext cx="74412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o recover</a:t>
              </a: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3425400" y="5251320"/>
              <a:ext cx="5040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5123520" y="5251320"/>
              <a:ext cx="133884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Within 168 hours</a:t>
              </a: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6395760" y="5251320"/>
              <a:ext cx="5040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7656840" y="5251320"/>
              <a:ext cx="45684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100%</a:t>
              </a: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8089560" y="5251320"/>
              <a:ext cx="5040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584280" y="5195520"/>
              <a:ext cx="7920" cy="140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592200" y="5195520"/>
              <a:ext cx="1533600" cy="93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440" bIns="-3744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2125800" y="5195520"/>
              <a:ext cx="7920" cy="140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2133720" y="5195520"/>
              <a:ext cx="2225520" cy="140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4359240" y="5195520"/>
              <a:ext cx="12960" cy="140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4372200" y="5195520"/>
              <a:ext cx="2682720" cy="140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7054920" y="5195520"/>
              <a:ext cx="12600" cy="140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7067520" y="5195520"/>
              <a:ext cx="1528920" cy="140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8596440" y="5195520"/>
              <a:ext cx="12600" cy="140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584280" y="5209920"/>
              <a:ext cx="7920" cy="279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584280" y="5489280"/>
              <a:ext cx="7920" cy="7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9240" bIns="-3924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584280" y="5489280"/>
              <a:ext cx="7920" cy="7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9240" bIns="-3924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592200" y="5489280"/>
              <a:ext cx="1533600" cy="7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9240" bIns="-3924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2125800" y="5209920"/>
              <a:ext cx="7920" cy="279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2125800" y="5489280"/>
              <a:ext cx="7920" cy="7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9240" bIns="-3924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2125800" y="5489280"/>
              <a:ext cx="7920" cy="756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9240" bIns="-3924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2133720" y="5489280"/>
              <a:ext cx="2225520" cy="122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4359240" y="5209920"/>
              <a:ext cx="12960" cy="279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4359240" y="5489280"/>
              <a:ext cx="12960" cy="122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4372200" y="5489280"/>
              <a:ext cx="2682720" cy="122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7054920" y="5209920"/>
              <a:ext cx="12600" cy="279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7054920" y="5489280"/>
              <a:ext cx="12600" cy="122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7067520" y="5489280"/>
              <a:ext cx="1528920" cy="122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8596440" y="5209920"/>
              <a:ext cx="12600" cy="27900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8596440" y="5489280"/>
              <a:ext cx="12600" cy="122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8596440" y="5489280"/>
              <a:ext cx="12600" cy="12240"/>
            </a:xfrm>
            <a:prstGeom prst="rect">
              <a:avLst/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"/>
            <p:cNvSpPr/>
            <p:nvPr/>
          </p:nvSpPr>
          <p:spPr>
            <a:xfrm>
              <a:off x="630360" y="5509800"/>
              <a:ext cx="5688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E4EC9A-CF35-46B2-A1C9-9AEBC997302B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>
            <a:off x="5029200" y="1066680"/>
            <a:ext cx="380988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 rot="10800000">
            <a:off x="420840" y="1676160"/>
            <a:ext cx="264960" cy="4319640"/>
          </a:xfrm>
          <a:custGeom>
            <a:avLst/>
            <a:gdLst>
              <a:gd name="textAreaLeft" fmla="*/ 38520 w 264960"/>
              <a:gd name="textAreaRight" fmla="*/ 226440 w 264960"/>
              <a:gd name="textAreaTop" fmla="*/ 38520 h 4319640"/>
              <a:gd name="textAreaBottom" fmla="*/ 4281120 h 4319640"/>
            </a:gdLst>
            <a:ahLst/>
            <a:cxnLst/>
            <a:rect l="textAreaLeft" t="textAreaTop" r="textAreaRight" b="textAreaBottom"/>
            <a:pathLst>
              <a:path w="21600" h="351696">
                <a:moveTo>
                  <a:pt x="10800" y="0"/>
                </a:moveTo>
                <a:arcTo wR="10800" hR="10800" stAng="16200000" swAng="-5400000"/>
                <a:lnTo>
                  <a:pt x="0" y="340896"/>
                </a:lnTo>
                <a:arcTo wR="10800" hR="10800" stAng="10800000" swAng="-5400000"/>
                <a:lnTo>
                  <a:pt x="10800" y="351696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97a2b5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ctr" anchorCtr="1" vert="eaVer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Cost of Solution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420840" y="5781600"/>
            <a:ext cx="8154720" cy="220680"/>
          </a:xfrm>
          <a:prstGeom prst="roundRect">
            <a:avLst>
              <a:gd name="adj" fmla="val 50000"/>
            </a:avLst>
          </a:prstGeom>
          <a:solidFill>
            <a:srgbClr val="97a2b5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Time to Application Availability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 rot="16200000">
            <a:off x="650880" y="6217920"/>
            <a:ext cx="70164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Minutes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 rot="16200000">
            <a:off x="6098040" y="6226920"/>
            <a:ext cx="70344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5 Days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 rot="16200000">
            <a:off x="3335760" y="6226920"/>
            <a:ext cx="70344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 24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 rot="16200000">
            <a:off x="1521360" y="6226920"/>
            <a:ext cx="70344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4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 rot="16200000">
            <a:off x="2730240" y="6217920"/>
            <a:ext cx="70164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12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 rot="16200000">
            <a:off x="5544000" y="6226920"/>
            <a:ext cx="70344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72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5783400" y="4218120"/>
            <a:ext cx="1323720" cy="723600"/>
          </a:xfrm>
          <a:prstGeom prst="ellipse">
            <a:avLst/>
          </a:prstGeom>
          <a:solidFill>
            <a:srgbClr val="99cc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Cold-Site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4363920" y="3933720"/>
            <a:ext cx="1324080" cy="723960"/>
          </a:xfrm>
          <a:prstGeom prst="ellipse">
            <a:avLst/>
          </a:prstGeom>
          <a:solidFill>
            <a:srgbClr val="333399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Warm-Site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3022560" y="3436920"/>
            <a:ext cx="1324080" cy="723960"/>
          </a:xfrm>
          <a:prstGeom prst="ellipse">
            <a:avLst/>
          </a:prstGeom>
          <a:solidFill>
            <a:srgbClr val="c7cdd7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Hot-Site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7281720" y="4361040"/>
            <a:ext cx="1324080" cy="723600"/>
          </a:xfrm>
          <a:prstGeom prst="ellipse">
            <a:avLst/>
          </a:prstGeom>
          <a:solidFill>
            <a:srgbClr val="fcda7c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Acquisition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3809880" y="2666880"/>
            <a:ext cx="166860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Shared Pre-Staged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Infrastructure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Permitting System &amp;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Application Rebuild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1762200" y="2797200"/>
            <a:ext cx="1324080" cy="723960"/>
          </a:xfrm>
          <a:prstGeom prst="ellipse">
            <a:avLst/>
          </a:prstGeom>
          <a:solidFill>
            <a:srgbClr val="97a2b5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Internal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Manual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Fail-Over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973080" y="1944720"/>
            <a:ext cx="1324080" cy="723960"/>
          </a:xfrm>
          <a:prstGeom prst="ellipse">
            <a:avLst/>
          </a:prstGeom>
          <a:solidFill>
            <a:srgbClr val="555f87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Internal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Automatic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Fail-Over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 flipH="1">
            <a:off x="6564600" y="3597480"/>
            <a:ext cx="501120" cy="54072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 flipH="1">
            <a:off x="5347080" y="3522960"/>
            <a:ext cx="320760" cy="35928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 flipH="1">
            <a:off x="3665880" y="2994840"/>
            <a:ext cx="320400" cy="32220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2057400" y="1251000"/>
            <a:ext cx="18921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Dedicated Infrastructure Permitting Automated Application Fail-Over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 flipH="1">
            <a:off x="1996560" y="1582920"/>
            <a:ext cx="263880" cy="17064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5862600" y="5070600"/>
            <a:ext cx="1023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Facilities: 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4363920" y="4786200"/>
            <a:ext cx="1103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Network: $$ Facilities: 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2865600" y="4289400"/>
            <a:ext cx="12603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Storage: $$$ Hosts: $$   Network: $$ Facilities: $$$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1762200" y="3635280"/>
            <a:ext cx="1182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Storage: $$$ Hosts: $$   Network: $$$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Facilities: $$$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57360" y="2797200"/>
            <a:ext cx="11840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Storage: $$$ Hosts: $$$   Network: $$$ Facilities: $$$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 rot="16200000">
            <a:off x="2154600" y="6226920"/>
            <a:ext cx="70344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8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 rot="16200000">
            <a:off x="3966120" y="6226920"/>
            <a:ext cx="70344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36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 rot="16200000">
            <a:off x="6572880" y="6228360"/>
            <a:ext cx="7030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7 Days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 rot="16200000">
            <a:off x="7121880" y="6226920"/>
            <a:ext cx="70344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10 Days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 rot="16200000">
            <a:off x="8013600" y="6119280"/>
            <a:ext cx="7034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Up to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30 Days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2895480" y="1981080"/>
            <a:ext cx="18939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Dedicated Infrastructure Permitting Manual Intervention Fail-Over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 flipH="1">
            <a:off x="2673000" y="2419560"/>
            <a:ext cx="336600" cy="26784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5334120" y="2514600"/>
            <a:ext cx="1344600" cy="13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Facility, Utility, Environmental,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and Network Infrastructure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Awaiting Equipment Delivery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705720" y="3048120"/>
            <a:ext cx="142056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Facility, Utility, &amp;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Environmental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7543800" y="3505320"/>
            <a:ext cx="132084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Best Effort 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Time of Disaster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 flipH="1">
            <a:off x="7936200" y="3899160"/>
            <a:ext cx="59760" cy="38376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5783400" y="5923080"/>
            <a:ext cx="94608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 flipV="1">
            <a:off x="500040" y="2228760"/>
            <a:ext cx="0" cy="85248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7642080" y="6773760"/>
            <a:ext cx="1843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GAr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3324240" y="152280"/>
            <a:ext cx="58197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Delivering Degrees of RTO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3789AB-2F35-4420-BED2-49DE3C6FBD0C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>
            <a:off x="5192640" y="1447920"/>
            <a:ext cx="19051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Remote Data Mirroring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With No Data Loss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 rot="10800000">
            <a:off x="8453520" y="1507680"/>
            <a:ext cx="233280" cy="4496040"/>
          </a:xfrm>
          <a:custGeom>
            <a:avLst/>
            <a:gdLst>
              <a:gd name="textAreaLeft" fmla="*/ 34200 w 233280"/>
              <a:gd name="textAreaRight" fmla="*/ 199080 w 233280"/>
              <a:gd name="textAreaTop" fmla="*/ 34200 h 4496040"/>
              <a:gd name="textAreaBottom" fmla="*/ 4461840 h 4496040"/>
            </a:gdLst>
            <a:ahLst/>
            <a:cxnLst/>
            <a:rect l="textAreaLeft" t="textAreaTop" r="textAreaRight" b="textAreaBottom"/>
            <a:pathLst>
              <a:path w="21600" h="415692">
                <a:moveTo>
                  <a:pt x="10800" y="0"/>
                </a:moveTo>
                <a:arcTo wR="10800" hR="10800" stAng="16200000" swAng="-5400000"/>
                <a:lnTo>
                  <a:pt x="0" y="404892"/>
                </a:lnTo>
                <a:arcTo wR="10800" hR="10800" stAng="10800000" swAng="-5400000"/>
                <a:lnTo>
                  <a:pt x="10800" y="415692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97a2b5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ctr" anchorCtr="1" vert="eaVer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Cost of Solution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468360" y="5800680"/>
            <a:ext cx="8213760" cy="231840"/>
          </a:xfrm>
          <a:prstGeom prst="roundRect">
            <a:avLst>
              <a:gd name="adj" fmla="val 50000"/>
            </a:avLst>
          </a:prstGeom>
          <a:solidFill>
            <a:srgbClr val="97a2b5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Chronological Data Recovery Point in Time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 rot="16200000">
            <a:off x="4511160" y="6235560"/>
            <a:ext cx="704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Minutes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 rot="16200000">
            <a:off x="1225080" y="6237360"/>
            <a:ext cx="704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12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 rot="16200000">
            <a:off x="421920" y="6235560"/>
            <a:ext cx="704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48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 rot="16200000">
            <a:off x="821880" y="6235560"/>
            <a:ext cx="704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24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 rot="16200000">
            <a:off x="2903040" y="6234120"/>
            <a:ext cx="704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2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2023920" y="4219560"/>
            <a:ext cx="1347840" cy="725400"/>
          </a:xfrm>
          <a:prstGeom prst="ellipse">
            <a:avLst/>
          </a:prstGeom>
          <a:solidFill>
            <a:srgbClr val="99cc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Electronic Vaulting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3387600" y="3789360"/>
            <a:ext cx="1346400" cy="727200"/>
          </a:xfrm>
          <a:prstGeom prst="ellipse">
            <a:avLst/>
          </a:prstGeom>
          <a:solidFill>
            <a:srgbClr val="333399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Electronic Journaling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4672080" y="3290760"/>
            <a:ext cx="1346040" cy="727200"/>
          </a:xfrm>
          <a:prstGeom prst="ellipse">
            <a:avLst/>
          </a:prstGeom>
          <a:solidFill>
            <a:srgbClr val="c7cdd7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Stand-By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Database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501480" y="4432320"/>
            <a:ext cx="1346400" cy="727200"/>
          </a:xfrm>
          <a:prstGeom prst="ellipse">
            <a:avLst/>
          </a:prstGeom>
          <a:solidFill>
            <a:srgbClr val="fcda7c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Chevy Truck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Backup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 flipH="1">
            <a:off x="6755760" y="2095560"/>
            <a:ext cx="11739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4600" rIns="84600" tIns="41400" bIns="41400" anchor="t">
            <a:spAutoFit/>
          </a:bodyPr>
          <a:p>
            <a:pPr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  <a:ea typeface="Geneva"/>
              </a:rPr>
              <a:t>Mirroring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380880" y="3403440"/>
            <a:ext cx="15242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Volume, File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System and/or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Database Backup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3025800" y="2732040"/>
            <a:ext cx="120492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Remote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Transaction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Replication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3989520" y="2090880"/>
            <a:ext cx="192564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Database, Volume, or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Block Level Replication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with Varying Degrees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Of Data Loss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3828960" y="3301920"/>
            <a:ext cx="84240" cy="37620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5873760" y="2720880"/>
            <a:ext cx="1347840" cy="725760"/>
          </a:xfrm>
          <a:prstGeom prst="ellipse">
            <a:avLst/>
          </a:prstGeom>
          <a:solidFill>
            <a:srgbClr val="97a2b5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Asynch Mirroring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6835680" y="1935000"/>
            <a:ext cx="1346400" cy="727200"/>
          </a:xfrm>
          <a:prstGeom prst="ellipse">
            <a:avLst/>
          </a:prstGeom>
          <a:solidFill>
            <a:srgbClr val="555f87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Synchronous Mirroring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1150200" y="3946680"/>
            <a:ext cx="65880" cy="35100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2615400" y="3733560"/>
            <a:ext cx="95400" cy="38628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5754600" y="2517840"/>
            <a:ext cx="399960" cy="21420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5192640" y="2803680"/>
            <a:ext cx="160560" cy="42840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6715080" y="1733400"/>
            <a:ext cx="441360" cy="20160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782640" y="5300640"/>
            <a:ext cx="9619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Tape: $ Network: 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2303640" y="5086440"/>
            <a:ext cx="11253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Tape: $ Hosts: $   Network: 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3668760" y="4657680"/>
            <a:ext cx="12016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Storage: $$ Hosts: $$  Network: 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5032440" y="4159080"/>
            <a:ext cx="11221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Storage: $$$ Hosts: $$   Network: 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6235560" y="3645000"/>
            <a:ext cx="13622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Storage: $$$ Hosts: $$   Network: $$$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7277040" y="2803680"/>
            <a:ext cx="1204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Storage: $$$ Hosts: $$$   Network: $$$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1822320" y="3159000"/>
            <a:ext cx="125568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600" rIns="84600" tIns="41400" bIns="4140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Bulk Data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Based on Time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853920"/>
                <a:tab algn="l" pos="1708200"/>
                <a:tab algn="l" pos="2562120"/>
                <a:tab algn="l" pos="3416400"/>
                <a:tab algn="l" pos="4270320"/>
                <a:tab algn="l" pos="5124600"/>
                <a:tab algn="l" pos="5978520"/>
                <a:tab algn="l" pos="6832440"/>
                <a:tab algn="l" pos="7686720"/>
                <a:tab algn="l" pos="8540640"/>
                <a:tab algn="l" pos="9394920"/>
                <a:tab algn="l" pos="1024884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or Event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 rot="16200000">
            <a:off x="1620360" y="6234120"/>
            <a:ext cx="704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 8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 rot="16200000">
            <a:off x="2342880" y="6234120"/>
            <a:ext cx="704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 4 Hours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 rot="16200000">
            <a:off x="7799040" y="6237360"/>
            <a:ext cx="704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Zero Loss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 rot="16200000">
            <a:off x="5713200" y="6235560"/>
            <a:ext cx="704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56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Seconds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 flipH="1">
            <a:off x="2063880" y="5943600"/>
            <a:ext cx="88416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 flipV="1">
            <a:off x="8561520" y="2017440"/>
            <a:ext cx="0" cy="85716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7470720" y="6688080"/>
            <a:ext cx="609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Geneva"/>
              </a:rPr>
              <a:t>Gartner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3355920" y="114480"/>
            <a:ext cx="48322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Delivering Degrees of RPO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42E686-E79F-44F2-B931-40C340AC8912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>
            <a:off x="0" y="7288200"/>
            <a:ext cx="1843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sp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1"/>
          <a:stretch/>
        </p:blipFill>
        <p:spPr>
          <a:xfrm>
            <a:off x="372960" y="934920"/>
            <a:ext cx="8469360" cy="56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F253A0-B25F-4F48-9997-277C89F446C5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" descr=""/>
          <p:cNvPicPr/>
          <p:nvPr/>
        </p:nvPicPr>
        <p:blipFill>
          <a:blip r:embed="rId1"/>
          <a:stretch/>
        </p:blipFill>
        <p:spPr>
          <a:xfrm>
            <a:off x="3543480" y="1706400"/>
            <a:ext cx="1877760" cy="44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"/>
          <p:cNvSpPr/>
          <p:nvPr/>
        </p:nvSpPr>
        <p:spPr>
          <a:xfrm>
            <a:off x="317520" y="1050840"/>
            <a:ext cx="867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RTO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&lt; 4 hrs (Tier 1) and 5 – 24 hrs (Tier 2)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RPO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the length of time between the last data update and the disaster declaration is from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several minutes to 4 Hours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for SAN attached storage and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24 hours for direct attached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5380200"/>
            <a:ext cx="32608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Network Recovery: 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required network interfaces meeting defined capacity are in place in each data center for site failover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5425920" y="5762520"/>
            <a:ext cx="347364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Infrastructure Recovery: 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preventative controls (power, cooling and space requirements) are managed and provided with the service.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5457960" y="4594320"/>
            <a:ext cx="351144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Storage Recovery: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SAN</a:t>
            </a: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storage array will be replicated to the DR site using an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array based asynchronous replication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  For Tier 2 depending on the application structure, it will be required that data is recovered using a mixed recovery solution.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168120" y="3971880"/>
            <a:ext cx="306720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 configuration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Allocated Servers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Physical / Virtual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will already be racked and installed with the respective operating system and application, ready to initialize when the data Logical Unit is connected.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Active/Active – Active/Passive Clustering / SAN storage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5445000" y="3017880"/>
            <a:ext cx="369900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 Recovery: 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 servers will be recovered to physical or virtual server in the failover site; servers may be on a high availability cluster configuration if required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206280" y="2359080"/>
            <a:ext cx="32194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Failover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Complete failover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from the production site to the DR site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5394240" y="2103480"/>
            <a:ext cx="374976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Protection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Application data available at the Production SAN storage will be replicated to the DR SAN storage using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asynchronous remote replication capabilities (Raid 10 / Parity Raid)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629160" y="114480"/>
            <a:ext cx="4959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Tier 1 and 2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225360" y="2941560"/>
            <a:ext cx="324504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 Site Architecture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The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DR Site infrastructure will have available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the servers, in either physical or virtual configuration, defined to support agency operations.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200160" y="1824120"/>
            <a:ext cx="32032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Replication &lt;=4hrs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5492880" y="4010040"/>
            <a:ext cx="33210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 Operational Recovery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High-Availability / Rebuild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812B89-EB91-4BC9-ABE4-4B2F7EA7E53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" descr="Image of Symmetrix DMX-4 950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203040" y="1895400"/>
            <a:ext cx="1212840" cy="121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" descr="IBM eServer zSeries 890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568520" y="1965240"/>
            <a:ext cx="952560" cy="104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"/>
          <p:cNvSpPr/>
          <p:nvPr/>
        </p:nvSpPr>
        <p:spPr>
          <a:xfrm>
            <a:off x="460440" y="1332000"/>
            <a:ext cx="6789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CESC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2225160" y="2217600"/>
            <a:ext cx="10134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255960" y="6462720"/>
            <a:ext cx="8373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SWESC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1054080" y="2205000"/>
            <a:ext cx="750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Storage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812880" y="1727280"/>
            <a:ext cx="5257800" cy="126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-32760" bIns="-327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 flipV="1">
            <a:off x="800280" y="1739880"/>
            <a:ext cx="0" cy="1778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 flipH="1" flipV="1">
            <a:off x="2018880" y="1726920"/>
            <a:ext cx="12600" cy="2919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343080" y="1612800"/>
            <a:ext cx="7111800" cy="1575000"/>
          </a:xfrm>
          <a:prstGeom prst="rect">
            <a:avLst/>
          </a:prstGeom>
          <a:noFill/>
          <a:ln w="1260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922320" y="3881520"/>
            <a:ext cx="750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SRDF/A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6" name="" descr=""/>
          <p:cNvPicPr/>
          <p:nvPr/>
        </p:nvPicPr>
        <p:blipFill>
          <a:blip r:embed="rId5"/>
          <a:stretch/>
        </p:blipFill>
        <p:spPr>
          <a:xfrm>
            <a:off x="3191040" y="1922400"/>
            <a:ext cx="563400" cy="11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"/>
          <p:cNvSpPr/>
          <p:nvPr/>
        </p:nvSpPr>
        <p:spPr>
          <a:xfrm>
            <a:off x="3622320" y="221760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Mainframe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8" name="" descr="series product image"/>
          <p:cNvPicPr/>
          <p:nvPr/>
        </p:nvPicPr>
        <p:blipFill>
          <a:blip r:embed="rId6"/>
          <a:stretch/>
        </p:blipFill>
        <p:spPr>
          <a:xfrm>
            <a:off x="5454720" y="2114640"/>
            <a:ext cx="1460520" cy="95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"/>
          <p:cNvSpPr/>
          <p:nvPr/>
        </p:nvSpPr>
        <p:spPr>
          <a:xfrm>
            <a:off x="6392520" y="220500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Windows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" descr="SPARC Enterprise Servers Image"/>
          <p:cNvPicPr/>
          <p:nvPr/>
        </p:nvPicPr>
        <p:blipFill>
          <a:blip r:embed="rId7"/>
          <a:stretch/>
        </p:blipFill>
        <p:spPr>
          <a:xfrm>
            <a:off x="4422600" y="1973160"/>
            <a:ext cx="756000" cy="109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"/>
          <p:cNvSpPr/>
          <p:nvPr/>
        </p:nvSpPr>
        <p:spPr>
          <a:xfrm>
            <a:off x="4993920" y="220500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Unix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 flipV="1">
            <a:off x="3467160" y="1726920"/>
            <a:ext cx="0" cy="2538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 flipH="1" flipV="1">
            <a:off x="4800240" y="1739880"/>
            <a:ext cx="12600" cy="254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 flipV="1">
            <a:off x="6070680" y="1727280"/>
            <a:ext cx="0" cy="4190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5" name="" descr="Image of Symmetrix DMX-4 950">
            <a:hlinkClick r:id="rId8"/>
          </p:cNvPr>
          <p:cNvPicPr/>
          <p:nvPr/>
        </p:nvPicPr>
        <p:blipFill>
          <a:blip r:embed="rId9"/>
          <a:stretch/>
        </p:blipFill>
        <p:spPr>
          <a:xfrm>
            <a:off x="254160" y="5210280"/>
            <a:ext cx="1212840" cy="121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"/>
          <p:cNvSpPr/>
          <p:nvPr/>
        </p:nvSpPr>
        <p:spPr>
          <a:xfrm>
            <a:off x="1104840" y="5519880"/>
            <a:ext cx="750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Storage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838080" y="5054760"/>
            <a:ext cx="528336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-45360" bIns="-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 flipH="1" flipV="1">
            <a:off x="825120" y="5054400"/>
            <a:ext cx="12600" cy="1774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368280" y="4927680"/>
            <a:ext cx="7137360" cy="1574640"/>
          </a:xfrm>
          <a:prstGeom prst="rect">
            <a:avLst/>
          </a:prstGeom>
          <a:noFill/>
          <a:ln w="1260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" descr=""/>
          <p:cNvPicPr/>
          <p:nvPr/>
        </p:nvPicPr>
        <p:blipFill>
          <a:blip r:embed="rId10"/>
          <a:stretch/>
        </p:blipFill>
        <p:spPr>
          <a:xfrm>
            <a:off x="3241800" y="5237280"/>
            <a:ext cx="563400" cy="113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"/>
          <p:cNvSpPr/>
          <p:nvPr/>
        </p:nvSpPr>
        <p:spPr>
          <a:xfrm>
            <a:off x="3673080" y="553248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Mainframe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2" name="" descr="series product image"/>
          <p:cNvPicPr/>
          <p:nvPr/>
        </p:nvPicPr>
        <p:blipFill>
          <a:blip r:embed="rId11"/>
          <a:stretch/>
        </p:blipFill>
        <p:spPr>
          <a:xfrm>
            <a:off x="5505480" y="5429160"/>
            <a:ext cx="1460520" cy="95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"/>
          <p:cNvSpPr/>
          <p:nvPr/>
        </p:nvSpPr>
        <p:spPr>
          <a:xfrm>
            <a:off x="6443280" y="551988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Windows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4" name="" descr="SPARC Enterprise Servers Image"/>
          <p:cNvPicPr/>
          <p:nvPr/>
        </p:nvPicPr>
        <p:blipFill>
          <a:blip r:embed="rId12"/>
          <a:stretch/>
        </p:blipFill>
        <p:spPr>
          <a:xfrm>
            <a:off x="4473720" y="5288040"/>
            <a:ext cx="755640" cy="109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"/>
          <p:cNvSpPr/>
          <p:nvPr/>
        </p:nvSpPr>
        <p:spPr>
          <a:xfrm>
            <a:off x="5044680" y="551988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Unix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 flipV="1">
            <a:off x="3517920" y="5041800"/>
            <a:ext cx="0" cy="254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 flipH="1" flipV="1">
            <a:off x="4851000" y="5054400"/>
            <a:ext cx="12600" cy="2538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 flipV="1">
            <a:off x="6121440" y="5041800"/>
            <a:ext cx="0" cy="4190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 flipH="1">
            <a:off x="952200" y="3035160"/>
            <a:ext cx="12600" cy="2222640"/>
          </a:xfrm>
          <a:prstGeom prst="line">
            <a:avLst/>
          </a:prstGeom>
          <a:ln w="1260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7714440" y="2306520"/>
            <a:ext cx="11246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Production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7841880" y="5430960"/>
            <a:ext cx="9864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Disaster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Recovery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1360440" y="139680"/>
            <a:ext cx="9682200" cy="73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Proposed RTO of &lt; 4hrs (Tier 1) / 5-24 hrs (Tier 2)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1288440" y="4497480"/>
            <a:ext cx="56541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Allocated Servers – loaded configuration, operating system and 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waiting for LUN assignment and network redirect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10FDAE-8B8B-4400-9501-EC703EBC3798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" descr=""/>
          <p:cNvPicPr/>
          <p:nvPr/>
        </p:nvPicPr>
        <p:blipFill>
          <a:blip r:embed="rId1"/>
          <a:stretch/>
        </p:blipFill>
        <p:spPr>
          <a:xfrm>
            <a:off x="3543480" y="1706400"/>
            <a:ext cx="1877760" cy="44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"/>
          <p:cNvSpPr/>
          <p:nvPr/>
        </p:nvSpPr>
        <p:spPr>
          <a:xfrm>
            <a:off x="317520" y="1050840"/>
            <a:ext cx="8674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RTO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–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25 – 48 hrs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RPO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the length of time between the last data update and the disaster declaration is from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&lt;=24 hrs.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0" y="5380200"/>
            <a:ext cx="32608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Network Recovery: 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required network interfaces meeting defined capacity are in place in each data center for site failover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5425920" y="5762520"/>
            <a:ext cx="347364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Infrastructure Recovery: 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preventative controls (power, cooling and space requirements) are managed and provided with the service.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5457960" y="4454640"/>
            <a:ext cx="351144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Storage Recovery: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SAN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storage array will be restored at the DR site using a backup restoration from Virtual Tape Library (VTL). Backup files will be sent from the Production site to the DR site daily through the network, providing an RPO of 24 hours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168120" y="3971880"/>
            <a:ext cx="306720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 configuration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Physical / Virtual</a:t>
            </a: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will already be racked and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connected to the DR SAN storage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Active/Active – Active/Passive Clustering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5445000" y="2801880"/>
            <a:ext cx="36990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 Recovery: 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 servers will be recovered to physical or virtual server in the failover site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181080" y="1762200"/>
            <a:ext cx="321948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Failover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When the operating system and application environments are available and operational and the logical unit with the data is linked to the server a network reconfiguration will enable the complete failover from the production site to the DR site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5394240" y="1785960"/>
            <a:ext cx="374976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Protection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(Raid 10 ) / Backup is disk based.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backup to VTL process will need to be done at a synchronized time to avoid data corruption and all files will be backed up including database, journaled transactions and log files.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3629160" y="101520"/>
            <a:ext cx="4959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Tier 3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225360" y="3233880"/>
            <a:ext cx="32450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 Site Architecture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Repurposed / Allocated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Servers – connected to SAN Storage.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5349960" y="3678120"/>
            <a:ext cx="36417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Server Operational Recovery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Rebuild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  environment is comprised of physical and virtual servers and connected to the DR SAN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4E6621-CD63-418C-83E4-F07E0D31714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" descr="Image of Symmetrix DMX-4 950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74720" y="1895400"/>
            <a:ext cx="1212840" cy="121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" descr="IBM eServer zSeries 890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2139840" y="1965240"/>
            <a:ext cx="952560" cy="104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"/>
          <p:cNvSpPr/>
          <p:nvPr/>
        </p:nvSpPr>
        <p:spPr>
          <a:xfrm>
            <a:off x="460440" y="1332000"/>
            <a:ext cx="6789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CESC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2796840" y="2217600"/>
            <a:ext cx="10134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255960" y="6462720"/>
            <a:ext cx="8373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SWESC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1625760" y="2205000"/>
            <a:ext cx="750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Storage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495360" y="1727280"/>
            <a:ext cx="6146640" cy="126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-32760" bIns="-327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 flipV="1">
            <a:off x="1359000" y="1739880"/>
            <a:ext cx="12600" cy="1778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 flipH="1" flipV="1">
            <a:off x="2590560" y="1726920"/>
            <a:ext cx="12600" cy="2919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152280" y="1612800"/>
            <a:ext cx="7772400" cy="1575000"/>
          </a:xfrm>
          <a:prstGeom prst="rect">
            <a:avLst/>
          </a:prstGeom>
          <a:noFill/>
          <a:ln w="1260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6" name="" descr=""/>
          <p:cNvPicPr/>
          <p:nvPr/>
        </p:nvPicPr>
        <p:blipFill>
          <a:blip r:embed="rId5"/>
          <a:stretch/>
        </p:blipFill>
        <p:spPr>
          <a:xfrm>
            <a:off x="3762360" y="1922400"/>
            <a:ext cx="563400" cy="11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"/>
          <p:cNvSpPr/>
          <p:nvPr/>
        </p:nvSpPr>
        <p:spPr>
          <a:xfrm>
            <a:off x="4193640" y="221760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Mainframe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8" name="" descr="series product image"/>
          <p:cNvPicPr/>
          <p:nvPr/>
        </p:nvPicPr>
        <p:blipFill>
          <a:blip r:embed="rId6"/>
          <a:stretch/>
        </p:blipFill>
        <p:spPr>
          <a:xfrm>
            <a:off x="6026040" y="2114640"/>
            <a:ext cx="1460520" cy="95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"/>
          <p:cNvSpPr/>
          <p:nvPr/>
        </p:nvSpPr>
        <p:spPr>
          <a:xfrm>
            <a:off x="6963840" y="220500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Windows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0" name="" descr="SPARC Enterprise Servers Image"/>
          <p:cNvPicPr/>
          <p:nvPr/>
        </p:nvPicPr>
        <p:blipFill>
          <a:blip r:embed="rId7"/>
          <a:stretch/>
        </p:blipFill>
        <p:spPr>
          <a:xfrm>
            <a:off x="4994280" y="1973160"/>
            <a:ext cx="755640" cy="109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"/>
          <p:cNvSpPr/>
          <p:nvPr/>
        </p:nvSpPr>
        <p:spPr>
          <a:xfrm>
            <a:off x="5565240" y="220500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Unix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 flipV="1">
            <a:off x="4038480" y="1726920"/>
            <a:ext cx="0" cy="2538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 flipH="1" flipV="1">
            <a:off x="5371920" y="1739880"/>
            <a:ext cx="12600" cy="254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 flipV="1">
            <a:off x="6642000" y="1727280"/>
            <a:ext cx="0" cy="4190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5" name="" descr="Image of Symmetrix DMX-4 950">
            <a:hlinkClick r:id="rId8"/>
          </p:cNvPr>
          <p:cNvPicPr/>
          <p:nvPr/>
        </p:nvPicPr>
        <p:blipFill>
          <a:blip r:embed="rId9"/>
          <a:stretch/>
        </p:blipFill>
        <p:spPr>
          <a:xfrm>
            <a:off x="825480" y="5210280"/>
            <a:ext cx="1212840" cy="121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"/>
          <p:cNvSpPr/>
          <p:nvPr/>
        </p:nvSpPr>
        <p:spPr>
          <a:xfrm>
            <a:off x="1676520" y="5519880"/>
            <a:ext cx="750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Storage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520560" y="5054760"/>
            <a:ext cx="617220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-45360" bIns="-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 flipV="1">
            <a:off x="1409760" y="5054400"/>
            <a:ext cx="12600" cy="1774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152280" y="4927680"/>
            <a:ext cx="7810560" cy="1574640"/>
          </a:xfrm>
          <a:prstGeom prst="rect">
            <a:avLst/>
          </a:prstGeom>
          <a:noFill/>
          <a:ln w="1260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0" name="" descr=""/>
          <p:cNvPicPr/>
          <p:nvPr/>
        </p:nvPicPr>
        <p:blipFill>
          <a:blip r:embed="rId10"/>
          <a:stretch/>
        </p:blipFill>
        <p:spPr>
          <a:xfrm>
            <a:off x="3813120" y="5237280"/>
            <a:ext cx="563760" cy="113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"/>
          <p:cNvSpPr/>
          <p:nvPr/>
        </p:nvSpPr>
        <p:spPr>
          <a:xfrm>
            <a:off x="4244400" y="553248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Mainframe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2" name="" descr="series product image"/>
          <p:cNvPicPr/>
          <p:nvPr/>
        </p:nvPicPr>
        <p:blipFill>
          <a:blip r:embed="rId11"/>
          <a:stretch/>
        </p:blipFill>
        <p:spPr>
          <a:xfrm>
            <a:off x="6076800" y="5429160"/>
            <a:ext cx="1460520" cy="95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"/>
          <p:cNvSpPr/>
          <p:nvPr/>
        </p:nvSpPr>
        <p:spPr>
          <a:xfrm>
            <a:off x="7014600" y="551988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Windows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4" name="" descr="SPARC Enterprise Servers Image"/>
          <p:cNvPicPr/>
          <p:nvPr/>
        </p:nvPicPr>
        <p:blipFill>
          <a:blip r:embed="rId12"/>
          <a:stretch/>
        </p:blipFill>
        <p:spPr>
          <a:xfrm>
            <a:off x="5045040" y="5288040"/>
            <a:ext cx="755640" cy="109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"/>
          <p:cNvSpPr/>
          <p:nvPr/>
        </p:nvSpPr>
        <p:spPr>
          <a:xfrm>
            <a:off x="5616000" y="551988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Unix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 flipV="1">
            <a:off x="4089240" y="5041800"/>
            <a:ext cx="0" cy="254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 flipH="1" flipV="1">
            <a:off x="5422680" y="5054400"/>
            <a:ext cx="12600" cy="2538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 flipV="1">
            <a:off x="6692760" y="5041800"/>
            <a:ext cx="0" cy="4190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7904880" y="2306520"/>
            <a:ext cx="11246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Production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8032680" y="5430960"/>
            <a:ext cx="9864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Disaster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Recovery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5144760" y="123840"/>
            <a:ext cx="2104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Proposed Tier 3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" descr=""/>
          <p:cNvPicPr/>
          <p:nvPr/>
        </p:nvPicPr>
        <p:blipFill>
          <a:blip r:embed="rId13"/>
          <a:stretch/>
        </p:blipFill>
        <p:spPr>
          <a:xfrm>
            <a:off x="228600" y="2065320"/>
            <a:ext cx="568440" cy="86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"/>
          <p:cNvSpPr/>
          <p:nvPr/>
        </p:nvSpPr>
        <p:spPr>
          <a:xfrm>
            <a:off x="767520" y="2395440"/>
            <a:ext cx="4716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VTL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 flipV="1">
            <a:off x="507960" y="1726920"/>
            <a:ext cx="0" cy="3682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14"/>
          <a:stretch/>
        </p:blipFill>
        <p:spPr>
          <a:xfrm>
            <a:off x="228600" y="5418000"/>
            <a:ext cx="568440" cy="86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"/>
          <p:cNvSpPr/>
          <p:nvPr/>
        </p:nvSpPr>
        <p:spPr>
          <a:xfrm>
            <a:off x="767520" y="5748480"/>
            <a:ext cx="4716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VTL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 flipV="1">
            <a:off x="507960" y="5079600"/>
            <a:ext cx="0" cy="3682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350640" y="3830760"/>
            <a:ext cx="7340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Backup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Copy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330120" y="2908440"/>
            <a:ext cx="0" cy="2527200"/>
          </a:xfrm>
          <a:prstGeom prst="line">
            <a:avLst/>
          </a:prstGeom>
          <a:ln w="1260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1172160" y="4454640"/>
            <a:ext cx="5993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Repurposed Servers – bare metal restore, LUN assignment and network redirect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 Allocated Servers if required by the Agencies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FBC6CC-EF0D-45A4-B076-A419E9F93A10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" descr=""/>
          <p:cNvPicPr/>
          <p:nvPr/>
        </p:nvPicPr>
        <p:blipFill>
          <a:blip r:embed="rId1"/>
          <a:stretch/>
        </p:blipFill>
        <p:spPr>
          <a:xfrm>
            <a:off x="3543480" y="1706400"/>
            <a:ext cx="1877760" cy="44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"/>
          <p:cNvSpPr/>
          <p:nvPr/>
        </p:nvSpPr>
        <p:spPr>
          <a:xfrm>
            <a:off x="317520" y="1050840"/>
            <a:ext cx="8674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RTO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–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49-72 hrs (Tier 4) /  &gt; 73 hrs (Tier 5) /  with 168 hrs (Tier 6)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RPO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length of time between the last data update and the disaster declaration is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&lt;=24 Hours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0" y="5380200"/>
            <a:ext cx="32608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Network Recovery: 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required network interfaces meeting defined capacity are in place in each data center for site failover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5425920" y="5762520"/>
            <a:ext cx="347364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Infrastructure Recovery: 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preventative controls (power, cooling and space requirements) are managed and provided with the service.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5457960" y="4746600"/>
            <a:ext cx="35114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Storage Recovery: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SAN / DAS / LOCAL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storage array will be restored at the DR site using a backup restoration from magnetic tape.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168120" y="4124160"/>
            <a:ext cx="3067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 configuration: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Physical/Virtual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servers and connected to the DR SAN or through direct attached storage.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5445000" y="2763720"/>
            <a:ext cx="369900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 Recovery: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 servers will be recovered to physical or virtual server in the failover site.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206280" y="1940040"/>
            <a:ext cx="321948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Failover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When the operating system and application environments are available and operational and the logical unit with the data is linked to the server a network reconfiguration will enable the complete failover from the production site to the DR site</a:t>
            </a: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5394240" y="1887480"/>
            <a:ext cx="374976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Protection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 Synchronized-timed backup with restore from Tape. Weekly full copies, daily incremental.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Backup is tape-based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/ </a:t>
            </a:r>
            <a:r>
              <a:rPr b="1" i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optional RAID 10.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3629160" y="63360"/>
            <a:ext cx="4959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Tier 4, 5, 6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225360" y="3322800"/>
            <a:ext cx="32450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 Site Architecture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Drop Ship / Repurposed / Allocated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connected to SAN / DAS / LOCAL Storage.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5477040" y="3500280"/>
            <a:ext cx="366696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 Operational Recovery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b="1" lang="en-IN" sz="1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Rebuild 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Servers are racked and ready for booting or repurposed or in drop-ship model.  Operating system boot images and applications are pre-loaded or readily available or it uses resources like bare metal restore. 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DA6C0C-E969-47B0-A9C1-F2A335EEC6EA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" descr="Image of Symmetrix DMX-4 950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825480" y="1895400"/>
            <a:ext cx="1212840" cy="121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4" name="" descr="IBM eServer zSeries 890"/>
          <p:cNvPicPr/>
          <p:nvPr/>
        </p:nvPicPr>
        <p:blipFill>
          <a:blip r:embed="rId3"/>
          <a:stretch/>
        </p:blipFill>
        <p:spPr>
          <a:xfrm>
            <a:off x="2190600" y="1965240"/>
            <a:ext cx="952560" cy="104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"/>
          <p:cNvSpPr/>
          <p:nvPr/>
        </p:nvSpPr>
        <p:spPr>
          <a:xfrm>
            <a:off x="1209960" y="1332000"/>
            <a:ext cx="6789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CESC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2847600" y="221760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Mainframe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1005120" y="6462720"/>
            <a:ext cx="8373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SWESC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1638360" y="2293920"/>
            <a:ext cx="750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Storage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1422360" y="1739880"/>
            <a:ext cx="398772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-45360" bIns="-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 flipV="1">
            <a:off x="1422360" y="1739880"/>
            <a:ext cx="0" cy="2793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 flipH="1" flipV="1">
            <a:off x="2641320" y="1726920"/>
            <a:ext cx="12600" cy="2919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977760" y="1612800"/>
            <a:ext cx="5803920" cy="1575000"/>
          </a:xfrm>
          <a:prstGeom prst="rect">
            <a:avLst/>
          </a:prstGeom>
          <a:noFill/>
          <a:ln w="1260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3371040" y="3652920"/>
            <a:ext cx="1385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Backup to Tape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Migrating to VTL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4" name="" descr="series product image"/>
          <p:cNvPicPr/>
          <p:nvPr/>
        </p:nvPicPr>
        <p:blipFill>
          <a:blip r:embed="rId4"/>
          <a:stretch/>
        </p:blipFill>
        <p:spPr>
          <a:xfrm>
            <a:off x="4807080" y="2114640"/>
            <a:ext cx="1460520" cy="95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"/>
          <p:cNvSpPr/>
          <p:nvPr/>
        </p:nvSpPr>
        <p:spPr>
          <a:xfrm>
            <a:off x="5744880" y="220500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Windows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6" name="" descr="SPARC Enterprise Servers Image"/>
          <p:cNvPicPr/>
          <p:nvPr/>
        </p:nvPicPr>
        <p:blipFill>
          <a:blip r:embed="rId5"/>
          <a:stretch/>
        </p:blipFill>
        <p:spPr>
          <a:xfrm>
            <a:off x="3774960" y="1973160"/>
            <a:ext cx="755640" cy="109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"/>
          <p:cNvSpPr/>
          <p:nvPr/>
        </p:nvSpPr>
        <p:spPr>
          <a:xfrm>
            <a:off x="4346280" y="220500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Unix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 flipH="1" flipV="1">
            <a:off x="4152600" y="1739880"/>
            <a:ext cx="12600" cy="254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 flipV="1">
            <a:off x="5423040" y="1727280"/>
            <a:ext cx="0" cy="4190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0" name="" descr="Image of Symmetrix DMX-4 950"/>
          <p:cNvPicPr/>
          <p:nvPr/>
        </p:nvPicPr>
        <p:blipFill>
          <a:blip r:embed="rId6"/>
          <a:stretch/>
        </p:blipFill>
        <p:spPr>
          <a:xfrm>
            <a:off x="825480" y="5210280"/>
            <a:ext cx="1212840" cy="121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1" name="" descr="IBM eServer zSeries 890"/>
          <p:cNvPicPr/>
          <p:nvPr/>
        </p:nvPicPr>
        <p:blipFill>
          <a:blip r:embed="rId7"/>
          <a:stretch/>
        </p:blipFill>
        <p:spPr>
          <a:xfrm>
            <a:off x="2190600" y="5280120"/>
            <a:ext cx="952560" cy="104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"/>
          <p:cNvSpPr/>
          <p:nvPr/>
        </p:nvSpPr>
        <p:spPr>
          <a:xfrm>
            <a:off x="2847600" y="553248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Mainframe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1636560" y="5519880"/>
            <a:ext cx="750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Storage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1422360" y="5054760"/>
            <a:ext cx="400068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-45360" bIns="-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 flipV="1">
            <a:off x="1422360" y="5054760"/>
            <a:ext cx="0" cy="2793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 flipH="1" flipV="1">
            <a:off x="2641320" y="5041800"/>
            <a:ext cx="12600" cy="29232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977760" y="4927680"/>
            <a:ext cx="5803920" cy="1574640"/>
          </a:xfrm>
          <a:prstGeom prst="rect">
            <a:avLst/>
          </a:prstGeom>
          <a:noFill/>
          <a:ln w="1260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8" name="" descr="series product image"/>
          <p:cNvPicPr/>
          <p:nvPr/>
        </p:nvPicPr>
        <p:blipFill>
          <a:blip r:embed="rId8"/>
          <a:stretch/>
        </p:blipFill>
        <p:spPr>
          <a:xfrm>
            <a:off x="4807080" y="5429160"/>
            <a:ext cx="1460520" cy="95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"/>
          <p:cNvSpPr/>
          <p:nvPr/>
        </p:nvSpPr>
        <p:spPr>
          <a:xfrm>
            <a:off x="5744880" y="551988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Windows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0" name="" descr="SPARC Enterprise Servers Image"/>
          <p:cNvPicPr/>
          <p:nvPr/>
        </p:nvPicPr>
        <p:blipFill>
          <a:blip r:embed="rId9"/>
          <a:stretch/>
        </p:blipFill>
        <p:spPr>
          <a:xfrm>
            <a:off x="3774960" y="5288040"/>
            <a:ext cx="755640" cy="109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"/>
          <p:cNvSpPr/>
          <p:nvPr/>
        </p:nvSpPr>
        <p:spPr>
          <a:xfrm>
            <a:off x="4346280" y="5519880"/>
            <a:ext cx="10134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Unix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 flipH="1" flipV="1">
            <a:off x="4152600" y="5054400"/>
            <a:ext cx="12600" cy="2538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 flipV="1">
            <a:off x="5423040" y="5041800"/>
            <a:ext cx="0" cy="4190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 flipH="1">
            <a:off x="3352680" y="3200400"/>
            <a:ext cx="12960" cy="1701720"/>
          </a:xfrm>
          <a:prstGeom prst="line">
            <a:avLst/>
          </a:prstGeom>
          <a:ln w="1260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6952320" y="2306520"/>
            <a:ext cx="11246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Production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7016400" y="5430960"/>
            <a:ext cx="9864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Disaster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Recovery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4866840" y="123840"/>
            <a:ext cx="26701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Proposed Tier 4, 5, 6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1257120" y="4454640"/>
            <a:ext cx="5290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Drop-ship Servers – full restore, LUN assignment and network redirect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 Allocated or Repurposed Servers if required by the Agencies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757A8E-3354-4042-B91F-A5346740B68F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2196720" y="101520"/>
            <a:ext cx="760716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Agency Requirement Gathering</a:t>
            </a:r>
            <a:endParaRPr b="1" lang="en-IN" sz="2000" strike="noStrike" u="none">
              <a:solidFill>
                <a:srgbClr val="0b3d91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>
          <a:xfrm>
            <a:off x="355680" y="1473120"/>
            <a:ext cx="8585280" cy="439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176040" indent="-176040">
              <a:spcBef>
                <a:spcPts val="17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Disaster Recovery Requirement Questionnaire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125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Recovery Time Objective / Recovery Point Objective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125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Application(s)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125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Network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125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Infrastructure Components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125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Backup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125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 Storage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125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Security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125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User Testing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spcBef>
                <a:spcPts val="1125"/>
              </a:spcBef>
              <a:buClr>
                <a:srgbClr val="0b3d91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Inter-Dependencies to/with other agencies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0">
              <a:spcBef>
                <a:spcPts val="11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C23811-E7F9-49B7-8883-508622B7D4EF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3429000" y="101520"/>
            <a:ext cx="50292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Checklist of Results</a:t>
            </a:r>
            <a:endParaRPr b="1" lang="en-IN" sz="2400" strike="noStrike" u="none">
              <a:solidFill>
                <a:srgbClr val="0b3d91"/>
              </a:solidFill>
              <a:effectLst/>
              <a:uFillTx/>
              <a:latin typeface="Arial"/>
            </a:endParaRPr>
          </a:p>
        </p:txBody>
      </p:sp>
      <p:pic>
        <p:nvPicPr>
          <p:cNvPr id="512" name="" descr=""/>
          <p:cNvPicPr/>
          <p:nvPr/>
        </p:nvPicPr>
        <p:blipFill>
          <a:blip r:embed="rId1"/>
          <a:stretch/>
        </p:blipFill>
        <p:spPr>
          <a:xfrm>
            <a:off x="784080" y="1019160"/>
            <a:ext cx="7574040" cy="519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C141AD-318E-460C-89BA-47D9904D685D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/>
          <p:nvPr/>
        </p:nvSpPr>
        <p:spPr>
          <a:xfrm>
            <a:off x="3565440" y="152280"/>
            <a:ext cx="5095800" cy="13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Determine Final Recommendations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14" name=""/>
          <p:cNvGraphicFramePr/>
          <p:nvPr/>
        </p:nvGraphicFramePr>
        <p:xfrm>
          <a:off x="76320" y="1092240"/>
          <a:ext cx="8572320" cy="342900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51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6320" y="1092240"/>
                    <a:ext cx="8572320" cy="3429000"/>
                  </a:xfrm>
                  <a:prstGeom prst="rect">
                    <a:avLst/>
                  </a:prstGeom>
                  <a:solidFill>
                    <a:srgbClr val="ffff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516" name=""/>
          <p:cNvGraphicFramePr/>
          <p:nvPr/>
        </p:nvGraphicFramePr>
        <p:xfrm>
          <a:off x="482760" y="3543480"/>
          <a:ext cx="8648640" cy="3314520"/>
        </p:xfrm>
        <a:graphic>
          <a:graphicData uri="http://schemas.openxmlformats.org/presentationml/2006/ole">
            <p:oleObj progId="Excel.Sheet.12" r:id="rId3" spid="">
              <p:embed/>
              <p:pic>
                <p:nvPicPr>
                  <p:cNvPr id="517" name="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82760" y="3543480"/>
                    <a:ext cx="8648640" cy="3314520"/>
                  </a:xfrm>
                  <a:prstGeom prst="rect">
                    <a:avLst/>
                  </a:prstGeom>
                  <a:solidFill>
                    <a:srgbClr val="ffff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051D62-74D5-476F-B39D-BF162753891C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>
            <a:off x="4398840" y="147600"/>
            <a:ext cx="34502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Identify Tier-Level Solution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19" name=""/>
          <p:cNvGraphicFramePr/>
          <p:nvPr/>
        </p:nvGraphicFramePr>
        <p:xfrm>
          <a:off x="685800" y="1143000"/>
          <a:ext cx="7772400" cy="4724280"/>
        </p:xfrm>
        <a:graphic>
          <a:graphicData uri="http://schemas.openxmlformats.org/drawingml/2006/table">
            <a:tbl>
              <a:tblPr/>
              <a:tblGrid>
                <a:gridCol w="995400"/>
                <a:gridCol w="1227240"/>
                <a:gridCol w="1017360"/>
                <a:gridCol w="1008000"/>
                <a:gridCol w="962280"/>
                <a:gridCol w="960480"/>
                <a:gridCol w="1601640"/>
              </a:tblGrid>
              <a:tr h="789120"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Agency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Application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IPlatform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Status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RTO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RPO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Tier-Level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1338120"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CWA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EMS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IBM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Non-critical moving to Windows in 2 years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24 hours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72 hours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3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38120"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CWA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HTRIS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IBM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Non-critical moving to Windows in 2 years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24 hours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72 hours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3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0360"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CWA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File Server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Windows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Business Critical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72 hours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72 hours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3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8560"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CWA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Web Server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Windows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Business Critical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24 hours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&gt;4 hours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BFD9CF-F59A-4369-9BD1-88C1461FFDC8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685800" y="78696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b3d91"/>
                </a:solidFill>
                <a:effectLst/>
                <a:uFillTx/>
                <a:latin typeface="Arial"/>
              </a:rPr>
              <a:t>Value Added Services</a:t>
            </a:r>
            <a:endParaRPr b="1" lang="en-IN" sz="3200" strike="noStrike" u="none">
              <a:solidFill>
                <a:srgbClr val="0b3d91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685800" y="1371240"/>
            <a:ext cx="7772400" cy="487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176040" indent="-176040">
              <a:lnSpc>
                <a:spcPct val="8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 Services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Assist agencies with IT DR Plan updates or creation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Assist agencies with identifying business requirements for DR testing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Assist agencies with identifying business requirements for a DR solution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0">
              <a:lnSpc>
                <a:spcPct val="80000"/>
              </a:lnSpc>
              <a:spcBef>
                <a:spcPts val="8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lnSpc>
                <a:spcPct val="8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Testing Services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Annual test for each agency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tests performed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95240" indent="-1620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will uncover and reduce errors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95240" indent="-1620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speed up recovery process by 'practicing'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0">
              <a:lnSpc>
                <a:spcPct val="80000"/>
              </a:lnSpc>
              <a:spcBef>
                <a:spcPts val="8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-176040">
              <a:lnSpc>
                <a:spcPct val="8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Dedicated Services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Ensure data availability and integrity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24/7 availability monitoring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Real-time performance reporting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Provides complete activation of processes and procedures at the time of a declared event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Provides constant monitoring and management of the replication environment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End-user recovery assistance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19120" indent="-228600">
              <a:lnSpc>
                <a:spcPct val="80000"/>
              </a:lnSpc>
              <a:spcBef>
                <a:spcPts val="87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Dedicated team of technical engineers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indent="0">
              <a:lnSpc>
                <a:spcPct val="80000"/>
              </a:lnSpc>
              <a:spcBef>
                <a:spcPts val="8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4332FC-66B5-4564-A998-A650556F66AA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" descr=""/>
          <p:cNvPicPr/>
          <p:nvPr/>
        </p:nvPicPr>
        <p:blipFill>
          <a:blip r:embed="rId1"/>
          <a:stretch/>
        </p:blipFill>
        <p:spPr>
          <a:xfrm>
            <a:off x="297000" y="1155600"/>
            <a:ext cx="8292960" cy="524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9A155A-EA8D-4178-B00D-933E208703EB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37677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mtreagy</cp:lastModifiedBy>
  <dcterms:modified xsi:type="dcterms:W3CDTF">2008-08-25T14:35:28Z</dcterms:modified>
  <cp:revision>1136</cp:revision>
  <dc:subject/>
  <dc:title>Communications Exchange Meeting August 26, 2008 - Disaster Recovery Services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tegory0">
    <vt:lpwstr>Program Review - Monthly</vt:lpwstr>
  </property>
  <property fmtid="{D5CDD505-2E9C-101B-9397-08002B2CF9AE}" pid="3" name="Date Released">
    <vt:lpwstr>2007-01-04T00:00:00Z</vt:lpwstr>
  </property>
  <property fmtid="{D5CDD505-2E9C-101B-9397-08002B2CF9AE}" pid="4" name="Document Category">
    <vt:lpwstr>Monthly Program Review</vt:lpwstr>
  </property>
  <property fmtid="{D5CDD505-2E9C-101B-9397-08002B2CF9AE}" pid="5" name="Order">
    <vt:lpwstr>2400.00000000000</vt:lpwstr>
  </property>
  <property fmtid="{D5CDD505-2E9C-101B-9397-08002B2CF9AE}" pid="6" name="Remarks">
    <vt:lpwstr>Draft cleanup complete.</vt:lpwstr>
  </property>
  <property fmtid="{D5CDD505-2E9C-101B-9397-08002B2CF9AE}" pid="7" name="Stage">
    <vt:lpwstr>In Review</vt:lpwstr>
  </property>
  <property fmtid="{D5CDD505-2E9C-101B-9397-08002B2CF9AE}" pid="8" name="Task Force">
    <vt:lpwstr>11</vt:lpwstr>
  </property>
</Properties>
</file>