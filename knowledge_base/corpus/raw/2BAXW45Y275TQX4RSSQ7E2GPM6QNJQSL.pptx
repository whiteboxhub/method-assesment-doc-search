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_rels/notesSlide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media/image1.wmf" ContentType="image/x-wmf"/>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6858000"/>
  <p:notesSz cx="9294813" cy="7008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
          <p:cNvSpPr/>
          <p:nvPr/>
        </p:nvSpPr>
        <p:spPr>
          <a:xfrm>
            <a:off x="0" y="0"/>
            <a:ext cx="9295200" cy="7009200"/>
          </a:xfrm>
          <a:prstGeom prst="rect">
            <a:avLst/>
          </a:prstGeom>
          <a:solidFill>
            <a:srgbClr val="ffffff"/>
          </a:solidFill>
          <a:ln w="0">
            <a:noFill/>
          </a:ln>
        </p:spPr>
        <p:txBody>
          <a:bodyPr lIns="90000" rIns="90000" tIns="45000" bIns="45000" anchor="ctr" anchorCtr="1">
            <a:noAutofit/>
          </a:bodyPr>
          <a:p>
            <a:endParaRPr b="0" lang="en-IN" sz="2400" strike="noStrike" u="none">
              <a:solidFill>
                <a:srgbClr val="ffffff"/>
              </a:solidFill>
              <a:effectLst/>
              <a:uFillTx/>
              <a:latin typeface="Times New Roman"/>
            </a:endParaRPr>
          </a:p>
        </p:txBody>
      </p:sp>
      <p:sp>
        <p:nvSpPr>
          <p:cNvPr id="10" name="PlaceHolder 1"/>
          <p:cNvSpPr>
            <a:spLocks noGrp="1"/>
          </p:cNvSpPr>
          <p:nvPr>
            <p:ph type="hdr"/>
          </p:nvPr>
        </p:nvSpPr>
        <p:spPr>
          <a:xfrm>
            <a:off x="-360" y="-360"/>
            <a:ext cx="4027320" cy="351000"/>
          </a:xfrm>
          <a:prstGeom prst="rect">
            <a:avLst/>
          </a:prstGeom>
          <a:noFill/>
          <a:ln w="0">
            <a:noFill/>
          </a:ln>
        </p:spPr>
        <p:txBody>
          <a:bodyPr lIns="93240" rIns="93240" tIns="46440" bIns="46440" anchor="t">
            <a:noAutofit/>
          </a:bodyPr>
          <a:p>
            <a:pPr indent="0">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11" name="PlaceHolder 2"/>
          <p:cNvSpPr>
            <a:spLocks noGrp="1"/>
          </p:cNvSpPr>
          <p:nvPr>
            <p:ph type="dt" idx="4"/>
          </p:nvPr>
        </p:nvSpPr>
        <p:spPr>
          <a:xfrm>
            <a:off x="5268600" y="-360"/>
            <a:ext cx="4027320" cy="351000"/>
          </a:xfrm>
          <a:prstGeom prst="rect">
            <a:avLst/>
          </a:prstGeom>
          <a:noFill/>
          <a:ln w="0">
            <a:noFill/>
          </a:ln>
        </p:spPr>
        <p:txBody>
          <a:bodyPr lIns="93240" rIns="93240" tIns="46440" bIns="46440" anchor="t">
            <a:noAutofit/>
          </a:bodyPr>
          <a:lstStyle>
            <a:lvl1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defRPr b="0" lang="en-US" sz="1200" strike="noStrike" u="none">
                <a:solidFill>
                  <a:srgbClr val="000000"/>
                </a:solidFill>
                <a:effectLst/>
                <a:uFillTx/>
                <a:latin typeface="Times New Roman"/>
              </a:defRPr>
            </a:lvl1pPr>
          </a:lstStyle>
          <a:p>
            <a: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12" name="PlaceHolder 3"/>
          <p:cNvSpPr>
            <a:spLocks noGrp="1"/>
          </p:cNvSpPr>
          <p:nvPr>
            <p:ph type="sldImg"/>
          </p:nvPr>
        </p:nvSpPr>
        <p:spPr>
          <a:xfrm>
            <a:off x="2898360" y="526680"/>
            <a:ext cx="3505320" cy="262908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00"/>
                </a:solidFill>
                <a:effectLst/>
                <a:uFillTx/>
                <a:latin typeface="Times New Roman"/>
              </a:rPr>
              <a:t>Click to move the slide</a:t>
            </a:r>
            <a:endParaRPr b="0" lang="en-IN" sz="4400" strike="noStrike" u="none">
              <a:solidFill>
                <a:srgbClr val="ffff00"/>
              </a:solidFill>
              <a:effectLst/>
              <a:uFillTx/>
              <a:latin typeface="Times New Roman"/>
            </a:endParaRPr>
          </a:p>
        </p:txBody>
      </p:sp>
      <p:sp>
        <p:nvSpPr>
          <p:cNvPr id="13" name="PlaceHolder 4"/>
          <p:cNvSpPr>
            <a:spLocks noGrp="1"/>
          </p:cNvSpPr>
          <p:nvPr>
            <p:ph type="body"/>
          </p:nvPr>
        </p:nvSpPr>
        <p:spPr>
          <a:xfrm>
            <a:off x="1239480" y="3331800"/>
            <a:ext cx="6816600" cy="315108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14" name="PlaceHolder 5"/>
          <p:cNvSpPr>
            <a:spLocks noGrp="1"/>
          </p:cNvSpPr>
          <p:nvPr>
            <p:ph type="ftr" idx="5"/>
          </p:nvPr>
        </p:nvSpPr>
        <p:spPr>
          <a:xfrm>
            <a:off x="-360" y="6659640"/>
            <a:ext cx="4027320" cy="350640"/>
          </a:xfrm>
          <a:prstGeom prst="rect">
            <a:avLst/>
          </a:prstGeom>
          <a:noFill/>
          <a:ln w="0">
            <a:noFill/>
          </a:ln>
        </p:spPr>
        <p:txBody>
          <a:bodyPr lIns="93240" rIns="93240" tIns="46440" bIns="46440" anchor="b">
            <a:noAutofit/>
          </a:bodyPr>
          <a:lstStyle>
            <a:lvl1pPr indent="0">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defRPr b="0" lang="en-US" sz="1200" strike="noStrike" u="none">
                <a:solidFill>
                  <a:srgbClr val="000000"/>
                </a:solidFill>
                <a:effectLst/>
                <a:uFillTx/>
                <a:latin typeface="Times New Roman"/>
              </a:defRPr>
            </a:lvl1pPr>
          </a:lstStyle>
          <a:p>
            <a:pPr indent="0">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15" name="PlaceHolder 6"/>
          <p:cNvSpPr>
            <a:spLocks noGrp="1"/>
          </p:cNvSpPr>
          <p:nvPr>
            <p:ph type="sldNum" idx="6"/>
          </p:nvPr>
        </p:nvSpPr>
        <p:spPr>
          <a:xfrm>
            <a:off x="5268600" y="6659640"/>
            <a:ext cx="4027320" cy="350640"/>
          </a:xfrm>
          <a:prstGeom prst="rect">
            <a:avLst/>
          </a:prstGeom>
          <a:noFill/>
          <a:ln w="0">
            <a:noFill/>
          </a:ln>
        </p:spPr>
        <p:txBody>
          <a:bodyPr lIns="93240" rIns="93240" tIns="46440" bIns="46440" anchor="b">
            <a:noAutofit/>
          </a:bodyPr>
          <a:lstStyle>
            <a:lvl1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defRPr b="0" lang="en-US" sz="1200" strike="noStrike" u="none">
                <a:solidFill>
                  <a:srgbClr val="000000"/>
                </a:solidFill>
                <a:effectLst/>
                <a:uFillTx/>
                <a:latin typeface="Times New Roman"/>
              </a:defRPr>
            </a:lvl1pPr>
          </a:lstStyle>
          <a:p>
            <a: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ACB07725-1BDE-4D2D-8024-DFD744203F6B}"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sldImg"/>
          </p:nvPr>
        </p:nvSpPr>
        <p:spPr>
          <a:xfrm>
            <a:off x="2908440" y="544680"/>
            <a:ext cx="3531960" cy="2649240"/>
          </a:xfrm>
          <a:prstGeom prst="rect">
            <a:avLst/>
          </a:prstGeom>
          <a:ln w="0">
            <a:noFill/>
          </a:ln>
        </p:spPr>
      </p:sp>
      <p:sp>
        <p:nvSpPr>
          <p:cNvPr id="74" name="PlaceHolder 2"/>
          <p:cNvSpPr>
            <a:spLocks noGrp="1"/>
          </p:cNvSpPr>
          <p:nvPr>
            <p:ph type="body"/>
          </p:nvPr>
        </p:nvSpPr>
        <p:spPr>
          <a:xfrm>
            <a:off x="1255320" y="3351240"/>
            <a:ext cx="6831000" cy="3114720"/>
          </a:xfrm>
          <a:prstGeom prst="rect">
            <a:avLst/>
          </a:prstGeom>
          <a:noFill/>
          <a:ln w="0">
            <a:noFill/>
          </a:ln>
        </p:spPr>
        <p:txBody>
          <a:bodyPr lIns="99360" rIns="99360" tIns="49680" bIns="4968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Talking about model calibration is a rather bold endeavor. Everyone calibrates models, and people tend to be very attached to their way of doing things. Yet in most cases improvements can be made. I will be presenting a set of ideas that I think are good ideas, and perhaps some of them may be helpful to you. I hope also that I will have a chance to talk with you about your ideas, because I expect some of them would be helpful to me. So please don’t be shy about coming to talk with me after the talk.</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00"/>
              </a:solidFill>
              <a:effectLst/>
              <a:uFillTx/>
              <a:latin typeface="Times New Roman"/>
            </a:endParaRPr>
          </a:p>
        </p:txBody>
      </p:sp>
      <p:sp>
        <p:nvSpPr>
          <p:cNvPr id="6" name="PlaceHolder 2"/>
          <p:cNvSpPr>
            <a:spLocks noGrp="1"/>
          </p:cNvSpPr>
          <p:nvPr>
            <p:ph type="subTitle"/>
          </p:nvPr>
        </p:nvSpPr>
        <p:spPr>
          <a:xfrm>
            <a:off x="685800" y="1981080"/>
            <a:ext cx="7772400" cy="4114800"/>
          </a:xfrm>
          <a:prstGeom prst="rect">
            <a:avLst/>
          </a:prstGeom>
          <a:noFill/>
          <a:ln w="0">
            <a:noFill/>
          </a:ln>
        </p:spPr>
        <p:txBody>
          <a:bodyPr lIns="0" rIns="0" tIns="0" bIns="0" anchor="ctr">
            <a:spAutoFit/>
          </a:bodyPr>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3A4F314-6D62-48A9-8C12-8C5CD27F86C2}"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00"/>
              </a:solidFill>
              <a:effectLst/>
              <a:uFillTx/>
              <a:latin typeface="Times New Roman"/>
            </a:endParaRPr>
          </a:p>
        </p:txBody>
      </p:sp>
      <p:sp>
        <p:nvSpPr>
          <p:cNvPr id="8" name="PlaceHolder 2"/>
          <p:cNvSpPr>
            <a:spLocks noGrp="1"/>
          </p:cNvSpPr>
          <p:nvPr>
            <p:ph/>
          </p:nvPr>
        </p:nvSpPr>
        <p:spPr>
          <a:xfrm>
            <a:off x="685800" y="1981080"/>
            <a:ext cx="7772400" cy="411480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A391192-EA42-4830-B842-EFA61C28912B}"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00"/>
                </a:solidFill>
                <a:effectLst/>
                <a:uFillTx/>
                <a:latin typeface="Times New Roman"/>
              </a:rPr>
              <a:t>Click to edit the title text format</a:t>
            </a:r>
            <a:endParaRPr b="0" lang="en-IN" sz="4400" strike="noStrike" u="none">
              <a:solidFill>
                <a:srgbClr val="ffff00"/>
              </a:solidFill>
              <a:effectLst/>
              <a:uFillTx/>
              <a:latin typeface="Times New Roman"/>
            </a:endParaRPr>
          </a:p>
        </p:txBody>
      </p:sp>
      <p:sp>
        <p:nvSpPr>
          <p:cNvPr id="1" name="PlaceHolder 2"/>
          <p:cNvSpPr>
            <a:spLocks noGrp="1"/>
          </p:cNvSpPr>
          <p:nvPr>
            <p:ph type="body"/>
          </p:nvPr>
        </p:nvSpPr>
        <p:spPr>
          <a:xfrm>
            <a:off x="685800" y="198108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Click to edit the outline text format</a:t>
            </a:r>
            <a:endParaRPr b="0" lang="en-IN" sz="3200" strike="noStrike" u="none">
              <a:solidFill>
                <a:srgbClr val="ffffff"/>
              </a:solidFill>
              <a:effectLst/>
              <a:uFillTx/>
              <a:latin typeface="Times New Roman"/>
            </a:endParaRPr>
          </a:p>
          <a:p>
            <a:pPr lvl="1" marL="743040" indent="-28584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Second Outline Level</a:t>
            </a:r>
            <a:endParaRPr b="0" lang="en-IN" sz="3200" strike="noStrike" u="none">
              <a:solidFill>
                <a:srgbClr val="ffffff"/>
              </a:solidFill>
              <a:effectLst/>
              <a:uFillTx/>
              <a:latin typeface="Times New Roman"/>
            </a:endParaRPr>
          </a:p>
          <a:p>
            <a:pPr lvl="2" marL="11430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Third Outline Level</a:t>
            </a:r>
            <a:endParaRPr b="0" lang="en-IN" sz="3200" strike="noStrike" u="none">
              <a:solidFill>
                <a:srgbClr val="ffffff"/>
              </a:solidFill>
              <a:effectLst/>
              <a:uFillTx/>
              <a:latin typeface="Times New Roman"/>
            </a:endParaRPr>
          </a:p>
          <a:p>
            <a:pPr lvl="3" marL="16002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Fourth Outline Level</a:t>
            </a:r>
            <a:endParaRPr b="0" lang="en-IN" sz="3200" strike="noStrike" u="none">
              <a:solidFill>
                <a:srgbClr val="ffffff"/>
              </a:solidFill>
              <a:effectLst/>
              <a:uFillTx/>
              <a:latin typeface="Times New Roman"/>
            </a:endParaRPr>
          </a:p>
          <a:p>
            <a:pPr lvl="4" marL="20574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Fifth Outline Level</a:t>
            </a:r>
            <a:endParaRPr b="0" lang="en-IN" sz="3200" strike="noStrike" u="none">
              <a:solidFill>
                <a:srgbClr val="ffffff"/>
              </a:solidFill>
              <a:effectLst/>
              <a:uFillTx/>
              <a:latin typeface="Times New Roman"/>
            </a:endParaRPr>
          </a:p>
          <a:p>
            <a:pPr lvl="5" marL="20574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Sixth Outline Level</a:t>
            </a:r>
            <a:endParaRPr b="0" lang="en-IN" sz="3200" strike="noStrike" u="none">
              <a:solidFill>
                <a:srgbClr val="ffffff"/>
              </a:solidFill>
              <a:effectLst/>
              <a:uFillTx/>
              <a:latin typeface="Times New Roman"/>
            </a:endParaRPr>
          </a:p>
          <a:p>
            <a:pPr lvl="6" marL="2057400" indent="-22860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Seventh Outline Level</a:t>
            </a:r>
            <a:endParaRPr b="0" lang="en-IN" sz="3200" strike="noStrike" u="none">
              <a:solidFill>
                <a:srgbClr val="ffffff"/>
              </a:solidFill>
              <a:effectLst/>
              <a:uFillTx/>
              <a:latin typeface="Times New Roman"/>
            </a:endParaRPr>
          </a:p>
        </p:txBody>
      </p:sp>
      <p:sp>
        <p:nvSpPr>
          <p:cNvPr id="2" name="PlaceHolder 3"/>
          <p:cNvSpPr>
            <a:spLocks noGrp="1"/>
          </p:cNvSpPr>
          <p:nvPr>
            <p:ph type="dt" idx="1"/>
          </p:nvPr>
        </p:nvSpPr>
        <p:spPr>
          <a:xfrm>
            <a:off x="685800" y="6248520"/>
            <a:ext cx="1905120" cy="45720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3" name="PlaceHolder 4"/>
          <p:cNvSpPr>
            <a:spLocks noGrp="1"/>
          </p:cNvSpPr>
          <p:nvPr>
            <p:ph type="ftr" idx="2"/>
          </p:nvPr>
        </p:nvSpPr>
        <p:spPr>
          <a:xfrm>
            <a:off x="3124080" y="6248520"/>
            <a:ext cx="2895840" cy="45720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&lt;footer&gt;</a:t>
            </a:r>
            <a:endParaRPr b="0" lang="en-IN"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6553080" y="624852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A3401CD-AB78-4718-A789-2568B042F6C0}" type="slidenum">
              <a:rPr b="0" lang="en-IN" sz="1400" strike="noStrike" u="none">
                <a:solidFill>
                  <a:srgbClr val="ffffff"/>
                </a:solidFill>
                <a:effectLst/>
                <a:uFillTx/>
                <a:latin typeface="Times New Roman"/>
              </a:rPr>
              <a:t>&lt;number&gt;</a:t>
            </a:fld>
            <a:endParaRPr b="0" lang="en-IN"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16" name=""/>
          <p:cNvSpPr/>
          <p:nvPr/>
        </p:nvSpPr>
        <p:spPr>
          <a:xfrm>
            <a:off x="0" y="3276720"/>
            <a:ext cx="9144000" cy="22885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it-IT" sz="2400" strike="noStrike" u="none">
                <a:solidFill>
                  <a:srgbClr val="ffffff"/>
                </a:solidFill>
                <a:effectLst/>
                <a:uFillTx/>
                <a:latin typeface="Times New Roman"/>
              </a:rPr>
              <a:t>Geocenter, Copenhagen</a:t>
            </a:r>
            <a:r>
              <a:rPr b="0" lang="en-US" sz="2400" strike="noStrike" u="none">
                <a:solidFill>
                  <a:srgbClr val="ffffff"/>
                </a:solidFill>
                <a:effectLst/>
                <a:uFillTx/>
                <a:latin typeface="Times New Roman"/>
              </a:rPr>
              <a:t> </a:t>
            </a:r>
            <a:endParaRPr b="0" lang="en-IN" sz="2400" strike="noStrike" u="none">
              <a:solidFill>
                <a:srgbClr val="ffffff"/>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trike="noStrike" u="none">
                <a:solidFill>
                  <a:srgbClr val="ffffff"/>
                </a:solidFill>
                <a:effectLst/>
                <a:uFillTx/>
                <a:latin typeface="Times New Roman"/>
              </a:rPr>
              <a:t>13-15 September 2007</a:t>
            </a:r>
            <a:r>
              <a:rPr b="0" lang="en-US" sz="2400" strike="noStrike" u="none">
                <a:solidFill>
                  <a:srgbClr val="ffffff"/>
                </a:solidFill>
                <a:effectLst/>
                <a:uFillTx/>
                <a:latin typeface="Times New Roman"/>
              </a:rPr>
              <a:t> </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trike="noStrike" u="none">
                <a:solidFill>
                  <a:srgbClr val="ffff00"/>
                </a:solidFill>
                <a:effectLst/>
                <a:uFillTx/>
                <a:latin typeface="Times New Roman"/>
              </a:rPr>
              <a:t>Instructors: Mary C. Hill</a:t>
            </a:r>
            <a:r>
              <a:rPr b="1" lang="en-GB" sz="2400" strike="noStrike" u="none">
                <a:solidFill>
                  <a:srgbClr val="ffffff"/>
                </a:solidFill>
                <a:effectLst/>
                <a:uFillTx/>
                <a:latin typeface="Times New Roman"/>
              </a:rPr>
              <a:t> (US Geological Survey, USA)</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trike="noStrike" u="none">
                <a:solidFill>
                  <a:srgbClr val="ffffff"/>
                </a:solidFill>
                <a:effectLst/>
                <a:uFillTx/>
                <a:latin typeface="Times New Roman"/>
              </a:rPr>
              <a:t>                    </a:t>
            </a:r>
            <a:r>
              <a:rPr b="1" lang="en-GB" sz="2400" strike="noStrike" u="none">
                <a:solidFill>
                  <a:srgbClr val="ffff00"/>
                </a:solidFill>
                <a:effectLst/>
                <a:uFillTx/>
                <a:latin typeface="Times New Roman"/>
              </a:rPr>
              <a:t>Matthew Tonkin </a:t>
            </a:r>
            <a:r>
              <a:rPr b="1" lang="en-GB" sz="2400" strike="noStrike" u="none">
                <a:solidFill>
                  <a:srgbClr val="ffffff"/>
                </a:solidFill>
                <a:effectLst/>
                <a:uFillTx/>
                <a:latin typeface="Times New Roman"/>
              </a:rPr>
              <a:t>(SS Papadopulos and Associates, USA)</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trike="noStrike" u="none">
                <a:solidFill>
                  <a:srgbClr val="ffffff"/>
                </a:solidFill>
                <a:effectLst/>
                <a:uFillTx/>
                <a:latin typeface="Times New Roman"/>
              </a:rPr>
              <a:t>      </a:t>
            </a:r>
            <a:endParaRPr b="0" lang="en-IN" sz="2400" strike="noStrike" u="none">
              <a:solidFill>
                <a:srgbClr val="ffffff"/>
              </a:solidFill>
              <a:effectLst/>
              <a:uFillTx/>
              <a:latin typeface="Times New Roman"/>
            </a:endParaRPr>
          </a:p>
        </p:txBody>
      </p:sp>
      <p:sp>
        <p:nvSpPr>
          <p:cNvPr id="17" name="PlaceHolder 1"/>
          <p:cNvSpPr>
            <a:spLocks noGrp="1"/>
          </p:cNvSpPr>
          <p:nvPr>
            <p:ph type="title"/>
          </p:nvPr>
        </p:nvSpPr>
        <p:spPr>
          <a:xfrm>
            <a:off x="0" y="990360"/>
            <a:ext cx="9144000" cy="190476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4400" strike="noStrike" u="none">
                <a:solidFill>
                  <a:srgbClr val="ffff00"/>
                </a:solidFill>
                <a:effectLst/>
                <a:uFillTx/>
                <a:latin typeface="Times New Roman"/>
              </a:rPr>
              <a:t>Calibration, Sensitivity Analysis and Uncertainty of Groundwater Models  </a:t>
            </a:r>
            <a:endParaRPr b="0" lang="en-IN" sz="44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18" name="PlaceHolder 1"/>
          <p:cNvSpPr>
            <a:spLocks noGrp="1"/>
          </p:cNvSpPr>
          <p:nvPr>
            <p:ph/>
          </p:nvPr>
        </p:nvSpPr>
        <p:spPr>
          <a:xfrm>
            <a:off x="0" y="304560"/>
            <a:ext cx="9144000" cy="6553080"/>
          </a:xfrm>
          <a:prstGeom prst="rect">
            <a:avLst/>
          </a:prstGeom>
          <a:noFill/>
          <a:ln w="0">
            <a:noFill/>
          </a:ln>
        </p:spPr>
        <p:txBody>
          <a:bodyPr lIns="90000" rIns="90000" tIns="46800" bIns="46800" anchor="t">
            <a:normAutofit/>
          </a:bodyPr>
          <a:p>
            <a:pPr marL="343080" indent="-343080">
              <a:lnSpc>
                <a:spcPct val="90000"/>
              </a:lnSpc>
              <a:spcBef>
                <a:spcPts val="601"/>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These slides were developed for classes coordinated by Mary Hill or Claire Tiedeman since 1992. The slides are freely available from the web site for the text book by Hill and Tiedeman (2007, Wiley) at http://water.usgs.gov/lookup/get?research/hill_tiedeman_book. </a:t>
            </a:r>
            <a:endParaRPr b="0" lang="en-IN" sz="2400" strike="noStrike" u="none">
              <a:solidFill>
                <a:srgbClr val="ffffff"/>
              </a:solidFill>
              <a:effectLst/>
              <a:uFillTx/>
              <a:latin typeface="Times New Roman"/>
            </a:endParaRPr>
          </a:p>
          <a:p>
            <a:pPr marL="343080" indent="-343080">
              <a:lnSpc>
                <a:spcPct val="90000"/>
              </a:lnSpc>
              <a:spcBef>
                <a:spcPts val="601"/>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Contributors to the slides include </a:t>
            </a:r>
            <a:endParaRPr b="0" lang="en-IN" sz="2400" strike="noStrike" u="none">
              <a:solidFill>
                <a:srgbClr val="ffffff"/>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Mary C. Hill             Claire R. Tiedeman                                           </a:t>
            </a:r>
            <a:r>
              <a:rPr b="1" lang="en-US" sz="2400" strike="noStrike" u="none">
                <a:solidFill>
                  <a:srgbClr val="ff9900"/>
                </a:solidFill>
                <a:effectLst/>
                <a:uFillTx/>
                <a:latin typeface="Times New Roman"/>
              </a:rPr>
              <a:t>U.S.</a:t>
            </a:r>
            <a:r>
              <a:rPr b="0" lang="en-US" sz="2400" strike="noStrike" u="none">
                <a:solidFill>
                  <a:srgbClr val="00cc00"/>
                </a:solidFill>
                <a:effectLst/>
                <a:uFillTx/>
                <a:latin typeface="Times New Roman"/>
              </a:rPr>
              <a:t> </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Richard L. Cooley (retired)                                                      </a:t>
            </a:r>
            <a:r>
              <a:rPr b="1" lang="en-US" sz="2400" strike="noStrike" u="none">
                <a:solidFill>
                  <a:srgbClr val="ff9900"/>
                </a:solidFill>
                <a:effectLst/>
                <a:uFillTx/>
                <a:latin typeface="Times New Roman"/>
              </a:rPr>
              <a:t>Geological</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Edward Banta                                                                                 </a:t>
            </a:r>
            <a:r>
              <a:rPr b="1" lang="en-US" sz="2400" strike="noStrike" u="none">
                <a:solidFill>
                  <a:srgbClr val="ff9900"/>
                </a:solidFill>
                <a:effectLst/>
                <a:uFillTx/>
                <a:latin typeface="Times New Roman"/>
              </a:rPr>
              <a:t>Survey</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Marshall Gannett      D. Matthew Ely</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Arlen Harbaugh        Howard Reeves</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Steffen Mehl (now at California State Univ, Chico)</a:t>
            </a:r>
            <a:endParaRPr b="0" lang="en-IN" sz="2400" strike="noStrike" u="none">
              <a:solidFill>
                <a:srgbClr val="ffffff"/>
              </a:solidFill>
              <a:effectLst/>
              <a:uFillTx/>
              <a:latin typeface="Times New Roman"/>
            </a:endParaRPr>
          </a:p>
          <a:p>
            <a:pPr marL="343080" indent="-343080">
              <a:lnSpc>
                <a:spcPct val="90000"/>
              </a:lnSpc>
              <a:spcBef>
                <a:spcPts val="9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Evan Anderman, </a:t>
            </a:r>
            <a:r>
              <a:rPr b="1" lang="en-US" sz="2400" strike="noStrike" u="none">
                <a:solidFill>
                  <a:srgbClr val="ff9900"/>
                </a:solidFill>
                <a:effectLst/>
                <a:uFillTx/>
                <a:latin typeface="Times New Roman"/>
              </a:rPr>
              <a:t>formerly Calibra Consultants, McDonald Morrissey</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Matt Tonkin, </a:t>
            </a:r>
            <a:r>
              <a:rPr b="1" lang="en-US" sz="2400" strike="noStrike" u="none">
                <a:solidFill>
                  <a:srgbClr val="ff9900"/>
                </a:solidFill>
                <a:effectLst/>
                <a:uFillTx/>
                <a:latin typeface="Times New Roman"/>
              </a:rPr>
              <a:t>SS Papadopulos and Associates</a:t>
            </a:r>
            <a:r>
              <a:rPr b="0" lang="en-US" sz="2400" strike="noStrike" u="none">
                <a:solidFill>
                  <a:srgbClr val="ff9900"/>
                </a:solidFill>
                <a:effectLst/>
                <a:uFillTx/>
                <a:latin typeface="Times New Roman"/>
              </a:rPr>
              <a:t> </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Gilbert Barth, </a:t>
            </a:r>
            <a:r>
              <a:rPr b="1" lang="en-US" sz="2400" strike="noStrike" u="none">
                <a:solidFill>
                  <a:srgbClr val="ff9900"/>
                </a:solidFill>
                <a:effectLst/>
                <a:uFillTx/>
                <a:latin typeface="Times New Roman"/>
              </a:rPr>
              <a:t>SS Papadopulos and Associates</a:t>
            </a:r>
            <a:r>
              <a:rPr b="0" lang="en-US" sz="2400" strike="noStrike" u="none">
                <a:solidFill>
                  <a:srgbClr val="ffffff"/>
                </a:solidFill>
                <a:effectLst/>
                <a:uFillTx/>
                <a:latin typeface="Times New Roman"/>
              </a:rPr>
              <a:t> </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Heidi Christensen Barlebo, </a:t>
            </a:r>
            <a:r>
              <a:rPr b="1" lang="en-US" sz="2400" strike="noStrike" u="none">
                <a:solidFill>
                  <a:srgbClr val="ff9900"/>
                </a:solidFill>
                <a:effectLst/>
                <a:uFillTx/>
                <a:latin typeface="Times New Roman"/>
              </a:rPr>
              <a:t>GEUS</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Frank Smits,  </a:t>
            </a:r>
            <a:r>
              <a:rPr b="1" lang="en-US" sz="2400" strike="noStrike" u="none">
                <a:solidFill>
                  <a:srgbClr val="ff9900"/>
                </a:solidFill>
                <a:effectLst/>
                <a:uFillTx/>
                <a:latin typeface="Times New Roman"/>
              </a:rPr>
              <a:t>Dutch hydrologist</a:t>
            </a:r>
            <a:endParaRPr b="0" lang="en-IN" sz="2400" strike="noStrike" u="none">
              <a:solidFill>
                <a:srgbClr val="ffffff"/>
              </a:solidFill>
              <a:effectLst/>
              <a:uFillTx/>
              <a:latin typeface="Times New Roman"/>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Willem Jan Zaadnoordijk,</a:t>
            </a:r>
            <a:r>
              <a:rPr b="0" lang="en-US" sz="2400" strike="noStrike" u="none">
                <a:solidFill>
                  <a:srgbClr val="00cc00"/>
                </a:solidFill>
                <a:effectLst/>
                <a:uFillTx/>
                <a:latin typeface="Times New Roman"/>
              </a:rPr>
              <a:t> </a:t>
            </a:r>
            <a:r>
              <a:rPr b="1" lang="en-GB" sz="2400" strike="noStrike" u="none">
                <a:solidFill>
                  <a:srgbClr val="ff9900"/>
                </a:solidFill>
                <a:effectLst/>
                <a:uFillTx/>
                <a:latin typeface="Times New Roman"/>
              </a:rPr>
              <a:t>Royal Haskoning, the Netherlands</a:t>
            </a:r>
            <a:endParaRPr b="0" lang="en-IN" sz="2400" strike="noStrike" u="none">
              <a:solidFill>
                <a:srgbClr val="ffffff"/>
              </a:solidFill>
              <a:effectLst/>
              <a:uFillTx/>
              <a:latin typeface="Times New Roman"/>
            </a:endParaRPr>
          </a:p>
        </p:txBody>
      </p:sp>
      <p:pic>
        <p:nvPicPr>
          <p:cNvPr id="19" name="" descr=""/>
          <p:cNvPicPr/>
          <p:nvPr/>
        </p:nvPicPr>
        <p:blipFill>
          <a:blip r:embed="rId1"/>
          <a:stretch/>
        </p:blipFill>
        <p:spPr>
          <a:xfrm>
            <a:off x="7358040" y="3352680"/>
            <a:ext cx="1785960" cy="5176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380520"/>
            <a:ext cx="7772400" cy="38124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00"/>
                </a:solidFill>
                <a:effectLst/>
                <a:uFillTx/>
                <a:latin typeface="Times New Roman"/>
                <a:ea typeface="Times New Roman"/>
              </a:rPr>
              <a:t>Instructors</a:t>
            </a:r>
            <a:endParaRPr b="0" lang="en-IN" sz="3600" strike="noStrike" u="none">
              <a:solidFill>
                <a:srgbClr val="ffff00"/>
              </a:solidFill>
              <a:effectLst/>
              <a:uFillTx/>
              <a:latin typeface="Times New Roman"/>
            </a:endParaRPr>
          </a:p>
        </p:txBody>
      </p:sp>
      <p:sp>
        <p:nvSpPr>
          <p:cNvPr id="21" name="PlaceHolder 2"/>
          <p:cNvSpPr>
            <a:spLocks noGrp="1"/>
          </p:cNvSpPr>
          <p:nvPr>
            <p:ph/>
          </p:nvPr>
        </p:nvSpPr>
        <p:spPr>
          <a:xfrm>
            <a:off x="0" y="1066320"/>
            <a:ext cx="9144000" cy="5791320"/>
          </a:xfrm>
          <a:prstGeom prst="rect">
            <a:avLst/>
          </a:prstGeom>
          <a:noFill/>
          <a:ln w="0">
            <a:noFill/>
          </a:ln>
        </p:spPr>
        <p:txBody>
          <a:bodyPr lIns="90000" rIns="90000" tIns="46800" bIns="46800" anchor="t">
            <a:normAutofit/>
          </a:bodyPr>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00"/>
                </a:solidFill>
                <a:effectLst/>
                <a:uFillTx/>
                <a:latin typeface="Times New Roman"/>
                <a:ea typeface="Times New Roman"/>
              </a:rPr>
              <a:t>Mary Hill</a:t>
            </a:r>
            <a:r>
              <a:rPr b="1" lang="en-US" sz="2400" strike="noStrike" u="none">
                <a:solidFill>
                  <a:srgbClr val="ffffff"/>
                </a:solidFill>
                <a:effectLst/>
                <a:uFillTx/>
                <a:latin typeface="Times New Roman"/>
                <a:ea typeface="Times New Roman"/>
              </a:rPr>
              <a:t> – US Geological Survey, Boulder, CO, USA. </a:t>
            </a:r>
            <a:endParaRPr b="0" lang="en-IN" sz="2400" strike="noStrike" u="none">
              <a:solidFill>
                <a:srgbClr val="ffffff"/>
              </a:solidFill>
              <a:effectLst/>
              <a:uFillTx/>
              <a:latin typeface="Times New Roman"/>
            </a:endParaRPr>
          </a:p>
          <a:p>
            <a:pPr lvl="1" marL="743040" indent="-285840">
              <a:lnSpc>
                <a:spcPct val="9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imes New Roman"/>
                <a:ea typeface="Times New Roman"/>
              </a:rPr>
              <a:t>Focus: Improve how we simulate ground-water systems and evaluate model uncertainty. Wrote MODFLOWP, PCG2 solver, co-author of, for example, MODFLOW-2000, HUF, UCODE_2005, MMA, OPR-PPR.</a:t>
            </a:r>
            <a:endParaRPr b="0" lang="en-IN" sz="2000" strike="noStrike" u="none">
              <a:solidFill>
                <a:srgbClr val="ffffff"/>
              </a:solidFill>
              <a:effectLst/>
              <a:uFillTx/>
              <a:latin typeface="Times New Roman"/>
            </a:endParaRPr>
          </a:p>
          <a:p>
            <a:pPr lvl="1" marL="743040" indent="-285840">
              <a:lnSpc>
                <a:spcPct val="9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imes New Roman"/>
                <a:ea typeface="Times New Roman"/>
              </a:rPr>
              <a:t>BA, Geology and Business Administration, Hope College, Holland, MI.</a:t>
            </a:r>
            <a:endParaRPr b="0" lang="en-IN" sz="2000" strike="noStrike" u="none">
              <a:solidFill>
                <a:srgbClr val="ffffff"/>
              </a:solidFill>
              <a:effectLst/>
              <a:uFillTx/>
              <a:latin typeface="Times New Roman"/>
            </a:endParaRPr>
          </a:p>
          <a:p>
            <a:pPr lvl="1" marL="743040" indent="-285840">
              <a:lnSpc>
                <a:spcPct val="9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imes New Roman"/>
                <a:ea typeface="Times New Roman"/>
              </a:rPr>
              <a:t>PhD, Water Resources, Civil Engineering, Princeton University</a:t>
            </a:r>
            <a:endParaRPr b="0" lang="en-IN" sz="2000" strike="noStrike" u="none">
              <a:solidFill>
                <a:srgbClr val="ffffff"/>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00"/>
                </a:solidFill>
                <a:effectLst/>
                <a:uFillTx/>
                <a:latin typeface="Times New Roman"/>
                <a:ea typeface="Times New Roman"/>
              </a:rPr>
              <a:t>Matt Tonkin</a:t>
            </a:r>
            <a:r>
              <a:rPr b="1" lang="en-US" sz="2400" strike="noStrike" u="none">
                <a:solidFill>
                  <a:srgbClr val="ffffff"/>
                </a:solidFill>
                <a:effectLst/>
                <a:uFillTx/>
                <a:latin typeface="Times New Roman"/>
                <a:ea typeface="Times New Roman"/>
              </a:rPr>
              <a:t> – Hydrogeologist, SS Papadopulos &amp; Assoc, Inc.</a:t>
            </a:r>
            <a:endParaRPr b="0" lang="en-IN" sz="2400" strike="noStrike" u="none">
              <a:solidFill>
                <a:srgbClr val="ffffff"/>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Times New Roman"/>
                <a:ea typeface="Times New Roman"/>
              </a:rPr>
              <a:t>	</a:t>
            </a:r>
            <a:r>
              <a:rPr b="1" lang="en-US" sz="2400" strike="noStrike" u="none">
                <a:solidFill>
                  <a:srgbClr val="ffffff"/>
                </a:solidFill>
                <a:effectLst/>
                <a:uFillTx/>
                <a:latin typeface="Times New Roman"/>
                <a:ea typeface="Times New Roman"/>
              </a:rPr>
              <a:t>	</a:t>
            </a:r>
            <a:r>
              <a:rPr b="1" lang="en-US" sz="2400" strike="noStrike" u="none">
                <a:solidFill>
                  <a:srgbClr val="ffffff"/>
                </a:solidFill>
                <a:effectLst/>
                <a:uFillTx/>
                <a:latin typeface="Times New Roman"/>
                <a:ea typeface="Times New Roman"/>
              </a:rPr>
              <a:t>          </a:t>
            </a:r>
            <a:r>
              <a:rPr b="1" lang="en-US" sz="2400" strike="noStrike" u="none">
                <a:solidFill>
                  <a:srgbClr val="ffffff"/>
                </a:solidFill>
                <a:effectLst/>
                <a:uFillTx/>
                <a:latin typeface="Times New Roman"/>
                <a:ea typeface="Times New Roman"/>
              </a:rPr>
              <a:t>	</a:t>
            </a:r>
            <a:r>
              <a:rPr b="1" lang="en-US" sz="2400" strike="noStrike" u="none">
                <a:solidFill>
                  <a:srgbClr val="ffffff"/>
                </a:solidFill>
                <a:effectLst/>
                <a:uFillTx/>
                <a:latin typeface="Times New Roman"/>
                <a:ea typeface="Times New Roman"/>
              </a:rPr>
              <a:t>  PhD student, U. of Queensland, Australia</a:t>
            </a:r>
            <a:endParaRPr b="0" lang="en-IN" sz="2400" strike="noStrike" u="none">
              <a:solidFill>
                <a:srgbClr val="ffffff"/>
              </a:solidFill>
              <a:effectLst/>
              <a:uFillTx/>
              <a:latin typeface="Times New Roman"/>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ea typeface="Times New Roman"/>
              </a:rPr>
              <a:t>	</a:t>
            </a:r>
            <a:r>
              <a:rPr b="0" lang="en-US" sz="2400" strike="noStrike" u="none">
                <a:solidFill>
                  <a:srgbClr val="ffffff"/>
                </a:solidFill>
                <a:effectLst/>
                <a:uFillTx/>
                <a:latin typeface="Times New Roman"/>
                <a:ea typeface="Times New Roman"/>
              </a:rPr>
              <a:t>  </a:t>
            </a:r>
            <a:r>
              <a:rPr b="0" lang="en-US" sz="2000" strike="noStrike" u="none">
                <a:solidFill>
                  <a:srgbClr val="ffffff"/>
                </a:solidFill>
                <a:effectLst/>
                <a:uFillTx/>
                <a:latin typeface="Times New Roman"/>
                <a:ea typeface="Times New Roman"/>
              </a:rPr>
              <a:t>Focus: Computationally efficient predictive analysis through regularized inversion</a:t>
            </a:r>
            <a:endParaRPr b="0" lang="en-IN" sz="2000" strike="noStrike" u="none">
              <a:solidFill>
                <a:srgbClr val="ffffff"/>
              </a:solidFill>
              <a:effectLst/>
              <a:uFillTx/>
              <a:latin typeface="Times New Roman"/>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imes New Roman"/>
                <a:ea typeface="Times New Roman"/>
              </a:rPr>
              <a:t>	</a:t>
            </a:r>
            <a:r>
              <a:rPr b="0" lang="en-US" sz="2000" strike="noStrike" u="none">
                <a:solidFill>
                  <a:srgbClr val="ffffff"/>
                </a:solidFill>
                <a:effectLst/>
                <a:uFillTx/>
                <a:latin typeface="Times New Roman"/>
                <a:ea typeface="Times New Roman"/>
              </a:rPr>
              <a:t>	</a:t>
            </a:r>
            <a:r>
              <a:rPr b="0" lang="en-US" sz="2000" strike="noStrike" u="none">
                <a:solidFill>
                  <a:srgbClr val="ffffff"/>
                </a:solidFill>
                <a:effectLst/>
                <a:uFillTx/>
                <a:latin typeface="Times New Roman"/>
                <a:ea typeface="Times New Roman"/>
              </a:rPr>
              <a:t>    Co-author – MOD-PREDICT, OPR-PPR</a:t>
            </a:r>
            <a:endParaRPr b="0" lang="en-IN" sz="2000" strike="noStrike" u="none">
              <a:solidFill>
                <a:srgbClr val="ffffff"/>
              </a:solidFill>
              <a:effectLst/>
              <a:uFillTx/>
              <a:latin typeface="Times New Roman"/>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imes New Roman"/>
                <a:ea typeface="Times New Roman"/>
              </a:rPr>
              <a:t>	</a:t>
            </a:r>
            <a:r>
              <a:rPr b="0" lang="en-US" sz="2000" strike="noStrike" u="none">
                <a:solidFill>
                  <a:srgbClr val="ffffff"/>
                </a:solidFill>
                <a:effectLst/>
                <a:uFillTx/>
                <a:latin typeface="Times New Roman"/>
                <a:ea typeface="Times New Roman"/>
              </a:rPr>
              <a:t>	</a:t>
            </a:r>
            <a:r>
              <a:rPr b="0" lang="en-US" sz="2000" strike="noStrike" u="none">
                <a:solidFill>
                  <a:srgbClr val="ffffff"/>
                </a:solidFill>
                <a:effectLst/>
                <a:uFillTx/>
                <a:latin typeface="Times New Roman"/>
                <a:ea typeface="Times New Roman"/>
              </a:rPr>
              <a:t>    Host – PEST technical support forum</a:t>
            </a:r>
            <a:r>
              <a:rPr b="0" lang="en-US" sz="2000" strike="noStrike" u="none">
                <a:solidFill>
                  <a:srgbClr val="ffffff"/>
                </a:solidFill>
                <a:effectLst/>
                <a:uFillTx/>
                <a:latin typeface="Times New Roman"/>
                <a:ea typeface="Times New Roman"/>
              </a:rPr>
              <a:t>	</a:t>
            </a:r>
            <a:endParaRPr b="0" lang="en-IN" sz="2000" strike="noStrike" u="none">
              <a:solidFill>
                <a:srgbClr val="ffffff"/>
              </a:solidFill>
              <a:effectLst/>
              <a:uFillTx/>
              <a:latin typeface="Times New Roman"/>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imes New Roman"/>
                <a:ea typeface="Times New Roman"/>
              </a:rPr>
              <a:t>	</a:t>
            </a:r>
            <a:r>
              <a:rPr b="0" lang="en-US" sz="2000" strike="noStrike" u="none">
                <a:solidFill>
                  <a:srgbClr val="ffffff"/>
                </a:solidFill>
                <a:effectLst/>
                <a:uFillTx/>
                <a:latin typeface="Times New Roman"/>
                <a:ea typeface="Times New Roman"/>
              </a:rPr>
              <a:t>  BA, Applied and Environmental Geology, Birmingham University, UK</a:t>
            </a:r>
            <a:endParaRPr b="0" lang="en-IN" sz="2000" strike="noStrike" u="none">
              <a:solidFill>
                <a:srgbClr val="ffffff"/>
              </a:solidFill>
              <a:effectLst/>
              <a:uFillTx/>
              <a:latin typeface="Times New Roman"/>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imes New Roman"/>
                <a:ea typeface="Times New Roman"/>
              </a:rPr>
              <a:t>	</a:t>
            </a:r>
            <a:r>
              <a:rPr b="0" lang="en-US" sz="2000" strike="noStrike" u="none">
                <a:solidFill>
                  <a:srgbClr val="ffffff"/>
                </a:solidFill>
                <a:effectLst/>
                <a:uFillTx/>
                <a:latin typeface="Times New Roman"/>
                <a:ea typeface="Times New Roman"/>
              </a:rPr>
              <a:t>  MS, Hydrogeology, Birmingham University, UK</a:t>
            </a:r>
            <a:endParaRPr b="0" lang="en-IN" sz="20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22824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00"/>
                </a:solidFill>
                <a:effectLst/>
                <a:uFillTx/>
                <a:latin typeface="Times New Roman"/>
              </a:rPr>
              <a:t>You!</a:t>
            </a:r>
            <a:endParaRPr b="0" lang="en-IN" sz="4400" strike="noStrike" u="none">
              <a:solidFill>
                <a:srgbClr val="ffff00"/>
              </a:solidFill>
              <a:effectLst/>
              <a:uFillTx/>
              <a:latin typeface="Times New Roman"/>
            </a:endParaRPr>
          </a:p>
        </p:txBody>
      </p:sp>
      <p:sp>
        <p:nvSpPr>
          <p:cNvPr id="23" name="PlaceHolder 2"/>
          <p:cNvSpPr>
            <a:spLocks noGrp="1"/>
          </p:cNvSpPr>
          <p:nvPr>
            <p:ph/>
          </p:nvPr>
        </p:nvSpPr>
        <p:spPr>
          <a:xfrm>
            <a:off x="380880" y="1143000"/>
            <a:ext cx="8763120" cy="4114800"/>
          </a:xfrm>
          <a:prstGeom prst="rect">
            <a:avLst/>
          </a:prstGeom>
          <a:noFill/>
          <a:ln w="0">
            <a:noFill/>
          </a:ln>
        </p:spPr>
        <p:txBody>
          <a:bodyPr lIns="90000" rIns="90000" tIns="46800" bIns="46800" anchor="t">
            <a:normAutofit fontScale="85000" lnSpcReduction="19999"/>
          </a:bodyPr>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Student introductions</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Name</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Your country and, briefly, major national ground-water problems</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Employer/school</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Experience in ground-water modeling</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	</a:t>
            </a:r>
            <a:r>
              <a:rPr b="0" lang="en-IN" sz="2400" strike="noStrike" u="none">
                <a:solidFill>
                  <a:srgbClr val="ffffff"/>
                </a:solidFill>
                <a:effectLst/>
                <a:uFillTx/>
                <a:latin typeface="Times New Roman"/>
                <a:ea typeface="Times New Roman"/>
              </a:rPr>
              <a:t>	</a:t>
            </a:r>
            <a:r>
              <a:rPr b="0" lang="en-IN" sz="2400" strike="noStrike" u="none">
                <a:solidFill>
                  <a:srgbClr val="ffffff"/>
                </a:solidFill>
                <a:effectLst/>
                <a:uFillTx/>
                <a:latin typeface="Times New Roman"/>
                <a:ea typeface="Times New Roman"/>
              </a:rPr>
              <a:t>	</a:t>
            </a:r>
            <a:r>
              <a:rPr b="0" lang="en-IN" sz="2400" strike="noStrike" u="none">
                <a:solidFill>
                  <a:srgbClr val="ffffff"/>
                </a:solidFill>
                <a:effectLst/>
                <a:uFillTx/>
                <a:latin typeface="Times New Roman"/>
                <a:ea typeface="Times New Roman"/>
              </a:rPr>
              <a:t>inverse methods</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	</a:t>
            </a:r>
            <a:r>
              <a:rPr b="0" lang="en-IN" sz="2400" strike="noStrike" u="none">
                <a:solidFill>
                  <a:srgbClr val="ffffff"/>
                </a:solidFill>
                <a:effectLst/>
                <a:uFillTx/>
                <a:latin typeface="Times New Roman"/>
                <a:ea typeface="Times New Roman"/>
              </a:rPr>
              <a:t>	</a:t>
            </a:r>
            <a:r>
              <a:rPr b="0" lang="en-IN" sz="2400" strike="noStrike" u="none">
                <a:solidFill>
                  <a:srgbClr val="ffffff"/>
                </a:solidFill>
                <a:effectLst/>
                <a:uFillTx/>
                <a:latin typeface="Times New Roman"/>
                <a:ea typeface="Times New Roman"/>
              </a:rPr>
              <a:t>	</a:t>
            </a:r>
            <a:r>
              <a:rPr b="0" lang="en-IN" sz="2400" strike="noStrike" u="none">
                <a:solidFill>
                  <a:srgbClr val="ffffff"/>
                </a:solidFill>
                <a:effectLst/>
                <a:uFillTx/>
                <a:latin typeface="Times New Roman"/>
                <a:ea typeface="Times New Roman"/>
              </a:rPr>
              <a:t>statistics</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Graphical interface experience/preference</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What do you want to obtain from this course?</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To what modeling project(s) do you plan to apply the methods?</a:t>
            </a:r>
            <a:endParaRPr b="0" lang="en-IN" sz="2400" strike="noStrike" u="none">
              <a:solidFill>
                <a:srgbClr val="ffffff"/>
              </a:solidFill>
              <a:effectLst/>
              <a:uFillTx/>
              <a:latin typeface="Times New Roman"/>
            </a:endParaRPr>
          </a:p>
          <a:p>
            <a:pPr marL="343080" indent="-34308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685800" y="-360"/>
            <a:ext cx="7772400" cy="762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00"/>
                </a:solidFill>
                <a:effectLst/>
                <a:uFillTx/>
                <a:latin typeface="Times New Roman"/>
                <a:ea typeface="Times New Roman"/>
              </a:rPr>
              <a:t>Primary Documents Used in the Course</a:t>
            </a:r>
            <a:endParaRPr b="0" lang="en-IN" sz="3200" strike="noStrike" u="none">
              <a:solidFill>
                <a:srgbClr val="ffff00"/>
              </a:solidFill>
              <a:effectLst/>
              <a:uFillTx/>
              <a:latin typeface="Times New Roman"/>
            </a:endParaRPr>
          </a:p>
        </p:txBody>
      </p:sp>
      <p:sp>
        <p:nvSpPr>
          <p:cNvPr id="25" name=""/>
          <p:cNvSpPr/>
          <p:nvPr/>
        </p:nvSpPr>
        <p:spPr>
          <a:xfrm>
            <a:off x="0" y="1752480"/>
            <a:ext cx="9144000" cy="22885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ffff00"/>
                </a:solidFill>
                <a:effectLst/>
                <a:uFillTx/>
                <a:latin typeface="Times New Roman"/>
                <a:ea typeface="Times New Roman"/>
              </a:rPr>
              <a:t>Effective Groundwater Model Calibration, with Analysis of Data, Sensitivity, Predictions, and Uncertainty</a:t>
            </a:r>
            <a:r>
              <a:rPr b="0" lang="en-IN" sz="2400" strike="noStrike" u="none">
                <a:solidFill>
                  <a:srgbClr val="ffffff"/>
                </a:solidFill>
                <a:effectLst/>
                <a:uFillTx/>
                <a:latin typeface="Times New Roman"/>
                <a:ea typeface="Times New Roman"/>
              </a:rPr>
              <a:t> </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(Hill and Tiedeman, 2007, Wiley)</a:t>
            </a:r>
            <a:r>
              <a:rPr b="0" lang="en-IN" sz="2400" strike="noStrike" u="none">
                <a:solidFill>
                  <a:srgbClr val="ffffff"/>
                </a:solidFill>
                <a:effectLst/>
                <a:uFillTx/>
                <a:latin typeface="Times New Roman"/>
                <a:ea typeface="Times New Roman"/>
              </a:rPr>
              <a:t>. </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ea typeface="Times New Roman"/>
              </a:rPr>
              <a:t>Program Documentation for </a:t>
            </a:r>
            <a:r>
              <a:rPr b="0" lang="en-IN" sz="2400" strike="noStrike" u="none">
                <a:solidFill>
                  <a:srgbClr val="ffff00"/>
                </a:solidFill>
                <a:effectLst/>
                <a:uFillTx/>
                <a:latin typeface="Times New Roman"/>
                <a:ea typeface="Times New Roman"/>
              </a:rPr>
              <a:t>MODFLOW-2005, MODPATH, UCODE_2005, OPR-PPR, MMA, PEST</a:t>
            </a:r>
            <a:endParaRPr b="0" lang="en-IN" sz="2400" strike="noStrike" u="none">
              <a:solidFill>
                <a:srgbClr val="ffffff"/>
              </a:solidFill>
              <a:effectLst/>
              <a:uFillTx/>
              <a:latin typeface="Times New Roman"/>
            </a:endParaRPr>
          </a:p>
        </p:txBody>
      </p:sp>
      <p:sp>
        <p:nvSpPr>
          <p:cNvPr id="26" name=""/>
          <p:cNvSpPr/>
          <p:nvPr/>
        </p:nvSpPr>
        <p:spPr>
          <a:xfrm>
            <a:off x="212760" y="4175280"/>
            <a:ext cx="8931240" cy="16185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imes New Roman"/>
                <a:ea typeface="Times New Roman"/>
              </a:rPr>
              <a:t>For all programs, documentation PDF files are provided and also can be downloaded from the internet.</a:t>
            </a:r>
            <a:endParaRPr b="0" lang="en-IN" sz="20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imes New Roman"/>
                <a:ea typeface="Times New Roman"/>
              </a:rPr>
              <a:t>Additional MODFLOW documentation can be found on: </a:t>
            </a:r>
            <a:r>
              <a:rPr b="0" lang="en-IN" sz="2000" strike="noStrike" u="none">
                <a:solidFill>
                  <a:srgbClr val="ffffff"/>
                </a:solidFill>
                <a:effectLst/>
                <a:uFillTx/>
                <a:latin typeface="Times New Roman"/>
              </a:rPr>
              <a:t>http://water.usgs.gov/nrp/gwsoftware/modflow2005/modflow2005.html</a:t>
            </a:r>
            <a:endParaRPr b="0" lang="en-IN" sz="20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685800" y="-155880"/>
            <a:ext cx="7772400" cy="8413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00"/>
                </a:solidFill>
                <a:effectLst/>
                <a:uFillTx/>
                <a:latin typeface="Times New Roman"/>
                <a:ea typeface="Times New Roman"/>
              </a:rPr>
              <a:t>Computer Software</a:t>
            </a:r>
            <a:endParaRPr b="0" lang="en-IN" sz="4400" strike="noStrike" u="none">
              <a:solidFill>
                <a:srgbClr val="ffff00"/>
              </a:solidFill>
              <a:effectLst/>
              <a:uFillTx/>
              <a:latin typeface="Times New Roman"/>
            </a:endParaRPr>
          </a:p>
        </p:txBody>
      </p:sp>
      <p:sp>
        <p:nvSpPr>
          <p:cNvPr id="28" name="PlaceHolder 2"/>
          <p:cNvSpPr>
            <a:spLocks noGrp="1"/>
          </p:cNvSpPr>
          <p:nvPr>
            <p:ph/>
          </p:nvPr>
        </p:nvSpPr>
        <p:spPr>
          <a:xfrm>
            <a:off x="0" y="761760"/>
            <a:ext cx="9144000" cy="6172200"/>
          </a:xfrm>
          <a:prstGeom prst="rect">
            <a:avLst/>
          </a:prstGeom>
          <a:noFill/>
          <a:ln w="0">
            <a:noFill/>
          </a:ln>
        </p:spPr>
        <p:txBody>
          <a:bodyPr lIns="90000" rIns="90000" tIns="46800" bIns="46800" anchor="t">
            <a:normAutofit/>
          </a:bodyPr>
          <a:p>
            <a:pPr marL="343080" indent="-343080">
              <a:lnSpc>
                <a:spcPct val="80000"/>
              </a:lnSpc>
              <a:spcBef>
                <a:spcPts val="575"/>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Parameter-estimation with UCODE_2005</a:t>
            </a:r>
            <a:endParaRPr b="0" lang="en-IN" sz="2300" strike="noStrike" u="none">
              <a:solidFill>
                <a:srgbClr val="ffffff"/>
              </a:solidFill>
              <a:effectLst/>
              <a:uFillTx/>
              <a:latin typeface="Times New Roman"/>
            </a:endParaRPr>
          </a:p>
          <a:p>
            <a:pPr marL="343080" indent="-343080">
              <a:lnSpc>
                <a:spcPct val="80000"/>
              </a:lnSpc>
              <a:spcBef>
                <a:spcPts val="575"/>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Class provides much of the background needed to use MODFLOW-2000, UCODE_2005, PEST, OSTRICH or any other inverse modeling code</a:t>
            </a:r>
            <a:endParaRPr b="0" lang="en-IN" sz="2300" strike="noStrike" u="none">
              <a:solidFill>
                <a:srgbClr val="ffffff"/>
              </a:solidFill>
              <a:effectLst/>
              <a:uFillTx/>
              <a:latin typeface="Times New Roman"/>
            </a:endParaRPr>
          </a:p>
          <a:p>
            <a:pPr marL="343080" indent="-343080">
              <a:lnSpc>
                <a:spcPct val="8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00"/>
                </a:solidFill>
                <a:effectLst/>
                <a:uFillTx/>
                <a:latin typeface="Symbol"/>
                <a:ea typeface="Symbol"/>
              </a:rPr>
              <a:t></a:t>
            </a:r>
            <a:r>
              <a:rPr b="0" lang="en-US" sz="2300" strike="noStrike" u="none">
                <a:solidFill>
                  <a:srgbClr val="ffff00"/>
                </a:solidFill>
                <a:effectLst/>
                <a:uFillTx/>
                <a:latin typeface="Times New Roman"/>
                <a:ea typeface="Times New Roman"/>
              </a:rPr>
              <a:t> </a:t>
            </a:r>
            <a:r>
              <a:rPr b="1" lang="en-US" sz="2300" strike="noStrike" u="none">
                <a:solidFill>
                  <a:srgbClr val="ffff00"/>
                </a:solidFill>
                <a:effectLst/>
                <a:uFillTx/>
                <a:latin typeface="Times New Roman"/>
                <a:ea typeface="Times New Roman"/>
              </a:rPr>
              <a:t>MODFLOW2005</a:t>
            </a:r>
            <a:r>
              <a:rPr b="0" lang="en-US" sz="2300" strike="noStrike" u="none">
                <a:solidFill>
                  <a:srgbClr val="ffff00"/>
                </a:solidFill>
                <a:effectLst/>
                <a:uFillTx/>
                <a:latin typeface="Times New Roman"/>
                <a:ea typeface="Times New Roman"/>
              </a:rPr>
              <a:t>    </a:t>
            </a:r>
            <a:endParaRPr b="0" lang="en-IN" sz="2300" strike="noStrike" u="none">
              <a:solidFill>
                <a:srgbClr val="ffffff"/>
              </a:solidFill>
              <a:effectLst/>
              <a:uFillTx/>
              <a:latin typeface="Times New Roman"/>
            </a:endParaRPr>
          </a:p>
          <a:p>
            <a:pPr marL="343080" indent="-343080">
              <a:lnSpc>
                <a:spcPct val="8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   USGS three-dimensional, transient, ground-water flow computer program. </a:t>
            </a:r>
            <a:endParaRPr b="0" lang="en-IN" sz="2300" strike="noStrike" u="none">
              <a:solidFill>
                <a:srgbClr val="ffffff"/>
              </a:solidFill>
              <a:effectLst/>
              <a:uFillTx/>
              <a:latin typeface="Times New Roman"/>
            </a:endParaRPr>
          </a:p>
          <a:p>
            <a:pPr marL="343080" indent="-343080">
              <a:lnSpc>
                <a:spcPct val="80000"/>
              </a:lnSpc>
              <a:spcBef>
                <a:spcPts val="575"/>
              </a:spcBef>
              <a:buClr>
                <a:srgbClr val="ffff00"/>
              </a:buClr>
              <a:buFont typeface="Symbol"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300" strike="noStrike" u="none">
                <a:solidFill>
                  <a:srgbClr val="ffff00"/>
                </a:solidFill>
                <a:effectLst/>
                <a:uFillTx/>
                <a:latin typeface="Times New Roman"/>
                <a:ea typeface="Times New Roman"/>
              </a:rPr>
              <a:t>UCODE-2005</a:t>
            </a:r>
            <a:r>
              <a:rPr b="0" lang="en-US" sz="2300" strike="noStrike" u="none">
                <a:solidFill>
                  <a:srgbClr val="ffffff"/>
                </a:solidFill>
                <a:effectLst/>
                <a:uFillTx/>
                <a:latin typeface="Times New Roman"/>
                <a:ea typeface="Times New Roman"/>
              </a:rPr>
              <a:t>: </a:t>
            </a:r>
            <a:endParaRPr b="0" lang="en-IN" sz="2300" strike="noStrike" u="none">
              <a:solidFill>
                <a:srgbClr val="ffffff"/>
              </a:solidFill>
              <a:effectLst/>
              <a:uFillTx/>
              <a:latin typeface="Times New Roman"/>
            </a:endParaRPr>
          </a:p>
          <a:p>
            <a:pPr marL="343080" indent="-343080">
              <a:lnSpc>
                <a:spcPct val="8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a:t>
            </a:r>
            <a:r>
              <a:rPr b="0" lang="en-US" sz="2300" strike="noStrike" u="none">
                <a:solidFill>
                  <a:srgbClr val="ffff00"/>
                </a:solidFill>
                <a:effectLst/>
                <a:uFillTx/>
                <a:latin typeface="Times New Roman"/>
                <a:ea typeface="Times New Roman"/>
              </a:rPr>
              <a:t>    </a:t>
            </a:r>
            <a:r>
              <a:rPr b="0" lang="en-US" sz="2300" strike="noStrike" u="none">
                <a:solidFill>
                  <a:srgbClr val="ffffff"/>
                </a:solidFill>
                <a:effectLst/>
                <a:uFillTx/>
                <a:latin typeface="Times New Roman"/>
                <a:ea typeface="Times New Roman"/>
              </a:rPr>
              <a:t>USGS</a:t>
            </a:r>
            <a:r>
              <a:rPr b="0" lang="en-US" sz="2300" strike="noStrike" u="none">
                <a:solidFill>
                  <a:srgbClr val="ffff00"/>
                </a:solidFill>
                <a:effectLst/>
                <a:uFillTx/>
                <a:latin typeface="Times New Roman"/>
                <a:ea typeface="Times New Roman"/>
              </a:rPr>
              <a:t> U</a:t>
            </a:r>
            <a:r>
              <a:rPr b="0" lang="en-US" sz="2300" strike="noStrike" u="none">
                <a:solidFill>
                  <a:srgbClr val="ffffff"/>
                </a:solidFill>
                <a:effectLst/>
                <a:uFillTx/>
                <a:latin typeface="Times New Roman"/>
                <a:ea typeface="Times New Roman"/>
              </a:rPr>
              <a:t>niversal inverse modeling </a:t>
            </a:r>
            <a:r>
              <a:rPr b="0" lang="en-US" sz="2300" strike="noStrike" u="none">
                <a:solidFill>
                  <a:srgbClr val="ffff00"/>
                </a:solidFill>
                <a:effectLst/>
                <a:uFillTx/>
                <a:latin typeface="Times New Roman"/>
                <a:ea typeface="Times New Roman"/>
              </a:rPr>
              <a:t>CODE</a:t>
            </a:r>
            <a:r>
              <a:rPr b="0" lang="en-US" sz="2300" strike="noStrike" u="none">
                <a:solidFill>
                  <a:srgbClr val="ffffff"/>
                </a:solidFill>
                <a:effectLst/>
                <a:uFillTx/>
                <a:latin typeface="Times New Roman"/>
                <a:ea typeface="Times New Roman"/>
              </a:rPr>
              <a:t> </a:t>
            </a:r>
            <a:endParaRPr b="0" lang="en-IN" sz="2300" strike="noStrike" u="none">
              <a:solidFill>
                <a:srgbClr val="ffffff"/>
              </a:solidFill>
              <a:effectLst/>
              <a:uFillTx/>
              <a:latin typeface="Times New Roman"/>
            </a:endParaRPr>
          </a:p>
          <a:p>
            <a:pPr marL="343080" indent="-343080">
              <a:lnSpc>
                <a:spcPct val="8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    Constructed using the JUPITER API</a:t>
            </a:r>
            <a:endParaRPr b="0" lang="en-IN" sz="2300" strike="noStrike" u="none">
              <a:solidFill>
                <a:srgbClr val="ffffff"/>
              </a:solidFill>
              <a:effectLst/>
              <a:uFillTx/>
              <a:latin typeface="Times New Roman"/>
            </a:endParaRPr>
          </a:p>
          <a:p>
            <a:pPr marL="343080" indent="-343080">
              <a:lnSpc>
                <a:spcPct val="8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    Use with any model. </a:t>
            </a:r>
            <a:endParaRPr b="0" lang="en-IN" sz="2300" strike="noStrike" u="none">
              <a:solidFill>
                <a:srgbClr val="ffffff"/>
              </a:solidFill>
              <a:effectLst/>
              <a:uFillTx/>
              <a:latin typeface="Times New Roman"/>
            </a:endParaRPr>
          </a:p>
          <a:p>
            <a:pPr marL="343080" indent="-343080">
              <a:lnSpc>
                <a:spcPct val="8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    If used with perturbation sensitivities, consequences investigated by Hill and Østerby, 2003; Mehl and Hill, 2002</a:t>
            </a:r>
            <a:endParaRPr b="0" lang="en-IN" sz="2300" strike="noStrike" u="none">
              <a:solidFill>
                <a:srgbClr val="ffffff"/>
              </a:solidFill>
              <a:effectLst/>
              <a:uFillTx/>
              <a:latin typeface="Times New Roman"/>
            </a:endParaRPr>
          </a:p>
          <a:p>
            <a:pPr marL="343080" indent="-343080">
              <a:lnSpc>
                <a:spcPct val="8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    Parameter-estimation method expanded from that in MODFLOW-2000. </a:t>
            </a:r>
            <a:endParaRPr b="0" lang="en-IN" sz="2300" strike="noStrike" u="none">
              <a:solidFill>
                <a:srgbClr val="ffffff"/>
              </a:solidFill>
              <a:effectLst/>
              <a:uFillTx/>
              <a:latin typeface="Times New Roman"/>
            </a:endParaRPr>
          </a:p>
          <a:p>
            <a:pPr marL="343080" indent="-343080">
              <a:lnSpc>
                <a:spcPct val="80000"/>
              </a:lnSpc>
              <a:spcBef>
                <a:spcPts val="575"/>
              </a:spcBef>
              <a:buClr>
                <a:srgbClr val="ffff00"/>
              </a:buClr>
              <a:buFont typeface="Symbol"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300" strike="noStrike" u="none">
                <a:solidFill>
                  <a:srgbClr val="ffff00"/>
                </a:solidFill>
                <a:effectLst/>
                <a:uFillTx/>
                <a:latin typeface="Times New Roman"/>
                <a:ea typeface="Times New Roman"/>
              </a:rPr>
              <a:t>PEST</a:t>
            </a:r>
            <a:r>
              <a:rPr b="0" lang="en-US" sz="2300" strike="noStrike" u="none">
                <a:solidFill>
                  <a:srgbClr val="ffffff"/>
                </a:solidFill>
                <a:effectLst/>
                <a:uFillTx/>
                <a:latin typeface="Times New Roman"/>
                <a:ea typeface="Times New Roman"/>
              </a:rPr>
              <a:t> – </a:t>
            </a:r>
            <a:r>
              <a:rPr b="1" lang="en-US" sz="2300" strike="noStrike" u="none">
                <a:solidFill>
                  <a:srgbClr val="ffff00"/>
                </a:solidFill>
                <a:effectLst/>
                <a:uFillTx/>
                <a:latin typeface="Times New Roman"/>
                <a:ea typeface="Times New Roman"/>
              </a:rPr>
              <a:t>P</a:t>
            </a:r>
            <a:r>
              <a:rPr b="0" lang="en-US" sz="2300" strike="noStrike" u="none">
                <a:solidFill>
                  <a:srgbClr val="ffffff"/>
                </a:solidFill>
                <a:effectLst/>
                <a:uFillTx/>
                <a:latin typeface="Times New Roman"/>
                <a:ea typeface="Times New Roman"/>
              </a:rPr>
              <a:t>arameter </a:t>
            </a:r>
            <a:r>
              <a:rPr b="1" lang="en-US" sz="2300" strike="noStrike" u="none">
                <a:solidFill>
                  <a:srgbClr val="ffff00"/>
                </a:solidFill>
                <a:effectLst/>
                <a:uFillTx/>
                <a:latin typeface="Times New Roman"/>
                <a:ea typeface="Times New Roman"/>
              </a:rPr>
              <a:t>EST</a:t>
            </a:r>
            <a:r>
              <a:rPr b="0" lang="en-US" sz="2300" strike="noStrike" u="none">
                <a:solidFill>
                  <a:srgbClr val="ffffff"/>
                </a:solidFill>
                <a:effectLst/>
                <a:uFillTx/>
                <a:latin typeface="Times New Roman"/>
                <a:ea typeface="Times New Roman"/>
              </a:rPr>
              <a:t>imation software</a:t>
            </a:r>
            <a:endParaRPr b="0" lang="en-IN" sz="2300" strike="noStrike" u="none">
              <a:solidFill>
                <a:srgbClr val="ffffff"/>
              </a:solidFill>
              <a:effectLst/>
              <a:uFillTx/>
              <a:latin typeface="Times New Roman"/>
            </a:endParaRPr>
          </a:p>
          <a:p>
            <a:pPr marL="343080" indent="-343080">
              <a:lnSpc>
                <a:spcPct val="8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    Model independent like UCODE_2005</a:t>
            </a:r>
            <a:endParaRPr b="0" lang="en-IN" sz="2300" strike="noStrike" u="none">
              <a:solidFill>
                <a:srgbClr val="ffffff"/>
              </a:solidFill>
              <a:effectLst/>
              <a:uFillTx/>
              <a:latin typeface="Times New Roman"/>
            </a:endParaRPr>
          </a:p>
          <a:p>
            <a:pPr marL="343080" indent="-343080">
              <a:lnSpc>
                <a:spcPct val="8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300" strike="noStrike" u="none">
                <a:solidFill>
                  <a:srgbClr val="ffffff"/>
                </a:solidFill>
                <a:effectLst/>
                <a:uFillTx/>
                <a:latin typeface="Times New Roman"/>
                <a:ea typeface="Times New Roman"/>
              </a:rPr>
              <a:t>-    Includes additional very useful parameterization and regularization capabilities.</a:t>
            </a:r>
            <a:endParaRPr b="0" lang="en-IN" sz="23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15192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00"/>
                </a:solidFill>
                <a:effectLst/>
                <a:uFillTx/>
                <a:latin typeface="Times New Roman"/>
                <a:ea typeface="Times New Roman"/>
              </a:rPr>
              <a:t>Perspective</a:t>
            </a:r>
            <a:br>
              <a:rPr sz="3200"/>
            </a:br>
            <a:endParaRPr b="0" lang="en-IN" sz="3200" strike="noStrike" u="none">
              <a:solidFill>
                <a:srgbClr val="ffff00"/>
              </a:solidFill>
              <a:effectLst/>
              <a:uFillTx/>
              <a:latin typeface="Times New Roman"/>
            </a:endParaRPr>
          </a:p>
        </p:txBody>
      </p:sp>
      <p:sp>
        <p:nvSpPr>
          <p:cNvPr id="30" name="PlaceHolder 2"/>
          <p:cNvSpPr>
            <a:spLocks noGrp="1"/>
          </p:cNvSpPr>
          <p:nvPr>
            <p:ph/>
          </p:nvPr>
        </p:nvSpPr>
        <p:spPr>
          <a:xfrm>
            <a:off x="0" y="914040"/>
            <a:ext cx="9144000" cy="5791320"/>
          </a:xfrm>
          <a:prstGeom prst="rect">
            <a:avLst/>
          </a:prstGeom>
          <a:noFill/>
          <a:ln w="0">
            <a:noFill/>
          </a:ln>
        </p:spPr>
        <p:txBody>
          <a:bodyPr lIns="90000" rIns="90000" tIns="46800" bIns="46800" anchor="t">
            <a:normAutofit/>
          </a:bodyPr>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ea typeface="Times New Roman"/>
              </a:rPr>
              <a:t>The methods and guidelines are broadly applicable, but taught using ground-water modeling examples.</a:t>
            </a:r>
            <a:endParaRPr b="0" lang="en-IN" sz="2800" strike="noStrike" u="none">
              <a:solidFill>
                <a:srgbClr val="ffffff"/>
              </a:solidFill>
              <a:effectLst/>
              <a:uFillTx/>
              <a:latin typeface="Times New Roman"/>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ea typeface="Times New Roman"/>
              </a:rPr>
              <a:t>There are about as many opinions about how to construct and use models as there are people working with models. There are a number of ongoing methods to standardize ground-water model construction and use. For example, HarmoniQua (€5 million over 5 years), Germany, Australia, New Zeeland, USEPA, USGS, ASTM, …See review by Hill et al. (2004, conf. proceedings, FEM-MODFLOW)</a:t>
            </a:r>
            <a:endParaRPr b="0" lang="en-IN" sz="2800" strike="noStrike" u="none">
              <a:solidFill>
                <a:srgbClr val="ffffff"/>
              </a:solidFill>
              <a:effectLst/>
              <a:uFillTx/>
              <a:latin typeface="Times New Roman"/>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imes New Roman"/>
                <a:ea typeface="Times New Roman"/>
              </a:rPr>
              <a:t>No set of methods and ideas is best in all circumstances, but we are hoping that by learning one set of methods and ideas, you will improve how you develop models, and be in a position to improvise using new ideas as you come across new, useful ideas.</a:t>
            </a:r>
            <a:endParaRPr b="0" lang="en-IN" sz="2800" strike="noStrike" u="none">
              <a:solidFill>
                <a:srgbClr val="ffffff"/>
              </a:solidFill>
              <a:effectLst/>
              <a:uFillTx/>
              <a:latin typeface="Times New Roman"/>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imes New Roman"/>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31" name="PlaceHolder 1"/>
          <p:cNvSpPr>
            <a:spLocks noGrp="1"/>
          </p:cNvSpPr>
          <p:nvPr>
            <p:ph/>
          </p:nvPr>
        </p:nvSpPr>
        <p:spPr>
          <a:xfrm>
            <a:off x="228600" y="990720"/>
            <a:ext cx="8763120" cy="5867280"/>
          </a:xfrm>
          <a:prstGeom prst="rect">
            <a:avLst/>
          </a:prstGeom>
          <a:noFill/>
          <a:ln w="0">
            <a:noFill/>
          </a:ln>
        </p:spPr>
        <p:txBody>
          <a:bodyPr lIns="90000" rIns="90000" tIns="46800" bIns="46800" anchor="t">
            <a:normAutofit/>
          </a:bodyPr>
          <a:p>
            <a:pPr marL="343080" indent="-343080">
              <a:lnSpc>
                <a:spcPct val="110000"/>
              </a:lnSpc>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00"/>
                </a:solidFill>
                <a:effectLst/>
                <a:uFillTx/>
                <a:latin typeface="Times New Roman"/>
              </a:rPr>
              <a:t>Methods</a:t>
            </a:r>
            <a:r>
              <a:rPr b="0" lang="en-IN" sz="3200" strike="noStrike" u="none">
                <a:solidFill>
                  <a:srgbClr val="ffffff"/>
                </a:solidFill>
                <a:effectLst/>
                <a:uFillTx/>
                <a:latin typeface="Times New Roman"/>
              </a:rPr>
              <a:t> for sensitivity analysis, data assessment, model calibration, and evaluation of model uncertainty. These methods take advantage of the quantitative connections provided models between:</a:t>
            </a:r>
            <a:endParaRPr b="0" lang="en-IN" sz="3200" strike="noStrike" u="none">
              <a:solidFill>
                <a:srgbClr val="ffffff"/>
              </a:solidFill>
              <a:effectLst/>
              <a:uFillTx/>
              <a:latin typeface="Times New Roman"/>
            </a:endParaRPr>
          </a:p>
          <a:p>
            <a:pPr marL="343080" indent="-343080">
              <a:lnSpc>
                <a:spcPct val="11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          </a:t>
            </a:r>
            <a:r>
              <a:rPr b="1" lang="en-IN" sz="3200" strike="noStrike" u="none">
                <a:solidFill>
                  <a:srgbClr val="ff9900"/>
                </a:solidFill>
                <a:effectLst/>
                <a:uFillTx/>
                <a:latin typeface="Times New Roman"/>
              </a:rPr>
              <a:t>observations – parameters - predictions</a:t>
            </a:r>
            <a:endParaRPr b="0" lang="en-IN" sz="3200" strike="noStrike" u="none">
              <a:solidFill>
                <a:srgbClr val="ffffff"/>
              </a:solidFill>
              <a:effectLst/>
              <a:uFillTx/>
              <a:latin typeface="Times New Roman"/>
            </a:endParaRPr>
          </a:p>
          <a:p>
            <a:pPr marL="343080" indent="-343080">
              <a:lnSpc>
                <a:spcPct val="110000"/>
              </a:lnSpc>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00"/>
                </a:solidFill>
                <a:effectLst/>
                <a:uFillTx/>
                <a:latin typeface="Times New Roman"/>
              </a:rPr>
              <a:t>Guidelines</a:t>
            </a:r>
            <a:r>
              <a:rPr b="0" lang="en-IN" sz="3200" strike="noStrike" u="none">
                <a:solidFill>
                  <a:srgbClr val="ffffff"/>
                </a:solidFill>
                <a:effectLst/>
                <a:uFillTx/>
                <a:latin typeface="Times New Roman"/>
              </a:rPr>
              <a:t> that describe how to use the methods presented, with emphasis on applications to ground-water models. </a:t>
            </a:r>
            <a:endParaRPr b="0" lang="en-IN" sz="3200" strike="noStrike" u="none">
              <a:solidFill>
                <a:srgbClr val="ffffff"/>
              </a:solidFill>
              <a:effectLst/>
              <a:uFillTx/>
              <a:latin typeface="Times New Roman"/>
            </a:endParaRPr>
          </a:p>
        </p:txBody>
      </p:sp>
      <p:sp>
        <p:nvSpPr>
          <p:cNvPr id="32" name="PlaceHolder 2"/>
          <p:cNvSpPr>
            <a:spLocks noGrp="1"/>
          </p:cNvSpPr>
          <p:nvPr>
            <p:ph type="title"/>
          </p:nvPr>
        </p:nvSpPr>
        <p:spPr>
          <a:xfrm>
            <a:off x="609480" y="152280"/>
            <a:ext cx="7772400" cy="60984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66"/>
                </a:solidFill>
                <a:effectLst/>
                <a:uFillTx/>
                <a:latin typeface="Times New Roman"/>
                <a:ea typeface="Times New Roman"/>
              </a:rPr>
              <a:t>Purpose of Course</a:t>
            </a:r>
            <a:endParaRPr b="0" lang="en-IN" sz="3600" strike="noStrike" u="none">
              <a:solidFill>
                <a:srgbClr val="ffff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00"/>
                </a:solidFill>
                <a:effectLst/>
                <a:uFillTx/>
                <a:latin typeface="Times New Roman"/>
                <a:ea typeface="Times New Roman"/>
              </a:rPr>
              <a:t>Major steps of ground-water modeling</a:t>
            </a:r>
            <a:endParaRPr b="0" lang="en-IN" sz="4400" strike="noStrike" u="none">
              <a:solidFill>
                <a:srgbClr val="ffff00"/>
              </a:solidFill>
              <a:effectLst/>
              <a:uFillTx/>
              <a:latin typeface="Times New Roman"/>
            </a:endParaRPr>
          </a:p>
        </p:txBody>
      </p:sp>
      <p:sp>
        <p:nvSpPr>
          <p:cNvPr id="34" name=""/>
          <p:cNvSpPr/>
          <p:nvPr/>
        </p:nvSpPr>
        <p:spPr>
          <a:xfrm>
            <a:off x="368280" y="2068560"/>
            <a:ext cx="5181480" cy="82548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marL="343080" indent="-34308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Hydrologic and hydrogeologic data</a:t>
            </a:r>
            <a:endParaRPr b="0" lang="en-IN" sz="2400" strike="noStrike" u="none">
              <a:solidFill>
                <a:srgbClr val="ffffff"/>
              </a:solidFill>
              <a:effectLst/>
              <a:uFillTx/>
              <a:latin typeface="Times New Roman"/>
            </a:endParaRPr>
          </a:p>
          <a:p>
            <a:pPr marL="343080" indent="-34308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Relate to model inputs</a:t>
            </a:r>
            <a:endParaRPr b="0" lang="en-IN" sz="2400" strike="noStrike" u="none">
              <a:solidFill>
                <a:srgbClr val="ffffff"/>
              </a:solidFill>
              <a:effectLst/>
              <a:uFillTx/>
              <a:latin typeface="Times New Roman"/>
            </a:endParaRPr>
          </a:p>
        </p:txBody>
      </p:sp>
      <p:sp>
        <p:nvSpPr>
          <p:cNvPr id="35" name=""/>
          <p:cNvSpPr/>
          <p:nvPr/>
        </p:nvSpPr>
        <p:spPr>
          <a:xfrm>
            <a:off x="3797280" y="3135240"/>
            <a:ext cx="5105520" cy="82548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marL="343080" indent="-34308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Dependent variable</a:t>
            </a:r>
            <a:r>
              <a:rPr b="1" lang="en-IN" sz="2400" strike="noStrike" u="none">
                <a:solidFill>
                  <a:srgbClr val="ffffff"/>
                </a:solidFill>
                <a:effectLst/>
                <a:uFillTx/>
                <a:latin typeface="Times New Roman"/>
              </a:rPr>
              <a:t> </a:t>
            </a:r>
            <a:r>
              <a:rPr b="1" lang="en-IN" sz="2400" strike="noStrike" u="none">
                <a:solidFill>
                  <a:srgbClr val="cc0000"/>
                </a:solidFill>
                <a:effectLst/>
                <a:uFillTx/>
                <a:latin typeface="Times New Roman"/>
              </a:rPr>
              <a:t>observations</a:t>
            </a:r>
            <a:endParaRPr b="0" lang="en-IN" sz="2400" strike="noStrike" u="none">
              <a:solidFill>
                <a:srgbClr val="ffffff"/>
              </a:solidFill>
              <a:effectLst/>
              <a:uFillTx/>
              <a:latin typeface="Times New Roman"/>
            </a:endParaRPr>
          </a:p>
          <a:p>
            <a:pPr marL="343080" indent="-34308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Relate to model outputs -- calibration</a:t>
            </a:r>
            <a:endParaRPr b="0" lang="en-IN" sz="2400" strike="noStrike" u="none">
              <a:solidFill>
                <a:srgbClr val="ffffff"/>
              </a:solidFill>
              <a:effectLst/>
              <a:uFillTx/>
              <a:latin typeface="Times New Roman"/>
            </a:endParaRPr>
          </a:p>
        </p:txBody>
      </p:sp>
      <p:sp>
        <p:nvSpPr>
          <p:cNvPr id="36" name=""/>
          <p:cNvSpPr/>
          <p:nvPr/>
        </p:nvSpPr>
        <p:spPr>
          <a:xfrm>
            <a:off x="368280" y="3135240"/>
            <a:ext cx="2895480" cy="82548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Ground-Water Model</a:t>
            </a:r>
            <a:r>
              <a:rPr b="0" lang="en-IN" sz="2400" strike="noStrike" u="none">
                <a:solidFill>
                  <a:srgbClr val="ffffff"/>
                </a:solidFill>
                <a:effectLst/>
                <a:uFillTx/>
                <a:latin typeface="Times New Roman"/>
              </a:rPr>
              <a:t> -- </a:t>
            </a:r>
            <a:r>
              <a:rPr b="1" lang="en-IN" sz="2400" strike="noStrike" u="none">
                <a:solidFill>
                  <a:srgbClr val="cc0000"/>
                </a:solidFill>
                <a:effectLst/>
                <a:uFillTx/>
                <a:latin typeface="Times New Roman"/>
              </a:rPr>
              <a:t>parameters</a:t>
            </a:r>
            <a:endParaRPr b="0" lang="en-IN" sz="2400" strike="noStrike" u="none">
              <a:solidFill>
                <a:srgbClr val="ffffff"/>
              </a:solidFill>
              <a:effectLst/>
              <a:uFillTx/>
              <a:latin typeface="Times New Roman"/>
            </a:endParaRPr>
          </a:p>
        </p:txBody>
      </p:sp>
      <p:sp>
        <p:nvSpPr>
          <p:cNvPr id="37" name=""/>
          <p:cNvSpPr/>
          <p:nvPr/>
        </p:nvSpPr>
        <p:spPr>
          <a:xfrm>
            <a:off x="2349360" y="4202280"/>
            <a:ext cx="2590920" cy="45972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0000"/>
                </a:solidFill>
                <a:effectLst/>
                <a:uFillTx/>
                <a:latin typeface="Times New Roman"/>
              </a:rPr>
              <a:t>Predictions</a:t>
            </a:r>
            <a:r>
              <a:rPr b="0" lang="en-IN" sz="2400" strike="noStrike" u="none">
                <a:solidFill>
                  <a:srgbClr val="ffffff"/>
                </a:solidFill>
                <a:effectLst/>
                <a:uFillTx/>
                <a:latin typeface="Times New Roman"/>
              </a:rPr>
              <a:t> </a:t>
            </a:r>
            <a:endParaRPr b="0" lang="en-IN" sz="2400" strike="noStrike" u="none">
              <a:solidFill>
                <a:srgbClr val="ffffff"/>
              </a:solidFill>
              <a:effectLst/>
              <a:uFillTx/>
              <a:latin typeface="Times New Roman"/>
            </a:endParaRPr>
          </a:p>
        </p:txBody>
      </p:sp>
      <p:sp>
        <p:nvSpPr>
          <p:cNvPr id="38" name=""/>
          <p:cNvSpPr/>
          <p:nvPr/>
        </p:nvSpPr>
        <p:spPr>
          <a:xfrm>
            <a:off x="2959200" y="4964040"/>
            <a:ext cx="3124080" cy="45972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Prediction uncertainty</a:t>
            </a:r>
            <a:endParaRPr b="0" lang="en-IN" sz="2400" strike="noStrike" u="none">
              <a:solidFill>
                <a:srgbClr val="ffffff"/>
              </a:solidFill>
              <a:effectLst/>
              <a:uFillTx/>
              <a:latin typeface="Times New Roman"/>
            </a:endParaRPr>
          </a:p>
        </p:txBody>
      </p:sp>
      <p:sp>
        <p:nvSpPr>
          <p:cNvPr id="39" name=""/>
          <p:cNvSpPr/>
          <p:nvPr/>
        </p:nvSpPr>
        <p:spPr>
          <a:xfrm>
            <a:off x="2120760" y="2906640"/>
            <a:ext cx="0" cy="22860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40" name=""/>
          <p:cNvSpPr/>
          <p:nvPr/>
        </p:nvSpPr>
        <p:spPr>
          <a:xfrm flipH="1">
            <a:off x="3263760" y="3668760"/>
            <a:ext cx="533520" cy="0"/>
          </a:xfrm>
          <a:prstGeom prst="line">
            <a:avLst/>
          </a:prstGeom>
          <a:ln w="28440">
            <a:solidFill>
              <a:srgbClr val="ffffff"/>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41" name=""/>
          <p:cNvSpPr/>
          <p:nvPr/>
        </p:nvSpPr>
        <p:spPr>
          <a:xfrm>
            <a:off x="2577960" y="3973680"/>
            <a:ext cx="0" cy="22860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42" name=""/>
          <p:cNvSpPr/>
          <p:nvPr/>
        </p:nvSpPr>
        <p:spPr>
          <a:xfrm>
            <a:off x="3492360" y="4735440"/>
            <a:ext cx="0" cy="22860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43" name=""/>
          <p:cNvSpPr/>
          <p:nvPr/>
        </p:nvSpPr>
        <p:spPr>
          <a:xfrm>
            <a:off x="4635360" y="5726160"/>
            <a:ext cx="2438640" cy="45972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Societal decisions</a:t>
            </a:r>
            <a:endParaRPr b="0" lang="en-IN" sz="2400" strike="noStrike" u="none">
              <a:solidFill>
                <a:srgbClr val="ffffff"/>
              </a:solidFill>
              <a:effectLst/>
              <a:uFillTx/>
              <a:latin typeface="Times New Roman"/>
            </a:endParaRPr>
          </a:p>
        </p:txBody>
      </p:sp>
      <p:sp>
        <p:nvSpPr>
          <p:cNvPr id="44" name=""/>
          <p:cNvSpPr/>
          <p:nvPr/>
        </p:nvSpPr>
        <p:spPr>
          <a:xfrm>
            <a:off x="4863960" y="5497560"/>
            <a:ext cx="0" cy="22860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00"/>
                </a:solidFill>
                <a:effectLst/>
                <a:uFillTx/>
                <a:latin typeface="Times New Roman"/>
                <a:ea typeface="Times New Roman"/>
              </a:rPr>
              <a:t>Major steps of ground-water modeling</a:t>
            </a:r>
            <a:endParaRPr b="0" lang="en-IN" sz="4400" strike="noStrike" u="none">
              <a:solidFill>
                <a:srgbClr val="ffff00"/>
              </a:solidFill>
              <a:effectLst/>
              <a:uFillTx/>
              <a:latin typeface="Times New Roman"/>
            </a:endParaRPr>
          </a:p>
        </p:txBody>
      </p:sp>
      <p:sp>
        <p:nvSpPr>
          <p:cNvPr id="46" name=""/>
          <p:cNvSpPr/>
          <p:nvPr/>
        </p:nvSpPr>
        <p:spPr>
          <a:xfrm>
            <a:off x="368280" y="2068560"/>
            <a:ext cx="5181480" cy="82548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marL="343080" indent="-34308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Hydrologic and hydrogeologic data</a:t>
            </a:r>
            <a:endParaRPr b="0" lang="en-IN" sz="2400" strike="noStrike" u="none">
              <a:solidFill>
                <a:srgbClr val="ffffff"/>
              </a:solidFill>
              <a:effectLst/>
              <a:uFillTx/>
              <a:latin typeface="Times New Roman"/>
            </a:endParaRPr>
          </a:p>
          <a:p>
            <a:pPr marL="343080" indent="-34308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Relate to model inputs</a:t>
            </a:r>
            <a:endParaRPr b="0" lang="en-IN" sz="2400" strike="noStrike" u="none">
              <a:solidFill>
                <a:srgbClr val="ffffff"/>
              </a:solidFill>
              <a:effectLst/>
              <a:uFillTx/>
              <a:latin typeface="Times New Roman"/>
            </a:endParaRPr>
          </a:p>
        </p:txBody>
      </p:sp>
      <p:sp>
        <p:nvSpPr>
          <p:cNvPr id="47" name=""/>
          <p:cNvSpPr/>
          <p:nvPr/>
        </p:nvSpPr>
        <p:spPr>
          <a:xfrm>
            <a:off x="3797280" y="3135240"/>
            <a:ext cx="5105520" cy="825480"/>
          </a:xfrm>
          <a:prstGeom prst="rect">
            <a:avLst/>
          </a:prstGeom>
          <a:solidFill>
            <a:srgbClr val="6699ff"/>
          </a:solidFill>
          <a:ln w="38160">
            <a:solidFill>
              <a:srgbClr val="000000"/>
            </a:solidFill>
            <a:miter/>
          </a:ln>
        </p:spPr>
        <p:style>
          <a:lnRef idx="0"/>
          <a:fillRef idx="0"/>
          <a:effectRef idx="0"/>
          <a:fontRef idx="minor"/>
        </p:style>
        <p:txBody>
          <a:bodyPr lIns="90000" rIns="90000" tIns="46800" bIns="46800" anchor="t">
            <a:spAutoFit/>
          </a:bodyPr>
          <a:p>
            <a:pPr marL="343080" indent="-34308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imes New Roman"/>
              </a:rPr>
              <a:t>Dependent variable </a:t>
            </a:r>
            <a:r>
              <a:rPr b="1" lang="en-IN" sz="2400" strike="noStrike" u="none">
                <a:solidFill>
                  <a:srgbClr val="cc0000"/>
                </a:solidFill>
                <a:effectLst/>
                <a:uFillTx/>
                <a:latin typeface="Times New Roman"/>
              </a:rPr>
              <a:t>observations</a:t>
            </a:r>
            <a:endParaRPr b="0" lang="en-IN" sz="2400" strike="noStrike" u="none">
              <a:solidFill>
                <a:srgbClr val="ffffff"/>
              </a:solidFill>
              <a:effectLst/>
              <a:uFillTx/>
              <a:latin typeface="Times New Roman"/>
            </a:endParaRPr>
          </a:p>
          <a:p>
            <a:pPr marL="343080" indent="-34308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Relate to model outputs -- calibration</a:t>
            </a:r>
            <a:endParaRPr b="0" lang="en-IN" sz="2400" strike="noStrike" u="none">
              <a:solidFill>
                <a:srgbClr val="ffffff"/>
              </a:solidFill>
              <a:effectLst/>
              <a:uFillTx/>
              <a:latin typeface="Times New Roman"/>
            </a:endParaRPr>
          </a:p>
        </p:txBody>
      </p:sp>
      <p:sp>
        <p:nvSpPr>
          <p:cNvPr id="48" name=""/>
          <p:cNvSpPr/>
          <p:nvPr/>
        </p:nvSpPr>
        <p:spPr>
          <a:xfrm>
            <a:off x="368280" y="3135240"/>
            <a:ext cx="2895480" cy="82548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Ground-Water Model</a:t>
            </a:r>
            <a:r>
              <a:rPr b="0" lang="en-IN" sz="2400" strike="noStrike" u="none">
                <a:solidFill>
                  <a:srgbClr val="ffffff"/>
                </a:solidFill>
                <a:effectLst/>
                <a:uFillTx/>
                <a:latin typeface="Times New Roman"/>
              </a:rPr>
              <a:t> -- </a:t>
            </a:r>
            <a:r>
              <a:rPr b="1" lang="en-IN" sz="2400" strike="noStrike" u="none">
                <a:solidFill>
                  <a:srgbClr val="cc0000"/>
                </a:solidFill>
                <a:effectLst/>
                <a:uFillTx/>
                <a:latin typeface="Times New Roman"/>
              </a:rPr>
              <a:t>parameters</a:t>
            </a:r>
            <a:endParaRPr b="0" lang="en-IN" sz="2400" strike="noStrike" u="none">
              <a:solidFill>
                <a:srgbClr val="ffffff"/>
              </a:solidFill>
              <a:effectLst/>
              <a:uFillTx/>
              <a:latin typeface="Times New Roman"/>
            </a:endParaRPr>
          </a:p>
        </p:txBody>
      </p:sp>
      <p:sp>
        <p:nvSpPr>
          <p:cNvPr id="49" name=""/>
          <p:cNvSpPr/>
          <p:nvPr/>
        </p:nvSpPr>
        <p:spPr>
          <a:xfrm>
            <a:off x="2349360" y="4202280"/>
            <a:ext cx="2590920" cy="45972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0000"/>
                </a:solidFill>
                <a:effectLst/>
                <a:uFillTx/>
                <a:latin typeface="Times New Roman"/>
              </a:rPr>
              <a:t>Predictions</a:t>
            </a:r>
            <a:r>
              <a:rPr b="0" lang="en-IN" sz="2400" strike="noStrike" u="none">
                <a:solidFill>
                  <a:srgbClr val="ffffff"/>
                </a:solidFill>
                <a:effectLst/>
                <a:uFillTx/>
                <a:latin typeface="Times New Roman"/>
              </a:rPr>
              <a:t> </a:t>
            </a:r>
            <a:endParaRPr b="0" lang="en-IN" sz="2400" strike="noStrike" u="none">
              <a:solidFill>
                <a:srgbClr val="ffffff"/>
              </a:solidFill>
              <a:effectLst/>
              <a:uFillTx/>
              <a:latin typeface="Times New Roman"/>
            </a:endParaRPr>
          </a:p>
        </p:txBody>
      </p:sp>
      <p:sp>
        <p:nvSpPr>
          <p:cNvPr id="50" name=""/>
          <p:cNvSpPr/>
          <p:nvPr/>
        </p:nvSpPr>
        <p:spPr>
          <a:xfrm>
            <a:off x="2959200" y="4964040"/>
            <a:ext cx="3124080" cy="45972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Prediction uncertainty</a:t>
            </a:r>
            <a:endParaRPr b="0" lang="en-IN" sz="2400" strike="noStrike" u="none">
              <a:solidFill>
                <a:srgbClr val="ffffff"/>
              </a:solidFill>
              <a:effectLst/>
              <a:uFillTx/>
              <a:latin typeface="Times New Roman"/>
            </a:endParaRPr>
          </a:p>
        </p:txBody>
      </p:sp>
      <p:sp>
        <p:nvSpPr>
          <p:cNvPr id="51" name=""/>
          <p:cNvSpPr/>
          <p:nvPr/>
        </p:nvSpPr>
        <p:spPr>
          <a:xfrm>
            <a:off x="2120760" y="2906640"/>
            <a:ext cx="0" cy="22860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52" name=""/>
          <p:cNvSpPr/>
          <p:nvPr/>
        </p:nvSpPr>
        <p:spPr>
          <a:xfrm flipH="1">
            <a:off x="3263760" y="3668760"/>
            <a:ext cx="533520" cy="0"/>
          </a:xfrm>
          <a:prstGeom prst="line">
            <a:avLst/>
          </a:prstGeom>
          <a:ln w="28440">
            <a:solidFill>
              <a:srgbClr val="ffffff"/>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53" name=""/>
          <p:cNvSpPr/>
          <p:nvPr/>
        </p:nvSpPr>
        <p:spPr>
          <a:xfrm>
            <a:off x="2577960" y="3973680"/>
            <a:ext cx="0" cy="22860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54" name=""/>
          <p:cNvSpPr/>
          <p:nvPr/>
        </p:nvSpPr>
        <p:spPr>
          <a:xfrm>
            <a:off x="3492360" y="4735440"/>
            <a:ext cx="0" cy="22860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55" name=""/>
          <p:cNvSpPr/>
          <p:nvPr/>
        </p:nvSpPr>
        <p:spPr>
          <a:xfrm>
            <a:off x="4635360" y="5726160"/>
            <a:ext cx="2438640" cy="459720"/>
          </a:xfrm>
          <a:prstGeom prst="rect">
            <a:avLst/>
          </a:prstGeom>
          <a:solidFill>
            <a:srgbClr val="ffffff"/>
          </a:solidFill>
          <a:ln w="38160">
            <a:solidFill>
              <a:srgbClr val="000000"/>
            </a:solidFill>
            <a:miter/>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Societal decisions</a:t>
            </a:r>
            <a:endParaRPr b="0" lang="en-IN" sz="2400" strike="noStrike" u="none">
              <a:solidFill>
                <a:srgbClr val="ffffff"/>
              </a:solidFill>
              <a:effectLst/>
              <a:uFillTx/>
              <a:latin typeface="Times New Roman"/>
            </a:endParaRPr>
          </a:p>
        </p:txBody>
      </p:sp>
      <p:sp>
        <p:nvSpPr>
          <p:cNvPr id="56" name=""/>
          <p:cNvSpPr/>
          <p:nvPr/>
        </p:nvSpPr>
        <p:spPr>
          <a:xfrm>
            <a:off x="4863960" y="5497560"/>
            <a:ext cx="0" cy="228600"/>
          </a:xfrm>
          <a:prstGeom prst="line">
            <a:avLst/>
          </a:prstGeom>
          <a:ln w="28440">
            <a:solidFill>
              <a:srgbClr val="ffffff"/>
            </a:solidFill>
            <a:miter/>
            <a:tailEnd len="med" type="triangle" w="med"/>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0" y="609120"/>
            <a:ext cx="91440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00"/>
                </a:solidFill>
                <a:effectLst/>
                <a:uFillTx/>
                <a:latin typeface="Times New Roman"/>
              </a:rPr>
              <a:t>We consider calibration with analysis of data, sensitivities, predictions, and uncertainty</a:t>
            </a:r>
            <a:endParaRPr b="0" lang="en-IN" sz="4000" strike="noStrike" u="none">
              <a:solidFill>
                <a:srgbClr val="ffff00"/>
              </a:solidFill>
              <a:effectLst/>
              <a:uFillTx/>
              <a:latin typeface="Times New Roman"/>
            </a:endParaRPr>
          </a:p>
        </p:txBody>
      </p:sp>
      <p:sp>
        <p:nvSpPr>
          <p:cNvPr id="58" name="PlaceHolder 2"/>
          <p:cNvSpPr>
            <a:spLocks noGrp="1"/>
          </p:cNvSpPr>
          <p:nvPr>
            <p:ph/>
          </p:nvPr>
        </p:nvSpPr>
        <p:spPr>
          <a:xfrm>
            <a:off x="0" y="2133720"/>
            <a:ext cx="9144000" cy="3962160"/>
          </a:xfrm>
          <a:prstGeom prst="rect">
            <a:avLst/>
          </a:prstGeom>
          <a:noFill/>
          <a:ln w="0">
            <a:noFill/>
          </a:ln>
        </p:spPr>
        <p:txBody>
          <a:bodyPr lIns="90000" rIns="90000" tIns="46800" bIns="46800" anchor="t">
            <a:normAutofit/>
          </a:bodyPr>
          <a:p>
            <a:pPr marL="343080" indent="-343080" algn="ctr">
              <a:lnSpc>
                <a:spcPct val="11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9900"/>
                </a:solidFill>
                <a:effectLst/>
                <a:uFillTx/>
                <a:latin typeface="Times New Roman"/>
              </a:rPr>
              <a:t>observations – parameters - predictions</a:t>
            </a:r>
            <a:endParaRPr b="0" lang="en-IN" sz="3200" strike="noStrike" u="none">
              <a:solidFill>
                <a:srgbClr val="ffffff"/>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Estimate parameters with observations using a gradient-based method (versus global optimization). Gradient methods are much faster but can get stuck in local minima.</a:t>
            </a:r>
            <a:endParaRPr b="0" lang="en-IN" sz="3200" strike="noStrike" u="none">
              <a:solidFill>
                <a:srgbClr val="ffffff"/>
              </a:solidFill>
              <a:effectLst/>
              <a:uFillTx/>
              <a:latin typeface="Times New Roman"/>
            </a:endParaRPr>
          </a:p>
          <a:p>
            <a:pPr marL="343080" indent="-343080">
              <a:spcBef>
                <a:spcPts val="799"/>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imes New Roman"/>
              </a:rPr>
              <a:t>Use sensitivity analysis to investigate relations between observations, parameters, and predictions.</a:t>
            </a:r>
            <a:endParaRPr b="0" lang="en-IN" sz="3200" strike="noStrike" u="none">
              <a:solidFill>
                <a:srgbClr val="ffffff"/>
              </a:solidFill>
              <a:effectLst/>
              <a:uFillTx/>
              <a:latin typeface="Times New Roman"/>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0" y="-360"/>
            <a:ext cx="91440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00"/>
                </a:solidFill>
                <a:effectLst/>
                <a:uFillTx/>
                <a:latin typeface="Times New Roman"/>
              </a:rPr>
              <a:t>Sensitivity analysis measures taught</a:t>
            </a:r>
            <a:endParaRPr b="0" lang="en-IN" sz="4400" strike="noStrike" u="none">
              <a:solidFill>
                <a:srgbClr val="ffff00"/>
              </a:solidFill>
              <a:effectLst/>
              <a:uFillTx/>
              <a:latin typeface="Times New Roman"/>
            </a:endParaRPr>
          </a:p>
        </p:txBody>
      </p:sp>
      <p:sp>
        <p:nvSpPr>
          <p:cNvPr id="60" name="PlaceHolder 2"/>
          <p:cNvSpPr>
            <a:spLocks noGrp="1"/>
          </p:cNvSpPr>
          <p:nvPr>
            <p:ph/>
          </p:nvPr>
        </p:nvSpPr>
        <p:spPr>
          <a:xfrm>
            <a:off x="5790960" y="1981080"/>
            <a:ext cx="3352680" cy="4114800"/>
          </a:xfrm>
          <a:prstGeom prst="rect">
            <a:avLst/>
          </a:prstGeom>
          <a:noFill/>
          <a:ln w="0">
            <a:noFill/>
          </a:ln>
        </p:spPr>
        <p:txBody>
          <a:bodyPr lIns="90000" rIns="90000" tIns="46800" bIns="4680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imes New Roman"/>
            </a:endParaRPr>
          </a:p>
        </p:txBody>
      </p:sp>
      <p:sp>
        <p:nvSpPr>
          <p:cNvPr id="61" name=""/>
          <p:cNvSpPr/>
          <p:nvPr/>
        </p:nvSpPr>
        <p:spPr>
          <a:xfrm>
            <a:off x="2133720" y="1390680"/>
            <a:ext cx="507312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9900"/>
                </a:solidFill>
                <a:effectLst/>
                <a:uFillTx/>
                <a:latin typeface="Times New Roman"/>
              </a:rPr>
              <a:t>Observations – Parameters - Predictions</a:t>
            </a:r>
            <a:endParaRPr b="0" lang="en-IN" sz="2400" strike="noStrike" u="none">
              <a:solidFill>
                <a:srgbClr val="ffffff"/>
              </a:solidFill>
              <a:effectLst/>
              <a:uFillTx/>
              <a:latin typeface="Times New Roman"/>
            </a:endParaRPr>
          </a:p>
        </p:txBody>
      </p:sp>
      <p:sp>
        <p:nvSpPr>
          <p:cNvPr id="62" name=""/>
          <p:cNvSpPr/>
          <p:nvPr/>
        </p:nvSpPr>
        <p:spPr>
          <a:xfrm>
            <a:off x="2606760" y="1959120"/>
            <a:ext cx="1981080" cy="0"/>
          </a:xfrm>
          <a:prstGeom prst="line">
            <a:avLst/>
          </a:prstGeom>
          <a:ln w="9360">
            <a:solidFill>
              <a:srgbClr val="ffffff"/>
            </a:solidFill>
            <a:miter/>
            <a:headEnd len="med" type="triangle" w="med"/>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3" name=""/>
          <p:cNvSpPr/>
          <p:nvPr/>
        </p:nvSpPr>
        <p:spPr>
          <a:xfrm>
            <a:off x="5121360" y="1959120"/>
            <a:ext cx="1904760" cy="0"/>
          </a:xfrm>
          <a:prstGeom prst="line">
            <a:avLst/>
          </a:prstGeom>
          <a:ln w="9360">
            <a:solidFill>
              <a:srgbClr val="ffffff"/>
            </a:solidFill>
            <a:miter/>
            <a:headEnd len="med" type="triangle" w="med"/>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4" name=""/>
          <p:cNvSpPr/>
          <p:nvPr/>
        </p:nvSpPr>
        <p:spPr>
          <a:xfrm>
            <a:off x="2133720" y="5715000"/>
            <a:ext cx="510516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5" name=""/>
          <p:cNvSpPr/>
          <p:nvPr/>
        </p:nvSpPr>
        <p:spPr>
          <a:xfrm flipH="1">
            <a:off x="2133720" y="1635120"/>
            <a:ext cx="15840" cy="407988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6" name=""/>
          <p:cNvSpPr/>
          <p:nvPr/>
        </p:nvSpPr>
        <p:spPr>
          <a:xfrm flipH="1">
            <a:off x="7238880" y="1711440"/>
            <a:ext cx="15840" cy="400356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67" name=""/>
          <p:cNvSpPr/>
          <p:nvPr/>
        </p:nvSpPr>
        <p:spPr>
          <a:xfrm>
            <a:off x="2228760" y="2133720"/>
            <a:ext cx="4816440" cy="43311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dss                                  pss</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css                                  ppr</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pcc</a:t>
            </a:r>
            <a:endParaRPr b="0" lang="en-IN" sz="2400" strike="noStrike" u="none">
              <a:solidFill>
                <a:srgbClr val="ffffff"/>
              </a:solidFill>
              <a:effectLst/>
              <a:uFillTx/>
              <a:latin typeface="Times New Roman"/>
            </a:endParaRPr>
          </a:p>
          <a:p>
            <a:pP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leverage</a:t>
            </a:r>
            <a:endParaRPr b="0" lang="en-IN" sz="2400" strike="noStrike" u="none">
              <a:solidFill>
                <a:srgbClr val="ffffff"/>
              </a:solidFill>
              <a:effectLst/>
              <a:uFillTx/>
              <a:latin typeface="Times New Roman"/>
            </a:endParaRPr>
          </a:p>
          <a:p>
            <a:pP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Parameter cv</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AIC</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BIC</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DFBETAS </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Cook’s D</a:t>
            </a:r>
            <a:endParaRPr b="0" lang="en-IN" sz="2400" strike="noStrike" u="none">
              <a:solidFill>
                <a:srgbClr val="ffffff"/>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imes New Roman"/>
              </a:rPr>
              <a:t>opr</a:t>
            </a:r>
            <a:endParaRPr b="0" lang="en-IN" sz="2400" strike="noStrike" u="none">
              <a:solidFill>
                <a:srgbClr val="ffffff"/>
              </a:solidFill>
              <a:effectLst/>
              <a:uFillTx/>
              <a:latin typeface="Times New Roman"/>
            </a:endParaRPr>
          </a:p>
        </p:txBody>
      </p:sp>
      <p:sp>
        <p:nvSpPr>
          <p:cNvPr id="68" name=""/>
          <p:cNvSpPr/>
          <p:nvPr/>
        </p:nvSpPr>
        <p:spPr>
          <a:xfrm>
            <a:off x="2211120" y="5648400"/>
            <a:ext cx="493704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9900"/>
                </a:solidFill>
                <a:effectLst/>
                <a:uFillTx/>
                <a:latin typeface="Times New Roman"/>
              </a:rPr>
              <a:t>Observations ---------------- Predictions</a:t>
            </a:r>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685800" y="22824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00"/>
                </a:solidFill>
                <a:effectLst/>
                <a:uFillTx/>
                <a:latin typeface="Times New Roman"/>
              </a:rPr>
              <a:t>Field and synthetic examples</a:t>
            </a:r>
            <a:endParaRPr b="0" lang="en-IN" sz="4400" strike="noStrike" u="none">
              <a:solidFill>
                <a:srgbClr val="ffff00"/>
              </a:solidFill>
              <a:effectLst/>
              <a:uFillTx/>
              <a:latin typeface="Times New Roman"/>
            </a:endParaRPr>
          </a:p>
        </p:txBody>
      </p:sp>
      <p:sp>
        <p:nvSpPr>
          <p:cNvPr id="70" name="PlaceHolder 2"/>
          <p:cNvSpPr>
            <a:spLocks noGrp="1"/>
          </p:cNvSpPr>
          <p:nvPr>
            <p:ph/>
          </p:nvPr>
        </p:nvSpPr>
        <p:spPr>
          <a:xfrm>
            <a:off x="685800" y="1219320"/>
            <a:ext cx="7772400" cy="4876560"/>
          </a:xfrm>
          <a:prstGeom prst="rect">
            <a:avLst/>
          </a:prstGeom>
          <a:noFill/>
          <a:ln w="0">
            <a:noFill/>
          </a:ln>
        </p:spPr>
        <p:txBody>
          <a:bodyPr lIns="90000" rIns="90000" tIns="46800" bIns="46800" anchor="t">
            <a:normAutofit/>
          </a:bodyPr>
          <a:p>
            <a:pPr marL="343080" indent="-343080">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imes New Roman"/>
              </a:rPr>
              <a:t>Field examples are used to demonstrate how the methods and guidelines are used in practice. </a:t>
            </a:r>
            <a:endParaRPr b="0" lang="en-IN" sz="2800" strike="noStrike" u="none">
              <a:solidFill>
                <a:srgbClr val="ffffff"/>
              </a:solidFill>
              <a:effectLst/>
              <a:uFillTx/>
              <a:latin typeface="Times New Roman"/>
            </a:endParaRPr>
          </a:p>
          <a:p>
            <a:pPr lvl="1" marL="743040" indent="-285840">
              <a:spcBef>
                <a:spcPts val="601"/>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We begin the class with a study of the Death Valley regional ground-water system in California and Nevada, USA.</a:t>
            </a:r>
            <a:endParaRPr b="0" lang="en-IN" sz="2400" strike="noStrike" u="none">
              <a:solidFill>
                <a:srgbClr val="ffffff"/>
              </a:solidFill>
              <a:effectLst/>
              <a:uFillTx/>
              <a:latin typeface="Times New Roman"/>
            </a:endParaRPr>
          </a:p>
          <a:p>
            <a:pPr marL="343080" indent="-343080">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imes New Roman"/>
              </a:rPr>
              <a:t>A synthetic example is used to investigate the methods and guidelines in a situation for which the truth is known.</a:t>
            </a:r>
            <a:endParaRPr b="0" lang="en-IN" sz="2800" strike="noStrike" u="none">
              <a:solidFill>
                <a:srgbClr val="ffffff"/>
              </a:solidFill>
              <a:effectLst/>
              <a:uFillTx/>
              <a:latin typeface="Times New Roman"/>
            </a:endParaRPr>
          </a:p>
          <a:p>
            <a:pPr lvl="1" marL="743040" indent="-285840">
              <a:spcBef>
                <a:spcPts val="601"/>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imes New Roman"/>
              </a:rPr>
              <a:t>A synthetic test case with a model development phase followed by a predictions phase is developed over the length of the course. </a:t>
            </a:r>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99"/>
            </a:gs>
            <a:gs pos="100000">
              <a:srgbClr val="0000cc"/>
            </a:gs>
          </a:gsLst>
          <a:lin ang="5400000"/>
        </a:grad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0" y="151920"/>
            <a:ext cx="91440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00"/>
                </a:solidFill>
                <a:effectLst/>
                <a:uFillTx/>
                <a:latin typeface="Times New Roman"/>
                <a:ea typeface="Times New Roman"/>
              </a:rPr>
              <a:t>Common questions that can be addressed by the methods taught here</a:t>
            </a:r>
            <a:r>
              <a:rPr b="0" lang="en-IN" sz="4400" strike="noStrike" u="none">
                <a:solidFill>
                  <a:srgbClr val="ffff00"/>
                </a:solidFill>
                <a:effectLst/>
                <a:uFillTx/>
                <a:latin typeface="Times New Roman"/>
              </a:rPr>
              <a:t> </a:t>
            </a:r>
            <a:endParaRPr b="0" lang="en-IN" sz="4400" strike="noStrike" u="none">
              <a:solidFill>
                <a:srgbClr val="ffff00"/>
              </a:solidFill>
              <a:effectLst/>
              <a:uFillTx/>
              <a:latin typeface="Times New Roman"/>
            </a:endParaRPr>
          </a:p>
        </p:txBody>
      </p:sp>
      <p:sp>
        <p:nvSpPr>
          <p:cNvPr id="72" name="PlaceHolder 2"/>
          <p:cNvSpPr>
            <a:spLocks noGrp="1"/>
          </p:cNvSpPr>
          <p:nvPr>
            <p:ph/>
          </p:nvPr>
        </p:nvSpPr>
        <p:spPr>
          <a:xfrm>
            <a:off x="380880" y="1676520"/>
            <a:ext cx="8382240" cy="4114800"/>
          </a:xfrm>
          <a:prstGeom prst="rect">
            <a:avLst/>
          </a:prstGeom>
          <a:noFill/>
          <a:ln w="0">
            <a:noFill/>
          </a:ln>
        </p:spPr>
        <p:txBody>
          <a:bodyPr lIns="90000" rIns="90000" tIns="46800" bIns="46800" anchor="t">
            <a:normAutofit fontScale="92500" lnSpcReduction="9999"/>
          </a:bodyPr>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imes New Roman"/>
                <a:ea typeface="Times New Roman"/>
              </a:rPr>
              <a:t>How much and what model complexity can the observations support?</a:t>
            </a:r>
            <a:endParaRPr b="0" lang="en-IN" sz="2800" strike="noStrike" u="none">
              <a:solidFill>
                <a:srgbClr val="ffffff"/>
              </a:solidFill>
              <a:effectLst/>
              <a:uFillTx/>
              <a:latin typeface="Times New Roman"/>
            </a:endParaRPr>
          </a:p>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imes New Roman"/>
                <a:ea typeface="Times New Roman"/>
              </a:rPr>
              <a:t>Are any of the estimated parameter values dominated by a single observation? </a:t>
            </a:r>
            <a:endParaRPr b="0" lang="en-IN" sz="2800" strike="noStrike" u="none">
              <a:solidFill>
                <a:srgbClr val="ffffff"/>
              </a:solidFill>
              <a:effectLst/>
              <a:uFillTx/>
              <a:latin typeface="Times New Roman"/>
            </a:endParaRPr>
          </a:p>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imes New Roman"/>
                <a:ea typeface="Times New Roman"/>
              </a:rPr>
              <a:t>What model parameters are important to the things I need to predict?</a:t>
            </a:r>
            <a:endParaRPr b="0" lang="en-IN" sz="2800" strike="noStrike" u="none">
              <a:solidFill>
                <a:srgbClr val="ffffff"/>
              </a:solidFill>
              <a:effectLst/>
              <a:uFillTx/>
              <a:latin typeface="Times New Roman"/>
            </a:endParaRPr>
          </a:p>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imes New Roman"/>
                <a:ea typeface="Times New Roman"/>
              </a:rPr>
              <a:t>What data should be collected to improve the predictions? </a:t>
            </a:r>
            <a:endParaRPr b="0" lang="en-IN" sz="2800" strike="noStrike" u="none">
              <a:solidFill>
                <a:srgbClr val="ffffff"/>
              </a:solidFill>
              <a:effectLst/>
              <a:uFillTx/>
              <a:latin typeface="Times New Roman"/>
            </a:endParaRPr>
          </a:p>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imes New Roman"/>
                <a:ea typeface="Times New Roman"/>
              </a:rPr>
              <a:t>Which conceptual model of the system is likely to produce better predictions?</a:t>
            </a:r>
            <a:endParaRPr b="0" lang="en-IN" sz="2800" strike="noStrike" u="none">
              <a:solidFill>
                <a:srgbClr val="ffffff"/>
              </a:solidFill>
              <a:effectLst/>
              <a:uFillTx/>
              <a:latin typeface="Times New Roman"/>
            </a:endParaRPr>
          </a:p>
          <a:p>
            <a:pPr marL="343080" indent="-343080">
              <a:lnSpc>
                <a:spcPct val="90000"/>
              </a:lnSpc>
              <a:spcBef>
                <a:spcPts val="700"/>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imes New Roman"/>
                <a:ea typeface="Times New Roman"/>
              </a:rPr>
              <a:t>How certain are the predictions?</a:t>
            </a:r>
            <a:endParaRPr b="0" lang="en-IN" sz="28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5247</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2002-02-27T01:39:08Z</dcterms:created>
  <dc:creator>Mary C. Hill</dc:creator>
  <dc:description/>
  <dc:language>en-IN</dc:language>
  <cp:lastModifiedBy>mchill</cp:lastModifiedBy>
  <dcterms:modified xsi:type="dcterms:W3CDTF">2007-09-18T14:51:46Z</dcterms:modified>
  <cp:revision>124</cp:revision>
  <dc:subject/>
  <dc:title>CALIBRATION AND UNCERTAINTY OF MODELS USGS-NTC March 2002</dc:title>
</cp:coreProperties>
</file>