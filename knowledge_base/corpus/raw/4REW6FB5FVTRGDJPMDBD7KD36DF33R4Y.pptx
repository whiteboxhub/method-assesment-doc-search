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6.jpeg" ContentType="image/jpeg"/>
  <Override PartName="/ppt/media/image5.png" ContentType="image/png"/>
  <Override PartName="/ppt/media/image7.png" ContentType="image/png"/>
  <Override PartName="/ppt/media/image8.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1440"/>
            <a:ext cx="8229600" cy="76428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8" name="PlaceHolder 2"/>
          <p:cNvSpPr>
            <a:spLocks noGrp="1"/>
          </p:cNvSpPr>
          <p:nvPr>
            <p:ph/>
          </p:nvPr>
        </p:nvSpPr>
        <p:spPr>
          <a:xfrm>
            <a:off x="0" y="914040"/>
            <a:ext cx="9144000" cy="52117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7BA3143-4B6C-4599-BAED-059CDEB4112E}"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1DC412C7-793B-479C-8C01-F446590625C2}" type="slidenum">
              <a:t>&lt;#&gt;</a:t>
            </a:fld>
          </a:p>
        </p:txBody>
      </p:sp>
      <p:sp>
        <p:nvSpPr>
          <p:cNvPr id="4" name="PlaceHolder 3"/>
          <p:cNvSpPr>
            <a:spLocks noGrp="1"/>
          </p:cNvSpPr>
          <p:nvPr>
            <p:ph type="dt" idx="3"/>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360"/>
            <a:ext cx="82296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0" y="914040"/>
            <a:ext cx="9144000" cy="52117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ftr" idx="1"/>
          </p:nvPr>
        </p:nvSpPr>
        <p:spPr>
          <a:xfrm>
            <a:off x="2666880" y="6248160"/>
            <a:ext cx="3353040" cy="47628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1" lang="en-US" sz="1200" strike="noStrike" u="none">
                <a:solidFill>
                  <a:srgbClr val="000000"/>
                </a:solidFill>
                <a:effectLst/>
                <a:uFillTx/>
                <a:latin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4-6, 2007</a:t>
            </a:r>
            <a:endParaRPr b="0" lang="en-IN" sz="1200" strike="noStrike" u="none">
              <a:solidFill>
                <a:srgbClr val="000000"/>
              </a:solidFill>
              <a:effectLst/>
              <a:uFillTx/>
              <a:latin typeface="Arial"/>
            </a:endParaRPr>
          </a:p>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sp>
        <p:nvSpPr>
          <p:cNvPr id="3" name="PlaceHolder 4"/>
          <p:cNvSpPr>
            <a:spLocks noGrp="1"/>
          </p:cNvSpPr>
          <p:nvPr>
            <p:ph type="sldNum" idx="2"/>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01330F-3ECE-45B4-B188-73ACFE6E2E30}"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grpSp>
        <p:nvGrpSpPr>
          <p:cNvPr id="4" name=""/>
          <p:cNvGrpSpPr/>
          <p:nvPr/>
        </p:nvGrpSpPr>
        <p:grpSpPr>
          <a:xfrm>
            <a:off x="1104840" y="6245280"/>
            <a:ext cx="838440" cy="476280"/>
            <a:chOff x="1104840" y="6245280"/>
            <a:chExt cx="838440" cy="476280"/>
          </a:xfrm>
        </p:grpSpPr>
        <p:pic>
          <p:nvPicPr>
            <p:cNvPr id="5" name="" descr=""/>
            <p:cNvPicPr/>
            <p:nvPr/>
          </p:nvPicPr>
          <p:blipFill>
            <a:blip r:embed="rId2"/>
            <a:stretch/>
          </p:blipFill>
          <p:spPr>
            <a:xfrm>
              <a:off x="1104840" y="6245280"/>
              <a:ext cx="838440" cy="476280"/>
            </a:xfrm>
            <a:prstGeom prst="rect">
              <a:avLst/>
            </a:prstGeom>
            <a:noFill/>
            <a:ln w="0">
              <a:noFill/>
            </a:ln>
          </p:spPr>
        </p:pic>
        <p:sp>
          <p:nvSpPr>
            <p:cNvPr id="6" name="PlaceHolder 5"/>
            <p:cNvSpPr>
              <a:spLocks noGrp="1"/>
            </p:cNvSpPr>
            <p:nvPr>
              <p:ph type="dt" idx="3"/>
            </p:nvPr>
          </p:nvSpPr>
          <p:spPr>
            <a:xfrm>
              <a:off x="1104840" y="6245280"/>
              <a:ext cx="8384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1.png"/><Relationship Id="rId3"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hyperlink" Target="http://www.globus.org/toolkit/docs/3.2/gridftp/user/globusurlcopy.html#commandlineoptions" TargetMode="External"/><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hyperlink" Target="http://www.cs.wisc.edu/condor/manual/v6.4/2_11DAGMan_Applications.html#fig:dagman-diamond" TargetMode="External"/><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hyperlink" Target="http://grow.uiowa.edu/dokuwiki/doku.php/projects/troubleshooting/troubleshooting_guide" TargetMode="External"/><Relationship Id="rId2" Type="http://schemas.openxmlformats.org/officeDocument/2006/relationships/image" Target="../media/image1.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0"/>
            <a:ext cx="8229600" cy="58672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Hands on Using the OSG client</a:t>
            </a:r>
            <a:br>
              <a:rPr sz="4400"/>
            </a:br>
            <a:br>
              <a:rPr sz="4400"/>
            </a:br>
            <a:br>
              <a:rPr sz="4400"/>
            </a:br>
            <a:r>
              <a:rPr b="0" lang="en-US" sz="4400" strike="noStrike" u="none">
                <a:solidFill>
                  <a:srgbClr val="000000"/>
                </a:solidFill>
                <a:effectLst/>
                <a:uFillTx/>
                <a:latin typeface="Arial"/>
              </a:rPr>
              <a:t>Abhishek Singh Rana </a:t>
            </a:r>
            <a:br>
              <a:rPr sz="4400"/>
            </a:br>
            <a:r>
              <a:rPr b="0" lang="en-US" sz="4400" strike="noStrike" u="none">
                <a:solidFill>
                  <a:srgbClr val="000000"/>
                </a:solidFill>
                <a:effectLst/>
                <a:uFillTx/>
                <a:latin typeface="Arial"/>
              </a:rPr>
              <a:t>and </a:t>
            </a:r>
            <a:br>
              <a:rPr sz="4400"/>
            </a:br>
            <a:r>
              <a:rPr b="0" lang="en-US" sz="4400" strike="noStrike" u="none">
                <a:solidFill>
                  <a:srgbClr val="000000"/>
                </a:solidFill>
                <a:effectLst/>
                <a:uFillTx/>
                <a:latin typeface="Arial"/>
              </a:rPr>
              <a:t>David Meyers</a:t>
            </a:r>
            <a:endParaRPr b="0" lang="en-IN" sz="4400" strike="noStrike" u="none">
              <a:solidFill>
                <a:srgbClr val="000000"/>
              </a:solidFill>
              <a:effectLst/>
              <a:uFillTx/>
              <a:latin typeface="Arial"/>
            </a:endParaRPr>
          </a:p>
        </p:txBody>
      </p:sp>
      <p:sp>
        <p:nvSpPr>
          <p:cNvPr id="10" name="PlaceHolder 2"/>
          <p:cNvSpPr>
            <a:spLocks noGrp="1"/>
          </p:cNvSpPr>
          <p:nvPr>
            <p:ph/>
          </p:nvPr>
        </p:nvSpPr>
        <p:spPr>
          <a:xfrm>
            <a:off x="0" y="914040"/>
            <a:ext cx="9144000" cy="5211720"/>
          </a:xfrm>
          <a:prstGeom prst="rect">
            <a:avLst/>
          </a:prstGeom>
          <a:noFill/>
          <a:ln w="0">
            <a:noFill/>
          </a:ln>
        </p:spPr>
        <p:txBody>
          <a:bodyPr lIns="90000" rIns="90000" tIns="46800" bIns="4680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11"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2"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82440"/>
            <a:ext cx="8229600" cy="4492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OSG 0.6.0 Infrastructure</a:t>
            </a:r>
            <a:endParaRPr b="0" lang="en-IN" sz="4400" strike="noStrike" u="none">
              <a:solidFill>
                <a:srgbClr val="000000"/>
              </a:solidFill>
              <a:effectLst/>
              <a:uFillTx/>
              <a:latin typeface="Arial"/>
            </a:endParaRPr>
          </a:p>
        </p:txBody>
      </p:sp>
      <p:sp>
        <p:nvSpPr>
          <p:cNvPr id="14" name="PlaceHolder 2"/>
          <p:cNvSpPr>
            <a:spLocks noGrp="1"/>
          </p:cNvSpPr>
          <p:nvPr>
            <p:ph/>
          </p:nvPr>
        </p:nvSpPr>
        <p:spPr>
          <a:xfrm>
            <a:off x="0" y="1219320"/>
            <a:ext cx="9144000" cy="4906800"/>
          </a:xfrm>
          <a:prstGeom prst="rect">
            <a:avLst/>
          </a:prstGeom>
          <a:noFill/>
          <a:ln w="0">
            <a:noFill/>
          </a:ln>
        </p:spPr>
        <p:txBody>
          <a:bodyPr lIns="91440" rIns="91440" tIns="45720" bIns="45720" anchor="t">
            <a:normAutofit/>
          </a:bodyPr>
          <a:p>
            <a:pPr marL="343080" indent="-343080">
              <a:spcBef>
                <a:spcPts val="9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VORS – Virtual Organization Resource Selector </a:t>
            </a:r>
            <a:endParaRPr b="0" lang="en-IN" sz="3600" strike="noStrike" u="none">
              <a:solidFill>
                <a:srgbClr val="000000"/>
              </a:solidFill>
              <a:effectLst/>
              <a:uFillTx/>
              <a:latin typeface="Arial"/>
            </a:endParaRPr>
          </a:p>
          <a:p>
            <a:pPr marL="343080" indent="-343080">
              <a:spcBef>
                <a:spcPts val="9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MonALISA – MONitoring Agents using a Large Integrated Service Architecture</a:t>
            </a:r>
            <a:endParaRPr b="0" lang="en-IN" sz="3600" strike="noStrike" u="none">
              <a:solidFill>
                <a:srgbClr val="000000"/>
              </a:solidFill>
              <a:effectLst/>
              <a:uFillTx/>
              <a:latin typeface="Arial"/>
            </a:endParaRPr>
          </a:p>
          <a:p>
            <a:pPr marL="343080" indent="-343080">
              <a:spcBef>
                <a:spcPts val="9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Gratia – Grid accounting facility</a:t>
            </a:r>
            <a:endParaRPr b="0" lang="en-IN" sz="3600" strike="noStrike" u="none">
              <a:solidFill>
                <a:srgbClr val="000000"/>
              </a:solidFill>
              <a:effectLst/>
              <a:uFillTx/>
              <a:latin typeface="Arial"/>
            </a:endParaRPr>
          </a:p>
          <a:p>
            <a:pPr marL="343080" indent="-343080">
              <a:spcBef>
                <a:spcPts val="9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Virtual Organization (VO) issues</a:t>
            </a:r>
            <a:endParaRPr b="0" lang="en-IN" sz="3600" strike="noStrike" u="none">
              <a:solidFill>
                <a:srgbClr val="000000"/>
              </a:solidFill>
              <a:effectLst/>
              <a:uFillTx/>
              <a:latin typeface="Arial"/>
            </a:endParaRPr>
          </a:p>
          <a:p>
            <a:pPr marL="343080" indent="-343080">
              <a:spcBef>
                <a:spcPts val="9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GOC – Grid Operations Center</a:t>
            </a:r>
            <a:endParaRPr b="0" lang="en-IN" sz="3600" strike="noStrike" u="none">
              <a:solidFill>
                <a:srgbClr val="000000"/>
              </a:solidFill>
              <a:effectLst/>
              <a:uFillTx/>
              <a:latin typeface="Arial"/>
            </a:endParaRPr>
          </a:p>
        </p:txBody>
      </p:sp>
      <p:sp>
        <p:nvSpPr>
          <p:cNvPr id="15"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6"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1519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000000"/>
                </a:solidFill>
                <a:effectLst/>
                <a:uFillTx/>
                <a:latin typeface="Arial"/>
              </a:rPr>
              <a:t>Virtual Organization Resource Selector - VORS</a:t>
            </a:r>
            <a:endParaRPr b="0" lang="en-IN" sz="4000" strike="noStrike" u="none">
              <a:solidFill>
                <a:srgbClr val="000000"/>
              </a:solidFill>
              <a:effectLst/>
              <a:uFillTx/>
              <a:latin typeface="Arial"/>
            </a:endParaRPr>
          </a:p>
        </p:txBody>
      </p:sp>
      <p:sp>
        <p:nvSpPr>
          <p:cNvPr id="18" name="PlaceHolder 2"/>
          <p:cNvSpPr>
            <a:spLocks noGrp="1"/>
          </p:cNvSpPr>
          <p:nvPr>
            <p:ph/>
          </p:nvPr>
        </p:nvSpPr>
        <p:spPr>
          <a:xfrm>
            <a:off x="0" y="1599840"/>
            <a:ext cx="9144000" cy="3886200"/>
          </a:xfrm>
          <a:prstGeom prst="rect">
            <a:avLst/>
          </a:prstGeom>
          <a:noFill/>
          <a:ln w="0">
            <a:noFill/>
          </a:ln>
        </p:spPr>
        <p:txBody>
          <a:bodyPr lIns="91440" rIns="91440" tIns="45720" bIns="45720" anchor="t">
            <a:normAutofit lnSpcReduction="9999"/>
          </a:bodyPr>
          <a:p>
            <a:pPr marL="343080" indent="-343080">
              <a:lnSpc>
                <a:spcPct val="90000"/>
              </a:lnSpc>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Custom web interface to a grid scanner that checks services and resources on:</a:t>
            </a:r>
            <a:endParaRPr b="0" lang="en-IN" sz="3200" strike="noStrike" u="none">
              <a:solidFill>
                <a:srgbClr val="000000"/>
              </a:solidFill>
              <a:effectLst/>
              <a:uFillTx/>
              <a:latin typeface="Arial"/>
            </a:endParaRPr>
          </a:p>
          <a:p>
            <a:pPr lvl="1" marL="743040" indent="-28584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Each Compute Element </a:t>
            </a:r>
            <a:endParaRPr b="0" lang="en-IN" sz="2800" strike="noStrike" u="none">
              <a:solidFill>
                <a:srgbClr val="000000"/>
              </a:solidFill>
              <a:effectLst/>
              <a:uFillTx/>
              <a:latin typeface="Arial"/>
            </a:endParaRPr>
          </a:p>
          <a:p>
            <a:pPr lvl="1" marL="743040" indent="-28584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Each Storage Element</a:t>
            </a:r>
            <a:endParaRPr b="0" lang="en-IN" sz="2800" strike="noStrike" u="none">
              <a:solidFill>
                <a:srgbClr val="000000"/>
              </a:solidFill>
              <a:effectLst/>
              <a:uFillTx/>
              <a:latin typeface="Arial"/>
            </a:endParaRPr>
          </a:p>
          <a:p>
            <a:pPr marL="343080" indent="-343080">
              <a:lnSpc>
                <a:spcPct val="90000"/>
              </a:lnSpc>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Very handy for checking:</a:t>
            </a:r>
            <a:endParaRPr b="0" lang="en-IN" sz="3200" strike="noStrike" u="none">
              <a:solidFill>
                <a:srgbClr val="000000"/>
              </a:solidFill>
              <a:effectLst/>
              <a:uFillTx/>
              <a:latin typeface="Arial"/>
            </a:endParaRPr>
          </a:p>
          <a:p>
            <a:pPr lvl="1" marL="743040" indent="-28584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Paths of installed tools on Worker Nodes.</a:t>
            </a:r>
            <a:endParaRPr b="0" lang="en-IN" sz="2800" strike="noStrike" u="none">
              <a:solidFill>
                <a:srgbClr val="000000"/>
              </a:solidFill>
              <a:effectLst/>
              <a:uFillTx/>
              <a:latin typeface="Arial"/>
            </a:endParaRPr>
          </a:p>
          <a:p>
            <a:pPr lvl="1" marL="743040" indent="-28584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Location &amp; amount of disk space for planning a workflow.</a:t>
            </a:r>
            <a:endParaRPr b="0" lang="en-IN" sz="2800" strike="noStrike" u="none">
              <a:solidFill>
                <a:srgbClr val="000000"/>
              </a:solidFill>
              <a:effectLst/>
              <a:uFillTx/>
              <a:latin typeface="Arial"/>
            </a:endParaRPr>
          </a:p>
          <a:p>
            <a:pPr lvl="1" marL="743040" indent="-28584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Troubleshooting when an error occurs.</a:t>
            </a:r>
            <a:endParaRPr b="0" lang="en-IN" sz="2800" strike="noStrike" u="none">
              <a:solidFill>
                <a:srgbClr val="000000"/>
              </a:solidFill>
              <a:effectLst/>
              <a:uFillTx/>
              <a:latin typeface="Arial"/>
            </a:endParaRPr>
          </a:p>
        </p:txBody>
      </p:sp>
      <p:sp>
        <p:nvSpPr>
          <p:cNvPr id="19"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20"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 name="Picture 4" descr=""/>
          <p:cNvPicPr/>
          <p:nvPr/>
        </p:nvPicPr>
        <p:blipFill>
          <a:blip r:embed="rId1"/>
          <a:stretch/>
        </p:blipFill>
        <p:spPr>
          <a:xfrm>
            <a:off x="2557440" y="1828800"/>
            <a:ext cx="4030560" cy="4046400"/>
          </a:xfrm>
          <a:prstGeom prst="rect">
            <a:avLst/>
          </a:prstGeom>
          <a:noFill/>
          <a:ln w="0">
            <a:noFill/>
          </a:ln>
        </p:spPr>
      </p:pic>
      <p:sp>
        <p:nvSpPr>
          <p:cNvPr id="22" name="Text Box 5"/>
          <p:cNvSpPr/>
          <p:nvPr/>
        </p:nvSpPr>
        <p:spPr>
          <a:xfrm>
            <a:off x="1905120" y="609480"/>
            <a:ext cx="6553080" cy="117000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0000"/>
                </a:solidFill>
                <a:effectLst/>
                <a:uFillTx/>
                <a:latin typeface="Arial"/>
              </a:rPr>
              <a:t>VORS entry for OSG_LIGO_PSU</a:t>
            </a:r>
            <a:endParaRPr b="0" lang="en-IN" sz="2800" strike="noStrike" u="none">
              <a:solidFill>
                <a:srgbClr val="000000"/>
              </a:solidFill>
              <a:effectLst/>
              <a:uFillTx/>
              <a:latin typeface="Arial"/>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0000"/>
                </a:solidFill>
                <a:effectLst/>
                <a:uFillTx/>
                <a:latin typeface="Arial"/>
              </a:rPr>
              <a:t>Gatekeeper: grid3.aset.psu.edu</a:t>
            </a:r>
            <a:endParaRPr b="0" lang="en-IN" sz="2800" strike="noStrike" u="none">
              <a:solidFill>
                <a:srgbClr val="000000"/>
              </a:solidFill>
              <a:effectLst/>
              <a:uFillTx/>
              <a:latin typeface="Arial"/>
            </a:endParaRPr>
          </a:p>
        </p:txBody>
      </p:sp>
      <p:sp>
        <p:nvSpPr>
          <p:cNvPr id="23"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24"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Text Box 5"/>
          <p:cNvSpPr/>
          <p:nvPr/>
        </p:nvSpPr>
        <p:spPr>
          <a:xfrm>
            <a:off x="304920" y="1523880"/>
            <a:ext cx="8534160" cy="36684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6" name="Text Box 7"/>
          <p:cNvSpPr/>
          <p:nvPr/>
        </p:nvSpPr>
        <p:spPr>
          <a:xfrm>
            <a:off x="457200" y="1515960"/>
            <a:ext cx="8153280" cy="381456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Testing for SE SRM control protocol : YES control type = srm_v1 end point = srm://fndca1.fnal.gov:8443/ full path = /pnfs/fnal.gov/usr/fermigrid/volatile/mis executing srmls -retry_num=0 srm://fndca1.fnal.gov:8443//pnfs/fnal.gov/usr/fermigrid/volatile/mis 2&gt;&amp;1           ….</a:t>
            </a:r>
            <a:endParaRPr b="0" lang="en-IN" sz="1800" strike="noStrike" u="none">
              <a:solidFill>
                <a:srgbClr val="000000"/>
              </a:solidFill>
              <a:effectLst/>
              <a:uFillTx/>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Testing srmls : PASS - read 12 lines 512 srm://fndca1.fnal.gov:8443//pnfs/fnal.gov/usr/fermigrid/volatile/mis 1715 srm://fndca1.fnal.gov:8443//pnfs/fnal.gov/usr/fermigrid/volatile/mis/file1 1715 srm://fndca1.fnal.gov:8443//pnfs/fnal.gov/usr/fermigrid/volatile/mis/file2 41767                                                                    </a:t>
            </a:r>
            <a:endParaRPr b="0" lang="en-IN" sz="1800" strike="noStrike" u="none">
              <a:solidFill>
                <a:srgbClr val="000000"/>
              </a:solidFill>
              <a:effectLst/>
              <a:uFillTx/>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Testing srmcp (from SE) : FAIL - returns error code 256 </a:t>
            </a:r>
            <a:endParaRPr b="0" lang="en-IN" sz="1800" strike="noStrike" u="none">
              <a:solidFill>
                <a:srgbClr val="000000"/>
              </a:solidFill>
              <a:effectLst/>
              <a:uFillTx/>
              <a:latin typeface="Arial"/>
            </a:endParaRPr>
          </a:p>
        </p:txBody>
      </p:sp>
      <p:sp>
        <p:nvSpPr>
          <p:cNvPr id="27" name="Text Box 8"/>
          <p:cNvSpPr/>
          <p:nvPr/>
        </p:nvSpPr>
        <p:spPr>
          <a:xfrm>
            <a:off x="380880" y="304920"/>
            <a:ext cx="8382240" cy="94788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0000"/>
                </a:solidFill>
                <a:effectLst/>
                <a:uFillTx/>
                <a:latin typeface="Arial"/>
              </a:rPr>
              <a:t>VORS is developing a grid-scanner for Storage    Elements (coming soon) for OSG 0.6.0</a:t>
            </a:r>
            <a:endParaRPr b="0" lang="en-IN" sz="2800" strike="noStrike" u="none">
              <a:solidFill>
                <a:srgbClr val="000000"/>
              </a:solidFill>
              <a:effectLst/>
              <a:uFillTx/>
              <a:latin typeface="Arial"/>
            </a:endParaRPr>
          </a:p>
        </p:txBody>
      </p:sp>
      <p:sp>
        <p:nvSpPr>
          <p:cNvPr id="28"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29"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360"/>
            <a:ext cx="8229600" cy="7621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MonALISA</a:t>
            </a:r>
            <a:endParaRPr b="0" lang="en-IN" sz="4400" strike="noStrike" u="none">
              <a:solidFill>
                <a:srgbClr val="000000"/>
              </a:solidFill>
              <a:effectLst/>
              <a:uFillTx/>
              <a:latin typeface="Arial"/>
            </a:endParaRPr>
          </a:p>
        </p:txBody>
      </p:sp>
      <p:sp>
        <p:nvSpPr>
          <p:cNvPr id="31" name=""/>
          <p:cNvSpPr txBox="1"/>
          <p:nvPr/>
        </p:nvSpPr>
        <p:spPr>
          <a:xfrm>
            <a:off x="0" y="914040"/>
            <a:ext cx="9144000" cy="5211720"/>
          </a:xfrm>
          <a:prstGeom prst="rect">
            <a:avLst/>
          </a:prstGeom>
          <a:noFill/>
          <a:ln w="0">
            <a:noFill/>
          </a:ln>
        </p:spPr>
        <p:txBody>
          <a:bodyPr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Mature OSG-wide real-time monitoring of jobs</a:t>
            </a:r>
            <a:endParaRPr b="0" lang="en-IN" sz="32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Provides templates for charting job and workflow progress on a site or per a collection of sites used by a Virtual Organization.</a:t>
            </a:r>
            <a:endParaRPr b="0" lang="en-IN" sz="32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Provides historical database records on past usage.</a:t>
            </a:r>
            <a:endParaRPr b="0" lang="en-IN" sz="3200" strike="noStrike" u="none">
              <a:solidFill>
                <a:srgbClr val="000000"/>
              </a:solidFill>
              <a:effectLst/>
              <a:uFillTx/>
              <a:latin typeface="Arial"/>
            </a:endParaRPr>
          </a:p>
        </p:txBody>
      </p:sp>
      <p:sp>
        <p:nvSpPr>
          <p:cNvPr id="32"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33"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 name="" descr=""/>
          <p:cNvPicPr/>
          <p:nvPr/>
        </p:nvPicPr>
        <p:blipFill>
          <a:blip r:embed="rId1"/>
          <a:stretch/>
        </p:blipFill>
        <p:spPr>
          <a:xfrm>
            <a:off x="757080" y="814320"/>
            <a:ext cx="7629840" cy="5229360"/>
          </a:xfrm>
          <a:prstGeom prst="rect">
            <a:avLst/>
          </a:prstGeom>
          <a:noFill/>
          <a:ln w="0">
            <a:noFill/>
          </a:ln>
        </p:spPr>
      </p:pic>
      <p:sp>
        <p:nvSpPr>
          <p:cNvPr id="35"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36" name="" descr=""/>
          <p:cNvPicPr/>
          <p:nvPr/>
        </p:nvPicPr>
        <p:blipFill>
          <a:blip r:embed="rId2"/>
          <a:stretch/>
        </p:blipFill>
        <p:spPr>
          <a:xfrm>
            <a:off x="1104840" y="6245280"/>
            <a:ext cx="838440" cy="476280"/>
          </a:xfrm>
          <a:prstGeom prst="rect">
            <a:avLst/>
          </a:prstGeom>
          <a:noFill/>
          <a:ln w="0">
            <a:noFill/>
          </a:ln>
        </p:spPr>
      </p:pic>
      <p:sp>
        <p:nvSpPr>
          <p:cNvPr id="37" name=""/>
          <p:cNvSpPr/>
          <p:nvPr/>
        </p:nvSpPr>
        <p:spPr>
          <a:xfrm>
            <a:off x="152280" y="228600"/>
            <a:ext cx="87631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MonALISA Graph capability – Run-time performance of a LIGO App at 6 OSG sites</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 name="" descr=""/>
          <p:cNvPicPr/>
          <p:nvPr/>
        </p:nvPicPr>
        <p:blipFill>
          <a:blip r:embed="rId1"/>
          <a:stretch/>
        </p:blipFill>
        <p:spPr>
          <a:xfrm>
            <a:off x="709560" y="2471760"/>
            <a:ext cx="7724880" cy="1914480"/>
          </a:xfrm>
          <a:prstGeom prst="rect">
            <a:avLst/>
          </a:prstGeom>
          <a:noFill/>
          <a:ln w="0">
            <a:noFill/>
          </a:ln>
        </p:spPr>
      </p:pic>
      <p:sp>
        <p:nvSpPr>
          <p:cNvPr id="39"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40" name="" descr=""/>
          <p:cNvPicPr/>
          <p:nvPr/>
        </p:nvPicPr>
        <p:blipFill>
          <a:blip r:embed="rId2"/>
          <a:stretch/>
        </p:blipFill>
        <p:spPr>
          <a:xfrm>
            <a:off x="1104840" y="6245280"/>
            <a:ext cx="838440" cy="476280"/>
          </a:xfrm>
          <a:prstGeom prst="rect">
            <a:avLst/>
          </a:prstGeom>
          <a:noFill/>
          <a:ln w="0">
            <a:noFill/>
          </a:ln>
        </p:spPr>
      </p:pic>
      <p:sp>
        <p:nvSpPr>
          <p:cNvPr id="41" name=""/>
          <p:cNvSpPr/>
          <p:nvPr/>
        </p:nvSpPr>
        <p:spPr>
          <a:xfrm>
            <a:off x="1066680" y="1081080"/>
            <a:ext cx="7118280" cy="368280"/>
          </a:xfrm>
          <a:prstGeom prst="rect">
            <a:avLst/>
          </a:prstGeom>
          <a:noFill/>
          <a:ln w="0">
            <a:noFill/>
          </a:ln>
        </p:spPr>
        <p:style>
          <a:lnRef idx="0"/>
          <a:fillRef idx="0"/>
          <a:effectRef idx="0"/>
          <a:fontRef idx="minor"/>
        </p:style>
        <p:txBody>
          <a:bodyPr wrap="none"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MonALISA stats  – 7 day performance of a LIGO App at 6 OSG sites</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52280" y="75960"/>
            <a:ext cx="883944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Gratia – Grid Accounting Package</a:t>
            </a:r>
            <a:endParaRPr b="0" lang="en-IN" sz="4400" strike="noStrike" u="none">
              <a:solidFill>
                <a:srgbClr val="000000"/>
              </a:solidFill>
              <a:effectLst/>
              <a:uFillTx/>
              <a:latin typeface="Arial"/>
            </a:endParaRPr>
          </a:p>
        </p:txBody>
      </p:sp>
      <p:sp>
        <p:nvSpPr>
          <p:cNvPr id="43" name=""/>
          <p:cNvSpPr txBox="1"/>
          <p:nvPr/>
        </p:nvSpPr>
        <p:spPr>
          <a:xfrm>
            <a:off x="457200" y="1066680"/>
            <a:ext cx="8229600" cy="5105520"/>
          </a:xfrm>
          <a:prstGeom prst="rect">
            <a:avLst/>
          </a:prstGeom>
          <a:noFill/>
          <a:ln w="0">
            <a:noFill/>
          </a:ln>
        </p:spPr>
        <p:txBody>
          <a:bodyPr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Goal: Accurate set of views of Grid resource usage.</a:t>
            </a:r>
            <a:endParaRPr b="0" lang="en-IN" sz="32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Uniform accounting records independent of batch scheduler and operating system.</a:t>
            </a:r>
            <a:endParaRPr b="0" lang="en-IN" sz="32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Gratia Probe installed as part of the OSG 0.60 Compute Element installation.</a:t>
            </a:r>
            <a:endParaRPr b="0" lang="en-IN" sz="32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Gratia Reporting Facility at FNAL.</a:t>
            </a:r>
            <a:endParaRPr b="0" lang="en-IN" sz="32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SQL retrieval of records from FNAL DB. </a:t>
            </a:r>
            <a:endParaRPr b="0" lang="en-IN" sz="3200" strike="noStrike" u="none">
              <a:solidFill>
                <a:srgbClr val="000000"/>
              </a:solidFill>
              <a:effectLst/>
              <a:uFillTx/>
              <a:latin typeface="Arial"/>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4"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45"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
          <p:cNvSpPr/>
          <p:nvPr/>
        </p:nvSpPr>
        <p:spPr>
          <a:xfrm>
            <a:off x="457200" y="-380880"/>
            <a:ext cx="8229600" cy="1143000"/>
          </a:xfrm>
          <a:prstGeom prst="rect">
            <a:avLst/>
          </a:prstGeom>
          <a:noFill/>
          <a:ln w="0">
            <a:noFill/>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47" name=""/>
          <p:cNvSpPr/>
          <p:nvPr/>
        </p:nvSpPr>
        <p:spPr>
          <a:xfrm>
            <a:off x="457200" y="1600200"/>
            <a:ext cx="8229600" cy="4525920"/>
          </a:xfrm>
          <a:prstGeom prst="rect">
            <a:avLst/>
          </a:prstGeom>
          <a:no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48" name="" descr=""/>
          <p:cNvPicPr/>
          <p:nvPr/>
        </p:nvPicPr>
        <p:blipFill>
          <a:blip r:embed="rId1"/>
          <a:stretch/>
        </p:blipFill>
        <p:spPr>
          <a:xfrm>
            <a:off x="685800" y="228600"/>
            <a:ext cx="7696080" cy="5772240"/>
          </a:xfrm>
          <a:prstGeom prst="rect">
            <a:avLst/>
          </a:prstGeom>
          <a:noFill/>
          <a:ln w="0">
            <a:noFill/>
          </a:ln>
        </p:spPr>
      </p:pic>
      <p:sp>
        <p:nvSpPr>
          <p:cNvPr id="49" name=""/>
          <p:cNvSpPr/>
          <p:nvPr/>
        </p:nvSpPr>
        <p:spPr>
          <a:xfrm>
            <a:off x="2742840" y="6018840"/>
            <a:ext cx="3896280" cy="184680"/>
          </a:xfrm>
          <a:prstGeom prst="rect">
            <a:avLst/>
          </a:prstGeom>
          <a:noFill/>
          <a:ln w="0">
            <a:noFill/>
          </a:ln>
        </p:spPr>
        <p:style>
          <a:lnRef idx="0"/>
          <a:fillRef idx="0"/>
          <a:effectRef idx="0"/>
          <a:fontRef idx="minor"/>
        </p:style>
        <p:txBody>
          <a:bodyPr wrap="none" lIns="380880" rIns="90000" tIns="46800" bIns="0" anchor="ctr">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000000"/>
                </a:solidFill>
                <a:effectLst/>
                <a:uFillTx/>
                <a:latin typeface="Arial"/>
              </a:rPr>
              <a:t>Date range: 2007-02-26 00:00:00 GMT - 2007-03-05 23:59:59 GMT</a:t>
            </a:r>
            <a:endParaRPr b="0" lang="en-IN" sz="900" strike="noStrike" u="none">
              <a:solidFill>
                <a:srgbClr val="000000"/>
              </a:solidFill>
              <a:effectLst/>
              <a:uFillTx/>
              <a:latin typeface="Arial"/>
            </a:endParaRPr>
          </a:p>
        </p:txBody>
      </p:sp>
      <p:sp>
        <p:nvSpPr>
          <p:cNvPr id="50"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51"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360"/>
            <a:ext cx="8229600" cy="7621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Virtual Organization(VO)  Issues</a:t>
            </a:r>
            <a:endParaRPr b="0" lang="en-IN" sz="4400" strike="noStrike" u="none">
              <a:solidFill>
                <a:srgbClr val="000000"/>
              </a:solidFill>
              <a:effectLst/>
              <a:uFillTx/>
              <a:latin typeface="Arial"/>
            </a:endParaRPr>
          </a:p>
        </p:txBody>
      </p:sp>
      <p:sp>
        <p:nvSpPr>
          <p:cNvPr id="53" name=""/>
          <p:cNvSpPr txBox="1"/>
          <p:nvPr/>
        </p:nvSpPr>
        <p:spPr>
          <a:xfrm>
            <a:off x="0" y="914040"/>
            <a:ext cx="9144000" cy="5211720"/>
          </a:xfrm>
          <a:prstGeom prst="rect">
            <a:avLst/>
          </a:prstGeom>
          <a:noFill/>
          <a:ln w="0">
            <a:noFill/>
          </a:ln>
        </p:spPr>
        <p:txBody>
          <a:bodyPr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Your Grid Certificate is tied to a specific VO.</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Each VO has a VO administrator. The VO admin manages a VOMS server.</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VOMS – Virtual Organization Membership Service is a DB which collects all the membership information for the organization.  </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Globus gatekeeper authentication process references your identity information from VOMS to determine if you are to be authenticated when you attempt to run a Globus job or GSIFTP a file.</a:t>
            </a:r>
            <a:endParaRPr b="0" lang="en-IN" sz="2400" strike="noStrike" u="none">
              <a:solidFill>
                <a:srgbClr val="000000"/>
              </a:solidFill>
              <a:effectLst/>
              <a:uFillTx/>
              <a:latin typeface="Arial"/>
            </a:endParaRPr>
          </a:p>
        </p:txBody>
      </p:sp>
      <p:sp>
        <p:nvSpPr>
          <p:cNvPr id="54"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55"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360"/>
            <a:ext cx="8229600" cy="7621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Virtual Organization(VO)  Issues</a:t>
            </a:r>
            <a:endParaRPr b="0" lang="en-IN" sz="4400" strike="noStrike" u="none">
              <a:solidFill>
                <a:srgbClr val="000000"/>
              </a:solidFill>
              <a:effectLst/>
              <a:uFillTx/>
              <a:latin typeface="Arial"/>
            </a:endParaRPr>
          </a:p>
        </p:txBody>
      </p:sp>
      <p:sp>
        <p:nvSpPr>
          <p:cNvPr id="57" name=""/>
          <p:cNvSpPr txBox="1"/>
          <p:nvPr/>
        </p:nvSpPr>
        <p:spPr>
          <a:xfrm>
            <a:off x="151920" y="1599840"/>
            <a:ext cx="8534520" cy="4800600"/>
          </a:xfrm>
          <a:prstGeom prst="rect">
            <a:avLst/>
          </a:prstGeom>
          <a:noFill/>
          <a:ln w="0">
            <a:noFill/>
          </a:ln>
        </p:spPr>
        <p:txBody>
          <a:bodyPr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Why can’t I run a job at site X?</a:t>
            </a:r>
            <a:endParaRPr b="0" lang="en-IN" sz="32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The site X may not support your VO. A Production site on the OSG is not required to support all VOs. (check with your VO admin)</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The site X may require additional configuration to support your VO (missing VO home directory, wrong permissions, no VO grid mapping) Your VO admin may need the GOC to fix this.</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
        <p:nvSpPr>
          <p:cNvPr id="58"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59"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360"/>
            <a:ext cx="8229600" cy="7621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Grid Operations Center</a:t>
            </a:r>
            <a:endParaRPr b="0" lang="en-IN" sz="4400" strike="noStrike" u="none">
              <a:solidFill>
                <a:srgbClr val="000000"/>
              </a:solidFill>
              <a:effectLst/>
              <a:uFillTx/>
              <a:latin typeface="Arial"/>
            </a:endParaRPr>
          </a:p>
        </p:txBody>
      </p:sp>
      <p:sp>
        <p:nvSpPr>
          <p:cNvPr id="61" name=""/>
          <p:cNvSpPr txBox="1"/>
          <p:nvPr/>
        </p:nvSpPr>
        <p:spPr>
          <a:xfrm>
            <a:off x="0" y="914040"/>
            <a:ext cx="9144000" cy="5211720"/>
          </a:xfrm>
          <a:prstGeom prst="rect">
            <a:avLst/>
          </a:prstGeom>
          <a:noFill/>
          <a:ln w="0">
            <a:noFill/>
          </a:ln>
        </p:spPr>
        <p:txBody>
          <a:bodyPr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Based at Indiana University and provides a central repository of staff and monitoring systems for:</a:t>
            </a:r>
            <a:endParaRPr b="0" lang="en-IN" sz="32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Real time grid monitoring.</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Problem tracking via a trouble ticket system.</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Support for developers and sys admins.</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Maintains infrastructure – VORS, MonALISA and registration DB.</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Maintains OSG software repositories.</a:t>
            </a:r>
            <a:endParaRPr b="0" lang="en-IN" sz="2800" strike="noStrike" u="none">
              <a:solidFill>
                <a:srgbClr val="000000"/>
              </a:solidFill>
              <a:effectLst/>
              <a:uFillTx/>
              <a:latin typeface="Arial"/>
            </a:endParaRPr>
          </a:p>
        </p:txBody>
      </p:sp>
      <p:sp>
        <p:nvSpPr>
          <p:cNvPr id="62"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63"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0"/>
            <a:ext cx="8229600" cy="4096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Running jobs on the OSG</a:t>
            </a:r>
            <a:endParaRPr b="0" lang="en-IN" sz="3600" strike="noStrike" u="none">
              <a:solidFill>
                <a:srgbClr val="000000"/>
              </a:solidFill>
              <a:effectLst/>
              <a:uFillTx/>
              <a:latin typeface="Arial"/>
            </a:endParaRPr>
          </a:p>
        </p:txBody>
      </p:sp>
      <p:sp>
        <p:nvSpPr>
          <p:cNvPr id="65" name=""/>
          <p:cNvSpPr txBox="1"/>
          <p:nvPr/>
        </p:nvSpPr>
        <p:spPr>
          <a:xfrm>
            <a:off x="457200" y="533520"/>
            <a:ext cx="8229600" cy="838080"/>
          </a:xfrm>
          <a:prstGeom prst="rect">
            <a:avLst/>
          </a:prstGeom>
          <a:noFill/>
          <a:ln w="0">
            <a:noFill/>
          </a:ln>
        </p:spPr>
        <p:txBody>
          <a:bodyPr anchor="t">
            <a:normAutofit fontScale="92500" lnSpcReduction="9999"/>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Command line tools –common idioms </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Check the VORS page </a:t>
            </a:r>
            <a:endParaRPr b="0" lang="en-IN" sz="2400" strike="noStrike" u="none">
              <a:solidFill>
                <a:srgbClr val="000000"/>
              </a:solidFill>
              <a:effectLst/>
              <a:uFillTx/>
              <a:latin typeface="Arial"/>
            </a:endParaRPr>
          </a:p>
        </p:txBody>
      </p:sp>
      <p:pic>
        <p:nvPicPr>
          <p:cNvPr id="66" name="Picture 3" descr="dev-scanPSU.jpg"/>
          <p:cNvPicPr/>
          <p:nvPr/>
        </p:nvPicPr>
        <p:blipFill>
          <a:blip r:embed="rId1"/>
          <a:stretch/>
        </p:blipFill>
        <p:spPr>
          <a:xfrm>
            <a:off x="1185840" y="1447920"/>
            <a:ext cx="6772320" cy="2523960"/>
          </a:xfrm>
          <a:prstGeom prst="rect">
            <a:avLst/>
          </a:prstGeom>
          <a:noFill/>
          <a:ln w="0">
            <a:noFill/>
          </a:ln>
        </p:spPr>
      </p:pic>
      <p:sp>
        <p:nvSpPr>
          <p:cNvPr id="67" name="TextBox 5"/>
          <p:cNvSpPr/>
          <p:nvPr/>
        </p:nvSpPr>
        <p:spPr>
          <a:xfrm>
            <a:off x="380880" y="3986280"/>
            <a:ext cx="8610840" cy="28666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We need to specify the gatekeeper (second column above) for a site:</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globus-job-run grid3.aset.psu.edu /bin/date</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ES" sz="1600" strike="noStrike" u="none">
                <a:solidFill>
                  <a:srgbClr val="000000"/>
                </a:solidFill>
                <a:effectLst/>
                <a:uFillTx/>
                <a:latin typeface="Arial"/>
              </a:rPr>
              <a:t>Sun Mar  4 00:30:02 EST 2007</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ES" sz="1600" strike="noStrike" u="none">
                <a:solidFill>
                  <a:srgbClr val="000000"/>
                </a:solidFill>
                <a:effectLst/>
                <a:uFillTx/>
                <a:latin typeface="Arial"/>
              </a:rPr>
              <a:t>Can we authenticate on OU_OCHEP_SW2 ?</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ES" sz="1600" strike="noStrike" u="none">
                <a:solidFill>
                  <a:srgbClr val="000000"/>
                </a:solidFill>
                <a:effectLst/>
                <a:uFillTx/>
                <a:latin typeface="Arial"/>
              </a:rPr>
              <a:t>globusrun  -a  -r   tier2-01.ochep.ou.edu</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ES" sz="1600" strike="noStrike" u="none">
                <a:solidFill>
                  <a:srgbClr val="000000"/>
                </a:solidFill>
                <a:effectLst/>
                <a:uFillTx/>
                <a:latin typeface="Arial"/>
              </a:rPr>
              <a:t>GRAM Authentication test successful</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8"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69"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0"/>
            <a:ext cx="8229600" cy="4096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Running jobs on the OSG</a:t>
            </a:r>
            <a:endParaRPr b="0" lang="en-IN" sz="3600" strike="noStrike" u="none">
              <a:solidFill>
                <a:srgbClr val="000000"/>
              </a:solidFill>
              <a:effectLst/>
              <a:uFillTx/>
              <a:latin typeface="Arial"/>
            </a:endParaRPr>
          </a:p>
        </p:txBody>
      </p:sp>
      <p:sp>
        <p:nvSpPr>
          <p:cNvPr id="71" name=""/>
          <p:cNvSpPr txBox="1"/>
          <p:nvPr/>
        </p:nvSpPr>
        <p:spPr>
          <a:xfrm>
            <a:off x="-360" y="837720"/>
            <a:ext cx="8839080" cy="6172200"/>
          </a:xfrm>
          <a:prstGeom prst="rect">
            <a:avLst/>
          </a:prstGeom>
          <a:noFill/>
          <a:ln w="0">
            <a:noFill/>
          </a:ln>
        </p:spPr>
        <p:txBody>
          <a:bodyPr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globusrun and globus-job-run can be used for complex job specifications:</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Batch schedulers supported include:</a:t>
            </a:r>
            <a:endParaRPr b="0" lang="en-IN" sz="2800" strike="noStrike" u="none">
              <a:solidFill>
                <a:srgbClr val="000000"/>
              </a:solidFill>
              <a:effectLst/>
              <a:uFillTx/>
              <a:latin typeface="Arial"/>
            </a:endParaRPr>
          </a:p>
          <a:p>
            <a:pPr lvl="2" marL="1143000" indent="-228600">
              <a:spcBef>
                <a:spcPts val="700"/>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Condor, LSF, PBS and SGE</a:t>
            </a:r>
            <a:endParaRPr b="0" lang="en-IN" sz="28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 To access many nodes on a remote resource specify the proper batch scheduler used at that site: </a:t>
            </a:r>
            <a:endParaRPr b="0" lang="en-IN" sz="2800" strike="noStrike" u="none">
              <a:solidFill>
                <a:srgbClr val="000000"/>
              </a:solidFill>
              <a:effectLst/>
              <a:uFillTx/>
              <a:latin typeface="Arial"/>
            </a:endParaRPr>
          </a:p>
          <a:p>
            <a:pPr lvl="1" marL="743040" indent="-285840">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globus-job-run grid3.aset.psu.edu/jobmanager-pbs /bin/date</a:t>
            </a:r>
            <a:endParaRPr b="0" lang="en-IN" sz="2400" strike="noStrike" u="none">
              <a:solidFill>
                <a:srgbClr val="000000"/>
              </a:solidFill>
              <a:effectLst/>
              <a:uFillTx/>
              <a:latin typeface="Arial"/>
            </a:endParaRPr>
          </a:p>
          <a:p>
            <a:pPr lvl="3" marL="1600200" indent="-228600">
              <a:spcBef>
                <a:spcPts val="499"/>
              </a:spcBef>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Command is queued on the batch scheduler and will run when the job reaches the front of the queue.  The job may wait in the queue for  minutes to hours depending on your priority and how busy the resource is.</a:t>
            </a:r>
            <a:endParaRPr b="0" lang="en-IN" sz="2000" strike="noStrike" u="none">
              <a:solidFill>
                <a:srgbClr val="000000"/>
              </a:solidFill>
              <a:effectLst/>
              <a:uFillTx/>
              <a:latin typeface="Arial"/>
            </a:endParaRPr>
          </a:p>
        </p:txBody>
      </p:sp>
      <p:sp>
        <p:nvSpPr>
          <p:cNvPr id="72"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73"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360"/>
            <a:ext cx="8229600" cy="7621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Running jobs on the Grid</a:t>
            </a:r>
            <a:endParaRPr b="0" lang="en-IN" sz="4400" strike="noStrike" u="none">
              <a:solidFill>
                <a:srgbClr val="000000"/>
              </a:solidFill>
              <a:effectLst/>
              <a:uFillTx/>
              <a:latin typeface="Arial"/>
            </a:endParaRPr>
          </a:p>
        </p:txBody>
      </p:sp>
      <p:sp>
        <p:nvSpPr>
          <p:cNvPr id="75" name=""/>
          <p:cNvSpPr txBox="1"/>
          <p:nvPr/>
        </p:nvSpPr>
        <p:spPr>
          <a:xfrm>
            <a:off x="0" y="1600200"/>
            <a:ext cx="9144000" cy="4525920"/>
          </a:xfrm>
          <a:prstGeom prst="rect">
            <a:avLst/>
          </a:prstGeom>
          <a:noFill/>
          <a:ln w="0">
            <a:noFill/>
          </a:ln>
        </p:spPr>
        <p:txBody>
          <a:bodyPr anchor="t">
            <a:normAutofit lnSpcReduction="9999"/>
          </a:bodyPr>
          <a:p>
            <a:pPr lvl="1"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Globus is built on a Resource Specification Language (RSL) which can control batch schedulers that manage clusters.</a:t>
            </a:r>
            <a:endParaRPr b="0" lang="en-IN" sz="2800" strike="noStrike" u="none">
              <a:solidFill>
                <a:srgbClr val="000000"/>
              </a:solidFill>
              <a:effectLst/>
              <a:uFillTx/>
              <a:latin typeface="Arial"/>
            </a:endParaRPr>
          </a:p>
          <a:p>
            <a:pPr lvl="1"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An RSL example:</a:t>
            </a:r>
            <a:endParaRPr b="0" lang="en-IN" sz="2800" strike="noStrike" u="none">
              <a:solidFill>
                <a:srgbClr val="000000"/>
              </a:solidFill>
              <a:effectLst/>
              <a:uFillTx/>
              <a:latin typeface="Arial"/>
            </a:endParaRPr>
          </a:p>
          <a:p>
            <a:pPr lvl="2" marL="74304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&amp;(executable=“/bin/ls”) (directory=“/tmp”) (arguments=“-l”)</a:t>
            </a:r>
            <a:endParaRPr b="0" lang="en-IN" sz="2400" strike="noStrike" u="none">
              <a:solidFill>
                <a:srgbClr val="000000"/>
              </a:solidFill>
              <a:effectLst/>
              <a:uFillTx/>
              <a:latin typeface="Arial"/>
            </a:endParaRPr>
          </a:p>
          <a:p>
            <a:pPr lvl="2" marL="74304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Place the RSL string in a file: myjob.rsl</a:t>
            </a:r>
            <a:endParaRPr b="0" lang="en-IN" sz="2400" strike="noStrike" u="none">
              <a:solidFill>
                <a:srgbClr val="000000"/>
              </a:solidFill>
              <a:effectLst/>
              <a:uFillTx/>
              <a:latin typeface="Arial"/>
            </a:endParaRPr>
          </a:p>
          <a:p>
            <a:pPr lvl="2" marL="74304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Try:  globusrun -s -r osg-itb.ligo.caltech.edu -f myjob.rsl</a:t>
            </a:r>
            <a:endParaRPr b="0" lang="en-IN" sz="2400" strike="noStrike" u="none">
              <a:solidFill>
                <a:srgbClr val="000000"/>
              </a:solidFill>
              <a:effectLst/>
              <a:uFillTx/>
              <a:latin typeface="Arial"/>
            </a:endParaRPr>
          </a:p>
          <a:p>
            <a:pPr lvl="2" marL="74304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Try globusrun –s –r osg-itb.ligo.caltech.edu/jobmanager-condor –f myjob.rsl</a:t>
            </a:r>
            <a:endParaRPr b="0" lang="en-IN" sz="2400" strike="noStrike" u="none">
              <a:solidFill>
                <a:srgbClr val="000000"/>
              </a:solidFill>
              <a:effectLst/>
              <a:uFillTx/>
              <a:latin typeface="Arial"/>
            </a:endParaRPr>
          </a:p>
          <a:p>
            <a:pPr lvl="1"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But for more robust job management use Condor-G!</a:t>
            </a:r>
            <a:endParaRPr b="0" lang="en-IN" sz="2800" strike="noStrike" u="none">
              <a:solidFill>
                <a:srgbClr val="000000"/>
              </a:solidFill>
              <a:effectLst/>
              <a:uFillTx/>
              <a:latin typeface="Arial"/>
            </a:endParaRPr>
          </a:p>
          <a:p>
            <a:pPr lvl="2" marL="74304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343080" indent="-343080">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76"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77"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360"/>
            <a:ext cx="82296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GridFTP: File transfer and staging</a:t>
            </a:r>
            <a:endParaRPr b="0" lang="en-IN" sz="3200" strike="noStrike" u="none">
              <a:solidFill>
                <a:srgbClr val="000000"/>
              </a:solidFill>
              <a:effectLst/>
              <a:uFillTx/>
              <a:latin typeface="Arial"/>
            </a:endParaRPr>
          </a:p>
        </p:txBody>
      </p:sp>
      <p:sp>
        <p:nvSpPr>
          <p:cNvPr id="79" name="PlaceHolder 2"/>
          <p:cNvSpPr>
            <a:spLocks noGrp="1"/>
          </p:cNvSpPr>
          <p:nvPr>
            <p:ph/>
          </p:nvPr>
        </p:nvSpPr>
        <p:spPr>
          <a:xfrm>
            <a:off x="0" y="914040"/>
            <a:ext cx="9144000" cy="5211720"/>
          </a:xfrm>
          <a:prstGeom prst="rect">
            <a:avLst/>
          </a:prstGeom>
          <a:noFill/>
          <a:ln w="0">
            <a:noFill/>
          </a:ln>
        </p:spPr>
        <p:txBody>
          <a:bodyPr lIns="90000" rIns="90000" tIns="46800" bIns="4680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GridFTP is the globus protocol for transferring files between:</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Grid clients (submit hosts) and grid Compute Elements.</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Support multiple simultaneously streams for high performance.</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Supports third-party copy: Host A requests Host B transfer files to Host C.</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globus-url-copy is a wrapper on GridFTP with a convenient syntax.</a:t>
            </a:r>
            <a:endParaRPr b="0" lang="en-IN" sz="2400" strike="noStrike" u="none">
              <a:solidFill>
                <a:srgbClr val="000000"/>
              </a:solidFill>
              <a:effectLst/>
              <a:uFillTx/>
              <a:latin typeface="Arial"/>
            </a:endParaRPr>
          </a:p>
        </p:txBody>
      </p:sp>
      <p:sp>
        <p:nvSpPr>
          <p:cNvPr id="80"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81"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360"/>
            <a:ext cx="82296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globus-url-copy</a:t>
            </a:r>
            <a:endParaRPr b="0" lang="en-IN" sz="4400" strike="noStrike" u="none">
              <a:solidFill>
                <a:srgbClr val="000000"/>
              </a:solidFill>
              <a:effectLst/>
              <a:uFillTx/>
              <a:latin typeface="Arial"/>
            </a:endParaRPr>
          </a:p>
        </p:txBody>
      </p:sp>
      <p:sp>
        <p:nvSpPr>
          <p:cNvPr id="83" name="PlaceHolder 2"/>
          <p:cNvSpPr>
            <a:spLocks noGrp="1"/>
          </p:cNvSpPr>
          <p:nvPr>
            <p:ph/>
          </p:nvPr>
        </p:nvSpPr>
        <p:spPr>
          <a:xfrm>
            <a:off x="228600" y="1600200"/>
            <a:ext cx="8763120" cy="4525920"/>
          </a:xfrm>
          <a:prstGeom prst="rect">
            <a:avLst/>
          </a:prstGeom>
          <a:noFill/>
          <a:ln w="0">
            <a:noFill/>
          </a:ln>
        </p:spPr>
        <p:txBody>
          <a:bodyPr lIns="90000" rIns="90000" tIns="46800" bIns="4680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Syntax: globus-url-copy source-url destination-url</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Example:</a:t>
            </a:r>
            <a:endParaRPr b="0" lang="en-IN" sz="24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globus-url-copy</a:t>
            </a:r>
            <a:r>
              <a:rPr b="0" lang="en-US" sz="3200" strike="noStrike" u="none">
                <a:solidFill>
                  <a:srgbClr val="000000"/>
                </a:solidFill>
                <a:effectLst/>
                <a:uFillTx/>
                <a:latin typeface="Arial"/>
              </a:rPr>
              <a:t> </a:t>
            </a:r>
            <a:r>
              <a:rPr b="0" lang="en-US" sz="1600" strike="noStrike" u="none">
                <a:solidFill>
                  <a:srgbClr val="000000"/>
                </a:solidFill>
                <a:effectLst/>
                <a:uFillTx/>
                <a:latin typeface="Arial"/>
              </a:rPr>
              <a:t>gsiftp://osg-itb.ligo.caltech.edu/archive/frames/H-H1_RDS-1024.gwf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gsiftp://testwulf.hpcc.ttu.edu/mnt/hep/osg/workdir/H-H1_RDS-1024.gwf</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Many options exist. Please see the globus-url-copy of the GridIFTP User’s Guide:</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sng">
                <a:solidFill>
                  <a:srgbClr val="009999"/>
                </a:solidFill>
                <a:effectLst/>
                <a:uFillTx/>
                <a:latin typeface="Arial"/>
                <a:hlinkClick r:id="rId1"/>
              </a:rPr>
              <a:t>http://www.globus.org/toolkit/docs/3.2/gridftp/user/globusurlcopy.html#commandlineoptions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for details.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
        <p:nvSpPr>
          <p:cNvPr id="84"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85"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0"/>
            <a:ext cx="8229600" cy="4096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0000"/>
                </a:solidFill>
                <a:effectLst/>
                <a:uFillTx/>
                <a:latin typeface="Arial"/>
              </a:rPr>
              <a:t>Condor-G/DAGman</a:t>
            </a:r>
            <a:endParaRPr b="0" lang="en-IN" sz="3600" strike="noStrike" u="none">
              <a:solidFill>
                <a:srgbClr val="000000"/>
              </a:solidFill>
              <a:effectLst/>
              <a:uFillTx/>
              <a:latin typeface="Arial"/>
            </a:endParaRPr>
          </a:p>
        </p:txBody>
      </p:sp>
      <p:sp>
        <p:nvSpPr>
          <p:cNvPr id="87" name="PlaceHolder 2"/>
          <p:cNvSpPr>
            <a:spLocks noGrp="1"/>
          </p:cNvSpPr>
          <p:nvPr>
            <p:ph/>
          </p:nvPr>
        </p:nvSpPr>
        <p:spPr>
          <a:xfrm>
            <a:off x="914400" y="762120"/>
            <a:ext cx="8229600" cy="5364000"/>
          </a:xfrm>
          <a:prstGeom prst="rect">
            <a:avLst/>
          </a:prstGeom>
          <a:noFill/>
          <a:ln w="0">
            <a:noFill/>
          </a:ln>
        </p:spPr>
        <p:txBody>
          <a:bodyPr lIns="90000" rIns="90000" tIns="46800" bIns="46800" anchor="t">
            <a:normAutofit lnSpcReduction="9999"/>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Globus virtualized the interface to high performance computing resources and file transfers.</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However, run-time event management in distributed systems is needed:</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Gatekeeper may be down.</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GridFTP server may be down.</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Operating system may become unresponsive.</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Batch scheduler may become unresponsive.</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Submit host may not be able to stage-out results of a job due to a full disk. </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Condor-G/DAGman provides a means to monitor and manage end-to-end events during a Grid application execution.</a:t>
            </a:r>
            <a:endParaRPr b="0" lang="en-IN" sz="2400" strike="noStrike" u="none">
              <a:solidFill>
                <a:srgbClr val="000000"/>
              </a:solidFill>
              <a:effectLst/>
              <a:uFillTx/>
              <a:latin typeface="Arial"/>
            </a:endParaRPr>
          </a:p>
        </p:txBody>
      </p:sp>
      <p:sp>
        <p:nvSpPr>
          <p:cNvPr id="88"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89"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360"/>
            <a:ext cx="8229600" cy="3682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000000"/>
                </a:solidFill>
                <a:effectLst/>
                <a:uFillTx/>
                <a:latin typeface="Arial"/>
              </a:rPr>
              <a:t>Condor-G/DAGman</a:t>
            </a:r>
            <a:endParaRPr b="0" lang="en-IN" sz="4000" strike="noStrike" u="none">
              <a:solidFill>
                <a:srgbClr val="000000"/>
              </a:solidFill>
              <a:effectLst/>
              <a:uFillTx/>
              <a:latin typeface="Arial"/>
            </a:endParaRPr>
          </a:p>
        </p:txBody>
      </p:sp>
      <p:sp>
        <p:nvSpPr>
          <p:cNvPr id="91" name="PlaceHolder 2"/>
          <p:cNvSpPr>
            <a:spLocks noGrp="1"/>
          </p:cNvSpPr>
          <p:nvPr>
            <p:ph/>
          </p:nvPr>
        </p:nvSpPr>
        <p:spPr>
          <a:xfrm>
            <a:off x="380520" y="1143000"/>
            <a:ext cx="8610840" cy="4906800"/>
          </a:xfrm>
          <a:prstGeom prst="rect">
            <a:avLst/>
          </a:prstGeom>
          <a:noFill/>
          <a:ln w="0">
            <a:noFill/>
          </a:ln>
        </p:spPr>
        <p:txBody>
          <a:bodyPr lIns="90000" rIns="90000" tIns="46800" bIns="4680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Condor folks created the globus universe. Condor scripts submitted to the globus universe are submitted to a Globus gatekeeper or GridFTP server and  use all of the resources of  Globus jobs.</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Condor scripts are submitted by the user running a Condor client and having a local condor queue. So Grid job management is simplified for the user due to Condor toolset: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condor_submit:  submit a condor script.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condor_q:      check the status of a condor job.</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condor_rm:  remove a condor job from the queue.</a:t>
            </a:r>
            <a:endParaRPr b="0" lang="en-IN" sz="2400" strike="noStrike" u="none">
              <a:solidFill>
                <a:srgbClr val="000000"/>
              </a:solidFill>
              <a:effectLst/>
              <a:uFillTx/>
              <a:latin typeface="Arial"/>
            </a:endParaRPr>
          </a:p>
        </p:txBody>
      </p:sp>
      <p:sp>
        <p:nvSpPr>
          <p:cNvPr id="92"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93"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0"/>
            <a:ext cx="8229600" cy="4269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000000"/>
                </a:solidFill>
                <a:effectLst/>
                <a:uFillTx/>
                <a:latin typeface="Arial"/>
              </a:rPr>
              <a:t>A simple Condor-G script</a:t>
            </a:r>
            <a:endParaRPr b="0" lang="en-IN" sz="4000" strike="noStrike" u="none">
              <a:solidFill>
                <a:srgbClr val="000000"/>
              </a:solidFill>
              <a:effectLst/>
              <a:uFillTx/>
              <a:latin typeface="Arial"/>
            </a:endParaRPr>
          </a:p>
        </p:txBody>
      </p:sp>
      <p:sp>
        <p:nvSpPr>
          <p:cNvPr id="95" name="PlaceHolder 2"/>
          <p:cNvSpPr>
            <a:spLocks noGrp="1"/>
          </p:cNvSpPr>
          <p:nvPr>
            <p:ph/>
          </p:nvPr>
        </p:nvSpPr>
        <p:spPr>
          <a:xfrm>
            <a:off x="0" y="914040"/>
            <a:ext cx="9144000" cy="5211720"/>
          </a:xfrm>
          <a:prstGeom prst="rect">
            <a:avLst/>
          </a:prstGeom>
          <a:noFill/>
          <a:ln w="0">
            <a:noFill/>
          </a:ln>
        </p:spPr>
        <p:txBody>
          <a:bodyPr lIns="90000" rIns="90000" tIns="46800" bIns="46800" anchor="t">
            <a:normAutofit/>
          </a:bodyPr>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     </a:t>
            </a:r>
            <a:endParaRPr b="0" lang="en-IN" sz="2000" strike="noStrike" u="none">
              <a:solidFill>
                <a:srgbClr val="000000"/>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     universe = globus</a:t>
            </a:r>
            <a:endParaRPr b="0" lang="en-IN" sz="2000" strike="noStrike" u="none">
              <a:solidFill>
                <a:srgbClr val="000000"/>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     executable = /bin/ls</a:t>
            </a:r>
            <a:endParaRPr b="0" lang="en-IN" sz="2000" strike="noStrike" u="none">
              <a:solidFill>
                <a:srgbClr val="000000"/>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     notification = NEVER</a:t>
            </a:r>
            <a:endParaRPr b="0" lang="en-IN" sz="2000" strike="noStrike" u="none">
              <a:solidFill>
                <a:srgbClr val="000000"/>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     globusrsl = (jobtype=single)</a:t>
            </a:r>
            <a:br>
              <a:rPr sz="2000"/>
            </a:br>
            <a:r>
              <a:rPr b="1" lang="en-US" sz="2000" strike="noStrike" u="none">
                <a:solidFill>
                  <a:srgbClr val="000000"/>
                </a:solidFill>
                <a:effectLst/>
                <a:uFillTx/>
                <a:latin typeface="Arial"/>
              </a:rPr>
              <a:t>globusscheduler = osg-itb.ligo.caltech.edu/jobmanager-condor</a:t>
            </a:r>
            <a:br>
              <a:rPr sz="2000"/>
            </a:br>
            <a:r>
              <a:rPr b="1" lang="en-US" sz="2000" strike="noStrike" u="none">
                <a:solidFill>
                  <a:srgbClr val="000000"/>
                </a:solidFill>
                <a:effectLst/>
                <a:uFillTx/>
                <a:latin typeface="Arial"/>
              </a:rPr>
              <a:t>copy_to_spool = false</a:t>
            </a:r>
            <a:br>
              <a:rPr sz="2000"/>
            </a:br>
            <a:r>
              <a:rPr b="1" lang="en-US" sz="2000" strike="noStrike" u="none">
                <a:solidFill>
                  <a:srgbClr val="000000"/>
                </a:solidFill>
                <a:effectLst/>
                <a:uFillTx/>
                <a:latin typeface="Arial"/>
              </a:rPr>
              <a:t>error = /home/dmeyers/osg-itb.err</a:t>
            </a:r>
            <a:br>
              <a:rPr sz="2000"/>
            </a:br>
            <a:r>
              <a:rPr b="1" lang="en-US" sz="2000" strike="noStrike" u="none">
                <a:solidFill>
                  <a:srgbClr val="000000"/>
                </a:solidFill>
                <a:effectLst/>
                <a:uFillTx/>
                <a:latin typeface="Arial"/>
              </a:rPr>
              <a:t>log = /home/dmeyers/osg-itb.log</a:t>
            </a:r>
            <a:br>
              <a:rPr sz="2000"/>
            </a:br>
            <a:r>
              <a:rPr b="1" lang="en-US" sz="2000" strike="noStrike" u="none">
                <a:solidFill>
                  <a:srgbClr val="000000"/>
                </a:solidFill>
                <a:effectLst/>
                <a:uFillTx/>
                <a:latin typeface="Arial"/>
              </a:rPr>
              <a:t>output = /home/dmeyers/osg-itb.out</a:t>
            </a:r>
            <a:br>
              <a:rPr sz="2000"/>
            </a:br>
            <a:r>
              <a:rPr b="1" lang="en-US" sz="2000" strike="noStrike" u="none">
                <a:solidFill>
                  <a:srgbClr val="000000"/>
                </a:solidFill>
                <a:effectLst/>
                <a:uFillTx/>
                <a:latin typeface="Arial"/>
              </a:rPr>
              <a:t>transfer_executable = false</a:t>
            </a:r>
            <a:br>
              <a:rPr sz="2000"/>
            </a:br>
            <a:r>
              <a:rPr b="1" lang="en-US" sz="2000" strike="noStrike" u="none">
                <a:solidFill>
                  <a:srgbClr val="000000"/>
                </a:solidFill>
                <a:effectLst/>
                <a:uFillTx/>
                <a:latin typeface="Arial"/>
              </a:rPr>
              <a:t>transfer_error = true</a:t>
            </a:r>
            <a:br>
              <a:rPr sz="2000"/>
            </a:br>
            <a:r>
              <a:rPr b="1" lang="en-US" sz="2000" strike="noStrike" u="none">
                <a:solidFill>
                  <a:srgbClr val="000000"/>
                </a:solidFill>
                <a:effectLst/>
                <a:uFillTx/>
                <a:latin typeface="Arial"/>
              </a:rPr>
              <a:t>transfer_output = true</a:t>
            </a:r>
            <a:br>
              <a:rPr sz="2000"/>
            </a:br>
            <a:r>
              <a:rPr b="1" lang="en-US" sz="2000" strike="noStrike" u="none">
                <a:solidFill>
                  <a:srgbClr val="000000"/>
                </a:solidFill>
                <a:effectLst/>
                <a:uFillTx/>
                <a:latin typeface="Arial"/>
              </a:rPr>
              <a:t>periodic_release = (NumSystemHolds &lt;= 3)</a:t>
            </a:r>
            <a:br>
              <a:rPr sz="2000"/>
            </a:br>
            <a:r>
              <a:rPr b="1" lang="en-US" sz="2000" strike="noStrike" u="none">
                <a:solidFill>
                  <a:srgbClr val="000000"/>
                </a:solidFill>
                <a:effectLst/>
                <a:uFillTx/>
                <a:latin typeface="Arial"/>
              </a:rPr>
              <a:t>periodic_remove = (NumSystemHolds &gt; 3)</a:t>
            </a:r>
            <a:br>
              <a:rPr sz="2000"/>
            </a:br>
            <a:r>
              <a:rPr b="1" lang="en-US" sz="2000" strike="noStrike" u="none">
                <a:solidFill>
                  <a:srgbClr val="000000"/>
                </a:solidFill>
                <a:effectLst/>
                <a:uFillTx/>
                <a:latin typeface="Arial"/>
              </a:rPr>
              <a:t>remote_initialdir = /home/dmeyers</a:t>
            </a:r>
            <a:br>
              <a:rPr sz="2000"/>
            </a:br>
            <a:r>
              <a:rPr b="1" lang="en-US" sz="2000" strike="noStrike" u="none">
                <a:solidFill>
                  <a:srgbClr val="000000"/>
                </a:solidFill>
                <a:effectLst/>
                <a:uFillTx/>
                <a:latin typeface="Arial"/>
              </a:rPr>
              <a:t>queue</a:t>
            </a:r>
            <a:br>
              <a:rPr sz="2000"/>
            </a:br>
            <a:endParaRPr b="0" lang="en-IN" sz="2000" strike="noStrike" u="none">
              <a:solidFill>
                <a:srgbClr val="000000"/>
              </a:solidFill>
              <a:effectLst/>
              <a:uFillTx/>
              <a:latin typeface="Arial"/>
            </a:endParaRPr>
          </a:p>
        </p:txBody>
      </p:sp>
      <p:sp>
        <p:nvSpPr>
          <p:cNvPr id="96"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97"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360"/>
            <a:ext cx="8229600" cy="49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DAGman</a:t>
            </a:r>
            <a:endParaRPr b="0" lang="en-IN" sz="3200" strike="noStrike" u="none">
              <a:solidFill>
                <a:srgbClr val="000000"/>
              </a:solidFill>
              <a:effectLst/>
              <a:uFillTx/>
              <a:latin typeface="Arial"/>
            </a:endParaRPr>
          </a:p>
        </p:txBody>
      </p:sp>
      <p:sp>
        <p:nvSpPr>
          <p:cNvPr id="99" name="PlaceHolder 2"/>
          <p:cNvSpPr>
            <a:spLocks noGrp="1"/>
          </p:cNvSpPr>
          <p:nvPr>
            <p:ph/>
          </p:nvPr>
        </p:nvSpPr>
        <p:spPr>
          <a:xfrm>
            <a:off x="0" y="914400"/>
            <a:ext cx="9144000" cy="5105520"/>
          </a:xfrm>
          <a:prstGeom prst="rect">
            <a:avLst/>
          </a:prstGeom>
          <a:noFill/>
          <a:ln w="0">
            <a:noFill/>
          </a:ln>
        </p:spPr>
        <p:txBody>
          <a:bodyPr lIns="90000" rIns="90000" tIns="46800" bIns="4680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DAG manager (DAGman) is an extension to the Condor system that adds a Directed Acyclic Graph(DAG) abstraction.</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Many scientific and engineering workflows can be modeled as a collection of DAG nodes.</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Each DAG node is tracked and its status determined by the DAG manager. Errors are handled by auto-restarting a failed node to increase reliability. Condor has the notion of a rescue DAG which represents the place in the Graph where a workflow can be restarted from, to resume a workflow.</a:t>
            </a:r>
            <a:endParaRPr b="0" lang="en-IN" sz="2400" strike="noStrike" u="none">
              <a:solidFill>
                <a:srgbClr val="000000"/>
              </a:solidFill>
              <a:effectLst/>
              <a:uFillTx/>
              <a:latin typeface="Arial"/>
            </a:endParaRPr>
          </a:p>
        </p:txBody>
      </p:sp>
      <p:sp>
        <p:nvSpPr>
          <p:cNvPr id="100"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01" name="" descr=""/>
          <p:cNvPicPr/>
          <p:nvPr/>
        </p:nvPicPr>
        <p:blipFill>
          <a:blip r:embed="rId1"/>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2362320" y="-360"/>
            <a:ext cx="6400800" cy="6094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DAGman</a:t>
            </a:r>
            <a:endParaRPr b="0" lang="en-IN" sz="3200" strike="noStrike" u="none">
              <a:solidFill>
                <a:srgbClr val="000000"/>
              </a:solidFill>
              <a:effectLst/>
              <a:uFillTx/>
              <a:latin typeface="Arial"/>
            </a:endParaRPr>
          </a:p>
        </p:txBody>
      </p:sp>
      <p:sp>
        <p:nvSpPr>
          <p:cNvPr id="103" name="PlaceHolder 2"/>
          <p:cNvSpPr>
            <a:spLocks noGrp="1"/>
          </p:cNvSpPr>
          <p:nvPr>
            <p:ph/>
          </p:nvPr>
        </p:nvSpPr>
        <p:spPr>
          <a:xfrm>
            <a:off x="457200" y="1523880"/>
            <a:ext cx="8229600" cy="4648320"/>
          </a:xfrm>
          <a:prstGeom prst="rect">
            <a:avLst/>
          </a:prstGeom>
          <a:noFill/>
          <a:ln w="0">
            <a:noFill/>
          </a:ln>
        </p:spPr>
        <p:txBody>
          <a:bodyPr lIns="90000" rIns="90000" tIns="46800" bIns="4680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An example input file for DAGMan is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 Filename: diamond.dag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Job A A.condor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Job B B.condor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Job C C.condor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Job D D.condor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Script PRE A top_pre.csh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Script PRE B mid_pre.perl $JOB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Script POST B mid_post.perl $JOB $RETURN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Script PRE C mid_pre.perl $JOB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Script POST C mid_post.perl $JOB $RETURN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Script PRE D bot_pre.csh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PARENT A CHILD B C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PARENT B C CHILD D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Retry C 3 </a:t>
            </a:r>
            <a:endParaRPr b="0" lang="en-IN" sz="1600" strike="noStrike" u="none">
              <a:solidFill>
                <a:srgbClr val="000000"/>
              </a:solidFill>
              <a:effectLst/>
              <a:uFillTx/>
              <a:latin typeface="Arial"/>
            </a:endParaRPr>
          </a:p>
        </p:txBody>
      </p:sp>
      <p:sp>
        <p:nvSpPr>
          <p:cNvPr id="104" name=""/>
          <p:cNvSpPr/>
          <p:nvPr/>
        </p:nvSpPr>
        <p:spPr>
          <a:xfrm>
            <a:off x="0" y="2971800"/>
            <a:ext cx="9144000" cy="360"/>
          </a:xfrm>
          <a:prstGeom prst="rect">
            <a:avLst/>
          </a:prstGeom>
          <a:noFill/>
          <a:ln w="0">
            <a:noFill/>
          </a:ln>
        </p:spPr>
        <p:style>
          <a:lnRef idx="0"/>
          <a:fillRef idx="0"/>
          <a:effectRef idx="0"/>
          <a:fontRef idx="minor"/>
        </p:style>
        <p:txBody>
          <a:bodyPr wrap="none" lIns="90000" rIns="90000" tIns="-46440" bIns="-46440" anchor="ctr">
            <a:spAutoFit/>
          </a:bodyPr>
          <a:p>
            <a:endParaRPr b="0" lang="en-IN" sz="1800" strike="noStrike" u="none">
              <a:solidFill>
                <a:srgbClr val="000000"/>
              </a:solidFill>
              <a:effectLst/>
              <a:uFillTx/>
              <a:latin typeface="Arial"/>
            </a:endParaRPr>
          </a:p>
        </p:txBody>
      </p:sp>
      <p:pic>
        <p:nvPicPr>
          <p:cNvPr id="105" name="" descr="\includegraphics[]{user-man/dagman-diamond.eps}"/>
          <p:cNvPicPr/>
          <p:nvPr/>
        </p:nvPicPr>
        <p:blipFill>
          <a:blip r:embed="rId1"/>
          <a:stretch/>
        </p:blipFill>
        <p:spPr>
          <a:xfrm>
            <a:off x="1371600" y="76320"/>
            <a:ext cx="914400" cy="914400"/>
          </a:xfrm>
          <a:prstGeom prst="rect">
            <a:avLst/>
          </a:prstGeom>
          <a:noFill/>
          <a:ln w="0">
            <a:noFill/>
          </a:ln>
        </p:spPr>
      </p:pic>
      <p:graphicFrame>
        <p:nvGraphicFramePr>
          <p:cNvPr id="106" name=""/>
          <p:cNvGraphicFramePr/>
          <p:nvPr/>
        </p:nvGraphicFramePr>
        <p:xfrm>
          <a:off x="4479840" y="2971800"/>
          <a:ext cx="182520" cy="517680"/>
        </p:xfrm>
        <a:graphic>
          <a:graphicData uri="http://schemas.openxmlformats.org/drawingml/2006/table">
            <a:tbl>
              <a:tblPr/>
              <a:tblGrid>
                <a:gridCol w="216000"/>
              </a:tblGrid>
              <a:tr h="520920">
                <a:tc>
                  <a:txBody>
                    <a:bodyPr lIns="90000" rIns="90000" tIns="46800" bIns="46800" anchor="ctr">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txBody>
                  <a:tcPr anchor="ctr" marL="90000" marR="90000">
                    <a:lnL>
                      <a:noFill/>
                    </a:lnL>
                    <a:lnR>
                      <a:noFill/>
                    </a:lnR>
                    <a:lnT>
                      <a:noFill/>
                    </a:lnT>
                    <a:lnB>
                      <a:noFill/>
                    </a:lnB>
                    <a:noFill/>
                  </a:tcPr>
                </a:tc>
              </a:tr>
            </a:tbl>
          </a:graphicData>
        </a:graphic>
      </p:graphicFrame>
      <p:sp>
        <p:nvSpPr>
          <p:cNvPr id="107" name=""/>
          <p:cNvSpPr/>
          <p:nvPr/>
        </p:nvSpPr>
        <p:spPr>
          <a:xfrm>
            <a:off x="914400" y="990720"/>
            <a:ext cx="17524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Diamond DAG</a:t>
            </a:r>
            <a:endParaRPr b="0" lang="en-IN" sz="1800" strike="noStrike" u="none">
              <a:solidFill>
                <a:srgbClr val="000000"/>
              </a:solidFill>
              <a:effectLst/>
              <a:uFillTx/>
              <a:latin typeface="Arial"/>
            </a:endParaRPr>
          </a:p>
        </p:txBody>
      </p:sp>
      <p:sp>
        <p:nvSpPr>
          <p:cNvPr id="108"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09"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360"/>
            <a:ext cx="82296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DAGMan</a:t>
            </a:r>
            <a:endParaRPr b="0" lang="en-IN" sz="3200" strike="noStrike" u="none">
              <a:solidFill>
                <a:srgbClr val="000000"/>
              </a:solidFill>
              <a:effectLst/>
              <a:uFillTx/>
              <a:latin typeface="Arial"/>
            </a:endParaRPr>
          </a:p>
        </p:txBody>
      </p:sp>
      <p:sp>
        <p:nvSpPr>
          <p:cNvPr id="111" name="PlaceHolder 2"/>
          <p:cNvSpPr>
            <a:spLocks noGrp="1"/>
          </p:cNvSpPr>
          <p:nvPr>
            <p:ph/>
          </p:nvPr>
        </p:nvSpPr>
        <p:spPr>
          <a:xfrm>
            <a:off x="0" y="1600200"/>
            <a:ext cx="8902800" cy="452592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For more information on DAGMan see the DAGMan section of the Condor manual:</a:t>
            </a:r>
            <a:endParaRPr b="0" lang="en-IN" sz="2400" strike="noStrike" u="none">
              <a:solidFill>
                <a:srgbClr val="000000"/>
              </a:solidFill>
              <a:effectLst/>
              <a:uFillTx/>
              <a:latin typeface="Arial"/>
            </a:endParaRPr>
          </a:p>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       </a:t>
            </a:r>
            <a:r>
              <a:rPr b="0" lang="en-US" sz="1400" strike="noStrike" u="sng">
                <a:solidFill>
                  <a:srgbClr val="009999"/>
                </a:solidFill>
                <a:effectLst/>
                <a:uFillTx/>
                <a:latin typeface="Arial"/>
                <a:hlinkClick r:id="rId1"/>
              </a:rPr>
              <a:t>http://www.cs.wisc.edu/condor/manual/v6.4/2_11DAGMan_Applications.html#fig:dagman-diamond</a:t>
            </a:r>
            <a:endParaRPr b="0" lang="en-IN" sz="1400" strike="noStrike" u="none">
              <a:solidFill>
                <a:srgbClr val="000000"/>
              </a:solidFill>
              <a:effectLst/>
              <a:uFillTx/>
              <a:latin typeface="Arial"/>
            </a:endParaRPr>
          </a:p>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Automatic Tools exist to convert DAGs into Condor-G submit scripts that can be run with the Condor command: condor-submit-dag.</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One of  these tools is the Pegasus Workflow Planner described at: http://pegasus.isi.edu/</a:t>
            </a:r>
            <a:endParaRPr b="0" lang="en-IN" sz="2400" strike="noStrike" u="none">
              <a:solidFill>
                <a:srgbClr val="000000"/>
              </a:solidFill>
              <a:effectLst/>
              <a:uFillTx/>
              <a:latin typeface="Arial"/>
            </a:endParaRPr>
          </a:p>
        </p:txBody>
      </p:sp>
      <p:sp>
        <p:nvSpPr>
          <p:cNvPr id="112"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13"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533520" y="0"/>
            <a:ext cx="8229600" cy="9907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For More information on these topics see the references and URLs on the next page.</a:t>
            </a:r>
            <a:endParaRPr b="0" lang="en-IN" sz="2400" strike="noStrike" u="none">
              <a:solidFill>
                <a:srgbClr val="000000"/>
              </a:solidFill>
              <a:effectLst/>
              <a:uFillTx/>
              <a:latin typeface="Arial"/>
            </a:endParaRPr>
          </a:p>
        </p:txBody>
      </p:sp>
      <p:pic>
        <p:nvPicPr>
          <p:cNvPr id="115" name="" descr="The image “http://pegasus.isi.edu/software-stack.jpg” cannot be displayed, because it contains errors."/>
          <p:cNvPicPr/>
          <p:nvPr/>
        </p:nvPicPr>
        <p:blipFill>
          <a:blip r:embed="rId1"/>
          <a:stretch/>
        </p:blipFill>
        <p:spPr>
          <a:xfrm>
            <a:off x="2895480" y="990720"/>
            <a:ext cx="3210120" cy="5029200"/>
          </a:xfrm>
          <a:prstGeom prst="rect">
            <a:avLst/>
          </a:prstGeom>
          <a:noFill/>
          <a:ln w="0">
            <a:noFill/>
          </a:ln>
        </p:spPr>
      </p:pic>
      <p:sp>
        <p:nvSpPr>
          <p:cNvPr id="116"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17"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360"/>
            <a:ext cx="82296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Trouble Shooting Info</a:t>
            </a:r>
            <a:endParaRPr b="0" lang="en-IN" sz="4400" strike="noStrike" u="none">
              <a:solidFill>
                <a:srgbClr val="000000"/>
              </a:solidFill>
              <a:effectLst/>
              <a:uFillTx/>
              <a:latin typeface="Arial"/>
            </a:endParaRPr>
          </a:p>
        </p:txBody>
      </p:sp>
      <p:sp>
        <p:nvSpPr>
          <p:cNvPr id="119" name="PlaceHolder 2"/>
          <p:cNvSpPr>
            <a:spLocks noGrp="1"/>
          </p:cNvSpPr>
          <p:nvPr>
            <p:ph/>
          </p:nvPr>
        </p:nvSpPr>
        <p:spPr>
          <a:xfrm>
            <a:off x="0" y="914040"/>
            <a:ext cx="9144000" cy="52117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OSG Troubleshooting guide:</a:t>
            </a:r>
            <a:endParaRPr b="0" lang="en-IN" sz="3200" strike="noStrike" u="none">
              <a:solidFill>
                <a:srgbClr val="000000"/>
              </a:solidFill>
              <a:effectLst/>
              <a:uFillTx/>
              <a:latin typeface="Arial"/>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sng">
                <a:solidFill>
                  <a:srgbClr val="009999"/>
                </a:solidFill>
                <a:effectLst/>
                <a:uFillTx/>
                <a:latin typeface="Arial"/>
                <a:hlinkClick r:id="rId1"/>
              </a:rPr>
              <a:t>http://grow.uiowa.edu/dokuwiki/doku.php/projects/troubleshooting/troubleshooting_guide</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Includes Condor-G  and Globus Error Codes and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Email addresses for:</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              The OSG Grid Operations Center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              The OSG Troubleshooting Working Group</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If you have a problem that you can not resolve, contact your VO support center first.</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Your VO support center contact can be found at:</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9999"/>
                </a:solidFill>
                <a:effectLst/>
                <a:uFillTx/>
                <a:latin typeface="Arial"/>
              </a:rPr>
              <a:t>http://www.grid.iu.edu/osg-includes/sc.php</a:t>
            </a:r>
            <a:endParaRPr b="0" lang="en-IN" sz="1600" strike="noStrike" u="none">
              <a:solidFill>
                <a:srgbClr val="000000"/>
              </a:solidFill>
              <a:effectLst/>
              <a:uFillTx/>
              <a:latin typeface="Arial"/>
            </a:endParaRPr>
          </a:p>
        </p:txBody>
      </p:sp>
      <p:sp>
        <p:nvSpPr>
          <p:cNvPr id="120" name="Rectangle 5"/>
          <p:cNvSpPr/>
          <p:nvPr/>
        </p:nvSpPr>
        <p:spPr>
          <a:xfrm>
            <a:off x="2666880" y="6248520"/>
            <a:ext cx="3353040" cy="47628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OSG Consortium Mtg March 2007</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Quick Start Guide to the OSG</a:t>
            </a:r>
            <a:endParaRPr b="0" lang="en-IN" sz="1200" strike="noStrike" u="none">
              <a:solidFill>
                <a:srgbClr val="000000"/>
              </a:solidFill>
              <a:effectLst/>
              <a:uFillTx/>
              <a:latin typeface="Arial"/>
            </a:endParaRPr>
          </a:p>
        </p:txBody>
      </p:sp>
      <p:pic>
        <p:nvPicPr>
          <p:cNvPr id="121" name="" descr=""/>
          <p:cNvPicPr/>
          <p:nvPr/>
        </p:nvPicPr>
        <p:blipFill>
          <a:blip r:embed="rId2"/>
          <a:stretch/>
        </p:blipFill>
        <p:spPr>
          <a:xfrm>
            <a:off x="1104840" y="6245280"/>
            <a:ext cx="838440" cy="4762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761</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2007-03-03T16:26:56Z</dcterms:created>
  <dc:creator>ligo</dc:creator>
  <dc:description/>
  <dc:language>en-IN</dc:language>
  <cp:lastModifiedBy>ligo</cp:lastModifiedBy>
  <dcterms:modified xsi:type="dcterms:W3CDTF">2007-03-07T11:14:25Z</dcterms:modified>
  <cp:revision>71</cp:revision>
  <dc:subject/>
  <dc:title>OSG 0.6.0 Infrastructure</dc:title>
</cp:coreProperties>
</file>