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media/image1.jpeg" ContentType="image/jpeg"/>
  <Override PartName="/ppt/media/image2.png" ContentType="image/png"/>
  <Override PartName="/ppt/media/image3.jpeg" ContentType="image/jpe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4400" strike="noStrike" u="none">
                <a:solidFill>
                  <a:srgbClr val="000000"/>
                </a:solidFill>
                <a:effectLst/>
                <a:uFillTx/>
                <a:latin typeface="Calibri"/>
              </a:rPr>
              <a:t>Click to edit the title text format</a:t>
            </a:r>
            <a:endParaRPr b="0" lang="en-IN" sz="4400" strike="noStrike" u="none">
              <a:solidFill>
                <a:srgbClr val="000000"/>
              </a:solidFill>
              <a:effectLst/>
              <a:uFillTx/>
              <a:latin typeface="Calibri"/>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Click to edit the outline text format</a:t>
            </a:r>
            <a:endParaRPr b="0" lang="en-IN"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Second Outline Level</a:t>
            </a:r>
            <a:endParaRPr b="0" lang="en-IN"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Third Outline Level</a:t>
            </a:r>
            <a:endParaRPr b="0" lang="en-IN"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Fourth Outline Level</a:t>
            </a:r>
            <a:endParaRPr b="0" lang="en-IN"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Fifth Outline Level</a:t>
            </a:r>
            <a:endParaRPr b="0" lang="en-IN"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Sixth Outline Level</a:t>
            </a:r>
            <a:endParaRPr b="0" lang="en-IN"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Seventh Outline Level</a:t>
            </a:r>
            <a:endParaRPr b="0" lang="en-IN" sz="3200" strike="noStrike" u="none">
              <a:solidFill>
                <a:srgbClr val="000000"/>
              </a:solidFill>
              <a:effectLst/>
              <a:uFillTx/>
              <a:latin typeface="Calibri"/>
            </a:endParaRPr>
          </a:p>
        </p:txBody>
      </p:sp>
      <p:sp>
        <p:nvSpPr>
          <p:cNvPr id="2" name="PlaceHolder 3"/>
          <p:cNvSpPr>
            <a:spLocks noGrp="1"/>
          </p:cNvSpPr>
          <p:nvPr>
            <p:ph type="dt" idx="1"/>
          </p:nvPr>
        </p:nvSpPr>
        <p:spPr>
          <a:xfrm>
            <a:off x="456840" y="6356520"/>
            <a:ext cx="2133720" cy="365040"/>
          </a:xfrm>
          <a:prstGeom prst="rect">
            <a:avLst/>
          </a:prstGeom>
          <a:noFill/>
          <a:ln w="0">
            <a:noFill/>
          </a:ln>
        </p:spPr>
        <p:txBody>
          <a:bodyPr lIns="90000" rIns="90000" tIns="46800" bIns="46800" anchor="ctr">
            <a:noAutofit/>
          </a:bodyPr>
          <a:lstStyle>
            <a:lvl1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898989"/>
                </a:solidFill>
                <a:effectLst/>
                <a:uFillTx/>
                <a:latin typeface="Calibri"/>
              </a:defRPr>
            </a:lvl1pPr>
          </a:lstStyle>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074375E-EA43-4033-8F44-84E9421BD029}" type="datetime">
              <a:rPr b="0" lang="en-US" sz="1200" strike="noStrike" u="none">
                <a:solidFill>
                  <a:srgbClr val="898989"/>
                </a:solidFill>
                <a:effectLst/>
                <a:uFillTx/>
                <a:latin typeface="Calibri"/>
              </a:rPr>
              <a:t>06/03/25</a:t>
            </a:fld>
            <a:endParaRPr b="0" lang="en-IN" sz="1200" strike="noStrike" u="none">
              <a:solidFill>
                <a:srgbClr val="000000"/>
              </a:solidFill>
              <a:effectLst/>
              <a:uFillTx/>
              <a:latin typeface="Times New Roman"/>
            </a:endParaRPr>
          </a:p>
        </p:txBody>
      </p:sp>
      <p:sp>
        <p:nvSpPr>
          <p:cNvPr id="3" name="PlaceHolder 4"/>
          <p:cNvSpPr>
            <a:spLocks noGrp="1"/>
          </p:cNvSpPr>
          <p:nvPr>
            <p:ph type="ftr" idx="2"/>
          </p:nvPr>
        </p:nvSpPr>
        <p:spPr>
          <a:xfrm>
            <a:off x="457200" y="6356520"/>
            <a:ext cx="8229600" cy="365040"/>
          </a:xfrm>
          <a:prstGeom prst="rect">
            <a:avLst/>
          </a:prstGeom>
          <a:noFill/>
          <a:ln w="0">
            <a:noFill/>
          </a:ln>
        </p:spPr>
        <p:txBody>
          <a:bodyPr lIns="90000" rIns="90000" tIns="46800" bIns="46800" anchor="ctr">
            <a:noAutofit/>
          </a:bodyPr>
          <a:lstStyle>
            <a:lvl1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898989"/>
                </a:solidFill>
                <a:effectLst/>
                <a:uFillTx/>
                <a:latin typeface="Calibri"/>
              </a:defRPr>
            </a:lvl1pPr>
          </a:lstStyle>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898989"/>
                </a:solidFill>
                <a:effectLst/>
                <a:uFillTx/>
                <a:latin typeface="Calibri"/>
              </a:rPr>
              <a:t>This article and any supplementary material should be cited as follows:  Melcer T, Belnap B, Walker GJ, Konoske P, Galarneau M. Heterotopic ossification in combat amputees from Afghanistan and Iraq wars: Five case histories and results from a small series of patients. J Rehabil Res Dev. 2011; 48(1):1–12.  DOI:10.1682/JRRD.2010.03.0033 </a:t>
            </a:r>
            <a:endParaRPr b="0" lang="en-IN" sz="1200" strike="noStrike" u="none">
              <a:solidFill>
                <a:srgbClr val="000000"/>
              </a:solidFill>
              <a:effectLst/>
              <a:uFillTx/>
              <a:latin typeface="Times New Roman"/>
            </a:endParaRPr>
          </a:p>
        </p:txBody>
      </p:sp>
      <p:sp>
        <p:nvSpPr>
          <p:cNvPr id="4" name="PlaceHolder 5"/>
          <p:cNvSpPr>
            <a:spLocks noGrp="1"/>
          </p:cNvSpPr>
          <p:nvPr>
            <p:ph type="sldNum" idx="3"/>
          </p:nvPr>
        </p:nvSpPr>
        <p:spPr>
          <a:xfrm>
            <a:off x="6552720" y="6356520"/>
            <a:ext cx="2133720" cy="365040"/>
          </a:xfrm>
          <a:prstGeom prst="rect">
            <a:avLst/>
          </a:prstGeom>
          <a:noFill/>
          <a:ln w="0">
            <a:noFill/>
          </a:ln>
        </p:spPr>
        <p:txBody>
          <a:bodyPr lIns="90000" rIns="90000" tIns="46800" bIns="46800" anchor="ctr">
            <a:noAutofit/>
          </a:bodyPr>
          <a:lstStyle>
            <a:lvl1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898989"/>
                </a:solidFill>
                <a:effectLst/>
                <a:uFillTx/>
                <a:latin typeface="Calibri"/>
              </a:defRPr>
            </a:lvl1pPr>
          </a:lstStyle>
          <a:p>
            <a: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B5D8C490-1CC0-44E1-985F-558BF6A04573}" type="slidenum">
              <a:rPr b="0" lang="en-US" sz="1200" strike="noStrike" u="none">
                <a:solidFill>
                  <a:srgbClr val="898989"/>
                </a:solidFill>
                <a:effectLst/>
                <a:uFillTx/>
                <a:latin typeface="Calibri"/>
              </a:rPr>
              <a:t>&lt;number&gt;</a:t>
            </a:fld>
            <a:endParaRPr b="0" lang="en-IN" sz="1200" strike="noStrike" u="none">
              <a:solidFill>
                <a:srgbClr val="000000"/>
              </a:solidFill>
              <a:effectLst/>
              <a:uFillTx/>
              <a:latin typeface="Times New Roman"/>
            </a:endParaRPr>
          </a:p>
        </p:txBody>
      </p:sp>
      <p:pic>
        <p:nvPicPr>
          <p:cNvPr id="5" name="Picture 7" descr="Powerpoint background 27%.jpg"/>
          <p:cNvPicPr/>
          <p:nvPr/>
        </p:nvPicPr>
        <p:blipFill>
          <a:blip r:embed="rId2"/>
          <a:stretch/>
        </p:blipFill>
        <p:spPr>
          <a:xfrm>
            <a:off x="0" y="0"/>
            <a:ext cx="9144000" cy="6858000"/>
          </a:xfrm>
          <a:prstGeom prst="rect">
            <a:avLst/>
          </a:prstGeom>
          <a:noFill/>
          <a:ln w="0">
            <a:noFill/>
          </a:ln>
        </p:spPr>
      </p:pic>
      <p:sp>
        <p:nvSpPr>
          <p:cNvPr id="6" name="TextBox 7"/>
          <p:cNvSpPr/>
          <p:nvPr/>
        </p:nvSpPr>
        <p:spPr>
          <a:xfrm>
            <a:off x="109440" y="6270480"/>
            <a:ext cx="9034560" cy="7045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This article and any supplementary material should be cited as follows: Henry JA, Zaugg TL, Myers PJ, Schmidt CJ, Griest S, Legro MW, Kaelin C, Thielman EJ, Storzbach DM, McMillan GP, Carlson KF. Pilot study to develop telehealth tinnitus management for persons with and without traumatic brain injury. J Rehabil Res Dev. 2012;49(7):1025–42. http://dx.doi.org/10.1682/JRRD.2010.07.0125</a:t>
            </a:r>
            <a:endParaRPr b="0" lang="en-IN" sz="1000" strike="noStrike" u="none">
              <a:solidFill>
                <a:srgbClr val="000000"/>
              </a:solidFill>
              <a:effectLst/>
              <a:uFillTx/>
              <a:latin typeface="Arial"/>
            </a:endParaRPr>
          </a:p>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000" strike="noStrike" u="none">
              <a:solidFill>
                <a:srgbClr val="000000"/>
              </a:solidFill>
              <a:effectLst/>
              <a:uFillTx/>
              <a:latin typeface="Arial"/>
            </a:endParaRPr>
          </a:p>
        </p:txBody>
      </p:sp>
      <p:sp>
        <p:nvSpPr>
          <p:cNvPr id="7" name="TextBox 8"/>
          <p:cNvSpPr/>
          <p:nvPr/>
        </p:nvSpPr>
        <p:spPr>
          <a:xfrm>
            <a:off x="6553080" y="531720"/>
            <a:ext cx="2590920" cy="399240"/>
          </a:xfrm>
          <a:prstGeom prst="rect">
            <a:avLst/>
          </a:prstGeom>
          <a:noFill/>
          <a:ln w="0">
            <a:noFill/>
          </a:ln>
        </p:spPr>
        <p:style>
          <a:lnRef idx="0"/>
          <a:fillRef idx="0"/>
          <a:effectRef idx="0"/>
          <a:fontRef idx="minor"/>
        </p:style>
        <p:txBody>
          <a:bodyPr lIns="90000" rIns="90000" tIns="46800" bIns="46800" anchor="t">
            <a:sp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Slideshow Project</a:t>
            </a:r>
            <a:endParaRPr b="0" lang="en-IN" sz="1000" strike="noStrike" u="none">
              <a:solidFill>
                <a:srgbClr val="000000"/>
              </a:solidFill>
              <a:effectLst/>
              <a:uFillTx/>
              <a:latin typeface="Arial"/>
            </a:endParaRPr>
          </a:p>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DOI:10.1682/JRRD.2010.07.0125JSP</a:t>
            </a:r>
            <a:endParaRPr b="0" lang="en-IN" sz="1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pic>
        <p:nvPicPr>
          <p:cNvPr id="8" name="Picture 7" descr="Powerpoint background 27%.jpg"/>
          <p:cNvPicPr/>
          <p:nvPr/>
        </p:nvPicPr>
        <p:blipFill>
          <a:blip r:embed="rId2"/>
          <a:stretch/>
        </p:blipFill>
        <p:spPr>
          <a:xfrm>
            <a:off x="0" y="0"/>
            <a:ext cx="9144000" cy="6858000"/>
          </a:xfrm>
          <a:prstGeom prst="rect">
            <a:avLst/>
          </a:prstGeom>
          <a:noFill/>
          <a:ln w="0">
            <a:noFill/>
          </a:ln>
        </p:spPr>
      </p:pic>
      <p:sp>
        <p:nvSpPr>
          <p:cNvPr id="9" name="TextBox 7"/>
          <p:cNvSpPr/>
          <p:nvPr/>
        </p:nvSpPr>
        <p:spPr>
          <a:xfrm>
            <a:off x="109440" y="6270480"/>
            <a:ext cx="9034560" cy="7045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This article and any supplementary material should be cited as follows: Henry JA, Zaugg TL, Myers PJ, Schmidt CJ, Griest S, Legro MW, Kaelin C, Thielman EJ, Storzbach DM, McMillan GP, Carlson KF. Pilot study to develop telehealth tinnitus management for persons with and without traumatic brain injury. J Rehabil Res Dev. 2012;49(7):1025–42. http://dx.doi.org/10.1682/JRRD.2010.07.0125</a:t>
            </a:r>
            <a:endParaRPr b="0" lang="en-IN" sz="1000" strike="noStrike" u="none">
              <a:solidFill>
                <a:srgbClr val="000000"/>
              </a:solidFill>
              <a:effectLst/>
              <a:uFillTx/>
              <a:latin typeface="Arial"/>
            </a:endParaRPr>
          </a:p>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000" strike="noStrike" u="none">
              <a:solidFill>
                <a:srgbClr val="000000"/>
              </a:solidFill>
              <a:effectLst/>
              <a:uFillTx/>
              <a:latin typeface="Arial"/>
            </a:endParaRPr>
          </a:p>
        </p:txBody>
      </p:sp>
      <p:sp>
        <p:nvSpPr>
          <p:cNvPr id="10" name="TextBox 8"/>
          <p:cNvSpPr/>
          <p:nvPr/>
        </p:nvSpPr>
        <p:spPr>
          <a:xfrm>
            <a:off x="6553080" y="531720"/>
            <a:ext cx="2590920" cy="399240"/>
          </a:xfrm>
          <a:prstGeom prst="rect">
            <a:avLst/>
          </a:prstGeom>
          <a:noFill/>
          <a:ln w="0">
            <a:noFill/>
          </a:ln>
        </p:spPr>
        <p:style>
          <a:lnRef idx="0"/>
          <a:fillRef idx="0"/>
          <a:effectRef idx="0"/>
          <a:fontRef idx="minor"/>
        </p:style>
        <p:txBody>
          <a:bodyPr lIns="90000" rIns="90000" tIns="46800" bIns="46800" anchor="t">
            <a:sp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Slideshow Project</a:t>
            </a:r>
            <a:endParaRPr b="0" lang="en-IN" sz="1000" strike="noStrike" u="none">
              <a:solidFill>
                <a:srgbClr val="000000"/>
              </a:solidFill>
              <a:effectLst/>
              <a:uFillTx/>
              <a:latin typeface="Arial"/>
            </a:endParaRPr>
          </a:p>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1" lang="en-US" sz="1000" strike="noStrike" u="none">
                <a:solidFill>
                  <a:srgbClr val="000000"/>
                </a:solidFill>
                <a:effectLst/>
                <a:uFillTx/>
                <a:latin typeface="Arial"/>
              </a:rPr>
              <a:t>DOI:10.1682/JRRD.2010.07.0125JSP</a:t>
            </a:r>
            <a:endParaRPr b="0" lang="en-IN" sz="1000" strike="noStrike" u="none">
              <a:solidFill>
                <a:srgbClr val="000000"/>
              </a:solidFill>
              <a:effectLst/>
              <a:uFillTx/>
              <a:latin typeface="Arial"/>
            </a:endParaRPr>
          </a:p>
        </p:txBody>
      </p:sp>
      <p:sp>
        <p:nvSpPr>
          <p:cNvPr id="1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4400" strike="noStrike" u="none">
                <a:solidFill>
                  <a:srgbClr val="000000"/>
                </a:solidFill>
                <a:effectLst/>
                <a:uFillTx/>
                <a:latin typeface="Calibri"/>
              </a:rPr>
              <a:t>Click to edit the title text format</a:t>
            </a:r>
            <a:endParaRPr b="0" lang="en-IN" sz="4400" strike="noStrike" u="none">
              <a:solidFill>
                <a:srgbClr val="000000"/>
              </a:solidFill>
              <a:effectLst/>
              <a:uFillTx/>
              <a:latin typeface="Calibri"/>
            </a:endParaRPr>
          </a:p>
        </p:txBody>
      </p:sp>
      <p:sp>
        <p:nvSpPr>
          <p:cNvPr id="1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Click to edit the outline text format</a:t>
            </a:r>
            <a:endParaRPr b="0" lang="en-IN"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Second Outline Level</a:t>
            </a:r>
            <a:endParaRPr b="0" lang="en-IN"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Third Outline Level</a:t>
            </a:r>
            <a:endParaRPr b="0" lang="en-IN"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Fourth Outline Level</a:t>
            </a:r>
            <a:endParaRPr b="0" lang="en-IN"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Fifth Outline Level</a:t>
            </a:r>
            <a:endParaRPr b="0" lang="en-IN"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Sixth Outline Level</a:t>
            </a:r>
            <a:endParaRPr b="0" lang="en-IN"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3200" strike="noStrike" u="none">
                <a:solidFill>
                  <a:srgbClr val="000000"/>
                </a:solidFill>
                <a:effectLst/>
                <a:uFillTx/>
                <a:latin typeface="Calibri"/>
              </a:rPr>
              <a:t>Seventh Outline Level</a:t>
            </a:r>
            <a:endParaRPr b="0" lang="en-IN" sz="3200" strike="noStrike" u="none">
              <a:solidFill>
                <a:srgbClr val="000000"/>
              </a:solidFill>
              <a:effectLst/>
              <a:uFillTx/>
              <a:latin typeface="Calibri"/>
            </a:endParaRPr>
          </a:p>
        </p:txBody>
      </p:sp>
      <p:sp>
        <p:nvSpPr>
          <p:cNvPr id="13" name="PlaceHolder 3"/>
          <p:cNvSpPr>
            <a:spLocks noGrp="1"/>
          </p:cNvSpPr>
          <p:nvPr>
            <p:ph type="dt" idx="4"/>
          </p:nvPr>
        </p:nvSpPr>
        <p:spPr>
          <a:xfrm>
            <a:off x="456840" y="6356520"/>
            <a:ext cx="2133720" cy="365040"/>
          </a:xfrm>
          <a:prstGeom prst="rect">
            <a:avLst/>
          </a:prstGeom>
          <a:noFill/>
          <a:ln w="0">
            <a:noFill/>
          </a:ln>
        </p:spPr>
        <p:txBody>
          <a:bodyPr lIns="90000" rIns="90000" tIns="46800" bIns="46800" anchor="ctr">
            <a:noAutofit/>
          </a:bodyPr>
          <a:lstStyle>
            <a:lvl1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898989"/>
                </a:solidFill>
                <a:effectLst/>
                <a:uFillTx/>
                <a:latin typeface="Calibri"/>
              </a:defRPr>
            </a:lvl1pPr>
          </a:lstStyle>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B980037-EA2E-42ED-9F21-51A583FD7AE7}" type="datetime">
              <a:rPr b="0" lang="en-US" sz="1200" strike="noStrike" u="none">
                <a:solidFill>
                  <a:srgbClr val="898989"/>
                </a:solidFill>
                <a:effectLst/>
                <a:uFillTx/>
                <a:latin typeface="Calibri"/>
              </a:rPr>
              <a:t>06/03/25</a:t>
            </a:fld>
            <a:endParaRPr b="0" lang="en-IN" sz="1200" strike="noStrike" u="none">
              <a:solidFill>
                <a:srgbClr val="000000"/>
              </a:solidFill>
              <a:effectLst/>
              <a:uFillTx/>
              <a:latin typeface="Times New Roman"/>
            </a:endParaRPr>
          </a:p>
        </p:txBody>
      </p:sp>
      <p:sp>
        <p:nvSpPr>
          <p:cNvPr id="14" name="PlaceHolder 4"/>
          <p:cNvSpPr>
            <a:spLocks noGrp="1"/>
          </p:cNvSpPr>
          <p:nvPr>
            <p:ph type="ftr" idx="5"/>
          </p:nvPr>
        </p:nvSpPr>
        <p:spPr>
          <a:xfrm>
            <a:off x="457200" y="6356520"/>
            <a:ext cx="8229600" cy="365040"/>
          </a:xfrm>
          <a:prstGeom prst="rect">
            <a:avLst/>
          </a:prstGeom>
          <a:noFill/>
          <a:ln w="0">
            <a:noFill/>
          </a:ln>
        </p:spPr>
        <p:txBody>
          <a:bodyPr lIns="90000" rIns="90000" tIns="46800" bIns="46800" anchor="ctr">
            <a:noAutofit/>
          </a:bodyPr>
          <a:lstStyle>
            <a:lvl1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100" strike="noStrike" u="none">
                <a:solidFill>
                  <a:srgbClr val="898989"/>
                </a:solidFill>
                <a:effectLst/>
                <a:uFillTx/>
                <a:latin typeface="Calibri"/>
              </a:defRPr>
            </a:lvl1pPr>
          </a:lstStyle>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This article and any supplementary material should be cited</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as follows:</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Wier LM, Hatcher MS, Triche EW, Lo AC. Effect of robotassisted</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versus conventional body-weight-supported treadmill</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training on quality of life for people with multiple sclerosis.</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J Rehabil Res Dev. 2011;48(4):XX–XX.</a:t>
            </a:r>
            <a:endParaRPr b="0" lang="en-IN" sz="1100" strike="noStrike" u="none">
              <a:solidFill>
                <a:srgbClr val="000000"/>
              </a:solidFill>
              <a:effectLst/>
              <a:uFillTx/>
              <a:latin typeface="Times New Roman"/>
            </a:endParaRPr>
          </a:p>
          <a:p>
            <a:pPr indent="0" algn="ct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100" strike="noStrike" u="none">
                <a:solidFill>
                  <a:srgbClr val="898989"/>
                </a:solidFill>
                <a:effectLst/>
                <a:uFillTx/>
                <a:latin typeface="Calibri"/>
              </a:rPr>
              <a:t>DOI:10.1682/JRRD/2010.03.0035</a:t>
            </a:r>
            <a:endParaRPr b="0" lang="en-IN" sz="1100" strike="noStrike" u="none">
              <a:solidFill>
                <a:srgbClr val="000000"/>
              </a:solidFill>
              <a:effectLst/>
              <a:uFillTx/>
              <a:latin typeface="Times New Roman"/>
            </a:endParaRPr>
          </a:p>
        </p:txBody>
      </p:sp>
      <p:sp>
        <p:nvSpPr>
          <p:cNvPr id="15" name="PlaceHolder 5"/>
          <p:cNvSpPr>
            <a:spLocks noGrp="1"/>
          </p:cNvSpPr>
          <p:nvPr>
            <p:ph type="sldNum" idx="6"/>
          </p:nvPr>
        </p:nvSpPr>
        <p:spPr>
          <a:xfrm>
            <a:off x="6552720" y="6356520"/>
            <a:ext cx="2133720" cy="365040"/>
          </a:xfrm>
          <a:prstGeom prst="rect">
            <a:avLst/>
          </a:prstGeom>
          <a:noFill/>
          <a:ln w="0">
            <a:noFill/>
          </a:ln>
        </p:spPr>
        <p:txBody>
          <a:bodyPr lIns="90000" rIns="90000" tIns="46800" bIns="46800" anchor="ctr">
            <a:noAutofit/>
          </a:bodyPr>
          <a:lstStyle>
            <a:lvl1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898989"/>
                </a:solidFill>
                <a:effectLst/>
                <a:uFillTx/>
                <a:latin typeface="Calibri"/>
              </a:defRPr>
            </a:lvl1pPr>
          </a:lstStyle>
          <a:p>
            <a:pPr indent="0" algn="r">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9CE71DD-6AAC-4C8B-9C02-2C3705F7EED9}" type="slidenum">
              <a:rPr b="0" lang="en-US" sz="1200" strike="noStrike" u="none">
                <a:solidFill>
                  <a:srgbClr val="898989"/>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387000" y="2214720"/>
            <a:ext cx="8386920" cy="1692000"/>
          </a:xfrm>
          <a:prstGeom prst="rect">
            <a:avLst/>
          </a:prstGeom>
          <a:noFill/>
          <a:ln w="0">
            <a:noFill/>
          </a:ln>
        </p:spPr>
        <p:txBody>
          <a:bodyPr lIns="91440" rIns="91440" tIns="45720" bIns="4572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trike="noStrike" u="none">
                <a:solidFill>
                  <a:srgbClr val="000000"/>
                </a:solidFill>
                <a:effectLst/>
                <a:uFillTx/>
                <a:latin typeface="Calibri"/>
              </a:rPr>
              <a:t>Pilot study to develop </a:t>
            </a:r>
            <a:br>
              <a:rPr sz="4400"/>
            </a:br>
            <a:r>
              <a:rPr b="0" lang="en-US" sz="4400" strike="noStrike" u="none">
                <a:solidFill>
                  <a:srgbClr val="000000"/>
                </a:solidFill>
                <a:effectLst/>
                <a:uFillTx/>
                <a:latin typeface="Calibri"/>
              </a:rPr>
              <a:t>telehealth tinnitus management </a:t>
            </a:r>
            <a:br>
              <a:rPr sz="4400"/>
            </a:br>
            <a:r>
              <a:rPr b="0" lang="en-US" sz="4400" strike="noStrike" u="none">
                <a:solidFill>
                  <a:srgbClr val="000000"/>
                </a:solidFill>
                <a:effectLst/>
                <a:uFillTx/>
                <a:latin typeface="Calibri"/>
              </a:rPr>
              <a:t>for persons with and without traumatic brain injury</a:t>
            </a:r>
            <a:br>
              <a:rPr sz="4400"/>
            </a:br>
            <a:endParaRPr b="0" lang="en-IN" sz="4400" strike="noStrike" u="none">
              <a:solidFill>
                <a:srgbClr val="000000"/>
              </a:solidFill>
              <a:effectLst/>
              <a:uFillTx/>
              <a:latin typeface="Calibri"/>
            </a:endParaRPr>
          </a:p>
        </p:txBody>
      </p:sp>
      <p:sp>
        <p:nvSpPr>
          <p:cNvPr id="17" name="PlaceHolder 2"/>
          <p:cNvSpPr>
            <a:spLocks noGrp="1"/>
          </p:cNvSpPr>
          <p:nvPr>
            <p:ph type="subTitle"/>
          </p:nvPr>
        </p:nvSpPr>
        <p:spPr>
          <a:xfrm>
            <a:off x="109080" y="4427280"/>
            <a:ext cx="8844120" cy="933480"/>
          </a:xfrm>
          <a:prstGeom prst="rect">
            <a:avLst/>
          </a:prstGeom>
          <a:noFill/>
          <a:ln w="0">
            <a:noFill/>
          </a:ln>
        </p:spPr>
        <p:txBody>
          <a:bodyPr lIns="91440" rIns="91440" tIns="45720" bIns="45720" anchor="t">
            <a:noAutofit/>
          </a:bodyPr>
          <a:p>
            <a:pPr indent="0" algn="ctr">
              <a:spcBef>
                <a:spcPts val="575"/>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300" strike="noStrike" u="none">
                <a:solidFill>
                  <a:srgbClr val="000000"/>
                </a:solidFill>
                <a:effectLst/>
                <a:uFillTx/>
                <a:latin typeface="Calibri"/>
              </a:rPr>
              <a:t>James A. Henry, PhD; Tara L. Zaugg, AuD; Paula J. Myers, PhD; </a:t>
            </a:r>
            <a:br>
              <a:rPr sz="2300"/>
            </a:br>
            <a:r>
              <a:rPr b="0" lang="en-US" sz="2300" strike="noStrike" u="none">
                <a:solidFill>
                  <a:srgbClr val="000000"/>
                </a:solidFill>
                <a:effectLst/>
                <a:uFillTx/>
                <a:latin typeface="Calibri"/>
              </a:rPr>
              <a:t>Caroline J. Schmidt, PhD; Susan Griest, MPH; Marcia W. Legro, PhD; Christine Kaelin, MBA; Emily J. Thielman, MS; Daniel M. Storzbach, PhD; Garnett P. McMillan, PhD; Kathleen F. Carlson, PhD</a:t>
            </a:r>
            <a:endParaRPr b="0" lang="en-IN" sz="23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txBox="1"/>
          <p:nvPr/>
        </p:nvSpPr>
        <p:spPr>
          <a:xfrm>
            <a:off x="272880" y="1146240"/>
            <a:ext cx="8544240" cy="4525920"/>
          </a:xfrm>
          <a:prstGeom prst="rect">
            <a:avLst/>
          </a:prstGeom>
          <a:noFill/>
          <a:ln w="0">
            <a:noFill/>
          </a:ln>
        </p:spPr>
        <p:txBody>
          <a:bodyPr anchor="t">
            <a:normAutofit/>
          </a:bodyPr>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Aim </a:t>
            </a:r>
            <a:endParaRPr b="0" lang="en-IN" sz="3200" strike="noStrike" u="none">
              <a:solidFill>
                <a:srgbClr val="000000"/>
              </a:solidFill>
              <a:effectLst/>
              <a:uFillTx/>
              <a:latin typeface="Calibri"/>
            </a:endParaRPr>
          </a:p>
          <a:p>
            <a:pPr lvl="1" marL="743040" indent="-285840">
              <a:spcBef>
                <a:spcPts val="700"/>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000000"/>
                </a:solidFill>
                <a:effectLst/>
                <a:uFillTx/>
                <a:latin typeface="Calibri"/>
              </a:rPr>
              <a:t>Pilot study to evaluate feasibility and potential efficacy of telehealth Progressive Tinnitus Management (PTM) for veterans with and without traumatic brain injury (TBI). </a:t>
            </a:r>
            <a:endParaRPr b="0" lang="en-IN" sz="2800" strike="noStrike" u="none">
              <a:solidFill>
                <a:srgbClr val="000000"/>
              </a:solidFill>
              <a:effectLst/>
              <a:uFillTx/>
              <a:latin typeface="Calibri"/>
            </a:endParaRPr>
          </a:p>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Relevance</a:t>
            </a:r>
            <a:endParaRPr b="0" lang="en-IN" sz="3200" strike="noStrike" u="none">
              <a:solidFill>
                <a:srgbClr val="000000"/>
              </a:solidFill>
              <a:effectLst/>
              <a:uFillTx/>
              <a:latin typeface="Calibri"/>
            </a:endParaRPr>
          </a:p>
          <a:p>
            <a:pPr lvl="1" marL="743040" indent="-285840">
              <a:spcBef>
                <a:spcPts val="700"/>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000000"/>
                </a:solidFill>
                <a:effectLst/>
                <a:uFillTx/>
                <a:latin typeface="Calibri"/>
              </a:rPr>
              <a:t>Tinnitus affects 10%–15% of adults; it can be problematic and require lifelong management.</a:t>
            </a:r>
            <a:endParaRPr b="0" lang="en-IN" sz="2800" strike="noStrike" u="none">
              <a:solidFill>
                <a:srgbClr val="000000"/>
              </a:solidFill>
              <a:effectLst/>
              <a:uFillTx/>
              <a:latin typeface="Calibri"/>
            </a:endParaRPr>
          </a:p>
          <a:p>
            <a:pPr lvl="1" marL="743040" indent="-285840">
              <a:spcBef>
                <a:spcPts val="700"/>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800" strike="noStrike" u="none">
                <a:solidFill>
                  <a:srgbClr val="000000"/>
                </a:solidFill>
                <a:effectLst/>
                <a:uFillTx/>
                <a:latin typeface="Calibri"/>
              </a:rPr>
              <a:t>Many people with TBI also have tinnitus.</a:t>
            </a:r>
            <a:endParaRPr b="0" lang="en-IN" sz="2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165240"/>
            <a:ext cx="8229600" cy="612720"/>
          </a:xfrm>
          <a:prstGeom prst="rect">
            <a:avLst/>
          </a:prstGeom>
          <a:noFill/>
          <a:ln w="0">
            <a:noFill/>
          </a:ln>
        </p:spPr>
        <p:txBody>
          <a:bodyPr lIns="91440" rIns="91440" tIns="45720" bIns="4572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trike="noStrike" u="none">
                <a:solidFill>
                  <a:srgbClr val="000000"/>
                </a:solidFill>
                <a:effectLst/>
                <a:uFillTx/>
                <a:latin typeface="Calibri"/>
              </a:rPr>
              <a:t>Methods</a:t>
            </a:r>
            <a:endParaRPr b="0" lang="en-IN" sz="4400" strike="noStrike" u="none">
              <a:solidFill>
                <a:srgbClr val="000000"/>
              </a:solidFill>
              <a:effectLst/>
              <a:uFillTx/>
              <a:latin typeface="Calibri"/>
            </a:endParaRPr>
          </a:p>
        </p:txBody>
      </p:sp>
      <p:sp>
        <p:nvSpPr>
          <p:cNvPr id="20" name=""/>
          <p:cNvSpPr txBox="1"/>
          <p:nvPr/>
        </p:nvSpPr>
        <p:spPr>
          <a:xfrm>
            <a:off x="169560" y="973080"/>
            <a:ext cx="8674200" cy="4525920"/>
          </a:xfrm>
          <a:prstGeom prst="rect">
            <a:avLst/>
          </a:prstGeom>
          <a:noFill/>
          <a:ln w="0">
            <a:noFill/>
          </a:ln>
        </p:spPr>
        <p:txBody>
          <a:bodyPr anchor="t">
            <a:normAutofit fontScale="85000" lnSpcReduction="9999"/>
          </a:bodyPr>
          <a:p>
            <a:pPr marL="343080" indent="-343080">
              <a:spcBef>
                <a:spcPts val="700"/>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000000"/>
                </a:solidFill>
                <a:effectLst/>
                <a:uFillTx/>
                <a:latin typeface="Calibri"/>
              </a:rPr>
              <a:t>PTM </a:t>
            </a:r>
            <a:endParaRPr b="0" lang="en-IN" sz="2800" strike="noStrike" u="none">
              <a:solidFill>
                <a:srgbClr val="000000"/>
              </a:solidFill>
              <a:effectLst/>
              <a:uFillTx/>
              <a:latin typeface="Calibri"/>
            </a:endParaRPr>
          </a:p>
          <a:p>
            <a:pPr lvl="1" marL="743040" indent="-285840">
              <a:spcBef>
                <a:spcPts val="601"/>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000000"/>
                </a:solidFill>
                <a:effectLst/>
                <a:uFillTx/>
                <a:latin typeface="Calibri"/>
              </a:rPr>
              <a:t>Education and counseling to help patients self-manage their reactions to tinnitus.</a:t>
            </a:r>
            <a:endParaRPr b="0" lang="en-IN" sz="2400" strike="noStrike" u="none">
              <a:solidFill>
                <a:srgbClr val="000000"/>
              </a:solidFill>
              <a:effectLst/>
              <a:uFillTx/>
              <a:latin typeface="Calibri"/>
            </a:endParaRPr>
          </a:p>
          <a:p>
            <a:pPr lvl="1" marL="743040" indent="-285840">
              <a:spcBef>
                <a:spcPts val="601"/>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000000"/>
                </a:solidFill>
                <a:effectLst/>
                <a:uFillTx/>
                <a:latin typeface="Calibri"/>
              </a:rPr>
              <a:t>For pilot, we adapted PTM by delivering it via telephone and adding cognitive-behavioral therapy.</a:t>
            </a:r>
            <a:endParaRPr b="0" lang="en-IN" sz="2400" strike="noStrike" u="none">
              <a:solidFill>
                <a:srgbClr val="000000"/>
              </a:solidFill>
              <a:effectLst/>
              <a:uFillTx/>
              <a:latin typeface="Calibri"/>
            </a:endParaRPr>
          </a:p>
          <a:p>
            <a:pPr marL="343080" indent="-343080">
              <a:spcBef>
                <a:spcPts val="700"/>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000000"/>
                </a:solidFill>
                <a:effectLst/>
                <a:uFillTx/>
                <a:latin typeface="Calibri"/>
              </a:rPr>
              <a:t>Participants</a:t>
            </a:r>
            <a:endParaRPr b="0" lang="en-IN" sz="2800" strike="noStrike" u="none">
              <a:solidFill>
                <a:srgbClr val="000000"/>
              </a:solidFill>
              <a:effectLst/>
              <a:uFillTx/>
              <a:latin typeface="Calibri"/>
            </a:endParaRPr>
          </a:p>
          <a:p>
            <a:pPr lvl="1" marL="743040" indent="-285840">
              <a:spcBef>
                <a:spcPts val="601"/>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000000"/>
                </a:solidFill>
                <a:effectLst/>
                <a:uFillTx/>
                <a:latin typeface="Calibri"/>
              </a:rPr>
              <a:t>Veterans with clinically significant tinnitus and:</a:t>
            </a:r>
            <a:endParaRPr b="0" lang="en-IN" sz="2400" strike="noStrike" u="none">
              <a:solidFill>
                <a:srgbClr val="000000"/>
              </a:solidFill>
              <a:effectLst/>
              <a:uFillTx/>
              <a:latin typeface="Calibri"/>
            </a:endParaRPr>
          </a:p>
          <a:p>
            <a:pPr lvl="2" marL="1143000" indent="-228600">
              <a:spcBef>
                <a:spcPts val="499"/>
              </a:spcBef>
              <a:buClr>
                <a:srgbClr val="000000"/>
              </a:buClr>
              <a:buFont typeface="Arial"/>
              <a:buChar char="•"/>
              <a:tabLst>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Lst>
            </a:pPr>
            <a:r>
              <a:rPr b="0" lang="en-US" sz="2000" strike="noStrike" u="none">
                <a:solidFill>
                  <a:srgbClr val="000000"/>
                </a:solidFill>
                <a:effectLst/>
                <a:uFillTx/>
                <a:latin typeface="Calibri"/>
              </a:rPr>
              <a:t>Probable symptomatic mild TBI (</a:t>
            </a:r>
            <a:r>
              <a:rPr b="0" i="1" lang="en-US" sz="2000" strike="noStrike" u="none">
                <a:solidFill>
                  <a:srgbClr val="000000"/>
                </a:solidFill>
                <a:effectLst/>
                <a:uFillTx/>
                <a:latin typeface="Calibri"/>
              </a:rPr>
              <a:t>n </a:t>
            </a:r>
            <a:r>
              <a:rPr b="0" lang="en-US" sz="2000" strike="noStrike" u="none">
                <a:solidFill>
                  <a:srgbClr val="000000"/>
                </a:solidFill>
                <a:effectLst/>
                <a:uFillTx/>
                <a:latin typeface="Calibri"/>
              </a:rPr>
              <a:t>= 15).</a:t>
            </a:r>
            <a:endParaRPr b="0" lang="en-IN" sz="2000" strike="noStrike" u="none">
              <a:solidFill>
                <a:srgbClr val="000000"/>
              </a:solidFill>
              <a:effectLst/>
              <a:uFillTx/>
              <a:latin typeface="Calibri"/>
            </a:endParaRPr>
          </a:p>
          <a:p>
            <a:pPr lvl="2" marL="1143000" indent="-228600">
              <a:spcBef>
                <a:spcPts val="499"/>
              </a:spcBef>
              <a:buClr>
                <a:srgbClr val="000000"/>
              </a:buClr>
              <a:buFont typeface="Arial"/>
              <a:buChar char="•"/>
              <a:tabLst>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Lst>
            </a:pPr>
            <a:r>
              <a:rPr b="0" lang="en-US" sz="2000" strike="noStrike" u="none">
                <a:solidFill>
                  <a:srgbClr val="000000"/>
                </a:solidFill>
                <a:effectLst/>
                <a:uFillTx/>
                <a:latin typeface="Calibri"/>
              </a:rPr>
              <a:t>Moderate to severe TBI (</a:t>
            </a:r>
            <a:r>
              <a:rPr b="0" i="1" lang="en-US" sz="2000" strike="noStrike" u="none">
                <a:solidFill>
                  <a:srgbClr val="000000"/>
                </a:solidFill>
                <a:effectLst/>
                <a:uFillTx/>
                <a:latin typeface="Calibri"/>
              </a:rPr>
              <a:t>n </a:t>
            </a:r>
            <a:r>
              <a:rPr b="0" lang="en-US" sz="2000" strike="noStrike" u="none">
                <a:solidFill>
                  <a:srgbClr val="000000"/>
                </a:solidFill>
                <a:effectLst/>
                <a:uFillTx/>
                <a:latin typeface="Calibri"/>
              </a:rPr>
              <a:t>= 9).</a:t>
            </a:r>
            <a:endParaRPr b="0" lang="en-IN" sz="2000" strike="noStrike" u="none">
              <a:solidFill>
                <a:srgbClr val="000000"/>
              </a:solidFill>
              <a:effectLst/>
              <a:uFillTx/>
              <a:latin typeface="Calibri"/>
            </a:endParaRPr>
          </a:p>
          <a:p>
            <a:pPr lvl="2" marL="1143000" indent="-228600">
              <a:spcBef>
                <a:spcPts val="499"/>
              </a:spcBef>
              <a:buClr>
                <a:srgbClr val="000000"/>
              </a:buClr>
              <a:buFont typeface="Arial"/>
              <a:buChar char="•"/>
              <a:tabLst>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Lst>
            </a:pPr>
            <a:r>
              <a:rPr b="0" lang="en-US" sz="2000" strike="noStrike" u="none">
                <a:solidFill>
                  <a:srgbClr val="000000"/>
                </a:solidFill>
                <a:effectLst/>
                <a:uFillTx/>
                <a:latin typeface="Calibri"/>
              </a:rPr>
              <a:t>No symptomatic TBI (</a:t>
            </a:r>
            <a:r>
              <a:rPr b="0" i="1" lang="en-US" sz="2000" strike="noStrike" u="none">
                <a:solidFill>
                  <a:srgbClr val="000000"/>
                </a:solidFill>
                <a:effectLst/>
                <a:uFillTx/>
                <a:latin typeface="Calibri"/>
              </a:rPr>
              <a:t>n </a:t>
            </a:r>
            <a:r>
              <a:rPr b="0" lang="en-US" sz="2000" strike="noStrike" u="none">
                <a:solidFill>
                  <a:srgbClr val="000000"/>
                </a:solidFill>
                <a:effectLst/>
                <a:uFillTx/>
                <a:latin typeface="Calibri"/>
              </a:rPr>
              <a:t>= 12). </a:t>
            </a:r>
            <a:endParaRPr b="0" lang="en-IN" sz="2000" strike="noStrike" u="none">
              <a:solidFill>
                <a:srgbClr val="000000"/>
              </a:solidFill>
              <a:effectLst/>
              <a:uFillTx/>
              <a:latin typeface="Calibri"/>
            </a:endParaRPr>
          </a:p>
          <a:p>
            <a:pPr lvl="1" marL="743040" indent="-285840">
              <a:spcBef>
                <a:spcPts val="601"/>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000000"/>
                </a:solidFill>
                <a:effectLst/>
                <a:uFillTx/>
                <a:latin typeface="Calibri"/>
              </a:rPr>
              <a:t>Received 6 mo of telephone counseling (6 sessions total).</a:t>
            </a:r>
            <a:endParaRPr b="0" lang="en-IN" sz="2400" strike="noStrike" u="none">
              <a:solidFill>
                <a:srgbClr val="000000"/>
              </a:solidFill>
              <a:effectLst/>
              <a:uFillTx/>
              <a:latin typeface="Calibri"/>
            </a:endParaRPr>
          </a:p>
          <a:p>
            <a:pPr lvl="1" marL="743040" indent="-285840">
              <a:spcBef>
                <a:spcPts val="601"/>
              </a:spcBef>
              <a:buClr>
                <a:srgbClr val="000000"/>
              </a:buClr>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000000"/>
                </a:solidFill>
                <a:effectLst/>
                <a:uFillTx/>
                <a:latin typeface="Calibri"/>
              </a:rPr>
              <a:t>Completed questionnaires at baseline, 12 wk, and 24 wk.</a:t>
            </a:r>
            <a:endParaRPr b="0" lang="en-IN" sz="2400" strike="noStrike" u="none">
              <a:solidFill>
                <a:srgbClr val="000000"/>
              </a:solidFill>
              <a:effectLst/>
              <a:uFillTx/>
              <a:latin typeface="Calibri"/>
            </a:endParaRPr>
          </a:p>
          <a:p>
            <a:pPr marL="343080" indent="-343080">
              <a:spcBef>
                <a:spcPts val="64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600" strike="noStrike" u="none">
              <a:solidFill>
                <a:srgbClr val="000000"/>
              </a:solidFill>
              <a:effectLst/>
              <a:uFillTx/>
              <a:latin typeface="Calibri"/>
            </a:endParaRPr>
          </a:p>
          <a:p>
            <a:pPr marL="343080" indent="-343080">
              <a:spcBef>
                <a:spcPts val="64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6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 name="Picture 4" descr=""/>
          <p:cNvPicPr/>
          <p:nvPr/>
        </p:nvPicPr>
        <p:blipFill>
          <a:blip r:embed="rId1"/>
          <a:stretch/>
        </p:blipFill>
        <p:spPr>
          <a:xfrm>
            <a:off x="244440" y="1274760"/>
            <a:ext cx="4165560" cy="3106800"/>
          </a:xfrm>
          <a:prstGeom prst="rect">
            <a:avLst/>
          </a:prstGeom>
          <a:noFill/>
          <a:ln w="0">
            <a:noFill/>
          </a:ln>
        </p:spPr>
      </p:pic>
      <p:sp>
        <p:nvSpPr>
          <p:cNvPr id="22" name="Rectangle 1"/>
          <p:cNvSpPr/>
          <p:nvPr/>
        </p:nvSpPr>
        <p:spPr>
          <a:xfrm>
            <a:off x="216000" y="4608360"/>
            <a:ext cx="3746520" cy="1068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i="1" lang="en-US" sz="1600" strike="noStrike" u="none">
                <a:solidFill>
                  <a:srgbClr val="000000"/>
                </a:solidFill>
                <a:effectLst/>
                <a:uFillTx/>
                <a:latin typeface="Arial"/>
              </a:rPr>
              <a:t>Example of PTM counseling by audiologist.</a:t>
            </a:r>
            <a:r>
              <a:rPr b="0" lang="en-US" sz="1600" strike="noStrike" u="none">
                <a:solidFill>
                  <a:srgbClr val="000000"/>
                </a:solidFill>
                <a:effectLst/>
                <a:uFillTx/>
                <a:latin typeface="Arial"/>
              </a:rPr>
              <a:t> “Sound Plan Worksheet” helps veteran develop individualized plan to manage reactions to tinnitus.</a:t>
            </a:r>
            <a:endParaRPr b="0" lang="en-IN" sz="1600" strike="noStrike" u="none">
              <a:solidFill>
                <a:srgbClr val="000000"/>
              </a:solidFill>
              <a:effectLst/>
              <a:uFillTx/>
              <a:latin typeface="Arial"/>
            </a:endParaRPr>
          </a:p>
        </p:txBody>
      </p:sp>
      <p:pic>
        <p:nvPicPr>
          <p:cNvPr id="23" name="Picture 2" descr="Description: Changing Thoughts"/>
          <p:cNvPicPr/>
          <p:nvPr/>
        </p:nvPicPr>
        <p:blipFill>
          <a:blip r:embed="rId2"/>
          <a:stretch/>
        </p:blipFill>
        <p:spPr>
          <a:xfrm>
            <a:off x="4757760" y="1274760"/>
            <a:ext cx="4195800" cy="3106800"/>
          </a:xfrm>
          <a:prstGeom prst="rect">
            <a:avLst/>
          </a:prstGeom>
          <a:noFill/>
          <a:ln w="0">
            <a:noFill/>
          </a:ln>
        </p:spPr>
      </p:pic>
      <p:sp>
        <p:nvSpPr>
          <p:cNvPr id="24" name="Rectangle 1"/>
          <p:cNvSpPr/>
          <p:nvPr/>
        </p:nvSpPr>
        <p:spPr>
          <a:xfrm>
            <a:off x="4757760" y="4606920"/>
            <a:ext cx="3744720" cy="1068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i="1" lang="en-US" sz="1600" strike="noStrike" u="none">
                <a:solidFill>
                  <a:srgbClr val="000000"/>
                </a:solidFill>
                <a:effectLst/>
                <a:uFillTx/>
                <a:latin typeface="Arial"/>
              </a:rPr>
              <a:t>Example of PTM counseling by psychologist.</a:t>
            </a:r>
            <a:r>
              <a:rPr b="0" lang="en-US" sz="1600" strike="noStrike" u="none">
                <a:solidFill>
                  <a:srgbClr val="000000"/>
                </a:solidFill>
                <a:effectLst/>
                <a:uFillTx/>
                <a:latin typeface="Arial"/>
              </a:rPr>
              <a:t> “Changing Thoughts and Feelings Worksheet” incorporates cognitive and behavioral coping skills.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4680"/>
            <a:ext cx="8229600" cy="528480"/>
          </a:xfrm>
          <a:prstGeom prst="rect">
            <a:avLst/>
          </a:prstGeom>
          <a:noFill/>
          <a:ln w="0">
            <a:noFill/>
          </a:ln>
        </p:spPr>
        <p:txBody>
          <a:bodyPr lIns="91440" rIns="91440" tIns="45720" bIns="4572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trike="noStrike" u="none">
                <a:solidFill>
                  <a:srgbClr val="000000"/>
                </a:solidFill>
                <a:effectLst/>
                <a:uFillTx/>
                <a:latin typeface="Calibri"/>
              </a:rPr>
              <a:t>Results</a:t>
            </a:r>
            <a:endParaRPr b="0" lang="en-IN" sz="4400" strike="noStrike" u="none">
              <a:solidFill>
                <a:srgbClr val="000000"/>
              </a:solidFill>
              <a:effectLst/>
              <a:uFillTx/>
              <a:latin typeface="Calibri"/>
            </a:endParaRPr>
          </a:p>
        </p:txBody>
      </p:sp>
      <p:sp>
        <p:nvSpPr>
          <p:cNvPr id="26" name=""/>
          <p:cNvSpPr txBox="1"/>
          <p:nvPr/>
        </p:nvSpPr>
        <p:spPr>
          <a:xfrm>
            <a:off x="275760" y="1068120"/>
            <a:ext cx="8418600" cy="4768920"/>
          </a:xfrm>
          <a:prstGeom prst="rect">
            <a:avLst/>
          </a:prstGeom>
          <a:noFill/>
          <a:ln w="0">
            <a:noFill/>
          </a:ln>
        </p:spPr>
        <p:txBody>
          <a:bodyPr anchor="t">
            <a:normAutofit/>
          </a:bodyPr>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All groups showed trends reflecting improvement in self-perceived functional limitations due to tinnitus.</a:t>
            </a:r>
            <a:endParaRPr b="0" lang="en-IN" sz="3200" strike="noStrike" u="none">
              <a:solidFill>
                <a:srgbClr val="000000"/>
              </a:solidFill>
              <a:effectLst/>
              <a:uFillTx/>
              <a:latin typeface="Calibri"/>
            </a:endParaRPr>
          </a:p>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These data, and experiences gained from conducting the study, have been used to design randomized clinical trial to more definitively evaluate efficacy of this telehealth methodology.</a:t>
            </a:r>
            <a:endParaRPr b="0" lang="en-IN" sz="3200" strike="noStrike" u="none">
              <a:solidFill>
                <a:srgbClr val="000000"/>
              </a:solidFill>
              <a:effectLst/>
              <a:uFillTx/>
              <a:latin typeface="Calibri"/>
            </a:endParaRPr>
          </a:p>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3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85320"/>
            <a:ext cx="8229600" cy="939960"/>
          </a:xfrm>
          <a:prstGeom prst="rect">
            <a:avLst/>
          </a:prstGeom>
          <a:noFill/>
          <a:ln w="0">
            <a:noFill/>
          </a:ln>
        </p:spPr>
        <p:txBody>
          <a:bodyPr lIns="91440" rIns="91440" tIns="45720" bIns="4572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trike="noStrike" u="none">
                <a:solidFill>
                  <a:srgbClr val="000000"/>
                </a:solidFill>
                <a:effectLst/>
                <a:uFillTx/>
                <a:latin typeface="Calibri"/>
              </a:rPr>
              <a:t>Conclusion</a:t>
            </a:r>
            <a:endParaRPr b="0" lang="en-IN" sz="4400" strike="noStrike" u="none">
              <a:solidFill>
                <a:srgbClr val="000000"/>
              </a:solidFill>
              <a:effectLst/>
              <a:uFillTx/>
              <a:latin typeface="Calibri"/>
            </a:endParaRPr>
          </a:p>
        </p:txBody>
      </p:sp>
      <p:sp>
        <p:nvSpPr>
          <p:cNvPr id="28" name=""/>
          <p:cNvSpPr txBox="1"/>
          <p:nvPr/>
        </p:nvSpPr>
        <p:spPr>
          <a:xfrm>
            <a:off x="157320" y="990720"/>
            <a:ext cx="8686800" cy="4525920"/>
          </a:xfrm>
          <a:prstGeom prst="rect">
            <a:avLst/>
          </a:prstGeom>
          <a:noFill/>
          <a:ln w="0">
            <a:noFill/>
          </a:ln>
        </p:spPr>
        <p:txBody>
          <a:bodyPr anchor="t">
            <a:normAutofit fontScale="92500" lnSpcReduction="9999"/>
          </a:bodyPr>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Our pilot study showed positive results of conducting PTM via telephone. </a:t>
            </a:r>
            <a:endParaRPr b="0" lang="en-IN" sz="3200" strike="noStrike" u="none">
              <a:solidFill>
                <a:srgbClr val="000000"/>
              </a:solidFill>
              <a:effectLst/>
              <a:uFillTx/>
              <a:latin typeface="Calibri"/>
            </a:endParaRPr>
          </a:p>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PTM as home-based telehealth service has potential to provide tinnitus services to Veterans with and without TBI for relatively small cost and with minimal effect on individual VA hospitals. </a:t>
            </a:r>
            <a:endParaRPr b="0" lang="en-IN" sz="3200" strike="noStrike" u="none">
              <a:solidFill>
                <a:srgbClr val="000000"/>
              </a:solidFill>
              <a:effectLst/>
              <a:uFillTx/>
              <a:latin typeface="Calibri"/>
            </a:endParaRPr>
          </a:p>
          <a:p>
            <a:pPr marL="343080" indent="-343080">
              <a:spcBef>
                <a:spcPts val="799"/>
              </a:spcBef>
              <a:buClr>
                <a:srgbClr val="000000"/>
              </a:buClr>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effectLst/>
                <a:uFillTx/>
                <a:latin typeface="Calibri"/>
              </a:rPr>
              <a:t>After follow-up clinical trial, we will fully develop the tinnitus telehealth program and document organizational requirements and patient outcomes.</a:t>
            </a:r>
            <a:endParaRPr b="0" lang="en-IN" sz="3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1314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2012-02-16T11:36:42Z</dcterms:created>
  <dc:creator>Rebecca</dc:creator>
  <dc:description/>
  <dc:language>en-IN</dc:language>
  <cp:lastModifiedBy>Bartlinski, David</cp:lastModifiedBy>
  <dcterms:modified xsi:type="dcterms:W3CDTF">2012-10-03T08:08:32Z</dcterms:modified>
  <cp:revision>443</cp:revision>
  <dc:subject/>
  <dc:title>Pilot study for quantifying driving characteristics during  power wheelchair soccer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1</vt:bool>
  </property>
</Properties>
</file>