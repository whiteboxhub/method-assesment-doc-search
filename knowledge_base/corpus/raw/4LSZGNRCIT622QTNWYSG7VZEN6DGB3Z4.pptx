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_rels/slideMaster1.xml.rels" ContentType="application/vnd.openxmlformats-package.relationships+xml"/>
  <Override PartName="/ppt/notesMasters/notesMaster1.xml" ContentType="application/vnd.openxmlformats-officedocument.presentationml.notesMaster+xml"/>
  <Override PartName="/ppt/notesMasters/_rels/notesMaster1.xml.rels" ContentType="application/vnd.openxmlformats-package.relationships+xml"/>
  <Override PartName="/ppt/theme/theme1.xml" ContentType="application/vnd.openxmlformats-officedocument.theme+xml"/>
  <Override PartName="/ppt/theme/theme2.xml" ContentType="application/vnd.openxmlformats-officedocument.theme+xml"/>
  <Override PartName="/ppt/notesSlides/notesSlide19.xml" ContentType="application/vnd.openxmlformats-officedocument.presentationml.notesSlide+xml"/>
  <Override PartName="/ppt/notesSlides/_rels/notesSlide19.xml.rels" ContentType="application/vnd.openxmlformats-package.relationships+xml"/>
  <Override PartName="/ppt/embeddings/oleObject1.bin" ContentType="application/vnd.openxmlformats-officedocument.oleObject"/>
  <Override PartName="/ppt/embeddings/oleObject1.xlsx" ContentType="application/vnd.openxmlformats-officedocument.spreadsheetml.sheet"/>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3.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_rels/slide1.xml.rels" ContentType="application/vnd.openxmlformats-package.relationships+xml"/>
  <Override PartName="/ppt/slides/_rels/slide2.xml.rels" ContentType="application/vnd.openxmlformats-package.relationships+xml"/>
  <Override PartName="/ppt/slides/_rels/slide20.xml.rels" ContentType="application/vnd.openxmlformats-package.relationships+xml"/>
  <Override PartName="/ppt/slides/_rels/slide7.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8.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slides/_rels/slide17.xml.rels" ContentType="application/vnd.openxmlformats-package.relationships+xml"/>
  <Override PartName="/ppt/slides/_rels/slide18.xml.rels" ContentType="application/vnd.openxmlformats-package.relationships+xml"/>
  <Override PartName="/ppt/slides/_rels/slide19.xml.rels" ContentType="application/vnd.openxmlformats-package.relationships+xml"/>
  <Override PartName="/ppt/media/image1.png" ContentType="image/png"/>
  <Override PartName="/ppt/media/image2.png" ContentType="image/png"/>
  <Override PartName="/ppt/media/image4.jpeg" ContentType="image/jpeg"/>
  <Override PartName="/ppt/media/image3.jpeg" ContentType="image/jpeg"/>
  <Override PartName="/ppt/media/image5.jpeg" ContentType="image/jpeg"/>
  <Override PartName="/ppt/media/image6.wmf" ContentType="image/x-wmf"/>
  <Override PartName="/ppt/media/image7.png" ContentType="image/png"/>
  <Override PartName="/ppt/presProps.xml" ContentType="application/vnd.openxmlformats-officedocument.presentationml.presProps+xml"/>
  <Override PartName="/ppt/_rels/presentation.xml.rels" ContentType="application/vnd.openxmlformats-package.relationships+xml"/>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Lst>
  <p:sldSz cx="10058400" cy="7772400"/>
  <p:notesSz cx="6997700" cy="9274175"/>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 name=""/>
          <p:cNvSpPr/>
          <p:nvPr/>
        </p:nvSpPr>
        <p:spPr>
          <a:xfrm>
            <a:off x="0" y="0"/>
            <a:ext cx="6998400" cy="9273600"/>
          </a:xfrm>
          <a:prstGeom prst="rect">
            <a:avLst/>
          </a:prstGeom>
          <a:solidFill>
            <a:srgbClr val="ffffff"/>
          </a:solidFill>
          <a:ln w="0">
            <a:noFill/>
          </a:ln>
        </p:spPr>
        <p:txBody>
          <a:bodyPr lIns="90000" rIns="90000" tIns="45000" bIns="45000" anchor="ctr" anchorCtr="1">
            <a:noAutofit/>
          </a:bodyPr>
          <a:p>
            <a:endParaRPr b="0" lang="en-IN" sz="2400" strike="noStrike" u="none">
              <a:solidFill>
                <a:srgbClr val="000000"/>
              </a:solidFill>
              <a:effectLst/>
              <a:uFillTx/>
              <a:latin typeface="Times New Roman"/>
            </a:endParaRPr>
          </a:p>
        </p:txBody>
      </p:sp>
      <p:sp>
        <p:nvSpPr>
          <p:cNvPr id="9" name="PlaceHolder 1"/>
          <p:cNvSpPr>
            <a:spLocks noGrp="1"/>
          </p:cNvSpPr>
          <p:nvPr>
            <p:ph type="body"/>
          </p:nvPr>
        </p:nvSpPr>
        <p:spPr>
          <a:xfrm>
            <a:off x="931680" y="4403520"/>
            <a:ext cx="5133960" cy="4174920"/>
          </a:xfrm>
          <a:prstGeom prst="rect">
            <a:avLst/>
          </a:prstGeom>
          <a:noFill/>
          <a:ln w="0">
            <a:noFill/>
          </a:ln>
        </p:spPr>
        <p:txBody>
          <a:bodyPr lIns="91800" rIns="91800" tIns="45000" bIns="4500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Times New Roman"/>
              </a:rPr>
              <a:t>Click to edit the notes format</a:t>
            </a:r>
            <a:endParaRPr b="0" lang="en-IN" sz="1200" strike="noStrike" u="none">
              <a:solidFill>
                <a:srgbClr val="000000"/>
              </a:solidFill>
              <a:effectLst/>
              <a:uFillTx/>
              <a:latin typeface="Times New Roman"/>
            </a:endParaRPr>
          </a:p>
        </p:txBody>
      </p:sp>
      <p:sp>
        <p:nvSpPr>
          <p:cNvPr id="10" name="PlaceHolder 2"/>
          <p:cNvSpPr>
            <a:spLocks noGrp="1"/>
          </p:cNvSpPr>
          <p:nvPr>
            <p:ph type="sldImg"/>
          </p:nvPr>
        </p:nvSpPr>
        <p:spPr>
          <a:xfrm>
            <a:off x="949320" y="463320"/>
            <a:ext cx="5099040" cy="3940200"/>
          </a:xfrm>
          <a:prstGeom prst="rect">
            <a:avLst/>
          </a:prstGeom>
          <a:noFill/>
          <a:ln w="12600">
            <a:solidFill>
              <a:srgbClr val="000000"/>
            </a:solidFill>
            <a:miter/>
          </a:ln>
        </p:spPr>
        <p:txBody>
          <a:bodyPr lIns="90000" rIns="90000" tIns="46800" bIns="46800" anchor="ctr">
            <a:noAutofit/>
          </a:bodyPr>
          <a:p>
            <a:pPr indent="0" algn="r">
              <a:buNone/>
              <a:tabLst>
                <a:tab algn="l" pos="0"/>
                <a:tab algn="l" pos="1006560"/>
                <a:tab algn="l" pos="2013120"/>
                <a:tab algn="l" pos="3019320"/>
                <a:tab algn="l" pos="4025880"/>
                <a:tab algn="l" pos="5032440"/>
                <a:tab algn="l" pos="6039000"/>
                <a:tab algn="l" pos="7045200"/>
                <a:tab algn="l" pos="8051760"/>
                <a:tab algn="l" pos="9058320"/>
                <a:tab algn="l" pos="10064880"/>
              </a:tabLst>
            </a:pPr>
            <a:r>
              <a:rPr b="0" lang="en-IN" sz="4400" strike="noStrike" u="none">
                <a:solidFill>
                  <a:srgbClr val="0000ff"/>
                </a:solidFill>
                <a:effectLst/>
                <a:uFillTx/>
                <a:latin typeface="Arial"/>
              </a:rPr>
              <a:t>Click to move the slide</a:t>
            </a:r>
            <a:endParaRPr b="0" lang="en-IN" sz="4400" strike="noStrike" u="none">
              <a:solidFill>
                <a:srgbClr val="0000ff"/>
              </a:solidFill>
              <a:effectLst/>
              <a:uFillTx/>
              <a:latin typeface="Arial"/>
            </a:endParaRPr>
          </a:p>
        </p:txBody>
      </p:sp>
    </p:spTree>
  </p:cSld>
  <p:clrMap bg1="lt1" bg2="lt2" tx1="dk1" tx2="dk2" accent1="accent1" accent2="accent2" accent3="accent3" accent4="accent4" accent5="accent5" accent6="accent6" hlink="hlink" folHlink="folHlink"/>
</p:notesMaster>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5" name="PlaceHolder 1"/>
          <p:cNvSpPr>
            <a:spLocks noGrp="1"/>
          </p:cNvSpPr>
          <p:nvPr>
            <p:ph type="sldImg"/>
          </p:nvPr>
        </p:nvSpPr>
        <p:spPr>
          <a:xfrm>
            <a:off x="1257480" y="692280"/>
            <a:ext cx="4483080" cy="3463920"/>
          </a:xfrm>
          <a:prstGeom prst="rect">
            <a:avLst/>
          </a:prstGeom>
          <a:ln w="0">
            <a:noFill/>
          </a:ln>
        </p:spPr>
      </p:sp>
      <p:sp>
        <p:nvSpPr>
          <p:cNvPr id="296" name="PlaceHolder 2"/>
          <p:cNvSpPr>
            <a:spLocks noGrp="1"/>
          </p:cNvSpPr>
          <p:nvPr>
            <p:ph type="body"/>
          </p:nvPr>
        </p:nvSpPr>
        <p:spPr>
          <a:xfrm>
            <a:off x="922320" y="4385880"/>
            <a:ext cx="5153040" cy="4156200"/>
          </a:xfrm>
          <a:prstGeom prst="rect">
            <a:avLst/>
          </a:prstGeom>
          <a:noFill/>
          <a:ln w="0">
            <a:noFill/>
          </a:ln>
        </p:spPr>
        <p:txBody>
          <a:bodyPr lIns="91800" rIns="91800" tIns="45000" bIns="4500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Times New Roman"/>
              </a:rPr>
              <a:t>Really want to use a secure website for COV information and NOT mail out a CD with a ton of stuff.  The website will have documents but also a lot of links to other sites (mainly BES website) where COV members can get useful information.</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Times New Roman"/>
              </a:rPr>
              <a:t>Feel that abstracts for current projects is just too much information.  And, we no longer maintain a readily accessible abstract database for BOTH lab and university projects.  So, I would like to drop this.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Times New Roman"/>
              </a:rPr>
              <a:t>After this, be sure to cut to example spreadsheet from 2005 COV.</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Times New Roman"/>
              </a:rPr>
              <a:t>Will add a complete (but not terribly user friendly) sheet of CSGB reviewers this time.</a:t>
            </a:r>
            <a:endParaRPr b="0" lang="en-IN" sz="1200" strike="noStrike" u="non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p:spTree>
      <p:nvGrpSpPr>
        <p:cNvPr id="1" name=""/>
        <p:cNvGrpSpPr/>
        <p:nvPr/>
      </p:nvGrpSpPr>
      <p:grpSpPr>
        <a:xfrm>
          <a:off x="0" y="0"/>
          <a:ext cx="0" cy="0"/>
          <a:chOff x="0" y="0"/>
          <a:chExt cx="0" cy="0"/>
        </a:xfrm>
      </p:grpSpPr>
      <p:sp>
        <p:nvSpPr>
          <p:cNvPr id="4" name="PlaceHolder 1"/>
          <p:cNvSpPr>
            <a:spLocks noGrp="1"/>
          </p:cNvSpPr>
          <p:nvPr>
            <p:ph type="title"/>
          </p:nvPr>
        </p:nvSpPr>
        <p:spPr>
          <a:xfrm>
            <a:off x="502920" y="309960"/>
            <a:ext cx="9052200" cy="1297440"/>
          </a:xfrm>
          <a:prstGeom prst="rect">
            <a:avLst/>
          </a:prstGeom>
          <a:noFill/>
          <a:ln w="0">
            <a:noFill/>
          </a:ln>
        </p:spPr>
        <p:txBody>
          <a:bodyPr lIns="0" rIns="0" tIns="0" bIns="0" anchor="ctr">
            <a:spAutoFit/>
          </a:bodyPr>
          <a:p>
            <a:pPr indent="0" algn="r">
              <a:buNone/>
              <a:tabLst>
                <a:tab algn="l" pos="0"/>
                <a:tab algn="l" pos="1006560"/>
                <a:tab algn="l" pos="2013120"/>
                <a:tab algn="l" pos="3019320"/>
                <a:tab algn="l" pos="4025880"/>
                <a:tab algn="l" pos="5032440"/>
                <a:tab algn="l" pos="6039000"/>
                <a:tab algn="l" pos="7045200"/>
                <a:tab algn="l" pos="8051760"/>
                <a:tab algn="l" pos="9058320"/>
                <a:tab algn="l" pos="10064880"/>
              </a:tabLst>
            </a:pPr>
            <a:endParaRPr b="0" lang="en-IN" sz="4400" strike="noStrike" u="none">
              <a:solidFill>
                <a:srgbClr val="0000ff"/>
              </a:solidFill>
              <a:effectLst/>
              <a:uFillTx/>
              <a:latin typeface="Arial"/>
            </a:endParaRPr>
          </a:p>
        </p:txBody>
      </p:sp>
      <p:sp>
        <p:nvSpPr>
          <p:cNvPr id="5" name="PlaceHolder 2"/>
          <p:cNvSpPr>
            <a:spLocks noGrp="1"/>
          </p:cNvSpPr>
          <p:nvPr>
            <p:ph/>
          </p:nvPr>
        </p:nvSpPr>
        <p:spPr>
          <a:xfrm>
            <a:off x="502920" y="1818720"/>
            <a:ext cx="9052200" cy="4507560"/>
          </a:xfrm>
          <a:prstGeom prst="rect">
            <a:avLst/>
          </a:prstGeom>
          <a:noFill/>
          <a:ln w="0">
            <a:noFill/>
          </a:ln>
        </p:spPr>
        <p:txBody>
          <a:bodyPr lIns="0" rIns="0" tIns="0" bIns="0" anchor="t">
            <a:normAutofit/>
          </a:bodyPr>
          <a:p>
            <a:pPr indent="0">
              <a:spcBef>
                <a:spcPts val="876"/>
              </a:spcBef>
              <a:buNone/>
              <a:tabLst>
                <a:tab algn="l" pos="1006560"/>
                <a:tab algn="l" pos="2013120"/>
                <a:tab algn="l" pos="3019320"/>
                <a:tab algn="l" pos="4025880"/>
                <a:tab algn="l" pos="5032440"/>
                <a:tab algn="l" pos="6039000"/>
                <a:tab algn="l" pos="7045200"/>
                <a:tab algn="l" pos="8051760"/>
                <a:tab algn="l" pos="9058320"/>
                <a:tab algn="l" pos="10064880"/>
              </a:tabLst>
            </a:pPr>
            <a:endParaRPr b="0" lang="en-IN" sz="3500" strike="noStrike" u="non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p:spTree>
      <p:nvGrpSpPr>
        <p:cNvPr id="1" name=""/>
        <p:cNvGrpSpPr/>
        <p:nvPr/>
      </p:nvGrpSpPr>
      <p:grpSpPr>
        <a:xfrm>
          <a:off x="0" y="0"/>
          <a:ext cx="0" cy="0"/>
          <a:chOff x="0" y="0"/>
          <a:chExt cx="0" cy="0"/>
        </a:xfrm>
      </p:grpSpPr>
      <p:sp>
        <p:nvSpPr>
          <p:cNvPr id="6" name="PlaceHolder 1"/>
          <p:cNvSpPr>
            <a:spLocks noGrp="1"/>
          </p:cNvSpPr>
          <p:nvPr>
            <p:ph type="title"/>
          </p:nvPr>
        </p:nvSpPr>
        <p:spPr>
          <a:xfrm>
            <a:off x="502920" y="309960"/>
            <a:ext cx="9052200" cy="1297440"/>
          </a:xfrm>
          <a:prstGeom prst="rect">
            <a:avLst/>
          </a:prstGeom>
          <a:noFill/>
          <a:ln w="0">
            <a:noFill/>
          </a:ln>
        </p:spPr>
        <p:txBody>
          <a:bodyPr lIns="0" rIns="0" tIns="0" bIns="0" anchor="ctr">
            <a:spAutoFit/>
          </a:bodyPr>
          <a:p>
            <a:pPr indent="0" algn="r">
              <a:buNone/>
              <a:tabLst>
                <a:tab algn="l" pos="0"/>
                <a:tab algn="l" pos="1006560"/>
                <a:tab algn="l" pos="2013120"/>
                <a:tab algn="l" pos="3019320"/>
                <a:tab algn="l" pos="4025880"/>
                <a:tab algn="l" pos="5032440"/>
                <a:tab algn="l" pos="6039000"/>
                <a:tab algn="l" pos="7045200"/>
                <a:tab algn="l" pos="8051760"/>
                <a:tab algn="l" pos="9058320"/>
                <a:tab algn="l" pos="10064880"/>
              </a:tabLst>
            </a:pPr>
            <a:endParaRPr b="0" lang="en-IN" sz="4400" strike="noStrike" u="none">
              <a:solidFill>
                <a:srgbClr val="0000ff"/>
              </a:solidFill>
              <a:effectLst/>
              <a:uFillTx/>
              <a:latin typeface="Arial"/>
            </a:endParaRPr>
          </a:p>
        </p:txBody>
      </p:sp>
      <p:sp>
        <p:nvSpPr>
          <p:cNvPr id="7" name="PlaceHolder 2"/>
          <p:cNvSpPr>
            <a:spLocks noGrp="1"/>
          </p:cNvSpPr>
          <p:nvPr>
            <p:ph/>
          </p:nvPr>
        </p:nvSpPr>
        <p:spPr>
          <a:xfrm>
            <a:off x="502920" y="1818720"/>
            <a:ext cx="9052200" cy="4507560"/>
          </a:xfrm>
          <a:prstGeom prst="rect">
            <a:avLst/>
          </a:prstGeom>
          <a:noFill/>
          <a:ln w="0">
            <a:noFill/>
          </a:ln>
        </p:spPr>
        <p:txBody>
          <a:bodyPr lIns="0" rIns="0" tIns="0" bIns="0" anchor="t">
            <a:normAutofit/>
          </a:bodyPr>
          <a:p>
            <a:pPr indent="0">
              <a:spcBef>
                <a:spcPts val="876"/>
              </a:spcBef>
              <a:buNone/>
              <a:tabLst>
                <a:tab algn="l" pos="1006560"/>
                <a:tab algn="l" pos="2013120"/>
                <a:tab algn="l" pos="3019320"/>
                <a:tab algn="l" pos="4025880"/>
                <a:tab algn="l" pos="5032440"/>
                <a:tab algn="l" pos="6039000"/>
                <a:tab algn="l" pos="7045200"/>
                <a:tab algn="l" pos="8051760"/>
                <a:tab algn="l" pos="9058320"/>
                <a:tab algn="l" pos="10064880"/>
              </a:tabLst>
            </a:pPr>
            <a:endParaRPr b="0" lang="en-IN" sz="3500" strike="noStrike" u="non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
          <p:cNvSpPr/>
          <p:nvPr/>
        </p:nvSpPr>
        <p:spPr>
          <a:xfrm>
            <a:off x="9527400" y="7502400"/>
            <a:ext cx="750600" cy="27684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F21128D3-6BC2-4D56-930D-528D92245D4C}" type="slidenum">
              <a:rPr b="0" lang="en-IN" sz="1200" strike="noStrike" u="none">
                <a:solidFill>
                  <a:srgbClr val="000000"/>
                </a:solidFill>
                <a:effectLst/>
                <a:uFillTx/>
                <a:latin typeface="Arial Narrow"/>
              </a:rPr>
              <a:t>&lt;number&gt;</a:t>
            </a:fld>
            <a:endParaRPr b="0" lang="en-IN" sz="1200" strike="noStrike" u="none">
              <a:solidFill>
                <a:srgbClr val="000000"/>
              </a:solidFill>
              <a:effectLst/>
              <a:uFillTx/>
              <a:latin typeface="Times New Roman"/>
            </a:endParaRPr>
          </a:p>
        </p:txBody>
      </p:sp>
      <p:sp>
        <p:nvSpPr>
          <p:cNvPr id="1" name=""/>
          <p:cNvSpPr/>
          <p:nvPr/>
        </p:nvSpPr>
        <p:spPr>
          <a:xfrm>
            <a:off x="-34920" y="774720"/>
            <a:ext cx="10134720" cy="36360"/>
          </a:xfrm>
          <a:prstGeom prst="rect">
            <a:avLst/>
          </a:prstGeom>
          <a:gradFill rotWithShape="0">
            <a:gsLst>
              <a:gs pos="0">
                <a:srgbClr val="a603ab"/>
              </a:gs>
              <a:gs pos="100000">
                <a:srgbClr val="a603ab"/>
              </a:gs>
            </a:gsLst>
            <a:lin ang="10800000"/>
          </a:gradFill>
          <a:ln w="6480">
            <a:solidFill>
              <a:srgbClr val="000000"/>
            </a:solidFill>
            <a:miter/>
          </a:ln>
        </p:spPr>
        <p:style>
          <a:lnRef idx="0"/>
          <a:fillRef idx="0"/>
          <a:effectRef idx="0"/>
          <a:fontRef idx="minor"/>
        </p:style>
        <p:txBody>
          <a:bodyPr lIns="106200" rIns="106200" tIns="-15840" bIns="-15840" anchor="t">
            <a:noAutofit/>
          </a:bodyPr>
          <a:p>
            <a:pPr algn="ctr">
              <a:lnSpc>
                <a:spcPct val="85000"/>
              </a:lnSpc>
              <a:tabLst>
                <a:tab algn="l" pos="0"/>
                <a:tab algn="l" pos="1074600"/>
                <a:tab algn="l" pos="2149560"/>
                <a:tab algn="l" pos="3224160"/>
                <a:tab algn="l" pos="4299120"/>
                <a:tab algn="l" pos="5373720"/>
                <a:tab algn="l" pos="6448320"/>
                <a:tab algn="l" pos="7523280"/>
                <a:tab algn="l" pos="8597880"/>
                <a:tab algn="l" pos="9672480"/>
                <a:tab algn="l" pos="10747440"/>
              </a:tabLst>
            </a:pPr>
            <a:endParaRPr b="0" lang="en-IN" sz="2400" strike="noStrike" u="none">
              <a:solidFill>
                <a:srgbClr val="000000"/>
              </a:solidFill>
              <a:effectLst/>
              <a:uFillTx/>
              <a:latin typeface="Times New Roman"/>
            </a:endParaRPr>
          </a:p>
        </p:txBody>
      </p:sp>
      <p:sp>
        <p:nvSpPr>
          <p:cNvPr id="2" name="PlaceHolder 1"/>
          <p:cNvSpPr>
            <a:spLocks noGrp="1"/>
          </p:cNvSpPr>
          <p:nvPr>
            <p:ph type="title"/>
          </p:nvPr>
        </p:nvSpPr>
        <p:spPr>
          <a:xfrm>
            <a:off x="502920" y="309960"/>
            <a:ext cx="9052200" cy="1297440"/>
          </a:xfrm>
          <a:prstGeom prst="rect">
            <a:avLst/>
          </a:prstGeom>
          <a:noFill/>
          <a:ln w="0">
            <a:noFill/>
          </a:ln>
        </p:spPr>
        <p:txBody>
          <a:bodyPr lIns="0" rIns="0" tIns="0" bIns="0" anchor="ctr">
            <a:noAutofit/>
          </a:bodyPr>
          <a:p>
            <a:pPr indent="0" algn="r">
              <a:buNone/>
              <a:tabLst>
                <a:tab algn="l" pos="0"/>
                <a:tab algn="l" pos="1006560"/>
                <a:tab algn="l" pos="2013120"/>
                <a:tab algn="l" pos="3019320"/>
                <a:tab algn="l" pos="4025880"/>
                <a:tab algn="l" pos="5032440"/>
                <a:tab algn="l" pos="6039000"/>
                <a:tab algn="l" pos="7045200"/>
                <a:tab algn="l" pos="8051760"/>
                <a:tab algn="l" pos="9058320"/>
                <a:tab algn="l" pos="10064880"/>
              </a:tabLst>
            </a:pPr>
            <a:r>
              <a:rPr b="0" lang="en-IN" sz="4400" strike="noStrike" u="none">
                <a:solidFill>
                  <a:srgbClr val="0000ff"/>
                </a:solidFill>
                <a:effectLst/>
                <a:uFillTx/>
                <a:latin typeface="Arial"/>
              </a:rPr>
              <a:t>Click to edit the title text format</a:t>
            </a:r>
            <a:endParaRPr b="0" lang="en-IN" sz="4400" strike="noStrike" u="none">
              <a:solidFill>
                <a:srgbClr val="0000ff"/>
              </a:solidFill>
              <a:effectLst/>
              <a:uFillTx/>
              <a:latin typeface="Arial"/>
            </a:endParaRPr>
          </a:p>
        </p:txBody>
      </p:sp>
      <p:sp>
        <p:nvSpPr>
          <p:cNvPr id="3" name="PlaceHolder 2"/>
          <p:cNvSpPr>
            <a:spLocks noGrp="1"/>
          </p:cNvSpPr>
          <p:nvPr>
            <p:ph type="body"/>
          </p:nvPr>
        </p:nvSpPr>
        <p:spPr>
          <a:xfrm>
            <a:off x="502920" y="1818720"/>
            <a:ext cx="9052200" cy="4507560"/>
          </a:xfrm>
          <a:prstGeom prst="rect">
            <a:avLst/>
          </a:prstGeom>
          <a:noFill/>
          <a:ln w="0">
            <a:noFill/>
          </a:ln>
        </p:spPr>
        <p:txBody>
          <a:bodyPr lIns="0" rIns="0" tIns="0" bIns="0" anchor="t">
            <a:normAutofit/>
          </a:bodyPr>
          <a:p>
            <a:pPr marL="378000" indent="-378000">
              <a:spcBef>
                <a:spcPts val="876"/>
              </a:spcBef>
              <a:buClr>
                <a:srgbClr val="0000ff"/>
              </a:buClr>
              <a:buSzPct val="75000"/>
              <a:buFont typeface="Monotype Sorts" charset="2"/>
              <a:buChar char=""/>
              <a:tabLst>
                <a:tab algn="l" pos="1006560"/>
                <a:tab algn="l" pos="2013120"/>
                <a:tab algn="l" pos="3019320"/>
                <a:tab algn="l" pos="4025880"/>
                <a:tab algn="l" pos="5032440"/>
                <a:tab algn="l" pos="6039000"/>
                <a:tab algn="l" pos="7045200"/>
                <a:tab algn="l" pos="8051760"/>
                <a:tab algn="l" pos="9058320"/>
                <a:tab algn="l" pos="10064880"/>
              </a:tabLst>
            </a:pPr>
            <a:r>
              <a:rPr b="0" lang="en-IN" sz="3500" strike="noStrike" u="none">
                <a:solidFill>
                  <a:srgbClr val="000000"/>
                </a:solidFill>
                <a:effectLst/>
                <a:uFillTx/>
                <a:latin typeface="Times New Roman"/>
              </a:rPr>
              <a:t>Click to edit the outline text format</a:t>
            </a:r>
            <a:endParaRPr b="0" lang="en-IN" sz="3500" strike="noStrike" u="none">
              <a:solidFill>
                <a:srgbClr val="000000"/>
              </a:solidFill>
              <a:effectLst/>
              <a:uFillTx/>
              <a:latin typeface="Times New Roman"/>
            </a:endParaRPr>
          </a:p>
          <a:p>
            <a:pPr lvl="1" marL="817560" indent="-314280">
              <a:spcBef>
                <a:spcPts val="774"/>
              </a:spcBef>
              <a:buClr>
                <a:srgbClr val="0000ff"/>
              </a:buClr>
              <a:buFont typeface="Times New Roman"/>
              <a:buChar char="–"/>
              <a:tabLst>
                <a:tab algn="l" pos="1006560"/>
                <a:tab algn="l" pos="2013120"/>
                <a:tab algn="l" pos="3019320"/>
                <a:tab algn="l" pos="4025880"/>
                <a:tab algn="l" pos="5032440"/>
                <a:tab algn="l" pos="6039000"/>
                <a:tab algn="l" pos="7045200"/>
                <a:tab algn="l" pos="8051760"/>
                <a:tab algn="l" pos="9058320"/>
                <a:tab algn="l" pos="10064880"/>
              </a:tabLst>
            </a:pPr>
            <a:r>
              <a:rPr b="0" lang="en-IN" sz="3100" strike="noStrike" u="none">
                <a:solidFill>
                  <a:srgbClr val="000000"/>
                </a:solidFill>
                <a:effectLst/>
                <a:uFillTx/>
                <a:latin typeface="Times New Roman"/>
              </a:rPr>
              <a:t>Second Outline Level</a:t>
            </a:r>
            <a:endParaRPr b="0" lang="en-IN" sz="3100" strike="noStrike" u="none">
              <a:solidFill>
                <a:srgbClr val="000000"/>
              </a:solidFill>
              <a:effectLst/>
              <a:uFillTx/>
              <a:latin typeface="Times New Roman"/>
            </a:endParaRPr>
          </a:p>
          <a:p>
            <a:pPr lvl="2" marL="1257480" indent="-250920">
              <a:spcBef>
                <a:spcPts val="649"/>
              </a:spcBef>
              <a:buClr>
                <a:srgbClr val="0000ff"/>
              </a:buClr>
              <a:buFont typeface="Times New Roman"/>
              <a:buChar char="»"/>
              <a:tabLst>
                <a:tab algn="l" pos="2013120"/>
                <a:tab algn="l" pos="3019320"/>
                <a:tab algn="l" pos="4025880"/>
                <a:tab algn="l" pos="5032440"/>
                <a:tab algn="l" pos="6039000"/>
                <a:tab algn="l" pos="7045200"/>
                <a:tab algn="l" pos="8051760"/>
                <a:tab algn="l" pos="9058320"/>
                <a:tab algn="l" pos="10064880"/>
              </a:tabLst>
            </a:pPr>
            <a:r>
              <a:rPr b="0" lang="en-IN" sz="2600" strike="noStrike" u="none">
                <a:solidFill>
                  <a:srgbClr val="000000"/>
                </a:solidFill>
                <a:effectLst/>
                <a:uFillTx/>
                <a:latin typeface="Times New Roman"/>
              </a:rPr>
              <a:t>Third Outline Level</a:t>
            </a:r>
            <a:endParaRPr b="0" lang="en-IN" sz="2600" strike="noStrike" u="none">
              <a:solidFill>
                <a:srgbClr val="000000"/>
              </a:solidFill>
              <a:effectLst/>
              <a:uFillTx/>
              <a:latin typeface="Times New Roman"/>
            </a:endParaRPr>
          </a:p>
          <a:p>
            <a:pPr lvl="3" marL="1760400" indent="-252360">
              <a:spcBef>
                <a:spcPts val="550"/>
              </a:spcBef>
              <a:buClr>
                <a:srgbClr val="0000ff"/>
              </a:buClr>
              <a:buFont typeface="Times New Roman"/>
              <a:buChar char="•"/>
              <a:tabLst>
                <a:tab algn="l" pos="2013120"/>
                <a:tab algn="l" pos="3019320"/>
                <a:tab algn="l" pos="4025880"/>
                <a:tab algn="l" pos="5032440"/>
                <a:tab algn="l" pos="6039000"/>
                <a:tab algn="l" pos="7045200"/>
                <a:tab algn="l" pos="8051760"/>
                <a:tab algn="l" pos="9058320"/>
                <a:tab algn="l" pos="10064880"/>
              </a:tabLst>
            </a:pPr>
            <a:r>
              <a:rPr b="0" lang="en-IN" sz="2200" strike="noStrike" u="none">
                <a:solidFill>
                  <a:srgbClr val="000000"/>
                </a:solidFill>
                <a:effectLst/>
                <a:uFillTx/>
                <a:latin typeface="Times New Roman"/>
              </a:rPr>
              <a:t>Fourth Outline Level</a:t>
            </a:r>
            <a:endParaRPr b="0" lang="en-IN" sz="2200" strike="noStrike" u="none">
              <a:solidFill>
                <a:srgbClr val="000000"/>
              </a:solidFill>
              <a:effectLst/>
              <a:uFillTx/>
              <a:latin typeface="Times New Roman"/>
            </a:endParaRPr>
          </a:p>
          <a:p>
            <a:pPr lvl="4" marL="2263680" indent="-252360">
              <a:spcBef>
                <a:spcPts val="550"/>
              </a:spcBef>
              <a:buClr>
                <a:srgbClr val="0000ff"/>
              </a:buClr>
              <a:buFont typeface="Times New Roman"/>
              <a:buChar char="–"/>
              <a:tabLst>
                <a:tab algn="l" pos="3019320"/>
                <a:tab algn="l" pos="4025880"/>
                <a:tab algn="l" pos="5032440"/>
                <a:tab algn="l" pos="6039000"/>
                <a:tab algn="l" pos="7045200"/>
                <a:tab algn="l" pos="8051760"/>
                <a:tab algn="l" pos="9058320"/>
                <a:tab algn="l" pos="10064880"/>
              </a:tabLst>
            </a:pPr>
            <a:r>
              <a:rPr b="0" lang="en-IN" sz="2200" strike="noStrike" u="none">
                <a:solidFill>
                  <a:srgbClr val="000000"/>
                </a:solidFill>
                <a:effectLst/>
                <a:uFillTx/>
                <a:latin typeface="Times New Roman"/>
              </a:rPr>
              <a:t>Fifth Outline Level</a:t>
            </a:r>
            <a:endParaRPr b="0" lang="en-IN" sz="2200" strike="noStrike" u="none">
              <a:solidFill>
                <a:srgbClr val="000000"/>
              </a:solidFill>
              <a:effectLst/>
              <a:uFillTx/>
              <a:latin typeface="Times New Roman"/>
            </a:endParaRPr>
          </a:p>
          <a:p>
            <a:pPr lvl="5" marL="2263680" indent="-252360">
              <a:spcBef>
                <a:spcPts val="550"/>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200" strike="noStrike" u="none">
                <a:solidFill>
                  <a:srgbClr val="000000"/>
                </a:solidFill>
                <a:effectLst/>
                <a:uFillTx/>
                <a:latin typeface="Times New Roman"/>
              </a:rPr>
              <a:t>Sixth Outline Level</a:t>
            </a:r>
            <a:endParaRPr b="0" lang="en-IN" sz="2200" strike="noStrike" u="none">
              <a:solidFill>
                <a:srgbClr val="000000"/>
              </a:solidFill>
              <a:effectLst/>
              <a:uFillTx/>
              <a:latin typeface="Times New Roman"/>
            </a:endParaRPr>
          </a:p>
          <a:p>
            <a:pPr lvl="6" marL="2263680" indent="-252360">
              <a:spcBef>
                <a:spcPts val="550"/>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200" strike="noStrike" u="none">
                <a:solidFill>
                  <a:srgbClr val="000000"/>
                </a:solidFill>
                <a:effectLst/>
                <a:uFillTx/>
                <a:latin typeface="Times New Roman"/>
              </a:rPr>
              <a:t>Seventh Outline Level</a:t>
            </a:r>
            <a:endParaRPr b="0" lang="en-IN" sz="22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Lst>
</p:sldMaster>
</file>

<file path=ppt/slides/_rels/slide1.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image" Target="../media/image4.jpeg"/><Relationship Id="rId3"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hyperlink" Target="http://www.sc.doe.gov/bes/bes.html" TargetMode="External"/><Relationship Id="rId3" Type="http://schemas.openxmlformats.org/officeDocument/2006/relationships/hyperlink" Target="http://www.sc.doe.gov/bes/bes.html" TargetMode="External"/><Relationship Id="rId4" Type="http://schemas.openxmlformats.org/officeDocument/2006/relationships/hyperlink" Target="http://www.sc.doe.gov/bes/BESjobs.html" TargetMode="External"/><Relationship Id="rId5" Type="http://schemas.openxmlformats.org/officeDocument/2006/relationships/hyperlink" Target="http://www.sc.doe.gov/bes/BESjobs.html" TargetMode="External"/><Relationship Id="rId6" Type="http://schemas.openxmlformats.org/officeDocument/2006/relationships/hyperlink" Target="http://jobsearch.usajobs.gov/ftva.asp?seeker=1&amp;JobID=68052643" TargetMode="External"/><Relationship Id="rId7" Type="http://schemas.openxmlformats.org/officeDocument/2006/relationships/hyperlink" Target="http://jobsearch.usajobs.gov/ftva.asp?seeker=1&amp;JobID=68052643" TargetMode="External"/><Relationship Id="rId8" Type="http://schemas.openxmlformats.org/officeDocument/2006/relationships/hyperlink" Target="http://jobsearch.usajobs.gov/ftva.asp?seeker=1&amp;JobID=68052643" TargetMode="External"/><Relationship Id="rId9" Type="http://schemas.openxmlformats.org/officeDocument/2006/relationships/slideLayout" Target="../slideLayouts/slideLayout3.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6.xml.rels><?xml version="1.0" encoding="UTF-8"?>
<Relationships xmlns="http://schemas.openxmlformats.org/package/2006/relationships"><Relationship Id="rId1" Type="http://schemas.openxmlformats.org/officeDocument/2006/relationships/package" Target="../embeddings/oleObject1.xlsx"/><Relationship Id="rId2" Type="http://schemas.openxmlformats.org/officeDocument/2006/relationships/image" Target="../media/image6.wmf"/><Relationship Id="rId3" Type="http://schemas.openxmlformats.org/officeDocument/2006/relationships/slideLayout" Target="../slideLayouts/slideLayout2.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bg>
      <p:bgPr>
        <a:solidFill>
          <a:srgbClr val="ffffff"/>
        </a:solidFill>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0" y="7402320"/>
            <a:ext cx="9051840" cy="338040"/>
          </a:xfrm>
          <a:prstGeom prst="rect">
            <a:avLst/>
          </a:prstGeom>
          <a:noFill/>
          <a:ln w="0">
            <a:noFill/>
          </a:ln>
        </p:spPr>
        <p:txBody>
          <a:bodyPr lIns="101520" rIns="101520" tIns="50760" bIns="50760" anchor="b">
            <a:noAutofit/>
          </a:bodyPr>
          <a:p>
            <a:pPr indent="0">
              <a:lnSpc>
                <a:spcPct val="100000"/>
              </a:lnSpc>
              <a:buNone/>
              <a:tabLst>
                <a:tab algn="l" pos="0"/>
                <a:tab algn="l" pos="1019160"/>
                <a:tab algn="l" pos="2038320"/>
                <a:tab algn="l" pos="3057480"/>
                <a:tab algn="l" pos="4076640"/>
                <a:tab algn="l" pos="5095800"/>
                <a:tab algn="l" pos="6114960"/>
                <a:tab algn="l" pos="7134120"/>
                <a:tab algn="l" pos="8153280"/>
                <a:tab algn="l" pos="9172440"/>
                <a:tab algn="l" pos="10191600"/>
              </a:tabLst>
            </a:pPr>
            <a:r>
              <a:rPr b="1" i="1" lang="en-IN" sz="1200" strike="noStrike" u="none">
                <a:solidFill>
                  <a:srgbClr val="ff0000"/>
                </a:solidFill>
                <a:effectLst/>
                <a:uFillTx/>
                <a:latin typeface="Arial Narrow"/>
              </a:rPr>
              <a:t>BASIC ENERGY SCIENCES -- </a:t>
            </a:r>
            <a:r>
              <a:rPr b="1" i="1" lang="en-IN" sz="900" strike="noStrike" u="none">
                <a:solidFill>
                  <a:srgbClr val="ff0000"/>
                </a:solidFill>
                <a:effectLst/>
                <a:uFillTx/>
                <a:latin typeface="Arial Narrow"/>
              </a:rPr>
              <a:t>Serving the Present, Shaping the Future</a:t>
            </a:r>
            <a:endParaRPr b="0" lang="en-IN" sz="900" strike="noStrike" u="none">
              <a:solidFill>
                <a:srgbClr val="0000ff"/>
              </a:solidFill>
              <a:effectLst/>
              <a:uFillTx/>
              <a:latin typeface="Arial"/>
            </a:endParaRPr>
          </a:p>
        </p:txBody>
      </p:sp>
      <p:sp>
        <p:nvSpPr>
          <p:cNvPr id="12" name=""/>
          <p:cNvSpPr/>
          <p:nvPr/>
        </p:nvSpPr>
        <p:spPr>
          <a:xfrm>
            <a:off x="1380960" y="4348080"/>
            <a:ext cx="7178760" cy="2284200"/>
          </a:xfrm>
          <a:prstGeom prst="rect">
            <a:avLst/>
          </a:prstGeom>
          <a:noFill/>
          <a:ln w="0">
            <a:noFill/>
          </a:ln>
        </p:spPr>
        <p:style>
          <a:lnRef idx="0"/>
          <a:fillRef idx="0"/>
          <a:effectRef idx="0"/>
          <a:fontRef idx="minor"/>
        </p:style>
        <p:txBody>
          <a:bodyPr lIns="90360" rIns="90360" tIns="44280" bIns="4428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IN" sz="2400" strike="noStrike" u="none">
                <a:solidFill>
                  <a:srgbClr val="ff0000"/>
                </a:solidFill>
                <a:effectLst/>
                <a:uFillTx/>
                <a:latin typeface="Arial Narrow"/>
              </a:rPr>
              <a:t>Eric A. Rohlfing</a:t>
            </a:r>
            <a:endParaRPr b="0" lang="en-IN" sz="2400" strike="noStrike" u="none">
              <a:solidFill>
                <a:srgbClr val="0000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IN" sz="2000" strike="noStrike" u="none">
                <a:solidFill>
                  <a:srgbClr val="ff0000"/>
                </a:solidFill>
                <a:effectLst/>
                <a:uFillTx/>
                <a:latin typeface="Arial Narrow"/>
              </a:rPr>
              <a:t>Director, Chemical Sciences, Geosciences, &amp; Biosciences Division</a:t>
            </a:r>
            <a:endParaRPr b="0" lang="en-IN" sz="2000" strike="noStrike" u="none">
              <a:solidFill>
                <a:srgbClr val="0000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IN" sz="2000" strike="noStrike" u="none">
                <a:solidFill>
                  <a:srgbClr val="ff0000"/>
                </a:solidFill>
                <a:effectLst/>
                <a:uFillTx/>
                <a:latin typeface="Arial Narrow"/>
              </a:rPr>
              <a:t>Office of Basic Energy Sciences</a:t>
            </a:r>
            <a:endParaRPr b="0" lang="en-IN" sz="2000" strike="noStrike" u="none">
              <a:solidFill>
                <a:srgbClr val="0000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IN" sz="2000" strike="noStrike" u="none">
                <a:solidFill>
                  <a:srgbClr val="ff0000"/>
                </a:solidFill>
                <a:effectLst/>
                <a:uFillTx/>
                <a:latin typeface="Arial Narrow"/>
              </a:rPr>
              <a:t>Office of Science</a:t>
            </a:r>
            <a:endParaRPr b="0" lang="en-IN" sz="2000" strike="noStrike" u="none">
              <a:solidFill>
                <a:srgbClr val="0000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IN" sz="2000" strike="noStrike" u="none">
                <a:solidFill>
                  <a:srgbClr val="ff0000"/>
                </a:solidFill>
                <a:effectLst/>
                <a:uFillTx/>
                <a:latin typeface="Arial Narrow"/>
              </a:rPr>
              <a:t>U.S. Department of Energy</a:t>
            </a:r>
            <a:endParaRPr b="0" lang="en-IN" sz="2000" strike="noStrike" u="none">
              <a:solidFill>
                <a:srgbClr val="0000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000" strike="noStrike" u="none">
              <a:solidFill>
                <a:srgbClr val="0000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IN" sz="2000" strike="noStrike" u="none">
                <a:solidFill>
                  <a:srgbClr val="ff0000"/>
                </a:solidFill>
                <a:effectLst/>
                <a:uFillTx/>
                <a:latin typeface="Arial Narrow"/>
              </a:rPr>
              <a:t>BESAC Meeting, February 21, 2008</a:t>
            </a:r>
            <a:endParaRPr b="0" lang="en-IN" sz="2000" strike="noStrike" u="none">
              <a:solidFill>
                <a:srgbClr val="000000"/>
              </a:solidFill>
              <a:effectLst/>
              <a:uFillTx/>
              <a:latin typeface="Times New Roman"/>
            </a:endParaRPr>
          </a:p>
        </p:txBody>
      </p:sp>
      <p:sp>
        <p:nvSpPr>
          <p:cNvPr id="13" name=""/>
          <p:cNvSpPr/>
          <p:nvPr/>
        </p:nvSpPr>
        <p:spPr>
          <a:xfrm>
            <a:off x="765000" y="1814400"/>
            <a:ext cx="8394840" cy="2084760"/>
          </a:xfrm>
          <a:prstGeom prst="rect">
            <a:avLst/>
          </a:prstGeom>
          <a:noFill/>
          <a:ln w="0">
            <a:noFill/>
          </a:ln>
        </p:spPr>
        <p:style>
          <a:lnRef idx="0"/>
          <a:fillRef idx="0"/>
          <a:effectRef idx="0"/>
          <a:fontRef idx="minor"/>
        </p:style>
        <p:txBody>
          <a:bodyPr lIns="182880" rIns="182880" tIns="137160" bIns="137160" anchor="t">
            <a:spAutoFit/>
          </a:bodyPr>
          <a:p>
            <a:pPr marL="230040" indent="-23004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IN" sz="3600" strike="noStrike" u="none">
                <a:solidFill>
                  <a:srgbClr val="0000ff"/>
                </a:solidFill>
                <a:effectLst/>
                <a:uFillTx/>
                <a:latin typeface="Arial Narrow"/>
              </a:rPr>
              <a:t>Update on the Upcoming COV of the BES</a:t>
            </a:r>
            <a:endParaRPr b="0" lang="en-IN" sz="3600" strike="noStrike" u="none">
              <a:solidFill>
                <a:srgbClr val="000000"/>
              </a:solidFill>
              <a:effectLst/>
              <a:uFillTx/>
              <a:latin typeface="Times New Roman"/>
            </a:endParaRPr>
          </a:p>
          <a:p>
            <a:pPr marL="230040" indent="-23004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IN" sz="3600" strike="noStrike" u="none">
                <a:solidFill>
                  <a:srgbClr val="0000ff"/>
                </a:solidFill>
                <a:effectLst/>
                <a:uFillTx/>
                <a:latin typeface="Arial Narrow"/>
              </a:rPr>
              <a:t> Chemical Sciences, Geosciences, &amp; Biosciences Division </a:t>
            </a:r>
            <a:endParaRPr b="0" lang="en-IN" sz="3600" strike="noStrike" u="none">
              <a:solidFill>
                <a:srgbClr val="000000"/>
              </a:solidFill>
              <a:effectLst/>
              <a:uFillTx/>
              <a:latin typeface="Times New Roman"/>
            </a:endParaRPr>
          </a:p>
        </p:txBody>
      </p:sp>
      <p:sp>
        <p:nvSpPr>
          <p:cNvPr id="14" name=""/>
          <p:cNvSpPr/>
          <p:nvPr/>
        </p:nvSpPr>
        <p:spPr>
          <a:xfrm>
            <a:off x="-34920" y="936720"/>
            <a:ext cx="10134720" cy="46080"/>
          </a:xfrm>
          <a:prstGeom prst="rect">
            <a:avLst/>
          </a:prstGeom>
          <a:gradFill rotWithShape="0">
            <a:gsLst>
              <a:gs pos="0">
                <a:srgbClr val="a603ab"/>
              </a:gs>
              <a:gs pos="100000">
                <a:srgbClr val="a603ab"/>
              </a:gs>
            </a:gsLst>
            <a:lin ang="10800000"/>
          </a:gradFill>
          <a:ln w="6480">
            <a:solidFill>
              <a:srgbClr val="000000"/>
            </a:solidFill>
            <a:miter/>
          </a:ln>
        </p:spPr>
        <p:style>
          <a:lnRef idx="0"/>
          <a:fillRef idx="0"/>
          <a:effectRef idx="0"/>
          <a:fontRef idx="minor"/>
        </p:style>
        <p:txBody>
          <a:bodyPr lIns="106200" rIns="106200" tIns="-6120" bIns="-6120" anchor="t">
            <a:noAutofit/>
          </a:bodyPr>
          <a:p>
            <a:pPr algn="ctr">
              <a:lnSpc>
                <a:spcPct val="85000"/>
              </a:lnSpc>
              <a:tabLst>
                <a:tab algn="l" pos="0"/>
                <a:tab algn="l" pos="1074600"/>
                <a:tab algn="l" pos="2149560"/>
                <a:tab algn="l" pos="3224160"/>
                <a:tab algn="l" pos="4299120"/>
                <a:tab algn="l" pos="5373720"/>
                <a:tab algn="l" pos="6448320"/>
                <a:tab algn="l" pos="7523280"/>
                <a:tab algn="l" pos="8597880"/>
                <a:tab algn="l" pos="9672480"/>
                <a:tab algn="l" pos="10747440"/>
              </a:tabLst>
            </a:pPr>
            <a:endParaRPr b="0" lang="en-IN" sz="2400" strike="noStrike" u="none">
              <a:solidFill>
                <a:srgbClr val="000000"/>
              </a:solidFill>
              <a:effectLst/>
              <a:uFillTx/>
              <a:latin typeface="Times New Roman"/>
            </a:endParaRPr>
          </a:p>
        </p:txBody>
      </p:sp>
      <p:sp>
        <p:nvSpPr>
          <p:cNvPr id="15" name=""/>
          <p:cNvSpPr/>
          <p:nvPr/>
        </p:nvSpPr>
        <p:spPr>
          <a:xfrm>
            <a:off x="0" y="7289640"/>
            <a:ext cx="10134720" cy="46080"/>
          </a:xfrm>
          <a:prstGeom prst="rect">
            <a:avLst/>
          </a:prstGeom>
          <a:gradFill rotWithShape="0">
            <a:gsLst>
              <a:gs pos="0">
                <a:srgbClr val="a603ab"/>
              </a:gs>
              <a:gs pos="100000">
                <a:srgbClr val="a603ab"/>
              </a:gs>
            </a:gsLst>
            <a:lin ang="10800000"/>
          </a:gradFill>
          <a:ln w="6480">
            <a:solidFill>
              <a:srgbClr val="000000"/>
            </a:solidFill>
            <a:miter/>
          </a:ln>
        </p:spPr>
        <p:style>
          <a:lnRef idx="0"/>
          <a:fillRef idx="0"/>
          <a:effectRef idx="0"/>
          <a:fontRef idx="minor"/>
        </p:style>
        <p:txBody>
          <a:bodyPr lIns="106200" rIns="106200" tIns="-6120" bIns="-6120" anchor="t">
            <a:noAutofit/>
          </a:bodyPr>
          <a:p>
            <a:pPr algn="ctr">
              <a:lnSpc>
                <a:spcPct val="85000"/>
              </a:lnSpc>
              <a:tabLst>
                <a:tab algn="l" pos="0"/>
                <a:tab algn="l" pos="1074600"/>
                <a:tab algn="l" pos="2149560"/>
                <a:tab algn="l" pos="3224160"/>
                <a:tab algn="l" pos="4299120"/>
                <a:tab algn="l" pos="5373720"/>
                <a:tab algn="l" pos="6448320"/>
                <a:tab algn="l" pos="7523280"/>
                <a:tab algn="l" pos="8597880"/>
                <a:tab algn="l" pos="9672480"/>
                <a:tab algn="l" pos="10747440"/>
              </a:tabLst>
            </a:pPr>
            <a:endParaRPr b="0" lang="en-IN" sz="2400" strike="noStrike" u="none">
              <a:solidFill>
                <a:srgbClr val="000000"/>
              </a:solidFill>
              <a:effectLst/>
              <a:uFillTx/>
              <a:latin typeface="Times New Roman"/>
            </a:endParaRPr>
          </a:p>
        </p:txBody>
      </p:sp>
      <p:grpSp>
        <p:nvGrpSpPr>
          <p:cNvPr id="16" name=""/>
          <p:cNvGrpSpPr/>
          <p:nvPr/>
        </p:nvGrpSpPr>
        <p:grpSpPr>
          <a:xfrm>
            <a:off x="71280" y="30240"/>
            <a:ext cx="1247400" cy="1131480"/>
            <a:chOff x="71280" y="30240"/>
            <a:chExt cx="1247400" cy="1131480"/>
          </a:xfrm>
        </p:grpSpPr>
        <p:graphicFrame>
          <p:nvGraphicFramePr>
            <p:cNvPr id="17" name=""/>
            <p:cNvGraphicFramePr/>
            <p:nvPr/>
          </p:nvGraphicFramePr>
          <p:xfrm>
            <a:off x="71280" y="30240"/>
            <a:ext cx="1247400" cy="1131480"/>
          </p:xfrm>
          <a:graphic>
            <a:graphicData uri="http://schemas.openxmlformats.org/presentationml/2006/ole">
              <p:oleObj r:id="rId1" spid="">
                <p:embed/>
                <p:pic>
                  <p:nvPicPr>
                    <p:cNvPr id="18" name="" descr=""/>
                    <p:cNvPicPr/>
                    <p:nvPr/>
                  </p:nvPicPr>
                  <p:blipFill>
                    <a:blip r:embed="rId2"/>
                    <a:stretch/>
                  </p:blipFill>
                  <p:spPr>
                    <a:xfrm>
                      <a:off x="71280" y="30240"/>
                      <a:ext cx="1247400" cy="1131480"/>
                    </a:xfrm>
                    <a:prstGeom prst="rect">
                      <a:avLst/>
                    </a:prstGeom>
                    <a:noFill/>
                    <a:ln w="0">
                      <a:noFill/>
                    </a:ln>
                  </p:spPr>
                </p:pic>
              </p:oleObj>
            </a:graphicData>
          </a:graphic>
        </p:graphicFrame>
        <p:sp>
          <p:nvSpPr>
            <p:cNvPr id="19" name=""/>
            <p:cNvSpPr/>
            <p:nvPr/>
          </p:nvSpPr>
          <p:spPr>
            <a:xfrm>
              <a:off x="131400" y="55080"/>
              <a:ext cx="1058040" cy="1049760"/>
            </a:xfrm>
            <a:prstGeom prst="ellipse">
              <a:avLst/>
            </a:prstGeom>
            <a:noFill/>
            <a:ln w="19080">
              <a:solidFill>
                <a:srgbClr val="ffcc00"/>
              </a:solidFill>
              <a:miter/>
            </a:ln>
          </p:spPr>
          <p:style>
            <a:lnRef idx="0"/>
            <a:fillRef idx="0"/>
            <a:effectRef idx="0"/>
            <a:fontRef idx="minor"/>
          </p:style>
          <p:txBody>
            <a:bodyPr wrap="none" lIns="90000" rIns="90000" tIns="46800" bIns="46800" anchor="ctr">
              <a:noAutofit/>
            </a:bodyPr>
            <a:p>
              <a:endParaRPr b="0" lang="en-IN" sz="2400" strike="noStrike" u="none">
                <a:solidFill>
                  <a:srgbClr val="000000"/>
                </a:solidFill>
                <a:effectLst/>
                <a:uFillTx/>
                <a:latin typeface="Times New Roman"/>
              </a:endParaRPr>
            </a:p>
          </p:txBody>
        </p:sp>
      </p:grpSp>
      <p:sp>
        <p:nvSpPr>
          <p:cNvPr id="20" name=""/>
          <p:cNvSpPr/>
          <p:nvPr/>
        </p:nvSpPr>
        <p:spPr>
          <a:xfrm>
            <a:off x="1325520" y="-7920"/>
            <a:ext cx="3333960" cy="887400"/>
          </a:xfrm>
          <a:prstGeom prst="rect">
            <a:avLst/>
          </a:prstGeom>
          <a:noFill/>
          <a:ln w="0">
            <a:noFill/>
          </a:ln>
        </p:spPr>
        <p:style>
          <a:lnRef idx="0"/>
          <a:fillRef idx="0"/>
          <a:effectRef idx="0"/>
          <a:fontRef idx="minor"/>
        </p:style>
        <p:txBody>
          <a:bodyPr lIns="101520" rIns="101520" tIns="50760" bIns="50760" anchor="b">
            <a:noAutofit/>
          </a:bodyPr>
          <a:p>
            <a:pPr>
              <a:lnSpc>
                <a:spcPct val="85000"/>
              </a:lnSpc>
              <a:tabLst>
                <a:tab algn="l" pos="0"/>
                <a:tab algn="l" pos="1019160"/>
                <a:tab algn="l" pos="2038320"/>
                <a:tab algn="l" pos="3057480"/>
                <a:tab algn="l" pos="4076640"/>
                <a:tab algn="l" pos="5095800"/>
                <a:tab algn="l" pos="6114960"/>
                <a:tab algn="l" pos="7134120"/>
                <a:tab algn="l" pos="8153280"/>
                <a:tab algn="l" pos="9172440"/>
                <a:tab algn="l" pos="10191600"/>
              </a:tabLst>
            </a:pPr>
            <a:r>
              <a:rPr b="1" i="1" lang="en-IN" sz="1400" strike="noStrike" u="none">
                <a:solidFill>
                  <a:srgbClr val="ff0000"/>
                </a:solidFill>
                <a:effectLst/>
                <a:uFillTx/>
                <a:latin typeface="Arial Narrow"/>
              </a:rPr>
              <a:t>Office of Basic Energy Sciences</a:t>
            </a:r>
            <a:br>
              <a:rPr sz="1400"/>
            </a:br>
            <a:r>
              <a:rPr b="1" i="1" lang="en-IN" sz="1400" strike="noStrike" u="none">
                <a:solidFill>
                  <a:srgbClr val="ff0000"/>
                </a:solidFill>
                <a:effectLst/>
                <a:uFillTx/>
                <a:latin typeface="Arial Narrow"/>
              </a:rPr>
              <a:t>Office of Science</a:t>
            </a:r>
            <a:br>
              <a:rPr sz="1400"/>
            </a:br>
            <a:r>
              <a:rPr b="1" i="1" lang="en-IN" sz="1400" strike="noStrike" u="none">
                <a:solidFill>
                  <a:srgbClr val="ff0000"/>
                </a:solidFill>
                <a:effectLst/>
                <a:uFillTx/>
                <a:latin typeface="Arial Narrow"/>
              </a:rPr>
              <a:t>U.S. Department of Energy</a:t>
            </a:r>
            <a:endParaRPr b="0" lang="en-IN" sz="1400" strike="noStrike" u="none">
              <a:solidFill>
                <a:srgbClr val="000000"/>
              </a:solidFill>
              <a:effectLst/>
              <a:uFillTx/>
              <a:latin typeface="Times New Roman"/>
            </a:endParaRPr>
          </a:p>
        </p:txBody>
      </p:sp>
      <p:sp>
        <p:nvSpPr>
          <p:cNvPr id="21" name=""/>
          <p:cNvSpPr/>
          <p:nvPr/>
        </p:nvSpPr>
        <p:spPr>
          <a:xfrm>
            <a:off x="7942320" y="7419960"/>
            <a:ext cx="2468520" cy="3074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US" sz="1400" strike="noStrike" u="none">
                <a:solidFill>
                  <a:srgbClr val="ff0000"/>
                </a:solidFill>
                <a:effectLst/>
                <a:uFillTx/>
                <a:latin typeface="Arial Narrow"/>
              </a:rPr>
              <a:t>http://www.sc.doe.gov/bes/</a:t>
            </a:r>
            <a:endParaRPr b="0" lang="en-IN" sz="1400" strike="noStrike" u="none">
              <a:solidFill>
                <a:srgbClr val="000000"/>
              </a:solidFill>
              <a:effectLst/>
              <a:uFillTx/>
              <a:latin typeface="Times New Roman"/>
            </a:endParaRPr>
          </a:p>
        </p:txBody>
      </p:sp>
      <p:pic>
        <p:nvPicPr>
          <p:cNvPr id="22" name="" descr=""/>
          <p:cNvPicPr/>
          <p:nvPr/>
        </p:nvPicPr>
        <p:blipFill>
          <a:blip r:embed="rId3"/>
          <a:srcRect l="0" t="0" r="18604" b="0"/>
          <a:stretch/>
        </p:blipFill>
        <p:spPr>
          <a:xfrm>
            <a:off x="7346880" y="174600"/>
            <a:ext cx="2611440" cy="614520"/>
          </a:xfrm>
          <a:prstGeom prst="rect">
            <a:avLst/>
          </a:prstGeom>
          <a:noFill/>
          <a:ln w="0">
            <a:noFill/>
          </a:ln>
        </p:spPr>
      </p:pic>
    </p:spTree>
  </p:cSld>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3" name=""/>
          <p:cNvSpPr/>
          <p:nvPr/>
        </p:nvSpPr>
        <p:spPr>
          <a:xfrm>
            <a:off x="4062240" y="138240"/>
            <a:ext cx="1330920" cy="576720"/>
          </a:xfrm>
          <a:prstGeom prst="rect">
            <a:avLst/>
          </a:prstGeom>
          <a:noFill/>
          <a:ln w="0">
            <a:noFill/>
          </a:ln>
        </p:spPr>
        <p:style>
          <a:lnRef idx="0"/>
          <a:fillRef idx="0"/>
          <a:effectRef idx="0"/>
          <a:fontRef idx="minor"/>
        </p:style>
        <p:txBody>
          <a:bodyPr wrap="none" lIns="90360" rIns="90360" tIns="44280" bIns="4428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IN" sz="3200" strike="noStrike" u="none">
                <a:solidFill>
                  <a:srgbClr val="ff0000"/>
                </a:solidFill>
                <a:effectLst/>
                <a:uFillTx/>
                <a:latin typeface="Arial Narrow"/>
              </a:rPr>
              <a:t>Outline</a:t>
            </a:r>
            <a:endParaRPr b="0" lang="en-IN" sz="3200" strike="noStrike" u="none">
              <a:solidFill>
                <a:srgbClr val="000000"/>
              </a:solidFill>
              <a:effectLst/>
              <a:uFillTx/>
              <a:latin typeface="Times New Roman"/>
            </a:endParaRPr>
          </a:p>
        </p:txBody>
      </p:sp>
      <p:sp>
        <p:nvSpPr>
          <p:cNvPr id="24" name=""/>
          <p:cNvSpPr/>
          <p:nvPr/>
        </p:nvSpPr>
        <p:spPr>
          <a:xfrm>
            <a:off x="1220760" y="5302080"/>
            <a:ext cx="7809120" cy="1999080"/>
          </a:xfrm>
          <a:prstGeom prst="rect">
            <a:avLst/>
          </a:prstGeom>
          <a:solidFill>
            <a:srgbClr val="ffff99"/>
          </a:solidFill>
          <a:ln w="0">
            <a:noFill/>
          </a:ln>
        </p:spPr>
        <p:style>
          <a:lnRef idx="0"/>
          <a:fillRef idx="0"/>
          <a:effectRef idx="0"/>
          <a:fontRef idx="minor"/>
        </p:style>
        <p:txBody>
          <a:bodyPr lIns="90360" rIns="90360" tIns="44280" bIns="44280" anchor="t">
            <a:spAutoFit/>
          </a:bodyPr>
          <a:p>
            <a:pPr marL="263520" indent="-249120" algn="ctr">
              <a:lnSpc>
                <a:spcPct val="100000"/>
              </a:lnSpc>
              <a:spcBef>
                <a:spcPts val="6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IN" sz="2400" strike="noStrike" u="none">
                <a:solidFill>
                  <a:srgbClr val="0000ff"/>
                </a:solidFill>
                <a:effectLst/>
                <a:uFillTx/>
                <a:latin typeface="Arial Narrow"/>
              </a:rPr>
              <a:t>2008 Committee of Visitors Review of the BES Chemical Sciences, Geosciences, and Biosciences Division</a:t>
            </a:r>
            <a:endParaRPr b="0" lang="en-IN" sz="2400" strike="noStrike" u="none">
              <a:solidFill>
                <a:srgbClr val="000000"/>
              </a:solidFill>
              <a:effectLst/>
              <a:uFillTx/>
              <a:latin typeface="Times New Roman"/>
            </a:endParaRPr>
          </a:p>
          <a:p>
            <a:pPr marL="263520" indent="-249120"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IN" sz="2000" strike="noStrike" u="none">
                <a:solidFill>
                  <a:srgbClr val="0000ff"/>
                </a:solidFill>
                <a:effectLst/>
                <a:uFillTx/>
                <a:latin typeface="Arial Narrow"/>
              </a:rPr>
              <a:t>April 23-25, 2008</a:t>
            </a:r>
            <a:endParaRPr b="0" lang="en-IN" sz="2000" strike="noStrike" u="none">
              <a:solidFill>
                <a:srgbClr val="000000"/>
              </a:solidFill>
              <a:effectLst/>
              <a:uFillTx/>
              <a:latin typeface="Times New Roman"/>
            </a:endParaRPr>
          </a:p>
          <a:p>
            <a:pPr marL="263520" indent="-249120"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IN" sz="2000" strike="noStrike" u="none">
                <a:solidFill>
                  <a:srgbClr val="0000ff"/>
                </a:solidFill>
                <a:effectLst/>
                <a:uFillTx/>
                <a:latin typeface="Arial Narrow"/>
              </a:rPr>
              <a:t>DOE Germantown, MD</a:t>
            </a:r>
            <a:endParaRPr b="0" lang="en-IN" sz="2000" strike="noStrike" u="none">
              <a:solidFill>
                <a:srgbClr val="000000"/>
              </a:solidFill>
              <a:effectLst/>
              <a:uFillTx/>
              <a:latin typeface="Times New Roman"/>
            </a:endParaRPr>
          </a:p>
          <a:p>
            <a:pPr marL="263520" indent="-249120" algn="ctr">
              <a:lnSpc>
                <a:spcPct val="100000"/>
              </a:lnSpc>
              <a:spcBef>
                <a:spcPts val="6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IN" sz="2400" strike="noStrike" u="none">
                <a:solidFill>
                  <a:srgbClr val="ff0000"/>
                </a:solidFill>
                <a:effectLst/>
                <a:uFillTx/>
                <a:latin typeface="Arial Narrow"/>
              </a:rPr>
              <a:t>All BESAC members are welcome!</a:t>
            </a:r>
            <a:endParaRPr b="0" lang="en-IN" sz="2400" strike="noStrike" u="none">
              <a:solidFill>
                <a:srgbClr val="000000"/>
              </a:solidFill>
              <a:effectLst/>
              <a:uFillTx/>
              <a:latin typeface="Times New Roman"/>
            </a:endParaRPr>
          </a:p>
        </p:txBody>
      </p:sp>
      <p:sp>
        <p:nvSpPr>
          <p:cNvPr id="25" name=""/>
          <p:cNvSpPr/>
          <p:nvPr/>
        </p:nvSpPr>
        <p:spPr>
          <a:xfrm>
            <a:off x="534960" y="1225440"/>
            <a:ext cx="9523440" cy="3622320"/>
          </a:xfrm>
          <a:prstGeom prst="rect">
            <a:avLst/>
          </a:prstGeom>
          <a:noFill/>
          <a:ln w="0">
            <a:noFill/>
          </a:ln>
        </p:spPr>
        <p:style>
          <a:lnRef idx="0"/>
          <a:fillRef idx="0"/>
          <a:effectRef idx="0"/>
          <a:fontRef idx="minor"/>
        </p:style>
        <p:txBody>
          <a:bodyPr lIns="90360" rIns="90360" tIns="44280" bIns="44280" anchor="t">
            <a:spAutoFit/>
          </a:bodyPr>
          <a:p>
            <a:pPr marL="263520" indent="-249120">
              <a:lnSpc>
                <a:spcPct val="100000"/>
              </a:lnSpc>
              <a:spcBef>
                <a:spcPts val="601"/>
              </a:spcBef>
              <a:buClr>
                <a:srgbClr val="0000ff"/>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0000ff"/>
                </a:solidFill>
                <a:effectLst/>
                <a:uFillTx/>
                <a:latin typeface="Arial Narrow"/>
              </a:rPr>
              <a:t>2008 COV (FY2005-2007)</a:t>
            </a:r>
            <a:endParaRPr b="0" lang="en-IN" sz="2400" strike="noStrike" u="none">
              <a:solidFill>
                <a:srgbClr val="000000"/>
              </a:solidFill>
              <a:effectLst/>
              <a:uFillTx/>
              <a:latin typeface="Times New Roman"/>
            </a:endParaRPr>
          </a:p>
          <a:p>
            <a:pPr lvl="1" marL="668160" indent="-207720">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000000"/>
                </a:solidFill>
                <a:effectLst/>
                <a:uFillTx/>
                <a:latin typeface="Arial Narrow"/>
              </a:rPr>
              <a:t>Charge </a:t>
            </a:r>
            <a:endParaRPr b="0" lang="en-IN" sz="2000" strike="noStrike" u="none">
              <a:solidFill>
                <a:srgbClr val="000000"/>
              </a:solidFill>
              <a:effectLst/>
              <a:uFillTx/>
              <a:latin typeface="Times New Roman"/>
            </a:endParaRPr>
          </a:p>
          <a:p>
            <a:pPr lvl="1" marL="668160" indent="-207720">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000000"/>
                </a:solidFill>
                <a:effectLst/>
                <a:uFillTx/>
                <a:latin typeface="Arial Narrow"/>
              </a:rPr>
              <a:t>Organization and membership</a:t>
            </a:r>
            <a:endParaRPr b="0" lang="en-IN" sz="2000" strike="noStrike" u="none">
              <a:solidFill>
                <a:srgbClr val="000000"/>
              </a:solidFill>
              <a:effectLst/>
              <a:uFillTx/>
              <a:latin typeface="Times New Roman"/>
            </a:endParaRPr>
          </a:p>
          <a:p>
            <a:pPr marL="263520" indent="-249120">
              <a:lnSpc>
                <a:spcPct val="100000"/>
              </a:lnSpc>
              <a:spcBef>
                <a:spcPts val="601"/>
              </a:spcBef>
              <a:buClr>
                <a:srgbClr val="0000ff"/>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0000ff"/>
                </a:solidFill>
                <a:effectLst/>
                <a:uFillTx/>
                <a:latin typeface="Arial Narrow"/>
              </a:rPr>
              <a:t>2005 COV (FY2002-2004)</a:t>
            </a:r>
            <a:endParaRPr b="0" lang="en-IN" sz="2400" strike="noStrike" u="none">
              <a:solidFill>
                <a:srgbClr val="000000"/>
              </a:solidFill>
              <a:effectLst/>
              <a:uFillTx/>
              <a:latin typeface="Times New Roman"/>
            </a:endParaRPr>
          </a:p>
          <a:p>
            <a:pPr lvl="1" marL="668160" indent="-207720">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000000"/>
                </a:solidFill>
                <a:effectLst/>
                <a:uFillTx/>
                <a:latin typeface="Arial Narrow"/>
              </a:rPr>
              <a:t>Recommendations and actions</a:t>
            </a:r>
            <a:endParaRPr b="0" lang="en-IN" sz="2000" strike="noStrike" u="none">
              <a:solidFill>
                <a:srgbClr val="000000"/>
              </a:solidFill>
              <a:effectLst/>
              <a:uFillTx/>
              <a:latin typeface="Times New Roman"/>
            </a:endParaRPr>
          </a:p>
          <a:p>
            <a:pPr marL="263520" indent="-249120">
              <a:lnSpc>
                <a:spcPct val="100000"/>
              </a:lnSpc>
              <a:spcBef>
                <a:spcPts val="601"/>
              </a:spcBef>
              <a:buClr>
                <a:srgbClr val="0000ff"/>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0000ff"/>
                </a:solidFill>
                <a:effectLst/>
                <a:uFillTx/>
                <a:latin typeface="Arial Narrow"/>
              </a:rPr>
              <a:t>Changes in the division</a:t>
            </a:r>
            <a:endParaRPr b="0" lang="en-IN" sz="2400" strike="noStrike" u="none">
              <a:solidFill>
                <a:srgbClr val="000000"/>
              </a:solidFill>
              <a:effectLst/>
              <a:uFillTx/>
              <a:latin typeface="Times New Roman"/>
            </a:endParaRPr>
          </a:p>
          <a:p>
            <a:pPr lvl="1" marL="668160" indent="-207720">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000000"/>
                </a:solidFill>
                <a:effectLst/>
                <a:uFillTx/>
                <a:latin typeface="Arial Narrow"/>
              </a:rPr>
              <a:t>Organizational, staffing, and program changes since last COV</a:t>
            </a:r>
            <a:endParaRPr b="0" lang="en-IN" sz="2000" strike="noStrike" u="none">
              <a:solidFill>
                <a:srgbClr val="000000"/>
              </a:solidFill>
              <a:effectLst/>
              <a:uFillTx/>
              <a:latin typeface="Times New Roman"/>
            </a:endParaRPr>
          </a:p>
          <a:p>
            <a:pPr marL="263520" indent="-249120">
              <a:lnSpc>
                <a:spcPct val="100000"/>
              </a:lnSpc>
              <a:spcBef>
                <a:spcPts val="601"/>
              </a:spcBef>
              <a:buClr>
                <a:srgbClr val="0000ff"/>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0000ff"/>
                </a:solidFill>
                <a:effectLst/>
                <a:uFillTx/>
                <a:latin typeface="Arial Narrow"/>
              </a:rPr>
              <a:t>COV preparatory work</a:t>
            </a:r>
            <a:endParaRPr b="0" lang="en-IN" sz="2400" strike="noStrike" u="none">
              <a:solidFill>
                <a:srgbClr val="000000"/>
              </a:solidFill>
              <a:effectLst/>
              <a:uFillTx/>
              <a:latin typeface="Times New Roman"/>
            </a:endParaRPr>
          </a:p>
          <a:p>
            <a:pPr lvl="1" marL="668160" indent="-207720">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000000"/>
                </a:solidFill>
                <a:effectLst/>
                <a:uFillTx/>
                <a:latin typeface="Arial Narrow"/>
              </a:rPr>
              <a:t>November 7, 2007 meeting between chair and division, COV website, etc.</a:t>
            </a:r>
            <a:endParaRPr b="0" lang="en-IN" sz="2000" strike="noStrike" u="none">
              <a:solidFill>
                <a:srgbClr val="000000"/>
              </a:solidFill>
              <a:effectLst/>
              <a:uFillTx/>
              <a:latin typeface="Times New Roman"/>
            </a:endParaRPr>
          </a:p>
        </p:txBody>
      </p:sp>
    </p:spTree>
  </p:cSld>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nodeType="clickEffect" fill="hold" presetClass="entr" presetID="1">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6" name=""/>
          <p:cNvSpPr/>
          <p:nvPr/>
        </p:nvSpPr>
        <p:spPr>
          <a:xfrm>
            <a:off x="3611160" y="138240"/>
            <a:ext cx="2239560" cy="576720"/>
          </a:xfrm>
          <a:prstGeom prst="rect">
            <a:avLst/>
          </a:prstGeom>
          <a:noFill/>
          <a:ln w="0">
            <a:noFill/>
          </a:ln>
        </p:spPr>
        <p:style>
          <a:lnRef idx="0"/>
          <a:fillRef idx="0"/>
          <a:effectRef idx="0"/>
          <a:fontRef idx="minor"/>
        </p:style>
        <p:txBody>
          <a:bodyPr wrap="none" lIns="90360" rIns="90360" tIns="44280" bIns="4428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IN" sz="3200" strike="noStrike" u="none">
                <a:solidFill>
                  <a:srgbClr val="ff0000"/>
                </a:solidFill>
                <a:effectLst/>
                <a:uFillTx/>
                <a:latin typeface="Arial Narrow"/>
              </a:rPr>
              <a:t>Charge letter</a:t>
            </a:r>
            <a:endParaRPr b="0" lang="en-IN" sz="3200" strike="noStrike" u="none">
              <a:solidFill>
                <a:srgbClr val="000000"/>
              </a:solidFill>
              <a:effectLst/>
              <a:uFillTx/>
              <a:latin typeface="Times New Roman"/>
            </a:endParaRPr>
          </a:p>
        </p:txBody>
      </p:sp>
      <p:pic>
        <p:nvPicPr>
          <p:cNvPr id="27" name="" descr=""/>
          <p:cNvPicPr/>
          <p:nvPr/>
        </p:nvPicPr>
        <p:blipFill>
          <a:blip r:embed="rId1"/>
          <a:stretch/>
        </p:blipFill>
        <p:spPr>
          <a:xfrm>
            <a:off x="152280" y="901800"/>
            <a:ext cx="4975200" cy="6438960"/>
          </a:xfrm>
          <a:prstGeom prst="rect">
            <a:avLst/>
          </a:prstGeom>
          <a:noFill/>
          <a:ln w="0">
            <a:noFill/>
          </a:ln>
        </p:spPr>
      </p:pic>
      <p:pic>
        <p:nvPicPr>
          <p:cNvPr id="28" name="" descr=""/>
          <p:cNvPicPr/>
          <p:nvPr/>
        </p:nvPicPr>
        <p:blipFill>
          <a:blip r:embed="rId2"/>
          <a:stretch/>
        </p:blipFill>
        <p:spPr>
          <a:xfrm>
            <a:off x="4784760" y="1001880"/>
            <a:ext cx="4971960" cy="6433920"/>
          </a:xfrm>
          <a:prstGeom prst="rect">
            <a:avLst/>
          </a:prstGeom>
          <a:noFill/>
          <a:ln w="0">
            <a:noFill/>
          </a:ln>
        </p:spPr>
      </p:pic>
      <p:sp>
        <p:nvSpPr>
          <p:cNvPr id="29" name=""/>
          <p:cNvSpPr/>
          <p:nvPr/>
        </p:nvSpPr>
        <p:spPr>
          <a:xfrm>
            <a:off x="4806360" y="5624640"/>
            <a:ext cx="3433320" cy="398880"/>
          </a:xfrm>
          <a:prstGeom prst="rect">
            <a:avLst/>
          </a:prstGeom>
          <a:noFill/>
          <a:ln w="0">
            <a:noFill/>
          </a:ln>
        </p:spPr>
        <p:style>
          <a:lnRef idx="0"/>
          <a:fillRef idx="0"/>
          <a:effectRef idx="0"/>
          <a:fontRef idx="minor"/>
        </p:style>
        <p:txBody>
          <a:bodyPr wrap="none" lIns="90000" rIns="90000" tIns="46800" bIns="46800" anchor="t">
            <a:spAutoFit/>
          </a:bodyPr>
          <a:p>
            <a:pPr marL="457200">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0000"/>
                </a:solidFill>
                <a:effectLst/>
                <a:uFillTx/>
                <a:latin typeface="Arial Narrow"/>
              </a:rPr>
              <a:t>Geri Richmond is COV chair</a:t>
            </a:r>
            <a:endParaRPr b="0" lang="en-IN" sz="2000" strike="noStrike" u="none">
              <a:solidFill>
                <a:srgbClr val="000000"/>
              </a:solidFill>
              <a:effectLst/>
              <a:uFillTx/>
              <a:latin typeface="Times New Roman"/>
            </a:endParaRPr>
          </a:p>
        </p:txBody>
      </p:sp>
      <p:sp>
        <p:nvSpPr>
          <p:cNvPr id="30" name=""/>
          <p:cNvSpPr/>
          <p:nvPr/>
        </p:nvSpPr>
        <p:spPr>
          <a:xfrm>
            <a:off x="152280" y="2324160"/>
            <a:ext cx="2286000" cy="927000"/>
          </a:xfrm>
          <a:prstGeom prst="ellipse">
            <a:avLst/>
          </a:prstGeom>
          <a:noFill/>
          <a:ln w="12600">
            <a:solidFill>
              <a:srgbClr val="ff0000"/>
            </a:solidFill>
            <a:miter/>
          </a:ln>
        </p:spPr>
        <p:style>
          <a:lnRef idx="0"/>
          <a:fillRef idx="0"/>
          <a:effectRef idx="0"/>
          <a:fontRef idx="minor"/>
        </p:style>
        <p:txBody>
          <a:bodyPr wrap="none" lIns="90000" rIns="90000" tIns="46800" bIns="46800" anchor="ctr">
            <a:spAutoFit/>
          </a:bodyPr>
          <a:p>
            <a:endParaRPr b="0" lang="en-IN" sz="2400" strike="noStrike" u="none">
              <a:solidFill>
                <a:srgbClr val="000000"/>
              </a:solidFill>
              <a:effectLst/>
              <a:uFillTx/>
              <a:latin typeface="Times New Roman"/>
            </a:endParaRPr>
          </a:p>
        </p:txBody>
      </p:sp>
      <p:sp>
        <p:nvSpPr>
          <p:cNvPr id="31" name=""/>
          <p:cNvSpPr/>
          <p:nvPr/>
        </p:nvSpPr>
        <p:spPr>
          <a:xfrm flipH="1" flipV="1">
            <a:off x="2222280" y="3060720"/>
            <a:ext cx="3035160" cy="2679840"/>
          </a:xfrm>
          <a:prstGeom prst="line">
            <a:avLst/>
          </a:prstGeom>
          <a:ln w="12600">
            <a:solidFill>
              <a:srgbClr val="ff0000"/>
            </a:solidFill>
            <a:miter/>
            <a:tailEnd len="med" type="triangle" w="med"/>
          </a:ln>
        </p:spPr>
        <p:style>
          <a:lnRef idx="0"/>
          <a:fillRef idx="0"/>
          <a:effectRef idx="0"/>
          <a:fontRef idx="minor"/>
        </p:style>
        <p:txBody>
          <a:bodyPr lIns="90000" rIns="90000" tIns="46800" bIns="46800" anchor="t">
            <a:noAutofit/>
          </a:bodyPr>
          <a:p>
            <a:endParaRPr b="0" lang="en-IN" sz="2400" strike="noStrike" u="none">
              <a:solidFill>
                <a:srgbClr val="000000"/>
              </a:solidFill>
              <a:effectLst/>
              <a:uFillTx/>
              <a:latin typeface="Times New Roman"/>
            </a:endParaRPr>
          </a:p>
        </p:txBody>
      </p:sp>
    </p:spTree>
  </p:cSld>
  <p:timing>
    <p:tnLst>
      <p:par>
        <p:cTn id="7" dur="indefinite" restart="never" nodeType="tmRoot">
          <p:childTnLst>
            <p:seq>
              <p:cTn id="8" dur="indefinite" nodeType="mainSeq">
                <p:childTnLst>
                  <p:par>
                    <p:cTn id="9" fill="hold">
                      <p:stCondLst>
                        <p:cond delay="indefinite"/>
                      </p:stCondLst>
                      <p:childTnLst>
                        <p:par>
                          <p:cTn id="10" fill="hold">
                            <p:stCondLst>
                              <p:cond delay="0"/>
                            </p:stCondLst>
                            <p:childTnLst>
                              <p:par>
                                <p:cTn id="11" nodeType="clickEffect" fill="hold" presetClass="entr" presetID="1">
                                  <p:stCondLst>
                                    <p:cond delay="0"/>
                                  </p:stCondLst>
                                  <p:childTnLst>
                                    <p:set>
                                      <p:cBhvr>
                                        <p:cTn id="12" dur="1" fill="hold">
                                          <p:stCondLst>
                                            <p:cond delay="0"/>
                                          </p:stCondLst>
                                        </p:cTn>
                                        <p:tgtEl>
                                          <p:spTgt spid="30"/>
                                        </p:tgtEl>
                                        <p:attrNameLst>
                                          <p:attrName>style.visibility</p:attrName>
                                        </p:attrNameLst>
                                      </p:cBhvr>
                                      <p:to>
                                        <p:strVal val="visible"/>
                                      </p:to>
                                    </p:set>
                                  </p:childTnLst>
                                </p:cTn>
                              </p:par>
                              <p:par>
                                <p:cTn id="13" nodeType="withEffect" fill="hold" presetClass="entr" presetID="1">
                                  <p:stCondLst>
                                    <p:cond delay="0"/>
                                  </p:stCondLst>
                                  <p:childTnLst>
                                    <p:set>
                                      <p:cBhvr>
                                        <p:cTn id="14" dur="1" fill="hold">
                                          <p:stCondLst>
                                            <p:cond delay="0"/>
                                          </p:stCondLst>
                                        </p:cTn>
                                        <p:tgtEl>
                                          <p:spTgt spid="31"/>
                                        </p:tgtEl>
                                        <p:attrNameLst>
                                          <p:attrName>style.visibility</p:attrName>
                                        </p:attrNameLst>
                                      </p:cBhvr>
                                      <p:to>
                                        <p:strVal val="visible"/>
                                      </p:to>
                                    </p:set>
                                  </p:childTnLst>
                                </p:cTn>
                              </p:par>
                              <p:par>
                                <p:cTn id="15" nodeType="withEffect" fill="hold" presetClass="entr" presetID="1">
                                  <p:stCondLst>
                                    <p:cond delay="0"/>
                                  </p:stCondLst>
                                  <p:childTnLst>
                                    <p:set>
                                      <p:cBhvr>
                                        <p:cTn id="16"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2" name=""/>
          <p:cNvSpPr/>
          <p:nvPr/>
        </p:nvSpPr>
        <p:spPr>
          <a:xfrm>
            <a:off x="3656880" y="138240"/>
            <a:ext cx="2146680" cy="576720"/>
          </a:xfrm>
          <a:prstGeom prst="rect">
            <a:avLst/>
          </a:prstGeom>
          <a:noFill/>
          <a:ln w="0">
            <a:noFill/>
          </a:ln>
        </p:spPr>
        <p:style>
          <a:lnRef idx="0"/>
          <a:fillRef idx="0"/>
          <a:effectRef idx="0"/>
          <a:fontRef idx="minor"/>
        </p:style>
        <p:txBody>
          <a:bodyPr wrap="none" lIns="90360" rIns="90360" tIns="44280" bIns="4428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IN" sz="3200" strike="noStrike" u="none">
                <a:solidFill>
                  <a:srgbClr val="ff0000"/>
                </a:solidFill>
                <a:effectLst/>
                <a:uFillTx/>
                <a:latin typeface="Arial Narrow"/>
              </a:rPr>
              <a:t>COV Charge</a:t>
            </a:r>
            <a:endParaRPr b="0" lang="en-IN" sz="3200" strike="noStrike" u="none">
              <a:solidFill>
                <a:srgbClr val="000000"/>
              </a:solidFill>
              <a:effectLst/>
              <a:uFillTx/>
              <a:latin typeface="Times New Roman"/>
            </a:endParaRPr>
          </a:p>
        </p:txBody>
      </p:sp>
      <p:sp>
        <p:nvSpPr>
          <p:cNvPr id="33" name=""/>
          <p:cNvSpPr/>
          <p:nvPr/>
        </p:nvSpPr>
        <p:spPr>
          <a:xfrm>
            <a:off x="268200" y="1111320"/>
            <a:ext cx="9587160" cy="6154920"/>
          </a:xfrm>
          <a:prstGeom prst="rect">
            <a:avLst/>
          </a:prstGeom>
          <a:noFill/>
          <a:ln w="0">
            <a:noFill/>
          </a:ln>
        </p:spPr>
        <p:style>
          <a:lnRef idx="0"/>
          <a:fillRef idx="0"/>
          <a:effectRef idx="0"/>
          <a:fontRef idx="minor"/>
        </p:style>
        <p:txBody>
          <a:bodyPr lIns="90360" rIns="90360" tIns="44280" bIns="44280" anchor="t">
            <a:spAutoFit/>
          </a:bodyPr>
          <a:p>
            <a:pPr marL="471600" indent="-457200">
              <a:lnSpc>
                <a:spcPct val="100000"/>
              </a:lnSpc>
              <a:spcBef>
                <a:spcPts val="601"/>
              </a:spcBef>
              <a:buClr>
                <a:srgbClr val="0000ff"/>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0000ff"/>
                </a:solidFill>
                <a:effectLst/>
                <a:uFillTx/>
                <a:latin typeface="Arial Narrow"/>
              </a:rPr>
              <a:t>The panel should assess the operations of the Division’s programs in FY2005, 2006, and 2007 in these areas:</a:t>
            </a:r>
            <a:endParaRPr b="0" lang="en-IN" sz="2400" strike="noStrike" u="none">
              <a:solidFill>
                <a:srgbClr val="000000"/>
              </a:solidFill>
              <a:effectLst/>
              <a:uFillTx/>
              <a:latin typeface="Times New Roman"/>
            </a:endParaRPr>
          </a:p>
          <a:p>
            <a:pPr lvl="1" marL="917640" indent="-457200">
              <a:lnSpc>
                <a:spcPct val="100000"/>
              </a:lnSpc>
              <a:spcBef>
                <a:spcPts val="499"/>
              </a:spcBef>
              <a:tabLst>
                <a:tab algn="l" pos="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000000"/>
                </a:solidFill>
                <a:effectLst/>
                <a:uFillTx/>
                <a:latin typeface="Arial Narrow"/>
              </a:rPr>
              <a:t>AMO Sciences, Chemical Physics, Photochemistry &amp; Radiation Research, Catalysis &amp; Chemical Transformations, Separations and Analyses, Heavy Element Chemistry, Chemical Engineering and Chemical Energy, Geosciences, and Energy Biosciences</a:t>
            </a:r>
            <a:endParaRPr b="0" lang="en-IN" sz="2000" strike="noStrike" u="none">
              <a:solidFill>
                <a:srgbClr val="000000"/>
              </a:solidFill>
              <a:effectLst/>
              <a:uFillTx/>
              <a:latin typeface="Times New Roman"/>
            </a:endParaRPr>
          </a:p>
          <a:p>
            <a:pPr marL="471600" indent="-457200">
              <a:lnSpc>
                <a:spcPct val="100000"/>
              </a:lnSpc>
              <a:spcBef>
                <a:spcPts val="1500"/>
              </a:spcBef>
              <a:buClr>
                <a:srgbClr val="0000ff"/>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0000ff"/>
                </a:solidFill>
                <a:effectLst/>
                <a:uFillTx/>
                <a:latin typeface="Arial Narrow"/>
              </a:rPr>
              <a:t>The panel may examine any files during the review period for both DOE lab and university projects (subject to COI constraints).</a:t>
            </a:r>
            <a:endParaRPr b="0" lang="en-IN" sz="2400" strike="noStrike" u="none">
              <a:solidFill>
                <a:srgbClr val="000000"/>
              </a:solidFill>
              <a:effectLst/>
              <a:uFillTx/>
              <a:latin typeface="Times New Roman"/>
            </a:endParaRPr>
          </a:p>
          <a:p>
            <a:pPr marL="471600" indent="-457200">
              <a:lnSpc>
                <a:spcPct val="100000"/>
              </a:lnSpc>
              <a:spcBef>
                <a:spcPts val="1500"/>
              </a:spcBef>
              <a:buClr>
                <a:srgbClr val="0000ff"/>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0000ff"/>
                </a:solidFill>
                <a:effectLst/>
                <a:uFillTx/>
                <a:latin typeface="Arial Narrow"/>
              </a:rPr>
              <a:t>Two major review criteria:</a:t>
            </a:r>
            <a:endParaRPr b="0" lang="en-IN" sz="2400" strike="noStrike" u="none">
              <a:solidFill>
                <a:srgbClr val="000000"/>
              </a:solidFill>
              <a:effectLst/>
              <a:uFillTx/>
              <a:latin typeface="Times New Roman"/>
            </a:endParaRPr>
          </a:p>
          <a:p>
            <a:pPr lvl="1" marL="917640" indent="-457200">
              <a:lnSpc>
                <a:spcPct val="100000"/>
              </a:lnSpc>
              <a:spcBef>
                <a:spcPts val="499"/>
              </a:spcBef>
              <a:buClr>
                <a:srgbClr val="000000"/>
              </a:buClr>
              <a:buFont typeface="Arial Narrow"/>
              <a:buAutoNum type="arabicParenR"/>
              <a:tabLst>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000000"/>
                </a:solidFill>
                <a:effectLst/>
                <a:uFillTx/>
                <a:latin typeface="Arial Narrow"/>
              </a:rPr>
              <a:t>Assess the efficacy and quality of the processes used to:  (a) solicit, review, recommend, and document proposal actions and (b) monitor active projects and programs.</a:t>
            </a:r>
            <a:endParaRPr b="0" lang="en-IN" sz="2000" strike="noStrike" u="none">
              <a:solidFill>
                <a:srgbClr val="000000"/>
              </a:solidFill>
              <a:effectLst/>
              <a:uFillTx/>
              <a:latin typeface="Times New Roman"/>
            </a:endParaRPr>
          </a:p>
          <a:p>
            <a:pPr lvl="1" marL="917640" indent="-457200">
              <a:lnSpc>
                <a:spcPct val="100000"/>
              </a:lnSpc>
              <a:spcBef>
                <a:spcPts val="499"/>
              </a:spcBef>
              <a:buClr>
                <a:srgbClr val="000000"/>
              </a:buClr>
              <a:buFont typeface="Arial Narrow"/>
              <a:buAutoNum type="arabicParenR"/>
              <a:tabLst>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000000"/>
                </a:solidFill>
                <a:effectLst/>
                <a:uFillTx/>
                <a:latin typeface="Arial Narrow"/>
              </a:rPr>
              <a:t>Within the boundaries defined by DOE missions and available funding, comment on how the award process has affected:  (a) the breadth and depth of portfolio elements and (b) the national and international standing of the portfolio elements.</a:t>
            </a:r>
            <a:endParaRPr b="0" lang="en-IN" sz="2000" strike="noStrike" u="none">
              <a:solidFill>
                <a:srgbClr val="000000"/>
              </a:solidFill>
              <a:effectLst/>
              <a:uFillTx/>
              <a:latin typeface="Times New Roman"/>
            </a:endParaRPr>
          </a:p>
          <a:p>
            <a:pPr marL="471600" indent="-457200">
              <a:lnSpc>
                <a:spcPct val="100000"/>
              </a:lnSpc>
              <a:spcBef>
                <a:spcPts val="1500"/>
              </a:spcBef>
              <a:buClr>
                <a:srgbClr val="0000ff"/>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0000ff"/>
                </a:solidFill>
                <a:effectLst/>
                <a:uFillTx/>
                <a:latin typeface="Arial Narrow"/>
              </a:rPr>
              <a:t>The COV panel is asked to provide input on the BES OMB Performance Assessment Rating Tool (PART) long-term goals.</a:t>
            </a:r>
            <a:endParaRPr b="0" lang="en-IN" sz="2400" strike="noStrike" u="none">
              <a:solidFill>
                <a:srgbClr val="000000"/>
              </a:solidFill>
              <a:effectLst/>
              <a:uFillTx/>
              <a:latin typeface="Times New Roman"/>
            </a:endParaRPr>
          </a:p>
        </p:txBody>
      </p:sp>
    </p:spTree>
  </p:cSld>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4" name=""/>
          <p:cNvSpPr/>
          <p:nvPr/>
        </p:nvSpPr>
        <p:spPr>
          <a:xfrm>
            <a:off x="1433160" y="138240"/>
            <a:ext cx="6616080" cy="576720"/>
          </a:xfrm>
          <a:prstGeom prst="rect">
            <a:avLst/>
          </a:prstGeom>
          <a:noFill/>
          <a:ln w="0">
            <a:noFill/>
          </a:ln>
        </p:spPr>
        <p:style>
          <a:lnRef idx="0"/>
          <a:fillRef idx="0"/>
          <a:effectRef idx="0"/>
          <a:fontRef idx="minor"/>
        </p:style>
        <p:txBody>
          <a:bodyPr wrap="none" lIns="90360" rIns="90360" tIns="44280" bIns="4428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IN" sz="3200" strike="noStrike" u="none">
                <a:solidFill>
                  <a:srgbClr val="ff0000"/>
                </a:solidFill>
                <a:effectLst/>
                <a:uFillTx/>
                <a:latin typeface="Arial Narrow"/>
              </a:rPr>
              <a:t>2008 COV Organization and Membership</a:t>
            </a:r>
            <a:endParaRPr b="0" lang="en-IN" sz="3200" strike="noStrike" u="none">
              <a:solidFill>
                <a:srgbClr val="000000"/>
              </a:solidFill>
              <a:effectLst/>
              <a:uFillTx/>
              <a:latin typeface="Times New Roman"/>
            </a:endParaRPr>
          </a:p>
        </p:txBody>
      </p:sp>
      <p:sp>
        <p:nvSpPr>
          <p:cNvPr id="35" name=""/>
          <p:cNvSpPr/>
          <p:nvPr/>
        </p:nvSpPr>
        <p:spPr>
          <a:xfrm>
            <a:off x="357120" y="825480"/>
            <a:ext cx="9358560" cy="6722640"/>
          </a:xfrm>
          <a:prstGeom prst="rect">
            <a:avLst/>
          </a:prstGeom>
          <a:noFill/>
          <a:ln w="0">
            <a:noFill/>
          </a:ln>
        </p:spPr>
        <p:style>
          <a:lnRef idx="0"/>
          <a:fillRef idx="0"/>
          <a:effectRef idx="0"/>
          <a:fontRef idx="minor"/>
        </p:style>
        <p:txBody>
          <a:bodyPr lIns="90360" rIns="90360" tIns="44280" bIns="44280" anchor="t">
            <a:spAutoFit/>
          </a:bodyPr>
          <a:p>
            <a:pPr marL="471600" indent="-457200">
              <a:lnSpc>
                <a:spcPct val="100000"/>
              </a:lnSpc>
              <a:spcBef>
                <a:spcPts val="499"/>
              </a:spcBef>
              <a:buClr>
                <a:srgbClr val="0000ff"/>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US" sz="2000" strike="noStrike" u="none">
                <a:solidFill>
                  <a:srgbClr val="0000ff"/>
                </a:solidFill>
                <a:effectLst/>
                <a:uFillTx/>
                <a:latin typeface="Arial Narrow"/>
              </a:rPr>
              <a:t>Chair:  Geri Richmond,** University of Oregon</a:t>
            </a:r>
            <a:endParaRPr b="0" lang="en-IN" sz="2000" strike="noStrike" u="none">
              <a:solidFill>
                <a:srgbClr val="000000"/>
              </a:solidFill>
              <a:effectLst/>
              <a:uFillTx/>
              <a:latin typeface="Times New Roman"/>
            </a:endParaRPr>
          </a:p>
          <a:p>
            <a:pPr marL="471600" indent="-457200">
              <a:lnSpc>
                <a:spcPct val="100000"/>
              </a:lnSpc>
              <a:spcBef>
                <a:spcPts val="1250"/>
              </a:spcBef>
              <a:buClr>
                <a:srgbClr val="0000ff"/>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US" sz="2000" strike="noStrike" u="none">
                <a:solidFill>
                  <a:srgbClr val="0000ff"/>
                </a:solidFill>
                <a:effectLst/>
                <a:uFillTx/>
                <a:latin typeface="Arial Narrow"/>
              </a:rPr>
              <a:t>Panel 1:  AMO Sciences/Gas-Phase Chemical Physics</a:t>
            </a:r>
            <a:endParaRPr b="0" lang="en-IN" sz="2000" strike="noStrike" u="none">
              <a:solidFill>
                <a:srgbClr val="000000"/>
              </a:solidFill>
              <a:effectLst/>
              <a:uFillTx/>
              <a:latin typeface="Times New Roman"/>
            </a:endParaRPr>
          </a:p>
          <a:p>
            <a:pPr lvl="1" marL="917640" indent="-457200">
              <a:lnSpc>
                <a:spcPct val="100000"/>
              </a:lnSpc>
              <a:tabLst>
                <a:tab algn="l" pos="0"/>
                <a:tab algn="l" pos="1828800"/>
                <a:tab algn="l" pos="2743200"/>
                <a:tab algn="l" pos="3657600"/>
                <a:tab algn="l" pos="4572000"/>
                <a:tab algn="l" pos="5486400"/>
                <a:tab algn="l" pos="6400800"/>
                <a:tab algn="l" pos="7315200"/>
                <a:tab algn="l" pos="8229600"/>
                <a:tab algn="l" pos="9144000"/>
                <a:tab algn="l" pos="10058400"/>
              </a:tabLst>
            </a:pPr>
            <a:r>
              <a:rPr b="1" lang="en-US" sz="1800" strike="noStrike" u="none">
                <a:solidFill>
                  <a:srgbClr val="000000"/>
                </a:solidFill>
                <a:effectLst/>
                <a:uFillTx/>
                <a:latin typeface="Arial Narrow"/>
              </a:rPr>
              <a:t>Panel Lead:  Carl Lineberger,** University of Colorado (2002 COV)</a:t>
            </a:r>
            <a:endParaRPr b="0" lang="en-IN" sz="1800" strike="noStrike" u="none">
              <a:solidFill>
                <a:srgbClr val="000000"/>
              </a:solidFill>
              <a:effectLst/>
              <a:uFillTx/>
              <a:latin typeface="Times New Roman"/>
            </a:endParaRPr>
          </a:p>
          <a:p>
            <a:pPr lvl="1" marL="917640" indent="-457200">
              <a:lnSpc>
                <a:spcPct val="100000"/>
              </a:lnSpc>
              <a:tabLst>
                <a:tab algn="l" pos="0"/>
                <a:tab algn="l" pos="1828800"/>
                <a:tab algn="l" pos="2743200"/>
                <a:tab algn="l" pos="3657600"/>
                <a:tab algn="l" pos="4572000"/>
                <a:tab algn="l" pos="5486400"/>
                <a:tab algn="l" pos="6400800"/>
                <a:tab algn="l" pos="7315200"/>
                <a:tab algn="l" pos="8229600"/>
                <a:tab algn="l" pos="9144000"/>
                <a:tab algn="l" pos="10058400"/>
              </a:tabLst>
            </a:pPr>
            <a:r>
              <a:rPr b="1" lang="en-US" sz="1800" strike="noStrike" u="none">
                <a:solidFill>
                  <a:srgbClr val="000000"/>
                </a:solidFill>
                <a:effectLst/>
                <a:uFillTx/>
                <a:latin typeface="Arial Narrow"/>
              </a:rPr>
              <a:t>Members:     </a:t>
            </a:r>
            <a:r>
              <a:rPr b="1" lang="en-US" sz="1800" strike="noStrike" u="none">
                <a:solidFill>
                  <a:srgbClr val="ff0000"/>
                </a:solidFill>
                <a:effectLst/>
                <a:uFillTx/>
                <a:latin typeface="Arial Narrow"/>
              </a:rPr>
              <a:t>Tom Gallagher,</a:t>
            </a:r>
            <a:r>
              <a:rPr b="1" lang="en-US" sz="1800" strike="noStrike" u="none">
                <a:solidFill>
                  <a:srgbClr val="000000"/>
                </a:solidFill>
                <a:effectLst/>
                <a:uFillTx/>
                <a:latin typeface="Arial Narrow"/>
              </a:rPr>
              <a:t> University of Virginia</a:t>
            </a:r>
            <a:endParaRPr b="0" lang="en-IN" sz="1800" strike="noStrike" u="none">
              <a:solidFill>
                <a:srgbClr val="000000"/>
              </a:solidFill>
              <a:effectLst/>
              <a:uFillTx/>
              <a:latin typeface="Times New Roman"/>
            </a:endParaRPr>
          </a:p>
          <a:p>
            <a:pPr lvl="1" marL="917640" indent="-457200">
              <a:lnSpc>
                <a:spcPct val="100000"/>
              </a:lnSpc>
              <a:tabLst>
                <a:tab algn="l" pos="0"/>
                <a:tab algn="l" pos="1828800"/>
                <a:tab algn="l" pos="2743200"/>
                <a:tab algn="l" pos="3657600"/>
                <a:tab algn="l" pos="4572000"/>
                <a:tab algn="l" pos="5486400"/>
                <a:tab algn="l" pos="6400800"/>
                <a:tab algn="l" pos="7315200"/>
                <a:tab algn="l" pos="8229600"/>
                <a:tab algn="l" pos="9144000"/>
                <a:tab algn="l" pos="10058400"/>
              </a:tabLst>
            </a:pPr>
            <a:r>
              <a:rPr b="1" lang="en-US" sz="1800" strike="noStrike" u="none">
                <a:solidFill>
                  <a:srgbClr val="000000"/>
                </a:solidFill>
                <a:effectLst/>
                <a:uFillTx/>
                <a:latin typeface="Arial Narrow"/>
              </a:rPr>
              <a:t>	</a:t>
            </a:r>
            <a:r>
              <a:rPr b="1" lang="en-US" sz="1800" strike="noStrike" u="none">
                <a:solidFill>
                  <a:srgbClr val="000000"/>
                </a:solidFill>
                <a:effectLst/>
                <a:uFillTx/>
                <a:latin typeface="Arial Narrow"/>
              </a:rPr>
              <a:t>              Anthony Johnson,** University of Maryland</a:t>
            </a:r>
            <a:endParaRPr b="0" lang="en-IN" sz="1800" strike="noStrike" u="none">
              <a:solidFill>
                <a:srgbClr val="000000"/>
              </a:solidFill>
              <a:effectLst/>
              <a:uFillTx/>
              <a:latin typeface="Times New Roman"/>
            </a:endParaRPr>
          </a:p>
          <a:p>
            <a:pPr lvl="1" marL="917640" indent="-457200">
              <a:lnSpc>
                <a:spcPct val="100000"/>
              </a:lnSpc>
              <a:tabLst>
                <a:tab algn="l" pos="0"/>
                <a:tab algn="l" pos="1828800"/>
                <a:tab algn="l" pos="2743200"/>
                <a:tab algn="l" pos="3657600"/>
                <a:tab algn="l" pos="4572000"/>
                <a:tab algn="l" pos="5486400"/>
                <a:tab algn="l" pos="6400800"/>
                <a:tab algn="l" pos="7315200"/>
                <a:tab algn="l" pos="8229600"/>
                <a:tab algn="l" pos="9144000"/>
                <a:tab algn="l" pos="10058400"/>
              </a:tabLst>
            </a:pPr>
            <a:r>
              <a:rPr b="1" lang="en-US" sz="1800" strike="noStrike" u="none">
                <a:solidFill>
                  <a:srgbClr val="000000"/>
                </a:solidFill>
                <a:effectLst/>
                <a:uFillTx/>
                <a:latin typeface="Arial Narrow"/>
              </a:rPr>
              <a:t>	</a:t>
            </a:r>
            <a:r>
              <a:rPr b="1" lang="en-US" sz="1800" strike="noStrike" u="none">
                <a:solidFill>
                  <a:srgbClr val="000000"/>
                </a:solidFill>
                <a:effectLst/>
                <a:uFillTx/>
                <a:latin typeface="Arial Narrow"/>
              </a:rPr>
              <a:t>              Kate Kirby,* Harvard-Smithsonian CFA</a:t>
            </a:r>
            <a:endParaRPr b="0" lang="en-IN" sz="1800" strike="noStrike" u="none">
              <a:solidFill>
                <a:srgbClr val="000000"/>
              </a:solidFill>
              <a:effectLst/>
              <a:uFillTx/>
              <a:latin typeface="Times New Roman"/>
            </a:endParaRPr>
          </a:p>
          <a:p>
            <a:pPr lvl="1" marL="917640" indent="-457200">
              <a:lnSpc>
                <a:spcPct val="100000"/>
              </a:lnSpc>
              <a:tabLst>
                <a:tab algn="l" pos="0"/>
                <a:tab algn="l" pos="1828800"/>
                <a:tab algn="l" pos="2743200"/>
                <a:tab algn="l" pos="3657600"/>
                <a:tab algn="l" pos="4572000"/>
                <a:tab algn="l" pos="5486400"/>
                <a:tab algn="l" pos="6400800"/>
                <a:tab algn="l" pos="7315200"/>
                <a:tab algn="l" pos="8229600"/>
                <a:tab algn="l" pos="9144000"/>
                <a:tab algn="l" pos="10058400"/>
              </a:tabLst>
            </a:pPr>
            <a:r>
              <a:rPr b="1" lang="en-US" sz="1800" strike="noStrike" u="none">
                <a:solidFill>
                  <a:srgbClr val="000000"/>
                </a:solidFill>
                <a:effectLst/>
                <a:uFillTx/>
                <a:latin typeface="Arial Narrow"/>
              </a:rPr>
              <a:t>	</a:t>
            </a:r>
            <a:r>
              <a:rPr b="1" lang="en-US" sz="1800" strike="noStrike" u="none">
                <a:solidFill>
                  <a:srgbClr val="000000"/>
                </a:solidFill>
                <a:effectLst/>
                <a:uFillTx/>
                <a:latin typeface="Arial Narrow"/>
              </a:rPr>
              <a:t>              </a:t>
            </a:r>
            <a:r>
              <a:rPr b="1" lang="en-US" sz="1800" strike="noStrike" u="none">
                <a:solidFill>
                  <a:srgbClr val="ff0000"/>
                </a:solidFill>
                <a:effectLst/>
                <a:uFillTx/>
                <a:latin typeface="Arial Narrow"/>
              </a:rPr>
              <a:t>Arthur Suits,</a:t>
            </a:r>
            <a:r>
              <a:rPr b="1" lang="en-US" sz="1800" strike="noStrike" u="none">
                <a:solidFill>
                  <a:srgbClr val="000000"/>
                </a:solidFill>
                <a:effectLst/>
                <a:uFillTx/>
                <a:latin typeface="Arial Narrow"/>
              </a:rPr>
              <a:t> Wayne St. University</a:t>
            </a:r>
            <a:endParaRPr b="0" lang="en-IN" sz="1800" strike="noStrike" u="none">
              <a:solidFill>
                <a:srgbClr val="000000"/>
              </a:solidFill>
              <a:effectLst/>
              <a:uFillTx/>
              <a:latin typeface="Times New Roman"/>
            </a:endParaRPr>
          </a:p>
          <a:p>
            <a:pPr lvl="1" marL="917640" indent="-457200">
              <a:lnSpc>
                <a:spcPct val="100000"/>
              </a:lnSpc>
              <a:tabLst>
                <a:tab algn="l" pos="0"/>
                <a:tab algn="l" pos="1828800"/>
                <a:tab algn="l" pos="2743200"/>
                <a:tab algn="l" pos="3657600"/>
                <a:tab algn="l" pos="4572000"/>
                <a:tab algn="l" pos="5486400"/>
                <a:tab algn="l" pos="6400800"/>
                <a:tab algn="l" pos="7315200"/>
                <a:tab algn="l" pos="8229600"/>
                <a:tab algn="l" pos="9144000"/>
                <a:tab algn="l" pos="10058400"/>
              </a:tabLst>
            </a:pPr>
            <a:r>
              <a:rPr b="1" lang="en-US" sz="1800" strike="noStrike" u="none">
                <a:solidFill>
                  <a:srgbClr val="000000"/>
                </a:solidFill>
                <a:effectLst/>
                <a:uFillTx/>
                <a:latin typeface="Arial Narrow"/>
              </a:rPr>
              <a:t>	</a:t>
            </a:r>
            <a:r>
              <a:rPr b="1" lang="en-US" sz="1800" strike="noStrike" u="none">
                <a:solidFill>
                  <a:srgbClr val="000000"/>
                </a:solidFill>
                <a:effectLst/>
                <a:uFillTx/>
                <a:latin typeface="Arial Narrow"/>
              </a:rPr>
              <a:t>              </a:t>
            </a:r>
            <a:r>
              <a:rPr b="1" lang="en-US" sz="1800" strike="noStrike" u="none">
                <a:solidFill>
                  <a:srgbClr val="ff0000"/>
                </a:solidFill>
                <a:effectLst/>
                <a:uFillTx/>
                <a:latin typeface="Arial Narrow"/>
              </a:rPr>
              <a:t>Sotiris Xantheas,</a:t>
            </a:r>
            <a:r>
              <a:rPr b="1" lang="en-US" sz="1800" strike="noStrike" u="none">
                <a:solidFill>
                  <a:srgbClr val="000000"/>
                </a:solidFill>
                <a:effectLst/>
                <a:uFillTx/>
                <a:latin typeface="Arial Narrow"/>
              </a:rPr>
              <a:t> Pacific Northwest National Lab</a:t>
            </a:r>
            <a:endParaRPr b="0" lang="en-IN" sz="1800" strike="noStrike" u="none">
              <a:solidFill>
                <a:srgbClr val="000000"/>
              </a:solidFill>
              <a:effectLst/>
              <a:uFillTx/>
              <a:latin typeface="Times New Roman"/>
            </a:endParaRPr>
          </a:p>
          <a:p>
            <a:pPr marL="471600" indent="-457200">
              <a:lnSpc>
                <a:spcPct val="100000"/>
              </a:lnSpc>
              <a:spcBef>
                <a:spcPts val="1250"/>
              </a:spcBef>
              <a:buClr>
                <a:srgbClr val="0000ff"/>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US" sz="2000" strike="noStrike" u="none">
                <a:solidFill>
                  <a:srgbClr val="0000ff"/>
                </a:solidFill>
                <a:effectLst/>
                <a:uFillTx/>
                <a:latin typeface="Arial Narrow"/>
              </a:rPr>
              <a:t>Panel 2:  Photochemistry/Condensed Phase Chemical Physics</a:t>
            </a:r>
            <a:endParaRPr b="0" lang="en-IN" sz="2000" strike="noStrike" u="none">
              <a:solidFill>
                <a:srgbClr val="000000"/>
              </a:solidFill>
              <a:effectLst/>
              <a:uFillTx/>
              <a:latin typeface="Times New Roman"/>
            </a:endParaRPr>
          </a:p>
          <a:p>
            <a:pPr lvl="1" marL="917640" indent="-457200">
              <a:lnSpc>
                <a:spcPct val="100000"/>
              </a:lnSpc>
              <a:tabLst>
                <a:tab algn="l" pos="0"/>
                <a:tab algn="l" pos="1828800"/>
                <a:tab algn="l" pos="2743200"/>
                <a:tab algn="l" pos="3657600"/>
                <a:tab algn="l" pos="4572000"/>
                <a:tab algn="l" pos="5486400"/>
                <a:tab algn="l" pos="6400800"/>
                <a:tab algn="l" pos="7315200"/>
                <a:tab algn="l" pos="8229600"/>
                <a:tab algn="l" pos="9144000"/>
                <a:tab algn="l" pos="10058400"/>
              </a:tabLst>
            </a:pPr>
            <a:r>
              <a:rPr b="1" lang="en-US" sz="1800" strike="noStrike" u="none">
                <a:solidFill>
                  <a:srgbClr val="000000"/>
                </a:solidFill>
                <a:effectLst/>
                <a:uFillTx/>
                <a:latin typeface="Arial Narrow"/>
              </a:rPr>
              <a:t>Panel Lead:  Peter Rossky, University of Texas (2005 COV)</a:t>
            </a:r>
            <a:endParaRPr b="0" lang="en-IN" sz="1800" strike="noStrike" u="none">
              <a:solidFill>
                <a:srgbClr val="000000"/>
              </a:solidFill>
              <a:effectLst/>
              <a:uFillTx/>
              <a:latin typeface="Times New Roman"/>
            </a:endParaRPr>
          </a:p>
          <a:p>
            <a:pPr lvl="1" marL="917640" indent="-457200">
              <a:lnSpc>
                <a:spcPct val="100000"/>
              </a:lnSpc>
              <a:tabLst>
                <a:tab algn="l" pos="0"/>
                <a:tab algn="l" pos="1828800"/>
                <a:tab algn="l" pos="2743200"/>
                <a:tab algn="l" pos="3657600"/>
                <a:tab algn="l" pos="4572000"/>
                <a:tab algn="l" pos="5486400"/>
                <a:tab algn="l" pos="6400800"/>
                <a:tab algn="l" pos="7315200"/>
                <a:tab algn="l" pos="8229600"/>
                <a:tab algn="l" pos="9144000"/>
                <a:tab algn="l" pos="10058400"/>
              </a:tabLst>
            </a:pPr>
            <a:r>
              <a:rPr b="1" lang="en-US" sz="1800" strike="noStrike" u="none">
                <a:solidFill>
                  <a:srgbClr val="000000"/>
                </a:solidFill>
                <a:effectLst/>
                <a:uFillTx/>
                <a:latin typeface="Arial Narrow"/>
              </a:rPr>
              <a:t>Members:     Luis Echegoyen, NSF &amp; Clemson University</a:t>
            </a:r>
            <a:endParaRPr b="0" lang="en-IN" sz="1800" strike="noStrike" u="none">
              <a:solidFill>
                <a:srgbClr val="000000"/>
              </a:solidFill>
              <a:effectLst/>
              <a:uFillTx/>
              <a:latin typeface="Times New Roman"/>
            </a:endParaRPr>
          </a:p>
          <a:p>
            <a:pPr lvl="1" marL="917640" indent="-457200">
              <a:lnSpc>
                <a:spcPct val="100000"/>
              </a:lnSpc>
              <a:tabLst>
                <a:tab algn="l" pos="0"/>
                <a:tab algn="l" pos="1828800"/>
                <a:tab algn="l" pos="2743200"/>
                <a:tab algn="l" pos="3657600"/>
                <a:tab algn="l" pos="4572000"/>
                <a:tab algn="l" pos="5486400"/>
                <a:tab algn="l" pos="6400800"/>
                <a:tab algn="l" pos="7315200"/>
                <a:tab algn="l" pos="8229600"/>
                <a:tab algn="l" pos="9144000"/>
                <a:tab algn="l" pos="10058400"/>
              </a:tabLst>
            </a:pPr>
            <a:r>
              <a:rPr b="1" lang="en-US" sz="1800" strike="noStrike" u="none">
                <a:solidFill>
                  <a:srgbClr val="000000"/>
                </a:solidFill>
                <a:effectLst/>
                <a:uFillTx/>
                <a:latin typeface="Arial Narrow"/>
              </a:rPr>
              <a:t>	</a:t>
            </a:r>
            <a:r>
              <a:rPr b="1" lang="en-US" sz="1800" strike="noStrike" u="none">
                <a:solidFill>
                  <a:srgbClr val="000000"/>
                </a:solidFill>
                <a:effectLst/>
                <a:uFillTx/>
                <a:latin typeface="Arial Narrow"/>
              </a:rPr>
              <a:t>             </a:t>
            </a:r>
            <a:r>
              <a:rPr b="1" lang="en-US" sz="1800" strike="noStrike" u="none">
                <a:solidFill>
                  <a:srgbClr val="ff0000"/>
                </a:solidFill>
                <a:effectLst/>
                <a:uFillTx/>
                <a:latin typeface="Arial Narrow"/>
              </a:rPr>
              <a:t>Etsuko Fujita,</a:t>
            </a:r>
            <a:r>
              <a:rPr b="1" lang="en-US" sz="1800" strike="noStrike" u="none">
                <a:solidFill>
                  <a:srgbClr val="000000"/>
                </a:solidFill>
                <a:effectLst/>
                <a:uFillTx/>
                <a:latin typeface="Arial Narrow"/>
              </a:rPr>
              <a:t> Brookhaven National Laboratory</a:t>
            </a:r>
            <a:endParaRPr b="0" lang="en-IN" sz="1800" strike="noStrike" u="none">
              <a:solidFill>
                <a:srgbClr val="000000"/>
              </a:solidFill>
              <a:effectLst/>
              <a:uFillTx/>
              <a:latin typeface="Times New Roman"/>
            </a:endParaRPr>
          </a:p>
          <a:p>
            <a:pPr lvl="1" marL="917640" indent="-457200">
              <a:lnSpc>
                <a:spcPct val="100000"/>
              </a:lnSpc>
              <a:tabLst>
                <a:tab algn="l" pos="0"/>
                <a:tab algn="l" pos="1828800"/>
                <a:tab algn="l" pos="2743200"/>
                <a:tab algn="l" pos="3657600"/>
                <a:tab algn="l" pos="4572000"/>
                <a:tab algn="l" pos="5486400"/>
                <a:tab algn="l" pos="6400800"/>
                <a:tab algn="l" pos="7315200"/>
                <a:tab algn="l" pos="8229600"/>
                <a:tab algn="l" pos="9144000"/>
                <a:tab algn="l" pos="10058400"/>
              </a:tabLst>
            </a:pPr>
            <a:r>
              <a:rPr b="1" lang="en-US" sz="1800" strike="noStrike" u="none">
                <a:solidFill>
                  <a:srgbClr val="000000"/>
                </a:solidFill>
                <a:effectLst/>
                <a:uFillTx/>
                <a:latin typeface="Arial Narrow"/>
              </a:rPr>
              <a:t>	</a:t>
            </a:r>
            <a:r>
              <a:rPr b="1" lang="en-US" sz="1800" strike="noStrike" u="none">
                <a:solidFill>
                  <a:srgbClr val="000000"/>
                </a:solidFill>
                <a:effectLst/>
                <a:uFillTx/>
                <a:latin typeface="Arial Narrow"/>
              </a:rPr>
              <a:t>             </a:t>
            </a:r>
            <a:r>
              <a:rPr b="1" lang="en-US" sz="1800" strike="noStrike" u="none">
                <a:solidFill>
                  <a:srgbClr val="ff0000"/>
                </a:solidFill>
                <a:effectLst/>
                <a:uFillTx/>
                <a:latin typeface="Arial Narrow"/>
              </a:rPr>
              <a:t>Devens Gust,</a:t>
            </a:r>
            <a:r>
              <a:rPr b="1" lang="en-US" sz="1800" strike="noStrike" u="none">
                <a:solidFill>
                  <a:srgbClr val="000000"/>
                </a:solidFill>
                <a:effectLst/>
                <a:uFillTx/>
                <a:latin typeface="Arial Narrow"/>
              </a:rPr>
              <a:t> Arizona State University</a:t>
            </a:r>
            <a:endParaRPr b="0" lang="en-IN" sz="1800" strike="noStrike" u="none">
              <a:solidFill>
                <a:srgbClr val="000000"/>
              </a:solidFill>
              <a:effectLst/>
              <a:uFillTx/>
              <a:latin typeface="Times New Roman"/>
            </a:endParaRPr>
          </a:p>
          <a:p>
            <a:pPr lvl="1" marL="917640" indent="-457200">
              <a:lnSpc>
                <a:spcPct val="100000"/>
              </a:lnSpc>
              <a:tabLst>
                <a:tab algn="l" pos="0"/>
                <a:tab algn="l" pos="1828800"/>
                <a:tab algn="l" pos="2743200"/>
                <a:tab algn="l" pos="3657600"/>
                <a:tab algn="l" pos="4572000"/>
                <a:tab algn="l" pos="5486400"/>
                <a:tab algn="l" pos="6400800"/>
                <a:tab algn="l" pos="7315200"/>
                <a:tab algn="l" pos="8229600"/>
                <a:tab algn="l" pos="9144000"/>
                <a:tab algn="l" pos="10058400"/>
              </a:tabLst>
            </a:pPr>
            <a:r>
              <a:rPr b="1" lang="en-US" sz="1800" strike="noStrike" u="none">
                <a:solidFill>
                  <a:srgbClr val="000000"/>
                </a:solidFill>
                <a:effectLst/>
                <a:uFillTx/>
                <a:latin typeface="Arial Narrow"/>
              </a:rPr>
              <a:t>	</a:t>
            </a:r>
            <a:r>
              <a:rPr b="1" lang="en-US" sz="1800" strike="noStrike" u="none">
                <a:solidFill>
                  <a:srgbClr val="000000"/>
                </a:solidFill>
                <a:effectLst/>
                <a:uFillTx/>
                <a:latin typeface="Arial Narrow"/>
              </a:rPr>
              <a:t>             Sharon Hammes-Schiffer,* Pennsylvania State University</a:t>
            </a:r>
            <a:endParaRPr b="0" lang="en-IN" sz="1800" strike="noStrike" u="none">
              <a:solidFill>
                <a:srgbClr val="000000"/>
              </a:solidFill>
              <a:effectLst/>
              <a:uFillTx/>
              <a:latin typeface="Times New Roman"/>
            </a:endParaRPr>
          </a:p>
          <a:p>
            <a:pPr lvl="1" marL="917640" indent="-457200">
              <a:lnSpc>
                <a:spcPct val="100000"/>
              </a:lnSpc>
              <a:tabLst>
                <a:tab algn="l" pos="0"/>
                <a:tab algn="l" pos="1828800"/>
                <a:tab algn="l" pos="2743200"/>
                <a:tab algn="l" pos="3657600"/>
                <a:tab algn="l" pos="4572000"/>
                <a:tab algn="l" pos="5486400"/>
                <a:tab algn="l" pos="6400800"/>
                <a:tab algn="l" pos="7315200"/>
                <a:tab algn="l" pos="8229600"/>
                <a:tab algn="l" pos="9144000"/>
                <a:tab algn="l" pos="10058400"/>
              </a:tabLst>
            </a:pPr>
            <a:r>
              <a:rPr b="1" lang="en-US" sz="1800" strike="noStrike" u="none">
                <a:solidFill>
                  <a:srgbClr val="000000"/>
                </a:solidFill>
                <a:effectLst/>
                <a:uFillTx/>
                <a:latin typeface="Arial Narrow"/>
              </a:rPr>
              <a:t>	</a:t>
            </a:r>
            <a:r>
              <a:rPr b="1" lang="en-US" sz="1800" strike="noStrike" u="none">
                <a:solidFill>
                  <a:srgbClr val="000000"/>
                </a:solidFill>
                <a:effectLst/>
                <a:uFillTx/>
                <a:latin typeface="Arial Narrow"/>
              </a:rPr>
              <a:t>             </a:t>
            </a:r>
            <a:r>
              <a:rPr b="1" lang="en-US" sz="1800" strike="noStrike" u="none">
                <a:solidFill>
                  <a:srgbClr val="ff0000"/>
                </a:solidFill>
                <a:effectLst/>
                <a:uFillTx/>
                <a:latin typeface="Arial Narrow"/>
              </a:rPr>
              <a:t>Thom Orlando,</a:t>
            </a:r>
            <a:r>
              <a:rPr b="1" lang="en-US" sz="1800" strike="noStrike" u="none">
                <a:solidFill>
                  <a:srgbClr val="000000"/>
                </a:solidFill>
                <a:effectLst/>
                <a:uFillTx/>
                <a:latin typeface="Arial Narrow"/>
              </a:rPr>
              <a:t> Georgia Tech</a:t>
            </a:r>
            <a:endParaRPr b="0" lang="en-IN" sz="1800" strike="noStrike" u="none">
              <a:solidFill>
                <a:srgbClr val="000000"/>
              </a:solidFill>
              <a:effectLst/>
              <a:uFillTx/>
              <a:latin typeface="Times New Roman"/>
            </a:endParaRPr>
          </a:p>
          <a:p>
            <a:pPr marL="471600" indent="-457200">
              <a:lnSpc>
                <a:spcPct val="100000"/>
              </a:lnSpc>
              <a:spcBef>
                <a:spcPts val="1250"/>
              </a:spcBef>
              <a:buClr>
                <a:srgbClr val="0000ff"/>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US" sz="2000" strike="noStrike" u="none">
                <a:solidFill>
                  <a:srgbClr val="0000ff"/>
                </a:solidFill>
                <a:effectLst/>
                <a:uFillTx/>
                <a:latin typeface="Arial Narrow"/>
              </a:rPr>
              <a:t>Panel 3:  Catalysis</a:t>
            </a:r>
            <a:endParaRPr b="0" lang="en-IN" sz="2000" strike="noStrike" u="none">
              <a:solidFill>
                <a:srgbClr val="000000"/>
              </a:solidFill>
              <a:effectLst/>
              <a:uFillTx/>
              <a:latin typeface="Times New Roman"/>
            </a:endParaRPr>
          </a:p>
          <a:p>
            <a:pPr lvl="1" marL="917640" indent="-457200">
              <a:lnSpc>
                <a:spcPct val="100000"/>
              </a:lnSpc>
              <a:tabLst>
                <a:tab algn="l" pos="0"/>
                <a:tab algn="l" pos="1828800"/>
                <a:tab algn="l" pos="2743200"/>
                <a:tab algn="l" pos="3657600"/>
                <a:tab algn="l" pos="4572000"/>
                <a:tab algn="l" pos="5486400"/>
                <a:tab algn="l" pos="6400800"/>
                <a:tab algn="l" pos="7315200"/>
                <a:tab algn="l" pos="8229600"/>
                <a:tab algn="l" pos="9144000"/>
                <a:tab algn="l" pos="10058400"/>
              </a:tabLst>
            </a:pPr>
            <a:r>
              <a:rPr b="1" lang="en-US" sz="1800" strike="noStrike" u="none">
                <a:solidFill>
                  <a:srgbClr val="000000"/>
                </a:solidFill>
                <a:effectLst/>
                <a:uFillTx/>
                <a:latin typeface="Arial Narrow"/>
              </a:rPr>
              <a:t>Panel Lead:  </a:t>
            </a:r>
            <a:r>
              <a:rPr b="1" lang="en-US" sz="1800" strike="noStrike" u="none">
                <a:solidFill>
                  <a:srgbClr val="ff0000"/>
                </a:solidFill>
                <a:effectLst/>
                <a:uFillTx/>
                <a:latin typeface="Arial Narrow"/>
              </a:rPr>
              <a:t>Bruce Gates,*</a:t>
            </a:r>
            <a:r>
              <a:rPr b="1" lang="en-US" sz="1800" strike="noStrike" u="none">
                <a:solidFill>
                  <a:srgbClr val="000000"/>
                </a:solidFill>
                <a:effectLst/>
                <a:uFillTx/>
                <a:latin typeface="Arial Narrow"/>
              </a:rPr>
              <a:t> UC Davis</a:t>
            </a:r>
            <a:endParaRPr b="0" lang="en-IN" sz="1800" strike="noStrike" u="none">
              <a:solidFill>
                <a:srgbClr val="000000"/>
              </a:solidFill>
              <a:effectLst/>
              <a:uFillTx/>
              <a:latin typeface="Times New Roman"/>
            </a:endParaRPr>
          </a:p>
          <a:p>
            <a:pPr marL="471600" indent="-457200">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trike="noStrike" u="none">
                <a:solidFill>
                  <a:srgbClr val="000000"/>
                </a:solidFill>
                <a:effectLst/>
                <a:uFillTx/>
                <a:latin typeface="Arial Narrow"/>
              </a:rPr>
              <a:t>	</a:t>
            </a:r>
            <a:r>
              <a:rPr b="1" lang="en-US" sz="1800" strike="noStrike" u="none">
                <a:solidFill>
                  <a:srgbClr val="000000"/>
                </a:solidFill>
                <a:effectLst/>
                <a:uFillTx/>
                <a:latin typeface="Arial Narrow"/>
              </a:rPr>
              <a:t>Members:     </a:t>
            </a:r>
            <a:r>
              <a:rPr b="1" lang="en-US" sz="1800" strike="noStrike" u="none">
                <a:solidFill>
                  <a:srgbClr val="ff0000"/>
                </a:solidFill>
                <a:effectLst/>
                <a:uFillTx/>
                <a:latin typeface="Arial Narrow"/>
              </a:rPr>
              <a:t>Cynthia Friend,</a:t>
            </a:r>
            <a:r>
              <a:rPr b="1" lang="en-US" sz="1800" strike="noStrike" u="none">
                <a:solidFill>
                  <a:srgbClr val="000000"/>
                </a:solidFill>
                <a:effectLst/>
                <a:uFillTx/>
                <a:latin typeface="Arial Narrow"/>
              </a:rPr>
              <a:t> Harvard University (2005 COV)</a:t>
            </a:r>
            <a:endParaRPr b="0" lang="en-IN" sz="1800" strike="noStrike" u="none">
              <a:solidFill>
                <a:srgbClr val="000000"/>
              </a:solidFill>
              <a:effectLst/>
              <a:uFillTx/>
              <a:latin typeface="Times New Roman"/>
            </a:endParaRPr>
          </a:p>
          <a:p>
            <a:pPr marL="471600" indent="-457200">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trike="noStrike" u="none">
                <a:solidFill>
                  <a:srgbClr val="000000"/>
                </a:solidFill>
                <a:effectLst/>
                <a:uFillTx/>
                <a:latin typeface="Arial Narrow"/>
              </a:rPr>
              <a:t>	</a:t>
            </a:r>
            <a:r>
              <a:rPr b="1" lang="en-US" sz="1800" strike="noStrike" u="none">
                <a:solidFill>
                  <a:srgbClr val="000000"/>
                </a:solidFill>
                <a:effectLst/>
                <a:uFillTx/>
                <a:latin typeface="Arial Narrow"/>
              </a:rPr>
              <a:t>	</a:t>
            </a:r>
            <a:r>
              <a:rPr b="1" lang="en-US" sz="1800" strike="noStrike" u="none">
                <a:solidFill>
                  <a:srgbClr val="000000"/>
                </a:solidFill>
                <a:effectLst/>
                <a:uFillTx/>
                <a:latin typeface="Arial Narrow"/>
              </a:rPr>
              <a:t>              Horia Metiu, UC Santa Barbara</a:t>
            </a:r>
            <a:endParaRPr b="0" lang="en-IN" sz="1800" strike="noStrike" u="none">
              <a:solidFill>
                <a:srgbClr val="000000"/>
              </a:solidFill>
              <a:effectLst/>
              <a:uFillTx/>
              <a:latin typeface="Times New Roman"/>
            </a:endParaRPr>
          </a:p>
          <a:p>
            <a:pPr marL="471600" indent="-457200">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trike="noStrike" u="none">
                <a:solidFill>
                  <a:srgbClr val="000000"/>
                </a:solidFill>
                <a:effectLst/>
                <a:uFillTx/>
                <a:latin typeface="Arial Narrow"/>
              </a:rPr>
              <a:t>	</a:t>
            </a:r>
            <a:r>
              <a:rPr b="1" lang="en-US" sz="1800" strike="noStrike" u="none">
                <a:solidFill>
                  <a:srgbClr val="000000"/>
                </a:solidFill>
                <a:effectLst/>
                <a:uFillTx/>
                <a:latin typeface="Arial Narrow"/>
              </a:rPr>
              <a:t>	</a:t>
            </a:r>
            <a:r>
              <a:rPr b="1" lang="en-US" sz="1800" strike="noStrike" u="none">
                <a:solidFill>
                  <a:srgbClr val="000000"/>
                </a:solidFill>
                <a:effectLst/>
                <a:uFillTx/>
                <a:latin typeface="Arial Narrow"/>
              </a:rPr>
              <a:t>              </a:t>
            </a:r>
            <a:r>
              <a:rPr b="1" lang="en-US" sz="1800" strike="noStrike" u="none">
                <a:solidFill>
                  <a:srgbClr val="ff0000"/>
                </a:solidFill>
                <a:effectLst/>
                <a:uFillTx/>
                <a:latin typeface="Arial Narrow"/>
              </a:rPr>
              <a:t>Umit Ozkan,</a:t>
            </a:r>
            <a:r>
              <a:rPr b="1" lang="en-US" sz="1800" strike="noStrike" u="none">
                <a:solidFill>
                  <a:srgbClr val="000000"/>
                </a:solidFill>
                <a:effectLst/>
                <a:uFillTx/>
                <a:latin typeface="Arial Narrow"/>
              </a:rPr>
              <a:t> Ohio State University</a:t>
            </a:r>
            <a:endParaRPr b="0" lang="en-IN" sz="1800" strike="noStrike" u="none">
              <a:solidFill>
                <a:srgbClr val="000000"/>
              </a:solidFill>
              <a:effectLst/>
              <a:uFillTx/>
              <a:latin typeface="Times New Roman"/>
            </a:endParaRPr>
          </a:p>
          <a:p>
            <a:pPr marL="471600" indent="-457200">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trike="noStrike" u="none">
                <a:solidFill>
                  <a:srgbClr val="000000"/>
                </a:solidFill>
                <a:effectLst/>
                <a:uFillTx/>
                <a:latin typeface="Arial Narrow"/>
              </a:rPr>
              <a:t>	</a:t>
            </a:r>
            <a:r>
              <a:rPr b="1" lang="en-US" sz="1800" strike="noStrike" u="none">
                <a:solidFill>
                  <a:srgbClr val="000000"/>
                </a:solidFill>
                <a:effectLst/>
                <a:uFillTx/>
                <a:latin typeface="Arial Narrow"/>
              </a:rPr>
              <a:t>	</a:t>
            </a:r>
            <a:r>
              <a:rPr b="1" lang="en-US" sz="1800" strike="noStrike" u="none">
                <a:solidFill>
                  <a:srgbClr val="000000"/>
                </a:solidFill>
                <a:effectLst/>
                <a:uFillTx/>
                <a:latin typeface="Arial Narrow"/>
              </a:rPr>
              <a:t>              Simon Bare,* UOP LLC</a:t>
            </a:r>
            <a:endParaRPr b="0" lang="en-IN" sz="1800" strike="noStrike" u="none">
              <a:solidFill>
                <a:srgbClr val="000000"/>
              </a:solidFill>
              <a:effectLst/>
              <a:uFillTx/>
              <a:latin typeface="Times New Roman"/>
            </a:endParaRPr>
          </a:p>
          <a:p>
            <a:pPr marL="471600" indent="-457200">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trike="noStrike" u="none">
                <a:solidFill>
                  <a:srgbClr val="000000"/>
                </a:solidFill>
                <a:effectLst/>
                <a:uFillTx/>
                <a:latin typeface="Arial Narrow"/>
              </a:rPr>
              <a:t>	</a:t>
            </a:r>
            <a:r>
              <a:rPr b="1" lang="en-US" sz="1800" strike="noStrike" u="none">
                <a:solidFill>
                  <a:srgbClr val="000000"/>
                </a:solidFill>
                <a:effectLst/>
                <a:uFillTx/>
                <a:latin typeface="Arial Narrow"/>
              </a:rPr>
              <a:t>	</a:t>
            </a:r>
            <a:r>
              <a:rPr b="1" lang="en-US" sz="1800" strike="noStrike" u="none">
                <a:solidFill>
                  <a:srgbClr val="000000"/>
                </a:solidFill>
                <a:effectLst/>
                <a:uFillTx/>
                <a:latin typeface="Arial Narrow"/>
              </a:rPr>
              <a:t>              D. Michael Heinekey, University of Washington</a:t>
            </a:r>
            <a:endParaRPr b="0" lang="en-IN" sz="1800" strike="noStrike" u="none">
              <a:solidFill>
                <a:srgbClr val="000000"/>
              </a:solidFill>
              <a:effectLst/>
              <a:uFillTx/>
              <a:latin typeface="Times New Roman"/>
            </a:endParaRPr>
          </a:p>
        </p:txBody>
      </p:sp>
      <p:sp>
        <p:nvSpPr>
          <p:cNvPr id="36" name=""/>
          <p:cNvSpPr/>
          <p:nvPr/>
        </p:nvSpPr>
        <p:spPr>
          <a:xfrm>
            <a:off x="6919200" y="6600960"/>
            <a:ext cx="2960640" cy="916920"/>
          </a:xfrm>
          <a:prstGeom prst="rect">
            <a:avLst/>
          </a:prstGeom>
          <a:noFill/>
          <a:ln w="0">
            <a:noFill/>
          </a:ln>
        </p:spPr>
        <p:style>
          <a:lnRef idx="0"/>
          <a:fillRef idx="0"/>
          <a:effectRef idx="0"/>
          <a:fontRef idx="minor"/>
        </p:style>
        <p:txBody>
          <a:bodyPr wrap="none" lIns="90000" rIns="90000" tIns="46800" bIns="46800" anchor="t">
            <a:spAutoFit/>
          </a:bodyPr>
          <a:p>
            <a:pPr marL="457200">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ff0000"/>
                </a:solidFill>
                <a:effectLst/>
                <a:uFillTx/>
                <a:latin typeface="Arial Narrow"/>
              </a:rPr>
              <a:t>Funded by CSGB Division</a:t>
            </a:r>
            <a:endParaRPr b="0" lang="en-IN" sz="1800" strike="noStrike" u="none">
              <a:solidFill>
                <a:srgbClr val="000000"/>
              </a:solidFill>
              <a:effectLst/>
              <a:uFillTx/>
              <a:latin typeface="Times New Roman"/>
            </a:endParaRPr>
          </a:p>
          <a:p>
            <a:pPr marL="457200">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000000"/>
                </a:solidFill>
                <a:effectLst/>
                <a:uFillTx/>
                <a:latin typeface="Arial Narrow"/>
              </a:rPr>
              <a:t>*Current BESAC member</a:t>
            </a:r>
            <a:endParaRPr b="0" lang="en-IN" sz="1800" strike="noStrike" u="none">
              <a:solidFill>
                <a:srgbClr val="000000"/>
              </a:solidFill>
              <a:effectLst/>
              <a:uFillTx/>
              <a:latin typeface="Times New Roman"/>
            </a:endParaRPr>
          </a:p>
          <a:p>
            <a:pPr marL="457200">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000000"/>
                </a:solidFill>
                <a:effectLst/>
                <a:uFillTx/>
                <a:latin typeface="Arial Narrow"/>
              </a:rPr>
              <a:t>**Past BESAC member</a:t>
            </a:r>
            <a:endParaRPr b="0" lang="en-IN" sz="1800" strike="noStrike" u="none">
              <a:solidFill>
                <a:srgbClr val="000000"/>
              </a:solidFill>
              <a:effectLst/>
              <a:uFillTx/>
              <a:latin typeface="Times New Roman"/>
            </a:endParaRPr>
          </a:p>
        </p:txBody>
      </p:sp>
    </p:spTree>
  </p:cSld>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7" name=""/>
          <p:cNvSpPr/>
          <p:nvPr/>
        </p:nvSpPr>
        <p:spPr>
          <a:xfrm>
            <a:off x="1433160" y="138240"/>
            <a:ext cx="6616080" cy="576720"/>
          </a:xfrm>
          <a:prstGeom prst="rect">
            <a:avLst/>
          </a:prstGeom>
          <a:noFill/>
          <a:ln w="0">
            <a:noFill/>
          </a:ln>
        </p:spPr>
        <p:style>
          <a:lnRef idx="0"/>
          <a:fillRef idx="0"/>
          <a:effectRef idx="0"/>
          <a:fontRef idx="minor"/>
        </p:style>
        <p:txBody>
          <a:bodyPr wrap="none" lIns="90360" rIns="90360" tIns="44280" bIns="4428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IN" sz="3200" strike="noStrike" u="none">
                <a:solidFill>
                  <a:srgbClr val="ff0000"/>
                </a:solidFill>
                <a:effectLst/>
                <a:uFillTx/>
                <a:latin typeface="Arial Narrow"/>
              </a:rPr>
              <a:t>2008 COV Organization and Membership</a:t>
            </a:r>
            <a:endParaRPr b="0" lang="en-IN" sz="3200" strike="noStrike" u="none">
              <a:solidFill>
                <a:srgbClr val="000000"/>
              </a:solidFill>
              <a:effectLst/>
              <a:uFillTx/>
              <a:latin typeface="Times New Roman"/>
            </a:endParaRPr>
          </a:p>
        </p:txBody>
      </p:sp>
      <p:sp>
        <p:nvSpPr>
          <p:cNvPr id="38" name=""/>
          <p:cNvSpPr/>
          <p:nvPr/>
        </p:nvSpPr>
        <p:spPr>
          <a:xfrm>
            <a:off x="382680" y="901800"/>
            <a:ext cx="9358200" cy="6289560"/>
          </a:xfrm>
          <a:prstGeom prst="rect">
            <a:avLst/>
          </a:prstGeom>
          <a:noFill/>
          <a:ln w="0">
            <a:noFill/>
          </a:ln>
        </p:spPr>
        <p:style>
          <a:lnRef idx="0"/>
          <a:fillRef idx="0"/>
          <a:effectRef idx="0"/>
          <a:fontRef idx="minor"/>
        </p:style>
        <p:txBody>
          <a:bodyPr lIns="90360" rIns="90360" tIns="44280" bIns="44280" anchor="t">
            <a:spAutoFit/>
          </a:bodyPr>
          <a:p>
            <a:pPr marL="471600" indent="-457200">
              <a:lnSpc>
                <a:spcPct val="100000"/>
              </a:lnSpc>
              <a:spcBef>
                <a:spcPts val="499"/>
              </a:spcBef>
              <a:buClr>
                <a:srgbClr val="0000ff"/>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US" sz="2000" strike="noStrike" u="none">
                <a:solidFill>
                  <a:srgbClr val="0000ff"/>
                </a:solidFill>
                <a:effectLst/>
                <a:uFillTx/>
                <a:latin typeface="Arial Narrow"/>
              </a:rPr>
              <a:t>Panel 4:  Heavy Element Chemistry/Separations &amp; Analyses</a:t>
            </a:r>
            <a:endParaRPr b="0" lang="en-IN" sz="2000" strike="noStrike" u="none">
              <a:solidFill>
                <a:srgbClr val="000000"/>
              </a:solidFill>
              <a:effectLst/>
              <a:uFillTx/>
              <a:latin typeface="Times New Roman"/>
            </a:endParaRPr>
          </a:p>
          <a:p>
            <a:pPr lvl="1" marL="917640" indent="-457200">
              <a:lnSpc>
                <a:spcPct val="100000"/>
              </a:lnSpc>
              <a:tabLst>
                <a:tab algn="l" pos="0"/>
                <a:tab algn="l" pos="1828800"/>
                <a:tab algn="l" pos="2743200"/>
                <a:tab algn="l" pos="3657600"/>
                <a:tab algn="l" pos="4572000"/>
                <a:tab algn="l" pos="5486400"/>
                <a:tab algn="l" pos="6400800"/>
                <a:tab algn="l" pos="7315200"/>
                <a:tab algn="l" pos="8229600"/>
                <a:tab algn="l" pos="9144000"/>
                <a:tab algn="l" pos="10058400"/>
              </a:tabLst>
            </a:pPr>
            <a:r>
              <a:rPr b="1" lang="en-US" sz="1800" strike="noStrike" u="none">
                <a:solidFill>
                  <a:srgbClr val="000000"/>
                </a:solidFill>
                <a:effectLst/>
                <a:uFillTx/>
                <a:latin typeface="Arial Narrow"/>
              </a:rPr>
              <a:t>Panel Lead:  Carol Burns, Los Alamos National Laboratory (2002 COV)</a:t>
            </a:r>
            <a:endParaRPr b="0" lang="en-IN" sz="1800" strike="noStrike" u="none">
              <a:solidFill>
                <a:srgbClr val="000000"/>
              </a:solidFill>
              <a:effectLst/>
              <a:uFillTx/>
              <a:latin typeface="Times New Roman"/>
            </a:endParaRPr>
          </a:p>
          <a:p>
            <a:pPr lvl="1" marL="917640" indent="-457200">
              <a:lnSpc>
                <a:spcPct val="100000"/>
              </a:lnSpc>
              <a:tabLst>
                <a:tab algn="l" pos="0"/>
                <a:tab algn="l" pos="1828800"/>
                <a:tab algn="l" pos="2743200"/>
                <a:tab algn="l" pos="3657600"/>
                <a:tab algn="l" pos="4572000"/>
                <a:tab algn="l" pos="5486400"/>
                <a:tab algn="l" pos="6400800"/>
                <a:tab algn="l" pos="7315200"/>
                <a:tab algn="l" pos="8229600"/>
                <a:tab algn="l" pos="9144000"/>
                <a:tab algn="l" pos="10058400"/>
              </a:tabLst>
            </a:pPr>
            <a:r>
              <a:rPr b="1" lang="en-US" sz="1800" strike="noStrike" u="none">
                <a:solidFill>
                  <a:srgbClr val="000000"/>
                </a:solidFill>
                <a:effectLst/>
                <a:uFillTx/>
                <a:latin typeface="Arial Narrow"/>
              </a:rPr>
              <a:t>Members:      Bruce Chase, Dupont</a:t>
            </a:r>
            <a:endParaRPr b="0" lang="en-IN" sz="1800" strike="noStrike" u="none">
              <a:solidFill>
                <a:srgbClr val="000000"/>
              </a:solidFill>
              <a:effectLst/>
              <a:uFillTx/>
              <a:latin typeface="Times New Roman"/>
            </a:endParaRPr>
          </a:p>
          <a:p>
            <a:pPr lvl="1" marL="917640" indent="-457200">
              <a:lnSpc>
                <a:spcPct val="100000"/>
              </a:lnSpc>
              <a:tabLst>
                <a:tab algn="l" pos="0"/>
                <a:tab algn="l" pos="1828800"/>
                <a:tab algn="l" pos="2743200"/>
                <a:tab algn="l" pos="3657600"/>
                <a:tab algn="l" pos="4572000"/>
                <a:tab algn="l" pos="5486400"/>
                <a:tab algn="l" pos="6400800"/>
                <a:tab algn="l" pos="7315200"/>
                <a:tab algn="l" pos="8229600"/>
                <a:tab algn="l" pos="9144000"/>
                <a:tab algn="l" pos="10058400"/>
              </a:tabLst>
            </a:pPr>
            <a:r>
              <a:rPr b="1" lang="en-US" sz="1800" strike="noStrike" u="none">
                <a:solidFill>
                  <a:srgbClr val="000000"/>
                </a:solidFill>
                <a:effectLst/>
                <a:uFillTx/>
                <a:latin typeface="Arial Narrow"/>
              </a:rPr>
              <a:t>	</a:t>
            </a:r>
            <a:r>
              <a:rPr b="1" lang="en-US" sz="1800" strike="noStrike" u="none">
                <a:solidFill>
                  <a:srgbClr val="000000"/>
                </a:solidFill>
                <a:effectLst/>
                <a:uFillTx/>
                <a:latin typeface="Arial Narrow"/>
              </a:rPr>
              <a:t>              </a:t>
            </a:r>
            <a:r>
              <a:rPr b="1" lang="en-US" sz="1800" strike="noStrike" u="none">
                <a:solidFill>
                  <a:srgbClr val="ff0000"/>
                </a:solidFill>
                <a:effectLst/>
                <a:uFillTx/>
                <a:latin typeface="Arial Narrow"/>
              </a:rPr>
              <a:t>Sue Clark,</a:t>
            </a:r>
            <a:r>
              <a:rPr b="1" lang="en-US" sz="1800" strike="noStrike" u="none">
                <a:solidFill>
                  <a:srgbClr val="000000"/>
                </a:solidFill>
                <a:effectLst/>
                <a:uFillTx/>
                <a:latin typeface="Arial Narrow"/>
              </a:rPr>
              <a:t>* Washington State University (2005 COV)</a:t>
            </a:r>
            <a:endParaRPr b="0" lang="en-IN" sz="1800" strike="noStrike" u="none">
              <a:solidFill>
                <a:srgbClr val="000000"/>
              </a:solidFill>
              <a:effectLst/>
              <a:uFillTx/>
              <a:latin typeface="Times New Roman"/>
            </a:endParaRPr>
          </a:p>
          <a:p>
            <a:pPr lvl="1" marL="917640" indent="-457200">
              <a:lnSpc>
                <a:spcPct val="100000"/>
              </a:lnSpc>
              <a:tabLst>
                <a:tab algn="l" pos="0"/>
                <a:tab algn="l" pos="1828800"/>
                <a:tab algn="l" pos="2743200"/>
                <a:tab algn="l" pos="3657600"/>
                <a:tab algn="l" pos="4572000"/>
                <a:tab algn="l" pos="5486400"/>
                <a:tab algn="l" pos="6400800"/>
                <a:tab algn="l" pos="7315200"/>
                <a:tab algn="l" pos="8229600"/>
                <a:tab algn="l" pos="9144000"/>
                <a:tab algn="l" pos="10058400"/>
              </a:tabLst>
            </a:pPr>
            <a:r>
              <a:rPr b="1" lang="en-US" sz="1800" strike="noStrike" u="none">
                <a:solidFill>
                  <a:srgbClr val="000000"/>
                </a:solidFill>
                <a:effectLst/>
                <a:uFillTx/>
                <a:latin typeface="Arial Narrow"/>
              </a:rPr>
              <a:t>	</a:t>
            </a:r>
            <a:r>
              <a:rPr b="1" lang="en-US" sz="1800" strike="noStrike" u="none">
                <a:solidFill>
                  <a:srgbClr val="000000"/>
                </a:solidFill>
                <a:effectLst/>
                <a:uFillTx/>
                <a:latin typeface="Arial Narrow"/>
              </a:rPr>
              <a:t>              </a:t>
            </a:r>
            <a:r>
              <a:rPr b="1" lang="en-US" sz="1800" strike="noStrike" u="none">
                <a:solidFill>
                  <a:srgbClr val="ff0000"/>
                </a:solidFill>
                <a:effectLst/>
                <a:uFillTx/>
                <a:latin typeface="Arial Narrow"/>
              </a:rPr>
              <a:t>William Evans,</a:t>
            </a:r>
            <a:r>
              <a:rPr b="1" lang="en-US" sz="1800" strike="noStrike" u="none">
                <a:solidFill>
                  <a:srgbClr val="000000"/>
                </a:solidFill>
                <a:effectLst/>
                <a:uFillTx/>
                <a:latin typeface="Arial Narrow"/>
              </a:rPr>
              <a:t> UC Irvine</a:t>
            </a:r>
            <a:endParaRPr b="0" lang="en-IN" sz="1800" strike="noStrike" u="none">
              <a:solidFill>
                <a:srgbClr val="000000"/>
              </a:solidFill>
              <a:effectLst/>
              <a:uFillTx/>
              <a:latin typeface="Times New Roman"/>
            </a:endParaRPr>
          </a:p>
          <a:p>
            <a:pPr lvl="1" marL="917640" indent="-457200">
              <a:lnSpc>
                <a:spcPct val="100000"/>
              </a:lnSpc>
              <a:tabLst>
                <a:tab algn="l" pos="0"/>
                <a:tab algn="l" pos="1828800"/>
                <a:tab algn="l" pos="2743200"/>
                <a:tab algn="l" pos="3657600"/>
                <a:tab algn="l" pos="4572000"/>
                <a:tab algn="l" pos="5486400"/>
                <a:tab algn="l" pos="6400800"/>
                <a:tab algn="l" pos="7315200"/>
                <a:tab algn="l" pos="8229600"/>
                <a:tab algn="l" pos="9144000"/>
                <a:tab algn="l" pos="10058400"/>
              </a:tabLst>
            </a:pPr>
            <a:r>
              <a:rPr b="1" lang="en-US" sz="1800" strike="noStrike" u="none">
                <a:solidFill>
                  <a:srgbClr val="000000"/>
                </a:solidFill>
                <a:effectLst/>
                <a:uFillTx/>
                <a:latin typeface="Arial Narrow"/>
              </a:rPr>
              <a:t>	</a:t>
            </a:r>
            <a:r>
              <a:rPr b="1" lang="en-US" sz="1800" strike="noStrike" u="none">
                <a:solidFill>
                  <a:srgbClr val="000000"/>
                </a:solidFill>
                <a:effectLst/>
                <a:uFillTx/>
                <a:latin typeface="Arial Narrow"/>
              </a:rPr>
              <a:t>              </a:t>
            </a:r>
            <a:r>
              <a:rPr b="1" lang="en-US" sz="1800" strike="noStrike" u="none">
                <a:solidFill>
                  <a:srgbClr val="ff0000"/>
                </a:solidFill>
                <a:effectLst/>
                <a:uFillTx/>
                <a:latin typeface="Arial Narrow"/>
              </a:rPr>
              <a:t>Michael Heaven,</a:t>
            </a:r>
            <a:r>
              <a:rPr b="1" lang="en-US" sz="1800" strike="noStrike" u="none">
                <a:solidFill>
                  <a:srgbClr val="000000"/>
                </a:solidFill>
                <a:effectLst/>
                <a:uFillTx/>
                <a:latin typeface="Arial Narrow"/>
              </a:rPr>
              <a:t> Emory University </a:t>
            </a:r>
            <a:endParaRPr b="0" lang="en-IN" sz="1800" strike="noStrike" u="none">
              <a:solidFill>
                <a:srgbClr val="000000"/>
              </a:solidFill>
              <a:effectLst/>
              <a:uFillTx/>
              <a:latin typeface="Times New Roman"/>
            </a:endParaRPr>
          </a:p>
          <a:p>
            <a:pPr lvl="1" marL="917640" indent="-457200">
              <a:lnSpc>
                <a:spcPct val="100000"/>
              </a:lnSpc>
              <a:tabLst>
                <a:tab algn="l" pos="0"/>
                <a:tab algn="l" pos="1828800"/>
                <a:tab algn="l" pos="2743200"/>
                <a:tab algn="l" pos="3657600"/>
                <a:tab algn="l" pos="4572000"/>
                <a:tab algn="l" pos="5486400"/>
                <a:tab algn="l" pos="6400800"/>
                <a:tab algn="l" pos="7315200"/>
                <a:tab algn="l" pos="8229600"/>
                <a:tab algn="l" pos="9144000"/>
                <a:tab algn="l" pos="10058400"/>
              </a:tabLst>
            </a:pPr>
            <a:r>
              <a:rPr b="1" lang="en-US" sz="1800" strike="noStrike" u="none">
                <a:solidFill>
                  <a:srgbClr val="000000"/>
                </a:solidFill>
                <a:effectLst/>
                <a:uFillTx/>
                <a:latin typeface="Arial Narrow"/>
              </a:rPr>
              <a:t>	</a:t>
            </a:r>
            <a:r>
              <a:rPr b="1" lang="en-US" sz="1800" strike="noStrike" u="none">
                <a:solidFill>
                  <a:srgbClr val="000000"/>
                </a:solidFill>
                <a:effectLst/>
                <a:uFillTx/>
                <a:latin typeface="Arial Narrow"/>
              </a:rPr>
              <a:t>              Robert Hettich, Oak Ridge National Lab</a:t>
            </a:r>
            <a:endParaRPr b="0" lang="en-IN" sz="1800" strike="noStrike" u="none">
              <a:solidFill>
                <a:srgbClr val="000000"/>
              </a:solidFill>
              <a:effectLst/>
              <a:uFillTx/>
              <a:latin typeface="Times New Roman"/>
            </a:endParaRPr>
          </a:p>
          <a:p>
            <a:pPr marL="471600" indent="-457200">
              <a:lnSpc>
                <a:spcPct val="100000"/>
              </a:lnSpc>
              <a:spcBef>
                <a:spcPts val="1250"/>
              </a:spcBef>
              <a:buClr>
                <a:srgbClr val="0000ff"/>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US" sz="2000" strike="noStrike" u="none">
                <a:solidFill>
                  <a:srgbClr val="0000ff"/>
                </a:solidFill>
                <a:effectLst/>
                <a:uFillTx/>
                <a:latin typeface="Arial Narrow"/>
              </a:rPr>
              <a:t>Panel 5:  Geosciences</a:t>
            </a:r>
            <a:endParaRPr b="0" lang="en-IN" sz="2000" strike="noStrike" u="none">
              <a:solidFill>
                <a:srgbClr val="000000"/>
              </a:solidFill>
              <a:effectLst/>
              <a:uFillTx/>
              <a:latin typeface="Times New Roman"/>
            </a:endParaRPr>
          </a:p>
          <a:p>
            <a:pPr lvl="1" marL="917640" indent="-457200">
              <a:lnSpc>
                <a:spcPct val="100000"/>
              </a:lnSpc>
              <a:tabLst>
                <a:tab algn="l" pos="0"/>
                <a:tab algn="l" pos="1828800"/>
                <a:tab algn="l" pos="2743200"/>
                <a:tab algn="l" pos="3657600"/>
                <a:tab algn="l" pos="4572000"/>
                <a:tab algn="l" pos="5486400"/>
                <a:tab algn="l" pos="6400800"/>
                <a:tab algn="l" pos="7315200"/>
                <a:tab algn="l" pos="8229600"/>
                <a:tab algn="l" pos="9144000"/>
                <a:tab algn="l" pos="10058400"/>
              </a:tabLst>
            </a:pPr>
            <a:r>
              <a:rPr b="1" lang="en-US" sz="1800" strike="noStrike" u="none">
                <a:solidFill>
                  <a:srgbClr val="000000"/>
                </a:solidFill>
                <a:effectLst/>
                <a:uFillTx/>
                <a:latin typeface="Arial Narrow"/>
              </a:rPr>
              <a:t>Panel Lead:  </a:t>
            </a:r>
            <a:r>
              <a:rPr b="1" lang="en-US" sz="1800" strike="noStrike" u="none">
                <a:solidFill>
                  <a:srgbClr val="ff0000"/>
                </a:solidFill>
                <a:effectLst/>
                <a:uFillTx/>
                <a:latin typeface="Arial Narrow"/>
              </a:rPr>
              <a:t>Ed Stolper,</a:t>
            </a:r>
            <a:r>
              <a:rPr b="1" lang="en-US" sz="1800" strike="noStrike" u="none">
                <a:solidFill>
                  <a:srgbClr val="000000"/>
                </a:solidFill>
                <a:effectLst/>
                <a:uFillTx/>
                <a:latin typeface="Arial Narrow"/>
              </a:rPr>
              <a:t> Cal Tech</a:t>
            </a:r>
            <a:endParaRPr b="0" lang="en-IN" sz="1800" strike="noStrike" u="none">
              <a:solidFill>
                <a:srgbClr val="000000"/>
              </a:solidFill>
              <a:effectLst/>
              <a:uFillTx/>
              <a:latin typeface="Times New Roman"/>
            </a:endParaRPr>
          </a:p>
          <a:p>
            <a:pPr lvl="1" marL="917640" indent="-457200">
              <a:lnSpc>
                <a:spcPct val="100000"/>
              </a:lnSpc>
              <a:tabLst>
                <a:tab algn="l" pos="0"/>
                <a:tab algn="l" pos="1828800"/>
                <a:tab algn="l" pos="2743200"/>
                <a:tab algn="l" pos="3657600"/>
                <a:tab algn="l" pos="4572000"/>
                <a:tab algn="l" pos="5486400"/>
                <a:tab algn="l" pos="6400800"/>
                <a:tab algn="l" pos="7315200"/>
                <a:tab algn="l" pos="8229600"/>
                <a:tab algn="l" pos="9144000"/>
                <a:tab algn="l" pos="10058400"/>
              </a:tabLst>
            </a:pPr>
            <a:r>
              <a:rPr b="1" lang="en-US" sz="1800" strike="noStrike" u="none">
                <a:solidFill>
                  <a:srgbClr val="000000"/>
                </a:solidFill>
                <a:effectLst/>
                <a:uFillTx/>
                <a:latin typeface="Arial Narrow"/>
              </a:rPr>
              <a:t>Members:     Bob Bodnar, Virginia Tech</a:t>
            </a:r>
            <a:endParaRPr b="0" lang="en-IN" sz="1800" strike="noStrike" u="none">
              <a:solidFill>
                <a:srgbClr val="000000"/>
              </a:solidFill>
              <a:effectLst/>
              <a:uFillTx/>
              <a:latin typeface="Times New Roman"/>
            </a:endParaRPr>
          </a:p>
          <a:p>
            <a:pPr lvl="1" marL="917640" indent="-457200">
              <a:lnSpc>
                <a:spcPct val="100000"/>
              </a:lnSpc>
              <a:tabLst>
                <a:tab algn="l" pos="0"/>
                <a:tab algn="l" pos="1828800"/>
                <a:tab algn="l" pos="2743200"/>
                <a:tab algn="l" pos="3657600"/>
                <a:tab algn="l" pos="4572000"/>
                <a:tab algn="l" pos="5486400"/>
                <a:tab algn="l" pos="6400800"/>
                <a:tab algn="l" pos="7315200"/>
                <a:tab algn="l" pos="8229600"/>
                <a:tab algn="l" pos="9144000"/>
                <a:tab algn="l" pos="10058400"/>
              </a:tabLst>
            </a:pPr>
            <a:r>
              <a:rPr b="1" lang="en-US" sz="1800" strike="noStrike" u="none">
                <a:solidFill>
                  <a:srgbClr val="000000"/>
                </a:solidFill>
                <a:effectLst/>
                <a:uFillTx/>
                <a:latin typeface="Arial Narrow"/>
              </a:rPr>
              <a:t>	</a:t>
            </a:r>
            <a:r>
              <a:rPr b="1" lang="en-US" sz="1800" strike="noStrike" u="none">
                <a:solidFill>
                  <a:srgbClr val="000000"/>
                </a:solidFill>
                <a:effectLst/>
                <a:uFillTx/>
                <a:latin typeface="Arial Narrow"/>
              </a:rPr>
              <a:t>             </a:t>
            </a:r>
            <a:r>
              <a:rPr b="1" lang="en-US" sz="1800" strike="noStrike" u="none">
                <a:solidFill>
                  <a:srgbClr val="ff0000"/>
                </a:solidFill>
                <a:effectLst/>
                <a:uFillTx/>
                <a:latin typeface="Arial Narrow"/>
              </a:rPr>
              <a:t>Randy Cygan,</a:t>
            </a:r>
            <a:r>
              <a:rPr b="1" lang="en-US" sz="1800" strike="noStrike" u="none">
                <a:solidFill>
                  <a:srgbClr val="000000"/>
                </a:solidFill>
                <a:effectLst/>
                <a:uFillTx/>
                <a:latin typeface="Arial Narrow"/>
              </a:rPr>
              <a:t> Sandia National Laboratories</a:t>
            </a:r>
            <a:endParaRPr b="0" lang="en-IN" sz="1800" strike="noStrike" u="none">
              <a:solidFill>
                <a:srgbClr val="000000"/>
              </a:solidFill>
              <a:effectLst/>
              <a:uFillTx/>
              <a:latin typeface="Times New Roman"/>
            </a:endParaRPr>
          </a:p>
          <a:p>
            <a:pPr lvl="1" marL="917640" indent="-457200">
              <a:lnSpc>
                <a:spcPct val="100000"/>
              </a:lnSpc>
              <a:tabLst>
                <a:tab algn="l" pos="0"/>
                <a:tab algn="l" pos="1828800"/>
                <a:tab algn="l" pos="2743200"/>
                <a:tab algn="l" pos="3657600"/>
                <a:tab algn="l" pos="4572000"/>
                <a:tab algn="l" pos="5486400"/>
                <a:tab algn="l" pos="6400800"/>
                <a:tab algn="l" pos="7315200"/>
                <a:tab algn="l" pos="8229600"/>
                <a:tab algn="l" pos="9144000"/>
                <a:tab algn="l" pos="10058400"/>
              </a:tabLst>
            </a:pPr>
            <a:r>
              <a:rPr b="1" lang="en-US" sz="1800" strike="noStrike" u="none">
                <a:solidFill>
                  <a:srgbClr val="000000"/>
                </a:solidFill>
                <a:effectLst/>
                <a:uFillTx/>
                <a:latin typeface="Arial Narrow"/>
              </a:rPr>
              <a:t>	</a:t>
            </a:r>
            <a:r>
              <a:rPr b="1" lang="en-US" sz="1800" strike="noStrike" u="none">
                <a:solidFill>
                  <a:srgbClr val="000000"/>
                </a:solidFill>
                <a:effectLst/>
                <a:uFillTx/>
                <a:latin typeface="Arial Narrow"/>
              </a:rPr>
              <a:t>             Dianne Newman, MIT</a:t>
            </a:r>
            <a:endParaRPr b="0" lang="en-IN" sz="1800" strike="noStrike" u="none">
              <a:solidFill>
                <a:srgbClr val="000000"/>
              </a:solidFill>
              <a:effectLst/>
              <a:uFillTx/>
              <a:latin typeface="Times New Roman"/>
            </a:endParaRPr>
          </a:p>
          <a:p>
            <a:pPr lvl="1" marL="917640" indent="-457200">
              <a:lnSpc>
                <a:spcPct val="100000"/>
              </a:lnSpc>
              <a:tabLst>
                <a:tab algn="l" pos="0"/>
                <a:tab algn="l" pos="1828800"/>
                <a:tab algn="l" pos="2743200"/>
                <a:tab algn="l" pos="3657600"/>
                <a:tab algn="l" pos="4572000"/>
                <a:tab algn="l" pos="5486400"/>
                <a:tab algn="l" pos="6400800"/>
                <a:tab algn="l" pos="7315200"/>
                <a:tab algn="l" pos="8229600"/>
                <a:tab algn="l" pos="9144000"/>
                <a:tab algn="l" pos="10058400"/>
              </a:tabLst>
            </a:pPr>
            <a:r>
              <a:rPr b="1" lang="en-US" sz="1800" strike="noStrike" u="none">
                <a:solidFill>
                  <a:srgbClr val="000000"/>
                </a:solidFill>
                <a:effectLst/>
                <a:uFillTx/>
                <a:latin typeface="Arial Narrow"/>
              </a:rPr>
              <a:t>	</a:t>
            </a:r>
            <a:r>
              <a:rPr b="1" lang="en-US" sz="1800" strike="noStrike" u="none">
                <a:solidFill>
                  <a:srgbClr val="000000"/>
                </a:solidFill>
                <a:effectLst/>
                <a:uFillTx/>
                <a:latin typeface="Arial Narrow"/>
              </a:rPr>
              <a:t>             Lars Stixrude, University College London</a:t>
            </a:r>
            <a:endParaRPr b="0" lang="en-IN" sz="1800" strike="noStrike" u="none">
              <a:solidFill>
                <a:srgbClr val="000000"/>
              </a:solidFill>
              <a:effectLst/>
              <a:uFillTx/>
              <a:latin typeface="Times New Roman"/>
            </a:endParaRPr>
          </a:p>
          <a:p>
            <a:pPr lvl="1" marL="917640" indent="-457200">
              <a:lnSpc>
                <a:spcPct val="100000"/>
              </a:lnSpc>
              <a:tabLst>
                <a:tab algn="l" pos="0"/>
                <a:tab algn="l" pos="1828800"/>
                <a:tab algn="l" pos="2743200"/>
                <a:tab algn="l" pos="3657600"/>
                <a:tab algn="l" pos="4572000"/>
                <a:tab algn="l" pos="5486400"/>
                <a:tab algn="l" pos="6400800"/>
                <a:tab algn="l" pos="7315200"/>
                <a:tab algn="l" pos="8229600"/>
                <a:tab algn="l" pos="9144000"/>
                <a:tab algn="l" pos="10058400"/>
              </a:tabLst>
            </a:pPr>
            <a:r>
              <a:rPr b="1" lang="en-US" sz="1800" strike="noStrike" u="none">
                <a:solidFill>
                  <a:srgbClr val="000000"/>
                </a:solidFill>
                <a:effectLst/>
                <a:uFillTx/>
                <a:latin typeface="Arial Narrow"/>
              </a:rPr>
              <a:t>	</a:t>
            </a:r>
            <a:r>
              <a:rPr b="1" lang="en-US" sz="1800" strike="noStrike" u="none">
                <a:solidFill>
                  <a:srgbClr val="000000"/>
                </a:solidFill>
                <a:effectLst/>
                <a:uFillTx/>
                <a:latin typeface="Arial Narrow"/>
              </a:rPr>
              <a:t>             Jim Tyburczy, Arizona St. University </a:t>
            </a:r>
            <a:endParaRPr b="0" lang="en-IN" sz="1800" strike="noStrike" u="none">
              <a:solidFill>
                <a:srgbClr val="000000"/>
              </a:solidFill>
              <a:effectLst/>
              <a:uFillTx/>
              <a:latin typeface="Times New Roman"/>
            </a:endParaRPr>
          </a:p>
          <a:p>
            <a:pPr marL="471600" indent="-457200">
              <a:lnSpc>
                <a:spcPct val="100000"/>
              </a:lnSpc>
              <a:spcBef>
                <a:spcPts val="1250"/>
              </a:spcBef>
              <a:buClr>
                <a:srgbClr val="0000ff"/>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US" sz="2000" strike="noStrike" u="none">
                <a:solidFill>
                  <a:srgbClr val="0000ff"/>
                </a:solidFill>
                <a:effectLst/>
                <a:uFillTx/>
                <a:latin typeface="Arial Narrow"/>
              </a:rPr>
              <a:t>Panel 6:  Biosciences</a:t>
            </a:r>
            <a:endParaRPr b="0" lang="en-IN" sz="2000" strike="noStrike" u="none">
              <a:solidFill>
                <a:srgbClr val="000000"/>
              </a:solidFill>
              <a:effectLst/>
              <a:uFillTx/>
              <a:latin typeface="Times New Roman"/>
            </a:endParaRPr>
          </a:p>
          <a:p>
            <a:pPr lvl="1" marL="917640" indent="-457200">
              <a:lnSpc>
                <a:spcPct val="100000"/>
              </a:lnSpc>
              <a:tabLst>
                <a:tab algn="l" pos="0"/>
                <a:tab algn="l" pos="1828800"/>
                <a:tab algn="l" pos="2743200"/>
                <a:tab algn="l" pos="3657600"/>
                <a:tab algn="l" pos="4572000"/>
                <a:tab algn="l" pos="5486400"/>
                <a:tab algn="l" pos="6400800"/>
                <a:tab algn="l" pos="7315200"/>
                <a:tab algn="l" pos="8229600"/>
                <a:tab algn="l" pos="9144000"/>
                <a:tab algn="l" pos="10058400"/>
              </a:tabLst>
            </a:pPr>
            <a:r>
              <a:rPr b="1" lang="en-US" sz="1800" strike="noStrike" u="none">
                <a:solidFill>
                  <a:srgbClr val="000000"/>
                </a:solidFill>
                <a:effectLst/>
                <a:uFillTx/>
                <a:latin typeface="Arial Narrow"/>
              </a:rPr>
              <a:t>Panel Lead:  Elizabetth Gantt, University of Maryland</a:t>
            </a:r>
            <a:endParaRPr b="0" lang="en-IN" sz="1800" strike="noStrike" u="none">
              <a:solidFill>
                <a:srgbClr val="000000"/>
              </a:solidFill>
              <a:effectLst/>
              <a:uFillTx/>
              <a:latin typeface="Times New Roman"/>
            </a:endParaRPr>
          </a:p>
          <a:p>
            <a:pPr marL="471600" indent="-457200">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trike="noStrike" u="none">
                <a:solidFill>
                  <a:srgbClr val="000000"/>
                </a:solidFill>
                <a:effectLst/>
                <a:uFillTx/>
                <a:latin typeface="Arial Narrow"/>
              </a:rPr>
              <a:t>	</a:t>
            </a:r>
            <a:r>
              <a:rPr b="1" lang="en-US" sz="1800" strike="noStrike" u="none">
                <a:solidFill>
                  <a:srgbClr val="000000"/>
                </a:solidFill>
                <a:effectLst/>
                <a:uFillTx/>
                <a:latin typeface="Arial Narrow"/>
              </a:rPr>
              <a:t>Members:     </a:t>
            </a:r>
            <a:r>
              <a:rPr b="1" lang="en-US" sz="1800" strike="noStrike" u="none">
                <a:solidFill>
                  <a:srgbClr val="ff0000"/>
                </a:solidFill>
                <a:effectLst/>
                <a:uFillTx/>
                <a:latin typeface="Arial Narrow"/>
              </a:rPr>
              <a:t>Robert Blankenship,</a:t>
            </a:r>
            <a:r>
              <a:rPr b="1" lang="en-US" sz="1800" strike="noStrike" u="none">
                <a:solidFill>
                  <a:srgbClr val="000000"/>
                </a:solidFill>
                <a:effectLst/>
                <a:uFillTx/>
                <a:latin typeface="Arial Narrow"/>
              </a:rPr>
              <a:t> Washington University</a:t>
            </a:r>
            <a:endParaRPr b="0" lang="en-IN" sz="1800" strike="noStrike" u="none">
              <a:solidFill>
                <a:srgbClr val="000000"/>
              </a:solidFill>
              <a:effectLst/>
              <a:uFillTx/>
              <a:latin typeface="Times New Roman"/>
            </a:endParaRPr>
          </a:p>
          <a:p>
            <a:pPr marL="471600" indent="-457200">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trike="noStrike" u="none">
                <a:solidFill>
                  <a:srgbClr val="000000"/>
                </a:solidFill>
                <a:effectLst/>
                <a:uFillTx/>
                <a:latin typeface="Arial Narrow"/>
              </a:rPr>
              <a:t>	</a:t>
            </a:r>
            <a:r>
              <a:rPr b="1" lang="en-US" sz="1800" strike="noStrike" u="none">
                <a:solidFill>
                  <a:srgbClr val="000000"/>
                </a:solidFill>
                <a:effectLst/>
                <a:uFillTx/>
                <a:latin typeface="Arial Narrow"/>
              </a:rPr>
              <a:t>	</a:t>
            </a:r>
            <a:r>
              <a:rPr b="1" lang="en-US" sz="1800" strike="noStrike" u="none">
                <a:solidFill>
                  <a:srgbClr val="000000"/>
                </a:solidFill>
                <a:effectLst/>
                <a:uFillTx/>
                <a:latin typeface="Arial Narrow"/>
              </a:rPr>
              <a:t>             John Richards,* Cal Tech (2005 COV)</a:t>
            </a:r>
            <a:endParaRPr b="0" lang="en-IN" sz="1800" strike="noStrike" u="none">
              <a:solidFill>
                <a:srgbClr val="000000"/>
              </a:solidFill>
              <a:effectLst/>
              <a:uFillTx/>
              <a:latin typeface="Times New Roman"/>
            </a:endParaRPr>
          </a:p>
          <a:p>
            <a:pPr marL="471600" indent="-457200">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trike="noStrike" u="none">
                <a:solidFill>
                  <a:srgbClr val="000000"/>
                </a:solidFill>
                <a:effectLst/>
                <a:uFillTx/>
                <a:latin typeface="Arial Narrow"/>
              </a:rPr>
              <a:t>	</a:t>
            </a:r>
            <a:r>
              <a:rPr b="1" lang="en-US" sz="1800" strike="noStrike" u="none">
                <a:solidFill>
                  <a:srgbClr val="000000"/>
                </a:solidFill>
                <a:effectLst/>
                <a:uFillTx/>
                <a:latin typeface="Arial Narrow"/>
              </a:rPr>
              <a:t>	</a:t>
            </a:r>
            <a:r>
              <a:rPr b="1" lang="en-US" sz="1800" strike="noStrike" u="none">
                <a:solidFill>
                  <a:srgbClr val="000000"/>
                </a:solidFill>
                <a:effectLst/>
                <a:uFillTx/>
                <a:latin typeface="Arial Narrow"/>
              </a:rPr>
              <a:t>             </a:t>
            </a:r>
            <a:r>
              <a:rPr b="1" lang="en-US" sz="1800" strike="noStrike" u="none">
                <a:solidFill>
                  <a:srgbClr val="ff0000"/>
                </a:solidFill>
                <a:effectLst/>
                <a:uFillTx/>
                <a:latin typeface="Arial Narrow"/>
              </a:rPr>
              <a:t>John Shanklin, </a:t>
            </a:r>
            <a:r>
              <a:rPr b="1" lang="en-US" sz="1800" strike="noStrike" u="none">
                <a:solidFill>
                  <a:srgbClr val="000000"/>
                </a:solidFill>
                <a:effectLst/>
                <a:uFillTx/>
                <a:latin typeface="Arial Narrow"/>
              </a:rPr>
              <a:t> Brookhaven National Laboratory (2005 COV)</a:t>
            </a:r>
            <a:endParaRPr b="0" lang="en-IN" sz="1800" strike="noStrike" u="none">
              <a:solidFill>
                <a:srgbClr val="000000"/>
              </a:solidFill>
              <a:effectLst/>
              <a:uFillTx/>
              <a:latin typeface="Times New Roman"/>
            </a:endParaRPr>
          </a:p>
          <a:p>
            <a:pPr marL="471600" indent="-457200">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trike="noStrike" u="none">
                <a:solidFill>
                  <a:srgbClr val="000000"/>
                </a:solidFill>
                <a:effectLst/>
                <a:uFillTx/>
                <a:latin typeface="Arial Narrow"/>
              </a:rPr>
              <a:t>	</a:t>
            </a:r>
            <a:r>
              <a:rPr b="1" lang="en-US" sz="1800" strike="noStrike" u="none">
                <a:solidFill>
                  <a:srgbClr val="000000"/>
                </a:solidFill>
                <a:effectLst/>
                <a:uFillTx/>
                <a:latin typeface="Arial Narrow"/>
              </a:rPr>
              <a:t>	</a:t>
            </a:r>
            <a:r>
              <a:rPr b="1" lang="en-US" sz="1800" strike="noStrike" u="none">
                <a:solidFill>
                  <a:srgbClr val="000000"/>
                </a:solidFill>
                <a:effectLst/>
                <a:uFillTx/>
                <a:latin typeface="Arial Narrow"/>
              </a:rPr>
              <a:t>             Judy St. John, USDA</a:t>
            </a:r>
            <a:endParaRPr b="0" lang="en-IN" sz="1800" strike="noStrike" u="none">
              <a:solidFill>
                <a:srgbClr val="000000"/>
              </a:solidFill>
              <a:effectLst/>
              <a:uFillTx/>
              <a:latin typeface="Times New Roman"/>
            </a:endParaRPr>
          </a:p>
          <a:p>
            <a:pPr marL="471600" indent="-457200">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000" strike="noStrike" u="none">
                <a:solidFill>
                  <a:srgbClr val="000000"/>
                </a:solidFill>
                <a:effectLst/>
                <a:uFillTx/>
                <a:latin typeface="Arial Narrow"/>
              </a:rPr>
              <a:t>	</a:t>
            </a:r>
            <a:r>
              <a:rPr b="1" lang="en-US" sz="2000" strike="noStrike" u="none">
                <a:solidFill>
                  <a:srgbClr val="000000"/>
                </a:solidFill>
                <a:effectLst/>
                <a:uFillTx/>
                <a:latin typeface="Arial Narrow"/>
              </a:rPr>
              <a:t>	</a:t>
            </a:r>
            <a:endParaRPr b="0" lang="en-IN" sz="2000" strike="noStrike" u="none">
              <a:solidFill>
                <a:srgbClr val="000000"/>
              </a:solidFill>
              <a:effectLst/>
              <a:uFillTx/>
              <a:latin typeface="Times New Roman"/>
            </a:endParaRPr>
          </a:p>
        </p:txBody>
      </p:sp>
      <p:sp>
        <p:nvSpPr>
          <p:cNvPr id="39" name=""/>
          <p:cNvSpPr/>
          <p:nvPr/>
        </p:nvSpPr>
        <p:spPr>
          <a:xfrm>
            <a:off x="6612480" y="6856560"/>
            <a:ext cx="2960640" cy="916920"/>
          </a:xfrm>
          <a:prstGeom prst="rect">
            <a:avLst/>
          </a:prstGeom>
          <a:noFill/>
          <a:ln w="0">
            <a:noFill/>
          </a:ln>
        </p:spPr>
        <p:style>
          <a:lnRef idx="0"/>
          <a:fillRef idx="0"/>
          <a:effectRef idx="0"/>
          <a:fontRef idx="minor"/>
        </p:style>
        <p:txBody>
          <a:bodyPr wrap="none" lIns="90000" rIns="90000" tIns="46800" bIns="46800" anchor="t">
            <a:spAutoFit/>
          </a:bodyPr>
          <a:p>
            <a:pPr marL="457200">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ff0000"/>
                </a:solidFill>
                <a:effectLst/>
                <a:uFillTx/>
                <a:latin typeface="Arial Narrow"/>
              </a:rPr>
              <a:t>Funded by CSGB Division</a:t>
            </a:r>
            <a:endParaRPr b="0" lang="en-IN" sz="1800" strike="noStrike" u="none">
              <a:solidFill>
                <a:srgbClr val="000000"/>
              </a:solidFill>
              <a:effectLst/>
              <a:uFillTx/>
              <a:latin typeface="Times New Roman"/>
            </a:endParaRPr>
          </a:p>
          <a:p>
            <a:pPr marL="457200">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000000"/>
                </a:solidFill>
                <a:effectLst/>
                <a:uFillTx/>
                <a:latin typeface="Arial Narrow"/>
              </a:rPr>
              <a:t>*Current BESAC member</a:t>
            </a:r>
            <a:endParaRPr b="0" lang="en-IN" sz="1800" strike="noStrike" u="none">
              <a:solidFill>
                <a:srgbClr val="000000"/>
              </a:solidFill>
              <a:effectLst/>
              <a:uFillTx/>
              <a:latin typeface="Times New Roman"/>
            </a:endParaRPr>
          </a:p>
          <a:p>
            <a:pPr marL="457200">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000000"/>
                </a:solidFill>
                <a:effectLst/>
                <a:uFillTx/>
                <a:latin typeface="Arial Narrow"/>
              </a:rPr>
              <a:t>**Past BESAC member</a:t>
            </a:r>
            <a:endParaRPr b="0" lang="en-IN" sz="1800" strike="noStrike" u="none">
              <a:solidFill>
                <a:srgbClr val="000000"/>
              </a:solidFill>
              <a:effectLst/>
              <a:uFillTx/>
              <a:latin typeface="Times New Roman"/>
            </a:endParaRPr>
          </a:p>
        </p:txBody>
      </p:sp>
    </p:spTree>
  </p:cSld>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0" name=""/>
          <p:cNvSpPr/>
          <p:nvPr/>
        </p:nvSpPr>
        <p:spPr>
          <a:xfrm>
            <a:off x="2037960" y="138240"/>
            <a:ext cx="5411160" cy="576720"/>
          </a:xfrm>
          <a:prstGeom prst="rect">
            <a:avLst/>
          </a:prstGeom>
          <a:noFill/>
          <a:ln w="0">
            <a:noFill/>
          </a:ln>
        </p:spPr>
        <p:style>
          <a:lnRef idx="0"/>
          <a:fillRef idx="0"/>
          <a:effectRef idx="0"/>
          <a:fontRef idx="minor"/>
        </p:style>
        <p:txBody>
          <a:bodyPr wrap="none" lIns="90360" rIns="90360" tIns="44280" bIns="4428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IN" sz="3200" strike="noStrike" u="none">
                <a:solidFill>
                  <a:srgbClr val="ff0000"/>
                </a:solidFill>
                <a:effectLst/>
                <a:uFillTx/>
                <a:latin typeface="Arial Narrow"/>
              </a:rPr>
              <a:t>2008 COV Membership Summary</a:t>
            </a:r>
            <a:endParaRPr b="0" lang="en-IN" sz="3200" strike="noStrike" u="none">
              <a:solidFill>
                <a:srgbClr val="000000"/>
              </a:solidFill>
              <a:effectLst/>
              <a:uFillTx/>
              <a:latin typeface="Times New Roman"/>
            </a:endParaRPr>
          </a:p>
        </p:txBody>
      </p:sp>
      <p:sp>
        <p:nvSpPr>
          <p:cNvPr id="41" name=""/>
          <p:cNvSpPr/>
          <p:nvPr/>
        </p:nvSpPr>
        <p:spPr>
          <a:xfrm>
            <a:off x="382680" y="901800"/>
            <a:ext cx="9358200" cy="6217560"/>
          </a:xfrm>
          <a:prstGeom prst="rect">
            <a:avLst/>
          </a:prstGeom>
          <a:noFill/>
          <a:ln w="0">
            <a:noFill/>
          </a:ln>
        </p:spPr>
        <p:style>
          <a:lnRef idx="0"/>
          <a:fillRef idx="0"/>
          <a:effectRef idx="0"/>
          <a:fontRef idx="minor"/>
        </p:style>
        <p:txBody>
          <a:bodyPr lIns="90360" rIns="90360" tIns="44280" bIns="44280" anchor="t">
            <a:spAutoFit/>
          </a:bodyPr>
          <a:p>
            <a:pPr marL="471600" indent="-457200">
              <a:lnSpc>
                <a:spcPct val="100000"/>
              </a:lnSpc>
              <a:spcBef>
                <a:spcPts val="601"/>
              </a:spcBef>
              <a:buClr>
                <a:srgbClr val="0000ff"/>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US" sz="2400" strike="noStrike" u="none">
                <a:solidFill>
                  <a:srgbClr val="0000ff"/>
                </a:solidFill>
                <a:effectLst/>
                <a:uFillTx/>
                <a:latin typeface="Arial Narrow"/>
              </a:rPr>
              <a:t>36 total members of the COV:</a:t>
            </a:r>
            <a:endParaRPr b="0" lang="en-IN" sz="2400" strike="noStrike" u="none">
              <a:solidFill>
                <a:srgbClr val="000000"/>
              </a:solidFill>
              <a:effectLst/>
              <a:uFillTx/>
              <a:latin typeface="Times New Roman"/>
            </a:endParaRPr>
          </a:p>
          <a:p>
            <a:pPr lvl="1" marL="917640" indent="-457200">
              <a:lnSpc>
                <a:spcPct val="100000"/>
              </a:lnSpc>
              <a:tabLst>
                <a:tab algn="l" pos="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Times New Roman"/>
            </a:endParaRPr>
          </a:p>
          <a:p>
            <a:pPr lvl="1" marL="917640" indent="-457200">
              <a:lnSpc>
                <a:spcPct val="100000"/>
              </a:lnSpc>
              <a:tabLst>
                <a:tab algn="l" pos="0"/>
                <a:tab algn="l" pos="1828800"/>
                <a:tab algn="l" pos="2743200"/>
                <a:tab algn="l" pos="3657600"/>
                <a:tab algn="l" pos="4572000"/>
                <a:tab algn="l" pos="5486400"/>
                <a:tab algn="l" pos="6400800"/>
                <a:tab algn="l" pos="7315200"/>
                <a:tab algn="l" pos="8229600"/>
                <a:tab algn="l" pos="9144000"/>
                <a:tab algn="l" pos="10058400"/>
              </a:tabLst>
            </a:pPr>
            <a:r>
              <a:rPr b="1" lang="en-US" sz="2000" strike="noStrike" u="none">
                <a:solidFill>
                  <a:srgbClr val="000000"/>
                </a:solidFill>
                <a:effectLst/>
                <a:uFillTx/>
                <a:latin typeface="Arial Narrow"/>
              </a:rPr>
              <a:t>16 are currently funded by BES/CSGB</a:t>
            </a:r>
            <a:endParaRPr b="0" lang="en-IN" sz="2000" strike="noStrike" u="none">
              <a:solidFill>
                <a:srgbClr val="000000"/>
              </a:solidFill>
              <a:effectLst/>
              <a:uFillTx/>
              <a:latin typeface="Times New Roman"/>
            </a:endParaRPr>
          </a:p>
          <a:p>
            <a:pPr lvl="1" marL="917640" indent="-457200">
              <a:lnSpc>
                <a:spcPct val="100000"/>
              </a:lnSpc>
              <a:tabLst>
                <a:tab algn="l" pos="0"/>
                <a:tab algn="l" pos="1828800"/>
                <a:tab algn="l" pos="2743200"/>
                <a:tab algn="l" pos="3657600"/>
                <a:tab algn="l" pos="4572000"/>
                <a:tab algn="l" pos="5486400"/>
                <a:tab algn="l" pos="6400800"/>
                <a:tab algn="l" pos="7315200"/>
                <a:tab algn="l" pos="8229600"/>
                <a:tab algn="l" pos="9144000"/>
                <a:tab algn="l" pos="10058400"/>
              </a:tabLst>
            </a:pPr>
            <a:r>
              <a:rPr b="1" lang="en-US" sz="2000" strike="noStrike" u="none">
                <a:solidFill>
                  <a:srgbClr val="000000"/>
                </a:solidFill>
                <a:effectLst/>
                <a:uFillTx/>
                <a:latin typeface="Arial Narrow"/>
              </a:rPr>
              <a:t>20 are not currently funded by BES/CSGB</a:t>
            </a:r>
            <a:endParaRPr b="0" lang="en-IN" sz="2000" strike="noStrike" u="none">
              <a:solidFill>
                <a:srgbClr val="000000"/>
              </a:solidFill>
              <a:effectLst/>
              <a:uFillTx/>
              <a:latin typeface="Times New Roman"/>
            </a:endParaRPr>
          </a:p>
          <a:p>
            <a:pPr lvl="1" marL="917640" indent="-457200">
              <a:lnSpc>
                <a:spcPct val="100000"/>
              </a:lnSpc>
              <a:tabLst>
                <a:tab algn="l" pos="0"/>
                <a:tab algn="l" pos="1828800"/>
                <a:tab algn="l" pos="2743200"/>
                <a:tab algn="l" pos="3657600"/>
                <a:tab algn="l" pos="4572000"/>
                <a:tab algn="l" pos="5486400"/>
                <a:tab algn="l" pos="6400800"/>
                <a:tab algn="l" pos="7315200"/>
                <a:tab algn="l" pos="8229600"/>
                <a:tab algn="l" pos="9144000"/>
                <a:tab algn="l" pos="10058400"/>
              </a:tabLst>
            </a:pPr>
            <a:endParaRPr b="0" lang="en-IN" sz="2000" strike="noStrike" u="none">
              <a:solidFill>
                <a:srgbClr val="000000"/>
              </a:solidFill>
              <a:effectLst/>
              <a:uFillTx/>
              <a:latin typeface="Times New Roman"/>
            </a:endParaRPr>
          </a:p>
          <a:p>
            <a:pPr lvl="1" marL="917640" indent="-457200">
              <a:lnSpc>
                <a:spcPct val="100000"/>
              </a:lnSpc>
              <a:tabLst>
                <a:tab algn="l" pos="0"/>
                <a:tab algn="l" pos="1828800"/>
                <a:tab algn="l" pos="2743200"/>
                <a:tab algn="l" pos="3657600"/>
                <a:tab algn="l" pos="4572000"/>
                <a:tab algn="l" pos="5486400"/>
                <a:tab algn="l" pos="6400800"/>
                <a:tab algn="l" pos="7315200"/>
                <a:tab algn="l" pos="8229600"/>
                <a:tab algn="l" pos="9144000"/>
                <a:tab algn="l" pos="10058400"/>
              </a:tabLst>
            </a:pPr>
            <a:r>
              <a:rPr b="1" lang="en-US" sz="2000" strike="noStrike" u="none">
                <a:solidFill>
                  <a:srgbClr val="000000"/>
                </a:solidFill>
                <a:effectLst/>
                <a:uFillTx/>
                <a:latin typeface="Arial Narrow"/>
              </a:rPr>
              <a:t>25 are men</a:t>
            </a:r>
            <a:endParaRPr b="0" lang="en-IN" sz="2000" strike="noStrike" u="none">
              <a:solidFill>
                <a:srgbClr val="000000"/>
              </a:solidFill>
              <a:effectLst/>
              <a:uFillTx/>
              <a:latin typeface="Times New Roman"/>
            </a:endParaRPr>
          </a:p>
          <a:p>
            <a:pPr lvl="1" marL="917640" indent="-457200">
              <a:lnSpc>
                <a:spcPct val="100000"/>
              </a:lnSpc>
              <a:tabLst>
                <a:tab algn="l" pos="0"/>
                <a:tab algn="l" pos="1828800"/>
                <a:tab algn="l" pos="2743200"/>
                <a:tab algn="l" pos="3657600"/>
                <a:tab algn="l" pos="4572000"/>
                <a:tab algn="l" pos="5486400"/>
                <a:tab algn="l" pos="6400800"/>
                <a:tab algn="l" pos="7315200"/>
                <a:tab algn="l" pos="8229600"/>
                <a:tab algn="l" pos="9144000"/>
                <a:tab algn="l" pos="10058400"/>
              </a:tabLst>
            </a:pPr>
            <a:r>
              <a:rPr b="1" lang="en-US" sz="2000" strike="noStrike" u="none">
                <a:solidFill>
                  <a:srgbClr val="000000"/>
                </a:solidFill>
                <a:effectLst/>
                <a:uFillTx/>
                <a:latin typeface="Arial Narrow"/>
              </a:rPr>
              <a:t>11 are women</a:t>
            </a:r>
            <a:endParaRPr b="0" lang="en-IN" sz="2000" strike="noStrike" u="none">
              <a:solidFill>
                <a:srgbClr val="000000"/>
              </a:solidFill>
              <a:effectLst/>
              <a:uFillTx/>
              <a:latin typeface="Times New Roman"/>
            </a:endParaRPr>
          </a:p>
          <a:p>
            <a:pPr lvl="1" marL="917640" indent="-457200">
              <a:lnSpc>
                <a:spcPct val="100000"/>
              </a:lnSpc>
              <a:tabLst>
                <a:tab algn="l" pos="0"/>
                <a:tab algn="l" pos="1828800"/>
                <a:tab algn="l" pos="2743200"/>
                <a:tab algn="l" pos="3657600"/>
                <a:tab algn="l" pos="4572000"/>
                <a:tab algn="l" pos="5486400"/>
                <a:tab algn="l" pos="6400800"/>
                <a:tab algn="l" pos="7315200"/>
                <a:tab algn="l" pos="8229600"/>
                <a:tab algn="l" pos="9144000"/>
                <a:tab algn="l" pos="10058400"/>
              </a:tabLst>
            </a:pPr>
            <a:endParaRPr b="0" lang="en-IN" sz="2000" strike="noStrike" u="none">
              <a:solidFill>
                <a:srgbClr val="000000"/>
              </a:solidFill>
              <a:effectLst/>
              <a:uFillTx/>
              <a:latin typeface="Times New Roman"/>
            </a:endParaRPr>
          </a:p>
          <a:p>
            <a:pPr lvl="1" marL="917640" indent="-457200">
              <a:lnSpc>
                <a:spcPct val="100000"/>
              </a:lnSpc>
              <a:tabLst>
                <a:tab algn="l" pos="0"/>
                <a:tab algn="l" pos="1828800"/>
                <a:tab algn="l" pos="2743200"/>
                <a:tab algn="l" pos="3657600"/>
                <a:tab algn="l" pos="4572000"/>
                <a:tab algn="l" pos="5486400"/>
                <a:tab algn="l" pos="6400800"/>
                <a:tab algn="l" pos="7315200"/>
                <a:tab algn="l" pos="8229600"/>
                <a:tab algn="l" pos="9144000"/>
                <a:tab algn="l" pos="10058400"/>
              </a:tabLst>
            </a:pPr>
            <a:r>
              <a:rPr b="1" lang="en-US" sz="2000" strike="noStrike" u="none">
                <a:solidFill>
                  <a:srgbClr val="000000"/>
                </a:solidFill>
                <a:effectLst/>
                <a:uFillTx/>
                <a:latin typeface="Arial Narrow"/>
              </a:rPr>
              <a:t>27 are from academia</a:t>
            </a:r>
            <a:endParaRPr b="0" lang="en-IN" sz="2000" strike="noStrike" u="none">
              <a:solidFill>
                <a:srgbClr val="000000"/>
              </a:solidFill>
              <a:effectLst/>
              <a:uFillTx/>
              <a:latin typeface="Times New Roman"/>
            </a:endParaRPr>
          </a:p>
          <a:p>
            <a:pPr lvl="1" marL="917640" indent="-457200">
              <a:lnSpc>
                <a:spcPct val="100000"/>
              </a:lnSpc>
              <a:tabLst>
                <a:tab algn="l" pos="0"/>
                <a:tab algn="l" pos="1828800"/>
                <a:tab algn="l" pos="2743200"/>
                <a:tab algn="l" pos="3657600"/>
                <a:tab algn="l" pos="4572000"/>
                <a:tab algn="l" pos="5486400"/>
                <a:tab algn="l" pos="6400800"/>
                <a:tab algn="l" pos="7315200"/>
                <a:tab algn="l" pos="8229600"/>
                <a:tab algn="l" pos="9144000"/>
                <a:tab algn="l" pos="10058400"/>
              </a:tabLst>
            </a:pPr>
            <a:r>
              <a:rPr b="1" lang="en-US" sz="2000" strike="noStrike" u="none">
                <a:solidFill>
                  <a:srgbClr val="000000"/>
                </a:solidFill>
                <a:effectLst/>
                <a:uFillTx/>
                <a:latin typeface="Arial Narrow"/>
              </a:rPr>
              <a:t>6 are from DOE labs (but 2 academics have previous lab experience)</a:t>
            </a:r>
            <a:endParaRPr b="0" lang="en-IN" sz="2000" strike="noStrike" u="none">
              <a:solidFill>
                <a:srgbClr val="000000"/>
              </a:solidFill>
              <a:effectLst/>
              <a:uFillTx/>
              <a:latin typeface="Times New Roman"/>
            </a:endParaRPr>
          </a:p>
          <a:p>
            <a:pPr lvl="1" marL="917640" indent="-457200">
              <a:lnSpc>
                <a:spcPct val="100000"/>
              </a:lnSpc>
              <a:tabLst>
                <a:tab algn="l" pos="0"/>
                <a:tab algn="l" pos="1828800"/>
                <a:tab algn="l" pos="2743200"/>
                <a:tab algn="l" pos="3657600"/>
                <a:tab algn="l" pos="4572000"/>
                <a:tab algn="l" pos="5486400"/>
                <a:tab algn="l" pos="6400800"/>
                <a:tab algn="l" pos="7315200"/>
                <a:tab algn="l" pos="8229600"/>
                <a:tab algn="l" pos="9144000"/>
                <a:tab algn="l" pos="10058400"/>
              </a:tabLst>
            </a:pPr>
            <a:r>
              <a:rPr b="1" lang="en-US" sz="2000" strike="noStrike" u="none">
                <a:solidFill>
                  <a:srgbClr val="000000"/>
                </a:solidFill>
                <a:effectLst/>
                <a:uFillTx/>
                <a:latin typeface="Arial Narrow"/>
              </a:rPr>
              <a:t>2 are from industry</a:t>
            </a:r>
            <a:endParaRPr b="0" lang="en-IN" sz="2000" strike="noStrike" u="none">
              <a:solidFill>
                <a:srgbClr val="000000"/>
              </a:solidFill>
              <a:effectLst/>
              <a:uFillTx/>
              <a:latin typeface="Times New Roman"/>
            </a:endParaRPr>
          </a:p>
          <a:p>
            <a:pPr lvl="1" marL="917640" indent="-457200">
              <a:lnSpc>
                <a:spcPct val="100000"/>
              </a:lnSpc>
              <a:tabLst>
                <a:tab algn="l" pos="0"/>
                <a:tab algn="l" pos="1828800"/>
                <a:tab algn="l" pos="2743200"/>
                <a:tab algn="l" pos="3657600"/>
                <a:tab algn="l" pos="4572000"/>
                <a:tab algn="l" pos="5486400"/>
                <a:tab algn="l" pos="6400800"/>
                <a:tab algn="l" pos="7315200"/>
                <a:tab algn="l" pos="8229600"/>
                <a:tab algn="l" pos="9144000"/>
                <a:tab algn="l" pos="10058400"/>
              </a:tabLst>
            </a:pPr>
            <a:r>
              <a:rPr b="1" lang="en-US" sz="2000" strike="noStrike" u="none">
                <a:solidFill>
                  <a:srgbClr val="000000"/>
                </a:solidFill>
                <a:effectLst/>
                <a:uFillTx/>
                <a:latin typeface="Arial Narrow"/>
              </a:rPr>
              <a:t>1 is from another Federal agency (not counting Luis Echegoyen)</a:t>
            </a:r>
            <a:endParaRPr b="0" lang="en-IN" sz="2000" strike="noStrike" u="none">
              <a:solidFill>
                <a:srgbClr val="000000"/>
              </a:solidFill>
              <a:effectLst/>
              <a:uFillTx/>
              <a:latin typeface="Times New Roman"/>
            </a:endParaRPr>
          </a:p>
          <a:p>
            <a:pPr lvl="1" marL="917640" indent="-457200">
              <a:lnSpc>
                <a:spcPct val="100000"/>
              </a:lnSpc>
              <a:tabLst>
                <a:tab algn="l" pos="0"/>
                <a:tab algn="l" pos="1828800"/>
                <a:tab algn="l" pos="2743200"/>
                <a:tab algn="l" pos="3657600"/>
                <a:tab algn="l" pos="4572000"/>
                <a:tab algn="l" pos="5486400"/>
                <a:tab algn="l" pos="6400800"/>
                <a:tab algn="l" pos="7315200"/>
                <a:tab algn="l" pos="8229600"/>
                <a:tab algn="l" pos="9144000"/>
                <a:tab algn="l" pos="10058400"/>
              </a:tabLst>
            </a:pPr>
            <a:endParaRPr b="0" lang="en-IN" sz="2000" strike="noStrike" u="none">
              <a:solidFill>
                <a:srgbClr val="000000"/>
              </a:solidFill>
              <a:effectLst/>
              <a:uFillTx/>
              <a:latin typeface="Times New Roman"/>
            </a:endParaRPr>
          </a:p>
          <a:p>
            <a:pPr lvl="1" marL="917640" indent="-457200">
              <a:lnSpc>
                <a:spcPct val="100000"/>
              </a:lnSpc>
              <a:tabLst>
                <a:tab algn="l" pos="0"/>
                <a:tab algn="l" pos="1828800"/>
                <a:tab algn="l" pos="2743200"/>
                <a:tab algn="l" pos="3657600"/>
                <a:tab algn="l" pos="4572000"/>
                <a:tab algn="l" pos="5486400"/>
                <a:tab algn="l" pos="6400800"/>
                <a:tab algn="l" pos="7315200"/>
                <a:tab algn="l" pos="8229600"/>
                <a:tab algn="l" pos="9144000"/>
                <a:tab algn="l" pos="10058400"/>
              </a:tabLst>
            </a:pPr>
            <a:r>
              <a:rPr b="1" lang="en-US" sz="2000" strike="noStrike" u="none">
                <a:solidFill>
                  <a:srgbClr val="000000"/>
                </a:solidFill>
                <a:effectLst/>
                <a:uFillTx/>
                <a:latin typeface="Arial Narrow"/>
              </a:rPr>
              <a:t>13 are from the East</a:t>
            </a:r>
            <a:endParaRPr b="0" lang="en-IN" sz="2000" strike="noStrike" u="none">
              <a:solidFill>
                <a:srgbClr val="000000"/>
              </a:solidFill>
              <a:effectLst/>
              <a:uFillTx/>
              <a:latin typeface="Times New Roman"/>
            </a:endParaRPr>
          </a:p>
          <a:p>
            <a:pPr lvl="1" marL="917640" indent="-457200">
              <a:lnSpc>
                <a:spcPct val="100000"/>
              </a:lnSpc>
              <a:tabLst>
                <a:tab algn="l" pos="0"/>
                <a:tab algn="l" pos="1828800"/>
                <a:tab algn="l" pos="2743200"/>
                <a:tab algn="l" pos="3657600"/>
                <a:tab algn="l" pos="4572000"/>
                <a:tab algn="l" pos="5486400"/>
                <a:tab algn="l" pos="6400800"/>
                <a:tab algn="l" pos="7315200"/>
                <a:tab algn="l" pos="8229600"/>
                <a:tab algn="l" pos="9144000"/>
                <a:tab algn="l" pos="10058400"/>
              </a:tabLst>
            </a:pPr>
            <a:r>
              <a:rPr b="1" lang="en-US" sz="2000" strike="noStrike" u="none">
                <a:solidFill>
                  <a:srgbClr val="000000"/>
                </a:solidFill>
                <a:effectLst/>
                <a:uFillTx/>
                <a:latin typeface="Arial Narrow"/>
              </a:rPr>
              <a:t>10 are from the Midwest</a:t>
            </a:r>
            <a:endParaRPr b="0" lang="en-IN" sz="2000" strike="noStrike" u="none">
              <a:solidFill>
                <a:srgbClr val="000000"/>
              </a:solidFill>
              <a:effectLst/>
              <a:uFillTx/>
              <a:latin typeface="Times New Roman"/>
            </a:endParaRPr>
          </a:p>
          <a:p>
            <a:pPr lvl="1" marL="917640" indent="-457200">
              <a:lnSpc>
                <a:spcPct val="100000"/>
              </a:lnSpc>
              <a:tabLst>
                <a:tab algn="l" pos="0"/>
                <a:tab algn="l" pos="1828800"/>
                <a:tab algn="l" pos="2743200"/>
                <a:tab algn="l" pos="3657600"/>
                <a:tab algn="l" pos="4572000"/>
                <a:tab algn="l" pos="5486400"/>
                <a:tab algn="l" pos="6400800"/>
                <a:tab algn="l" pos="7315200"/>
                <a:tab algn="l" pos="8229600"/>
                <a:tab algn="l" pos="9144000"/>
                <a:tab algn="l" pos="10058400"/>
              </a:tabLst>
            </a:pPr>
            <a:r>
              <a:rPr b="1" lang="en-US" sz="2000" strike="noStrike" u="none">
                <a:solidFill>
                  <a:srgbClr val="000000"/>
                </a:solidFill>
                <a:effectLst/>
                <a:uFillTx/>
                <a:latin typeface="Arial Narrow"/>
              </a:rPr>
              <a:t>13 are from the West</a:t>
            </a:r>
            <a:endParaRPr b="0" lang="en-IN" sz="2000" strike="noStrike" u="none">
              <a:solidFill>
                <a:srgbClr val="000000"/>
              </a:solidFill>
              <a:effectLst/>
              <a:uFillTx/>
              <a:latin typeface="Times New Roman"/>
            </a:endParaRPr>
          </a:p>
          <a:p>
            <a:pPr lvl="1" marL="917640" indent="-457200">
              <a:lnSpc>
                <a:spcPct val="100000"/>
              </a:lnSpc>
              <a:tabLst>
                <a:tab algn="l" pos="0"/>
                <a:tab algn="l" pos="1828800"/>
                <a:tab algn="l" pos="2743200"/>
                <a:tab algn="l" pos="3657600"/>
                <a:tab algn="l" pos="4572000"/>
                <a:tab algn="l" pos="5486400"/>
                <a:tab algn="l" pos="6400800"/>
                <a:tab algn="l" pos="7315200"/>
                <a:tab algn="l" pos="8229600"/>
                <a:tab algn="l" pos="9144000"/>
                <a:tab algn="l" pos="10058400"/>
              </a:tabLst>
            </a:pPr>
            <a:endParaRPr b="0" lang="en-IN" sz="2000" strike="noStrike" u="none">
              <a:solidFill>
                <a:srgbClr val="000000"/>
              </a:solidFill>
              <a:effectLst/>
              <a:uFillTx/>
              <a:latin typeface="Times New Roman"/>
            </a:endParaRPr>
          </a:p>
          <a:p>
            <a:pPr lvl="1" marL="917640" indent="-457200">
              <a:lnSpc>
                <a:spcPct val="100000"/>
              </a:lnSpc>
              <a:tabLst>
                <a:tab algn="l" pos="0"/>
                <a:tab algn="l" pos="1828800"/>
                <a:tab algn="l" pos="2743200"/>
                <a:tab algn="l" pos="3657600"/>
                <a:tab algn="l" pos="4572000"/>
                <a:tab algn="l" pos="5486400"/>
                <a:tab algn="l" pos="6400800"/>
                <a:tab algn="l" pos="7315200"/>
                <a:tab algn="l" pos="8229600"/>
                <a:tab algn="l" pos="9144000"/>
                <a:tab algn="l" pos="10058400"/>
              </a:tabLst>
            </a:pPr>
            <a:r>
              <a:rPr b="1" lang="en-US" sz="2000" strike="noStrike" u="none">
                <a:solidFill>
                  <a:srgbClr val="000000"/>
                </a:solidFill>
                <a:effectLst/>
                <a:uFillTx/>
                <a:latin typeface="Arial Narrow"/>
              </a:rPr>
              <a:t>7 have served on CSGB COVs in 2002 or 2005</a:t>
            </a:r>
            <a:endParaRPr b="0" lang="en-IN" sz="2000" strike="noStrike" u="none">
              <a:solidFill>
                <a:srgbClr val="000000"/>
              </a:solidFill>
              <a:effectLst/>
              <a:uFillTx/>
              <a:latin typeface="Times New Roman"/>
            </a:endParaRPr>
          </a:p>
          <a:p>
            <a:pPr lvl="1" marL="917640" indent="-457200">
              <a:lnSpc>
                <a:spcPct val="100000"/>
              </a:lnSpc>
              <a:tabLst>
                <a:tab algn="l" pos="0"/>
                <a:tab algn="l" pos="1828800"/>
                <a:tab algn="l" pos="2743200"/>
                <a:tab algn="l" pos="3657600"/>
                <a:tab algn="l" pos="4572000"/>
                <a:tab algn="l" pos="5486400"/>
                <a:tab algn="l" pos="6400800"/>
                <a:tab algn="l" pos="7315200"/>
                <a:tab algn="l" pos="8229600"/>
                <a:tab algn="l" pos="9144000"/>
                <a:tab algn="l" pos="10058400"/>
              </a:tabLst>
            </a:pPr>
            <a:endParaRPr b="0" lang="en-IN" sz="2000" strike="noStrike" u="none">
              <a:solidFill>
                <a:srgbClr val="000000"/>
              </a:solidFill>
              <a:effectLst/>
              <a:uFillTx/>
              <a:latin typeface="Times New Roman"/>
            </a:endParaRPr>
          </a:p>
          <a:p>
            <a:pPr lvl="1" marL="917640" indent="-457200">
              <a:lnSpc>
                <a:spcPct val="100000"/>
              </a:lnSpc>
              <a:tabLst>
                <a:tab algn="l" pos="0"/>
                <a:tab algn="l" pos="1828800"/>
                <a:tab algn="l" pos="2743200"/>
                <a:tab algn="l" pos="3657600"/>
                <a:tab algn="l" pos="4572000"/>
                <a:tab algn="l" pos="5486400"/>
                <a:tab algn="l" pos="6400800"/>
                <a:tab algn="l" pos="7315200"/>
                <a:tab algn="l" pos="8229600"/>
                <a:tab algn="l" pos="9144000"/>
                <a:tab algn="l" pos="10058400"/>
              </a:tabLst>
            </a:pPr>
            <a:r>
              <a:rPr b="1" lang="en-US" sz="2000" strike="noStrike" u="none">
                <a:solidFill>
                  <a:srgbClr val="000000"/>
                </a:solidFill>
                <a:effectLst/>
                <a:uFillTx/>
                <a:latin typeface="Arial Narrow"/>
              </a:rPr>
              <a:t>9 are current or previous BESAC members</a:t>
            </a:r>
            <a:endParaRPr b="0" lang="en-IN" sz="2000" strike="noStrike" u="none">
              <a:solidFill>
                <a:srgbClr val="000000"/>
              </a:solidFill>
              <a:effectLst/>
              <a:uFillTx/>
              <a:latin typeface="Times New Roman"/>
            </a:endParaRPr>
          </a:p>
        </p:txBody>
      </p:sp>
    </p:spTree>
  </p:cSld>
  <p:timing>
    <p:tnLst>
      <p:par>
        <p:cTn id="17" dur="indefinite" restart="never" nodeType="tmRoot">
          <p:childTnLst>
            <p:seq>
              <p:cTn id="18" dur="indefinite" nodeType="mainSeq">
                <p:childTnLst>
                  <p:par>
                    <p:cTn id="19" fill="hold">
                      <p:stCondLst>
                        <p:cond delay="indefinite"/>
                      </p:stCondLst>
                      <p:childTnLst>
                        <p:par>
                          <p:cTn id="20" fill="hold">
                            <p:stCondLst>
                              <p:cond delay="0"/>
                            </p:stCondLst>
                            <p:childTnLst>
                              <p:par>
                                <p:cTn id="21" nodeType="clickEffect" fill="hold" presetClass="entr" presetID="1">
                                  <p:stCondLst>
                                    <p:cond delay="0"/>
                                  </p:stCondLst>
                                  <p:childTnLst>
                                    <p:set>
                                      <p:cBhvr>
                                        <p:cTn id="22" dur="1" fill="hold">
                                          <p:stCondLst>
                                            <p:cond delay="0"/>
                                          </p:stCondLst>
                                        </p:cTn>
                                        <p:tgtEl>
                                          <p:spTgt spid="41">
                                            <p:txEl>
                                              <p:pRg st="2" end="2"/>
                                            </p:txEl>
                                          </p:spTgt>
                                        </p:tgtEl>
                                        <p:attrNameLst>
                                          <p:attrName>style.visibility</p:attrName>
                                        </p:attrNameLst>
                                      </p:cBhvr>
                                      <p:to>
                                        <p:strVal val="visible"/>
                                      </p:to>
                                    </p:set>
                                  </p:childTnLst>
                                </p:cTn>
                              </p:par>
                              <p:par>
                                <p:cTn id="23" nodeType="withEffect" fill="hold" presetClass="entr" presetID="1">
                                  <p:stCondLst>
                                    <p:cond delay="0"/>
                                  </p:stCondLst>
                                  <p:childTnLst>
                                    <p:set>
                                      <p:cBhvr>
                                        <p:cTn id="24" dur="1" fill="hold">
                                          <p:stCondLst>
                                            <p:cond delay="0"/>
                                          </p:stCondLst>
                                        </p:cTn>
                                        <p:tgtEl>
                                          <p:spTgt spid="41">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nodeType="clickEffect" fill="hold" presetClass="entr" presetID="1">
                                  <p:stCondLst>
                                    <p:cond delay="0"/>
                                  </p:stCondLst>
                                  <p:childTnLst>
                                    <p:set>
                                      <p:cBhvr>
                                        <p:cTn id="28" dur="1" fill="hold">
                                          <p:stCondLst>
                                            <p:cond delay="0"/>
                                          </p:stCondLst>
                                        </p:cTn>
                                        <p:tgtEl>
                                          <p:spTgt spid="41">
                                            <p:txEl>
                                              <p:pRg st="5" end="5"/>
                                            </p:txEl>
                                          </p:spTgt>
                                        </p:tgtEl>
                                        <p:attrNameLst>
                                          <p:attrName>style.visibility</p:attrName>
                                        </p:attrNameLst>
                                      </p:cBhvr>
                                      <p:to>
                                        <p:strVal val="visible"/>
                                      </p:to>
                                    </p:set>
                                  </p:childTnLst>
                                </p:cTn>
                              </p:par>
                              <p:par>
                                <p:cTn id="29" nodeType="withEffect" fill="hold" presetClass="entr" presetID="1">
                                  <p:stCondLst>
                                    <p:cond delay="0"/>
                                  </p:stCondLst>
                                  <p:childTnLst>
                                    <p:set>
                                      <p:cBhvr>
                                        <p:cTn id="30" dur="1" fill="hold">
                                          <p:stCondLst>
                                            <p:cond delay="0"/>
                                          </p:stCondLst>
                                        </p:cTn>
                                        <p:tgtEl>
                                          <p:spTgt spid="41">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nodeType="clickEffect" fill="hold" presetClass="entr" presetID="1">
                                  <p:stCondLst>
                                    <p:cond delay="0"/>
                                  </p:stCondLst>
                                  <p:childTnLst>
                                    <p:set>
                                      <p:cBhvr>
                                        <p:cTn id="34" dur="1" fill="hold">
                                          <p:stCondLst>
                                            <p:cond delay="0"/>
                                          </p:stCondLst>
                                        </p:cTn>
                                        <p:tgtEl>
                                          <p:spTgt spid="41">
                                            <p:txEl>
                                              <p:pRg st="8" end="8"/>
                                            </p:txEl>
                                          </p:spTgt>
                                        </p:tgtEl>
                                        <p:attrNameLst>
                                          <p:attrName>style.visibility</p:attrName>
                                        </p:attrNameLst>
                                      </p:cBhvr>
                                      <p:to>
                                        <p:strVal val="visible"/>
                                      </p:to>
                                    </p:set>
                                  </p:childTnLst>
                                </p:cTn>
                              </p:par>
                              <p:par>
                                <p:cTn id="35" nodeType="withEffect" fill="hold" presetClass="entr" presetID="1">
                                  <p:stCondLst>
                                    <p:cond delay="0"/>
                                  </p:stCondLst>
                                  <p:childTnLst>
                                    <p:set>
                                      <p:cBhvr>
                                        <p:cTn id="36" dur="1" fill="hold">
                                          <p:stCondLst>
                                            <p:cond delay="0"/>
                                          </p:stCondLst>
                                        </p:cTn>
                                        <p:tgtEl>
                                          <p:spTgt spid="41">
                                            <p:txEl>
                                              <p:pRg st="9" end="9"/>
                                            </p:txEl>
                                          </p:spTgt>
                                        </p:tgtEl>
                                        <p:attrNameLst>
                                          <p:attrName>style.visibility</p:attrName>
                                        </p:attrNameLst>
                                      </p:cBhvr>
                                      <p:to>
                                        <p:strVal val="visible"/>
                                      </p:to>
                                    </p:set>
                                  </p:childTnLst>
                                </p:cTn>
                              </p:par>
                              <p:par>
                                <p:cTn id="37" nodeType="withEffect" fill="hold" presetClass="entr" presetID="1">
                                  <p:stCondLst>
                                    <p:cond delay="0"/>
                                  </p:stCondLst>
                                  <p:childTnLst>
                                    <p:set>
                                      <p:cBhvr>
                                        <p:cTn id="38" dur="1" fill="hold">
                                          <p:stCondLst>
                                            <p:cond delay="0"/>
                                          </p:stCondLst>
                                        </p:cTn>
                                        <p:tgtEl>
                                          <p:spTgt spid="41">
                                            <p:txEl>
                                              <p:pRg st="10" end="10"/>
                                            </p:txEl>
                                          </p:spTgt>
                                        </p:tgtEl>
                                        <p:attrNameLst>
                                          <p:attrName>style.visibility</p:attrName>
                                        </p:attrNameLst>
                                      </p:cBhvr>
                                      <p:to>
                                        <p:strVal val="visible"/>
                                      </p:to>
                                    </p:set>
                                  </p:childTnLst>
                                </p:cTn>
                              </p:par>
                              <p:par>
                                <p:cTn id="39" nodeType="withEffect" fill="hold" presetClass="entr" presetID="1">
                                  <p:stCondLst>
                                    <p:cond delay="0"/>
                                  </p:stCondLst>
                                  <p:childTnLst>
                                    <p:set>
                                      <p:cBhvr>
                                        <p:cTn id="40" dur="1" fill="hold">
                                          <p:stCondLst>
                                            <p:cond delay="0"/>
                                          </p:stCondLst>
                                        </p:cTn>
                                        <p:tgtEl>
                                          <p:spTgt spid="41">
                                            <p:txEl>
                                              <p:pRg st="11" end="11"/>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nodeType="clickEffect" fill="hold" presetClass="entr" presetID="1">
                                  <p:stCondLst>
                                    <p:cond delay="0"/>
                                  </p:stCondLst>
                                  <p:childTnLst>
                                    <p:set>
                                      <p:cBhvr>
                                        <p:cTn id="44" dur="1" fill="hold">
                                          <p:stCondLst>
                                            <p:cond delay="0"/>
                                          </p:stCondLst>
                                        </p:cTn>
                                        <p:tgtEl>
                                          <p:spTgt spid="41">
                                            <p:txEl>
                                              <p:pRg st="13" end="13"/>
                                            </p:txEl>
                                          </p:spTgt>
                                        </p:tgtEl>
                                        <p:attrNameLst>
                                          <p:attrName>style.visibility</p:attrName>
                                        </p:attrNameLst>
                                      </p:cBhvr>
                                      <p:to>
                                        <p:strVal val="visible"/>
                                      </p:to>
                                    </p:set>
                                  </p:childTnLst>
                                </p:cTn>
                              </p:par>
                              <p:par>
                                <p:cTn id="45" nodeType="withEffect" fill="hold" presetClass="entr" presetID="1">
                                  <p:stCondLst>
                                    <p:cond delay="0"/>
                                  </p:stCondLst>
                                  <p:childTnLst>
                                    <p:set>
                                      <p:cBhvr>
                                        <p:cTn id="46" dur="1" fill="hold">
                                          <p:stCondLst>
                                            <p:cond delay="0"/>
                                          </p:stCondLst>
                                        </p:cTn>
                                        <p:tgtEl>
                                          <p:spTgt spid="41">
                                            <p:txEl>
                                              <p:pRg st="14" end="14"/>
                                            </p:txEl>
                                          </p:spTgt>
                                        </p:tgtEl>
                                        <p:attrNameLst>
                                          <p:attrName>style.visibility</p:attrName>
                                        </p:attrNameLst>
                                      </p:cBhvr>
                                      <p:to>
                                        <p:strVal val="visible"/>
                                      </p:to>
                                    </p:set>
                                  </p:childTnLst>
                                </p:cTn>
                              </p:par>
                              <p:par>
                                <p:cTn id="47" nodeType="withEffect" fill="hold" presetClass="entr" presetID="1">
                                  <p:stCondLst>
                                    <p:cond delay="0"/>
                                  </p:stCondLst>
                                  <p:childTnLst>
                                    <p:set>
                                      <p:cBhvr>
                                        <p:cTn id="48" dur="1" fill="hold">
                                          <p:stCondLst>
                                            <p:cond delay="0"/>
                                          </p:stCondLst>
                                        </p:cTn>
                                        <p:tgtEl>
                                          <p:spTgt spid="41">
                                            <p:txEl>
                                              <p:pRg st="15" end="15"/>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nodeType="clickEffect" fill="hold" presetClass="entr" presetID="1">
                                  <p:stCondLst>
                                    <p:cond delay="0"/>
                                  </p:stCondLst>
                                  <p:childTnLst>
                                    <p:set>
                                      <p:cBhvr>
                                        <p:cTn id="52" dur="1" fill="hold">
                                          <p:stCondLst>
                                            <p:cond delay="0"/>
                                          </p:stCondLst>
                                        </p:cTn>
                                        <p:tgtEl>
                                          <p:spTgt spid="41">
                                            <p:txEl>
                                              <p:pRg st="17" end="17"/>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nodeType="clickEffect" fill="hold" presetClass="entr" presetID="1">
                                  <p:stCondLst>
                                    <p:cond delay="0"/>
                                  </p:stCondLst>
                                  <p:childTnLst>
                                    <p:set>
                                      <p:cBhvr>
                                        <p:cTn id="56" dur="1" fill="hold">
                                          <p:stCondLst>
                                            <p:cond delay="0"/>
                                          </p:stCondLst>
                                        </p:cTn>
                                        <p:tgtEl>
                                          <p:spTgt spid="41">
                                            <p:txEl>
                                              <p:pRg st="19" end="1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2" name=""/>
          <p:cNvSpPr/>
          <p:nvPr/>
        </p:nvSpPr>
        <p:spPr>
          <a:xfrm>
            <a:off x="1424880" y="138240"/>
            <a:ext cx="6653520" cy="576720"/>
          </a:xfrm>
          <a:prstGeom prst="rect">
            <a:avLst/>
          </a:prstGeom>
          <a:noFill/>
          <a:ln w="0">
            <a:noFill/>
          </a:ln>
        </p:spPr>
        <p:style>
          <a:lnRef idx="0"/>
          <a:fillRef idx="0"/>
          <a:effectRef idx="0"/>
          <a:fontRef idx="minor"/>
        </p:style>
        <p:txBody>
          <a:bodyPr wrap="none" lIns="90360" rIns="90360" tIns="44280" bIns="4428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IN" sz="3200" strike="noStrike" u="none">
                <a:solidFill>
                  <a:srgbClr val="ff0000"/>
                </a:solidFill>
                <a:effectLst/>
                <a:uFillTx/>
                <a:latin typeface="Arial Narrow"/>
              </a:rPr>
              <a:t>2005 COV recommendations and actions</a:t>
            </a:r>
            <a:endParaRPr b="0" lang="en-IN" sz="3200" strike="noStrike" u="none">
              <a:solidFill>
                <a:srgbClr val="000000"/>
              </a:solidFill>
              <a:effectLst/>
              <a:uFillTx/>
              <a:latin typeface="Times New Roman"/>
            </a:endParaRPr>
          </a:p>
        </p:txBody>
      </p:sp>
      <p:sp>
        <p:nvSpPr>
          <p:cNvPr id="43" name=""/>
          <p:cNvSpPr/>
          <p:nvPr/>
        </p:nvSpPr>
        <p:spPr>
          <a:xfrm>
            <a:off x="331920" y="743040"/>
            <a:ext cx="9117000" cy="6861600"/>
          </a:xfrm>
          <a:prstGeom prst="rect">
            <a:avLst/>
          </a:prstGeom>
          <a:noFill/>
          <a:ln w="0">
            <a:noFill/>
          </a:ln>
        </p:spPr>
        <p:style>
          <a:lnRef idx="0"/>
          <a:fillRef idx="0"/>
          <a:effectRef idx="0"/>
          <a:fontRef idx="minor"/>
        </p:style>
        <p:txBody>
          <a:bodyPr lIns="90360" rIns="90360" tIns="44280" bIns="44280" anchor="t">
            <a:spAutoFit/>
          </a:bodyPr>
          <a:p>
            <a:pPr marL="263520" indent="-249120">
              <a:lnSpc>
                <a:spcPct val="100000"/>
              </a:lnSpc>
              <a:spcBef>
                <a:spcPts val="601"/>
              </a:spcBef>
              <a:buClr>
                <a:srgbClr val="0000ff"/>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0000ff"/>
                </a:solidFill>
                <a:effectLst/>
                <a:uFillTx/>
                <a:latin typeface="Arial Narrow"/>
              </a:rPr>
              <a:t>Program management database</a:t>
            </a:r>
            <a:endParaRPr b="0" lang="en-IN" sz="2400" strike="noStrike" u="none">
              <a:solidFill>
                <a:srgbClr val="000000"/>
              </a:solidFill>
              <a:effectLst/>
              <a:uFillTx/>
              <a:latin typeface="Times New Roman"/>
            </a:endParaRPr>
          </a:p>
          <a:p>
            <a:pPr lvl="1" marL="668160" indent="-207720">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000000"/>
                </a:solidFill>
                <a:effectLst/>
                <a:uFillTx/>
                <a:latin typeface="Arial Narrow"/>
              </a:rPr>
              <a:t>Recommendation:  Create a BES database for peer review/program management.</a:t>
            </a:r>
            <a:endParaRPr b="0" lang="en-IN" sz="2000" strike="noStrike" u="none">
              <a:solidFill>
                <a:srgbClr val="000000"/>
              </a:solidFill>
              <a:effectLst/>
              <a:uFillTx/>
              <a:latin typeface="Times New Roman"/>
            </a:endParaRPr>
          </a:p>
          <a:p>
            <a:pPr lvl="1" marL="668160" indent="-207720">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000000"/>
                </a:solidFill>
                <a:effectLst/>
                <a:uFillTx/>
                <a:latin typeface="Arial Narrow"/>
              </a:rPr>
              <a:t>Actions:  Modest improvements in SC database (IMSC); more effective use of IMSC.</a:t>
            </a:r>
            <a:endParaRPr b="0" lang="en-IN" sz="2000" strike="noStrike" u="none">
              <a:solidFill>
                <a:srgbClr val="000000"/>
              </a:solidFill>
              <a:effectLst/>
              <a:uFillTx/>
              <a:latin typeface="Times New Roman"/>
            </a:endParaRPr>
          </a:p>
          <a:p>
            <a:pPr marL="263520" indent="-249120">
              <a:lnSpc>
                <a:spcPct val="100000"/>
              </a:lnSpc>
              <a:spcBef>
                <a:spcPts val="601"/>
              </a:spcBef>
              <a:buClr>
                <a:srgbClr val="0000ff"/>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0000ff"/>
                </a:solidFill>
                <a:effectLst/>
                <a:uFillTx/>
                <a:latin typeface="Arial Narrow"/>
              </a:rPr>
              <a:t>Improved proposal solicitation</a:t>
            </a:r>
            <a:endParaRPr b="0" lang="en-IN" sz="2400" strike="noStrike" u="none">
              <a:solidFill>
                <a:srgbClr val="000000"/>
              </a:solidFill>
              <a:effectLst/>
              <a:uFillTx/>
              <a:latin typeface="Times New Roman"/>
            </a:endParaRPr>
          </a:p>
          <a:p>
            <a:pPr lvl="1" marL="668160" indent="-207720">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000000"/>
                </a:solidFill>
                <a:effectLst/>
                <a:uFillTx/>
                <a:latin typeface="Arial Narrow"/>
              </a:rPr>
              <a:t>Recommendation:  Use “Dear Colleague” mailings to community in addition to normal postings on SC website.</a:t>
            </a:r>
            <a:endParaRPr b="0" lang="en-IN" sz="2000" strike="noStrike" u="none">
              <a:solidFill>
                <a:srgbClr val="000000"/>
              </a:solidFill>
              <a:effectLst/>
              <a:uFillTx/>
              <a:latin typeface="Times New Roman"/>
            </a:endParaRPr>
          </a:p>
          <a:p>
            <a:pPr lvl="1" marL="668160" indent="-207720">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000000"/>
                </a:solidFill>
                <a:effectLst/>
                <a:uFillTx/>
                <a:latin typeface="Arial Narrow"/>
              </a:rPr>
              <a:t>Action:  Department chair “Dear Colleague” lists developed and used for Chemical Imaging (FY2006) and SEU (FY2007) solicitations.</a:t>
            </a:r>
            <a:endParaRPr b="0" lang="en-IN" sz="2000" strike="noStrike" u="none">
              <a:solidFill>
                <a:srgbClr val="000000"/>
              </a:solidFill>
              <a:effectLst/>
              <a:uFillTx/>
              <a:latin typeface="Times New Roman"/>
            </a:endParaRPr>
          </a:p>
          <a:p>
            <a:pPr marL="263520" indent="-249120">
              <a:lnSpc>
                <a:spcPct val="100000"/>
              </a:lnSpc>
              <a:spcBef>
                <a:spcPts val="601"/>
              </a:spcBef>
              <a:buClr>
                <a:srgbClr val="0000ff"/>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0000ff"/>
                </a:solidFill>
                <a:effectLst/>
                <a:uFillTx/>
                <a:latin typeface="Arial Narrow"/>
              </a:rPr>
              <a:t>Long-term support for basic research &amp; young investigator program</a:t>
            </a:r>
            <a:endParaRPr b="0" lang="en-IN" sz="2400" strike="noStrike" u="none">
              <a:solidFill>
                <a:srgbClr val="000000"/>
              </a:solidFill>
              <a:effectLst/>
              <a:uFillTx/>
              <a:latin typeface="Times New Roman"/>
            </a:endParaRPr>
          </a:p>
          <a:p>
            <a:pPr lvl="1" marL="668160" indent="-207720">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000000"/>
                </a:solidFill>
                <a:effectLst/>
                <a:uFillTx/>
                <a:latin typeface="Arial Narrow"/>
              </a:rPr>
              <a:t>Recommendation:  Continue “tradition” of long term support, but also consider implementing a young investigator program. </a:t>
            </a:r>
            <a:endParaRPr b="0" lang="en-IN" sz="2000" strike="noStrike" u="none">
              <a:solidFill>
                <a:srgbClr val="000000"/>
              </a:solidFill>
              <a:effectLst/>
              <a:uFillTx/>
              <a:latin typeface="Times New Roman"/>
            </a:endParaRPr>
          </a:p>
          <a:p>
            <a:pPr lvl="1" marL="668160" indent="-207720">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000000"/>
                </a:solidFill>
                <a:effectLst/>
                <a:uFillTx/>
                <a:latin typeface="Arial Narrow"/>
              </a:rPr>
              <a:t>Actions:  A significant young investigator program is not feasible under current budget constraints.  Award for BES PECASE winners codified ($50k/yr for 5 years)</a:t>
            </a:r>
            <a:r>
              <a:rPr b="0" lang="en-IN" sz="900" strike="noStrike" u="none">
                <a:solidFill>
                  <a:srgbClr val="00279f"/>
                </a:solidFill>
                <a:effectLst/>
                <a:uFillTx/>
                <a:latin typeface="Times New Roman"/>
              </a:rPr>
              <a:t> </a:t>
            </a:r>
            <a:r>
              <a:rPr b="1" lang="en-IN" sz="2000" strike="noStrike" u="none">
                <a:solidFill>
                  <a:srgbClr val="000000"/>
                </a:solidFill>
                <a:effectLst/>
                <a:uFillTx/>
                <a:latin typeface="Arial Narrow"/>
              </a:rPr>
              <a:t>.  BES solicitations have allowed more young investigators to be funded.</a:t>
            </a:r>
            <a:endParaRPr b="0" lang="en-IN" sz="2000" strike="noStrike" u="none">
              <a:solidFill>
                <a:srgbClr val="000000"/>
              </a:solidFill>
              <a:effectLst/>
              <a:uFillTx/>
              <a:latin typeface="Times New Roman"/>
            </a:endParaRPr>
          </a:p>
          <a:p>
            <a:pPr marL="263520" indent="-249120">
              <a:lnSpc>
                <a:spcPct val="100000"/>
              </a:lnSpc>
              <a:spcBef>
                <a:spcPts val="601"/>
              </a:spcBef>
              <a:buClr>
                <a:srgbClr val="0000ff"/>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0000ff"/>
                </a:solidFill>
                <a:effectLst/>
                <a:uFillTx/>
                <a:latin typeface="Arial Narrow"/>
              </a:rPr>
              <a:t>Diversity</a:t>
            </a:r>
            <a:endParaRPr b="0" lang="en-IN" sz="2400" strike="noStrike" u="none">
              <a:solidFill>
                <a:srgbClr val="000000"/>
              </a:solidFill>
              <a:effectLst/>
              <a:uFillTx/>
              <a:latin typeface="Times New Roman"/>
            </a:endParaRPr>
          </a:p>
          <a:p>
            <a:pPr lvl="1" marL="668160" indent="-207720">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000000"/>
                </a:solidFill>
                <a:effectLst/>
                <a:uFillTx/>
                <a:latin typeface="Arial Narrow"/>
              </a:rPr>
              <a:t>Recommendation:  BES should collect demographic data on gender, race, and career-stage and efforts should be made to ensure a diverse work force.</a:t>
            </a:r>
            <a:endParaRPr b="0" lang="en-IN" sz="2000" strike="noStrike" u="none">
              <a:solidFill>
                <a:srgbClr val="000000"/>
              </a:solidFill>
              <a:effectLst/>
              <a:uFillTx/>
              <a:latin typeface="Times New Roman"/>
            </a:endParaRPr>
          </a:p>
          <a:p>
            <a:pPr lvl="1" marL="668160" indent="-207720">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000000"/>
                </a:solidFill>
                <a:effectLst/>
                <a:uFillTx/>
                <a:latin typeface="Arial Narrow"/>
              </a:rPr>
              <a:t>Actions:  SC-wide demographic data collection system “in progress;” CSGB co-sponsored gender and URM equity in chemistry workshops with NSF and NIH.</a:t>
            </a:r>
            <a:endParaRPr b="0" lang="en-IN" sz="2000" strike="noStrike" u="none">
              <a:solidFill>
                <a:srgbClr val="000000"/>
              </a:solidFill>
              <a:effectLst/>
              <a:uFillTx/>
              <a:latin typeface="Times New Roman"/>
            </a:endParaRPr>
          </a:p>
        </p:txBody>
      </p:sp>
    </p:spTree>
  </p:cSld>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4" name=""/>
          <p:cNvSpPr/>
          <p:nvPr/>
        </p:nvSpPr>
        <p:spPr>
          <a:xfrm>
            <a:off x="1424880" y="138240"/>
            <a:ext cx="6653520" cy="576720"/>
          </a:xfrm>
          <a:prstGeom prst="rect">
            <a:avLst/>
          </a:prstGeom>
          <a:noFill/>
          <a:ln w="0">
            <a:noFill/>
          </a:ln>
        </p:spPr>
        <p:style>
          <a:lnRef idx="0"/>
          <a:fillRef idx="0"/>
          <a:effectRef idx="0"/>
          <a:fontRef idx="minor"/>
        </p:style>
        <p:txBody>
          <a:bodyPr wrap="none" lIns="90360" rIns="90360" tIns="44280" bIns="4428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IN" sz="3200" strike="noStrike" u="none">
                <a:solidFill>
                  <a:srgbClr val="ff0000"/>
                </a:solidFill>
                <a:effectLst/>
                <a:uFillTx/>
                <a:latin typeface="Arial Narrow"/>
              </a:rPr>
              <a:t>2005 COV recommendations and actions</a:t>
            </a:r>
            <a:endParaRPr b="0" lang="en-IN" sz="3200" strike="noStrike" u="none">
              <a:solidFill>
                <a:srgbClr val="000000"/>
              </a:solidFill>
              <a:effectLst/>
              <a:uFillTx/>
              <a:latin typeface="Times New Roman"/>
            </a:endParaRPr>
          </a:p>
        </p:txBody>
      </p:sp>
      <p:sp>
        <p:nvSpPr>
          <p:cNvPr id="45" name=""/>
          <p:cNvSpPr/>
          <p:nvPr/>
        </p:nvSpPr>
        <p:spPr>
          <a:xfrm>
            <a:off x="331920" y="905040"/>
            <a:ext cx="9117000" cy="6112080"/>
          </a:xfrm>
          <a:prstGeom prst="rect">
            <a:avLst/>
          </a:prstGeom>
          <a:noFill/>
          <a:ln w="0">
            <a:noFill/>
          </a:ln>
        </p:spPr>
        <p:style>
          <a:lnRef idx="0"/>
          <a:fillRef idx="0"/>
          <a:effectRef idx="0"/>
          <a:fontRef idx="minor"/>
        </p:style>
        <p:txBody>
          <a:bodyPr lIns="90360" rIns="90360" tIns="44280" bIns="44280" anchor="t">
            <a:spAutoFit/>
          </a:bodyPr>
          <a:p>
            <a:pPr marL="263520" indent="-249120">
              <a:lnSpc>
                <a:spcPct val="100000"/>
              </a:lnSpc>
              <a:spcBef>
                <a:spcPts val="601"/>
              </a:spcBef>
              <a:buClr>
                <a:srgbClr val="0000ff"/>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0000ff"/>
                </a:solidFill>
                <a:effectLst/>
                <a:uFillTx/>
                <a:latin typeface="Arial Narrow"/>
              </a:rPr>
              <a:t>Re-evaluate and re-focus Energy Biosciences program – integrate it within the Division</a:t>
            </a:r>
            <a:endParaRPr b="0" lang="en-IN" sz="2400" strike="noStrike" u="none">
              <a:solidFill>
                <a:srgbClr val="000000"/>
              </a:solidFill>
              <a:effectLst/>
              <a:uFillTx/>
              <a:latin typeface="Times New Roman"/>
            </a:endParaRPr>
          </a:p>
          <a:p>
            <a:pPr lvl="1" marL="668160" indent="-207720">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000000"/>
                </a:solidFill>
                <a:effectLst/>
                <a:uFillTx/>
                <a:latin typeface="Arial Narrow"/>
              </a:rPr>
              <a:t>Recommendation:  New program management should re-evaluate and re-focus program on BES missions; program should be better integrated with division</a:t>
            </a:r>
            <a:endParaRPr b="0" lang="en-IN" sz="2000" strike="noStrike" u="none">
              <a:solidFill>
                <a:srgbClr val="000000"/>
              </a:solidFill>
              <a:effectLst/>
              <a:uFillTx/>
              <a:latin typeface="Times New Roman"/>
            </a:endParaRPr>
          </a:p>
          <a:p>
            <a:pPr lvl="1" marL="668160" indent="-207720">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000000"/>
                </a:solidFill>
                <a:effectLst/>
                <a:uFillTx/>
                <a:latin typeface="Arial Narrow"/>
              </a:rPr>
              <a:t>Action:  Under new program leadership (Rich Greene), program has been redefined into two components – Solar Photochemistry and Physical Biosciences.  Significant shifts in the portfolio are underway.  Team structure changed to foster improved integration (see following).</a:t>
            </a:r>
            <a:endParaRPr b="0" lang="en-IN" sz="2000" strike="noStrike" u="none">
              <a:solidFill>
                <a:srgbClr val="000000"/>
              </a:solidFill>
              <a:effectLst/>
              <a:uFillTx/>
              <a:latin typeface="Times New Roman"/>
            </a:endParaRPr>
          </a:p>
          <a:p>
            <a:pPr marL="263520" indent="-249120">
              <a:lnSpc>
                <a:spcPct val="100000"/>
              </a:lnSpc>
              <a:spcBef>
                <a:spcPts val="601"/>
              </a:spcBef>
              <a:buClr>
                <a:srgbClr val="0000ff"/>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0000ff"/>
                </a:solidFill>
                <a:effectLst/>
                <a:uFillTx/>
                <a:latin typeface="Arial Narrow"/>
              </a:rPr>
              <a:t>Program management staff</a:t>
            </a:r>
            <a:endParaRPr b="0" lang="en-IN" sz="2400" strike="noStrike" u="none">
              <a:solidFill>
                <a:srgbClr val="000000"/>
              </a:solidFill>
              <a:effectLst/>
              <a:uFillTx/>
              <a:latin typeface="Times New Roman"/>
            </a:endParaRPr>
          </a:p>
          <a:p>
            <a:pPr lvl="1" marL="668160" indent="-207720">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000000"/>
                </a:solidFill>
                <a:effectLst/>
                <a:uFillTx/>
                <a:latin typeface="Arial Narrow"/>
              </a:rPr>
              <a:t>Recommendation:  division be given at least three new program manager positions</a:t>
            </a:r>
            <a:endParaRPr b="0" lang="en-IN" sz="2000" strike="noStrike" u="none">
              <a:solidFill>
                <a:srgbClr val="000000"/>
              </a:solidFill>
              <a:effectLst/>
              <a:uFillTx/>
              <a:latin typeface="Times New Roman"/>
            </a:endParaRPr>
          </a:p>
          <a:p>
            <a:pPr lvl="1" marL="668160" indent="-207720">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000000"/>
                </a:solidFill>
                <a:effectLst/>
                <a:uFillTx/>
                <a:latin typeface="Arial Narrow"/>
              </a:rPr>
              <a:t>Action:  </a:t>
            </a:r>
            <a:r>
              <a:rPr b="1" lang="en-IN" sz="2000" strike="noStrike" u="none">
                <a:solidFill>
                  <a:srgbClr val="ff0000"/>
                </a:solidFill>
                <a:effectLst/>
                <a:uFillTx/>
                <a:latin typeface="Arial Narrow"/>
              </a:rPr>
              <a:t>BES staffing budget in FY2008 includes 3 new program manager positions in CSGB (see following).</a:t>
            </a:r>
            <a:r>
              <a:rPr b="1" lang="en-IN" sz="2000" strike="noStrike" u="none">
                <a:solidFill>
                  <a:srgbClr val="000000"/>
                </a:solidFill>
                <a:effectLst/>
                <a:uFillTx/>
                <a:latin typeface="Arial Narrow"/>
              </a:rPr>
              <a:t> </a:t>
            </a:r>
            <a:endParaRPr b="0" lang="en-IN" sz="2000" strike="noStrike" u="none">
              <a:solidFill>
                <a:srgbClr val="000000"/>
              </a:solidFill>
              <a:effectLst/>
              <a:uFillTx/>
              <a:latin typeface="Times New Roman"/>
            </a:endParaRPr>
          </a:p>
          <a:p>
            <a:pPr marL="263520" indent="-249120">
              <a:lnSpc>
                <a:spcPct val="100000"/>
              </a:lnSpc>
              <a:spcBef>
                <a:spcPts val="601"/>
              </a:spcBef>
              <a:buClr>
                <a:srgbClr val="0000ff"/>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0000ff"/>
                </a:solidFill>
                <a:effectLst/>
                <a:uFillTx/>
                <a:latin typeface="Arial Narrow"/>
              </a:rPr>
              <a:t>Portfolio prioritization</a:t>
            </a:r>
            <a:endParaRPr b="0" lang="en-IN" sz="2400" strike="noStrike" u="none">
              <a:solidFill>
                <a:srgbClr val="000000"/>
              </a:solidFill>
              <a:effectLst/>
              <a:uFillTx/>
              <a:latin typeface="Times New Roman"/>
            </a:endParaRPr>
          </a:p>
          <a:p>
            <a:pPr lvl="1" marL="668160" indent="-207720">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000000"/>
                </a:solidFill>
                <a:effectLst/>
                <a:uFillTx/>
                <a:latin typeface="Arial Narrow"/>
              </a:rPr>
              <a:t>Recommendation:  In light of flat funding, prioritize the portfolio in order to continue supporting areas critical to DOE mission at appropriate level. </a:t>
            </a:r>
            <a:endParaRPr b="0" lang="en-IN" sz="2000" strike="noStrike" u="none">
              <a:solidFill>
                <a:srgbClr val="000000"/>
              </a:solidFill>
              <a:effectLst/>
              <a:uFillTx/>
              <a:latin typeface="Times New Roman"/>
            </a:endParaRPr>
          </a:p>
          <a:p>
            <a:pPr lvl="1" marL="668160" indent="-207720">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000000"/>
                </a:solidFill>
                <a:effectLst/>
                <a:uFillTx/>
                <a:latin typeface="Arial Narrow"/>
              </a:rPr>
              <a:t>Action:  significant prioritization accomplished – see following.  </a:t>
            </a:r>
            <a:endParaRPr b="0" lang="en-IN" sz="2000" strike="noStrike" u="none">
              <a:solidFill>
                <a:srgbClr val="000000"/>
              </a:solidFill>
              <a:effectLst/>
              <a:uFillTx/>
              <a:latin typeface="Times New Roman"/>
            </a:endParaRPr>
          </a:p>
          <a:p>
            <a:pPr marL="263520" indent="-249120">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000" strike="noStrike" u="none">
              <a:solidFill>
                <a:srgbClr val="000000"/>
              </a:solidFill>
              <a:effectLst/>
              <a:uFillTx/>
              <a:latin typeface="Times New Roman"/>
            </a:endParaRPr>
          </a:p>
        </p:txBody>
      </p:sp>
    </p:spTree>
  </p:cSld>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6" name=""/>
          <p:cNvSpPr/>
          <p:nvPr/>
        </p:nvSpPr>
        <p:spPr>
          <a:xfrm>
            <a:off x="2541960" y="138240"/>
            <a:ext cx="4390560" cy="576720"/>
          </a:xfrm>
          <a:prstGeom prst="rect">
            <a:avLst/>
          </a:prstGeom>
          <a:noFill/>
          <a:ln w="0">
            <a:noFill/>
          </a:ln>
        </p:spPr>
        <p:style>
          <a:lnRef idx="0"/>
          <a:fillRef idx="0"/>
          <a:effectRef idx="0"/>
          <a:fontRef idx="minor"/>
        </p:style>
        <p:txBody>
          <a:bodyPr wrap="none" lIns="90360" rIns="90360" tIns="44280" bIns="4428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IN" sz="3200" strike="noStrike" u="none">
                <a:solidFill>
                  <a:srgbClr val="ff0000"/>
                </a:solidFill>
                <a:effectLst/>
                <a:uFillTx/>
                <a:latin typeface="Arial Narrow"/>
              </a:rPr>
              <a:t>Changes in CSGB division</a:t>
            </a:r>
            <a:endParaRPr b="0" lang="en-IN" sz="3200" strike="noStrike" u="none">
              <a:solidFill>
                <a:srgbClr val="000000"/>
              </a:solidFill>
              <a:effectLst/>
              <a:uFillTx/>
              <a:latin typeface="Times New Roman"/>
            </a:endParaRPr>
          </a:p>
        </p:txBody>
      </p:sp>
      <p:sp>
        <p:nvSpPr>
          <p:cNvPr id="47" name=""/>
          <p:cNvSpPr/>
          <p:nvPr/>
        </p:nvSpPr>
        <p:spPr>
          <a:xfrm>
            <a:off x="433440" y="844560"/>
            <a:ext cx="9117000" cy="6332760"/>
          </a:xfrm>
          <a:prstGeom prst="rect">
            <a:avLst/>
          </a:prstGeom>
          <a:noFill/>
          <a:ln w="0">
            <a:noFill/>
          </a:ln>
        </p:spPr>
        <p:style>
          <a:lnRef idx="0"/>
          <a:fillRef idx="0"/>
          <a:effectRef idx="0"/>
          <a:fontRef idx="minor"/>
        </p:style>
        <p:txBody>
          <a:bodyPr lIns="90360" rIns="90360" tIns="44280" bIns="44280" anchor="t">
            <a:spAutoFit/>
          </a:bodyPr>
          <a:p>
            <a:pPr marL="263520" indent="-249120">
              <a:lnSpc>
                <a:spcPct val="100000"/>
              </a:lnSpc>
              <a:spcBef>
                <a:spcPts val="601"/>
              </a:spcBef>
              <a:buClr>
                <a:srgbClr val="0000ff"/>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0000ff"/>
                </a:solidFill>
                <a:effectLst/>
                <a:uFillTx/>
                <a:latin typeface="Arial Narrow"/>
              </a:rPr>
              <a:t>Organizational changes</a:t>
            </a:r>
            <a:endParaRPr b="0" lang="en-IN" sz="2400" strike="noStrike" u="none">
              <a:solidFill>
                <a:srgbClr val="000000"/>
              </a:solidFill>
              <a:effectLst/>
              <a:uFillTx/>
              <a:latin typeface="Times New Roman"/>
            </a:endParaRPr>
          </a:p>
          <a:p>
            <a:pPr lvl="1" marL="668160" indent="-207720">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000000"/>
                </a:solidFill>
                <a:effectLst/>
                <a:uFillTx/>
                <a:latin typeface="Arial Narrow"/>
              </a:rPr>
              <a:t>FY2007:  Chemical Physics program split into two parts:  Gas-Phase Chemical Physics (combustion related) and Condensed Phase &amp; Interfacial Molecular Science (CPIMS)</a:t>
            </a:r>
            <a:endParaRPr b="0" lang="en-IN" sz="2000" strike="noStrike" u="none">
              <a:solidFill>
                <a:srgbClr val="000000"/>
              </a:solidFill>
              <a:effectLst/>
              <a:uFillTx/>
              <a:latin typeface="Times New Roman"/>
            </a:endParaRPr>
          </a:p>
          <a:p>
            <a:pPr lvl="1" marL="668160" indent="-207720">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0000"/>
                </a:solidFill>
                <a:effectLst/>
                <a:uFillTx/>
                <a:latin typeface="Arial Narrow"/>
              </a:rPr>
              <a:t>FY2008:  Created the new Photo- and Biochemistry Team from the Energy Biosciences program plus the Solar Photochemistry program (from Fundamental Interactions); associated modest program name changes</a:t>
            </a:r>
            <a:endParaRPr b="0" lang="en-IN" sz="2000" strike="noStrike" u="none">
              <a:solidFill>
                <a:srgbClr val="000000"/>
              </a:solidFill>
              <a:effectLst/>
              <a:uFillTx/>
              <a:latin typeface="Times New Roman"/>
            </a:endParaRPr>
          </a:p>
          <a:p>
            <a:pPr marL="263520" indent="-249120">
              <a:lnSpc>
                <a:spcPct val="100000"/>
              </a:lnSpc>
              <a:spcBef>
                <a:spcPts val="1500"/>
              </a:spcBef>
              <a:buClr>
                <a:srgbClr val="0000ff"/>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0000ff"/>
                </a:solidFill>
                <a:effectLst/>
                <a:uFillTx/>
                <a:latin typeface="Arial Narrow"/>
              </a:rPr>
              <a:t>Significant program changes (portfolio optimization)</a:t>
            </a:r>
            <a:endParaRPr b="0" lang="en-IN" sz="2400" strike="noStrike" u="none">
              <a:solidFill>
                <a:srgbClr val="000000"/>
              </a:solidFill>
              <a:effectLst/>
              <a:uFillTx/>
              <a:latin typeface="Times New Roman"/>
            </a:endParaRPr>
          </a:p>
          <a:p>
            <a:pPr lvl="1" marL="668160" indent="-207720">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000000"/>
                </a:solidFill>
                <a:effectLst/>
                <a:uFillTx/>
                <a:latin typeface="Arial Narrow"/>
              </a:rPr>
              <a:t>FY2006 – 2008:  Phase out of the Chemical Energy &amp; Chemical Engineering Program</a:t>
            </a:r>
            <a:endParaRPr b="0" lang="en-IN" sz="2000" strike="noStrike" u="none">
              <a:solidFill>
                <a:srgbClr val="000000"/>
              </a:solidFill>
              <a:effectLst/>
              <a:uFillTx/>
              <a:latin typeface="Times New Roman"/>
            </a:endParaRPr>
          </a:p>
          <a:p>
            <a:pPr lvl="2" marL="914400">
              <a:lnSpc>
                <a:spcPct val="100000"/>
              </a:lnSpc>
              <a:spcBef>
                <a:spcPts val="451"/>
              </a:spcBef>
              <a:tabLst>
                <a:tab algn="l" pos="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000000"/>
                </a:solidFill>
                <a:effectLst/>
                <a:uFillTx/>
                <a:latin typeface="Arial Narrow"/>
              </a:rPr>
              <a:t>Motivated by budgetary pressure and a lack of coherence in the program</a:t>
            </a:r>
            <a:endParaRPr b="0" lang="en-IN" sz="1800" strike="noStrike" u="none">
              <a:solidFill>
                <a:srgbClr val="000000"/>
              </a:solidFill>
              <a:effectLst/>
              <a:uFillTx/>
              <a:latin typeface="Times New Roman"/>
            </a:endParaRPr>
          </a:p>
          <a:p>
            <a:pPr lvl="2" marL="914400">
              <a:lnSpc>
                <a:spcPct val="100000"/>
              </a:lnSpc>
              <a:spcBef>
                <a:spcPts val="451"/>
              </a:spcBef>
              <a:tabLst>
                <a:tab algn="l" pos="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000000"/>
                </a:solidFill>
                <a:effectLst/>
                <a:uFillTx/>
                <a:latin typeface="Arial Narrow"/>
              </a:rPr>
              <a:t>A few research projects moved to Catalysis Science; most funding reprogrammed</a:t>
            </a:r>
            <a:endParaRPr b="0" lang="en-IN" sz="1800" strike="noStrike" u="none">
              <a:solidFill>
                <a:srgbClr val="000000"/>
              </a:solidFill>
              <a:effectLst/>
              <a:uFillTx/>
              <a:latin typeface="Times New Roman"/>
            </a:endParaRPr>
          </a:p>
          <a:p>
            <a:pPr lvl="1" marL="668160" indent="-207720">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000000"/>
                </a:solidFill>
                <a:effectLst/>
                <a:uFillTx/>
                <a:latin typeface="Arial Narrow"/>
              </a:rPr>
              <a:t>FY2005 – 2007:  Investment in ultrafast chemical science, principally in AMOS program (UXSL at LBNL; PULSE at SLAC)</a:t>
            </a:r>
            <a:endParaRPr b="0" lang="en-IN" sz="2000" strike="noStrike" u="none">
              <a:solidFill>
                <a:srgbClr val="000000"/>
              </a:solidFill>
              <a:effectLst/>
              <a:uFillTx/>
              <a:latin typeface="Times New Roman"/>
            </a:endParaRPr>
          </a:p>
          <a:p>
            <a:pPr lvl="1" marL="668160" indent="-207720">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000000"/>
                </a:solidFill>
                <a:effectLst/>
                <a:uFillTx/>
                <a:latin typeface="Arial Narrow"/>
              </a:rPr>
              <a:t>FY2006:  Investment in chemical imaging across division</a:t>
            </a:r>
            <a:endParaRPr b="0" lang="en-IN" sz="2000" strike="noStrike" u="none">
              <a:solidFill>
                <a:srgbClr val="000000"/>
              </a:solidFill>
              <a:effectLst/>
              <a:uFillTx/>
              <a:latin typeface="Times New Roman"/>
            </a:endParaRPr>
          </a:p>
          <a:p>
            <a:pPr marL="263520" indent="-249120">
              <a:lnSpc>
                <a:spcPct val="100000"/>
              </a:lnSpc>
              <a:spcBef>
                <a:spcPts val="1500"/>
              </a:spcBef>
              <a:buClr>
                <a:srgbClr val="0000ff"/>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0000ff"/>
                </a:solidFill>
                <a:effectLst/>
                <a:uFillTx/>
                <a:latin typeface="Arial Narrow"/>
              </a:rPr>
              <a:t>Staffing</a:t>
            </a:r>
            <a:endParaRPr b="0" lang="en-IN" sz="2400" strike="noStrike" u="none">
              <a:solidFill>
                <a:srgbClr val="000000"/>
              </a:solidFill>
              <a:effectLst/>
              <a:uFillTx/>
              <a:latin typeface="Times New Roman"/>
            </a:endParaRPr>
          </a:p>
          <a:p>
            <a:pPr lvl="1" marL="668160" indent="-207720">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000000"/>
                </a:solidFill>
                <a:effectLst/>
                <a:uFillTx/>
                <a:latin typeface="Arial Narrow"/>
              </a:rPr>
              <a:t>Significant changes in division staff since the last COV</a:t>
            </a:r>
            <a:endParaRPr b="0" lang="en-IN" sz="2000" strike="noStrike" u="none">
              <a:solidFill>
                <a:srgbClr val="000000"/>
              </a:solidFill>
              <a:effectLst/>
              <a:uFillTx/>
              <a:latin typeface="Times New Roman"/>
            </a:endParaRPr>
          </a:p>
          <a:p>
            <a:pPr lvl="1" marL="668160" indent="-207720">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000000"/>
                </a:solidFill>
                <a:effectLst/>
                <a:uFillTx/>
                <a:latin typeface="Arial Narrow"/>
              </a:rPr>
              <a:t>Significant (but transient!) understaffing during upcoming COV</a:t>
            </a:r>
            <a:endParaRPr b="0" lang="en-IN" sz="2000" strike="noStrike" u="none">
              <a:solidFill>
                <a:srgbClr val="000000"/>
              </a:solidFill>
              <a:effectLst/>
              <a:uFillTx/>
              <a:latin typeface="Times New Roman"/>
            </a:endParaRPr>
          </a:p>
        </p:txBody>
      </p:sp>
    </p:spTree>
  </p:cSld>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8" name=""/>
          <p:cNvSpPr/>
          <p:nvPr/>
        </p:nvSpPr>
        <p:spPr>
          <a:xfrm>
            <a:off x="-291960" y="571680"/>
            <a:ext cx="10350360" cy="330120"/>
          </a:xfrm>
          <a:prstGeom prst="rect">
            <a:avLst/>
          </a:prstGeom>
          <a:solidFill>
            <a:srgbClr val="ffffff"/>
          </a:solidFill>
          <a:ln w="0">
            <a:noFill/>
          </a:ln>
        </p:spPr>
        <p:style>
          <a:lnRef idx="0"/>
          <a:fillRef idx="0"/>
          <a:effectRef idx="0"/>
          <a:fontRef idx="minor"/>
        </p:style>
        <p:txBody>
          <a:bodyPr wrap="none" lIns="90000" rIns="90000" tIns="46800" bIns="46800" anchor="ctr">
            <a:spAutoFit/>
          </a:bodyPr>
          <a:p>
            <a:endParaRPr b="0" lang="en-IN" sz="2400" strike="noStrike" u="none">
              <a:solidFill>
                <a:srgbClr val="000000"/>
              </a:solidFill>
              <a:effectLst/>
              <a:uFillTx/>
              <a:latin typeface="Times New Roman"/>
            </a:endParaRPr>
          </a:p>
        </p:txBody>
      </p:sp>
      <p:sp>
        <p:nvSpPr>
          <p:cNvPr id="49" name=""/>
          <p:cNvSpPr/>
          <p:nvPr/>
        </p:nvSpPr>
        <p:spPr>
          <a:xfrm>
            <a:off x="2884320" y="1795320"/>
            <a:ext cx="14400" cy="4384800"/>
          </a:xfrm>
          <a:prstGeom prst="line">
            <a:avLst/>
          </a:prstGeom>
          <a:ln w="9360">
            <a:solidFill>
              <a:srgbClr val="000000"/>
            </a:solidFill>
            <a:miter/>
          </a:ln>
        </p:spPr>
        <p:style>
          <a:lnRef idx="0"/>
          <a:fillRef idx="0"/>
          <a:effectRef idx="0"/>
          <a:fontRef idx="minor"/>
        </p:style>
        <p:txBody>
          <a:bodyPr lIns="0" rIns="0" tIns="46800" bIns="46800" anchor="ctr">
            <a:noAutofit/>
          </a:bodyPr>
          <a:p>
            <a:endParaRPr b="0" lang="en-IN" sz="2400" strike="noStrike" u="none">
              <a:solidFill>
                <a:srgbClr val="000000"/>
              </a:solidFill>
              <a:effectLst/>
              <a:uFillTx/>
              <a:latin typeface="Times New Roman"/>
            </a:endParaRPr>
          </a:p>
        </p:txBody>
      </p:sp>
      <p:sp>
        <p:nvSpPr>
          <p:cNvPr id="50" name=""/>
          <p:cNvSpPr/>
          <p:nvPr/>
        </p:nvSpPr>
        <p:spPr>
          <a:xfrm>
            <a:off x="1836720" y="4898880"/>
            <a:ext cx="2048040" cy="817560"/>
          </a:xfrm>
          <a:prstGeom prst="rect">
            <a:avLst/>
          </a:prstGeom>
          <a:solidFill>
            <a:srgbClr val="ffffff"/>
          </a:solidFill>
          <a:ln w="12600">
            <a:solidFill>
              <a:srgbClr val="000000"/>
            </a:solidFill>
            <a:miter/>
          </a:ln>
        </p:spPr>
        <p:style>
          <a:lnRef idx="0"/>
          <a:fillRef idx="0"/>
          <a:effectRef idx="0"/>
          <a:fontRef idx="minor"/>
        </p:style>
        <p:txBody>
          <a:bodyPr wrap="none" lIns="0" rIns="0" tIns="46800" bIns="46800" anchor="ctr">
            <a:noAutofit/>
          </a:bodyPr>
          <a:p>
            <a:endParaRPr b="0" lang="en-IN" sz="2400" strike="noStrike" u="none">
              <a:solidFill>
                <a:srgbClr val="000000"/>
              </a:solidFill>
              <a:effectLst/>
              <a:uFillTx/>
              <a:latin typeface="Times New Roman"/>
            </a:endParaRPr>
          </a:p>
        </p:txBody>
      </p:sp>
      <p:sp>
        <p:nvSpPr>
          <p:cNvPr id="51" name=""/>
          <p:cNvSpPr/>
          <p:nvPr/>
        </p:nvSpPr>
        <p:spPr>
          <a:xfrm>
            <a:off x="1836720" y="5789520"/>
            <a:ext cx="2048040" cy="817560"/>
          </a:xfrm>
          <a:prstGeom prst="rect">
            <a:avLst/>
          </a:prstGeom>
          <a:solidFill>
            <a:srgbClr val="ffffff"/>
          </a:solidFill>
          <a:ln w="12600">
            <a:solidFill>
              <a:srgbClr val="000000"/>
            </a:solidFill>
            <a:miter/>
          </a:ln>
        </p:spPr>
        <p:style>
          <a:lnRef idx="0"/>
          <a:fillRef idx="0"/>
          <a:effectRef idx="0"/>
          <a:fontRef idx="minor"/>
        </p:style>
        <p:txBody>
          <a:bodyPr wrap="none" lIns="0" rIns="0" tIns="46800" bIns="46800" anchor="ctr">
            <a:noAutofit/>
          </a:bodyPr>
          <a:p>
            <a:endParaRPr b="0" lang="en-IN" sz="2400" strike="noStrike" u="none">
              <a:solidFill>
                <a:srgbClr val="000000"/>
              </a:solidFill>
              <a:effectLst/>
              <a:uFillTx/>
              <a:latin typeface="Times New Roman"/>
            </a:endParaRPr>
          </a:p>
        </p:txBody>
      </p:sp>
      <p:sp>
        <p:nvSpPr>
          <p:cNvPr id="52" name=""/>
          <p:cNvSpPr/>
          <p:nvPr/>
        </p:nvSpPr>
        <p:spPr>
          <a:xfrm>
            <a:off x="1836720" y="3954600"/>
            <a:ext cx="2048040" cy="817560"/>
          </a:xfrm>
          <a:prstGeom prst="rect">
            <a:avLst/>
          </a:prstGeom>
          <a:solidFill>
            <a:srgbClr val="ffffff"/>
          </a:solidFill>
          <a:ln w="12600">
            <a:solidFill>
              <a:srgbClr val="000000"/>
            </a:solidFill>
            <a:miter/>
          </a:ln>
        </p:spPr>
        <p:style>
          <a:lnRef idx="0"/>
          <a:fillRef idx="0"/>
          <a:effectRef idx="0"/>
          <a:fontRef idx="minor"/>
        </p:style>
        <p:txBody>
          <a:bodyPr wrap="none" lIns="0" rIns="0" tIns="46800" bIns="46800" anchor="ctr">
            <a:noAutofit/>
          </a:bodyPr>
          <a:p>
            <a:endParaRPr b="0" lang="en-IN" sz="2400" strike="noStrike" u="none">
              <a:solidFill>
                <a:srgbClr val="000000"/>
              </a:solidFill>
              <a:effectLst/>
              <a:uFillTx/>
              <a:latin typeface="Times New Roman"/>
            </a:endParaRPr>
          </a:p>
        </p:txBody>
      </p:sp>
      <p:sp>
        <p:nvSpPr>
          <p:cNvPr id="53" name=""/>
          <p:cNvSpPr/>
          <p:nvPr/>
        </p:nvSpPr>
        <p:spPr>
          <a:xfrm>
            <a:off x="6620040" y="5925960"/>
            <a:ext cx="2027160" cy="662040"/>
          </a:xfrm>
          <a:prstGeom prst="rect">
            <a:avLst/>
          </a:prstGeom>
          <a:solidFill>
            <a:srgbClr val="ffffff"/>
          </a:solidFill>
          <a:ln w="9360">
            <a:solidFill>
              <a:srgbClr val="000000"/>
            </a:solidFill>
            <a:miter/>
          </a:ln>
        </p:spPr>
        <p:style>
          <a:lnRef idx="0"/>
          <a:fillRef idx="0"/>
          <a:effectRef idx="0"/>
          <a:fontRef idx="minor"/>
        </p:style>
        <p:txBody>
          <a:bodyPr lIns="56880" rIns="0" tIns="56520" bIns="56520" anchor="t">
            <a:spAutoFit/>
          </a:bodyPr>
          <a:p>
            <a:pPr marL="212760" indent="-212760">
              <a:lnSpc>
                <a:spcPct val="100000"/>
              </a:lnSpc>
              <a:tabLst>
                <a:tab algn="l" pos="0"/>
                <a:tab algn="l" pos="1073160"/>
                <a:tab algn="l" pos="2146320"/>
                <a:tab algn="l" pos="3219480"/>
                <a:tab algn="l" pos="4292640"/>
                <a:tab algn="l" pos="5365800"/>
                <a:tab algn="l" pos="6438960"/>
                <a:tab algn="l" pos="7512120"/>
                <a:tab algn="l" pos="8585280"/>
                <a:tab algn="l" pos="9658440"/>
                <a:tab algn="l" pos="10731600"/>
              </a:tabLst>
            </a:pPr>
            <a:r>
              <a:rPr b="0" lang="en-IN" sz="1200" strike="noStrike" u="none">
                <a:solidFill>
                  <a:srgbClr val="000080"/>
                </a:solidFill>
                <a:effectLst/>
                <a:uFillTx/>
                <a:latin typeface="Wingdings"/>
                <a:ea typeface="Wingdings"/>
              </a:rPr>
              <a:t></a:t>
            </a:r>
            <a:r>
              <a:rPr b="0" lang="en-IN" sz="1200" strike="noStrike" u="none">
                <a:solidFill>
                  <a:srgbClr val="003366"/>
                </a:solidFill>
                <a:effectLst/>
                <a:uFillTx/>
                <a:latin typeface="Arial Unicode MS"/>
              </a:rPr>
              <a:t> </a:t>
            </a:r>
            <a:r>
              <a:rPr b="0" lang="en-IN" sz="1200" strike="noStrike" u="none">
                <a:solidFill>
                  <a:srgbClr val="003366"/>
                </a:solidFill>
                <a:effectLst/>
                <a:uFillTx/>
                <a:latin typeface="Arial Narrow"/>
              </a:rPr>
              <a:t> </a:t>
            </a:r>
            <a:r>
              <a:rPr b="0" lang="en-IN" sz="1200" strike="noStrike" u="none">
                <a:solidFill>
                  <a:srgbClr val="010000"/>
                </a:solidFill>
                <a:effectLst/>
                <a:uFillTx/>
                <a:latin typeface="Arial Narrow"/>
              </a:rPr>
              <a:t>IPA</a:t>
            </a:r>
            <a:endParaRPr b="0" lang="en-IN" sz="1200" strike="noStrike" u="none">
              <a:solidFill>
                <a:srgbClr val="000000"/>
              </a:solidFill>
              <a:effectLst/>
              <a:uFillTx/>
              <a:latin typeface="Times New Roman"/>
            </a:endParaRPr>
          </a:p>
          <a:p>
            <a:pPr marL="212760" indent="-212760">
              <a:lnSpc>
                <a:spcPct val="100000"/>
              </a:lnSpc>
              <a:tabLst>
                <a:tab algn="l" pos="0"/>
                <a:tab algn="l" pos="1073160"/>
                <a:tab algn="l" pos="2146320"/>
                <a:tab algn="l" pos="3219480"/>
                <a:tab algn="l" pos="4292640"/>
                <a:tab algn="l" pos="5365800"/>
                <a:tab algn="l" pos="6438960"/>
                <a:tab algn="l" pos="7512120"/>
                <a:tab algn="l" pos="8585280"/>
                <a:tab algn="l" pos="9658440"/>
                <a:tab algn="l" pos="10731600"/>
              </a:tabLst>
            </a:pPr>
            <a:r>
              <a:rPr b="0" lang="en-IN" sz="1200" strike="noStrike" u="none">
                <a:solidFill>
                  <a:srgbClr val="cc0000"/>
                </a:solidFill>
                <a:effectLst/>
                <a:uFillTx/>
                <a:latin typeface="Wingdings"/>
                <a:ea typeface="Wingdings"/>
              </a:rPr>
              <a:t></a:t>
            </a:r>
            <a:r>
              <a:rPr b="0" lang="en-IN" sz="1200" strike="noStrike" u="none">
                <a:solidFill>
                  <a:srgbClr val="003366"/>
                </a:solidFill>
                <a:effectLst/>
                <a:uFillTx/>
                <a:latin typeface="Arial Narrow"/>
              </a:rPr>
              <a:t> </a:t>
            </a:r>
            <a:r>
              <a:rPr b="0" lang="en-IN" sz="1200" strike="noStrike" u="none">
                <a:solidFill>
                  <a:srgbClr val="010000"/>
                </a:solidFill>
                <a:effectLst/>
                <a:uFillTx/>
                <a:latin typeface="Arial Narrow"/>
              </a:rPr>
              <a:t>Detailee</a:t>
            </a:r>
            <a:endParaRPr b="0" lang="en-IN" sz="1200" strike="noStrike" u="none">
              <a:solidFill>
                <a:srgbClr val="000000"/>
              </a:solidFill>
              <a:effectLst/>
              <a:uFillTx/>
              <a:latin typeface="Times New Roman"/>
            </a:endParaRPr>
          </a:p>
          <a:p>
            <a:pPr marL="212760" indent="-212760">
              <a:lnSpc>
                <a:spcPct val="100000"/>
              </a:lnSpc>
              <a:tabLst>
                <a:tab algn="l" pos="0"/>
                <a:tab algn="l" pos="1073160"/>
                <a:tab algn="l" pos="2146320"/>
                <a:tab algn="l" pos="3219480"/>
                <a:tab algn="l" pos="4292640"/>
                <a:tab algn="l" pos="5365800"/>
                <a:tab algn="l" pos="6438960"/>
                <a:tab algn="l" pos="7512120"/>
                <a:tab algn="l" pos="8585280"/>
                <a:tab algn="l" pos="9658440"/>
                <a:tab algn="l" pos="10731600"/>
              </a:tabLst>
            </a:pPr>
            <a:r>
              <a:rPr b="0" lang="en-IN" sz="1200" strike="noStrike" u="none">
                <a:solidFill>
                  <a:srgbClr val="010000"/>
                </a:solidFill>
                <a:effectLst/>
                <a:uFillTx/>
                <a:latin typeface="Arial Narrow"/>
              </a:rPr>
              <a:t> </a:t>
            </a:r>
            <a:r>
              <a:rPr b="0" lang="en-IN" sz="1200" strike="noStrike" u="none">
                <a:solidFill>
                  <a:srgbClr val="010000"/>
                </a:solidFill>
                <a:effectLst/>
                <a:uFillTx/>
                <a:latin typeface="Wingdings"/>
                <a:ea typeface="Wingdings"/>
              </a:rPr>
              <a:t></a:t>
            </a:r>
            <a:r>
              <a:rPr b="0" lang="en-IN" sz="1200" strike="noStrike" u="none">
                <a:solidFill>
                  <a:srgbClr val="010000"/>
                </a:solidFill>
                <a:effectLst/>
                <a:uFillTx/>
                <a:latin typeface="Arial Narrow"/>
              </a:rPr>
              <a:t> Detailee, 1/4 time, not at HQ</a:t>
            </a:r>
            <a:endParaRPr b="0" lang="en-IN" sz="1200" strike="noStrike" u="none">
              <a:solidFill>
                <a:srgbClr val="000000"/>
              </a:solidFill>
              <a:effectLst/>
              <a:uFillTx/>
              <a:latin typeface="Times New Roman"/>
            </a:endParaRPr>
          </a:p>
        </p:txBody>
      </p:sp>
      <p:sp>
        <p:nvSpPr>
          <p:cNvPr id="54" name=""/>
          <p:cNvSpPr/>
          <p:nvPr/>
        </p:nvSpPr>
        <p:spPr>
          <a:xfrm>
            <a:off x="7345440" y="1795320"/>
            <a:ext cx="34920" cy="2017800"/>
          </a:xfrm>
          <a:prstGeom prst="line">
            <a:avLst/>
          </a:prstGeom>
          <a:ln w="9360">
            <a:solidFill>
              <a:srgbClr val="000000"/>
            </a:solidFill>
            <a:miter/>
          </a:ln>
        </p:spPr>
        <p:style>
          <a:lnRef idx="0"/>
          <a:fillRef idx="0"/>
          <a:effectRef idx="0"/>
          <a:fontRef idx="minor"/>
        </p:style>
        <p:txBody>
          <a:bodyPr lIns="0" rIns="0" tIns="46800" bIns="46800" anchor="ctr">
            <a:noAutofit/>
          </a:bodyPr>
          <a:p>
            <a:endParaRPr b="0" lang="en-IN" sz="2400" strike="noStrike" u="none">
              <a:solidFill>
                <a:srgbClr val="000000"/>
              </a:solidFill>
              <a:effectLst/>
              <a:uFillTx/>
              <a:latin typeface="Times New Roman"/>
            </a:endParaRPr>
          </a:p>
        </p:txBody>
      </p:sp>
      <p:sp>
        <p:nvSpPr>
          <p:cNvPr id="55" name=""/>
          <p:cNvSpPr/>
          <p:nvPr/>
        </p:nvSpPr>
        <p:spPr>
          <a:xfrm>
            <a:off x="6351480" y="1903320"/>
            <a:ext cx="2102040" cy="1042920"/>
          </a:xfrm>
          <a:prstGeom prst="rect">
            <a:avLst/>
          </a:prstGeom>
          <a:solidFill>
            <a:srgbClr val="eaeaea"/>
          </a:solidFill>
          <a:ln w="12600">
            <a:solidFill>
              <a:srgbClr val="000000"/>
            </a:solidFill>
            <a:miter/>
          </a:ln>
          <a:effectLst>
            <a:outerShdw dist="17819" dir="18900000" blurRad="0" rotWithShape="0">
              <a:srgbClr val="ff0000"/>
            </a:outerShdw>
          </a:effectLst>
        </p:spPr>
        <p:style>
          <a:lnRef idx="0"/>
          <a:fillRef idx="0"/>
          <a:effectRef idx="0"/>
          <a:fontRef idx="minor"/>
        </p:style>
        <p:txBody>
          <a:bodyPr wrap="none" lIns="0" rIns="0" tIns="46800" bIns="46800" anchor="ctr">
            <a:noAutofit/>
          </a:bodyPr>
          <a:p>
            <a:endParaRPr b="0" lang="en-IN" sz="2400" strike="noStrike" u="none">
              <a:solidFill>
                <a:srgbClr val="000000"/>
              </a:solidFill>
              <a:effectLst/>
              <a:uFillTx/>
              <a:latin typeface="Times New Roman"/>
            </a:endParaRPr>
          </a:p>
        </p:txBody>
      </p:sp>
      <p:sp>
        <p:nvSpPr>
          <p:cNvPr id="56" name=""/>
          <p:cNvSpPr/>
          <p:nvPr/>
        </p:nvSpPr>
        <p:spPr>
          <a:xfrm>
            <a:off x="5100480" y="1684440"/>
            <a:ext cx="0" cy="509436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IN" sz="2400" strike="noStrike" u="none">
              <a:solidFill>
                <a:srgbClr val="000000"/>
              </a:solidFill>
              <a:effectLst/>
              <a:uFillTx/>
              <a:latin typeface="Times New Roman"/>
            </a:endParaRPr>
          </a:p>
        </p:txBody>
      </p:sp>
      <p:sp>
        <p:nvSpPr>
          <p:cNvPr id="57" name=""/>
          <p:cNvSpPr/>
          <p:nvPr/>
        </p:nvSpPr>
        <p:spPr>
          <a:xfrm>
            <a:off x="4149720" y="3038400"/>
            <a:ext cx="2048040" cy="816120"/>
          </a:xfrm>
          <a:prstGeom prst="rect">
            <a:avLst/>
          </a:prstGeom>
          <a:solidFill>
            <a:srgbClr val="ffffff"/>
          </a:solidFill>
          <a:ln w="12600">
            <a:solidFill>
              <a:srgbClr val="000000"/>
            </a:solidFill>
            <a:miter/>
          </a:ln>
        </p:spPr>
        <p:style>
          <a:lnRef idx="0"/>
          <a:fillRef idx="0"/>
          <a:effectRef idx="0"/>
          <a:fontRef idx="minor"/>
        </p:style>
        <p:txBody>
          <a:bodyPr wrap="none" lIns="0" rIns="0" tIns="46800" bIns="46800" anchor="ctr">
            <a:noAutofit/>
          </a:bodyPr>
          <a:p>
            <a:endParaRPr b="0" lang="en-IN" sz="2400" strike="noStrike" u="none">
              <a:solidFill>
                <a:srgbClr val="000000"/>
              </a:solidFill>
              <a:effectLst/>
              <a:uFillTx/>
              <a:latin typeface="Times New Roman"/>
            </a:endParaRPr>
          </a:p>
        </p:txBody>
      </p:sp>
      <p:sp>
        <p:nvSpPr>
          <p:cNvPr id="58" name=""/>
          <p:cNvSpPr/>
          <p:nvPr/>
        </p:nvSpPr>
        <p:spPr>
          <a:xfrm>
            <a:off x="4149720" y="5789520"/>
            <a:ext cx="2048040" cy="817560"/>
          </a:xfrm>
          <a:prstGeom prst="rect">
            <a:avLst/>
          </a:prstGeom>
          <a:solidFill>
            <a:srgbClr val="ffffff"/>
          </a:solidFill>
          <a:ln w="12600">
            <a:solidFill>
              <a:srgbClr val="000000"/>
            </a:solidFill>
            <a:miter/>
          </a:ln>
        </p:spPr>
        <p:style>
          <a:lnRef idx="0"/>
          <a:fillRef idx="0"/>
          <a:effectRef idx="0"/>
          <a:fontRef idx="minor"/>
        </p:style>
        <p:txBody>
          <a:bodyPr wrap="none" lIns="0" rIns="0" tIns="46800" bIns="46800" anchor="ctr">
            <a:noAutofit/>
          </a:bodyPr>
          <a:p>
            <a:endParaRPr b="0" lang="en-IN" sz="2400" strike="noStrike" u="none">
              <a:solidFill>
                <a:srgbClr val="000000"/>
              </a:solidFill>
              <a:effectLst/>
              <a:uFillTx/>
              <a:latin typeface="Times New Roman"/>
            </a:endParaRPr>
          </a:p>
        </p:txBody>
      </p:sp>
      <p:sp>
        <p:nvSpPr>
          <p:cNvPr id="59" name=""/>
          <p:cNvSpPr/>
          <p:nvPr/>
        </p:nvSpPr>
        <p:spPr>
          <a:xfrm>
            <a:off x="4149720" y="3956040"/>
            <a:ext cx="2048040" cy="817560"/>
          </a:xfrm>
          <a:prstGeom prst="rect">
            <a:avLst/>
          </a:prstGeom>
          <a:solidFill>
            <a:srgbClr val="ffffff"/>
          </a:solidFill>
          <a:ln w="12600">
            <a:solidFill>
              <a:srgbClr val="000000"/>
            </a:solidFill>
            <a:miter/>
          </a:ln>
        </p:spPr>
        <p:style>
          <a:lnRef idx="0"/>
          <a:fillRef idx="0"/>
          <a:effectRef idx="0"/>
          <a:fontRef idx="minor"/>
        </p:style>
        <p:txBody>
          <a:bodyPr wrap="none" lIns="0" rIns="0" tIns="46800" bIns="46800" anchor="ctr">
            <a:noAutofit/>
          </a:bodyPr>
          <a:p>
            <a:endParaRPr b="0" lang="en-IN" sz="2400" strike="noStrike" u="none">
              <a:solidFill>
                <a:srgbClr val="000000"/>
              </a:solidFill>
              <a:effectLst/>
              <a:uFillTx/>
              <a:latin typeface="Times New Roman"/>
            </a:endParaRPr>
          </a:p>
        </p:txBody>
      </p:sp>
      <p:sp>
        <p:nvSpPr>
          <p:cNvPr id="60" name=""/>
          <p:cNvSpPr/>
          <p:nvPr/>
        </p:nvSpPr>
        <p:spPr>
          <a:xfrm>
            <a:off x="4149720" y="4871880"/>
            <a:ext cx="2048040" cy="817560"/>
          </a:xfrm>
          <a:prstGeom prst="rect">
            <a:avLst/>
          </a:prstGeom>
          <a:solidFill>
            <a:srgbClr val="ffffff"/>
          </a:solidFill>
          <a:ln w="12600">
            <a:solidFill>
              <a:srgbClr val="000000"/>
            </a:solidFill>
            <a:miter/>
          </a:ln>
        </p:spPr>
        <p:style>
          <a:lnRef idx="0"/>
          <a:fillRef idx="0"/>
          <a:effectRef idx="0"/>
          <a:fontRef idx="minor"/>
        </p:style>
        <p:txBody>
          <a:bodyPr wrap="none" lIns="0" rIns="0" tIns="46800" bIns="46800" anchor="ctr">
            <a:noAutofit/>
          </a:bodyPr>
          <a:p>
            <a:endParaRPr b="0" lang="en-IN" sz="2400" strike="noStrike" u="none">
              <a:solidFill>
                <a:srgbClr val="000000"/>
              </a:solidFill>
              <a:effectLst/>
              <a:uFillTx/>
              <a:latin typeface="Times New Roman"/>
            </a:endParaRPr>
          </a:p>
        </p:txBody>
      </p:sp>
      <p:sp>
        <p:nvSpPr>
          <p:cNvPr id="61" name=""/>
          <p:cNvSpPr/>
          <p:nvPr/>
        </p:nvSpPr>
        <p:spPr>
          <a:xfrm>
            <a:off x="4149720" y="6708600"/>
            <a:ext cx="2048040" cy="816120"/>
          </a:xfrm>
          <a:prstGeom prst="rect">
            <a:avLst/>
          </a:prstGeom>
          <a:solidFill>
            <a:srgbClr val="ffffff"/>
          </a:solidFill>
          <a:ln w="12600">
            <a:solidFill>
              <a:srgbClr val="000000"/>
            </a:solidFill>
            <a:miter/>
          </a:ln>
        </p:spPr>
        <p:style>
          <a:lnRef idx="0"/>
          <a:fillRef idx="0"/>
          <a:effectRef idx="0"/>
          <a:fontRef idx="minor"/>
        </p:style>
        <p:txBody>
          <a:bodyPr wrap="none" lIns="0" rIns="0" tIns="46800" bIns="46800" anchor="ctr">
            <a:noAutofit/>
          </a:bodyPr>
          <a:p>
            <a:endParaRPr b="0" lang="en-IN" sz="2400" strike="noStrike" u="none">
              <a:solidFill>
                <a:srgbClr val="000000"/>
              </a:solidFill>
              <a:effectLst/>
              <a:uFillTx/>
              <a:latin typeface="Times New Roman"/>
            </a:endParaRPr>
          </a:p>
        </p:txBody>
      </p:sp>
      <p:sp>
        <p:nvSpPr>
          <p:cNvPr id="62" name=""/>
          <p:cNvSpPr/>
          <p:nvPr/>
        </p:nvSpPr>
        <p:spPr>
          <a:xfrm>
            <a:off x="1822320" y="3067200"/>
            <a:ext cx="2049480" cy="815760"/>
          </a:xfrm>
          <a:prstGeom prst="rect">
            <a:avLst/>
          </a:prstGeom>
          <a:solidFill>
            <a:srgbClr val="ffffff"/>
          </a:solidFill>
          <a:ln w="12600">
            <a:solidFill>
              <a:srgbClr val="000000"/>
            </a:solidFill>
            <a:miter/>
          </a:ln>
        </p:spPr>
        <p:style>
          <a:lnRef idx="0"/>
          <a:fillRef idx="0"/>
          <a:effectRef idx="0"/>
          <a:fontRef idx="minor"/>
        </p:style>
        <p:txBody>
          <a:bodyPr wrap="none" lIns="0" rIns="0" tIns="46800" bIns="46800" anchor="ctr">
            <a:noAutofit/>
          </a:bodyPr>
          <a:p>
            <a:endParaRPr b="0" lang="en-IN" sz="2400" strike="noStrike" u="none">
              <a:solidFill>
                <a:srgbClr val="000000"/>
              </a:solidFill>
              <a:effectLst/>
              <a:uFillTx/>
              <a:latin typeface="Times New Roman"/>
            </a:endParaRPr>
          </a:p>
        </p:txBody>
      </p:sp>
      <p:sp>
        <p:nvSpPr>
          <p:cNvPr id="63" name=""/>
          <p:cNvSpPr/>
          <p:nvPr/>
        </p:nvSpPr>
        <p:spPr>
          <a:xfrm>
            <a:off x="6381720" y="3038400"/>
            <a:ext cx="2052720" cy="1209600"/>
          </a:xfrm>
          <a:prstGeom prst="rect">
            <a:avLst/>
          </a:prstGeom>
          <a:solidFill>
            <a:srgbClr val="ffffff"/>
          </a:solidFill>
          <a:ln w="12600">
            <a:solidFill>
              <a:srgbClr val="000000"/>
            </a:solidFill>
            <a:miter/>
          </a:ln>
        </p:spPr>
        <p:style>
          <a:lnRef idx="0"/>
          <a:fillRef idx="0"/>
          <a:effectRef idx="0"/>
          <a:fontRef idx="minor"/>
        </p:style>
        <p:txBody>
          <a:bodyPr wrap="none" lIns="0" rIns="0" tIns="46800" bIns="46800" anchor="ctr">
            <a:noAutofit/>
          </a:bodyPr>
          <a:p>
            <a:endParaRPr b="0" lang="en-IN" sz="2400" strike="noStrike" u="none">
              <a:solidFill>
                <a:srgbClr val="000000"/>
              </a:solidFill>
              <a:effectLst/>
              <a:uFillTx/>
              <a:latin typeface="Times New Roman"/>
            </a:endParaRPr>
          </a:p>
        </p:txBody>
      </p:sp>
      <p:sp>
        <p:nvSpPr>
          <p:cNvPr id="64" name=""/>
          <p:cNvSpPr/>
          <p:nvPr/>
        </p:nvSpPr>
        <p:spPr>
          <a:xfrm>
            <a:off x="4071960" y="1903320"/>
            <a:ext cx="2160720" cy="1042920"/>
          </a:xfrm>
          <a:prstGeom prst="rect">
            <a:avLst/>
          </a:prstGeom>
          <a:solidFill>
            <a:srgbClr val="eaeaea"/>
          </a:solidFill>
          <a:ln w="12600">
            <a:solidFill>
              <a:srgbClr val="000000"/>
            </a:solidFill>
            <a:miter/>
          </a:ln>
          <a:effectLst>
            <a:outerShdw dist="17819" dir="18900000" blurRad="0" rotWithShape="0">
              <a:srgbClr val="ff0000"/>
            </a:outerShdw>
          </a:effectLst>
        </p:spPr>
        <p:style>
          <a:lnRef idx="0"/>
          <a:fillRef idx="0"/>
          <a:effectRef idx="0"/>
          <a:fontRef idx="minor"/>
        </p:style>
        <p:txBody>
          <a:bodyPr wrap="none" lIns="0" rIns="0" tIns="46800" bIns="46800" anchor="ctr">
            <a:noAutofit/>
          </a:bodyPr>
          <a:p>
            <a:endParaRPr b="0" lang="en-IN" sz="2400" strike="noStrike" u="none">
              <a:solidFill>
                <a:srgbClr val="000000"/>
              </a:solidFill>
              <a:effectLst/>
              <a:uFillTx/>
              <a:latin typeface="Times New Roman"/>
            </a:endParaRPr>
          </a:p>
        </p:txBody>
      </p:sp>
      <p:sp>
        <p:nvSpPr>
          <p:cNvPr id="65" name=""/>
          <p:cNvSpPr/>
          <p:nvPr/>
        </p:nvSpPr>
        <p:spPr>
          <a:xfrm>
            <a:off x="1747800" y="1903320"/>
            <a:ext cx="2182680" cy="1042920"/>
          </a:xfrm>
          <a:prstGeom prst="rect">
            <a:avLst/>
          </a:prstGeom>
          <a:solidFill>
            <a:srgbClr val="eaeaea"/>
          </a:solidFill>
          <a:ln w="12600">
            <a:solidFill>
              <a:srgbClr val="000000"/>
            </a:solidFill>
            <a:miter/>
          </a:ln>
          <a:effectLst>
            <a:outerShdw dist="17819" dir="18900000" blurRad="0" rotWithShape="0">
              <a:srgbClr val="ff0000"/>
            </a:outerShdw>
          </a:effectLst>
        </p:spPr>
        <p:style>
          <a:lnRef idx="0"/>
          <a:fillRef idx="0"/>
          <a:effectRef idx="0"/>
          <a:fontRef idx="minor"/>
        </p:style>
        <p:txBody>
          <a:bodyPr wrap="none" lIns="0" rIns="0" tIns="46800" bIns="46800" anchor="ctr">
            <a:noAutofit/>
          </a:bodyPr>
          <a:p>
            <a:endParaRPr b="0" lang="en-IN" sz="2400" strike="noStrike" u="none">
              <a:solidFill>
                <a:srgbClr val="000000"/>
              </a:solidFill>
              <a:effectLst/>
              <a:uFillTx/>
              <a:latin typeface="Times New Roman"/>
            </a:endParaRPr>
          </a:p>
        </p:txBody>
      </p:sp>
      <p:sp>
        <p:nvSpPr>
          <p:cNvPr id="66" name=""/>
          <p:cNvSpPr/>
          <p:nvPr/>
        </p:nvSpPr>
        <p:spPr>
          <a:xfrm>
            <a:off x="2798640" y="469800"/>
            <a:ext cx="4683240" cy="1217880"/>
          </a:xfrm>
          <a:prstGeom prst="rect">
            <a:avLst/>
          </a:prstGeom>
          <a:solidFill>
            <a:srgbClr val="eaeaea"/>
          </a:solidFill>
          <a:ln w="12600">
            <a:solidFill>
              <a:srgbClr val="000000"/>
            </a:solidFill>
            <a:miter/>
          </a:ln>
          <a:effectLst>
            <a:outerShdw dist="53966" dir="18900000" blurRad="0" rotWithShape="0">
              <a:srgbClr val="ff0000"/>
            </a:outerShdw>
          </a:effectLst>
        </p:spPr>
        <p:style>
          <a:lnRef idx="0"/>
          <a:fillRef idx="0"/>
          <a:effectRef idx="0"/>
          <a:fontRef idx="minor"/>
        </p:style>
        <p:txBody>
          <a:bodyPr wrap="none" lIns="0" rIns="0" tIns="46800" bIns="46800" anchor="ctr">
            <a:noAutofit/>
          </a:bodyPr>
          <a:p>
            <a:endParaRPr b="0" lang="en-IN" sz="2400" strike="noStrike" u="none">
              <a:solidFill>
                <a:srgbClr val="000000"/>
              </a:solidFill>
              <a:effectLst/>
              <a:uFillTx/>
              <a:latin typeface="Times New Roman"/>
            </a:endParaRPr>
          </a:p>
        </p:txBody>
      </p:sp>
      <p:sp>
        <p:nvSpPr>
          <p:cNvPr id="67" name=""/>
          <p:cNvSpPr/>
          <p:nvPr/>
        </p:nvSpPr>
        <p:spPr>
          <a:xfrm>
            <a:off x="3507480" y="442800"/>
            <a:ext cx="3265920" cy="574200"/>
          </a:xfrm>
          <a:prstGeom prst="rect">
            <a:avLst/>
          </a:prstGeom>
          <a:noFill/>
          <a:ln w="0">
            <a:noFill/>
          </a:ln>
        </p:spPr>
        <p:style>
          <a:lnRef idx="0"/>
          <a:fillRef idx="0"/>
          <a:effectRef idx="0"/>
          <a:fontRef idx="minor"/>
        </p:style>
        <p:txBody>
          <a:bodyPr wrap="none" lIns="0" rIns="0" tIns="53640" bIns="53640" anchor="t">
            <a:spAutoFit/>
          </a:bodyPr>
          <a:p>
            <a:pPr algn="ctr">
              <a:lnSpc>
                <a:spcPct val="90000"/>
              </a:lnSpc>
              <a:tabLst>
                <a:tab algn="l" pos="0"/>
                <a:tab algn="l" pos="1073160"/>
                <a:tab algn="l" pos="2146320"/>
                <a:tab algn="l" pos="3219480"/>
                <a:tab algn="l" pos="4292640"/>
                <a:tab algn="l" pos="5365800"/>
                <a:tab algn="l" pos="6438960"/>
                <a:tab algn="l" pos="7512120"/>
                <a:tab algn="l" pos="8585280"/>
                <a:tab algn="l" pos="9658440"/>
                <a:tab algn="l" pos="10731600"/>
              </a:tabLst>
            </a:pPr>
            <a:r>
              <a:rPr b="1" lang="en-IN" sz="1700" strike="noStrike" u="none">
                <a:solidFill>
                  <a:srgbClr val="ff0000"/>
                </a:solidFill>
                <a:effectLst/>
                <a:uFillTx/>
                <a:latin typeface="Arial Narrow"/>
              </a:rPr>
              <a:t>Chemical Sciences, Geosciences, and </a:t>
            </a:r>
            <a:endParaRPr b="0" lang="en-IN" sz="1700" strike="noStrike" u="none">
              <a:solidFill>
                <a:srgbClr val="000000"/>
              </a:solidFill>
              <a:effectLst/>
              <a:uFillTx/>
              <a:latin typeface="Times New Roman"/>
            </a:endParaRPr>
          </a:p>
          <a:p>
            <a:pPr algn="ctr">
              <a:lnSpc>
                <a:spcPct val="90000"/>
              </a:lnSpc>
              <a:tabLst>
                <a:tab algn="l" pos="0"/>
                <a:tab algn="l" pos="1073160"/>
                <a:tab algn="l" pos="2146320"/>
                <a:tab algn="l" pos="3219480"/>
                <a:tab algn="l" pos="4292640"/>
                <a:tab algn="l" pos="5365800"/>
                <a:tab algn="l" pos="6438960"/>
                <a:tab algn="l" pos="7512120"/>
                <a:tab algn="l" pos="8585280"/>
                <a:tab algn="l" pos="9658440"/>
                <a:tab algn="l" pos="10731600"/>
              </a:tabLst>
            </a:pPr>
            <a:r>
              <a:rPr b="1" lang="en-IN" sz="1700" strike="noStrike" u="none">
                <a:solidFill>
                  <a:srgbClr val="ff0000"/>
                </a:solidFill>
                <a:effectLst/>
                <a:uFillTx/>
                <a:latin typeface="Arial Narrow"/>
              </a:rPr>
              <a:t>Biosciences Division</a:t>
            </a:r>
            <a:endParaRPr b="0" lang="en-IN" sz="1700" strike="noStrike" u="none">
              <a:solidFill>
                <a:srgbClr val="000000"/>
              </a:solidFill>
              <a:effectLst/>
              <a:uFillTx/>
              <a:latin typeface="Times New Roman"/>
            </a:endParaRPr>
          </a:p>
        </p:txBody>
      </p:sp>
      <p:sp>
        <p:nvSpPr>
          <p:cNvPr id="68" name=""/>
          <p:cNvSpPr/>
          <p:nvPr/>
        </p:nvSpPr>
        <p:spPr>
          <a:xfrm>
            <a:off x="4132080" y="960480"/>
            <a:ext cx="2052000" cy="763560"/>
          </a:xfrm>
          <a:prstGeom prst="rect">
            <a:avLst/>
          </a:prstGeom>
          <a:noFill/>
          <a:ln w="0">
            <a:noFill/>
          </a:ln>
        </p:spPr>
        <p:style>
          <a:lnRef idx="0"/>
          <a:fillRef idx="0"/>
          <a:effectRef idx="0"/>
          <a:fontRef idx="minor"/>
        </p:style>
        <p:txBody>
          <a:bodyPr wrap="none" lIns="0" rIns="0" tIns="53640" bIns="53640" anchor="t">
            <a:spAutoFit/>
          </a:bodyPr>
          <a:p>
            <a:pPr algn="ctr">
              <a:lnSpc>
                <a:spcPct val="100000"/>
              </a:lnSpc>
              <a:tabLst>
                <a:tab algn="l" pos="0"/>
                <a:tab algn="l" pos="1073160"/>
                <a:tab algn="l" pos="2146320"/>
                <a:tab algn="l" pos="3219480"/>
                <a:tab algn="l" pos="4292640"/>
                <a:tab algn="l" pos="5365800"/>
                <a:tab algn="l" pos="6438960"/>
                <a:tab algn="l" pos="7512120"/>
                <a:tab algn="l" pos="8585280"/>
                <a:tab algn="l" pos="9658440"/>
                <a:tab algn="l" pos="10731600"/>
              </a:tabLst>
            </a:pPr>
            <a:r>
              <a:rPr b="1" lang="en-IN" sz="1700" strike="noStrike" u="none">
                <a:solidFill>
                  <a:srgbClr val="003366"/>
                </a:solidFill>
                <a:effectLst/>
                <a:uFillTx/>
                <a:latin typeface="Arial Narrow"/>
              </a:rPr>
              <a:t>Walter Stevens, Director</a:t>
            </a:r>
            <a:endParaRPr b="0" lang="en-IN" sz="1700" strike="noStrike" u="none">
              <a:solidFill>
                <a:srgbClr val="000000"/>
              </a:solidFill>
              <a:effectLst/>
              <a:uFillTx/>
              <a:latin typeface="Times New Roman"/>
            </a:endParaRPr>
          </a:p>
          <a:p>
            <a:pPr algn="ctr">
              <a:lnSpc>
                <a:spcPct val="100000"/>
              </a:lnSpc>
              <a:tabLst>
                <a:tab algn="l" pos="0"/>
                <a:tab algn="l" pos="1073160"/>
                <a:tab algn="l" pos="2146320"/>
                <a:tab algn="l" pos="3219480"/>
                <a:tab algn="l" pos="4292640"/>
                <a:tab algn="l" pos="5365800"/>
                <a:tab algn="l" pos="6438960"/>
                <a:tab algn="l" pos="7512120"/>
                <a:tab algn="l" pos="8585280"/>
                <a:tab algn="l" pos="9658440"/>
                <a:tab algn="l" pos="10731600"/>
              </a:tabLst>
            </a:pPr>
            <a:r>
              <a:rPr b="0" lang="en-IN" sz="1300" strike="noStrike" u="none">
                <a:solidFill>
                  <a:srgbClr val="003366"/>
                </a:solidFill>
                <a:effectLst/>
                <a:uFillTx/>
                <a:latin typeface="Arial Narrow"/>
              </a:rPr>
              <a:t>Diane Marceau, Program Analyst</a:t>
            </a:r>
            <a:endParaRPr b="0" lang="en-IN" sz="1300" strike="noStrike" u="none">
              <a:solidFill>
                <a:srgbClr val="000000"/>
              </a:solidFill>
              <a:effectLst/>
              <a:uFillTx/>
              <a:latin typeface="Times New Roman"/>
            </a:endParaRPr>
          </a:p>
          <a:p>
            <a:pPr algn="ctr">
              <a:lnSpc>
                <a:spcPct val="100000"/>
              </a:lnSpc>
              <a:tabLst>
                <a:tab algn="l" pos="0"/>
                <a:tab algn="l" pos="1073160"/>
                <a:tab algn="l" pos="2146320"/>
                <a:tab algn="l" pos="3219480"/>
                <a:tab algn="l" pos="4292640"/>
                <a:tab algn="l" pos="5365800"/>
                <a:tab algn="l" pos="6438960"/>
                <a:tab algn="l" pos="7512120"/>
                <a:tab algn="l" pos="8585280"/>
                <a:tab algn="l" pos="9658440"/>
                <a:tab algn="l" pos="10731600"/>
              </a:tabLst>
            </a:pPr>
            <a:r>
              <a:rPr b="0" lang="en-IN" sz="1300" strike="noStrike" u="none">
                <a:solidFill>
                  <a:srgbClr val="cc0000"/>
                </a:solidFill>
                <a:effectLst/>
                <a:uFillTx/>
                <a:latin typeface="Arial Narrow"/>
              </a:rPr>
              <a:t>Vacant FTE</a:t>
            </a:r>
            <a:r>
              <a:rPr b="0" lang="en-IN" sz="1300" strike="noStrike" u="none">
                <a:solidFill>
                  <a:srgbClr val="003366"/>
                </a:solidFill>
                <a:effectLst/>
                <a:uFillTx/>
                <a:latin typeface="Arial Narrow"/>
              </a:rPr>
              <a:t>, Program Assistant</a:t>
            </a:r>
            <a:endParaRPr b="0" lang="en-IN" sz="1300" strike="noStrike" u="none">
              <a:solidFill>
                <a:srgbClr val="000000"/>
              </a:solidFill>
              <a:effectLst/>
              <a:uFillTx/>
              <a:latin typeface="Times New Roman"/>
            </a:endParaRPr>
          </a:p>
        </p:txBody>
      </p:sp>
      <p:sp>
        <p:nvSpPr>
          <p:cNvPr id="69" name=""/>
          <p:cNvSpPr/>
          <p:nvPr/>
        </p:nvSpPr>
        <p:spPr>
          <a:xfrm>
            <a:off x="4214160" y="2457360"/>
            <a:ext cx="1890360" cy="470520"/>
          </a:xfrm>
          <a:prstGeom prst="rect">
            <a:avLst/>
          </a:prstGeom>
          <a:noFill/>
          <a:ln w="0">
            <a:noFill/>
          </a:ln>
        </p:spPr>
        <p:style>
          <a:lnRef idx="0"/>
          <a:fillRef idx="0"/>
          <a:effectRef idx="0"/>
          <a:fontRef idx="minor"/>
        </p:style>
        <p:txBody>
          <a:bodyPr wrap="none" lIns="0" rIns="0" tIns="52200" bIns="52200" anchor="t">
            <a:spAutoFit/>
          </a:bodyPr>
          <a:p>
            <a:pPr algn="ctr">
              <a:lnSpc>
                <a:spcPct val="100000"/>
              </a:lnSpc>
              <a:tabLst>
                <a:tab algn="l" pos="0"/>
                <a:tab algn="l" pos="1073160"/>
                <a:tab algn="l" pos="2146320"/>
                <a:tab algn="l" pos="3219480"/>
                <a:tab algn="l" pos="4292640"/>
                <a:tab algn="l" pos="5365800"/>
                <a:tab algn="l" pos="6438960"/>
                <a:tab algn="l" pos="7512120"/>
                <a:tab algn="l" pos="8585280"/>
                <a:tab algn="l" pos="9658440"/>
                <a:tab algn="l" pos="10731600"/>
              </a:tabLst>
            </a:pPr>
            <a:r>
              <a:rPr b="1" lang="en-IN" sz="1200" strike="noStrike" u="none">
                <a:solidFill>
                  <a:srgbClr val="003366"/>
                </a:solidFill>
                <a:effectLst/>
                <a:uFillTx/>
                <a:latin typeface="Arial Narrow"/>
              </a:rPr>
              <a:t>John Miller</a:t>
            </a:r>
            <a:endParaRPr b="0" lang="en-IN" sz="1200" strike="noStrike" u="none">
              <a:solidFill>
                <a:srgbClr val="000000"/>
              </a:solidFill>
              <a:effectLst/>
              <a:uFillTx/>
              <a:latin typeface="Times New Roman"/>
            </a:endParaRPr>
          </a:p>
          <a:p>
            <a:pPr algn="ctr">
              <a:lnSpc>
                <a:spcPct val="100000"/>
              </a:lnSpc>
              <a:tabLst>
                <a:tab algn="l" pos="0"/>
                <a:tab algn="l" pos="1073160"/>
                <a:tab algn="l" pos="2146320"/>
                <a:tab algn="l" pos="3219480"/>
                <a:tab algn="l" pos="4292640"/>
                <a:tab algn="l" pos="5365800"/>
                <a:tab algn="l" pos="6438960"/>
                <a:tab algn="l" pos="7512120"/>
                <a:tab algn="l" pos="8585280"/>
                <a:tab algn="l" pos="9658440"/>
                <a:tab algn="l" pos="10731600"/>
              </a:tabLst>
            </a:pPr>
            <a:r>
              <a:rPr b="0" lang="en-IN" sz="1200" strike="noStrike" u="none">
                <a:solidFill>
                  <a:srgbClr val="000066"/>
                </a:solidFill>
                <a:effectLst/>
                <a:uFillTx/>
                <a:latin typeface="Arial Narrow"/>
              </a:rPr>
              <a:t>Sharon Snead, Program Assistant</a:t>
            </a:r>
            <a:endParaRPr b="0" lang="en-IN" sz="1200" strike="noStrike" u="none">
              <a:solidFill>
                <a:srgbClr val="000000"/>
              </a:solidFill>
              <a:effectLst/>
              <a:uFillTx/>
              <a:latin typeface="Times New Roman"/>
            </a:endParaRPr>
          </a:p>
        </p:txBody>
      </p:sp>
      <p:sp>
        <p:nvSpPr>
          <p:cNvPr id="70" name=""/>
          <p:cNvSpPr/>
          <p:nvPr/>
        </p:nvSpPr>
        <p:spPr>
          <a:xfrm>
            <a:off x="3662280" y="1955880"/>
            <a:ext cx="2968560" cy="473400"/>
          </a:xfrm>
          <a:prstGeom prst="rect">
            <a:avLst/>
          </a:prstGeom>
          <a:noFill/>
          <a:ln w="0">
            <a:noFill/>
          </a:ln>
        </p:spPr>
        <p:style>
          <a:lnRef idx="0"/>
          <a:fillRef idx="0"/>
          <a:effectRef idx="0"/>
          <a:fontRef idx="minor"/>
        </p:style>
        <p:txBody>
          <a:bodyPr lIns="0" rIns="0" tIns="53640" bIns="53640" anchor="t">
            <a:spAutoFit/>
          </a:bodyPr>
          <a:p>
            <a:pPr algn="ctr">
              <a:lnSpc>
                <a:spcPct val="100000"/>
              </a:lnSpc>
              <a:tabLst>
                <a:tab algn="l" pos="0"/>
                <a:tab algn="l" pos="1073160"/>
                <a:tab algn="l" pos="2146320"/>
                <a:tab algn="l" pos="3219480"/>
                <a:tab algn="l" pos="4292640"/>
                <a:tab algn="l" pos="5365800"/>
                <a:tab algn="l" pos="6438960"/>
                <a:tab algn="l" pos="7512120"/>
                <a:tab algn="l" pos="8585280"/>
                <a:tab algn="l" pos="9658440"/>
                <a:tab algn="l" pos="10731600"/>
              </a:tabLst>
            </a:pPr>
            <a:r>
              <a:rPr b="1" lang="en-IN" sz="1200" strike="noStrike" u="none">
                <a:solidFill>
                  <a:srgbClr val="ff0000"/>
                </a:solidFill>
                <a:effectLst/>
                <a:uFillTx/>
                <a:latin typeface="Arial Narrow"/>
              </a:rPr>
              <a:t>Molecular Processes </a:t>
            </a:r>
            <a:endParaRPr b="0" lang="en-IN" sz="1200" strike="noStrike" u="none">
              <a:solidFill>
                <a:srgbClr val="000000"/>
              </a:solidFill>
              <a:effectLst/>
              <a:uFillTx/>
              <a:latin typeface="Times New Roman"/>
            </a:endParaRPr>
          </a:p>
          <a:p>
            <a:pPr algn="ctr">
              <a:lnSpc>
                <a:spcPct val="100000"/>
              </a:lnSpc>
              <a:tabLst>
                <a:tab algn="l" pos="0"/>
                <a:tab algn="l" pos="1073160"/>
                <a:tab algn="l" pos="2146320"/>
                <a:tab algn="l" pos="3219480"/>
                <a:tab algn="l" pos="4292640"/>
                <a:tab algn="l" pos="5365800"/>
                <a:tab algn="l" pos="6438960"/>
                <a:tab algn="l" pos="7512120"/>
                <a:tab algn="l" pos="8585280"/>
                <a:tab algn="l" pos="9658440"/>
                <a:tab algn="l" pos="10731600"/>
              </a:tabLst>
            </a:pPr>
            <a:r>
              <a:rPr b="1" lang="en-IN" sz="1200" strike="noStrike" u="none">
                <a:solidFill>
                  <a:srgbClr val="ff0000"/>
                </a:solidFill>
                <a:effectLst/>
                <a:uFillTx/>
                <a:latin typeface="Arial Narrow"/>
              </a:rPr>
              <a:t>and Geosciences</a:t>
            </a:r>
            <a:endParaRPr b="0" lang="en-IN" sz="1200" strike="noStrike" u="none">
              <a:solidFill>
                <a:srgbClr val="000000"/>
              </a:solidFill>
              <a:effectLst/>
              <a:uFillTx/>
              <a:latin typeface="Times New Roman"/>
            </a:endParaRPr>
          </a:p>
        </p:txBody>
      </p:sp>
      <p:sp>
        <p:nvSpPr>
          <p:cNvPr id="71" name=""/>
          <p:cNvSpPr/>
          <p:nvPr/>
        </p:nvSpPr>
        <p:spPr>
          <a:xfrm>
            <a:off x="2419200" y="1905120"/>
            <a:ext cx="813240" cy="491400"/>
          </a:xfrm>
          <a:prstGeom prst="rect">
            <a:avLst/>
          </a:prstGeom>
          <a:noFill/>
          <a:ln w="0">
            <a:noFill/>
          </a:ln>
        </p:spPr>
        <p:style>
          <a:lnRef idx="0"/>
          <a:fillRef idx="0"/>
          <a:effectRef idx="0"/>
          <a:fontRef idx="minor"/>
        </p:style>
        <p:txBody>
          <a:bodyPr wrap="none" lIns="0" rIns="0" tIns="53640" bIns="53640" anchor="t">
            <a:spAutoFit/>
          </a:bodyPr>
          <a:p>
            <a:pPr algn="ctr">
              <a:lnSpc>
                <a:spcPct val="105000"/>
              </a:lnSpc>
              <a:tabLst>
                <a:tab algn="l" pos="0"/>
                <a:tab algn="l" pos="1073160"/>
                <a:tab algn="l" pos="2146320"/>
                <a:tab algn="l" pos="3219480"/>
                <a:tab algn="l" pos="4292640"/>
                <a:tab algn="l" pos="5365800"/>
                <a:tab algn="l" pos="6438960"/>
                <a:tab algn="l" pos="7512120"/>
                <a:tab algn="l" pos="8585280"/>
                <a:tab algn="l" pos="9658440"/>
                <a:tab algn="l" pos="10731600"/>
              </a:tabLst>
            </a:pPr>
            <a:r>
              <a:rPr b="1" lang="en-IN" sz="1200" strike="noStrike" u="none">
                <a:solidFill>
                  <a:srgbClr val="ff0000"/>
                </a:solidFill>
                <a:effectLst/>
                <a:uFillTx/>
                <a:latin typeface="Arial Narrow"/>
              </a:rPr>
              <a:t>Fundamental </a:t>
            </a:r>
            <a:endParaRPr b="0" lang="en-IN" sz="1200" strike="noStrike" u="none">
              <a:solidFill>
                <a:srgbClr val="000000"/>
              </a:solidFill>
              <a:effectLst/>
              <a:uFillTx/>
              <a:latin typeface="Times New Roman"/>
            </a:endParaRPr>
          </a:p>
          <a:p>
            <a:pPr algn="ctr">
              <a:lnSpc>
                <a:spcPct val="105000"/>
              </a:lnSpc>
              <a:tabLst>
                <a:tab algn="l" pos="0"/>
                <a:tab algn="l" pos="1073160"/>
                <a:tab algn="l" pos="2146320"/>
                <a:tab algn="l" pos="3219480"/>
                <a:tab algn="l" pos="4292640"/>
                <a:tab algn="l" pos="5365800"/>
                <a:tab algn="l" pos="6438960"/>
                <a:tab algn="l" pos="7512120"/>
                <a:tab algn="l" pos="8585280"/>
                <a:tab algn="l" pos="9658440"/>
                <a:tab algn="l" pos="10731600"/>
              </a:tabLst>
            </a:pPr>
            <a:r>
              <a:rPr b="1" lang="en-IN" sz="1200" strike="noStrike" u="none">
                <a:solidFill>
                  <a:srgbClr val="ff0000"/>
                </a:solidFill>
                <a:effectLst/>
                <a:uFillTx/>
                <a:latin typeface="Arial Narrow"/>
              </a:rPr>
              <a:t>Interactions</a:t>
            </a:r>
            <a:endParaRPr b="0" lang="en-IN" sz="1200" strike="noStrike" u="none">
              <a:solidFill>
                <a:srgbClr val="000000"/>
              </a:solidFill>
              <a:effectLst/>
              <a:uFillTx/>
              <a:latin typeface="Times New Roman"/>
            </a:endParaRPr>
          </a:p>
        </p:txBody>
      </p:sp>
      <p:sp>
        <p:nvSpPr>
          <p:cNvPr id="72" name=""/>
          <p:cNvSpPr/>
          <p:nvPr/>
        </p:nvSpPr>
        <p:spPr>
          <a:xfrm>
            <a:off x="1929240" y="2457360"/>
            <a:ext cx="1806840" cy="470520"/>
          </a:xfrm>
          <a:prstGeom prst="rect">
            <a:avLst/>
          </a:prstGeom>
          <a:noFill/>
          <a:ln w="0">
            <a:noFill/>
          </a:ln>
        </p:spPr>
        <p:style>
          <a:lnRef idx="0"/>
          <a:fillRef idx="0"/>
          <a:effectRef idx="0"/>
          <a:fontRef idx="minor"/>
        </p:style>
        <p:txBody>
          <a:bodyPr wrap="none" lIns="0" rIns="0" tIns="52200" bIns="52200" anchor="t">
            <a:spAutoFit/>
          </a:bodyPr>
          <a:p>
            <a:pPr algn="ctr">
              <a:lnSpc>
                <a:spcPct val="100000"/>
              </a:lnSpc>
              <a:tabLst>
                <a:tab algn="l" pos="0"/>
                <a:tab algn="l" pos="1073160"/>
                <a:tab algn="l" pos="2146320"/>
                <a:tab algn="l" pos="3219480"/>
                <a:tab algn="l" pos="4292640"/>
                <a:tab algn="l" pos="5365800"/>
                <a:tab algn="l" pos="6438960"/>
                <a:tab algn="l" pos="7512120"/>
                <a:tab algn="l" pos="8585280"/>
                <a:tab algn="l" pos="9658440"/>
                <a:tab algn="l" pos="10731600"/>
              </a:tabLst>
            </a:pPr>
            <a:r>
              <a:rPr b="1" lang="en-IN" sz="1200" strike="noStrike" u="none">
                <a:solidFill>
                  <a:srgbClr val="003366"/>
                </a:solidFill>
                <a:effectLst/>
                <a:uFillTx/>
                <a:latin typeface="Arial Narrow"/>
              </a:rPr>
              <a:t>Eric Rohlfing </a:t>
            </a:r>
            <a:endParaRPr b="0" lang="en-IN" sz="1200" strike="noStrike" u="none">
              <a:solidFill>
                <a:srgbClr val="000000"/>
              </a:solidFill>
              <a:effectLst/>
              <a:uFillTx/>
              <a:latin typeface="Times New Roman"/>
            </a:endParaRPr>
          </a:p>
          <a:p>
            <a:pPr algn="ctr">
              <a:lnSpc>
                <a:spcPct val="100000"/>
              </a:lnSpc>
              <a:tabLst>
                <a:tab algn="l" pos="0"/>
                <a:tab algn="l" pos="1073160"/>
                <a:tab algn="l" pos="2146320"/>
                <a:tab algn="l" pos="3219480"/>
                <a:tab algn="l" pos="4292640"/>
                <a:tab algn="l" pos="5365800"/>
                <a:tab algn="l" pos="6438960"/>
                <a:tab algn="l" pos="7512120"/>
                <a:tab algn="l" pos="8585280"/>
                <a:tab algn="l" pos="9658440"/>
                <a:tab algn="l" pos="10731600"/>
              </a:tabLst>
            </a:pPr>
            <a:r>
              <a:rPr b="0" lang="en-IN" sz="1200" strike="noStrike" u="none">
                <a:solidFill>
                  <a:srgbClr val="003366"/>
                </a:solidFill>
                <a:effectLst/>
                <a:uFillTx/>
                <a:latin typeface="Arial Narrow"/>
              </a:rPr>
              <a:t>Robin Felder, Program Assistant</a:t>
            </a:r>
            <a:endParaRPr b="0" lang="en-IN" sz="1200" strike="noStrike" u="none">
              <a:solidFill>
                <a:srgbClr val="000000"/>
              </a:solidFill>
              <a:effectLst/>
              <a:uFillTx/>
              <a:latin typeface="Times New Roman"/>
            </a:endParaRPr>
          </a:p>
        </p:txBody>
      </p:sp>
      <p:sp>
        <p:nvSpPr>
          <p:cNvPr id="73" name=""/>
          <p:cNvSpPr/>
          <p:nvPr/>
        </p:nvSpPr>
        <p:spPr>
          <a:xfrm>
            <a:off x="6770880" y="1905120"/>
            <a:ext cx="1223280" cy="491400"/>
          </a:xfrm>
          <a:prstGeom prst="rect">
            <a:avLst/>
          </a:prstGeom>
          <a:noFill/>
          <a:ln w="0">
            <a:noFill/>
          </a:ln>
        </p:spPr>
        <p:style>
          <a:lnRef idx="0"/>
          <a:fillRef idx="0"/>
          <a:effectRef idx="0"/>
          <a:fontRef idx="minor"/>
        </p:style>
        <p:txBody>
          <a:bodyPr wrap="none" lIns="0" rIns="0" tIns="53640" bIns="53640" anchor="t">
            <a:spAutoFit/>
          </a:bodyPr>
          <a:p>
            <a:pPr algn="ctr">
              <a:lnSpc>
                <a:spcPct val="105000"/>
              </a:lnSpc>
              <a:tabLst>
                <a:tab algn="l" pos="0"/>
                <a:tab algn="l" pos="1073160"/>
                <a:tab algn="l" pos="2146320"/>
                <a:tab algn="l" pos="3219480"/>
                <a:tab algn="l" pos="4292640"/>
                <a:tab algn="l" pos="5365800"/>
                <a:tab algn="l" pos="6438960"/>
                <a:tab algn="l" pos="7512120"/>
                <a:tab algn="l" pos="8585280"/>
                <a:tab algn="l" pos="9658440"/>
                <a:tab algn="l" pos="10731600"/>
              </a:tabLst>
            </a:pPr>
            <a:r>
              <a:rPr b="1" lang="en-IN" sz="1200" strike="noStrike" u="none">
                <a:solidFill>
                  <a:srgbClr val="ff0000"/>
                </a:solidFill>
                <a:effectLst/>
                <a:uFillTx/>
                <a:latin typeface="Arial Narrow"/>
              </a:rPr>
              <a:t>Energy Biosciences </a:t>
            </a:r>
            <a:br>
              <a:rPr sz="1200"/>
            </a:br>
            <a:r>
              <a:rPr b="1" lang="en-IN" sz="1200" strike="noStrike" u="none">
                <a:solidFill>
                  <a:srgbClr val="ff0000"/>
                </a:solidFill>
                <a:effectLst/>
                <a:uFillTx/>
                <a:latin typeface="Arial Narrow"/>
              </a:rPr>
              <a:t>Research</a:t>
            </a:r>
            <a:endParaRPr b="0" lang="en-IN" sz="1200" strike="noStrike" u="none">
              <a:solidFill>
                <a:srgbClr val="000000"/>
              </a:solidFill>
              <a:effectLst/>
              <a:uFillTx/>
              <a:latin typeface="Times New Roman"/>
            </a:endParaRPr>
          </a:p>
        </p:txBody>
      </p:sp>
      <p:sp>
        <p:nvSpPr>
          <p:cNvPr id="74" name=""/>
          <p:cNvSpPr/>
          <p:nvPr/>
        </p:nvSpPr>
        <p:spPr>
          <a:xfrm>
            <a:off x="6521400" y="2457360"/>
            <a:ext cx="1751040" cy="470520"/>
          </a:xfrm>
          <a:prstGeom prst="rect">
            <a:avLst/>
          </a:prstGeom>
          <a:noFill/>
          <a:ln w="0">
            <a:noFill/>
          </a:ln>
        </p:spPr>
        <p:style>
          <a:lnRef idx="0"/>
          <a:fillRef idx="0"/>
          <a:effectRef idx="0"/>
          <a:fontRef idx="minor"/>
        </p:style>
        <p:txBody>
          <a:bodyPr wrap="none" lIns="0" rIns="0" tIns="52200" bIns="52200" anchor="t">
            <a:spAutoFit/>
          </a:bodyPr>
          <a:p>
            <a:pPr algn="ctr">
              <a:lnSpc>
                <a:spcPct val="100000"/>
              </a:lnSpc>
              <a:tabLst>
                <a:tab algn="l" pos="0"/>
                <a:tab algn="l" pos="1073160"/>
                <a:tab algn="l" pos="2146320"/>
                <a:tab algn="l" pos="3219480"/>
                <a:tab algn="l" pos="4292640"/>
                <a:tab algn="l" pos="5365800"/>
                <a:tab algn="l" pos="6438960"/>
                <a:tab algn="l" pos="7512120"/>
                <a:tab algn="l" pos="8585280"/>
                <a:tab algn="l" pos="9658440"/>
                <a:tab algn="l" pos="10731600"/>
              </a:tabLst>
            </a:pPr>
            <a:r>
              <a:rPr b="1" lang="en-IN" sz="1200" strike="noStrike" u="none">
                <a:solidFill>
                  <a:srgbClr val="003366"/>
                </a:solidFill>
                <a:effectLst/>
                <a:uFillTx/>
                <a:latin typeface="Arial Narrow"/>
              </a:rPr>
              <a:t>James Tavares</a:t>
            </a:r>
            <a:endParaRPr b="0" lang="en-IN" sz="1200" strike="noStrike" u="none">
              <a:solidFill>
                <a:srgbClr val="000000"/>
              </a:solidFill>
              <a:effectLst/>
              <a:uFillTx/>
              <a:latin typeface="Times New Roman"/>
            </a:endParaRPr>
          </a:p>
          <a:p>
            <a:pPr algn="ctr">
              <a:lnSpc>
                <a:spcPct val="100000"/>
              </a:lnSpc>
              <a:tabLst>
                <a:tab algn="l" pos="0"/>
                <a:tab algn="l" pos="1073160"/>
                <a:tab algn="l" pos="2146320"/>
                <a:tab algn="l" pos="3219480"/>
                <a:tab algn="l" pos="4292640"/>
                <a:tab algn="l" pos="5365800"/>
                <a:tab algn="l" pos="6438960"/>
                <a:tab algn="l" pos="7512120"/>
                <a:tab algn="l" pos="8585280"/>
                <a:tab algn="l" pos="9658440"/>
                <a:tab algn="l" pos="10731600"/>
              </a:tabLst>
            </a:pPr>
            <a:r>
              <a:rPr b="0" lang="en-IN" sz="1200" strike="noStrike" u="none">
                <a:solidFill>
                  <a:srgbClr val="cc0000"/>
                </a:solidFill>
                <a:effectLst/>
                <a:uFillTx/>
                <a:latin typeface="Arial Narrow"/>
              </a:rPr>
              <a:t>Vacant FTE</a:t>
            </a:r>
            <a:r>
              <a:rPr b="0" lang="en-IN" sz="1200" strike="noStrike" u="none">
                <a:solidFill>
                  <a:srgbClr val="003366"/>
                </a:solidFill>
                <a:effectLst/>
                <a:uFillTx/>
                <a:latin typeface="Arial Narrow"/>
              </a:rPr>
              <a:t>, Program Assistant</a:t>
            </a:r>
            <a:endParaRPr b="0" lang="en-IN" sz="1200" strike="noStrike" u="none">
              <a:solidFill>
                <a:srgbClr val="000000"/>
              </a:solidFill>
              <a:effectLst/>
              <a:uFillTx/>
              <a:latin typeface="Times New Roman"/>
            </a:endParaRPr>
          </a:p>
        </p:txBody>
      </p:sp>
      <p:sp>
        <p:nvSpPr>
          <p:cNvPr id="75" name=""/>
          <p:cNvSpPr/>
          <p:nvPr/>
        </p:nvSpPr>
        <p:spPr>
          <a:xfrm>
            <a:off x="4232160" y="2982960"/>
            <a:ext cx="1876680" cy="470520"/>
          </a:xfrm>
          <a:prstGeom prst="rect">
            <a:avLst/>
          </a:prstGeom>
          <a:noFill/>
          <a:ln w="0">
            <a:noFill/>
          </a:ln>
        </p:spPr>
        <p:style>
          <a:lnRef idx="0"/>
          <a:fillRef idx="0"/>
          <a:effectRef idx="0"/>
          <a:fontRef idx="minor"/>
        </p:style>
        <p:txBody>
          <a:bodyPr lIns="0" rIns="0" tIns="52200" bIns="52200" anchor="t">
            <a:spAutoFit/>
          </a:bodyPr>
          <a:p>
            <a:pPr algn="ctr">
              <a:lnSpc>
                <a:spcPct val="100000"/>
              </a:lnSpc>
              <a:tabLst>
                <a:tab algn="l" pos="0"/>
                <a:tab algn="l" pos="1073160"/>
                <a:tab algn="l" pos="2146320"/>
                <a:tab algn="l" pos="3219480"/>
                <a:tab algn="l" pos="4292640"/>
                <a:tab algn="l" pos="5365800"/>
                <a:tab algn="l" pos="6438960"/>
                <a:tab algn="l" pos="7512120"/>
                <a:tab algn="l" pos="8585280"/>
                <a:tab algn="l" pos="9658440"/>
                <a:tab algn="l" pos="10731600"/>
              </a:tabLst>
            </a:pPr>
            <a:r>
              <a:rPr b="1" lang="en-IN" sz="1200" strike="noStrike" u="none">
                <a:solidFill>
                  <a:srgbClr val="ff0000"/>
                </a:solidFill>
                <a:effectLst/>
                <a:uFillTx/>
                <a:latin typeface="Arial Narrow"/>
              </a:rPr>
              <a:t>Catalysis and Chemical </a:t>
            </a:r>
            <a:endParaRPr b="0" lang="en-IN" sz="1200" strike="noStrike" u="none">
              <a:solidFill>
                <a:srgbClr val="000000"/>
              </a:solidFill>
              <a:effectLst/>
              <a:uFillTx/>
              <a:latin typeface="Times New Roman"/>
            </a:endParaRPr>
          </a:p>
          <a:p>
            <a:pPr algn="ctr">
              <a:lnSpc>
                <a:spcPct val="100000"/>
              </a:lnSpc>
              <a:tabLst>
                <a:tab algn="l" pos="0"/>
                <a:tab algn="l" pos="1073160"/>
                <a:tab algn="l" pos="2146320"/>
                <a:tab algn="l" pos="3219480"/>
                <a:tab algn="l" pos="4292640"/>
                <a:tab algn="l" pos="5365800"/>
                <a:tab algn="l" pos="6438960"/>
                <a:tab algn="l" pos="7512120"/>
                <a:tab algn="l" pos="8585280"/>
                <a:tab algn="l" pos="9658440"/>
                <a:tab algn="l" pos="10731600"/>
              </a:tabLst>
            </a:pPr>
            <a:r>
              <a:rPr b="1" lang="en-IN" sz="1200" strike="noStrike" u="none">
                <a:solidFill>
                  <a:srgbClr val="ff0000"/>
                </a:solidFill>
                <a:effectLst/>
                <a:uFillTx/>
                <a:latin typeface="Arial Narrow"/>
              </a:rPr>
              <a:t>Transformation</a:t>
            </a:r>
            <a:endParaRPr b="0" lang="en-IN" sz="1200" strike="noStrike" u="none">
              <a:solidFill>
                <a:srgbClr val="000000"/>
              </a:solidFill>
              <a:effectLst/>
              <a:uFillTx/>
              <a:latin typeface="Times New Roman"/>
            </a:endParaRPr>
          </a:p>
        </p:txBody>
      </p:sp>
      <p:sp>
        <p:nvSpPr>
          <p:cNvPr id="76" name=""/>
          <p:cNvSpPr/>
          <p:nvPr/>
        </p:nvSpPr>
        <p:spPr>
          <a:xfrm>
            <a:off x="4410360" y="3986280"/>
            <a:ext cx="1521720" cy="287640"/>
          </a:xfrm>
          <a:prstGeom prst="rect">
            <a:avLst/>
          </a:prstGeom>
          <a:noFill/>
          <a:ln w="0">
            <a:noFill/>
          </a:ln>
        </p:spPr>
        <p:style>
          <a:lnRef idx="0"/>
          <a:fillRef idx="0"/>
          <a:effectRef idx="0"/>
          <a:fontRef idx="minor"/>
        </p:style>
        <p:txBody>
          <a:bodyPr wrap="none" lIns="0" rIns="0" tIns="52200" bIns="52200" anchor="t">
            <a:spAutoFit/>
          </a:bodyPr>
          <a:p>
            <a:pPr algn="ctr">
              <a:lnSpc>
                <a:spcPct val="100000"/>
              </a:lnSpc>
              <a:tabLst>
                <a:tab algn="l" pos="0"/>
                <a:tab algn="l" pos="1073160"/>
                <a:tab algn="l" pos="2146320"/>
                <a:tab algn="l" pos="3219480"/>
                <a:tab algn="l" pos="4292640"/>
                <a:tab algn="l" pos="5365800"/>
                <a:tab algn="l" pos="6438960"/>
                <a:tab algn="l" pos="7512120"/>
                <a:tab algn="l" pos="8585280"/>
                <a:tab algn="l" pos="9658440"/>
                <a:tab algn="l" pos="10731600"/>
              </a:tabLst>
            </a:pPr>
            <a:r>
              <a:rPr b="1" lang="en-IN" sz="1200" strike="noStrike" u="none">
                <a:solidFill>
                  <a:srgbClr val="ff0000"/>
                </a:solidFill>
                <a:effectLst/>
                <a:uFillTx/>
                <a:latin typeface="Arial Narrow"/>
              </a:rPr>
              <a:t>Separations and Analysis</a:t>
            </a:r>
            <a:endParaRPr b="0" lang="en-IN" sz="1200" strike="noStrike" u="none">
              <a:solidFill>
                <a:srgbClr val="000000"/>
              </a:solidFill>
              <a:effectLst/>
              <a:uFillTx/>
              <a:latin typeface="Times New Roman"/>
            </a:endParaRPr>
          </a:p>
        </p:txBody>
      </p:sp>
      <p:sp>
        <p:nvSpPr>
          <p:cNvPr id="77" name=""/>
          <p:cNvSpPr/>
          <p:nvPr/>
        </p:nvSpPr>
        <p:spPr>
          <a:xfrm>
            <a:off x="4514760" y="5827680"/>
            <a:ext cx="1313280" cy="470520"/>
          </a:xfrm>
          <a:prstGeom prst="rect">
            <a:avLst/>
          </a:prstGeom>
          <a:noFill/>
          <a:ln w="0">
            <a:noFill/>
          </a:ln>
        </p:spPr>
        <p:style>
          <a:lnRef idx="0"/>
          <a:fillRef idx="0"/>
          <a:effectRef idx="0"/>
          <a:fontRef idx="minor"/>
        </p:style>
        <p:txBody>
          <a:bodyPr wrap="none" lIns="0" rIns="0" tIns="52200" bIns="52200" anchor="t">
            <a:spAutoFit/>
          </a:bodyPr>
          <a:p>
            <a:pPr algn="ctr">
              <a:lnSpc>
                <a:spcPct val="100000"/>
              </a:lnSpc>
              <a:tabLst>
                <a:tab algn="l" pos="0"/>
                <a:tab algn="l" pos="1073160"/>
                <a:tab algn="l" pos="2146320"/>
                <a:tab algn="l" pos="3219480"/>
                <a:tab algn="l" pos="4292640"/>
                <a:tab algn="l" pos="5365800"/>
                <a:tab algn="l" pos="6438960"/>
                <a:tab algn="l" pos="7512120"/>
                <a:tab algn="l" pos="8585280"/>
                <a:tab algn="l" pos="9658440"/>
                <a:tab algn="l" pos="10731600"/>
              </a:tabLst>
            </a:pPr>
            <a:r>
              <a:rPr b="1" lang="en-IN" sz="1200" strike="noStrike" u="none">
                <a:solidFill>
                  <a:srgbClr val="ff0000"/>
                </a:solidFill>
                <a:effectLst/>
                <a:uFillTx/>
                <a:latin typeface="Arial Narrow"/>
              </a:rPr>
              <a:t>Chemical Energy and</a:t>
            </a:r>
            <a:endParaRPr b="0" lang="en-IN" sz="1200" strike="noStrike" u="none">
              <a:solidFill>
                <a:srgbClr val="000000"/>
              </a:solidFill>
              <a:effectLst/>
              <a:uFillTx/>
              <a:latin typeface="Times New Roman"/>
            </a:endParaRPr>
          </a:p>
          <a:p>
            <a:pPr algn="ctr">
              <a:lnSpc>
                <a:spcPct val="100000"/>
              </a:lnSpc>
              <a:tabLst>
                <a:tab algn="l" pos="0"/>
                <a:tab algn="l" pos="1073160"/>
                <a:tab algn="l" pos="2146320"/>
                <a:tab algn="l" pos="3219480"/>
                <a:tab algn="l" pos="4292640"/>
                <a:tab algn="l" pos="5365800"/>
                <a:tab algn="l" pos="6438960"/>
                <a:tab algn="l" pos="7512120"/>
                <a:tab algn="l" pos="8585280"/>
                <a:tab algn="l" pos="9658440"/>
                <a:tab algn="l" pos="10731600"/>
              </a:tabLst>
            </a:pPr>
            <a:r>
              <a:rPr b="1" lang="en-IN" sz="1200" strike="noStrike" u="none">
                <a:solidFill>
                  <a:srgbClr val="ff0000"/>
                </a:solidFill>
                <a:effectLst/>
                <a:uFillTx/>
                <a:latin typeface="Arial Narrow"/>
              </a:rPr>
              <a:t>Chemical Engineering</a:t>
            </a:r>
            <a:endParaRPr b="0" lang="en-IN" sz="1200" strike="noStrike" u="none">
              <a:solidFill>
                <a:srgbClr val="000000"/>
              </a:solidFill>
              <a:effectLst/>
              <a:uFillTx/>
              <a:latin typeface="Times New Roman"/>
            </a:endParaRPr>
          </a:p>
        </p:txBody>
      </p:sp>
      <p:sp>
        <p:nvSpPr>
          <p:cNvPr id="78" name=""/>
          <p:cNvSpPr/>
          <p:nvPr/>
        </p:nvSpPr>
        <p:spPr>
          <a:xfrm>
            <a:off x="4257720" y="4911840"/>
            <a:ext cx="1827000" cy="287640"/>
          </a:xfrm>
          <a:prstGeom prst="rect">
            <a:avLst/>
          </a:prstGeom>
          <a:noFill/>
          <a:ln w="0">
            <a:noFill/>
          </a:ln>
        </p:spPr>
        <p:style>
          <a:lnRef idx="0"/>
          <a:fillRef idx="0"/>
          <a:effectRef idx="0"/>
          <a:fontRef idx="minor"/>
        </p:style>
        <p:txBody>
          <a:bodyPr lIns="0" rIns="0" tIns="52200" bIns="52200" anchor="t">
            <a:spAutoFit/>
          </a:bodyPr>
          <a:p>
            <a:pPr algn="ctr">
              <a:lnSpc>
                <a:spcPct val="100000"/>
              </a:lnSpc>
              <a:tabLst>
                <a:tab algn="l" pos="0"/>
                <a:tab algn="l" pos="1073160"/>
                <a:tab algn="l" pos="2146320"/>
                <a:tab algn="l" pos="3219480"/>
                <a:tab algn="l" pos="4292640"/>
                <a:tab algn="l" pos="5365800"/>
                <a:tab algn="l" pos="6438960"/>
                <a:tab algn="l" pos="7512120"/>
                <a:tab algn="l" pos="8585280"/>
                <a:tab algn="l" pos="9658440"/>
                <a:tab algn="l" pos="10731600"/>
              </a:tabLst>
            </a:pPr>
            <a:r>
              <a:rPr b="1" lang="en-IN" sz="1200" strike="noStrike" u="none">
                <a:solidFill>
                  <a:srgbClr val="ff0000"/>
                </a:solidFill>
                <a:effectLst/>
                <a:uFillTx/>
                <a:latin typeface="Arial Narrow"/>
              </a:rPr>
              <a:t>Heavy Element Chemistry</a:t>
            </a:r>
            <a:endParaRPr b="0" lang="en-IN" sz="1200" strike="noStrike" u="none">
              <a:solidFill>
                <a:srgbClr val="000000"/>
              </a:solidFill>
              <a:effectLst/>
              <a:uFillTx/>
              <a:latin typeface="Times New Roman"/>
            </a:endParaRPr>
          </a:p>
        </p:txBody>
      </p:sp>
      <p:sp>
        <p:nvSpPr>
          <p:cNvPr id="79" name=""/>
          <p:cNvSpPr/>
          <p:nvPr/>
        </p:nvSpPr>
        <p:spPr>
          <a:xfrm>
            <a:off x="4511520" y="3446640"/>
            <a:ext cx="1290960" cy="598320"/>
          </a:xfrm>
          <a:prstGeom prst="rect">
            <a:avLst/>
          </a:prstGeom>
          <a:noFill/>
          <a:ln w="0">
            <a:noFill/>
          </a:ln>
        </p:spPr>
        <p:style>
          <a:lnRef idx="0"/>
          <a:fillRef idx="0"/>
          <a:effectRef idx="0"/>
          <a:fontRef idx="minor"/>
        </p:style>
        <p:txBody>
          <a:bodyPr wrap="none" lIns="0" rIns="0" tIns="52200" bIns="52200" anchor="t">
            <a:spAutoFit/>
          </a:bodyPr>
          <a:p>
            <a:pPr algn="ctr">
              <a:lnSpc>
                <a:spcPct val="90000"/>
              </a:lnSpc>
              <a:tabLst>
                <a:tab algn="l" pos="0"/>
                <a:tab algn="l" pos="1073160"/>
                <a:tab algn="l" pos="2146320"/>
                <a:tab algn="l" pos="3219480"/>
                <a:tab algn="l" pos="4292640"/>
                <a:tab algn="l" pos="5365800"/>
                <a:tab algn="l" pos="6438960"/>
                <a:tab algn="l" pos="7512120"/>
                <a:tab algn="l" pos="8585280"/>
                <a:tab algn="l" pos="9658440"/>
                <a:tab algn="l" pos="10731600"/>
              </a:tabLst>
            </a:pPr>
            <a:r>
              <a:rPr b="0" lang="en-IN" sz="1200" strike="noStrike" u="none">
                <a:solidFill>
                  <a:srgbClr val="003366"/>
                </a:solidFill>
                <a:effectLst/>
                <a:uFillTx/>
                <a:latin typeface="Arial Narrow"/>
              </a:rPr>
              <a:t>Raul Miranda</a:t>
            </a:r>
            <a:endParaRPr b="0" lang="en-IN" sz="1200" strike="noStrike" u="none">
              <a:solidFill>
                <a:srgbClr val="000000"/>
              </a:solidFill>
              <a:effectLst/>
              <a:uFillTx/>
              <a:latin typeface="Times New Roman"/>
            </a:endParaRPr>
          </a:p>
          <a:p>
            <a:pPr algn="ctr">
              <a:lnSpc>
                <a:spcPct val="90000"/>
              </a:lnSpc>
              <a:tabLst>
                <a:tab algn="l" pos="0"/>
                <a:tab algn="l" pos="1073160"/>
                <a:tab algn="l" pos="2146320"/>
                <a:tab algn="l" pos="3219480"/>
                <a:tab algn="l" pos="4292640"/>
                <a:tab algn="l" pos="5365800"/>
                <a:tab algn="l" pos="6438960"/>
                <a:tab algn="l" pos="7512120"/>
                <a:tab algn="l" pos="8585280"/>
                <a:tab algn="l" pos="9658440"/>
                <a:tab algn="l" pos="10731600"/>
              </a:tabLst>
            </a:pPr>
            <a:r>
              <a:rPr b="0" lang="en-IN" sz="1200" strike="noStrike" u="none">
                <a:solidFill>
                  <a:srgbClr val="cc0000"/>
                </a:solidFill>
                <a:effectLst/>
                <a:uFillTx/>
                <a:latin typeface="Wingdings"/>
                <a:ea typeface="Wingdings"/>
              </a:rPr>
              <a:t></a:t>
            </a:r>
            <a:r>
              <a:rPr b="0" lang="en-IN" sz="1200" strike="noStrike" u="none">
                <a:solidFill>
                  <a:srgbClr val="003366"/>
                </a:solidFill>
                <a:effectLst/>
                <a:uFillTx/>
                <a:latin typeface="Arial Narrow"/>
              </a:rPr>
              <a:t>John Gordon, LANL</a:t>
            </a:r>
            <a:r>
              <a:rPr b="0" lang="en-IN" sz="1200" strike="noStrike" u="none">
                <a:solidFill>
                  <a:srgbClr val="ff00ff"/>
                </a:solidFill>
                <a:effectLst/>
                <a:uFillTx/>
                <a:latin typeface="Arial Narrow"/>
              </a:rPr>
              <a:t> </a:t>
            </a:r>
            <a:endParaRPr b="0" lang="en-IN" sz="1200" strike="noStrike" u="none">
              <a:solidFill>
                <a:srgbClr val="000000"/>
              </a:solidFill>
              <a:effectLst/>
              <a:uFillTx/>
              <a:latin typeface="Times New Roman"/>
            </a:endParaRPr>
          </a:p>
          <a:p>
            <a:pPr algn="ctr">
              <a:lnSpc>
                <a:spcPct val="90000"/>
              </a:lnSpc>
              <a:tabLst>
                <a:tab algn="l" pos="0"/>
                <a:tab algn="l" pos="1073160"/>
                <a:tab algn="l" pos="2146320"/>
                <a:tab algn="l" pos="3219480"/>
                <a:tab algn="l" pos="4292640"/>
                <a:tab algn="l" pos="5365800"/>
                <a:tab algn="l" pos="6438960"/>
                <a:tab algn="l" pos="7512120"/>
                <a:tab algn="l" pos="8585280"/>
                <a:tab algn="l" pos="9658440"/>
                <a:tab algn="l" pos="10731600"/>
              </a:tabLst>
            </a:pPr>
            <a:endParaRPr b="0" lang="en-IN" sz="1200" strike="noStrike" u="none">
              <a:solidFill>
                <a:srgbClr val="000000"/>
              </a:solidFill>
              <a:effectLst/>
              <a:uFillTx/>
              <a:latin typeface="Times New Roman"/>
            </a:endParaRPr>
          </a:p>
        </p:txBody>
      </p:sp>
      <p:sp>
        <p:nvSpPr>
          <p:cNvPr id="80" name=""/>
          <p:cNvSpPr/>
          <p:nvPr/>
        </p:nvSpPr>
        <p:spPr>
          <a:xfrm>
            <a:off x="4825080" y="6199200"/>
            <a:ext cx="695520" cy="287640"/>
          </a:xfrm>
          <a:prstGeom prst="rect">
            <a:avLst/>
          </a:prstGeom>
          <a:noFill/>
          <a:ln w="0">
            <a:noFill/>
          </a:ln>
        </p:spPr>
        <p:style>
          <a:lnRef idx="0"/>
          <a:fillRef idx="0"/>
          <a:effectRef idx="0"/>
          <a:fontRef idx="minor"/>
        </p:style>
        <p:txBody>
          <a:bodyPr wrap="none" lIns="0" rIns="0" tIns="52200" bIns="52200" anchor="t">
            <a:spAutoFit/>
          </a:bodyPr>
          <a:p>
            <a:pPr algn="ctr">
              <a:lnSpc>
                <a:spcPct val="100000"/>
              </a:lnSpc>
              <a:tabLst>
                <a:tab algn="l" pos="0"/>
                <a:tab algn="l" pos="1073160"/>
                <a:tab algn="l" pos="2146320"/>
                <a:tab algn="l" pos="3219480"/>
                <a:tab algn="l" pos="4292640"/>
                <a:tab algn="l" pos="5365800"/>
                <a:tab algn="l" pos="6438960"/>
                <a:tab algn="l" pos="7512120"/>
                <a:tab algn="l" pos="8585280"/>
                <a:tab algn="l" pos="9658440"/>
                <a:tab algn="l" pos="10731600"/>
              </a:tabLst>
            </a:pPr>
            <a:r>
              <a:rPr b="0" lang="en-IN" sz="1200" strike="noStrike" u="none">
                <a:solidFill>
                  <a:srgbClr val="003366"/>
                </a:solidFill>
                <a:effectLst/>
                <a:uFillTx/>
                <a:latin typeface="Arial Narrow"/>
              </a:rPr>
              <a:t>Paul Maupin</a:t>
            </a:r>
            <a:endParaRPr b="0" lang="en-IN" sz="1200" strike="noStrike" u="none">
              <a:solidFill>
                <a:srgbClr val="000000"/>
              </a:solidFill>
              <a:effectLst/>
              <a:uFillTx/>
              <a:latin typeface="Times New Roman"/>
            </a:endParaRPr>
          </a:p>
        </p:txBody>
      </p:sp>
      <p:sp>
        <p:nvSpPr>
          <p:cNvPr id="81" name=""/>
          <p:cNvSpPr/>
          <p:nvPr/>
        </p:nvSpPr>
        <p:spPr>
          <a:xfrm>
            <a:off x="4402440" y="4282920"/>
            <a:ext cx="1540440" cy="433800"/>
          </a:xfrm>
          <a:prstGeom prst="rect">
            <a:avLst/>
          </a:prstGeom>
          <a:noFill/>
          <a:ln w="0">
            <a:noFill/>
          </a:ln>
        </p:spPr>
        <p:style>
          <a:lnRef idx="0"/>
          <a:fillRef idx="0"/>
          <a:effectRef idx="0"/>
          <a:fontRef idx="minor"/>
        </p:style>
        <p:txBody>
          <a:bodyPr wrap="none" lIns="0" rIns="0" tIns="52200" bIns="52200" anchor="t">
            <a:spAutoFit/>
          </a:bodyPr>
          <a:p>
            <a:pPr algn="ctr">
              <a:lnSpc>
                <a:spcPct val="90000"/>
              </a:lnSpc>
              <a:tabLst>
                <a:tab algn="l" pos="0"/>
                <a:tab algn="l" pos="1073160"/>
                <a:tab algn="l" pos="2146320"/>
                <a:tab algn="l" pos="3219480"/>
                <a:tab algn="l" pos="4292640"/>
                <a:tab algn="l" pos="5365800"/>
                <a:tab algn="l" pos="6438960"/>
                <a:tab algn="l" pos="7512120"/>
                <a:tab algn="l" pos="8585280"/>
                <a:tab algn="l" pos="9658440"/>
                <a:tab algn="l" pos="10731600"/>
              </a:tabLst>
            </a:pPr>
            <a:r>
              <a:rPr b="0" lang="en-IN" sz="1200" strike="noStrike" u="none">
                <a:solidFill>
                  <a:srgbClr val="333399"/>
                </a:solidFill>
                <a:effectLst/>
                <a:uFillTx/>
                <a:latin typeface="Arial Narrow"/>
              </a:rPr>
              <a:t>William Millman</a:t>
            </a:r>
            <a:endParaRPr b="0" lang="en-IN" sz="1200" strike="noStrike" u="none">
              <a:solidFill>
                <a:srgbClr val="000000"/>
              </a:solidFill>
              <a:effectLst/>
              <a:uFillTx/>
              <a:latin typeface="Times New Roman"/>
            </a:endParaRPr>
          </a:p>
          <a:p>
            <a:pPr algn="ctr">
              <a:lnSpc>
                <a:spcPct val="90000"/>
              </a:lnSpc>
              <a:tabLst>
                <a:tab algn="l" pos="0"/>
                <a:tab algn="l" pos="1073160"/>
                <a:tab algn="l" pos="2146320"/>
                <a:tab algn="l" pos="3219480"/>
                <a:tab algn="l" pos="4292640"/>
                <a:tab algn="l" pos="5365800"/>
                <a:tab algn="l" pos="6438960"/>
                <a:tab algn="l" pos="7512120"/>
                <a:tab algn="l" pos="8585280"/>
                <a:tab algn="l" pos="9658440"/>
                <a:tab algn="l" pos="10731600"/>
              </a:tabLst>
            </a:pPr>
            <a:r>
              <a:rPr b="0" lang="en-IN" sz="1200" strike="noStrike" u="none">
                <a:solidFill>
                  <a:srgbClr val="cc0000"/>
                </a:solidFill>
                <a:effectLst/>
                <a:uFillTx/>
                <a:latin typeface="Wingdings"/>
                <a:ea typeface="Wingdings"/>
              </a:rPr>
              <a:t></a:t>
            </a:r>
            <a:r>
              <a:rPr b="0" lang="en-IN" sz="1200" strike="noStrike" u="none">
                <a:solidFill>
                  <a:srgbClr val="cc0000"/>
                </a:solidFill>
                <a:effectLst/>
                <a:uFillTx/>
                <a:latin typeface="Arial Narrow"/>
              </a:rPr>
              <a:t>  </a:t>
            </a:r>
            <a:r>
              <a:rPr b="0" lang="en-IN" sz="1200" strike="noStrike" u="none">
                <a:solidFill>
                  <a:srgbClr val="003366"/>
                </a:solidFill>
                <a:effectLst/>
                <a:uFillTx/>
                <a:latin typeface="Arial Narrow"/>
              </a:rPr>
              <a:t>Gregory Fiechtner, SNL</a:t>
            </a:r>
            <a:endParaRPr b="0" lang="en-IN" sz="1200" strike="noStrike" u="none">
              <a:solidFill>
                <a:srgbClr val="000000"/>
              </a:solidFill>
              <a:effectLst/>
              <a:uFillTx/>
              <a:latin typeface="Times New Roman"/>
            </a:endParaRPr>
          </a:p>
        </p:txBody>
      </p:sp>
      <p:sp>
        <p:nvSpPr>
          <p:cNvPr id="82" name=""/>
          <p:cNvSpPr/>
          <p:nvPr/>
        </p:nvSpPr>
        <p:spPr>
          <a:xfrm>
            <a:off x="4408920" y="5167440"/>
            <a:ext cx="1524600" cy="433800"/>
          </a:xfrm>
          <a:prstGeom prst="rect">
            <a:avLst/>
          </a:prstGeom>
          <a:noFill/>
          <a:ln w="0">
            <a:noFill/>
          </a:ln>
        </p:spPr>
        <p:style>
          <a:lnRef idx="0"/>
          <a:fillRef idx="0"/>
          <a:effectRef idx="0"/>
          <a:fontRef idx="minor"/>
        </p:style>
        <p:txBody>
          <a:bodyPr wrap="none" lIns="0" rIns="0" tIns="52200" bIns="52200" anchor="t">
            <a:spAutoFit/>
          </a:bodyPr>
          <a:p>
            <a:pPr algn="ctr">
              <a:lnSpc>
                <a:spcPct val="90000"/>
              </a:lnSpc>
              <a:tabLst>
                <a:tab algn="l" pos="0"/>
                <a:tab algn="l" pos="1073160"/>
                <a:tab algn="l" pos="2146320"/>
                <a:tab algn="l" pos="3219480"/>
                <a:tab algn="l" pos="4292640"/>
                <a:tab algn="l" pos="5365800"/>
                <a:tab algn="l" pos="6438960"/>
                <a:tab algn="l" pos="7512120"/>
                <a:tab algn="l" pos="8585280"/>
                <a:tab algn="l" pos="9658440"/>
                <a:tab algn="l" pos="10731600"/>
              </a:tabLst>
            </a:pPr>
            <a:r>
              <a:rPr b="0" lang="en-IN" sz="1200" strike="noStrike" u="none">
                <a:solidFill>
                  <a:srgbClr val="003366"/>
                </a:solidFill>
                <a:effectLst/>
                <a:uFillTx/>
                <a:latin typeface="Arial Narrow"/>
              </a:rPr>
              <a:t>Lester Morss  </a:t>
            </a:r>
            <a:endParaRPr b="0" lang="en-IN" sz="1200" strike="noStrike" u="none">
              <a:solidFill>
                <a:srgbClr val="000000"/>
              </a:solidFill>
              <a:effectLst/>
              <a:uFillTx/>
              <a:latin typeface="Times New Roman"/>
            </a:endParaRPr>
          </a:p>
          <a:p>
            <a:pPr algn="ctr">
              <a:lnSpc>
                <a:spcPct val="90000"/>
              </a:lnSpc>
              <a:tabLst>
                <a:tab algn="l" pos="0"/>
                <a:tab algn="l" pos="1073160"/>
                <a:tab algn="l" pos="2146320"/>
                <a:tab algn="l" pos="3219480"/>
                <a:tab algn="l" pos="4292640"/>
                <a:tab algn="l" pos="5365800"/>
                <a:tab algn="l" pos="6438960"/>
                <a:tab algn="l" pos="7512120"/>
                <a:tab algn="l" pos="8585280"/>
                <a:tab algn="l" pos="9658440"/>
                <a:tab algn="l" pos="10731600"/>
              </a:tabLst>
            </a:pPr>
            <a:r>
              <a:rPr b="0" lang="en-IN" sz="1200" strike="noStrike" u="none">
                <a:solidFill>
                  <a:srgbClr val="003366"/>
                </a:solidFill>
                <a:effectLst/>
                <a:uFillTx/>
                <a:latin typeface="Wingdings"/>
                <a:ea typeface="Wingdings"/>
              </a:rPr>
              <a:t></a:t>
            </a:r>
            <a:r>
              <a:rPr b="0" lang="en-IN" sz="1200" strike="noStrike" u="none">
                <a:solidFill>
                  <a:srgbClr val="003366"/>
                </a:solidFill>
                <a:effectLst/>
                <a:uFillTx/>
                <a:latin typeface="Arial Narrow"/>
              </a:rPr>
              <a:t> Norman Edelstein, LBNL</a:t>
            </a:r>
            <a:endParaRPr b="0" lang="en-IN" sz="1200" strike="noStrike" u="none">
              <a:solidFill>
                <a:srgbClr val="000000"/>
              </a:solidFill>
              <a:effectLst/>
              <a:uFillTx/>
              <a:latin typeface="Times New Roman"/>
            </a:endParaRPr>
          </a:p>
        </p:txBody>
      </p:sp>
      <p:sp>
        <p:nvSpPr>
          <p:cNvPr id="83" name=""/>
          <p:cNvSpPr/>
          <p:nvPr/>
        </p:nvSpPr>
        <p:spPr>
          <a:xfrm>
            <a:off x="4514760" y="7026120"/>
            <a:ext cx="1316160" cy="433800"/>
          </a:xfrm>
          <a:prstGeom prst="rect">
            <a:avLst/>
          </a:prstGeom>
          <a:noFill/>
          <a:ln w="0">
            <a:noFill/>
          </a:ln>
        </p:spPr>
        <p:style>
          <a:lnRef idx="0"/>
          <a:fillRef idx="0"/>
          <a:effectRef idx="0"/>
          <a:fontRef idx="minor"/>
        </p:style>
        <p:txBody>
          <a:bodyPr wrap="none" lIns="0" rIns="0" tIns="52200" bIns="52200" anchor="t">
            <a:spAutoFit/>
          </a:bodyPr>
          <a:p>
            <a:pPr algn="ctr">
              <a:lnSpc>
                <a:spcPct val="90000"/>
              </a:lnSpc>
              <a:tabLst>
                <a:tab algn="l" pos="0"/>
                <a:tab algn="l" pos="1073160"/>
                <a:tab algn="l" pos="2146320"/>
                <a:tab algn="l" pos="3219480"/>
                <a:tab algn="l" pos="4292640"/>
                <a:tab algn="l" pos="5365800"/>
                <a:tab algn="l" pos="6438960"/>
                <a:tab algn="l" pos="7512120"/>
                <a:tab algn="l" pos="8585280"/>
                <a:tab algn="l" pos="9658440"/>
                <a:tab algn="l" pos="10731600"/>
              </a:tabLst>
            </a:pPr>
            <a:r>
              <a:rPr b="0" lang="en-US" sz="1200" strike="noStrike" u="none">
                <a:solidFill>
                  <a:srgbClr val="003366"/>
                </a:solidFill>
                <a:effectLst/>
                <a:uFillTx/>
                <a:latin typeface="Arial Narrow"/>
              </a:rPr>
              <a:t>Nicholas Woodward</a:t>
            </a:r>
            <a:endParaRPr b="0" lang="en-IN" sz="1200" strike="noStrike" u="none">
              <a:solidFill>
                <a:srgbClr val="000000"/>
              </a:solidFill>
              <a:effectLst/>
              <a:uFillTx/>
              <a:latin typeface="Times New Roman"/>
            </a:endParaRPr>
          </a:p>
          <a:p>
            <a:pPr algn="ctr">
              <a:lnSpc>
                <a:spcPct val="90000"/>
              </a:lnSpc>
              <a:tabLst>
                <a:tab algn="l" pos="0"/>
                <a:tab algn="l" pos="1073160"/>
                <a:tab algn="l" pos="2146320"/>
                <a:tab algn="l" pos="3219480"/>
                <a:tab algn="l" pos="4292640"/>
                <a:tab algn="l" pos="5365800"/>
                <a:tab algn="l" pos="6438960"/>
                <a:tab algn="l" pos="7512120"/>
                <a:tab algn="l" pos="8585280"/>
                <a:tab algn="l" pos="9658440"/>
                <a:tab algn="l" pos="10731600"/>
              </a:tabLst>
            </a:pPr>
            <a:r>
              <a:rPr b="0" lang="en-US" sz="1200" strike="noStrike" u="none">
                <a:solidFill>
                  <a:srgbClr val="5f5f5f"/>
                </a:solidFill>
                <a:effectLst/>
                <a:uFillTx/>
                <a:latin typeface="Wingdings"/>
                <a:ea typeface="Wingdings"/>
              </a:rPr>
              <a:t></a:t>
            </a:r>
            <a:r>
              <a:rPr b="0" lang="en-US" sz="1200" strike="noStrike" u="none">
                <a:solidFill>
                  <a:srgbClr val="5f5f5f"/>
                </a:solidFill>
                <a:effectLst/>
                <a:uFillTx/>
                <a:latin typeface="Arial Narrow"/>
              </a:rPr>
              <a:t> </a:t>
            </a:r>
            <a:r>
              <a:rPr b="0" lang="en-US" sz="1200" strike="noStrike" u="none">
                <a:solidFill>
                  <a:srgbClr val="003366"/>
                </a:solidFill>
                <a:effectLst/>
                <a:uFillTx/>
                <a:latin typeface="Arial Narrow"/>
              </a:rPr>
              <a:t>David Lesmes, GWU</a:t>
            </a:r>
            <a:endParaRPr b="0" lang="en-IN" sz="1200" strike="noStrike" u="none">
              <a:solidFill>
                <a:srgbClr val="000000"/>
              </a:solidFill>
              <a:effectLst/>
              <a:uFillTx/>
              <a:latin typeface="Times New Roman"/>
            </a:endParaRPr>
          </a:p>
        </p:txBody>
      </p:sp>
      <p:sp>
        <p:nvSpPr>
          <p:cNvPr id="84" name=""/>
          <p:cNvSpPr/>
          <p:nvPr/>
        </p:nvSpPr>
        <p:spPr>
          <a:xfrm>
            <a:off x="3770280" y="6724800"/>
            <a:ext cx="2739960" cy="287640"/>
          </a:xfrm>
          <a:prstGeom prst="rect">
            <a:avLst/>
          </a:prstGeom>
          <a:noFill/>
          <a:ln w="0">
            <a:noFill/>
          </a:ln>
        </p:spPr>
        <p:style>
          <a:lnRef idx="0"/>
          <a:fillRef idx="0"/>
          <a:effectRef idx="0"/>
          <a:fontRef idx="minor"/>
        </p:style>
        <p:txBody>
          <a:bodyPr lIns="0" rIns="0" tIns="52200" bIns="52200" anchor="t">
            <a:spAutoFit/>
          </a:bodyPr>
          <a:p>
            <a:pPr algn="ctr">
              <a:lnSpc>
                <a:spcPct val="100000"/>
              </a:lnSpc>
              <a:tabLst>
                <a:tab algn="l" pos="0"/>
                <a:tab algn="l" pos="1073160"/>
                <a:tab algn="l" pos="2146320"/>
                <a:tab algn="l" pos="3219480"/>
                <a:tab algn="l" pos="4292640"/>
                <a:tab algn="l" pos="5365800"/>
                <a:tab algn="l" pos="6438960"/>
                <a:tab algn="l" pos="7512120"/>
                <a:tab algn="l" pos="8585280"/>
                <a:tab algn="l" pos="9658440"/>
                <a:tab algn="l" pos="10731600"/>
              </a:tabLst>
            </a:pPr>
            <a:r>
              <a:rPr b="1" lang="en-IN" sz="1200" strike="noStrike" u="none">
                <a:solidFill>
                  <a:srgbClr val="ff0000"/>
                </a:solidFill>
                <a:effectLst/>
                <a:uFillTx/>
                <a:latin typeface="Arial Narrow"/>
              </a:rPr>
              <a:t>Geosciences Research</a:t>
            </a:r>
            <a:endParaRPr b="0" lang="en-IN" sz="1200" strike="noStrike" u="none">
              <a:solidFill>
                <a:srgbClr val="000000"/>
              </a:solidFill>
              <a:effectLst/>
              <a:uFillTx/>
              <a:latin typeface="Times New Roman"/>
            </a:endParaRPr>
          </a:p>
        </p:txBody>
      </p:sp>
      <p:sp>
        <p:nvSpPr>
          <p:cNvPr id="85" name=""/>
          <p:cNvSpPr/>
          <p:nvPr/>
        </p:nvSpPr>
        <p:spPr>
          <a:xfrm>
            <a:off x="2279160" y="4910040"/>
            <a:ext cx="1167480" cy="470520"/>
          </a:xfrm>
          <a:prstGeom prst="rect">
            <a:avLst/>
          </a:prstGeom>
          <a:noFill/>
          <a:ln w="0">
            <a:noFill/>
          </a:ln>
        </p:spPr>
        <p:style>
          <a:lnRef idx="0"/>
          <a:fillRef idx="0"/>
          <a:effectRef idx="0"/>
          <a:fontRef idx="minor"/>
        </p:style>
        <p:txBody>
          <a:bodyPr wrap="none" lIns="0" rIns="0" tIns="52200" bIns="52200" anchor="t">
            <a:spAutoFit/>
          </a:bodyPr>
          <a:p>
            <a:pPr algn="ctr">
              <a:lnSpc>
                <a:spcPct val="100000"/>
              </a:lnSpc>
              <a:tabLst>
                <a:tab algn="l" pos="0"/>
                <a:tab algn="l" pos="1073160"/>
                <a:tab algn="l" pos="2146320"/>
                <a:tab algn="l" pos="3219480"/>
                <a:tab algn="l" pos="4292640"/>
                <a:tab algn="l" pos="5365800"/>
                <a:tab algn="l" pos="6438960"/>
                <a:tab algn="l" pos="7512120"/>
                <a:tab algn="l" pos="8585280"/>
                <a:tab algn="l" pos="9658440"/>
                <a:tab algn="l" pos="10731600"/>
              </a:tabLst>
            </a:pPr>
            <a:r>
              <a:rPr b="1" lang="en-IN" sz="1200" strike="noStrike" u="none">
                <a:solidFill>
                  <a:srgbClr val="ff0000"/>
                </a:solidFill>
                <a:effectLst/>
                <a:uFillTx/>
                <a:latin typeface="Arial Narrow"/>
              </a:rPr>
              <a:t>Photochemistry &amp;</a:t>
            </a:r>
            <a:endParaRPr b="0" lang="en-IN" sz="1200" strike="noStrike" u="none">
              <a:solidFill>
                <a:srgbClr val="000000"/>
              </a:solidFill>
              <a:effectLst/>
              <a:uFillTx/>
              <a:latin typeface="Times New Roman"/>
            </a:endParaRPr>
          </a:p>
          <a:p>
            <a:pPr algn="ctr">
              <a:lnSpc>
                <a:spcPct val="100000"/>
              </a:lnSpc>
              <a:tabLst>
                <a:tab algn="l" pos="0"/>
                <a:tab algn="l" pos="1073160"/>
                <a:tab algn="l" pos="2146320"/>
                <a:tab algn="l" pos="3219480"/>
                <a:tab algn="l" pos="4292640"/>
                <a:tab algn="l" pos="5365800"/>
                <a:tab algn="l" pos="6438960"/>
                <a:tab algn="l" pos="7512120"/>
                <a:tab algn="l" pos="8585280"/>
                <a:tab algn="l" pos="9658440"/>
                <a:tab algn="l" pos="10731600"/>
              </a:tabLst>
            </a:pPr>
            <a:r>
              <a:rPr b="1" lang="en-IN" sz="1200" strike="noStrike" u="none">
                <a:solidFill>
                  <a:srgbClr val="ff0000"/>
                </a:solidFill>
                <a:effectLst/>
                <a:uFillTx/>
                <a:latin typeface="Arial Narrow"/>
              </a:rPr>
              <a:t>Radiation Research</a:t>
            </a:r>
            <a:endParaRPr b="0" lang="en-IN" sz="1200" strike="noStrike" u="none">
              <a:solidFill>
                <a:srgbClr val="000000"/>
              </a:solidFill>
              <a:effectLst/>
              <a:uFillTx/>
              <a:latin typeface="Times New Roman"/>
            </a:endParaRPr>
          </a:p>
        </p:txBody>
      </p:sp>
      <p:sp>
        <p:nvSpPr>
          <p:cNvPr id="86" name=""/>
          <p:cNvSpPr/>
          <p:nvPr/>
        </p:nvSpPr>
        <p:spPr>
          <a:xfrm>
            <a:off x="2316240" y="3989520"/>
            <a:ext cx="1063440" cy="287640"/>
          </a:xfrm>
          <a:prstGeom prst="rect">
            <a:avLst/>
          </a:prstGeom>
          <a:noFill/>
          <a:ln w="0">
            <a:noFill/>
          </a:ln>
        </p:spPr>
        <p:style>
          <a:lnRef idx="0"/>
          <a:fillRef idx="0"/>
          <a:effectRef idx="0"/>
          <a:fontRef idx="minor"/>
        </p:style>
        <p:txBody>
          <a:bodyPr wrap="none" lIns="0" rIns="0" tIns="52200" bIns="52200" anchor="t">
            <a:spAutoFit/>
          </a:bodyPr>
          <a:p>
            <a:pPr algn="ctr">
              <a:lnSpc>
                <a:spcPct val="100000"/>
              </a:lnSpc>
              <a:tabLst>
                <a:tab algn="l" pos="0"/>
                <a:tab algn="l" pos="1073160"/>
                <a:tab algn="l" pos="2146320"/>
                <a:tab algn="l" pos="3219480"/>
                <a:tab algn="l" pos="4292640"/>
                <a:tab algn="l" pos="5365800"/>
                <a:tab algn="l" pos="6438960"/>
                <a:tab algn="l" pos="7512120"/>
                <a:tab algn="l" pos="8585280"/>
                <a:tab algn="l" pos="9658440"/>
                <a:tab algn="l" pos="10731600"/>
              </a:tabLst>
            </a:pPr>
            <a:r>
              <a:rPr b="1" lang="en-IN" sz="1200" strike="noStrike" u="none">
                <a:solidFill>
                  <a:srgbClr val="ff0000"/>
                </a:solidFill>
                <a:effectLst/>
                <a:uFillTx/>
                <a:latin typeface="Arial Narrow"/>
              </a:rPr>
              <a:t>Chemical Physics</a:t>
            </a:r>
            <a:endParaRPr b="0" lang="en-IN" sz="1200" strike="noStrike" u="none">
              <a:solidFill>
                <a:srgbClr val="000000"/>
              </a:solidFill>
              <a:effectLst/>
              <a:uFillTx/>
              <a:latin typeface="Times New Roman"/>
            </a:endParaRPr>
          </a:p>
        </p:txBody>
      </p:sp>
      <p:sp>
        <p:nvSpPr>
          <p:cNvPr id="87" name=""/>
          <p:cNvSpPr/>
          <p:nvPr/>
        </p:nvSpPr>
        <p:spPr>
          <a:xfrm>
            <a:off x="2176560" y="3040200"/>
            <a:ext cx="1374840" cy="470520"/>
          </a:xfrm>
          <a:prstGeom prst="rect">
            <a:avLst/>
          </a:prstGeom>
          <a:noFill/>
          <a:ln w="0">
            <a:noFill/>
          </a:ln>
        </p:spPr>
        <p:style>
          <a:lnRef idx="0"/>
          <a:fillRef idx="0"/>
          <a:effectRef idx="0"/>
          <a:fontRef idx="minor"/>
        </p:style>
        <p:txBody>
          <a:bodyPr lIns="0" rIns="0" tIns="52200" bIns="52200" anchor="t">
            <a:spAutoFit/>
          </a:bodyPr>
          <a:p>
            <a:pPr algn="ctr">
              <a:lnSpc>
                <a:spcPct val="100000"/>
              </a:lnSpc>
              <a:tabLst>
                <a:tab algn="l" pos="0"/>
                <a:tab algn="l" pos="1073160"/>
                <a:tab algn="l" pos="2146320"/>
                <a:tab algn="l" pos="3219480"/>
                <a:tab algn="l" pos="4292640"/>
                <a:tab algn="l" pos="5365800"/>
                <a:tab algn="l" pos="6438960"/>
                <a:tab algn="l" pos="7512120"/>
                <a:tab algn="l" pos="8585280"/>
                <a:tab algn="l" pos="9658440"/>
                <a:tab algn="l" pos="10731600"/>
              </a:tabLst>
            </a:pPr>
            <a:r>
              <a:rPr b="1" lang="en-IN" sz="1200" strike="noStrike" u="none">
                <a:solidFill>
                  <a:srgbClr val="ff0000"/>
                </a:solidFill>
                <a:effectLst/>
                <a:uFillTx/>
                <a:latin typeface="Arial Narrow"/>
              </a:rPr>
              <a:t>Atomic, Molecular, and</a:t>
            </a:r>
            <a:endParaRPr b="0" lang="en-IN" sz="1200" strike="noStrike" u="none">
              <a:solidFill>
                <a:srgbClr val="000000"/>
              </a:solidFill>
              <a:effectLst/>
              <a:uFillTx/>
              <a:latin typeface="Times New Roman"/>
            </a:endParaRPr>
          </a:p>
          <a:p>
            <a:pPr algn="ctr">
              <a:lnSpc>
                <a:spcPct val="100000"/>
              </a:lnSpc>
              <a:tabLst>
                <a:tab algn="l" pos="0"/>
                <a:tab algn="l" pos="1073160"/>
                <a:tab algn="l" pos="2146320"/>
                <a:tab algn="l" pos="3219480"/>
                <a:tab algn="l" pos="4292640"/>
                <a:tab algn="l" pos="5365800"/>
                <a:tab algn="l" pos="6438960"/>
                <a:tab algn="l" pos="7512120"/>
                <a:tab algn="l" pos="8585280"/>
                <a:tab algn="l" pos="9658440"/>
                <a:tab algn="l" pos="10731600"/>
              </a:tabLst>
            </a:pPr>
            <a:r>
              <a:rPr b="1" lang="en-IN" sz="1200" strike="noStrike" u="none">
                <a:solidFill>
                  <a:srgbClr val="ff0000"/>
                </a:solidFill>
                <a:effectLst/>
                <a:uFillTx/>
                <a:latin typeface="Arial Narrow"/>
              </a:rPr>
              <a:t> Optical Science</a:t>
            </a:r>
            <a:endParaRPr b="0" lang="en-IN" sz="1200" strike="noStrike" u="none">
              <a:solidFill>
                <a:srgbClr val="000000"/>
              </a:solidFill>
              <a:effectLst/>
              <a:uFillTx/>
              <a:latin typeface="Times New Roman"/>
            </a:endParaRPr>
          </a:p>
        </p:txBody>
      </p:sp>
      <p:sp>
        <p:nvSpPr>
          <p:cNvPr id="88" name=""/>
          <p:cNvSpPr/>
          <p:nvPr/>
        </p:nvSpPr>
        <p:spPr>
          <a:xfrm>
            <a:off x="2039760" y="5827680"/>
            <a:ext cx="1589400" cy="470520"/>
          </a:xfrm>
          <a:prstGeom prst="rect">
            <a:avLst/>
          </a:prstGeom>
          <a:noFill/>
          <a:ln w="0">
            <a:noFill/>
          </a:ln>
        </p:spPr>
        <p:style>
          <a:lnRef idx="0"/>
          <a:fillRef idx="0"/>
          <a:effectRef idx="0"/>
          <a:fontRef idx="minor"/>
        </p:style>
        <p:txBody>
          <a:bodyPr lIns="0" rIns="0" tIns="52200" bIns="52200" anchor="t">
            <a:spAutoFit/>
          </a:bodyPr>
          <a:p>
            <a:pPr algn="ctr">
              <a:lnSpc>
                <a:spcPct val="100000"/>
              </a:lnSpc>
              <a:tabLst>
                <a:tab algn="l" pos="0"/>
                <a:tab algn="l" pos="1073160"/>
                <a:tab algn="l" pos="2146320"/>
                <a:tab algn="l" pos="3219480"/>
                <a:tab algn="l" pos="4292640"/>
                <a:tab algn="l" pos="5365800"/>
                <a:tab algn="l" pos="6438960"/>
                <a:tab algn="l" pos="7512120"/>
                <a:tab algn="l" pos="8585280"/>
                <a:tab algn="l" pos="9658440"/>
                <a:tab algn="l" pos="10731600"/>
              </a:tabLst>
            </a:pPr>
            <a:r>
              <a:rPr b="1" lang="en-IN" sz="1200" strike="noStrike" u="none">
                <a:solidFill>
                  <a:srgbClr val="ff0000"/>
                </a:solidFill>
                <a:effectLst/>
                <a:uFillTx/>
                <a:latin typeface="Arial Narrow"/>
              </a:rPr>
              <a:t>Computational and Theoretical Chemistry</a:t>
            </a:r>
            <a:endParaRPr b="0" lang="en-IN" sz="1200" strike="noStrike" u="none">
              <a:solidFill>
                <a:srgbClr val="000000"/>
              </a:solidFill>
              <a:effectLst/>
              <a:uFillTx/>
              <a:latin typeface="Times New Roman"/>
            </a:endParaRPr>
          </a:p>
        </p:txBody>
      </p:sp>
      <p:sp>
        <p:nvSpPr>
          <p:cNvPr id="89" name=""/>
          <p:cNvSpPr/>
          <p:nvPr/>
        </p:nvSpPr>
        <p:spPr>
          <a:xfrm>
            <a:off x="2391840" y="3525840"/>
            <a:ext cx="952200" cy="269280"/>
          </a:xfrm>
          <a:prstGeom prst="rect">
            <a:avLst/>
          </a:prstGeom>
          <a:noFill/>
          <a:ln w="0">
            <a:noFill/>
          </a:ln>
        </p:spPr>
        <p:style>
          <a:lnRef idx="0"/>
          <a:fillRef idx="0"/>
          <a:effectRef idx="0"/>
          <a:fontRef idx="minor"/>
        </p:style>
        <p:txBody>
          <a:bodyPr wrap="none" lIns="0" rIns="0" tIns="52200" bIns="52200" anchor="t">
            <a:spAutoFit/>
          </a:bodyPr>
          <a:p>
            <a:pPr algn="ctr">
              <a:lnSpc>
                <a:spcPct val="90000"/>
              </a:lnSpc>
              <a:tabLst>
                <a:tab algn="l" pos="0"/>
                <a:tab algn="l" pos="1073160"/>
                <a:tab algn="l" pos="2146320"/>
                <a:tab algn="l" pos="3219480"/>
                <a:tab algn="l" pos="4292640"/>
                <a:tab algn="l" pos="5365800"/>
                <a:tab algn="l" pos="6438960"/>
                <a:tab algn="l" pos="7512120"/>
                <a:tab algn="l" pos="8585280"/>
                <a:tab algn="l" pos="9658440"/>
                <a:tab algn="l" pos="10731600"/>
              </a:tabLst>
            </a:pPr>
            <a:r>
              <a:rPr b="0" lang="en-IN" sz="1200" strike="noStrike" u="none">
                <a:solidFill>
                  <a:srgbClr val="333399"/>
                </a:solidFill>
                <a:effectLst/>
                <a:uFillTx/>
                <a:latin typeface="Arial Narrow"/>
              </a:rPr>
              <a:t>Michael Casassa</a:t>
            </a:r>
            <a:endParaRPr b="0" lang="en-IN" sz="1200" strike="noStrike" u="none">
              <a:solidFill>
                <a:srgbClr val="000000"/>
              </a:solidFill>
              <a:effectLst/>
              <a:uFillTx/>
              <a:latin typeface="Times New Roman"/>
            </a:endParaRPr>
          </a:p>
        </p:txBody>
      </p:sp>
      <p:sp>
        <p:nvSpPr>
          <p:cNvPr id="90" name=""/>
          <p:cNvSpPr/>
          <p:nvPr/>
        </p:nvSpPr>
        <p:spPr>
          <a:xfrm>
            <a:off x="2317680" y="5278320"/>
            <a:ext cx="1122840" cy="420120"/>
          </a:xfrm>
          <a:prstGeom prst="rect">
            <a:avLst/>
          </a:prstGeom>
          <a:noFill/>
          <a:ln w="0">
            <a:noFill/>
          </a:ln>
        </p:spPr>
        <p:style>
          <a:lnRef idx="0"/>
          <a:fillRef idx="0"/>
          <a:effectRef idx="0"/>
          <a:fontRef idx="minor"/>
        </p:style>
        <p:txBody>
          <a:bodyPr wrap="none" lIns="0" rIns="0" tIns="52200" bIns="52200" anchor="t">
            <a:spAutoFit/>
          </a:bodyPr>
          <a:p>
            <a:pPr algn="ctr">
              <a:lnSpc>
                <a:spcPct val="90000"/>
              </a:lnSpc>
              <a:tabLst>
                <a:tab algn="l" pos="0"/>
                <a:tab algn="l" pos="1073160"/>
                <a:tab algn="l" pos="2146320"/>
                <a:tab algn="l" pos="3219480"/>
                <a:tab algn="l" pos="4292640"/>
                <a:tab algn="l" pos="5365800"/>
                <a:tab algn="l" pos="6438960"/>
                <a:tab algn="l" pos="7512120"/>
                <a:tab algn="l" pos="8585280"/>
                <a:tab algn="l" pos="9658440"/>
                <a:tab algn="l" pos="10731600"/>
              </a:tabLst>
            </a:pPr>
            <a:r>
              <a:rPr b="0" lang="en-US" sz="1200" strike="noStrike" u="none">
                <a:solidFill>
                  <a:srgbClr val="003366"/>
                </a:solidFill>
                <a:effectLst/>
                <a:uFillTx/>
                <a:latin typeface="Arial Narrow"/>
              </a:rPr>
              <a:t>Mary Gress</a:t>
            </a:r>
            <a:endParaRPr b="0" lang="en-IN" sz="1200" strike="noStrike" u="none">
              <a:solidFill>
                <a:srgbClr val="000000"/>
              </a:solidFill>
              <a:effectLst/>
              <a:uFillTx/>
              <a:latin typeface="Times New Roman"/>
            </a:endParaRPr>
          </a:p>
          <a:p>
            <a:pPr algn="ctr">
              <a:lnSpc>
                <a:spcPct val="90000"/>
              </a:lnSpc>
              <a:tabLst>
                <a:tab algn="l" pos="0"/>
                <a:tab algn="l" pos="1073160"/>
                <a:tab algn="l" pos="2146320"/>
                <a:tab algn="l" pos="3219480"/>
                <a:tab algn="l" pos="4292640"/>
                <a:tab algn="l" pos="5365800"/>
                <a:tab algn="l" pos="6438960"/>
                <a:tab algn="l" pos="7512120"/>
                <a:tab algn="l" pos="8585280"/>
                <a:tab algn="l" pos="9658440"/>
                <a:tab algn="l" pos="10731600"/>
              </a:tabLst>
            </a:pPr>
            <a:r>
              <a:rPr b="0" lang="en-US" sz="1100" strike="noStrike" u="none">
                <a:solidFill>
                  <a:srgbClr val="cc0000"/>
                </a:solidFill>
                <a:effectLst/>
                <a:uFillTx/>
                <a:latin typeface="Wingdings"/>
                <a:ea typeface="Wingdings"/>
              </a:rPr>
              <a:t></a:t>
            </a:r>
            <a:r>
              <a:rPr b="0" lang="en-US" sz="1100" strike="noStrike" u="none">
                <a:solidFill>
                  <a:srgbClr val="003366"/>
                </a:solidFill>
                <a:effectLst/>
                <a:uFillTx/>
                <a:latin typeface="Arial Narrow"/>
              </a:rPr>
              <a:t>Mark Spitler, NREL</a:t>
            </a:r>
            <a:endParaRPr b="0" lang="en-IN" sz="1100" strike="noStrike" u="none">
              <a:solidFill>
                <a:srgbClr val="000000"/>
              </a:solidFill>
              <a:effectLst/>
              <a:uFillTx/>
              <a:latin typeface="Times New Roman"/>
            </a:endParaRPr>
          </a:p>
        </p:txBody>
      </p:sp>
      <p:sp>
        <p:nvSpPr>
          <p:cNvPr id="91" name=""/>
          <p:cNvSpPr/>
          <p:nvPr/>
        </p:nvSpPr>
        <p:spPr>
          <a:xfrm>
            <a:off x="2295360" y="6235560"/>
            <a:ext cx="1146600" cy="269280"/>
          </a:xfrm>
          <a:prstGeom prst="rect">
            <a:avLst/>
          </a:prstGeom>
          <a:noFill/>
          <a:ln w="0">
            <a:noFill/>
          </a:ln>
        </p:spPr>
        <p:style>
          <a:lnRef idx="0"/>
          <a:fillRef idx="0"/>
          <a:effectRef idx="0"/>
          <a:fontRef idx="minor"/>
        </p:style>
        <p:txBody>
          <a:bodyPr wrap="none" lIns="0" rIns="0" tIns="52200" bIns="52200" anchor="t">
            <a:spAutoFit/>
          </a:bodyPr>
          <a:p>
            <a:pPr algn="ctr">
              <a:lnSpc>
                <a:spcPct val="90000"/>
              </a:lnSpc>
              <a:tabLst>
                <a:tab algn="l" pos="0"/>
                <a:tab algn="l" pos="1073160"/>
                <a:tab algn="l" pos="2146320"/>
                <a:tab algn="l" pos="3219480"/>
                <a:tab algn="l" pos="4292640"/>
                <a:tab algn="l" pos="5365800"/>
                <a:tab algn="l" pos="6438960"/>
                <a:tab algn="l" pos="7512120"/>
                <a:tab algn="l" pos="8585280"/>
                <a:tab algn="l" pos="9658440"/>
                <a:tab algn="l" pos="10731600"/>
              </a:tabLst>
            </a:pPr>
            <a:r>
              <a:rPr b="0" lang="en-IN" sz="1200" strike="noStrike" u="none">
                <a:solidFill>
                  <a:srgbClr val="333399"/>
                </a:solidFill>
                <a:effectLst/>
                <a:uFillTx/>
                <a:latin typeface="Arial Narrow"/>
              </a:rPr>
              <a:t>Richard Hilderbrandt</a:t>
            </a:r>
            <a:endParaRPr b="0" lang="en-IN" sz="1200" strike="noStrike" u="none">
              <a:solidFill>
                <a:srgbClr val="000000"/>
              </a:solidFill>
              <a:effectLst/>
              <a:uFillTx/>
              <a:latin typeface="Times New Roman"/>
            </a:endParaRPr>
          </a:p>
        </p:txBody>
      </p:sp>
      <p:sp>
        <p:nvSpPr>
          <p:cNvPr id="92" name=""/>
          <p:cNvSpPr/>
          <p:nvPr/>
        </p:nvSpPr>
        <p:spPr>
          <a:xfrm>
            <a:off x="6624720" y="3068640"/>
            <a:ext cx="1506600" cy="287640"/>
          </a:xfrm>
          <a:prstGeom prst="rect">
            <a:avLst/>
          </a:prstGeom>
          <a:noFill/>
          <a:ln w="0">
            <a:noFill/>
          </a:ln>
        </p:spPr>
        <p:style>
          <a:lnRef idx="0"/>
          <a:fillRef idx="0"/>
          <a:effectRef idx="0"/>
          <a:fontRef idx="minor"/>
        </p:style>
        <p:txBody>
          <a:bodyPr lIns="0" rIns="0" tIns="52200" bIns="52200" anchor="t">
            <a:spAutoFit/>
          </a:bodyPr>
          <a:p>
            <a:pPr algn="ctr">
              <a:lnSpc>
                <a:spcPct val="100000"/>
              </a:lnSpc>
              <a:tabLst>
                <a:tab algn="l" pos="0"/>
                <a:tab algn="l" pos="1073160"/>
                <a:tab algn="l" pos="2146320"/>
                <a:tab algn="l" pos="3219480"/>
                <a:tab algn="l" pos="4292640"/>
                <a:tab algn="l" pos="5365800"/>
                <a:tab algn="l" pos="6438960"/>
                <a:tab algn="l" pos="7512120"/>
                <a:tab algn="l" pos="8585280"/>
                <a:tab algn="l" pos="9658440"/>
                <a:tab algn="l" pos="10731600"/>
              </a:tabLst>
            </a:pPr>
            <a:r>
              <a:rPr b="1" lang="en-IN" sz="1200" strike="noStrike" u="none">
                <a:solidFill>
                  <a:srgbClr val="ff0000"/>
                </a:solidFill>
                <a:effectLst/>
                <a:uFillTx/>
                <a:latin typeface="Arial Narrow"/>
              </a:rPr>
              <a:t>Plant Sciences</a:t>
            </a:r>
            <a:endParaRPr b="0" lang="en-IN" sz="1200" strike="noStrike" u="none">
              <a:solidFill>
                <a:srgbClr val="000000"/>
              </a:solidFill>
              <a:effectLst/>
              <a:uFillTx/>
              <a:latin typeface="Times New Roman"/>
            </a:endParaRPr>
          </a:p>
        </p:txBody>
      </p:sp>
      <p:sp>
        <p:nvSpPr>
          <p:cNvPr id="93" name=""/>
          <p:cNvSpPr/>
          <p:nvPr/>
        </p:nvSpPr>
        <p:spPr>
          <a:xfrm>
            <a:off x="6405480" y="3594240"/>
            <a:ext cx="1944720" cy="287640"/>
          </a:xfrm>
          <a:prstGeom prst="rect">
            <a:avLst/>
          </a:prstGeom>
          <a:noFill/>
          <a:ln w="0">
            <a:noFill/>
          </a:ln>
        </p:spPr>
        <p:style>
          <a:lnRef idx="0"/>
          <a:fillRef idx="0"/>
          <a:effectRef idx="0"/>
          <a:fontRef idx="minor"/>
        </p:style>
        <p:txBody>
          <a:bodyPr lIns="0" rIns="0" tIns="52200" bIns="52200" anchor="t">
            <a:spAutoFit/>
          </a:bodyPr>
          <a:p>
            <a:pPr algn="ctr">
              <a:lnSpc>
                <a:spcPct val="100000"/>
              </a:lnSpc>
              <a:tabLst>
                <a:tab algn="l" pos="0"/>
                <a:tab algn="l" pos="1073160"/>
                <a:tab algn="l" pos="2146320"/>
                <a:tab algn="l" pos="3219480"/>
                <a:tab algn="l" pos="4292640"/>
                <a:tab algn="l" pos="5365800"/>
                <a:tab algn="l" pos="6438960"/>
                <a:tab algn="l" pos="7512120"/>
                <a:tab algn="l" pos="8585280"/>
                <a:tab algn="l" pos="9658440"/>
                <a:tab algn="l" pos="10731600"/>
              </a:tabLst>
            </a:pPr>
            <a:r>
              <a:rPr b="1" lang="en-IN" sz="1200" strike="noStrike" u="none">
                <a:solidFill>
                  <a:srgbClr val="ff0000"/>
                </a:solidFill>
                <a:effectLst/>
                <a:uFillTx/>
                <a:latin typeface="Arial Narrow"/>
              </a:rPr>
              <a:t>Biochemistry and Biophysics</a:t>
            </a:r>
            <a:endParaRPr b="0" lang="en-IN" sz="1200" strike="noStrike" u="none">
              <a:solidFill>
                <a:srgbClr val="000000"/>
              </a:solidFill>
              <a:effectLst/>
              <a:uFillTx/>
              <a:latin typeface="Times New Roman"/>
            </a:endParaRPr>
          </a:p>
        </p:txBody>
      </p:sp>
      <p:sp>
        <p:nvSpPr>
          <p:cNvPr id="94" name=""/>
          <p:cNvSpPr/>
          <p:nvPr/>
        </p:nvSpPr>
        <p:spPr>
          <a:xfrm>
            <a:off x="6949800" y="3287880"/>
            <a:ext cx="855000" cy="269280"/>
          </a:xfrm>
          <a:prstGeom prst="rect">
            <a:avLst/>
          </a:prstGeom>
          <a:noFill/>
          <a:ln w="0">
            <a:noFill/>
          </a:ln>
        </p:spPr>
        <p:style>
          <a:lnRef idx="0"/>
          <a:fillRef idx="0"/>
          <a:effectRef idx="0"/>
          <a:fontRef idx="minor"/>
        </p:style>
        <p:txBody>
          <a:bodyPr wrap="none" lIns="0" rIns="0" tIns="52200" bIns="52200" anchor="t">
            <a:spAutoFit/>
          </a:bodyPr>
          <a:p>
            <a:pPr algn="ctr">
              <a:lnSpc>
                <a:spcPct val="90000"/>
              </a:lnSpc>
              <a:tabLst>
                <a:tab algn="l" pos="0"/>
                <a:tab algn="l" pos="1073160"/>
                <a:tab algn="l" pos="2146320"/>
                <a:tab algn="l" pos="3219480"/>
                <a:tab algn="l" pos="4292640"/>
                <a:tab algn="l" pos="5365800"/>
                <a:tab algn="l" pos="6438960"/>
                <a:tab algn="l" pos="7512120"/>
                <a:tab algn="l" pos="8585280"/>
                <a:tab algn="l" pos="9658440"/>
                <a:tab algn="l" pos="10731600"/>
              </a:tabLst>
            </a:pPr>
            <a:r>
              <a:rPr b="0" lang="en-IN" sz="1200" strike="noStrike" u="none">
                <a:solidFill>
                  <a:srgbClr val="003366"/>
                </a:solidFill>
                <a:effectLst/>
                <a:uFillTx/>
                <a:latin typeface="Arial Narrow"/>
              </a:rPr>
              <a:t>James Tavares</a:t>
            </a:r>
            <a:endParaRPr b="0" lang="en-IN" sz="1200" strike="noStrike" u="none">
              <a:solidFill>
                <a:srgbClr val="000000"/>
              </a:solidFill>
              <a:effectLst/>
              <a:uFillTx/>
              <a:latin typeface="Times New Roman"/>
            </a:endParaRPr>
          </a:p>
        </p:txBody>
      </p:sp>
      <p:sp>
        <p:nvSpPr>
          <p:cNvPr id="95" name=""/>
          <p:cNvSpPr/>
          <p:nvPr/>
        </p:nvSpPr>
        <p:spPr>
          <a:xfrm>
            <a:off x="6763320" y="3821040"/>
            <a:ext cx="1230120" cy="269280"/>
          </a:xfrm>
          <a:prstGeom prst="rect">
            <a:avLst/>
          </a:prstGeom>
          <a:noFill/>
          <a:ln w="0">
            <a:noFill/>
          </a:ln>
        </p:spPr>
        <p:style>
          <a:lnRef idx="0"/>
          <a:fillRef idx="0"/>
          <a:effectRef idx="0"/>
          <a:fontRef idx="minor"/>
        </p:style>
        <p:txBody>
          <a:bodyPr wrap="none" lIns="0" rIns="0" tIns="52200" bIns="52200" anchor="t">
            <a:spAutoFit/>
          </a:bodyPr>
          <a:p>
            <a:pPr algn="ctr">
              <a:lnSpc>
                <a:spcPct val="90000"/>
              </a:lnSpc>
              <a:tabLst>
                <a:tab algn="l" pos="0"/>
                <a:tab algn="l" pos="1073160"/>
                <a:tab algn="l" pos="2146320"/>
                <a:tab algn="l" pos="3219480"/>
                <a:tab algn="l" pos="4292640"/>
                <a:tab algn="l" pos="5365800"/>
                <a:tab algn="l" pos="6438960"/>
                <a:tab algn="l" pos="7512120"/>
                <a:tab algn="l" pos="8585280"/>
                <a:tab algn="l" pos="9658440"/>
                <a:tab algn="l" pos="10731600"/>
              </a:tabLst>
            </a:pPr>
            <a:r>
              <a:rPr b="0" lang="en-IN" sz="1200" strike="noStrike" u="none">
                <a:solidFill>
                  <a:srgbClr val="003366"/>
                </a:solidFill>
                <a:effectLst/>
                <a:uFillTx/>
                <a:latin typeface="Arial Narrow"/>
              </a:rPr>
              <a:t>Sharlene Weatherwax</a:t>
            </a:r>
            <a:endParaRPr b="0" lang="en-IN" sz="1200" strike="noStrike" u="none">
              <a:solidFill>
                <a:srgbClr val="000000"/>
              </a:solidFill>
              <a:effectLst/>
              <a:uFillTx/>
              <a:latin typeface="Times New Roman"/>
            </a:endParaRPr>
          </a:p>
        </p:txBody>
      </p:sp>
      <p:sp>
        <p:nvSpPr>
          <p:cNvPr id="96" name=""/>
          <p:cNvSpPr/>
          <p:nvPr/>
        </p:nvSpPr>
        <p:spPr>
          <a:xfrm>
            <a:off x="2798640" y="1011240"/>
            <a:ext cx="4683240" cy="0"/>
          </a:xfrm>
          <a:prstGeom prst="line">
            <a:avLst/>
          </a:prstGeom>
          <a:ln w="9360">
            <a:solidFill>
              <a:srgbClr val="000000"/>
            </a:solidFill>
            <a:miter/>
          </a:ln>
        </p:spPr>
        <p:style>
          <a:lnRef idx="0"/>
          <a:fillRef idx="0"/>
          <a:effectRef idx="0"/>
          <a:fontRef idx="minor"/>
        </p:style>
        <p:txBody>
          <a:bodyPr lIns="0" rIns="0" tIns="-46800" bIns="-46800" anchor="ctr">
            <a:noAutofit/>
          </a:bodyPr>
          <a:p>
            <a:endParaRPr b="0" lang="en-IN" sz="2400" strike="noStrike" u="none">
              <a:solidFill>
                <a:srgbClr val="000000"/>
              </a:solidFill>
              <a:effectLst/>
              <a:uFillTx/>
              <a:latin typeface="Times New Roman"/>
            </a:endParaRPr>
          </a:p>
        </p:txBody>
      </p:sp>
      <p:sp>
        <p:nvSpPr>
          <p:cNvPr id="97" name=""/>
          <p:cNvSpPr/>
          <p:nvPr/>
        </p:nvSpPr>
        <p:spPr>
          <a:xfrm>
            <a:off x="4092480" y="2457360"/>
            <a:ext cx="2141640" cy="0"/>
          </a:xfrm>
          <a:prstGeom prst="line">
            <a:avLst/>
          </a:prstGeom>
          <a:ln w="9360">
            <a:solidFill>
              <a:srgbClr val="000000"/>
            </a:solidFill>
            <a:miter/>
          </a:ln>
        </p:spPr>
        <p:style>
          <a:lnRef idx="0"/>
          <a:fillRef idx="0"/>
          <a:effectRef idx="0"/>
          <a:fontRef idx="minor"/>
        </p:style>
        <p:txBody>
          <a:bodyPr lIns="0" rIns="0" tIns="-46800" bIns="-46800" anchor="ctr">
            <a:noAutofit/>
          </a:bodyPr>
          <a:p>
            <a:endParaRPr b="0" lang="en-IN" sz="2400" strike="noStrike" u="none">
              <a:solidFill>
                <a:srgbClr val="000000"/>
              </a:solidFill>
              <a:effectLst/>
              <a:uFillTx/>
              <a:latin typeface="Times New Roman"/>
            </a:endParaRPr>
          </a:p>
        </p:txBody>
      </p:sp>
      <p:sp>
        <p:nvSpPr>
          <p:cNvPr id="98" name=""/>
          <p:cNvSpPr/>
          <p:nvPr/>
        </p:nvSpPr>
        <p:spPr>
          <a:xfrm>
            <a:off x="1758960" y="2457360"/>
            <a:ext cx="2171520" cy="0"/>
          </a:xfrm>
          <a:prstGeom prst="line">
            <a:avLst/>
          </a:prstGeom>
          <a:ln w="9360">
            <a:solidFill>
              <a:srgbClr val="000000"/>
            </a:solidFill>
            <a:miter/>
          </a:ln>
        </p:spPr>
        <p:style>
          <a:lnRef idx="0"/>
          <a:fillRef idx="0"/>
          <a:effectRef idx="0"/>
          <a:fontRef idx="minor"/>
        </p:style>
        <p:txBody>
          <a:bodyPr lIns="0" rIns="0" tIns="-46800" bIns="-46800" anchor="ctr">
            <a:noAutofit/>
          </a:bodyPr>
          <a:p>
            <a:endParaRPr b="0" lang="en-IN" sz="2400" strike="noStrike" u="none">
              <a:solidFill>
                <a:srgbClr val="000000"/>
              </a:solidFill>
              <a:effectLst/>
              <a:uFillTx/>
              <a:latin typeface="Times New Roman"/>
            </a:endParaRPr>
          </a:p>
        </p:txBody>
      </p:sp>
      <p:sp>
        <p:nvSpPr>
          <p:cNvPr id="99" name=""/>
          <p:cNvSpPr/>
          <p:nvPr/>
        </p:nvSpPr>
        <p:spPr>
          <a:xfrm>
            <a:off x="6337440" y="2457360"/>
            <a:ext cx="2151000" cy="0"/>
          </a:xfrm>
          <a:prstGeom prst="line">
            <a:avLst/>
          </a:prstGeom>
          <a:ln w="9360">
            <a:solidFill>
              <a:srgbClr val="000000"/>
            </a:solidFill>
            <a:miter/>
          </a:ln>
        </p:spPr>
        <p:style>
          <a:lnRef idx="0"/>
          <a:fillRef idx="0"/>
          <a:effectRef idx="0"/>
          <a:fontRef idx="minor"/>
        </p:style>
        <p:txBody>
          <a:bodyPr lIns="0" rIns="0" tIns="-46800" bIns="-46800" anchor="ctr">
            <a:noAutofit/>
          </a:bodyPr>
          <a:p>
            <a:endParaRPr b="0" lang="en-IN" sz="2400" strike="noStrike" u="none">
              <a:solidFill>
                <a:srgbClr val="000000"/>
              </a:solidFill>
              <a:effectLst/>
              <a:uFillTx/>
              <a:latin typeface="Times New Roman"/>
            </a:endParaRPr>
          </a:p>
        </p:txBody>
      </p:sp>
      <p:sp>
        <p:nvSpPr>
          <p:cNvPr id="100" name=""/>
          <p:cNvSpPr/>
          <p:nvPr/>
        </p:nvSpPr>
        <p:spPr>
          <a:xfrm>
            <a:off x="2881440" y="1793880"/>
            <a:ext cx="4459320" cy="0"/>
          </a:xfrm>
          <a:prstGeom prst="line">
            <a:avLst/>
          </a:prstGeom>
          <a:ln w="9360">
            <a:solidFill>
              <a:srgbClr val="000000"/>
            </a:solidFill>
            <a:miter/>
          </a:ln>
        </p:spPr>
        <p:style>
          <a:lnRef idx="0"/>
          <a:fillRef idx="0"/>
          <a:effectRef idx="0"/>
          <a:fontRef idx="minor"/>
        </p:style>
        <p:txBody>
          <a:bodyPr lIns="0" rIns="0" tIns="-46800" bIns="-46800" anchor="ctr">
            <a:noAutofit/>
          </a:bodyPr>
          <a:p>
            <a:endParaRPr b="0" lang="en-IN" sz="2400" strike="noStrike" u="none">
              <a:solidFill>
                <a:srgbClr val="000000"/>
              </a:solidFill>
              <a:effectLst/>
              <a:uFillTx/>
              <a:latin typeface="Times New Roman"/>
            </a:endParaRPr>
          </a:p>
        </p:txBody>
      </p:sp>
      <p:sp>
        <p:nvSpPr>
          <p:cNvPr id="101" name=""/>
          <p:cNvSpPr/>
          <p:nvPr/>
        </p:nvSpPr>
        <p:spPr>
          <a:xfrm>
            <a:off x="174960" y="1025640"/>
            <a:ext cx="1993320" cy="479880"/>
          </a:xfrm>
          <a:prstGeom prst="rect">
            <a:avLst/>
          </a:prstGeom>
          <a:noFill/>
          <a:ln w="0">
            <a:noFill/>
          </a:ln>
        </p:spPr>
        <p:style>
          <a:lnRef idx="0"/>
          <a:fillRef idx="0"/>
          <a:effectRef idx="0"/>
          <a:fontRef idx="minor"/>
        </p:style>
        <p:txBody>
          <a:bodyPr wrap="none" lIns="114120" rIns="114120" tIns="56880" bIns="56880" anchor="t">
            <a:spAutoFit/>
          </a:bodyPr>
          <a:p>
            <a:pPr algn="ctr">
              <a:lnSpc>
                <a:spcPct val="100000"/>
              </a:lnSpc>
              <a:tabLst>
                <a:tab algn="l" pos="0"/>
                <a:tab algn="l" pos="1019160"/>
                <a:tab algn="l" pos="2038320"/>
                <a:tab algn="l" pos="3057480"/>
                <a:tab algn="l" pos="4076640"/>
                <a:tab algn="l" pos="5095800"/>
                <a:tab algn="l" pos="6114960"/>
                <a:tab algn="l" pos="7134120"/>
                <a:tab algn="l" pos="8153280"/>
                <a:tab algn="l" pos="9172440"/>
                <a:tab algn="l" pos="10191600"/>
              </a:tabLst>
            </a:pPr>
            <a:r>
              <a:rPr b="1" lang="en-IN" sz="2400" strike="noStrike" u="none">
                <a:solidFill>
                  <a:srgbClr val="000000"/>
                </a:solidFill>
                <a:effectLst/>
                <a:uFillTx/>
                <a:latin typeface="Arial Narrow"/>
              </a:rPr>
              <a:t>February, 2005</a:t>
            </a:r>
            <a:endParaRPr b="0" lang="en-IN" sz="2400" strike="noStrike" u="none">
              <a:solidFill>
                <a:srgbClr val="000000"/>
              </a:solidFill>
              <a:effectLst/>
              <a:uFillTx/>
              <a:latin typeface="Times New Roman"/>
            </a:endParaRPr>
          </a:p>
        </p:txBody>
      </p:sp>
      <p:sp>
        <p:nvSpPr>
          <p:cNvPr id="102" name=""/>
          <p:cNvSpPr/>
          <p:nvPr/>
        </p:nvSpPr>
        <p:spPr>
          <a:xfrm>
            <a:off x="2290680" y="4202280"/>
            <a:ext cx="1146600" cy="488520"/>
          </a:xfrm>
          <a:prstGeom prst="rect">
            <a:avLst/>
          </a:prstGeom>
          <a:noFill/>
          <a:ln w="0">
            <a:noFill/>
          </a:ln>
        </p:spPr>
        <p:style>
          <a:lnRef idx="0"/>
          <a:fillRef idx="0"/>
          <a:effectRef idx="0"/>
          <a:fontRef idx="minor"/>
        </p:style>
        <p:txBody>
          <a:bodyPr wrap="none" lIns="0" rIns="0" tIns="52200" bIns="52200" anchor="t">
            <a:spAutoFit/>
          </a:bodyPr>
          <a:p>
            <a:pPr algn="ctr">
              <a:lnSpc>
                <a:spcPct val="90000"/>
              </a:lnSpc>
              <a:tabLst>
                <a:tab algn="l" pos="0"/>
                <a:tab algn="l" pos="1073160"/>
                <a:tab algn="l" pos="2146320"/>
                <a:tab algn="l" pos="3219480"/>
                <a:tab algn="l" pos="4292640"/>
                <a:tab algn="l" pos="5365800"/>
                <a:tab algn="l" pos="6438960"/>
                <a:tab algn="l" pos="7512120"/>
                <a:tab algn="l" pos="8585280"/>
                <a:tab algn="l" pos="9658440"/>
                <a:tab algn="l" pos="10731600"/>
              </a:tabLst>
            </a:pPr>
            <a:r>
              <a:rPr b="0" lang="en-IN" sz="1600" strike="noStrike" u="none">
                <a:solidFill>
                  <a:srgbClr val="000080"/>
                </a:solidFill>
                <a:effectLst/>
                <a:uFillTx/>
                <a:latin typeface="Wingdings"/>
                <a:ea typeface="Wingdings"/>
              </a:rPr>
              <a:t></a:t>
            </a:r>
            <a:r>
              <a:rPr b="0" lang="en-IN" sz="1300" strike="noStrike" u="none">
                <a:solidFill>
                  <a:srgbClr val="000080"/>
                </a:solidFill>
                <a:effectLst/>
                <a:uFillTx/>
                <a:latin typeface="Times New Roman"/>
                <a:ea typeface="Times New Roman"/>
              </a:rPr>
              <a:t> </a:t>
            </a:r>
            <a:r>
              <a:rPr b="0" lang="en-IN" sz="1200" strike="noStrike" u="none">
                <a:solidFill>
                  <a:srgbClr val="003366"/>
                </a:solidFill>
                <a:effectLst/>
                <a:uFillTx/>
                <a:latin typeface="Arial Narrow"/>
              </a:rPr>
              <a:t>Frank Tully, SNL</a:t>
            </a:r>
            <a:endParaRPr b="0" lang="en-IN" sz="1200" strike="noStrike" u="none">
              <a:solidFill>
                <a:srgbClr val="000000"/>
              </a:solidFill>
              <a:effectLst/>
              <a:uFillTx/>
              <a:latin typeface="Times New Roman"/>
            </a:endParaRPr>
          </a:p>
          <a:p>
            <a:pPr algn="ctr">
              <a:lnSpc>
                <a:spcPct val="90000"/>
              </a:lnSpc>
              <a:tabLst>
                <a:tab algn="l" pos="0"/>
                <a:tab algn="l" pos="1073160"/>
                <a:tab algn="l" pos="2146320"/>
                <a:tab algn="l" pos="3219480"/>
                <a:tab algn="l" pos="4292640"/>
                <a:tab algn="l" pos="5365800"/>
                <a:tab algn="l" pos="6438960"/>
                <a:tab algn="l" pos="7512120"/>
                <a:tab algn="l" pos="8585280"/>
                <a:tab algn="l" pos="9658440"/>
                <a:tab algn="l" pos="10731600"/>
              </a:tabLst>
            </a:pPr>
            <a:r>
              <a:rPr b="0" lang="en-IN" sz="1200" strike="noStrike" u="none">
                <a:solidFill>
                  <a:srgbClr val="003366"/>
                </a:solidFill>
                <a:effectLst/>
                <a:uFillTx/>
                <a:latin typeface="Arial Narrow"/>
              </a:rPr>
              <a:t>Richard Hilderbrandt</a:t>
            </a:r>
            <a:endParaRPr b="0" lang="en-IN" sz="1200" strike="noStrike" u="none">
              <a:solidFill>
                <a:srgbClr val="000000"/>
              </a:solidFill>
              <a:effectLst/>
              <a:uFillTx/>
              <a:latin typeface="Times New Roman"/>
            </a:endParaRPr>
          </a:p>
        </p:txBody>
      </p:sp>
      <p:sp>
        <p:nvSpPr>
          <p:cNvPr id="103" name=""/>
          <p:cNvSpPr/>
          <p:nvPr/>
        </p:nvSpPr>
        <p:spPr>
          <a:xfrm>
            <a:off x="1384200" y="4381560"/>
            <a:ext cx="774720" cy="0"/>
          </a:xfrm>
          <a:prstGeom prst="line">
            <a:avLst/>
          </a:prstGeom>
          <a:ln w="12600">
            <a:solidFill>
              <a:srgbClr val="0000ff"/>
            </a:solidFill>
            <a:miter/>
            <a:tailEnd len="med" type="triangle" w="med"/>
          </a:ln>
        </p:spPr>
        <p:style>
          <a:lnRef idx="0"/>
          <a:fillRef idx="0"/>
          <a:effectRef idx="0"/>
          <a:fontRef idx="minor"/>
        </p:style>
        <p:txBody>
          <a:bodyPr lIns="90000" rIns="90000" tIns="-46800" bIns="-46800" anchor="t">
            <a:noAutofit/>
          </a:bodyPr>
          <a:p>
            <a:endParaRPr b="0" lang="en-IN" sz="2400" strike="noStrike" u="none">
              <a:solidFill>
                <a:srgbClr val="000000"/>
              </a:solidFill>
              <a:effectLst/>
              <a:uFillTx/>
              <a:latin typeface="Times New Roman"/>
            </a:endParaRPr>
          </a:p>
        </p:txBody>
      </p:sp>
      <p:sp>
        <p:nvSpPr>
          <p:cNvPr id="104" name=""/>
          <p:cNvSpPr/>
          <p:nvPr/>
        </p:nvSpPr>
        <p:spPr>
          <a:xfrm>
            <a:off x="1397160" y="4559400"/>
            <a:ext cx="774720" cy="0"/>
          </a:xfrm>
          <a:prstGeom prst="line">
            <a:avLst/>
          </a:prstGeom>
          <a:ln w="12600">
            <a:solidFill>
              <a:srgbClr val="0000ff"/>
            </a:solidFill>
            <a:miter/>
            <a:tailEnd len="med" type="triangle" w="med"/>
          </a:ln>
        </p:spPr>
        <p:style>
          <a:lnRef idx="0"/>
          <a:fillRef idx="0"/>
          <a:effectRef idx="0"/>
          <a:fontRef idx="minor"/>
        </p:style>
        <p:txBody>
          <a:bodyPr lIns="90000" rIns="90000" tIns="-46800" bIns="-46800" anchor="t">
            <a:noAutofit/>
          </a:bodyPr>
          <a:p>
            <a:endParaRPr b="0" lang="en-IN" sz="2400" strike="noStrike" u="none">
              <a:solidFill>
                <a:srgbClr val="000000"/>
              </a:solidFill>
              <a:effectLst/>
              <a:uFillTx/>
              <a:latin typeface="Times New Roman"/>
            </a:endParaRPr>
          </a:p>
        </p:txBody>
      </p:sp>
      <p:sp>
        <p:nvSpPr>
          <p:cNvPr id="105" name=""/>
          <p:cNvSpPr/>
          <p:nvPr/>
        </p:nvSpPr>
        <p:spPr>
          <a:xfrm>
            <a:off x="1663560" y="5410080"/>
            <a:ext cx="774720" cy="0"/>
          </a:xfrm>
          <a:prstGeom prst="line">
            <a:avLst/>
          </a:prstGeom>
          <a:ln w="12600">
            <a:solidFill>
              <a:srgbClr val="0000ff"/>
            </a:solidFill>
            <a:miter/>
            <a:tailEnd len="med" type="triangle" w="med"/>
          </a:ln>
        </p:spPr>
        <p:style>
          <a:lnRef idx="0"/>
          <a:fillRef idx="0"/>
          <a:effectRef idx="0"/>
          <a:fontRef idx="minor"/>
        </p:style>
        <p:txBody>
          <a:bodyPr lIns="90000" rIns="90000" tIns="-46800" bIns="-46800" anchor="t">
            <a:noAutofit/>
          </a:bodyPr>
          <a:p>
            <a:endParaRPr b="0" lang="en-IN" sz="2400" strike="noStrike" u="none">
              <a:solidFill>
                <a:srgbClr val="000000"/>
              </a:solidFill>
              <a:effectLst/>
              <a:uFillTx/>
              <a:latin typeface="Times New Roman"/>
            </a:endParaRPr>
          </a:p>
        </p:txBody>
      </p:sp>
      <p:sp>
        <p:nvSpPr>
          <p:cNvPr id="106" name=""/>
          <p:cNvSpPr/>
          <p:nvPr/>
        </p:nvSpPr>
        <p:spPr>
          <a:xfrm>
            <a:off x="1473120" y="6375240"/>
            <a:ext cx="774720" cy="0"/>
          </a:xfrm>
          <a:prstGeom prst="line">
            <a:avLst/>
          </a:prstGeom>
          <a:ln w="12600">
            <a:solidFill>
              <a:srgbClr val="0000ff"/>
            </a:solidFill>
            <a:miter/>
            <a:tailEnd len="med" type="triangle" w="med"/>
          </a:ln>
        </p:spPr>
        <p:style>
          <a:lnRef idx="0"/>
          <a:fillRef idx="0"/>
          <a:effectRef idx="0"/>
          <a:fontRef idx="minor"/>
        </p:style>
        <p:txBody>
          <a:bodyPr lIns="90000" rIns="90000" tIns="-46800" bIns="-46800" anchor="t">
            <a:noAutofit/>
          </a:bodyPr>
          <a:p>
            <a:endParaRPr b="0" lang="en-IN" sz="2400" strike="noStrike" u="none">
              <a:solidFill>
                <a:srgbClr val="000000"/>
              </a:solidFill>
              <a:effectLst/>
              <a:uFillTx/>
              <a:latin typeface="Times New Roman"/>
            </a:endParaRPr>
          </a:p>
        </p:txBody>
      </p:sp>
      <p:sp>
        <p:nvSpPr>
          <p:cNvPr id="107" name=""/>
          <p:cNvSpPr/>
          <p:nvPr/>
        </p:nvSpPr>
        <p:spPr>
          <a:xfrm flipH="1">
            <a:off x="8039160" y="3975120"/>
            <a:ext cx="774720" cy="0"/>
          </a:xfrm>
          <a:prstGeom prst="line">
            <a:avLst/>
          </a:prstGeom>
          <a:ln w="12600">
            <a:solidFill>
              <a:srgbClr val="0000ff"/>
            </a:solidFill>
            <a:miter/>
            <a:tailEnd len="med" type="triangle" w="med"/>
          </a:ln>
        </p:spPr>
        <p:style>
          <a:lnRef idx="0"/>
          <a:fillRef idx="0"/>
          <a:effectRef idx="0"/>
          <a:fontRef idx="minor"/>
        </p:style>
        <p:txBody>
          <a:bodyPr lIns="90000" rIns="90000" tIns="-46800" bIns="-46800" anchor="t">
            <a:noAutofit/>
          </a:bodyPr>
          <a:p>
            <a:endParaRPr b="0" lang="en-IN" sz="2400" strike="noStrike" u="none">
              <a:solidFill>
                <a:srgbClr val="000000"/>
              </a:solidFill>
              <a:effectLst/>
              <a:uFillTx/>
              <a:latin typeface="Times New Roman"/>
            </a:endParaRPr>
          </a:p>
        </p:txBody>
      </p:sp>
      <p:sp>
        <p:nvSpPr>
          <p:cNvPr id="108" name=""/>
          <p:cNvSpPr/>
          <p:nvPr/>
        </p:nvSpPr>
        <p:spPr>
          <a:xfrm flipH="1">
            <a:off x="7823160" y="3441600"/>
            <a:ext cx="774720" cy="0"/>
          </a:xfrm>
          <a:prstGeom prst="line">
            <a:avLst/>
          </a:prstGeom>
          <a:ln w="12600">
            <a:solidFill>
              <a:srgbClr val="0000ff"/>
            </a:solidFill>
            <a:miter/>
            <a:tailEnd len="med" type="triangle" w="med"/>
          </a:ln>
        </p:spPr>
        <p:style>
          <a:lnRef idx="0"/>
          <a:fillRef idx="0"/>
          <a:effectRef idx="0"/>
          <a:fontRef idx="minor"/>
        </p:style>
        <p:txBody>
          <a:bodyPr lIns="90000" rIns="90000" tIns="-46800" bIns="-46800" anchor="t">
            <a:noAutofit/>
          </a:bodyPr>
          <a:p>
            <a:endParaRPr b="0" lang="en-IN" sz="2400" strike="noStrike" u="none">
              <a:solidFill>
                <a:srgbClr val="000000"/>
              </a:solidFill>
              <a:effectLst/>
              <a:uFillTx/>
              <a:latin typeface="Times New Roman"/>
            </a:endParaRPr>
          </a:p>
        </p:txBody>
      </p:sp>
      <p:sp>
        <p:nvSpPr>
          <p:cNvPr id="109" name=""/>
          <p:cNvSpPr/>
          <p:nvPr/>
        </p:nvSpPr>
        <p:spPr>
          <a:xfrm flipH="1">
            <a:off x="7899480" y="2603520"/>
            <a:ext cx="774720" cy="0"/>
          </a:xfrm>
          <a:prstGeom prst="line">
            <a:avLst/>
          </a:prstGeom>
          <a:ln w="12600">
            <a:solidFill>
              <a:srgbClr val="0000ff"/>
            </a:solidFill>
            <a:miter/>
            <a:tailEnd len="med" type="triangle" w="med"/>
          </a:ln>
        </p:spPr>
        <p:style>
          <a:lnRef idx="0"/>
          <a:fillRef idx="0"/>
          <a:effectRef idx="0"/>
          <a:fontRef idx="minor"/>
        </p:style>
        <p:txBody>
          <a:bodyPr lIns="90000" rIns="90000" tIns="-46800" bIns="-46800" anchor="t">
            <a:noAutofit/>
          </a:bodyPr>
          <a:p>
            <a:endParaRPr b="0" lang="en-IN" sz="2400" strike="noStrike" u="none">
              <a:solidFill>
                <a:srgbClr val="000000"/>
              </a:solidFill>
              <a:effectLst/>
              <a:uFillTx/>
              <a:latin typeface="Times New Roman"/>
            </a:endParaRPr>
          </a:p>
        </p:txBody>
      </p:sp>
      <p:sp>
        <p:nvSpPr>
          <p:cNvPr id="110" name=""/>
          <p:cNvSpPr/>
          <p:nvPr/>
        </p:nvSpPr>
        <p:spPr>
          <a:xfrm flipH="1">
            <a:off x="5892840" y="7340760"/>
            <a:ext cx="774720" cy="0"/>
          </a:xfrm>
          <a:prstGeom prst="line">
            <a:avLst/>
          </a:prstGeom>
          <a:ln w="12600">
            <a:solidFill>
              <a:srgbClr val="0000ff"/>
            </a:solidFill>
            <a:miter/>
            <a:tailEnd len="med" type="triangle" w="med"/>
          </a:ln>
        </p:spPr>
        <p:style>
          <a:lnRef idx="0"/>
          <a:fillRef idx="0"/>
          <a:effectRef idx="0"/>
          <a:fontRef idx="minor"/>
        </p:style>
        <p:txBody>
          <a:bodyPr lIns="90000" rIns="90000" tIns="-46800" bIns="-46800" anchor="t">
            <a:noAutofit/>
          </a:bodyPr>
          <a:p>
            <a:endParaRPr b="0" lang="en-IN" sz="2400" strike="noStrike" u="none">
              <a:solidFill>
                <a:srgbClr val="000000"/>
              </a:solidFill>
              <a:effectLst/>
              <a:uFillTx/>
              <a:latin typeface="Times New Roman"/>
            </a:endParaRPr>
          </a:p>
        </p:txBody>
      </p:sp>
      <p:sp>
        <p:nvSpPr>
          <p:cNvPr id="111" name=""/>
          <p:cNvSpPr/>
          <p:nvPr/>
        </p:nvSpPr>
        <p:spPr>
          <a:xfrm flipH="1" flipV="1">
            <a:off x="5727600" y="3796920"/>
            <a:ext cx="952560" cy="863640"/>
          </a:xfrm>
          <a:prstGeom prst="line">
            <a:avLst/>
          </a:prstGeom>
          <a:ln w="12600">
            <a:solidFill>
              <a:srgbClr val="0000ff"/>
            </a:solidFill>
            <a:miter/>
            <a:tailEnd len="med" type="triangle" w="med"/>
          </a:ln>
        </p:spPr>
        <p:style>
          <a:lnRef idx="0"/>
          <a:fillRef idx="0"/>
          <a:effectRef idx="0"/>
          <a:fontRef idx="minor"/>
        </p:style>
        <p:txBody>
          <a:bodyPr lIns="90000" rIns="90000" tIns="46800" bIns="46800" anchor="t">
            <a:noAutofit/>
          </a:bodyPr>
          <a:p>
            <a:endParaRPr b="0" lang="en-IN" sz="2400" strike="noStrike" u="none">
              <a:solidFill>
                <a:srgbClr val="000000"/>
              </a:solidFill>
              <a:effectLst/>
              <a:uFillTx/>
              <a:latin typeface="Times New Roman"/>
            </a:endParaRPr>
          </a:p>
        </p:txBody>
      </p:sp>
      <p:sp>
        <p:nvSpPr>
          <p:cNvPr id="112" name=""/>
          <p:cNvSpPr/>
          <p:nvPr/>
        </p:nvSpPr>
        <p:spPr>
          <a:xfrm flipH="1">
            <a:off x="6260760" y="1168560"/>
            <a:ext cx="1942920" cy="0"/>
          </a:xfrm>
          <a:prstGeom prst="line">
            <a:avLst/>
          </a:prstGeom>
          <a:ln w="12600">
            <a:solidFill>
              <a:srgbClr val="0000ff"/>
            </a:solidFill>
            <a:miter/>
            <a:tailEnd len="med" type="triangle" w="med"/>
          </a:ln>
        </p:spPr>
        <p:style>
          <a:lnRef idx="0"/>
          <a:fillRef idx="0"/>
          <a:effectRef idx="0"/>
          <a:fontRef idx="minor"/>
        </p:style>
        <p:txBody>
          <a:bodyPr lIns="90000" rIns="90000" tIns="-46800" bIns="-46800" anchor="t">
            <a:noAutofit/>
          </a:bodyPr>
          <a:p>
            <a:endParaRPr b="0" lang="en-IN" sz="2400" strike="noStrike" u="none">
              <a:solidFill>
                <a:srgbClr val="000000"/>
              </a:solidFill>
              <a:effectLst/>
              <a:uFillTx/>
              <a:latin typeface="Times New Roman"/>
            </a:endParaRPr>
          </a:p>
        </p:txBody>
      </p:sp>
      <p:sp>
        <p:nvSpPr>
          <p:cNvPr id="113" name=""/>
          <p:cNvSpPr/>
          <p:nvPr/>
        </p:nvSpPr>
        <p:spPr>
          <a:xfrm flipH="1" flipV="1">
            <a:off x="5486040" y="2819160"/>
            <a:ext cx="1562040" cy="1600200"/>
          </a:xfrm>
          <a:prstGeom prst="line">
            <a:avLst/>
          </a:prstGeom>
          <a:ln w="12600">
            <a:solidFill>
              <a:srgbClr val="0000ff"/>
            </a:solidFill>
            <a:miter/>
            <a:tailEnd len="med" type="triangle" w="med"/>
          </a:ln>
        </p:spPr>
        <p:style>
          <a:lnRef idx="0"/>
          <a:fillRef idx="0"/>
          <a:effectRef idx="0"/>
          <a:fontRef idx="minor"/>
        </p:style>
        <p:txBody>
          <a:bodyPr lIns="90000" rIns="90000" tIns="46800" bIns="46800" anchor="t">
            <a:noAutofit/>
          </a:bodyPr>
          <a:p>
            <a:endParaRPr b="0" lang="en-IN" sz="2400" strike="noStrike" u="none">
              <a:solidFill>
                <a:srgbClr val="000000"/>
              </a:solidFill>
              <a:effectLst/>
              <a:uFillTx/>
              <a:latin typeface="Times New Roman"/>
            </a:endParaRPr>
          </a:p>
        </p:txBody>
      </p:sp>
      <p:sp>
        <p:nvSpPr>
          <p:cNvPr id="114" name=""/>
          <p:cNvSpPr/>
          <p:nvPr/>
        </p:nvSpPr>
        <p:spPr>
          <a:xfrm>
            <a:off x="5926680" y="4797360"/>
            <a:ext cx="2148120" cy="368280"/>
          </a:xfrm>
          <a:prstGeom prst="rect">
            <a:avLst/>
          </a:prstGeom>
          <a:noFill/>
          <a:ln w="0">
            <a:noFill/>
          </a:ln>
        </p:spPr>
        <p:style>
          <a:lnRef idx="0"/>
          <a:fillRef idx="0"/>
          <a:effectRef idx="0"/>
          <a:fontRef idx="minor"/>
        </p:style>
        <p:txBody>
          <a:bodyPr wrap="none" lIns="90000" rIns="90000" tIns="46800" bIns="46800" anchor="t">
            <a:spAutoFit/>
          </a:bodyPr>
          <a:p>
            <a:pPr marL="457200">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0000ff"/>
                </a:solidFill>
                <a:effectLst/>
                <a:uFillTx/>
                <a:latin typeface="Arial Narrow"/>
              </a:rPr>
              <a:t>Staffing changes</a:t>
            </a:r>
            <a:endParaRPr b="0" lang="en-IN" sz="1800" strike="noStrike" u="none">
              <a:solidFill>
                <a:srgbClr val="000000"/>
              </a:solidFill>
              <a:effectLst/>
              <a:uFillTx/>
              <a:latin typeface="Times New Roman"/>
            </a:endParaRPr>
          </a:p>
        </p:txBody>
      </p:sp>
    </p:spTree>
  </p:cSld>
  <p:timing>
    <p:tnLst>
      <p:par>
        <p:cTn id="57" dur="indefinite" restart="never" nodeType="tmRoot">
          <p:childTnLst>
            <p:seq>
              <p:cTn id="58" dur="indefinite" nodeType="mainSeq">
                <p:childTnLst>
                  <p:par>
                    <p:cTn id="59" fill="hold">
                      <p:stCondLst>
                        <p:cond delay="indefinite"/>
                      </p:stCondLst>
                      <p:childTnLst>
                        <p:par>
                          <p:cTn id="60" fill="hold">
                            <p:stCondLst>
                              <p:cond delay="0"/>
                            </p:stCondLst>
                            <p:childTnLst>
                              <p:par>
                                <p:cTn id="61" nodeType="clickEffect" fill="hold" presetClass="entr" presetID="1">
                                  <p:stCondLst>
                                    <p:cond delay="0"/>
                                  </p:stCondLst>
                                  <p:childTnLst>
                                    <p:set>
                                      <p:cBhvr>
                                        <p:cTn id="62" dur="1" fill="hold">
                                          <p:stCondLst>
                                            <p:cond delay="0"/>
                                          </p:stCondLst>
                                        </p:cTn>
                                        <p:tgtEl>
                                          <p:spTgt spid="112"/>
                                        </p:tgtEl>
                                        <p:attrNameLst>
                                          <p:attrName>style.visibility</p:attrName>
                                        </p:attrNameLst>
                                      </p:cBhvr>
                                      <p:to>
                                        <p:strVal val="visible"/>
                                      </p:to>
                                    </p:set>
                                  </p:childTnLst>
                                </p:cTn>
                              </p:par>
                              <p:par>
                                <p:cTn id="63" nodeType="withEffect" fill="hold" presetClass="entr" presetID="1">
                                  <p:stCondLst>
                                    <p:cond delay="0"/>
                                  </p:stCondLst>
                                  <p:childTnLst>
                                    <p:set>
                                      <p:cBhvr>
                                        <p:cTn id="64" dur="1" fill="hold">
                                          <p:stCondLst>
                                            <p:cond delay="0"/>
                                          </p:stCondLst>
                                        </p:cTn>
                                        <p:tgtEl>
                                          <p:spTgt spid="103"/>
                                        </p:tgtEl>
                                        <p:attrNameLst>
                                          <p:attrName>style.visibility</p:attrName>
                                        </p:attrNameLst>
                                      </p:cBhvr>
                                      <p:to>
                                        <p:strVal val="visible"/>
                                      </p:to>
                                    </p:set>
                                  </p:childTnLst>
                                </p:cTn>
                              </p:par>
                              <p:par>
                                <p:cTn id="65" nodeType="withEffect" fill="hold" presetClass="entr" presetID="1">
                                  <p:stCondLst>
                                    <p:cond delay="0"/>
                                  </p:stCondLst>
                                  <p:childTnLst>
                                    <p:set>
                                      <p:cBhvr>
                                        <p:cTn id="66" dur="1" fill="hold">
                                          <p:stCondLst>
                                            <p:cond delay="0"/>
                                          </p:stCondLst>
                                        </p:cTn>
                                        <p:tgtEl>
                                          <p:spTgt spid="104"/>
                                        </p:tgtEl>
                                        <p:attrNameLst>
                                          <p:attrName>style.visibility</p:attrName>
                                        </p:attrNameLst>
                                      </p:cBhvr>
                                      <p:to>
                                        <p:strVal val="visible"/>
                                      </p:to>
                                    </p:set>
                                  </p:childTnLst>
                                </p:cTn>
                              </p:par>
                              <p:par>
                                <p:cTn id="67" nodeType="withEffect" fill="hold" presetClass="entr" presetID="1">
                                  <p:stCondLst>
                                    <p:cond delay="0"/>
                                  </p:stCondLst>
                                  <p:childTnLst>
                                    <p:set>
                                      <p:cBhvr>
                                        <p:cTn id="68" dur="1" fill="hold">
                                          <p:stCondLst>
                                            <p:cond delay="0"/>
                                          </p:stCondLst>
                                        </p:cTn>
                                        <p:tgtEl>
                                          <p:spTgt spid="105"/>
                                        </p:tgtEl>
                                        <p:attrNameLst>
                                          <p:attrName>style.visibility</p:attrName>
                                        </p:attrNameLst>
                                      </p:cBhvr>
                                      <p:to>
                                        <p:strVal val="visible"/>
                                      </p:to>
                                    </p:set>
                                  </p:childTnLst>
                                </p:cTn>
                              </p:par>
                              <p:par>
                                <p:cTn id="69" nodeType="withEffect" fill="hold" presetClass="entr" presetID="1">
                                  <p:stCondLst>
                                    <p:cond delay="0"/>
                                  </p:stCondLst>
                                  <p:childTnLst>
                                    <p:set>
                                      <p:cBhvr>
                                        <p:cTn id="70" dur="1" fill="hold">
                                          <p:stCondLst>
                                            <p:cond delay="0"/>
                                          </p:stCondLst>
                                        </p:cTn>
                                        <p:tgtEl>
                                          <p:spTgt spid="106"/>
                                        </p:tgtEl>
                                        <p:attrNameLst>
                                          <p:attrName>style.visibility</p:attrName>
                                        </p:attrNameLst>
                                      </p:cBhvr>
                                      <p:to>
                                        <p:strVal val="visible"/>
                                      </p:to>
                                    </p:set>
                                  </p:childTnLst>
                                </p:cTn>
                              </p:par>
                              <p:par>
                                <p:cTn id="71" nodeType="withEffect" fill="hold" presetClass="entr" presetID="1">
                                  <p:stCondLst>
                                    <p:cond delay="0"/>
                                  </p:stCondLst>
                                  <p:childTnLst>
                                    <p:set>
                                      <p:cBhvr>
                                        <p:cTn id="72" dur="1" fill="hold">
                                          <p:stCondLst>
                                            <p:cond delay="0"/>
                                          </p:stCondLst>
                                        </p:cTn>
                                        <p:tgtEl>
                                          <p:spTgt spid="110"/>
                                        </p:tgtEl>
                                        <p:attrNameLst>
                                          <p:attrName>style.visibility</p:attrName>
                                        </p:attrNameLst>
                                      </p:cBhvr>
                                      <p:to>
                                        <p:strVal val="visible"/>
                                      </p:to>
                                    </p:set>
                                  </p:childTnLst>
                                </p:cTn>
                              </p:par>
                              <p:par>
                                <p:cTn id="73" nodeType="withEffect" fill="hold" presetClass="entr" presetID="1">
                                  <p:stCondLst>
                                    <p:cond delay="0"/>
                                  </p:stCondLst>
                                  <p:childTnLst>
                                    <p:set>
                                      <p:cBhvr>
                                        <p:cTn id="74" dur="1" fill="hold">
                                          <p:stCondLst>
                                            <p:cond delay="0"/>
                                          </p:stCondLst>
                                        </p:cTn>
                                        <p:tgtEl>
                                          <p:spTgt spid="111"/>
                                        </p:tgtEl>
                                        <p:attrNameLst>
                                          <p:attrName>style.visibility</p:attrName>
                                        </p:attrNameLst>
                                      </p:cBhvr>
                                      <p:to>
                                        <p:strVal val="visible"/>
                                      </p:to>
                                    </p:set>
                                  </p:childTnLst>
                                </p:cTn>
                              </p:par>
                              <p:par>
                                <p:cTn id="75" nodeType="withEffect" fill="hold" presetClass="entr" presetID="1">
                                  <p:stCondLst>
                                    <p:cond delay="0"/>
                                  </p:stCondLst>
                                  <p:childTnLst>
                                    <p:set>
                                      <p:cBhvr>
                                        <p:cTn id="76" dur="1" fill="hold">
                                          <p:stCondLst>
                                            <p:cond delay="0"/>
                                          </p:stCondLst>
                                        </p:cTn>
                                        <p:tgtEl>
                                          <p:spTgt spid="113"/>
                                        </p:tgtEl>
                                        <p:attrNameLst>
                                          <p:attrName>style.visibility</p:attrName>
                                        </p:attrNameLst>
                                      </p:cBhvr>
                                      <p:to>
                                        <p:strVal val="visible"/>
                                      </p:to>
                                    </p:set>
                                  </p:childTnLst>
                                </p:cTn>
                              </p:par>
                              <p:par>
                                <p:cTn id="77" nodeType="withEffect" fill="hold" presetClass="entr" presetID="1">
                                  <p:stCondLst>
                                    <p:cond delay="0"/>
                                  </p:stCondLst>
                                  <p:childTnLst>
                                    <p:set>
                                      <p:cBhvr>
                                        <p:cTn id="78" dur="1" fill="hold">
                                          <p:stCondLst>
                                            <p:cond delay="0"/>
                                          </p:stCondLst>
                                        </p:cTn>
                                        <p:tgtEl>
                                          <p:spTgt spid="107"/>
                                        </p:tgtEl>
                                        <p:attrNameLst>
                                          <p:attrName>style.visibility</p:attrName>
                                        </p:attrNameLst>
                                      </p:cBhvr>
                                      <p:to>
                                        <p:strVal val="visible"/>
                                      </p:to>
                                    </p:set>
                                  </p:childTnLst>
                                </p:cTn>
                              </p:par>
                              <p:par>
                                <p:cTn id="79" nodeType="withEffect" fill="hold" presetClass="entr" presetID="1">
                                  <p:stCondLst>
                                    <p:cond delay="0"/>
                                  </p:stCondLst>
                                  <p:childTnLst>
                                    <p:set>
                                      <p:cBhvr>
                                        <p:cTn id="80" dur="1" fill="hold">
                                          <p:stCondLst>
                                            <p:cond delay="0"/>
                                          </p:stCondLst>
                                        </p:cTn>
                                        <p:tgtEl>
                                          <p:spTgt spid="108"/>
                                        </p:tgtEl>
                                        <p:attrNameLst>
                                          <p:attrName>style.visibility</p:attrName>
                                        </p:attrNameLst>
                                      </p:cBhvr>
                                      <p:to>
                                        <p:strVal val="visible"/>
                                      </p:to>
                                    </p:set>
                                  </p:childTnLst>
                                </p:cTn>
                              </p:par>
                              <p:par>
                                <p:cTn id="81" nodeType="withEffect" fill="hold" presetClass="entr" presetID="1">
                                  <p:stCondLst>
                                    <p:cond delay="0"/>
                                  </p:stCondLst>
                                  <p:childTnLst>
                                    <p:set>
                                      <p:cBhvr>
                                        <p:cTn id="82" dur="1" fill="hold">
                                          <p:stCondLst>
                                            <p:cond delay="0"/>
                                          </p:stCondLst>
                                        </p:cTn>
                                        <p:tgtEl>
                                          <p:spTgt spid="109"/>
                                        </p:tgtEl>
                                        <p:attrNameLst>
                                          <p:attrName>style.visibility</p:attrName>
                                        </p:attrNameLst>
                                      </p:cBhvr>
                                      <p:to>
                                        <p:strVal val="visible"/>
                                      </p:to>
                                    </p:set>
                                  </p:childTnLst>
                                </p:cTn>
                              </p:par>
                              <p:par>
                                <p:cTn id="83" nodeType="withEffect" fill="hold" presetClass="entr" presetID="1">
                                  <p:stCondLst>
                                    <p:cond delay="0"/>
                                  </p:stCondLst>
                                  <p:childTnLst>
                                    <p:set>
                                      <p:cBhvr>
                                        <p:cTn id="84" dur="1" fill="hold">
                                          <p:stCondLst>
                                            <p:cond delay="0"/>
                                          </p:stCondLst>
                                        </p:cTn>
                                        <p:tgtEl>
                                          <p:spTgt spid="11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5" name=""/>
          <p:cNvSpPr/>
          <p:nvPr/>
        </p:nvSpPr>
        <p:spPr>
          <a:xfrm>
            <a:off x="0" y="723960"/>
            <a:ext cx="10226520" cy="301680"/>
          </a:xfrm>
          <a:prstGeom prst="rect">
            <a:avLst/>
          </a:prstGeom>
          <a:solidFill>
            <a:srgbClr val="ffffff"/>
          </a:solidFill>
          <a:ln w="0">
            <a:noFill/>
          </a:ln>
        </p:spPr>
        <p:style>
          <a:lnRef idx="0"/>
          <a:fillRef idx="0"/>
          <a:effectRef idx="0"/>
          <a:fontRef idx="minor"/>
        </p:style>
        <p:txBody>
          <a:bodyPr wrap="none" lIns="90000" rIns="90000" tIns="46800" bIns="46800" anchor="ctr">
            <a:noAutofit/>
          </a:bodyPr>
          <a:p>
            <a:endParaRPr b="0" lang="en-IN" sz="2400" strike="noStrike" u="none">
              <a:solidFill>
                <a:srgbClr val="000000"/>
              </a:solidFill>
              <a:effectLst/>
              <a:uFillTx/>
              <a:latin typeface="Times New Roman"/>
            </a:endParaRPr>
          </a:p>
        </p:txBody>
      </p:sp>
      <p:sp>
        <p:nvSpPr>
          <p:cNvPr id="116" name=""/>
          <p:cNvSpPr/>
          <p:nvPr/>
        </p:nvSpPr>
        <p:spPr>
          <a:xfrm>
            <a:off x="7802640" y="6613560"/>
            <a:ext cx="2027160" cy="662040"/>
          </a:xfrm>
          <a:prstGeom prst="rect">
            <a:avLst/>
          </a:prstGeom>
          <a:solidFill>
            <a:srgbClr val="ffffff"/>
          </a:solidFill>
          <a:ln w="9360">
            <a:solidFill>
              <a:srgbClr val="000000"/>
            </a:solidFill>
            <a:miter/>
          </a:ln>
        </p:spPr>
        <p:style>
          <a:lnRef idx="0"/>
          <a:fillRef idx="0"/>
          <a:effectRef idx="0"/>
          <a:fontRef idx="minor"/>
        </p:style>
        <p:txBody>
          <a:bodyPr lIns="56880" rIns="0" tIns="56520" bIns="56520" anchor="t">
            <a:spAutoFit/>
          </a:bodyPr>
          <a:p>
            <a:pPr marL="212760" indent="-212760">
              <a:lnSpc>
                <a:spcPct val="100000"/>
              </a:lnSpc>
              <a:tabLst>
                <a:tab algn="l" pos="0"/>
                <a:tab algn="l" pos="1073160"/>
                <a:tab algn="l" pos="2146320"/>
                <a:tab algn="l" pos="3219480"/>
                <a:tab algn="l" pos="4292640"/>
                <a:tab algn="l" pos="5365800"/>
                <a:tab algn="l" pos="6438960"/>
                <a:tab algn="l" pos="7512120"/>
                <a:tab algn="l" pos="8585280"/>
                <a:tab algn="l" pos="9658440"/>
                <a:tab algn="l" pos="10731600"/>
              </a:tabLst>
            </a:pPr>
            <a:r>
              <a:rPr b="0" lang="en-US" sz="1200" strike="noStrike" u="none">
                <a:solidFill>
                  <a:srgbClr val="000080"/>
                </a:solidFill>
                <a:effectLst/>
                <a:uFillTx/>
                <a:latin typeface="Wingdings"/>
                <a:ea typeface="Wingdings"/>
              </a:rPr>
              <a:t></a:t>
            </a:r>
            <a:r>
              <a:rPr b="0" lang="en-US" sz="1200" strike="noStrike" u="none">
                <a:solidFill>
                  <a:srgbClr val="003366"/>
                </a:solidFill>
                <a:effectLst/>
                <a:uFillTx/>
                <a:latin typeface="Arial Unicode MS"/>
              </a:rPr>
              <a:t> </a:t>
            </a:r>
            <a:r>
              <a:rPr b="0" lang="en-US" sz="1200" strike="noStrike" u="none">
                <a:solidFill>
                  <a:srgbClr val="003366"/>
                </a:solidFill>
                <a:effectLst/>
                <a:uFillTx/>
                <a:latin typeface="Arial Narrow"/>
              </a:rPr>
              <a:t> </a:t>
            </a:r>
            <a:r>
              <a:rPr b="0" lang="en-US" sz="1200" strike="noStrike" u="none">
                <a:solidFill>
                  <a:srgbClr val="010000"/>
                </a:solidFill>
                <a:effectLst/>
                <a:uFillTx/>
                <a:latin typeface="Arial Narrow"/>
              </a:rPr>
              <a:t>IPA</a:t>
            </a:r>
            <a:endParaRPr b="0" lang="en-IN" sz="1200" strike="noStrike" u="none">
              <a:solidFill>
                <a:srgbClr val="000000"/>
              </a:solidFill>
              <a:effectLst/>
              <a:uFillTx/>
              <a:latin typeface="Times New Roman"/>
            </a:endParaRPr>
          </a:p>
          <a:p>
            <a:pPr marL="212760" indent="-212760">
              <a:lnSpc>
                <a:spcPct val="100000"/>
              </a:lnSpc>
              <a:tabLst>
                <a:tab algn="l" pos="0"/>
                <a:tab algn="l" pos="1073160"/>
                <a:tab algn="l" pos="2146320"/>
                <a:tab algn="l" pos="3219480"/>
                <a:tab algn="l" pos="4292640"/>
                <a:tab algn="l" pos="5365800"/>
                <a:tab algn="l" pos="6438960"/>
                <a:tab algn="l" pos="7512120"/>
                <a:tab algn="l" pos="8585280"/>
                <a:tab algn="l" pos="9658440"/>
                <a:tab algn="l" pos="10731600"/>
              </a:tabLst>
            </a:pPr>
            <a:r>
              <a:rPr b="0" lang="en-US" sz="1200" strike="noStrike" u="none">
                <a:solidFill>
                  <a:srgbClr val="ff0000"/>
                </a:solidFill>
                <a:effectLst/>
                <a:uFillTx/>
                <a:latin typeface="Wingdings"/>
                <a:ea typeface="Wingdings"/>
              </a:rPr>
              <a:t></a:t>
            </a:r>
            <a:r>
              <a:rPr b="0" lang="en-US" sz="1200" strike="noStrike" u="none">
                <a:solidFill>
                  <a:srgbClr val="003366"/>
                </a:solidFill>
                <a:effectLst/>
                <a:uFillTx/>
                <a:latin typeface="Arial Narrow"/>
              </a:rPr>
              <a:t> </a:t>
            </a:r>
            <a:r>
              <a:rPr b="0" lang="en-US" sz="1200" strike="noStrike" u="none">
                <a:solidFill>
                  <a:srgbClr val="010000"/>
                </a:solidFill>
                <a:effectLst/>
                <a:uFillTx/>
                <a:latin typeface="Arial Narrow"/>
              </a:rPr>
              <a:t>Detailee</a:t>
            </a:r>
            <a:endParaRPr b="0" lang="en-IN" sz="1200" strike="noStrike" u="none">
              <a:solidFill>
                <a:srgbClr val="000000"/>
              </a:solidFill>
              <a:effectLst/>
              <a:uFillTx/>
              <a:latin typeface="Times New Roman"/>
            </a:endParaRPr>
          </a:p>
          <a:p>
            <a:pPr marL="212760" indent="-212760">
              <a:lnSpc>
                <a:spcPct val="100000"/>
              </a:lnSpc>
              <a:tabLst>
                <a:tab algn="l" pos="0"/>
                <a:tab algn="l" pos="1073160"/>
                <a:tab algn="l" pos="2146320"/>
                <a:tab algn="l" pos="3219480"/>
                <a:tab algn="l" pos="4292640"/>
                <a:tab algn="l" pos="5365800"/>
                <a:tab algn="l" pos="6438960"/>
                <a:tab algn="l" pos="7512120"/>
                <a:tab algn="l" pos="8585280"/>
                <a:tab algn="l" pos="9658440"/>
                <a:tab algn="l" pos="10731600"/>
              </a:tabLst>
            </a:pPr>
            <a:r>
              <a:rPr b="0" lang="en-US" sz="1200" strike="noStrike" u="none">
                <a:solidFill>
                  <a:srgbClr val="010000"/>
                </a:solidFill>
                <a:effectLst/>
                <a:uFillTx/>
                <a:latin typeface="Arial Narrow"/>
              </a:rPr>
              <a:t> </a:t>
            </a:r>
            <a:r>
              <a:rPr b="0" lang="en-US" sz="1200" strike="noStrike" u="none">
                <a:solidFill>
                  <a:srgbClr val="010000"/>
                </a:solidFill>
                <a:effectLst/>
                <a:uFillTx/>
                <a:latin typeface="Wingdings"/>
                <a:ea typeface="Wingdings"/>
              </a:rPr>
              <a:t></a:t>
            </a:r>
            <a:r>
              <a:rPr b="0" lang="en-US" sz="1200" strike="noStrike" u="none">
                <a:solidFill>
                  <a:srgbClr val="010000"/>
                </a:solidFill>
                <a:effectLst/>
                <a:uFillTx/>
                <a:latin typeface="Arial Narrow"/>
              </a:rPr>
              <a:t> Detailee, 1/4 time, not at HQ</a:t>
            </a:r>
            <a:endParaRPr b="0" lang="en-IN" sz="1200" strike="noStrike" u="none">
              <a:solidFill>
                <a:srgbClr val="000000"/>
              </a:solidFill>
              <a:effectLst/>
              <a:uFillTx/>
              <a:latin typeface="Times New Roman"/>
            </a:endParaRPr>
          </a:p>
        </p:txBody>
      </p:sp>
      <p:sp>
        <p:nvSpPr>
          <p:cNvPr id="117" name=""/>
          <p:cNvSpPr/>
          <p:nvPr/>
        </p:nvSpPr>
        <p:spPr>
          <a:xfrm>
            <a:off x="8744040" y="1711440"/>
            <a:ext cx="34920" cy="2016000"/>
          </a:xfrm>
          <a:prstGeom prst="line">
            <a:avLst/>
          </a:prstGeom>
          <a:ln w="9360">
            <a:solidFill>
              <a:srgbClr val="000000"/>
            </a:solidFill>
            <a:miter/>
          </a:ln>
        </p:spPr>
        <p:style>
          <a:lnRef idx="0"/>
          <a:fillRef idx="0"/>
          <a:effectRef idx="0"/>
          <a:fontRef idx="minor"/>
        </p:style>
        <p:txBody>
          <a:bodyPr lIns="0" rIns="0" tIns="46800" bIns="46800" anchor="ctr">
            <a:noAutofit/>
          </a:bodyPr>
          <a:p>
            <a:endParaRPr b="0" lang="en-IN" sz="2400" strike="noStrike" u="none">
              <a:solidFill>
                <a:srgbClr val="000000"/>
              </a:solidFill>
              <a:effectLst/>
              <a:uFillTx/>
              <a:latin typeface="Times New Roman"/>
            </a:endParaRPr>
          </a:p>
        </p:txBody>
      </p:sp>
      <p:sp>
        <p:nvSpPr>
          <p:cNvPr id="118" name=""/>
          <p:cNvSpPr/>
          <p:nvPr/>
        </p:nvSpPr>
        <p:spPr>
          <a:xfrm>
            <a:off x="7750080" y="1819440"/>
            <a:ext cx="2103480" cy="1042920"/>
          </a:xfrm>
          <a:prstGeom prst="rect">
            <a:avLst/>
          </a:prstGeom>
          <a:solidFill>
            <a:srgbClr val="eaeaea"/>
          </a:solidFill>
          <a:ln w="12600">
            <a:solidFill>
              <a:srgbClr val="000000"/>
            </a:solidFill>
            <a:miter/>
          </a:ln>
          <a:effectLst>
            <a:outerShdw dist="17819" dir="18900000" blurRad="0" rotWithShape="0">
              <a:srgbClr val="ff0000"/>
            </a:outerShdw>
          </a:effectLst>
        </p:spPr>
        <p:style>
          <a:lnRef idx="0"/>
          <a:fillRef idx="0"/>
          <a:effectRef idx="0"/>
          <a:fontRef idx="minor"/>
        </p:style>
        <p:txBody>
          <a:bodyPr wrap="none" lIns="0" rIns="0" tIns="46800" bIns="46800" anchor="ctr">
            <a:noAutofit/>
          </a:bodyPr>
          <a:p>
            <a:endParaRPr b="0" lang="en-IN" sz="2400" strike="noStrike" u="none">
              <a:solidFill>
                <a:srgbClr val="000000"/>
              </a:solidFill>
              <a:effectLst/>
              <a:uFillTx/>
              <a:latin typeface="Times New Roman"/>
            </a:endParaRPr>
          </a:p>
        </p:txBody>
      </p:sp>
      <p:sp>
        <p:nvSpPr>
          <p:cNvPr id="119" name=""/>
          <p:cNvSpPr/>
          <p:nvPr/>
        </p:nvSpPr>
        <p:spPr>
          <a:xfrm>
            <a:off x="6068880" y="1587600"/>
            <a:ext cx="0" cy="509436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IN" sz="2400" strike="noStrike" u="none">
              <a:solidFill>
                <a:srgbClr val="000000"/>
              </a:solidFill>
              <a:effectLst/>
              <a:uFillTx/>
              <a:latin typeface="Times New Roman"/>
            </a:endParaRPr>
          </a:p>
        </p:txBody>
      </p:sp>
      <p:sp>
        <p:nvSpPr>
          <p:cNvPr id="120" name=""/>
          <p:cNvSpPr/>
          <p:nvPr/>
        </p:nvSpPr>
        <p:spPr>
          <a:xfrm>
            <a:off x="2570040" y="1685880"/>
            <a:ext cx="3240" cy="5064120"/>
          </a:xfrm>
          <a:prstGeom prst="line">
            <a:avLst/>
          </a:prstGeom>
          <a:ln w="9360">
            <a:solidFill>
              <a:srgbClr val="000000"/>
            </a:solidFill>
            <a:miter/>
          </a:ln>
        </p:spPr>
        <p:style>
          <a:lnRef idx="0"/>
          <a:fillRef idx="0"/>
          <a:effectRef idx="0"/>
          <a:fontRef idx="minor"/>
        </p:style>
        <p:txBody>
          <a:bodyPr lIns="0" rIns="0" tIns="46800" bIns="46800" anchor="ctr">
            <a:noAutofit/>
          </a:bodyPr>
          <a:p>
            <a:endParaRPr b="0" lang="en-IN" sz="2400" strike="noStrike" u="none">
              <a:solidFill>
                <a:srgbClr val="000000"/>
              </a:solidFill>
              <a:effectLst/>
              <a:uFillTx/>
              <a:latin typeface="Times New Roman"/>
            </a:endParaRPr>
          </a:p>
        </p:txBody>
      </p:sp>
      <p:sp>
        <p:nvSpPr>
          <p:cNvPr id="121" name=""/>
          <p:cNvSpPr/>
          <p:nvPr/>
        </p:nvSpPr>
        <p:spPr>
          <a:xfrm>
            <a:off x="5052960" y="2928960"/>
            <a:ext cx="2049480" cy="814320"/>
          </a:xfrm>
          <a:prstGeom prst="rect">
            <a:avLst/>
          </a:prstGeom>
          <a:solidFill>
            <a:srgbClr val="ccffff"/>
          </a:solidFill>
          <a:ln w="12600">
            <a:solidFill>
              <a:srgbClr val="000000"/>
            </a:solidFill>
            <a:miter/>
          </a:ln>
        </p:spPr>
        <p:style>
          <a:lnRef idx="0"/>
          <a:fillRef idx="0"/>
          <a:effectRef idx="0"/>
          <a:fontRef idx="minor"/>
        </p:style>
        <p:txBody>
          <a:bodyPr wrap="none" lIns="0" rIns="0" tIns="46800" bIns="46800" anchor="ctr">
            <a:noAutofit/>
          </a:bodyPr>
          <a:p>
            <a:endParaRPr b="0" lang="en-IN" sz="2400" strike="noStrike" u="none">
              <a:solidFill>
                <a:srgbClr val="000000"/>
              </a:solidFill>
              <a:effectLst/>
              <a:uFillTx/>
              <a:latin typeface="Times New Roman"/>
            </a:endParaRPr>
          </a:p>
        </p:txBody>
      </p:sp>
      <p:sp>
        <p:nvSpPr>
          <p:cNvPr id="122" name=""/>
          <p:cNvSpPr/>
          <p:nvPr/>
        </p:nvSpPr>
        <p:spPr>
          <a:xfrm>
            <a:off x="5040360" y="3813120"/>
            <a:ext cx="2049480" cy="816120"/>
          </a:xfrm>
          <a:prstGeom prst="rect">
            <a:avLst/>
          </a:prstGeom>
          <a:solidFill>
            <a:srgbClr val="ccffff"/>
          </a:solidFill>
          <a:ln w="12600">
            <a:solidFill>
              <a:srgbClr val="000000"/>
            </a:solidFill>
            <a:miter/>
          </a:ln>
        </p:spPr>
        <p:style>
          <a:lnRef idx="0"/>
          <a:fillRef idx="0"/>
          <a:effectRef idx="0"/>
          <a:fontRef idx="minor"/>
        </p:style>
        <p:txBody>
          <a:bodyPr wrap="none" lIns="0" rIns="0" tIns="46800" bIns="46800" anchor="ctr">
            <a:noAutofit/>
          </a:bodyPr>
          <a:p>
            <a:endParaRPr b="0" lang="en-IN" sz="2400" strike="noStrike" u="none">
              <a:solidFill>
                <a:srgbClr val="000000"/>
              </a:solidFill>
              <a:effectLst/>
              <a:uFillTx/>
              <a:latin typeface="Times New Roman"/>
            </a:endParaRPr>
          </a:p>
        </p:txBody>
      </p:sp>
      <p:sp>
        <p:nvSpPr>
          <p:cNvPr id="123" name=""/>
          <p:cNvSpPr/>
          <p:nvPr/>
        </p:nvSpPr>
        <p:spPr>
          <a:xfrm>
            <a:off x="5052960" y="4811760"/>
            <a:ext cx="2049480" cy="779400"/>
          </a:xfrm>
          <a:prstGeom prst="rect">
            <a:avLst/>
          </a:prstGeom>
          <a:solidFill>
            <a:srgbClr val="ccccff"/>
          </a:solidFill>
          <a:ln w="12600">
            <a:solidFill>
              <a:srgbClr val="000000"/>
            </a:solidFill>
            <a:miter/>
          </a:ln>
        </p:spPr>
        <p:style>
          <a:lnRef idx="0"/>
          <a:fillRef idx="0"/>
          <a:effectRef idx="0"/>
          <a:fontRef idx="minor"/>
        </p:style>
        <p:txBody>
          <a:bodyPr wrap="none" lIns="0" rIns="0" tIns="46800" bIns="46800" anchor="ctr">
            <a:noAutofit/>
          </a:bodyPr>
          <a:p>
            <a:endParaRPr b="0" lang="en-IN" sz="2400" strike="noStrike" u="none">
              <a:solidFill>
                <a:srgbClr val="000000"/>
              </a:solidFill>
              <a:effectLst/>
              <a:uFillTx/>
              <a:latin typeface="Times New Roman"/>
            </a:endParaRPr>
          </a:p>
        </p:txBody>
      </p:sp>
      <p:sp>
        <p:nvSpPr>
          <p:cNvPr id="124" name=""/>
          <p:cNvSpPr/>
          <p:nvPr/>
        </p:nvSpPr>
        <p:spPr>
          <a:xfrm>
            <a:off x="5052960" y="5638680"/>
            <a:ext cx="2049480" cy="816120"/>
          </a:xfrm>
          <a:prstGeom prst="rect">
            <a:avLst/>
          </a:prstGeom>
          <a:solidFill>
            <a:srgbClr val="ccccff"/>
          </a:solidFill>
          <a:ln w="12600">
            <a:solidFill>
              <a:srgbClr val="000000"/>
            </a:solidFill>
            <a:miter/>
          </a:ln>
        </p:spPr>
        <p:style>
          <a:lnRef idx="0"/>
          <a:fillRef idx="0"/>
          <a:effectRef idx="0"/>
          <a:fontRef idx="minor"/>
        </p:style>
        <p:txBody>
          <a:bodyPr wrap="none" lIns="0" rIns="0" tIns="46800" bIns="46800" anchor="ctr">
            <a:noAutofit/>
          </a:bodyPr>
          <a:p>
            <a:endParaRPr b="0" lang="en-IN" sz="2400" strike="noStrike" u="none">
              <a:solidFill>
                <a:srgbClr val="000000"/>
              </a:solidFill>
              <a:effectLst/>
              <a:uFillTx/>
              <a:latin typeface="Times New Roman"/>
            </a:endParaRPr>
          </a:p>
        </p:txBody>
      </p:sp>
      <p:sp>
        <p:nvSpPr>
          <p:cNvPr id="125" name=""/>
          <p:cNvSpPr/>
          <p:nvPr/>
        </p:nvSpPr>
        <p:spPr>
          <a:xfrm>
            <a:off x="5052960" y="6599160"/>
            <a:ext cx="2049480" cy="814320"/>
          </a:xfrm>
          <a:prstGeom prst="rect">
            <a:avLst/>
          </a:prstGeom>
          <a:solidFill>
            <a:srgbClr val="ffcc99"/>
          </a:solidFill>
          <a:ln w="12600">
            <a:solidFill>
              <a:srgbClr val="000000"/>
            </a:solidFill>
            <a:miter/>
          </a:ln>
        </p:spPr>
        <p:style>
          <a:lnRef idx="0"/>
          <a:fillRef idx="0"/>
          <a:effectRef idx="0"/>
          <a:fontRef idx="minor"/>
        </p:style>
        <p:txBody>
          <a:bodyPr wrap="none" lIns="0" rIns="0" tIns="46800" bIns="46800" anchor="ctr">
            <a:noAutofit/>
          </a:bodyPr>
          <a:p>
            <a:endParaRPr b="0" lang="en-IN" sz="2400" strike="noStrike" u="none">
              <a:solidFill>
                <a:srgbClr val="000000"/>
              </a:solidFill>
              <a:effectLst/>
              <a:uFillTx/>
              <a:latin typeface="Times New Roman"/>
            </a:endParaRPr>
          </a:p>
        </p:txBody>
      </p:sp>
      <p:sp>
        <p:nvSpPr>
          <p:cNvPr id="126" name=""/>
          <p:cNvSpPr/>
          <p:nvPr/>
        </p:nvSpPr>
        <p:spPr>
          <a:xfrm>
            <a:off x="1501920" y="2928960"/>
            <a:ext cx="2047680" cy="814320"/>
          </a:xfrm>
          <a:prstGeom prst="rect">
            <a:avLst/>
          </a:prstGeom>
          <a:solidFill>
            <a:srgbClr val="ffff99"/>
          </a:solidFill>
          <a:ln w="12600">
            <a:solidFill>
              <a:srgbClr val="000000"/>
            </a:solidFill>
            <a:miter/>
          </a:ln>
        </p:spPr>
        <p:style>
          <a:lnRef idx="0"/>
          <a:fillRef idx="0"/>
          <a:effectRef idx="0"/>
          <a:fontRef idx="minor"/>
        </p:style>
        <p:txBody>
          <a:bodyPr wrap="none" lIns="0" rIns="0" tIns="46800" bIns="46800" anchor="ctr">
            <a:noAutofit/>
          </a:bodyPr>
          <a:p>
            <a:endParaRPr b="0" lang="en-IN" sz="2400" strike="noStrike" u="none">
              <a:solidFill>
                <a:srgbClr val="000000"/>
              </a:solidFill>
              <a:effectLst/>
              <a:uFillTx/>
              <a:latin typeface="Times New Roman"/>
            </a:endParaRPr>
          </a:p>
        </p:txBody>
      </p:sp>
      <p:sp>
        <p:nvSpPr>
          <p:cNvPr id="127" name=""/>
          <p:cNvSpPr/>
          <p:nvPr/>
        </p:nvSpPr>
        <p:spPr>
          <a:xfrm>
            <a:off x="1501920" y="3844800"/>
            <a:ext cx="2047680" cy="816120"/>
          </a:xfrm>
          <a:prstGeom prst="rect">
            <a:avLst/>
          </a:prstGeom>
          <a:solidFill>
            <a:srgbClr val="ffff99"/>
          </a:solidFill>
          <a:ln w="12600">
            <a:solidFill>
              <a:srgbClr val="000000"/>
            </a:solidFill>
            <a:miter/>
          </a:ln>
        </p:spPr>
        <p:style>
          <a:lnRef idx="0"/>
          <a:fillRef idx="0"/>
          <a:effectRef idx="0"/>
          <a:fontRef idx="minor"/>
        </p:style>
        <p:txBody>
          <a:bodyPr wrap="none" lIns="0" rIns="0" tIns="46800" bIns="46800" anchor="ctr">
            <a:noAutofit/>
          </a:bodyPr>
          <a:p>
            <a:endParaRPr b="0" lang="en-IN" sz="2400" strike="noStrike" u="none">
              <a:solidFill>
                <a:srgbClr val="000000"/>
              </a:solidFill>
              <a:effectLst/>
              <a:uFillTx/>
              <a:latin typeface="Times New Roman"/>
            </a:endParaRPr>
          </a:p>
        </p:txBody>
      </p:sp>
      <p:sp>
        <p:nvSpPr>
          <p:cNvPr id="128" name=""/>
          <p:cNvSpPr/>
          <p:nvPr/>
        </p:nvSpPr>
        <p:spPr>
          <a:xfrm>
            <a:off x="1511280" y="5645160"/>
            <a:ext cx="2049480" cy="849240"/>
          </a:xfrm>
          <a:prstGeom prst="rect">
            <a:avLst/>
          </a:prstGeom>
          <a:solidFill>
            <a:srgbClr val="ff99cc"/>
          </a:solidFill>
          <a:ln w="12600">
            <a:solidFill>
              <a:srgbClr val="000000"/>
            </a:solidFill>
            <a:miter/>
          </a:ln>
        </p:spPr>
        <p:style>
          <a:lnRef idx="0"/>
          <a:fillRef idx="0"/>
          <a:effectRef idx="0"/>
          <a:fontRef idx="minor"/>
        </p:style>
        <p:txBody>
          <a:bodyPr wrap="none" lIns="0" rIns="0" tIns="46800" bIns="46800" anchor="ctr">
            <a:noAutofit/>
          </a:bodyPr>
          <a:p>
            <a:endParaRPr b="0" lang="en-IN" sz="2400" strike="noStrike" u="none">
              <a:solidFill>
                <a:srgbClr val="000000"/>
              </a:solidFill>
              <a:effectLst/>
              <a:uFillTx/>
              <a:latin typeface="Times New Roman"/>
            </a:endParaRPr>
          </a:p>
        </p:txBody>
      </p:sp>
      <p:sp>
        <p:nvSpPr>
          <p:cNvPr id="129" name=""/>
          <p:cNvSpPr/>
          <p:nvPr/>
        </p:nvSpPr>
        <p:spPr>
          <a:xfrm>
            <a:off x="1501920" y="6597720"/>
            <a:ext cx="2047680" cy="815760"/>
          </a:xfrm>
          <a:prstGeom prst="rect">
            <a:avLst/>
          </a:prstGeom>
          <a:solidFill>
            <a:srgbClr val="ffffff"/>
          </a:solidFill>
          <a:ln w="12600">
            <a:solidFill>
              <a:srgbClr val="000000"/>
            </a:solidFill>
            <a:miter/>
          </a:ln>
        </p:spPr>
        <p:style>
          <a:lnRef idx="0"/>
          <a:fillRef idx="0"/>
          <a:effectRef idx="0"/>
          <a:fontRef idx="minor"/>
        </p:style>
        <p:txBody>
          <a:bodyPr wrap="none" lIns="0" rIns="0" tIns="46800" bIns="46800" anchor="ctr">
            <a:noAutofit/>
          </a:bodyPr>
          <a:p>
            <a:endParaRPr b="0" lang="en-IN" sz="2400" strike="noStrike" u="none">
              <a:solidFill>
                <a:srgbClr val="000000"/>
              </a:solidFill>
              <a:effectLst/>
              <a:uFillTx/>
              <a:latin typeface="Times New Roman"/>
            </a:endParaRPr>
          </a:p>
        </p:txBody>
      </p:sp>
      <p:sp>
        <p:nvSpPr>
          <p:cNvPr id="130" name=""/>
          <p:cNvSpPr/>
          <p:nvPr/>
        </p:nvSpPr>
        <p:spPr>
          <a:xfrm>
            <a:off x="7781760" y="2954160"/>
            <a:ext cx="2052720" cy="1511640"/>
          </a:xfrm>
          <a:prstGeom prst="rect">
            <a:avLst/>
          </a:prstGeom>
          <a:solidFill>
            <a:srgbClr val="00ff00"/>
          </a:solidFill>
          <a:ln w="12600">
            <a:solidFill>
              <a:srgbClr val="000000"/>
            </a:solidFill>
            <a:miter/>
          </a:ln>
        </p:spPr>
        <p:style>
          <a:lnRef idx="0"/>
          <a:fillRef idx="0"/>
          <a:effectRef idx="0"/>
          <a:fontRef idx="minor"/>
        </p:style>
        <p:txBody>
          <a:bodyPr wrap="none" lIns="0" rIns="0" tIns="46800" bIns="46800" anchor="ctr">
            <a:noAutofit/>
          </a:bodyPr>
          <a:p>
            <a:endParaRPr b="0" lang="en-IN" sz="2400" strike="noStrike" u="none">
              <a:solidFill>
                <a:srgbClr val="000000"/>
              </a:solidFill>
              <a:effectLst/>
              <a:uFillTx/>
              <a:latin typeface="Times New Roman"/>
            </a:endParaRPr>
          </a:p>
        </p:txBody>
      </p:sp>
      <p:sp>
        <p:nvSpPr>
          <p:cNvPr id="131" name=""/>
          <p:cNvSpPr/>
          <p:nvPr/>
        </p:nvSpPr>
        <p:spPr>
          <a:xfrm>
            <a:off x="4987800" y="1793880"/>
            <a:ext cx="2159280" cy="1042920"/>
          </a:xfrm>
          <a:prstGeom prst="rect">
            <a:avLst/>
          </a:prstGeom>
          <a:solidFill>
            <a:srgbClr val="eaeaea"/>
          </a:solidFill>
          <a:ln w="12600">
            <a:solidFill>
              <a:srgbClr val="000000"/>
            </a:solidFill>
            <a:miter/>
          </a:ln>
          <a:effectLst>
            <a:outerShdw dist="17819" dir="18900000" blurRad="0" rotWithShape="0">
              <a:srgbClr val="ff0000"/>
            </a:outerShdw>
          </a:effectLst>
        </p:spPr>
        <p:style>
          <a:lnRef idx="0"/>
          <a:fillRef idx="0"/>
          <a:effectRef idx="0"/>
          <a:fontRef idx="minor"/>
        </p:style>
        <p:txBody>
          <a:bodyPr wrap="none" lIns="0" rIns="0" tIns="46800" bIns="46800" anchor="ctr">
            <a:noAutofit/>
          </a:bodyPr>
          <a:p>
            <a:endParaRPr b="0" lang="en-IN" sz="2400" strike="noStrike" u="none">
              <a:solidFill>
                <a:srgbClr val="000000"/>
              </a:solidFill>
              <a:effectLst/>
              <a:uFillTx/>
              <a:latin typeface="Times New Roman"/>
            </a:endParaRPr>
          </a:p>
        </p:txBody>
      </p:sp>
      <p:sp>
        <p:nvSpPr>
          <p:cNvPr id="132" name=""/>
          <p:cNvSpPr/>
          <p:nvPr/>
        </p:nvSpPr>
        <p:spPr>
          <a:xfrm>
            <a:off x="1433520" y="1793880"/>
            <a:ext cx="2182680" cy="1042920"/>
          </a:xfrm>
          <a:prstGeom prst="rect">
            <a:avLst/>
          </a:prstGeom>
          <a:solidFill>
            <a:srgbClr val="eaeaea"/>
          </a:solidFill>
          <a:ln w="12600">
            <a:solidFill>
              <a:srgbClr val="000000"/>
            </a:solidFill>
            <a:miter/>
          </a:ln>
          <a:effectLst>
            <a:outerShdw dist="17819" dir="18900000" blurRad="0" rotWithShape="0">
              <a:srgbClr val="ff0000"/>
            </a:outerShdw>
          </a:effectLst>
        </p:spPr>
        <p:style>
          <a:lnRef idx="0"/>
          <a:fillRef idx="0"/>
          <a:effectRef idx="0"/>
          <a:fontRef idx="minor"/>
        </p:style>
        <p:txBody>
          <a:bodyPr wrap="none" lIns="0" rIns="0" tIns="46800" bIns="46800" anchor="ctr">
            <a:noAutofit/>
          </a:bodyPr>
          <a:p>
            <a:endParaRPr b="0" lang="en-IN" sz="2400" strike="noStrike" u="none">
              <a:solidFill>
                <a:srgbClr val="000000"/>
              </a:solidFill>
              <a:effectLst/>
              <a:uFillTx/>
              <a:latin typeface="Times New Roman"/>
            </a:endParaRPr>
          </a:p>
        </p:txBody>
      </p:sp>
      <p:sp>
        <p:nvSpPr>
          <p:cNvPr id="133" name=""/>
          <p:cNvSpPr/>
          <p:nvPr/>
        </p:nvSpPr>
        <p:spPr>
          <a:xfrm>
            <a:off x="5438160" y="2347920"/>
            <a:ext cx="1253880" cy="501480"/>
          </a:xfrm>
          <a:prstGeom prst="rect">
            <a:avLst/>
          </a:prstGeom>
          <a:noFill/>
          <a:ln w="0">
            <a:noFill/>
          </a:ln>
        </p:spPr>
        <p:style>
          <a:lnRef idx="0"/>
          <a:fillRef idx="0"/>
          <a:effectRef idx="0"/>
          <a:fontRef idx="minor"/>
        </p:style>
        <p:txBody>
          <a:bodyPr wrap="none" lIns="0" rIns="0" tIns="52200" bIns="52200" anchor="t">
            <a:spAutoFit/>
          </a:bodyPr>
          <a:p>
            <a:pPr algn="ctr">
              <a:lnSpc>
                <a:spcPct val="100000"/>
              </a:lnSpc>
              <a:tabLst>
                <a:tab algn="l" pos="0"/>
                <a:tab algn="l" pos="1073160"/>
                <a:tab algn="l" pos="2146320"/>
                <a:tab algn="l" pos="3219480"/>
                <a:tab algn="l" pos="4292640"/>
                <a:tab algn="l" pos="5365800"/>
                <a:tab algn="l" pos="6438960"/>
                <a:tab algn="l" pos="7512120"/>
                <a:tab algn="l" pos="8585280"/>
                <a:tab algn="l" pos="9658440"/>
                <a:tab algn="l" pos="10731600"/>
              </a:tabLst>
            </a:pPr>
            <a:r>
              <a:rPr b="1" lang="en-US" sz="1300" strike="noStrike" u="none">
                <a:solidFill>
                  <a:srgbClr val="000000"/>
                </a:solidFill>
                <a:effectLst/>
                <a:uFillTx/>
                <a:latin typeface="Arial Narrow"/>
              </a:rPr>
              <a:t>John Miller</a:t>
            </a:r>
            <a:endParaRPr b="0" lang="en-IN" sz="1300" strike="noStrike" u="none">
              <a:solidFill>
                <a:srgbClr val="000000"/>
              </a:solidFill>
              <a:effectLst/>
              <a:uFillTx/>
              <a:latin typeface="Times New Roman"/>
            </a:endParaRPr>
          </a:p>
          <a:p>
            <a:pPr algn="ctr">
              <a:lnSpc>
                <a:spcPct val="100000"/>
              </a:lnSpc>
              <a:tabLst>
                <a:tab algn="l" pos="0"/>
                <a:tab algn="l" pos="1073160"/>
                <a:tab algn="l" pos="2146320"/>
                <a:tab algn="l" pos="3219480"/>
                <a:tab algn="l" pos="4292640"/>
                <a:tab algn="l" pos="5365800"/>
                <a:tab algn="l" pos="6438960"/>
                <a:tab algn="l" pos="7512120"/>
                <a:tab algn="l" pos="8585280"/>
                <a:tab algn="l" pos="9658440"/>
                <a:tab algn="l" pos="10731600"/>
              </a:tabLst>
            </a:pPr>
            <a:r>
              <a:rPr b="0" lang="en-US" sz="1300" strike="noStrike" u="none">
                <a:solidFill>
                  <a:srgbClr val="000000"/>
                </a:solidFill>
                <a:effectLst/>
                <a:uFillTx/>
                <a:latin typeface="Arial Narrow"/>
              </a:rPr>
              <a:t>Vacant, Prog. Assist.</a:t>
            </a:r>
            <a:endParaRPr b="0" lang="en-IN" sz="1300" strike="noStrike" u="none">
              <a:solidFill>
                <a:srgbClr val="000000"/>
              </a:solidFill>
              <a:effectLst/>
              <a:uFillTx/>
              <a:latin typeface="Times New Roman"/>
            </a:endParaRPr>
          </a:p>
        </p:txBody>
      </p:sp>
      <p:sp>
        <p:nvSpPr>
          <p:cNvPr id="134" name=""/>
          <p:cNvSpPr/>
          <p:nvPr/>
        </p:nvSpPr>
        <p:spPr>
          <a:xfrm>
            <a:off x="4565520" y="1830240"/>
            <a:ext cx="2968920" cy="504360"/>
          </a:xfrm>
          <a:prstGeom prst="rect">
            <a:avLst/>
          </a:prstGeom>
          <a:noFill/>
          <a:ln w="0">
            <a:noFill/>
          </a:ln>
        </p:spPr>
        <p:style>
          <a:lnRef idx="0"/>
          <a:fillRef idx="0"/>
          <a:effectRef idx="0"/>
          <a:fontRef idx="minor"/>
        </p:style>
        <p:txBody>
          <a:bodyPr lIns="0" rIns="0" tIns="53640" bIns="53640" anchor="t">
            <a:spAutoFit/>
          </a:bodyPr>
          <a:p>
            <a:pPr algn="ctr">
              <a:lnSpc>
                <a:spcPct val="100000"/>
              </a:lnSpc>
              <a:tabLst>
                <a:tab algn="l" pos="0"/>
                <a:tab algn="l" pos="1073160"/>
                <a:tab algn="l" pos="2146320"/>
                <a:tab algn="l" pos="3219480"/>
                <a:tab algn="l" pos="4292640"/>
                <a:tab algn="l" pos="5365800"/>
                <a:tab algn="l" pos="6438960"/>
                <a:tab algn="l" pos="7512120"/>
                <a:tab algn="l" pos="8585280"/>
                <a:tab algn="l" pos="9658440"/>
                <a:tab algn="l" pos="10731600"/>
              </a:tabLst>
            </a:pPr>
            <a:r>
              <a:rPr b="1" lang="en-IN" sz="1300" strike="noStrike" u="none">
                <a:solidFill>
                  <a:srgbClr val="0000ff"/>
                </a:solidFill>
                <a:effectLst/>
                <a:uFillTx/>
                <a:latin typeface="Arial Narrow"/>
              </a:rPr>
              <a:t>Molecular Processes </a:t>
            </a:r>
            <a:endParaRPr b="0" lang="en-IN" sz="1300" strike="noStrike" u="none">
              <a:solidFill>
                <a:srgbClr val="000000"/>
              </a:solidFill>
              <a:effectLst/>
              <a:uFillTx/>
              <a:latin typeface="Times New Roman"/>
            </a:endParaRPr>
          </a:p>
          <a:p>
            <a:pPr algn="ctr">
              <a:lnSpc>
                <a:spcPct val="100000"/>
              </a:lnSpc>
              <a:tabLst>
                <a:tab algn="l" pos="0"/>
                <a:tab algn="l" pos="1073160"/>
                <a:tab algn="l" pos="2146320"/>
                <a:tab algn="l" pos="3219480"/>
                <a:tab algn="l" pos="4292640"/>
                <a:tab algn="l" pos="5365800"/>
                <a:tab algn="l" pos="6438960"/>
                <a:tab algn="l" pos="7512120"/>
                <a:tab algn="l" pos="8585280"/>
                <a:tab algn="l" pos="9658440"/>
                <a:tab algn="l" pos="10731600"/>
              </a:tabLst>
            </a:pPr>
            <a:r>
              <a:rPr b="1" lang="en-IN" sz="1300" strike="noStrike" u="none">
                <a:solidFill>
                  <a:srgbClr val="0000ff"/>
                </a:solidFill>
                <a:effectLst/>
                <a:uFillTx/>
                <a:latin typeface="Arial Narrow"/>
              </a:rPr>
              <a:t>and Geosciences</a:t>
            </a:r>
            <a:endParaRPr b="0" lang="en-IN" sz="1300" strike="noStrike" u="none">
              <a:solidFill>
                <a:srgbClr val="000000"/>
              </a:solidFill>
              <a:effectLst/>
              <a:uFillTx/>
              <a:latin typeface="Times New Roman"/>
            </a:endParaRPr>
          </a:p>
        </p:txBody>
      </p:sp>
      <p:sp>
        <p:nvSpPr>
          <p:cNvPr id="135" name=""/>
          <p:cNvSpPr/>
          <p:nvPr/>
        </p:nvSpPr>
        <p:spPr>
          <a:xfrm>
            <a:off x="3335400" y="372960"/>
            <a:ext cx="4683240" cy="1217880"/>
          </a:xfrm>
          <a:prstGeom prst="rect">
            <a:avLst/>
          </a:prstGeom>
          <a:solidFill>
            <a:srgbClr val="eaeaea"/>
          </a:solidFill>
          <a:ln w="12600">
            <a:solidFill>
              <a:srgbClr val="000000"/>
            </a:solidFill>
            <a:miter/>
          </a:ln>
          <a:effectLst>
            <a:outerShdw dist="53966" dir="18900000" blurRad="0" rotWithShape="0">
              <a:srgbClr val="ff0000"/>
            </a:outerShdw>
          </a:effectLst>
        </p:spPr>
        <p:style>
          <a:lnRef idx="0"/>
          <a:fillRef idx="0"/>
          <a:effectRef idx="0"/>
          <a:fontRef idx="minor"/>
        </p:style>
        <p:txBody>
          <a:bodyPr wrap="none" lIns="0" rIns="0" tIns="46800" bIns="46800" anchor="ctr">
            <a:noAutofit/>
          </a:bodyPr>
          <a:p>
            <a:endParaRPr b="0" lang="en-IN" sz="2400" strike="noStrike" u="none">
              <a:solidFill>
                <a:srgbClr val="000000"/>
              </a:solidFill>
              <a:effectLst/>
              <a:uFillTx/>
              <a:latin typeface="Times New Roman"/>
            </a:endParaRPr>
          </a:p>
        </p:txBody>
      </p:sp>
      <p:sp>
        <p:nvSpPr>
          <p:cNvPr id="136" name=""/>
          <p:cNvSpPr/>
          <p:nvPr/>
        </p:nvSpPr>
        <p:spPr>
          <a:xfrm>
            <a:off x="2073240" y="1779480"/>
            <a:ext cx="878040" cy="523800"/>
          </a:xfrm>
          <a:prstGeom prst="rect">
            <a:avLst/>
          </a:prstGeom>
          <a:noFill/>
          <a:ln w="0">
            <a:noFill/>
          </a:ln>
        </p:spPr>
        <p:style>
          <a:lnRef idx="0"/>
          <a:fillRef idx="0"/>
          <a:effectRef idx="0"/>
          <a:fontRef idx="minor"/>
        </p:style>
        <p:txBody>
          <a:bodyPr wrap="none" lIns="0" rIns="0" tIns="53640" bIns="53640" anchor="t">
            <a:spAutoFit/>
          </a:bodyPr>
          <a:p>
            <a:pPr algn="ctr">
              <a:lnSpc>
                <a:spcPct val="105000"/>
              </a:lnSpc>
              <a:tabLst>
                <a:tab algn="l" pos="0"/>
                <a:tab algn="l" pos="1073160"/>
                <a:tab algn="l" pos="2146320"/>
                <a:tab algn="l" pos="3219480"/>
                <a:tab algn="l" pos="4292640"/>
                <a:tab algn="l" pos="5365800"/>
                <a:tab algn="l" pos="6438960"/>
                <a:tab algn="l" pos="7512120"/>
                <a:tab algn="l" pos="8585280"/>
                <a:tab algn="l" pos="9658440"/>
                <a:tab algn="l" pos="10731600"/>
              </a:tabLst>
            </a:pPr>
            <a:r>
              <a:rPr b="1" lang="en-IN" sz="1300" strike="noStrike" u="none">
                <a:solidFill>
                  <a:srgbClr val="0000ff"/>
                </a:solidFill>
                <a:effectLst/>
                <a:uFillTx/>
                <a:latin typeface="Arial Narrow"/>
              </a:rPr>
              <a:t>Fundamental </a:t>
            </a:r>
            <a:endParaRPr b="0" lang="en-IN" sz="1300" strike="noStrike" u="none">
              <a:solidFill>
                <a:srgbClr val="000000"/>
              </a:solidFill>
              <a:effectLst/>
              <a:uFillTx/>
              <a:latin typeface="Times New Roman"/>
            </a:endParaRPr>
          </a:p>
          <a:p>
            <a:pPr algn="ctr">
              <a:lnSpc>
                <a:spcPct val="105000"/>
              </a:lnSpc>
              <a:tabLst>
                <a:tab algn="l" pos="0"/>
                <a:tab algn="l" pos="1073160"/>
                <a:tab algn="l" pos="2146320"/>
                <a:tab algn="l" pos="3219480"/>
                <a:tab algn="l" pos="4292640"/>
                <a:tab algn="l" pos="5365800"/>
                <a:tab algn="l" pos="6438960"/>
                <a:tab algn="l" pos="7512120"/>
                <a:tab algn="l" pos="8585280"/>
                <a:tab algn="l" pos="9658440"/>
                <a:tab algn="l" pos="10731600"/>
              </a:tabLst>
            </a:pPr>
            <a:r>
              <a:rPr b="1" lang="en-IN" sz="1300" strike="noStrike" u="none">
                <a:solidFill>
                  <a:srgbClr val="0000ff"/>
                </a:solidFill>
                <a:effectLst/>
                <a:uFillTx/>
                <a:latin typeface="Arial Narrow"/>
              </a:rPr>
              <a:t>Interactions</a:t>
            </a:r>
            <a:endParaRPr b="0" lang="en-IN" sz="1300" strike="noStrike" u="none">
              <a:solidFill>
                <a:srgbClr val="000000"/>
              </a:solidFill>
              <a:effectLst/>
              <a:uFillTx/>
              <a:latin typeface="Times New Roman"/>
            </a:endParaRPr>
          </a:p>
        </p:txBody>
      </p:sp>
      <p:sp>
        <p:nvSpPr>
          <p:cNvPr id="137" name=""/>
          <p:cNvSpPr/>
          <p:nvPr/>
        </p:nvSpPr>
        <p:spPr>
          <a:xfrm>
            <a:off x="1716480" y="2347920"/>
            <a:ext cx="1605960" cy="501480"/>
          </a:xfrm>
          <a:prstGeom prst="rect">
            <a:avLst/>
          </a:prstGeom>
          <a:noFill/>
          <a:ln w="0">
            <a:noFill/>
          </a:ln>
        </p:spPr>
        <p:style>
          <a:lnRef idx="0"/>
          <a:fillRef idx="0"/>
          <a:effectRef idx="0"/>
          <a:fontRef idx="minor"/>
        </p:style>
        <p:txBody>
          <a:bodyPr wrap="none" lIns="0" rIns="0" tIns="52200" bIns="52200" anchor="t">
            <a:spAutoFit/>
          </a:bodyPr>
          <a:p>
            <a:pPr algn="ctr">
              <a:lnSpc>
                <a:spcPct val="100000"/>
              </a:lnSpc>
              <a:tabLst>
                <a:tab algn="l" pos="0"/>
                <a:tab algn="l" pos="1073160"/>
                <a:tab algn="l" pos="2146320"/>
                <a:tab algn="l" pos="3219480"/>
                <a:tab algn="l" pos="4292640"/>
                <a:tab algn="l" pos="5365800"/>
                <a:tab algn="l" pos="6438960"/>
                <a:tab algn="l" pos="7512120"/>
                <a:tab algn="l" pos="8585280"/>
                <a:tab algn="l" pos="9658440"/>
                <a:tab algn="l" pos="10731600"/>
              </a:tabLst>
            </a:pPr>
            <a:r>
              <a:rPr b="1" lang="en-US" sz="1300" strike="noStrike" u="none">
                <a:solidFill>
                  <a:srgbClr val="000000"/>
                </a:solidFill>
                <a:effectLst/>
                <a:uFillTx/>
                <a:latin typeface="Arial Narrow"/>
              </a:rPr>
              <a:t>Eric Rohlfing</a:t>
            </a:r>
            <a:r>
              <a:rPr b="1" lang="en-US" sz="1300" strike="noStrike" u="none">
                <a:solidFill>
                  <a:srgbClr val="003366"/>
                </a:solidFill>
                <a:effectLst/>
                <a:uFillTx/>
                <a:latin typeface="Arial Narrow"/>
              </a:rPr>
              <a:t> </a:t>
            </a:r>
            <a:endParaRPr b="0" lang="en-IN" sz="1300" strike="noStrike" u="none">
              <a:solidFill>
                <a:srgbClr val="000000"/>
              </a:solidFill>
              <a:effectLst/>
              <a:uFillTx/>
              <a:latin typeface="Times New Roman"/>
            </a:endParaRPr>
          </a:p>
          <a:p>
            <a:pPr algn="ctr">
              <a:lnSpc>
                <a:spcPct val="100000"/>
              </a:lnSpc>
              <a:tabLst>
                <a:tab algn="l" pos="0"/>
                <a:tab algn="l" pos="1073160"/>
                <a:tab algn="l" pos="2146320"/>
                <a:tab algn="l" pos="3219480"/>
                <a:tab algn="l" pos="4292640"/>
                <a:tab algn="l" pos="5365800"/>
                <a:tab algn="l" pos="6438960"/>
                <a:tab algn="l" pos="7512120"/>
                <a:tab algn="l" pos="8585280"/>
                <a:tab algn="l" pos="9658440"/>
                <a:tab algn="l" pos="10731600"/>
              </a:tabLst>
            </a:pPr>
            <a:r>
              <a:rPr b="0" lang="en-US" sz="1300" strike="noStrike" u="none">
                <a:solidFill>
                  <a:srgbClr val="000000"/>
                </a:solidFill>
                <a:effectLst/>
                <a:uFillTx/>
                <a:latin typeface="Arial Narrow"/>
              </a:rPr>
              <a:t>Robin Felder, Prog. Assist.</a:t>
            </a:r>
            <a:endParaRPr b="0" lang="en-IN" sz="1300" strike="noStrike" u="none">
              <a:solidFill>
                <a:srgbClr val="000000"/>
              </a:solidFill>
              <a:effectLst/>
              <a:uFillTx/>
              <a:latin typeface="Times New Roman"/>
            </a:endParaRPr>
          </a:p>
        </p:txBody>
      </p:sp>
      <p:sp>
        <p:nvSpPr>
          <p:cNvPr id="138" name=""/>
          <p:cNvSpPr/>
          <p:nvPr/>
        </p:nvSpPr>
        <p:spPr>
          <a:xfrm>
            <a:off x="8123040" y="1805040"/>
            <a:ext cx="1321200" cy="523800"/>
          </a:xfrm>
          <a:prstGeom prst="rect">
            <a:avLst/>
          </a:prstGeom>
          <a:noFill/>
          <a:ln w="0">
            <a:noFill/>
          </a:ln>
        </p:spPr>
        <p:style>
          <a:lnRef idx="0"/>
          <a:fillRef idx="0"/>
          <a:effectRef idx="0"/>
          <a:fontRef idx="minor"/>
        </p:style>
        <p:txBody>
          <a:bodyPr wrap="none" lIns="0" rIns="0" tIns="53640" bIns="53640" anchor="t">
            <a:spAutoFit/>
          </a:bodyPr>
          <a:p>
            <a:pPr algn="ctr">
              <a:lnSpc>
                <a:spcPct val="105000"/>
              </a:lnSpc>
              <a:tabLst>
                <a:tab algn="l" pos="0"/>
                <a:tab algn="l" pos="1073160"/>
                <a:tab algn="l" pos="2146320"/>
                <a:tab algn="l" pos="3219480"/>
                <a:tab algn="l" pos="4292640"/>
                <a:tab algn="l" pos="5365800"/>
                <a:tab algn="l" pos="6438960"/>
                <a:tab algn="l" pos="7512120"/>
                <a:tab algn="l" pos="8585280"/>
                <a:tab algn="l" pos="9658440"/>
                <a:tab algn="l" pos="10731600"/>
              </a:tabLst>
            </a:pPr>
            <a:r>
              <a:rPr b="1" lang="en-IN" sz="1300" strike="noStrike" u="none">
                <a:solidFill>
                  <a:srgbClr val="0000ff"/>
                </a:solidFill>
                <a:effectLst/>
                <a:uFillTx/>
                <a:latin typeface="Arial Narrow"/>
              </a:rPr>
              <a:t>Energy Biosciences </a:t>
            </a:r>
            <a:br>
              <a:rPr sz="1300"/>
            </a:br>
            <a:r>
              <a:rPr b="1" lang="en-IN" sz="1300" strike="noStrike" u="none">
                <a:solidFill>
                  <a:srgbClr val="0000ff"/>
                </a:solidFill>
                <a:effectLst/>
                <a:uFillTx/>
                <a:latin typeface="Arial Narrow"/>
              </a:rPr>
              <a:t>Research</a:t>
            </a:r>
            <a:endParaRPr b="0" lang="en-IN" sz="1300" strike="noStrike" u="none">
              <a:solidFill>
                <a:srgbClr val="000000"/>
              </a:solidFill>
              <a:effectLst/>
              <a:uFillTx/>
              <a:latin typeface="Times New Roman"/>
            </a:endParaRPr>
          </a:p>
        </p:txBody>
      </p:sp>
      <p:sp>
        <p:nvSpPr>
          <p:cNvPr id="139" name=""/>
          <p:cNvSpPr/>
          <p:nvPr/>
        </p:nvSpPr>
        <p:spPr>
          <a:xfrm>
            <a:off x="7862760" y="2373480"/>
            <a:ext cx="1943640" cy="501480"/>
          </a:xfrm>
          <a:prstGeom prst="rect">
            <a:avLst/>
          </a:prstGeom>
          <a:noFill/>
          <a:ln w="0">
            <a:noFill/>
          </a:ln>
        </p:spPr>
        <p:style>
          <a:lnRef idx="0"/>
          <a:fillRef idx="0"/>
          <a:effectRef idx="0"/>
          <a:fontRef idx="minor"/>
        </p:style>
        <p:txBody>
          <a:bodyPr wrap="none" lIns="0" rIns="0" tIns="52200" bIns="52200" anchor="t">
            <a:spAutoFit/>
          </a:bodyPr>
          <a:p>
            <a:pPr algn="ctr">
              <a:lnSpc>
                <a:spcPct val="100000"/>
              </a:lnSpc>
              <a:tabLst>
                <a:tab algn="l" pos="0"/>
                <a:tab algn="l" pos="1073160"/>
                <a:tab algn="l" pos="2146320"/>
                <a:tab algn="l" pos="3219480"/>
                <a:tab algn="l" pos="4292640"/>
                <a:tab algn="l" pos="5365800"/>
                <a:tab algn="l" pos="6438960"/>
                <a:tab algn="l" pos="7512120"/>
                <a:tab algn="l" pos="8585280"/>
                <a:tab algn="l" pos="9658440"/>
                <a:tab algn="l" pos="10731600"/>
              </a:tabLst>
            </a:pPr>
            <a:r>
              <a:rPr b="1" lang="en-US" sz="1300" strike="noStrike" u="none">
                <a:solidFill>
                  <a:srgbClr val="000000"/>
                </a:solidFill>
                <a:effectLst/>
                <a:uFillTx/>
                <a:latin typeface="Arial Narrow"/>
              </a:rPr>
              <a:t>John Miller, acting</a:t>
            </a:r>
            <a:endParaRPr b="0" lang="en-IN" sz="1300" strike="noStrike" u="none">
              <a:solidFill>
                <a:srgbClr val="000000"/>
              </a:solidFill>
              <a:effectLst/>
              <a:uFillTx/>
              <a:latin typeface="Times New Roman"/>
            </a:endParaRPr>
          </a:p>
          <a:p>
            <a:pPr algn="ctr">
              <a:lnSpc>
                <a:spcPct val="100000"/>
              </a:lnSpc>
              <a:tabLst>
                <a:tab algn="l" pos="0"/>
                <a:tab algn="l" pos="1073160"/>
                <a:tab algn="l" pos="2146320"/>
                <a:tab algn="l" pos="3219480"/>
                <a:tab algn="l" pos="4292640"/>
                <a:tab algn="l" pos="5365800"/>
                <a:tab algn="l" pos="6438960"/>
                <a:tab algn="l" pos="7512120"/>
                <a:tab algn="l" pos="8585280"/>
                <a:tab algn="l" pos="9658440"/>
                <a:tab algn="l" pos="10731600"/>
              </a:tabLst>
            </a:pPr>
            <a:r>
              <a:rPr b="0" lang="en-US" sz="1300" strike="noStrike" u="none">
                <a:solidFill>
                  <a:srgbClr val="000000"/>
                </a:solidFill>
                <a:effectLst/>
                <a:uFillTx/>
                <a:latin typeface="Arial Narrow"/>
              </a:rPr>
              <a:t>Dennis Burmeister, Prog. Assist.</a:t>
            </a:r>
            <a:endParaRPr b="0" lang="en-IN" sz="1300" strike="noStrike" u="none">
              <a:solidFill>
                <a:srgbClr val="000000"/>
              </a:solidFill>
              <a:effectLst/>
              <a:uFillTx/>
              <a:latin typeface="Times New Roman"/>
            </a:endParaRPr>
          </a:p>
        </p:txBody>
      </p:sp>
      <p:sp>
        <p:nvSpPr>
          <p:cNvPr id="140" name=""/>
          <p:cNvSpPr/>
          <p:nvPr/>
        </p:nvSpPr>
        <p:spPr>
          <a:xfrm>
            <a:off x="5137200" y="2873520"/>
            <a:ext cx="1876320" cy="501480"/>
          </a:xfrm>
          <a:prstGeom prst="rect">
            <a:avLst/>
          </a:prstGeom>
          <a:noFill/>
          <a:ln w="0">
            <a:noFill/>
          </a:ln>
        </p:spPr>
        <p:style>
          <a:lnRef idx="0"/>
          <a:fillRef idx="0"/>
          <a:effectRef idx="0"/>
          <a:fontRef idx="minor"/>
        </p:style>
        <p:txBody>
          <a:bodyPr lIns="0" rIns="0" tIns="52200" bIns="52200" anchor="t">
            <a:spAutoFit/>
          </a:bodyPr>
          <a:p>
            <a:pPr algn="ctr">
              <a:lnSpc>
                <a:spcPct val="100000"/>
              </a:lnSpc>
              <a:tabLst>
                <a:tab algn="l" pos="0"/>
                <a:tab algn="l" pos="1073160"/>
                <a:tab algn="l" pos="2146320"/>
                <a:tab algn="l" pos="3219480"/>
                <a:tab algn="l" pos="4292640"/>
                <a:tab algn="l" pos="5365800"/>
                <a:tab algn="l" pos="6438960"/>
                <a:tab algn="l" pos="7512120"/>
                <a:tab algn="l" pos="8585280"/>
                <a:tab algn="l" pos="9658440"/>
                <a:tab algn="l" pos="10731600"/>
              </a:tabLst>
            </a:pPr>
            <a:r>
              <a:rPr b="1" lang="en-IN" sz="1300" strike="noStrike" u="none">
                <a:solidFill>
                  <a:srgbClr val="0000ff"/>
                </a:solidFill>
                <a:effectLst/>
                <a:uFillTx/>
                <a:latin typeface="Arial Narrow"/>
              </a:rPr>
              <a:t>Catalysis and Chemical </a:t>
            </a:r>
            <a:endParaRPr b="0" lang="en-IN" sz="1300" strike="noStrike" u="none">
              <a:solidFill>
                <a:srgbClr val="000000"/>
              </a:solidFill>
              <a:effectLst/>
              <a:uFillTx/>
              <a:latin typeface="Times New Roman"/>
            </a:endParaRPr>
          </a:p>
          <a:p>
            <a:pPr algn="ctr">
              <a:lnSpc>
                <a:spcPct val="100000"/>
              </a:lnSpc>
              <a:tabLst>
                <a:tab algn="l" pos="0"/>
                <a:tab algn="l" pos="1073160"/>
                <a:tab algn="l" pos="2146320"/>
                <a:tab algn="l" pos="3219480"/>
                <a:tab algn="l" pos="4292640"/>
                <a:tab algn="l" pos="5365800"/>
                <a:tab algn="l" pos="6438960"/>
                <a:tab algn="l" pos="7512120"/>
                <a:tab algn="l" pos="8585280"/>
                <a:tab algn="l" pos="9658440"/>
                <a:tab algn="l" pos="10731600"/>
              </a:tabLst>
            </a:pPr>
            <a:r>
              <a:rPr b="1" lang="en-IN" sz="1300" strike="noStrike" u="none">
                <a:solidFill>
                  <a:srgbClr val="0000ff"/>
                </a:solidFill>
                <a:effectLst/>
                <a:uFillTx/>
                <a:latin typeface="Arial Narrow"/>
              </a:rPr>
              <a:t>Transformation</a:t>
            </a:r>
            <a:endParaRPr b="0" lang="en-IN" sz="1300" strike="noStrike" u="none">
              <a:solidFill>
                <a:srgbClr val="000000"/>
              </a:solidFill>
              <a:effectLst/>
              <a:uFillTx/>
              <a:latin typeface="Times New Roman"/>
            </a:endParaRPr>
          </a:p>
        </p:txBody>
      </p:sp>
      <p:sp>
        <p:nvSpPr>
          <p:cNvPr id="141" name=""/>
          <p:cNvSpPr/>
          <p:nvPr/>
        </p:nvSpPr>
        <p:spPr>
          <a:xfrm>
            <a:off x="5256360" y="4842000"/>
            <a:ext cx="1643400" cy="303120"/>
          </a:xfrm>
          <a:prstGeom prst="rect">
            <a:avLst/>
          </a:prstGeom>
          <a:noFill/>
          <a:ln w="0">
            <a:noFill/>
          </a:ln>
        </p:spPr>
        <p:style>
          <a:lnRef idx="0"/>
          <a:fillRef idx="0"/>
          <a:effectRef idx="0"/>
          <a:fontRef idx="minor"/>
        </p:style>
        <p:txBody>
          <a:bodyPr wrap="none" lIns="0" rIns="0" tIns="52200" bIns="52200" anchor="t">
            <a:spAutoFit/>
          </a:bodyPr>
          <a:p>
            <a:pPr algn="ctr">
              <a:lnSpc>
                <a:spcPct val="100000"/>
              </a:lnSpc>
              <a:tabLst>
                <a:tab algn="l" pos="0"/>
                <a:tab algn="l" pos="1073160"/>
                <a:tab algn="l" pos="2146320"/>
                <a:tab algn="l" pos="3219480"/>
                <a:tab algn="l" pos="4292640"/>
                <a:tab algn="l" pos="5365800"/>
                <a:tab algn="l" pos="6438960"/>
                <a:tab algn="l" pos="7512120"/>
                <a:tab algn="l" pos="8585280"/>
                <a:tab algn="l" pos="9658440"/>
                <a:tab algn="l" pos="10731600"/>
              </a:tabLst>
            </a:pPr>
            <a:r>
              <a:rPr b="1" lang="en-IN" sz="1300" strike="noStrike" u="none">
                <a:solidFill>
                  <a:srgbClr val="0000ff"/>
                </a:solidFill>
                <a:effectLst/>
                <a:uFillTx/>
                <a:latin typeface="Arial Narrow"/>
              </a:rPr>
              <a:t>Separations and Analysis</a:t>
            </a:r>
            <a:endParaRPr b="0" lang="en-IN" sz="1300" strike="noStrike" u="none">
              <a:solidFill>
                <a:srgbClr val="000000"/>
              </a:solidFill>
              <a:effectLst/>
              <a:uFillTx/>
              <a:latin typeface="Times New Roman"/>
            </a:endParaRPr>
          </a:p>
        </p:txBody>
      </p:sp>
      <p:sp>
        <p:nvSpPr>
          <p:cNvPr id="142" name=""/>
          <p:cNvSpPr/>
          <p:nvPr/>
        </p:nvSpPr>
        <p:spPr>
          <a:xfrm>
            <a:off x="5355720" y="3851280"/>
            <a:ext cx="1418400" cy="501480"/>
          </a:xfrm>
          <a:prstGeom prst="rect">
            <a:avLst/>
          </a:prstGeom>
          <a:noFill/>
          <a:ln w="0">
            <a:noFill/>
          </a:ln>
        </p:spPr>
        <p:style>
          <a:lnRef idx="0"/>
          <a:fillRef idx="0"/>
          <a:effectRef idx="0"/>
          <a:fontRef idx="minor"/>
        </p:style>
        <p:txBody>
          <a:bodyPr wrap="none" lIns="0" rIns="0" tIns="52200" bIns="52200" anchor="t">
            <a:spAutoFit/>
          </a:bodyPr>
          <a:p>
            <a:pPr algn="ctr">
              <a:lnSpc>
                <a:spcPct val="100000"/>
              </a:lnSpc>
              <a:tabLst>
                <a:tab algn="l" pos="0"/>
                <a:tab algn="l" pos="1073160"/>
                <a:tab algn="l" pos="2146320"/>
                <a:tab algn="l" pos="3219480"/>
                <a:tab algn="l" pos="4292640"/>
                <a:tab algn="l" pos="5365800"/>
                <a:tab algn="l" pos="6438960"/>
                <a:tab algn="l" pos="7512120"/>
                <a:tab algn="l" pos="8585280"/>
                <a:tab algn="l" pos="9658440"/>
                <a:tab algn="l" pos="10731600"/>
              </a:tabLst>
            </a:pPr>
            <a:r>
              <a:rPr b="1" lang="en-IN" sz="1300" strike="noStrike" u="none">
                <a:solidFill>
                  <a:srgbClr val="0000ff"/>
                </a:solidFill>
                <a:effectLst/>
                <a:uFillTx/>
                <a:latin typeface="Arial Narrow"/>
              </a:rPr>
              <a:t>Chemical Energy and</a:t>
            </a:r>
            <a:endParaRPr b="0" lang="en-IN" sz="1300" strike="noStrike" u="none">
              <a:solidFill>
                <a:srgbClr val="000000"/>
              </a:solidFill>
              <a:effectLst/>
              <a:uFillTx/>
              <a:latin typeface="Times New Roman"/>
            </a:endParaRPr>
          </a:p>
          <a:p>
            <a:pPr algn="ctr">
              <a:lnSpc>
                <a:spcPct val="100000"/>
              </a:lnSpc>
              <a:tabLst>
                <a:tab algn="l" pos="0"/>
                <a:tab algn="l" pos="1073160"/>
                <a:tab algn="l" pos="2146320"/>
                <a:tab algn="l" pos="3219480"/>
                <a:tab algn="l" pos="4292640"/>
                <a:tab algn="l" pos="5365800"/>
                <a:tab algn="l" pos="6438960"/>
                <a:tab algn="l" pos="7512120"/>
                <a:tab algn="l" pos="8585280"/>
                <a:tab algn="l" pos="9658440"/>
                <a:tab algn="l" pos="10731600"/>
              </a:tabLst>
            </a:pPr>
            <a:r>
              <a:rPr b="1" lang="en-IN" sz="1300" strike="noStrike" u="none">
                <a:solidFill>
                  <a:srgbClr val="0000ff"/>
                </a:solidFill>
                <a:effectLst/>
                <a:uFillTx/>
                <a:latin typeface="Arial Narrow"/>
              </a:rPr>
              <a:t>Chemical Engineering</a:t>
            </a:r>
            <a:endParaRPr b="0" lang="en-IN" sz="1300" strike="noStrike" u="none">
              <a:solidFill>
                <a:srgbClr val="000000"/>
              </a:solidFill>
              <a:effectLst/>
              <a:uFillTx/>
              <a:latin typeface="Times New Roman"/>
            </a:endParaRPr>
          </a:p>
        </p:txBody>
      </p:sp>
      <p:sp>
        <p:nvSpPr>
          <p:cNvPr id="143" name=""/>
          <p:cNvSpPr/>
          <p:nvPr/>
        </p:nvSpPr>
        <p:spPr>
          <a:xfrm>
            <a:off x="5162400" y="5678640"/>
            <a:ext cx="1827360" cy="303120"/>
          </a:xfrm>
          <a:prstGeom prst="rect">
            <a:avLst/>
          </a:prstGeom>
          <a:noFill/>
          <a:ln w="0">
            <a:noFill/>
          </a:ln>
        </p:spPr>
        <p:style>
          <a:lnRef idx="0"/>
          <a:fillRef idx="0"/>
          <a:effectRef idx="0"/>
          <a:fontRef idx="minor"/>
        </p:style>
        <p:txBody>
          <a:bodyPr lIns="0" rIns="0" tIns="52200" bIns="52200" anchor="t">
            <a:spAutoFit/>
          </a:bodyPr>
          <a:p>
            <a:pPr algn="ctr">
              <a:lnSpc>
                <a:spcPct val="100000"/>
              </a:lnSpc>
              <a:tabLst>
                <a:tab algn="l" pos="0"/>
                <a:tab algn="l" pos="1073160"/>
                <a:tab algn="l" pos="2146320"/>
                <a:tab algn="l" pos="3219480"/>
                <a:tab algn="l" pos="4292640"/>
                <a:tab algn="l" pos="5365800"/>
                <a:tab algn="l" pos="6438960"/>
                <a:tab algn="l" pos="7512120"/>
                <a:tab algn="l" pos="8585280"/>
                <a:tab algn="l" pos="9658440"/>
                <a:tab algn="l" pos="10731600"/>
              </a:tabLst>
            </a:pPr>
            <a:r>
              <a:rPr b="1" lang="en-IN" sz="1300" strike="noStrike" u="none">
                <a:solidFill>
                  <a:srgbClr val="0000ff"/>
                </a:solidFill>
                <a:effectLst/>
                <a:uFillTx/>
                <a:latin typeface="Arial Narrow"/>
              </a:rPr>
              <a:t>Heavy Element Chemistry</a:t>
            </a:r>
            <a:endParaRPr b="0" lang="en-IN" sz="1300" strike="noStrike" u="none">
              <a:solidFill>
                <a:srgbClr val="000000"/>
              </a:solidFill>
              <a:effectLst/>
              <a:uFillTx/>
              <a:latin typeface="Times New Roman"/>
            </a:endParaRPr>
          </a:p>
        </p:txBody>
      </p:sp>
      <p:sp>
        <p:nvSpPr>
          <p:cNvPr id="144" name=""/>
          <p:cNvSpPr/>
          <p:nvPr/>
        </p:nvSpPr>
        <p:spPr>
          <a:xfrm>
            <a:off x="5690520" y="4299120"/>
            <a:ext cx="750960" cy="303120"/>
          </a:xfrm>
          <a:prstGeom prst="rect">
            <a:avLst/>
          </a:prstGeom>
          <a:noFill/>
          <a:ln w="0">
            <a:noFill/>
          </a:ln>
        </p:spPr>
        <p:style>
          <a:lnRef idx="0"/>
          <a:fillRef idx="0"/>
          <a:effectRef idx="0"/>
          <a:fontRef idx="minor"/>
        </p:style>
        <p:txBody>
          <a:bodyPr wrap="none" lIns="0" rIns="0" tIns="52200" bIns="52200" anchor="t">
            <a:spAutoFit/>
          </a:bodyPr>
          <a:p>
            <a:pPr algn="ctr">
              <a:lnSpc>
                <a:spcPct val="100000"/>
              </a:lnSpc>
              <a:tabLst>
                <a:tab algn="l" pos="0"/>
                <a:tab algn="l" pos="1073160"/>
                <a:tab algn="l" pos="2146320"/>
                <a:tab algn="l" pos="3219480"/>
                <a:tab algn="l" pos="4292640"/>
                <a:tab algn="l" pos="5365800"/>
                <a:tab algn="l" pos="6438960"/>
                <a:tab algn="l" pos="7512120"/>
                <a:tab algn="l" pos="8585280"/>
                <a:tab algn="l" pos="9658440"/>
                <a:tab algn="l" pos="10731600"/>
              </a:tabLst>
            </a:pPr>
            <a:r>
              <a:rPr b="0" lang="en-IN" sz="1300" strike="noStrike" u="none">
                <a:solidFill>
                  <a:srgbClr val="000000"/>
                </a:solidFill>
                <a:effectLst/>
                <a:uFillTx/>
                <a:latin typeface="Arial Narrow"/>
              </a:rPr>
              <a:t>Paul Maupin</a:t>
            </a:r>
            <a:endParaRPr b="0" lang="en-IN" sz="1300" strike="noStrike" u="none">
              <a:solidFill>
                <a:srgbClr val="000000"/>
              </a:solidFill>
              <a:effectLst/>
              <a:uFillTx/>
              <a:latin typeface="Times New Roman"/>
            </a:endParaRPr>
          </a:p>
        </p:txBody>
      </p:sp>
      <p:sp>
        <p:nvSpPr>
          <p:cNvPr id="145" name=""/>
          <p:cNvSpPr/>
          <p:nvPr/>
        </p:nvSpPr>
        <p:spPr>
          <a:xfrm>
            <a:off x="5608800" y="5121360"/>
            <a:ext cx="937800" cy="461520"/>
          </a:xfrm>
          <a:prstGeom prst="rect">
            <a:avLst/>
          </a:prstGeom>
          <a:noFill/>
          <a:ln w="0">
            <a:noFill/>
          </a:ln>
        </p:spPr>
        <p:style>
          <a:lnRef idx="0"/>
          <a:fillRef idx="0"/>
          <a:effectRef idx="0"/>
          <a:fontRef idx="minor"/>
        </p:style>
        <p:txBody>
          <a:bodyPr wrap="none" lIns="0" rIns="0" tIns="52200" bIns="52200" anchor="t">
            <a:spAutoFit/>
          </a:bodyPr>
          <a:p>
            <a:pPr algn="ctr">
              <a:lnSpc>
                <a:spcPct val="90000"/>
              </a:lnSpc>
              <a:tabLst>
                <a:tab algn="l" pos="0"/>
                <a:tab algn="l" pos="1073160"/>
                <a:tab algn="l" pos="2146320"/>
                <a:tab algn="l" pos="3219480"/>
                <a:tab algn="l" pos="4292640"/>
                <a:tab algn="l" pos="5365800"/>
                <a:tab algn="l" pos="6438960"/>
                <a:tab algn="l" pos="7512120"/>
                <a:tab algn="l" pos="8585280"/>
                <a:tab algn="l" pos="9658440"/>
                <a:tab algn="l" pos="10731600"/>
              </a:tabLst>
            </a:pPr>
            <a:r>
              <a:rPr b="0" lang="en-IN" sz="1300" strike="noStrike" u="none">
                <a:solidFill>
                  <a:srgbClr val="000000"/>
                </a:solidFill>
                <a:effectLst/>
                <a:uFillTx/>
                <a:latin typeface="Arial Narrow"/>
              </a:rPr>
              <a:t>William Millman</a:t>
            </a:r>
            <a:endParaRPr b="0" lang="en-IN" sz="1300" strike="noStrike" u="none">
              <a:solidFill>
                <a:srgbClr val="000000"/>
              </a:solidFill>
              <a:effectLst/>
              <a:uFillTx/>
              <a:latin typeface="Times New Roman"/>
            </a:endParaRPr>
          </a:p>
          <a:p>
            <a:pPr algn="ctr">
              <a:lnSpc>
                <a:spcPct val="90000"/>
              </a:lnSpc>
              <a:tabLst>
                <a:tab algn="l" pos="0"/>
                <a:tab algn="l" pos="1073160"/>
                <a:tab algn="l" pos="2146320"/>
                <a:tab algn="l" pos="3219480"/>
                <a:tab algn="l" pos="4292640"/>
                <a:tab algn="l" pos="5365800"/>
                <a:tab algn="l" pos="6438960"/>
                <a:tab algn="l" pos="7512120"/>
                <a:tab algn="l" pos="8585280"/>
                <a:tab algn="l" pos="9658440"/>
                <a:tab algn="l" pos="10731600"/>
              </a:tabLst>
            </a:pPr>
            <a:endParaRPr b="0" lang="en-IN" sz="1300" strike="noStrike" u="none">
              <a:solidFill>
                <a:srgbClr val="000000"/>
              </a:solidFill>
              <a:effectLst/>
              <a:uFillTx/>
              <a:latin typeface="Times New Roman"/>
            </a:endParaRPr>
          </a:p>
        </p:txBody>
      </p:sp>
      <p:sp>
        <p:nvSpPr>
          <p:cNvPr id="146" name=""/>
          <p:cNvSpPr/>
          <p:nvPr/>
        </p:nvSpPr>
        <p:spPr>
          <a:xfrm>
            <a:off x="5254560" y="5934240"/>
            <a:ext cx="1646280" cy="461880"/>
          </a:xfrm>
          <a:prstGeom prst="rect">
            <a:avLst/>
          </a:prstGeom>
          <a:noFill/>
          <a:ln w="0">
            <a:noFill/>
          </a:ln>
        </p:spPr>
        <p:style>
          <a:lnRef idx="0"/>
          <a:fillRef idx="0"/>
          <a:effectRef idx="0"/>
          <a:fontRef idx="minor"/>
        </p:style>
        <p:txBody>
          <a:bodyPr wrap="none" lIns="0" rIns="0" tIns="52200" bIns="52200" anchor="t">
            <a:spAutoFit/>
          </a:bodyPr>
          <a:p>
            <a:pPr algn="ctr">
              <a:lnSpc>
                <a:spcPct val="90000"/>
              </a:lnSpc>
              <a:tabLst>
                <a:tab algn="l" pos="0"/>
                <a:tab algn="l" pos="1073160"/>
                <a:tab algn="l" pos="2146320"/>
                <a:tab algn="l" pos="3219480"/>
                <a:tab algn="l" pos="4292640"/>
                <a:tab algn="l" pos="5365800"/>
                <a:tab algn="l" pos="6438960"/>
                <a:tab algn="l" pos="7512120"/>
                <a:tab algn="l" pos="8585280"/>
                <a:tab algn="l" pos="9658440"/>
                <a:tab algn="l" pos="10731600"/>
              </a:tabLst>
            </a:pPr>
            <a:r>
              <a:rPr b="0" lang="en-IN" sz="1300" strike="noStrike" u="none">
                <a:solidFill>
                  <a:srgbClr val="000000"/>
                </a:solidFill>
                <a:effectLst/>
                <a:uFillTx/>
                <a:latin typeface="Arial Narrow"/>
              </a:rPr>
              <a:t>Lester Morss  </a:t>
            </a:r>
            <a:endParaRPr b="0" lang="en-IN" sz="1300" strike="noStrike" u="none">
              <a:solidFill>
                <a:srgbClr val="000000"/>
              </a:solidFill>
              <a:effectLst/>
              <a:uFillTx/>
              <a:latin typeface="Times New Roman"/>
            </a:endParaRPr>
          </a:p>
          <a:p>
            <a:pPr algn="ctr">
              <a:lnSpc>
                <a:spcPct val="90000"/>
              </a:lnSpc>
              <a:tabLst>
                <a:tab algn="l" pos="0"/>
                <a:tab algn="l" pos="1073160"/>
                <a:tab algn="l" pos="2146320"/>
                <a:tab algn="l" pos="3219480"/>
                <a:tab algn="l" pos="4292640"/>
                <a:tab algn="l" pos="5365800"/>
                <a:tab algn="l" pos="6438960"/>
                <a:tab algn="l" pos="7512120"/>
                <a:tab algn="l" pos="8585280"/>
                <a:tab algn="l" pos="9658440"/>
                <a:tab algn="l" pos="10731600"/>
              </a:tabLst>
            </a:pPr>
            <a:r>
              <a:rPr b="0" lang="en-IN" sz="1300" strike="noStrike" u="none">
                <a:solidFill>
                  <a:srgbClr val="000000"/>
                </a:solidFill>
                <a:effectLst/>
                <a:uFillTx/>
                <a:latin typeface="Wingdings"/>
                <a:ea typeface="Wingdings"/>
              </a:rPr>
              <a:t></a:t>
            </a:r>
            <a:r>
              <a:rPr b="0" lang="en-IN" sz="1300" strike="noStrike" u="none">
                <a:solidFill>
                  <a:srgbClr val="000000"/>
                </a:solidFill>
                <a:effectLst/>
                <a:uFillTx/>
                <a:latin typeface="Arial Narrow"/>
              </a:rPr>
              <a:t> Norman Edelstein, LBNL</a:t>
            </a:r>
            <a:endParaRPr b="0" lang="en-IN" sz="1300" strike="noStrike" u="none">
              <a:solidFill>
                <a:srgbClr val="000000"/>
              </a:solidFill>
              <a:effectLst/>
              <a:uFillTx/>
              <a:latin typeface="Times New Roman"/>
            </a:endParaRPr>
          </a:p>
        </p:txBody>
      </p:sp>
      <p:sp>
        <p:nvSpPr>
          <p:cNvPr id="147" name=""/>
          <p:cNvSpPr/>
          <p:nvPr/>
        </p:nvSpPr>
        <p:spPr>
          <a:xfrm>
            <a:off x="5478120" y="6915240"/>
            <a:ext cx="1200960" cy="283320"/>
          </a:xfrm>
          <a:prstGeom prst="rect">
            <a:avLst/>
          </a:prstGeom>
          <a:noFill/>
          <a:ln w="0">
            <a:noFill/>
          </a:ln>
        </p:spPr>
        <p:style>
          <a:lnRef idx="0"/>
          <a:fillRef idx="0"/>
          <a:effectRef idx="0"/>
          <a:fontRef idx="minor"/>
        </p:style>
        <p:txBody>
          <a:bodyPr wrap="none" lIns="0" rIns="0" tIns="52200" bIns="52200" anchor="t">
            <a:spAutoFit/>
          </a:bodyPr>
          <a:p>
            <a:pPr algn="ctr">
              <a:lnSpc>
                <a:spcPct val="90000"/>
              </a:lnSpc>
              <a:tabLst>
                <a:tab algn="l" pos="0"/>
                <a:tab algn="l" pos="1073160"/>
                <a:tab algn="l" pos="2146320"/>
                <a:tab algn="l" pos="3219480"/>
                <a:tab algn="l" pos="4292640"/>
                <a:tab algn="l" pos="5365800"/>
                <a:tab algn="l" pos="6438960"/>
                <a:tab algn="l" pos="7512120"/>
                <a:tab algn="l" pos="8585280"/>
                <a:tab algn="l" pos="9658440"/>
                <a:tab algn="l" pos="10731600"/>
              </a:tabLst>
            </a:pPr>
            <a:r>
              <a:rPr b="0" lang="en-IN" sz="1300" strike="noStrike" u="none">
                <a:solidFill>
                  <a:srgbClr val="003366"/>
                </a:solidFill>
                <a:effectLst/>
                <a:uFillTx/>
                <a:latin typeface="Arial Narrow"/>
              </a:rPr>
              <a:t>Nicholas Woodward</a:t>
            </a:r>
            <a:endParaRPr b="0" lang="en-IN" sz="1300" strike="noStrike" u="none">
              <a:solidFill>
                <a:srgbClr val="000000"/>
              </a:solidFill>
              <a:effectLst/>
              <a:uFillTx/>
              <a:latin typeface="Times New Roman"/>
            </a:endParaRPr>
          </a:p>
        </p:txBody>
      </p:sp>
      <p:sp>
        <p:nvSpPr>
          <p:cNvPr id="148" name=""/>
          <p:cNvSpPr/>
          <p:nvPr/>
        </p:nvSpPr>
        <p:spPr>
          <a:xfrm>
            <a:off x="4675320" y="6615000"/>
            <a:ext cx="2739960" cy="303120"/>
          </a:xfrm>
          <a:prstGeom prst="rect">
            <a:avLst/>
          </a:prstGeom>
          <a:noFill/>
          <a:ln w="0">
            <a:noFill/>
          </a:ln>
        </p:spPr>
        <p:style>
          <a:lnRef idx="0"/>
          <a:fillRef idx="0"/>
          <a:effectRef idx="0"/>
          <a:fontRef idx="minor"/>
        </p:style>
        <p:txBody>
          <a:bodyPr lIns="0" rIns="0" tIns="52200" bIns="52200" anchor="t">
            <a:spAutoFit/>
          </a:bodyPr>
          <a:p>
            <a:pPr algn="ctr">
              <a:lnSpc>
                <a:spcPct val="100000"/>
              </a:lnSpc>
              <a:tabLst>
                <a:tab algn="l" pos="0"/>
                <a:tab algn="l" pos="1073160"/>
                <a:tab algn="l" pos="2146320"/>
                <a:tab algn="l" pos="3219480"/>
                <a:tab algn="l" pos="4292640"/>
                <a:tab algn="l" pos="5365800"/>
                <a:tab algn="l" pos="6438960"/>
                <a:tab algn="l" pos="7512120"/>
                <a:tab algn="l" pos="8585280"/>
                <a:tab algn="l" pos="9658440"/>
                <a:tab algn="l" pos="10731600"/>
              </a:tabLst>
            </a:pPr>
            <a:r>
              <a:rPr b="1" lang="en-IN" sz="1300" strike="noStrike" u="none">
                <a:solidFill>
                  <a:srgbClr val="0000ff"/>
                </a:solidFill>
                <a:effectLst/>
                <a:uFillTx/>
                <a:latin typeface="Arial Narrow"/>
              </a:rPr>
              <a:t>Geosciences Research</a:t>
            </a:r>
            <a:endParaRPr b="0" lang="en-IN" sz="1300" strike="noStrike" u="none">
              <a:solidFill>
                <a:srgbClr val="000000"/>
              </a:solidFill>
              <a:effectLst/>
              <a:uFillTx/>
              <a:latin typeface="Times New Roman"/>
            </a:endParaRPr>
          </a:p>
        </p:txBody>
      </p:sp>
      <p:sp>
        <p:nvSpPr>
          <p:cNvPr id="149" name=""/>
          <p:cNvSpPr/>
          <p:nvPr/>
        </p:nvSpPr>
        <p:spPr>
          <a:xfrm>
            <a:off x="1550520" y="3878280"/>
            <a:ext cx="1966320" cy="303120"/>
          </a:xfrm>
          <a:prstGeom prst="rect">
            <a:avLst/>
          </a:prstGeom>
          <a:noFill/>
          <a:ln w="0">
            <a:noFill/>
          </a:ln>
        </p:spPr>
        <p:style>
          <a:lnRef idx="0"/>
          <a:fillRef idx="0"/>
          <a:effectRef idx="0"/>
          <a:fontRef idx="minor"/>
        </p:style>
        <p:txBody>
          <a:bodyPr wrap="none" lIns="0" rIns="0" tIns="52200" bIns="52200" anchor="t">
            <a:spAutoFit/>
          </a:bodyPr>
          <a:p>
            <a:pPr algn="ctr">
              <a:lnSpc>
                <a:spcPct val="100000"/>
              </a:lnSpc>
              <a:tabLst>
                <a:tab algn="l" pos="0"/>
                <a:tab algn="l" pos="1073160"/>
                <a:tab algn="l" pos="2146320"/>
                <a:tab algn="l" pos="3219480"/>
                <a:tab algn="l" pos="4292640"/>
                <a:tab algn="l" pos="5365800"/>
                <a:tab algn="l" pos="6438960"/>
                <a:tab algn="l" pos="7512120"/>
                <a:tab algn="l" pos="8585280"/>
                <a:tab algn="l" pos="9658440"/>
                <a:tab algn="l" pos="10731600"/>
              </a:tabLst>
            </a:pPr>
            <a:r>
              <a:rPr b="1" lang="en-IN" sz="1300" strike="noStrike" u="none">
                <a:solidFill>
                  <a:srgbClr val="0000ff"/>
                </a:solidFill>
                <a:effectLst/>
                <a:uFillTx/>
                <a:latin typeface="Arial Narrow"/>
              </a:rPr>
              <a:t>Chemical Physics (Gas Phase)</a:t>
            </a:r>
            <a:endParaRPr b="0" lang="en-IN" sz="1300" strike="noStrike" u="none">
              <a:solidFill>
                <a:srgbClr val="000000"/>
              </a:solidFill>
              <a:effectLst/>
              <a:uFillTx/>
              <a:latin typeface="Times New Roman"/>
            </a:endParaRPr>
          </a:p>
        </p:txBody>
      </p:sp>
      <p:sp>
        <p:nvSpPr>
          <p:cNvPr id="150" name=""/>
          <p:cNvSpPr/>
          <p:nvPr/>
        </p:nvSpPr>
        <p:spPr>
          <a:xfrm>
            <a:off x="1746360" y="2930400"/>
            <a:ext cx="1550880" cy="501480"/>
          </a:xfrm>
          <a:prstGeom prst="rect">
            <a:avLst/>
          </a:prstGeom>
          <a:noFill/>
          <a:ln w="0">
            <a:noFill/>
          </a:ln>
        </p:spPr>
        <p:style>
          <a:lnRef idx="0"/>
          <a:fillRef idx="0"/>
          <a:effectRef idx="0"/>
          <a:fontRef idx="minor"/>
        </p:style>
        <p:txBody>
          <a:bodyPr lIns="0" rIns="0" tIns="52200" bIns="52200" anchor="t">
            <a:spAutoFit/>
          </a:bodyPr>
          <a:p>
            <a:pPr algn="ctr">
              <a:lnSpc>
                <a:spcPct val="100000"/>
              </a:lnSpc>
              <a:tabLst>
                <a:tab algn="l" pos="0"/>
                <a:tab algn="l" pos="1073160"/>
                <a:tab algn="l" pos="2146320"/>
                <a:tab algn="l" pos="3219480"/>
                <a:tab algn="l" pos="4292640"/>
                <a:tab algn="l" pos="5365800"/>
                <a:tab algn="l" pos="6438960"/>
                <a:tab algn="l" pos="7512120"/>
                <a:tab algn="l" pos="8585280"/>
                <a:tab algn="l" pos="9658440"/>
                <a:tab algn="l" pos="10731600"/>
              </a:tabLst>
            </a:pPr>
            <a:r>
              <a:rPr b="1" lang="en-IN" sz="1300" strike="noStrike" u="none">
                <a:solidFill>
                  <a:srgbClr val="0000ff"/>
                </a:solidFill>
                <a:effectLst/>
                <a:uFillTx/>
                <a:latin typeface="Arial Narrow"/>
              </a:rPr>
              <a:t>Atomic, Molecular, and</a:t>
            </a:r>
            <a:endParaRPr b="0" lang="en-IN" sz="1300" strike="noStrike" u="none">
              <a:solidFill>
                <a:srgbClr val="000000"/>
              </a:solidFill>
              <a:effectLst/>
              <a:uFillTx/>
              <a:latin typeface="Times New Roman"/>
            </a:endParaRPr>
          </a:p>
          <a:p>
            <a:pPr algn="ctr">
              <a:lnSpc>
                <a:spcPct val="100000"/>
              </a:lnSpc>
              <a:tabLst>
                <a:tab algn="l" pos="0"/>
                <a:tab algn="l" pos="1073160"/>
                <a:tab algn="l" pos="2146320"/>
                <a:tab algn="l" pos="3219480"/>
                <a:tab algn="l" pos="4292640"/>
                <a:tab algn="l" pos="5365800"/>
                <a:tab algn="l" pos="6438960"/>
                <a:tab algn="l" pos="7512120"/>
                <a:tab algn="l" pos="8585280"/>
                <a:tab algn="l" pos="9658440"/>
                <a:tab algn="l" pos="10731600"/>
              </a:tabLst>
            </a:pPr>
            <a:r>
              <a:rPr b="1" lang="en-IN" sz="1300" strike="noStrike" u="none">
                <a:solidFill>
                  <a:srgbClr val="0000ff"/>
                </a:solidFill>
                <a:effectLst/>
                <a:uFillTx/>
                <a:latin typeface="Arial Narrow"/>
              </a:rPr>
              <a:t> Optical Science</a:t>
            </a:r>
            <a:endParaRPr b="0" lang="en-IN" sz="1300" strike="noStrike" u="none">
              <a:solidFill>
                <a:srgbClr val="000000"/>
              </a:solidFill>
              <a:effectLst/>
              <a:uFillTx/>
              <a:latin typeface="Times New Roman"/>
            </a:endParaRPr>
          </a:p>
        </p:txBody>
      </p:sp>
      <p:sp>
        <p:nvSpPr>
          <p:cNvPr id="151" name=""/>
          <p:cNvSpPr/>
          <p:nvPr/>
        </p:nvSpPr>
        <p:spPr>
          <a:xfrm>
            <a:off x="1714680" y="6635880"/>
            <a:ext cx="1589040" cy="501480"/>
          </a:xfrm>
          <a:prstGeom prst="rect">
            <a:avLst/>
          </a:prstGeom>
          <a:noFill/>
          <a:ln w="0">
            <a:noFill/>
          </a:ln>
        </p:spPr>
        <p:style>
          <a:lnRef idx="0"/>
          <a:fillRef idx="0"/>
          <a:effectRef idx="0"/>
          <a:fontRef idx="minor"/>
        </p:style>
        <p:txBody>
          <a:bodyPr lIns="0" rIns="0" tIns="52200" bIns="52200" anchor="t">
            <a:spAutoFit/>
          </a:bodyPr>
          <a:p>
            <a:pPr algn="ctr">
              <a:lnSpc>
                <a:spcPct val="100000"/>
              </a:lnSpc>
              <a:tabLst>
                <a:tab algn="l" pos="0"/>
                <a:tab algn="l" pos="1073160"/>
                <a:tab algn="l" pos="2146320"/>
                <a:tab algn="l" pos="3219480"/>
                <a:tab algn="l" pos="4292640"/>
                <a:tab algn="l" pos="5365800"/>
                <a:tab algn="l" pos="6438960"/>
                <a:tab algn="l" pos="7512120"/>
                <a:tab algn="l" pos="8585280"/>
                <a:tab algn="l" pos="9658440"/>
                <a:tab algn="l" pos="10731600"/>
              </a:tabLst>
            </a:pPr>
            <a:r>
              <a:rPr b="1" lang="en-IN" sz="1300" strike="noStrike" u="none">
                <a:solidFill>
                  <a:srgbClr val="0000ff"/>
                </a:solidFill>
                <a:effectLst/>
                <a:uFillTx/>
                <a:latin typeface="Arial Narrow"/>
              </a:rPr>
              <a:t>Computational and Theoretical Chemistry</a:t>
            </a:r>
            <a:endParaRPr b="0" lang="en-IN" sz="1300" strike="noStrike" u="none">
              <a:solidFill>
                <a:srgbClr val="000000"/>
              </a:solidFill>
              <a:effectLst/>
              <a:uFillTx/>
              <a:latin typeface="Times New Roman"/>
            </a:endParaRPr>
          </a:p>
        </p:txBody>
      </p:sp>
      <p:sp>
        <p:nvSpPr>
          <p:cNvPr id="152" name=""/>
          <p:cNvSpPr/>
          <p:nvPr/>
        </p:nvSpPr>
        <p:spPr>
          <a:xfrm>
            <a:off x="2046960" y="3362400"/>
            <a:ext cx="1028520" cy="283320"/>
          </a:xfrm>
          <a:prstGeom prst="rect">
            <a:avLst/>
          </a:prstGeom>
          <a:noFill/>
          <a:ln w="0">
            <a:noFill/>
          </a:ln>
        </p:spPr>
        <p:style>
          <a:lnRef idx="0"/>
          <a:fillRef idx="0"/>
          <a:effectRef idx="0"/>
          <a:fontRef idx="minor"/>
        </p:style>
        <p:txBody>
          <a:bodyPr wrap="none" lIns="0" rIns="0" tIns="52200" bIns="52200" anchor="t">
            <a:spAutoFit/>
          </a:bodyPr>
          <a:p>
            <a:pPr algn="ctr">
              <a:lnSpc>
                <a:spcPct val="90000"/>
              </a:lnSpc>
              <a:tabLst>
                <a:tab algn="l" pos="0"/>
                <a:tab algn="l" pos="1073160"/>
                <a:tab algn="l" pos="2146320"/>
                <a:tab algn="l" pos="3219480"/>
                <a:tab algn="l" pos="4292640"/>
                <a:tab algn="l" pos="5365800"/>
                <a:tab algn="l" pos="6438960"/>
                <a:tab algn="l" pos="7512120"/>
                <a:tab algn="l" pos="8585280"/>
                <a:tab algn="l" pos="9658440"/>
                <a:tab algn="l" pos="10731600"/>
              </a:tabLst>
            </a:pPr>
            <a:r>
              <a:rPr b="0" lang="en-IN" sz="1300" strike="noStrike" u="none">
                <a:solidFill>
                  <a:srgbClr val="000000"/>
                </a:solidFill>
                <a:effectLst/>
                <a:uFillTx/>
                <a:latin typeface="Arial Narrow"/>
              </a:rPr>
              <a:t>Michael Casassa</a:t>
            </a:r>
            <a:endParaRPr b="0" lang="en-IN" sz="1300" strike="noStrike" u="none">
              <a:solidFill>
                <a:srgbClr val="000000"/>
              </a:solidFill>
              <a:effectLst/>
              <a:uFillTx/>
              <a:latin typeface="Times New Roman"/>
            </a:endParaRPr>
          </a:p>
        </p:txBody>
      </p:sp>
      <p:sp>
        <p:nvSpPr>
          <p:cNvPr id="153" name=""/>
          <p:cNvSpPr/>
          <p:nvPr/>
        </p:nvSpPr>
        <p:spPr>
          <a:xfrm>
            <a:off x="1934280" y="7075440"/>
            <a:ext cx="1238400" cy="283320"/>
          </a:xfrm>
          <a:prstGeom prst="rect">
            <a:avLst/>
          </a:prstGeom>
          <a:noFill/>
          <a:ln w="0">
            <a:noFill/>
          </a:ln>
        </p:spPr>
        <p:style>
          <a:lnRef idx="0"/>
          <a:fillRef idx="0"/>
          <a:effectRef idx="0"/>
          <a:fontRef idx="minor"/>
        </p:style>
        <p:txBody>
          <a:bodyPr wrap="none" lIns="0" rIns="0" tIns="52200" bIns="52200" anchor="t">
            <a:spAutoFit/>
          </a:bodyPr>
          <a:p>
            <a:pPr algn="ctr">
              <a:lnSpc>
                <a:spcPct val="90000"/>
              </a:lnSpc>
              <a:tabLst>
                <a:tab algn="l" pos="0"/>
                <a:tab algn="l" pos="1073160"/>
                <a:tab algn="l" pos="2146320"/>
                <a:tab algn="l" pos="3219480"/>
                <a:tab algn="l" pos="4292640"/>
                <a:tab algn="l" pos="5365800"/>
                <a:tab algn="l" pos="6438960"/>
                <a:tab algn="l" pos="7512120"/>
                <a:tab algn="l" pos="8585280"/>
                <a:tab algn="l" pos="9658440"/>
                <a:tab algn="l" pos="10731600"/>
              </a:tabLst>
            </a:pPr>
            <a:r>
              <a:rPr b="0" lang="en-IN" sz="1300" strike="noStrike" u="none">
                <a:solidFill>
                  <a:srgbClr val="000000"/>
                </a:solidFill>
                <a:effectLst/>
                <a:uFillTx/>
                <a:latin typeface="Arial Narrow"/>
              </a:rPr>
              <a:t>Richard Hilderbrandt</a:t>
            </a:r>
            <a:endParaRPr b="0" lang="en-IN" sz="1300" strike="noStrike" u="none">
              <a:solidFill>
                <a:srgbClr val="000000"/>
              </a:solidFill>
              <a:effectLst/>
              <a:uFillTx/>
              <a:latin typeface="Times New Roman"/>
            </a:endParaRPr>
          </a:p>
        </p:txBody>
      </p:sp>
      <p:sp>
        <p:nvSpPr>
          <p:cNvPr id="154" name=""/>
          <p:cNvSpPr/>
          <p:nvPr/>
        </p:nvSpPr>
        <p:spPr>
          <a:xfrm>
            <a:off x="8024760" y="2930400"/>
            <a:ext cx="1505160" cy="303120"/>
          </a:xfrm>
          <a:prstGeom prst="rect">
            <a:avLst/>
          </a:prstGeom>
          <a:noFill/>
          <a:ln w="0">
            <a:noFill/>
          </a:ln>
        </p:spPr>
        <p:style>
          <a:lnRef idx="0"/>
          <a:fillRef idx="0"/>
          <a:effectRef idx="0"/>
          <a:fontRef idx="minor"/>
        </p:style>
        <p:txBody>
          <a:bodyPr lIns="0" rIns="0" tIns="52200" bIns="52200" anchor="t">
            <a:spAutoFit/>
          </a:bodyPr>
          <a:p>
            <a:pPr algn="ctr">
              <a:lnSpc>
                <a:spcPct val="100000"/>
              </a:lnSpc>
              <a:tabLst>
                <a:tab algn="l" pos="0"/>
                <a:tab algn="l" pos="1073160"/>
                <a:tab algn="l" pos="2146320"/>
                <a:tab algn="l" pos="3219480"/>
                <a:tab algn="l" pos="4292640"/>
                <a:tab algn="l" pos="5365800"/>
                <a:tab algn="l" pos="6438960"/>
                <a:tab algn="l" pos="7512120"/>
                <a:tab algn="l" pos="8585280"/>
                <a:tab algn="l" pos="9658440"/>
                <a:tab algn="l" pos="10731600"/>
              </a:tabLst>
            </a:pPr>
            <a:r>
              <a:rPr b="1" lang="en-IN" sz="1300" strike="noStrike" u="none">
                <a:solidFill>
                  <a:srgbClr val="0000ff"/>
                </a:solidFill>
                <a:effectLst/>
                <a:uFillTx/>
                <a:latin typeface="Arial Narrow"/>
              </a:rPr>
              <a:t>Plant Sciences</a:t>
            </a:r>
            <a:endParaRPr b="0" lang="en-IN" sz="1300" strike="noStrike" u="none">
              <a:solidFill>
                <a:srgbClr val="000000"/>
              </a:solidFill>
              <a:effectLst/>
              <a:uFillTx/>
              <a:latin typeface="Times New Roman"/>
            </a:endParaRPr>
          </a:p>
        </p:txBody>
      </p:sp>
      <p:sp>
        <p:nvSpPr>
          <p:cNvPr id="155" name=""/>
          <p:cNvSpPr/>
          <p:nvPr/>
        </p:nvSpPr>
        <p:spPr>
          <a:xfrm>
            <a:off x="7846920" y="3197160"/>
            <a:ext cx="1944720" cy="303120"/>
          </a:xfrm>
          <a:prstGeom prst="rect">
            <a:avLst/>
          </a:prstGeom>
          <a:noFill/>
          <a:ln w="0">
            <a:noFill/>
          </a:ln>
        </p:spPr>
        <p:style>
          <a:lnRef idx="0"/>
          <a:fillRef idx="0"/>
          <a:effectRef idx="0"/>
          <a:fontRef idx="minor"/>
        </p:style>
        <p:txBody>
          <a:bodyPr lIns="0" rIns="0" tIns="52200" bIns="52200" anchor="t">
            <a:spAutoFit/>
          </a:bodyPr>
          <a:p>
            <a:pPr algn="ctr">
              <a:lnSpc>
                <a:spcPct val="100000"/>
              </a:lnSpc>
              <a:tabLst>
                <a:tab algn="l" pos="0"/>
                <a:tab algn="l" pos="1073160"/>
                <a:tab algn="l" pos="2146320"/>
                <a:tab algn="l" pos="3219480"/>
                <a:tab algn="l" pos="4292640"/>
                <a:tab algn="l" pos="5365800"/>
                <a:tab algn="l" pos="6438960"/>
                <a:tab algn="l" pos="7512120"/>
                <a:tab algn="l" pos="8585280"/>
                <a:tab algn="l" pos="9658440"/>
                <a:tab algn="l" pos="10731600"/>
              </a:tabLst>
            </a:pPr>
            <a:r>
              <a:rPr b="1" lang="en-IN" sz="1300" strike="noStrike" u="none">
                <a:solidFill>
                  <a:srgbClr val="0000ff"/>
                </a:solidFill>
                <a:effectLst/>
                <a:uFillTx/>
                <a:latin typeface="Arial Narrow"/>
              </a:rPr>
              <a:t>Biochemistry and Biophysics</a:t>
            </a:r>
            <a:endParaRPr b="0" lang="en-IN" sz="1300" strike="noStrike" u="none">
              <a:solidFill>
                <a:srgbClr val="000000"/>
              </a:solidFill>
              <a:effectLst/>
              <a:uFillTx/>
              <a:latin typeface="Times New Roman"/>
            </a:endParaRPr>
          </a:p>
        </p:txBody>
      </p:sp>
      <p:sp>
        <p:nvSpPr>
          <p:cNvPr id="156" name=""/>
          <p:cNvSpPr/>
          <p:nvPr/>
        </p:nvSpPr>
        <p:spPr>
          <a:xfrm>
            <a:off x="8380800" y="3494160"/>
            <a:ext cx="953640" cy="283320"/>
          </a:xfrm>
          <a:prstGeom prst="rect">
            <a:avLst/>
          </a:prstGeom>
          <a:noFill/>
          <a:ln w="0">
            <a:noFill/>
          </a:ln>
        </p:spPr>
        <p:style>
          <a:lnRef idx="0"/>
          <a:fillRef idx="0"/>
          <a:effectRef idx="0"/>
          <a:fontRef idx="minor"/>
        </p:style>
        <p:txBody>
          <a:bodyPr wrap="none" lIns="0" rIns="0" tIns="52200" bIns="52200" anchor="t">
            <a:spAutoFit/>
          </a:bodyPr>
          <a:p>
            <a:pPr algn="ctr">
              <a:lnSpc>
                <a:spcPct val="90000"/>
              </a:lnSpc>
              <a:tabLst>
                <a:tab algn="l" pos="0"/>
                <a:tab algn="l" pos="1073160"/>
                <a:tab algn="l" pos="2146320"/>
                <a:tab algn="l" pos="3219480"/>
                <a:tab algn="l" pos="4292640"/>
                <a:tab algn="l" pos="5365800"/>
                <a:tab algn="l" pos="6438960"/>
                <a:tab algn="l" pos="7512120"/>
                <a:tab algn="l" pos="8585280"/>
                <a:tab algn="l" pos="9658440"/>
                <a:tab algn="l" pos="10731600"/>
              </a:tabLst>
            </a:pPr>
            <a:r>
              <a:rPr b="0" lang="en-IN" sz="1300" strike="noStrike" u="none">
                <a:solidFill>
                  <a:srgbClr val="000000"/>
                </a:solidFill>
                <a:effectLst/>
                <a:uFillTx/>
                <a:latin typeface="Arial Narrow"/>
              </a:rPr>
              <a:t>Richard Greene</a:t>
            </a:r>
            <a:endParaRPr b="0" lang="en-IN" sz="1300" strike="noStrike" u="none">
              <a:solidFill>
                <a:srgbClr val="000000"/>
              </a:solidFill>
              <a:effectLst/>
              <a:uFillTx/>
              <a:latin typeface="Times New Roman"/>
            </a:endParaRPr>
          </a:p>
        </p:txBody>
      </p:sp>
      <p:sp>
        <p:nvSpPr>
          <p:cNvPr id="157" name=""/>
          <p:cNvSpPr/>
          <p:nvPr/>
        </p:nvSpPr>
        <p:spPr>
          <a:xfrm>
            <a:off x="8066520" y="3780000"/>
            <a:ext cx="1491120" cy="283320"/>
          </a:xfrm>
          <a:prstGeom prst="rect">
            <a:avLst/>
          </a:prstGeom>
          <a:noFill/>
          <a:ln w="0">
            <a:noFill/>
          </a:ln>
        </p:spPr>
        <p:style>
          <a:lnRef idx="0"/>
          <a:fillRef idx="0"/>
          <a:effectRef idx="0"/>
          <a:fontRef idx="minor"/>
        </p:style>
        <p:txBody>
          <a:bodyPr wrap="none" lIns="0" rIns="0" tIns="52200" bIns="52200" anchor="t">
            <a:spAutoFit/>
          </a:bodyPr>
          <a:p>
            <a:pPr algn="ctr">
              <a:lnSpc>
                <a:spcPct val="90000"/>
              </a:lnSpc>
              <a:tabLst>
                <a:tab algn="l" pos="0"/>
                <a:tab algn="l" pos="1073160"/>
                <a:tab algn="l" pos="2146320"/>
                <a:tab algn="l" pos="3219480"/>
                <a:tab algn="l" pos="4292640"/>
                <a:tab algn="l" pos="5365800"/>
                <a:tab algn="l" pos="6438960"/>
                <a:tab algn="l" pos="7512120"/>
                <a:tab algn="l" pos="8585280"/>
                <a:tab algn="l" pos="9658440"/>
                <a:tab algn="l" pos="10731600"/>
              </a:tabLst>
            </a:pPr>
            <a:r>
              <a:rPr b="1" lang="en-IN" sz="1300" strike="noStrike" u="none">
                <a:solidFill>
                  <a:srgbClr val="ff3300"/>
                </a:solidFill>
                <a:effectLst/>
                <a:uFillTx/>
                <a:latin typeface="Wingdings"/>
                <a:ea typeface="Wingdings"/>
              </a:rPr>
              <a:t></a:t>
            </a:r>
            <a:r>
              <a:rPr b="1" lang="en-IN" sz="1300" strike="noStrike" u="none">
                <a:solidFill>
                  <a:srgbClr val="ff3300"/>
                </a:solidFill>
                <a:effectLst/>
                <a:uFillTx/>
                <a:latin typeface="Arial Narrow"/>
              </a:rPr>
              <a:t>  </a:t>
            </a:r>
            <a:r>
              <a:rPr b="0" lang="en-IN" sz="1300" strike="noStrike" u="none">
                <a:solidFill>
                  <a:srgbClr val="000000"/>
                </a:solidFill>
                <a:effectLst/>
                <a:uFillTx/>
                <a:latin typeface="Arial Narrow"/>
              </a:rPr>
              <a:t>Michael Kahn, PNNL</a:t>
            </a:r>
            <a:endParaRPr b="0" lang="en-IN" sz="1300" strike="noStrike" u="none">
              <a:solidFill>
                <a:srgbClr val="000000"/>
              </a:solidFill>
              <a:effectLst/>
              <a:uFillTx/>
              <a:latin typeface="Times New Roman"/>
            </a:endParaRPr>
          </a:p>
        </p:txBody>
      </p:sp>
      <p:sp>
        <p:nvSpPr>
          <p:cNvPr id="158" name=""/>
          <p:cNvSpPr/>
          <p:nvPr/>
        </p:nvSpPr>
        <p:spPr>
          <a:xfrm>
            <a:off x="3335400" y="914400"/>
            <a:ext cx="4683240" cy="0"/>
          </a:xfrm>
          <a:prstGeom prst="line">
            <a:avLst/>
          </a:prstGeom>
          <a:ln w="9360">
            <a:solidFill>
              <a:srgbClr val="000000"/>
            </a:solidFill>
            <a:miter/>
          </a:ln>
        </p:spPr>
        <p:style>
          <a:lnRef idx="0"/>
          <a:fillRef idx="0"/>
          <a:effectRef idx="0"/>
          <a:fontRef idx="minor"/>
        </p:style>
        <p:txBody>
          <a:bodyPr lIns="0" rIns="0" tIns="-46800" bIns="-46800" anchor="ctr">
            <a:noAutofit/>
          </a:bodyPr>
          <a:p>
            <a:endParaRPr b="0" lang="en-IN" sz="2400" strike="noStrike" u="none">
              <a:solidFill>
                <a:srgbClr val="000000"/>
              </a:solidFill>
              <a:effectLst/>
              <a:uFillTx/>
              <a:latin typeface="Times New Roman"/>
            </a:endParaRPr>
          </a:p>
        </p:txBody>
      </p:sp>
      <p:sp>
        <p:nvSpPr>
          <p:cNvPr id="159" name=""/>
          <p:cNvSpPr/>
          <p:nvPr/>
        </p:nvSpPr>
        <p:spPr>
          <a:xfrm>
            <a:off x="4997520" y="2347920"/>
            <a:ext cx="2141640" cy="0"/>
          </a:xfrm>
          <a:prstGeom prst="line">
            <a:avLst/>
          </a:prstGeom>
          <a:ln w="9360">
            <a:solidFill>
              <a:srgbClr val="000000"/>
            </a:solidFill>
            <a:miter/>
          </a:ln>
        </p:spPr>
        <p:style>
          <a:lnRef idx="0"/>
          <a:fillRef idx="0"/>
          <a:effectRef idx="0"/>
          <a:fontRef idx="minor"/>
        </p:style>
        <p:txBody>
          <a:bodyPr lIns="0" rIns="0" tIns="-46800" bIns="-46800" anchor="ctr">
            <a:noAutofit/>
          </a:bodyPr>
          <a:p>
            <a:endParaRPr b="0" lang="en-IN" sz="2400" strike="noStrike" u="none">
              <a:solidFill>
                <a:srgbClr val="000000"/>
              </a:solidFill>
              <a:effectLst/>
              <a:uFillTx/>
              <a:latin typeface="Times New Roman"/>
            </a:endParaRPr>
          </a:p>
        </p:txBody>
      </p:sp>
      <p:sp>
        <p:nvSpPr>
          <p:cNvPr id="160" name=""/>
          <p:cNvSpPr/>
          <p:nvPr/>
        </p:nvSpPr>
        <p:spPr>
          <a:xfrm>
            <a:off x="1442880" y="2347920"/>
            <a:ext cx="2173320" cy="0"/>
          </a:xfrm>
          <a:prstGeom prst="line">
            <a:avLst/>
          </a:prstGeom>
          <a:ln w="9360">
            <a:solidFill>
              <a:srgbClr val="000000"/>
            </a:solidFill>
            <a:miter/>
          </a:ln>
        </p:spPr>
        <p:style>
          <a:lnRef idx="0"/>
          <a:fillRef idx="0"/>
          <a:effectRef idx="0"/>
          <a:fontRef idx="minor"/>
        </p:style>
        <p:txBody>
          <a:bodyPr lIns="0" rIns="0" tIns="-46800" bIns="-46800" anchor="ctr">
            <a:noAutofit/>
          </a:bodyPr>
          <a:p>
            <a:endParaRPr b="0" lang="en-IN" sz="2400" strike="noStrike" u="none">
              <a:solidFill>
                <a:srgbClr val="000000"/>
              </a:solidFill>
              <a:effectLst/>
              <a:uFillTx/>
              <a:latin typeface="Times New Roman"/>
            </a:endParaRPr>
          </a:p>
        </p:txBody>
      </p:sp>
      <p:sp>
        <p:nvSpPr>
          <p:cNvPr id="161" name=""/>
          <p:cNvSpPr/>
          <p:nvPr/>
        </p:nvSpPr>
        <p:spPr>
          <a:xfrm>
            <a:off x="7737480" y="2373480"/>
            <a:ext cx="2151000" cy="0"/>
          </a:xfrm>
          <a:prstGeom prst="line">
            <a:avLst/>
          </a:prstGeom>
          <a:ln w="9360">
            <a:solidFill>
              <a:srgbClr val="000000"/>
            </a:solidFill>
            <a:miter/>
          </a:ln>
        </p:spPr>
        <p:style>
          <a:lnRef idx="0"/>
          <a:fillRef idx="0"/>
          <a:effectRef idx="0"/>
          <a:fontRef idx="minor"/>
        </p:style>
        <p:txBody>
          <a:bodyPr lIns="0" rIns="0" tIns="-46800" bIns="-46800" anchor="ctr">
            <a:noAutofit/>
          </a:bodyPr>
          <a:p>
            <a:endParaRPr b="0" lang="en-IN" sz="2400" strike="noStrike" u="none">
              <a:solidFill>
                <a:srgbClr val="000000"/>
              </a:solidFill>
              <a:effectLst/>
              <a:uFillTx/>
              <a:latin typeface="Times New Roman"/>
            </a:endParaRPr>
          </a:p>
        </p:txBody>
      </p:sp>
      <p:sp>
        <p:nvSpPr>
          <p:cNvPr id="162" name=""/>
          <p:cNvSpPr/>
          <p:nvPr/>
        </p:nvSpPr>
        <p:spPr>
          <a:xfrm>
            <a:off x="2567160" y="1671480"/>
            <a:ext cx="6186240" cy="12960"/>
          </a:xfrm>
          <a:prstGeom prst="line">
            <a:avLst/>
          </a:prstGeom>
          <a:ln w="9360">
            <a:solidFill>
              <a:srgbClr val="000000"/>
            </a:solidFill>
            <a:miter/>
          </a:ln>
        </p:spPr>
        <p:style>
          <a:lnRef idx="0"/>
          <a:fillRef idx="0"/>
          <a:effectRef idx="0"/>
          <a:fontRef idx="minor"/>
        </p:style>
        <p:txBody>
          <a:bodyPr lIns="0" rIns="0" tIns="-33840" bIns="-33840" anchor="ctr">
            <a:noAutofit/>
          </a:bodyPr>
          <a:p>
            <a:endParaRPr b="0" lang="en-IN" sz="2400" strike="noStrike" u="none">
              <a:solidFill>
                <a:srgbClr val="000000"/>
              </a:solidFill>
              <a:effectLst/>
              <a:uFillTx/>
              <a:latin typeface="Times New Roman"/>
            </a:endParaRPr>
          </a:p>
        </p:txBody>
      </p:sp>
      <p:sp>
        <p:nvSpPr>
          <p:cNvPr id="163" name=""/>
          <p:cNvSpPr/>
          <p:nvPr/>
        </p:nvSpPr>
        <p:spPr>
          <a:xfrm>
            <a:off x="757440" y="604800"/>
            <a:ext cx="1493280" cy="479880"/>
          </a:xfrm>
          <a:prstGeom prst="rect">
            <a:avLst/>
          </a:prstGeom>
          <a:noFill/>
          <a:ln w="0">
            <a:noFill/>
          </a:ln>
        </p:spPr>
        <p:style>
          <a:lnRef idx="0"/>
          <a:fillRef idx="0"/>
          <a:effectRef idx="0"/>
          <a:fontRef idx="minor"/>
        </p:style>
        <p:txBody>
          <a:bodyPr wrap="none" lIns="114120" rIns="114120" tIns="56880" bIns="56880" anchor="t">
            <a:spAutoFit/>
          </a:bodyPr>
          <a:p>
            <a:pPr algn="ctr">
              <a:lnSpc>
                <a:spcPct val="100000"/>
              </a:lnSpc>
              <a:tabLst>
                <a:tab algn="l" pos="0"/>
                <a:tab algn="l" pos="1019160"/>
                <a:tab algn="l" pos="2038320"/>
                <a:tab algn="l" pos="3057480"/>
                <a:tab algn="l" pos="4076640"/>
                <a:tab algn="l" pos="5095800"/>
                <a:tab algn="l" pos="6114960"/>
                <a:tab algn="l" pos="7134120"/>
                <a:tab algn="l" pos="8153280"/>
                <a:tab algn="l" pos="9172440"/>
                <a:tab algn="l" pos="10191600"/>
              </a:tabLst>
            </a:pPr>
            <a:r>
              <a:rPr b="1" lang="en-IN" sz="2400" strike="noStrike" u="none">
                <a:solidFill>
                  <a:srgbClr val="000000"/>
                </a:solidFill>
                <a:effectLst/>
                <a:uFillTx/>
                <a:latin typeface="Arial Narrow"/>
              </a:rPr>
              <a:t>April, 2006</a:t>
            </a:r>
            <a:endParaRPr b="0" lang="en-IN" sz="2400" strike="noStrike" u="none">
              <a:solidFill>
                <a:srgbClr val="000000"/>
              </a:solidFill>
              <a:effectLst/>
              <a:uFillTx/>
              <a:latin typeface="Times New Roman"/>
            </a:endParaRPr>
          </a:p>
        </p:txBody>
      </p:sp>
      <p:sp>
        <p:nvSpPr>
          <p:cNvPr id="164" name=""/>
          <p:cNvSpPr/>
          <p:nvPr/>
        </p:nvSpPr>
        <p:spPr>
          <a:xfrm>
            <a:off x="4043880" y="345960"/>
            <a:ext cx="3265920" cy="574200"/>
          </a:xfrm>
          <a:prstGeom prst="rect">
            <a:avLst/>
          </a:prstGeom>
          <a:noFill/>
          <a:ln w="0">
            <a:noFill/>
          </a:ln>
        </p:spPr>
        <p:style>
          <a:lnRef idx="0"/>
          <a:fillRef idx="0"/>
          <a:effectRef idx="0"/>
          <a:fontRef idx="minor"/>
        </p:style>
        <p:txBody>
          <a:bodyPr wrap="none" lIns="0" rIns="0" tIns="53640" bIns="53640" anchor="t">
            <a:spAutoFit/>
          </a:bodyPr>
          <a:p>
            <a:pPr algn="ctr">
              <a:lnSpc>
                <a:spcPct val="90000"/>
              </a:lnSpc>
              <a:tabLst>
                <a:tab algn="l" pos="0"/>
                <a:tab algn="l" pos="1073160"/>
                <a:tab algn="l" pos="2146320"/>
                <a:tab algn="l" pos="3219480"/>
                <a:tab algn="l" pos="4292640"/>
                <a:tab algn="l" pos="5365800"/>
                <a:tab algn="l" pos="6438960"/>
                <a:tab algn="l" pos="7512120"/>
                <a:tab algn="l" pos="8585280"/>
                <a:tab algn="l" pos="9658440"/>
                <a:tab algn="l" pos="10731600"/>
              </a:tabLst>
            </a:pPr>
            <a:r>
              <a:rPr b="1" lang="en-IN" sz="1700" strike="noStrike" u="none">
                <a:solidFill>
                  <a:srgbClr val="0000ff"/>
                </a:solidFill>
                <a:effectLst/>
                <a:uFillTx/>
                <a:latin typeface="Arial Narrow"/>
              </a:rPr>
              <a:t>Chemical Sciences, Geosciences, and </a:t>
            </a:r>
            <a:endParaRPr b="0" lang="en-IN" sz="1700" strike="noStrike" u="none">
              <a:solidFill>
                <a:srgbClr val="000000"/>
              </a:solidFill>
              <a:effectLst/>
              <a:uFillTx/>
              <a:latin typeface="Times New Roman"/>
            </a:endParaRPr>
          </a:p>
          <a:p>
            <a:pPr algn="ctr">
              <a:lnSpc>
                <a:spcPct val="90000"/>
              </a:lnSpc>
              <a:tabLst>
                <a:tab algn="l" pos="0"/>
                <a:tab algn="l" pos="1073160"/>
                <a:tab algn="l" pos="2146320"/>
                <a:tab algn="l" pos="3219480"/>
                <a:tab algn="l" pos="4292640"/>
                <a:tab algn="l" pos="5365800"/>
                <a:tab algn="l" pos="6438960"/>
                <a:tab algn="l" pos="7512120"/>
                <a:tab algn="l" pos="8585280"/>
                <a:tab algn="l" pos="9658440"/>
                <a:tab algn="l" pos="10731600"/>
              </a:tabLst>
            </a:pPr>
            <a:r>
              <a:rPr b="1" lang="en-IN" sz="1700" strike="noStrike" u="none">
                <a:solidFill>
                  <a:srgbClr val="0000ff"/>
                </a:solidFill>
                <a:effectLst/>
                <a:uFillTx/>
                <a:latin typeface="Arial Narrow"/>
              </a:rPr>
              <a:t>Biosciences Division</a:t>
            </a:r>
            <a:endParaRPr b="0" lang="en-IN" sz="1700" strike="noStrike" u="none">
              <a:solidFill>
                <a:srgbClr val="000000"/>
              </a:solidFill>
              <a:effectLst/>
              <a:uFillTx/>
              <a:latin typeface="Times New Roman"/>
            </a:endParaRPr>
          </a:p>
        </p:txBody>
      </p:sp>
      <p:sp>
        <p:nvSpPr>
          <p:cNvPr id="165" name=""/>
          <p:cNvSpPr/>
          <p:nvPr/>
        </p:nvSpPr>
        <p:spPr>
          <a:xfrm>
            <a:off x="4433760" y="863640"/>
            <a:ext cx="2529000" cy="763560"/>
          </a:xfrm>
          <a:prstGeom prst="rect">
            <a:avLst/>
          </a:prstGeom>
          <a:noFill/>
          <a:ln w="0">
            <a:noFill/>
          </a:ln>
        </p:spPr>
        <p:style>
          <a:lnRef idx="0"/>
          <a:fillRef idx="0"/>
          <a:effectRef idx="0"/>
          <a:fontRef idx="minor"/>
        </p:style>
        <p:txBody>
          <a:bodyPr wrap="none" lIns="0" rIns="0" tIns="53640" bIns="53640" anchor="t">
            <a:spAutoFit/>
          </a:bodyPr>
          <a:p>
            <a:pPr algn="ctr">
              <a:lnSpc>
                <a:spcPct val="100000"/>
              </a:lnSpc>
              <a:tabLst>
                <a:tab algn="l" pos="0"/>
                <a:tab algn="l" pos="1073160"/>
                <a:tab algn="l" pos="2146320"/>
                <a:tab algn="l" pos="3219480"/>
                <a:tab algn="l" pos="4292640"/>
                <a:tab algn="l" pos="5365800"/>
                <a:tab algn="l" pos="6438960"/>
                <a:tab algn="l" pos="7512120"/>
                <a:tab algn="l" pos="8585280"/>
                <a:tab algn="l" pos="9658440"/>
                <a:tab algn="l" pos="10731600"/>
              </a:tabLst>
            </a:pPr>
            <a:r>
              <a:rPr b="1" lang="en-US" sz="1700" strike="noStrike" u="none">
                <a:solidFill>
                  <a:srgbClr val="000000"/>
                </a:solidFill>
                <a:effectLst/>
                <a:uFillTx/>
                <a:latin typeface="Arial Narrow"/>
              </a:rPr>
              <a:t>Eric Rohlfing, Acting Director</a:t>
            </a:r>
            <a:endParaRPr b="0" lang="en-IN" sz="1700" strike="noStrike" u="none">
              <a:solidFill>
                <a:srgbClr val="000000"/>
              </a:solidFill>
              <a:effectLst/>
              <a:uFillTx/>
              <a:latin typeface="Times New Roman"/>
            </a:endParaRPr>
          </a:p>
          <a:p>
            <a:pPr algn="ctr">
              <a:lnSpc>
                <a:spcPct val="100000"/>
              </a:lnSpc>
              <a:tabLst>
                <a:tab algn="l" pos="0"/>
                <a:tab algn="l" pos="1073160"/>
                <a:tab algn="l" pos="2146320"/>
                <a:tab algn="l" pos="3219480"/>
                <a:tab algn="l" pos="4292640"/>
                <a:tab algn="l" pos="5365800"/>
                <a:tab algn="l" pos="6438960"/>
                <a:tab algn="l" pos="7512120"/>
                <a:tab algn="l" pos="8585280"/>
                <a:tab algn="l" pos="9658440"/>
                <a:tab algn="l" pos="10731600"/>
              </a:tabLst>
            </a:pPr>
            <a:r>
              <a:rPr b="0" lang="en-US" sz="1300" strike="noStrike" u="none">
                <a:solidFill>
                  <a:srgbClr val="000000"/>
                </a:solidFill>
                <a:effectLst/>
                <a:uFillTx/>
                <a:latin typeface="Arial Narrow"/>
              </a:rPr>
              <a:t>Diane Marceau, Program Analyst</a:t>
            </a:r>
            <a:endParaRPr b="0" lang="en-IN" sz="1300" strike="noStrike" u="none">
              <a:solidFill>
                <a:srgbClr val="000000"/>
              </a:solidFill>
              <a:effectLst/>
              <a:uFillTx/>
              <a:latin typeface="Times New Roman"/>
            </a:endParaRPr>
          </a:p>
          <a:p>
            <a:pPr algn="ctr">
              <a:lnSpc>
                <a:spcPct val="100000"/>
              </a:lnSpc>
              <a:tabLst>
                <a:tab algn="l" pos="0"/>
                <a:tab algn="l" pos="1073160"/>
                <a:tab algn="l" pos="2146320"/>
                <a:tab algn="l" pos="3219480"/>
                <a:tab algn="l" pos="4292640"/>
                <a:tab algn="l" pos="5365800"/>
                <a:tab algn="l" pos="6438960"/>
                <a:tab algn="l" pos="7512120"/>
                <a:tab algn="l" pos="8585280"/>
                <a:tab algn="l" pos="9658440"/>
                <a:tab algn="l" pos="10731600"/>
              </a:tabLst>
            </a:pPr>
            <a:r>
              <a:rPr b="0" lang="en-US" sz="1300" strike="noStrike" u="none">
                <a:solidFill>
                  <a:srgbClr val="000000"/>
                </a:solidFill>
                <a:effectLst/>
                <a:uFillTx/>
                <a:latin typeface="Arial Narrow"/>
              </a:rPr>
              <a:t>Michaelena Kyler-King, Program Assistant</a:t>
            </a:r>
            <a:endParaRPr b="0" lang="en-IN" sz="1300" strike="noStrike" u="none">
              <a:solidFill>
                <a:srgbClr val="000000"/>
              </a:solidFill>
              <a:effectLst/>
              <a:uFillTx/>
              <a:latin typeface="Times New Roman"/>
            </a:endParaRPr>
          </a:p>
        </p:txBody>
      </p:sp>
      <p:sp>
        <p:nvSpPr>
          <p:cNvPr id="166" name=""/>
          <p:cNvSpPr/>
          <p:nvPr/>
        </p:nvSpPr>
        <p:spPr>
          <a:xfrm>
            <a:off x="1951200" y="4200480"/>
            <a:ext cx="1198080" cy="502200"/>
          </a:xfrm>
          <a:prstGeom prst="rect">
            <a:avLst/>
          </a:prstGeom>
          <a:noFill/>
          <a:ln w="0">
            <a:noFill/>
          </a:ln>
        </p:spPr>
        <p:style>
          <a:lnRef idx="0"/>
          <a:fillRef idx="0"/>
          <a:effectRef idx="0"/>
          <a:fontRef idx="minor"/>
        </p:style>
        <p:txBody>
          <a:bodyPr wrap="none" lIns="0" rIns="0" tIns="52200" bIns="52200" anchor="t">
            <a:spAutoFit/>
          </a:bodyPr>
          <a:p>
            <a:pPr algn="ctr">
              <a:lnSpc>
                <a:spcPct val="90000"/>
              </a:lnSpc>
              <a:tabLst>
                <a:tab algn="l" pos="0"/>
                <a:tab algn="l" pos="1073160"/>
                <a:tab algn="l" pos="2146320"/>
                <a:tab algn="l" pos="3219480"/>
                <a:tab algn="l" pos="4292640"/>
                <a:tab algn="l" pos="5365800"/>
                <a:tab algn="l" pos="6438960"/>
                <a:tab algn="l" pos="7512120"/>
                <a:tab algn="l" pos="8585280"/>
                <a:tab algn="l" pos="9658440"/>
                <a:tab algn="l" pos="10731600"/>
              </a:tabLst>
            </a:pPr>
            <a:r>
              <a:rPr b="0" lang="en-IN" sz="1600" strike="noStrike" u="none">
                <a:solidFill>
                  <a:srgbClr val="000080"/>
                </a:solidFill>
                <a:effectLst/>
                <a:uFillTx/>
                <a:latin typeface="Wingdings"/>
                <a:ea typeface="Wingdings"/>
              </a:rPr>
              <a:t></a:t>
            </a:r>
            <a:r>
              <a:rPr b="0" lang="en-IN" sz="1300" strike="noStrike" u="none">
                <a:solidFill>
                  <a:srgbClr val="000080"/>
                </a:solidFill>
                <a:effectLst/>
                <a:uFillTx/>
                <a:latin typeface="Times New Roman"/>
                <a:ea typeface="Times New Roman"/>
              </a:rPr>
              <a:t> </a:t>
            </a:r>
            <a:r>
              <a:rPr b="0" lang="en-IN" sz="1300" strike="noStrike" u="none">
                <a:solidFill>
                  <a:srgbClr val="000000"/>
                </a:solidFill>
                <a:effectLst/>
                <a:uFillTx/>
                <a:latin typeface="Arial Narrow"/>
              </a:rPr>
              <a:t>Frank Tully, SNL</a:t>
            </a:r>
            <a:endParaRPr b="0" lang="en-IN" sz="1300" strike="noStrike" u="none">
              <a:solidFill>
                <a:srgbClr val="000000"/>
              </a:solidFill>
              <a:effectLst/>
              <a:uFillTx/>
              <a:latin typeface="Times New Roman"/>
            </a:endParaRPr>
          </a:p>
          <a:p>
            <a:pPr algn="ctr">
              <a:lnSpc>
                <a:spcPct val="90000"/>
              </a:lnSpc>
              <a:tabLst>
                <a:tab algn="l" pos="0"/>
                <a:tab algn="l" pos="1073160"/>
                <a:tab algn="l" pos="2146320"/>
                <a:tab algn="l" pos="3219480"/>
                <a:tab algn="l" pos="4292640"/>
                <a:tab algn="l" pos="5365800"/>
                <a:tab algn="l" pos="6438960"/>
                <a:tab algn="l" pos="7512120"/>
                <a:tab algn="l" pos="8585280"/>
                <a:tab algn="l" pos="9658440"/>
                <a:tab algn="l" pos="10731600"/>
              </a:tabLst>
            </a:pPr>
            <a:endParaRPr b="0" lang="en-IN" sz="1300" strike="noStrike" u="none">
              <a:solidFill>
                <a:srgbClr val="000000"/>
              </a:solidFill>
              <a:effectLst/>
              <a:uFillTx/>
              <a:latin typeface="Times New Roman"/>
            </a:endParaRPr>
          </a:p>
        </p:txBody>
      </p:sp>
      <p:sp>
        <p:nvSpPr>
          <p:cNvPr id="167" name=""/>
          <p:cNvSpPr/>
          <p:nvPr/>
        </p:nvSpPr>
        <p:spPr>
          <a:xfrm>
            <a:off x="1940040" y="5630760"/>
            <a:ext cx="1260720" cy="501480"/>
          </a:xfrm>
          <a:prstGeom prst="rect">
            <a:avLst/>
          </a:prstGeom>
          <a:noFill/>
          <a:ln w="0">
            <a:noFill/>
          </a:ln>
        </p:spPr>
        <p:style>
          <a:lnRef idx="0"/>
          <a:fillRef idx="0"/>
          <a:effectRef idx="0"/>
          <a:fontRef idx="minor"/>
        </p:style>
        <p:txBody>
          <a:bodyPr wrap="none" lIns="0" rIns="0" tIns="52200" bIns="52200" anchor="t">
            <a:spAutoFit/>
          </a:bodyPr>
          <a:p>
            <a:pPr algn="ctr">
              <a:lnSpc>
                <a:spcPct val="100000"/>
              </a:lnSpc>
              <a:tabLst>
                <a:tab algn="l" pos="0"/>
                <a:tab algn="l" pos="1073160"/>
                <a:tab algn="l" pos="2146320"/>
                <a:tab algn="l" pos="3219480"/>
                <a:tab algn="l" pos="4292640"/>
                <a:tab algn="l" pos="5365800"/>
                <a:tab algn="l" pos="6438960"/>
                <a:tab algn="l" pos="7512120"/>
                <a:tab algn="l" pos="8585280"/>
                <a:tab algn="l" pos="9658440"/>
                <a:tab algn="l" pos="10731600"/>
              </a:tabLst>
            </a:pPr>
            <a:r>
              <a:rPr b="1" lang="en-IN" sz="1300" strike="noStrike" u="none">
                <a:solidFill>
                  <a:srgbClr val="0000ff"/>
                </a:solidFill>
                <a:effectLst/>
                <a:uFillTx/>
                <a:latin typeface="Arial Narrow"/>
              </a:rPr>
              <a:t>Photochemistry &amp;</a:t>
            </a:r>
            <a:endParaRPr b="0" lang="en-IN" sz="1300" strike="noStrike" u="none">
              <a:solidFill>
                <a:srgbClr val="000000"/>
              </a:solidFill>
              <a:effectLst/>
              <a:uFillTx/>
              <a:latin typeface="Times New Roman"/>
            </a:endParaRPr>
          </a:p>
          <a:p>
            <a:pPr algn="ctr">
              <a:lnSpc>
                <a:spcPct val="100000"/>
              </a:lnSpc>
              <a:tabLst>
                <a:tab algn="l" pos="0"/>
                <a:tab algn="l" pos="1073160"/>
                <a:tab algn="l" pos="2146320"/>
                <a:tab algn="l" pos="3219480"/>
                <a:tab algn="l" pos="4292640"/>
                <a:tab algn="l" pos="5365800"/>
                <a:tab algn="l" pos="6438960"/>
                <a:tab algn="l" pos="7512120"/>
                <a:tab algn="l" pos="8585280"/>
                <a:tab algn="l" pos="9658440"/>
                <a:tab algn="l" pos="10731600"/>
              </a:tabLst>
            </a:pPr>
            <a:r>
              <a:rPr b="1" lang="en-IN" sz="1300" strike="noStrike" u="none">
                <a:solidFill>
                  <a:srgbClr val="0000ff"/>
                </a:solidFill>
                <a:effectLst/>
                <a:uFillTx/>
                <a:latin typeface="Arial Narrow"/>
              </a:rPr>
              <a:t>Radiation Research</a:t>
            </a:r>
            <a:endParaRPr b="0" lang="en-IN" sz="1300" strike="noStrike" u="none">
              <a:solidFill>
                <a:srgbClr val="000000"/>
              </a:solidFill>
              <a:effectLst/>
              <a:uFillTx/>
              <a:latin typeface="Times New Roman"/>
            </a:endParaRPr>
          </a:p>
        </p:txBody>
      </p:sp>
      <p:sp>
        <p:nvSpPr>
          <p:cNvPr id="168" name=""/>
          <p:cNvSpPr/>
          <p:nvPr/>
        </p:nvSpPr>
        <p:spPr>
          <a:xfrm>
            <a:off x="1892880" y="6032520"/>
            <a:ext cx="1317960" cy="461880"/>
          </a:xfrm>
          <a:prstGeom prst="rect">
            <a:avLst/>
          </a:prstGeom>
          <a:noFill/>
          <a:ln w="0">
            <a:noFill/>
          </a:ln>
        </p:spPr>
        <p:style>
          <a:lnRef idx="0"/>
          <a:fillRef idx="0"/>
          <a:effectRef idx="0"/>
          <a:fontRef idx="minor"/>
        </p:style>
        <p:txBody>
          <a:bodyPr wrap="none" lIns="0" rIns="0" tIns="52200" bIns="52200" anchor="t">
            <a:spAutoFit/>
          </a:bodyPr>
          <a:p>
            <a:pPr algn="ctr">
              <a:lnSpc>
                <a:spcPct val="90000"/>
              </a:lnSpc>
              <a:tabLst>
                <a:tab algn="l" pos="0"/>
                <a:tab algn="l" pos="1073160"/>
                <a:tab algn="l" pos="2146320"/>
                <a:tab algn="l" pos="3219480"/>
                <a:tab algn="l" pos="4292640"/>
                <a:tab algn="l" pos="5365800"/>
                <a:tab algn="l" pos="6438960"/>
                <a:tab algn="l" pos="7512120"/>
                <a:tab algn="l" pos="8585280"/>
                <a:tab algn="l" pos="9658440"/>
                <a:tab algn="l" pos="10731600"/>
              </a:tabLst>
            </a:pPr>
            <a:r>
              <a:rPr b="0" lang="en-IN" sz="1300" strike="noStrike" u="none">
                <a:solidFill>
                  <a:srgbClr val="000000"/>
                </a:solidFill>
                <a:effectLst/>
                <a:uFillTx/>
                <a:latin typeface="Arial Narrow"/>
              </a:rPr>
              <a:t>Mary Gress</a:t>
            </a:r>
            <a:endParaRPr b="0" lang="en-IN" sz="1300" strike="noStrike" u="none">
              <a:solidFill>
                <a:srgbClr val="000000"/>
              </a:solidFill>
              <a:effectLst/>
              <a:uFillTx/>
              <a:latin typeface="Times New Roman"/>
            </a:endParaRPr>
          </a:p>
          <a:p>
            <a:pPr algn="ctr">
              <a:lnSpc>
                <a:spcPct val="90000"/>
              </a:lnSpc>
              <a:tabLst>
                <a:tab algn="l" pos="0"/>
                <a:tab algn="l" pos="1073160"/>
                <a:tab algn="l" pos="2146320"/>
                <a:tab algn="l" pos="3219480"/>
                <a:tab algn="l" pos="4292640"/>
                <a:tab algn="l" pos="5365800"/>
                <a:tab algn="l" pos="6438960"/>
                <a:tab algn="l" pos="7512120"/>
                <a:tab algn="l" pos="8585280"/>
                <a:tab algn="l" pos="9658440"/>
                <a:tab algn="l" pos="10731600"/>
              </a:tabLst>
            </a:pPr>
            <a:r>
              <a:rPr b="1" lang="en-IN" sz="1300" strike="noStrike" u="none">
                <a:solidFill>
                  <a:srgbClr val="ff3300"/>
                </a:solidFill>
                <a:effectLst/>
                <a:uFillTx/>
                <a:latin typeface="Wingdings"/>
                <a:ea typeface="Wingdings"/>
              </a:rPr>
              <a:t></a:t>
            </a:r>
            <a:r>
              <a:rPr b="0" lang="en-IN" sz="1300" strike="noStrike" u="none">
                <a:solidFill>
                  <a:srgbClr val="000000"/>
                </a:solidFill>
                <a:effectLst/>
                <a:uFillTx/>
                <a:latin typeface="Arial Narrow"/>
              </a:rPr>
              <a:t>Mark Spitler, NREL</a:t>
            </a:r>
            <a:endParaRPr b="0" lang="en-IN" sz="1300" strike="noStrike" u="none">
              <a:solidFill>
                <a:srgbClr val="000000"/>
              </a:solidFill>
              <a:effectLst/>
              <a:uFillTx/>
              <a:latin typeface="Times New Roman"/>
            </a:endParaRPr>
          </a:p>
        </p:txBody>
      </p:sp>
      <p:sp>
        <p:nvSpPr>
          <p:cNvPr id="169" name=""/>
          <p:cNvSpPr/>
          <p:nvPr/>
        </p:nvSpPr>
        <p:spPr>
          <a:xfrm>
            <a:off x="5472360" y="3294000"/>
            <a:ext cx="1183320" cy="640080"/>
          </a:xfrm>
          <a:prstGeom prst="rect">
            <a:avLst/>
          </a:prstGeom>
          <a:noFill/>
          <a:ln w="0">
            <a:noFill/>
          </a:ln>
        </p:spPr>
        <p:style>
          <a:lnRef idx="0"/>
          <a:fillRef idx="0"/>
          <a:effectRef idx="0"/>
          <a:fontRef idx="minor"/>
        </p:style>
        <p:txBody>
          <a:bodyPr wrap="none" lIns="0" rIns="0" tIns="52200" bIns="52200" anchor="t">
            <a:spAutoFit/>
          </a:bodyPr>
          <a:p>
            <a:pPr algn="ctr">
              <a:lnSpc>
                <a:spcPct val="90000"/>
              </a:lnSpc>
              <a:tabLst>
                <a:tab algn="l" pos="0"/>
                <a:tab algn="l" pos="1073160"/>
                <a:tab algn="l" pos="2146320"/>
                <a:tab algn="l" pos="3219480"/>
                <a:tab algn="l" pos="4292640"/>
                <a:tab algn="l" pos="5365800"/>
                <a:tab algn="l" pos="6438960"/>
                <a:tab algn="l" pos="7512120"/>
                <a:tab algn="l" pos="8585280"/>
                <a:tab algn="l" pos="9658440"/>
                <a:tab algn="l" pos="10731600"/>
              </a:tabLst>
            </a:pPr>
            <a:r>
              <a:rPr b="0" lang="en-IN" sz="1300" strike="noStrike" u="none">
                <a:solidFill>
                  <a:srgbClr val="000000"/>
                </a:solidFill>
                <a:effectLst/>
                <a:uFillTx/>
                <a:latin typeface="Arial Narrow"/>
              </a:rPr>
              <a:t>Raul Miranda</a:t>
            </a:r>
            <a:endParaRPr b="0" lang="en-IN" sz="1300" strike="noStrike" u="none">
              <a:solidFill>
                <a:srgbClr val="000000"/>
              </a:solidFill>
              <a:effectLst/>
              <a:uFillTx/>
              <a:latin typeface="Times New Roman"/>
            </a:endParaRPr>
          </a:p>
          <a:p>
            <a:pPr algn="ctr">
              <a:lnSpc>
                <a:spcPct val="90000"/>
              </a:lnSpc>
              <a:tabLst>
                <a:tab algn="l" pos="0"/>
                <a:tab algn="l" pos="1073160"/>
                <a:tab algn="l" pos="2146320"/>
                <a:tab algn="l" pos="3219480"/>
                <a:tab algn="l" pos="4292640"/>
                <a:tab algn="l" pos="5365800"/>
                <a:tab algn="l" pos="6438960"/>
                <a:tab algn="l" pos="7512120"/>
                <a:tab algn="l" pos="8585280"/>
                <a:tab algn="l" pos="9658440"/>
                <a:tab algn="l" pos="10731600"/>
              </a:tabLst>
            </a:pPr>
            <a:r>
              <a:rPr b="0" lang="en-IN" sz="1300" strike="noStrike" u="none">
                <a:solidFill>
                  <a:srgbClr val="ff0000"/>
                </a:solidFill>
                <a:effectLst/>
                <a:uFillTx/>
                <a:latin typeface="Wingdings"/>
                <a:ea typeface="Wingdings"/>
              </a:rPr>
              <a:t></a:t>
            </a:r>
            <a:r>
              <a:rPr b="0" lang="en-IN" sz="1300" strike="noStrike" u="none">
                <a:solidFill>
                  <a:srgbClr val="000000"/>
                </a:solidFill>
                <a:effectLst/>
                <a:uFillTx/>
                <a:latin typeface="Arial Narrow"/>
              </a:rPr>
              <a:t>Mike Chen, ANL</a:t>
            </a:r>
            <a:r>
              <a:rPr b="0" lang="en-IN" sz="1300" strike="noStrike" u="none">
                <a:solidFill>
                  <a:srgbClr val="ff00ff"/>
                </a:solidFill>
                <a:effectLst/>
                <a:uFillTx/>
                <a:latin typeface="Arial Narrow"/>
              </a:rPr>
              <a:t> </a:t>
            </a:r>
            <a:endParaRPr b="0" lang="en-IN" sz="1300" strike="noStrike" u="none">
              <a:solidFill>
                <a:srgbClr val="000000"/>
              </a:solidFill>
              <a:effectLst/>
              <a:uFillTx/>
              <a:latin typeface="Times New Roman"/>
            </a:endParaRPr>
          </a:p>
          <a:p>
            <a:pPr algn="ctr">
              <a:lnSpc>
                <a:spcPct val="90000"/>
              </a:lnSpc>
              <a:tabLst>
                <a:tab algn="l" pos="0"/>
                <a:tab algn="l" pos="1073160"/>
                <a:tab algn="l" pos="2146320"/>
                <a:tab algn="l" pos="3219480"/>
                <a:tab algn="l" pos="4292640"/>
                <a:tab algn="l" pos="5365800"/>
                <a:tab algn="l" pos="6438960"/>
                <a:tab algn="l" pos="7512120"/>
                <a:tab algn="l" pos="8585280"/>
                <a:tab algn="l" pos="9658440"/>
                <a:tab algn="l" pos="10731600"/>
              </a:tabLst>
            </a:pPr>
            <a:endParaRPr b="0" lang="en-IN" sz="1300" strike="noStrike" u="none">
              <a:solidFill>
                <a:srgbClr val="000000"/>
              </a:solidFill>
              <a:effectLst/>
              <a:uFillTx/>
              <a:latin typeface="Times New Roman"/>
            </a:endParaRPr>
          </a:p>
        </p:txBody>
      </p:sp>
      <p:sp>
        <p:nvSpPr>
          <p:cNvPr id="170" name=""/>
          <p:cNvSpPr/>
          <p:nvPr/>
        </p:nvSpPr>
        <p:spPr>
          <a:xfrm>
            <a:off x="1501920" y="4719600"/>
            <a:ext cx="2036520" cy="858960"/>
          </a:xfrm>
          <a:prstGeom prst="rect">
            <a:avLst/>
          </a:prstGeom>
          <a:solidFill>
            <a:srgbClr val="ff99cc"/>
          </a:solidFill>
          <a:ln w="12600">
            <a:solidFill>
              <a:srgbClr val="000000"/>
            </a:solidFill>
            <a:miter/>
          </a:ln>
        </p:spPr>
        <p:style>
          <a:lnRef idx="0"/>
          <a:fillRef idx="0"/>
          <a:effectRef idx="0"/>
          <a:fontRef idx="minor"/>
        </p:style>
        <p:txBody>
          <a:bodyPr wrap="none" lIns="0" rIns="0" tIns="51120" bIns="51120" anchor="ctr">
            <a:noAutofit/>
          </a:bodyPr>
          <a:p>
            <a:pPr algn="ctr">
              <a:lnSpc>
                <a:spcPct val="100000"/>
              </a:lnSpc>
              <a:tabLst>
                <a:tab algn="l" pos="0"/>
                <a:tab algn="l" pos="1019160"/>
                <a:tab algn="l" pos="2038320"/>
                <a:tab algn="l" pos="3057480"/>
                <a:tab algn="l" pos="4076640"/>
                <a:tab algn="l" pos="5095800"/>
                <a:tab algn="l" pos="6114960"/>
                <a:tab algn="l" pos="7134120"/>
                <a:tab algn="l" pos="8153280"/>
                <a:tab algn="l" pos="9172440"/>
                <a:tab algn="l" pos="10191600"/>
              </a:tabLst>
            </a:pPr>
            <a:endParaRPr b="0" lang="en-IN" sz="2400" strike="noStrike" u="none">
              <a:solidFill>
                <a:srgbClr val="000000"/>
              </a:solidFill>
              <a:effectLst/>
              <a:uFillTx/>
              <a:latin typeface="Times New Roman"/>
            </a:endParaRPr>
          </a:p>
        </p:txBody>
      </p:sp>
      <p:sp>
        <p:nvSpPr>
          <p:cNvPr id="171" name=""/>
          <p:cNvSpPr/>
          <p:nvPr/>
        </p:nvSpPr>
        <p:spPr>
          <a:xfrm>
            <a:off x="1720800" y="4818240"/>
            <a:ext cx="1703520" cy="303120"/>
          </a:xfrm>
          <a:prstGeom prst="rect">
            <a:avLst/>
          </a:prstGeom>
          <a:noFill/>
          <a:ln w="0">
            <a:noFill/>
          </a:ln>
        </p:spPr>
        <p:style>
          <a:lnRef idx="0"/>
          <a:fillRef idx="0"/>
          <a:effectRef idx="0"/>
          <a:fontRef idx="minor"/>
        </p:style>
        <p:txBody>
          <a:bodyPr wrap="none" lIns="0" rIns="0" tIns="52200" bIns="52200" anchor="t">
            <a:spAutoFit/>
          </a:bodyPr>
          <a:p>
            <a:pPr algn="ctr">
              <a:lnSpc>
                <a:spcPct val="100000"/>
              </a:lnSpc>
              <a:tabLst>
                <a:tab algn="l" pos="0"/>
                <a:tab algn="l" pos="1073160"/>
                <a:tab algn="l" pos="2146320"/>
                <a:tab algn="l" pos="3219480"/>
                <a:tab algn="l" pos="4292640"/>
                <a:tab algn="l" pos="5365800"/>
                <a:tab algn="l" pos="6438960"/>
                <a:tab algn="l" pos="7512120"/>
                <a:tab algn="l" pos="8585280"/>
                <a:tab algn="l" pos="9658440"/>
                <a:tab algn="l" pos="10731600"/>
              </a:tabLst>
            </a:pPr>
            <a:r>
              <a:rPr b="1" lang="en-IN" sz="1300" strike="noStrike" u="none">
                <a:solidFill>
                  <a:srgbClr val="0000ff"/>
                </a:solidFill>
                <a:effectLst/>
                <a:uFillTx/>
                <a:latin typeface="Arial Narrow"/>
              </a:rPr>
              <a:t>Chemical Physics (CPIMS)</a:t>
            </a:r>
            <a:endParaRPr b="0" lang="en-IN" sz="1300" strike="noStrike" u="none">
              <a:solidFill>
                <a:srgbClr val="000000"/>
              </a:solidFill>
              <a:effectLst/>
              <a:uFillTx/>
              <a:latin typeface="Times New Roman"/>
            </a:endParaRPr>
          </a:p>
        </p:txBody>
      </p:sp>
      <p:sp>
        <p:nvSpPr>
          <p:cNvPr id="172" name=""/>
          <p:cNvSpPr/>
          <p:nvPr/>
        </p:nvSpPr>
        <p:spPr>
          <a:xfrm>
            <a:off x="2032200" y="5118120"/>
            <a:ext cx="1088640" cy="283320"/>
          </a:xfrm>
          <a:prstGeom prst="rect">
            <a:avLst/>
          </a:prstGeom>
          <a:noFill/>
          <a:ln w="0">
            <a:noFill/>
          </a:ln>
        </p:spPr>
        <p:style>
          <a:lnRef idx="0"/>
          <a:fillRef idx="0"/>
          <a:effectRef idx="0"/>
          <a:fontRef idx="minor"/>
        </p:style>
        <p:txBody>
          <a:bodyPr wrap="none" lIns="0" rIns="0" tIns="52200" bIns="52200" anchor="t">
            <a:spAutoFit/>
          </a:bodyPr>
          <a:p>
            <a:pPr algn="ctr">
              <a:lnSpc>
                <a:spcPct val="90000"/>
              </a:lnSpc>
              <a:tabLst>
                <a:tab algn="l" pos="0"/>
                <a:tab algn="l" pos="1073160"/>
                <a:tab algn="l" pos="2146320"/>
                <a:tab algn="l" pos="3219480"/>
                <a:tab algn="l" pos="4292640"/>
                <a:tab algn="l" pos="5365800"/>
                <a:tab algn="l" pos="6438960"/>
                <a:tab algn="l" pos="7512120"/>
                <a:tab algn="l" pos="8585280"/>
                <a:tab algn="l" pos="9658440"/>
                <a:tab algn="l" pos="10731600"/>
              </a:tabLst>
            </a:pPr>
            <a:r>
              <a:rPr b="0" lang="en-IN" sz="1300" strike="noStrike" u="none">
                <a:solidFill>
                  <a:srgbClr val="000000"/>
                </a:solidFill>
                <a:effectLst/>
                <a:uFillTx/>
                <a:latin typeface="Arial Narrow"/>
              </a:rPr>
              <a:t>Gregory Fiechtner</a:t>
            </a:r>
            <a:endParaRPr b="0" lang="en-IN" sz="1300" strike="noStrike" u="none">
              <a:solidFill>
                <a:srgbClr val="000000"/>
              </a:solidFill>
              <a:effectLst/>
              <a:uFillTx/>
              <a:latin typeface="Times New Roman"/>
            </a:endParaRPr>
          </a:p>
        </p:txBody>
      </p:sp>
      <p:sp>
        <p:nvSpPr>
          <p:cNvPr id="173" name=""/>
          <p:cNvSpPr/>
          <p:nvPr/>
        </p:nvSpPr>
        <p:spPr>
          <a:xfrm>
            <a:off x="7954200" y="4038480"/>
            <a:ext cx="1775880" cy="283320"/>
          </a:xfrm>
          <a:prstGeom prst="rect">
            <a:avLst/>
          </a:prstGeom>
          <a:noFill/>
          <a:ln w="0">
            <a:noFill/>
          </a:ln>
        </p:spPr>
        <p:style>
          <a:lnRef idx="0"/>
          <a:fillRef idx="0"/>
          <a:effectRef idx="0"/>
          <a:fontRef idx="minor"/>
        </p:style>
        <p:txBody>
          <a:bodyPr wrap="none" lIns="0" rIns="0" tIns="52200" bIns="52200" anchor="t">
            <a:spAutoFit/>
          </a:bodyPr>
          <a:p>
            <a:pPr algn="ctr">
              <a:lnSpc>
                <a:spcPct val="90000"/>
              </a:lnSpc>
              <a:tabLst>
                <a:tab algn="l" pos="0"/>
                <a:tab algn="l" pos="1073160"/>
                <a:tab algn="l" pos="2146320"/>
                <a:tab algn="l" pos="3219480"/>
                <a:tab algn="l" pos="4292640"/>
                <a:tab algn="l" pos="5365800"/>
                <a:tab algn="l" pos="6438960"/>
                <a:tab algn="l" pos="7512120"/>
                <a:tab algn="l" pos="8585280"/>
                <a:tab algn="l" pos="9658440"/>
                <a:tab algn="l" pos="10731600"/>
              </a:tabLst>
            </a:pPr>
            <a:r>
              <a:rPr b="1" lang="en-US" sz="1300" strike="noStrike" u="none">
                <a:solidFill>
                  <a:srgbClr val="ff3300"/>
                </a:solidFill>
                <a:effectLst/>
                <a:uFillTx/>
                <a:latin typeface="Wingdings"/>
                <a:ea typeface="Wingdings"/>
              </a:rPr>
              <a:t></a:t>
            </a:r>
            <a:r>
              <a:rPr b="1" lang="en-US" sz="1300" strike="noStrike" u="none">
                <a:solidFill>
                  <a:srgbClr val="ff3300"/>
                </a:solidFill>
                <a:effectLst/>
                <a:uFillTx/>
                <a:latin typeface="Arial Narrow"/>
              </a:rPr>
              <a:t>  </a:t>
            </a:r>
            <a:r>
              <a:rPr b="0" lang="en-US" sz="1300" strike="noStrike" u="none">
                <a:solidFill>
                  <a:srgbClr val="000000"/>
                </a:solidFill>
                <a:effectLst/>
                <a:uFillTx/>
                <a:latin typeface="Arial Narrow"/>
              </a:rPr>
              <a:t>Pin-Ching Maness, NREL</a:t>
            </a:r>
            <a:endParaRPr b="0" lang="en-IN" sz="1300" strike="noStrike" u="none">
              <a:solidFill>
                <a:srgbClr val="000000"/>
              </a:solidFill>
              <a:effectLst/>
              <a:uFillTx/>
              <a:latin typeface="Times New Roman"/>
            </a:endParaRPr>
          </a:p>
        </p:txBody>
      </p:sp>
      <p:sp>
        <p:nvSpPr>
          <p:cNvPr id="174" name=""/>
          <p:cNvSpPr/>
          <p:nvPr/>
        </p:nvSpPr>
        <p:spPr>
          <a:xfrm>
            <a:off x="152280" y="3537000"/>
            <a:ext cx="1352520" cy="388440"/>
          </a:xfrm>
          <a:prstGeom prst="rect">
            <a:avLst/>
          </a:prstGeom>
          <a:solidFill>
            <a:srgbClr val="ffff99"/>
          </a:solidFill>
          <a:ln w="0">
            <a:noFill/>
          </a:ln>
        </p:spPr>
        <p:style>
          <a:lnRef idx="0"/>
          <a:fillRef idx="0"/>
          <a:effectRef idx="0"/>
          <a:fontRef idx="minor"/>
        </p:style>
        <p:txBody>
          <a:bodyPr wrap="none" lIns="114120" rIns="114120" tIns="56880" bIns="56880" anchor="t">
            <a:spAutoFit/>
          </a:bodyPr>
          <a:p>
            <a:pPr>
              <a:lnSpc>
                <a:spcPct val="100000"/>
              </a:lnSpc>
              <a:tabLst>
                <a:tab algn="l" pos="0"/>
                <a:tab algn="l" pos="1019160"/>
                <a:tab algn="l" pos="2038320"/>
                <a:tab algn="l" pos="3057480"/>
                <a:tab algn="l" pos="4076640"/>
                <a:tab algn="l" pos="5095800"/>
                <a:tab algn="l" pos="6114960"/>
                <a:tab algn="l" pos="7134120"/>
                <a:tab algn="l" pos="8153280"/>
                <a:tab algn="l" pos="9172440"/>
                <a:tab algn="l" pos="10191600"/>
              </a:tabLst>
            </a:pPr>
            <a:r>
              <a:rPr b="1" lang="en-IN" sz="1800" strike="noStrike" u="none">
                <a:solidFill>
                  <a:srgbClr val="000000"/>
                </a:solidFill>
                <a:effectLst/>
                <a:uFillTx/>
                <a:latin typeface="Arial Narrow"/>
              </a:rPr>
              <a:t>COV Panel </a:t>
            </a:r>
            <a:r>
              <a:rPr b="1" lang="en-IN" sz="1800" strike="noStrike" u="none">
                <a:solidFill>
                  <a:srgbClr val="000000"/>
                </a:solidFill>
                <a:effectLst/>
                <a:uFillTx/>
                <a:latin typeface="Arial Narrow"/>
              </a:rPr>
              <a:t>	</a:t>
            </a:r>
            <a:r>
              <a:rPr b="1" lang="en-IN" sz="1800" strike="noStrike" u="none">
                <a:solidFill>
                  <a:srgbClr val="000000"/>
                </a:solidFill>
                <a:effectLst/>
                <a:uFillTx/>
                <a:latin typeface="Arial Narrow"/>
              </a:rPr>
              <a:t>1</a:t>
            </a:r>
            <a:endParaRPr b="0" lang="en-IN" sz="1800" strike="noStrike" u="none">
              <a:solidFill>
                <a:srgbClr val="000000"/>
              </a:solidFill>
              <a:effectLst/>
              <a:uFillTx/>
              <a:latin typeface="Times New Roman"/>
            </a:endParaRPr>
          </a:p>
        </p:txBody>
      </p:sp>
      <p:sp>
        <p:nvSpPr>
          <p:cNvPr id="175" name=""/>
          <p:cNvSpPr/>
          <p:nvPr/>
        </p:nvSpPr>
        <p:spPr>
          <a:xfrm>
            <a:off x="152280" y="5442120"/>
            <a:ext cx="1352520" cy="388440"/>
          </a:xfrm>
          <a:prstGeom prst="rect">
            <a:avLst/>
          </a:prstGeom>
          <a:solidFill>
            <a:srgbClr val="ff99cc"/>
          </a:solidFill>
          <a:ln w="0">
            <a:noFill/>
          </a:ln>
        </p:spPr>
        <p:style>
          <a:lnRef idx="0"/>
          <a:fillRef idx="0"/>
          <a:effectRef idx="0"/>
          <a:fontRef idx="minor"/>
        </p:style>
        <p:txBody>
          <a:bodyPr wrap="none" lIns="114120" rIns="114120" tIns="56880" bIns="56880" anchor="t">
            <a:spAutoFit/>
          </a:bodyPr>
          <a:p>
            <a:pPr>
              <a:lnSpc>
                <a:spcPct val="100000"/>
              </a:lnSpc>
              <a:tabLst>
                <a:tab algn="l" pos="0"/>
                <a:tab algn="l" pos="1019160"/>
                <a:tab algn="l" pos="2038320"/>
                <a:tab algn="l" pos="3057480"/>
                <a:tab algn="l" pos="4076640"/>
                <a:tab algn="l" pos="5095800"/>
                <a:tab algn="l" pos="6114960"/>
                <a:tab algn="l" pos="7134120"/>
                <a:tab algn="l" pos="8153280"/>
                <a:tab algn="l" pos="9172440"/>
                <a:tab algn="l" pos="10191600"/>
              </a:tabLst>
            </a:pPr>
            <a:r>
              <a:rPr b="1" lang="en-IN" sz="1800" strike="noStrike" u="none">
                <a:solidFill>
                  <a:srgbClr val="000000"/>
                </a:solidFill>
                <a:effectLst/>
                <a:uFillTx/>
                <a:latin typeface="Arial Narrow"/>
              </a:rPr>
              <a:t>COV Panel </a:t>
            </a:r>
            <a:r>
              <a:rPr b="1" lang="en-IN" sz="1800" strike="noStrike" u="none">
                <a:solidFill>
                  <a:srgbClr val="000000"/>
                </a:solidFill>
                <a:effectLst/>
                <a:uFillTx/>
                <a:latin typeface="Arial Narrow"/>
              </a:rPr>
              <a:t>	</a:t>
            </a:r>
            <a:r>
              <a:rPr b="1" lang="en-IN" sz="1800" strike="noStrike" u="none">
                <a:solidFill>
                  <a:srgbClr val="000000"/>
                </a:solidFill>
                <a:effectLst/>
                <a:uFillTx/>
                <a:latin typeface="Arial Narrow"/>
              </a:rPr>
              <a:t>2</a:t>
            </a:r>
            <a:endParaRPr b="0" lang="en-IN" sz="1800" strike="noStrike" u="none">
              <a:solidFill>
                <a:srgbClr val="000000"/>
              </a:solidFill>
              <a:effectLst/>
              <a:uFillTx/>
              <a:latin typeface="Times New Roman"/>
            </a:endParaRPr>
          </a:p>
        </p:txBody>
      </p:sp>
      <p:sp>
        <p:nvSpPr>
          <p:cNvPr id="176" name=""/>
          <p:cNvSpPr/>
          <p:nvPr/>
        </p:nvSpPr>
        <p:spPr>
          <a:xfrm>
            <a:off x="3645000" y="3549600"/>
            <a:ext cx="1352520" cy="388440"/>
          </a:xfrm>
          <a:prstGeom prst="rect">
            <a:avLst/>
          </a:prstGeom>
          <a:solidFill>
            <a:srgbClr val="ccffff"/>
          </a:solidFill>
          <a:ln w="0">
            <a:noFill/>
          </a:ln>
        </p:spPr>
        <p:style>
          <a:lnRef idx="0"/>
          <a:fillRef idx="0"/>
          <a:effectRef idx="0"/>
          <a:fontRef idx="minor"/>
        </p:style>
        <p:txBody>
          <a:bodyPr wrap="none" lIns="114120" rIns="114120" tIns="56880" bIns="56880" anchor="t">
            <a:spAutoFit/>
          </a:bodyPr>
          <a:p>
            <a:pPr>
              <a:lnSpc>
                <a:spcPct val="100000"/>
              </a:lnSpc>
              <a:tabLst>
                <a:tab algn="l" pos="0"/>
                <a:tab algn="l" pos="1019160"/>
                <a:tab algn="l" pos="2038320"/>
                <a:tab algn="l" pos="3057480"/>
                <a:tab algn="l" pos="4076640"/>
                <a:tab algn="l" pos="5095800"/>
                <a:tab algn="l" pos="6114960"/>
                <a:tab algn="l" pos="7134120"/>
                <a:tab algn="l" pos="8153280"/>
                <a:tab algn="l" pos="9172440"/>
                <a:tab algn="l" pos="10191600"/>
              </a:tabLst>
            </a:pPr>
            <a:r>
              <a:rPr b="1" lang="en-IN" sz="1800" strike="noStrike" u="none">
                <a:solidFill>
                  <a:srgbClr val="000000"/>
                </a:solidFill>
                <a:effectLst/>
                <a:uFillTx/>
                <a:latin typeface="Arial Narrow"/>
              </a:rPr>
              <a:t>COV Panel </a:t>
            </a:r>
            <a:r>
              <a:rPr b="1" lang="en-IN" sz="1800" strike="noStrike" u="none">
                <a:solidFill>
                  <a:srgbClr val="000000"/>
                </a:solidFill>
                <a:effectLst/>
                <a:uFillTx/>
                <a:latin typeface="Arial Narrow"/>
              </a:rPr>
              <a:t>	</a:t>
            </a:r>
            <a:r>
              <a:rPr b="1" lang="en-IN" sz="1800" strike="noStrike" u="none">
                <a:solidFill>
                  <a:srgbClr val="000000"/>
                </a:solidFill>
                <a:effectLst/>
                <a:uFillTx/>
                <a:latin typeface="Arial Narrow"/>
              </a:rPr>
              <a:t>3</a:t>
            </a:r>
            <a:endParaRPr b="0" lang="en-IN" sz="1800" strike="noStrike" u="none">
              <a:solidFill>
                <a:srgbClr val="000000"/>
              </a:solidFill>
              <a:effectLst/>
              <a:uFillTx/>
              <a:latin typeface="Times New Roman"/>
            </a:endParaRPr>
          </a:p>
        </p:txBody>
      </p:sp>
      <p:sp>
        <p:nvSpPr>
          <p:cNvPr id="177" name=""/>
          <p:cNvSpPr/>
          <p:nvPr/>
        </p:nvSpPr>
        <p:spPr>
          <a:xfrm>
            <a:off x="3670200" y="5391000"/>
            <a:ext cx="1352520" cy="388440"/>
          </a:xfrm>
          <a:prstGeom prst="rect">
            <a:avLst/>
          </a:prstGeom>
          <a:solidFill>
            <a:srgbClr val="ccccff"/>
          </a:solidFill>
          <a:ln w="0">
            <a:noFill/>
          </a:ln>
        </p:spPr>
        <p:style>
          <a:lnRef idx="0"/>
          <a:fillRef idx="0"/>
          <a:effectRef idx="0"/>
          <a:fontRef idx="minor"/>
        </p:style>
        <p:txBody>
          <a:bodyPr wrap="none" lIns="114120" rIns="114120" tIns="56880" bIns="56880" anchor="t">
            <a:spAutoFit/>
          </a:bodyPr>
          <a:p>
            <a:pPr>
              <a:lnSpc>
                <a:spcPct val="100000"/>
              </a:lnSpc>
              <a:tabLst>
                <a:tab algn="l" pos="0"/>
                <a:tab algn="l" pos="1019160"/>
                <a:tab algn="l" pos="2038320"/>
                <a:tab algn="l" pos="3057480"/>
                <a:tab algn="l" pos="4076640"/>
                <a:tab algn="l" pos="5095800"/>
                <a:tab algn="l" pos="6114960"/>
                <a:tab algn="l" pos="7134120"/>
                <a:tab algn="l" pos="8153280"/>
                <a:tab algn="l" pos="9172440"/>
                <a:tab algn="l" pos="10191600"/>
              </a:tabLst>
            </a:pPr>
            <a:r>
              <a:rPr b="1" lang="en-IN" sz="1800" strike="noStrike" u="none">
                <a:solidFill>
                  <a:srgbClr val="000000"/>
                </a:solidFill>
                <a:effectLst/>
                <a:uFillTx/>
                <a:latin typeface="Arial Narrow"/>
              </a:rPr>
              <a:t>COV Panel </a:t>
            </a:r>
            <a:r>
              <a:rPr b="1" lang="en-IN" sz="1800" strike="noStrike" u="none">
                <a:solidFill>
                  <a:srgbClr val="000000"/>
                </a:solidFill>
                <a:effectLst/>
                <a:uFillTx/>
                <a:latin typeface="Arial Narrow"/>
              </a:rPr>
              <a:t>	</a:t>
            </a:r>
            <a:r>
              <a:rPr b="1" lang="en-IN" sz="1800" strike="noStrike" u="none">
                <a:solidFill>
                  <a:srgbClr val="000000"/>
                </a:solidFill>
                <a:effectLst/>
                <a:uFillTx/>
                <a:latin typeface="Arial Narrow"/>
              </a:rPr>
              <a:t>4</a:t>
            </a:r>
            <a:endParaRPr b="0" lang="en-IN" sz="1800" strike="noStrike" u="none">
              <a:solidFill>
                <a:srgbClr val="000000"/>
              </a:solidFill>
              <a:effectLst/>
              <a:uFillTx/>
              <a:latin typeface="Times New Roman"/>
            </a:endParaRPr>
          </a:p>
        </p:txBody>
      </p:sp>
      <p:sp>
        <p:nvSpPr>
          <p:cNvPr id="178" name=""/>
          <p:cNvSpPr/>
          <p:nvPr/>
        </p:nvSpPr>
        <p:spPr>
          <a:xfrm>
            <a:off x="3670200" y="6775560"/>
            <a:ext cx="1352520" cy="388440"/>
          </a:xfrm>
          <a:prstGeom prst="rect">
            <a:avLst/>
          </a:prstGeom>
          <a:solidFill>
            <a:srgbClr val="ffcc99"/>
          </a:solidFill>
          <a:ln w="0">
            <a:noFill/>
          </a:ln>
        </p:spPr>
        <p:style>
          <a:lnRef idx="0"/>
          <a:fillRef idx="0"/>
          <a:effectRef idx="0"/>
          <a:fontRef idx="minor"/>
        </p:style>
        <p:txBody>
          <a:bodyPr wrap="none" lIns="114120" rIns="114120" tIns="56880" bIns="56880" anchor="t">
            <a:spAutoFit/>
          </a:bodyPr>
          <a:p>
            <a:pPr>
              <a:lnSpc>
                <a:spcPct val="100000"/>
              </a:lnSpc>
              <a:tabLst>
                <a:tab algn="l" pos="0"/>
                <a:tab algn="l" pos="1019160"/>
                <a:tab algn="l" pos="2038320"/>
                <a:tab algn="l" pos="3057480"/>
                <a:tab algn="l" pos="4076640"/>
                <a:tab algn="l" pos="5095800"/>
                <a:tab algn="l" pos="6114960"/>
                <a:tab algn="l" pos="7134120"/>
                <a:tab algn="l" pos="8153280"/>
                <a:tab algn="l" pos="9172440"/>
                <a:tab algn="l" pos="10191600"/>
              </a:tabLst>
            </a:pPr>
            <a:r>
              <a:rPr b="1" lang="en-IN" sz="1800" strike="noStrike" u="none">
                <a:solidFill>
                  <a:srgbClr val="000000"/>
                </a:solidFill>
                <a:effectLst/>
                <a:uFillTx/>
                <a:latin typeface="Arial Narrow"/>
              </a:rPr>
              <a:t>COV Panel </a:t>
            </a:r>
            <a:r>
              <a:rPr b="1" lang="en-IN" sz="1800" strike="noStrike" u="none">
                <a:solidFill>
                  <a:srgbClr val="000000"/>
                </a:solidFill>
                <a:effectLst/>
                <a:uFillTx/>
                <a:latin typeface="Arial Narrow"/>
              </a:rPr>
              <a:t>	</a:t>
            </a:r>
            <a:r>
              <a:rPr b="1" lang="en-IN" sz="1800" strike="noStrike" u="none">
                <a:solidFill>
                  <a:srgbClr val="000000"/>
                </a:solidFill>
                <a:effectLst/>
                <a:uFillTx/>
                <a:latin typeface="Arial Narrow"/>
              </a:rPr>
              <a:t>5</a:t>
            </a:r>
            <a:endParaRPr b="0" lang="en-IN" sz="1800" strike="noStrike" u="none">
              <a:solidFill>
                <a:srgbClr val="000000"/>
              </a:solidFill>
              <a:effectLst/>
              <a:uFillTx/>
              <a:latin typeface="Times New Roman"/>
            </a:endParaRPr>
          </a:p>
        </p:txBody>
      </p:sp>
      <p:sp>
        <p:nvSpPr>
          <p:cNvPr id="179" name=""/>
          <p:cNvSpPr/>
          <p:nvPr/>
        </p:nvSpPr>
        <p:spPr>
          <a:xfrm>
            <a:off x="8191440" y="4578480"/>
            <a:ext cx="1352520" cy="388440"/>
          </a:xfrm>
          <a:prstGeom prst="rect">
            <a:avLst/>
          </a:prstGeom>
          <a:solidFill>
            <a:srgbClr val="00ff00"/>
          </a:solidFill>
          <a:ln w="0">
            <a:noFill/>
          </a:ln>
        </p:spPr>
        <p:style>
          <a:lnRef idx="0"/>
          <a:fillRef idx="0"/>
          <a:effectRef idx="0"/>
          <a:fontRef idx="minor"/>
        </p:style>
        <p:txBody>
          <a:bodyPr wrap="none" lIns="114120" rIns="114120" tIns="56880" bIns="56880" anchor="t">
            <a:spAutoFit/>
          </a:bodyPr>
          <a:p>
            <a:pPr>
              <a:lnSpc>
                <a:spcPct val="100000"/>
              </a:lnSpc>
              <a:tabLst>
                <a:tab algn="l" pos="0"/>
                <a:tab algn="l" pos="1019160"/>
                <a:tab algn="l" pos="2038320"/>
                <a:tab algn="l" pos="3057480"/>
                <a:tab algn="l" pos="4076640"/>
                <a:tab algn="l" pos="5095800"/>
                <a:tab algn="l" pos="6114960"/>
                <a:tab algn="l" pos="7134120"/>
                <a:tab algn="l" pos="8153280"/>
                <a:tab algn="l" pos="9172440"/>
                <a:tab algn="l" pos="10191600"/>
              </a:tabLst>
            </a:pPr>
            <a:r>
              <a:rPr b="1" lang="en-IN" sz="1800" strike="noStrike" u="none">
                <a:solidFill>
                  <a:srgbClr val="000000"/>
                </a:solidFill>
                <a:effectLst/>
                <a:uFillTx/>
                <a:latin typeface="Arial Narrow"/>
              </a:rPr>
              <a:t>COV Panel </a:t>
            </a:r>
            <a:r>
              <a:rPr b="1" lang="en-IN" sz="1800" strike="noStrike" u="none">
                <a:solidFill>
                  <a:srgbClr val="000000"/>
                </a:solidFill>
                <a:effectLst/>
                <a:uFillTx/>
                <a:latin typeface="Arial Narrow"/>
              </a:rPr>
              <a:t>	</a:t>
            </a:r>
            <a:r>
              <a:rPr b="1" lang="en-IN" sz="1800" strike="noStrike" u="none">
                <a:solidFill>
                  <a:srgbClr val="000000"/>
                </a:solidFill>
                <a:effectLst/>
                <a:uFillTx/>
                <a:latin typeface="Arial Narrow"/>
              </a:rPr>
              <a:t>6</a:t>
            </a:r>
            <a:endParaRPr b="0" lang="en-IN" sz="1800" strike="noStrike" u="none">
              <a:solidFill>
                <a:srgbClr val="000000"/>
              </a:solidFill>
              <a:effectLst/>
              <a:uFillTx/>
              <a:latin typeface="Times New Roman"/>
            </a:endParaRPr>
          </a:p>
        </p:txBody>
      </p:sp>
      <p:sp>
        <p:nvSpPr>
          <p:cNvPr id="180" name=""/>
          <p:cNvSpPr/>
          <p:nvPr/>
        </p:nvSpPr>
        <p:spPr>
          <a:xfrm>
            <a:off x="0" y="4398840"/>
            <a:ext cx="1447920" cy="601560"/>
          </a:xfrm>
          <a:prstGeom prst="rect">
            <a:avLst/>
          </a:prstGeom>
          <a:noFill/>
          <a:ln w="0">
            <a:noFill/>
          </a:ln>
        </p:spPr>
        <p:style>
          <a:lnRef idx="0"/>
          <a:fillRef idx="0"/>
          <a:effectRef idx="0"/>
          <a:fontRef idx="minor"/>
        </p:style>
        <p:txBody>
          <a:bodyPr wrap="none" lIns="114120" rIns="114120" tIns="56880" bIns="56880" anchor="t">
            <a:spAutoFit/>
          </a:bodyPr>
          <a:p>
            <a:pPr>
              <a:lnSpc>
                <a:spcPct val="100000"/>
              </a:lnSpc>
              <a:tabLst>
                <a:tab algn="l" pos="0"/>
                <a:tab algn="l" pos="1019160"/>
                <a:tab algn="l" pos="2038320"/>
                <a:tab algn="l" pos="3057480"/>
                <a:tab algn="l" pos="4076640"/>
                <a:tab algn="l" pos="5095800"/>
                <a:tab algn="l" pos="6114960"/>
                <a:tab algn="l" pos="7134120"/>
                <a:tab algn="l" pos="8153280"/>
                <a:tab algn="l" pos="9172440"/>
                <a:tab algn="l" pos="10191600"/>
              </a:tabLst>
            </a:pPr>
            <a:r>
              <a:rPr b="1" lang="en-IN" sz="1600" strike="noStrike" u="none">
                <a:solidFill>
                  <a:srgbClr val="000000"/>
                </a:solidFill>
                <a:effectLst/>
                <a:uFillTx/>
                <a:latin typeface="Arial Narrow"/>
              </a:rPr>
              <a:t>Formed during </a:t>
            </a:r>
            <a:endParaRPr b="0" lang="en-IN" sz="1600" strike="noStrike" u="none">
              <a:solidFill>
                <a:srgbClr val="000000"/>
              </a:solidFill>
              <a:effectLst/>
              <a:uFillTx/>
              <a:latin typeface="Times New Roman"/>
            </a:endParaRPr>
          </a:p>
          <a:p>
            <a:pPr>
              <a:lnSpc>
                <a:spcPct val="100000"/>
              </a:lnSpc>
              <a:tabLst>
                <a:tab algn="l" pos="0"/>
                <a:tab algn="l" pos="1019160"/>
                <a:tab algn="l" pos="2038320"/>
                <a:tab algn="l" pos="3057480"/>
                <a:tab algn="l" pos="4076640"/>
                <a:tab algn="l" pos="5095800"/>
                <a:tab algn="l" pos="6114960"/>
                <a:tab algn="l" pos="7134120"/>
                <a:tab algn="l" pos="8153280"/>
                <a:tab algn="l" pos="9172440"/>
                <a:tab algn="l" pos="10191600"/>
              </a:tabLst>
            </a:pPr>
            <a:r>
              <a:rPr b="1" lang="en-IN" sz="1600" strike="noStrike" u="none">
                <a:solidFill>
                  <a:srgbClr val="000000"/>
                </a:solidFill>
                <a:effectLst/>
                <a:uFillTx/>
                <a:latin typeface="Arial Narrow"/>
              </a:rPr>
              <a:t>COV period</a:t>
            </a:r>
            <a:endParaRPr b="0" lang="en-IN" sz="1600" strike="noStrike" u="none">
              <a:solidFill>
                <a:srgbClr val="000000"/>
              </a:solidFill>
              <a:effectLst/>
              <a:uFillTx/>
              <a:latin typeface="Times New Roman"/>
            </a:endParaRPr>
          </a:p>
        </p:txBody>
      </p:sp>
      <p:sp>
        <p:nvSpPr>
          <p:cNvPr id="181" name=""/>
          <p:cNvSpPr/>
          <p:nvPr/>
        </p:nvSpPr>
        <p:spPr>
          <a:xfrm>
            <a:off x="1092240" y="4749840"/>
            <a:ext cx="533520" cy="190440"/>
          </a:xfrm>
          <a:prstGeom prst="line">
            <a:avLst/>
          </a:prstGeom>
          <a:ln w="12600">
            <a:solidFill>
              <a:srgbClr val="000000"/>
            </a:solidFill>
            <a:miter/>
            <a:tailEnd len="med" type="triangle" w="med"/>
          </a:ln>
        </p:spPr>
        <p:style>
          <a:lnRef idx="0"/>
          <a:fillRef idx="0"/>
          <a:effectRef idx="0"/>
          <a:fontRef idx="minor"/>
        </p:style>
        <p:txBody>
          <a:bodyPr lIns="90000" rIns="90000" tIns="46800" bIns="46800" anchor="t">
            <a:noAutofit/>
          </a:bodyPr>
          <a:p>
            <a:endParaRPr b="0" lang="en-IN" sz="2400" strike="noStrike" u="none">
              <a:solidFill>
                <a:srgbClr val="000000"/>
              </a:solidFill>
              <a:effectLst/>
              <a:uFillTx/>
              <a:latin typeface="Times New Roman"/>
            </a:endParaRPr>
          </a:p>
        </p:txBody>
      </p:sp>
      <p:sp>
        <p:nvSpPr>
          <p:cNvPr id="182" name=""/>
          <p:cNvSpPr/>
          <p:nvPr/>
        </p:nvSpPr>
        <p:spPr>
          <a:xfrm>
            <a:off x="3682800" y="4233960"/>
            <a:ext cx="1318680" cy="601560"/>
          </a:xfrm>
          <a:prstGeom prst="rect">
            <a:avLst/>
          </a:prstGeom>
          <a:noFill/>
          <a:ln w="0">
            <a:noFill/>
          </a:ln>
        </p:spPr>
        <p:style>
          <a:lnRef idx="0"/>
          <a:fillRef idx="0"/>
          <a:effectRef idx="0"/>
          <a:fontRef idx="minor"/>
        </p:style>
        <p:txBody>
          <a:bodyPr wrap="none" lIns="114120" rIns="114120" tIns="56880" bIns="56880" anchor="t">
            <a:spAutoFit/>
          </a:bodyPr>
          <a:p>
            <a:pPr>
              <a:lnSpc>
                <a:spcPct val="100000"/>
              </a:lnSpc>
              <a:tabLst>
                <a:tab algn="l" pos="0"/>
                <a:tab algn="l" pos="1019160"/>
                <a:tab algn="l" pos="2038320"/>
                <a:tab algn="l" pos="3057480"/>
                <a:tab algn="l" pos="4076640"/>
                <a:tab algn="l" pos="5095800"/>
                <a:tab algn="l" pos="6114960"/>
                <a:tab algn="l" pos="7134120"/>
                <a:tab algn="l" pos="8153280"/>
                <a:tab algn="l" pos="9172440"/>
                <a:tab algn="l" pos="10191600"/>
              </a:tabLst>
            </a:pPr>
            <a:r>
              <a:rPr b="1" lang="en-IN" sz="1600" strike="noStrike" u="none">
                <a:solidFill>
                  <a:srgbClr val="000000"/>
                </a:solidFill>
                <a:effectLst/>
                <a:uFillTx/>
                <a:latin typeface="Arial Narrow"/>
              </a:rPr>
              <a:t>Phased out in</a:t>
            </a:r>
            <a:endParaRPr b="0" lang="en-IN" sz="1600" strike="noStrike" u="none">
              <a:solidFill>
                <a:srgbClr val="000000"/>
              </a:solidFill>
              <a:effectLst/>
              <a:uFillTx/>
              <a:latin typeface="Times New Roman"/>
            </a:endParaRPr>
          </a:p>
          <a:p>
            <a:pPr>
              <a:lnSpc>
                <a:spcPct val="100000"/>
              </a:lnSpc>
              <a:tabLst>
                <a:tab algn="l" pos="0"/>
                <a:tab algn="l" pos="1019160"/>
                <a:tab algn="l" pos="2038320"/>
                <a:tab algn="l" pos="3057480"/>
                <a:tab algn="l" pos="4076640"/>
                <a:tab algn="l" pos="5095800"/>
                <a:tab algn="l" pos="6114960"/>
                <a:tab algn="l" pos="7134120"/>
                <a:tab algn="l" pos="8153280"/>
                <a:tab algn="l" pos="9172440"/>
                <a:tab algn="l" pos="10191600"/>
              </a:tabLst>
            </a:pPr>
            <a:r>
              <a:rPr b="1" lang="en-IN" sz="1600" strike="noStrike" u="none">
                <a:solidFill>
                  <a:srgbClr val="000000"/>
                </a:solidFill>
                <a:effectLst/>
                <a:uFillTx/>
                <a:latin typeface="Arial Narrow"/>
              </a:rPr>
              <a:t>COV period</a:t>
            </a:r>
            <a:endParaRPr b="0" lang="en-IN" sz="1600" strike="noStrike" u="none">
              <a:solidFill>
                <a:srgbClr val="000000"/>
              </a:solidFill>
              <a:effectLst/>
              <a:uFillTx/>
              <a:latin typeface="Times New Roman"/>
            </a:endParaRPr>
          </a:p>
        </p:txBody>
      </p:sp>
      <p:sp>
        <p:nvSpPr>
          <p:cNvPr id="183" name=""/>
          <p:cNvSpPr/>
          <p:nvPr/>
        </p:nvSpPr>
        <p:spPr>
          <a:xfrm flipV="1">
            <a:off x="4851360" y="4228920"/>
            <a:ext cx="393840" cy="355320"/>
          </a:xfrm>
          <a:prstGeom prst="line">
            <a:avLst/>
          </a:prstGeom>
          <a:ln w="12600">
            <a:solidFill>
              <a:srgbClr val="000000"/>
            </a:solidFill>
            <a:miter/>
            <a:tailEnd len="med" type="triangle" w="med"/>
          </a:ln>
        </p:spPr>
        <p:style>
          <a:lnRef idx="0"/>
          <a:fillRef idx="0"/>
          <a:effectRef idx="0"/>
          <a:fontRef idx="minor"/>
        </p:style>
        <p:txBody>
          <a:bodyPr lIns="90000" rIns="90000" tIns="46800" bIns="46800" anchor="t">
            <a:noAutofit/>
          </a:bodyPr>
          <a:p>
            <a:endParaRPr b="0" lang="en-IN" sz="2400" strike="noStrike" u="none">
              <a:solidFill>
                <a:srgbClr val="000000"/>
              </a:solidFill>
              <a:effectLst/>
              <a:uFillTx/>
              <a:latin typeface="Times New Roman"/>
            </a:endParaRPr>
          </a:p>
        </p:txBody>
      </p:sp>
      <p:sp>
        <p:nvSpPr>
          <p:cNvPr id="184" name=""/>
          <p:cNvSpPr/>
          <p:nvPr/>
        </p:nvSpPr>
        <p:spPr>
          <a:xfrm>
            <a:off x="228600" y="6811920"/>
            <a:ext cx="1253880" cy="357840"/>
          </a:xfrm>
          <a:prstGeom prst="rect">
            <a:avLst/>
          </a:prstGeom>
          <a:noFill/>
          <a:ln w="0">
            <a:noFill/>
          </a:ln>
        </p:spPr>
        <p:style>
          <a:lnRef idx="0"/>
          <a:fillRef idx="0"/>
          <a:effectRef idx="0"/>
          <a:fontRef idx="minor"/>
        </p:style>
        <p:txBody>
          <a:bodyPr wrap="none" lIns="114120" rIns="114120" tIns="56880" bIns="56880" anchor="t">
            <a:spAutoFit/>
          </a:bodyPr>
          <a:p>
            <a:pPr>
              <a:lnSpc>
                <a:spcPct val="100000"/>
              </a:lnSpc>
              <a:tabLst>
                <a:tab algn="l" pos="0"/>
                <a:tab algn="l" pos="1019160"/>
                <a:tab algn="l" pos="2038320"/>
                <a:tab algn="l" pos="3057480"/>
                <a:tab algn="l" pos="4076640"/>
                <a:tab algn="l" pos="5095800"/>
                <a:tab algn="l" pos="6114960"/>
                <a:tab algn="l" pos="7134120"/>
                <a:tab algn="l" pos="8153280"/>
                <a:tab algn="l" pos="9172440"/>
                <a:tab algn="l" pos="10191600"/>
              </a:tabLst>
            </a:pPr>
            <a:r>
              <a:rPr b="1" lang="en-IN" sz="1600" strike="noStrike" u="none">
                <a:solidFill>
                  <a:srgbClr val="000000"/>
                </a:solidFill>
                <a:effectLst/>
                <a:uFillTx/>
                <a:latin typeface="Arial Narrow"/>
              </a:rPr>
              <a:t>Crosscutting</a:t>
            </a:r>
            <a:endParaRPr b="0" lang="en-IN" sz="1600" strike="noStrike" u="none">
              <a:solidFill>
                <a:srgbClr val="000000"/>
              </a:solidFill>
              <a:effectLst/>
              <a:uFillTx/>
              <a:latin typeface="Times New Roman"/>
            </a:endParaRPr>
          </a:p>
        </p:txBody>
      </p:sp>
    </p:spTree>
  </p:cSld>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85" name=""/>
          <p:cNvSpPr/>
          <p:nvPr/>
        </p:nvSpPr>
        <p:spPr>
          <a:xfrm>
            <a:off x="-165240" y="647640"/>
            <a:ext cx="10223640" cy="266760"/>
          </a:xfrm>
          <a:prstGeom prst="rect">
            <a:avLst/>
          </a:prstGeom>
          <a:solidFill>
            <a:srgbClr val="ffffff"/>
          </a:solidFill>
          <a:ln w="0">
            <a:noFill/>
          </a:ln>
        </p:spPr>
        <p:style>
          <a:lnRef idx="0"/>
          <a:fillRef idx="0"/>
          <a:effectRef idx="0"/>
          <a:fontRef idx="minor"/>
        </p:style>
        <p:txBody>
          <a:bodyPr wrap="none" lIns="90000" rIns="90000" tIns="46800" bIns="46800" anchor="ctr">
            <a:spAutoFit/>
          </a:bodyPr>
          <a:p>
            <a:endParaRPr b="0" lang="en-IN" sz="2400" strike="noStrike" u="none">
              <a:solidFill>
                <a:srgbClr val="000000"/>
              </a:solidFill>
              <a:effectLst/>
              <a:uFillTx/>
              <a:latin typeface="Times New Roman"/>
            </a:endParaRPr>
          </a:p>
        </p:txBody>
      </p:sp>
      <p:sp>
        <p:nvSpPr>
          <p:cNvPr id="186" name=""/>
          <p:cNvSpPr/>
          <p:nvPr/>
        </p:nvSpPr>
        <p:spPr>
          <a:xfrm>
            <a:off x="8001000" y="2070000"/>
            <a:ext cx="6480" cy="4748400"/>
          </a:xfrm>
          <a:prstGeom prst="line">
            <a:avLst/>
          </a:prstGeom>
          <a:ln w="9360">
            <a:solidFill>
              <a:srgbClr val="000000"/>
            </a:solidFill>
            <a:miter/>
          </a:ln>
        </p:spPr>
        <p:style>
          <a:lnRef idx="0"/>
          <a:fillRef idx="0"/>
          <a:effectRef idx="0"/>
          <a:fontRef idx="minor"/>
        </p:style>
        <p:txBody>
          <a:bodyPr lIns="0" rIns="0" tIns="46800" bIns="46800" anchor="ctr">
            <a:noAutofit/>
          </a:bodyPr>
          <a:p>
            <a:endParaRPr b="0" lang="en-IN" sz="2400" strike="noStrike" u="none">
              <a:solidFill>
                <a:srgbClr val="000000"/>
              </a:solidFill>
              <a:effectLst/>
              <a:uFillTx/>
              <a:latin typeface="Times New Roman"/>
            </a:endParaRPr>
          </a:p>
        </p:txBody>
      </p:sp>
      <p:sp>
        <p:nvSpPr>
          <p:cNvPr id="187" name=""/>
          <p:cNvSpPr/>
          <p:nvPr/>
        </p:nvSpPr>
        <p:spPr>
          <a:xfrm flipH="1">
            <a:off x="4910040" y="1963800"/>
            <a:ext cx="6480" cy="4170240"/>
          </a:xfrm>
          <a:prstGeom prst="line">
            <a:avLst/>
          </a:prstGeom>
          <a:ln w="9360">
            <a:solidFill>
              <a:srgbClr val="000000"/>
            </a:solidFill>
            <a:miter/>
          </a:ln>
        </p:spPr>
        <p:style>
          <a:lnRef idx="0"/>
          <a:fillRef idx="0"/>
          <a:effectRef idx="0"/>
          <a:fontRef idx="minor"/>
        </p:style>
        <p:txBody>
          <a:bodyPr lIns="0" rIns="0" tIns="46800" bIns="46800" anchor="ctr">
            <a:noAutofit/>
          </a:bodyPr>
          <a:p>
            <a:endParaRPr b="0" lang="en-IN" sz="2400" strike="noStrike" u="none">
              <a:solidFill>
                <a:srgbClr val="000000"/>
              </a:solidFill>
              <a:effectLst/>
              <a:uFillTx/>
              <a:latin typeface="Times New Roman"/>
            </a:endParaRPr>
          </a:p>
        </p:txBody>
      </p:sp>
      <p:sp>
        <p:nvSpPr>
          <p:cNvPr id="188" name=""/>
          <p:cNvSpPr/>
          <p:nvPr/>
        </p:nvSpPr>
        <p:spPr>
          <a:xfrm>
            <a:off x="2630520" y="152280"/>
            <a:ext cx="4481640" cy="1832040"/>
          </a:xfrm>
          <a:prstGeom prst="rect">
            <a:avLst/>
          </a:prstGeom>
          <a:solidFill>
            <a:srgbClr val="eaeaea"/>
          </a:solidFill>
          <a:ln w="12600">
            <a:solidFill>
              <a:srgbClr val="000000"/>
            </a:solidFill>
            <a:miter/>
          </a:ln>
        </p:spPr>
        <p:style>
          <a:lnRef idx="0"/>
          <a:fillRef idx="0"/>
          <a:effectRef idx="0"/>
          <a:fontRef idx="minor"/>
        </p:style>
        <p:txBody>
          <a:bodyPr wrap="none" lIns="0" rIns="0" tIns="46800" bIns="46800" anchor="ctr">
            <a:noAutofit/>
          </a:bodyPr>
          <a:p>
            <a:endParaRPr b="0" lang="en-IN" sz="2400" strike="noStrike" u="none">
              <a:solidFill>
                <a:srgbClr val="000000"/>
              </a:solidFill>
              <a:effectLst/>
              <a:uFillTx/>
              <a:latin typeface="Times New Roman"/>
            </a:endParaRPr>
          </a:p>
        </p:txBody>
      </p:sp>
      <p:sp>
        <p:nvSpPr>
          <p:cNvPr id="189" name=""/>
          <p:cNvSpPr/>
          <p:nvPr/>
        </p:nvSpPr>
        <p:spPr>
          <a:xfrm>
            <a:off x="3188160" y="291960"/>
            <a:ext cx="3353760" cy="645480"/>
          </a:xfrm>
          <a:prstGeom prst="rect">
            <a:avLst/>
          </a:prstGeom>
          <a:noFill/>
          <a:ln w="0">
            <a:noFill/>
          </a:ln>
        </p:spPr>
        <p:style>
          <a:lnRef idx="0"/>
          <a:fillRef idx="0"/>
          <a:effectRef idx="0"/>
          <a:fontRef idx="minor"/>
        </p:style>
        <p:txBody>
          <a:bodyPr wrap="none" lIns="0" rIns="0" tIns="48240" bIns="48240" anchor="t">
            <a:spAutoFit/>
          </a:bodyPr>
          <a:p>
            <a:pPr algn="ctr">
              <a:lnSpc>
                <a:spcPct val="90000"/>
              </a:lnSpc>
              <a:tabLst>
                <a:tab algn="l" pos="0"/>
                <a:tab algn="l" pos="963720"/>
                <a:tab algn="l" pos="1927080"/>
                <a:tab algn="l" pos="2890800"/>
                <a:tab algn="l" pos="3854520"/>
                <a:tab algn="l" pos="4818240"/>
                <a:tab algn="l" pos="5781600"/>
                <a:tab algn="l" pos="6745320"/>
                <a:tab algn="l" pos="7709040"/>
                <a:tab algn="l" pos="8672400"/>
                <a:tab algn="l" pos="9636120"/>
                <a:tab algn="l" pos="10599840"/>
              </a:tabLst>
            </a:pPr>
            <a:r>
              <a:rPr b="1" lang="en-IN" sz="2000" strike="noStrike" u="none">
                <a:solidFill>
                  <a:srgbClr val="000080"/>
                </a:solidFill>
                <a:effectLst/>
                <a:uFillTx/>
                <a:latin typeface="Arial Narrow"/>
              </a:rPr>
              <a:t>Chemical Sciences, Geosciences,</a:t>
            </a:r>
            <a:endParaRPr b="0" lang="en-IN" sz="2000" strike="noStrike" u="none">
              <a:solidFill>
                <a:srgbClr val="000000"/>
              </a:solidFill>
              <a:effectLst/>
              <a:uFillTx/>
              <a:latin typeface="Times New Roman"/>
            </a:endParaRPr>
          </a:p>
          <a:p>
            <a:pPr algn="ctr">
              <a:lnSpc>
                <a:spcPct val="90000"/>
              </a:lnSpc>
              <a:tabLst>
                <a:tab algn="l" pos="0"/>
                <a:tab algn="l" pos="963720"/>
                <a:tab algn="l" pos="1927080"/>
                <a:tab algn="l" pos="2890800"/>
                <a:tab algn="l" pos="3854520"/>
                <a:tab algn="l" pos="4818240"/>
                <a:tab algn="l" pos="5781600"/>
                <a:tab algn="l" pos="6745320"/>
                <a:tab algn="l" pos="7709040"/>
                <a:tab algn="l" pos="8672400"/>
                <a:tab algn="l" pos="9636120"/>
                <a:tab algn="l" pos="10599840"/>
              </a:tabLst>
            </a:pPr>
            <a:r>
              <a:rPr b="1" lang="en-IN" sz="2000" strike="noStrike" u="none">
                <a:solidFill>
                  <a:srgbClr val="000080"/>
                </a:solidFill>
                <a:effectLst/>
                <a:uFillTx/>
                <a:latin typeface="Arial Narrow"/>
              </a:rPr>
              <a:t> and Biosciences Division</a:t>
            </a:r>
            <a:endParaRPr b="0" lang="en-IN" sz="2000" strike="noStrike" u="none">
              <a:solidFill>
                <a:srgbClr val="000000"/>
              </a:solidFill>
              <a:effectLst/>
              <a:uFillTx/>
              <a:latin typeface="Times New Roman"/>
            </a:endParaRPr>
          </a:p>
        </p:txBody>
      </p:sp>
      <p:sp>
        <p:nvSpPr>
          <p:cNvPr id="190" name=""/>
          <p:cNvSpPr/>
          <p:nvPr/>
        </p:nvSpPr>
        <p:spPr>
          <a:xfrm>
            <a:off x="3557880" y="1096920"/>
            <a:ext cx="2739600" cy="798120"/>
          </a:xfrm>
          <a:prstGeom prst="rect">
            <a:avLst/>
          </a:prstGeom>
          <a:noFill/>
          <a:ln w="0">
            <a:noFill/>
          </a:ln>
        </p:spPr>
        <p:style>
          <a:lnRef idx="0"/>
          <a:fillRef idx="0"/>
          <a:effectRef idx="0"/>
          <a:fontRef idx="minor"/>
        </p:style>
        <p:txBody>
          <a:bodyPr wrap="none" lIns="0" rIns="0" tIns="48240" bIns="48240" anchor="t">
            <a:spAutoFit/>
          </a:bodyPr>
          <a:p>
            <a:pPr algn="ctr">
              <a:lnSpc>
                <a:spcPct val="100000"/>
              </a:lnSpc>
              <a:tabLst>
                <a:tab algn="l" pos="0"/>
                <a:tab algn="l" pos="963720"/>
                <a:tab algn="l" pos="1927080"/>
                <a:tab algn="l" pos="2890800"/>
                <a:tab algn="l" pos="3854520"/>
                <a:tab algn="l" pos="4818240"/>
                <a:tab algn="l" pos="5781600"/>
                <a:tab algn="l" pos="6745320"/>
                <a:tab algn="l" pos="7709040"/>
                <a:tab algn="l" pos="8672400"/>
                <a:tab algn="l" pos="9636120"/>
                <a:tab algn="l" pos="10599840"/>
              </a:tabLst>
            </a:pPr>
            <a:r>
              <a:rPr b="1" lang="en-IN" sz="1800" strike="noStrike" u="none">
                <a:solidFill>
                  <a:srgbClr val="ff0000"/>
                </a:solidFill>
                <a:effectLst/>
                <a:uFillTx/>
                <a:latin typeface="Arial Narrow"/>
              </a:rPr>
              <a:t>Eric Rohlfing, Director</a:t>
            </a:r>
            <a:endParaRPr b="0" lang="en-IN" sz="1800" strike="noStrike" u="none">
              <a:solidFill>
                <a:srgbClr val="000000"/>
              </a:solidFill>
              <a:effectLst/>
              <a:uFillTx/>
              <a:latin typeface="Times New Roman"/>
            </a:endParaRPr>
          </a:p>
          <a:p>
            <a:pPr algn="ctr">
              <a:lnSpc>
                <a:spcPct val="100000"/>
              </a:lnSpc>
              <a:tabLst>
                <a:tab algn="l" pos="0"/>
                <a:tab algn="l" pos="963720"/>
                <a:tab algn="l" pos="1927080"/>
                <a:tab algn="l" pos="2890800"/>
                <a:tab algn="l" pos="3854520"/>
                <a:tab algn="l" pos="4818240"/>
                <a:tab algn="l" pos="5781600"/>
                <a:tab algn="l" pos="6745320"/>
                <a:tab algn="l" pos="7709040"/>
                <a:tab algn="l" pos="8672400"/>
                <a:tab algn="l" pos="9636120"/>
                <a:tab algn="l" pos="10599840"/>
              </a:tabLst>
            </a:pPr>
            <a:r>
              <a:rPr b="0" lang="en-IN" sz="1400" strike="noStrike" u="none">
                <a:solidFill>
                  <a:srgbClr val="000080"/>
                </a:solidFill>
                <a:effectLst/>
                <a:uFillTx/>
                <a:latin typeface="Arial Narrow"/>
              </a:rPr>
              <a:t>Diane Marceau, Program Analyst</a:t>
            </a:r>
            <a:endParaRPr b="0" lang="en-IN" sz="1400" strike="noStrike" u="none">
              <a:solidFill>
                <a:srgbClr val="000000"/>
              </a:solidFill>
              <a:effectLst/>
              <a:uFillTx/>
              <a:latin typeface="Times New Roman"/>
            </a:endParaRPr>
          </a:p>
          <a:p>
            <a:pPr algn="ctr">
              <a:lnSpc>
                <a:spcPct val="100000"/>
              </a:lnSpc>
              <a:tabLst>
                <a:tab algn="l" pos="0"/>
                <a:tab algn="l" pos="963720"/>
                <a:tab algn="l" pos="1927080"/>
                <a:tab algn="l" pos="2890800"/>
                <a:tab algn="l" pos="3854520"/>
                <a:tab algn="l" pos="4818240"/>
                <a:tab algn="l" pos="5781600"/>
                <a:tab algn="l" pos="6745320"/>
                <a:tab algn="l" pos="7709040"/>
                <a:tab algn="l" pos="8672400"/>
                <a:tab algn="l" pos="9636120"/>
                <a:tab algn="l" pos="10599840"/>
              </a:tabLst>
            </a:pPr>
            <a:r>
              <a:rPr b="0" lang="en-IN" sz="1400" strike="noStrike" u="none">
                <a:solidFill>
                  <a:srgbClr val="000080"/>
                </a:solidFill>
                <a:effectLst/>
                <a:uFillTx/>
                <a:latin typeface="Arial Narrow"/>
              </a:rPr>
              <a:t>Michaelene Kyler-King, Program Assistant</a:t>
            </a:r>
            <a:endParaRPr b="0" lang="en-IN" sz="1400" strike="noStrike" u="none">
              <a:solidFill>
                <a:srgbClr val="000000"/>
              </a:solidFill>
              <a:effectLst/>
              <a:uFillTx/>
              <a:latin typeface="Times New Roman"/>
            </a:endParaRPr>
          </a:p>
        </p:txBody>
      </p:sp>
      <p:sp>
        <p:nvSpPr>
          <p:cNvPr id="191" name=""/>
          <p:cNvSpPr/>
          <p:nvPr/>
        </p:nvSpPr>
        <p:spPr>
          <a:xfrm>
            <a:off x="2639880" y="1030320"/>
            <a:ext cx="4461120" cy="0"/>
          </a:xfrm>
          <a:prstGeom prst="line">
            <a:avLst/>
          </a:prstGeom>
          <a:ln w="9360">
            <a:solidFill>
              <a:srgbClr val="000000"/>
            </a:solidFill>
            <a:miter/>
          </a:ln>
        </p:spPr>
        <p:style>
          <a:lnRef idx="0"/>
          <a:fillRef idx="0"/>
          <a:effectRef idx="0"/>
          <a:fontRef idx="minor"/>
        </p:style>
        <p:txBody>
          <a:bodyPr lIns="0" rIns="0" tIns="-46800" bIns="-46800" anchor="ctr">
            <a:noAutofit/>
          </a:bodyPr>
          <a:p>
            <a:endParaRPr b="0" lang="en-IN" sz="2400" strike="noStrike" u="none">
              <a:solidFill>
                <a:srgbClr val="000000"/>
              </a:solidFill>
              <a:effectLst/>
              <a:uFillTx/>
              <a:latin typeface="Times New Roman"/>
            </a:endParaRPr>
          </a:p>
        </p:txBody>
      </p:sp>
      <p:sp>
        <p:nvSpPr>
          <p:cNvPr id="192" name=""/>
          <p:cNvSpPr/>
          <p:nvPr/>
        </p:nvSpPr>
        <p:spPr>
          <a:xfrm>
            <a:off x="1749600" y="2058840"/>
            <a:ext cx="6264000" cy="19080"/>
          </a:xfrm>
          <a:prstGeom prst="line">
            <a:avLst/>
          </a:prstGeom>
          <a:ln w="9360">
            <a:solidFill>
              <a:srgbClr val="000000"/>
            </a:solidFill>
            <a:miter/>
          </a:ln>
        </p:spPr>
        <p:style>
          <a:lnRef idx="0"/>
          <a:fillRef idx="0"/>
          <a:effectRef idx="0"/>
          <a:fontRef idx="minor"/>
        </p:style>
        <p:txBody>
          <a:bodyPr lIns="0" rIns="0" tIns="-27720" bIns="-27720" anchor="ctr">
            <a:noAutofit/>
          </a:bodyPr>
          <a:p>
            <a:endParaRPr b="0" lang="en-IN" sz="2400" strike="noStrike" u="none">
              <a:solidFill>
                <a:srgbClr val="000000"/>
              </a:solidFill>
              <a:effectLst/>
              <a:uFillTx/>
              <a:latin typeface="Times New Roman"/>
            </a:endParaRPr>
          </a:p>
        </p:txBody>
      </p:sp>
      <p:sp>
        <p:nvSpPr>
          <p:cNvPr id="193" name=""/>
          <p:cNvSpPr/>
          <p:nvPr/>
        </p:nvSpPr>
        <p:spPr>
          <a:xfrm>
            <a:off x="1754280" y="2062080"/>
            <a:ext cx="0" cy="476244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IN" sz="2400" strike="noStrike" u="none">
              <a:solidFill>
                <a:srgbClr val="000000"/>
              </a:solidFill>
              <a:effectLst/>
              <a:uFillTx/>
              <a:latin typeface="Times New Roman"/>
            </a:endParaRPr>
          </a:p>
        </p:txBody>
      </p:sp>
      <p:sp>
        <p:nvSpPr>
          <p:cNvPr id="194" name=""/>
          <p:cNvSpPr/>
          <p:nvPr/>
        </p:nvSpPr>
        <p:spPr>
          <a:xfrm>
            <a:off x="816120" y="3570120"/>
            <a:ext cx="1890720" cy="884520"/>
          </a:xfrm>
          <a:prstGeom prst="rect">
            <a:avLst/>
          </a:prstGeom>
          <a:solidFill>
            <a:srgbClr val="ffff99"/>
          </a:solidFill>
          <a:ln w="12600">
            <a:solidFill>
              <a:srgbClr val="000000"/>
            </a:solidFill>
            <a:miter/>
          </a:ln>
        </p:spPr>
        <p:style>
          <a:lnRef idx="0"/>
          <a:fillRef idx="0"/>
          <a:effectRef idx="0"/>
          <a:fontRef idx="minor"/>
        </p:style>
        <p:txBody>
          <a:bodyPr lIns="0" rIns="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000080"/>
                </a:solidFill>
                <a:effectLst/>
                <a:uFillTx/>
                <a:latin typeface="Arial Narrow"/>
              </a:rPr>
              <a:t>Atomic, Molecular, and Optical Sciences</a:t>
            </a:r>
            <a:endParaRPr b="0" lang="en-IN" sz="1400" strike="noStrike" u="none">
              <a:solidFill>
                <a:srgbClr val="0000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000080"/>
                </a:solidFill>
                <a:effectLst/>
                <a:uFillTx/>
                <a:latin typeface="Arial Narrow"/>
              </a:rPr>
              <a:t>Jeffrey Krause</a:t>
            </a:r>
            <a:endParaRPr b="0" lang="en-IN" sz="1400" strike="noStrike" u="none">
              <a:solidFill>
                <a:srgbClr val="000000"/>
              </a:solidFill>
              <a:effectLst/>
              <a:uFillTx/>
              <a:latin typeface="Times New Roman"/>
            </a:endParaRPr>
          </a:p>
        </p:txBody>
      </p:sp>
      <p:sp>
        <p:nvSpPr>
          <p:cNvPr id="195" name=""/>
          <p:cNvSpPr/>
          <p:nvPr/>
        </p:nvSpPr>
        <p:spPr>
          <a:xfrm>
            <a:off x="747720" y="2184480"/>
            <a:ext cx="2049480" cy="1311120"/>
          </a:xfrm>
          <a:prstGeom prst="rect">
            <a:avLst/>
          </a:prstGeom>
          <a:solidFill>
            <a:srgbClr val="eaeaea"/>
          </a:solidFill>
          <a:ln w="12600">
            <a:solidFill>
              <a:srgbClr val="000000"/>
            </a:solidFill>
            <a:miter/>
          </a:ln>
        </p:spPr>
        <p:style>
          <a:lnRef idx="0"/>
          <a:fillRef idx="0"/>
          <a:effectRef idx="0"/>
          <a:fontRef idx="minor"/>
        </p:style>
        <p:txBody>
          <a:bodyPr lIns="0" rIns="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trike="noStrike" u="none">
                <a:solidFill>
                  <a:srgbClr val="000080"/>
                </a:solidFill>
                <a:effectLst/>
                <a:uFillTx/>
                <a:latin typeface="Arial Narrow"/>
              </a:rPr>
              <a:t>Fundamental Interactions </a:t>
            </a:r>
            <a:endParaRPr b="0" lang="en-IN" sz="1800" strike="noStrike" u="none">
              <a:solidFill>
                <a:srgbClr val="000000"/>
              </a:solidFill>
              <a:effectLst/>
              <a:uFillTx/>
              <a:latin typeface="Times New Roman"/>
            </a:endParaRPr>
          </a:p>
          <a:p>
            <a:pPr algn="ct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trike="noStrike" u="none">
                <a:solidFill>
                  <a:srgbClr val="ff0000"/>
                </a:solidFill>
                <a:effectLst/>
                <a:uFillTx/>
                <a:latin typeface="Arial Narrow"/>
              </a:rPr>
              <a:t>Michael Casassa</a:t>
            </a:r>
            <a:endParaRPr b="0" lang="en-IN" sz="1800" strike="noStrike" u="none">
              <a:solidFill>
                <a:srgbClr val="0000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trike="noStrike" u="none">
                <a:solidFill>
                  <a:srgbClr val="000080"/>
                </a:solidFill>
                <a:effectLst/>
                <a:uFillTx/>
                <a:latin typeface="Arial Narrow"/>
              </a:rPr>
              <a:t>R. Felder, Prog. Asst.</a:t>
            </a:r>
            <a:endParaRPr b="0" lang="en-IN" sz="1400" strike="noStrike" u="none">
              <a:solidFill>
                <a:srgbClr val="000000"/>
              </a:solidFill>
              <a:effectLst/>
              <a:uFillTx/>
              <a:latin typeface="Times New Roman"/>
            </a:endParaRPr>
          </a:p>
        </p:txBody>
      </p:sp>
      <p:sp>
        <p:nvSpPr>
          <p:cNvPr id="196" name=""/>
          <p:cNvSpPr/>
          <p:nvPr/>
        </p:nvSpPr>
        <p:spPr>
          <a:xfrm>
            <a:off x="763560" y="2882880"/>
            <a:ext cx="2019240" cy="0"/>
          </a:xfrm>
          <a:prstGeom prst="line">
            <a:avLst/>
          </a:prstGeom>
          <a:ln w="9360">
            <a:solidFill>
              <a:srgbClr val="000000"/>
            </a:solidFill>
            <a:miter/>
          </a:ln>
        </p:spPr>
        <p:style>
          <a:lnRef idx="0"/>
          <a:fillRef idx="0"/>
          <a:effectRef idx="0"/>
          <a:fontRef idx="minor"/>
        </p:style>
        <p:txBody>
          <a:bodyPr lIns="0" rIns="0" tIns="-46800" bIns="-46800" anchor="ctr">
            <a:noAutofit/>
          </a:bodyPr>
          <a:p>
            <a:endParaRPr b="0" lang="en-IN" sz="2400" strike="noStrike" u="none">
              <a:solidFill>
                <a:srgbClr val="000000"/>
              </a:solidFill>
              <a:effectLst/>
              <a:uFillTx/>
              <a:latin typeface="Times New Roman"/>
            </a:endParaRPr>
          </a:p>
        </p:txBody>
      </p:sp>
      <p:sp>
        <p:nvSpPr>
          <p:cNvPr id="197" name=""/>
          <p:cNvSpPr/>
          <p:nvPr/>
        </p:nvSpPr>
        <p:spPr>
          <a:xfrm>
            <a:off x="9546480" y="7527960"/>
            <a:ext cx="712800" cy="244440"/>
          </a:xfrm>
          <a:prstGeom prst="rect">
            <a:avLst/>
          </a:prstGeom>
          <a:noFill/>
          <a:ln w="0">
            <a:noFill/>
          </a:ln>
        </p:spPr>
        <p:style>
          <a:lnRef idx="0"/>
          <a:fillRef idx="0"/>
          <a:effectRef idx="0"/>
          <a:fontRef idx="minor"/>
        </p:style>
        <p:txBody>
          <a:bodyPr wrap="none"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2AC723A4-39D6-414E-B2E6-4ABB96BE13AA}" type="slidenum">
              <a:rPr b="0" lang="en-IN" sz="1000" strike="noStrike" u="none">
                <a:solidFill>
                  <a:srgbClr val="000000"/>
                </a:solidFill>
                <a:effectLst/>
                <a:uFillTx/>
                <a:latin typeface="Times New Roman"/>
              </a:rPr>
              <a:t>&lt;number&gt;</a:t>
            </a:fld>
            <a:endParaRPr b="0" lang="en-IN" sz="1000" strike="noStrike" u="none">
              <a:solidFill>
                <a:srgbClr val="000000"/>
              </a:solidFill>
              <a:effectLst/>
              <a:uFillTx/>
              <a:latin typeface="Times New Roman"/>
            </a:endParaRPr>
          </a:p>
        </p:txBody>
      </p:sp>
      <p:sp>
        <p:nvSpPr>
          <p:cNvPr id="198" name=""/>
          <p:cNvSpPr/>
          <p:nvPr/>
        </p:nvSpPr>
        <p:spPr>
          <a:xfrm>
            <a:off x="3909960" y="2184480"/>
            <a:ext cx="2049480" cy="1311120"/>
          </a:xfrm>
          <a:prstGeom prst="rect">
            <a:avLst/>
          </a:prstGeom>
          <a:solidFill>
            <a:srgbClr val="eaeaea"/>
          </a:solidFill>
          <a:ln w="12600">
            <a:solidFill>
              <a:srgbClr val="000000"/>
            </a:solidFill>
            <a:miter/>
          </a:ln>
        </p:spPr>
        <p:style>
          <a:lnRef idx="0"/>
          <a:fillRef idx="0"/>
          <a:effectRef idx="0"/>
          <a:fontRef idx="minor"/>
        </p:style>
        <p:txBody>
          <a:bodyPr lIns="0" rIns="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trike="noStrike" u="none">
                <a:solidFill>
                  <a:srgbClr val="000080"/>
                </a:solidFill>
                <a:effectLst/>
                <a:uFillTx/>
                <a:latin typeface="Arial Narrow"/>
              </a:rPr>
              <a:t>Photo- and Bio- Chemistry</a:t>
            </a:r>
            <a:endParaRPr b="0" lang="en-IN" sz="1800" strike="noStrike" u="none">
              <a:solidFill>
                <a:srgbClr val="000000"/>
              </a:solidFill>
              <a:effectLst/>
              <a:uFillTx/>
              <a:latin typeface="Times New Roman"/>
            </a:endParaRPr>
          </a:p>
          <a:p>
            <a:pPr algn="ct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trike="noStrike" u="none">
                <a:solidFill>
                  <a:srgbClr val="ff0000"/>
                </a:solidFill>
                <a:effectLst/>
                <a:uFillTx/>
                <a:latin typeface="Arial Narrow"/>
              </a:rPr>
              <a:t>Richard Greene</a:t>
            </a:r>
            <a:endParaRPr b="0" lang="en-IN" sz="1800" strike="noStrike" u="none">
              <a:solidFill>
                <a:srgbClr val="0000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trike="noStrike" u="none">
                <a:solidFill>
                  <a:srgbClr val="000080"/>
                </a:solidFill>
                <a:effectLst/>
                <a:uFillTx/>
                <a:latin typeface="Arial Narrow"/>
              </a:rPr>
              <a:t>S. Watson, Prog. Asst.</a:t>
            </a:r>
            <a:endParaRPr b="0" lang="en-IN" sz="1400" strike="noStrike" u="none">
              <a:solidFill>
                <a:srgbClr val="000000"/>
              </a:solidFill>
              <a:effectLst/>
              <a:uFillTx/>
              <a:latin typeface="Times New Roman"/>
            </a:endParaRPr>
          </a:p>
        </p:txBody>
      </p:sp>
      <p:sp>
        <p:nvSpPr>
          <p:cNvPr id="199" name=""/>
          <p:cNvSpPr/>
          <p:nvPr/>
        </p:nvSpPr>
        <p:spPr>
          <a:xfrm>
            <a:off x="6945480" y="2184480"/>
            <a:ext cx="2049120" cy="1311120"/>
          </a:xfrm>
          <a:prstGeom prst="rect">
            <a:avLst/>
          </a:prstGeom>
          <a:solidFill>
            <a:srgbClr val="eaeaea"/>
          </a:solidFill>
          <a:ln w="12600">
            <a:solidFill>
              <a:srgbClr val="000000"/>
            </a:solidFill>
            <a:miter/>
          </a:ln>
        </p:spPr>
        <p:style>
          <a:lnRef idx="0"/>
          <a:fillRef idx="0"/>
          <a:effectRef idx="0"/>
          <a:fontRef idx="minor"/>
        </p:style>
        <p:txBody>
          <a:bodyPr lIns="0" rIns="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trike="noStrike" u="none">
                <a:solidFill>
                  <a:srgbClr val="000080"/>
                </a:solidFill>
                <a:effectLst/>
                <a:uFillTx/>
                <a:latin typeface="Arial Narrow"/>
              </a:rPr>
              <a:t>Chemical Transformations </a:t>
            </a:r>
            <a:endParaRPr b="0" lang="en-IN" sz="1800" strike="noStrike" u="none">
              <a:solidFill>
                <a:srgbClr val="000000"/>
              </a:solidFill>
              <a:effectLst/>
              <a:uFillTx/>
              <a:latin typeface="Times New Roman"/>
            </a:endParaRPr>
          </a:p>
          <a:p>
            <a:pPr algn="ct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trike="noStrike" u="none">
                <a:solidFill>
                  <a:srgbClr val="ff0000"/>
                </a:solidFill>
                <a:effectLst/>
                <a:uFillTx/>
                <a:latin typeface="Arial Narrow"/>
              </a:rPr>
              <a:t>John Miller</a:t>
            </a:r>
            <a:endParaRPr b="0" lang="en-IN" sz="1800" strike="noStrike" u="none">
              <a:solidFill>
                <a:srgbClr val="0000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trike="noStrike" u="none">
                <a:solidFill>
                  <a:srgbClr val="000080"/>
                </a:solidFill>
                <a:effectLst/>
                <a:uFillTx/>
                <a:latin typeface="Arial Narrow"/>
              </a:rPr>
              <a:t>T. Russ, Prog. Asst.</a:t>
            </a:r>
            <a:endParaRPr b="0" lang="en-IN" sz="1400" strike="noStrike" u="none">
              <a:solidFill>
                <a:srgbClr val="000000"/>
              </a:solidFill>
              <a:effectLst/>
              <a:uFillTx/>
              <a:latin typeface="Times New Roman"/>
            </a:endParaRPr>
          </a:p>
        </p:txBody>
      </p:sp>
      <p:sp>
        <p:nvSpPr>
          <p:cNvPr id="200" name=""/>
          <p:cNvSpPr/>
          <p:nvPr/>
        </p:nvSpPr>
        <p:spPr>
          <a:xfrm>
            <a:off x="816120" y="4535640"/>
            <a:ext cx="1890720" cy="750600"/>
          </a:xfrm>
          <a:prstGeom prst="rect">
            <a:avLst/>
          </a:prstGeom>
          <a:solidFill>
            <a:srgbClr val="ffff99"/>
          </a:solidFill>
          <a:ln w="12600">
            <a:solidFill>
              <a:srgbClr val="000000"/>
            </a:solidFill>
            <a:miter/>
          </a:ln>
        </p:spPr>
        <p:style>
          <a:lnRef idx="0"/>
          <a:fillRef idx="0"/>
          <a:effectRef idx="0"/>
          <a:fontRef idx="minor"/>
        </p:style>
        <p:txBody>
          <a:bodyPr lIns="0" rIns="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400" strike="noStrike" u="none">
                <a:solidFill>
                  <a:srgbClr val="000080"/>
                </a:solidFill>
                <a:effectLst/>
                <a:uFillTx/>
                <a:latin typeface="Arial Narrow"/>
              </a:rPr>
              <a:t>Gas-Phase Chem Physics</a:t>
            </a:r>
            <a:endParaRPr b="0" lang="en-IN" sz="1400" strike="noStrike" u="none">
              <a:solidFill>
                <a:srgbClr val="0000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400" strike="noStrike" u="none">
                <a:solidFill>
                  <a:srgbClr val="ff0000"/>
                </a:solidFill>
                <a:effectLst/>
                <a:uFillTx/>
                <a:latin typeface="Arial Narrow"/>
              </a:rPr>
              <a:t>Vacant</a:t>
            </a:r>
            <a:endParaRPr b="0" lang="en-IN" sz="1400" strike="noStrike" u="none">
              <a:solidFill>
                <a:srgbClr val="0000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900" strike="noStrike" u="none">
                <a:solidFill>
                  <a:srgbClr val="ff3300"/>
                </a:solidFill>
                <a:effectLst/>
                <a:uFillTx/>
                <a:latin typeface="Wingdings"/>
                <a:ea typeface="Wingdings"/>
              </a:rPr>
              <a:t></a:t>
            </a:r>
            <a:r>
              <a:rPr b="0" lang="en-US" sz="900" strike="noStrike" u="none">
                <a:solidFill>
                  <a:srgbClr val="00279f"/>
                </a:solidFill>
                <a:effectLst/>
                <a:uFillTx/>
                <a:latin typeface="Times New Roman"/>
              </a:rPr>
              <a:t> </a:t>
            </a:r>
            <a:r>
              <a:rPr b="0" lang="en-US" sz="1400" strike="noStrike" u="none">
                <a:solidFill>
                  <a:srgbClr val="000080"/>
                </a:solidFill>
                <a:effectLst/>
                <a:uFillTx/>
                <a:latin typeface="Arial Narrow"/>
              </a:rPr>
              <a:t>Wade Sisk , BNL</a:t>
            </a:r>
            <a:endParaRPr b="0" lang="en-IN" sz="1400" strike="noStrike" u="none">
              <a:solidFill>
                <a:srgbClr val="000000"/>
              </a:solidFill>
              <a:effectLst/>
              <a:uFillTx/>
              <a:latin typeface="Times New Roman"/>
            </a:endParaRPr>
          </a:p>
        </p:txBody>
      </p:sp>
      <p:sp>
        <p:nvSpPr>
          <p:cNvPr id="201" name=""/>
          <p:cNvSpPr/>
          <p:nvPr/>
        </p:nvSpPr>
        <p:spPr>
          <a:xfrm>
            <a:off x="816120" y="5373720"/>
            <a:ext cx="1890720" cy="750960"/>
          </a:xfrm>
          <a:prstGeom prst="rect">
            <a:avLst/>
          </a:prstGeom>
          <a:solidFill>
            <a:srgbClr val="ff99cc"/>
          </a:solidFill>
          <a:ln w="12600">
            <a:solidFill>
              <a:srgbClr val="000000"/>
            </a:solidFill>
            <a:miter/>
          </a:ln>
        </p:spPr>
        <p:style>
          <a:lnRef idx="0"/>
          <a:fillRef idx="0"/>
          <a:effectRef idx="0"/>
          <a:fontRef idx="minor"/>
        </p:style>
        <p:txBody>
          <a:bodyPr lIns="0" rIns="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000080"/>
                </a:solidFill>
                <a:effectLst/>
                <a:uFillTx/>
                <a:latin typeface="Arial Narrow"/>
              </a:rPr>
              <a:t>Cond. Phase &amp; Interfacial Molecular Science</a:t>
            </a:r>
            <a:endParaRPr b="0" lang="en-IN" sz="1400" strike="noStrike" u="none">
              <a:solidFill>
                <a:srgbClr val="0000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000080"/>
                </a:solidFill>
                <a:effectLst/>
                <a:uFillTx/>
                <a:latin typeface="Arial Narrow"/>
              </a:rPr>
              <a:t>Gregory Fiechtner</a:t>
            </a:r>
            <a:endParaRPr b="0" lang="en-IN" sz="1400" strike="noStrike" u="none">
              <a:solidFill>
                <a:srgbClr val="000000"/>
              </a:solidFill>
              <a:effectLst/>
              <a:uFillTx/>
              <a:latin typeface="Times New Roman"/>
            </a:endParaRPr>
          </a:p>
        </p:txBody>
      </p:sp>
      <p:sp>
        <p:nvSpPr>
          <p:cNvPr id="202" name=""/>
          <p:cNvSpPr/>
          <p:nvPr/>
        </p:nvSpPr>
        <p:spPr>
          <a:xfrm>
            <a:off x="816120" y="6170760"/>
            <a:ext cx="1890720" cy="750600"/>
          </a:xfrm>
          <a:prstGeom prst="rect">
            <a:avLst/>
          </a:prstGeom>
          <a:solidFill>
            <a:srgbClr val="ffffff"/>
          </a:solidFill>
          <a:ln w="12600">
            <a:solidFill>
              <a:srgbClr val="000000"/>
            </a:solidFill>
            <a:miter/>
          </a:ln>
        </p:spPr>
        <p:style>
          <a:lnRef idx="0"/>
          <a:fillRef idx="0"/>
          <a:effectRef idx="0"/>
          <a:fontRef idx="minor"/>
        </p:style>
        <p:txBody>
          <a:bodyPr lIns="0" rIns="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000080"/>
                </a:solidFill>
                <a:effectLst/>
                <a:uFillTx/>
                <a:latin typeface="Arial Narrow"/>
              </a:rPr>
              <a:t>Computational &amp; Theoretical Chemistry</a:t>
            </a:r>
            <a:endParaRPr b="0" lang="en-IN" sz="1400" strike="noStrike" u="none">
              <a:solidFill>
                <a:srgbClr val="0000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ff0000"/>
                </a:solidFill>
                <a:effectLst/>
                <a:uFillTx/>
                <a:latin typeface="Arial Narrow"/>
              </a:rPr>
              <a:t>Vacant and Posted!</a:t>
            </a:r>
            <a:endParaRPr b="0" lang="en-IN" sz="1400" strike="noStrike" u="none">
              <a:solidFill>
                <a:srgbClr val="000000"/>
              </a:solidFill>
              <a:effectLst/>
              <a:uFillTx/>
              <a:latin typeface="Times New Roman"/>
            </a:endParaRPr>
          </a:p>
        </p:txBody>
      </p:sp>
      <p:sp>
        <p:nvSpPr>
          <p:cNvPr id="203" name=""/>
          <p:cNvSpPr/>
          <p:nvPr/>
        </p:nvSpPr>
        <p:spPr>
          <a:xfrm>
            <a:off x="3990960" y="3722760"/>
            <a:ext cx="1890720" cy="915840"/>
          </a:xfrm>
          <a:prstGeom prst="rect">
            <a:avLst/>
          </a:prstGeom>
          <a:solidFill>
            <a:srgbClr val="ff99cc"/>
          </a:solidFill>
          <a:ln w="12600">
            <a:solidFill>
              <a:srgbClr val="000000"/>
            </a:solidFill>
            <a:miter/>
          </a:ln>
        </p:spPr>
        <p:style>
          <a:lnRef idx="0"/>
          <a:fillRef idx="0"/>
          <a:effectRef idx="0"/>
          <a:fontRef idx="minor"/>
        </p:style>
        <p:txBody>
          <a:bodyPr lIns="0" rIns="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400" strike="noStrike" u="none">
                <a:solidFill>
                  <a:srgbClr val="000080"/>
                </a:solidFill>
                <a:effectLst/>
                <a:uFillTx/>
                <a:latin typeface="Arial Narrow"/>
              </a:rPr>
              <a:t>Solar Photochemistry</a:t>
            </a:r>
            <a:endParaRPr b="0" lang="en-IN" sz="1400" strike="noStrike" u="none">
              <a:solidFill>
                <a:srgbClr val="0000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trike="noStrike" u="none">
                <a:solidFill>
                  <a:srgbClr val="000080"/>
                </a:solidFill>
                <a:effectLst/>
                <a:uFillTx/>
                <a:latin typeface="Arial Narrow"/>
              </a:rPr>
              <a:t>Mark Spitler</a:t>
            </a:r>
            <a:endParaRPr b="0" lang="en-IN" sz="1400" strike="noStrike" u="none">
              <a:solidFill>
                <a:srgbClr val="000000"/>
              </a:solidFill>
              <a:effectLst/>
              <a:uFillTx/>
              <a:latin typeface="Times New Roman"/>
            </a:endParaRPr>
          </a:p>
        </p:txBody>
      </p:sp>
      <p:sp>
        <p:nvSpPr>
          <p:cNvPr id="204" name=""/>
          <p:cNvSpPr/>
          <p:nvPr/>
        </p:nvSpPr>
        <p:spPr>
          <a:xfrm>
            <a:off x="4016520" y="4789440"/>
            <a:ext cx="1890720" cy="878040"/>
          </a:xfrm>
          <a:prstGeom prst="rect">
            <a:avLst/>
          </a:prstGeom>
          <a:solidFill>
            <a:srgbClr val="00ff00"/>
          </a:solidFill>
          <a:ln w="12600">
            <a:solidFill>
              <a:srgbClr val="000000"/>
            </a:solidFill>
            <a:miter/>
          </a:ln>
        </p:spPr>
        <p:style>
          <a:lnRef idx="0"/>
          <a:fillRef idx="0"/>
          <a:effectRef idx="0"/>
          <a:fontRef idx="minor"/>
        </p:style>
        <p:txBody>
          <a:bodyPr lIns="0" rIns="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000080"/>
                </a:solidFill>
                <a:effectLst/>
                <a:uFillTx/>
                <a:latin typeface="Arial Narrow"/>
              </a:rPr>
              <a:t>Photosynthetic Systems</a:t>
            </a:r>
            <a:endParaRPr b="0" lang="en-IN" sz="1400" strike="noStrike" u="none">
              <a:solidFill>
                <a:srgbClr val="0000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ff0000"/>
                </a:solidFill>
                <a:effectLst/>
                <a:uFillTx/>
                <a:latin typeface="Arial Narrow"/>
              </a:rPr>
              <a:t>Vacant</a:t>
            </a:r>
            <a:endParaRPr b="0" lang="en-IN" sz="1400" strike="noStrike" u="none">
              <a:solidFill>
                <a:srgbClr val="000000"/>
              </a:solidFill>
              <a:effectLst/>
              <a:uFillTx/>
              <a:latin typeface="Times New Roman"/>
            </a:endParaRPr>
          </a:p>
        </p:txBody>
      </p:sp>
      <p:sp>
        <p:nvSpPr>
          <p:cNvPr id="205" name=""/>
          <p:cNvSpPr/>
          <p:nvPr/>
        </p:nvSpPr>
        <p:spPr>
          <a:xfrm>
            <a:off x="3990960" y="5881680"/>
            <a:ext cx="1890720" cy="928800"/>
          </a:xfrm>
          <a:prstGeom prst="rect">
            <a:avLst/>
          </a:prstGeom>
          <a:solidFill>
            <a:srgbClr val="00ff00"/>
          </a:solidFill>
          <a:ln w="12600">
            <a:solidFill>
              <a:srgbClr val="000000"/>
            </a:solidFill>
            <a:miter/>
          </a:ln>
        </p:spPr>
        <p:style>
          <a:lnRef idx="0"/>
          <a:fillRef idx="0"/>
          <a:effectRef idx="0"/>
          <a:fontRef idx="minor"/>
        </p:style>
        <p:txBody>
          <a:bodyPr lIns="0" rIns="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000080"/>
                </a:solidFill>
                <a:effectLst/>
                <a:uFillTx/>
                <a:latin typeface="Arial Narrow"/>
              </a:rPr>
              <a:t>Physical Biosciences</a:t>
            </a:r>
            <a:endParaRPr b="0" lang="en-IN" sz="1400" strike="noStrike" u="none">
              <a:solidFill>
                <a:srgbClr val="0000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ff0000"/>
                </a:solidFill>
                <a:effectLst/>
                <a:uFillTx/>
                <a:latin typeface="Arial Narrow"/>
              </a:rPr>
              <a:t>Vacant</a:t>
            </a:r>
            <a:endParaRPr b="0" lang="en-IN" sz="1400" strike="noStrike" u="none">
              <a:solidFill>
                <a:srgbClr val="0000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900" strike="noStrike" u="none">
                <a:solidFill>
                  <a:srgbClr val="ff3300"/>
                </a:solidFill>
                <a:effectLst/>
                <a:uFillTx/>
                <a:latin typeface="Wingdings"/>
                <a:ea typeface="Wingdings"/>
              </a:rPr>
              <a:t></a:t>
            </a:r>
            <a:r>
              <a:rPr b="0" lang="en-IN" sz="900" strike="noStrike" u="none">
                <a:solidFill>
                  <a:srgbClr val="00279f"/>
                </a:solidFill>
                <a:effectLst/>
                <a:uFillTx/>
                <a:latin typeface="Times New Roman"/>
              </a:rPr>
              <a:t> </a:t>
            </a:r>
            <a:r>
              <a:rPr b="0" lang="en-IN" sz="1400" strike="noStrike" u="none">
                <a:solidFill>
                  <a:srgbClr val="000080"/>
                </a:solidFill>
                <a:effectLst/>
                <a:uFillTx/>
                <a:latin typeface="Arial Narrow"/>
              </a:rPr>
              <a:t>Bob Stack, PNNL</a:t>
            </a:r>
            <a:endParaRPr b="0" lang="en-IN" sz="1400" strike="noStrike" u="none">
              <a:solidFill>
                <a:srgbClr val="000000"/>
              </a:solidFill>
              <a:effectLst/>
              <a:uFillTx/>
              <a:latin typeface="Times New Roman"/>
            </a:endParaRPr>
          </a:p>
        </p:txBody>
      </p:sp>
      <p:sp>
        <p:nvSpPr>
          <p:cNvPr id="206" name=""/>
          <p:cNvSpPr/>
          <p:nvPr/>
        </p:nvSpPr>
        <p:spPr>
          <a:xfrm>
            <a:off x="7039080" y="3659040"/>
            <a:ext cx="1890720" cy="992160"/>
          </a:xfrm>
          <a:prstGeom prst="rect">
            <a:avLst/>
          </a:prstGeom>
          <a:solidFill>
            <a:srgbClr val="ccffff"/>
          </a:solidFill>
          <a:ln w="12600">
            <a:solidFill>
              <a:srgbClr val="000000"/>
            </a:solidFill>
            <a:miter/>
          </a:ln>
        </p:spPr>
        <p:style>
          <a:lnRef idx="0"/>
          <a:fillRef idx="0"/>
          <a:effectRef idx="0"/>
          <a:fontRef idx="minor"/>
        </p:style>
        <p:txBody>
          <a:bodyPr lIns="0" rIns="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000080"/>
                </a:solidFill>
                <a:effectLst/>
                <a:uFillTx/>
                <a:latin typeface="Arial Narrow"/>
              </a:rPr>
              <a:t>Catalysis Science</a:t>
            </a:r>
            <a:endParaRPr b="0" lang="en-IN" sz="1400" strike="noStrike" u="none">
              <a:solidFill>
                <a:srgbClr val="0000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000080"/>
                </a:solidFill>
                <a:effectLst/>
                <a:uFillTx/>
                <a:latin typeface="Arial Narrow"/>
              </a:rPr>
              <a:t>Raul Miranda</a:t>
            </a:r>
            <a:endParaRPr b="0" lang="en-IN" sz="1400" strike="noStrike" u="none">
              <a:solidFill>
                <a:srgbClr val="0000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000080"/>
                </a:solidFill>
                <a:effectLst/>
                <a:uFillTx/>
                <a:latin typeface="Arial Narrow"/>
              </a:rPr>
              <a:t>Paul Maupin</a:t>
            </a:r>
            <a:endParaRPr b="0" lang="en-IN" sz="1400" strike="noStrike" u="none">
              <a:solidFill>
                <a:srgbClr val="0000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900" strike="noStrike" u="none">
                <a:solidFill>
                  <a:srgbClr val="ff3300"/>
                </a:solidFill>
                <a:effectLst/>
                <a:uFillTx/>
                <a:latin typeface="Wingdings"/>
                <a:ea typeface="Wingdings"/>
              </a:rPr>
              <a:t></a:t>
            </a:r>
            <a:r>
              <a:rPr b="0" lang="en-IN" sz="900" strike="noStrike" u="none">
                <a:solidFill>
                  <a:srgbClr val="00279f"/>
                </a:solidFill>
                <a:effectLst/>
                <a:uFillTx/>
                <a:latin typeface="Times New Roman"/>
              </a:rPr>
              <a:t> </a:t>
            </a:r>
            <a:r>
              <a:rPr b="0" lang="en-IN" sz="1400" strike="noStrike" u="none">
                <a:solidFill>
                  <a:srgbClr val="000080"/>
                </a:solidFill>
                <a:effectLst/>
                <a:uFillTx/>
                <a:latin typeface="Arial Narrow"/>
              </a:rPr>
              <a:t>Michael Chen, ANL</a:t>
            </a:r>
            <a:endParaRPr b="0" lang="en-IN" sz="1400" strike="noStrike" u="none">
              <a:solidFill>
                <a:srgbClr val="000000"/>
              </a:solidFill>
              <a:effectLst/>
              <a:uFillTx/>
              <a:latin typeface="Times New Roman"/>
            </a:endParaRPr>
          </a:p>
        </p:txBody>
      </p:sp>
      <p:sp>
        <p:nvSpPr>
          <p:cNvPr id="207" name=""/>
          <p:cNvSpPr/>
          <p:nvPr/>
        </p:nvSpPr>
        <p:spPr>
          <a:xfrm>
            <a:off x="7039080" y="4751280"/>
            <a:ext cx="1890720" cy="865440"/>
          </a:xfrm>
          <a:prstGeom prst="rect">
            <a:avLst/>
          </a:prstGeom>
          <a:solidFill>
            <a:srgbClr val="ccccff"/>
          </a:solidFill>
          <a:ln w="12600">
            <a:solidFill>
              <a:srgbClr val="000000"/>
            </a:solidFill>
            <a:miter/>
          </a:ln>
        </p:spPr>
        <p:style>
          <a:lnRef idx="0"/>
          <a:fillRef idx="0"/>
          <a:effectRef idx="0"/>
          <a:fontRef idx="minor"/>
        </p:style>
        <p:txBody>
          <a:bodyPr lIns="0" rIns="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400" strike="noStrike" u="none">
                <a:solidFill>
                  <a:srgbClr val="000080"/>
                </a:solidFill>
                <a:effectLst/>
                <a:uFillTx/>
                <a:latin typeface="Arial Narrow"/>
              </a:rPr>
              <a:t>Heavy Element Chemistry</a:t>
            </a:r>
            <a:endParaRPr b="0" lang="en-IN" sz="1400" strike="noStrike" u="none">
              <a:solidFill>
                <a:srgbClr val="0000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trike="noStrike" u="none">
                <a:solidFill>
                  <a:srgbClr val="000080"/>
                </a:solidFill>
                <a:effectLst/>
                <a:uFillTx/>
                <a:latin typeface="Arial Narrow"/>
              </a:rPr>
              <a:t>Lester Morss</a:t>
            </a:r>
            <a:endParaRPr b="0" lang="en-IN" sz="1400" strike="noStrike" u="none">
              <a:solidFill>
                <a:srgbClr val="0000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900" strike="noStrike" u="none">
                <a:solidFill>
                  <a:srgbClr val="000000"/>
                </a:solidFill>
                <a:effectLst/>
                <a:uFillTx/>
                <a:latin typeface="Wingdings"/>
                <a:ea typeface="Wingdings"/>
              </a:rPr>
              <a:t></a:t>
            </a:r>
            <a:r>
              <a:rPr b="0" lang="en-US" sz="900" strike="noStrike" u="none">
                <a:solidFill>
                  <a:srgbClr val="00279f"/>
                </a:solidFill>
                <a:effectLst/>
                <a:uFillTx/>
                <a:latin typeface="Times New Roman"/>
              </a:rPr>
              <a:t> </a:t>
            </a:r>
            <a:r>
              <a:rPr b="0" lang="en-US" sz="1400" strike="noStrike" u="none">
                <a:solidFill>
                  <a:srgbClr val="000080"/>
                </a:solidFill>
                <a:effectLst/>
                <a:uFillTx/>
                <a:latin typeface="Arial Narrow"/>
              </a:rPr>
              <a:t>Noman Edelstein, LBNL</a:t>
            </a:r>
            <a:endParaRPr b="0" lang="en-IN" sz="1400" strike="noStrike" u="none">
              <a:solidFill>
                <a:srgbClr val="000000"/>
              </a:solidFill>
              <a:effectLst/>
              <a:uFillTx/>
              <a:latin typeface="Times New Roman"/>
            </a:endParaRPr>
          </a:p>
        </p:txBody>
      </p:sp>
      <p:sp>
        <p:nvSpPr>
          <p:cNvPr id="208" name=""/>
          <p:cNvSpPr/>
          <p:nvPr/>
        </p:nvSpPr>
        <p:spPr>
          <a:xfrm>
            <a:off x="7039080" y="5742000"/>
            <a:ext cx="1890720" cy="852480"/>
          </a:xfrm>
          <a:prstGeom prst="rect">
            <a:avLst/>
          </a:prstGeom>
          <a:solidFill>
            <a:srgbClr val="ccccff"/>
          </a:solidFill>
          <a:ln w="12600">
            <a:solidFill>
              <a:srgbClr val="000000"/>
            </a:solidFill>
            <a:miter/>
          </a:ln>
        </p:spPr>
        <p:style>
          <a:lnRef idx="0"/>
          <a:fillRef idx="0"/>
          <a:effectRef idx="0"/>
          <a:fontRef idx="minor"/>
        </p:style>
        <p:txBody>
          <a:bodyPr lIns="0" rIns="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000080"/>
                </a:solidFill>
                <a:effectLst/>
                <a:uFillTx/>
                <a:latin typeface="Arial Narrow"/>
              </a:rPr>
              <a:t>Separations &amp; Analyses</a:t>
            </a:r>
            <a:endParaRPr b="0" lang="en-IN" sz="1400" strike="noStrike" u="none">
              <a:solidFill>
                <a:srgbClr val="0000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000080"/>
                </a:solidFill>
                <a:effectLst/>
                <a:uFillTx/>
                <a:latin typeface="Arial Narrow"/>
              </a:rPr>
              <a:t>William Millman</a:t>
            </a:r>
            <a:endParaRPr b="0" lang="en-IN" sz="1400" strike="noStrike" u="none">
              <a:solidFill>
                <a:srgbClr val="0000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900" strike="noStrike" u="none">
                <a:solidFill>
                  <a:srgbClr val="ff3300"/>
                </a:solidFill>
                <a:effectLst/>
                <a:uFillTx/>
                <a:latin typeface="Wingdings"/>
                <a:ea typeface="Wingdings"/>
              </a:rPr>
              <a:t></a:t>
            </a:r>
            <a:r>
              <a:rPr b="0" lang="en-IN" sz="900" strike="noStrike" u="none">
                <a:solidFill>
                  <a:srgbClr val="00279f"/>
                </a:solidFill>
                <a:effectLst/>
                <a:uFillTx/>
                <a:latin typeface="Times New Roman"/>
              </a:rPr>
              <a:t> </a:t>
            </a:r>
            <a:r>
              <a:rPr b="0" lang="en-IN" sz="1400" strike="noStrike" u="none">
                <a:solidFill>
                  <a:srgbClr val="000080"/>
                </a:solidFill>
                <a:effectLst/>
                <a:uFillTx/>
                <a:latin typeface="Arial Narrow"/>
              </a:rPr>
              <a:t>Larry Rahn, SNL</a:t>
            </a:r>
            <a:endParaRPr b="0" lang="en-IN" sz="1400" strike="noStrike" u="none">
              <a:solidFill>
                <a:srgbClr val="000000"/>
              </a:solidFill>
              <a:effectLst/>
              <a:uFillTx/>
              <a:latin typeface="Times New Roman"/>
            </a:endParaRPr>
          </a:p>
        </p:txBody>
      </p:sp>
      <p:sp>
        <p:nvSpPr>
          <p:cNvPr id="209" name=""/>
          <p:cNvSpPr/>
          <p:nvPr/>
        </p:nvSpPr>
        <p:spPr>
          <a:xfrm>
            <a:off x="7039080" y="6719760"/>
            <a:ext cx="1890720" cy="852480"/>
          </a:xfrm>
          <a:prstGeom prst="rect">
            <a:avLst/>
          </a:prstGeom>
          <a:solidFill>
            <a:srgbClr val="ffcc99"/>
          </a:solidFill>
          <a:ln w="12600">
            <a:solidFill>
              <a:srgbClr val="000000"/>
            </a:solidFill>
            <a:miter/>
          </a:ln>
        </p:spPr>
        <p:style>
          <a:lnRef idx="0"/>
          <a:fillRef idx="0"/>
          <a:effectRef idx="0"/>
          <a:fontRef idx="minor"/>
        </p:style>
        <p:txBody>
          <a:bodyPr lIns="0" rIns="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000080"/>
                </a:solidFill>
                <a:effectLst/>
                <a:uFillTx/>
                <a:latin typeface="Arial Narrow"/>
              </a:rPr>
              <a:t>Geosciences</a:t>
            </a:r>
            <a:endParaRPr b="0" lang="en-IN" sz="1400" strike="noStrike" u="none">
              <a:solidFill>
                <a:srgbClr val="0000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000080"/>
                </a:solidFill>
                <a:effectLst/>
                <a:uFillTx/>
                <a:latin typeface="Arial Narrow"/>
              </a:rPr>
              <a:t>Nicholas Woodward</a:t>
            </a:r>
            <a:endParaRPr b="0" lang="en-IN" sz="1400" strike="noStrike" u="none">
              <a:solidFill>
                <a:srgbClr val="0000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900" strike="noStrike" u="none">
                <a:solidFill>
                  <a:srgbClr val="ff3300"/>
                </a:solidFill>
                <a:effectLst/>
                <a:uFillTx/>
                <a:latin typeface="Wingdings"/>
                <a:ea typeface="Wingdings"/>
              </a:rPr>
              <a:t></a:t>
            </a:r>
            <a:r>
              <a:rPr b="0" lang="en-IN" sz="900" strike="noStrike" u="none">
                <a:solidFill>
                  <a:srgbClr val="00279f"/>
                </a:solidFill>
                <a:effectLst/>
                <a:uFillTx/>
                <a:latin typeface="Times New Roman"/>
              </a:rPr>
              <a:t> </a:t>
            </a:r>
            <a:r>
              <a:rPr b="0" lang="en-IN" sz="1400" strike="noStrike" u="none">
                <a:solidFill>
                  <a:srgbClr val="000080"/>
                </a:solidFill>
                <a:effectLst/>
                <a:uFillTx/>
                <a:latin typeface="Arial Narrow"/>
              </a:rPr>
              <a:t>Patrick Dobson, LBNL</a:t>
            </a:r>
            <a:endParaRPr b="0" lang="en-IN" sz="1400" strike="noStrike" u="none">
              <a:solidFill>
                <a:srgbClr val="000000"/>
              </a:solidFill>
              <a:effectLst/>
              <a:uFillTx/>
              <a:latin typeface="Times New Roman"/>
            </a:endParaRPr>
          </a:p>
        </p:txBody>
      </p:sp>
      <p:sp>
        <p:nvSpPr>
          <p:cNvPr id="210" name=""/>
          <p:cNvSpPr/>
          <p:nvPr/>
        </p:nvSpPr>
        <p:spPr>
          <a:xfrm>
            <a:off x="6961320" y="2882880"/>
            <a:ext cx="2019240" cy="0"/>
          </a:xfrm>
          <a:prstGeom prst="line">
            <a:avLst/>
          </a:prstGeom>
          <a:ln w="9360">
            <a:solidFill>
              <a:srgbClr val="000000"/>
            </a:solidFill>
            <a:miter/>
          </a:ln>
        </p:spPr>
        <p:style>
          <a:lnRef idx="0"/>
          <a:fillRef idx="0"/>
          <a:effectRef idx="0"/>
          <a:fontRef idx="minor"/>
        </p:style>
        <p:txBody>
          <a:bodyPr lIns="0" rIns="0" tIns="-46800" bIns="-46800" anchor="ctr">
            <a:noAutofit/>
          </a:bodyPr>
          <a:p>
            <a:endParaRPr b="0" lang="en-IN" sz="2400" strike="noStrike" u="none">
              <a:solidFill>
                <a:srgbClr val="000000"/>
              </a:solidFill>
              <a:effectLst/>
              <a:uFillTx/>
              <a:latin typeface="Times New Roman"/>
            </a:endParaRPr>
          </a:p>
        </p:txBody>
      </p:sp>
      <p:sp>
        <p:nvSpPr>
          <p:cNvPr id="211" name=""/>
          <p:cNvSpPr/>
          <p:nvPr/>
        </p:nvSpPr>
        <p:spPr>
          <a:xfrm>
            <a:off x="3925800" y="2882880"/>
            <a:ext cx="2019240" cy="0"/>
          </a:xfrm>
          <a:prstGeom prst="line">
            <a:avLst/>
          </a:prstGeom>
          <a:ln w="9360">
            <a:solidFill>
              <a:srgbClr val="000000"/>
            </a:solidFill>
            <a:miter/>
          </a:ln>
        </p:spPr>
        <p:style>
          <a:lnRef idx="0"/>
          <a:fillRef idx="0"/>
          <a:effectRef idx="0"/>
          <a:fontRef idx="minor"/>
        </p:style>
        <p:txBody>
          <a:bodyPr lIns="0" rIns="0" tIns="-46800" bIns="-46800" anchor="ctr">
            <a:noAutofit/>
          </a:bodyPr>
          <a:p>
            <a:endParaRPr b="0" lang="en-IN" sz="2400" strike="noStrike" u="none">
              <a:solidFill>
                <a:srgbClr val="000000"/>
              </a:solidFill>
              <a:effectLst/>
              <a:uFillTx/>
              <a:latin typeface="Times New Roman"/>
            </a:endParaRPr>
          </a:p>
        </p:txBody>
      </p:sp>
      <p:sp>
        <p:nvSpPr>
          <p:cNvPr id="212" name=""/>
          <p:cNvSpPr/>
          <p:nvPr/>
        </p:nvSpPr>
        <p:spPr>
          <a:xfrm>
            <a:off x="425520" y="287280"/>
            <a:ext cx="1645920" cy="479880"/>
          </a:xfrm>
          <a:prstGeom prst="rect">
            <a:avLst/>
          </a:prstGeom>
          <a:noFill/>
          <a:ln w="0">
            <a:noFill/>
          </a:ln>
        </p:spPr>
        <p:style>
          <a:lnRef idx="0"/>
          <a:fillRef idx="0"/>
          <a:effectRef idx="0"/>
          <a:fontRef idx="minor"/>
        </p:style>
        <p:txBody>
          <a:bodyPr wrap="none" lIns="114120" rIns="114120" tIns="56880" bIns="56880" anchor="t">
            <a:spAutoFit/>
          </a:bodyPr>
          <a:p>
            <a:pPr algn="ctr">
              <a:lnSpc>
                <a:spcPct val="100000"/>
              </a:lnSpc>
              <a:tabLst>
                <a:tab algn="l" pos="0"/>
                <a:tab algn="l" pos="1019160"/>
                <a:tab algn="l" pos="2038320"/>
                <a:tab algn="l" pos="3057480"/>
                <a:tab algn="l" pos="4076640"/>
                <a:tab algn="l" pos="5095800"/>
                <a:tab algn="l" pos="6114960"/>
                <a:tab algn="l" pos="7134120"/>
                <a:tab algn="l" pos="8153280"/>
                <a:tab algn="l" pos="9172440"/>
                <a:tab algn="l" pos="10191600"/>
              </a:tabLst>
            </a:pPr>
            <a:r>
              <a:rPr b="1" lang="en-IN" sz="2400" strike="noStrike" u="none">
                <a:solidFill>
                  <a:srgbClr val="000000"/>
                </a:solidFill>
                <a:effectLst/>
                <a:uFillTx/>
                <a:latin typeface="Arial Narrow"/>
              </a:rPr>
              <a:t>April, 2008?</a:t>
            </a:r>
            <a:endParaRPr b="0" lang="en-IN" sz="2400" strike="noStrike" u="none">
              <a:solidFill>
                <a:srgbClr val="000000"/>
              </a:solidFill>
              <a:effectLst/>
              <a:uFillTx/>
              <a:latin typeface="Times New Roman"/>
            </a:endParaRPr>
          </a:p>
        </p:txBody>
      </p:sp>
      <p:sp>
        <p:nvSpPr>
          <p:cNvPr id="213" name=""/>
          <p:cNvSpPr/>
          <p:nvPr/>
        </p:nvSpPr>
        <p:spPr>
          <a:xfrm>
            <a:off x="720" y="4146480"/>
            <a:ext cx="885600" cy="388440"/>
          </a:xfrm>
          <a:prstGeom prst="rect">
            <a:avLst/>
          </a:prstGeom>
          <a:solidFill>
            <a:srgbClr val="ffff99"/>
          </a:solidFill>
          <a:ln w="0">
            <a:noFill/>
          </a:ln>
        </p:spPr>
        <p:style>
          <a:lnRef idx="0"/>
          <a:fillRef idx="0"/>
          <a:effectRef idx="0"/>
          <a:fontRef idx="minor"/>
        </p:style>
        <p:txBody>
          <a:bodyPr wrap="none" lIns="114120" rIns="114120" tIns="56880" bIns="56880" anchor="t">
            <a:spAutoFit/>
          </a:bodyPr>
          <a:p>
            <a:pPr>
              <a:lnSpc>
                <a:spcPct val="100000"/>
              </a:lnSpc>
              <a:tabLst>
                <a:tab algn="l" pos="0"/>
                <a:tab algn="l" pos="1019160"/>
                <a:tab algn="l" pos="2038320"/>
                <a:tab algn="l" pos="3057480"/>
                <a:tab algn="l" pos="4076640"/>
                <a:tab algn="l" pos="5095800"/>
                <a:tab algn="l" pos="6114960"/>
                <a:tab algn="l" pos="7134120"/>
                <a:tab algn="l" pos="8153280"/>
                <a:tab algn="l" pos="9172440"/>
                <a:tab algn="l" pos="10191600"/>
              </a:tabLst>
            </a:pPr>
            <a:r>
              <a:rPr b="1" lang="en-IN" sz="1800" strike="noStrike" u="none">
                <a:solidFill>
                  <a:srgbClr val="000000"/>
                </a:solidFill>
                <a:effectLst/>
                <a:uFillTx/>
                <a:latin typeface="Arial Narrow"/>
              </a:rPr>
              <a:t>Panel 1</a:t>
            </a:r>
            <a:endParaRPr b="0" lang="en-IN" sz="1800" strike="noStrike" u="none">
              <a:solidFill>
                <a:srgbClr val="000000"/>
              </a:solidFill>
              <a:effectLst/>
              <a:uFillTx/>
              <a:latin typeface="Times New Roman"/>
            </a:endParaRPr>
          </a:p>
        </p:txBody>
      </p:sp>
      <p:sp>
        <p:nvSpPr>
          <p:cNvPr id="214" name=""/>
          <p:cNvSpPr/>
          <p:nvPr/>
        </p:nvSpPr>
        <p:spPr>
          <a:xfrm>
            <a:off x="720" y="5581800"/>
            <a:ext cx="885600" cy="388440"/>
          </a:xfrm>
          <a:prstGeom prst="rect">
            <a:avLst/>
          </a:prstGeom>
          <a:solidFill>
            <a:srgbClr val="ff99cc"/>
          </a:solidFill>
          <a:ln w="0">
            <a:noFill/>
          </a:ln>
        </p:spPr>
        <p:style>
          <a:lnRef idx="0"/>
          <a:fillRef idx="0"/>
          <a:effectRef idx="0"/>
          <a:fontRef idx="minor"/>
        </p:style>
        <p:txBody>
          <a:bodyPr wrap="none" lIns="114120" rIns="114120" tIns="56880" bIns="56880" anchor="t">
            <a:spAutoFit/>
          </a:bodyPr>
          <a:p>
            <a:pPr>
              <a:lnSpc>
                <a:spcPct val="100000"/>
              </a:lnSpc>
              <a:tabLst>
                <a:tab algn="l" pos="0"/>
                <a:tab algn="l" pos="1019160"/>
                <a:tab algn="l" pos="2038320"/>
                <a:tab algn="l" pos="3057480"/>
                <a:tab algn="l" pos="4076640"/>
                <a:tab algn="l" pos="5095800"/>
                <a:tab algn="l" pos="6114960"/>
                <a:tab algn="l" pos="7134120"/>
                <a:tab algn="l" pos="8153280"/>
                <a:tab algn="l" pos="9172440"/>
                <a:tab algn="l" pos="10191600"/>
              </a:tabLst>
            </a:pPr>
            <a:r>
              <a:rPr b="1" lang="en-IN" sz="1800" strike="noStrike" u="none">
                <a:solidFill>
                  <a:srgbClr val="000000"/>
                </a:solidFill>
                <a:effectLst/>
                <a:uFillTx/>
                <a:latin typeface="Arial Narrow"/>
              </a:rPr>
              <a:t>Panel 2</a:t>
            </a:r>
            <a:endParaRPr b="0" lang="en-IN" sz="1800" strike="noStrike" u="none">
              <a:solidFill>
                <a:srgbClr val="000000"/>
              </a:solidFill>
              <a:effectLst/>
              <a:uFillTx/>
              <a:latin typeface="Times New Roman"/>
            </a:endParaRPr>
          </a:p>
        </p:txBody>
      </p:sp>
      <p:sp>
        <p:nvSpPr>
          <p:cNvPr id="215" name=""/>
          <p:cNvSpPr/>
          <p:nvPr/>
        </p:nvSpPr>
        <p:spPr>
          <a:xfrm>
            <a:off x="4534560" y="6800760"/>
            <a:ext cx="885600" cy="388440"/>
          </a:xfrm>
          <a:prstGeom prst="rect">
            <a:avLst/>
          </a:prstGeom>
          <a:solidFill>
            <a:srgbClr val="00ff00"/>
          </a:solidFill>
          <a:ln w="0">
            <a:noFill/>
          </a:ln>
        </p:spPr>
        <p:style>
          <a:lnRef idx="0"/>
          <a:fillRef idx="0"/>
          <a:effectRef idx="0"/>
          <a:fontRef idx="minor"/>
        </p:style>
        <p:txBody>
          <a:bodyPr wrap="none" lIns="114120" rIns="114120" tIns="56880" bIns="56880" anchor="t">
            <a:spAutoFit/>
          </a:bodyPr>
          <a:p>
            <a:pPr>
              <a:lnSpc>
                <a:spcPct val="100000"/>
              </a:lnSpc>
              <a:tabLst>
                <a:tab algn="l" pos="0"/>
                <a:tab algn="l" pos="1019160"/>
                <a:tab algn="l" pos="2038320"/>
                <a:tab algn="l" pos="3057480"/>
                <a:tab algn="l" pos="4076640"/>
                <a:tab algn="l" pos="5095800"/>
                <a:tab algn="l" pos="6114960"/>
                <a:tab algn="l" pos="7134120"/>
                <a:tab algn="l" pos="8153280"/>
                <a:tab algn="l" pos="9172440"/>
                <a:tab algn="l" pos="10191600"/>
              </a:tabLst>
            </a:pPr>
            <a:r>
              <a:rPr b="1" lang="en-IN" sz="1800" strike="noStrike" u="none">
                <a:solidFill>
                  <a:srgbClr val="000000"/>
                </a:solidFill>
                <a:effectLst/>
                <a:uFillTx/>
                <a:latin typeface="Arial Narrow"/>
              </a:rPr>
              <a:t>Panel 6</a:t>
            </a:r>
            <a:endParaRPr b="0" lang="en-IN" sz="1800" strike="noStrike" u="none">
              <a:solidFill>
                <a:srgbClr val="000000"/>
              </a:solidFill>
              <a:effectLst/>
              <a:uFillTx/>
              <a:latin typeface="Times New Roman"/>
            </a:endParaRPr>
          </a:p>
        </p:txBody>
      </p:sp>
      <p:sp>
        <p:nvSpPr>
          <p:cNvPr id="216" name=""/>
          <p:cNvSpPr/>
          <p:nvPr/>
        </p:nvSpPr>
        <p:spPr>
          <a:xfrm>
            <a:off x="6325200" y="4324320"/>
            <a:ext cx="885600" cy="388440"/>
          </a:xfrm>
          <a:prstGeom prst="rect">
            <a:avLst/>
          </a:prstGeom>
          <a:solidFill>
            <a:srgbClr val="ccffff"/>
          </a:solidFill>
          <a:ln w="0">
            <a:noFill/>
          </a:ln>
        </p:spPr>
        <p:style>
          <a:lnRef idx="0"/>
          <a:fillRef idx="0"/>
          <a:effectRef idx="0"/>
          <a:fontRef idx="minor"/>
        </p:style>
        <p:txBody>
          <a:bodyPr wrap="none" lIns="114120" rIns="114120" tIns="56880" bIns="56880" anchor="t">
            <a:spAutoFit/>
          </a:bodyPr>
          <a:p>
            <a:pPr>
              <a:lnSpc>
                <a:spcPct val="100000"/>
              </a:lnSpc>
              <a:tabLst>
                <a:tab algn="l" pos="0"/>
                <a:tab algn="l" pos="1019160"/>
                <a:tab algn="l" pos="2038320"/>
                <a:tab algn="l" pos="3057480"/>
                <a:tab algn="l" pos="4076640"/>
                <a:tab algn="l" pos="5095800"/>
                <a:tab algn="l" pos="6114960"/>
                <a:tab algn="l" pos="7134120"/>
                <a:tab algn="l" pos="8153280"/>
                <a:tab algn="l" pos="9172440"/>
                <a:tab algn="l" pos="10191600"/>
              </a:tabLst>
            </a:pPr>
            <a:r>
              <a:rPr b="1" lang="en-IN" sz="1800" strike="noStrike" u="none">
                <a:solidFill>
                  <a:srgbClr val="000000"/>
                </a:solidFill>
                <a:effectLst/>
                <a:uFillTx/>
                <a:latin typeface="Arial Narrow"/>
              </a:rPr>
              <a:t>Panel 3</a:t>
            </a:r>
            <a:endParaRPr b="0" lang="en-IN" sz="1800" strike="noStrike" u="none">
              <a:solidFill>
                <a:srgbClr val="000000"/>
              </a:solidFill>
              <a:effectLst/>
              <a:uFillTx/>
              <a:latin typeface="Times New Roman"/>
            </a:endParaRPr>
          </a:p>
        </p:txBody>
      </p:sp>
      <p:sp>
        <p:nvSpPr>
          <p:cNvPr id="217" name=""/>
          <p:cNvSpPr/>
          <p:nvPr/>
        </p:nvSpPr>
        <p:spPr>
          <a:xfrm>
            <a:off x="6185520" y="5530680"/>
            <a:ext cx="885600" cy="388440"/>
          </a:xfrm>
          <a:prstGeom prst="rect">
            <a:avLst/>
          </a:prstGeom>
          <a:solidFill>
            <a:srgbClr val="ccccff"/>
          </a:solidFill>
          <a:ln w="0">
            <a:noFill/>
          </a:ln>
        </p:spPr>
        <p:style>
          <a:lnRef idx="0"/>
          <a:fillRef idx="0"/>
          <a:effectRef idx="0"/>
          <a:fontRef idx="minor"/>
        </p:style>
        <p:txBody>
          <a:bodyPr wrap="none" lIns="114120" rIns="114120" tIns="56880" bIns="56880" anchor="t">
            <a:spAutoFit/>
          </a:bodyPr>
          <a:p>
            <a:pPr>
              <a:lnSpc>
                <a:spcPct val="100000"/>
              </a:lnSpc>
              <a:tabLst>
                <a:tab algn="l" pos="0"/>
                <a:tab algn="l" pos="1019160"/>
                <a:tab algn="l" pos="2038320"/>
                <a:tab algn="l" pos="3057480"/>
                <a:tab algn="l" pos="4076640"/>
                <a:tab algn="l" pos="5095800"/>
                <a:tab algn="l" pos="6114960"/>
                <a:tab algn="l" pos="7134120"/>
                <a:tab algn="l" pos="8153280"/>
                <a:tab algn="l" pos="9172440"/>
                <a:tab algn="l" pos="10191600"/>
              </a:tabLst>
            </a:pPr>
            <a:r>
              <a:rPr b="1" lang="en-IN" sz="1800" strike="noStrike" u="none">
                <a:solidFill>
                  <a:srgbClr val="000000"/>
                </a:solidFill>
                <a:effectLst/>
                <a:uFillTx/>
                <a:latin typeface="Arial Narrow"/>
              </a:rPr>
              <a:t>Panel 4</a:t>
            </a:r>
            <a:endParaRPr b="0" lang="en-IN" sz="1800" strike="noStrike" u="none">
              <a:solidFill>
                <a:srgbClr val="000000"/>
              </a:solidFill>
              <a:effectLst/>
              <a:uFillTx/>
              <a:latin typeface="Times New Roman"/>
            </a:endParaRPr>
          </a:p>
        </p:txBody>
      </p:sp>
      <p:sp>
        <p:nvSpPr>
          <p:cNvPr id="218" name=""/>
          <p:cNvSpPr/>
          <p:nvPr/>
        </p:nvSpPr>
        <p:spPr>
          <a:xfrm>
            <a:off x="6223680" y="6902280"/>
            <a:ext cx="885600" cy="388440"/>
          </a:xfrm>
          <a:prstGeom prst="rect">
            <a:avLst/>
          </a:prstGeom>
          <a:solidFill>
            <a:srgbClr val="ffcc99"/>
          </a:solidFill>
          <a:ln w="0">
            <a:noFill/>
          </a:ln>
        </p:spPr>
        <p:style>
          <a:lnRef idx="0"/>
          <a:fillRef idx="0"/>
          <a:effectRef idx="0"/>
          <a:fontRef idx="minor"/>
        </p:style>
        <p:txBody>
          <a:bodyPr wrap="none" lIns="114120" rIns="114120" tIns="56880" bIns="56880" anchor="t">
            <a:spAutoFit/>
          </a:bodyPr>
          <a:p>
            <a:pPr>
              <a:lnSpc>
                <a:spcPct val="100000"/>
              </a:lnSpc>
              <a:tabLst>
                <a:tab algn="l" pos="0"/>
                <a:tab algn="l" pos="1019160"/>
                <a:tab algn="l" pos="2038320"/>
                <a:tab algn="l" pos="3057480"/>
                <a:tab algn="l" pos="4076640"/>
                <a:tab algn="l" pos="5095800"/>
                <a:tab algn="l" pos="6114960"/>
                <a:tab algn="l" pos="7134120"/>
                <a:tab algn="l" pos="8153280"/>
                <a:tab algn="l" pos="9172440"/>
                <a:tab algn="l" pos="10191600"/>
              </a:tabLst>
            </a:pPr>
            <a:r>
              <a:rPr b="1" lang="en-IN" sz="1800" strike="noStrike" u="none">
                <a:solidFill>
                  <a:srgbClr val="000000"/>
                </a:solidFill>
                <a:effectLst/>
                <a:uFillTx/>
                <a:latin typeface="Arial Narrow"/>
              </a:rPr>
              <a:t>Panel 5</a:t>
            </a:r>
            <a:endParaRPr b="0" lang="en-IN" sz="1800" strike="noStrike" u="none">
              <a:solidFill>
                <a:srgbClr val="000000"/>
              </a:solidFill>
              <a:effectLst/>
              <a:uFillTx/>
              <a:latin typeface="Times New Roman"/>
            </a:endParaRPr>
          </a:p>
        </p:txBody>
      </p:sp>
      <p:sp>
        <p:nvSpPr>
          <p:cNvPr id="219" name=""/>
          <p:cNvSpPr/>
          <p:nvPr/>
        </p:nvSpPr>
        <p:spPr>
          <a:xfrm>
            <a:off x="7802640" y="1190520"/>
            <a:ext cx="2027160" cy="662040"/>
          </a:xfrm>
          <a:prstGeom prst="rect">
            <a:avLst/>
          </a:prstGeom>
          <a:solidFill>
            <a:srgbClr val="ffffff"/>
          </a:solidFill>
          <a:ln w="9360">
            <a:solidFill>
              <a:srgbClr val="000000"/>
            </a:solidFill>
            <a:miter/>
          </a:ln>
        </p:spPr>
        <p:style>
          <a:lnRef idx="0"/>
          <a:fillRef idx="0"/>
          <a:effectRef idx="0"/>
          <a:fontRef idx="minor"/>
        </p:style>
        <p:txBody>
          <a:bodyPr lIns="56880" rIns="0" tIns="56520" bIns="56520" anchor="t">
            <a:spAutoFit/>
          </a:bodyPr>
          <a:p>
            <a:pPr marL="212760" indent="-212760">
              <a:lnSpc>
                <a:spcPct val="100000"/>
              </a:lnSpc>
              <a:tabLst>
                <a:tab algn="l" pos="0"/>
                <a:tab algn="l" pos="1073160"/>
                <a:tab algn="l" pos="2146320"/>
                <a:tab algn="l" pos="3219480"/>
                <a:tab algn="l" pos="4292640"/>
                <a:tab algn="l" pos="5365800"/>
                <a:tab algn="l" pos="6438960"/>
                <a:tab algn="l" pos="7512120"/>
                <a:tab algn="l" pos="8585280"/>
                <a:tab algn="l" pos="9658440"/>
                <a:tab algn="l" pos="10731600"/>
              </a:tabLst>
            </a:pPr>
            <a:r>
              <a:rPr b="0" lang="en-US" sz="1200" strike="noStrike" u="none">
                <a:solidFill>
                  <a:srgbClr val="000080"/>
                </a:solidFill>
                <a:effectLst/>
                <a:uFillTx/>
                <a:latin typeface="Wingdings"/>
                <a:ea typeface="Wingdings"/>
              </a:rPr>
              <a:t></a:t>
            </a:r>
            <a:r>
              <a:rPr b="0" lang="en-US" sz="1200" strike="noStrike" u="none">
                <a:solidFill>
                  <a:srgbClr val="003366"/>
                </a:solidFill>
                <a:effectLst/>
                <a:uFillTx/>
                <a:latin typeface="Arial Unicode MS"/>
              </a:rPr>
              <a:t> </a:t>
            </a:r>
            <a:r>
              <a:rPr b="0" lang="en-US" sz="1200" strike="noStrike" u="none">
                <a:solidFill>
                  <a:srgbClr val="003366"/>
                </a:solidFill>
                <a:effectLst/>
                <a:uFillTx/>
                <a:latin typeface="Arial Narrow"/>
              </a:rPr>
              <a:t> </a:t>
            </a:r>
            <a:r>
              <a:rPr b="0" lang="en-US" sz="1200" strike="noStrike" u="none">
                <a:solidFill>
                  <a:srgbClr val="010000"/>
                </a:solidFill>
                <a:effectLst/>
                <a:uFillTx/>
                <a:latin typeface="Arial Narrow"/>
              </a:rPr>
              <a:t>IPA</a:t>
            </a:r>
            <a:endParaRPr b="0" lang="en-IN" sz="1200" strike="noStrike" u="none">
              <a:solidFill>
                <a:srgbClr val="000000"/>
              </a:solidFill>
              <a:effectLst/>
              <a:uFillTx/>
              <a:latin typeface="Times New Roman"/>
            </a:endParaRPr>
          </a:p>
          <a:p>
            <a:pPr marL="212760" indent="-212760">
              <a:lnSpc>
                <a:spcPct val="100000"/>
              </a:lnSpc>
              <a:tabLst>
                <a:tab algn="l" pos="0"/>
                <a:tab algn="l" pos="1073160"/>
                <a:tab algn="l" pos="2146320"/>
                <a:tab algn="l" pos="3219480"/>
                <a:tab algn="l" pos="4292640"/>
                <a:tab algn="l" pos="5365800"/>
                <a:tab algn="l" pos="6438960"/>
                <a:tab algn="l" pos="7512120"/>
                <a:tab algn="l" pos="8585280"/>
                <a:tab algn="l" pos="9658440"/>
                <a:tab algn="l" pos="10731600"/>
              </a:tabLst>
            </a:pPr>
            <a:r>
              <a:rPr b="0" lang="en-US" sz="1200" strike="noStrike" u="none">
                <a:solidFill>
                  <a:srgbClr val="ff0000"/>
                </a:solidFill>
                <a:effectLst/>
                <a:uFillTx/>
                <a:latin typeface="Wingdings"/>
                <a:ea typeface="Wingdings"/>
              </a:rPr>
              <a:t></a:t>
            </a:r>
            <a:r>
              <a:rPr b="0" lang="en-US" sz="1200" strike="noStrike" u="none">
                <a:solidFill>
                  <a:srgbClr val="003366"/>
                </a:solidFill>
                <a:effectLst/>
                <a:uFillTx/>
                <a:latin typeface="Arial Narrow"/>
              </a:rPr>
              <a:t> </a:t>
            </a:r>
            <a:r>
              <a:rPr b="0" lang="en-US" sz="1200" strike="noStrike" u="none">
                <a:solidFill>
                  <a:srgbClr val="010000"/>
                </a:solidFill>
                <a:effectLst/>
                <a:uFillTx/>
                <a:latin typeface="Arial Narrow"/>
              </a:rPr>
              <a:t>Detailee</a:t>
            </a:r>
            <a:endParaRPr b="0" lang="en-IN" sz="1200" strike="noStrike" u="none">
              <a:solidFill>
                <a:srgbClr val="000000"/>
              </a:solidFill>
              <a:effectLst/>
              <a:uFillTx/>
              <a:latin typeface="Times New Roman"/>
            </a:endParaRPr>
          </a:p>
          <a:p>
            <a:pPr marL="212760" indent="-212760">
              <a:lnSpc>
                <a:spcPct val="100000"/>
              </a:lnSpc>
              <a:tabLst>
                <a:tab algn="l" pos="0"/>
                <a:tab algn="l" pos="1073160"/>
                <a:tab algn="l" pos="2146320"/>
                <a:tab algn="l" pos="3219480"/>
                <a:tab algn="l" pos="4292640"/>
                <a:tab algn="l" pos="5365800"/>
                <a:tab algn="l" pos="6438960"/>
                <a:tab algn="l" pos="7512120"/>
                <a:tab algn="l" pos="8585280"/>
                <a:tab algn="l" pos="9658440"/>
                <a:tab algn="l" pos="10731600"/>
              </a:tabLst>
            </a:pPr>
            <a:r>
              <a:rPr b="0" lang="en-US" sz="1200" strike="noStrike" u="none">
                <a:solidFill>
                  <a:srgbClr val="010000"/>
                </a:solidFill>
                <a:effectLst/>
                <a:uFillTx/>
                <a:latin typeface="Arial Narrow"/>
              </a:rPr>
              <a:t> </a:t>
            </a:r>
            <a:r>
              <a:rPr b="0" lang="en-US" sz="1200" strike="noStrike" u="none">
                <a:solidFill>
                  <a:srgbClr val="010000"/>
                </a:solidFill>
                <a:effectLst/>
                <a:uFillTx/>
                <a:latin typeface="Wingdings"/>
                <a:ea typeface="Wingdings"/>
              </a:rPr>
              <a:t></a:t>
            </a:r>
            <a:r>
              <a:rPr b="0" lang="en-US" sz="1200" strike="noStrike" u="none">
                <a:solidFill>
                  <a:srgbClr val="010000"/>
                </a:solidFill>
                <a:effectLst/>
                <a:uFillTx/>
                <a:latin typeface="Arial Narrow"/>
              </a:rPr>
              <a:t> Detailee, 1/4 time, not at HQ</a:t>
            </a:r>
            <a:endParaRPr b="0" lang="en-IN" sz="1200" strike="noStrike" u="none">
              <a:solidFill>
                <a:srgbClr val="000000"/>
              </a:solidFill>
              <a:effectLst/>
              <a:uFillTx/>
              <a:latin typeface="Times New Roman"/>
            </a:endParaRPr>
          </a:p>
        </p:txBody>
      </p:sp>
      <p:sp>
        <p:nvSpPr>
          <p:cNvPr id="220" name=""/>
          <p:cNvSpPr/>
          <p:nvPr/>
        </p:nvSpPr>
        <p:spPr>
          <a:xfrm>
            <a:off x="-207720" y="7211880"/>
            <a:ext cx="4465440" cy="398880"/>
          </a:xfrm>
          <a:prstGeom prst="rect">
            <a:avLst/>
          </a:prstGeom>
          <a:noFill/>
          <a:ln w="0">
            <a:noFill/>
          </a:ln>
        </p:spPr>
        <p:style>
          <a:lnRef idx="0"/>
          <a:fillRef idx="0"/>
          <a:effectRef idx="0"/>
          <a:fontRef idx="minor"/>
        </p:style>
        <p:txBody>
          <a:bodyPr wrap="none" lIns="90000" rIns="90000" tIns="46800" bIns="46800" anchor="t">
            <a:spAutoFit/>
          </a:bodyPr>
          <a:p>
            <a:pPr marL="457200">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0000"/>
                </a:solidFill>
                <a:effectLst/>
                <a:uFillTx/>
                <a:latin typeface="Arial Narrow"/>
              </a:rPr>
              <a:t>Hiring 4 program managers in FY2008!</a:t>
            </a:r>
            <a:endParaRPr b="0" lang="en-IN" sz="2000" strike="noStrike" u="none">
              <a:solidFill>
                <a:srgbClr val="000000"/>
              </a:solidFill>
              <a:effectLst/>
              <a:uFillTx/>
              <a:latin typeface="Times New Roman"/>
            </a:endParaRPr>
          </a:p>
        </p:txBody>
      </p:sp>
      <p:sp>
        <p:nvSpPr>
          <p:cNvPr id="221" name=""/>
          <p:cNvSpPr/>
          <p:nvPr/>
        </p:nvSpPr>
        <p:spPr>
          <a:xfrm flipH="1" flipV="1">
            <a:off x="1638360" y="6895800"/>
            <a:ext cx="25200" cy="406440"/>
          </a:xfrm>
          <a:prstGeom prst="line">
            <a:avLst/>
          </a:prstGeom>
          <a:ln w="12600">
            <a:solidFill>
              <a:srgbClr val="ff0000"/>
            </a:solidFill>
            <a:miter/>
            <a:tailEnd len="med" type="triangle" w="med"/>
          </a:ln>
        </p:spPr>
        <p:style>
          <a:lnRef idx="0"/>
          <a:fillRef idx="0"/>
          <a:effectRef idx="0"/>
          <a:fontRef idx="minor"/>
        </p:style>
        <p:txBody>
          <a:bodyPr lIns="90000" rIns="90000" tIns="46800" bIns="46800" anchor="t">
            <a:noAutofit/>
          </a:bodyPr>
          <a:p>
            <a:endParaRPr b="0" lang="en-IN" sz="2400" strike="noStrike" u="none">
              <a:solidFill>
                <a:srgbClr val="000000"/>
              </a:solidFill>
              <a:effectLst/>
              <a:uFillTx/>
              <a:latin typeface="Times New Roman"/>
            </a:endParaRPr>
          </a:p>
        </p:txBody>
      </p:sp>
      <p:sp>
        <p:nvSpPr>
          <p:cNvPr id="222" name=""/>
          <p:cNvSpPr/>
          <p:nvPr/>
        </p:nvSpPr>
        <p:spPr>
          <a:xfrm flipV="1">
            <a:off x="444600" y="4965480"/>
            <a:ext cx="1028520" cy="2222280"/>
          </a:xfrm>
          <a:prstGeom prst="line">
            <a:avLst/>
          </a:prstGeom>
          <a:ln w="12600">
            <a:solidFill>
              <a:srgbClr val="ff0000"/>
            </a:solidFill>
            <a:miter/>
            <a:tailEnd len="med" type="triangle" w="med"/>
          </a:ln>
        </p:spPr>
        <p:style>
          <a:lnRef idx="0"/>
          <a:fillRef idx="0"/>
          <a:effectRef idx="0"/>
          <a:fontRef idx="minor"/>
        </p:style>
        <p:txBody>
          <a:bodyPr lIns="90000" rIns="90000" tIns="46800" bIns="46800" anchor="t">
            <a:noAutofit/>
          </a:bodyPr>
          <a:p>
            <a:endParaRPr b="0" lang="en-IN" sz="2400" strike="noStrike" u="none">
              <a:solidFill>
                <a:srgbClr val="000000"/>
              </a:solidFill>
              <a:effectLst/>
              <a:uFillTx/>
              <a:latin typeface="Times New Roman"/>
            </a:endParaRPr>
          </a:p>
        </p:txBody>
      </p:sp>
      <p:sp>
        <p:nvSpPr>
          <p:cNvPr id="223" name=""/>
          <p:cNvSpPr/>
          <p:nvPr/>
        </p:nvSpPr>
        <p:spPr>
          <a:xfrm flipV="1">
            <a:off x="2819520" y="5308200"/>
            <a:ext cx="1803240" cy="1981080"/>
          </a:xfrm>
          <a:prstGeom prst="line">
            <a:avLst/>
          </a:prstGeom>
          <a:ln w="12600">
            <a:solidFill>
              <a:srgbClr val="ff0000"/>
            </a:solidFill>
            <a:miter/>
            <a:tailEnd len="med" type="triangle" w="med"/>
          </a:ln>
        </p:spPr>
        <p:style>
          <a:lnRef idx="0"/>
          <a:fillRef idx="0"/>
          <a:effectRef idx="0"/>
          <a:fontRef idx="minor"/>
        </p:style>
        <p:txBody>
          <a:bodyPr lIns="90000" rIns="90000" tIns="46800" bIns="46800" anchor="t">
            <a:noAutofit/>
          </a:bodyPr>
          <a:p>
            <a:endParaRPr b="0" lang="en-IN" sz="2400" strike="noStrike" u="none">
              <a:solidFill>
                <a:srgbClr val="000000"/>
              </a:solidFill>
              <a:effectLst/>
              <a:uFillTx/>
              <a:latin typeface="Times New Roman"/>
            </a:endParaRPr>
          </a:p>
        </p:txBody>
      </p:sp>
      <p:sp>
        <p:nvSpPr>
          <p:cNvPr id="224" name=""/>
          <p:cNvSpPr/>
          <p:nvPr/>
        </p:nvSpPr>
        <p:spPr>
          <a:xfrm flipV="1">
            <a:off x="3340080" y="6337080"/>
            <a:ext cx="1117800" cy="952200"/>
          </a:xfrm>
          <a:prstGeom prst="line">
            <a:avLst/>
          </a:prstGeom>
          <a:ln w="12600">
            <a:solidFill>
              <a:srgbClr val="ff0000"/>
            </a:solidFill>
            <a:miter/>
            <a:tailEnd len="med" type="triangle" w="med"/>
          </a:ln>
        </p:spPr>
        <p:style>
          <a:lnRef idx="0"/>
          <a:fillRef idx="0"/>
          <a:effectRef idx="0"/>
          <a:fontRef idx="minor"/>
        </p:style>
        <p:txBody>
          <a:bodyPr lIns="90000" rIns="90000" tIns="46800" bIns="46800" anchor="t">
            <a:noAutofit/>
          </a:bodyPr>
          <a:p>
            <a:endParaRPr b="0" lang="en-IN" sz="2400" strike="noStrike" u="none">
              <a:solidFill>
                <a:srgbClr val="000000"/>
              </a:solidFill>
              <a:effectLst/>
              <a:uFillTx/>
              <a:latin typeface="Times New Roman"/>
            </a:endParaRPr>
          </a:p>
        </p:txBody>
      </p:sp>
    </p:spTree>
  </p:cSld>
  <p:timing>
    <p:tnLst>
      <p:par>
        <p:cTn id="85" dur="indefinite" restart="never" nodeType="tmRoot">
          <p:childTnLst>
            <p:seq>
              <p:cTn id="86" dur="indefinite" nodeType="mainSeq">
                <p:childTnLst>
                  <p:par>
                    <p:cTn id="87" fill="hold">
                      <p:stCondLst>
                        <p:cond delay="indefinite"/>
                      </p:stCondLst>
                      <p:childTnLst>
                        <p:par>
                          <p:cTn id="88" fill="hold">
                            <p:stCondLst>
                              <p:cond delay="0"/>
                            </p:stCondLst>
                            <p:childTnLst>
                              <p:par>
                                <p:cTn id="89" nodeType="clickEffect" fill="hold" presetClass="entr" presetID="1">
                                  <p:stCondLst>
                                    <p:cond delay="0"/>
                                  </p:stCondLst>
                                  <p:childTnLst>
                                    <p:set>
                                      <p:cBhvr>
                                        <p:cTn id="90" dur="1" fill="hold">
                                          <p:stCondLst>
                                            <p:cond delay="0"/>
                                          </p:stCondLst>
                                        </p:cTn>
                                        <p:tgtEl>
                                          <p:spTgt spid="222"/>
                                        </p:tgtEl>
                                        <p:attrNameLst>
                                          <p:attrName>style.visibility</p:attrName>
                                        </p:attrNameLst>
                                      </p:cBhvr>
                                      <p:to>
                                        <p:strVal val="visible"/>
                                      </p:to>
                                    </p:set>
                                  </p:childTnLst>
                                </p:cTn>
                              </p:par>
                              <p:par>
                                <p:cTn id="91" nodeType="withEffect" fill="hold" presetClass="entr" presetID="1">
                                  <p:stCondLst>
                                    <p:cond delay="0"/>
                                  </p:stCondLst>
                                  <p:childTnLst>
                                    <p:set>
                                      <p:cBhvr>
                                        <p:cTn id="92" dur="1" fill="hold">
                                          <p:stCondLst>
                                            <p:cond delay="0"/>
                                          </p:stCondLst>
                                        </p:cTn>
                                        <p:tgtEl>
                                          <p:spTgt spid="221"/>
                                        </p:tgtEl>
                                        <p:attrNameLst>
                                          <p:attrName>style.visibility</p:attrName>
                                        </p:attrNameLst>
                                      </p:cBhvr>
                                      <p:to>
                                        <p:strVal val="visible"/>
                                      </p:to>
                                    </p:set>
                                  </p:childTnLst>
                                </p:cTn>
                              </p:par>
                              <p:par>
                                <p:cTn id="93" nodeType="withEffect" fill="hold" presetClass="entr" presetID="1">
                                  <p:stCondLst>
                                    <p:cond delay="0"/>
                                  </p:stCondLst>
                                  <p:childTnLst>
                                    <p:set>
                                      <p:cBhvr>
                                        <p:cTn id="94" dur="1" fill="hold">
                                          <p:stCondLst>
                                            <p:cond delay="0"/>
                                          </p:stCondLst>
                                        </p:cTn>
                                        <p:tgtEl>
                                          <p:spTgt spid="223"/>
                                        </p:tgtEl>
                                        <p:attrNameLst>
                                          <p:attrName>style.visibility</p:attrName>
                                        </p:attrNameLst>
                                      </p:cBhvr>
                                      <p:to>
                                        <p:strVal val="visible"/>
                                      </p:to>
                                    </p:set>
                                  </p:childTnLst>
                                </p:cTn>
                              </p:par>
                              <p:par>
                                <p:cTn id="95" nodeType="withEffect" fill="hold" presetClass="entr" presetID="1">
                                  <p:stCondLst>
                                    <p:cond delay="0"/>
                                  </p:stCondLst>
                                  <p:childTnLst>
                                    <p:set>
                                      <p:cBhvr>
                                        <p:cTn id="96" dur="1" fill="hold">
                                          <p:stCondLst>
                                            <p:cond delay="0"/>
                                          </p:stCondLst>
                                        </p:cTn>
                                        <p:tgtEl>
                                          <p:spTgt spid="224"/>
                                        </p:tgtEl>
                                        <p:attrNameLst>
                                          <p:attrName>style.visibility</p:attrName>
                                        </p:attrNameLst>
                                      </p:cBhvr>
                                      <p:to>
                                        <p:strVal val="visible"/>
                                      </p:to>
                                    </p:set>
                                  </p:childTnLst>
                                </p:cTn>
                              </p:par>
                              <p:par>
                                <p:cTn id="97" nodeType="withEffect" fill="hold" presetClass="entr" presetID="1">
                                  <p:stCondLst>
                                    <p:cond delay="0"/>
                                  </p:stCondLst>
                                  <p:childTnLst>
                                    <p:set>
                                      <p:cBhvr>
                                        <p:cTn id="98" dur="1" fill="hold">
                                          <p:stCondLst>
                                            <p:cond delay="0"/>
                                          </p:stCondLst>
                                        </p:cTn>
                                        <p:tgtEl>
                                          <p:spTgt spid="22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25" name="PlaceHolder 1"/>
          <p:cNvSpPr>
            <a:spLocks noGrp="1"/>
          </p:cNvSpPr>
          <p:nvPr>
            <p:ph type="title"/>
          </p:nvPr>
        </p:nvSpPr>
        <p:spPr>
          <a:xfrm>
            <a:off x="503280" y="173160"/>
            <a:ext cx="9051840" cy="604800"/>
          </a:xfrm>
          <a:prstGeom prst="rect">
            <a:avLst/>
          </a:prstGeom>
          <a:noFill/>
          <a:ln w="0">
            <a:noFill/>
          </a:ln>
        </p:spPr>
        <p:txBody>
          <a:bodyPr lIns="96480" rIns="96480" tIns="48240" bIns="48240" anchor="t">
            <a:noAutofit/>
          </a:bodyPr>
          <a:p>
            <a:pPr indent="0" algn="ctr">
              <a:lnSpc>
                <a:spcPct val="100000"/>
              </a:lnSpc>
              <a:buNone/>
              <a:tabLst>
                <a:tab algn="l" pos="0"/>
                <a:tab algn="l" pos="1006560"/>
                <a:tab algn="l" pos="2013120"/>
                <a:tab algn="l" pos="3019320"/>
                <a:tab algn="l" pos="4025880"/>
                <a:tab algn="l" pos="5032440"/>
                <a:tab algn="l" pos="6039000"/>
                <a:tab algn="l" pos="7045200"/>
                <a:tab algn="l" pos="8051760"/>
                <a:tab algn="l" pos="9058320"/>
                <a:tab algn="l" pos="10064880"/>
              </a:tabLst>
            </a:pPr>
            <a:r>
              <a:rPr b="1" i="1" lang="en-IN" sz="2800" strike="noStrike" u="none">
                <a:solidFill>
                  <a:srgbClr val="ff0000"/>
                </a:solidFill>
                <a:effectLst/>
                <a:uFillTx/>
                <a:latin typeface="Arial Narrow"/>
              </a:rPr>
              <a:t>Program manager for computational and theoretical chemistry</a:t>
            </a:r>
            <a:endParaRPr b="0" lang="en-IN" sz="2800" strike="noStrike" u="none">
              <a:solidFill>
                <a:srgbClr val="0000ff"/>
              </a:solidFill>
              <a:effectLst/>
              <a:uFillTx/>
              <a:latin typeface="Arial"/>
            </a:endParaRPr>
          </a:p>
        </p:txBody>
      </p:sp>
      <p:pic>
        <p:nvPicPr>
          <p:cNvPr id="226" name="" descr=""/>
          <p:cNvPicPr/>
          <p:nvPr/>
        </p:nvPicPr>
        <p:blipFill>
          <a:blip r:embed="rId1"/>
          <a:stretch/>
        </p:blipFill>
        <p:spPr>
          <a:xfrm>
            <a:off x="2131920" y="841320"/>
            <a:ext cx="2197080" cy="2610000"/>
          </a:xfrm>
          <a:prstGeom prst="rect">
            <a:avLst/>
          </a:prstGeom>
          <a:noFill/>
          <a:ln w="0">
            <a:noFill/>
          </a:ln>
        </p:spPr>
      </p:pic>
      <p:sp>
        <p:nvSpPr>
          <p:cNvPr id="227" name=""/>
          <p:cNvSpPr/>
          <p:nvPr/>
        </p:nvSpPr>
        <p:spPr>
          <a:xfrm>
            <a:off x="3946680" y="1585800"/>
            <a:ext cx="3798720" cy="1008720"/>
          </a:xfrm>
          <a:prstGeom prst="rect">
            <a:avLst/>
          </a:prstGeom>
          <a:noFill/>
          <a:ln w="0">
            <a:noFill/>
          </a:ln>
        </p:spPr>
        <p:style>
          <a:lnRef idx="0"/>
          <a:fillRef idx="0"/>
          <a:effectRef idx="0"/>
          <a:fontRef idx="minor"/>
        </p:style>
        <p:txBody>
          <a:bodyPr lIns="90000" rIns="90000" tIns="46800" bIns="46800" anchor="t">
            <a:spAutoFit/>
          </a:bodyPr>
          <a:p>
            <a:pPr marL="457200">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000" strike="noStrike" u="none">
                <a:solidFill>
                  <a:srgbClr val="000000"/>
                </a:solidFill>
                <a:effectLst/>
                <a:uFillTx/>
                <a:latin typeface="Arial Narrow"/>
              </a:rPr>
              <a:t>Dick Hilderbrandt retired after 21 years of Federal service on December 31, 2007</a:t>
            </a:r>
            <a:endParaRPr b="0" lang="en-IN" sz="2000" strike="noStrike" u="none">
              <a:solidFill>
                <a:srgbClr val="000000"/>
              </a:solidFill>
              <a:effectLst/>
              <a:uFillTx/>
              <a:latin typeface="Times New Roman"/>
            </a:endParaRPr>
          </a:p>
        </p:txBody>
      </p:sp>
      <p:sp>
        <p:nvSpPr>
          <p:cNvPr id="228" name=""/>
          <p:cNvSpPr/>
          <p:nvPr/>
        </p:nvSpPr>
        <p:spPr>
          <a:xfrm>
            <a:off x="0" y="3694680"/>
            <a:ext cx="9944280" cy="3567240"/>
          </a:xfrm>
          <a:prstGeom prst="rect">
            <a:avLst/>
          </a:prstGeom>
          <a:noFill/>
          <a:ln w="0">
            <a:noFill/>
          </a:ln>
        </p:spPr>
        <p:style>
          <a:lnRef idx="0"/>
          <a:fillRef idx="0"/>
          <a:effectRef idx="0"/>
          <a:fontRef idx="minor"/>
        </p:style>
        <p:txBody>
          <a:bodyPr lIns="90000" rIns="90000" tIns="46800" bIns="46800" anchor="ctr">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000" strike="noStrike" u="none">
                <a:solidFill>
                  <a:srgbClr val="000000"/>
                </a:solidFill>
                <a:effectLst/>
                <a:uFillTx/>
                <a:latin typeface="Arial Narrow"/>
              </a:rPr>
              <a:t>Job Opportunity: Program Manager for Computational and Theoretical Chemistry</a:t>
            </a:r>
            <a:endParaRPr b="0" lang="en-IN" sz="2000" strike="noStrike" u="none">
              <a:solidFill>
                <a:srgbClr val="0000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000000"/>
                </a:solidFill>
                <a:effectLst/>
                <a:uFillTx/>
                <a:latin typeface="Arial Narrow"/>
              </a:rPr>
              <a:t>The Office of Basic Energy Sciences (</a:t>
            </a:r>
            <a:r>
              <a:rPr b="0" lang="en-US" sz="1600" strike="noStrike" u="sng">
                <a:solidFill>
                  <a:srgbClr val="ff0000"/>
                </a:solidFill>
                <a:effectLst/>
                <a:uFillTx/>
                <a:latin typeface="Arial Narrow"/>
                <a:hlinkClick r:id="rId2"/>
              </a:rPr>
              <a:t>http://</a:t>
            </a:r>
            <a:r>
              <a:rPr b="0" lang="en-US" sz="1600" strike="noStrike" u="sng">
                <a:solidFill>
                  <a:srgbClr val="ff0000"/>
                </a:solidFill>
                <a:effectLst/>
                <a:uFillTx/>
                <a:latin typeface="Arial Narrow"/>
                <a:hlinkClick r:id="rId3"/>
              </a:rPr>
              <a:t>www.sc.doe.gov/bes/bes.html</a:t>
            </a:r>
            <a:r>
              <a:rPr b="0" lang="en-US" sz="1600" strike="noStrike" u="none">
                <a:solidFill>
                  <a:srgbClr val="000000"/>
                </a:solidFill>
                <a:effectLst/>
                <a:uFillTx/>
                <a:latin typeface="Arial Narrow"/>
              </a:rPr>
              <a:t> ), Office of Science, US Department of Energy, is seeking qualified applicants for a career federal position managing the Computational and Theoretical Chemistry Program, funding mission-oriented basic science at universities and national laboratories.  The program encompasses a broad range of computational and theoretical approaches to scientific discovery in areas of interest to DOE. The research includes understanding and predicting the properties and chemical behavior of molecular systems and complexes in the gas phase, in solution, at interfaces, and in biological systems. It emphasizes development of new theories, methods and algorithms for applying theoretical and computational science and simulation to understanding chemical behavior and molecular properties in a wide range of environments, including new opportunities and challenges in complex systems, nanoscale materials, solar energy utilization, and ultrafast science.  The program manager also assists in the allocation of computer resources at Office of Science high-performance computing facilities. </a:t>
            </a:r>
            <a:endParaRPr b="0" lang="en-IN" sz="1600" strike="noStrike" u="none">
              <a:solidFill>
                <a:srgbClr val="0000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000000"/>
                </a:solidFill>
                <a:effectLst/>
                <a:uFillTx/>
                <a:latin typeface="Arial Narrow"/>
              </a:rPr>
              <a:t> </a:t>
            </a:r>
            <a:endParaRPr b="0" lang="en-IN" sz="1600" strike="noStrike" u="none">
              <a:solidFill>
                <a:srgbClr val="0000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000000"/>
                </a:solidFill>
                <a:effectLst/>
                <a:uFillTx/>
                <a:latin typeface="Arial Narrow"/>
                <a:ea typeface="ＭＳ Ｐゴシック"/>
              </a:rPr>
              <a:t>The announcement and on-line application instructions can be found via the BES website:  </a:t>
            </a:r>
            <a:r>
              <a:rPr b="0" lang="en-US" sz="1600" strike="noStrike" u="sng">
                <a:solidFill>
                  <a:srgbClr val="ff0000"/>
                </a:solidFill>
                <a:effectLst/>
                <a:uFillTx/>
                <a:latin typeface="Arial Narrow"/>
                <a:ea typeface="ＭＳ Ｐゴシック"/>
                <a:hlinkClick r:id="rId4"/>
              </a:rPr>
              <a:t>http://</a:t>
            </a:r>
            <a:r>
              <a:rPr b="0" lang="en-US" sz="1600" strike="noStrike" u="sng">
                <a:solidFill>
                  <a:srgbClr val="ff0000"/>
                </a:solidFill>
                <a:effectLst/>
                <a:uFillTx/>
                <a:latin typeface="Arial Narrow"/>
                <a:ea typeface="ＭＳ Ｐゴシック"/>
                <a:hlinkClick r:id="rId5"/>
              </a:rPr>
              <a:t>www.sc.doe.gov/bes/BESjobs.html</a:t>
            </a:r>
            <a:r>
              <a:rPr b="0" lang="en-US" sz="1600" strike="noStrike" u="none">
                <a:solidFill>
                  <a:srgbClr val="000000"/>
                </a:solidFill>
                <a:effectLst/>
                <a:uFillTx/>
                <a:latin typeface="Arial Narrow"/>
                <a:ea typeface="ＭＳ Ｐゴシック"/>
              </a:rPr>
              <a:t>  or directly at USA Jobs: </a:t>
            </a:r>
            <a:r>
              <a:rPr b="0" lang="en-US" sz="1600" strike="noStrike" u="sng">
                <a:solidFill>
                  <a:srgbClr val="ff0000"/>
                </a:solidFill>
                <a:effectLst/>
                <a:uFillTx/>
                <a:latin typeface="Arial Narrow"/>
                <a:ea typeface="ＭＳ Ｐゴシック"/>
                <a:hlinkClick r:id="rId6"/>
              </a:rPr>
              <a:t>http://</a:t>
            </a:r>
            <a:r>
              <a:rPr b="0" lang="en-US" sz="1600" strike="noStrike" u="sng">
                <a:solidFill>
                  <a:srgbClr val="ff0000"/>
                </a:solidFill>
                <a:effectLst/>
                <a:uFillTx/>
                <a:latin typeface="Arial Narrow"/>
                <a:ea typeface="ＭＳ Ｐゴシック"/>
                <a:hlinkClick r:id="rId7"/>
              </a:rPr>
              <a:t>jobsearch.usajobs.gov/ftva.asp?seeker</a:t>
            </a:r>
            <a:r>
              <a:rPr b="0" lang="en-US" sz="1600" strike="noStrike" u="sng">
                <a:solidFill>
                  <a:srgbClr val="ff0000"/>
                </a:solidFill>
                <a:effectLst/>
                <a:uFillTx/>
                <a:latin typeface="Arial Narrow"/>
                <a:ea typeface="ＭＳ Ｐゴシック"/>
                <a:hlinkClick r:id="rId8"/>
              </a:rPr>
              <a:t>=1&amp;JobID=68052643 </a:t>
            </a:r>
            <a:r>
              <a:rPr b="0" lang="en-US" sz="1600" strike="noStrike" u="none">
                <a:solidFill>
                  <a:srgbClr val="000000"/>
                </a:solidFill>
                <a:effectLst/>
                <a:uFillTx/>
                <a:latin typeface="Arial Narrow"/>
                <a:ea typeface="ＭＳ Ｐゴシック"/>
              </a:rPr>
              <a:t>.  Applications must be submitted by 11 pm on </a:t>
            </a:r>
            <a:r>
              <a:rPr b="1" lang="en-US" sz="1600" strike="noStrike" u="none">
                <a:solidFill>
                  <a:srgbClr val="000000"/>
                </a:solidFill>
                <a:effectLst/>
                <a:uFillTx/>
                <a:latin typeface="Arial Narrow"/>
                <a:ea typeface="ＭＳ Ｐゴシック"/>
              </a:rPr>
              <a:t>April 21</a:t>
            </a:r>
            <a:r>
              <a:rPr b="0" lang="en-US" sz="1600" strike="noStrike" u="none">
                <a:solidFill>
                  <a:srgbClr val="000000"/>
                </a:solidFill>
                <a:effectLst/>
                <a:uFillTx/>
                <a:latin typeface="Arial Narrow"/>
                <a:ea typeface="ＭＳ Ｐゴシック"/>
              </a:rPr>
              <a:t>, </a:t>
            </a:r>
            <a:r>
              <a:rPr b="1" lang="en-US" sz="1600" strike="noStrike" u="none">
                <a:solidFill>
                  <a:srgbClr val="000000"/>
                </a:solidFill>
                <a:effectLst/>
                <a:uFillTx/>
                <a:latin typeface="Arial Narrow"/>
                <a:ea typeface="ＭＳ Ｐゴシック"/>
              </a:rPr>
              <a:t>2008.</a:t>
            </a:r>
            <a:r>
              <a:rPr b="0" lang="en-US" sz="1600" strike="noStrike" u="none">
                <a:solidFill>
                  <a:srgbClr val="000000"/>
                </a:solidFill>
                <a:effectLst/>
                <a:uFillTx/>
                <a:latin typeface="Arial Narrow"/>
                <a:ea typeface="ＭＳ Ｐゴシック"/>
              </a:rPr>
              <a:t> </a:t>
            </a:r>
            <a:endParaRPr b="0" lang="en-IN" sz="1600" strike="noStrike" u="none">
              <a:solidFill>
                <a:srgbClr val="000000"/>
              </a:solidFill>
              <a:effectLst/>
              <a:uFillTx/>
              <a:latin typeface="Times New Roman"/>
            </a:endParaRPr>
          </a:p>
        </p:txBody>
      </p:sp>
    </p:spTree>
  </p:cSld>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29" name="PlaceHolder 1"/>
          <p:cNvSpPr>
            <a:spLocks noGrp="1"/>
          </p:cNvSpPr>
          <p:nvPr>
            <p:ph type="title"/>
          </p:nvPr>
        </p:nvSpPr>
        <p:spPr>
          <a:xfrm>
            <a:off x="503280" y="173160"/>
            <a:ext cx="9051840" cy="604800"/>
          </a:xfrm>
          <a:prstGeom prst="rect">
            <a:avLst/>
          </a:prstGeom>
          <a:noFill/>
          <a:ln w="0">
            <a:noFill/>
          </a:ln>
        </p:spPr>
        <p:txBody>
          <a:bodyPr lIns="96480" rIns="96480" tIns="48240" bIns="48240" anchor="t">
            <a:noAutofit/>
          </a:bodyPr>
          <a:p>
            <a:pPr indent="0" algn="ctr">
              <a:lnSpc>
                <a:spcPct val="100000"/>
              </a:lnSpc>
              <a:buNone/>
              <a:tabLst>
                <a:tab algn="l" pos="0"/>
                <a:tab algn="l" pos="1006560"/>
                <a:tab algn="l" pos="2013120"/>
                <a:tab algn="l" pos="3019320"/>
                <a:tab algn="l" pos="4025880"/>
                <a:tab algn="l" pos="5032440"/>
                <a:tab algn="l" pos="6039000"/>
                <a:tab algn="l" pos="7045200"/>
                <a:tab algn="l" pos="8051760"/>
                <a:tab algn="l" pos="9058320"/>
                <a:tab algn="l" pos="10064880"/>
              </a:tabLst>
            </a:pPr>
            <a:r>
              <a:rPr b="1" i="1" lang="en-IN" sz="2800" strike="noStrike" u="none">
                <a:solidFill>
                  <a:srgbClr val="ff0000"/>
                </a:solidFill>
                <a:effectLst/>
                <a:uFillTx/>
                <a:latin typeface="Arial Narrow"/>
              </a:rPr>
              <a:t>CSGB Team Structure</a:t>
            </a:r>
            <a:endParaRPr b="0" lang="en-IN" sz="2800" strike="noStrike" u="none">
              <a:solidFill>
                <a:srgbClr val="0000ff"/>
              </a:solidFill>
              <a:effectLst/>
              <a:uFillTx/>
              <a:latin typeface="Arial"/>
            </a:endParaRPr>
          </a:p>
        </p:txBody>
      </p:sp>
      <p:sp>
        <p:nvSpPr>
          <p:cNvPr id="230" name=""/>
          <p:cNvSpPr/>
          <p:nvPr/>
        </p:nvSpPr>
        <p:spPr>
          <a:xfrm>
            <a:off x="1341360" y="6477120"/>
            <a:ext cx="7628040" cy="1102320"/>
          </a:xfrm>
          <a:prstGeom prst="rect">
            <a:avLst/>
          </a:prstGeom>
          <a:solidFill>
            <a:srgbClr val="ffffcc"/>
          </a:solidFill>
          <a:ln w="9360">
            <a:solidFill>
              <a:srgbClr val="000000"/>
            </a:solidFill>
            <a:miter/>
          </a:ln>
        </p:spPr>
        <p:style>
          <a:lnRef idx="0"/>
          <a:fillRef idx="0"/>
          <a:effectRef idx="0"/>
          <a:fontRef idx="minor"/>
        </p:style>
        <p:txBody>
          <a:bodyPr lIns="96480" rIns="96480" tIns="48240" bIns="48240" anchor="t">
            <a:spAutoFit/>
          </a:bodyPr>
          <a:p>
            <a:pPr marL="514440" indent="-327240">
              <a:lnSpc>
                <a:spcPct val="100000"/>
              </a:lnSpc>
              <a:buClr>
                <a:srgbClr val="000000"/>
              </a:buClr>
              <a:buFont typeface="Wingdings" charset="2"/>
              <a:buChar char=""/>
              <a:tabLst>
                <a:tab algn="l" pos="963720"/>
                <a:tab algn="l" pos="1927080"/>
                <a:tab algn="l" pos="2890800"/>
                <a:tab algn="l" pos="3854520"/>
                <a:tab algn="l" pos="4818240"/>
                <a:tab algn="l" pos="5781600"/>
                <a:tab algn="l" pos="6745320"/>
                <a:tab algn="l" pos="7709040"/>
                <a:tab algn="l" pos="8672400"/>
                <a:tab algn="l" pos="9636120"/>
                <a:tab algn="l" pos="10599840"/>
              </a:tabLst>
            </a:pPr>
            <a:r>
              <a:rPr b="1" lang="en-US" sz="2200" strike="noStrike" u="none">
                <a:solidFill>
                  <a:srgbClr val="000000"/>
                </a:solidFill>
                <a:effectLst/>
                <a:uFillTx/>
                <a:latin typeface="Arial Narrow"/>
              </a:rPr>
              <a:t>Division-wide themes:  chemical imaging; ultrafast chemical sciences; nanoscale science; catalysis science; theory, modeling, &amp; simulation; synthesis</a:t>
            </a:r>
            <a:endParaRPr b="0" lang="en-IN" sz="2200" strike="noStrike" u="none">
              <a:solidFill>
                <a:srgbClr val="000000"/>
              </a:solidFill>
              <a:effectLst/>
              <a:uFillTx/>
              <a:latin typeface="Times New Roman"/>
            </a:endParaRPr>
          </a:p>
        </p:txBody>
      </p:sp>
      <p:sp>
        <p:nvSpPr>
          <p:cNvPr id="231" name=""/>
          <p:cNvSpPr/>
          <p:nvPr/>
        </p:nvSpPr>
        <p:spPr>
          <a:xfrm>
            <a:off x="5951520" y="863640"/>
            <a:ext cx="3352680" cy="1621440"/>
          </a:xfrm>
          <a:prstGeom prst="rect">
            <a:avLst/>
          </a:prstGeom>
          <a:noFill/>
          <a:ln w="0">
            <a:noFill/>
          </a:ln>
        </p:spPr>
        <p:style>
          <a:lnRef idx="0"/>
          <a:fillRef idx="0"/>
          <a:effectRef idx="0"/>
          <a:fontRef idx="minor"/>
        </p:style>
        <p:txBody>
          <a:bodyPr lIns="96480" rIns="96480" tIns="48240" bIns="48240" anchor="t">
            <a:spAutoFit/>
          </a:bodyPr>
          <a:p>
            <a:pPr algn="ctr">
              <a:lnSpc>
                <a:spcPct val="100000"/>
              </a:lnSpc>
              <a:tabLst>
                <a:tab algn="l" pos="0"/>
                <a:tab algn="l" pos="963720"/>
                <a:tab algn="l" pos="1927080"/>
                <a:tab algn="l" pos="2890800"/>
                <a:tab algn="l" pos="3854520"/>
                <a:tab algn="l" pos="4818240"/>
                <a:tab algn="l" pos="5781600"/>
                <a:tab algn="l" pos="6745320"/>
                <a:tab algn="l" pos="7709040"/>
                <a:tab algn="l" pos="8672400"/>
                <a:tab algn="l" pos="9636120"/>
                <a:tab algn="l" pos="10599840"/>
              </a:tabLst>
            </a:pPr>
            <a:r>
              <a:rPr b="1" lang="en-IN" sz="2000" strike="noStrike" u="none">
                <a:solidFill>
                  <a:srgbClr val="000000"/>
                </a:solidFill>
                <a:effectLst/>
                <a:uFillTx/>
                <a:latin typeface="Arial Narrow"/>
              </a:rPr>
              <a:t>Molecular mechanisms of light capture and its conversion to chemical end electrical energy via chemical and biochemical pathways</a:t>
            </a:r>
            <a:endParaRPr b="0" lang="en-IN" sz="2000" strike="noStrike" u="none">
              <a:solidFill>
                <a:srgbClr val="000000"/>
              </a:solidFill>
              <a:effectLst/>
              <a:uFillTx/>
              <a:latin typeface="Times New Roman"/>
            </a:endParaRPr>
          </a:p>
        </p:txBody>
      </p:sp>
      <p:sp>
        <p:nvSpPr>
          <p:cNvPr id="232" name=""/>
          <p:cNvSpPr/>
          <p:nvPr/>
        </p:nvSpPr>
        <p:spPr>
          <a:xfrm>
            <a:off x="7292880" y="3800520"/>
            <a:ext cx="2514600" cy="2231280"/>
          </a:xfrm>
          <a:prstGeom prst="rect">
            <a:avLst/>
          </a:prstGeom>
          <a:noFill/>
          <a:ln w="0">
            <a:noFill/>
          </a:ln>
        </p:spPr>
        <p:style>
          <a:lnRef idx="0"/>
          <a:fillRef idx="0"/>
          <a:effectRef idx="0"/>
          <a:fontRef idx="minor"/>
        </p:style>
        <p:txBody>
          <a:bodyPr lIns="96480" rIns="96480" tIns="48240" bIns="48240" anchor="t">
            <a:spAutoFit/>
          </a:bodyPr>
          <a:p>
            <a:pPr algn="ctr">
              <a:lnSpc>
                <a:spcPct val="100000"/>
              </a:lnSpc>
              <a:tabLst>
                <a:tab algn="l" pos="0"/>
                <a:tab algn="l" pos="963720"/>
                <a:tab algn="l" pos="1927080"/>
                <a:tab algn="l" pos="2890800"/>
                <a:tab algn="l" pos="3854520"/>
                <a:tab algn="l" pos="4818240"/>
                <a:tab algn="l" pos="5781600"/>
                <a:tab algn="l" pos="6745320"/>
                <a:tab algn="l" pos="7709040"/>
                <a:tab algn="l" pos="8672400"/>
                <a:tab algn="l" pos="9636120"/>
                <a:tab algn="l" pos="10599840"/>
              </a:tabLst>
            </a:pPr>
            <a:r>
              <a:rPr b="1" lang="en-IN" sz="2000" strike="noStrike" u="none">
                <a:solidFill>
                  <a:srgbClr val="000000"/>
                </a:solidFill>
                <a:effectLst/>
                <a:uFillTx/>
                <a:latin typeface="Arial Narrow"/>
              </a:rPr>
              <a:t>Characterization, control, and optimization of chemical transformations, from catalysis to geochemistry</a:t>
            </a:r>
            <a:endParaRPr b="0" lang="en-IN" sz="2000" strike="noStrike" u="none">
              <a:solidFill>
                <a:srgbClr val="000000"/>
              </a:solidFill>
              <a:effectLst/>
              <a:uFillTx/>
              <a:latin typeface="Times New Roman"/>
            </a:endParaRPr>
          </a:p>
        </p:txBody>
      </p:sp>
      <p:sp>
        <p:nvSpPr>
          <p:cNvPr id="233" name=""/>
          <p:cNvSpPr/>
          <p:nvPr/>
        </p:nvSpPr>
        <p:spPr>
          <a:xfrm>
            <a:off x="4861080" y="3108240"/>
            <a:ext cx="2563560" cy="2641680"/>
          </a:xfrm>
          <a:prstGeom prst="ellipse">
            <a:avLst/>
          </a:prstGeom>
          <a:solidFill>
            <a:srgbClr val="ccff99"/>
          </a:solidFill>
          <a:ln w="28440">
            <a:solidFill>
              <a:srgbClr val="33cc33"/>
            </a:solidFill>
            <a:miter/>
          </a:ln>
        </p:spPr>
        <p:style>
          <a:lnRef idx="0"/>
          <a:fillRef idx="0"/>
          <a:effectRef idx="0"/>
          <a:fontRef idx="minor"/>
        </p:style>
        <p:txBody>
          <a:bodyPr wrap="none" lIns="96480" rIns="96480" tIns="48240" bIns="48240" anchor="ctr">
            <a:noAutofit/>
          </a:bodyPr>
          <a:p>
            <a:pPr algn="ctr">
              <a:lnSpc>
                <a:spcPct val="100000"/>
              </a:lnSpc>
              <a:tabLst>
                <a:tab algn="l" pos="0"/>
                <a:tab algn="l" pos="963720"/>
                <a:tab algn="l" pos="1927080"/>
                <a:tab algn="l" pos="2890800"/>
                <a:tab algn="l" pos="3854520"/>
                <a:tab algn="l" pos="4818240"/>
                <a:tab algn="l" pos="5781600"/>
                <a:tab algn="l" pos="6745320"/>
                <a:tab algn="l" pos="7709040"/>
                <a:tab algn="l" pos="8672400"/>
                <a:tab algn="l" pos="9636120"/>
                <a:tab algn="l" pos="10599840"/>
              </a:tabLst>
            </a:pPr>
            <a:endParaRPr b="0" lang="en-IN" sz="2400" strike="noStrike" u="none">
              <a:solidFill>
                <a:srgbClr val="000000"/>
              </a:solidFill>
              <a:effectLst/>
              <a:uFillTx/>
              <a:latin typeface="Times New Roman"/>
            </a:endParaRPr>
          </a:p>
        </p:txBody>
      </p:sp>
      <p:sp>
        <p:nvSpPr>
          <p:cNvPr id="234" name=""/>
          <p:cNvSpPr/>
          <p:nvPr/>
        </p:nvSpPr>
        <p:spPr>
          <a:xfrm>
            <a:off x="2682720" y="3108240"/>
            <a:ext cx="2562480" cy="2641680"/>
          </a:xfrm>
          <a:prstGeom prst="ellipse">
            <a:avLst/>
          </a:prstGeom>
          <a:solidFill>
            <a:srgbClr val="ffccff">
              <a:alpha val="76000"/>
            </a:srgbClr>
          </a:solidFill>
          <a:ln w="28440">
            <a:solidFill>
              <a:srgbClr val="ff3300"/>
            </a:solidFill>
            <a:miter/>
          </a:ln>
        </p:spPr>
        <p:style>
          <a:lnRef idx="0"/>
          <a:fillRef idx="0"/>
          <a:effectRef idx="0"/>
          <a:fontRef idx="minor"/>
        </p:style>
        <p:txBody>
          <a:bodyPr wrap="none" lIns="96480" rIns="96480" tIns="48240" bIns="48240" anchor="ctr">
            <a:noAutofit/>
          </a:bodyPr>
          <a:p>
            <a:pPr algn="ctr">
              <a:lnSpc>
                <a:spcPct val="100000"/>
              </a:lnSpc>
              <a:tabLst>
                <a:tab algn="l" pos="0"/>
                <a:tab algn="l" pos="963720"/>
                <a:tab algn="l" pos="1927080"/>
                <a:tab algn="l" pos="2890800"/>
                <a:tab algn="l" pos="3854520"/>
                <a:tab algn="l" pos="4818240"/>
                <a:tab algn="l" pos="5781600"/>
                <a:tab algn="l" pos="6745320"/>
                <a:tab algn="l" pos="7709040"/>
                <a:tab algn="l" pos="8672400"/>
                <a:tab algn="l" pos="9636120"/>
                <a:tab algn="l" pos="10599840"/>
              </a:tabLst>
            </a:pPr>
            <a:endParaRPr b="0" lang="en-IN" sz="2400" strike="noStrike" u="none">
              <a:solidFill>
                <a:srgbClr val="000000"/>
              </a:solidFill>
              <a:effectLst/>
              <a:uFillTx/>
              <a:latin typeface="Times New Roman"/>
            </a:endParaRPr>
          </a:p>
        </p:txBody>
      </p:sp>
      <p:sp>
        <p:nvSpPr>
          <p:cNvPr id="235" name=""/>
          <p:cNvSpPr/>
          <p:nvPr/>
        </p:nvSpPr>
        <p:spPr>
          <a:xfrm>
            <a:off x="4861080" y="3971880"/>
            <a:ext cx="2682720" cy="800280"/>
          </a:xfrm>
          <a:prstGeom prst="rect">
            <a:avLst/>
          </a:prstGeom>
          <a:noFill/>
          <a:ln w="0">
            <a:noFill/>
          </a:ln>
        </p:spPr>
        <p:style>
          <a:lnRef idx="0"/>
          <a:fillRef idx="0"/>
          <a:effectRef idx="0"/>
          <a:fontRef idx="minor"/>
        </p:style>
        <p:txBody>
          <a:bodyPr lIns="0" rIns="0" tIns="48240" bIns="48240" anchor="t">
            <a:spAutoFit/>
          </a:bodyPr>
          <a:p>
            <a:pPr algn="ctr">
              <a:lnSpc>
                <a:spcPct val="105000"/>
              </a:lnSpc>
              <a:tabLst>
                <a:tab algn="l" pos="0"/>
                <a:tab algn="l" pos="963720"/>
                <a:tab algn="l" pos="1927080"/>
                <a:tab algn="l" pos="2890800"/>
                <a:tab algn="l" pos="3854520"/>
                <a:tab algn="l" pos="4818240"/>
                <a:tab algn="l" pos="5781600"/>
                <a:tab algn="l" pos="6745320"/>
                <a:tab algn="l" pos="7709040"/>
                <a:tab algn="l" pos="8672400"/>
                <a:tab algn="l" pos="9636120"/>
                <a:tab algn="l" pos="10599840"/>
              </a:tabLst>
            </a:pPr>
            <a:r>
              <a:rPr b="1" lang="en-IN" sz="2200" strike="noStrike" u="none">
                <a:solidFill>
                  <a:srgbClr val="ff0000"/>
                </a:solidFill>
                <a:effectLst/>
                <a:uFillTx/>
                <a:latin typeface="Arial Narrow"/>
              </a:rPr>
              <a:t>Chemical</a:t>
            </a:r>
            <a:endParaRPr b="0" lang="en-IN" sz="2200" strike="noStrike" u="none">
              <a:solidFill>
                <a:srgbClr val="000000"/>
              </a:solidFill>
              <a:effectLst/>
              <a:uFillTx/>
              <a:latin typeface="Times New Roman"/>
            </a:endParaRPr>
          </a:p>
          <a:p>
            <a:pPr algn="ctr">
              <a:lnSpc>
                <a:spcPct val="105000"/>
              </a:lnSpc>
              <a:tabLst>
                <a:tab algn="l" pos="0"/>
                <a:tab algn="l" pos="963720"/>
                <a:tab algn="l" pos="1927080"/>
                <a:tab algn="l" pos="2890800"/>
                <a:tab algn="l" pos="3854520"/>
                <a:tab algn="l" pos="4818240"/>
                <a:tab algn="l" pos="5781600"/>
                <a:tab algn="l" pos="6745320"/>
                <a:tab algn="l" pos="7709040"/>
                <a:tab algn="l" pos="8672400"/>
                <a:tab algn="l" pos="9636120"/>
                <a:tab algn="l" pos="10599840"/>
              </a:tabLst>
            </a:pPr>
            <a:r>
              <a:rPr b="1" lang="en-IN" sz="2200" strike="noStrike" u="none">
                <a:solidFill>
                  <a:srgbClr val="ff0000"/>
                </a:solidFill>
                <a:effectLst/>
                <a:uFillTx/>
                <a:latin typeface="Arial Narrow"/>
              </a:rPr>
              <a:t>Transformations</a:t>
            </a:r>
            <a:endParaRPr b="0" lang="en-IN" sz="2200" strike="noStrike" u="none">
              <a:solidFill>
                <a:srgbClr val="000000"/>
              </a:solidFill>
              <a:effectLst/>
              <a:uFillTx/>
              <a:latin typeface="Times New Roman"/>
            </a:endParaRPr>
          </a:p>
        </p:txBody>
      </p:sp>
      <p:sp>
        <p:nvSpPr>
          <p:cNvPr id="236" name=""/>
          <p:cNvSpPr/>
          <p:nvPr/>
        </p:nvSpPr>
        <p:spPr>
          <a:xfrm>
            <a:off x="3185280" y="4059360"/>
            <a:ext cx="1423800" cy="800280"/>
          </a:xfrm>
          <a:prstGeom prst="rect">
            <a:avLst/>
          </a:prstGeom>
          <a:noFill/>
          <a:ln w="0">
            <a:noFill/>
          </a:ln>
        </p:spPr>
        <p:style>
          <a:lnRef idx="0"/>
          <a:fillRef idx="0"/>
          <a:effectRef idx="0"/>
          <a:fontRef idx="minor"/>
        </p:style>
        <p:txBody>
          <a:bodyPr wrap="none" lIns="0" rIns="0" tIns="48240" bIns="48240" anchor="t">
            <a:spAutoFit/>
          </a:bodyPr>
          <a:p>
            <a:pPr algn="ctr">
              <a:lnSpc>
                <a:spcPct val="105000"/>
              </a:lnSpc>
              <a:tabLst>
                <a:tab algn="l" pos="0"/>
                <a:tab algn="l" pos="963720"/>
                <a:tab algn="l" pos="1927080"/>
                <a:tab algn="l" pos="2890800"/>
                <a:tab algn="l" pos="3854520"/>
                <a:tab algn="l" pos="4818240"/>
                <a:tab algn="l" pos="5781600"/>
                <a:tab algn="l" pos="6745320"/>
                <a:tab algn="l" pos="7709040"/>
                <a:tab algn="l" pos="8672400"/>
                <a:tab algn="l" pos="9636120"/>
                <a:tab algn="l" pos="10599840"/>
              </a:tabLst>
            </a:pPr>
            <a:r>
              <a:rPr b="1" lang="en-IN" sz="2200" strike="noStrike" u="none">
                <a:solidFill>
                  <a:srgbClr val="ff0000"/>
                </a:solidFill>
                <a:effectLst/>
                <a:uFillTx/>
                <a:latin typeface="Arial Narrow"/>
              </a:rPr>
              <a:t>Fundamental</a:t>
            </a:r>
            <a:endParaRPr b="0" lang="en-IN" sz="2200" strike="noStrike" u="none">
              <a:solidFill>
                <a:srgbClr val="000000"/>
              </a:solidFill>
              <a:effectLst/>
              <a:uFillTx/>
              <a:latin typeface="Times New Roman"/>
            </a:endParaRPr>
          </a:p>
          <a:p>
            <a:pPr algn="ctr">
              <a:lnSpc>
                <a:spcPct val="105000"/>
              </a:lnSpc>
              <a:tabLst>
                <a:tab algn="l" pos="0"/>
                <a:tab algn="l" pos="963720"/>
                <a:tab algn="l" pos="1927080"/>
                <a:tab algn="l" pos="2890800"/>
                <a:tab algn="l" pos="3854520"/>
                <a:tab algn="l" pos="4818240"/>
                <a:tab algn="l" pos="5781600"/>
                <a:tab algn="l" pos="6745320"/>
                <a:tab algn="l" pos="7709040"/>
                <a:tab algn="l" pos="8672400"/>
                <a:tab algn="l" pos="9636120"/>
                <a:tab algn="l" pos="10599840"/>
              </a:tabLst>
            </a:pPr>
            <a:r>
              <a:rPr b="1" lang="en-IN" sz="2200" strike="noStrike" u="none">
                <a:solidFill>
                  <a:srgbClr val="ff0000"/>
                </a:solidFill>
                <a:effectLst/>
                <a:uFillTx/>
                <a:latin typeface="Arial Narrow"/>
              </a:rPr>
              <a:t>Interactions</a:t>
            </a:r>
            <a:endParaRPr b="0" lang="en-IN" sz="2200" strike="noStrike" u="none">
              <a:solidFill>
                <a:srgbClr val="000000"/>
              </a:solidFill>
              <a:effectLst/>
              <a:uFillTx/>
              <a:latin typeface="Times New Roman"/>
            </a:endParaRPr>
          </a:p>
        </p:txBody>
      </p:sp>
      <p:sp>
        <p:nvSpPr>
          <p:cNvPr id="237" name=""/>
          <p:cNvSpPr/>
          <p:nvPr/>
        </p:nvSpPr>
        <p:spPr>
          <a:xfrm>
            <a:off x="3687840" y="1380960"/>
            <a:ext cx="2563560" cy="2641680"/>
          </a:xfrm>
          <a:prstGeom prst="ellipse">
            <a:avLst/>
          </a:prstGeom>
          <a:solidFill>
            <a:srgbClr val="bbe0e3">
              <a:alpha val="58000"/>
            </a:srgbClr>
          </a:solidFill>
          <a:ln w="28440">
            <a:solidFill>
              <a:srgbClr val="ff0000"/>
            </a:solidFill>
            <a:miter/>
          </a:ln>
        </p:spPr>
        <p:style>
          <a:lnRef idx="0"/>
          <a:fillRef idx="0"/>
          <a:effectRef idx="0"/>
          <a:fontRef idx="minor"/>
        </p:style>
        <p:txBody>
          <a:bodyPr wrap="none" lIns="101880" rIns="101880" tIns="50760" bIns="50760" anchor="ctr">
            <a:noAutofit/>
          </a:bodyPr>
          <a:p>
            <a:pPr algn="ctr">
              <a:lnSpc>
                <a:spcPct val="100000"/>
              </a:lnSpc>
              <a:tabLst>
                <a:tab algn="l" pos="0"/>
                <a:tab algn="l" pos="1019160"/>
                <a:tab algn="l" pos="2038320"/>
                <a:tab algn="l" pos="3057480"/>
                <a:tab algn="l" pos="4076640"/>
                <a:tab algn="l" pos="5095800"/>
                <a:tab algn="l" pos="6114960"/>
                <a:tab algn="l" pos="7134120"/>
                <a:tab algn="l" pos="8153280"/>
                <a:tab algn="l" pos="9172440"/>
                <a:tab algn="l" pos="10191600"/>
              </a:tabLst>
            </a:pPr>
            <a:endParaRPr b="0" lang="en-IN" sz="2400" strike="noStrike" u="none">
              <a:solidFill>
                <a:srgbClr val="000000"/>
              </a:solidFill>
              <a:effectLst/>
              <a:uFillTx/>
              <a:latin typeface="Times New Roman"/>
            </a:endParaRPr>
          </a:p>
        </p:txBody>
      </p:sp>
      <p:sp>
        <p:nvSpPr>
          <p:cNvPr id="238" name=""/>
          <p:cNvSpPr/>
          <p:nvPr/>
        </p:nvSpPr>
        <p:spPr>
          <a:xfrm>
            <a:off x="4191120" y="2158920"/>
            <a:ext cx="1685880" cy="800280"/>
          </a:xfrm>
          <a:prstGeom prst="rect">
            <a:avLst/>
          </a:prstGeom>
          <a:noFill/>
          <a:ln w="0">
            <a:noFill/>
          </a:ln>
        </p:spPr>
        <p:style>
          <a:lnRef idx="0"/>
          <a:fillRef idx="0"/>
          <a:effectRef idx="0"/>
          <a:fontRef idx="minor"/>
        </p:style>
        <p:txBody>
          <a:bodyPr lIns="0" rIns="0" tIns="48240" bIns="48240" anchor="t">
            <a:spAutoFit/>
          </a:bodyPr>
          <a:p>
            <a:pPr algn="ctr">
              <a:lnSpc>
                <a:spcPct val="105000"/>
              </a:lnSpc>
              <a:tabLst>
                <a:tab algn="l" pos="0"/>
                <a:tab algn="l" pos="963720"/>
                <a:tab algn="l" pos="1927080"/>
                <a:tab algn="l" pos="2890800"/>
                <a:tab algn="l" pos="3854520"/>
                <a:tab algn="l" pos="4818240"/>
                <a:tab algn="l" pos="5781600"/>
                <a:tab algn="l" pos="6745320"/>
                <a:tab algn="l" pos="7709040"/>
                <a:tab algn="l" pos="8672400"/>
                <a:tab algn="l" pos="9636120"/>
                <a:tab algn="l" pos="10599840"/>
              </a:tabLst>
            </a:pPr>
            <a:r>
              <a:rPr b="1" lang="en-IN" sz="2200" strike="noStrike" u="none">
                <a:solidFill>
                  <a:srgbClr val="ff0000"/>
                </a:solidFill>
                <a:effectLst/>
                <a:uFillTx/>
                <a:latin typeface="Arial Narrow"/>
              </a:rPr>
              <a:t>Photo- and Biochemistry</a:t>
            </a:r>
            <a:endParaRPr b="0" lang="en-IN" sz="2200" strike="noStrike" u="none">
              <a:solidFill>
                <a:srgbClr val="000000"/>
              </a:solidFill>
              <a:effectLst/>
              <a:uFillTx/>
              <a:latin typeface="Times New Roman"/>
            </a:endParaRPr>
          </a:p>
        </p:txBody>
      </p:sp>
      <p:sp>
        <p:nvSpPr>
          <p:cNvPr id="239" name=""/>
          <p:cNvSpPr/>
          <p:nvPr/>
        </p:nvSpPr>
        <p:spPr>
          <a:xfrm>
            <a:off x="0" y="3195720"/>
            <a:ext cx="2682720" cy="2841120"/>
          </a:xfrm>
          <a:prstGeom prst="rect">
            <a:avLst/>
          </a:prstGeom>
          <a:noFill/>
          <a:ln w="0">
            <a:noFill/>
          </a:ln>
        </p:spPr>
        <p:style>
          <a:lnRef idx="0"/>
          <a:fillRef idx="0"/>
          <a:effectRef idx="0"/>
          <a:fontRef idx="minor"/>
        </p:style>
        <p:txBody>
          <a:bodyPr lIns="96480" rIns="96480" tIns="48240" bIns="48240" anchor="t">
            <a:spAutoFit/>
          </a:bodyPr>
          <a:p>
            <a:pPr algn="ctr">
              <a:lnSpc>
                <a:spcPct val="100000"/>
              </a:lnSpc>
              <a:tabLst>
                <a:tab algn="l" pos="0"/>
                <a:tab algn="l" pos="963720"/>
                <a:tab algn="l" pos="1927080"/>
                <a:tab algn="l" pos="2890800"/>
                <a:tab algn="l" pos="3854520"/>
                <a:tab algn="l" pos="4818240"/>
                <a:tab algn="l" pos="5781600"/>
                <a:tab algn="l" pos="6745320"/>
                <a:tab algn="l" pos="7709040"/>
                <a:tab algn="l" pos="8672400"/>
                <a:tab algn="l" pos="9636120"/>
                <a:tab algn="l" pos="10599840"/>
              </a:tabLst>
            </a:pPr>
            <a:r>
              <a:rPr b="1" lang="en-IN" sz="2000" strike="noStrike" u="none">
                <a:solidFill>
                  <a:srgbClr val="000000"/>
                </a:solidFill>
                <a:effectLst/>
                <a:uFillTx/>
                <a:latin typeface="Arial Narrow"/>
              </a:rPr>
              <a:t>Structural and dynamical studies of atoms, molecules, and nanostructures; description of their interactions with external stimuli (photons, electrons) at full quantum detail</a:t>
            </a:r>
            <a:endParaRPr b="0" lang="en-IN" sz="2000" strike="noStrike" u="none">
              <a:solidFill>
                <a:srgbClr val="000000"/>
              </a:solidFill>
              <a:effectLst/>
              <a:uFillTx/>
              <a:latin typeface="Times New Roman"/>
            </a:endParaRPr>
          </a:p>
        </p:txBody>
      </p:sp>
      <p:sp>
        <p:nvSpPr>
          <p:cNvPr id="240" name=""/>
          <p:cNvSpPr/>
          <p:nvPr/>
        </p:nvSpPr>
        <p:spPr>
          <a:xfrm>
            <a:off x="1089000" y="1727280"/>
            <a:ext cx="2263680" cy="925560"/>
          </a:xfrm>
          <a:prstGeom prst="rect">
            <a:avLst/>
          </a:prstGeom>
          <a:noFill/>
          <a:ln w="0">
            <a:noFill/>
          </a:ln>
        </p:spPr>
        <p:style>
          <a:lnRef idx="0"/>
          <a:fillRef idx="0"/>
          <a:effectRef idx="0"/>
          <a:fontRef idx="minor"/>
        </p:style>
        <p:txBody>
          <a:bodyPr lIns="101880" rIns="101880" tIns="51120" bIns="51120" anchor="t">
            <a:spAutoFit/>
          </a:bodyPr>
          <a:p>
            <a:pPr algn="ctr">
              <a:lnSpc>
                <a:spcPct val="100000"/>
              </a:lnSpc>
              <a:tabLst>
                <a:tab algn="l" pos="0"/>
                <a:tab algn="l" pos="1019160"/>
                <a:tab algn="l" pos="2038320"/>
                <a:tab algn="l" pos="3057480"/>
                <a:tab algn="l" pos="4076640"/>
                <a:tab algn="l" pos="5095800"/>
                <a:tab algn="l" pos="6114960"/>
                <a:tab algn="l" pos="7134120"/>
                <a:tab algn="l" pos="8153280"/>
                <a:tab algn="l" pos="9172440"/>
                <a:tab algn="l" pos="10191600"/>
              </a:tabLst>
            </a:pPr>
            <a:r>
              <a:rPr b="1" lang="en-IN" sz="1800" strike="noStrike" u="none">
                <a:solidFill>
                  <a:srgbClr val="0000ff"/>
                </a:solidFill>
                <a:effectLst/>
                <a:uFillTx/>
                <a:latin typeface="Arial Narrow"/>
              </a:rPr>
              <a:t>Application of physical science tools to biochemical systems</a:t>
            </a:r>
            <a:endParaRPr b="0" lang="en-IN" sz="1800" strike="noStrike" u="none">
              <a:solidFill>
                <a:srgbClr val="000000"/>
              </a:solidFill>
              <a:effectLst/>
              <a:uFillTx/>
              <a:latin typeface="Times New Roman"/>
            </a:endParaRPr>
          </a:p>
        </p:txBody>
      </p:sp>
      <p:sp>
        <p:nvSpPr>
          <p:cNvPr id="241" name=""/>
          <p:cNvSpPr/>
          <p:nvPr/>
        </p:nvSpPr>
        <p:spPr>
          <a:xfrm>
            <a:off x="3102120" y="2676600"/>
            <a:ext cx="1257120" cy="777960"/>
          </a:xfrm>
          <a:prstGeom prst="line">
            <a:avLst/>
          </a:prstGeom>
          <a:ln w="19080">
            <a:solidFill>
              <a:srgbClr val="000000"/>
            </a:solidFill>
            <a:miter/>
            <a:tailEnd len="med" type="triangle" w="med"/>
          </a:ln>
        </p:spPr>
        <p:style>
          <a:lnRef idx="0"/>
          <a:fillRef idx="0"/>
          <a:effectRef idx="0"/>
          <a:fontRef idx="minor"/>
        </p:style>
        <p:txBody>
          <a:bodyPr lIns="90000" rIns="90000" tIns="46800" bIns="46800" anchor="t">
            <a:noAutofit/>
          </a:bodyPr>
          <a:p>
            <a:endParaRPr b="0" lang="en-IN" sz="2400" strike="noStrike" u="none">
              <a:solidFill>
                <a:srgbClr val="000000"/>
              </a:solidFill>
              <a:effectLst/>
              <a:uFillTx/>
              <a:latin typeface="Times New Roman"/>
            </a:endParaRPr>
          </a:p>
        </p:txBody>
      </p:sp>
      <p:sp>
        <p:nvSpPr>
          <p:cNvPr id="242" name=""/>
          <p:cNvSpPr/>
          <p:nvPr/>
        </p:nvSpPr>
        <p:spPr>
          <a:xfrm>
            <a:off x="6873840" y="2763720"/>
            <a:ext cx="1843200" cy="651240"/>
          </a:xfrm>
          <a:prstGeom prst="rect">
            <a:avLst/>
          </a:prstGeom>
          <a:noFill/>
          <a:ln w="0">
            <a:noFill/>
          </a:ln>
        </p:spPr>
        <p:style>
          <a:lnRef idx="0"/>
          <a:fillRef idx="0"/>
          <a:effectRef idx="0"/>
          <a:fontRef idx="minor"/>
        </p:style>
        <p:txBody>
          <a:bodyPr lIns="101880" rIns="101880" tIns="51120" bIns="51120" anchor="t">
            <a:spAutoFit/>
          </a:bodyPr>
          <a:p>
            <a:pPr algn="ctr">
              <a:lnSpc>
                <a:spcPct val="100000"/>
              </a:lnSpc>
              <a:tabLst>
                <a:tab algn="l" pos="0"/>
                <a:tab algn="l" pos="1019160"/>
                <a:tab algn="l" pos="2038320"/>
                <a:tab algn="l" pos="3057480"/>
                <a:tab algn="l" pos="4076640"/>
                <a:tab algn="l" pos="5095800"/>
                <a:tab algn="l" pos="6114960"/>
                <a:tab algn="l" pos="7134120"/>
                <a:tab algn="l" pos="8153280"/>
                <a:tab algn="l" pos="9172440"/>
                <a:tab algn="l" pos="10191600"/>
              </a:tabLst>
            </a:pPr>
            <a:r>
              <a:rPr b="1" lang="en-US" sz="1800" strike="noStrike" u="none">
                <a:solidFill>
                  <a:srgbClr val="0000ff"/>
                </a:solidFill>
                <a:effectLst/>
                <a:uFillTx/>
                <a:latin typeface="Arial Narrow"/>
              </a:rPr>
              <a:t>Biomimetic catalytic systems</a:t>
            </a:r>
            <a:endParaRPr b="0" lang="en-IN" sz="1800" strike="noStrike" u="none">
              <a:solidFill>
                <a:srgbClr val="000000"/>
              </a:solidFill>
              <a:effectLst/>
              <a:uFillTx/>
              <a:latin typeface="Times New Roman"/>
            </a:endParaRPr>
          </a:p>
        </p:txBody>
      </p:sp>
      <p:sp>
        <p:nvSpPr>
          <p:cNvPr id="243" name=""/>
          <p:cNvSpPr/>
          <p:nvPr/>
        </p:nvSpPr>
        <p:spPr>
          <a:xfrm flipH="1">
            <a:off x="5616360" y="3108240"/>
            <a:ext cx="1423800" cy="346320"/>
          </a:xfrm>
          <a:prstGeom prst="line">
            <a:avLst/>
          </a:prstGeom>
          <a:ln w="19080">
            <a:solidFill>
              <a:srgbClr val="000000"/>
            </a:solidFill>
            <a:miter/>
            <a:tailEnd len="med" type="triangle" w="med"/>
          </a:ln>
        </p:spPr>
        <p:style>
          <a:lnRef idx="0"/>
          <a:fillRef idx="0"/>
          <a:effectRef idx="0"/>
          <a:fontRef idx="minor"/>
        </p:style>
        <p:txBody>
          <a:bodyPr lIns="90000" rIns="90000" tIns="46800" bIns="46800" anchor="t">
            <a:noAutofit/>
          </a:bodyPr>
          <a:p>
            <a:endParaRPr b="0" lang="en-IN" sz="2400" strike="noStrike" u="none">
              <a:solidFill>
                <a:srgbClr val="000000"/>
              </a:solidFill>
              <a:effectLst/>
              <a:uFillTx/>
              <a:latin typeface="Times New Roman"/>
            </a:endParaRPr>
          </a:p>
        </p:txBody>
      </p:sp>
      <p:sp>
        <p:nvSpPr>
          <p:cNvPr id="244" name=""/>
          <p:cNvSpPr/>
          <p:nvPr/>
        </p:nvSpPr>
        <p:spPr>
          <a:xfrm>
            <a:off x="4106880" y="5527800"/>
            <a:ext cx="1844640" cy="925560"/>
          </a:xfrm>
          <a:prstGeom prst="rect">
            <a:avLst/>
          </a:prstGeom>
          <a:noFill/>
          <a:ln w="0">
            <a:noFill/>
          </a:ln>
        </p:spPr>
        <p:style>
          <a:lnRef idx="0"/>
          <a:fillRef idx="0"/>
          <a:effectRef idx="0"/>
          <a:fontRef idx="minor"/>
        </p:style>
        <p:txBody>
          <a:bodyPr lIns="101880" rIns="101880" tIns="51120" bIns="51120" anchor="t">
            <a:spAutoFit/>
          </a:bodyPr>
          <a:p>
            <a:pPr algn="ctr">
              <a:lnSpc>
                <a:spcPct val="100000"/>
              </a:lnSpc>
              <a:tabLst>
                <a:tab algn="l" pos="0"/>
                <a:tab algn="l" pos="1019160"/>
                <a:tab algn="l" pos="2038320"/>
                <a:tab algn="l" pos="3057480"/>
                <a:tab algn="l" pos="4076640"/>
                <a:tab algn="l" pos="5095800"/>
                <a:tab algn="l" pos="6114960"/>
                <a:tab algn="l" pos="7134120"/>
                <a:tab algn="l" pos="8153280"/>
                <a:tab algn="l" pos="9172440"/>
                <a:tab algn="l" pos="10191600"/>
              </a:tabLst>
            </a:pPr>
            <a:r>
              <a:rPr b="1" lang="en-US" sz="1800" strike="noStrike" u="none">
                <a:solidFill>
                  <a:srgbClr val="0000ff"/>
                </a:solidFill>
                <a:effectLst/>
                <a:uFillTx/>
                <a:latin typeface="Arial Narrow"/>
              </a:rPr>
              <a:t>Interfacial nanoscale chemistry</a:t>
            </a:r>
            <a:endParaRPr b="0" lang="en-IN" sz="1800" strike="noStrike" u="none">
              <a:solidFill>
                <a:srgbClr val="000000"/>
              </a:solidFill>
              <a:effectLst/>
              <a:uFillTx/>
              <a:latin typeface="Times New Roman"/>
            </a:endParaRPr>
          </a:p>
        </p:txBody>
      </p:sp>
      <p:sp>
        <p:nvSpPr>
          <p:cNvPr id="245" name=""/>
          <p:cNvSpPr/>
          <p:nvPr/>
        </p:nvSpPr>
        <p:spPr>
          <a:xfrm flipV="1">
            <a:off x="5029200" y="4403880"/>
            <a:ext cx="0" cy="1123920"/>
          </a:xfrm>
          <a:prstGeom prst="line">
            <a:avLst/>
          </a:prstGeom>
          <a:ln w="19080">
            <a:solidFill>
              <a:srgbClr val="000000"/>
            </a:solidFill>
            <a:miter/>
            <a:tailEnd len="med" type="triangle" w="med"/>
          </a:ln>
        </p:spPr>
        <p:style>
          <a:lnRef idx="0"/>
          <a:fillRef idx="0"/>
          <a:effectRef idx="0"/>
          <a:fontRef idx="minor"/>
        </p:style>
        <p:txBody>
          <a:bodyPr lIns="90000" rIns="90000" tIns="46800" bIns="46800" anchor="t">
            <a:noAutofit/>
          </a:bodyPr>
          <a:p>
            <a:endParaRPr b="0" lang="en-IN" sz="2400" strike="noStrike" u="none">
              <a:solidFill>
                <a:srgbClr val="000000"/>
              </a:solidFill>
              <a:effectLst/>
              <a:uFillTx/>
              <a:latin typeface="Times New Roman"/>
            </a:endParaRPr>
          </a:p>
        </p:txBody>
      </p:sp>
    </p:spTree>
  </p:cSld>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aphicFrame>
        <p:nvGraphicFramePr>
          <p:cNvPr id="246" name=""/>
          <p:cNvGraphicFramePr/>
          <p:nvPr/>
        </p:nvGraphicFramePr>
        <p:xfrm>
          <a:off x="0" y="1095480"/>
          <a:ext cx="10121760" cy="6457680"/>
        </p:xfrm>
        <a:graphic>
          <a:graphicData uri="http://schemas.openxmlformats.org/presentationml/2006/ole">
            <p:oleObj progId="Excel.Sheet.12" r:id="rId1" spid="">
              <p:embed/>
              <p:pic>
                <p:nvPicPr>
                  <p:cNvPr id="247" name="" descr=""/>
                  <p:cNvPicPr/>
                  <p:nvPr/>
                </p:nvPicPr>
                <p:blipFill>
                  <a:blip r:embed="rId2"/>
                  <a:stretch/>
                </p:blipFill>
                <p:spPr>
                  <a:xfrm>
                    <a:off x="0" y="1095480"/>
                    <a:ext cx="10121760" cy="6457680"/>
                  </a:xfrm>
                  <a:prstGeom prst="rect">
                    <a:avLst/>
                  </a:prstGeom>
                  <a:noFill/>
                  <a:ln w="0">
                    <a:noFill/>
                  </a:ln>
                </p:spPr>
              </p:pic>
            </p:oleObj>
          </a:graphicData>
        </a:graphic>
      </p:graphicFrame>
      <p:sp>
        <p:nvSpPr>
          <p:cNvPr id="248" name=""/>
          <p:cNvSpPr/>
          <p:nvPr/>
        </p:nvSpPr>
        <p:spPr>
          <a:xfrm>
            <a:off x="2925360" y="216000"/>
            <a:ext cx="3843720" cy="529560"/>
          </a:xfrm>
          <a:prstGeom prst="rect">
            <a:avLst/>
          </a:prstGeom>
          <a:noFill/>
          <a:ln w="0">
            <a:noFill/>
          </a:ln>
        </p:spPr>
        <p:style>
          <a:lnRef idx="0"/>
          <a:fillRef idx="0"/>
          <a:effectRef idx="0"/>
          <a:fontRef idx="minor"/>
        </p:style>
        <p:txBody>
          <a:bodyPr wrap="none" lIns="101880" rIns="101880" tIns="51120" bIns="51120" anchor="t">
            <a:spAutoFit/>
          </a:bodyPr>
          <a:p>
            <a:pPr algn="ctr">
              <a:lnSpc>
                <a:spcPct val="100000"/>
              </a:lnSpc>
              <a:tabLst>
                <a:tab algn="l" pos="0"/>
                <a:tab algn="l" pos="1019160"/>
                <a:tab algn="l" pos="2038320"/>
                <a:tab algn="l" pos="3057480"/>
                <a:tab algn="l" pos="4076640"/>
                <a:tab algn="l" pos="5095800"/>
                <a:tab algn="l" pos="6114960"/>
                <a:tab algn="l" pos="7134120"/>
                <a:tab algn="l" pos="8153280"/>
                <a:tab algn="l" pos="9172440"/>
                <a:tab algn="l" pos="10191600"/>
              </a:tabLst>
            </a:pPr>
            <a:r>
              <a:rPr b="1" i="1" lang="en-IN" sz="2800" strike="noStrike" u="none">
                <a:solidFill>
                  <a:srgbClr val="ff0000"/>
                </a:solidFill>
                <a:effectLst/>
                <a:uFillTx/>
                <a:latin typeface="Arial Narrow"/>
              </a:rPr>
              <a:t>CSGB Budget Distribution</a:t>
            </a:r>
            <a:endParaRPr b="0" lang="en-IN" sz="2800" strike="noStrike" u="none">
              <a:solidFill>
                <a:srgbClr val="000000"/>
              </a:solidFill>
              <a:effectLst/>
              <a:uFillTx/>
              <a:latin typeface="Times New Roman"/>
            </a:endParaRPr>
          </a:p>
        </p:txBody>
      </p:sp>
      <p:sp>
        <p:nvSpPr>
          <p:cNvPr id="249" name=""/>
          <p:cNvSpPr/>
          <p:nvPr/>
        </p:nvSpPr>
        <p:spPr>
          <a:xfrm>
            <a:off x="0" y="4664160"/>
            <a:ext cx="2276640" cy="274680"/>
          </a:xfrm>
          <a:prstGeom prst="rect">
            <a:avLst/>
          </a:prstGeom>
          <a:solidFill>
            <a:srgbClr val="ffffff"/>
          </a:solidFill>
          <a:ln w="0">
            <a:noFill/>
          </a:ln>
        </p:spPr>
        <p:style>
          <a:lnRef idx="0"/>
          <a:fillRef idx="0"/>
          <a:effectRef idx="0"/>
          <a:fontRef idx="minor"/>
        </p:style>
        <p:txBody>
          <a:bodyPr lIns="90000" rIns="90000" tIns="46800" bIns="46800" anchor="t">
            <a:noAutofit/>
          </a:bodyPr>
          <a:p>
            <a:endParaRPr b="0" lang="en-IN" sz="2400" strike="noStrike" u="none">
              <a:solidFill>
                <a:srgbClr val="000000"/>
              </a:solidFill>
              <a:effectLst/>
              <a:uFillTx/>
              <a:latin typeface="Times New Roman"/>
            </a:endParaRPr>
          </a:p>
        </p:txBody>
      </p:sp>
      <p:sp>
        <p:nvSpPr>
          <p:cNvPr id="250" name=""/>
          <p:cNvSpPr/>
          <p:nvPr/>
        </p:nvSpPr>
        <p:spPr>
          <a:xfrm>
            <a:off x="5627160" y="1317600"/>
            <a:ext cx="1409040" cy="244080"/>
          </a:xfrm>
          <a:prstGeom prst="rect">
            <a:avLst/>
          </a:prstGeom>
          <a:noFill/>
          <a:ln w="0">
            <a:noFill/>
          </a:ln>
        </p:spPr>
        <p:style>
          <a:lnRef idx="0"/>
          <a:fillRef idx="0"/>
          <a:effectRef idx="0"/>
          <a:fontRef idx="minor"/>
        </p:style>
        <p:txBody>
          <a:bodyPr wrap="none" lIns="0" rIns="0" tIns="0" bIns="0" anchor="t">
            <a:spAutoFit/>
          </a:bodyPr>
          <a:p>
            <a:pPr algn="ctr">
              <a:lnSpc>
                <a:spcPct val="100000"/>
              </a:lnSpc>
              <a:tabLst>
                <a:tab algn="l" pos="0"/>
                <a:tab algn="l" pos="1019160"/>
                <a:tab algn="l" pos="2038320"/>
                <a:tab algn="l" pos="3057480"/>
                <a:tab algn="l" pos="4076640"/>
                <a:tab algn="l" pos="5095800"/>
                <a:tab algn="l" pos="6114960"/>
                <a:tab algn="l" pos="7134120"/>
                <a:tab algn="l" pos="8153280"/>
                <a:tab algn="l" pos="9172440"/>
                <a:tab algn="l" pos="10191600"/>
              </a:tabLst>
            </a:pPr>
            <a:r>
              <a:rPr b="1" lang="en-IN" sz="1600" strike="noStrike" u="none">
                <a:solidFill>
                  <a:srgbClr val="ff0000"/>
                </a:solidFill>
                <a:effectLst/>
                <a:uFillTx/>
                <a:latin typeface="Arial"/>
              </a:rPr>
              <a:t>AMO Sciences</a:t>
            </a:r>
            <a:endParaRPr b="0" lang="en-IN" sz="1600" strike="noStrike" u="none">
              <a:solidFill>
                <a:srgbClr val="000000"/>
              </a:solidFill>
              <a:effectLst/>
              <a:uFillTx/>
              <a:latin typeface="Times New Roman"/>
            </a:endParaRPr>
          </a:p>
        </p:txBody>
      </p:sp>
      <p:sp>
        <p:nvSpPr>
          <p:cNvPr id="251" name=""/>
          <p:cNvSpPr/>
          <p:nvPr/>
        </p:nvSpPr>
        <p:spPr>
          <a:xfrm>
            <a:off x="7053120" y="1916280"/>
            <a:ext cx="1828800" cy="353880"/>
          </a:xfrm>
          <a:prstGeom prst="rect">
            <a:avLst/>
          </a:prstGeom>
          <a:solidFill>
            <a:srgbClr val="ffffff"/>
          </a:solidFill>
          <a:ln w="0">
            <a:noFill/>
          </a:ln>
        </p:spPr>
        <p:style>
          <a:lnRef idx="0"/>
          <a:fillRef idx="0"/>
          <a:effectRef idx="0"/>
          <a:fontRef idx="minor"/>
        </p:style>
        <p:txBody>
          <a:bodyPr lIns="90000" rIns="90000" tIns="46800" bIns="46800" anchor="t">
            <a:noAutofit/>
          </a:bodyPr>
          <a:p>
            <a:endParaRPr b="0" lang="en-IN" sz="2400" strike="noStrike" u="none">
              <a:solidFill>
                <a:srgbClr val="000000"/>
              </a:solidFill>
              <a:effectLst/>
              <a:uFillTx/>
              <a:latin typeface="Times New Roman"/>
            </a:endParaRPr>
          </a:p>
        </p:txBody>
      </p:sp>
      <p:sp>
        <p:nvSpPr>
          <p:cNvPr id="252" name=""/>
          <p:cNvSpPr/>
          <p:nvPr/>
        </p:nvSpPr>
        <p:spPr>
          <a:xfrm>
            <a:off x="7943760" y="2332080"/>
            <a:ext cx="1724400" cy="244080"/>
          </a:xfrm>
          <a:prstGeom prst="rect">
            <a:avLst/>
          </a:prstGeom>
          <a:noFill/>
          <a:ln w="0">
            <a:noFill/>
          </a:ln>
        </p:spPr>
        <p:style>
          <a:lnRef idx="0"/>
          <a:fillRef idx="0"/>
          <a:effectRef idx="0"/>
          <a:fontRef idx="minor"/>
        </p:style>
        <p:txBody>
          <a:bodyPr wrap="none" lIns="0" rIns="0" tIns="0" bIns="0" anchor="t">
            <a:spAutoFit/>
          </a:bodyPr>
          <a:p>
            <a:pPr algn="ctr">
              <a:lnSpc>
                <a:spcPct val="100000"/>
              </a:lnSpc>
              <a:tabLst>
                <a:tab algn="l" pos="0"/>
                <a:tab algn="l" pos="1019160"/>
                <a:tab algn="l" pos="2038320"/>
                <a:tab algn="l" pos="3057480"/>
                <a:tab algn="l" pos="4076640"/>
                <a:tab algn="l" pos="5095800"/>
                <a:tab algn="l" pos="6114960"/>
                <a:tab algn="l" pos="7134120"/>
                <a:tab algn="l" pos="8153280"/>
                <a:tab algn="l" pos="9172440"/>
                <a:tab algn="l" pos="10191600"/>
              </a:tabLst>
            </a:pPr>
            <a:r>
              <a:rPr b="1" lang="en-IN" sz="1600" strike="noStrike" u="none">
                <a:solidFill>
                  <a:srgbClr val="cc0066"/>
                </a:solidFill>
                <a:effectLst/>
                <a:uFillTx/>
                <a:latin typeface="Arial"/>
              </a:rPr>
              <a:t>Chemical Physics</a:t>
            </a:r>
            <a:endParaRPr b="0" lang="en-IN" sz="1600" strike="noStrike" u="none">
              <a:solidFill>
                <a:srgbClr val="000000"/>
              </a:solidFill>
              <a:effectLst/>
              <a:uFillTx/>
              <a:latin typeface="Times New Roman"/>
            </a:endParaRPr>
          </a:p>
        </p:txBody>
      </p:sp>
      <p:sp>
        <p:nvSpPr>
          <p:cNvPr id="253" name=""/>
          <p:cNvSpPr/>
          <p:nvPr/>
        </p:nvSpPr>
        <p:spPr>
          <a:xfrm>
            <a:off x="7603920" y="4538520"/>
            <a:ext cx="1893240" cy="487800"/>
          </a:xfrm>
          <a:prstGeom prst="rect">
            <a:avLst/>
          </a:prstGeom>
          <a:noFill/>
          <a:ln w="0">
            <a:noFill/>
          </a:ln>
        </p:spPr>
        <p:style>
          <a:lnRef idx="0"/>
          <a:fillRef idx="0"/>
          <a:effectRef idx="0"/>
          <a:fontRef idx="minor"/>
        </p:style>
        <p:txBody>
          <a:bodyPr wrap="none" lIns="0" rIns="0" tIns="0" bIns="0" anchor="t">
            <a:spAutoFit/>
          </a:bodyPr>
          <a:p>
            <a:pPr algn="ctr">
              <a:lnSpc>
                <a:spcPct val="100000"/>
              </a:lnSpc>
              <a:tabLst>
                <a:tab algn="l" pos="0"/>
                <a:tab algn="l" pos="1019160"/>
                <a:tab algn="l" pos="2038320"/>
                <a:tab algn="l" pos="3057480"/>
                <a:tab algn="l" pos="4076640"/>
                <a:tab algn="l" pos="5095800"/>
                <a:tab algn="l" pos="6114960"/>
                <a:tab algn="l" pos="7134120"/>
                <a:tab algn="l" pos="8153280"/>
                <a:tab algn="l" pos="9172440"/>
                <a:tab algn="l" pos="10191600"/>
              </a:tabLst>
            </a:pPr>
            <a:r>
              <a:rPr b="1" lang="en-IN" sz="1600" strike="noStrike" u="none">
                <a:solidFill>
                  <a:srgbClr val="ff9900"/>
                </a:solidFill>
                <a:effectLst/>
                <a:uFillTx/>
                <a:latin typeface="Arial"/>
              </a:rPr>
              <a:t>Photochemistry &amp; </a:t>
            </a:r>
            <a:endParaRPr b="0" lang="en-IN" sz="1600" strike="noStrike" u="none">
              <a:solidFill>
                <a:srgbClr val="000000"/>
              </a:solidFill>
              <a:effectLst/>
              <a:uFillTx/>
              <a:latin typeface="Times New Roman"/>
            </a:endParaRPr>
          </a:p>
          <a:p>
            <a:pPr algn="ctr">
              <a:lnSpc>
                <a:spcPct val="100000"/>
              </a:lnSpc>
              <a:tabLst>
                <a:tab algn="l" pos="0"/>
                <a:tab algn="l" pos="1019160"/>
                <a:tab algn="l" pos="2038320"/>
                <a:tab algn="l" pos="3057480"/>
                <a:tab algn="l" pos="4076640"/>
                <a:tab algn="l" pos="5095800"/>
                <a:tab algn="l" pos="6114960"/>
                <a:tab algn="l" pos="7134120"/>
                <a:tab algn="l" pos="8153280"/>
                <a:tab algn="l" pos="9172440"/>
                <a:tab algn="l" pos="10191600"/>
              </a:tabLst>
            </a:pPr>
            <a:r>
              <a:rPr b="1" lang="en-IN" sz="1600" strike="noStrike" u="none">
                <a:solidFill>
                  <a:srgbClr val="ff9900"/>
                </a:solidFill>
                <a:effectLst/>
                <a:uFillTx/>
                <a:latin typeface="Arial"/>
              </a:rPr>
              <a:t>Radiation Research</a:t>
            </a:r>
            <a:endParaRPr b="0" lang="en-IN" sz="1600" strike="noStrike" u="none">
              <a:solidFill>
                <a:srgbClr val="000000"/>
              </a:solidFill>
              <a:effectLst/>
              <a:uFillTx/>
              <a:latin typeface="Times New Roman"/>
            </a:endParaRPr>
          </a:p>
        </p:txBody>
      </p:sp>
      <p:sp>
        <p:nvSpPr>
          <p:cNvPr id="254" name=""/>
          <p:cNvSpPr/>
          <p:nvPr/>
        </p:nvSpPr>
        <p:spPr>
          <a:xfrm>
            <a:off x="1228680" y="2927520"/>
            <a:ext cx="1263600" cy="73152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1019160"/>
                <a:tab algn="l" pos="2038320"/>
                <a:tab algn="l" pos="3057480"/>
                <a:tab algn="l" pos="4076640"/>
                <a:tab algn="l" pos="5095800"/>
                <a:tab algn="l" pos="6114960"/>
                <a:tab algn="l" pos="7134120"/>
                <a:tab algn="l" pos="8153280"/>
                <a:tab algn="l" pos="9172440"/>
                <a:tab algn="l" pos="10191600"/>
              </a:tabLst>
            </a:pPr>
            <a:r>
              <a:rPr b="1" lang="en-IN" sz="1600" strike="noStrike" u="none">
                <a:solidFill>
                  <a:srgbClr val="000066"/>
                </a:solidFill>
                <a:effectLst/>
                <a:uFillTx/>
                <a:latin typeface="Arial"/>
              </a:rPr>
              <a:t>Energy Biosciences</a:t>
            </a:r>
            <a:endParaRPr b="0" lang="en-IN" sz="1600" strike="noStrike" u="none">
              <a:solidFill>
                <a:srgbClr val="000000"/>
              </a:solidFill>
              <a:effectLst/>
              <a:uFillTx/>
              <a:latin typeface="Times New Roman"/>
            </a:endParaRPr>
          </a:p>
          <a:p>
            <a:pPr algn="ctr">
              <a:lnSpc>
                <a:spcPct val="100000"/>
              </a:lnSpc>
              <a:tabLst>
                <a:tab algn="l" pos="0"/>
                <a:tab algn="l" pos="1019160"/>
                <a:tab algn="l" pos="2038320"/>
                <a:tab algn="l" pos="3057480"/>
                <a:tab algn="l" pos="4076640"/>
                <a:tab algn="l" pos="5095800"/>
                <a:tab algn="l" pos="6114960"/>
                <a:tab algn="l" pos="7134120"/>
                <a:tab algn="l" pos="8153280"/>
                <a:tab algn="l" pos="9172440"/>
                <a:tab algn="l" pos="10191600"/>
              </a:tabLst>
            </a:pPr>
            <a:r>
              <a:rPr b="1" lang="en-IN" sz="1600" strike="noStrike" u="none">
                <a:solidFill>
                  <a:srgbClr val="000000"/>
                </a:solidFill>
                <a:effectLst/>
                <a:uFillTx/>
                <a:latin typeface="Arial"/>
              </a:rPr>
              <a:t>Panel 6</a:t>
            </a:r>
            <a:endParaRPr b="0" lang="en-IN" sz="1600" strike="noStrike" u="none">
              <a:solidFill>
                <a:srgbClr val="000000"/>
              </a:solidFill>
              <a:effectLst/>
              <a:uFillTx/>
              <a:latin typeface="Times New Roman"/>
            </a:endParaRPr>
          </a:p>
        </p:txBody>
      </p:sp>
      <p:sp>
        <p:nvSpPr>
          <p:cNvPr id="255" name=""/>
          <p:cNvSpPr/>
          <p:nvPr/>
        </p:nvSpPr>
        <p:spPr>
          <a:xfrm>
            <a:off x="6463800" y="6554880"/>
            <a:ext cx="2050920" cy="487800"/>
          </a:xfrm>
          <a:prstGeom prst="rect">
            <a:avLst/>
          </a:prstGeom>
          <a:noFill/>
          <a:ln w="0">
            <a:noFill/>
          </a:ln>
        </p:spPr>
        <p:style>
          <a:lnRef idx="0"/>
          <a:fillRef idx="0"/>
          <a:effectRef idx="0"/>
          <a:fontRef idx="minor"/>
        </p:style>
        <p:txBody>
          <a:bodyPr wrap="none" lIns="0" rIns="0" tIns="0" bIns="0" anchor="t">
            <a:spAutoFit/>
          </a:bodyPr>
          <a:p>
            <a:pPr algn="ctr">
              <a:lnSpc>
                <a:spcPct val="100000"/>
              </a:lnSpc>
              <a:tabLst>
                <a:tab algn="l" pos="0"/>
                <a:tab algn="l" pos="1019160"/>
                <a:tab algn="l" pos="2038320"/>
                <a:tab algn="l" pos="3057480"/>
                <a:tab algn="l" pos="4076640"/>
                <a:tab algn="l" pos="5095800"/>
                <a:tab algn="l" pos="6114960"/>
                <a:tab algn="l" pos="7134120"/>
                <a:tab algn="l" pos="8153280"/>
                <a:tab algn="l" pos="9172440"/>
                <a:tab algn="l" pos="10191600"/>
              </a:tabLst>
            </a:pPr>
            <a:r>
              <a:rPr b="1" lang="en-IN" sz="1600" strike="noStrike" u="none">
                <a:solidFill>
                  <a:srgbClr val="00ffff"/>
                </a:solidFill>
                <a:effectLst/>
                <a:uFillTx/>
                <a:latin typeface="Arial"/>
              </a:rPr>
              <a:t>Catalysis &amp; Chemical</a:t>
            </a:r>
            <a:endParaRPr b="0" lang="en-IN" sz="1600" strike="noStrike" u="none">
              <a:solidFill>
                <a:srgbClr val="000000"/>
              </a:solidFill>
              <a:effectLst/>
              <a:uFillTx/>
              <a:latin typeface="Times New Roman"/>
            </a:endParaRPr>
          </a:p>
          <a:p>
            <a:pPr algn="ctr">
              <a:lnSpc>
                <a:spcPct val="100000"/>
              </a:lnSpc>
              <a:tabLst>
                <a:tab algn="l" pos="0"/>
                <a:tab algn="l" pos="1019160"/>
                <a:tab algn="l" pos="2038320"/>
                <a:tab algn="l" pos="3057480"/>
                <a:tab algn="l" pos="4076640"/>
                <a:tab algn="l" pos="5095800"/>
                <a:tab algn="l" pos="6114960"/>
                <a:tab algn="l" pos="7134120"/>
                <a:tab algn="l" pos="8153280"/>
                <a:tab algn="l" pos="9172440"/>
                <a:tab algn="l" pos="10191600"/>
              </a:tabLst>
            </a:pPr>
            <a:r>
              <a:rPr b="1" lang="en-IN" sz="1600" strike="noStrike" u="none">
                <a:solidFill>
                  <a:srgbClr val="00ffff"/>
                </a:solidFill>
                <a:effectLst/>
                <a:uFillTx/>
                <a:latin typeface="Arial"/>
              </a:rPr>
              <a:t> Transformations</a:t>
            </a:r>
            <a:endParaRPr b="0" lang="en-IN" sz="1600" strike="noStrike" u="none">
              <a:solidFill>
                <a:srgbClr val="000000"/>
              </a:solidFill>
              <a:effectLst/>
              <a:uFillTx/>
              <a:latin typeface="Times New Roman"/>
            </a:endParaRPr>
          </a:p>
        </p:txBody>
      </p:sp>
      <p:sp>
        <p:nvSpPr>
          <p:cNvPr id="256" name=""/>
          <p:cNvSpPr/>
          <p:nvPr/>
        </p:nvSpPr>
        <p:spPr>
          <a:xfrm>
            <a:off x="3226320" y="6958080"/>
            <a:ext cx="1217160" cy="487800"/>
          </a:xfrm>
          <a:prstGeom prst="rect">
            <a:avLst/>
          </a:prstGeom>
          <a:noFill/>
          <a:ln w="0">
            <a:noFill/>
          </a:ln>
        </p:spPr>
        <p:style>
          <a:lnRef idx="0"/>
          <a:fillRef idx="0"/>
          <a:effectRef idx="0"/>
          <a:fontRef idx="minor"/>
        </p:style>
        <p:txBody>
          <a:bodyPr wrap="none" lIns="0" rIns="0" tIns="0" bIns="0" anchor="t">
            <a:spAutoFit/>
          </a:bodyPr>
          <a:p>
            <a:pPr algn="ctr">
              <a:lnSpc>
                <a:spcPct val="100000"/>
              </a:lnSpc>
              <a:tabLst>
                <a:tab algn="l" pos="0"/>
                <a:tab algn="l" pos="1019160"/>
                <a:tab algn="l" pos="2038320"/>
                <a:tab algn="l" pos="3057480"/>
                <a:tab algn="l" pos="4076640"/>
                <a:tab algn="l" pos="5095800"/>
                <a:tab algn="l" pos="6114960"/>
                <a:tab algn="l" pos="7134120"/>
                <a:tab algn="l" pos="8153280"/>
                <a:tab algn="l" pos="9172440"/>
                <a:tab algn="l" pos="10191600"/>
              </a:tabLst>
            </a:pPr>
            <a:r>
              <a:rPr b="1" lang="en-IN" sz="1600" strike="noStrike" u="none">
                <a:solidFill>
                  <a:srgbClr val="660033"/>
                </a:solidFill>
                <a:effectLst/>
                <a:uFillTx/>
                <a:latin typeface="Arial"/>
              </a:rPr>
              <a:t>Separations </a:t>
            </a:r>
            <a:endParaRPr b="0" lang="en-IN" sz="1600" strike="noStrike" u="none">
              <a:solidFill>
                <a:srgbClr val="000000"/>
              </a:solidFill>
              <a:effectLst/>
              <a:uFillTx/>
              <a:latin typeface="Times New Roman"/>
            </a:endParaRPr>
          </a:p>
          <a:p>
            <a:pPr algn="ctr">
              <a:lnSpc>
                <a:spcPct val="100000"/>
              </a:lnSpc>
              <a:tabLst>
                <a:tab algn="l" pos="0"/>
                <a:tab algn="l" pos="1019160"/>
                <a:tab algn="l" pos="2038320"/>
                <a:tab algn="l" pos="3057480"/>
                <a:tab algn="l" pos="4076640"/>
                <a:tab algn="l" pos="5095800"/>
                <a:tab algn="l" pos="6114960"/>
                <a:tab algn="l" pos="7134120"/>
                <a:tab algn="l" pos="8153280"/>
                <a:tab algn="l" pos="9172440"/>
                <a:tab algn="l" pos="10191600"/>
              </a:tabLst>
            </a:pPr>
            <a:r>
              <a:rPr b="1" lang="en-IN" sz="1600" strike="noStrike" u="none">
                <a:solidFill>
                  <a:srgbClr val="660033"/>
                </a:solidFill>
                <a:effectLst/>
                <a:uFillTx/>
                <a:latin typeface="Arial"/>
              </a:rPr>
              <a:t>&amp; Analysis</a:t>
            </a:r>
            <a:endParaRPr b="0" lang="en-IN" sz="1600" strike="noStrike" u="none">
              <a:solidFill>
                <a:srgbClr val="000000"/>
              </a:solidFill>
              <a:effectLst/>
              <a:uFillTx/>
              <a:latin typeface="Times New Roman"/>
            </a:endParaRPr>
          </a:p>
        </p:txBody>
      </p:sp>
      <p:sp>
        <p:nvSpPr>
          <p:cNvPr id="257" name=""/>
          <p:cNvSpPr/>
          <p:nvPr/>
        </p:nvSpPr>
        <p:spPr>
          <a:xfrm>
            <a:off x="739080" y="6265800"/>
            <a:ext cx="2490480" cy="244080"/>
          </a:xfrm>
          <a:prstGeom prst="rect">
            <a:avLst/>
          </a:prstGeom>
          <a:noFill/>
          <a:ln w="0">
            <a:noFill/>
          </a:ln>
        </p:spPr>
        <p:style>
          <a:lnRef idx="0"/>
          <a:fillRef idx="0"/>
          <a:effectRef idx="0"/>
          <a:fontRef idx="minor"/>
        </p:style>
        <p:txBody>
          <a:bodyPr wrap="none" lIns="0" rIns="0" tIns="0" bIns="0" anchor="t">
            <a:spAutoFit/>
          </a:bodyPr>
          <a:p>
            <a:pPr algn="ctr">
              <a:lnSpc>
                <a:spcPct val="100000"/>
              </a:lnSpc>
              <a:tabLst>
                <a:tab algn="l" pos="0"/>
                <a:tab algn="l" pos="1019160"/>
                <a:tab algn="l" pos="2038320"/>
                <a:tab algn="l" pos="3057480"/>
                <a:tab algn="l" pos="4076640"/>
                <a:tab algn="l" pos="5095800"/>
                <a:tab algn="l" pos="6114960"/>
                <a:tab algn="l" pos="7134120"/>
                <a:tab algn="l" pos="8153280"/>
                <a:tab algn="l" pos="9172440"/>
                <a:tab algn="l" pos="10191600"/>
              </a:tabLst>
            </a:pPr>
            <a:r>
              <a:rPr b="1" lang="en-IN" sz="1600" strike="noStrike" u="none">
                <a:solidFill>
                  <a:srgbClr val="ff7c80"/>
                </a:solidFill>
                <a:effectLst/>
                <a:uFillTx/>
                <a:latin typeface="Arial"/>
              </a:rPr>
              <a:t>Heavy Element Chemistry</a:t>
            </a:r>
            <a:endParaRPr b="0" lang="en-IN" sz="1600" strike="noStrike" u="none">
              <a:solidFill>
                <a:srgbClr val="000000"/>
              </a:solidFill>
              <a:effectLst/>
              <a:uFillTx/>
              <a:latin typeface="Times New Roman"/>
            </a:endParaRPr>
          </a:p>
        </p:txBody>
      </p:sp>
      <p:sp>
        <p:nvSpPr>
          <p:cNvPr id="258" name=""/>
          <p:cNvSpPr/>
          <p:nvPr/>
        </p:nvSpPr>
        <p:spPr>
          <a:xfrm>
            <a:off x="1053000" y="4713120"/>
            <a:ext cx="1251360" cy="487800"/>
          </a:xfrm>
          <a:prstGeom prst="rect">
            <a:avLst/>
          </a:prstGeom>
          <a:noFill/>
          <a:ln w="0">
            <a:noFill/>
          </a:ln>
        </p:spPr>
        <p:style>
          <a:lnRef idx="0"/>
          <a:fillRef idx="0"/>
          <a:effectRef idx="0"/>
          <a:fontRef idx="minor"/>
        </p:style>
        <p:txBody>
          <a:bodyPr wrap="none" lIns="0" rIns="0" tIns="0" bIns="0" anchor="t">
            <a:spAutoFit/>
          </a:bodyPr>
          <a:p>
            <a:pPr algn="ctr">
              <a:lnSpc>
                <a:spcPct val="100000"/>
              </a:lnSpc>
              <a:tabLst>
                <a:tab algn="l" pos="0"/>
                <a:tab algn="l" pos="1019160"/>
                <a:tab algn="l" pos="2038320"/>
                <a:tab algn="l" pos="3057480"/>
                <a:tab algn="l" pos="4076640"/>
                <a:tab algn="l" pos="5095800"/>
                <a:tab algn="l" pos="6114960"/>
                <a:tab algn="l" pos="7134120"/>
                <a:tab algn="l" pos="8153280"/>
                <a:tab algn="l" pos="9172440"/>
                <a:tab algn="l" pos="10191600"/>
              </a:tabLst>
            </a:pPr>
            <a:r>
              <a:rPr b="1" lang="en-IN" sz="1600" strike="noStrike" u="none">
                <a:solidFill>
                  <a:srgbClr val="6699ff"/>
                </a:solidFill>
                <a:effectLst/>
                <a:uFillTx/>
                <a:latin typeface="Arial"/>
              </a:rPr>
              <a:t>Geosciences</a:t>
            </a:r>
            <a:endParaRPr b="0" lang="en-IN" sz="1600" strike="noStrike" u="none">
              <a:solidFill>
                <a:srgbClr val="000000"/>
              </a:solidFill>
              <a:effectLst/>
              <a:uFillTx/>
              <a:latin typeface="Times New Roman"/>
            </a:endParaRPr>
          </a:p>
          <a:p>
            <a:pPr algn="ctr">
              <a:lnSpc>
                <a:spcPct val="100000"/>
              </a:lnSpc>
              <a:tabLst>
                <a:tab algn="l" pos="0"/>
                <a:tab algn="l" pos="1019160"/>
                <a:tab algn="l" pos="2038320"/>
                <a:tab algn="l" pos="3057480"/>
                <a:tab algn="l" pos="4076640"/>
                <a:tab algn="l" pos="5095800"/>
                <a:tab algn="l" pos="6114960"/>
                <a:tab algn="l" pos="7134120"/>
                <a:tab algn="l" pos="8153280"/>
                <a:tab algn="l" pos="9172440"/>
                <a:tab algn="l" pos="10191600"/>
              </a:tabLst>
            </a:pPr>
            <a:r>
              <a:rPr b="1" lang="en-IN" sz="1600" strike="noStrike" u="none">
                <a:solidFill>
                  <a:srgbClr val="000000"/>
                </a:solidFill>
                <a:effectLst/>
                <a:uFillTx/>
                <a:latin typeface="Arial"/>
              </a:rPr>
              <a:t>Panel 5</a:t>
            </a:r>
            <a:endParaRPr b="0" lang="en-IN" sz="1600" strike="noStrike" u="none">
              <a:solidFill>
                <a:srgbClr val="000000"/>
              </a:solidFill>
              <a:effectLst/>
              <a:uFillTx/>
              <a:latin typeface="Times New Roman"/>
            </a:endParaRPr>
          </a:p>
        </p:txBody>
      </p:sp>
      <p:sp>
        <p:nvSpPr>
          <p:cNvPr id="259" name=""/>
          <p:cNvSpPr/>
          <p:nvPr/>
        </p:nvSpPr>
        <p:spPr>
          <a:xfrm>
            <a:off x="151560" y="5460840"/>
            <a:ext cx="2332080" cy="487800"/>
          </a:xfrm>
          <a:prstGeom prst="rect">
            <a:avLst/>
          </a:prstGeom>
          <a:noFill/>
          <a:ln w="0">
            <a:noFill/>
          </a:ln>
        </p:spPr>
        <p:style>
          <a:lnRef idx="0"/>
          <a:fillRef idx="0"/>
          <a:effectRef idx="0"/>
          <a:fontRef idx="minor"/>
        </p:style>
        <p:txBody>
          <a:bodyPr wrap="none" lIns="0" rIns="0" tIns="0" bIns="0" anchor="t">
            <a:spAutoFit/>
          </a:bodyPr>
          <a:p>
            <a:pPr algn="ctr">
              <a:lnSpc>
                <a:spcPct val="100000"/>
              </a:lnSpc>
              <a:tabLst>
                <a:tab algn="l" pos="0"/>
                <a:tab algn="l" pos="1019160"/>
                <a:tab algn="l" pos="2038320"/>
                <a:tab algn="l" pos="3057480"/>
                <a:tab algn="l" pos="4076640"/>
                <a:tab algn="l" pos="5095800"/>
                <a:tab algn="l" pos="6114960"/>
                <a:tab algn="l" pos="7134120"/>
                <a:tab algn="l" pos="8153280"/>
                <a:tab algn="l" pos="9172440"/>
                <a:tab algn="l" pos="10191600"/>
              </a:tabLst>
            </a:pPr>
            <a:r>
              <a:rPr b="1" lang="en-IN" sz="1600" strike="noStrike" u="none">
                <a:solidFill>
                  <a:srgbClr val="0000cc"/>
                </a:solidFill>
                <a:effectLst/>
                <a:uFillTx/>
                <a:latin typeface="Arial"/>
              </a:rPr>
              <a:t>Chemical Energy </a:t>
            </a:r>
            <a:endParaRPr b="0" lang="en-IN" sz="1600" strike="noStrike" u="none">
              <a:solidFill>
                <a:srgbClr val="000000"/>
              </a:solidFill>
              <a:effectLst/>
              <a:uFillTx/>
              <a:latin typeface="Times New Roman"/>
            </a:endParaRPr>
          </a:p>
          <a:p>
            <a:pPr algn="ctr">
              <a:lnSpc>
                <a:spcPct val="100000"/>
              </a:lnSpc>
              <a:tabLst>
                <a:tab algn="l" pos="0"/>
                <a:tab algn="l" pos="1019160"/>
                <a:tab algn="l" pos="2038320"/>
                <a:tab algn="l" pos="3057480"/>
                <a:tab algn="l" pos="4076640"/>
                <a:tab algn="l" pos="5095800"/>
                <a:tab algn="l" pos="6114960"/>
                <a:tab algn="l" pos="7134120"/>
                <a:tab algn="l" pos="8153280"/>
                <a:tab algn="l" pos="9172440"/>
                <a:tab algn="l" pos="10191600"/>
              </a:tabLst>
            </a:pPr>
            <a:r>
              <a:rPr b="1" lang="en-IN" sz="1600" strike="noStrike" u="none">
                <a:solidFill>
                  <a:srgbClr val="0000cc"/>
                </a:solidFill>
                <a:effectLst/>
                <a:uFillTx/>
                <a:latin typeface="Arial"/>
              </a:rPr>
              <a:t>&amp; Chemical Engineering</a:t>
            </a:r>
            <a:endParaRPr b="0" lang="en-IN" sz="1600" strike="noStrike" u="none">
              <a:solidFill>
                <a:srgbClr val="000000"/>
              </a:solidFill>
              <a:effectLst/>
              <a:uFillTx/>
              <a:latin typeface="Times New Roman"/>
            </a:endParaRPr>
          </a:p>
        </p:txBody>
      </p:sp>
      <p:sp>
        <p:nvSpPr>
          <p:cNvPr id="260" name=""/>
          <p:cNvSpPr/>
          <p:nvPr/>
        </p:nvSpPr>
        <p:spPr>
          <a:xfrm>
            <a:off x="3247200" y="1762200"/>
            <a:ext cx="428760" cy="244080"/>
          </a:xfrm>
          <a:prstGeom prst="rect">
            <a:avLst/>
          </a:prstGeom>
          <a:noFill/>
          <a:ln w="0">
            <a:noFill/>
          </a:ln>
        </p:spPr>
        <p:style>
          <a:lnRef idx="0"/>
          <a:fillRef idx="0"/>
          <a:effectRef idx="0"/>
          <a:fontRef idx="minor"/>
        </p:style>
        <p:txBody>
          <a:bodyPr wrap="none" lIns="0" rIns="0" tIns="0" bIns="0" anchor="t">
            <a:spAutoFit/>
          </a:bodyPr>
          <a:p>
            <a:pPr algn="ctr">
              <a:lnSpc>
                <a:spcPct val="100000"/>
              </a:lnSpc>
              <a:tabLst>
                <a:tab algn="l" pos="0"/>
                <a:tab algn="l" pos="1019160"/>
                <a:tab algn="l" pos="2038320"/>
                <a:tab algn="l" pos="3057480"/>
                <a:tab algn="l" pos="4076640"/>
                <a:tab algn="l" pos="5095800"/>
                <a:tab algn="l" pos="6114960"/>
                <a:tab algn="l" pos="7134120"/>
                <a:tab algn="l" pos="8153280"/>
                <a:tab algn="l" pos="9172440"/>
                <a:tab algn="l" pos="10191600"/>
              </a:tabLst>
            </a:pPr>
            <a:r>
              <a:rPr b="1" lang="en-IN" sz="1600" strike="noStrike" u="none">
                <a:solidFill>
                  <a:srgbClr val="000000"/>
                </a:solidFill>
                <a:effectLst/>
                <a:uFillTx/>
                <a:latin typeface="Arial"/>
              </a:rPr>
              <a:t>GPP</a:t>
            </a:r>
            <a:endParaRPr b="0" lang="en-IN" sz="1600" strike="noStrike" u="none">
              <a:solidFill>
                <a:srgbClr val="000000"/>
              </a:solidFill>
              <a:effectLst/>
              <a:uFillTx/>
              <a:latin typeface="Times New Roman"/>
            </a:endParaRPr>
          </a:p>
        </p:txBody>
      </p:sp>
      <p:sp>
        <p:nvSpPr>
          <p:cNvPr id="261" name=""/>
          <p:cNvSpPr/>
          <p:nvPr/>
        </p:nvSpPr>
        <p:spPr>
          <a:xfrm>
            <a:off x="7537320" y="5168880"/>
            <a:ext cx="679680" cy="398520"/>
          </a:xfrm>
          <a:prstGeom prst="rect">
            <a:avLst/>
          </a:prstGeom>
          <a:solidFill>
            <a:srgbClr val="ffffff"/>
          </a:solidFill>
          <a:ln w="0">
            <a:noFill/>
          </a:ln>
        </p:spPr>
        <p:style>
          <a:lnRef idx="0"/>
          <a:fillRef idx="0"/>
          <a:effectRef idx="0"/>
          <a:fontRef idx="minor"/>
        </p:style>
        <p:txBody>
          <a:bodyPr lIns="90000" rIns="90000" tIns="46800" bIns="46800" anchor="t">
            <a:noAutofit/>
          </a:bodyPr>
          <a:p>
            <a:endParaRPr b="0" lang="en-IN" sz="2400" strike="noStrike" u="none">
              <a:solidFill>
                <a:srgbClr val="000000"/>
              </a:solidFill>
              <a:effectLst/>
              <a:uFillTx/>
              <a:latin typeface="Times New Roman"/>
            </a:endParaRPr>
          </a:p>
        </p:txBody>
      </p:sp>
      <p:sp>
        <p:nvSpPr>
          <p:cNvPr id="262" name=""/>
          <p:cNvSpPr/>
          <p:nvPr/>
        </p:nvSpPr>
        <p:spPr>
          <a:xfrm>
            <a:off x="3736080" y="1459080"/>
            <a:ext cx="428760" cy="244080"/>
          </a:xfrm>
          <a:prstGeom prst="rect">
            <a:avLst/>
          </a:prstGeom>
          <a:noFill/>
          <a:ln w="0">
            <a:noFill/>
          </a:ln>
        </p:spPr>
        <p:style>
          <a:lnRef idx="0"/>
          <a:fillRef idx="0"/>
          <a:effectRef idx="0"/>
          <a:fontRef idx="minor"/>
        </p:style>
        <p:txBody>
          <a:bodyPr wrap="none" lIns="0" rIns="0" tIns="0" bIns="0" anchor="t">
            <a:spAutoFit/>
          </a:bodyPr>
          <a:p>
            <a:pPr algn="ctr">
              <a:lnSpc>
                <a:spcPct val="100000"/>
              </a:lnSpc>
              <a:tabLst>
                <a:tab algn="l" pos="0"/>
                <a:tab algn="l" pos="1019160"/>
                <a:tab algn="l" pos="2038320"/>
                <a:tab algn="l" pos="3057480"/>
                <a:tab algn="l" pos="4076640"/>
                <a:tab algn="l" pos="5095800"/>
                <a:tab algn="l" pos="6114960"/>
                <a:tab algn="l" pos="7134120"/>
                <a:tab algn="l" pos="8153280"/>
                <a:tab algn="l" pos="9172440"/>
                <a:tab algn="l" pos="10191600"/>
              </a:tabLst>
            </a:pPr>
            <a:r>
              <a:rPr b="1" lang="en-IN" sz="1600" strike="noStrike" u="none">
                <a:solidFill>
                  <a:srgbClr val="000000"/>
                </a:solidFill>
                <a:effectLst/>
                <a:uFillTx/>
                <a:latin typeface="Arial"/>
              </a:rPr>
              <a:t>GPE</a:t>
            </a:r>
            <a:endParaRPr b="0" lang="en-IN" sz="1600" strike="noStrike" u="none">
              <a:solidFill>
                <a:srgbClr val="000000"/>
              </a:solidFill>
              <a:effectLst/>
              <a:uFillTx/>
              <a:latin typeface="Times New Roman"/>
            </a:endParaRPr>
          </a:p>
        </p:txBody>
      </p:sp>
      <p:sp>
        <p:nvSpPr>
          <p:cNvPr id="263" name=""/>
          <p:cNvSpPr/>
          <p:nvPr/>
        </p:nvSpPr>
        <p:spPr>
          <a:xfrm>
            <a:off x="3743640" y="1027080"/>
            <a:ext cx="868320" cy="244080"/>
          </a:xfrm>
          <a:prstGeom prst="rect">
            <a:avLst/>
          </a:prstGeom>
          <a:noFill/>
          <a:ln w="0">
            <a:noFill/>
          </a:ln>
        </p:spPr>
        <p:style>
          <a:lnRef idx="0"/>
          <a:fillRef idx="0"/>
          <a:effectRef idx="0"/>
          <a:fontRef idx="minor"/>
        </p:style>
        <p:txBody>
          <a:bodyPr wrap="none" lIns="0" rIns="0" tIns="0" bIns="0" anchor="t">
            <a:spAutoFit/>
          </a:bodyPr>
          <a:p>
            <a:pPr algn="ctr">
              <a:lnSpc>
                <a:spcPct val="100000"/>
              </a:lnSpc>
              <a:tabLst>
                <a:tab algn="l" pos="0"/>
                <a:tab algn="l" pos="1019160"/>
                <a:tab algn="l" pos="2038320"/>
                <a:tab algn="l" pos="3057480"/>
                <a:tab algn="l" pos="4076640"/>
                <a:tab algn="l" pos="5095800"/>
                <a:tab algn="l" pos="6114960"/>
                <a:tab algn="l" pos="7134120"/>
                <a:tab algn="l" pos="8153280"/>
                <a:tab algn="l" pos="9172440"/>
                <a:tab algn="l" pos="10191600"/>
              </a:tabLst>
            </a:pPr>
            <a:r>
              <a:rPr b="1" lang="en-IN" sz="1600" strike="noStrike" u="none">
                <a:solidFill>
                  <a:srgbClr val="000000"/>
                </a:solidFill>
                <a:effectLst/>
                <a:uFillTx/>
                <a:latin typeface="Arial"/>
              </a:rPr>
              <a:t>Facilities</a:t>
            </a:r>
            <a:endParaRPr b="0" lang="en-IN" sz="1600" strike="noStrike" u="none">
              <a:solidFill>
                <a:srgbClr val="000000"/>
              </a:solidFill>
              <a:effectLst/>
              <a:uFillTx/>
              <a:latin typeface="Times New Roman"/>
            </a:endParaRPr>
          </a:p>
        </p:txBody>
      </p:sp>
      <p:sp>
        <p:nvSpPr>
          <p:cNvPr id="264" name=""/>
          <p:cNvSpPr/>
          <p:nvPr/>
        </p:nvSpPr>
        <p:spPr>
          <a:xfrm>
            <a:off x="4628160" y="1352520"/>
            <a:ext cx="484920" cy="244080"/>
          </a:xfrm>
          <a:prstGeom prst="rect">
            <a:avLst/>
          </a:prstGeom>
          <a:noFill/>
          <a:ln w="0">
            <a:noFill/>
          </a:ln>
        </p:spPr>
        <p:style>
          <a:lnRef idx="0"/>
          <a:fillRef idx="0"/>
          <a:effectRef idx="0"/>
          <a:fontRef idx="minor"/>
        </p:style>
        <p:txBody>
          <a:bodyPr wrap="none" lIns="0" rIns="0" tIns="0" bIns="0" anchor="t">
            <a:spAutoFit/>
          </a:bodyPr>
          <a:p>
            <a:pPr algn="ctr">
              <a:lnSpc>
                <a:spcPct val="100000"/>
              </a:lnSpc>
              <a:tabLst>
                <a:tab algn="l" pos="0"/>
                <a:tab algn="l" pos="1019160"/>
                <a:tab algn="l" pos="2038320"/>
                <a:tab algn="l" pos="3057480"/>
                <a:tab algn="l" pos="4076640"/>
                <a:tab algn="l" pos="5095800"/>
                <a:tab algn="l" pos="6114960"/>
                <a:tab algn="l" pos="7134120"/>
                <a:tab algn="l" pos="8153280"/>
                <a:tab algn="l" pos="9172440"/>
                <a:tab algn="l" pos="10191600"/>
              </a:tabLst>
            </a:pPr>
            <a:r>
              <a:rPr b="1" lang="en-IN" sz="1600" strike="noStrike" u="none">
                <a:solidFill>
                  <a:srgbClr val="000000"/>
                </a:solidFill>
                <a:effectLst/>
                <a:uFillTx/>
                <a:latin typeface="Arial"/>
              </a:rPr>
              <a:t>SBIR</a:t>
            </a:r>
            <a:endParaRPr b="0" lang="en-IN" sz="1600" strike="noStrike" u="none">
              <a:solidFill>
                <a:srgbClr val="000000"/>
              </a:solidFill>
              <a:effectLst/>
              <a:uFillTx/>
              <a:latin typeface="Times New Roman"/>
            </a:endParaRPr>
          </a:p>
        </p:txBody>
      </p:sp>
      <p:sp>
        <p:nvSpPr>
          <p:cNvPr id="265" name=""/>
          <p:cNvSpPr/>
          <p:nvPr/>
        </p:nvSpPr>
        <p:spPr>
          <a:xfrm flipV="1">
            <a:off x="2416320" y="5613120"/>
            <a:ext cx="476280" cy="28440"/>
          </a:xfrm>
          <a:prstGeom prst="line">
            <a:avLst/>
          </a:prstGeom>
          <a:ln w="9360">
            <a:solidFill>
              <a:srgbClr val="000000"/>
            </a:solidFill>
            <a:miter/>
            <a:tailEnd len="med" type="triangle" w="med"/>
          </a:ln>
        </p:spPr>
        <p:style>
          <a:lnRef idx="0"/>
          <a:fillRef idx="0"/>
          <a:effectRef idx="0"/>
          <a:fontRef idx="minor"/>
        </p:style>
        <p:txBody>
          <a:bodyPr lIns="90000" rIns="90000" tIns="-18360" bIns="-18360" anchor="t">
            <a:noAutofit/>
          </a:bodyPr>
          <a:p>
            <a:endParaRPr b="0" lang="en-IN" sz="2400" strike="noStrike" u="none">
              <a:solidFill>
                <a:srgbClr val="000000"/>
              </a:solidFill>
              <a:effectLst/>
              <a:uFillTx/>
              <a:latin typeface="Times New Roman"/>
            </a:endParaRPr>
          </a:p>
        </p:txBody>
      </p:sp>
      <p:sp>
        <p:nvSpPr>
          <p:cNvPr id="266" name=""/>
          <p:cNvSpPr/>
          <p:nvPr/>
        </p:nvSpPr>
        <p:spPr>
          <a:xfrm>
            <a:off x="4302000" y="1352520"/>
            <a:ext cx="154080" cy="576360"/>
          </a:xfrm>
          <a:prstGeom prst="line">
            <a:avLst/>
          </a:prstGeom>
          <a:ln w="9360">
            <a:solidFill>
              <a:srgbClr val="000000"/>
            </a:solidFill>
            <a:miter/>
            <a:tailEnd len="med" type="triangle" w="med"/>
          </a:ln>
        </p:spPr>
        <p:style>
          <a:lnRef idx="0"/>
          <a:fillRef idx="0"/>
          <a:effectRef idx="0"/>
          <a:fontRef idx="minor"/>
        </p:style>
        <p:txBody>
          <a:bodyPr lIns="90000" rIns="90000" tIns="46800" bIns="46800" anchor="t">
            <a:noAutofit/>
          </a:bodyPr>
          <a:p>
            <a:endParaRPr b="0" lang="en-IN" sz="2400" strike="noStrike" u="none">
              <a:solidFill>
                <a:srgbClr val="000000"/>
              </a:solidFill>
              <a:effectLst/>
              <a:uFillTx/>
              <a:latin typeface="Times New Roman"/>
            </a:endParaRPr>
          </a:p>
        </p:txBody>
      </p:sp>
      <p:sp>
        <p:nvSpPr>
          <p:cNvPr id="267" name=""/>
          <p:cNvSpPr/>
          <p:nvPr/>
        </p:nvSpPr>
        <p:spPr>
          <a:xfrm>
            <a:off x="3240" y="930240"/>
            <a:ext cx="3361680" cy="459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000000"/>
                </a:solidFill>
                <a:effectLst/>
                <a:uFillTx/>
                <a:latin typeface="Arial Narrow"/>
              </a:rPr>
              <a:t>FY07 appropriation  $221M</a:t>
            </a:r>
            <a:endParaRPr b="0" lang="en-IN" sz="2400" strike="noStrike" u="none">
              <a:solidFill>
                <a:srgbClr val="000000"/>
              </a:solidFill>
              <a:effectLst/>
              <a:uFillTx/>
              <a:latin typeface="Times New Roman"/>
            </a:endParaRPr>
          </a:p>
        </p:txBody>
      </p:sp>
      <p:sp>
        <p:nvSpPr>
          <p:cNvPr id="268" name=""/>
          <p:cNvSpPr/>
          <p:nvPr/>
        </p:nvSpPr>
        <p:spPr>
          <a:xfrm flipV="1">
            <a:off x="5060880" y="2768760"/>
            <a:ext cx="2089080" cy="1536480"/>
          </a:xfrm>
          <a:prstGeom prst="line">
            <a:avLst/>
          </a:prstGeom>
          <a:ln w="12600">
            <a:solidFill>
              <a:srgbClr val="000000"/>
            </a:solidFill>
            <a:miter/>
          </a:ln>
        </p:spPr>
        <p:style>
          <a:lnRef idx="0"/>
          <a:fillRef idx="0"/>
          <a:effectRef idx="0"/>
          <a:fontRef idx="minor"/>
        </p:style>
        <p:txBody>
          <a:bodyPr lIns="90000" rIns="90000" tIns="46800" bIns="46800" anchor="t">
            <a:noAutofit/>
          </a:bodyPr>
          <a:p>
            <a:endParaRPr b="0" lang="en-IN" sz="2400" strike="noStrike" u="none">
              <a:solidFill>
                <a:srgbClr val="000000"/>
              </a:solidFill>
              <a:effectLst/>
              <a:uFillTx/>
              <a:latin typeface="Times New Roman"/>
            </a:endParaRPr>
          </a:p>
        </p:txBody>
      </p:sp>
      <p:sp>
        <p:nvSpPr>
          <p:cNvPr id="269" name=""/>
          <p:cNvSpPr/>
          <p:nvPr/>
        </p:nvSpPr>
        <p:spPr>
          <a:xfrm>
            <a:off x="6780600" y="2014560"/>
            <a:ext cx="1037160" cy="244080"/>
          </a:xfrm>
          <a:prstGeom prst="rect">
            <a:avLst/>
          </a:prstGeom>
          <a:noFill/>
          <a:ln w="0">
            <a:noFill/>
          </a:ln>
        </p:spPr>
        <p:style>
          <a:lnRef idx="0"/>
          <a:fillRef idx="0"/>
          <a:effectRef idx="0"/>
          <a:fontRef idx="minor"/>
        </p:style>
        <p:txBody>
          <a:bodyPr wrap="none" lIns="0" rIns="0" tIns="0" bIns="0" anchor="t">
            <a:spAutoFit/>
          </a:bodyPr>
          <a:p>
            <a:pPr algn="ctr">
              <a:lnSpc>
                <a:spcPct val="100000"/>
              </a:lnSpc>
              <a:tabLst>
                <a:tab algn="l" pos="0"/>
                <a:tab algn="l" pos="1019160"/>
                <a:tab algn="l" pos="2038320"/>
                <a:tab algn="l" pos="3057480"/>
                <a:tab algn="l" pos="4076640"/>
                <a:tab algn="l" pos="5095800"/>
                <a:tab algn="l" pos="6114960"/>
                <a:tab algn="l" pos="7134120"/>
                <a:tab algn="l" pos="8153280"/>
                <a:tab algn="l" pos="9172440"/>
                <a:tab algn="l" pos="10191600"/>
              </a:tabLst>
            </a:pPr>
            <a:r>
              <a:rPr b="1" lang="en-IN" sz="1600" strike="noStrike" u="none">
                <a:solidFill>
                  <a:srgbClr val="cc0066"/>
                </a:solidFill>
                <a:effectLst/>
                <a:uFillTx/>
                <a:latin typeface="Arial"/>
              </a:rPr>
              <a:t>Gas Phase</a:t>
            </a:r>
            <a:endParaRPr b="0" lang="en-IN" sz="1600" strike="noStrike" u="none">
              <a:solidFill>
                <a:srgbClr val="000000"/>
              </a:solidFill>
              <a:effectLst/>
              <a:uFillTx/>
              <a:latin typeface="Times New Roman"/>
            </a:endParaRPr>
          </a:p>
        </p:txBody>
      </p:sp>
      <p:sp>
        <p:nvSpPr>
          <p:cNvPr id="270" name=""/>
          <p:cNvSpPr/>
          <p:nvPr/>
        </p:nvSpPr>
        <p:spPr>
          <a:xfrm>
            <a:off x="7450200" y="2954160"/>
            <a:ext cx="642600" cy="244080"/>
          </a:xfrm>
          <a:prstGeom prst="rect">
            <a:avLst/>
          </a:prstGeom>
          <a:noFill/>
          <a:ln w="0">
            <a:noFill/>
          </a:ln>
        </p:spPr>
        <p:style>
          <a:lnRef idx="0"/>
          <a:fillRef idx="0"/>
          <a:effectRef idx="0"/>
          <a:fontRef idx="minor"/>
        </p:style>
        <p:txBody>
          <a:bodyPr wrap="none" lIns="0" rIns="0" tIns="0" bIns="0" anchor="t">
            <a:spAutoFit/>
          </a:bodyPr>
          <a:p>
            <a:pPr algn="ctr">
              <a:lnSpc>
                <a:spcPct val="100000"/>
              </a:lnSpc>
              <a:tabLst>
                <a:tab algn="l" pos="0"/>
                <a:tab algn="l" pos="1019160"/>
                <a:tab algn="l" pos="2038320"/>
                <a:tab algn="l" pos="3057480"/>
                <a:tab algn="l" pos="4076640"/>
                <a:tab algn="l" pos="5095800"/>
                <a:tab algn="l" pos="6114960"/>
                <a:tab algn="l" pos="7134120"/>
                <a:tab algn="l" pos="8153280"/>
                <a:tab algn="l" pos="9172440"/>
                <a:tab algn="l" pos="10191600"/>
              </a:tabLst>
            </a:pPr>
            <a:r>
              <a:rPr b="1" lang="en-IN" sz="1600" strike="noStrike" u="none">
                <a:solidFill>
                  <a:srgbClr val="cc0066"/>
                </a:solidFill>
                <a:effectLst/>
                <a:uFillTx/>
                <a:latin typeface="Arial"/>
              </a:rPr>
              <a:t>CPIMS</a:t>
            </a:r>
            <a:endParaRPr b="0" lang="en-IN" sz="1600" strike="noStrike" u="none">
              <a:solidFill>
                <a:srgbClr val="000000"/>
              </a:solidFill>
              <a:effectLst/>
              <a:uFillTx/>
              <a:latin typeface="Times New Roman"/>
            </a:endParaRPr>
          </a:p>
        </p:txBody>
      </p:sp>
      <p:sp>
        <p:nvSpPr>
          <p:cNvPr id="271" name=""/>
          <p:cNvSpPr/>
          <p:nvPr/>
        </p:nvSpPr>
        <p:spPr>
          <a:xfrm>
            <a:off x="7694640" y="1519200"/>
            <a:ext cx="710640" cy="244080"/>
          </a:xfrm>
          <a:prstGeom prst="rect">
            <a:avLst/>
          </a:prstGeom>
          <a:noFill/>
          <a:ln w="0">
            <a:noFill/>
          </a:ln>
        </p:spPr>
        <p:style>
          <a:lnRef idx="0"/>
          <a:fillRef idx="0"/>
          <a:effectRef idx="0"/>
          <a:fontRef idx="minor"/>
        </p:style>
        <p:txBody>
          <a:bodyPr wrap="none" lIns="0" rIns="0" tIns="0" bIns="0" anchor="t">
            <a:spAutoFit/>
          </a:bodyPr>
          <a:p>
            <a:pPr algn="ctr">
              <a:lnSpc>
                <a:spcPct val="100000"/>
              </a:lnSpc>
              <a:tabLst>
                <a:tab algn="l" pos="0"/>
                <a:tab algn="l" pos="1019160"/>
                <a:tab algn="l" pos="2038320"/>
                <a:tab algn="l" pos="3057480"/>
                <a:tab algn="l" pos="4076640"/>
                <a:tab algn="l" pos="5095800"/>
                <a:tab algn="l" pos="6114960"/>
                <a:tab algn="l" pos="7134120"/>
                <a:tab algn="l" pos="8153280"/>
                <a:tab algn="l" pos="9172440"/>
                <a:tab algn="l" pos="10191600"/>
              </a:tabLst>
            </a:pPr>
            <a:r>
              <a:rPr b="1" lang="en-IN" sz="1600" strike="noStrike" u="none">
                <a:solidFill>
                  <a:srgbClr val="000000"/>
                </a:solidFill>
                <a:effectLst/>
                <a:uFillTx/>
                <a:latin typeface="Arial"/>
              </a:rPr>
              <a:t>Panel 1</a:t>
            </a:r>
            <a:endParaRPr b="0" lang="en-IN" sz="1600" strike="noStrike" u="none">
              <a:solidFill>
                <a:srgbClr val="000000"/>
              </a:solidFill>
              <a:effectLst/>
              <a:uFillTx/>
              <a:latin typeface="Times New Roman"/>
            </a:endParaRPr>
          </a:p>
        </p:txBody>
      </p:sp>
      <p:sp>
        <p:nvSpPr>
          <p:cNvPr id="272" name=""/>
          <p:cNvSpPr/>
          <p:nvPr/>
        </p:nvSpPr>
        <p:spPr>
          <a:xfrm>
            <a:off x="8348760" y="3564000"/>
            <a:ext cx="710640" cy="244080"/>
          </a:xfrm>
          <a:prstGeom prst="rect">
            <a:avLst/>
          </a:prstGeom>
          <a:noFill/>
          <a:ln w="0">
            <a:noFill/>
          </a:ln>
        </p:spPr>
        <p:style>
          <a:lnRef idx="0"/>
          <a:fillRef idx="0"/>
          <a:effectRef idx="0"/>
          <a:fontRef idx="minor"/>
        </p:style>
        <p:txBody>
          <a:bodyPr wrap="none" lIns="0" rIns="0" tIns="0" bIns="0" anchor="t">
            <a:spAutoFit/>
          </a:bodyPr>
          <a:p>
            <a:pPr algn="ctr">
              <a:lnSpc>
                <a:spcPct val="100000"/>
              </a:lnSpc>
              <a:tabLst>
                <a:tab algn="l" pos="0"/>
                <a:tab algn="l" pos="1019160"/>
                <a:tab algn="l" pos="2038320"/>
                <a:tab algn="l" pos="3057480"/>
                <a:tab algn="l" pos="4076640"/>
                <a:tab algn="l" pos="5095800"/>
                <a:tab algn="l" pos="6114960"/>
                <a:tab algn="l" pos="7134120"/>
                <a:tab algn="l" pos="8153280"/>
                <a:tab algn="l" pos="9172440"/>
                <a:tab algn="l" pos="10191600"/>
              </a:tabLst>
            </a:pPr>
            <a:r>
              <a:rPr b="1" lang="en-IN" sz="1600" strike="noStrike" u="none">
                <a:solidFill>
                  <a:srgbClr val="000000"/>
                </a:solidFill>
                <a:effectLst/>
                <a:uFillTx/>
                <a:latin typeface="Arial"/>
              </a:rPr>
              <a:t>Panel 2</a:t>
            </a:r>
            <a:endParaRPr b="0" lang="en-IN" sz="1600" strike="noStrike" u="none">
              <a:solidFill>
                <a:srgbClr val="000000"/>
              </a:solidFill>
              <a:effectLst/>
              <a:uFillTx/>
              <a:latin typeface="Times New Roman"/>
            </a:endParaRPr>
          </a:p>
        </p:txBody>
      </p:sp>
      <p:sp>
        <p:nvSpPr>
          <p:cNvPr id="273" name=""/>
          <p:cNvSpPr/>
          <p:nvPr/>
        </p:nvSpPr>
        <p:spPr>
          <a:xfrm>
            <a:off x="7091640" y="7164360"/>
            <a:ext cx="710640" cy="244080"/>
          </a:xfrm>
          <a:prstGeom prst="rect">
            <a:avLst/>
          </a:prstGeom>
          <a:noFill/>
          <a:ln w="0">
            <a:noFill/>
          </a:ln>
        </p:spPr>
        <p:style>
          <a:lnRef idx="0"/>
          <a:fillRef idx="0"/>
          <a:effectRef idx="0"/>
          <a:fontRef idx="minor"/>
        </p:style>
        <p:txBody>
          <a:bodyPr wrap="none" lIns="0" rIns="0" tIns="0" bIns="0" anchor="t">
            <a:spAutoFit/>
          </a:bodyPr>
          <a:p>
            <a:pPr algn="ctr">
              <a:lnSpc>
                <a:spcPct val="100000"/>
              </a:lnSpc>
              <a:tabLst>
                <a:tab algn="l" pos="0"/>
                <a:tab algn="l" pos="1019160"/>
                <a:tab algn="l" pos="2038320"/>
                <a:tab algn="l" pos="3057480"/>
                <a:tab algn="l" pos="4076640"/>
                <a:tab algn="l" pos="5095800"/>
                <a:tab algn="l" pos="6114960"/>
                <a:tab algn="l" pos="7134120"/>
                <a:tab algn="l" pos="8153280"/>
                <a:tab algn="l" pos="9172440"/>
                <a:tab algn="l" pos="10191600"/>
              </a:tabLst>
            </a:pPr>
            <a:r>
              <a:rPr b="1" lang="en-IN" sz="1600" strike="noStrike" u="none">
                <a:solidFill>
                  <a:srgbClr val="000000"/>
                </a:solidFill>
                <a:effectLst/>
                <a:uFillTx/>
                <a:latin typeface="Arial"/>
              </a:rPr>
              <a:t>Panel 3</a:t>
            </a:r>
            <a:endParaRPr b="0" lang="en-IN" sz="1600" strike="noStrike" u="none">
              <a:solidFill>
                <a:srgbClr val="000000"/>
              </a:solidFill>
              <a:effectLst/>
              <a:uFillTx/>
              <a:latin typeface="Times New Roman"/>
            </a:endParaRPr>
          </a:p>
        </p:txBody>
      </p:sp>
      <p:sp>
        <p:nvSpPr>
          <p:cNvPr id="274" name=""/>
          <p:cNvSpPr/>
          <p:nvPr/>
        </p:nvSpPr>
        <p:spPr>
          <a:xfrm>
            <a:off x="1186200" y="7024680"/>
            <a:ext cx="710640" cy="244080"/>
          </a:xfrm>
          <a:prstGeom prst="rect">
            <a:avLst/>
          </a:prstGeom>
          <a:noFill/>
          <a:ln w="0">
            <a:noFill/>
          </a:ln>
        </p:spPr>
        <p:style>
          <a:lnRef idx="0"/>
          <a:fillRef idx="0"/>
          <a:effectRef idx="0"/>
          <a:fontRef idx="minor"/>
        </p:style>
        <p:txBody>
          <a:bodyPr wrap="none" lIns="0" rIns="0" tIns="0" bIns="0" anchor="t">
            <a:spAutoFit/>
          </a:bodyPr>
          <a:p>
            <a:pPr algn="ctr">
              <a:lnSpc>
                <a:spcPct val="100000"/>
              </a:lnSpc>
              <a:tabLst>
                <a:tab algn="l" pos="0"/>
                <a:tab algn="l" pos="1019160"/>
                <a:tab algn="l" pos="2038320"/>
                <a:tab algn="l" pos="3057480"/>
                <a:tab algn="l" pos="4076640"/>
                <a:tab algn="l" pos="5095800"/>
                <a:tab algn="l" pos="6114960"/>
                <a:tab algn="l" pos="7134120"/>
                <a:tab algn="l" pos="8153280"/>
                <a:tab algn="l" pos="9172440"/>
                <a:tab algn="l" pos="10191600"/>
              </a:tabLst>
            </a:pPr>
            <a:r>
              <a:rPr b="1" lang="en-IN" sz="1600" strike="noStrike" u="none">
                <a:solidFill>
                  <a:srgbClr val="000000"/>
                </a:solidFill>
                <a:effectLst/>
                <a:uFillTx/>
                <a:latin typeface="Arial"/>
              </a:rPr>
              <a:t>Panel 4</a:t>
            </a:r>
            <a:endParaRPr b="0" lang="en-IN" sz="1600" strike="noStrike" u="none">
              <a:solidFill>
                <a:srgbClr val="000000"/>
              </a:solidFill>
              <a:effectLst/>
              <a:uFillTx/>
              <a:latin typeface="Times New Roman"/>
            </a:endParaRPr>
          </a:p>
        </p:txBody>
      </p:sp>
      <p:sp>
        <p:nvSpPr>
          <p:cNvPr id="275" name=""/>
          <p:cNvSpPr/>
          <p:nvPr/>
        </p:nvSpPr>
        <p:spPr>
          <a:xfrm flipV="1">
            <a:off x="1689120" y="6515280"/>
            <a:ext cx="533520" cy="482400"/>
          </a:xfrm>
          <a:prstGeom prst="line">
            <a:avLst/>
          </a:prstGeom>
          <a:ln w="12600">
            <a:solidFill>
              <a:srgbClr val="000000"/>
            </a:solidFill>
            <a:miter/>
            <a:tailEnd len="med" type="triangle" w="med"/>
          </a:ln>
        </p:spPr>
        <p:style>
          <a:lnRef idx="0"/>
          <a:fillRef idx="0"/>
          <a:effectRef idx="0"/>
          <a:fontRef idx="minor"/>
        </p:style>
        <p:txBody>
          <a:bodyPr lIns="90000" rIns="90000" tIns="46800" bIns="46800" anchor="t">
            <a:noAutofit/>
          </a:bodyPr>
          <a:p>
            <a:endParaRPr b="0" lang="en-IN" sz="2400" strike="noStrike" u="none">
              <a:solidFill>
                <a:srgbClr val="000000"/>
              </a:solidFill>
              <a:effectLst/>
              <a:uFillTx/>
              <a:latin typeface="Times New Roman"/>
            </a:endParaRPr>
          </a:p>
        </p:txBody>
      </p:sp>
      <p:sp>
        <p:nvSpPr>
          <p:cNvPr id="276" name=""/>
          <p:cNvSpPr/>
          <p:nvPr/>
        </p:nvSpPr>
        <p:spPr>
          <a:xfrm flipV="1">
            <a:off x="1994040" y="7124760"/>
            <a:ext cx="1193760" cy="25200"/>
          </a:xfrm>
          <a:prstGeom prst="line">
            <a:avLst/>
          </a:prstGeom>
          <a:ln w="12600">
            <a:solidFill>
              <a:srgbClr val="000000"/>
            </a:solidFill>
            <a:miter/>
            <a:tailEnd len="med" type="triangle" w="med"/>
          </a:ln>
        </p:spPr>
        <p:style>
          <a:lnRef idx="0"/>
          <a:fillRef idx="0"/>
          <a:effectRef idx="0"/>
          <a:fontRef idx="minor"/>
        </p:style>
        <p:txBody>
          <a:bodyPr lIns="90000" rIns="90000" tIns="-21600" bIns="-21600" anchor="t">
            <a:noAutofit/>
          </a:bodyPr>
          <a:p>
            <a:endParaRPr b="0" lang="en-IN" sz="2400" strike="noStrike" u="none">
              <a:solidFill>
                <a:srgbClr val="000000"/>
              </a:solidFill>
              <a:effectLst/>
              <a:uFillTx/>
              <a:latin typeface="Times New Roman"/>
            </a:endParaRPr>
          </a:p>
        </p:txBody>
      </p:sp>
      <p:sp>
        <p:nvSpPr>
          <p:cNvPr id="277" name=""/>
          <p:cNvSpPr/>
          <p:nvPr/>
        </p:nvSpPr>
        <p:spPr>
          <a:xfrm flipH="1" flipV="1">
            <a:off x="7899120" y="3187800"/>
            <a:ext cx="533160" cy="304560"/>
          </a:xfrm>
          <a:prstGeom prst="line">
            <a:avLst/>
          </a:prstGeom>
          <a:ln w="12600">
            <a:solidFill>
              <a:srgbClr val="000000"/>
            </a:solidFill>
            <a:miter/>
            <a:tailEnd len="med" type="triangle" w="med"/>
          </a:ln>
        </p:spPr>
        <p:style>
          <a:lnRef idx="0"/>
          <a:fillRef idx="0"/>
          <a:effectRef idx="0"/>
          <a:fontRef idx="minor"/>
        </p:style>
        <p:txBody>
          <a:bodyPr lIns="90000" rIns="90000" tIns="46800" bIns="46800" anchor="t">
            <a:noAutofit/>
          </a:bodyPr>
          <a:p>
            <a:endParaRPr b="0" lang="en-IN" sz="2400" strike="noStrike" u="none">
              <a:solidFill>
                <a:srgbClr val="000000"/>
              </a:solidFill>
              <a:effectLst/>
              <a:uFillTx/>
              <a:latin typeface="Times New Roman"/>
            </a:endParaRPr>
          </a:p>
        </p:txBody>
      </p:sp>
      <p:sp>
        <p:nvSpPr>
          <p:cNvPr id="278" name=""/>
          <p:cNvSpPr/>
          <p:nvPr/>
        </p:nvSpPr>
        <p:spPr>
          <a:xfrm flipH="1">
            <a:off x="8203680" y="3822840"/>
            <a:ext cx="343080" cy="635040"/>
          </a:xfrm>
          <a:prstGeom prst="line">
            <a:avLst/>
          </a:prstGeom>
          <a:ln w="12600">
            <a:solidFill>
              <a:srgbClr val="000000"/>
            </a:solidFill>
            <a:miter/>
          </a:ln>
        </p:spPr>
        <p:style>
          <a:lnRef idx="0"/>
          <a:fillRef idx="0"/>
          <a:effectRef idx="0"/>
          <a:fontRef idx="minor"/>
        </p:style>
        <p:txBody>
          <a:bodyPr lIns="90000" rIns="90000" tIns="46800" bIns="46800" anchor="t">
            <a:noAutofit/>
          </a:bodyPr>
          <a:p>
            <a:endParaRPr b="0" lang="en-IN" sz="2400" strike="noStrike" u="none">
              <a:solidFill>
                <a:srgbClr val="000000"/>
              </a:solidFill>
              <a:effectLst/>
              <a:uFillTx/>
              <a:latin typeface="Times New Roman"/>
            </a:endParaRPr>
          </a:p>
        </p:txBody>
      </p:sp>
      <p:sp>
        <p:nvSpPr>
          <p:cNvPr id="279" name=""/>
          <p:cNvSpPr/>
          <p:nvPr/>
        </p:nvSpPr>
        <p:spPr>
          <a:xfrm flipH="1" flipV="1">
            <a:off x="7073640" y="1486080"/>
            <a:ext cx="571320" cy="139680"/>
          </a:xfrm>
          <a:prstGeom prst="line">
            <a:avLst/>
          </a:prstGeom>
          <a:ln w="12600">
            <a:solidFill>
              <a:srgbClr val="000000"/>
            </a:solidFill>
            <a:miter/>
            <a:tailEnd len="med" type="triangle" w="med"/>
          </a:ln>
        </p:spPr>
        <p:style>
          <a:lnRef idx="0"/>
          <a:fillRef idx="0"/>
          <a:effectRef idx="0"/>
          <a:fontRef idx="minor"/>
        </p:style>
        <p:txBody>
          <a:bodyPr lIns="90000" rIns="90000" tIns="46800" bIns="46800" anchor="t">
            <a:noAutofit/>
          </a:bodyPr>
          <a:p>
            <a:endParaRPr b="0" lang="en-IN" sz="2400" strike="noStrike" u="none">
              <a:solidFill>
                <a:srgbClr val="000000"/>
              </a:solidFill>
              <a:effectLst/>
              <a:uFillTx/>
              <a:latin typeface="Times New Roman"/>
            </a:endParaRPr>
          </a:p>
        </p:txBody>
      </p:sp>
      <p:sp>
        <p:nvSpPr>
          <p:cNvPr id="280" name=""/>
          <p:cNvSpPr/>
          <p:nvPr/>
        </p:nvSpPr>
        <p:spPr>
          <a:xfrm flipH="1">
            <a:off x="7505280" y="1739880"/>
            <a:ext cx="381240" cy="254160"/>
          </a:xfrm>
          <a:prstGeom prst="line">
            <a:avLst/>
          </a:prstGeom>
          <a:ln w="12600">
            <a:solidFill>
              <a:srgbClr val="000000"/>
            </a:solidFill>
            <a:miter/>
            <a:tailEnd len="med" type="triangle" w="med"/>
          </a:ln>
        </p:spPr>
        <p:style>
          <a:lnRef idx="0"/>
          <a:fillRef idx="0"/>
          <a:effectRef idx="0"/>
          <a:fontRef idx="minor"/>
        </p:style>
        <p:txBody>
          <a:bodyPr lIns="90000" rIns="90000" tIns="46800" bIns="46800" anchor="t">
            <a:noAutofit/>
          </a:bodyPr>
          <a:p>
            <a:endParaRPr b="0" lang="en-IN" sz="2400" strike="noStrike" u="none">
              <a:solidFill>
                <a:srgbClr val="000000"/>
              </a:solidFill>
              <a:effectLst/>
              <a:uFillTx/>
              <a:latin typeface="Times New Roman"/>
            </a:endParaRPr>
          </a:p>
        </p:txBody>
      </p:sp>
    </p:spTree>
  </p:cSld>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81" name=""/>
          <p:cNvSpPr/>
          <p:nvPr/>
        </p:nvSpPr>
        <p:spPr>
          <a:xfrm>
            <a:off x="1171080" y="138240"/>
            <a:ext cx="7152840" cy="576720"/>
          </a:xfrm>
          <a:prstGeom prst="rect">
            <a:avLst/>
          </a:prstGeom>
          <a:noFill/>
          <a:ln w="0">
            <a:noFill/>
          </a:ln>
        </p:spPr>
        <p:style>
          <a:lnRef idx="0"/>
          <a:fillRef idx="0"/>
          <a:effectRef idx="0"/>
          <a:fontRef idx="minor"/>
        </p:style>
        <p:txBody>
          <a:bodyPr wrap="none" lIns="90360" rIns="90360" tIns="44280" bIns="4428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IN" sz="3200" strike="noStrike" u="none">
                <a:solidFill>
                  <a:srgbClr val="ff0000"/>
                </a:solidFill>
                <a:effectLst/>
                <a:uFillTx/>
                <a:latin typeface="Arial Narrow"/>
              </a:rPr>
              <a:t>Solicitations with impact during COV period</a:t>
            </a:r>
            <a:endParaRPr b="0" lang="en-IN" sz="3200" strike="noStrike" u="none">
              <a:solidFill>
                <a:srgbClr val="000000"/>
              </a:solidFill>
              <a:effectLst/>
              <a:uFillTx/>
              <a:latin typeface="Times New Roman"/>
            </a:endParaRPr>
          </a:p>
        </p:txBody>
      </p:sp>
      <p:sp>
        <p:nvSpPr>
          <p:cNvPr id="282" name=""/>
          <p:cNvSpPr/>
          <p:nvPr/>
        </p:nvSpPr>
        <p:spPr>
          <a:xfrm>
            <a:off x="382680" y="920880"/>
            <a:ext cx="9117000" cy="6683400"/>
          </a:xfrm>
          <a:prstGeom prst="rect">
            <a:avLst/>
          </a:prstGeom>
          <a:noFill/>
          <a:ln w="0">
            <a:noFill/>
          </a:ln>
        </p:spPr>
        <p:style>
          <a:lnRef idx="0"/>
          <a:fillRef idx="0"/>
          <a:effectRef idx="0"/>
          <a:fontRef idx="minor"/>
        </p:style>
        <p:txBody>
          <a:bodyPr lIns="90360" rIns="90360" tIns="44280" bIns="44280" anchor="t">
            <a:spAutoFit/>
          </a:bodyPr>
          <a:p>
            <a:pPr marL="263520" indent="-249120">
              <a:lnSpc>
                <a:spcPct val="100000"/>
              </a:lnSpc>
              <a:spcBef>
                <a:spcPts val="601"/>
              </a:spcBef>
              <a:buClr>
                <a:srgbClr val="0000ff"/>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0000ff"/>
                </a:solidFill>
                <a:effectLst/>
                <a:uFillTx/>
                <a:latin typeface="Arial Narrow"/>
              </a:rPr>
              <a:t>Notice 04-20, </a:t>
            </a:r>
            <a:r>
              <a:rPr b="1" i="1" lang="en-IN" sz="2400" strike="noStrike" u="none">
                <a:solidFill>
                  <a:srgbClr val="0000ff"/>
                </a:solidFill>
                <a:effectLst/>
                <a:uFillTx/>
                <a:latin typeface="Arial Narrow"/>
              </a:rPr>
              <a:t>Basic Research for the Hydrogen Fuel Initiative</a:t>
            </a:r>
            <a:endParaRPr b="0" lang="en-IN" sz="2400" strike="noStrike" u="none">
              <a:solidFill>
                <a:srgbClr val="000000"/>
              </a:solidFill>
              <a:effectLst/>
              <a:uFillTx/>
              <a:latin typeface="Times New Roman"/>
            </a:endParaRPr>
          </a:p>
          <a:p>
            <a:pPr lvl="1" marL="668160" indent="-207720">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000000"/>
                </a:solidFill>
                <a:effectLst/>
                <a:uFillTx/>
                <a:latin typeface="Arial Narrow"/>
              </a:rPr>
              <a:t>Published in FY2004; awards made in FY2005</a:t>
            </a:r>
            <a:endParaRPr b="0" lang="en-IN" sz="2000" strike="noStrike" u="none">
              <a:solidFill>
                <a:srgbClr val="000000"/>
              </a:solidFill>
              <a:effectLst/>
              <a:uFillTx/>
              <a:latin typeface="Times New Roman"/>
            </a:endParaRPr>
          </a:p>
          <a:p>
            <a:pPr lvl="1" marL="668160" indent="-207720">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000000"/>
                </a:solidFill>
                <a:effectLst/>
                <a:uFillTx/>
                <a:latin typeface="Arial Narrow"/>
              </a:rPr>
              <a:t>Large, BES wide initiative that provided ~$21M in new funds across BES; supplemented by ~$3M in FY2006</a:t>
            </a:r>
            <a:endParaRPr b="0" lang="en-IN" sz="2000" strike="noStrike" u="none">
              <a:solidFill>
                <a:srgbClr val="000000"/>
              </a:solidFill>
              <a:effectLst/>
              <a:uFillTx/>
              <a:latin typeface="Times New Roman"/>
            </a:endParaRPr>
          </a:p>
          <a:p>
            <a:pPr lvl="1" marL="668160" indent="-207720">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000000"/>
                </a:solidFill>
                <a:effectLst/>
                <a:uFillTx/>
                <a:latin typeface="Arial Narrow"/>
              </a:rPr>
              <a:t>~38 awards assigned to several programs in CSGB; under renewal review in FY2008 as an integrated program across BES</a:t>
            </a:r>
            <a:endParaRPr b="0" lang="en-IN" sz="2000" strike="noStrike" u="none">
              <a:solidFill>
                <a:srgbClr val="000000"/>
              </a:solidFill>
              <a:effectLst/>
              <a:uFillTx/>
              <a:latin typeface="Times New Roman"/>
            </a:endParaRPr>
          </a:p>
          <a:p>
            <a:pPr marL="263520" indent="-249120">
              <a:lnSpc>
                <a:spcPct val="100000"/>
              </a:lnSpc>
              <a:spcBef>
                <a:spcPts val="601"/>
              </a:spcBef>
              <a:buClr>
                <a:srgbClr val="0000ff"/>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0000ff"/>
                </a:solidFill>
                <a:effectLst/>
                <a:uFillTx/>
                <a:latin typeface="Arial Narrow"/>
              </a:rPr>
              <a:t>Notice 05-30, </a:t>
            </a:r>
            <a:r>
              <a:rPr b="1" i="1" lang="en-IN" sz="2400" strike="noStrike" u="none">
                <a:solidFill>
                  <a:srgbClr val="0000ff"/>
                </a:solidFill>
                <a:effectLst/>
                <a:uFillTx/>
                <a:latin typeface="Arial Narrow"/>
              </a:rPr>
              <a:t>Basic Research for Chemical Imaging</a:t>
            </a:r>
            <a:endParaRPr b="0" lang="en-IN" sz="2400" strike="noStrike" u="none">
              <a:solidFill>
                <a:srgbClr val="000000"/>
              </a:solidFill>
              <a:effectLst/>
              <a:uFillTx/>
              <a:latin typeface="Times New Roman"/>
            </a:endParaRPr>
          </a:p>
          <a:p>
            <a:pPr lvl="1" marL="668160" indent="-207720">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000000"/>
                </a:solidFill>
                <a:effectLst/>
                <a:uFillTx/>
                <a:latin typeface="Arial Narrow"/>
              </a:rPr>
              <a:t> Published in FY2005; awards made in FY2006</a:t>
            </a:r>
            <a:endParaRPr b="0" lang="en-IN" sz="2000" strike="noStrike" u="none">
              <a:solidFill>
                <a:srgbClr val="000000"/>
              </a:solidFill>
              <a:effectLst/>
              <a:uFillTx/>
              <a:latin typeface="Times New Roman"/>
            </a:endParaRPr>
          </a:p>
          <a:p>
            <a:pPr lvl="1" marL="668160" indent="-207720">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000000"/>
                </a:solidFill>
                <a:effectLst/>
                <a:uFillTx/>
                <a:latin typeface="Arial Narrow"/>
              </a:rPr>
              <a:t>Modest, CSGB only initiative that reprogrammed ~$3M within CSGB</a:t>
            </a:r>
            <a:endParaRPr b="0" lang="en-IN" sz="2000" strike="noStrike" u="none">
              <a:solidFill>
                <a:srgbClr val="000000"/>
              </a:solidFill>
              <a:effectLst/>
              <a:uFillTx/>
              <a:latin typeface="Times New Roman"/>
            </a:endParaRPr>
          </a:p>
          <a:p>
            <a:pPr lvl="1" marL="668160" indent="-207720">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000000"/>
                </a:solidFill>
                <a:effectLst/>
                <a:uFillTx/>
                <a:latin typeface="Arial Narrow"/>
              </a:rPr>
              <a:t>~17 awards in nearly every program in the division</a:t>
            </a:r>
            <a:endParaRPr b="0" lang="en-IN" sz="2000" strike="noStrike" u="none">
              <a:solidFill>
                <a:srgbClr val="000000"/>
              </a:solidFill>
              <a:effectLst/>
              <a:uFillTx/>
              <a:latin typeface="Times New Roman"/>
            </a:endParaRPr>
          </a:p>
          <a:p>
            <a:pPr marL="263520" indent="-249120">
              <a:lnSpc>
                <a:spcPct val="100000"/>
              </a:lnSpc>
              <a:spcBef>
                <a:spcPts val="601"/>
              </a:spcBef>
              <a:buClr>
                <a:srgbClr val="0000ff"/>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0000ff"/>
                </a:solidFill>
                <a:effectLst/>
                <a:uFillTx/>
                <a:latin typeface="Arial Narrow"/>
              </a:rPr>
              <a:t>Notice 06-15, </a:t>
            </a:r>
            <a:r>
              <a:rPr b="1" i="1" lang="en-IN" sz="2400" strike="noStrike" u="none">
                <a:solidFill>
                  <a:srgbClr val="0000ff"/>
                </a:solidFill>
                <a:effectLst/>
                <a:uFillTx/>
                <a:latin typeface="Arial Narrow"/>
              </a:rPr>
              <a:t>Basic Research for Solar Energy Utilization</a:t>
            </a:r>
            <a:endParaRPr b="0" lang="en-IN" sz="2400" strike="noStrike" u="none">
              <a:solidFill>
                <a:srgbClr val="000000"/>
              </a:solidFill>
              <a:effectLst/>
              <a:uFillTx/>
              <a:latin typeface="Times New Roman"/>
            </a:endParaRPr>
          </a:p>
          <a:p>
            <a:pPr lvl="1" marL="668160" indent="-207720">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000000"/>
                </a:solidFill>
                <a:effectLst/>
                <a:uFillTx/>
                <a:latin typeface="Arial Narrow"/>
              </a:rPr>
              <a:t>Published in FY2006; 27 awards made across BES with modest funding (~$8M) in FY2007</a:t>
            </a:r>
            <a:endParaRPr b="0" lang="en-IN" sz="2000" strike="noStrike" u="none">
              <a:solidFill>
                <a:srgbClr val="000000"/>
              </a:solidFill>
              <a:effectLst/>
              <a:uFillTx/>
              <a:latin typeface="Times New Roman"/>
            </a:endParaRPr>
          </a:p>
          <a:p>
            <a:pPr lvl="1" marL="668160" indent="-207720">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000000"/>
                </a:solidFill>
                <a:effectLst/>
                <a:uFillTx/>
                <a:latin typeface="Arial Narrow"/>
              </a:rPr>
              <a:t>14 awards in CSGB in Solar Photochemistry and Biosciences programs</a:t>
            </a:r>
            <a:endParaRPr b="0" lang="en-IN" sz="2000" strike="noStrike" u="none">
              <a:solidFill>
                <a:srgbClr val="000000"/>
              </a:solidFill>
              <a:effectLst/>
              <a:uFillTx/>
              <a:latin typeface="Times New Roman"/>
            </a:endParaRPr>
          </a:p>
          <a:p>
            <a:pPr marL="263520" indent="-249120">
              <a:lnSpc>
                <a:spcPct val="100000"/>
              </a:lnSpc>
              <a:spcBef>
                <a:spcPts val="601"/>
              </a:spcBef>
              <a:buClr>
                <a:srgbClr val="0000ff"/>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0000ff"/>
                </a:solidFill>
                <a:effectLst/>
                <a:uFillTx/>
                <a:latin typeface="Arial Narrow"/>
              </a:rPr>
              <a:t>Notice 06-17, </a:t>
            </a:r>
            <a:r>
              <a:rPr b="1" i="1" lang="en-IN" sz="2400" strike="noStrike" u="none">
                <a:solidFill>
                  <a:srgbClr val="0000ff"/>
                </a:solidFill>
                <a:effectLst/>
                <a:uFillTx/>
                <a:latin typeface="Arial Narrow"/>
              </a:rPr>
              <a:t>Basic Research for the Hydrogen Fuel Initiative</a:t>
            </a:r>
            <a:endParaRPr b="0" lang="en-IN" sz="2400" strike="noStrike" u="none">
              <a:solidFill>
                <a:srgbClr val="000000"/>
              </a:solidFill>
              <a:effectLst/>
              <a:uFillTx/>
              <a:latin typeface="Times New Roman"/>
            </a:endParaRPr>
          </a:p>
          <a:p>
            <a:pPr lvl="1" marL="668160" indent="-207720">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000000"/>
                </a:solidFill>
                <a:effectLst/>
                <a:uFillTx/>
                <a:latin typeface="Arial Narrow"/>
              </a:rPr>
              <a:t>Published in FY2006; 13 awards made across BES with modest funding (~$4M) in FY2007</a:t>
            </a:r>
            <a:endParaRPr b="0" lang="en-IN" sz="2000" strike="noStrike" u="none">
              <a:solidFill>
                <a:srgbClr val="000000"/>
              </a:solidFill>
              <a:effectLst/>
              <a:uFillTx/>
              <a:latin typeface="Times New Roman"/>
            </a:endParaRPr>
          </a:p>
          <a:p>
            <a:pPr lvl="1" marL="668160" indent="-207720">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000000"/>
                </a:solidFill>
                <a:effectLst/>
                <a:uFillTx/>
                <a:latin typeface="Arial Narrow"/>
              </a:rPr>
              <a:t>6 awards in CSGB in Catalysis Science program</a:t>
            </a:r>
            <a:endParaRPr b="0" lang="en-IN" sz="2000" strike="noStrike" u="none">
              <a:solidFill>
                <a:srgbClr val="000000"/>
              </a:solidFill>
              <a:effectLst/>
              <a:uFillTx/>
              <a:latin typeface="Times New Roman"/>
            </a:endParaRPr>
          </a:p>
        </p:txBody>
      </p:sp>
    </p:spTree>
  </p:cSld>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83" name=""/>
          <p:cNvSpPr/>
          <p:nvPr/>
        </p:nvSpPr>
        <p:spPr>
          <a:xfrm>
            <a:off x="2903400" y="138240"/>
            <a:ext cx="3723120" cy="576720"/>
          </a:xfrm>
          <a:prstGeom prst="rect">
            <a:avLst/>
          </a:prstGeom>
          <a:noFill/>
          <a:ln w="0">
            <a:noFill/>
          </a:ln>
        </p:spPr>
        <p:style>
          <a:lnRef idx="0"/>
          <a:fillRef idx="0"/>
          <a:effectRef idx="0"/>
          <a:fontRef idx="minor"/>
        </p:style>
        <p:txBody>
          <a:bodyPr wrap="none" lIns="90360" rIns="90360" tIns="44280" bIns="4428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IN" sz="3200" strike="noStrike" u="none">
                <a:solidFill>
                  <a:srgbClr val="ff0000"/>
                </a:solidFill>
                <a:effectLst/>
                <a:uFillTx/>
                <a:latin typeface="Arial Narrow"/>
              </a:rPr>
              <a:t>COV preparatory work</a:t>
            </a:r>
            <a:endParaRPr b="0" lang="en-IN" sz="3200" strike="noStrike" u="none">
              <a:solidFill>
                <a:srgbClr val="000000"/>
              </a:solidFill>
              <a:effectLst/>
              <a:uFillTx/>
              <a:latin typeface="Times New Roman"/>
            </a:endParaRPr>
          </a:p>
        </p:txBody>
      </p:sp>
      <p:sp>
        <p:nvSpPr>
          <p:cNvPr id="284" name=""/>
          <p:cNvSpPr/>
          <p:nvPr/>
        </p:nvSpPr>
        <p:spPr>
          <a:xfrm>
            <a:off x="395280" y="1187280"/>
            <a:ext cx="9117000" cy="4910400"/>
          </a:xfrm>
          <a:prstGeom prst="rect">
            <a:avLst/>
          </a:prstGeom>
          <a:noFill/>
          <a:ln w="0">
            <a:noFill/>
          </a:ln>
        </p:spPr>
        <p:style>
          <a:lnRef idx="0"/>
          <a:fillRef idx="0"/>
          <a:effectRef idx="0"/>
          <a:fontRef idx="minor"/>
        </p:style>
        <p:txBody>
          <a:bodyPr lIns="90360" rIns="90360" tIns="44280" bIns="44280" anchor="t">
            <a:spAutoFit/>
          </a:bodyPr>
          <a:p>
            <a:pPr marL="263520" indent="-249120">
              <a:lnSpc>
                <a:spcPct val="100000"/>
              </a:lnSpc>
              <a:spcBef>
                <a:spcPts val="601"/>
              </a:spcBef>
              <a:buClr>
                <a:srgbClr val="0000ff"/>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0000ff"/>
                </a:solidFill>
                <a:effectLst/>
                <a:uFillTx/>
                <a:latin typeface="Arial Narrow"/>
              </a:rPr>
              <a:t>November 7 meeting between Geri Richmond and Division</a:t>
            </a:r>
            <a:endParaRPr b="0" lang="en-IN" sz="2400" strike="noStrike" u="none">
              <a:solidFill>
                <a:srgbClr val="000000"/>
              </a:solidFill>
              <a:effectLst/>
              <a:uFillTx/>
              <a:latin typeface="Times New Roman"/>
            </a:endParaRPr>
          </a:p>
          <a:p>
            <a:pPr lvl="1" marL="668160" indent="-207720">
              <a:lnSpc>
                <a:spcPct val="100000"/>
              </a:lnSpc>
              <a:spcBef>
                <a:spcPts val="499"/>
              </a:spcBef>
              <a:buClr>
                <a:srgbClr val="0000ff"/>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0000ff"/>
                </a:solidFill>
                <a:effectLst/>
                <a:uFillTx/>
                <a:latin typeface="Arial Narrow"/>
              </a:rPr>
              <a:t>Opportunity for chair to meet with the entire division to understand our structure  and programs</a:t>
            </a:r>
            <a:endParaRPr b="0" lang="en-IN" sz="2000" strike="noStrike" u="none">
              <a:solidFill>
                <a:srgbClr val="000000"/>
              </a:solidFill>
              <a:effectLst/>
              <a:uFillTx/>
              <a:latin typeface="Times New Roman"/>
            </a:endParaRPr>
          </a:p>
          <a:p>
            <a:pPr lvl="1" marL="668160" indent="-207720">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000000"/>
                </a:solidFill>
                <a:effectLst/>
                <a:uFillTx/>
                <a:latin typeface="Arial Narrow"/>
              </a:rPr>
              <a:t>Geri used this successfully as chair of the 2007 COV for NSF Chemistry Division</a:t>
            </a:r>
            <a:endParaRPr b="0" lang="en-IN" sz="1800" strike="noStrike" u="none">
              <a:solidFill>
                <a:srgbClr val="000000"/>
              </a:solidFill>
              <a:effectLst/>
              <a:uFillTx/>
              <a:latin typeface="Times New Roman"/>
            </a:endParaRPr>
          </a:p>
          <a:p>
            <a:pPr lvl="1" marL="668160" indent="-207720">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000000"/>
                </a:solidFill>
                <a:effectLst/>
                <a:uFillTx/>
                <a:latin typeface="Arial Narrow"/>
              </a:rPr>
              <a:t>She felt it important to understand the differences between NSF and BES</a:t>
            </a:r>
            <a:endParaRPr b="0" lang="en-IN" sz="1800" strike="noStrike" u="none">
              <a:solidFill>
                <a:srgbClr val="000000"/>
              </a:solidFill>
              <a:effectLst/>
              <a:uFillTx/>
              <a:latin typeface="Times New Roman"/>
            </a:endParaRPr>
          </a:p>
          <a:p>
            <a:pPr lvl="1" marL="668160" indent="-207720">
              <a:lnSpc>
                <a:spcPct val="100000"/>
              </a:lnSpc>
              <a:spcBef>
                <a:spcPts val="1250"/>
              </a:spcBef>
              <a:buClr>
                <a:srgbClr val="0000ff"/>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0000ff"/>
                </a:solidFill>
                <a:effectLst/>
                <a:uFillTx/>
                <a:latin typeface="Arial Narrow"/>
              </a:rPr>
              <a:t>Full (almost) day visit</a:t>
            </a:r>
            <a:endParaRPr b="0" lang="en-IN" sz="2000" strike="noStrike" u="none">
              <a:solidFill>
                <a:srgbClr val="000000"/>
              </a:solidFill>
              <a:effectLst/>
              <a:uFillTx/>
              <a:latin typeface="Times New Roman"/>
            </a:endParaRPr>
          </a:p>
          <a:p>
            <a:pPr lvl="1" marL="668160" indent="-207720">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000000"/>
                </a:solidFill>
                <a:effectLst/>
                <a:uFillTx/>
                <a:latin typeface="Arial Narrow"/>
              </a:rPr>
              <a:t>Divisional overview presentation</a:t>
            </a:r>
            <a:endParaRPr b="0" lang="en-IN" sz="1800" strike="noStrike" u="none">
              <a:solidFill>
                <a:srgbClr val="000000"/>
              </a:solidFill>
              <a:effectLst/>
              <a:uFillTx/>
              <a:latin typeface="Times New Roman"/>
            </a:endParaRPr>
          </a:p>
          <a:p>
            <a:pPr lvl="1" marL="668160" indent="-207720">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000000"/>
                </a:solidFill>
                <a:effectLst/>
                <a:uFillTx/>
                <a:latin typeface="Arial Narrow"/>
              </a:rPr>
              <a:t>Presentation on COV information</a:t>
            </a:r>
            <a:endParaRPr b="0" lang="en-IN" sz="1800" strike="noStrike" u="none">
              <a:solidFill>
                <a:srgbClr val="000000"/>
              </a:solidFill>
              <a:effectLst/>
              <a:uFillTx/>
              <a:latin typeface="Times New Roman"/>
            </a:endParaRPr>
          </a:p>
          <a:p>
            <a:pPr lvl="1" marL="668160" indent="-207720">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000000"/>
                </a:solidFill>
                <a:effectLst/>
                <a:uFillTx/>
                <a:latin typeface="Arial Narrow"/>
              </a:rPr>
              <a:t>Informal discussions between Geri and program managers/team leads in each program</a:t>
            </a:r>
            <a:endParaRPr b="0" lang="en-IN" sz="1800" strike="noStrike" u="none">
              <a:solidFill>
                <a:srgbClr val="000000"/>
              </a:solidFill>
              <a:effectLst/>
              <a:uFillTx/>
              <a:latin typeface="Times New Roman"/>
            </a:endParaRPr>
          </a:p>
          <a:p>
            <a:pPr marL="263520" indent="-249120">
              <a:lnSpc>
                <a:spcPct val="100000"/>
              </a:lnSpc>
              <a:spcBef>
                <a:spcPts val="1500"/>
              </a:spcBef>
              <a:buClr>
                <a:srgbClr val="0000ff"/>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0000ff"/>
                </a:solidFill>
                <a:effectLst/>
                <a:uFillTx/>
                <a:latin typeface="Arial Narrow"/>
              </a:rPr>
              <a:t>Next steps for COV</a:t>
            </a:r>
            <a:endParaRPr b="0" lang="en-IN" sz="2400" strike="noStrike" u="none">
              <a:solidFill>
                <a:srgbClr val="000000"/>
              </a:solidFill>
              <a:effectLst/>
              <a:uFillTx/>
              <a:latin typeface="Times New Roman"/>
            </a:endParaRPr>
          </a:p>
          <a:p>
            <a:pPr lvl="1" marL="668160" indent="-207720">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000000"/>
                </a:solidFill>
                <a:effectLst/>
                <a:uFillTx/>
                <a:latin typeface="Arial Narrow"/>
              </a:rPr>
              <a:t>Completion of the membership drive – finished in December, 2007</a:t>
            </a:r>
            <a:endParaRPr b="0" lang="en-IN" sz="2000" strike="noStrike" u="none">
              <a:solidFill>
                <a:srgbClr val="000000"/>
              </a:solidFill>
              <a:effectLst/>
              <a:uFillTx/>
              <a:latin typeface="Times New Roman"/>
            </a:endParaRPr>
          </a:p>
          <a:p>
            <a:pPr lvl="1" marL="668160" indent="-207720">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000000"/>
                </a:solidFill>
                <a:effectLst/>
                <a:uFillTx/>
                <a:latin typeface="Arial Narrow"/>
              </a:rPr>
              <a:t>Plans for COV website – now operational and will be updated with new information</a:t>
            </a:r>
            <a:endParaRPr b="0" lang="en-IN" sz="2000" strike="noStrike" u="none">
              <a:solidFill>
                <a:srgbClr val="000000"/>
              </a:solidFill>
              <a:effectLst/>
              <a:uFillTx/>
              <a:latin typeface="Times New Roman"/>
            </a:endParaRPr>
          </a:p>
          <a:p>
            <a:pPr lvl="1" marL="668160" indent="-207720">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000000"/>
                </a:solidFill>
                <a:effectLst/>
                <a:uFillTx/>
                <a:latin typeface="Arial Narrow"/>
              </a:rPr>
              <a:t>Additional teleconferences with chair and with chair/panel leads before COV</a:t>
            </a:r>
            <a:endParaRPr b="0" lang="en-IN" sz="2000" strike="noStrike" u="none">
              <a:solidFill>
                <a:srgbClr val="000000"/>
              </a:solidFill>
              <a:effectLst/>
              <a:uFillTx/>
              <a:latin typeface="Times New Roman"/>
            </a:endParaRPr>
          </a:p>
        </p:txBody>
      </p:sp>
    </p:spTree>
  </p:cSld>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85" name=""/>
          <p:cNvSpPr/>
          <p:nvPr/>
        </p:nvSpPr>
        <p:spPr>
          <a:xfrm>
            <a:off x="2341440" y="138240"/>
            <a:ext cx="4798080" cy="576720"/>
          </a:xfrm>
          <a:prstGeom prst="rect">
            <a:avLst/>
          </a:prstGeom>
          <a:noFill/>
          <a:ln w="0">
            <a:noFill/>
          </a:ln>
        </p:spPr>
        <p:style>
          <a:lnRef idx="0"/>
          <a:fillRef idx="0"/>
          <a:effectRef idx="0"/>
          <a:fontRef idx="minor"/>
        </p:style>
        <p:txBody>
          <a:bodyPr wrap="none" lIns="90360" rIns="90360" tIns="44280" bIns="4428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IN" sz="3200" strike="noStrike" u="none">
                <a:solidFill>
                  <a:srgbClr val="ff0000"/>
                </a:solidFill>
                <a:effectLst/>
                <a:uFillTx/>
                <a:latin typeface="Arial Narrow"/>
              </a:rPr>
              <a:t>Information for the 2008 COV</a:t>
            </a:r>
            <a:endParaRPr b="0" lang="en-IN" sz="3200" strike="noStrike" u="none">
              <a:solidFill>
                <a:srgbClr val="000000"/>
              </a:solidFill>
              <a:effectLst/>
              <a:uFillTx/>
              <a:latin typeface="Times New Roman"/>
            </a:endParaRPr>
          </a:p>
        </p:txBody>
      </p:sp>
      <p:sp>
        <p:nvSpPr>
          <p:cNvPr id="286" name=""/>
          <p:cNvSpPr/>
          <p:nvPr/>
        </p:nvSpPr>
        <p:spPr>
          <a:xfrm>
            <a:off x="192240" y="933480"/>
            <a:ext cx="9612000" cy="6662520"/>
          </a:xfrm>
          <a:prstGeom prst="rect">
            <a:avLst/>
          </a:prstGeom>
          <a:noFill/>
          <a:ln w="0">
            <a:noFill/>
          </a:ln>
        </p:spPr>
        <p:style>
          <a:lnRef idx="0"/>
          <a:fillRef idx="0"/>
          <a:effectRef idx="0"/>
          <a:fontRef idx="minor"/>
        </p:style>
        <p:txBody>
          <a:bodyPr lIns="90360" rIns="90360" tIns="44280" bIns="44280" anchor="t">
            <a:spAutoFit/>
          </a:bodyPr>
          <a:p>
            <a:pPr marL="263520" indent="-249120">
              <a:lnSpc>
                <a:spcPct val="100000"/>
              </a:lnSpc>
              <a:spcBef>
                <a:spcPts val="601"/>
              </a:spcBef>
              <a:buClr>
                <a:srgbClr val="0000ff"/>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US" sz="2400" strike="noStrike" u="none">
                <a:solidFill>
                  <a:srgbClr val="0000ff"/>
                </a:solidFill>
                <a:effectLst/>
                <a:uFillTx/>
                <a:latin typeface="Arial Narrow"/>
              </a:rPr>
              <a:t>Prior to COV – via password-protected website (ORISE)</a:t>
            </a:r>
            <a:endParaRPr b="0" lang="en-IN" sz="2400" strike="noStrike" u="none">
              <a:solidFill>
                <a:srgbClr val="000000"/>
              </a:solidFill>
              <a:effectLst/>
              <a:uFillTx/>
              <a:latin typeface="Times New Roman"/>
            </a:endParaRPr>
          </a:p>
          <a:p>
            <a:pPr lvl="1" marL="668160" indent="-207720">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000" strike="noStrike" u="none">
                <a:solidFill>
                  <a:srgbClr val="000000"/>
                </a:solidFill>
                <a:effectLst/>
                <a:uFillTx/>
                <a:latin typeface="Arial Narrow"/>
              </a:rPr>
              <a:t>COV roster (soon to be updated for second read assignments)</a:t>
            </a:r>
            <a:endParaRPr b="0" lang="en-IN" sz="2000" strike="noStrike" u="none">
              <a:solidFill>
                <a:srgbClr val="000000"/>
              </a:solidFill>
              <a:effectLst/>
              <a:uFillTx/>
              <a:latin typeface="Times New Roman"/>
            </a:endParaRPr>
          </a:p>
          <a:p>
            <a:pPr lvl="1" marL="668160" indent="-207720">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000" strike="noStrike" u="none">
                <a:solidFill>
                  <a:srgbClr val="000000"/>
                </a:solidFill>
                <a:effectLst/>
                <a:uFillTx/>
                <a:latin typeface="Arial Narrow"/>
              </a:rPr>
              <a:t>Charge letter</a:t>
            </a:r>
            <a:endParaRPr b="0" lang="en-IN" sz="2000" strike="noStrike" u="none">
              <a:solidFill>
                <a:srgbClr val="000000"/>
              </a:solidFill>
              <a:effectLst/>
              <a:uFillTx/>
              <a:latin typeface="Times New Roman"/>
            </a:endParaRPr>
          </a:p>
          <a:p>
            <a:pPr lvl="1" marL="668160" indent="-207720">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000" strike="noStrike" u="none">
                <a:solidFill>
                  <a:srgbClr val="000000"/>
                </a:solidFill>
                <a:effectLst/>
                <a:uFillTx/>
                <a:latin typeface="Arial Narrow"/>
              </a:rPr>
              <a:t>Reports from 2002 and 2005 COVs (links to BES website)</a:t>
            </a:r>
            <a:endParaRPr b="0" lang="en-IN" sz="2000" strike="noStrike" u="none">
              <a:solidFill>
                <a:srgbClr val="000000"/>
              </a:solidFill>
              <a:effectLst/>
              <a:uFillTx/>
              <a:latin typeface="Times New Roman"/>
            </a:endParaRPr>
          </a:p>
          <a:p>
            <a:pPr lvl="1" marL="668160" indent="-207720">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000" strike="noStrike" u="none">
                <a:solidFill>
                  <a:srgbClr val="000000"/>
                </a:solidFill>
                <a:effectLst/>
                <a:uFillTx/>
                <a:latin typeface="Arial Narrow"/>
              </a:rPr>
              <a:t>Review procedures (links to BES website)</a:t>
            </a:r>
            <a:endParaRPr b="0" lang="en-IN" sz="2000" strike="noStrike" u="none">
              <a:solidFill>
                <a:srgbClr val="000000"/>
              </a:solidFill>
              <a:effectLst/>
              <a:uFillTx/>
              <a:latin typeface="Times New Roman"/>
            </a:endParaRPr>
          </a:p>
          <a:p>
            <a:pPr lvl="1" marL="668160" indent="-207720">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000" strike="noStrike" u="none">
                <a:solidFill>
                  <a:srgbClr val="000000"/>
                </a:solidFill>
                <a:effectLst/>
                <a:uFillTx/>
                <a:latin typeface="Arial Narrow"/>
              </a:rPr>
              <a:t>Core research activity descriptions (links to BES website, with updated versions for COV)</a:t>
            </a:r>
            <a:endParaRPr b="0" lang="en-IN" sz="2000" strike="noStrike" u="none">
              <a:solidFill>
                <a:srgbClr val="000000"/>
              </a:solidFill>
              <a:effectLst/>
              <a:uFillTx/>
              <a:latin typeface="Times New Roman"/>
            </a:endParaRPr>
          </a:p>
          <a:p>
            <a:pPr lvl="1" marL="668160" indent="-207720">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000" strike="noStrike" u="none">
                <a:solidFill>
                  <a:srgbClr val="000000"/>
                </a:solidFill>
                <a:effectLst/>
                <a:uFillTx/>
                <a:latin typeface="Arial Narrow"/>
              </a:rPr>
              <a:t>Published solicitations during COV period (links to SC Grants website)</a:t>
            </a:r>
            <a:endParaRPr b="0" lang="en-IN" sz="2000" strike="noStrike" u="none">
              <a:solidFill>
                <a:srgbClr val="000000"/>
              </a:solidFill>
              <a:effectLst/>
              <a:uFillTx/>
              <a:latin typeface="Times New Roman"/>
            </a:endParaRPr>
          </a:p>
          <a:p>
            <a:pPr lvl="1" marL="668160" indent="-207720">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000" strike="noStrike" u="none">
                <a:solidFill>
                  <a:srgbClr val="000000"/>
                </a:solidFill>
                <a:effectLst/>
                <a:uFillTx/>
                <a:latin typeface="Arial Narrow"/>
              </a:rPr>
              <a:t>Logistical details (agenda, travel, lodging, etc.)</a:t>
            </a:r>
            <a:endParaRPr b="0" lang="en-IN" sz="2000" strike="noStrike" u="none">
              <a:solidFill>
                <a:srgbClr val="000000"/>
              </a:solidFill>
              <a:effectLst/>
              <a:uFillTx/>
              <a:latin typeface="Times New Roman"/>
            </a:endParaRPr>
          </a:p>
          <a:p>
            <a:pPr marL="263520" indent="-249120">
              <a:lnSpc>
                <a:spcPct val="100000"/>
              </a:lnSpc>
              <a:spcBef>
                <a:spcPts val="601"/>
              </a:spcBef>
              <a:buClr>
                <a:srgbClr val="0000ff"/>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US" sz="2400" strike="noStrike" u="none">
                <a:solidFill>
                  <a:srgbClr val="0000ff"/>
                </a:solidFill>
                <a:effectLst/>
                <a:uFillTx/>
                <a:latin typeface="Arial Narrow"/>
              </a:rPr>
              <a:t>During COV</a:t>
            </a:r>
            <a:endParaRPr b="0" lang="en-IN" sz="2400" strike="noStrike" u="none">
              <a:solidFill>
                <a:srgbClr val="000000"/>
              </a:solidFill>
              <a:effectLst/>
              <a:uFillTx/>
              <a:latin typeface="Times New Roman"/>
            </a:endParaRPr>
          </a:p>
          <a:p>
            <a:pPr lvl="1" marL="668160" indent="-207720">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000" strike="noStrike" u="none">
                <a:solidFill>
                  <a:srgbClr val="000000"/>
                </a:solidFill>
                <a:effectLst/>
                <a:uFillTx/>
                <a:latin typeface="Arial Narrow"/>
              </a:rPr>
              <a:t>BES and Division overview presentation</a:t>
            </a:r>
            <a:endParaRPr b="0" lang="en-IN" sz="2000" strike="noStrike" u="none">
              <a:solidFill>
                <a:srgbClr val="000000"/>
              </a:solidFill>
              <a:effectLst/>
              <a:uFillTx/>
              <a:latin typeface="Times New Roman"/>
            </a:endParaRPr>
          </a:p>
          <a:p>
            <a:pPr lvl="1" marL="668160" indent="-207720">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000" strike="noStrike" u="none">
                <a:solidFill>
                  <a:srgbClr val="000000"/>
                </a:solidFill>
                <a:effectLst/>
                <a:uFillTx/>
                <a:latin typeface="Arial Narrow"/>
              </a:rPr>
              <a:t>Topical overviews by team leads – topics TBD, but probably solicitations, lab reviews, etc.</a:t>
            </a:r>
            <a:endParaRPr b="0" lang="en-IN" sz="2000" strike="noStrike" u="none">
              <a:solidFill>
                <a:srgbClr val="000000"/>
              </a:solidFill>
              <a:effectLst/>
              <a:uFillTx/>
              <a:latin typeface="Times New Roman"/>
            </a:endParaRPr>
          </a:p>
          <a:p>
            <a:pPr lvl="1" marL="668160" indent="-207720">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000" strike="noStrike" u="none">
                <a:solidFill>
                  <a:srgbClr val="000000"/>
                </a:solidFill>
                <a:effectLst/>
                <a:uFillTx/>
                <a:latin typeface="Arial Narrow"/>
              </a:rPr>
              <a:t>Program overview presentations</a:t>
            </a:r>
            <a:endParaRPr b="0" lang="en-IN" sz="2000" strike="noStrike" u="none">
              <a:solidFill>
                <a:srgbClr val="000000"/>
              </a:solidFill>
              <a:effectLst/>
              <a:uFillTx/>
              <a:latin typeface="Times New Roman"/>
            </a:endParaRPr>
          </a:p>
          <a:p>
            <a:pPr lvl="1" marL="668160" indent="-207720">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000" strike="noStrike" u="none">
                <a:solidFill>
                  <a:srgbClr val="000000"/>
                </a:solidFill>
                <a:effectLst/>
                <a:uFillTx/>
                <a:latin typeface="Arial Narrow"/>
              </a:rPr>
              <a:t>Spreadsheet for each program showing every project (university and lab) that was active during three-year review period</a:t>
            </a:r>
            <a:endParaRPr b="0" lang="en-IN" sz="2000" strike="noStrike" u="none">
              <a:solidFill>
                <a:srgbClr val="000000"/>
              </a:solidFill>
              <a:effectLst/>
              <a:uFillTx/>
              <a:latin typeface="Times New Roman"/>
            </a:endParaRPr>
          </a:p>
          <a:p>
            <a:pPr lvl="1" marL="668160" indent="-207720">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000" strike="noStrike" u="none">
                <a:solidFill>
                  <a:srgbClr val="000000"/>
                </a:solidFill>
                <a:effectLst/>
                <a:uFillTx/>
                <a:latin typeface="Arial Narrow"/>
              </a:rPr>
              <a:t>Spreadsheet showing all CSGB reviewers over review period</a:t>
            </a:r>
            <a:endParaRPr b="0" lang="en-IN" sz="2000" strike="noStrike" u="none">
              <a:solidFill>
                <a:srgbClr val="000000"/>
              </a:solidFill>
              <a:effectLst/>
              <a:uFillTx/>
              <a:latin typeface="Times New Roman"/>
            </a:endParaRPr>
          </a:p>
          <a:p>
            <a:pPr lvl="1" marL="668160" indent="-207720">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000" strike="noStrike" u="none">
                <a:solidFill>
                  <a:srgbClr val="000000"/>
                </a:solidFill>
                <a:effectLst/>
                <a:uFillTx/>
                <a:latin typeface="Arial Narrow"/>
              </a:rPr>
              <a:t>Selection of university and lab review files (new awards, renewals, declinations) plus access to all files (constrained by COI)</a:t>
            </a:r>
            <a:endParaRPr b="0" lang="en-IN" sz="2000" strike="noStrike" u="none">
              <a:solidFill>
                <a:srgbClr val="000000"/>
              </a:solidFill>
              <a:effectLst/>
              <a:uFillTx/>
              <a:latin typeface="Times New Roman"/>
            </a:endParaRPr>
          </a:p>
          <a:p>
            <a:pPr lvl="1" marL="668160" indent="-207720">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000" strike="noStrike" u="none">
                <a:solidFill>
                  <a:srgbClr val="000000"/>
                </a:solidFill>
                <a:effectLst/>
                <a:uFillTx/>
                <a:latin typeface="Arial Narrow"/>
              </a:rPr>
              <a:t>COV report template (including OMB PART assessments)</a:t>
            </a:r>
            <a:endParaRPr b="0" lang="en-IN" sz="2000" strike="noStrike" u="none">
              <a:solidFill>
                <a:srgbClr val="000000"/>
              </a:solidFill>
              <a:effectLst/>
              <a:uFillTx/>
              <a:latin typeface="Times New Roman"/>
            </a:endParaRPr>
          </a:p>
        </p:txBody>
      </p:sp>
    </p:spTree>
  </p:cSld>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87" name=""/>
          <p:cNvSpPr/>
          <p:nvPr/>
        </p:nvSpPr>
        <p:spPr>
          <a:xfrm>
            <a:off x="3216240" y="138240"/>
            <a:ext cx="3056400" cy="576720"/>
          </a:xfrm>
          <a:prstGeom prst="rect">
            <a:avLst/>
          </a:prstGeom>
          <a:noFill/>
          <a:ln w="0">
            <a:noFill/>
          </a:ln>
        </p:spPr>
        <p:style>
          <a:lnRef idx="0"/>
          <a:fillRef idx="0"/>
          <a:effectRef idx="0"/>
          <a:fontRef idx="minor"/>
        </p:style>
        <p:txBody>
          <a:bodyPr wrap="none" lIns="90360" rIns="90360" tIns="44280" bIns="4428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IN" sz="3200" strike="noStrike" u="none">
                <a:solidFill>
                  <a:srgbClr val="ff0000"/>
                </a:solidFill>
                <a:effectLst/>
                <a:uFillTx/>
                <a:latin typeface="Arial Narrow"/>
              </a:rPr>
              <a:t>2008 COV website</a:t>
            </a:r>
            <a:endParaRPr b="0" lang="en-IN" sz="3200" strike="noStrike" u="none">
              <a:solidFill>
                <a:srgbClr val="000000"/>
              </a:solidFill>
              <a:effectLst/>
              <a:uFillTx/>
              <a:latin typeface="Times New Roman"/>
            </a:endParaRPr>
          </a:p>
        </p:txBody>
      </p:sp>
      <p:pic>
        <p:nvPicPr>
          <p:cNvPr id="288" name="" descr=""/>
          <p:cNvPicPr/>
          <p:nvPr/>
        </p:nvPicPr>
        <p:blipFill>
          <a:blip r:embed="rId1"/>
          <a:stretch/>
        </p:blipFill>
        <p:spPr>
          <a:xfrm>
            <a:off x="0" y="812880"/>
            <a:ext cx="10058400" cy="7316640"/>
          </a:xfrm>
          <a:prstGeom prst="rect">
            <a:avLst/>
          </a:prstGeom>
          <a:noFill/>
          <a:ln w="0">
            <a:noFill/>
          </a:ln>
        </p:spPr>
      </p:pic>
      <p:sp>
        <p:nvSpPr>
          <p:cNvPr id="289" name=""/>
          <p:cNvSpPr/>
          <p:nvPr/>
        </p:nvSpPr>
        <p:spPr>
          <a:xfrm>
            <a:off x="1690560" y="4368960"/>
            <a:ext cx="7732800" cy="2615760"/>
          </a:xfrm>
          <a:prstGeom prst="rect">
            <a:avLst/>
          </a:prstGeom>
          <a:solidFill>
            <a:srgbClr val="ffffff"/>
          </a:solidFill>
          <a:ln w="0">
            <a:noFill/>
          </a:ln>
        </p:spPr>
        <p:style>
          <a:lnRef idx="0"/>
          <a:fillRef idx="0"/>
          <a:effectRef idx="0"/>
          <a:fontRef idx="minor"/>
        </p:style>
        <p:txBody>
          <a:bodyPr lIns="90360" rIns="90360" tIns="44280" bIns="44280" anchor="t">
            <a:spAutoFit/>
          </a:bodyPr>
          <a:p>
            <a:pPr marL="263520" indent="-249120">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trike="noStrike" u="none">
                <a:solidFill>
                  <a:srgbClr val="000000"/>
                </a:solidFill>
                <a:effectLst/>
                <a:uFillTx/>
                <a:latin typeface="Arial Narrow"/>
              </a:rPr>
              <a:t>Charge letter</a:t>
            </a:r>
            <a:endParaRPr b="0" lang="en-IN" sz="1800" strike="noStrike" u="none">
              <a:solidFill>
                <a:srgbClr val="000000"/>
              </a:solidFill>
              <a:effectLst/>
              <a:uFillTx/>
              <a:latin typeface="Times New Roman"/>
            </a:endParaRPr>
          </a:p>
          <a:p>
            <a:pPr marL="263520" indent="-249120">
              <a:lnSpc>
                <a:spcPct val="100000"/>
              </a:lnSpc>
              <a:spcBef>
                <a:spcPts val="18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trike="noStrike" u="none">
                <a:solidFill>
                  <a:srgbClr val="000000"/>
                </a:solidFill>
                <a:effectLst/>
                <a:uFillTx/>
                <a:latin typeface="Arial Narrow"/>
              </a:rPr>
              <a:t>Reports and responses from 2002 and 2005 CSGB COVs (links to BES website)</a:t>
            </a:r>
            <a:endParaRPr b="0" lang="en-IN" sz="1800" strike="noStrike" u="none">
              <a:solidFill>
                <a:srgbClr val="000000"/>
              </a:solidFill>
              <a:effectLst/>
              <a:uFillTx/>
              <a:latin typeface="Times New Roman"/>
            </a:endParaRPr>
          </a:p>
          <a:p>
            <a:pPr marL="263520" indent="-249120">
              <a:lnSpc>
                <a:spcPct val="100000"/>
              </a:lnSpc>
              <a:spcBef>
                <a:spcPts val="2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trike="noStrike" u="none">
                <a:solidFill>
                  <a:srgbClr val="000000"/>
                </a:solidFill>
                <a:effectLst/>
                <a:uFillTx/>
                <a:latin typeface="Arial Narrow"/>
              </a:rPr>
              <a:t>Review procedures (links to BES website)</a:t>
            </a:r>
            <a:endParaRPr b="0" lang="en-IN" sz="1600" strike="noStrike" u="none">
              <a:solidFill>
                <a:srgbClr val="000000"/>
              </a:solidFill>
              <a:effectLst/>
              <a:uFillTx/>
              <a:latin typeface="Times New Roman"/>
            </a:endParaRPr>
          </a:p>
          <a:p>
            <a:pPr marL="263520" indent="-249120">
              <a:lnSpc>
                <a:spcPct val="100000"/>
              </a:lnSpc>
              <a:spcBef>
                <a:spcPts val="4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trike="noStrike" u="none">
                <a:solidFill>
                  <a:srgbClr val="000000"/>
                </a:solidFill>
                <a:effectLst/>
                <a:uFillTx/>
                <a:latin typeface="Arial Narrow"/>
              </a:rPr>
              <a:t>Core research activity descriptions (links to BES website, with updated versions for COV)</a:t>
            </a:r>
            <a:endParaRPr b="0" lang="en-IN" sz="1600" strike="noStrike" u="none">
              <a:solidFill>
                <a:srgbClr val="000000"/>
              </a:solidFill>
              <a:effectLst/>
              <a:uFillTx/>
              <a:latin typeface="Times New Roman"/>
            </a:endParaRPr>
          </a:p>
          <a:p>
            <a:pPr marL="263520" indent="-249120">
              <a:lnSpc>
                <a:spcPct val="100000"/>
              </a:lnSpc>
              <a:spcBef>
                <a:spcPts val="4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trike="noStrike" u="none">
                <a:solidFill>
                  <a:srgbClr val="000000"/>
                </a:solidFill>
                <a:effectLst/>
                <a:uFillTx/>
                <a:latin typeface="Arial Narrow"/>
              </a:rPr>
              <a:t>Published solicitations during COV period (links to SC Grants website)</a:t>
            </a:r>
            <a:endParaRPr b="0" lang="en-IN" sz="1600" strike="noStrike" u="none">
              <a:solidFill>
                <a:srgbClr val="000000"/>
              </a:solidFill>
              <a:effectLst/>
              <a:uFillTx/>
              <a:latin typeface="Times New Roman"/>
            </a:endParaRPr>
          </a:p>
          <a:p>
            <a:pPr marL="263520" indent="-249120">
              <a:lnSpc>
                <a:spcPct val="100000"/>
              </a:lnSpc>
              <a:spcBef>
                <a:spcPts val="4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600" strike="noStrike" u="none">
              <a:solidFill>
                <a:srgbClr val="000000"/>
              </a:solidFill>
              <a:effectLst/>
              <a:uFillTx/>
              <a:latin typeface="Times New Roman"/>
            </a:endParaRPr>
          </a:p>
          <a:p>
            <a:pPr marL="263520" indent="-249120">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000" strike="noStrike" u="none">
                <a:solidFill>
                  <a:srgbClr val="000000"/>
                </a:solidFill>
                <a:effectLst/>
                <a:uFillTx/>
                <a:latin typeface="Arial Narrow"/>
              </a:rPr>
              <a:t>Logistical details (agenda, travel, lodging, etc.)</a:t>
            </a:r>
            <a:endParaRPr b="0" lang="en-IN" sz="2000" strike="noStrike" u="none">
              <a:solidFill>
                <a:srgbClr val="000000"/>
              </a:solidFill>
              <a:effectLst/>
              <a:uFillTx/>
              <a:latin typeface="Times New Roman"/>
            </a:endParaRPr>
          </a:p>
        </p:txBody>
      </p:sp>
      <p:sp>
        <p:nvSpPr>
          <p:cNvPr id="290" name=""/>
          <p:cNvSpPr/>
          <p:nvPr/>
        </p:nvSpPr>
        <p:spPr>
          <a:xfrm flipH="1" flipV="1">
            <a:off x="1015560" y="4394160"/>
            <a:ext cx="698760" cy="139680"/>
          </a:xfrm>
          <a:prstGeom prst="line">
            <a:avLst/>
          </a:prstGeom>
          <a:ln w="25560">
            <a:solidFill>
              <a:srgbClr val="ff0000"/>
            </a:solidFill>
            <a:miter/>
            <a:tailEnd len="med" type="triangle" w="med"/>
          </a:ln>
        </p:spPr>
        <p:style>
          <a:lnRef idx="0"/>
          <a:fillRef idx="0"/>
          <a:effectRef idx="0"/>
          <a:fontRef idx="minor"/>
        </p:style>
        <p:txBody>
          <a:bodyPr lIns="90000" rIns="90000" tIns="46800" bIns="46800" anchor="t">
            <a:noAutofit/>
          </a:bodyPr>
          <a:p>
            <a:endParaRPr b="0" lang="en-IN" sz="2400" strike="noStrike" u="none">
              <a:solidFill>
                <a:srgbClr val="000000"/>
              </a:solidFill>
              <a:effectLst/>
              <a:uFillTx/>
              <a:latin typeface="Times New Roman"/>
            </a:endParaRPr>
          </a:p>
        </p:txBody>
      </p:sp>
      <p:sp>
        <p:nvSpPr>
          <p:cNvPr id="291" name=""/>
          <p:cNvSpPr/>
          <p:nvPr/>
        </p:nvSpPr>
        <p:spPr>
          <a:xfrm flipH="1" flipV="1">
            <a:off x="977760" y="5016600"/>
            <a:ext cx="749520" cy="25200"/>
          </a:xfrm>
          <a:prstGeom prst="line">
            <a:avLst/>
          </a:prstGeom>
          <a:ln w="25560">
            <a:solidFill>
              <a:srgbClr val="ff0000"/>
            </a:solidFill>
            <a:miter/>
            <a:tailEnd len="med" type="triangle" w="med"/>
          </a:ln>
        </p:spPr>
        <p:style>
          <a:lnRef idx="0"/>
          <a:fillRef idx="0"/>
          <a:effectRef idx="0"/>
          <a:fontRef idx="minor"/>
        </p:style>
        <p:txBody>
          <a:bodyPr lIns="90000" rIns="90000" tIns="-21600" bIns="-21600" anchor="t">
            <a:noAutofit/>
          </a:bodyPr>
          <a:p>
            <a:endParaRPr b="0" lang="en-IN" sz="2400" strike="noStrike" u="none">
              <a:solidFill>
                <a:srgbClr val="000000"/>
              </a:solidFill>
              <a:effectLst/>
              <a:uFillTx/>
              <a:latin typeface="Times New Roman"/>
            </a:endParaRPr>
          </a:p>
        </p:txBody>
      </p:sp>
      <p:sp>
        <p:nvSpPr>
          <p:cNvPr id="292" name=""/>
          <p:cNvSpPr/>
          <p:nvPr/>
        </p:nvSpPr>
        <p:spPr>
          <a:xfrm flipH="1" flipV="1">
            <a:off x="1003320" y="5600520"/>
            <a:ext cx="660240" cy="177480"/>
          </a:xfrm>
          <a:prstGeom prst="line">
            <a:avLst/>
          </a:prstGeom>
          <a:ln w="25560">
            <a:solidFill>
              <a:srgbClr val="ff0000"/>
            </a:solidFill>
            <a:miter/>
            <a:tailEnd len="med" type="triangle" w="med"/>
          </a:ln>
        </p:spPr>
        <p:style>
          <a:lnRef idx="0"/>
          <a:fillRef idx="0"/>
          <a:effectRef idx="0"/>
          <a:fontRef idx="minor"/>
        </p:style>
        <p:txBody>
          <a:bodyPr lIns="90000" rIns="90000" tIns="46800" bIns="46800" anchor="t">
            <a:noAutofit/>
          </a:bodyPr>
          <a:p>
            <a:endParaRPr b="0" lang="en-IN" sz="2400" strike="noStrike" u="none">
              <a:solidFill>
                <a:srgbClr val="000000"/>
              </a:solidFill>
              <a:effectLst/>
              <a:uFillTx/>
              <a:latin typeface="Times New Roman"/>
            </a:endParaRPr>
          </a:p>
        </p:txBody>
      </p:sp>
      <p:sp>
        <p:nvSpPr>
          <p:cNvPr id="293" name=""/>
          <p:cNvSpPr/>
          <p:nvPr/>
        </p:nvSpPr>
        <p:spPr>
          <a:xfrm flipH="1" flipV="1">
            <a:off x="723960" y="6235200"/>
            <a:ext cx="939600" cy="444600"/>
          </a:xfrm>
          <a:prstGeom prst="line">
            <a:avLst/>
          </a:prstGeom>
          <a:ln w="25560">
            <a:solidFill>
              <a:srgbClr val="ff0000"/>
            </a:solidFill>
            <a:miter/>
            <a:tailEnd len="med" type="triangle" w="med"/>
          </a:ln>
        </p:spPr>
        <p:style>
          <a:lnRef idx="0"/>
          <a:fillRef idx="0"/>
          <a:effectRef idx="0"/>
          <a:fontRef idx="minor"/>
        </p:style>
        <p:txBody>
          <a:bodyPr lIns="90000" rIns="90000" tIns="46800" bIns="46800" anchor="t">
            <a:noAutofit/>
          </a:bodyPr>
          <a:p>
            <a:endParaRPr b="0" lang="en-IN" sz="2400" strike="noStrike" u="none">
              <a:solidFill>
                <a:srgbClr val="000000"/>
              </a:solidFill>
              <a:effectLst/>
              <a:uFillTx/>
              <a:latin typeface="Times New Roman"/>
            </a:endParaRPr>
          </a:p>
        </p:txBody>
      </p:sp>
      <p:sp>
        <p:nvSpPr>
          <p:cNvPr id="294" name=""/>
          <p:cNvSpPr/>
          <p:nvPr/>
        </p:nvSpPr>
        <p:spPr>
          <a:xfrm flipH="1" flipV="1">
            <a:off x="851040" y="6667560"/>
            <a:ext cx="761760" cy="101520"/>
          </a:xfrm>
          <a:prstGeom prst="line">
            <a:avLst/>
          </a:prstGeom>
          <a:ln w="25560">
            <a:solidFill>
              <a:srgbClr val="ff0000"/>
            </a:solidFill>
            <a:miter/>
            <a:tailEnd len="med" type="triangle" w="med"/>
          </a:ln>
        </p:spPr>
        <p:style>
          <a:lnRef idx="0"/>
          <a:fillRef idx="0"/>
          <a:effectRef idx="0"/>
          <a:fontRef idx="minor"/>
        </p:style>
        <p:txBody>
          <a:bodyPr lIns="90000" rIns="90000" tIns="46800" bIns="46800" anchor="t">
            <a:noAutofit/>
          </a:bodyPr>
          <a:p>
            <a:endParaRPr b="0" lang="en-IN" sz="2400" strike="noStrike" u="none">
              <a:solidFill>
                <a:srgbClr val="000000"/>
              </a:solidFill>
              <a:effectLst/>
              <a:uFillTx/>
              <a:latin typeface="Times New Roman"/>
            </a:endParaRPr>
          </a:p>
        </p:txBody>
      </p:sp>
    </p:spTree>
  </p:cSld>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19489</TotalTime>
  <Application>LibreOffice/25.2.3.2$Windows_X86_64 LibreOffice_project/bbb074479178df812d175f709636b368952c2ce3</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1999-02-06T10:03:22Z</dcterms:created>
  <dc:creator>Patricia Dehmer</dc:creator>
  <dc:description/>
  <cp:keywords/>
  <dc:language>en-IN</dc:language>
  <cp:lastModifiedBy>Eric Rohlfing</cp:lastModifiedBy>
  <cp:lastPrinted>1999-09-21T05:20:06Z</cp:lastPrinted>
  <dcterms:modified xsi:type="dcterms:W3CDTF">2008-02-29T06:02:52Z</dcterms:modified>
  <cp:revision>1894</cp:revision>
  <dc:subject/>
  <dc:title>Office of Basic Energy Sciences A Tradition of Excellence in Fundamental Research</dc:title>
</cp:coreProperties>
</file>