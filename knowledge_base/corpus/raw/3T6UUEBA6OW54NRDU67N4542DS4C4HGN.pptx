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7.xml" ContentType="application/vnd.openxmlformats-officedocument.theme+xml"/>
  <Override PartName="/ppt/notesSlides/notesSlide53.xml" ContentType="application/vnd.openxmlformats-officedocument.presentationml.notesSlide+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_rels/notesSlide9.xml.rels" ContentType="application/vnd.openxmlformats-package.relationships+xml"/>
  <Override PartName="/ppt/notesSlides/_rels/notesSlide44.xml.rels" ContentType="application/vnd.openxmlformats-package.relationships+xml"/>
  <Override PartName="/ppt/notesSlides/_rels/notesSlide1.xml.rels" ContentType="application/vnd.openxmlformats-package.relationships+xml"/>
  <Override PartName="/ppt/notesSlides/_rels/notesSlide53.xml.rels" ContentType="application/vnd.openxmlformats-package.relationships+xml"/>
  <Override PartName="/ppt/notesSlides/_rels/notesSlide48.xml.rels" ContentType="application/vnd.openxmlformats-package.relationships+xml"/>
  <Override PartName="/ppt/notesSlides/_rels/notesSlide5.xml.rels" ContentType="application/vnd.openxmlformats-package.relationships+xml"/>
  <Override PartName="/ppt/notesSlides/_rels/notesSlide10.xml.rels" ContentType="application/vnd.openxmlformats-package.relationships+xml"/>
  <Override PartName="/ppt/notesSlides/_rels/notesSlide2.xml.rels" ContentType="application/vnd.openxmlformats-package.relationships+xml"/>
  <Override PartName="/ppt/notesSlides/_rels/notesSlide4.xml.rels" ContentType="application/vnd.openxmlformats-package.relationships+xml"/>
  <Override PartName="/ppt/notesSlides/_rels/notesSlide47.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33.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40.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49.xml.rels" ContentType="application/vnd.openxmlformats-package.relationships+xml"/>
  <Override PartName="/ppt/notesSlides/_rels/notesSlide50.xml.rels" ContentType="application/vnd.openxmlformats-package.relationships+xml"/>
  <Override PartName="/ppt/notesSlides/_rels/notesSlide52.xml.rels" ContentType="application/vnd.openxmlformats-package.relationship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media/image1.jpeg" ContentType="image/jpeg"/>
  <Override PartName="/ppt/media/image3.png" ContentType="image/png"/>
  <Override PartName="/ppt/media/image2.png" ContentType="image/png"/>
  <Override PartName="/ppt/media/image4.png" ContentType="image/png"/>
  <Override PartName="/ppt/media/image5.png" ContentType="image/png"/>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Lst>
  <p:sldSz cx="9144000" cy="6858000"/>
  <p:notesSz cx="6948488" cy="92202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
          <p:cNvSpPr/>
          <p:nvPr/>
        </p:nvSpPr>
        <p:spPr>
          <a:xfrm>
            <a:off x="0" y="0"/>
            <a:ext cx="6948000" cy="9219600"/>
          </a:xfrm>
          <a:prstGeom prst="rect">
            <a:avLst/>
          </a:prstGeom>
          <a:solidFill>
            <a:srgbClr val="ffffff"/>
          </a:solidFill>
          <a:ln w="0">
            <a:noFill/>
          </a:ln>
        </p:spPr>
        <p:txBody>
          <a:bodyPr lIns="90000" rIns="90000" tIns="45000" bIns="45000" anchor="ctr" anchorCtr="1">
            <a:noAutofit/>
          </a:bodyPr>
          <a:p>
            <a:endParaRPr b="0" lang="en-IN" sz="1800" strike="noStrike" u="none">
              <a:solidFill>
                <a:srgbClr val="000000"/>
              </a:solidFill>
              <a:effectLst/>
              <a:uFillTx/>
              <a:latin typeface="Calibri"/>
            </a:endParaRPr>
          </a:p>
        </p:txBody>
      </p:sp>
      <p:sp>
        <p:nvSpPr>
          <p:cNvPr id="12" name="PlaceHolder 1"/>
          <p:cNvSpPr>
            <a:spLocks noGrp="1"/>
          </p:cNvSpPr>
          <p:nvPr>
            <p:ph type="hdr"/>
          </p:nvPr>
        </p:nvSpPr>
        <p:spPr>
          <a:xfrm>
            <a:off x="-360" y="-360"/>
            <a:ext cx="3009960" cy="460440"/>
          </a:xfrm>
          <a:prstGeom prst="rect">
            <a:avLst/>
          </a:prstGeom>
          <a:noFill/>
          <a:ln w="0">
            <a:noFill/>
          </a:ln>
        </p:spPr>
        <p:txBody>
          <a:bodyPr lIns="92520" rIns="92520" tIns="46080" bIns="46080" anchor="t">
            <a:noAutofit/>
          </a:bodyPr>
          <a:p>
            <a:pPr indent="0">
              <a:buNone/>
            </a:pPr>
            <a:endParaRPr b="0" lang="en-IN" sz="2400" strike="noStrike" u="none">
              <a:solidFill>
                <a:srgbClr val="000000"/>
              </a:solidFill>
              <a:effectLst/>
              <a:uFillTx/>
              <a:latin typeface="Times New Roman"/>
            </a:endParaRPr>
          </a:p>
        </p:txBody>
      </p:sp>
      <p:sp>
        <p:nvSpPr>
          <p:cNvPr id="13" name="PlaceHolder 2"/>
          <p:cNvSpPr>
            <a:spLocks noGrp="1"/>
          </p:cNvSpPr>
          <p:nvPr>
            <p:ph type="dt" idx="3"/>
          </p:nvPr>
        </p:nvSpPr>
        <p:spPr>
          <a:xfrm>
            <a:off x="3935160" y="-360"/>
            <a:ext cx="3009960" cy="460440"/>
          </a:xfrm>
          <a:prstGeom prst="rect">
            <a:avLst/>
          </a:prstGeom>
          <a:noFill/>
          <a:ln w="0">
            <a:noFill/>
          </a:ln>
        </p:spPr>
        <p:txBody>
          <a:bodyPr lIns="92520" rIns="92520" tIns="46080" bIns="46080" anchor="t">
            <a:noAutofit/>
          </a:bodyPr>
          <a:lstStyle>
            <a:lvl1pPr marL="216000"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200" strike="noStrike" u="none">
                <a:solidFill>
                  <a:srgbClr val="000000"/>
                </a:solidFill>
                <a:effectLst/>
                <a:uFillTx/>
                <a:latin typeface="Times New Roman"/>
              </a:defRPr>
            </a:lvl1pPr>
          </a:lstStyle>
          <a:p>
            <a:pPr marL="216000"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Times New Roman"/>
              </a:rPr>
              <a:t>&lt;date/time&gt;</a:t>
            </a:r>
            <a:endParaRPr b="0" lang="en-IN" sz="1200" strike="noStrike" u="none">
              <a:solidFill>
                <a:srgbClr val="000000"/>
              </a:solidFill>
              <a:effectLst/>
              <a:uFillTx/>
              <a:latin typeface="Times New Roman"/>
            </a:endParaRPr>
          </a:p>
        </p:txBody>
      </p:sp>
      <p:sp>
        <p:nvSpPr>
          <p:cNvPr id="14" name="PlaceHolder 3"/>
          <p:cNvSpPr>
            <a:spLocks noGrp="1"/>
          </p:cNvSpPr>
          <p:nvPr>
            <p:ph type="sldImg"/>
          </p:nvPr>
        </p:nvSpPr>
        <p:spPr>
          <a:xfrm>
            <a:off x="1168200" y="692280"/>
            <a:ext cx="4609800" cy="3457440"/>
          </a:xfrm>
          <a:prstGeom prst="rect">
            <a:avLst/>
          </a:prstGeom>
          <a:noFill/>
          <a:ln w="12600">
            <a:solidFill>
              <a:srgbClr val="000000"/>
            </a:solidFill>
            <a:miter/>
          </a:ln>
        </p:spPr>
        <p:txBody>
          <a:bodyPr lIns="92520" rIns="92520" tIns="46080" bIns="46080" anchor="ctr">
            <a:noAutofit/>
          </a:bodyPr>
          <a:p>
            <a:pPr indent="0" algn="ct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4400" strike="noStrike" u="none">
                <a:solidFill>
                  <a:srgbClr val="000000"/>
                </a:solidFill>
                <a:effectLst/>
                <a:uFillTx/>
                <a:latin typeface="Calibri"/>
              </a:rPr>
              <a:t>Click to move the slide</a:t>
            </a:r>
            <a:endParaRPr b="0" lang="en-IN" sz="4400" strike="noStrike" u="none">
              <a:solidFill>
                <a:srgbClr val="000000"/>
              </a:solidFill>
              <a:effectLst/>
              <a:uFillTx/>
              <a:latin typeface="Calibri"/>
            </a:endParaRPr>
          </a:p>
        </p:txBody>
      </p:sp>
      <p:sp>
        <p:nvSpPr>
          <p:cNvPr id="15" name="PlaceHolder 4"/>
          <p:cNvSpPr>
            <a:spLocks noGrp="1"/>
          </p:cNvSpPr>
          <p:nvPr>
            <p:ph type="body"/>
          </p:nvPr>
        </p:nvSpPr>
        <p:spPr>
          <a:xfrm>
            <a:off x="695160" y="4379400"/>
            <a:ext cx="5556240" cy="4148280"/>
          </a:xfrm>
          <a:prstGeom prst="rect">
            <a:avLst/>
          </a:prstGeom>
          <a:noFill/>
          <a:ln w="0">
            <a:noFill/>
          </a:ln>
        </p:spPr>
        <p:txBody>
          <a:bodyPr lIns="92520" rIns="92520" tIns="46080" bIns="4608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IN" sz="1200" strike="noStrike" u="none">
                <a:solidFill>
                  <a:srgbClr val="000000"/>
                </a:solidFill>
                <a:effectLst/>
                <a:uFillTx/>
                <a:latin typeface="Calibri"/>
              </a:rPr>
              <a:t>Click to edit the notes format</a:t>
            </a:r>
            <a:endParaRPr b="0" lang="en-IN" sz="1200" strike="noStrike" u="none">
              <a:solidFill>
                <a:srgbClr val="000000"/>
              </a:solidFill>
              <a:effectLst/>
              <a:uFillTx/>
              <a:latin typeface="Calibri"/>
            </a:endParaRPr>
          </a:p>
        </p:txBody>
      </p:sp>
      <p:sp>
        <p:nvSpPr>
          <p:cNvPr id="16" name="PlaceHolder 5"/>
          <p:cNvSpPr>
            <a:spLocks noGrp="1"/>
          </p:cNvSpPr>
          <p:nvPr>
            <p:ph type="ftr" idx="4"/>
          </p:nvPr>
        </p:nvSpPr>
        <p:spPr>
          <a:xfrm>
            <a:off x="-360" y="8757720"/>
            <a:ext cx="3009960" cy="460440"/>
          </a:xfrm>
          <a:prstGeom prst="rect">
            <a:avLst/>
          </a:prstGeom>
          <a:noFill/>
          <a:ln w="0">
            <a:noFill/>
          </a:ln>
        </p:spPr>
        <p:txBody>
          <a:bodyPr lIns="92520" rIns="92520" tIns="46080" bIns="46080" anchor="b">
            <a:noAutofit/>
          </a:bodyPr>
          <a:p>
            <a:pPr indent="0">
              <a:buNone/>
            </a:pPr>
            <a:endParaRPr b="0" lang="en-IN" sz="2400" strike="noStrike" u="none">
              <a:solidFill>
                <a:srgbClr val="000000"/>
              </a:solidFill>
              <a:effectLst/>
              <a:uFillTx/>
              <a:latin typeface="Times New Roman"/>
            </a:endParaRPr>
          </a:p>
        </p:txBody>
      </p:sp>
      <p:sp>
        <p:nvSpPr>
          <p:cNvPr id="17" name="PlaceHolder 6"/>
          <p:cNvSpPr>
            <a:spLocks noGrp="1"/>
          </p:cNvSpPr>
          <p:nvPr>
            <p:ph type="sldNum" idx="5"/>
          </p:nvPr>
        </p:nvSpPr>
        <p:spPr>
          <a:xfrm>
            <a:off x="3935160" y="8757720"/>
            <a:ext cx="3009960" cy="460440"/>
          </a:xfrm>
          <a:prstGeom prst="rect">
            <a:avLst/>
          </a:prstGeom>
          <a:noFill/>
          <a:ln w="0">
            <a:noFill/>
          </a:ln>
        </p:spPr>
        <p:txBody>
          <a:bodyPr lIns="92520" rIns="92520" tIns="46080" bIns="46080" anchor="b">
            <a:noAutofit/>
          </a:bodyPr>
          <a:lstStyle>
            <a:lvl1pPr marL="216000"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200" strike="noStrike" u="none">
                <a:solidFill>
                  <a:srgbClr val="000000"/>
                </a:solidFill>
                <a:effectLst/>
                <a:uFillTx/>
                <a:latin typeface="Times New Roman"/>
              </a:defRPr>
            </a:lvl1pPr>
          </a:lstStyle>
          <a:p>
            <a:pPr marL="216000"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CD41D5E8-AA71-4DD8-94B5-DD09C540AC8C}"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Img"/>
          </p:nvPr>
        </p:nvSpPr>
        <p:spPr>
          <a:xfrm>
            <a:off x="1168560" y="692280"/>
            <a:ext cx="4609800" cy="3457440"/>
          </a:xfrm>
          <a:prstGeom prst="rect">
            <a:avLst/>
          </a:prstGeom>
          <a:ln w="0">
            <a:noFill/>
          </a:ln>
        </p:spPr>
      </p:sp>
      <p:sp>
        <p:nvSpPr>
          <p:cNvPr id="271"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272"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1EFEF449-F4FA-4E92-81A9-0936F1C4B05A}"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Calibri"/>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1168560" y="692280"/>
            <a:ext cx="4609800" cy="3457440"/>
          </a:xfrm>
          <a:prstGeom prst="rect">
            <a:avLst/>
          </a:prstGeom>
          <a:ln w="0">
            <a:noFill/>
          </a:ln>
        </p:spPr>
      </p:sp>
      <p:sp>
        <p:nvSpPr>
          <p:cNvPr id="274" name="PlaceHolder 2"/>
          <p:cNvSpPr>
            <a:spLocks noGrp="1"/>
          </p:cNvSpPr>
          <p:nvPr>
            <p:ph type="body"/>
          </p:nvPr>
        </p:nvSpPr>
        <p:spPr>
          <a:xfrm>
            <a:off x="501120" y="4114440"/>
            <a:ext cx="555660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275"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843284CC-A76F-4034-ACCA-C8EC24B6CB5B}"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1168560" y="692280"/>
            <a:ext cx="4609800" cy="3457440"/>
          </a:xfrm>
          <a:prstGeom prst="rect">
            <a:avLst/>
          </a:prstGeom>
          <a:ln w="0">
            <a:noFill/>
          </a:ln>
        </p:spPr>
      </p:sp>
      <p:sp>
        <p:nvSpPr>
          <p:cNvPr id="277"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278"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356918ED-C68C-44D2-AF67-F30DCECB55C1}"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sldImg"/>
          </p:nvPr>
        </p:nvSpPr>
        <p:spPr>
          <a:xfrm>
            <a:off x="1090440" y="692280"/>
            <a:ext cx="4611960" cy="3457440"/>
          </a:xfrm>
          <a:prstGeom prst="rect">
            <a:avLst/>
          </a:prstGeom>
          <a:ln w="0">
            <a:noFill/>
          </a:ln>
        </p:spPr>
      </p:sp>
      <p:sp>
        <p:nvSpPr>
          <p:cNvPr id="280"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281"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8A32FD2F-A89D-4A4A-954D-5BE14E84C9A9}"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sldImg"/>
          </p:nvPr>
        </p:nvSpPr>
        <p:spPr>
          <a:xfrm>
            <a:off x="1168560" y="692280"/>
            <a:ext cx="4609800" cy="3457440"/>
          </a:xfrm>
          <a:prstGeom prst="rect">
            <a:avLst/>
          </a:prstGeom>
          <a:ln w="0">
            <a:noFill/>
          </a:ln>
        </p:spPr>
      </p:sp>
      <p:sp>
        <p:nvSpPr>
          <p:cNvPr id="283" name="PlaceHolder 2"/>
          <p:cNvSpPr>
            <a:spLocks noGrp="1"/>
          </p:cNvSpPr>
          <p:nvPr>
            <p:ph type="body"/>
          </p:nvPr>
        </p:nvSpPr>
        <p:spPr>
          <a:xfrm>
            <a:off x="1168200" y="4838760"/>
            <a:ext cx="5082840" cy="3689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284"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D9FEF872-B84E-429C-A5ED-002053071A1A}"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sldImg"/>
          </p:nvPr>
        </p:nvSpPr>
        <p:spPr>
          <a:xfrm>
            <a:off x="1168560" y="692280"/>
            <a:ext cx="4609800" cy="3457440"/>
          </a:xfrm>
          <a:prstGeom prst="rect">
            <a:avLst/>
          </a:prstGeom>
          <a:ln w="0">
            <a:noFill/>
          </a:ln>
        </p:spPr>
      </p:sp>
      <p:sp>
        <p:nvSpPr>
          <p:cNvPr id="286" name="PlaceHolder 2"/>
          <p:cNvSpPr>
            <a:spLocks noGrp="1"/>
          </p:cNvSpPr>
          <p:nvPr>
            <p:ph type="body"/>
          </p:nvPr>
        </p:nvSpPr>
        <p:spPr>
          <a:xfrm>
            <a:off x="347760" y="4381560"/>
            <a:ext cx="6310080" cy="414792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100" strike="noStrike" u="none">
              <a:solidFill>
                <a:srgbClr val="000000"/>
              </a:solidFill>
              <a:effectLst/>
              <a:uFillTx/>
              <a:latin typeface="Calibri"/>
            </a:endParaRPr>
          </a:p>
        </p:txBody>
      </p:sp>
      <p:sp>
        <p:nvSpPr>
          <p:cNvPr id="287"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799C69BC-84BC-43B7-9B7A-5D78B46101EF}"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1168560" y="692280"/>
            <a:ext cx="4609800" cy="3457440"/>
          </a:xfrm>
          <a:prstGeom prst="rect">
            <a:avLst/>
          </a:prstGeom>
          <a:ln w="0">
            <a:noFill/>
          </a:ln>
        </p:spPr>
      </p:sp>
      <p:sp>
        <p:nvSpPr>
          <p:cNvPr id="289"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290"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7CD4C27F-D40C-4CCD-A351-E169007B70F5}"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1197000" y="716040"/>
            <a:ext cx="4610160" cy="3457440"/>
          </a:xfrm>
          <a:prstGeom prst="rect">
            <a:avLst/>
          </a:prstGeom>
          <a:ln w="0">
            <a:noFill/>
          </a:ln>
        </p:spPr>
      </p:sp>
      <p:sp>
        <p:nvSpPr>
          <p:cNvPr id="292"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293"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8CAFB31E-C417-4BF7-9133-26ADB4CEDA2D}"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1168560" y="692280"/>
            <a:ext cx="4609800" cy="3457440"/>
          </a:xfrm>
          <a:prstGeom prst="rect">
            <a:avLst/>
          </a:prstGeom>
          <a:ln w="0">
            <a:noFill/>
          </a:ln>
        </p:spPr>
      </p:sp>
      <p:sp>
        <p:nvSpPr>
          <p:cNvPr id="295"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296"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FC5CADFA-5685-4753-8A20-6BA1A1094105}"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sldImg"/>
          </p:nvPr>
        </p:nvSpPr>
        <p:spPr>
          <a:xfrm>
            <a:off x="1168560" y="692280"/>
            <a:ext cx="4609800" cy="3457440"/>
          </a:xfrm>
          <a:prstGeom prst="rect">
            <a:avLst/>
          </a:prstGeom>
          <a:ln w="0">
            <a:noFill/>
          </a:ln>
        </p:spPr>
      </p:sp>
      <p:sp>
        <p:nvSpPr>
          <p:cNvPr id="298"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299"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F58C82C4-9A35-4B1D-93EE-14DF2DB61E21}"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1168560" y="692280"/>
            <a:ext cx="4609800" cy="3457440"/>
          </a:xfrm>
          <a:prstGeom prst="rect">
            <a:avLst/>
          </a:prstGeom>
          <a:ln w="0">
            <a:noFill/>
          </a:ln>
        </p:spPr>
      </p:sp>
      <p:sp>
        <p:nvSpPr>
          <p:cNvPr id="301"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302"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6D7D25B6-D5FC-41FD-98B2-07B56619914C}"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Img"/>
          </p:nvPr>
        </p:nvSpPr>
        <p:spPr>
          <a:xfrm>
            <a:off x="1168560" y="692280"/>
            <a:ext cx="4609800" cy="3457440"/>
          </a:xfrm>
          <a:prstGeom prst="rect">
            <a:avLst/>
          </a:prstGeom>
          <a:ln w="0">
            <a:noFill/>
          </a:ln>
        </p:spPr>
      </p:sp>
      <p:sp>
        <p:nvSpPr>
          <p:cNvPr id="304"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305"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413BDA70-24E6-4B20-A287-B684F7BA074B}"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Img"/>
          </p:nvPr>
        </p:nvSpPr>
        <p:spPr>
          <a:xfrm>
            <a:off x="1168560" y="614520"/>
            <a:ext cx="4609800" cy="3457440"/>
          </a:xfrm>
          <a:prstGeom prst="rect">
            <a:avLst/>
          </a:prstGeom>
          <a:ln w="0">
            <a:noFill/>
          </a:ln>
        </p:spPr>
      </p:sp>
      <p:sp>
        <p:nvSpPr>
          <p:cNvPr id="307"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308"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553CD3FF-8D44-43BC-B6F8-EBED2D8B0F35}"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1168560" y="692280"/>
            <a:ext cx="4609800" cy="3457440"/>
          </a:xfrm>
          <a:prstGeom prst="rect">
            <a:avLst/>
          </a:prstGeom>
          <a:ln w="0">
            <a:noFill/>
          </a:ln>
        </p:spPr>
      </p:sp>
      <p:sp>
        <p:nvSpPr>
          <p:cNvPr id="310"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311"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A871CC0B-9579-4595-AE6F-3BDAA5F547BE}"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1168560" y="692280"/>
            <a:ext cx="4609800" cy="3457440"/>
          </a:xfrm>
          <a:prstGeom prst="rect">
            <a:avLst/>
          </a:prstGeom>
          <a:ln w="0">
            <a:noFill/>
          </a:ln>
        </p:spPr>
      </p:sp>
      <p:sp>
        <p:nvSpPr>
          <p:cNvPr id="313" name="PlaceHolder 2"/>
          <p:cNvSpPr>
            <a:spLocks noGrp="1"/>
          </p:cNvSpPr>
          <p:nvPr>
            <p:ph type="body"/>
          </p:nvPr>
        </p:nvSpPr>
        <p:spPr>
          <a:xfrm>
            <a:off x="695160" y="4379400"/>
            <a:ext cx="5556240" cy="4148280"/>
          </a:xfrm>
          <a:prstGeom prst="rect">
            <a:avLst/>
          </a:prstGeom>
          <a:noFill/>
          <a:ln w="0">
            <a:noFill/>
          </a:ln>
        </p:spPr>
        <p:txBody>
          <a:bodyPr lIns="92520" rIns="92520" tIns="46080" bIns="4608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Or in the final bullet, let’s say that an outside entity that is providing a scholarship requires attendance taking for the initial  4 weeks of instruction, then during that limited period if any of the students with the scholarship withdrew, those students would be subject to the “Inst . Required to take Attendance” rules for that period and the LDA would be the Withdrawal date.</a:t>
            </a:r>
            <a:endParaRPr b="0" lang="en-IN" sz="1200" strike="noStrike" u="none">
              <a:solidFill>
                <a:srgbClr val="000000"/>
              </a:solidFill>
              <a:effectLst/>
              <a:uFillTx/>
              <a:latin typeface="Calibri"/>
            </a:endParaRPr>
          </a:p>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314"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C6B7DDDD-8144-47DD-B3A2-AEF40885EB1A}"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sldImg"/>
          </p:nvPr>
        </p:nvSpPr>
        <p:spPr>
          <a:xfrm>
            <a:off x="1168560" y="692280"/>
            <a:ext cx="4609800" cy="3457440"/>
          </a:xfrm>
          <a:prstGeom prst="rect">
            <a:avLst/>
          </a:prstGeom>
          <a:ln w="0">
            <a:noFill/>
          </a:ln>
        </p:spPr>
      </p:sp>
      <p:sp>
        <p:nvSpPr>
          <p:cNvPr id="316" name="PlaceHolder 2"/>
          <p:cNvSpPr>
            <a:spLocks noGrp="1"/>
          </p:cNvSpPr>
          <p:nvPr>
            <p:ph type="body"/>
          </p:nvPr>
        </p:nvSpPr>
        <p:spPr>
          <a:xfrm>
            <a:off x="695160" y="4379400"/>
            <a:ext cx="5556240" cy="4148280"/>
          </a:xfrm>
          <a:prstGeom prst="rect">
            <a:avLst/>
          </a:prstGeom>
          <a:noFill/>
          <a:ln w="0">
            <a:noFill/>
          </a:ln>
        </p:spPr>
        <p:txBody>
          <a:bodyPr lIns="92520" rIns="92520" tIns="46080" bIns="4608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READ SLIDE:</a:t>
            </a:r>
            <a:endParaRPr b="0" lang="en-IN" sz="1200" strike="noStrike" u="none">
              <a:solidFill>
                <a:srgbClr val="000000"/>
              </a:solidFill>
              <a:effectLst/>
              <a:uFillTx/>
              <a:latin typeface="Calibri"/>
            </a:endParaRPr>
          </a:p>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Even when not required, the Department is encouraging institutions to use its records of attendance as the best information available to make the determination of the withdrawal date.</a:t>
            </a:r>
            <a:endParaRPr b="0" lang="en-IN" sz="1200" strike="noStrike" u="none">
              <a:solidFill>
                <a:srgbClr val="000000"/>
              </a:solidFill>
              <a:effectLst/>
              <a:uFillTx/>
              <a:latin typeface="Calibri"/>
            </a:endParaRPr>
          </a:p>
        </p:txBody>
      </p:sp>
      <p:sp>
        <p:nvSpPr>
          <p:cNvPr id="317"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17AFFD2F-BFBA-4071-B824-2957CB11827F}"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sldImg"/>
          </p:nvPr>
        </p:nvSpPr>
        <p:spPr>
          <a:xfrm>
            <a:off x="1117440" y="606600"/>
            <a:ext cx="4610160" cy="3457440"/>
          </a:xfrm>
          <a:prstGeom prst="rect">
            <a:avLst/>
          </a:prstGeom>
          <a:ln w="0">
            <a:noFill/>
          </a:ln>
        </p:spPr>
      </p:sp>
      <p:sp>
        <p:nvSpPr>
          <p:cNvPr id="319" name="PlaceHolder 2"/>
          <p:cNvSpPr>
            <a:spLocks noGrp="1"/>
          </p:cNvSpPr>
          <p:nvPr>
            <p:ph type="body"/>
          </p:nvPr>
        </p:nvSpPr>
        <p:spPr>
          <a:xfrm>
            <a:off x="695160" y="4379400"/>
            <a:ext cx="5556240" cy="4148280"/>
          </a:xfrm>
          <a:prstGeom prst="rect">
            <a:avLst/>
          </a:prstGeom>
          <a:noFill/>
          <a:ln w="0">
            <a:noFill/>
          </a:ln>
        </p:spPr>
        <p:txBody>
          <a:bodyPr lIns="92520" rIns="92520" tIns="46080" bIns="4608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Here’s an example:  The State licensing agency for professionals in the career that this program prepares students to be employed has a requirement that the institution provide 900 clock hours of training in X,Y, and Z before  any student is qualified to sit for the State licensing examination.</a:t>
            </a:r>
            <a:endParaRPr b="0" lang="en-IN" sz="1200" strike="noStrike" u="none">
              <a:solidFill>
                <a:srgbClr val="000000"/>
              </a:solidFill>
              <a:effectLst/>
              <a:uFillTx/>
              <a:latin typeface="Calibri"/>
            </a:endParaRPr>
          </a:p>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320"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4A2529B6-E33E-465D-B4C6-15DB8BDA7071}"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1168560" y="692280"/>
            <a:ext cx="4609800" cy="3457440"/>
          </a:xfrm>
          <a:prstGeom prst="rect">
            <a:avLst/>
          </a:prstGeom>
          <a:ln w="0">
            <a:noFill/>
          </a:ln>
        </p:spPr>
      </p:sp>
      <p:sp>
        <p:nvSpPr>
          <p:cNvPr id="322" name="PlaceHolder 2"/>
          <p:cNvSpPr>
            <a:spLocks noGrp="1"/>
          </p:cNvSpPr>
          <p:nvPr>
            <p:ph type="body"/>
          </p:nvPr>
        </p:nvSpPr>
        <p:spPr>
          <a:xfrm>
            <a:off x="695160" y="4379400"/>
            <a:ext cx="5556240" cy="4148280"/>
          </a:xfrm>
          <a:prstGeom prst="rect">
            <a:avLst/>
          </a:prstGeom>
          <a:noFill/>
          <a:ln w="0">
            <a:noFill/>
          </a:ln>
        </p:spPr>
        <p:txBody>
          <a:bodyPr lIns="92520" rIns="92520" tIns="46080" bIns="4608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Institution B offers a variety of training programs, one of which is a certified helicopter repair technician program.  The Federal Aviation Administration requires to become certified, the applicant must have 1,500 hours of supervised training.  So every student  in this program would be required to have their attendance taken.  When a student withdraws from this program, the institution must calculate the Return of Title IV Funds consistent with the provisions of 668.22(b) an institution required to take attendance.  Withdrawing students in all the other programs at institution B would be calculated on the basis of 668.22(c) an institution that is not required to take attendance.</a:t>
            </a:r>
            <a:endParaRPr b="0" lang="en-IN" sz="1200" strike="noStrike" u="none">
              <a:solidFill>
                <a:srgbClr val="000000"/>
              </a:solidFill>
              <a:effectLst/>
              <a:uFillTx/>
              <a:latin typeface="Calibri"/>
            </a:endParaRPr>
          </a:p>
        </p:txBody>
      </p:sp>
      <p:sp>
        <p:nvSpPr>
          <p:cNvPr id="323"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B69B8EED-2464-4C6A-B801-62D175F13688}"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1168560" y="692280"/>
            <a:ext cx="4609800" cy="3457440"/>
          </a:xfrm>
          <a:prstGeom prst="rect">
            <a:avLst/>
          </a:prstGeom>
          <a:ln w="0">
            <a:noFill/>
          </a:ln>
        </p:spPr>
      </p:sp>
      <p:sp>
        <p:nvSpPr>
          <p:cNvPr id="325" name="PlaceHolder 2"/>
          <p:cNvSpPr>
            <a:spLocks noGrp="1"/>
          </p:cNvSpPr>
          <p:nvPr>
            <p:ph type="body"/>
          </p:nvPr>
        </p:nvSpPr>
        <p:spPr>
          <a:xfrm>
            <a:off x="695160" y="4379400"/>
            <a:ext cx="5556240" cy="4148280"/>
          </a:xfrm>
          <a:prstGeom prst="rect">
            <a:avLst/>
          </a:prstGeom>
          <a:noFill/>
          <a:ln w="0">
            <a:noFill/>
          </a:ln>
        </p:spPr>
        <p:txBody>
          <a:bodyPr lIns="92520" rIns="92520" tIns="46080" bIns="4608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READ SLIDE</a:t>
            </a:r>
            <a:endParaRPr b="0" lang="en-IN" sz="1200" strike="noStrike" u="none">
              <a:solidFill>
                <a:srgbClr val="000000"/>
              </a:solidFill>
              <a:effectLst/>
              <a:uFillTx/>
              <a:latin typeface="Calibri"/>
            </a:endParaRPr>
          </a:p>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Must be able to document attendance after the period of limited attendance taking.  Either the last date of Academically related activity during the limited period is used unless, the institution can demonstrate that the student attended past the limited period of attendance.  See 75 FR 66900 – Oct 29, 2010 Final Regulation also see TA-Q3 in the Program Integrity Q’s and A’s for the R2T4 heading.  One example could be evidence that a student took a test, submitted a paper or project after the limited period of attendance taking.</a:t>
            </a:r>
            <a:endParaRPr b="0" lang="en-IN" sz="1200" strike="noStrike" u="none">
              <a:solidFill>
                <a:srgbClr val="000000"/>
              </a:solidFill>
              <a:effectLst/>
              <a:uFillTx/>
              <a:latin typeface="Calibri"/>
            </a:endParaRPr>
          </a:p>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326"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F81311A1-D038-42A3-9111-D2DF54EA76B2}"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sldImg"/>
          </p:nvPr>
        </p:nvSpPr>
        <p:spPr>
          <a:xfrm>
            <a:off x="1168560" y="692280"/>
            <a:ext cx="4609800" cy="3457440"/>
          </a:xfrm>
          <a:prstGeom prst="rect">
            <a:avLst/>
          </a:prstGeom>
          <a:ln w="0">
            <a:noFill/>
          </a:ln>
        </p:spPr>
      </p:sp>
      <p:sp>
        <p:nvSpPr>
          <p:cNvPr id="328"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329"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5038F316-AD7C-4962-97FF-D32787E8151A}"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1168560" y="692280"/>
            <a:ext cx="4609800" cy="3457440"/>
          </a:xfrm>
          <a:prstGeom prst="rect">
            <a:avLst/>
          </a:prstGeom>
          <a:ln w="0">
            <a:noFill/>
          </a:ln>
        </p:spPr>
      </p:sp>
      <p:sp>
        <p:nvSpPr>
          <p:cNvPr id="331"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332"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A10C2AE7-BB06-4DB6-BC72-4F362DBB355E}"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Calibri"/>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1168560" y="692280"/>
            <a:ext cx="4609800" cy="3457440"/>
          </a:xfrm>
          <a:prstGeom prst="rect">
            <a:avLst/>
          </a:prstGeom>
          <a:ln w="0">
            <a:noFill/>
          </a:ln>
        </p:spPr>
      </p:sp>
      <p:sp>
        <p:nvSpPr>
          <p:cNvPr id="334"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335"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A5C992F8-1187-4076-BB57-E1A2A72A310E}"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1168560" y="692280"/>
            <a:ext cx="4609800" cy="3457440"/>
          </a:xfrm>
          <a:prstGeom prst="rect">
            <a:avLst/>
          </a:prstGeom>
          <a:ln w="0">
            <a:noFill/>
          </a:ln>
        </p:spPr>
      </p:sp>
      <p:sp>
        <p:nvSpPr>
          <p:cNvPr id="337" name="PlaceHolder 2"/>
          <p:cNvSpPr>
            <a:spLocks noGrp="1"/>
          </p:cNvSpPr>
          <p:nvPr>
            <p:ph type="body"/>
          </p:nvPr>
        </p:nvSpPr>
        <p:spPr>
          <a:xfrm>
            <a:off x="695160" y="4379400"/>
            <a:ext cx="5556240" cy="4148280"/>
          </a:xfrm>
          <a:prstGeom prst="rect">
            <a:avLst/>
          </a:prstGeom>
          <a:noFill/>
          <a:ln w="0">
            <a:noFill/>
          </a:ln>
        </p:spPr>
        <p:txBody>
          <a:bodyPr lIns="92520" rIns="92520" tIns="46080" bIns="4608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Calibri"/>
              </a:rPr>
              <a:t>.</a:t>
            </a:r>
            <a:endParaRPr b="0" lang="en-IN" sz="1200" strike="noStrike" u="none">
              <a:solidFill>
                <a:srgbClr val="000000"/>
              </a:solidFill>
              <a:effectLst/>
              <a:uFillTx/>
              <a:latin typeface="Calibri"/>
            </a:endParaRPr>
          </a:p>
        </p:txBody>
      </p:sp>
      <p:sp>
        <p:nvSpPr>
          <p:cNvPr id="338"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D9A77818-C1B3-4AB3-8AB6-6AA0E50E9E41}"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Img"/>
          </p:nvPr>
        </p:nvSpPr>
        <p:spPr>
          <a:xfrm>
            <a:off x="1168560" y="692280"/>
            <a:ext cx="4609800" cy="3457440"/>
          </a:xfrm>
          <a:prstGeom prst="rect">
            <a:avLst/>
          </a:prstGeom>
          <a:ln w="0">
            <a:noFill/>
          </a:ln>
        </p:spPr>
      </p:sp>
      <p:sp>
        <p:nvSpPr>
          <p:cNvPr id="340"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341"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83812FF9-9795-428E-B966-88D71BD732C6}"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sldImg"/>
          </p:nvPr>
        </p:nvSpPr>
        <p:spPr>
          <a:xfrm>
            <a:off x="1168560" y="692280"/>
            <a:ext cx="4609800" cy="3457440"/>
          </a:xfrm>
          <a:prstGeom prst="rect">
            <a:avLst/>
          </a:prstGeom>
          <a:ln w="0">
            <a:noFill/>
          </a:ln>
        </p:spPr>
      </p:sp>
      <p:sp>
        <p:nvSpPr>
          <p:cNvPr id="343"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344"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A367BC03-6094-46BF-9107-5615D7C00F48}"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sldImg"/>
          </p:nvPr>
        </p:nvSpPr>
        <p:spPr>
          <a:xfrm>
            <a:off x="1168560" y="692280"/>
            <a:ext cx="4609800" cy="3457440"/>
          </a:xfrm>
          <a:prstGeom prst="rect">
            <a:avLst/>
          </a:prstGeom>
          <a:ln w="0">
            <a:noFill/>
          </a:ln>
        </p:spPr>
      </p:sp>
      <p:sp>
        <p:nvSpPr>
          <p:cNvPr id="346"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Calibri"/>
            </a:endParaRPr>
          </a:p>
        </p:txBody>
      </p:sp>
      <p:sp>
        <p:nvSpPr>
          <p:cNvPr id="347"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EF0FBF97-9ACA-4974-9576-44A227DFDC4D}" type="slidenum">
              <a:rPr b="0" lang="en-US" sz="1200" strike="noStrike" u="none">
                <a:solidFill>
                  <a:srgbClr val="000000"/>
                </a:solidFill>
                <a:effectLst/>
                <a:uFillTx/>
                <a:latin typeface="Arial"/>
                <a:ea typeface="MS PGothic"/>
              </a:rPr>
              <a:t>&lt;number&gt;</a:t>
            </a:fld>
            <a:endParaRPr b="0" lang="en-IN" sz="1200" strike="noStrike" u="none">
              <a:solidFill>
                <a:srgbClr val="000000"/>
              </a:solidFill>
              <a:effectLst/>
              <a:uFillTx/>
              <a:latin typeface="Calibri"/>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1168560" y="692280"/>
            <a:ext cx="4609800" cy="3457440"/>
          </a:xfrm>
          <a:prstGeom prst="rect">
            <a:avLst/>
          </a:prstGeom>
          <a:ln w="0">
            <a:noFill/>
          </a:ln>
        </p:spPr>
      </p:sp>
      <p:sp>
        <p:nvSpPr>
          <p:cNvPr id="349"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350"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EAA5AC5B-8FAD-45E3-A0F8-8C12E0BEBCAB}"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Calibri"/>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1168560" y="692280"/>
            <a:ext cx="4609800" cy="3457440"/>
          </a:xfrm>
          <a:prstGeom prst="rect">
            <a:avLst/>
          </a:prstGeom>
          <a:ln w="0">
            <a:noFill/>
          </a:ln>
        </p:spPr>
      </p:sp>
      <p:sp>
        <p:nvSpPr>
          <p:cNvPr id="352" name="PlaceHolder 2"/>
          <p:cNvSpPr>
            <a:spLocks noGrp="1"/>
          </p:cNvSpPr>
          <p:nvPr>
            <p:ph type="body"/>
          </p:nvPr>
        </p:nvSpPr>
        <p:spPr>
          <a:xfrm>
            <a:off x="695160" y="4379400"/>
            <a:ext cx="5556240" cy="41482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200" strike="noStrike" u="none">
              <a:solidFill>
                <a:srgbClr val="000000"/>
              </a:solidFill>
              <a:effectLst/>
              <a:uFillTx/>
              <a:latin typeface="Calibri"/>
            </a:endParaRPr>
          </a:p>
        </p:txBody>
      </p:sp>
      <p:sp>
        <p:nvSpPr>
          <p:cNvPr id="353" name="Slide Number Placeholder 3"/>
          <p:cNvSpPr/>
          <p:nvPr/>
        </p:nvSpPr>
        <p:spPr>
          <a:xfrm>
            <a:off x="3935520" y="8758080"/>
            <a:ext cx="3009960" cy="460440"/>
          </a:xfrm>
          <a:prstGeom prst="rect">
            <a:avLst/>
          </a:prstGeom>
          <a:noFill/>
          <a:ln w="0">
            <a:noFill/>
          </a:ln>
        </p:spPr>
        <p:style>
          <a:lnRef idx="0"/>
          <a:fillRef idx="0"/>
          <a:effectRef idx="0"/>
          <a:fontRef idx="minor"/>
        </p:style>
        <p:txBody>
          <a:bodyPr lIns="92520" rIns="92520" tIns="46080" bIns="46080" anchor="b">
            <a:noAutofit/>
          </a:bodyPr>
          <a:p>
            <a:pPr algn="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6A07F9DF-F45C-4527-A5E6-15555B70DF36}" type="slidenum">
              <a:rPr b="0" lang="en-US" sz="1200" strike="noStrike" u="none">
                <a:solidFill>
                  <a:srgbClr val="000000"/>
                </a:solidFill>
                <a:effectLst/>
                <a:uFillTx/>
                <a:latin typeface="Calibri"/>
              </a:rPr>
              <a:t>&lt;number&gt;</a:t>
            </a:fld>
            <a:endParaRPr b="0" lang="en-IN" sz="1200" strike="noStrike" u="none">
              <a:solidFill>
                <a:srgbClr val="000000"/>
              </a:solidFill>
              <a:effectLst/>
              <a:uFillTx/>
              <a:latin typeface="Calibri"/>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ffffff"/>
        </a:solidFill>
      </p:bgPr>
    </p:bg>
    <p:spTree>
      <p:nvGrpSpPr>
        <p:cNvPr id="1" name=""/>
        <p:cNvGrpSpPr/>
        <p:nvPr/>
      </p:nvGrpSpPr>
      <p:grpSpPr>
        <a:xfrm>
          <a:off x="0" y="0"/>
          <a:ext cx="0" cy="0"/>
          <a:chOff x="0" y="0"/>
          <a:chExt cx="0" cy="0"/>
        </a:xfrm>
      </p:grpSpPr>
      <p:sp>
        <p:nvSpPr>
          <p:cNvPr id="0" name="Rectangle 1"/>
          <p:cNvSpPr/>
          <p:nvPr/>
        </p:nvSpPr>
        <p:spPr>
          <a:xfrm>
            <a:off x="0" y="0"/>
            <a:ext cx="9147240" cy="5486400"/>
          </a:xfrm>
          <a:prstGeom prst="rect">
            <a:avLst/>
          </a:prstGeom>
          <a:solidFill>
            <a:srgbClr val="95c94e"/>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800" strike="noStrike" u="none">
              <a:solidFill>
                <a:srgbClr val="000000"/>
              </a:solidFill>
              <a:effectLst/>
              <a:uFillTx/>
              <a:latin typeface="Calibri"/>
            </a:endParaRPr>
          </a:p>
        </p:txBody>
      </p:sp>
      <p:pic>
        <p:nvPicPr>
          <p:cNvPr id="1" name="Picture 3" descr=""/>
          <p:cNvPicPr/>
          <p:nvPr/>
        </p:nvPicPr>
        <p:blipFill>
          <a:blip r:embed="rId2"/>
          <a:stretch/>
        </p:blipFill>
        <p:spPr>
          <a:xfrm>
            <a:off x="228600" y="5715000"/>
            <a:ext cx="6137280" cy="895320"/>
          </a:xfrm>
          <a:prstGeom prst="rect">
            <a:avLst/>
          </a:prstGeom>
          <a:noFill/>
          <a:ln w="0">
            <a:noFill/>
          </a:ln>
        </p:spPr>
      </p:pic>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3">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0" y="6329520"/>
            <a:ext cx="4495680" cy="537840"/>
          </a:xfrm>
          <a:prstGeom prst="rect">
            <a:avLst/>
          </a:prstGeom>
          <a:solidFill>
            <a:srgbClr val="95c94e"/>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800" strike="noStrike" u="none">
              <a:solidFill>
                <a:srgbClr val="000000"/>
              </a:solidFill>
              <a:effectLst/>
              <a:uFillTx/>
              <a:latin typeface="Calibri"/>
            </a:endParaRPr>
          </a:p>
        </p:txBody>
      </p:sp>
      <p:sp>
        <p:nvSpPr>
          <p:cNvPr id="3" name="Rectangle 1"/>
          <p:cNvSpPr/>
          <p:nvPr/>
        </p:nvSpPr>
        <p:spPr>
          <a:xfrm>
            <a:off x="-14400" y="0"/>
            <a:ext cx="9167760" cy="322200"/>
          </a:xfrm>
          <a:prstGeom prst="rect">
            <a:avLst/>
          </a:prstGeom>
          <a:solidFill>
            <a:srgbClr val="95c94e"/>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800" strike="noStrike" u="none">
              <a:solidFill>
                <a:srgbClr val="000000"/>
              </a:solidFill>
              <a:effectLst/>
              <a:uFillTx/>
              <a:latin typeface="Calibri"/>
            </a:endParaRPr>
          </a:p>
        </p:txBody>
      </p:sp>
      <p:sp>
        <p:nvSpPr>
          <p:cNvPr id="4" name="Straight Connector 4"/>
          <p:cNvSpPr/>
          <p:nvPr/>
        </p:nvSpPr>
        <p:spPr>
          <a:xfrm>
            <a:off x="241200" y="1062000"/>
            <a:ext cx="8645760" cy="0"/>
          </a:xfrm>
          <a:prstGeom prst="line">
            <a:avLst/>
          </a:prstGeom>
          <a:ln w="50760">
            <a:solidFill>
              <a:srgbClr val="595959"/>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pic>
        <p:nvPicPr>
          <p:cNvPr id="5" name="Picture 6" descr=""/>
          <p:cNvPicPr/>
          <p:nvPr/>
        </p:nvPicPr>
        <p:blipFill>
          <a:blip r:embed="rId2"/>
          <a:stretch/>
        </p:blipFill>
        <p:spPr>
          <a:xfrm>
            <a:off x="4645080" y="6211800"/>
            <a:ext cx="4422600" cy="646200"/>
          </a:xfrm>
          <a:prstGeom prst="rect">
            <a:avLst/>
          </a:prstGeom>
          <a:noFill/>
          <a:ln w="0">
            <a:noFill/>
          </a:ln>
        </p:spPr>
      </p:pic>
      <p:sp>
        <p:nvSpPr>
          <p:cNvPr id="6" name="PlaceHolder 1"/>
          <p:cNvSpPr>
            <a:spLocks noGrp="1"/>
          </p:cNvSpPr>
          <p:nvPr>
            <p:ph type="sldNum" idx="1"/>
          </p:nvPr>
        </p:nvSpPr>
        <p:spPr>
          <a:xfrm>
            <a:off x="533520" y="6400800"/>
            <a:ext cx="2133360" cy="365040"/>
          </a:xfrm>
          <a:prstGeom prst="rect">
            <a:avLst/>
          </a:prstGeom>
          <a:noFill/>
          <a:ln w="0">
            <a:noFill/>
          </a:ln>
        </p:spPr>
        <p:txBody>
          <a:bodyPr lIns="90000" rIns="90000" tIns="46800" bIns="46800" anchor="ctr">
            <a:noAutofit/>
          </a:bodyPr>
          <a:lstStyle>
            <a:lvl1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900" strike="noStrike" u="none">
                <a:solidFill>
                  <a:srgbClr val="f2f2f2"/>
                </a:solidFill>
                <a:effectLst/>
                <a:uFillTx/>
                <a:latin typeface="Arial"/>
              </a:defRPr>
            </a:lvl1pPr>
          </a:lstStyle>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4D799CAE-BA77-422A-AC69-386E52B7ABE6}" type="slidenum">
              <a:rPr b="0" lang="en-US" sz="900" strike="noStrike" u="none">
                <a:solidFill>
                  <a:srgbClr val="f2f2f2"/>
                </a:solidFill>
                <a:effectLst/>
                <a:uFillTx/>
                <a:latin typeface="Arial"/>
              </a:rPr>
              <a:t>&lt;number&gt;</a:t>
            </a:fld>
            <a:endParaRPr b="0" lang="en-IN" sz="9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5">
    <p:bg>
      <p:bgPr>
        <a:solidFill>
          <a:srgbClr val="ffffff"/>
        </a:solidFill>
      </p:bgPr>
    </p:bg>
    <p:spTree>
      <p:nvGrpSpPr>
        <p:cNvPr id="1" name=""/>
        <p:cNvGrpSpPr/>
        <p:nvPr/>
      </p:nvGrpSpPr>
      <p:grpSpPr>
        <a:xfrm>
          <a:off x="0" y="0"/>
          <a:ext cx="0" cy="0"/>
          <a:chOff x="0" y="0"/>
          <a:chExt cx="0" cy="0"/>
        </a:xfrm>
      </p:grpSpPr>
      <p:sp>
        <p:nvSpPr>
          <p:cNvPr id="7" name="Rectangle 2"/>
          <p:cNvSpPr/>
          <p:nvPr/>
        </p:nvSpPr>
        <p:spPr>
          <a:xfrm>
            <a:off x="0" y="6329520"/>
            <a:ext cx="4495680" cy="537840"/>
          </a:xfrm>
          <a:prstGeom prst="rect">
            <a:avLst/>
          </a:prstGeom>
          <a:solidFill>
            <a:srgbClr val="95c94e"/>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800" strike="noStrike" u="none">
              <a:solidFill>
                <a:srgbClr val="000000"/>
              </a:solidFill>
              <a:effectLst/>
              <a:uFillTx/>
              <a:latin typeface="Calibri"/>
            </a:endParaRPr>
          </a:p>
        </p:txBody>
      </p:sp>
      <p:sp>
        <p:nvSpPr>
          <p:cNvPr id="8" name="Rectangle 1"/>
          <p:cNvSpPr/>
          <p:nvPr/>
        </p:nvSpPr>
        <p:spPr>
          <a:xfrm>
            <a:off x="-14400" y="0"/>
            <a:ext cx="9167760" cy="322200"/>
          </a:xfrm>
          <a:prstGeom prst="rect">
            <a:avLst/>
          </a:prstGeom>
          <a:solidFill>
            <a:srgbClr val="95c94e"/>
          </a:solidFill>
          <a:ln w="0">
            <a:noFill/>
          </a:ln>
        </p:spPr>
        <p:style>
          <a:lnRef idx="0"/>
          <a:fillRef idx="0"/>
          <a:effectRef idx="0"/>
          <a:fontRef idx="minor"/>
        </p:style>
        <p:txBody>
          <a:bodyPr lIns="0" rIns="0" tIns="0" bIns="0" anchor="t">
            <a:noAutofit/>
          </a:bodyPr>
          <a:p>
            <a:pP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1800" strike="noStrike" u="none">
              <a:solidFill>
                <a:srgbClr val="000000"/>
              </a:solidFill>
              <a:effectLst/>
              <a:uFillTx/>
              <a:latin typeface="Calibri"/>
            </a:endParaRPr>
          </a:p>
        </p:txBody>
      </p:sp>
      <p:pic>
        <p:nvPicPr>
          <p:cNvPr id="9" name="Picture 4" descr=""/>
          <p:cNvPicPr/>
          <p:nvPr/>
        </p:nvPicPr>
        <p:blipFill>
          <a:blip r:embed="rId2"/>
          <a:stretch/>
        </p:blipFill>
        <p:spPr>
          <a:xfrm>
            <a:off x="4645080" y="6221520"/>
            <a:ext cx="4422600" cy="645840"/>
          </a:xfrm>
          <a:prstGeom prst="rect">
            <a:avLst/>
          </a:prstGeom>
          <a:noFill/>
          <a:ln w="0">
            <a:noFill/>
          </a:ln>
        </p:spPr>
      </p:pic>
      <p:sp>
        <p:nvSpPr>
          <p:cNvPr id="10" name="PlaceHolder 1"/>
          <p:cNvSpPr>
            <a:spLocks noGrp="1"/>
          </p:cNvSpPr>
          <p:nvPr>
            <p:ph type="sldNum" idx="2"/>
          </p:nvPr>
        </p:nvSpPr>
        <p:spPr>
          <a:xfrm>
            <a:off x="533520" y="6400800"/>
            <a:ext cx="2133360" cy="365040"/>
          </a:xfrm>
          <a:prstGeom prst="rect">
            <a:avLst/>
          </a:prstGeom>
          <a:noFill/>
          <a:ln w="0">
            <a:noFill/>
          </a:ln>
        </p:spPr>
        <p:txBody>
          <a:bodyPr lIns="90000" rIns="90000" tIns="46800" bIns="46800" anchor="ctr">
            <a:noAutofit/>
          </a:bodyPr>
          <a:lstStyle>
            <a:lvl1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900" strike="noStrike" u="none">
                <a:solidFill>
                  <a:srgbClr val="f2f2f2"/>
                </a:solidFill>
                <a:effectLst/>
                <a:uFillTx/>
                <a:latin typeface="Arial"/>
              </a:defRPr>
            </a:lvl1pPr>
          </a:lstStyle>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32836648-F842-48DA-9662-81F969876785}" type="slidenum">
              <a:rPr b="0" lang="en-US" sz="900" strike="noStrike" u="none">
                <a:solidFill>
                  <a:srgbClr val="f2f2f2"/>
                </a:solidFill>
                <a:effectLst/>
                <a:uFillTx/>
                <a:latin typeface="Arial"/>
              </a:rPr>
              <a:t>&lt;number&gt;</a:t>
            </a:fld>
            <a:endParaRPr b="0" lang="en-IN" sz="9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5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hyperlink" Target="mailto:dan.klock@ed.gov" TargetMode="External"/><Relationship Id="rId2" Type="http://schemas.openxmlformats.org/officeDocument/2006/relationships/slideLayout" Target="../slideLayouts/slideLayout2.xml"/><Relationship Id="rId3" Type="http://schemas.openxmlformats.org/officeDocument/2006/relationships/notesSlide" Target="../notesSlides/notesSlide5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
          <p:cNvSpPr txBox="1"/>
          <p:nvPr/>
        </p:nvSpPr>
        <p:spPr>
          <a:xfrm>
            <a:off x="456840" y="3809520"/>
            <a:ext cx="8458200" cy="1271880"/>
          </a:xfrm>
          <a:prstGeom prst="rect">
            <a:avLst/>
          </a:prstGeom>
          <a:noFill/>
          <a:ln w="0">
            <a:noFill/>
          </a:ln>
        </p:spPr>
        <p:txBody>
          <a:bodyPr lIns="90000" rIns="90000" tIns="46800" bIns="46800" anchor="t">
            <a:normAutofit/>
          </a:bodyPr>
          <a:p>
            <a:pPr algn="r">
              <a:lnSpc>
                <a:spcPct val="100000"/>
              </a:lnSpc>
              <a:spcBef>
                <a:spcPts val="55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200" strike="noStrike" u="none">
                <a:solidFill>
                  <a:srgbClr val="ffffff"/>
                </a:solidFill>
                <a:effectLst/>
                <a:uFillTx/>
                <a:latin typeface="Arial"/>
                <a:ea typeface="Arial"/>
              </a:rPr>
              <a:t>Dan Klock | Dec. 2013</a:t>
            </a:r>
            <a:endParaRPr b="0" lang="en-IN" sz="2200" strike="noStrike" u="none">
              <a:solidFill>
                <a:srgbClr val="000000"/>
              </a:solidFill>
              <a:effectLst/>
              <a:uFillTx/>
              <a:latin typeface="Calibri"/>
            </a:endParaRPr>
          </a:p>
          <a:p>
            <a:pPr algn="r">
              <a:lnSpc>
                <a:spcPct val="100000"/>
              </a:lnSpc>
              <a:spcBef>
                <a:spcPts val="55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200" strike="noStrike" u="none">
                <a:solidFill>
                  <a:srgbClr val="ffffff"/>
                </a:solidFill>
                <a:effectLst/>
                <a:uFillTx/>
                <a:latin typeface="Arial"/>
                <a:ea typeface="Arial"/>
              </a:rPr>
              <a:t>U.S. Department of Education</a:t>
            </a:r>
            <a:endParaRPr b="0" lang="en-IN" sz="2200" strike="noStrike" u="none">
              <a:solidFill>
                <a:srgbClr val="000000"/>
              </a:solidFill>
              <a:effectLst/>
              <a:uFillTx/>
              <a:latin typeface="Calibri"/>
            </a:endParaRPr>
          </a:p>
          <a:p>
            <a:pPr algn="r">
              <a:lnSpc>
                <a:spcPct val="100000"/>
              </a:lnSpc>
              <a:spcBef>
                <a:spcPts val="55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200" strike="noStrike" u="none">
                <a:solidFill>
                  <a:srgbClr val="ffffff"/>
                </a:solidFill>
                <a:effectLst/>
                <a:uFillTx/>
                <a:latin typeface="Arial"/>
                <a:ea typeface="Arial"/>
              </a:rPr>
              <a:t>2013 FSA Training Conference </a:t>
            </a:r>
            <a:r>
              <a:rPr b="0" i="1" lang="en-US" sz="2200" strike="noStrike" u="none">
                <a:solidFill>
                  <a:srgbClr val="ffffff"/>
                </a:solidFill>
                <a:effectLst/>
                <a:uFillTx/>
                <a:latin typeface="Arial"/>
                <a:ea typeface="Arial"/>
              </a:rPr>
              <a:t>for Financial Aid Professionals</a:t>
            </a:r>
            <a:endParaRPr b="0" lang="en-IN" sz="2200" strike="noStrike" u="none">
              <a:solidFill>
                <a:srgbClr val="000000"/>
              </a:solidFill>
              <a:effectLst/>
              <a:uFillTx/>
              <a:latin typeface="Calibri"/>
            </a:endParaRPr>
          </a:p>
        </p:txBody>
      </p:sp>
      <p:sp>
        <p:nvSpPr>
          <p:cNvPr id="19" name="PlaceHolder 1"/>
          <p:cNvSpPr>
            <a:spLocks noGrp="1"/>
          </p:cNvSpPr>
          <p:nvPr>
            <p:ph type="title"/>
          </p:nvPr>
        </p:nvSpPr>
        <p:spPr>
          <a:xfrm>
            <a:off x="-360" y="2004840"/>
            <a:ext cx="8915400" cy="104328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800" strike="noStrike" u="none">
                <a:solidFill>
                  <a:srgbClr val="f2f2f2"/>
                </a:solidFill>
                <a:effectLst/>
                <a:uFillTx/>
                <a:latin typeface="Arial"/>
                <a:ea typeface="Arial"/>
              </a:rPr>
              <a:t>Return of Title IV Funds (R2T4)</a:t>
            </a:r>
            <a:br>
              <a:rPr sz="4800"/>
            </a:br>
            <a:r>
              <a:rPr b="0" lang="en-US" sz="4800" strike="noStrike" u="none">
                <a:solidFill>
                  <a:srgbClr val="f2f2f2"/>
                </a:solidFill>
                <a:effectLst/>
                <a:uFillTx/>
                <a:latin typeface="Arial"/>
                <a:ea typeface="Arial"/>
              </a:rPr>
              <a:t>–</a:t>
            </a:r>
            <a:r>
              <a:rPr b="0" lang="en-US" sz="3600" strike="noStrike" u="none">
                <a:solidFill>
                  <a:srgbClr val="f2f2f2"/>
                </a:solidFill>
                <a:effectLst/>
                <a:uFillTx/>
                <a:latin typeface="Arial"/>
                <a:ea typeface="Arial"/>
              </a:rPr>
              <a:t> Programs of Study Taught in Modules</a:t>
            </a:r>
            <a:br>
              <a:rPr sz="4800"/>
            </a:br>
            <a:r>
              <a:rPr b="0" lang="en-US" sz="4800" strike="noStrike" u="none">
                <a:solidFill>
                  <a:srgbClr val="f2f2f2"/>
                </a:solidFill>
                <a:effectLst/>
                <a:uFillTx/>
                <a:latin typeface="Arial"/>
                <a:ea typeface="Arial"/>
              </a:rPr>
              <a:t>	</a:t>
            </a:r>
            <a:r>
              <a:rPr b="0" lang="en-US" sz="4800" strike="noStrike" u="none">
                <a:solidFill>
                  <a:srgbClr val="f2f2f2"/>
                </a:solidFill>
                <a:effectLst/>
                <a:uFillTx/>
                <a:latin typeface="Arial"/>
                <a:ea typeface="Arial"/>
              </a:rPr>
              <a:t>	</a:t>
            </a:r>
            <a:r>
              <a:rPr b="0" lang="en-US" sz="4800" strike="noStrike" u="none">
                <a:solidFill>
                  <a:srgbClr val="f2f2f2"/>
                </a:solidFill>
                <a:effectLst/>
                <a:uFillTx/>
                <a:latin typeface="Arial"/>
                <a:ea typeface="Arial"/>
              </a:rPr>
              <a:t>	</a:t>
            </a:r>
            <a:r>
              <a:rPr b="0" lang="en-US" sz="4800" strike="noStrike" u="none">
                <a:solidFill>
                  <a:srgbClr val="f2f2f2"/>
                </a:solidFill>
                <a:effectLst/>
                <a:uFillTx/>
                <a:latin typeface="Arial"/>
                <a:ea typeface="Arial"/>
              </a:rPr>
              <a:t>	</a:t>
            </a:r>
            <a:r>
              <a:rPr b="0" lang="en-US" sz="4800" strike="noStrike" u="none">
                <a:solidFill>
                  <a:srgbClr val="f2f2f2"/>
                </a:solidFill>
                <a:effectLst/>
                <a:uFillTx/>
                <a:latin typeface="Arial"/>
                <a:ea typeface="Arial"/>
              </a:rPr>
              <a:t>	</a:t>
            </a:r>
            <a:r>
              <a:rPr b="0" lang="en-US" sz="4800" strike="noStrike" u="none">
                <a:solidFill>
                  <a:srgbClr val="f2f2f2"/>
                </a:solidFill>
                <a:effectLst/>
                <a:uFillTx/>
                <a:latin typeface="Arial"/>
                <a:ea typeface="Arial"/>
              </a:rPr>
              <a:t>	</a:t>
            </a:r>
            <a:r>
              <a:rPr b="0" lang="en-US" sz="4800" strike="noStrike" u="none">
                <a:solidFill>
                  <a:srgbClr val="f2f2f2"/>
                </a:solidFill>
                <a:effectLst/>
                <a:uFillTx/>
                <a:latin typeface="Arial"/>
                <a:ea typeface="Arial"/>
              </a:rPr>
              <a:t>	</a:t>
            </a:r>
            <a:r>
              <a:rPr b="0" lang="en-US" sz="4800" strike="noStrike" u="none">
                <a:solidFill>
                  <a:srgbClr val="f2f2f2"/>
                </a:solidFill>
                <a:effectLst/>
                <a:uFillTx/>
                <a:latin typeface="Arial"/>
                <a:ea typeface="Arial"/>
              </a:rPr>
              <a:t>	</a:t>
            </a:r>
            <a:r>
              <a:rPr b="0" lang="en-US" sz="4800" strike="noStrike" u="none">
                <a:solidFill>
                  <a:srgbClr val="f2f2f2"/>
                </a:solidFill>
                <a:effectLst/>
                <a:uFillTx/>
                <a:latin typeface="Arial"/>
                <a:ea typeface="Arial"/>
              </a:rPr>
              <a:t>	</a:t>
            </a:r>
            <a:r>
              <a:rPr b="0" lang="en-US" sz="4800" strike="noStrike" u="none">
                <a:solidFill>
                  <a:srgbClr val="f2f2f2"/>
                </a:solidFill>
                <a:effectLst/>
                <a:uFillTx/>
                <a:latin typeface="Arial"/>
                <a:ea typeface="Arial"/>
              </a:rPr>
              <a:t>	</a:t>
            </a:r>
            <a:endParaRPr b="0" lang="en-IN" sz="4800" strike="noStrike" u="none">
              <a:solidFill>
                <a:srgbClr val="000000"/>
              </a:solidFill>
              <a:effectLst/>
              <a:uFillTx/>
              <a:latin typeface="Calibri"/>
            </a:endParaRPr>
          </a:p>
        </p:txBody>
      </p:sp>
      <p:sp>
        <p:nvSpPr>
          <p:cNvPr id="20" name="Title 3"/>
          <p:cNvSpPr/>
          <p:nvPr/>
        </p:nvSpPr>
        <p:spPr>
          <a:xfrm>
            <a:off x="152280" y="262080"/>
            <a:ext cx="3733920" cy="73800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800" strike="noStrike" u="none">
                <a:solidFill>
                  <a:srgbClr val="f2f2f2"/>
                </a:solidFill>
                <a:effectLst/>
                <a:uFillTx/>
                <a:latin typeface="Arial"/>
              </a:rPr>
              <a:t>Session # 22</a:t>
            </a:r>
            <a:endParaRPr b="0" lang="en-IN" sz="48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49225373-AD67-4A0E-9C81-8253146A23DE}" type="slidenum">
              <a:rPr b="0" lang="en-US" sz="1400" strike="noStrike" u="none">
                <a:solidFill>
                  <a:srgbClr val="000000"/>
                </a:solidFill>
                <a:effectLst/>
                <a:uFillTx/>
                <a:latin typeface="Arial"/>
                <a:ea typeface="MS PGothic"/>
              </a:rPr>
              <a:t>&lt;number&gt;</a:t>
            </a:fld>
            <a:endParaRPr b="0" lang="en-IN" sz="1400" strike="noStrike" u="none">
              <a:solidFill>
                <a:srgbClr val="000000"/>
              </a:solidFill>
              <a:effectLst/>
              <a:uFillTx/>
              <a:latin typeface="Calibri"/>
            </a:endParaRPr>
          </a:p>
        </p:txBody>
      </p:sp>
      <p:sp>
        <p:nvSpPr>
          <p:cNvPr id="22" name="PlaceHolder 1"/>
          <p:cNvSpPr>
            <a:spLocks noGrp="1"/>
          </p:cNvSpPr>
          <p:nvPr>
            <p:ph type="title"/>
          </p:nvPr>
        </p:nvSpPr>
        <p:spPr>
          <a:xfrm>
            <a:off x="460080" y="533520"/>
            <a:ext cx="8553240" cy="91440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TOPICS covered today</a:t>
            </a:r>
            <a:r>
              <a:rPr b="0" lang="en-US" sz="3600" strike="noStrike" u="none">
                <a:solidFill>
                  <a:srgbClr val="595959"/>
                </a:solidFill>
                <a:effectLst/>
                <a:uFillTx/>
                <a:latin typeface="Arial"/>
                <a:ea typeface="Arial"/>
              </a:rPr>
              <a:t>	</a:t>
            </a:r>
            <a:endParaRPr b="0" lang="en-IN" sz="3600" strike="noStrike" u="none">
              <a:solidFill>
                <a:srgbClr val="000000"/>
              </a:solidFill>
              <a:effectLst/>
              <a:uFillTx/>
              <a:latin typeface="Calibri"/>
            </a:endParaRPr>
          </a:p>
        </p:txBody>
      </p:sp>
      <p:sp>
        <p:nvSpPr>
          <p:cNvPr id="23" name="PlaceHolder 2"/>
          <p:cNvSpPr>
            <a:spLocks noGrp="1"/>
          </p:cNvSpPr>
          <p:nvPr>
            <p:ph/>
          </p:nvPr>
        </p:nvSpPr>
        <p:spPr>
          <a:xfrm>
            <a:off x="304920" y="1295280"/>
            <a:ext cx="7975440" cy="4572000"/>
          </a:xfrm>
          <a:prstGeom prst="rect">
            <a:avLst/>
          </a:prstGeom>
          <a:noFill/>
          <a:ln w="0">
            <a:noFill/>
          </a:ln>
        </p:spPr>
        <p:txBody>
          <a:bodyPr lIns="90000" rIns="90000" tIns="46800" bIns="46800" anchor="t">
            <a:normAutofit/>
          </a:bodyPr>
          <a:p>
            <a:pPr marL="230040" indent="0">
              <a:lnSpc>
                <a:spcPct val="100000"/>
              </a:lnSpc>
              <a:spcBef>
                <a:spcPts val="700"/>
              </a:spcBef>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Recent regulations – prior to the Program Integrity rules</a:t>
            </a:r>
            <a:endParaRPr b="0" lang="en-IN" sz="24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Program Integrity rules</a:t>
            </a:r>
            <a:endParaRPr b="0" lang="en-IN" sz="24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Questions and Answers</a:t>
            </a:r>
            <a:endParaRPr b="0" lang="en-IN" sz="24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Contact information</a:t>
            </a:r>
            <a:endParaRPr b="0" lang="en-IN" sz="2400" strike="noStrike" u="none">
              <a:solidFill>
                <a:srgbClr val="000000"/>
              </a:solidFill>
              <a:effectLst/>
              <a:uFillTx/>
              <a:latin typeface="Calibri"/>
            </a:endParaRPr>
          </a:p>
          <a:p>
            <a:pPr marL="230040" indent="0">
              <a:lnSpc>
                <a:spcPct val="100000"/>
              </a:lnSpc>
              <a:spcBef>
                <a:spcPts val="700"/>
              </a:spcBef>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a:p>
            <a:pPr marL="230040" indent="0">
              <a:lnSpc>
                <a:spcPct val="100000"/>
              </a:lnSpc>
              <a:spcBef>
                <a:spcPts val="700"/>
              </a:spcBef>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a:p>
            <a:pPr marL="230040" indent="-230040">
              <a:lnSpc>
                <a:spcPct val="100000"/>
              </a:lnSpc>
              <a:spcBef>
                <a:spcPts val="700"/>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Theory Behind the Calculation</a:t>
            </a:r>
            <a:endParaRPr b="0" lang="en-IN" sz="4000" strike="noStrike" u="none">
              <a:solidFill>
                <a:srgbClr val="000000"/>
              </a:solidFill>
              <a:effectLst/>
              <a:uFillTx/>
              <a:latin typeface="Calibri"/>
            </a:endParaRPr>
          </a:p>
        </p:txBody>
      </p:sp>
      <p:sp>
        <p:nvSpPr>
          <p:cNvPr id="25" name=""/>
          <p:cNvSpPr txBox="1"/>
          <p:nvPr/>
        </p:nvSpPr>
        <p:spPr>
          <a:xfrm>
            <a:off x="228600" y="1219320"/>
            <a:ext cx="8686800" cy="4830480"/>
          </a:xfrm>
          <a:prstGeom prst="rect">
            <a:avLst/>
          </a:prstGeom>
          <a:noFill/>
          <a:ln w="0">
            <a:noFill/>
          </a:ln>
        </p:spPr>
        <p:txBody>
          <a:bodyPr lIns="90000" rIns="90000" tIns="46800" bIns="46800" anchor="t">
            <a:normAutofit/>
          </a:bodyPr>
          <a:p>
            <a:pPr marL="230040" indent="-230040">
              <a:lnSpc>
                <a:spcPct val="100000"/>
              </a:lnSpc>
              <a:spcBef>
                <a:spcPts val="799"/>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32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Student earns Title IV aid through attendance</a:t>
            </a:r>
            <a:endParaRPr b="0" lang="en-IN" sz="24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Percentage of aid earned is equal to the percentage of the payment period or period of enrollment completed (or in the case of a clock- hour program – the percentage of the scheduled clock hours completed)</a:t>
            </a:r>
            <a:endParaRPr b="0" lang="en-IN" sz="2000" strike="noStrike" u="none">
              <a:solidFill>
                <a:srgbClr val="000000"/>
              </a:solidFill>
              <a:effectLst/>
              <a:uFillTx/>
              <a:latin typeface="Calibri"/>
            </a:endParaRPr>
          </a:p>
        </p:txBody>
      </p:sp>
      <p:sp>
        <p:nvSpPr>
          <p:cNvPr id="26"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59CD66C9-0AB9-4136-8EBD-70BA02A9EE54}"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F42C2C5F-E052-4B20-A63F-1E77BE3F6C99}"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28" name="PlaceHolder 1"/>
          <p:cNvSpPr>
            <a:spLocks noGrp="1"/>
          </p:cNvSpPr>
          <p:nvPr>
            <p:ph type="title"/>
          </p:nvPr>
        </p:nvSpPr>
        <p:spPr>
          <a:xfrm>
            <a:off x="457200" y="456840"/>
            <a:ext cx="8553600" cy="76212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 34 CFR 668.22</a:t>
            </a:r>
            <a:r>
              <a:rPr b="0" lang="en-US" sz="3600" strike="noStrike" u="none">
                <a:solidFill>
                  <a:srgbClr val="595959"/>
                </a:solidFill>
                <a:effectLst/>
                <a:uFillTx/>
                <a:latin typeface="Arial"/>
                <a:ea typeface="Arial"/>
              </a:rPr>
              <a:t>	</a:t>
            </a:r>
            <a:endParaRPr b="0" lang="en-IN" sz="3600" strike="noStrike" u="none">
              <a:solidFill>
                <a:srgbClr val="000000"/>
              </a:solidFill>
              <a:effectLst/>
              <a:uFillTx/>
              <a:latin typeface="Calibri"/>
            </a:endParaRPr>
          </a:p>
        </p:txBody>
      </p:sp>
      <p:sp>
        <p:nvSpPr>
          <p:cNvPr id="29" name="PlaceHolder 2"/>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When a recipient ceases attendance before the scheduled end of the program for which s/he received Title IV, HEA aid</a:t>
            </a:r>
            <a:endParaRPr b="0" lang="en-IN" sz="24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The institution is required to determine the amount of aid that the student earned</a:t>
            </a:r>
            <a:endParaRPr b="0" lang="en-IN" sz="20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The institution also determines the unearned portion </a:t>
            </a:r>
            <a:endParaRPr b="0" lang="en-IN" sz="2000" strike="noStrike" u="none">
              <a:solidFill>
                <a:srgbClr val="000000"/>
              </a:solidFill>
              <a:effectLst/>
              <a:uFillTx/>
              <a:latin typeface="Calibri"/>
            </a:endParaRPr>
          </a:p>
          <a:p>
            <a:pPr marL="230040" indent="-230040">
              <a:lnSpc>
                <a:spcPct val="100000"/>
              </a:lnSpc>
              <a:spcBef>
                <a:spcPts val="700"/>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a:p>
            <a:pPr marL="230040" indent="-230040">
              <a:lnSpc>
                <a:spcPct val="100000"/>
              </a:lnSpc>
              <a:spcBef>
                <a:spcPts val="700"/>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35B8AC2C-A999-42FB-A537-006C5F9939E4}"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31" name="PlaceHolder 1"/>
          <p:cNvSpPr>
            <a:spLocks noGrp="1"/>
          </p:cNvSpPr>
          <p:nvPr>
            <p:ph type="title"/>
          </p:nvPr>
        </p:nvSpPr>
        <p:spPr>
          <a:xfrm>
            <a:off x="457200" y="457200"/>
            <a:ext cx="8553600" cy="8762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Rules prior to 7/1/11</a:t>
            </a:r>
            <a:endParaRPr b="0" lang="en-IN" sz="3600" strike="noStrike" u="none">
              <a:solidFill>
                <a:srgbClr val="000000"/>
              </a:solidFill>
              <a:effectLst/>
              <a:uFillTx/>
              <a:latin typeface="Calibri"/>
            </a:endParaRPr>
          </a:p>
        </p:txBody>
      </p:sp>
      <p:sp>
        <p:nvSpPr>
          <p:cNvPr id="32" name="PlaceHolder 2"/>
          <p:cNvSpPr>
            <a:spLocks noGrp="1"/>
          </p:cNvSpPr>
          <p:nvPr>
            <p:ph/>
          </p:nvPr>
        </p:nvSpPr>
        <p:spPr>
          <a:xfrm>
            <a:off x="304920" y="1295280"/>
            <a:ext cx="7975440" cy="45720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R2T4 prior to 7/1/11 did not specifically deal with term-based programs with courses that are less than the length of the term</a:t>
            </a:r>
            <a:endParaRPr b="0" lang="en-IN" sz="24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GEN-00-24 – (December 2000) – we said when a student is in a modular program within a standard term and the student completes at least one of the modules, then R2T4 does not apply</a:t>
            </a:r>
            <a:endParaRPr b="0" lang="en-IN" sz="24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Completing one compressed course is the equivalent of completing a single course that spans the entire PP or POE</a:t>
            </a:r>
            <a:endParaRPr b="0" lang="en-IN" sz="20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456840"/>
            <a:ext cx="8553600" cy="60948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GEN - 00-24 (December 2000)</a:t>
            </a:r>
            <a:endParaRPr b="0" lang="en-IN" sz="4000" strike="noStrike" u="none">
              <a:solidFill>
                <a:srgbClr val="000000"/>
              </a:solidFill>
              <a:effectLst/>
              <a:uFillTx/>
              <a:latin typeface="Calibri"/>
            </a:endParaRPr>
          </a:p>
        </p:txBody>
      </p:sp>
      <p:sp>
        <p:nvSpPr>
          <p:cNvPr id="34" name="Text Box 9"/>
          <p:cNvSpPr/>
          <p:nvPr/>
        </p:nvSpPr>
        <p:spPr>
          <a:xfrm>
            <a:off x="838080" y="1523880"/>
            <a:ext cx="167652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1</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p:txBody>
      </p:sp>
      <p:sp>
        <p:nvSpPr>
          <p:cNvPr id="35" name="Text Box 10"/>
          <p:cNvSpPr/>
          <p:nvPr/>
        </p:nvSpPr>
        <p:spPr>
          <a:xfrm>
            <a:off x="838080" y="2590920"/>
            <a:ext cx="685800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2</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p:txBody>
      </p:sp>
      <p:sp>
        <p:nvSpPr>
          <p:cNvPr id="36" name="Text Box 11"/>
          <p:cNvSpPr/>
          <p:nvPr/>
        </p:nvSpPr>
        <p:spPr>
          <a:xfrm>
            <a:off x="838080" y="3657600"/>
            <a:ext cx="304812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3</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p:txBody>
      </p:sp>
      <p:sp>
        <p:nvSpPr>
          <p:cNvPr id="37" name="Text Box 22"/>
          <p:cNvSpPr/>
          <p:nvPr/>
        </p:nvSpPr>
        <p:spPr>
          <a:xfrm>
            <a:off x="914400" y="4800600"/>
            <a:ext cx="7162920" cy="13816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                      WD</a:t>
            </a:r>
            <a:endParaRPr b="0" lang="en-IN" sz="2400" strike="noStrike" u="none">
              <a:solidFill>
                <a:srgbClr val="000000"/>
              </a:solidFill>
              <a:effectLst/>
              <a:uFillTx/>
              <a:latin typeface="Calibri"/>
            </a:endParaRPr>
          </a:p>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Withdrawal after completing Session 1 and two weeks into Session 2 and 3</a:t>
            </a:r>
            <a:endParaRPr b="0" lang="en-IN" sz="2400" strike="noStrike" u="none">
              <a:solidFill>
                <a:srgbClr val="000000"/>
              </a:solidFill>
              <a:effectLst/>
              <a:uFillTx/>
              <a:latin typeface="Calibri"/>
            </a:endParaRPr>
          </a:p>
        </p:txBody>
      </p:sp>
      <p:sp>
        <p:nvSpPr>
          <p:cNvPr id="38" name="Line 10"/>
          <p:cNvSpPr/>
          <p:nvPr/>
        </p:nvSpPr>
        <p:spPr>
          <a:xfrm>
            <a:off x="2971800" y="2819520"/>
            <a:ext cx="0" cy="21333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39"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A956DDF3-32DA-4247-B909-362AF5FE1162}"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2CAA66E3-9257-4364-B15B-83997D27AF96}"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41" name="PlaceHolder 1"/>
          <p:cNvSpPr>
            <a:spLocks noGrp="1"/>
          </p:cNvSpPr>
          <p:nvPr>
            <p:ph type="title"/>
          </p:nvPr>
        </p:nvSpPr>
        <p:spPr>
          <a:xfrm>
            <a:off x="457200" y="533520"/>
            <a:ext cx="8553600" cy="76176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95959"/>
                </a:solidFill>
                <a:effectLst/>
                <a:uFillTx/>
                <a:latin typeface="Arial"/>
                <a:ea typeface="Arial"/>
              </a:rPr>
              <a:t>Program Integrity – Final Regulations (75 FR 66832) 10/29/10</a:t>
            </a:r>
            <a:endParaRPr b="0" lang="en-IN" sz="2400" strike="noStrike" u="none">
              <a:solidFill>
                <a:srgbClr val="000000"/>
              </a:solidFill>
              <a:effectLst/>
              <a:uFillTx/>
              <a:latin typeface="Calibri"/>
            </a:endParaRPr>
          </a:p>
        </p:txBody>
      </p:sp>
      <p:sp>
        <p:nvSpPr>
          <p:cNvPr id="42" name="PlaceHolder 2"/>
          <p:cNvSpPr>
            <a:spLocks noGrp="1"/>
          </p:cNvSpPr>
          <p:nvPr>
            <p:ph/>
          </p:nvPr>
        </p:nvSpPr>
        <p:spPr>
          <a:xfrm>
            <a:off x="304920" y="1447920"/>
            <a:ext cx="7975440" cy="441936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Return of Title IV Funds topics:</a:t>
            </a:r>
            <a:endParaRPr b="0" lang="en-IN" sz="24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Definitions</a:t>
            </a:r>
            <a:endParaRPr b="0" lang="en-IN" sz="20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When a student is considered a withdrawal </a:t>
            </a:r>
            <a:endParaRPr b="0" lang="en-IN" sz="20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Written Confirmation</a:t>
            </a:r>
            <a:endParaRPr b="0" lang="en-IN" sz="20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Institution that is required to take attendance</a:t>
            </a:r>
            <a:endParaRPr b="0" lang="en-IN" sz="20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Total # of days in a PP or POE</a:t>
            </a:r>
            <a:endParaRPr b="0" lang="en-IN" sz="20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Programs offered in modules</a:t>
            </a:r>
            <a:endParaRPr b="0" lang="en-IN" sz="20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Academically-related activities</a:t>
            </a:r>
            <a:endParaRPr b="0" lang="en-IN" sz="20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460080" y="414360"/>
            <a:ext cx="8553240" cy="65232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R2T4 – Current Definitions </a:t>
            </a:r>
            <a:br>
              <a:rPr sz="3600"/>
            </a:br>
            <a:br>
              <a:rPr sz="3600"/>
            </a:br>
            <a:endParaRPr b="0" lang="en-IN" sz="4000" strike="noStrike" u="none">
              <a:solidFill>
                <a:srgbClr val="000000"/>
              </a:solidFill>
              <a:effectLst/>
              <a:uFillTx/>
              <a:latin typeface="Calibri"/>
            </a:endParaRPr>
          </a:p>
        </p:txBody>
      </p:sp>
      <p:sp>
        <p:nvSpPr>
          <p:cNvPr id="44" name="PlaceHolder 2"/>
          <p:cNvSpPr>
            <a:spLocks noGrp="1"/>
          </p:cNvSpPr>
          <p:nvPr>
            <p:ph/>
          </p:nvPr>
        </p:nvSpPr>
        <p:spPr>
          <a:xfrm>
            <a:off x="533520" y="1523880"/>
            <a:ext cx="8229600" cy="452592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Standard Terms</a:t>
            </a:r>
            <a:endParaRPr b="0" lang="en-IN" sz="24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Semesters, trimesters – generally 14 – 17 weeks long</a:t>
            </a:r>
            <a:endParaRPr b="0" lang="en-IN" sz="20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Quarters – generally 10 – 12 weeks long</a:t>
            </a:r>
            <a:endParaRPr b="0" lang="en-IN" sz="2000" strike="noStrike" u="none">
              <a:solidFill>
                <a:srgbClr val="000000"/>
              </a:solidFill>
              <a:effectLst/>
              <a:uFillTx/>
              <a:latin typeface="Calibri"/>
            </a:endParaRPr>
          </a:p>
          <a:p>
            <a:pPr lvl="1" marL="404640" indent="-174600">
              <a:lnSpc>
                <a:spcPct val="100000"/>
              </a:lnSpc>
              <a:spcBef>
                <a:spcPts val="499"/>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000" strike="noStrike" u="none">
              <a:solidFill>
                <a:srgbClr val="000000"/>
              </a:solidFill>
              <a:effectLst/>
              <a:uFillTx/>
              <a:latin typeface="Calibri"/>
            </a:endParaRPr>
          </a:p>
          <a:p>
            <a:pPr marL="230040" indent="-230040">
              <a:lnSpc>
                <a:spcPct val="100000"/>
              </a:lnSpc>
              <a:spcBef>
                <a:spcPts val="499"/>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Non-standard terms – where all coursework is expected to begin and end within a set period of time that is not a semester, trimester or quarter terms</a:t>
            </a:r>
            <a:endParaRPr b="0" lang="en-IN" sz="2000" strike="noStrike" u="none">
              <a:solidFill>
                <a:srgbClr val="000000"/>
              </a:solidFill>
              <a:effectLst/>
              <a:uFillTx/>
              <a:latin typeface="Calibri"/>
            </a:endParaRPr>
          </a:p>
          <a:p>
            <a:pPr marL="230040" indent="-230040">
              <a:lnSpc>
                <a:spcPct val="100000"/>
              </a:lnSpc>
              <a:spcBef>
                <a:spcPts val="499"/>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000" strike="noStrike" u="none">
              <a:solidFill>
                <a:srgbClr val="000000"/>
              </a:solidFill>
              <a:effectLst/>
              <a:uFillTx/>
              <a:latin typeface="Calibri"/>
            </a:endParaRPr>
          </a:p>
          <a:p>
            <a:pPr marL="230040" indent="-230040">
              <a:lnSpc>
                <a:spcPct val="100000"/>
              </a:lnSpc>
              <a:spcBef>
                <a:spcPts val="499"/>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Non-terms – all clock-hour programs and credit-hour programs that do not begin and end within a set time (self-paced), where courses overlap, where sequential courses do not begin and end within a term</a:t>
            </a:r>
            <a:endParaRPr b="0" lang="en-IN" sz="2000" strike="noStrike" u="none">
              <a:solidFill>
                <a:srgbClr val="000000"/>
              </a:solidFill>
              <a:effectLst/>
              <a:uFillTx/>
              <a:latin typeface="Calibri"/>
            </a:endParaRPr>
          </a:p>
        </p:txBody>
      </p:sp>
      <p:sp>
        <p:nvSpPr>
          <p:cNvPr id="45"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D00510AD-F353-4DAD-8B73-BCD34143CF32}"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460080" y="414000"/>
            <a:ext cx="8553240" cy="57636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R2T4 – Current Definitions</a:t>
            </a:r>
            <a:br>
              <a:rPr sz="3600"/>
            </a:br>
            <a:r>
              <a:rPr b="0" lang="en-US" sz="3600" strike="noStrike" u="none">
                <a:solidFill>
                  <a:srgbClr val="595959"/>
                </a:solidFill>
                <a:effectLst/>
                <a:uFillTx/>
                <a:latin typeface="Arial"/>
                <a:ea typeface="Arial"/>
              </a:rPr>
              <a:t> </a:t>
            </a:r>
            <a:br>
              <a:rPr sz="3600"/>
            </a:br>
            <a:endParaRPr b="0" lang="en-IN" sz="3600" strike="noStrike" u="none">
              <a:solidFill>
                <a:srgbClr val="000000"/>
              </a:solidFill>
              <a:effectLst/>
              <a:uFillTx/>
              <a:latin typeface="Calibri"/>
            </a:endParaRPr>
          </a:p>
        </p:txBody>
      </p:sp>
      <p:sp>
        <p:nvSpPr>
          <p:cNvPr id="47" name=""/>
          <p:cNvSpPr txBox="1"/>
          <p:nvPr/>
        </p:nvSpPr>
        <p:spPr>
          <a:xfrm>
            <a:off x="457200" y="1905120"/>
            <a:ext cx="8229600" cy="452592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“Week of instructional time”</a:t>
            </a:r>
            <a:endParaRPr b="0" lang="en-IN" sz="24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Any seven consecutive day period with at least one day in which scheduled instruction or examination occurs</a:t>
            </a:r>
            <a:endParaRPr b="0" lang="en-IN" sz="20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Does not include homework time, vacation time, orientation or counseling</a:t>
            </a:r>
            <a:endParaRPr b="0" lang="en-IN" sz="2000" strike="noStrike" u="none">
              <a:solidFill>
                <a:srgbClr val="000000"/>
              </a:solidFill>
              <a:effectLst/>
              <a:uFillTx/>
              <a:latin typeface="Calibri"/>
            </a:endParaRPr>
          </a:p>
        </p:txBody>
      </p:sp>
      <p:sp>
        <p:nvSpPr>
          <p:cNvPr id="48"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771BD186-978A-47F9-AC2E-F0EB752C99F4}"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460080" y="414000"/>
            <a:ext cx="8553240" cy="133812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R2T4 – Definitions </a:t>
            </a:r>
            <a:r>
              <a:rPr b="0" lang="en-US" sz="3200" strike="noStrike" u="none">
                <a:solidFill>
                  <a:srgbClr val="595959"/>
                </a:solidFill>
                <a:effectLst/>
                <a:uFillTx/>
                <a:latin typeface="Arial"/>
                <a:ea typeface="Arial"/>
              </a:rPr>
              <a:t>	</a:t>
            </a:r>
            <a:endParaRPr b="0" lang="en-IN" sz="3200" strike="noStrike" u="none">
              <a:solidFill>
                <a:srgbClr val="000000"/>
              </a:solidFill>
              <a:effectLst/>
              <a:uFillTx/>
              <a:latin typeface="Calibri"/>
            </a:endParaRPr>
          </a:p>
        </p:txBody>
      </p:sp>
      <p:sp>
        <p:nvSpPr>
          <p:cNvPr id="50" name="PlaceHolder 2"/>
          <p:cNvSpPr>
            <a:spLocks noGrp="1"/>
          </p:cNvSpPr>
          <p:nvPr>
            <p:ph/>
          </p:nvPr>
        </p:nvSpPr>
        <p:spPr>
          <a:xfrm>
            <a:off x="533520" y="1523880"/>
            <a:ext cx="8229600" cy="4525920"/>
          </a:xfrm>
          <a:prstGeom prst="rect">
            <a:avLst/>
          </a:prstGeom>
          <a:noFill/>
          <a:ln w="0">
            <a:noFill/>
          </a:ln>
        </p:spPr>
        <p:txBody>
          <a:bodyPr lIns="90000" rIns="90000" tIns="46800" bIns="46800" anchor="t">
            <a:normAutofit/>
          </a:bodyPr>
          <a:p>
            <a:pPr marL="230040" indent="0">
              <a:lnSpc>
                <a:spcPct val="100000"/>
              </a:lnSpc>
              <a:spcBef>
                <a:spcPts val="601"/>
              </a:spcBef>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“Offered in modules”</a:t>
            </a:r>
            <a:endParaRPr b="0" lang="en-IN" sz="24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When a course does not span the entire payment period (PP) or period of enrollment (POE)</a:t>
            </a:r>
            <a:endParaRPr b="0" lang="en-IN" sz="2000" strike="noStrike" u="none">
              <a:solidFill>
                <a:srgbClr val="000000"/>
              </a:solidFill>
              <a:effectLst/>
              <a:uFillTx/>
              <a:latin typeface="Calibri"/>
            </a:endParaRPr>
          </a:p>
        </p:txBody>
      </p:sp>
      <p:sp>
        <p:nvSpPr>
          <p:cNvPr id="51"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06E58E6D-A854-4A37-96BE-A7D1BFD86BAC}"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460080" y="414000"/>
            <a:ext cx="8553240" cy="103356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“Offered in modules”</a:t>
            </a:r>
            <a:endParaRPr b="0" lang="en-IN" sz="4000" strike="noStrike" u="none">
              <a:solidFill>
                <a:srgbClr val="000000"/>
              </a:solidFill>
              <a:effectLst/>
              <a:uFillTx/>
              <a:latin typeface="Calibri"/>
            </a:endParaRPr>
          </a:p>
        </p:txBody>
      </p:sp>
      <p:sp>
        <p:nvSpPr>
          <p:cNvPr id="53" name=""/>
          <p:cNvSpPr txBox="1"/>
          <p:nvPr/>
        </p:nvSpPr>
        <p:spPr>
          <a:xfrm>
            <a:off x="533520" y="1523880"/>
            <a:ext cx="8229600" cy="452592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If the student ceases attendance before the period for which aid was awarded, it is a withdrawal</a:t>
            </a:r>
            <a:endParaRPr b="0" lang="en-IN" sz="24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The denominator of the Return calculation includes the full # of days used to determine the aid award, absent any institutionally scheduled breaks of 5 or more consecutive days or periods of time that the student was on an approved LOA</a:t>
            </a:r>
            <a:endParaRPr b="0" lang="en-IN" sz="2400" strike="noStrike" u="none">
              <a:solidFill>
                <a:srgbClr val="000000"/>
              </a:solidFill>
              <a:effectLst/>
              <a:uFillTx/>
              <a:latin typeface="Calibri"/>
            </a:endParaRPr>
          </a:p>
        </p:txBody>
      </p:sp>
      <p:sp>
        <p:nvSpPr>
          <p:cNvPr id="54"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57F43671-C4B1-4D4D-A29B-A76C7CD7114B}"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32480F32-6554-441D-983B-1BF0D01FBBA0}"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56" name="PlaceHolder 1"/>
          <p:cNvSpPr>
            <a:spLocks noGrp="1"/>
          </p:cNvSpPr>
          <p:nvPr>
            <p:ph type="title"/>
          </p:nvPr>
        </p:nvSpPr>
        <p:spPr>
          <a:xfrm>
            <a:off x="228240" y="414000"/>
            <a:ext cx="8785080" cy="103356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Written confirmation</a:t>
            </a:r>
            <a:r>
              <a:rPr b="0" lang="en-US" sz="3600" strike="noStrike" u="none">
                <a:solidFill>
                  <a:srgbClr val="595959"/>
                </a:solidFill>
                <a:effectLst/>
                <a:uFillTx/>
                <a:latin typeface="Arial"/>
                <a:ea typeface="Arial"/>
              </a:rPr>
              <a:t>	</a:t>
            </a:r>
            <a:endParaRPr b="0" lang="en-IN" sz="3600" strike="noStrike" u="none">
              <a:solidFill>
                <a:srgbClr val="000000"/>
              </a:solidFill>
              <a:effectLst/>
              <a:uFillTx/>
              <a:latin typeface="Calibri"/>
            </a:endParaRPr>
          </a:p>
        </p:txBody>
      </p:sp>
      <p:sp>
        <p:nvSpPr>
          <p:cNvPr id="57" name="PlaceHolder 2"/>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For courses offered in modules</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A student is NOT considered to have withdrawn if</a:t>
            </a:r>
            <a:endParaRPr b="0" lang="en-IN" sz="2400" strike="noStrike" u="none">
              <a:solidFill>
                <a:srgbClr val="000000"/>
              </a:solidFill>
              <a:effectLst/>
              <a:uFillTx/>
              <a:latin typeface="Calibri"/>
            </a:endParaRPr>
          </a:p>
          <a:p>
            <a:pPr lvl="2" marL="623880" indent="-163440">
              <a:lnSpc>
                <a:spcPct val="100000"/>
              </a:lnSpc>
              <a:spcBef>
                <a:spcPts val="499"/>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000" strike="noStrike" u="none">
                <a:solidFill>
                  <a:srgbClr val="535353"/>
                </a:solidFill>
                <a:effectLst/>
                <a:uFillTx/>
                <a:latin typeface="Arial"/>
                <a:ea typeface="Arial"/>
              </a:rPr>
              <a:t>For standard term programs, the institution obtains written confirmation that the student will return to complete a later module within the same PP or POE</a:t>
            </a:r>
            <a:endParaRPr b="0" lang="en-IN" sz="2000" strike="noStrike" u="none">
              <a:solidFill>
                <a:srgbClr val="000000"/>
              </a:solidFill>
              <a:effectLst/>
              <a:uFillTx/>
              <a:latin typeface="Calibri"/>
            </a:endParaRPr>
          </a:p>
          <a:p>
            <a:pPr lvl="2" marL="623880" indent="-163440">
              <a:lnSpc>
                <a:spcPct val="100000"/>
              </a:lnSpc>
              <a:spcBef>
                <a:spcPts val="499"/>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000" strike="noStrike" u="none">
                <a:solidFill>
                  <a:srgbClr val="535353"/>
                </a:solidFill>
                <a:effectLst/>
                <a:uFillTx/>
                <a:latin typeface="Arial"/>
                <a:ea typeface="Arial"/>
              </a:rPr>
              <a:t>For non-term and non-standard terms – the institution obtains written confirmation that module begins no later than 45 calendar days after the end of the module the student ceased attendance</a:t>
            </a:r>
            <a:endParaRPr b="0" lang="en-IN" sz="2000" strike="noStrike" u="none">
              <a:solidFill>
                <a:srgbClr val="000000"/>
              </a:solidFill>
              <a:effectLst/>
              <a:uFillTx/>
              <a:latin typeface="Calibri"/>
            </a:endParaRPr>
          </a:p>
          <a:p>
            <a:pPr marL="230040" indent="-230040">
              <a:lnSpc>
                <a:spcPct val="100000"/>
              </a:lnSpc>
              <a:spcBef>
                <a:spcPts val="499"/>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0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088FCF9D-F00D-4C2A-8338-378065F2182A}"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59" name="PlaceHolder 1"/>
          <p:cNvSpPr>
            <a:spLocks noGrp="1"/>
          </p:cNvSpPr>
          <p:nvPr>
            <p:ph type="title"/>
          </p:nvPr>
        </p:nvSpPr>
        <p:spPr>
          <a:xfrm>
            <a:off x="228240" y="414360"/>
            <a:ext cx="8785080" cy="110952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Written confirmation  </a:t>
            </a:r>
            <a:r>
              <a:rPr b="0" lang="en-US" sz="2400" strike="noStrike" u="none">
                <a:solidFill>
                  <a:srgbClr val="595959"/>
                </a:solidFill>
                <a:effectLst/>
                <a:uFillTx/>
                <a:latin typeface="Arial"/>
                <a:ea typeface="Arial"/>
              </a:rPr>
              <a:t>	</a:t>
            </a:r>
            <a:endParaRPr b="0" lang="en-IN" sz="2400" strike="noStrike" u="none">
              <a:solidFill>
                <a:srgbClr val="000000"/>
              </a:solidFill>
              <a:effectLst/>
              <a:uFillTx/>
              <a:latin typeface="Calibri"/>
            </a:endParaRPr>
          </a:p>
        </p:txBody>
      </p:sp>
      <p:sp>
        <p:nvSpPr>
          <p:cNvPr id="60" name="PlaceHolder 2"/>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Student can revise the date of return to a later module, if</a:t>
            </a:r>
            <a:endParaRPr b="0" lang="en-IN" sz="24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For standard term programs, the student does so in writing, between the time of the withdrawal, but prior to the return date</a:t>
            </a:r>
            <a:endParaRPr b="0" lang="en-IN" sz="20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For non-term and non-standard term programs, the module cannot begin later than 45 calendar days after the end of the module the student ceased attendance</a:t>
            </a:r>
            <a:endParaRPr b="0" lang="en-IN" sz="2000" strike="noStrike" u="none">
              <a:solidFill>
                <a:srgbClr val="000000"/>
              </a:solidFill>
              <a:effectLst/>
              <a:uFillTx/>
              <a:latin typeface="Calibri"/>
            </a:endParaRPr>
          </a:p>
          <a:p>
            <a:pPr marL="230040" indent="-230040">
              <a:lnSpc>
                <a:spcPct val="100000"/>
              </a:lnSpc>
              <a:spcBef>
                <a:spcPts val="700"/>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a:p>
            <a:pPr marL="230040" indent="0">
              <a:lnSpc>
                <a:spcPct val="100000"/>
              </a:lnSpc>
              <a:spcBef>
                <a:spcPts val="700"/>
              </a:spcBef>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Graphic of Written Conf. timeframe</a:t>
            </a:r>
            <a:endParaRPr b="0" lang="en-IN" sz="4000" strike="noStrike" u="none">
              <a:solidFill>
                <a:srgbClr val="000000"/>
              </a:solidFill>
              <a:effectLst/>
              <a:uFillTx/>
              <a:latin typeface="Calibri"/>
            </a:endParaRPr>
          </a:p>
        </p:txBody>
      </p:sp>
      <p:sp>
        <p:nvSpPr>
          <p:cNvPr id="62" name=""/>
          <p:cNvSpPr txBox="1"/>
          <p:nvPr/>
        </p:nvSpPr>
        <p:spPr>
          <a:xfrm>
            <a:off x="533520" y="1523880"/>
            <a:ext cx="8229600" cy="452592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3200" strike="noStrike" u="none">
              <a:solidFill>
                <a:srgbClr val="000000"/>
              </a:solidFill>
              <a:effectLst/>
              <a:uFillTx/>
              <a:latin typeface="Calibri"/>
            </a:endParaRPr>
          </a:p>
        </p:txBody>
      </p:sp>
      <p:pic>
        <p:nvPicPr>
          <p:cNvPr id="63" name="Picture 2" descr=""/>
          <p:cNvPicPr/>
          <p:nvPr/>
        </p:nvPicPr>
        <p:blipFill>
          <a:blip r:embed="rId1"/>
          <a:stretch/>
        </p:blipFill>
        <p:spPr>
          <a:xfrm>
            <a:off x="228600" y="1523880"/>
            <a:ext cx="8534520" cy="4648320"/>
          </a:xfrm>
          <a:prstGeom prst="rect">
            <a:avLst/>
          </a:prstGeom>
          <a:noFill/>
          <a:ln w="0">
            <a:noFill/>
          </a:ln>
        </p:spPr>
      </p:pic>
      <p:sp>
        <p:nvSpPr>
          <p:cNvPr id="64"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727AB91A-C1C6-4964-9C2D-3760F146184B}"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B74F7FEB-4C5C-4305-A709-7E6236156B23}"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66" name="PlaceHolder 1"/>
          <p:cNvSpPr>
            <a:spLocks noGrp="1"/>
          </p:cNvSpPr>
          <p:nvPr>
            <p:ph type="title"/>
          </p:nvPr>
        </p:nvSpPr>
        <p:spPr>
          <a:xfrm>
            <a:off x="460080" y="414360"/>
            <a:ext cx="8553240" cy="11858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“Offered in modules” - Example</a:t>
            </a:r>
            <a:r>
              <a:rPr b="0" lang="en-US" sz="4000" strike="noStrike" u="none">
                <a:solidFill>
                  <a:srgbClr val="595959"/>
                </a:solidFill>
                <a:effectLst/>
                <a:uFillTx/>
                <a:latin typeface="Arial"/>
                <a:ea typeface="Arial"/>
              </a:rPr>
              <a:t>	</a:t>
            </a:r>
            <a:r>
              <a:rPr b="0" lang="en-US" sz="4000" strike="noStrike" u="none">
                <a:solidFill>
                  <a:srgbClr val="595959"/>
                </a:solidFill>
                <a:effectLst/>
                <a:uFillTx/>
                <a:latin typeface="Arial"/>
                <a:ea typeface="Arial"/>
              </a:rPr>
              <a:t> A</a:t>
            </a:r>
            <a:endParaRPr b="0" lang="en-IN" sz="4000" strike="noStrike" u="none">
              <a:solidFill>
                <a:srgbClr val="000000"/>
              </a:solidFill>
              <a:effectLst/>
              <a:uFillTx/>
              <a:latin typeface="Calibri"/>
            </a:endParaRPr>
          </a:p>
        </p:txBody>
      </p:sp>
      <p:sp>
        <p:nvSpPr>
          <p:cNvPr id="67" name="PlaceHolder 2"/>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Institution A:</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Fall and Spring = standard terms</a:t>
            </a:r>
            <a:endParaRPr b="0" lang="en-IN" sz="2400" strike="noStrike" u="none">
              <a:solidFill>
                <a:srgbClr val="000000"/>
              </a:solidFill>
              <a:effectLst/>
              <a:uFillTx/>
              <a:latin typeface="Calibri"/>
            </a:endParaRPr>
          </a:p>
          <a:p>
            <a:pPr lvl="2" marL="623880" indent="-163440">
              <a:lnSpc>
                <a:spcPct val="100000"/>
              </a:lnSpc>
              <a:spcBef>
                <a:spcPts val="400"/>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1600" strike="noStrike" u="none">
                <a:solidFill>
                  <a:srgbClr val="535353"/>
                </a:solidFill>
                <a:effectLst/>
                <a:uFillTx/>
                <a:latin typeface="Arial"/>
                <a:ea typeface="Arial"/>
              </a:rPr>
              <a:t>Never considered to be “offered in modules”</a:t>
            </a:r>
            <a:endParaRPr b="0" lang="en-IN" sz="16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Summer = three 5-week sessions (combined to be a standard term)</a:t>
            </a:r>
            <a:endParaRPr b="0" lang="en-IN" sz="2400" strike="noStrike" u="none">
              <a:solidFill>
                <a:srgbClr val="000000"/>
              </a:solidFill>
              <a:effectLst/>
              <a:uFillTx/>
              <a:latin typeface="Calibri"/>
            </a:endParaRPr>
          </a:p>
          <a:p>
            <a:pPr lvl="2" marL="623880" indent="-163440">
              <a:lnSpc>
                <a:spcPct val="100000"/>
              </a:lnSpc>
              <a:spcBef>
                <a:spcPts val="499"/>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000" strike="noStrike" u="none">
                <a:solidFill>
                  <a:srgbClr val="535353"/>
                </a:solidFill>
                <a:effectLst/>
                <a:uFillTx/>
                <a:latin typeface="Arial"/>
                <a:ea typeface="Arial"/>
              </a:rPr>
              <a:t>Students can enroll in any of the Summer Sessions or all of them</a:t>
            </a:r>
            <a:endParaRPr b="0" lang="en-IN" sz="2000" strike="noStrike" u="none">
              <a:solidFill>
                <a:srgbClr val="000000"/>
              </a:solidFill>
              <a:effectLst/>
              <a:uFillTx/>
              <a:latin typeface="Calibri"/>
            </a:endParaRPr>
          </a:p>
          <a:p>
            <a:pPr lvl="2" marL="623880" indent="-163440">
              <a:lnSpc>
                <a:spcPct val="100000"/>
              </a:lnSpc>
              <a:spcBef>
                <a:spcPts val="499"/>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000" strike="noStrike" u="none">
                <a:solidFill>
                  <a:srgbClr val="535353"/>
                </a:solidFill>
                <a:effectLst/>
                <a:uFillTx/>
                <a:latin typeface="Arial"/>
                <a:ea typeface="Arial"/>
              </a:rPr>
              <a:t>Students enrolled in the 5-week Sessions are considered in programs “offered in modules” since none of the Sessions span the entire length of the term</a:t>
            </a:r>
            <a:endParaRPr b="0" lang="en-IN" sz="20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460080" y="414000"/>
            <a:ext cx="8553240" cy="149076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“Offered in modules” – Example A</a:t>
            </a:r>
            <a:endParaRPr b="0" lang="en-IN" sz="4000" strike="noStrike" u="none">
              <a:solidFill>
                <a:srgbClr val="000000"/>
              </a:solidFill>
              <a:effectLst/>
              <a:uFillTx/>
              <a:latin typeface="Calibri"/>
            </a:endParaRPr>
          </a:p>
        </p:txBody>
      </p:sp>
      <p:sp>
        <p:nvSpPr>
          <p:cNvPr id="69" name=""/>
          <p:cNvSpPr txBox="1"/>
          <p:nvPr/>
        </p:nvSpPr>
        <p:spPr>
          <a:xfrm>
            <a:off x="533520" y="1523880"/>
            <a:ext cx="8229600" cy="452592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Student #1 – Enrolls in all three Summer Sessions </a:t>
            </a:r>
            <a:endParaRPr b="0" lang="en-IN" sz="2400" strike="noStrike" u="none">
              <a:solidFill>
                <a:srgbClr val="000000"/>
              </a:solidFill>
              <a:effectLst/>
              <a:uFillTx/>
              <a:latin typeface="Calibri"/>
            </a:endParaRPr>
          </a:p>
          <a:p>
            <a:pPr marL="230040" indent="-230040">
              <a:lnSpc>
                <a:spcPct val="100000"/>
              </a:lnSpc>
              <a:spcBef>
                <a:spcPts val="601"/>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	</a:t>
            </a:r>
            <a:endParaRPr b="0" lang="en-IN" sz="2400" strike="noStrike" u="none">
              <a:solidFill>
                <a:srgbClr val="000000"/>
              </a:solidFill>
              <a:effectLst/>
              <a:uFillTx/>
              <a:latin typeface="Calibri"/>
            </a:endParaRPr>
          </a:p>
          <a:p>
            <a:pPr marL="230040" indent="-230040">
              <a:lnSpc>
                <a:spcPct val="100000"/>
              </a:lnSpc>
              <a:spcBef>
                <a:spcPts val="601"/>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	</a:t>
            </a:r>
            <a:r>
              <a:rPr b="0" lang="en-US" sz="2400" strike="noStrike" u="none">
                <a:solidFill>
                  <a:srgbClr val="535353"/>
                </a:solidFill>
                <a:effectLst/>
                <a:uFillTx/>
                <a:latin typeface="Arial"/>
                <a:ea typeface="Arial"/>
              </a:rPr>
              <a:t>and ceases enrollment on Day 5 in the </a:t>
            </a:r>
            <a:r>
              <a:rPr b="0" lang="en-US" sz="2400" strike="noStrike" u="none">
                <a:solidFill>
                  <a:srgbClr val="535353"/>
                </a:solidFill>
                <a:effectLst/>
                <a:uFillTx/>
                <a:latin typeface="Arial"/>
                <a:ea typeface="Arial"/>
              </a:rPr>
              <a:t>	</a:t>
            </a:r>
            <a:endParaRPr b="0" lang="en-IN" sz="2400" strike="noStrike" u="none">
              <a:solidFill>
                <a:srgbClr val="000000"/>
              </a:solidFill>
              <a:effectLst/>
              <a:uFillTx/>
              <a:latin typeface="Calibri"/>
            </a:endParaRPr>
          </a:p>
          <a:p>
            <a:pPr marL="230040" indent="-230040">
              <a:lnSpc>
                <a:spcPct val="100000"/>
              </a:lnSpc>
              <a:spcBef>
                <a:spcPts val="601"/>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	</a:t>
            </a:r>
            <a:endParaRPr b="0" lang="en-IN" sz="2400" strike="noStrike" u="none">
              <a:solidFill>
                <a:srgbClr val="000000"/>
              </a:solidFill>
              <a:effectLst/>
              <a:uFillTx/>
              <a:latin typeface="Calibri"/>
            </a:endParaRPr>
          </a:p>
          <a:p>
            <a:pPr marL="230040" indent="-230040">
              <a:lnSpc>
                <a:spcPct val="100000"/>
              </a:lnSpc>
              <a:spcBef>
                <a:spcPts val="601"/>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	</a:t>
            </a:r>
            <a:r>
              <a:rPr b="0" lang="en-US" sz="2400" strike="noStrike" u="none">
                <a:solidFill>
                  <a:srgbClr val="535353"/>
                </a:solidFill>
                <a:effectLst/>
                <a:uFillTx/>
                <a:latin typeface="Arial"/>
                <a:ea typeface="Arial"/>
              </a:rPr>
              <a:t>1</a:t>
            </a:r>
            <a:r>
              <a:rPr b="0" lang="en-US" sz="2400" strike="noStrike" u="none" baseline="30000">
                <a:solidFill>
                  <a:srgbClr val="535353"/>
                </a:solidFill>
                <a:effectLst/>
                <a:uFillTx/>
                <a:latin typeface="Arial"/>
                <a:ea typeface="Arial"/>
              </a:rPr>
              <a:t>st  </a:t>
            </a:r>
            <a:r>
              <a:rPr b="0" lang="en-US" sz="2400" strike="noStrike" u="none">
                <a:solidFill>
                  <a:srgbClr val="535353"/>
                </a:solidFill>
                <a:effectLst/>
                <a:uFillTx/>
                <a:latin typeface="Arial"/>
                <a:ea typeface="Arial"/>
              </a:rPr>
              <a:t>5-week Session </a:t>
            </a:r>
            <a:endParaRPr b="0" lang="en-IN" sz="2400" strike="noStrike" u="none">
              <a:solidFill>
                <a:srgbClr val="000000"/>
              </a:solidFill>
              <a:effectLst/>
              <a:uFillTx/>
              <a:latin typeface="Calibri"/>
            </a:endParaRPr>
          </a:p>
        </p:txBody>
      </p:sp>
      <p:sp>
        <p:nvSpPr>
          <p:cNvPr id="70"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1F98D629-23AB-427D-B9BF-B06455B66C7E}"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460080" y="414360"/>
            <a:ext cx="8553240" cy="11858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“Offered in modules” - Example</a:t>
            </a:r>
            <a:r>
              <a:rPr b="0" lang="en-US" sz="4000" strike="noStrike" u="none">
                <a:solidFill>
                  <a:srgbClr val="595959"/>
                </a:solidFill>
                <a:effectLst/>
                <a:uFillTx/>
                <a:latin typeface="Arial"/>
                <a:ea typeface="Arial"/>
              </a:rPr>
              <a:t>	</a:t>
            </a:r>
            <a:r>
              <a:rPr b="0" lang="en-US" sz="4000" strike="noStrike" u="none">
                <a:solidFill>
                  <a:srgbClr val="595959"/>
                </a:solidFill>
                <a:effectLst/>
                <a:uFillTx/>
                <a:latin typeface="Arial"/>
                <a:ea typeface="Arial"/>
              </a:rPr>
              <a:t> A</a:t>
            </a:r>
            <a:endParaRPr b="0" lang="en-IN" sz="4000" strike="noStrike" u="none">
              <a:solidFill>
                <a:srgbClr val="000000"/>
              </a:solidFill>
              <a:effectLst/>
              <a:uFillTx/>
              <a:latin typeface="Calibri"/>
            </a:endParaRPr>
          </a:p>
        </p:txBody>
      </p:sp>
      <p:sp>
        <p:nvSpPr>
          <p:cNvPr id="72" name="PlaceHolder 2"/>
          <p:cNvSpPr>
            <a:spLocks noGrp="1"/>
          </p:cNvSpPr>
          <p:nvPr>
            <p:ph/>
          </p:nvPr>
        </p:nvSpPr>
        <p:spPr>
          <a:xfrm>
            <a:off x="533520" y="1523880"/>
            <a:ext cx="8229600" cy="4525920"/>
          </a:xfrm>
          <a:prstGeom prst="rect">
            <a:avLst/>
          </a:prstGeom>
          <a:noFill/>
          <a:ln w="0">
            <a:noFill/>
          </a:ln>
        </p:spPr>
        <p:txBody>
          <a:bodyPr lIns="90000" rIns="90000" tIns="46800" bIns="46800" anchor="t">
            <a:normAutofit/>
          </a:bodyPr>
          <a:p>
            <a:pPr marL="230040" indent="-230040">
              <a:lnSpc>
                <a:spcPct val="9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THE RESULTS:</a:t>
            </a:r>
            <a:endParaRPr b="0" lang="en-IN" sz="2400" strike="noStrike" u="none">
              <a:solidFill>
                <a:srgbClr val="000000"/>
              </a:solidFill>
              <a:effectLst/>
              <a:uFillTx/>
              <a:latin typeface="Calibri"/>
            </a:endParaRPr>
          </a:p>
          <a:p>
            <a:pPr lvl="1" marL="404640" indent="-174600">
              <a:lnSpc>
                <a:spcPct val="9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Step 1 – Recalculate Pell &amp; Campus-based </a:t>
            </a:r>
            <a:endParaRPr b="0" lang="en-IN" sz="2400" strike="noStrike" u="none">
              <a:solidFill>
                <a:srgbClr val="000000"/>
              </a:solidFill>
              <a:effectLst/>
              <a:uFillTx/>
              <a:latin typeface="Calibri"/>
            </a:endParaRPr>
          </a:p>
          <a:p>
            <a:pPr lvl="1" marL="404640" indent="-174600">
              <a:lnSpc>
                <a:spcPct val="9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Step 2 – Determine earned &amp; unearned amounts of Title IV aid (TIV)</a:t>
            </a:r>
            <a:endParaRPr b="0" lang="en-IN" sz="2400" strike="noStrike" u="none">
              <a:solidFill>
                <a:srgbClr val="000000"/>
              </a:solidFill>
              <a:effectLst/>
              <a:uFillTx/>
              <a:latin typeface="Calibri"/>
            </a:endParaRPr>
          </a:p>
          <a:p>
            <a:pPr lvl="2" marL="623880" indent="-163440">
              <a:lnSpc>
                <a:spcPct val="90000"/>
              </a:lnSpc>
              <a:spcBef>
                <a:spcPts val="601"/>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400" strike="noStrike" u="none">
                <a:solidFill>
                  <a:srgbClr val="535353"/>
                </a:solidFill>
                <a:effectLst/>
                <a:uFillTx/>
                <a:latin typeface="Arial"/>
                <a:ea typeface="Arial"/>
              </a:rPr>
              <a:t>Numerator = # of days attended in Course 1 (assume no breaks) of 5 or more days</a:t>
            </a:r>
            <a:endParaRPr b="0" lang="en-IN" sz="2400" strike="noStrike" u="none">
              <a:solidFill>
                <a:srgbClr val="000000"/>
              </a:solidFill>
              <a:effectLst/>
              <a:uFillTx/>
              <a:latin typeface="Calibri"/>
            </a:endParaRPr>
          </a:p>
          <a:p>
            <a:pPr lvl="2" marL="623880" indent="-163440">
              <a:lnSpc>
                <a:spcPct val="90000"/>
              </a:lnSpc>
              <a:spcBef>
                <a:spcPts val="601"/>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400" strike="noStrike" u="none">
                <a:solidFill>
                  <a:srgbClr val="535353"/>
                </a:solidFill>
                <a:effectLst/>
                <a:uFillTx/>
                <a:latin typeface="Arial"/>
                <a:ea typeface="Arial"/>
              </a:rPr>
              <a:t>Denominator = Start date of Course 1 thru end date of Course 3 (less any scheduled break of 5 or more consecutive days or approved LOAs) 105 days or .048 or 4.8%</a:t>
            </a:r>
            <a:endParaRPr b="0" lang="en-IN" sz="2400" strike="noStrike" u="none">
              <a:solidFill>
                <a:srgbClr val="000000"/>
              </a:solidFill>
              <a:effectLst/>
              <a:uFillTx/>
              <a:latin typeface="Calibri"/>
            </a:endParaRPr>
          </a:p>
        </p:txBody>
      </p:sp>
      <p:sp>
        <p:nvSpPr>
          <p:cNvPr id="73"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1D23C537-393C-4CF1-986B-A1A3C844BB87}"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460080" y="414000"/>
            <a:ext cx="8553240" cy="133812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“Offered in modules” - Example</a:t>
            </a:r>
            <a:r>
              <a:rPr b="0" lang="en-US" sz="4000" strike="noStrike" u="none">
                <a:solidFill>
                  <a:srgbClr val="595959"/>
                </a:solidFill>
                <a:effectLst/>
                <a:uFillTx/>
                <a:latin typeface="Arial"/>
                <a:ea typeface="Arial"/>
              </a:rPr>
              <a:t>	</a:t>
            </a:r>
            <a:r>
              <a:rPr b="0" lang="en-US" sz="4000" strike="noStrike" u="none">
                <a:solidFill>
                  <a:srgbClr val="595959"/>
                </a:solidFill>
                <a:effectLst/>
                <a:uFillTx/>
                <a:latin typeface="Arial"/>
                <a:ea typeface="Arial"/>
              </a:rPr>
              <a:t> A</a:t>
            </a:r>
            <a:endParaRPr b="0" lang="en-IN" sz="4000" strike="noStrike" u="none">
              <a:solidFill>
                <a:srgbClr val="000000"/>
              </a:solidFill>
              <a:effectLst/>
              <a:uFillTx/>
              <a:latin typeface="Calibri"/>
            </a:endParaRPr>
          </a:p>
        </p:txBody>
      </p:sp>
      <p:sp>
        <p:nvSpPr>
          <p:cNvPr id="75" name="Text Box 9"/>
          <p:cNvSpPr/>
          <p:nvPr/>
        </p:nvSpPr>
        <p:spPr>
          <a:xfrm>
            <a:off x="838080" y="2209680"/>
            <a:ext cx="221004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Module 1</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76" name="Text Box 10"/>
          <p:cNvSpPr/>
          <p:nvPr/>
        </p:nvSpPr>
        <p:spPr>
          <a:xfrm>
            <a:off x="3124080" y="2209680"/>
            <a:ext cx="236232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Module 2</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77" name="Text Box 11"/>
          <p:cNvSpPr/>
          <p:nvPr/>
        </p:nvSpPr>
        <p:spPr>
          <a:xfrm>
            <a:off x="5562720" y="2209680"/>
            <a:ext cx="205740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     Module 3</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       5 weeks</a:t>
            </a:r>
            <a:endParaRPr b="0" lang="en-IN" sz="2400" strike="noStrike" u="none">
              <a:solidFill>
                <a:srgbClr val="000000"/>
              </a:solidFill>
              <a:effectLst/>
              <a:uFillTx/>
              <a:latin typeface="Calibri"/>
            </a:endParaRPr>
          </a:p>
        </p:txBody>
      </p:sp>
      <p:sp>
        <p:nvSpPr>
          <p:cNvPr id="78" name="Text Box 12"/>
          <p:cNvSpPr/>
          <p:nvPr/>
        </p:nvSpPr>
        <p:spPr>
          <a:xfrm>
            <a:off x="990720" y="3657600"/>
            <a:ext cx="18288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79" name="Text Box 13"/>
          <p:cNvSpPr/>
          <p:nvPr/>
        </p:nvSpPr>
        <p:spPr>
          <a:xfrm>
            <a:off x="3733920" y="3657600"/>
            <a:ext cx="1981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80" name="Text Box 14"/>
          <p:cNvSpPr/>
          <p:nvPr/>
        </p:nvSpPr>
        <p:spPr>
          <a:xfrm>
            <a:off x="6019920" y="3657600"/>
            <a:ext cx="1981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81" name="Text Box 22"/>
          <p:cNvSpPr/>
          <p:nvPr/>
        </p:nvSpPr>
        <p:spPr>
          <a:xfrm>
            <a:off x="914400" y="4419720"/>
            <a:ext cx="190512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Withdrawal Day 5</a:t>
            </a:r>
            <a:endParaRPr b="0" lang="en-IN" sz="2400" strike="noStrike" u="none">
              <a:solidFill>
                <a:srgbClr val="000000"/>
              </a:solidFill>
              <a:effectLst/>
              <a:uFillTx/>
              <a:latin typeface="Calibri"/>
            </a:endParaRPr>
          </a:p>
        </p:txBody>
      </p:sp>
      <p:sp>
        <p:nvSpPr>
          <p:cNvPr id="82"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12C8085B-C297-4C23-9C27-34F8ABAC26B4}"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460080" y="414000"/>
            <a:ext cx="8553240" cy="133812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“Offered in modules” - Example</a:t>
            </a:r>
            <a:r>
              <a:rPr b="0" lang="en-US" sz="4000" strike="noStrike" u="none">
                <a:solidFill>
                  <a:srgbClr val="595959"/>
                </a:solidFill>
                <a:effectLst/>
                <a:uFillTx/>
                <a:latin typeface="Arial"/>
                <a:ea typeface="Arial"/>
              </a:rPr>
              <a:t>	</a:t>
            </a:r>
            <a:r>
              <a:rPr b="0" lang="en-US" sz="4000" strike="noStrike" u="none">
                <a:solidFill>
                  <a:srgbClr val="595959"/>
                </a:solidFill>
                <a:effectLst/>
                <a:uFillTx/>
                <a:latin typeface="Arial"/>
                <a:ea typeface="Arial"/>
              </a:rPr>
              <a:t> A</a:t>
            </a:r>
            <a:endParaRPr b="0" lang="en-IN" sz="4000" strike="noStrike" u="none">
              <a:solidFill>
                <a:srgbClr val="000000"/>
              </a:solidFill>
              <a:effectLst/>
              <a:uFillTx/>
              <a:latin typeface="Calibri"/>
            </a:endParaRPr>
          </a:p>
        </p:txBody>
      </p:sp>
      <p:sp>
        <p:nvSpPr>
          <p:cNvPr id="84" name="Text Box 9"/>
          <p:cNvSpPr/>
          <p:nvPr/>
        </p:nvSpPr>
        <p:spPr>
          <a:xfrm>
            <a:off x="838080" y="2209680"/>
            <a:ext cx="221004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1</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85" name="Text Box 10"/>
          <p:cNvSpPr/>
          <p:nvPr/>
        </p:nvSpPr>
        <p:spPr>
          <a:xfrm>
            <a:off x="3124080" y="2209680"/>
            <a:ext cx="236232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2</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86" name="Text Box 11"/>
          <p:cNvSpPr/>
          <p:nvPr/>
        </p:nvSpPr>
        <p:spPr>
          <a:xfrm>
            <a:off x="5562720" y="2209680"/>
            <a:ext cx="205740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3</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87" name="Text Box 12"/>
          <p:cNvSpPr/>
          <p:nvPr/>
        </p:nvSpPr>
        <p:spPr>
          <a:xfrm>
            <a:off x="1447920" y="3276720"/>
            <a:ext cx="18288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88" name="Text Box 13"/>
          <p:cNvSpPr/>
          <p:nvPr/>
        </p:nvSpPr>
        <p:spPr>
          <a:xfrm>
            <a:off x="3657600" y="3276720"/>
            <a:ext cx="1981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89" name="Text Box 14"/>
          <p:cNvSpPr/>
          <p:nvPr/>
        </p:nvSpPr>
        <p:spPr>
          <a:xfrm>
            <a:off x="6019920" y="3276720"/>
            <a:ext cx="1981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90" name="Text Box 22"/>
          <p:cNvSpPr/>
          <p:nvPr/>
        </p:nvSpPr>
        <p:spPr>
          <a:xfrm>
            <a:off x="685800" y="3809880"/>
            <a:ext cx="7315200" cy="22410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000000"/>
                </a:solidFill>
                <a:effectLst/>
                <a:uFillTx/>
                <a:latin typeface="Times New Roman"/>
                <a:ea typeface="MS PGothic"/>
              </a:rPr>
              <a:t>Withdrawal Day 5 student also drops remaining Sessions.  </a:t>
            </a:r>
            <a:endParaRPr b="0" lang="en-IN" sz="2000" strike="noStrike" u="none">
              <a:solidFill>
                <a:srgbClr val="000000"/>
              </a:solidFill>
              <a:effectLst/>
              <a:uFillTx/>
              <a:latin typeface="Calibri"/>
            </a:endParaRPr>
          </a:p>
          <a:p>
            <a:pPr>
              <a:lnSpc>
                <a:spcPct val="100000"/>
              </a:lnSpc>
              <a:spcBef>
                <a:spcPts val="125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000000"/>
                </a:solidFill>
                <a:effectLst/>
                <a:uFillTx/>
                <a:latin typeface="Times New Roman"/>
                <a:ea typeface="MS PGothic"/>
              </a:rPr>
              <a:t>At an </a:t>
            </a:r>
            <a:r>
              <a:rPr b="0" lang="en-US" sz="2000" strike="noStrike" u="sng">
                <a:solidFill>
                  <a:srgbClr val="000000"/>
                </a:solidFill>
                <a:effectLst/>
                <a:uFillTx/>
                <a:latin typeface="Times New Roman"/>
                <a:ea typeface="MS PGothic"/>
              </a:rPr>
              <a:t>Inst Required to Take Attendance:</a:t>
            </a:r>
            <a:r>
              <a:rPr b="0" lang="en-US" sz="2000" strike="noStrike" u="none">
                <a:solidFill>
                  <a:srgbClr val="000000"/>
                </a:solidFill>
                <a:effectLst/>
                <a:uFillTx/>
                <a:latin typeface="Times New Roman"/>
                <a:ea typeface="MS PGothic"/>
              </a:rPr>
              <a:t> WD = Day 5.  Denominator = 105 days.  Per GEN 04-12, the inst. must have a process to make this determination no later than 14 days after the LDA</a:t>
            </a:r>
            <a:endParaRPr b="0" lang="en-IN" sz="2000" strike="noStrike" u="none">
              <a:solidFill>
                <a:srgbClr val="000000"/>
              </a:solidFill>
              <a:effectLst/>
              <a:uFillTx/>
              <a:latin typeface="Calibri"/>
            </a:endParaRPr>
          </a:p>
          <a:p>
            <a:pPr>
              <a:lnSpc>
                <a:spcPct val="100000"/>
              </a:lnSpc>
              <a:spcBef>
                <a:spcPts val="125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sng">
                <a:solidFill>
                  <a:srgbClr val="000000"/>
                </a:solidFill>
                <a:effectLst/>
                <a:uFillTx/>
                <a:latin typeface="Times New Roman"/>
                <a:ea typeface="MS PGothic"/>
              </a:rPr>
              <a:t>Inst. NOT Required to Take Attendance:</a:t>
            </a:r>
            <a:r>
              <a:rPr b="0" lang="en-US" sz="2000" strike="noStrike" u="none">
                <a:solidFill>
                  <a:srgbClr val="000000"/>
                </a:solidFill>
                <a:effectLst/>
                <a:uFillTx/>
                <a:latin typeface="Times New Roman"/>
                <a:ea typeface="MS PGothic"/>
              </a:rPr>
              <a:t> WD = 668.22(c). Denominator = 105 days.</a:t>
            </a:r>
            <a:endParaRPr b="0" lang="en-IN" sz="2000" strike="noStrike" u="none">
              <a:solidFill>
                <a:srgbClr val="000000"/>
              </a:solidFill>
              <a:effectLst/>
              <a:uFillTx/>
              <a:latin typeface="Calibri"/>
            </a:endParaRPr>
          </a:p>
        </p:txBody>
      </p:sp>
      <p:sp>
        <p:nvSpPr>
          <p:cNvPr id="91"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0B9FB071-4068-4DB7-8B9D-D21CC3978F89}"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460080" y="414360"/>
            <a:ext cx="8553240" cy="126216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“Offered in modules” - Example</a:t>
            </a:r>
            <a:r>
              <a:rPr b="0" lang="en-US" sz="4000" strike="noStrike" u="none">
                <a:solidFill>
                  <a:srgbClr val="595959"/>
                </a:solidFill>
                <a:effectLst/>
                <a:uFillTx/>
                <a:latin typeface="Arial"/>
                <a:ea typeface="Arial"/>
              </a:rPr>
              <a:t>	</a:t>
            </a:r>
            <a:r>
              <a:rPr b="0" lang="en-US" sz="4000" strike="noStrike" u="none">
                <a:solidFill>
                  <a:srgbClr val="595959"/>
                </a:solidFill>
                <a:effectLst/>
                <a:uFillTx/>
                <a:latin typeface="Arial"/>
                <a:ea typeface="Arial"/>
              </a:rPr>
              <a:t> A</a:t>
            </a:r>
            <a:endParaRPr b="0" lang="en-IN" sz="4000" strike="noStrike" u="none">
              <a:solidFill>
                <a:srgbClr val="000000"/>
              </a:solidFill>
              <a:effectLst/>
              <a:uFillTx/>
              <a:latin typeface="Calibri"/>
            </a:endParaRPr>
          </a:p>
        </p:txBody>
      </p:sp>
      <p:sp>
        <p:nvSpPr>
          <p:cNvPr id="93" name="PlaceHolder 2"/>
          <p:cNvSpPr>
            <a:spLocks noGrp="1"/>
          </p:cNvSpPr>
          <p:nvPr>
            <p:ph/>
          </p:nvPr>
        </p:nvSpPr>
        <p:spPr>
          <a:xfrm>
            <a:off x="533520" y="1523880"/>
            <a:ext cx="8229600" cy="452592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Student #2: Enrolls in all three Summer Sessions</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Day 4 of Session 1, drops Session 2</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Day 8 of Session 1, withdraws during the 1</a:t>
            </a:r>
            <a:r>
              <a:rPr b="0" lang="en-US" sz="2400" strike="noStrike" u="none" baseline="30000">
                <a:solidFill>
                  <a:srgbClr val="535353"/>
                </a:solidFill>
                <a:effectLst/>
                <a:uFillTx/>
                <a:latin typeface="Arial"/>
                <a:ea typeface="Arial"/>
              </a:rPr>
              <a:t>st</a:t>
            </a:r>
            <a:r>
              <a:rPr b="0" lang="en-US" sz="2400" strike="noStrike" u="none">
                <a:solidFill>
                  <a:srgbClr val="535353"/>
                </a:solidFill>
                <a:effectLst/>
                <a:uFillTx/>
                <a:latin typeface="Arial"/>
                <a:ea typeface="Arial"/>
              </a:rPr>
              <a:t> 5-wk Session</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Student does not provide written confirmation of return within the payment period</a:t>
            </a:r>
            <a:endParaRPr b="0" lang="en-IN" sz="2400" strike="noStrike" u="none">
              <a:solidFill>
                <a:srgbClr val="000000"/>
              </a:solidFill>
              <a:effectLst/>
              <a:uFillTx/>
              <a:latin typeface="Calibri"/>
            </a:endParaRPr>
          </a:p>
        </p:txBody>
      </p:sp>
      <p:sp>
        <p:nvSpPr>
          <p:cNvPr id="94"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1C850FD5-9BE6-497A-8CA8-26B2E10BA6DD}"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460080" y="414360"/>
            <a:ext cx="8553240" cy="11858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“Offered in modules” – Example A</a:t>
            </a:r>
            <a:endParaRPr b="0" lang="en-IN" sz="4000" strike="noStrike" u="none">
              <a:solidFill>
                <a:srgbClr val="000000"/>
              </a:solidFill>
              <a:effectLst/>
              <a:uFillTx/>
              <a:latin typeface="Calibri"/>
            </a:endParaRPr>
          </a:p>
        </p:txBody>
      </p:sp>
      <p:sp>
        <p:nvSpPr>
          <p:cNvPr id="96" name="PlaceHolder 2"/>
          <p:cNvSpPr>
            <a:spLocks noGrp="1"/>
          </p:cNvSpPr>
          <p:nvPr>
            <p:ph/>
          </p:nvPr>
        </p:nvSpPr>
        <p:spPr>
          <a:xfrm>
            <a:off x="533520" y="1523880"/>
            <a:ext cx="8229600" cy="452592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THE RESULTS:</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Step 1 – Recalculate Pell &amp; Campus-based</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Step 2 – Determine earned &amp; unearned amounts of TIV</a:t>
            </a:r>
            <a:endParaRPr b="0" lang="en-IN" sz="2400" strike="noStrike" u="none">
              <a:solidFill>
                <a:srgbClr val="000000"/>
              </a:solidFill>
              <a:effectLst/>
              <a:uFillTx/>
              <a:latin typeface="Calibri"/>
            </a:endParaRPr>
          </a:p>
          <a:p>
            <a:pPr lvl="2" marL="623880" indent="-163440">
              <a:lnSpc>
                <a:spcPct val="100000"/>
              </a:lnSpc>
              <a:spcBef>
                <a:spcPts val="601"/>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400" strike="noStrike" u="none">
                <a:solidFill>
                  <a:srgbClr val="535353"/>
                </a:solidFill>
                <a:effectLst/>
                <a:uFillTx/>
                <a:latin typeface="Arial"/>
                <a:ea typeface="Arial"/>
              </a:rPr>
              <a:t>Numerator = # of days attended (assume no breaks) 8 days</a:t>
            </a:r>
            <a:endParaRPr b="0" lang="en-IN" sz="2400" strike="noStrike" u="none">
              <a:solidFill>
                <a:srgbClr val="000000"/>
              </a:solidFill>
              <a:effectLst/>
              <a:uFillTx/>
              <a:latin typeface="Calibri"/>
            </a:endParaRPr>
          </a:p>
          <a:p>
            <a:pPr lvl="2" marL="623880" indent="-163440">
              <a:lnSpc>
                <a:spcPct val="100000"/>
              </a:lnSpc>
              <a:spcBef>
                <a:spcPts val="601"/>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400" strike="noStrike" u="none">
                <a:solidFill>
                  <a:srgbClr val="535353"/>
                </a:solidFill>
                <a:effectLst/>
                <a:uFillTx/>
                <a:latin typeface="Arial"/>
                <a:ea typeface="Arial"/>
              </a:rPr>
              <a:t>Denominator = 35 days each in Sessions 1 &amp; 3, less any scheduled breaks or approved LOAs  70 days or .114 or 11.4%</a:t>
            </a:r>
            <a:endParaRPr b="0" lang="en-IN" sz="2400" strike="noStrike" u="none">
              <a:solidFill>
                <a:srgbClr val="000000"/>
              </a:solidFill>
              <a:effectLst/>
              <a:uFillTx/>
              <a:latin typeface="Calibri"/>
            </a:endParaRPr>
          </a:p>
        </p:txBody>
      </p:sp>
      <p:sp>
        <p:nvSpPr>
          <p:cNvPr id="97"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0CCEC669-DE77-4B9E-859F-7BB6725C22DB}"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460080" y="414000"/>
            <a:ext cx="8553240" cy="133812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“Offered in modules” – Example A</a:t>
            </a:r>
            <a:endParaRPr b="0" lang="en-IN" sz="4000" strike="noStrike" u="none">
              <a:solidFill>
                <a:srgbClr val="000000"/>
              </a:solidFill>
              <a:effectLst/>
              <a:uFillTx/>
              <a:latin typeface="Calibri"/>
            </a:endParaRPr>
          </a:p>
        </p:txBody>
      </p:sp>
      <p:sp>
        <p:nvSpPr>
          <p:cNvPr id="99" name="Text Box 3"/>
          <p:cNvSpPr/>
          <p:nvPr/>
        </p:nvSpPr>
        <p:spPr>
          <a:xfrm>
            <a:off x="838080" y="2209680"/>
            <a:ext cx="167652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1</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00" name="Text Box 4"/>
          <p:cNvSpPr/>
          <p:nvPr/>
        </p:nvSpPr>
        <p:spPr>
          <a:xfrm>
            <a:off x="3505320" y="2216160"/>
            <a:ext cx="160020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2</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01" name="Text Box 5"/>
          <p:cNvSpPr/>
          <p:nvPr/>
        </p:nvSpPr>
        <p:spPr>
          <a:xfrm>
            <a:off x="5867280" y="2209680"/>
            <a:ext cx="152424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3</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02" name="Text Box 6"/>
          <p:cNvSpPr/>
          <p:nvPr/>
        </p:nvSpPr>
        <p:spPr>
          <a:xfrm>
            <a:off x="990720" y="3657600"/>
            <a:ext cx="18288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03" name="Text Box 7"/>
          <p:cNvSpPr/>
          <p:nvPr/>
        </p:nvSpPr>
        <p:spPr>
          <a:xfrm>
            <a:off x="3733920" y="3657600"/>
            <a:ext cx="1981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04" name="Text Box 8"/>
          <p:cNvSpPr/>
          <p:nvPr/>
        </p:nvSpPr>
        <p:spPr>
          <a:xfrm>
            <a:off x="6019920" y="3657600"/>
            <a:ext cx="1981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05" name="Text Box 9"/>
          <p:cNvSpPr/>
          <p:nvPr/>
        </p:nvSpPr>
        <p:spPr>
          <a:xfrm>
            <a:off x="914400" y="4419720"/>
            <a:ext cx="190512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Day 4 – drops Session 2</a:t>
            </a:r>
            <a:endParaRPr b="0" lang="en-IN" sz="2400" strike="noStrike" u="none">
              <a:solidFill>
                <a:srgbClr val="000000"/>
              </a:solidFill>
              <a:effectLst/>
              <a:uFillTx/>
              <a:latin typeface="Calibri"/>
            </a:endParaRPr>
          </a:p>
        </p:txBody>
      </p:sp>
      <p:sp>
        <p:nvSpPr>
          <p:cNvPr id="106" name="Line 10"/>
          <p:cNvSpPr/>
          <p:nvPr/>
        </p:nvSpPr>
        <p:spPr>
          <a:xfrm>
            <a:off x="3505320" y="2209680"/>
            <a:ext cx="1600200" cy="8384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07" name="Line 11"/>
          <p:cNvSpPr/>
          <p:nvPr/>
        </p:nvSpPr>
        <p:spPr>
          <a:xfrm flipV="1">
            <a:off x="3505320" y="2209320"/>
            <a:ext cx="1600200" cy="8384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08" name="Text Box 12"/>
          <p:cNvSpPr/>
          <p:nvPr/>
        </p:nvSpPr>
        <p:spPr>
          <a:xfrm>
            <a:off x="914400" y="5410080"/>
            <a:ext cx="27432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Day 8 - Withdraws </a:t>
            </a:r>
            <a:endParaRPr b="0" lang="en-IN" sz="2400" strike="noStrike" u="none">
              <a:solidFill>
                <a:srgbClr val="000000"/>
              </a:solidFill>
              <a:effectLst/>
              <a:uFillTx/>
              <a:latin typeface="Calibri"/>
            </a:endParaRPr>
          </a:p>
        </p:txBody>
      </p:sp>
      <p:sp>
        <p:nvSpPr>
          <p:cNvPr id="109" name="Line 13"/>
          <p:cNvSpPr/>
          <p:nvPr/>
        </p:nvSpPr>
        <p:spPr>
          <a:xfrm>
            <a:off x="3809880" y="3809880"/>
            <a:ext cx="990720" cy="1526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10" name="Line 14"/>
          <p:cNvSpPr/>
          <p:nvPr/>
        </p:nvSpPr>
        <p:spPr>
          <a:xfrm flipV="1">
            <a:off x="3809880" y="3809520"/>
            <a:ext cx="990720" cy="2286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11"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49234B43-DB04-4771-A377-75F5A0061B2A}"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460080" y="414000"/>
            <a:ext cx="8553240" cy="14144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“Offered in modules” – Example B</a:t>
            </a:r>
            <a:endParaRPr b="0" lang="en-IN" sz="4000" strike="noStrike" u="none">
              <a:solidFill>
                <a:srgbClr val="000000"/>
              </a:solidFill>
              <a:effectLst/>
              <a:uFillTx/>
              <a:latin typeface="Calibri"/>
            </a:endParaRPr>
          </a:p>
        </p:txBody>
      </p:sp>
      <p:sp>
        <p:nvSpPr>
          <p:cNvPr id="113" name=""/>
          <p:cNvSpPr txBox="1"/>
          <p:nvPr/>
        </p:nvSpPr>
        <p:spPr>
          <a:xfrm>
            <a:off x="533520" y="1523880"/>
            <a:ext cx="8229600" cy="452592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Summer Sessions include three 5-week Sessions and 15-week Sessions </a:t>
            </a:r>
            <a:endParaRPr b="0" lang="en-IN" sz="2400" strike="noStrike" u="none">
              <a:solidFill>
                <a:srgbClr val="000000"/>
              </a:solidFill>
              <a:effectLst/>
              <a:uFillTx/>
              <a:latin typeface="Calibri"/>
            </a:endParaRPr>
          </a:p>
        </p:txBody>
      </p:sp>
      <p:sp>
        <p:nvSpPr>
          <p:cNvPr id="114"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1A19C58F-A670-432D-B211-BA48474571BA}"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460080" y="414000"/>
            <a:ext cx="8553240" cy="103356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“Offered in modules” – Example B</a:t>
            </a:r>
            <a:endParaRPr b="0" lang="en-IN" sz="4000" strike="noStrike" u="none">
              <a:solidFill>
                <a:srgbClr val="000000"/>
              </a:solidFill>
              <a:effectLst/>
              <a:uFillTx/>
              <a:latin typeface="Calibri"/>
            </a:endParaRPr>
          </a:p>
        </p:txBody>
      </p:sp>
      <p:sp>
        <p:nvSpPr>
          <p:cNvPr id="116" name="Text Box 9"/>
          <p:cNvSpPr/>
          <p:nvPr/>
        </p:nvSpPr>
        <p:spPr>
          <a:xfrm>
            <a:off x="838080" y="1523880"/>
            <a:ext cx="167652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a:t>
            </a:r>
            <a:endParaRPr b="0" lang="en-IN" sz="2400" strike="noStrike" u="none">
              <a:solidFill>
                <a:srgbClr val="000000"/>
              </a:solidFill>
              <a:effectLst/>
              <a:uFillTx/>
              <a:latin typeface="Calibri"/>
            </a:endParaRPr>
          </a:p>
        </p:txBody>
      </p:sp>
      <p:sp>
        <p:nvSpPr>
          <p:cNvPr id="117" name="Text Box 10"/>
          <p:cNvSpPr/>
          <p:nvPr/>
        </p:nvSpPr>
        <p:spPr>
          <a:xfrm>
            <a:off x="3048120" y="1523880"/>
            <a:ext cx="167616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5-week</a:t>
            </a:r>
            <a:endParaRPr b="0" lang="en-IN" sz="2400" strike="noStrike" u="none">
              <a:solidFill>
                <a:srgbClr val="000000"/>
              </a:solidFill>
              <a:effectLst/>
              <a:uFillTx/>
              <a:latin typeface="Calibri"/>
            </a:endParaRPr>
          </a:p>
        </p:txBody>
      </p:sp>
      <p:sp>
        <p:nvSpPr>
          <p:cNvPr id="118" name="Text Box 11"/>
          <p:cNvSpPr/>
          <p:nvPr/>
        </p:nvSpPr>
        <p:spPr>
          <a:xfrm>
            <a:off x="5257800" y="1523880"/>
            <a:ext cx="160020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5-week</a:t>
            </a:r>
            <a:endParaRPr b="0" lang="en-IN" sz="2400" strike="noStrike" u="none">
              <a:solidFill>
                <a:srgbClr val="000000"/>
              </a:solidFill>
              <a:effectLst/>
              <a:uFillTx/>
              <a:latin typeface="Calibri"/>
            </a:endParaRPr>
          </a:p>
        </p:txBody>
      </p:sp>
      <p:sp>
        <p:nvSpPr>
          <p:cNvPr id="119" name="TextBox 6"/>
          <p:cNvSpPr/>
          <p:nvPr/>
        </p:nvSpPr>
        <p:spPr>
          <a:xfrm>
            <a:off x="838080" y="2895480"/>
            <a:ext cx="6019920" cy="45972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15- week</a:t>
            </a:r>
            <a:endParaRPr b="0" lang="en-IN" sz="2400" strike="noStrike" u="none">
              <a:solidFill>
                <a:srgbClr val="000000"/>
              </a:solidFill>
              <a:effectLst/>
              <a:uFillTx/>
              <a:latin typeface="Calibri"/>
            </a:endParaRPr>
          </a:p>
        </p:txBody>
      </p:sp>
      <p:sp>
        <p:nvSpPr>
          <p:cNvPr id="120" name="TextBox 8"/>
          <p:cNvSpPr/>
          <p:nvPr/>
        </p:nvSpPr>
        <p:spPr>
          <a:xfrm>
            <a:off x="838080" y="3809880"/>
            <a:ext cx="7782120" cy="15570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Student C enrolls in two 15-week courses – this student is not </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considered to be enrolled in a program offered in modules</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 </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p:txBody>
      </p:sp>
      <p:sp>
        <p:nvSpPr>
          <p:cNvPr id="121" name="TextBox 9"/>
          <p:cNvSpPr/>
          <p:nvPr/>
        </p:nvSpPr>
        <p:spPr>
          <a:xfrm>
            <a:off x="838080" y="4648320"/>
            <a:ext cx="7696440" cy="15570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Student D enrolls in the first 5-week module and one 15-week course – this student is considered to be enrolled in a program offered in modules</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p:txBody>
      </p:sp>
      <p:sp>
        <p:nvSpPr>
          <p:cNvPr id="122"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592A28F4-6D43-4930-A0A4-54E61B5A5B36}"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97960FD5-0EE7-4886-A571-345C37C9D31D}"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124" name="PlaceHolder 1"/>
          <p:cNvSpPr>
            <a:spLocks noGrp="1"/>
          </p:cNvSpPr>
          <p:nvPr>
            <p:ph type="title"/>
          </p:nvPr>
        </p:nvSpPr>
        <p:spPr>
          <a:xfrm>
            <a:off x="460080" y="533520"/>
            <a:ext cx="8553240" cy="91440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595959"/>
                </a:solidFill>
                <a:effectLst/>
                <a:uFillTx/>
                <a:latin typeface="Arial"/>
                <a:ea typeface="Arial"/>
              </a:rPr>
              <a:t>When a student is considered a withdrawal</a:t>
            </a:r>
            <a:endParaRPr b="0" lang="en-IN" sz="3200" strike="noStrike" u="none">
              <a:solidFill>
                <a:srgbClr val="000000"/>
              </a:solidFill>
              <a:effectLst/>
              <a:uFillTx/>
              <a:latin typeface="Calibri"/>
            </a:endParaRPr>
          </a:p>
        </p:txBody>
      </p:sp>
      <p:sp>
        <p:nvSpPr>
          <p:cNvPr id="125" name="PlaceHolder 2"/>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In a program measured in credit-hours</a:t>
            </a:r>
            <a:endParaRPr b="0" lang="en-IN" sz="24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Student does not complete all the days scheduled to complete in the PP or POE</a:t>
            </a:r>
            <a:endParaRPr b="0" lang="en-IN" sz="20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In a program measured in clock-hours</a:t>
            </a:r>
            <a:endParaRPr b="0" lang="en-IN" sz="24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Student does not complete all the clock-hours </a:t>
            </a:r>
            <a:r>
              <a:rPr b="0" lang="en-US" sz="2000" strike="noStrike" u="sng">
                <a:solidFill>
                  <a:srgbClr val="535353"/>
                </a:solidFill>
                <a:effectLst/>
                <a:uFillTx/>
                <a:latin typeface="Arial"/>
                <a:ea typeface="Arial"/>
              </a:rPr>
              <a:t>&amp;</a:t>
            </a:r>
            <a:r>
              <a:rPr b="0" lang="en-US" sz="2000" strike="noStrike" u="none">
                <a:solidFill>
                  <a:srgbClr val="535353"/>
                </a:solidFill>
                <a:effectLst/>
                <a:uFillTx/>
                <a:latin typeface="Arial"/>
                <a:ea typeface="Arial"/>
              </a:rPr>
              <a:t> weeks of instructional time scheduled to complete in the PP or POE</a:t>
            </a:r>
            <a:endParaRPr b="0" lang="en-IN" sz="2000" strike="noStrike" u="none">
              <a:solidFill>
                <a:srgbClr val="000000"/>
              </a:solidFill>
              <a:effectLst/>
              <a:uFillTx/>
              <a:latin typeface="Calibri"/>
            </a:endParaRPr>
          </a:p>
          <a:p>
            <a:pPr lvl="1" marL="404640" indent="0">
              <a:lnSpc>
                <a:spcPct val="100000"/>
              </a:lnSpc>
              <a:spcBef>
                <a:spcPts val="499"/>
              </a:spcBef>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0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EA605927-B691-40AD-9899-8D69B539598C}"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127" name="PlaceHolder 1"/>
          <p:cNvSpPr>
            <a:spLocks noGrp="1"/>
          </p:cNvSpPr>
          <p:nvPr>
            <p:ph type="title"/>
          </p:nvPr>
        </p:nvSpPr>
        <p:spPr>
          <a:xfrm>
            <a:off x="228240" y="380880"/>
            <a:ext cx="8705880" cy="91440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595959"/>
                </a:solidFill>
                <a:effectLst/>
                <a:uFillTx/>
                <a:latin typeface="Arial"/>
                <a:ea typeface="Arial"/>
              </a:rPr>
              <a:t>When a student is considered a withdrawal</a:t>
            </a:r>
            <a:br>
              <a:rPr sz="2000"/>
            </a:br>
            <a:r>
              <a:rPr b="0" lang="en-US" sz="1800" strike="noStrike" u="none">
                <a:solidFill>
                  <a:srgbClr val="595959"/>
                </a:solidFill>
                <a:effectLst/>
                <a:uFillTx/>
                <a:latin typeface="Arial"/>
                <a:ea typeface="Arial"/>
              </a:rPr>
              <a:t>	</a:t>
            </a:r>
            <a:r>
              <a:rPr b="0" lang="en-US" sz="1800" strike="noStrike" u="none">
                <a:solidFill>
                  <a:srgbClr val="595959"/>
                </a:solidFill>
                <a:effectLst/>
                <a:uFillTx/>
                <a:latin typeface="Arial"/>
                <a:ea typeface="Arial"/>
              </a:rPr>
              <a:t>	</a:t>
            </a:r>
            <a:endParaRPr b="0" lang="en-IN" sz="1800" strike="noStrike" u="none">
              <a:solidFill>
                <a:srgbClr val="000000"/>
              </a:solidFill>
              <a:effectLst/>
              <a:uFillTx/>
              <a:latin typeface="Calibri"/>
            </a:endParaRPr>
          </a:p>
        </p:txBody>
      </p:sp>
      <p:sp>
        <p:nvSpPr>
          <p:cNvPr id="128" name="PlaceHolder 2"/>
          <p:cNvSpPr>
            <a:spLocks noGrp="1"/>
          </p:cNvSpPr>
          <p:nvPr>
            <p:ph/>
          </p:nvPr>
        </p:nvSpPr>
        <p:spPr>
          <a:xfrm>
            <a:off x="304920" y="1447560"/>
            <a:ext cx="7975440" cy="4343400"/>
          </a:xfrm>
          <a:prstGeom prst="rect">
            <a:avLst/>
          </a:prstGeom>
          <a:noFill/>
          <a:ln w="0">
            <a:noFill/>
          </a:ln>
        </p:spPr>
        <p:txBody>
          <a:bodyPr lIns="90000" rIns="90000" tIns="46800" bIns="46800" anchor="t">
            <a:normAutofit/>
          </a:bodyPr>
          <a:p>
            <a:pPr marL="230040" indent="0">
              <a:lnSpc>
                <a:spcPct val="100000"/>
              </a:lnSpc>
              <a:spcBef>
                <a:spcPts val="700"/>
              </a:spcBef>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In a non-term or non-standard term</a:t>
            </a:r>
            <a:endParaRPr b="0" lang="en-IN" sz="24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Student is not scheduled to begin another course within the PP or POE for more than 45 calendar days after the end of the module the student ceased attending</a:t>
            </a:r>
            <a:endParaRPr b="0" lang="en-IN" sz="2000" strike="noStrike" u="none">
              <a:solidFill>
                <a:srgbClr val="000000"/>
              </a:solidFill>
              <a:effectLst/>
              <a:uFillTx/>
              <a:latin typeface="Calibri"/>
            </a:endParaRPr>
          </a:p>
          <a:p>
            <a:pPr lvl="2" marL="623880" indent="-163440">
              <a:lnSpc>
                <a:spcPct val="100000"/>
              </a:lnSpc>
              <a:spcBef>
                <a:spcPts val="451"/>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1800" strike="noStrike" u="none">
                <a:solidFill>
                  <a:srgbClr val="535353"/>
                </a:solidFill>
                <a:effectLst/>
                <a:uFillTx/>
                <a:latin typeface="Arial"/>
                <a:ea typeface="Arial"/>
              </a:rPr>
              <a:t>(Unless the student is on an approved LOA)</a:t>
            </a:r>
            <a:endParaRPr b="0" lang="en-IN" sz="1800" strike="noStrike" u="none">
              <a:solidFill>
                <a:srgbClr val="000000"/>
              </a:solidFill>
              <a:effectLst/>
              <a:uFillTx/>
              <a:latin typeface="Calibri"/>
            </a:endParaRPr>
          </a:p>
          <a:p>
            <a:pPr lvl="2" marL="623880" indent="-163440">
              <a:lnSpc>
                <a:spcPct val="100000"/>
              </a:lnSpc>
              <a:spcBef>
                <a:spcPts val="451"/>
              </a:spcBef>
              <a:buNone/>
              <a:tabLst>
                <a:tab algn="l" pos="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endParaRPr b="0" lang="en-IN" sz="18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t">
            <a:noAutofit/>
          </a:bodyPr>
          <a:p>
            <a:pPr indent="0" algn="ct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000000"/>
                </a:solidFill>
                <a:effectLst/>
                <a:uFillTx/>
                <a:latin typeface="Calibri"/>
              </a:rPr>
              <a:t>“Offered in modules” – Example C</a:t>
            </a:r>
            <a:endParaRPr b="0" lang="en-IN" sz="2800" strike="noStrike" u="none">
              <a:solidFill>
                <a:srgbClr val="000000"/>
              </a:solidFill>
              <a:effectLst/>
              <a:uFillTx/>
              <a:latin typeface="Calibri"/>
            </a:endParaRPr>
          </a:p>
        </p:txBody>
      </p:sp>
      <p:sp>
        <p:nvSpPr>
          <p:cNvPr id="130" name="Text Box 9"/>
          <p:cNvSpPr/>
          <p:nvPr/>
        </p:nvSpPr>
        <p:spPr>
          <a:xfrm>
            <a:off x="838080" y="1523880"/>
            <a:ext cx="182880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1</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31" name="Text Box 10"/>
          <p:cNvSpPr/>
          <p:nvPr/>
        </p:nvSpPr>
        <p:spPr>
          <a:xfrm>
            <a:off x="3200400" y="1523880"/>
            <a:ext cx="190512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2</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32" name="Text Box 11"/>
          <p:cNvSpPr/>
          <p:nvPr/>
        </p:nvSpPr>
        <p:spPr>
          <a:xfrm>
            <a:off x="5791320" y="1523880"/>
            <a:ext cx="167616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3</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33" name="Text Box 12"/>
          <p:cNvSpPr/>
          <p:nvPr/>
        </p:nvSpPr>
        <p:spPr>
          <a:xfrm>
            <a:off x="990720" y="2590920"/>
            <a:ext cx="13716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34" name="Text Box 13"/>
          <p:cNvSpPr/>
          <p:nvPr/>
        </p:nvSpPr>
        <p:spPr>
          <a:xfrm>
            <a:off x="3352680" y="2590920"/>
            <a:ext cx="152424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35" name="Text Box 14"/>
          <p:cNvSpPr/>
          <p:nvPr/>
        </p:nvSpPr>
        <p:spPr>
          <a:xfrm>
            <a:off x="6019920" y="2590920"/>
            <a:ext cx="1981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36" name="Text Box 22"/>
          <p:cNvSpPr/>
          <p:nvPr/>
        </p:nvSpPr>
        <p:spPr>
          <a:xfrm>
            <a:off x="914400" y="3352680"/>
            <a:ext cx="7315200" cy="15570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Claire begins Session 1 in a non-term program, but withdraws on Day 5.  She indicates that she wants to return at the beginning of Session 3 to resolve some health issues in the interim.  What is her withdrawal date?</a:t>
            </a:r>
            <a:endParaRPr b="0" lang="en-IN" sz="2400" strike="noStrike" u="none">
              <a:solidFill>
                <a:srgbClr val="000000"/>
              </a:solidFill>
              <a:effectLst/>
              <a:uFillTx/>
              <a:latin typeface="Calibri"/>
            </a:endParaRPr>
          </a:p>
        </p:txBody>
      </p:sp>
      <p:sp>
        <p:nvSpPr>
          <p:cNvPr id="137" name="Text Box 10"/>
          <p:cNvSpPr/>
          <p:nvPr/>
        </p:nvSpPr>
        <p:spPr>
          <a:xfrm>
            <a:off x="2514600" y="2590920"/>
            <a:ext cx="609480" cy="6321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876"/>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400" strike="noStrike" u="none">
                <a:solidFill>
                  <a:srgbClr val="000000"/>
                </a:solidFill>
                <a:effectLst/>
                <a:uFillTx/>
                <a:latin typeface="Times New Roman"/>
                <a:ea typeface="MS PGothic"/>
              </a:rPr>
              <a:t>1 wk</a:t>
            </a:r>
            <a:endParaRPr b="0" lang="en-IN" sz="1400" strike="noStrike" u="none">
              <a:solidFill>
                <a:srgbClr val="000000"/>
              </a:solidFill>
              <a:effectLst/>
              <a:uFillTx/>
              <a:latin typeface="Calibri"/>
            </a:endParaRPr>
          </a:p>
          <a:p>
            <a:pPr>
              <a:lnSpc>
                <a:spcPct val="100000"/>
              </a:lnSpc>
              <a:spcBef>
                <a:spcPts val="876"/>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400" strike="noStrike" u="none">
                <a:solidFill>
                  <a:srgbClr val="000000"/>
                </a:solidFill>
                <a:effectLst/>
                <a:uFillTx/>
                <a:latin typeface="Times New Roman"/>
                <a:ea typeface="MS PGothic"/>
              </a:rPr>
              <a:t>break</a:t>
            </a:r>
            <a:endParaRPr b="0" lang="en-IN" sz="1400" strike="noStrike" u="none">
              <a:solidFill>
                <a:srgbClr val="000000"/>
              </a:solidFill>
              <a:effectLst/>
              <a:uFillTx/>
              <a:latin typeface="Calibri"/>
            </a:endParaRPr>
          </a:p>
        </p:txBody>
      </p:sp>
      <p:sp>
        <p:nvSpPr>
          <p:cNvPr id="138" name="Text Box 12"/>
          <p:cNvSpPr/>
          <p:nvPr/>
        </p:nvSpPr>
        <p:spPr>
          <a:xfrm>
            <a:off x="5105520" y="2666880"/>
            <a:ext cx="68580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400" strike="noStrike" u="none">
                <a:solidFill>
                  <a:srgbClr val="000000"/>
                </a:solidFill>
                <a:effectLst/>
                <a:uFillTx/>
                <a:latin typeface="Times New Roman"/>
                <a:ea typeface="MS PGothic"/>
              </a:rPr>
              <a:t>1 wk</a:t>
            </a:r>
            <a:endParaRPr b="0" lang="en-IN" sz="1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400" strike="noStrike" u="none">
                <a:solidFill>
                  <a:srgbClr val="000000"/>
                </a:solidFill>
                <a:effectLst/>
                <a:uFillTx/>
                <a:latin typeface="Times New Roman"/>
                <a:ea typeface="MS PGothic"/>
              </a:rPr>
              <a:t>break</a:t>
            </a:r>
            <a:endParaRPr b="0" lang="en-IN" sz="1400" strike="noStrike" u="none">
              <a:solidFill>
                <a:srgbClr val="000000"/>
              </a:solidFill>
              <a:effectLst/>
              <a:uFillTx/>
              <a:latin typeface="Calibri"/>
            </a:endParaRPr>
          </a:p>
        </p:txBody>
      </p:sp>
      <p:sp>
        <p:nvSpPr>
          <p:cNvPr id="139"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524E4C1D-C4B3-4EF4-ABF7-96D2AC1F03F2}"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609120"/>
            <a:ext cx="7772400" cy="1143000"/>
          </a:xfrm>
          <a:prstGeom prst="rect">
            <a:avLst/>
          </a:prstGeom>
          <a:noFill/>
          <a:ln w="0">
            <a:noFill/>
          </a:ln>
        </p:spPr>
        <p:txBody>
          <a:bodyPr lIns="90000" rIns="90000" tIns="46800" bIns="46800" anchor="t">
            <a:noAutofit/>
          </a:bodyPr>
          <a:p>
            <a:pPr indent="0" algn="ct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000000"/>
                </a:solidFill>
                <a:effectLst/>
                <a:uFillTx/>
                <a:latin typeface="Calibri"/>
              </a:rPr>
              <a:t>“Offered in modules” - Example</a:t>
            </a:r>
            <a:r>
              <a:rPr b="0" lang="en-US" sz="4000" strike="noStrike" u="none">
                <a:solidFill>
                  <a:srgbClr val="000000"/>
                </a:solidFill>
                <a:effectLst/>
                <a:uFillTx/>
                <a:latin typeface="Calibri"/>
              </a:rPr>
              <a:t>	</a:t>
            </a:r>
            <a:r>
              <a:rPr b="0" lang="en-US" sz="4000" strike="noStrike" u="none">
                <a:solidFill>
                  <a:srgbClr val="000000"/>
                </a:solidFill>
                <a:effectLst/>
                <a:uFillTx/>
                <a:latin typeface="Calibri"/>
              </a:rPr>
              <a:t> C</a:t>
            </a:r>
            <a:endParaRPr b="0" lang="en-IN" sz="4000" strike="noStrike" u="none">
              <a:solidFill>
                <a:srgbClr val="000000"/>
              </a:solidFill>
              <a:effectLst/>
              <a:uFillTx/>
              <a:latin typeface="Calibri"/>
            </a:endParaRPr>
          </a:p>
        </p:txBody>
      </p:sp>
      <p:sp>
        <p:nvSpPr>
          <p:cNvPr id="141" name="Text Box 9"/>
          <p:cNvSpPr/>
          <p:nvPr/>
        </p:nvSpPr>
        <p:spPr>
          <a:xfrm>
            <a:off x="838080" y="1523880"/>
            <a:ext cx="182880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1</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42" name="Text Box 10"/>
          <p:cNvSpPr/>
          <p:nvPr/>
        </p:nvSpPr>
        <p:spPr>
          <a:xfrm>
            <a:off x="3200400" y="1523880"/>
            <a:ext cx="190512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2</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43" name="Text Box 11"/>
          <p:cNvSpPr/>
          <p:nvPr/>
        </p:nvSpPr>
        <p:spPr>
          <a:xfrm>
            <a:off x="5791320" y="1523880"/>
            <a:ext cx="167616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3</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44" name="Text Box 12"/>
          <p:cNvSpPr/>
          <p:nvPr/>
        </p:nvSpPr>
        <p:spPr>
          <a:xfrm>
            <a:off x="990720" y="2590920"/>
            <a:ext cx="13716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45" name="Text Box 13"/>
          <p:cNvSpPr/>
          <p:nvPr/>
        </p:nvSpPr>
        <p:spPr>
          <a:xfrm>
            <a:off x="3352680" y="2590920"/>
            <a:ext cx="152424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46" name="Text Box 14"/>
          <p:cNvSpPr/>
          <p:nvPr/>
        </p:nvSpPr>
        <p:spPr>
          <a:xfrm>
            <a:off x="6019920" y="2590920"/>
            <a:ext cx="1981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47" name="Text Box 22"/>
          <p:cNvSpPr/>
          <p:nvPr/>
        </p:nvSpPr>
        <p:spPr>
          <a:xfrm>
            <a:off x="914400" y="3352680"/>
            <a:ext cx="7315200" cy="26694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What is Claire’s withdrawal date?</a:t>
            </a:r>
            <a:endParaRPr b="0" lang="en-IN" sz="2400" strike="noStrike" u="none">
              <a:solidFill>
                <a:srgbClr val="000000"/>
              </a:solidFill>
              <a:effectLst/>
              <a:uFillTx/>
              <a:latin typeface="Calibri"/>
            </a:endParaRPr>
          </a:p>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Day 5 – it will be 72 days before Session 3 begins, however for the purpose of determining whether written confirmation is required, we consider the number of days from the end of the module the student ceased attending</a:t>
            </a:r>
            <a:endParaRPr b="0" lang="en-IN" sz="2400" strike="noStrike" u="none">
              <a:solidFill>
                <a:srgbClr val="000000"/>
              </a:solidFill>
              <a:effectLst/>
              <a:uFillTx/>
              <a:latin typeface="Calibri"/>
            </a:endParaRPr>
          </a:p>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It will be 49 days before Session 3 begins</a:t>
            </a:r>
            <a:endParaRPr b="0" lang="en-IN" sz="2400" strike="noStrike" u="none">
              <a:solidFill>
                <a:srgbClr val="000000"/>
              </a:solidFill>
              <a:effectLst/>
              <a:uFillTx/>
              <a:latin typeface="Calibri"/>
            </a:endParaRPr>
          </a:p>
        </p:txBody>
      </p:sp>
      <p:sp>
        <p:nvSpPr>
          <p:cNvPr id="148" name="Text Box 10"/>
          <p:cNvSpPr/>
          <p:nvPr/>
        </p:nvSpPr>
        <p:spPr>
          <a:xfrm>
            <a:off x="2514600" y="2590920"/>
            <a:ext cx="609480" cy="6321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876"/>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400" strike="noStrike" u="none">
                <a:solidFill>
                  <a:srgbClr val="000000"/>
                </a:solidFill>
                <a:effectLst/>
                <a:uFillTx/>
                <a:latin typeface="Times New Roman"/>
                <a:ea typeface="MS PGothic"/>
              </a:rPr>
              <a:t>1 wk</a:t>
            </a:r>
            <a:endParaRPr b="0" lang="en-IN" sz="1400" strike="noStrike" u="none">
              <a:solidFill>
                <a:srgbClr val="000000"/>
              </a:solidFill>
              <a:effectLst/>
              <a:uFillTx/>
              <a:latin typeface="Calibri"/>
            </a:endParaRPr>
          </a:p>
          <a:p>
            <a:pPr>
              <a:lnSpc>
                <a:spcPct val="100000"/>
              </a:lnSpc>
              <a:spcBef>
                <a:spcPts val="876"/>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400" strike="noStrike" u="none">
                <a:solidFill>
                  <a:srgbClr val="000000"/>
                </a:solidFill>
                <a:effectLst/>
                <a:uFillTx/>
                <a:latin typeface="Times New Roman"/>
                <a:ea typeface="MS PGothic"/>
              </a:rPr>
              <a:t>break</a:t>
            </a:r>
            <a:endParaRPr b="0" lang="en-IN" sz="1400" strike="noStrike" u="none">
              <a:solidFill>
                <a:srgbClr val="000000"/>
              </a:solidFill>
              <a:effectLst/>
              <a:uFillTx/>
              <a:latin typeface="Calibri"/>
            </a:endParaRPr>
          </a:p>
        </p:txBody>
      </p:sp>
      <p:sp>
        <p:nvSpPr>
          <p:cNvPr id="149" name="Text Box 11"/>
          <p:cNvSpPr/>
          <p:nvPr/>
        </p:nvSpPr>
        <p:spPr>
          <a:xfrm>
            <a:off x="5105520" y="2666880"/>
            <a:ext cx="68580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400" strike="noStrike" u="none">
                <a:solidFill>
                  <a:srgbClr val="000000"/>
                </a:solidFill>
                <a:effectLst/>
                <a:uFillTx/>
                <a:latin typeface="Times New Roman"/>
                <a:ea typeface="MS PGothic"/>
              </a:rPr>
              <a:t>1 wk</a:t>
            </a:r>
            <a:endParaRPr b="0" lang="en-IN" sz="1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400" strike="noStrike" u="none">
                <a:solidFill>
                  <a:srgbClr val="000000"/>
                </a:solidFill>
                <a:effectLst/>
                <a:uFillTx/>
                <a:latin typeface="Times New Roman"/>
                <a:ea typeface="MS PGothic"/>
              </a:rPr>
              <a:t>break</a:t>
            </a:r>
            <a:endParaRPr b="0" lang="en-IN" sz="1400" strike="noStrike" u="none">
              <a:solidFill>
                <a:srgbClr val="000000"/>
              </a:solidFill>
              <a:effectLst/>
              <a:uFillTx/>
              <a:latin typeface="Calibri"/>
            </a:endParaRPr>
          </a:p>
        </p:txBody>
      </p:sp>
      <p:sp>
        <p:nvSpPr>
          <p:cNvPr id="150" name="Straight Connector 12"/>
          <p:cNvSpPr/>
          <p:nvPr/>
        </p:nvSpPr>
        <p:spPr>
          <a:xfrm>
            <a:off x="3200400" y="1523880"/>
            <a:ext cx="1905120" cy="8384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51" name="Straight Connector 14"/>
          <p:cNvSpPr/>
          <p:nvPr/>
        </p:nvSpPr>
        <p:spPr>
          <a:xfrm flipV="1">
            <a:off x="3200400" y="1523520"/>
            <a:ext cx="1905120" cy="8384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52"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045246E7-9348-4EDC-8735-799506292668}"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t">
            <a:noAutofit/>
          </a:bodyPr>
          <a:p>
            <a:pPr indent="0" algn="ct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000000"/>
                </a:solidFill>
                <a:effectLst/>
                <a:uFillTx/>
                <a:latin typeface="Calibri"/>
              </a:rPr>
              <a:t>“Offered in modules” - Example</a:t>
            </a:r>
            <a:r>
              <a:rPr b="0" lang="en-US" sz="4000" strike="noStrike" u="none">
                <a:solidFill>
                  <a:srgbClr val="000000"/>
                </a:solidFill>
                <a:effectLst/>
                <a:uFillTx/>
                <a:latin typeface="Calibri"/>
              </a:rPr>
              <a:t>	</a:t>
            </a:r>
            <a:r>
              <a:rPr b="0" lang="en-US" sz="4000" strike="noStrike" u="none">
                <a:solidFill>
                  <a:srgbClr val="000000"/>
                </a:solidFill>
                <a:effectLst/>
                <a:uFillTx/>
                <a:latin typeface="Calibri"/>
              </a:rPr>
              <a:t> C</a:t>
            </a:r>
            <a:endParaRPr b="0" lang="en-IN" sz="4000" strike="noStrike" u="none">
              <a:solidFill>
                <a:srgbClr val="000000"/>
              </a:solidFill>
              <a:effectLst/>
              <a:uFillTx/>
              <a:latin typeface="Calibri"/>
            </a:endParaRPr>
          </a:p>
        </p:txBody>
      </p:sp>
      <p:sp>
        <p:nvSpPr>
          <p:cNvPr id="154" name="Text Box 9"/>
          <p:cNvSpPr/>
          <p:nvPr/>
        </p:nvSpPr>
        <p:spPr>
          <a:xfrm>
            <a:off x="838080" y="1523880"/>
            <a:ext cx="182880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1</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55" name="Text Box 10"/>
          <p:cNvSpPr/>
          <p:nvPr/>
        </p:nvSpPr>
        <p:spPr>
          <a:xfrm>
            <a:off x="3200400" y="1523880"/>
            <a:ext cx="190512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2</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56" name="Text Box 11"/>
          <p:cNvSpPr/>
          <p:nvPr/>
        </p:nvSpPr>
        <p:spPr>
          <a:xfrm>
            <a:off x="5791320" y="1523880"/>
            <a:ext cx="167616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3</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57" name="Text Box 12"/>
          <p:cNvSpPr/>
          <p:nvPr/>
        </p:nvSpPr>
        <p:spPr>
          <a:xfrm>
            <a:off x="990720" y="2590920"/>
            <a:ext cx="13716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58" name="Text Box 13"/>
          <p:cNvSpPr/>
          <p:nvPr/>
        </p:nvSpPr>
        <p:spPr>
          <a:xfrm>
            <a:off x="3352680" y="2590920"/>
            <a:ext cx="152424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59" name="Text Box 14"/>
          <p:cNvSpPr/>
          <p:nvPr/>
        </p:nvSpPr>
        <p:spPr>
          <a:xfrm>
            <a:off x="6019920" y="2590920"/>
            <a:ext cx="1981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60" name="Text Box 22"/>
          <p:cNvSpPr/>
          <p:nvPr/>
        </p:nvSpPr>
        <p:spPr>
          <a:xfrm>
            <a:off x="914400" y="3352680"/>
            <a:ext cx="7315200" cy="11912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Claire’s other option would be to seek a Leave of Absence beginning on Day 6 of Module 1 and ending the day before Session 3 begins.  </a:t>
            </a:r>
            <a:endParaRPr b="0" lang="en-IN" sz="2400" strike="noStrike" u="none">
              <a:solidFill>
                <a:srgbClr val="000000"/>
              </a:solidFill>
              <a:effectLst/>
              <a:uFillTx/>
              <a:latin typeface="Calibri"/>
            </a:endParaRPr>
          </a:p>
        </p:txBody>
      </p:sp>
      <p:sp>
        <p:nvSpPr>
          <p:cNvPr id="161" name="Text Box 10"/>
          <p:cNvSpPr/>
          <p:nvPr/>
        </p:nvSpPr>
        <p:spPr>
          <a:xfrm>
            <a:off x="2514600" y="2590920"/>
            <a:ext cx="609480" cy="6321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876"/>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400" strike="noStrike" u="none">
                <a:solidFill>
                  <a:srgbClr val="000000"/>
                </a:solidFill>
                <a:effectLst/>
                <a:uFillTx/>
                <a:latin typeface="Times New Roman"/>
                <a:ea typeface="MS PGothic"/>
              </a:rPr>
              <a:t>1 wk</a:t>
            </a:r>
            <a:endParaRPr b="0" lang="en-IN" sz="1400" strike="noStrike" u="none">
              <a:solidFill>
                <a:srgbClr val="000000"/>
              </a:solidFill>
              <a:effectLst/>
              <a:uFillTx/>
              <a:latin typeface="Calibri"/>
            </a:endParaRPr>
          </a:p>
          <a:p>
            <a:pPr>
              <a:lnSpc>
                <a:spcPct val="100000"/>
              </a:lnSpc>
              <a:spcBef>
                <a:spcPts val="876"/>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400" strike="noStrike" u="none">
                <a:solidFill>
                  <a:srgbClr val="000000"/>
                </a:solidFill>
                <a:effectLst/>
                <a:uFillTx/>
                <a:latin typeface="Times New Roman"/>
                <a:ea typeface="MS PGothic"/>
              </a:rPr>
              <a:t>break</a:t>
            </a:r>
            <a:endParaRPr b="0" lang="en-IN" sz="1400" strike="noStrike" u="none">
              <a:solidFill>
                <a:srgbClr val="000000"/>
              </a:solidFill>
              <a:effectLst/>
              <a:uFillTx/>
              <a:latin typeface="Calibri"/>
            </a:endParaRPr>
          </a:p>
        </p:txBody>
      </p:sp>
      <p:sp>
        <p:nvSpPr>
          <p:cNvPr id="162" name="Text Box 11"/>
          <p:cNvSpPr/>
          <p:nvPr/>
        </p:nvSpPr>
        <p:spPr>
          <a:xfrm>
            <a:off x="5105520" y="2666880"/>
            <a:ext cx="68580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400" strike="noStrike" u="none">
                <a:solidFill>
                  <a:srgbClr val="000000"/>
                </a:solidFill>
                <a:effectLst/>
                <a:uFillTx/>
                <a:latin typeface="Times New Roman"/>
                <a:ea typeface="MS PGothic"/>
              </a:rPr>
              <a:t>1 wk</a:t>
            </a:r>
            <a:endParaRPr b="0" lang="en-IN" sz="1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400" strike="noStrike" u="none">
                <a:solidFill>
                  <a:srgbClr val="000000"/>
                </a:solidFill>
                <a:effectLst/>
                <a:uFillTx/>
                <a:latin typeface="Times New Roman"/>
                <a:ea typeface="MS PGothic"/>
              </a:rPr>
              <a:t>break</a:t>
            </a:r>
            <a:endParaRPr b="0" lang="en-IN" sz="1400" strike="noStrike" u="none">
              <a:solidFill>
                <a:srgbClr val="000000"/>
              </a:solidFill>
              <a:effectLst/>
              <a:uFillTx/>
              <a:latin typeface="Calibri"/>
            </a:endParaRPr>
          </a:p>
        </p:txBody>
      </p:sp>
      <p:sp>
        <p:nvSpPr>
          <p:cNvPr id="163"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D1ACCDFF-8DB5-4B70-87D3-A30FA87CBC92}"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Written Confirmation</a:t>
            </a:r>
            <a:endParaRPr b="0" lang="en-IN" sz="4000" strike="noStrike" u="none">
              <a:solidFill>
                <a:srgbClr val="000000"/>
              </a:solidFill>
              <a:effectLst/>
              <a:uFillTx/>
              <a:latin typeface="Calibri"/>
            </a:endParaRPr>
          </a:p>
        </p:txBody>
      </p:sp>
      <p:sp>
        <p:nvSpPr>
          <p:cNvPr id="165" name=""/>
          <p:cNvSpPr txBox="1"/>
          <p:nvPr/>
        </p:nvSpPr>
        <p:spPr>
          <a:xfrm>
            <a:off x="533520" y="1523880"/>
            <a:ext cx="8229600" cy="4525920"/>
          </a:xfrm>
          <a:prstGeom prst="rect">
            <a:avLst/>
          </a:prstGeom>
          <a:noFill/>
          <a:ln w="0">
            <a:noFill/>
          </a:ln>
        </p:spPr>
        <p:txBody>
          <a:bodyPr lIns="90000" rIns="90000" tIns="46800" bIns="46800" anchor="t">
            <a:normAutofit/>
          </a:bodyPr>
          <a:p>
            <a:pPr lvl="1" marL="457200">
              <a:lnSpc>
                <a:spcPct val="100000"/>
              </a:lnSpc>
              <a:spcBef>
                <a:spcPts val="601"/>
              </a:spcBef>
              <a:tabLst>
                <a:tab algn="l" pos="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400" strike="noStrike" u="none">
                <a:solidFill>
                  <a:srgbClr val="535353"/>
                </a:solidFill>
                <a:effectLst/>
                <a:uFillTx/>
                <a:latin typeface="Arial"/>
                <a:ea typeface="Arial"/>
              </a:rPr>
              <a:t>Student #3 – Enrolls in all three Summer Sessions and drops Session 2 on Day 3, then ceases enrollment on Day 5 in the 1</a:t>
            </a:r>
            <a:r>
              <a:rPr b="0" lang="en-US" sz="2400" strike="noStrike" u="none" baseline="30000">
                <a:solidFill>
                  <a:srgbClr val="535353"/>
                </a:solidFill>
                <a:effectLst/>
                <a:uFillTx/>
                <a:latin typeface="Arial"/>
                <a:ea typeface="Arial"/>
              </a:rPr>
              <a:t>st</a:t>
            </a:r>
            <a:r>
              <a:rPr b="0" lang="en-US" sz="2400" strike="noStrike" u="none">
                <a:solidFill>
                  <a:srgbClr val="535353"/>
                </a:solidFill>
                <a:effectLst/>
                <a:uFillTx/>
                <a:latin typeface="Arial"/>
                <a:ea typeface="Arial"/>
              </a:rPr>
              <a:t> </a:t>
            </a:r>
            <a:endParaRPr b="0" lang="en-IN" sz="2400" strike="noStrike" u="none">
              <a:solidFill>
                <a:srgbClr val="000000"/>
              </a:solidFill>
              <a:effectLst/>
              <a:uFillTx/>
              <a:latin typeface="Calibri"/>
            </a:endParaRPr>
          </a:p>
          <a:p>
            <a:pPr>
              <a:lnSpc>
                <a:spcPct val="100000"/>
              </a:lnSpc>
              <a:spcBef>
                <a:spcPts val="601"/>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	</a:t>
            </a:r>
            <a:r>
              <a:rPr b="0" lang="en-US" sz="2400" strike="noStrike" u="none">
                <a:solidFill>
                  <a:srgbClr val="535353"/>
                </a:solidFill>
                <a:effectLst/>
                <a:uFillTx/>
                <a:latin typeface="Arial"/>
                <a:ea typeface="Arial"/>
              </a:rPr>
              <a:t>5-week Session, but provides written confirmation of </a:t>
            </a:r>
            <a:r>
              <a:rPr b="0" lang="en-US" sz="2400" strike="noStrike" u="none">
                <a:solidFill>
                  <a:srgbClr val="535353"/>
                </a:solidFill>
                <a:effectLst/>
                <a:uFillTx/>
                <a:latin typeface="Arial"/>
                <a:ea typeface="Arial"/>
              </a:rPr>
              <a:t>	</a:t>
            </a:r>
            <a:r>
              <a:rPr b="0" lang="en-US" sz="2400" strike="noStrike" u="none">
                <a:solidFill>
                  <a:srgbClr val="535353"/>
                </a:solidFill>
                <a:effectLst/>
                <a:uFillTx/>
                <a:latin typeface="Arial"/>
                <a:ea typeface="Arial"/>
              </a:rPr>
              <a:t>future return </a:t>
            </a:r>
            <a:endParaRPr b="0" lang="en-IN" sz="2400" strike="noStrike" u="none">
              <a:solidFill>
                <a:srgbClr val="000000"/>
              </a:solidFill>
              <a:effectLst/>
              <a:uFillTx/>
              <a:latin typeface="Calibri"/>
            </a:endParaRPr>
          </a:p>
          <a:p>
            <a:pPr>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p:txBody>
      </p:sp>
      <p:sp>
        <p:nvSpPr>
          <p:cNvPr id="166"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8ED79ED6-FDCF-408A-B5DE-A6629CBE1BB8}"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460080" y="414360"/>
            <a:ext cx="8553240" cy="11858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“Offered in modules” - Example</a:t>
            </a:r>
            <a:r>
              <a:rPr b="0" lang="en-US" sz="4000" strike="noStrike" u="none">
                <a:solidFill>
                  <a:srgbClr val="595959"/>
                </a:solidFill>
                <a:effectLst/>
                <a:uFillTx/>
                <a:latin typeface="Arial"/>
                <a:ea typeface="Arial"/>
              </a:rPr>
              <a:t>	</a:t>
            </a:r>
            <a:r>
              <a:rPr b="0" lang="en-US" sz="4000" strike="noStrike" u="none">
                <a:solidFill>
                  <a:srgbClr val="595959"/>
                </a:solidFill>
                <a:effectLst/>
                <a:uFillTx/>
                <a:latin typeface="Arial"/>
                <a:ea typeface="Arial"/>
              </a:rPr>
              <a:t> D</a:t>
            </a:r>
            <a:endParaRPr b="0" lang="en-IN" sz="4000" strike="noStrike" u="none">
              <a:solidFill>
                <a:srgbClr val="000000"/>
              </a:solidFill>
              <a:effectLst/>
              <a:uFillTx/>
              <a:latin typeface="Calibri"/>
            </a:endParaRPr>
          </a:p>
        </p:txBody>
      </p:sp>
      <p:sp>
        <p:nvSpPr>
          <p:cNvPr id="168" name="PlaceHolder 2"/>
          <p:cNvSpPr>
            <a:spLocks noGrp="1"/>
          </p:cNvSpPr>
          <p:nvPr>
            <p:ph/>
          </p:nvPr>
        </p:nvSpPr>
        <p:spPr>
          <a:xfrm>
            <a:off x="533520" y="1523880"/>
            <a:ext cx="8229600" cy="4525920"/>
          </a:xfrm>
          <a:prstGeom prst="rect">
            <a:avLst/>
          </a:prstGeom>
          <a:noFill/>
          <a:ln w="0">
            <a:noFill/>
          </a:ln>
        </p:spPr>
        <p:txBody>
          <a:bodyPr lIns="90000" rIns="90000" tIns="46800" bIns="46800" anchor="t">
            <a:normAutofit/>
          </a:bodyPr>
          <a:p>
            <a:pPr marL="230040" indent="-230040">
              <a:lnSpc>
                <a:spcPct val="9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THE RESULTS:</a:t>
            </a:r>
            <a:endParaRPr b="0" lang="en-IN" sz="2400" strike="noStrike" u="none">
              <a:solidFill>
                <a:srgbClr val="000000"/>
              </a:solidFill>
              <a:effectLst/>
              <a:uFillTx/>
              <a:latin typeface="Calibri"/>
            </a:endParaRPr>
          </a:p>
          <a:p>
            <a:pPr lvl="1" marL="404640" indent="-174600">
              <a:lnSpc>
                <a:spcPct val="9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Step 1 – Recalculation of Pell &amp; Campus-based</a:t>
            </a:r>
            <a:endParaRPr b="0" lang="en-IN" sz="2400" strike="noStrike" u="none">
              <a:solidFill>
                <a:srgbClr val="000000"/>
              </a:solidFill>
              <a:effectLst/>
              <a:uFillTx/>
              <a:latin typeface="Calibri"/>
            </a:endParaRPr>
          </a:p>
          <a:p>
            <a:pPr lvl="1" marL="404640" indent="-174600">
              <a:lnSpc>
                <a:spcPct val="9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Step 2 – No Return calculation due to the fact that the student provides written confirmation of her/his planned return between the time of the withdrawal and before the start of the 3</a:t>
            </a:r>
            <a:r>
              <a:rPr b="0" lang="en-US" sz="2400" strike="noStrike" u="none" baseline="30000">
                <a:solidFill>
                  <a:srgbClr val="535353"/>
                </a:solidFill>
                <a:effectLst/>
                <a:uFillTx/>
                <a:latin typeface="Arial"/>
                <a:ea typeface="Arial"/>
              </a:rPr>
              <a:t>rd</a:t>
            </a:r>
            <a:r>
              <a:rPr b="0" lang="en-US" sz="2400" strike="noStrike" u="none">
                <a:solidFill>
                  <a:srgbClr val="535353"/>
                </a:solidFill>
                <a:effectLst/>
                <a:uFillTx/>
                <a:latin typeface="Arial"/>
                <a:ea typeface="Arial"/>
              </a:rPr>
              <a:t> module  </a:t>
            </a:r>
            <a:endParaRPr b="0" lang="en-IN" sz="2400" strike="noStrike" u="none">
              <a:solidFill>
                <a:srgbClr val="000000"/>
              </a:solidFill>
              <a:effectLst/>
              <a:uFillTx/>
              <a:latin typeface="Calibri"/>
            </a:endParaRPr>
          </a:p>
        </p:txBody>
      </p:sp>
      <p:sp>
        <p:nvSpPr>
          <p:cNvPr id="169"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7E3153DC-9399-4A8E-9D0F-642096F380DA}"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460080" y="414000"/>
            <a:ext cx="8553240" cy="149076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“Offered in modules” - Example</a:t>
            </a:r>
            <a:r>
              <a:rPr b="0" lang="en-US" sz="4000" strike="noStrike" u="none">
                <a:solidFill>
                  <a:srgbClr val="595959"/>
                </a:solidFill>
                <a:effectLst/>
                <a:uFillTx/>
                <a:latin typeface="Arial"/>
                <a:ea typeface="Arial"/>
              </a:rPr>
              <a:t>	</a:t>
            </a:r>
            <a:r>
              <a:rPr b="0" lang="en-US" sz="4000" strike="noStrike" u="none">
                <a:solidFill>
                  <a:srgbClr val="595959"/>
                </a:solidFill>
                <a:effectLst/>
                <a:uFillTx/>
                <a:latin typeface="Arial"/>
                <a:ea typeface="Arial"/>
              </a:rPr>
              <a:t>D</a:t>
            </a:r>
            <a:endParaRPr b="0" lang="en-IN" sz="4000" strike="noStrike" u="none">
              <a:solidFill>
                <a:srgbClr val="000000"/>
              </a:solidFill>
              <a:effectLst/>
              <a:uFillTx/>
              <a:latin typeface="Calibri"/>
            </a:endParaRPr>
          </a:p>
        </p:txBody>
      </p:sp>
      <p:sp>
        <p:nvSpPr>
          <p:cNvPr id="171" name="Text Box 3"/>
          <p:cNvSpPr/>
          <p:nvPr/>
        </p:nvSpPr>
        <p:spPr>
          <a:xfrm>
            <a:off x="838080" y="2209680"/>
            <a:ext cx="167652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1</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72" name="Text Box 4"/>
          <p:cNvSpPr/>
          <p:nvPr/>
        </p:nvSpPr>
        <p:spPr>
          <a:xfrm>
            <a:off x="3505320" y="2216160"/>
            <a:ext cx="160020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2</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73" name="Text Box 5"/>
          <p:cNvSpPr/>
          <p:nvPr/>
        </p:nvSpPr>
        <p:spPr>
          <a:xfrm>
            <a:off x="5867280" y="2209680"/>
            <a:ext cx="152424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3</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74" name="Text Box 6"/>
          <p:cNvSpPr/>
          <p:nvPr/>
        </p:nvSpPr>
        <p:spPr>
          <a:xfrm>
            <a:off x="990720" y="3657600"/>
            <a:ext cx="18288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75" name="Text Box 7"/>
          <p:cNvSpPr/>
          <p:nvPr/>
        </p:nvSpPr>
        <p:spPr>
          <a:xfrm>
            <a:off x="3733920" y="3657600"/>
            <a:ext cx="1981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76" name="Text Box 8"/>
          <p:cNvSpPr/>
          <p:nvPr/>
        </p:nvSpPr>
        <p:spPr>
          <a:xfrm>
            <a:off x="6019920" y="3657600"/>
            <a:ext cx="1981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77" name="Text Box 9"/>
          <p:cNvSpPr/>
          <p:nvPr/>
        </p:nvSpPr>
        <p:spPr>
          <a:xfrm>
            <a:off x="914400" y="4419720"/>
            <a:ext cx="6095880" cy="11912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Day 5 – withdraws from Session 1 and provides written confirmation that student will return to Session 3</a:t>
            </a:r>
            <a:endParaRPr b="0" lang="en-IN" sz="2400" strike="noStrike" u="none">
              <a:solidFill>
                <a:srgbClr val="000000"/>
              </a:solidFill>
              <a:effectLst/>
              <a:uFillTx/>
              <a:latin typeface="Calibri"/>
            </a:endParaRPr>
          </a:p>
        </p:txBody>
      </p:sp>
      <p:sp>
        <p:nvSpPr>
          <p:cNvPr id="178" name="Line 11"/>
          <p:cNvSpPr/>
          <p:nvPr/>
        </p:nvSpPr>
        <p:spPr>
          <a:xfrm>
            <a:off x="3505320" y="2209680"/>
            <a:ext cx="1600200" cy="76212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79" name="Line 12"/>
          <p:cNvSpPr/>
          <p:nvPr/>
        </p:nvSpPr>
        <p:spPr>
          <a:xfrm flipV="1">
            <a:off x="3505320" y="2209320"/>
            <a:ext cx="1600200" cy="8384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80" name="Line 13"/>
          <p:cNvSpPr/>
          <p:nvPr/>
        </p:nvSpPr>
        <p:spPr>
          <a:xfrm>
            <a:off x="3809880" y="3733920"/>
            <a:ext cx="1143000" cy="38088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81" name="Line 14"/>
          <p:cNvSpPr/>
          <p:nvPr/>
        </p:nvSpPr>
        <p:spPr>
          <a:xfrm flipV="1">
            <a:off x="3809880" y="3733920"/>
            <a:ext cx="1143000" cy="30456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82"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1069B5ED-1B81-4BFB-B554-1B761AD1E9B6}"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2123F0B7-8F45-49F8-BD32-6CABD9259AD7}"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184" name="PlaceHolder 1"/>
          <p:cNvSpPr>
            <a:spLocks noGrp="1"/>
          </p:cNvSpPr>
          <p:nvPr>
            <p:ph type="title"/>
          </p:nvPr>
        </p:nvSpPr>
        <p:spPr>
          <a:xfrm>
            <a:off x="304560" y="380880"/>
            <a:ext cx="8458200" cy="99072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Written confirmation</a:t>
            </a:r>
            <a:r>
              <a:rPr b="0" lang="en-US" sz="4000" strike="noStrike" u="none">
                <a:solidFill>
                  <a:srgbClr val="595959"/>
                </a:solidFill>
                <a:effectLst/>
                <a:uFillTx/>
                <a:latin typeface="Arial"/>
                <a:ea typeface="Arial"/>
              </a:rPr>
              <a:t>	</a:t>
            </a:r>
            <a:endParaRPr b="0" lang="en-IN" sz="4000" strike="noStrike" u="none">
              <a:solidFill>
                <a:srgbClr val="000000"/>
              </a:solidFill>
              <a:effectLst/>
              <a:uFillTx/>
              <a:latin typeface="Calibri"/>
            </a:endParaRPr>
          </a:p>
        </p:txBody>
      </p:sp>
      <p:sp>
        <p:nvSpPr>
          <p:cNvPr id="185" name="PlaceHolder 2"/>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What happens when the student doesn’t return for the future module?</a:t>
            </a:r>
            <a:endParaRPr b="0" lang="en-IN" sz="2400" strike="noStrike" u="none">
              <a:solidFill>
                <a:srgbClr val="000000"/>
              </a:solidFill>
              <a:effectLst/>
              <a:uFillTx/>
              <a:latin typeface="Calibri"/>
            </a:endParaRPr>
          </a:p>
          <a:p>
            <a:pPr marL="230040" indent="-230040">
              <a:lnSpc>
                <a:spcPct val="100000"/>
              </a:lnSpc>
              <a:spcBef>
                <a:spcPts val="60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The withdrawal date (WD) is -</a:t>
            </a:r>
            <a:endParaRPr b="0" lang="en-IN" sz="2400" strike="noStrike" u="none">
              <a:solidFill>
                <a:srgbClr val="000000"/>
              </a:solidFill>
              <a:effectLst/>
              <a:uFillTx/>
              <a:latin typeface="Calibri"/>
            </a:endParaRPr>
          </a:p>
          <a:p>
            <a:pPr lvl="2" marL="623880" indent="-163440">
              <a:lnSpc>
                <a:spcPct val="100000"/>
              </a:lnSpc>
              <a:spcBef>
                <a:spcPts val="601"/>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400" strike="noStrike" u="none">
                <a:solidFill>
                  <a:srgbClr val="535353"/>
                </a:solidFill>
                <a:effectLst/>
                <a:uFillTx/>
                <a:latin typeface="Arial"/>
                <a:ea typeface="Arial"/>
              </a:rPr>
              <a:t>At an </a:t>
            </a:r>
            <a:r>
              <a:rPr b="0" lang="en-US" sz="2400" strike="noStrike" u="sng">
                <a:solidFill>
                  <a:srgbClr val="535353"/>
                </a:solidFill>
                <a:effectLst/>
                <a:uFillTx/>
                <a:latin typeface="Arial"/>
                <a:ea typeface="Arial"/>
              </a:rPr>
              <a:t>institution required to take attendance</a:t>
            </a:r>
            <a:r>
              <a:rPr b="0" lang="en-US" sz="2400" strike="noStrike" u="none">
                <a:solidFill>
                  <a:srgbClr val="535353"/>
                </a:solidFill>
                <a:effectLst/>
                <a:uFillTx/>
                <a:latin typeface="Arial"/>
                <a:ea typeface="Arial"/>
              </a:rPr>
              <a:t> = the last date of attendance (LDA)</a:t>
            </a:r>
            <a:endParaRPr b="0" lang="en-IN" sz="2400" strike="noStrike" u="none">
              <a:solidFill>
                <a:srgbClr val="000000"/>
              </a:solidFill>
              <a:effectLst/>
              <a:uFillTx/>
              <a:latin typeface="Calibri"/>
            </a:endParaRPr>
          </a:p>
          <a:p>
            <a:pPr lvl="2" marL="623880" indent="-163440">
              <a:lnSpc>
                <a:spcPct val="100000"/>
              </a:lnSpc>
              <a:spcBef>
                <a:spcPts val="601"/>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400" strike="noStrike" u="none">
                <a:solidFill>
                  <a:srgbClr val="535353"/>
                </a:solidFill>
                <a:effectLst/>
                <a:uFillTx/>
                <a:latin typeface="Arial"/>
                <a:ea typeface="Arial"/>
              </a:rPr>
              <a:t>At </a:t>
            </a:r>
            <a:r>
              <a:rPr b="0" lang="en-US" sz="2400" strike="noStrike" u="sng">
                <a:solidFill>
                  <a:srgbClr val="535353"/>
                </a:solidFill>
                <a:effectLst/>
                <a:uFillTx/>
                <a:latin typeface="Arial"/>
                <a:ea typeface="Arial"/>
              </a:rPr>
              <a:t>an institution not required to take attendance</a:t>
            </a:r>
            <a:r>
              <a:rPr b="0" lang="en-US" sz="2400" strike="noStrike" u="none">
                <a:solidFill>
                  <a:srgbClr val="535353"/>
                </a:solidFill>
                <a:effectLst/>
                <a:uFillTx/>
                <a:latin typeface="Arial"/>
                <a:ea typeface="Arial"/>
              </a:rPr>
              <a:t> </a:t>
            </a:r>
            <a:endParaRPr b="0" lang="en-IN" sz="2400" strike="noStrike" u="none">
              <a:solidFill>
                <a:srgbClr val="000000"/>
              </a:solidFill>
              <a:effectLst/>
              <a:uFillTx/>
              <a:latin typeface="Calibri"/>
            </a:endParaRPr>
          </a:p>
          <a:p>
            <a:pPr lvl="2" marL="623880" indent="-163440">
              <a:lnSpc>
                <a:spcPct val="100000"/>
              </a:lnSpc>
              <a:spcBef>
                <a:spcPts val="601"/>
              </a:spcBef>
              <a:buNone/>
              <a:tabLst>
                <a:tab algn="l" pos="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400" strike="noStrike" u="none">
                <a:solidFill>
                  <a:srgbClr val="535353"/>
                </a:solidFill>
                <a:effectLst/>
                <a:uFillTx/>
                <a:latin typeface="Arial"/>
                <a:ea typeface="Arial"/>
              </a:rPr>
              <a:t>	</a:t>
            </a:r>
            <a:r>
              <a:rPr b="0" lang="en-US" sz="2400" strike="noStrike" u="none">
                <a:solidFill>
                  <a:srgbClr val="535353"/>
                </a:solidFill>
                <a:effectLst/>
                <a:uFillTx/>
                <a:latin typeface="Arial"/>
                <a:ea typeface="Arial"/>
              </a:rPr>
              <a:t>=  34 CFR 668.22(c)(1)(i) – (vi)</a:t>
            </a:r>
            <a:endParaRPr b="0" lang="en-IN" sz="2400" strike="noStrike" u="none">
              <a:solidFill>
                <a:srgbClr val="000000"/>
              </a:solidFill>
              <a:effectLst/>
              <a:uFillTx/>
              <a:latin typeface="Calibri"/>
            </a:endParaRPr>
          </a:p>
          <a:p>
            <a:pPr marL="230040" indent="-230040">
              <a:lnSpc>
                <a:spcPct val="100000"/>
              </a:lnSpc>
              <a:spcBef>
                <a:spcPts val="60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a:p>
            <a:pPr marL="230040" indent="-230040">
              <a:lnSpc>
                <a:spcPct val="100000"/>
              </a:lnSpc>
              <a:spcBef>
                <a:spcPts val="60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460080" y="414000"/>
            <a:ext cx="8553240" cy="88092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Written confirmation</a:t>
            </a:r>
            <a:endParaRPr b="0" lang="en-IN" sz="4000" strike="noStrike" u="none">
              <a:solidFill>
                <a:srgbClr val="000000"/>
              </a:solidFill>
              <a:effectLst/>
              <a:uFillTx/>
              <a:latin typeface="Calibri"/>
            </a:endParaRPr>
          </a:p>
        </p:txBody>
      </p:sp>
      <p:sp>
        <p:nvSpPr>
          <p:cNvPr id="187" name="Text Box 3"/>
          <p:cNvSpPr/>
          <p:nvPr/>
        </p:nvSpPr>
        <p:spPr>
          <a:xfrm>
            <a:off x="838080" y="2209680"/>
            <a:ext cx="167652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1</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88" name="Text Box 4"/>
          <p:cNvSpPr/>
          <p:nvPr/>
        </p:nvSpPr>
        <p:spPr>
          <a:xfrm>
            <a:off x="3505320" y="2216160"/>
            <a:ext cx="160020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2</a:t>
            </a:r>
            <a:endParaRPr b="0" lang="en-IN" sz="2400" strike="noStrike" u="none">
              <a:solidFill>
                <a:srgbClr val="000000"/>
              </a:solidFill>
              <a:effectLst/>
              <a:uFillTx/>
              <a:latin typeface="Calibri"/>
            </a:endParaRPr>
          </a:p>
          <a:p>
            <a:pPr algn="ct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89" name="Text Box 5"/>
          <p:cNvSpPr/>
          <p:nvPr/>
        </p:nvSpPr>
        <p:spPr>
          <a:xfrm>
            <a:off x="5867280" y="2209680"/>
            <a:ext cx="1524240" cy="82548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Session 3</a:t>
            </a:r>
            <a:endParaRPr b="0" lang="en-IN" sz="2400" strike="noStrike" u="none">
              <a:solidFill>
                <a:srgbClr val="000000"/>
              </a:solidFill>
              <a:effectLst/>
              <a:uFillTx/>
              <a:latin typeface="Calibri"/>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5 weeks</a:t>
            </a:r>
            <a:endParaRPr b="0" lang="en-IN" sz="2400" strike="noStrike" u="none">
              <a:solidFill>
                <a:srgbClr val="000000"/>
              </a:solidFill>
              <a:effectLst/>
              <a:uFillTx/>
              <a:latin typeface="Calibri"/>
            </a:endParaRPr>
          </a:p>
        </p:txBody>
      </p:sp>
      <p:sp>
        <p:nvSpPr>
          <p:cNvPr id="190" name="Text Box 6"/>
          <p:cNvSpPr/>
          <p:nvPr/>
        </p:nvSpPr>
        <p:spPr>
          <a:xfrm>
            <a:off x="838080" y="3200400"/>
            <a:ext cx="18288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91" name="Text Box 7"/>
          <p:cNvSpPr/>
          <p:nvPr/>
        </p:nvSpPr>
        <p:spPr>
          <a:xfrm>
            <a:off x="3505320" y="3276720"/>
            <a:ext cx="1981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92" name="Text Box 8"/>
          <p:cNvSpPr/>
          <p:nvPr/>
        </p:nvSpPr>
        <p:spPr>
          <a:xfrm>
            <a:off x="5943600" y="3276720"/>
            <a:ext cx="1981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35 days</a:t>
            </a:r>
            <a:endParaRPr b="0" lang="en-IN" sz="2400" strike="noStrike" u="none">
              <a:solidFill>
                <a:srgbClr val="000000"/>
              </a:solidFill>
              <a:effectLst/>
              <a:uFillTx/>
              <a:latin typeface="Calibri"/>
            </a:endParaRPr>
          </a:p>
        </p:txBody>
      </p:sp>
      <p:sp>
        <p:nvSpPr>
          <p:cNvPr id="193" name="Text Box 9"/>
          <p:cNvSpPr/>
          <p:nvPr/>
        </p:nvSpPr>
        <p:spPr>
          <a:xfrm>
            <a:off x="838080" y="3809880"/>
            <a:ext cx="777240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Day 4 – Withdraws from Session 1 and drops Session 2, but provides written confirmation of return to Session 3</a:t>
            </a:r>
            <a:endParaRPr b="0" lang="en-IN" sz="2400" strike="noStrike" u="none">
              <a:solidFill>
                <a:srgbClr val="000000"/>
              </a:solidFill>
              <a:effectLst/>
              <a:uFillTx/>
              <a:latin typeface="Calibri"/>
            </a:endParaRPr>
          </a:p>
        </p:txBody>
      </p:sp>
      <p:sp>
        <p:nvSpPr>
          <p:cNvPr id="194" name="Line 10"/>
          <p:cNvSpPr/>
          <p:nvPr/>
        </p:nvSpPr>
        <p:spPr>
          <a:xfrm>
            <a:off x="3505320" y="2209680"/>
            <a:ext cx="1600200" cy="8384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95" name="Line 11"/>
          <p:cNvSpPr/>
          <p:nvPr/>
        </p:nvSpPr>
        <p:spPr>
          <a:xfrm flipV="1">
            <a:off x="3505320" y="2209320"/>
            <a:ext cx="1600200" cy="8384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96" name="Text Box 12"/>
          <p:cNvSpPr/>
          <p:nvPr/>
        </p:nvSpPr>
        <p:spPr>
          <a:xfrm>
            <a:off x="838080" y="4648320"/>
            <a:ext cx="7391520" cy="17474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Day 71 – Student does not return. WD = Day 4 at </a:t>
            </a:r>
            <a:r>
              <a:rPr b="0" lang="en-US" sz="2400" strike="noStrike" u="sng">
                <a:solidFill>
                  <a:srgbClr val="000000"/>
                </a:solidFill>
                <a:effectLst/>
                <a:uFillTx/>
                <a:latin typeface="Times New Roman"/>
                <a:ea typeface="MS PGothic"/>
              </a:rPr>
              <a:t>Institution Required to Take Attendance</a:t>
            </a:r>
            <a:r>
              <a:rPr b="0" lang="en-US" sz="2400" strike="noStrike" u="none">
                <a:solidFill>
                  <a:srgbClr val="000000"/>
                </a:solidFill>
                <a:effectLst/>
                <a:uFillTx/>
                <a:latin typeface="Times New Roman"/>
                <a:ea typeface="MS PGothic"/>
              </a:rPr>
              <a:t>; </a:t>
            </a:r>
            <a:endParaRPr b="0" lang="en-IN" sz="2400" strike="noStrike" u="none">
              <a:solidFill>
                <a:srgbClr val="000000"/>
              </a:solidFill>
              <a:effectLst/>
              <a:uFillTx/>
              <a:latin typeface="Calibri"/>
            </a:endParaRPr>
          </a:p>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34 CFR 668.22(c)(1)(i) – (vi) at an </a:t>
            </a:r>
            <a:r>
              <a:rPr b="0" lang="en-US" sz="2400" strike="noStrike" u="sng">
                <a:solidFill>
                  <a:srgbClr val="000000"/>
                </a:solidFill>
                <a:effectLst/>
                <a:uFillTx/>
                <a:latin typeface="Times New Roman"/>
                <a:ea typeface="MS PGothic"/>
              </a:rPr>
              <a:t>Institution NOT Required to Take Attendance</a:t>
            </a:r>
            <a:endParaRPr b="0" lang="en-IN" sz="2400" strike="noStrike" u="none">
              <a:solidFill>
                <a:srgbClr val="000000"/>
              </a:solidFill>
              <a:effectLst/>
              <a:uFillTx/>
              <a:latin typeface="Calibri"/>
            </a:endParaRPr>
          </a:p>
        </p:txBody>
      </p:sp>
      <p:sp>
        <p:nvSpPr>
          <p:cNvPr id="197" name="Line 13"/>
          <p:cNvSpPr/>
          <p:nvPr/>
        </p:nvSpPr>
        <p:spPr>
          <a:xfrm>
            <a:off x="3505320" y="3429000"/>
            <a:ext cx="1066680" cy="2286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98" name="Line 14"/>
          <p:cNvSpPr/>
          <p:nvPr/>
        </p:nvSpPr>
        <p:spPr>
          <a:xfrm flipV="1">
            <a:off x="3581280" y="3428640"/>
            <a:ext cx="990720" cy="2286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199"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FAE86EBF-BCB2-47D4-8522-0608D2442C7D}"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A753661D-7DA7-4804-B01A-89DF50B19C22}"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201" name="PlaceHolder 1"/>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What happens when a student DOES return to a later module within the same PP or POE?</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If this is a non-term program, the student reenters the same program – student is eligible for the same amt. of Title IV, HEA funds (TIV) prior to WD </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As long as the student returns within 180 days TIV is restored </a:t>
            </a:r>
            <a:endParaRPr b="0" lang="en-IN" sz="2400" strike="noStrike" u="none">
              <a:solidFill>
                <a:srgbClr val="000000"/>
              </a:solidFill>
              <a:effectLst/>
              <a:uFillTx/>
              <a:latin typeface="Calibri"/>
            </a:endParaRPr>
          </a:p>
          <a:p>
            <a:pPr lvl="1" marL="404640" indent="-174600">
              <a:lnSpc>
                <a:spcPct val="100000"/>
              </a:lnSpc>
              <a:spcBef>
                <a:spcPts val="60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  (see 668.4(f))</a:t>
            </a:r>
            <a:endParaRPr b="0" lang="en-IN" sz="2400" strike="noStrike" u="none">
              <a:solidFill>
                <a:srgbClr val="000000"/>
              </a:solidFill>
              <a:effectLst/>
              <a:uFillTx/>
              <a:latin typeface="Calibri"/>
            </a:endParaRPr>
          </a:p>
          <a:p>
            <a:pPr marL="230040" indent="-230040">
              <a:lnSpc>
                <a:spcPct val="100000"/>
              </a:lnSpc>
              <a:spcBef>
                <a:spcPts val="700"/>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a:p>
            <a:pPr marL="230040" indent="-230040">
              <a:lnSpc>
                <a:spcPct val="100000"/>
              </a:lnSpc>
              <a:spcBef>
                <a:spcPts val="700"/>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p:txBody>
      </p:sp>
      <p:sp>
        <p:nvSpPr>
          <p:cNvPr id="202" name="PlaceHolder 2"/>
          <p:cNvSpPr>
            <a:spLocks noGrp="1"/>
          </p:cNvSpPr>
          <p:nvPr>
            <p:ph type="title"/>
          </p:nvPr>
        </p:nvSpPr>
        <p:spPr>
          <a:xfrm>
            <a:off x="460080" y="414360"/>
            <a:ext cx="8553240" cy="11858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Written confirmation</a:t>
            </a:r>
            <a:endParaRPr b="0" lang="en-IN" sz="40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1EC2CEF1-ABA4-4BB9-853A-45DA5981D29D}"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204" name="PlaceHolder 1"/>
          <p:cNvSpPr>
            <a:spLocks noGrp="1"/>
          </p:cNvSpPr>
          <p:nvPr>
            <p:ph type="title"/>
          </p:nvPr>
        </p:nvSpPr>
        <p:spPr>
          <a:xfrm>
            <a:off x="304560" y="414360"/>
            <a:ext cx="8708760" cy="110952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Institution required to take attendance </a:t>
            </a:r>
            <a:r>
              <a:rPr b="0" lang="en-US" sz="3600" strike="noStrike" u="none">
                <a:solidFill>
                  <a:srgbClr val="595959"/>
                </a:solidFill>
                <a:effectLst/>
                <a:uFillTx/>
                <a:latin typeface="Arial"/>
                <a:ea typeface="Arial"/>
              </a:rPr>
              <a:t>	</a:t>
            </a:r>
            <a:endParaRPr b="0" lang="en-IN" sz="3600" strike="noStrike" u="none">
              <a:solidFill>
                <a:srgbClr val="000000"/>
              </a:solidFill>
              <a:effectLst/>
              <a:uFillTx/>
              <a:latin typeface="Calibri"/>
            </a:endParaRPr>
          </a:p>
        </p:txBody>
      </p:sp>
      <p:sp>
        <p:nvSpPr>
          <p:cNvPr id="205" name="PlaceHolder 2"/>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An outside entity (accreditor, State) has a requirement to take attendance</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(No change this is the current rule)</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If the outside entity has a requirement for attendance taking for a sub-group of students, then that sub-group are bound by the “Institution required to take attendance” rules in 668.22(b)</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If the outside entity has a requirement that attendance taking must occur for a limited time</a:t>
            </a:r>
            <a:endParaRPr b="0" lang="en-IN" sz="2400" strike="noStrike" u="none">
              <a:solidFill>
                <a:srgbClr val="000000"/>
              </a:solidFill>
              <a:effectLst/>
              <a:uFillTx/>
              <a:latin typeface="Calibri"/>
            </a:endParaRPr>
          </a:p>
          <a:p>
            <a:pPr marL="230040" indent="-230040">
              <a:lnSpc>
                <a:spcPct val="100000"/>
              </a:lnSpc>
              <a:spcBef>
                <a:spcPts val="700"/>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a:p>
            <a:pPr marL="230040" indent="-230040">
              <a:lnSpc>
                <a:spcPct val="100000"/>
              </a:lnSpc>
              <a:spcBef>
                <a:spcPts val="700"/>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22D72971-7B94-4644-8A4D-685A2857F5B0}"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207" name="PlaceHolder 1"/>
          <p:cNvSpPr>
            <a:spLocks noGrp="1"/>
          </p:cNvSpPr>
          <p:nvPr>
            <p:ph type="title"/>
          </p:nvPr>
        </p:nvSpPr>
        <p:spPr>
          <a:xfrm>
            <a:off x="228240" y="414000"/>
            <a:ext cx="8785080" cy="88092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Institution required to take attendance</a:t>
            </a:r>
            <a:r>
              <a:rPr b="0" lang="en-US" sz="3600" strike="noStrike" u="none">
                <a:solidFill>
                  <a:srgbClr val="595959"/>
                </a:solidFill>
                <a:effectLst/>
                <a:uFillTx/>
                <a:latin typeface="Arial"/>
                <a:ea typeface="Arial"/>
              </a:rPr>
              <a:t>	</a:t>
            </a:r>
            <a:endParaRPr b="0" lang="en-IN" sz="3600" strike="noStrike" u="none">
              <a:solidFill>
                <a:srgbClr val="000000"/>
              </a:solidFill>
              <a:effectLst/>
              <a:uFillTx/>
              <a:latin typeface="Calibri"/>
            </a:endParaRPr>
          </a:p>
        </p:txBody>
      </p:sp>
      <p:sp>
        <p:nvSpPr>
          <p:cNvPr id="208" name="PlaceHolder 2"/>
          <p:cNvSpPr>
            <a:spLocks noGrp="1"/>
          </p:cNvSpPr>
          <p:nvPr>
            <p:ph/>
          </p:nvPr>
        </p:nvSpPr>
        <p:spPr>
          <a:xfrm>
            <a:off x="304920" y="1523520"/>
            <a:ext cx="7975440" cy="4343400"/>
          </a:xfrm>
          <a:prstGeom prst="rect">
            <a:avLst/>
          </a:prstGeom>
          <a:noFill/>
          <a:ln w="0">
            <a:noFill/>
          </a:ln>
        </p:spPr>
        <p:txBody>
          <a:bodyPr lIns="90000" rIns="90000" tIns="46800" bIns="46800" anchor="t">
            <a:normAutofit lnSpcReduction="9999"/>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The institution has a requirement that attendance be taken</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The Program Integrity Final Regulations do NOT require institutions to take attendance</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If an institution requires its faculty to take attendance at the program, departmental, or institutional level</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If there is no institutional requirement, but an individual faculty member chooses to take attendance, those records could, but would not be required to be used (Therefore, the institution is not required to take attendance – 668.22(c))</a:t>
            </a:r>
            <a:endParaRPr b="0" lang="en-IN" sz="2400" strike="noStrike" u="none">
              <a:solidFill>
                <a:srgbClr val="000000"/>
              </a:solidFill>
              <a:effectLst/>
              <a:uFillTx/>
              <a:latin typeface="Calibri"/>
            </a:endParaRPr>
          </a:p>
          <a:p>
            <a:pPr lvl="1" marL="404640" indent="0">
              <a:lnSpc>
                <a:spcPct val="100000"/>
              </a:lnSpc>
              <a:spcBef>
                <a:spcPts val="601"/>
              </a:spcBef>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0D26BCBA-EF09-4C15-B11C-F9E6A0D70A6D}"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210" name="PlaceHolder 1"/>
          <p:cNvSpPr>
            <a:spLocks noGrp="1"/>
          </p:cNvSpPr>
          <p:nvPr>
            <p:ph type="title"/>
          </p:nvPr>
        </p:nvSpPr>
        <p:spPr>
          <a:xfrm>
            <a:off x="228600" y="456840"/>
            <a:ext cx="8763120" cy="114300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Institution required to take attendance </a:t>
            </a:r>
            <a:r>
              <a:rPr b="0" lang="en-US" sz="4000" strike="noStrike" u="none">
                <a:solidFill>
                  <a:srgbClr val="595959"/>
                </a:solidFill>
                <a:effectLst/>
                <a:uFillTx/>
                <a:latin typeface="Arial"/>
                <a:ea typeface="Arial"/>
              </a:rPr>
              <a:t>	</a:t>
            </a:r>
            <a:endParaRPr b="0" lang="en-IN" sz="4000" strike="noStrike" u="none">
              <a:solidFill>
                <a:srgbClr val="000000"/>
              </a:solidFill>
              <a:effectLst/>
              <a:uFillTx/>
              <a:latin typeface="Calibri"/>
            </a:endParaRPr>
          </a:p>
        </p:txBody>
      </p:sp>
      <p:sp>
        <p:nvSpPr>
          <p:cNvPr id="211" name="PlaceHolder 2"/>
          <p:cNvSpPr>
            <a:spLocks noGrp="1"/>
          </p:cNvSpPr>
          <p:nvPr>
            <p:ph/>
          </p:nvPr>
        </p:nvSpPr>
        <p:spPr>
          <a:xfrm>
            <a:off x="304920" y="1142640"/>
            <a:ext cx="7975440" cy="4724280"/>
          </a:xfrm>
          <a:prstGeom prst="rect">
            <a:avLst/>
          </a:prstGeom>
          <a:noFill/>
          <a:ln w="0">
            <a:noFill/>
          </a:ln>
        </p:spPr>
        <p:txBody>
          <a:bodyPr lIns="90000" rIns="90000" tIns="46800" bIns="46800" anchor="t">
            <a:normAutofit/>
          </a:bodyPr>
          <a:p>
            <a:pPr marL="230040" indent="0">
              <a:lnSpc>
                <a:spcPct val="100000"/>
              </a:lnSpc>
              <a:spcBef>
                <a:spcPts val="700"/>
              </a:spcBef>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a:p>
            <a:pPr marL="230040" indent="0">
              <a:lnSpc>
                <a:spcPct val="100000"/>
              </a:lnSpc>
              <a:spcBef>
                <a:spcPts val="700"/>
              </a:spcBef>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Institution or an outside entity has a requirement that can only be met by taking attendance for the program or a portion of the program</a:t>
            </a:r>
            <a:endParaRPr b="0" lang="en-IN" sz="24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682BF659-3CB0-46F5-A379-438B76B72852}"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213" name="PlaceHolder 1"/>
          <p:cNvSpPr>
            <a:spLocks noGrp="1"/>
          </p:cNvSpPr>
          <p:nvPr>
            <p:ph type="title"/>
          </p:nvPr>
        </p:nvSpPr>
        <p:spPr>
          <a:xfrm>
            <a:off x="228240" y="414000"/>
            <a:ext cx="8785080" cy="133812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Institution required to take attendance </a:t>
            </a:r>
            <a:r>
              <a:rPr b="0" lang="en-US" sz="2400" strike="noStrike" u="none">
                <a:solidFill>
                  <a:srgbClr val="595959"/>
                </a:solidFill>
                <a:effectLst/>
                <a:uFillTx/>
                <a:latin typeface="Arial"/>
                <a:ea typeface="Arial"/>
              </a:rPr>
              <a:t>	</a:t>
            </a:r>
            <a:endParaRPr b="0" lang="en-IN" sz="2400" strike="noStrike" u="none">
              <a:solidFill>
                <a:srgbClr val="000000"/>
              </a:solidFill>
              <a:effectLst/>
              <a:uFillTx/>
              <a:latin typeface="Calibri"/>
            </a:endParaRPr>
          </a:p>
        </p:txBody>
      </p:sp>
      <p:sp>
        <p:nvSpPr>
          <p:cNvPr id="214" name="PlaceHolder 2"/>
          <p:cNvSpPr>
            <a:spLocks noGrp="1"/>
          </p:cNvSpPr>
          <p:nvPr>
            <p:ph/>
          </p:nvPr>
        </p:nvSpPr>
        <p:spPr>
          <a:xfrm>
            <a:off x="304920" y="1371600"/>
            <a:ext cx="7975440" cy="4495680"/>
          </a:xfrm>
          <a:prstGeom prst="rect">
            <a:avLst/>
          </a:prstGeom>
          <a:noFill/>
          <a:ln w="0">
            <a:noFill/>
          </a:ln>
        </p:spPr>
        <p:txBody>
          <a:bodyPr lIns="90000" rIns="90000" tIns="46800" bIns="46800" anchor="t">
            <a:normAutofit/>
          </a:bodyPr>
          <a:p>
            <a:pPr marL="230040" indent="0">
              <a:lnSpc>
                <a:spcPct val="100000"/>
              </a:lnSpc>
              <a:spcBef>
                <a:spcPts val="700"/>
              </a:spcBef>
              <a:buNone/>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8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If the institution is required to take attendance or requires attendance for only some students</a:t>
            </a:r>
            <a:endParaRPr b="0" lang="en-IN" sz="2400" strike="noStrike" u="none">
              <a:solidFill>
                <a:srgbClr val="000000"/>
              </a:solidFill>
              <a:effectLst/>
              <a:uFillTx/>
              <a:latin typeface="Calibri"/>
            </a:endParaRPr>
          </a:p>
          <a:p>
            <a:pPr lvl="2" marL="623880" indent="-163440">
              <a:lnSpc>
                <a:spcPct val="100000"/>
              </a:lnSpc>
              <a:spcBef>
                <a:spcPts val="499"/>
              </a:spcBef>
              <a:buClr>
                <a:srgbClr val="535353"/>
              </a:buClr>
              <a:buSzPct val="80000"/>
              <a:buFont typeface="Arial"/>
              <a:buChar char="•"/>
              <a:tabLst>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Lst>
            </a:pPr>
            <a:r>
              <a:rPr b="0" lang="en-US" sz="2000" strike="noStrike" u="none">
                <a:solidFill>
                  <a:srgbClr val="535353"/>
                </a:solidFill>
                <a:effectLst/>
                <a:uFillTx/>
                <a:latin typeface="Arial"/>
                <a:ea typeface="Arial"/>
              </a:rPr>
              <a:t>The attendance records must be used to determine the withdrawal date for that cohort of students</a:t>
            </a:r>
            <a:endParaRPr b="0" lang="en-IN" sz="2000" strike="noStrike" u="none">
              <a:solidFill>
                <a:srgbClr val="000000"/>
              </a:solidFill>
              <a:effectLst/>
              <a:uFillTx/>
              <a:latin typeface="Calibri"/>
            </a:endParaRPr>
          </a:p>
          <a:p>
            <a:pPr marL="230040" indent="-230040">
              <a:lnSpc>
                <a:spcPct val="100000"/>
              </a:lnSpc>
              <a:spcBef>
                <a:spcPts val="499"/>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0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523A97B7-1192-445B-9BBD-0E03EC0281F3}"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216" name="PlaceHolder 1"/>
          <p:cNvSpPr>
            <a:spLocks noGrp="1"/>
          </p:cNvSpPr>
          <p:nvPr>
            <p:ph type="title"/>
          </p:nvPr>
        </p:nvSpPr>
        <p:spPr>
          <a:xfrm>
            <a:off x="151920" y="414360"/>
            <a:ext cx="8861400" cy="11858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Institution required to take attendance </a:t>
            </a:r>
            <a:r>
              <a:rPr b="0" lang="en-US" sz="2400" strike="noStrike" u="none">
                <a:solidFill>
                  <a:srgbClr val="595959"/>
                </a:solidFill>
                <a:effectLst/>
                <a:uFillTx/>
                <a:latin typeface="Arial"/>
                <a:ea typeface="Arial"/>
              </a:rPr>
              <a:t>	</a:t>
            </a:r>
            <a:r>
              <a:rPr b="0" lang="en-US" sz="3600" strike="noStrike" u="none">
                <a:solidFill>
                  <a:srgbClr val="595959"/>
                </a:solidFill>
                <a:effectLst/>
                <a:uFillTx/>
                <a:latin typeface="Arial"/>
                <a:ea typeface="Arial"/>
              </a:rPr>
              <a:t>	</a:t>
            </a:r>
            <a:endParaRPr b="0" lang="en-IN" sz="3600" strike="noStrike" u="none">
              <a:solidFill>
                <a:srgbClr val="000000"/>
              </a:solidFill>
              <a:effectLst/>
              <a:uFillTx/>
              <a:latin typeface="Calibri"/>
            </a:endParaRPr>
          </a:p>
        </p:txBody>
      </p:sp>
      <p:sp>
        <p:nvSpPr>
          <p:cNvPr id="217" name="PlaceHolder 2"/>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If the institution is required to take attendance or requires attendance for a limited period of time</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The attendance records must be used to determine the withdrawal date for that limited period of time </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A student in attendance on the last day of the limited period, who continues attendance, but subsequently WDs – will be treated as a student at an inst. not req’d to take attendance</a:t>
            </a:r>
            <a:endParaRPr b="0" lang="en-IN" sz="24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228240" y="414000"/>
            <a:ext cx="8785080" cy="6476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Institution required to take attendance</a:t>
            </a:r>
            <a:endParaRPr b="0" lang="en-IN" sz="4000" strike="noStrike" u="none">
              <a:solidFill>
                <a:srgbClr val="000000"/>
              </a:solidFill>
              <a:effectLst/>
              <a:uFillTx/>
              <a:latin typeface="Calibri"/>
            </a:endParaRPr>
          </a:p>
        </p:txBody>
      </p:sp>
      <p:sp>
        <p:nvSpPr>
          <p:cNvPr id="219" name="Text Box 5"/>
          <p:cNvSpPr/>
          <p:nvPr/>
        </p:nvSpPr>
        <p:spPr>
          <a:xfrm>
            <a:off x="762120" y="1600200"/>
            <a:ext cx="7315200" cy="45972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gn="ct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    Term I – 16 weeks</a:t>
            </a:r>
            <a:endParaRPr b="0" lang="en-IN" sz="2400" strike="noStrike" u="none">
              <a:solidFill>
                <a:srgbClr val="000000"/>
              </a:solidFill>
              <a:effectLst/>
              <a:uFillTx/>
              <a:latin typeface="Calibri"/>
            </a:endParaRPr>
          </a:p>
        </p:txBody>
      </p:sp>
      <p:sp>
        <p:nvSpPr>
          <p:cNvPr id="220" name="Text Box 7"/>
          <p:cNvSpPr/>
          <p:nvPr/>
        </p:nvSpPr>
        <p:spPr>
          <a:xfrm>
            <a:off x="762120" y="2743200"/>
            <a:ext cx="739116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Program A – Daily attendance taking is required for the 1</a:t>
            </a:r>
            <a:r>
              <a:rPr b="0" lang="en-US" sz="2400" strike="noStrike" u="none" baseline="30000">
                <a:solidFill>
                  <a:srgbClr val="000000"/>
                </a:solidFill>
                <a:effectLst/>
                <a:uFillTx/>
                <a:latin typeface="Times New Roman"/>
                <a:ea typeface="MS PGothic"/>
              </a:rPr>
              <a:t>st</a:t>
            </a:r>
            <a:r>
              <a:rPr b="0" lang="en-US" sz="2400" strike="noStrike" u="none">
                <a:solidFill>
                  <a:srgbClr val="000000"/>
                </a:solidFill>
                <a:effectLst/>
                <a:uFillTx/>
                <a:latin typeface="Times New Roman"/>
                <a:ea typeface="MS PGothic"/>
              </a:rPr>
              <a:t> 2-week period</a:t>
            </a:r>
            <a:endParaRPr b="0" lang="en-IN" sz="2400" strike="noStrike" u="none">
              <a:solidFill>
                <a:srgbClr val="000000"/>
              </a:solidFill>
              <a:effectLst/>
              <a:uFillTx/>
              <a:latin typeface="Calibri"/>
            </a:endParaRPr>
          </a:p>
        </p:txBody>
      </p:sp>
      <p:sp>
        <p:nvSpPr>
          <p:cNvPr id="221" name="Text Box 8"/>
          <p:cNvSpPr/>
          <p:nvPr/>
        </p:nvSpPr>
        <p:spPr>
          <a:xfrm>
            <a:off x="685800" y="3657600"/>
            <a:ext cx="7543800" cy="17474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All students who withdraw during the 1</a:t>
            </a:r>
            <a:r>
              <a:rPr b="0" lang="en-US" sz="2400" strike="noStrike" u="none" baseline="30000">
                <a:solidFill>
                  <a:srgbClr val="000000"/>
                </a:solidFill>
                <a:effectLst/>
                <a:uFillTx/>
                <a:latin typeface="Times New Roman"/>
                <a:ea typeface="MS PGothic"/>
              </a:rPr>
              <a:t>st</a:t>
            </a:r>
            <a:r>
              <a:rPr b="0" lang="en-US" sz="2400" strike="noStrike" u="none">
                <a:solidFill>
                  <a:srgbClr val="000000"/>
                </a:solidFill>
                <a:effectLst/>
                <a:uFillTx/>
                <a:latin typeface="Times New Roman"/>
                <a:ea typeface="MS PGothic"/>
              </a:rPr>
              <a:t> 2 wks = Institution Required to take attendance</a:t>
            </a:r>
            <a:endParaRPr b="0" lang="en-IN" sz="2400" strike="noStrike" u="none">
              <a:solidFill>
                <a:srgbClr val="000000"/>
              </a:solidFill>
              <a:effectLst/>
              <a:uFillTx/>
              <a:latin typeface="Calibri"/>
            </a:endParaRPr>
          </a:p>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All students who withdraw after the 2-wk period = Institution not required to take attendance</a:t>
            </a:r>
            <a:endParaRPr b="0" lang="en-IN" sz="2400" strike="noStrike" u="none">
              <a:solidFill>
                <a:srgbClr val="000000"/>
              </a:solidFill>
              <a:effectLst/>
              <a:uFillTx/>
              <a:latin typeface="Calibri"/>
            </a:endParaRPr>
          </a:p>
        </p:txBody>
      </p:sp>
      <p:sp>
        <p:nvSpPr>
          <p:cNvPr id="222" name="Line 9"/>
          <p:cNvSpPr/>
          <p:nvPr/>
        </p:nvSpPr>
        <p:spPr>
          <a:xfrm>
            <a:off x="1828800" y="1600200"/>
            <a:ext cx="0" cy="4572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223" name="Line 10"/>
          <p:cNvSpPr/>
          <p:nvPr/>
        </p:nvSpPr>
        <p:spPr>
          <a:xfrm>
            <a:off x="1523880" y="1600200"/>
            <a:ext cx="304920" cy="30492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224" name="Line 11"/>
          <p:cNvSpPr/>
          <p:nvPr/>
        </p:nvSpPr>
        <p:spPr>
          <a:xfrm flipH="1" flipV="1">
            <a:off x="1066680" y="1600200"/>
            <a:ext cx="533520" cy="4572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225" name="Line 12"/>
          <p:cNvSpPr/>
          <p:nvPr/>
        </p:nvSpPr>
        <p:spPr>
          <a:xfrm>
            <a:off x="762120" y="1600200"/>
            <a:ext cx="533160" cy="4572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Calibri"/>
            </a:endParaRPr>
          </a:p>
        </p:txBody>
      </p:sp>
      <p:sp>
        <p:nvSpPr>
          <p:cNvPr id="226" name="Text Box 13"/>
          <p:cNvSpPr/>
          <p:nvPr/>
        </p:nvSpPr>
        <p:spPr>
          <a:xfrm>
            <a:off x="762120" y="2209680"/>
            <a:ext cx="10666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2 wks</a:t>
            </a:r>
            <a:endParaRPr b="0" lang="en-IN" sz="2400" strike="noStrike" u="none">
              <a:solidFill>
                <a:srgbClr val="000000"/>
              </a:solidFill>
              <a:effectLst/>
              <a:uFillTx/>
              <a:latin typeface="Calibri"/>
            </a:endParaRPr>
          </a:p>
        </p:txBody>
      </p:sp>
      <p:sp>
        <p:nvSpPr>
          <p:cNvPr id="227"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9E12D18C-57F7-4C56-85CE-6C963B6C2FFB}"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2593111E-EEA3-4F51-8738-25FD2DC551AC}"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229" name="PlaceHolder 1"/>
          <p:cNvSpPr>
            <a:spLocks noGrp="1"/>
          </p:cNvSpPr>
          <p:nvPr>
            <p:ph type="title"/>
          </p:nvPr>
        </p:nvSpPr>
        <p:spPr>
          <a:xfrm>
            <a:off x="228240" y="414000"/>
            <a:ext cx="8785080" cy="6476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Institution required to take attendance</a:t>
            </a:r>
            <a:br>
              <a:rPr sz="2200"/>
            </a:br>
            <a:br>
              <a:rPr sz="2200"/>
            </a:br>
            <a:r>
              <a:rPr b="0" lang="en-US" sz="2200" strike="noStrike" u="none">
                <a:solidFill>
                  <a:srgbClr val="595959"/>
                </a:solidFill>
                <a:effectLst/>
                <a:uFillTx/>
                <a:latin typeface="Arial"/>
                <a:ea typeface="Arial"/>
              </a:rPr>
              <a:t> </a:t>
            </a:r>
            <a:r>
              <a:rPr b="0" lang="en-US" sz="3200" strike="noStrike" u="none">
                <a:solidFill>
                  <a:srgbClr val="595959"/>
                </a:solidFill>
                <a:effectLst/>
                <a:uFillTx/>
                <a:latin typeface="Arial"/>
                <a:ea typeface="Arial"/>
              </a:rPr>
              <a:t>	</a:t>
            </a:r>
            <a:endParaRPr b="0" lang="en-IN" sz="3200" strike="noStrike" u="none">
              <a:solidFill>
                <a:srgbClr val="000000"/>
              </a:solidFill>
              <a:effectLst/>
              <a:uFillTx/>
              <a:latin typeface="Calibri"/>
            </a:endParaRPr>
          </a:p>
        </p:txBody>
      </p:sp>
      <p:sp>
        <p:nvSpPr>
          <p:cNvPr id="230" name="PlaceHolder 2"/>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Only required to take attendance for a single day</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“Census” snap-shot</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Not considered “An institution required to take attendance”</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Follow the rules in 668.22(c)</a:t>
            </a:r>
            <a:endParaRPr b="0" lang="en-IN" sz="2400" strike="noStrike" u="none">
              <a:solidFill>
                <a:srgbClr val="000000"/>
              </a:solidFill>
              <a:effectLst/>
              <a:uFillTx/>
              <a:latin typeface="Calibri"/>
            </a:endParaRPr>
          </a:p>
          <a:p>
            <a:pPr marL="230040" indent="-230040">
              <a:lnSpc>
                <a:spcPct val="100000"/>
              </a:lnSpc>
              <a:spcBef>
                <a:spcPts val="60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228240" y="380880"/>
            <a:ext cx="8839080" cy="137160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Institution required to take attendance</a:t>
            </a:r>
            <a:endParaRPr b="0" lang="en-IN" sz="4000" strike="noStrike" u="none">
              <a:solidFill>
                <a:srgbClr val="000000"/>
              </a:solidFill>
              <a:effectLst/>
              <a:uFillTx/>
              <a:latin typeface="Calibri"/>
            </a:endParaRPr>
          </a:p>
        </p:txBody>
      </p:sp>
      <p:sp>
        <p:nvSpPr>
          <p:cNvPr id="232" name=""/>
          <p:cNvSpPr txBox="1"/>
          <p:nvPr/>
        </p:nvSpPr>
        <p:spPr>
          <a:xfrm>
            <a:off x="533520" y="1523880"/>
            <a:ext cx="8229600" cy="452592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Q – If an institution monitors whether its online students log into classes, is this an institution “required to take attendance?”</a:t>
            </a:r>
            <a:endParaRPr b="0" lang="en-IN" sz="2400" strike="noStrike" u="none">
              <a:solidFill>
                <a:srgbClr val="000000"/>
              </a:solidFill>
              <a:effectLst/>
              <a:uFillTx/>
              <a:latin typeface="Calibri"/>
            </a:endParaRPr>
          </a:p>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A – No, monitoring by itself does not meet the definition, however, if there is tracking academic engagement then the institution is considered to be an institution that is required to take attendance.”</a:t>
            </a:r>
            <a:endParaRPr b="0" lang="en-IN" sz="2400" strike="noStrike" u="none">
              <a:solidFill>
                <a:srgbClr val="000000"/>
              </a:solidFill>
              <a:effectLst/>
              <a:uFillTx/>
              <a:latin typeface="Calibri"/>
            </a:endParaRPr>
          </a:p>
        </p:txBody>
      </p:sp>
      <p:sp>
        <p:nvSpPr>
          <p:cNvPr id="233"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31332970-F83B-418B-830E-46DAF2542637}"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CF42ECE1-B7FB-4037-9DE1-45589CE03F00}"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235" name="PlaceHolder 1"/>
          <p:cNvSpPr>
            <a:spLocks noGrp="1"/>
          </p:cNvSpPr>
          <p:nvPr>
            <p:ph type="title"/>
          </p:nvPr>
        </p:nvSpPr>
        <p:spPr>
          <a:xfrm>
            <a:off x="76320" y="533520"/>
            <a:ext cx="9067680" cy="52848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95959"/>
                </a:solidFill>
                <a:effectLst/>
                <a:uFillTx/>
                <a:latin typeface="Arial"/>
                <a:ea typeface="Arial"/>
              </a:rPr>
              <a:t>Total number of days in a Payment Period or Period of Enrollment</a:t>
            </a:r>
            <a:br>
              <a:rPr sz="2200"/>
            </a:br>
            <a:br>
              <a:rPr sz="2200"/>
            </a:br>
            <a:endParaRPr b="0" lang="en-IN" sz="2400" strike="noStrike" u="none">
              <a:solidFill>
                <a:srgbClr val="000000"/>
              </a:solidFill>
              <a:effectLst/>
              <a:uFillTx/>
              <a:latin typeface="Calibri"/>
            </a:endParaRPr>
          </a:p>
        </p:txBody>
      </p:sp>
      <p:sp>
        <p:nvSpPr>
          <p:cNvPr id="236" name="PlaceHolder 2"/>
          <p:cNvSpPr>
            <a:spLocks noGrp="1"/>
          </p:cNvSpPr>
          <p:nvPr>
            <p:ph/>
          </p:nvPr>
        </p:nvSpPr>
        <p:spPr>
          <a:xfrm>
            <a:off x="304920" y="1371600"/>
            <a:ext cx="7975440" cy="449568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Includes all the calendar days within the period that the student was scheduled to complete, except</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The number of institutionally scheduled breaks of 5 consecutive days or more are not included in the total calendar days used in the Return calculation, or</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The days in which the student was on an approved LOA (that complies with668.22(d)).</a:t>
            </a:r>
            <a:endParaRPr b="0" lang="en-IN" sz="24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Program “offered in modules”</a:t>
            </a:r>
            <a:endParaRPr b="0" lang="en-IN" sz="4000" strike="noStrike" u="none">
              <a:solidFill>
                <a:srgbClr val="000000"/>
              </a:solidFill>
              <a:effectLst/>
              <a:uFillTx/>
              <a:latin typeface="Calibri"/>
            </a:endParaRPr>
          </a:p>
        </p:txBody>
      </p:sp>
      <p:sp>
        <p:nvSpPr>
          <p:cNvPr id="238" name="Text Box 4"/>
          <p:cNvSpPr/>
          <p:nvPr/>
        </p:nvSpPr>
        <p:spPr>
          <a:xfrm>
            <a:off x="685800" y="1371600"/>
            <a:ext cx="2057400" cy="45972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Module 1</a:t>
            </a:r>
            <a:endParaRPr b="0" lang="en-IN" sz="2400" strike="noStrike" u="none">
              <a:solidFill>
                <a:srgbClr val="000000"/>
              </a:solidFill>
              <a:effectLst/>
              <a:uFillTx/>
              <a:latin typeface="Calibri"/>
            </a:endParaRPr>
          </a:p>
        </p:txBody>
      </p:sp>
      <p:sp>
        <p:nvSpPr>
          <p:cNvPr id="239" name="Text Box 6"/>
          <p:cNvSpPr/>
          <p:nvPr/>
        </p:nvSpPr>
        <p:spPr>
          <a:xfrm>
            <a:off x="2971800" y="1371600"/>
            <a:ext cx="2209680" cy="45972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Module 2</a:t>
            </a:r>
            <a:endParaRPr b="0" lang="en-IN" sz="2400" strike="noStrike" u="none">
              <a:solidFill>
                <a:srgbClr val="000000"/>
              </a:solidFill>
              <a:effectLst/>
              <a:uFillTx/>
              <a:latin typeface="Calibri"/>
            </a:endParaRPr>
          </a:p>
        </p:txBody>
      </p:sp>
      <p:sp>
        <p:nvSpPr>
          <p:cNvPr id="240" name="Text Box 7"/>
          <p:cNvSpPr/>
          <p:nvPr/>
        </p:nvSpPr>
        <p:spPr>
          <a:xfrm>
            <a:off x="5334120" y="1371600"/>
            <a:ext cx="2361960" cy="45972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lnSpc>
                <a:spcPct val="100000"/>
              </a:lnSpc>
              <a:spcBef>
                <a:spcPts val="150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000000"/>
                </a:solidFill>
                <a:effectLst/>
                <a:uFillTx/>
                <a:latin typeface="Times New Roman"/>
                <a:ea typeface="MS PGothic"/>
              </a:rPr>
              <a:t>Module 3</a:t>
            </a:r>
            <a:endParaRPr b="0" lang="en-IN" sz="2400" strike="noStrike" u="none">
              <a:solidFill>
                <a:srgbClr val="000000"/>
              </a:solidFill>
              <a:effectLst/>
              <a:uFillTx/>
              <a:latin typeface="Calibri"/>
            </a:endParaRPr>
          </a:p>
        </p:txBody>
      </p:sp>
      <p:sp>
        <p:nvSpPr>
          <p:cNvPr id="241" name="Rectangle 7"/>
          <p:cNvSpPr/>
          <p:nvPr/>
        </p:nvSpPr>
        <p:spPr>
          <a:xfrm>
            <a:off x="460440" y="2209680"/>
            <a:ext cx="8226360" cy="33145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404040"/>
                </a:solidFill>
                <a:effectLst/>
                <a:uFillTx/>
                <a:latin typeface="Times New Roman"/>
                <a:ea typeface="MS PGothic"/>
              </a:rPr>
              <a:t>Student enrolls for 3 modules within a term each 35 days in length and with a weekend in between modules 1 &amp; 2 and 2 &amp; 3.</a:t>
            </a:r>
            <a:endParaRPr b="0" lang="en-IN" sz="2000" strike="noStrike" u="none">
              <a:solidFill>
                <a:srgbClr val="000000"/>
              </a:solidFill>
              <a:effectLst/>
              <a:uFillTx/>
              <a:latin typeface="Calibri"/>
            </a:endParaRPr>
          </a:p>
          <a:p>
            <a:pPr>
              <a:lnSpc>
                <a:spcPct val="100000"/>
              </a:lnSpc>
              <a:spcBef>
                <a:spcPts val="125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404040"/>
                </a:solidFill>
                <a:effectLst/>
                <a:uFillTx/>
                <a:latin typeface="Times New Roman"/>
                <a:ea typeface="MS PGothic"/>
              </a:rPr>
              <a:t>Cheryl begins and completes Module 1 and doesn’t return for Modules 2 &amp; 3 and doesn’t contact the institution.</a:t>
            </a:r>
            <a:endParaRPr b="0" lang="en-IN" sz="2000" strike="noStrike" u="none">
              <a:solidFill>
                <a:srgbClr val="000000"/>
              </a:solidFill>
              <a:effectLst/>
              <a:uFillTx/>
              <a:latin typeface="Calibri"/>
            </a:endParaRPr>
          </a:p>
          <a:p>
            <a:pPr>
              <a:lnSpc>
                <a:spcPct val="100000"/>
              </a:lnSpc>
              <a:spcBef>
                <a:spcPts val="125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404040"/>
                </a:solidFill>
                <a:effectLst/>
                <a:uFillTx/>
                <a:latin typeface="Times New Roman"/>
                <a:ea typeface="MS PGothic"/>
              </a:rPr>
              <a:t>Institution Required to Take Attendance – WD = LDA- last day she took a final exam. The denominator = 109 days (35 x3, plus 4 days between Modules).</a:t>
            </a:r>
            <a:endParaRPr b="0" lang="en-IN" sz="2000" strike="noStrike" u="none">
              <a:solidFill>
                <a:srgbClr val="000000"/>
              </a:solidFill>
              <a:effectLst/>
              <a:uFillTx/>
              <a:latin typeface="Calibri"/>
            </a:endParaRPr>
          </a:p>
          <a:p>
            <a:pPr>
              <a:lnSpc>
                <a:spcPct val="100000"/>
              </a:lnSpc>
              <a:spcBef>
                <a:spcPts val="1250"/>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404040"/>
                </a:solidFill>
                <a:effectLst/>
                <a:uFillTx/>
                <a:latin typeface="Times New Roman"/>
                <a:ea typeface="MS PGothic"/>
              </a:rPr>
              <a:t>Institution NOT Required to Take Attendance – WD = 34 CFR 668.22(c)(1)(i) – (vi).  The denominator =  109 days (35 x 3, plus 4 days between Modules).</a:t>
            </a:r>
            <a:endParaRPr b="0" lang="en-IN" sz="2000" strike="noStrike" u="none">
              <a:solidFill>
                <a:srgbClr val="000000"/>
              </a:solidFill>
              <a:effectLst/>
              <a:uFillTx/>
              <a:latin typeface="Calibri"/>
            </a:endParaRPr>
          </a:p>
        </p:txBody>
      </p:sp>
      <p:sp>
        <p:nvSpPr>
          <p:cNvPr id="242"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06480B75-E9C3-43A9-B017-D734C39F0D0B}"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Program “offered in modules”</a:t>
            </a:r>
            <a:endParaRPr b="0" lang="en-IN" sz="4000" strike="noStrike" u="none">
              <a:solidFill>
                <a:srgbClr val="000000"/>
              </a:solidFill>
              <a:effectLst/>
              <a:uFillTx/>
              <a:latin typeface="Calibri"/>
            </a:endParaRPr>
          </a:p>
        </p:txBody>
      </p:sp>
      <p:pic>
        <p:nvPicPr>
          <p:cNvPr id="244" name="Picture 2" descr=""/>
          <p:cNvPicPr/>
          <p:nvPr/>
        </p:nvPicPr>
        <p:blipFill>
          <a:blip r:embed="rId1"/>
          <a:stretch/>
        </p:blipFill>
        <p:spPr>
          <a:xfrm>
            <a:off x="460440" y="1295280"/>
            <a:ext cx="7921440" cy="838440"/>
          </a:xfrm>
          <a:prstGeom prst="rect">
            <a:avLst/>
          </a:prstGeom>
          <a:noFill/>
          <a:ln w="0">
            <a:noFill/>
          </a:ln>
        </p:spPr>
      </p:pic>
      <p:sp>
        <p:nvSpPr>
          <p:cNvPr id="245" name="Rectangle 3"/>
          <p:cNvSpPr/>
          <p:nvPr/>
        </p:nvSpPr>
        <p:spPr>
          <a:xfrm>
            <a:off x="533520" y="2286000"/>
            <a:ext cx="8076960" cy="2991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800" strike="noStrike" u="none">
                <a:solidFill>
                  <a:srgbClr val="000000"/>
                </a:solidFill>
                <a:effectLst/>
                <a:uFillTx/>
                <a:latin typeface="Times New Roman"/>
                <a:ea typeface="MS PGothic"/>
              </a:rPr>
              <a:t>Student enrolls for 3 modules within a standard term each 35 days in length and with a week in between modules 1 &amp; 2 and 2 &amp; 3.</a:t>
            </a:r>
            <a:endParaRPr b="0" lang="en-IN" sz="1800" strike="noStrike" u="none">
              <a:solidFill>
                <a:srgbClr val="000000"/>
              </a:solidFill>
              <a:effectLst/>
              <a:uFillTx/>
              <a:latin typeface="Calibri"/>
            </a:endParaRPr>
          </a:p>
          <a:p>
            <a:pPr>
              <a:lnSpc>
                <a:spcPct val="100000"/>
              </a:lnSpc>
              <a:spcBef>
                <a:spcPts val="1125"/>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800" strike="noStrike" u="none">
                <a:solidFill>
                  <a:srgbClr val="000000"/>
                </a:solidFill>
                <a:effectLst/>
                <a:uFillTx/>
                <a:latin typeface="Times New Roman"/>
                <a:ea typeface="MS PGothic"/>
              </a:rPr>
              <a:t>Anthony begins and completes Module 1 and doesn’t return for Modules 2 &amp; 3 and doesn’t contact the institution.</a:t>
            </a:r>
            <a:endParaRPr b="0" lang="en-IN" sz="1800" strike="noStrike" u="none">
              <a:solidFill>
                <a:srgbClr val="000000"/>
              </a:solidFill>
              <a:effectLst/>
              <a:uFillTx/>
              <a:latin typeface="Calibri"/>
            </a:endParaRPr>
          </a:p>
          <a:p>
            <a:pPr>
              <a:lnSpc>
                <a:spcPct val="100000"/>
              </a:lnSpc>
              <a:spcBef>
                <a:spcPts val="1125"/>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800" strike="noStrike" u="none">
                <a:solidFill>
                  <a:srgbClr val="000000"/>
                </a:solidFill>
                <a:effectLst/>
                <a:uFillTx/>
                <a:latin typeface="Times New Roman"/>
                <a:ea typeface="MS PGothic"/>
              </a:rPr>
              <a:t>Institution Required to Take Attendance – WD = LDA- last day he took a final exam. The denominator =105 days (35 x 3). The time between the Modules are more than 5 consecutive days and therefore excluded .</a:t>
            </a:r>
            <a:endParaRPr b="0" lang="en-IN" sz="1800" strike="noStrike" u="none">
              <a:solidFill>
                <a:srgbClr val="000000"/>
              </a:solidFill>
              <a:effectLst/>
              <a:uFillTx/>
              <a:latin typeface="Calibri"/>
            </a:endParaRPr>
          </a:p>
          <a:p>
            <a:pPr>
              <a:lnSpc>
                <a:spcPct val="100000"/>
              </a:lnSpc>
              <a:spcBef>
                <a:spcPts val="1125"/>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800" strike="noStrike" u="none">
                <a:solidFill>
                  <a:srgbClr val="000000"/>
                </a:solidFill>
                <a:effectLst/>
                <a:uFillTx/>
                <a:latin typeface="Times New Roman"/>
                <a:ea typeface="MS PGothic"/>
              </a:rPr>
              <a:t>Institution NOT Required to Take Attendance – WD = 34 CFR 668.22(c)(1)(i) – (vi).  The denominator =105 days (35 x3).</a:t>
            </a:r>
            <a:endParaRPr b="0" lang="en-IN" sz="1800" strike="noStrike" u="none">
              <a:solidFill>
                <a:srgbClr val="000000"/>
              </a:solidFill>
              <a:effectLst/>
              <a:uFillTx/>
              <a:latin typeface="Calibri"/>
            </a:endParaRPr>
          </a:p>
        </p:txBody>
      </p:sp>
      <p:sp>
        <p:nvSpPr>
          <p:cNvPr id="246"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B5C19405-A05C-4C7C-9207-A798CB4AE881}"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CE19E8F9-6CF5-42C3-ACE1-80B5C905BCA5}"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248"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595959"/>
                </a:solidFill>
                <a:effectLst/>
                <a:uFillTx/>
                <a:latin typeface="Arial"/>
                <a:ea typeface="Arial"/>
              </a:rPr>
              <a:t>Academically-related activity – what’s included</a:t>
            </a:r>
            <a:br>
              <a:rPr sz="2200"/>
            </a:br>
            <a:endParaRPr b="0" lang="en-IN" sz="3200" strike="noStrike" u="none">
              <a:solidFill>
                <a:srgbClr val="000000"/>
              </a:solidFill>
              <a:effectLst/>
              <a:uFillTx/>
              <a:latin typeface="Calibri"/>
            </a:endParaRPr>
          </a:p>
        </p:txBody>
      </p:sp>
      <p:sp>
        <p:nvSpPr>
          <p:cNvPr id="249" name="PlaceHolder 2"/>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Examples of an academically-related activity</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Physically attending a class with direct interaction bet the instructor and students</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Submitting an academic assignment</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Taking an exam, an interactive tutorial, or computer-assisted instruction</a:t>
            </a:r>
            <a:endParaRPr b="0" lang="en-IN" sz="24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4489A964-0647-4E89-AF17-E96C311C3E8A}"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251" name="PlaceHolder 1"/>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Examples of an academically-related activity – (con’t)</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Attending a study group that is assigned by the institution</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Participating in an online discussion about academic matters</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Initiating contact with a faculty member to ask a question about the academic subject studied in the course</a:t>
            </a:r>
            <a:endParaRPr b="0" lang="en-IN" sz="2400" strike="noStrike" u="none">
              <a:solidFill>
                <a:srgbClr val="000000"/>
              </a:solidFill>
              <a:effectLst/>
              <a:uFillTx/>
              <a:latin typeface="Calibri"/>
            </a:endParaRPr>
          </a:p>
        </p:txBody>
      </p:sp>
      <p:sp>
        <p:nvSpPr>
          <p:cNvPr id="252" name="PlaceHolder 2"/>
          <p:cNvSpPr>
            <a:spLocks noGrp="1"/>
          </p:cNvSpPr>
          <p:nvPr>
            <p:ph type="title"/>
          </p:nvPr>
        </p:nvSpPr>
        <p:spPr>
          <a:xfrm>
            <a:off x="151920" y="414000"/>
            <a:ext cx="8861400" cy="5000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595959"/>
                </a:solidFill>
                <a:effectLst/>
                <a:uFillTx/>
                <a:latin typeface="Arial"/>
                <a:ea typeface="Arial"/>
              </a:rPr>
              <a:t>Academically-related activity – what’s included</a:t>
            </a:r>
            <a:br>
              <a:rPr sz="3200"/>
            </a:br>
            <a:endParaRPr b="0" lang="en-IN" sz="32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DDFE2458-18D4-422E-A28B-27702BC3A837}"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254" name="PlaceHolder 1"/>
          <p:cNvSpPr>
            <a:spLocks noGrp="1"/>
          </p:cNvSpPr>
          <p:nvPr>
            <p:ph type="title"/>
          </p:nvPr>
        </p:nvSpPr>
        <p:spPr>
          <a:xfrm>
            <a:off x="460080" y="414000"/>
            <a:ext cx="8553240" cy="9572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95959"/>
                </a:solidFill>
                <a:effectLst/>
                <a:uFillTx/>
                <a:latin typeface="Arial"/>
                <a:ea typeface="Arial"/>
              </a:rPr>
              <a:t>Academically-related activity – what’s NOT included</a:t>
            </a:r>
            <a:r>
              <a:rPr b="0" lang="en-US" sz="3600" strike="noStrike" u="none">
                <a:solidFill>
                  <a:srgbClr val="595959"/>
                </a:solidFill>
                <a:effectLst/>
                <a:uFillTx/>
                <a:latin typeface="Arial"/>
                <a:ea typeface="Arial"/>
              </a:rPr>
              <a:t>	</a:t>
            </a:r>
            <a:endParaRPr b="0" lang="en-IN" sz="3600" strike="noStrike" u="none">
              <a:solidFill>
                <a:srgbClr val="000000"/>
              </a:solidFill>
              <a:effectLst/>
              <a:uFillTx/>
              <a:latin typeface="Calibri"/>
            </a:endParaRPr>
          </a:p>
        </p:txBody>
      </p:sp>
      <p:sp>
        <p:nvSpPr>
          <p:cNvPr id="255" name="PlaceHolder 2"/>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Effective 7/1/11 – you can no longer consider the following an academically-related activity for R2T4 purposes -</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Living in institutional housing</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Participating in the institution’s meal plan</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Logging into an online class without active participation</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Participating in academic counseling or advisement</a:t>
            </a:r>
            <a:endParaRPr b="0" lang="en-IN" sz="24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6BB2EA2B-3398-410E-947A-4752B59E4CA7}"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
        <p:nvSpPr>
          <p:cNvPr id="257" name="PlaceHolder 1"/>
          <p:cNvSpPr>
            <a:spLocks noGrp="1"/>
          </p:cNvSpPr>
          <p:nvPr>
            <p:ph/>
          </p:nvPr>
        </p:nvSpPr>
        <p:spPr>
          <a:xfrm>
            <a:off x="304920" y="1523520"/>
            <a:ext cx="7975440" cy="4343400"/>
          </a:xfrm>
          <a:prstGeom prst="rect">
            <a:avLst/>
          </a:prstGeom>
          <a:noFill/>
          <a:ln w="0">
            <a:noFill/>
          </a:ln>
        </p:spPr>
        <p:txBody>
          <a:bodyPr lIns="90000" rIns="90000" tIns="46800" bIns="46800" anchor="t">
            <a:normAutofit/>
          </a:bodyPr>
          <a:p>
            <a:pPr marL="230040" indent="-230040">
              <a:lnSpc>
                <a:spcPct val="100000"/>
              </a:lnSpc>
              <a:spcBef>
                <a:spcPts val="700"/>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800" strike="noStrike" u="none">
                <a:solidFill>
                  <a:srgbClr val="535353"/>
                </a:solidFill>
                <a:effectLst/>
                <a:uFillTx/>
                <a:latin typeface="Arial"/>
                <a:ea typeface="Arial"/>
              </a:rPr>
              <a:t>PLEASE REMEMBER !</a:t>
            </a:r>
            <a:endParaRPr b="0" lang="en-IN" sz="28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These academically-related activities must be documented and retained by the institution in accordance with the recordkeeping requirements in 34 CFR 668.24</a:t>
            </a:r>
            <a:endParaRPr b="0" lang="en-IN" sz="2400" strike="noStrike" u="none">
              <a:solidFill>
                <a:srgbClr val="000000"/>
              </a:solidFill>
              <a:effectLst/>
              <a:uFillTx/>
              <a:latin typeface="Calibri"/>
            </a:endParaRPr>
          </a:p>
          <a:p>
            <a:pPr lvl="1" marL="404640" indent="-174600">
              <a:lnSpc>
                <a:spcPct val="100000"/>
              </a:lnSpc>
              <a:spcBef>
                <a:spcPts val="601"/>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Student self-documentation of an academically-related activity will not meet the requirement</a:t>
            </a:r>
            <a:endParaRPr b="0" lang="en-IN" sz="2400" strike="noStrike" u="none">
              <a:solidFill>
                <a:srgbClr val="000000"/>
              </a:solidFill>
              <a:effectLst/>
              <a:uFillTx/>
              <a:latin typeface="Calibri"/>
            </a:endParaRPr>
          </a:p>
        </p:txBody>
      </p:sp>
      <p:sp>
        <p:nvSpPr>
          <p:cNvPr id="258" name="PlaceHolder 2"/>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Academically-related activity</a:t>
            </a:r>
            <a:br>
              <a:rPr sz="3200"/>
            </a:br>
            <a:endParaRPr b="0" lang="en-IN" sz="40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595959"/>
                </a:solidFill>
                <a:effectLst/>
                <a:uFillTx/>
                <a:latin typeface="Arial"/>
                <a:ea typeface="Arial"/>
              </a:rPr>
              <a:t>3 Questions to determine a withdrawal?</a:t>
            </a:r>
            <a:endParaRPr b="0" lang="en-IN" sz="3600" strike="noStrike" u="none">
              <a:solidFill>
                <a:srgbClr val="000000"/>
              </a:solidFill>
              <a:effectLst/>
              <a:uFillTx/>
              <a:latin typeface="Calibri"/>
            </a:endParaRPr>
          </a:p>
        </p:txBody>
      </p:sp>
      <p:sp>
        <p:nvSpPr>
          <p:cNvPr id="260" name=""/>
          <p:cNvSpPr txBox="1"/>
          <p:nvPr/>
        </p:nvSpPr>
        <p:spPr>
          <a:xfrm>
            <a:off x="533520" y="1523880"/>
            <a:ext cx="8229600" cy="452592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3200" strike="noStrike" u="none">
              <a:solidFill>
                <a:srgbClr val="000000"/>
              </a:solidFill>
              <a:effectLst/>
              <a:uFillTx/>
              <a:latin typeface="Calibri"/>
            </a:endParaRPr>
          </a:p>
        </p:txBody>
      </p:sp>
      <p:pic>
        <p:nvPicPr>
          <p:cNvPr id="261" name="Picture 4" descr=""/>
          <p:cNvPicPr/>
          <p:nvPr/>
        </p:nvPicPr>
        <p:blipFill>
          <a:blip r:embed="rId1"/>
          <a:stretch/>
        </p:blipFill>
        <p:spPr>
          <a:xfrm>
            <a:off x="380880" y="1278000"/>
            <a:ext cx="8458200" cy="4589280"/>
          </a:xfrm>
          <a:prstGeom prst="rect">
            <a:avLst/>
          </a:prstGeom>
          <a:noFill/>
          <a:ln w="0">
            <a:noFill/>
          </a:ln>
        </p:spPr>
      </p:pic>
      <p:sp>
        <p:nvSpPr>
          <p:cNvPr id="262" name="Slide Number Placeholder 3"/>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71AF9BEB-1D5E-49FA-B717-AB525CF816EC}" type="slidenum">
              <a:rPr b="0" lang="en-US" sz="900" strike="noStrike" u="none">
                <a:solidFill>
                  <a:srgbClr val="ffffff"/>
                </a:solidFill>
                <a:effectLst/>
                <a:uFillTx/>
                <a:latin typeface="Arial"/>
                <a:ea typeface="MS PGothic"/>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QUESTIONS?</a:t>
            </a:r>
            <a:endParaRPr b="0" lang="en-IN" sz="4000" strike="noStrike" u="none">
              <a:solidFill>
                <a:srgbClr val="000000"/>
              </a:solidFill>
              <a:effectLst/>
              <a:uFillTx/>
              <a:latin typeface="Calibri"/>
            </a:endParaRPr>
          </a:p>
        </p:txBody>
      </p:sp>
      <p:sp>
        <p:nvSpPr>
          <p:cNvPr id="264" name=""/>
          <p:cNvSpPr txBox="1"/>
          <p:nvPr/>
        </p:nvSpPr>
        <p:spPr>
          <a:xfrm>
            <a:off x="533520" y="1523880"/>
            <a:ext cx="8229600" cy="4525920"/>
          </a:xfrm>
          <a:prstGeom prst="rect">
            <a:avLst/>
          </a:prstGeom>
          <a:noFill/>
          <a:ln w="0">
            <a:noFill/>
          </a:ln>
        </p:spPr>
        <p:txBody>
          <a:bodyPr lIns="90000" rIns="90000" tIns="46800" bIns="46800" anchor="t">
            <a:normAutofit/>
          </a:bodyPr>
          <a:p>
            <a:pPr>
              <a:lnSpc>
                <a:spcPct val="100000"/>
              </a:lnSpc>
              <a:spcBef>
                <a:spcPts val="601"/>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a:p>
            <a:pPr lvl="1" marL="230040">
              <a:lnSpc>
                <a:spcPct val="100000"/>
              </a:lnSpc>
              <a:spcBef>
                <a:spcPts val="601"/>
              </a:spcBef>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IN" sz="2400" strike="noStrike" u="none">
              <a:solidFill>
                <a:srgbClr val="000000"/>
              </a:solidFill>
              <a:effectLst/>
              <a:uFillTx/>
              <a:latin typeface="Calibri"/>
            </a:endParaRPr>
          </a:p>
        </p:txBody>
      </p:sp>
      <p:sp>
        <p:nvSpPr>
          <p:cNvPr id="265" name="Slide Number Placeholder 4"/>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C99F8BEF-6DB0-4CF6-A6D3-DF7B519CF0E3}" type="slidenum">
              <a:rPr b="0" lang="en-US" sz="900" strike="noStrike" u="none">
                <a:solidFill>
                  <a:srgbClr val="f2f2f2"/>
                </a:solidFill>
                <a:effectLst/>
                <a:uFillTx/>
                <a:latin typeface="Arial"/>
              </a:rPr>
              <a:t>&lt;number&gt;</a:t>
            </a:fld>
            <a:endParaRPr b="0" lang="en-IN" sz="900" strike="noStrike" u="none">
              <a:solidFill>
                <a:srgbClr val="000000"/>
              </a:solidFill>
              <a:effectLst/>
              <a:uFillTx/>
              <a:latin typeface="Calibri"/>
            </a:endParaRPr>
          </a:p>
        </p:txBody>
      </p:sp>
      <p:pic>
        <p:nvPicPr>
          <p:cNvPr id="266" name="Picture 2" descr="C:\Users\Joe.Aiello\Desktop\Question-and-Answer.png"/>
          <p:cNvPicPr/>
          <p:nvPr/>
        </p:nvPicPr>
        <p:blipFill>
          <a:blip r:embed="rId1"/>
          <a:stretch/>
        </p:blipFill>
        <p:spPr>
          <a:xfrm>
            <a:off x="3143160" y="1952640"/>
            <a:ext cx="2857680" cy="2952720"/>
          </a:xfrm>
          <a:prstGeom prst="rect">
            <a:avLst/>
          </a:prstGeom>
          <a:noFill/>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460080" y="414000"/>
            <a:ext cx="8553240" cy="647640"/>
          </a:xfrm>
          <a:prstGeom prst="rect">
            <a:avLst/>
          </a:prstGeom>
          <a:noFill/>
          <a:ln w="0">
            <a:noFill/>
          </a:ln>
        </p:spPr>
        <p:txBody>
          <a:bodyPr lIns="90000" rIns="90000" tIns="46800" bIns="46800" anchor="t">
            <a:noAutofit/>
          </a:bodyPr>
          <a:p>
            <a:pPr indent="0">
              <a:lnSpc>
                <a:spcPct val="100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000" strike="noStrike" u="none">
                <a:solidFill>
                  <a:srgbClr val="595959"/>
                </a:solidFill>
                <a:effectLst/>
                <a:uFillTx/>
                <a:latin typeface="Arial"/>
                <a:ea typeface="Arial"/>
              </a:rPr>
              <a:t>Contact Information</a:t>
            </a:r>
            <a:endParaRPr b="0" lang="en-IN" sz="4000" strike="noStrike" u="none">
              <a:solidFill>
                <a:srgbClr val="000000"/>
              </a:solidFill>
              <a:effectLst/>
              <a:uFillTx/>
              <a:latin typeface="Calibri"/>
            </a:endParaRPr>
          </a:p>
        </p:txBody>
      </p:sp>
      <p:sp>
        <p:nvSpPr>
          <p:cNvPr id="268" name=""/>
          <p:cNvSpPr txBox="1"/>
          <p:nvPr/>
        </p:nvSpPr>
        <p:spPr>
          <a:xfrm>
            <a:off x="533520" y="1523880"/>
            <a:ext cx="8229600" cy="4525920"/>
          </a:xfrm>
          <a:prstGeom prst="rect">
            <a:avLst/>
          </a:prstGeom>
          <a:noFill/>
          <a:ln w="0">
            <a:noFill/>
          </a:ln>
        </p:spPr>
        <p:txBody>
          <a:bodyPr lIns="90000" rIns="90000" tIns="46800" bIns="46800" anchor="t">
            <a:normAutofit/>
          </a:bodyPr>
          <a:p>
            <a:pPr marL="230040" indent="-230040">
              <a:lnSpc>
                <a:spcPct val="100000"/>
              </a:lnSpc>
              <a:spcBef>
                <a:spcPts val="601"/>
              </a:spcBef>
              <a:buClr>
                <a:srgbClr val="535353"/>
              </a:buClr>
              <a:buSzPct val="80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trike="noStrike" u="none">
                <a:solidFill>
                  <a:srgbClr val="535353"/>
                </a:solidFill>
                <a:effectLst/>
                <a:uFillTx/>
                <a:latin typeface="Arial"/>
                <a:ea typeface="Arial"/>
              </a:rPr>
              <a:t>Dan Klock</a:t>
            </a:r>
            <a:endParaRPr b="0" lang="en-IN" sz="24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sng">
                <a:solidFill>
                  <a:srgbClr val="0000ff"/>
                </a:solidFill>
                <a:effectLst/>
                <a:uFillTx/>
                <a:latin typeface="Arial"/>
                <a:ea typeface="Arial"/>
                <a:hlinkClick r:id="rId1"/>
              </a:rPr>
              <a:t>dan.klock@ed.gov</a:t>
            </a:r>
            <a:endParaRPr b="0" lang="en-IN" sz="20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202-377-4026 – phone</a:t>
            </a:r>
            <a:endParaRPr b="0" lang="en-IN" sz="2000" strike="noStrike" u="none">
              <a:solidFill>
                <a:srgbClr val="000000"/>
              </a:solidFill>
              <a:effectLst/>
              <a:uFillTx/>
              <a:latin typeface="Calibri"/>
            </a:endParaRPr>
          </a:p>
          <a:p>
            <a:pPr lvl="1" marL="404640" indent="-174600">
              <a:lnSpc>
                <a:spcPct val="100000"/>
              </a:lnSpc>
              <a:spcBef>
                <a:spcPts val="499"/>
              </a:spcBef>
              <a:buClr>
                <a:srgbClr val="535353"/>
              </a:buClr>
              <a:buSzPct val="75000"/>
              <a:buFont typeface="Arial"/>
              <a:buChar char="•"/>
              <a:tabLst>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trike="noStrike" u="none">
                <a:solidFill>
                  <a:srgbClr val="535353"/>
                </a:solidFill>
                <a:effectLst/>
                <a:uFillTx/>
                <a:latin typeface="Arial"/>
                <a:ea typeface="Arial"/>
              </a:rPr>
              <a:t>202-275-5000 - fax</a:t>
            </a:r>
            <a:endParaRPr b="0" lang="en-IN" sz="2000" strike="noStrike" u="none">
              <a:solidFill>
                <a:srgbClr val="000000"/>
              </a:solidFill>
              <a:effectLst/>
              <a:uFillTx/>
              <a:latin typeface="Calibri"/>
            </a:endParaRPr>
          </a:p>
        </p:txBody>
      </p:sp>
      <p:sp>
        <p:nvSpPr>
          <p:cNvPr id="269" name="Slide Number Placeholder 4"/>
          <p:cNvSpPr/>
          <p:nvPr/>
        </p:nvSpPr>
        <p:spPr>
          <a:xfrm>
            <a:off x="533520" y="6400800"/>
            <a:ext cx="2133360" cy="36504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94C67CDA-F02F-4A67-A02B-CCA1DAF58B51}" type="slidenum">
              <a:rPr b="0" lang="en-US" sz="900" strike="noStrike" u="none">
                <a:solidFill>
                  <a:srgbClr val="f2f2f2"/>
                </a:solidFill>
                <a:effectLst/>
                <a:uFillTx/>
                <a:latin typeface="Arial"/>
              </a:rPr>
              <a:t>&lt;number&gt;</a:t>
            </a:fld>
            <a:endParaRPr b="0" lang="en-IN" sz="9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692</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2012-06-11T12:08:42Z</dcterms:created>
  <dc:creator>user ce</dc:creator>
  <dc:description/>
  <dc:language>en-IN</dc:language>
  <cp:lastModifiedBy>Authorised User</cp:lastModifiedBy>
  <cp:lastPrinted>2012-09-05T09:31:24Z</cp:lastPrinted>
  <dcterms:modified xsi:type="dcterms:W3CDTF">2013-12-11T09:42:03Z</dcterms:modified>
  <cp:revision>84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0x010100337D63EE5034904FBE124CE4C93FC8B0</vt:lpwstr>
  </property>
  <property fmtid="{D5CDD505-2E9C-101B-9397-08002B2CF9AE}" pid="3" name="_dlc_DocId">
    <vt:lpwstr>ZQHRFS737ZVJ-391-3</vt:lpwstr>
  </property>
  <property fmtid="{D5CDD505-2E9C-101B-9397-08002B2CF9AE}" pid="4" name="_dlc_DocIdItemGuid">
    <vt:lpwstr>8f810f7d-8a11-484d-ad7f-0aeb8d6ca03d</vt:lpwstr>
  </property>
  <property fmtid="{D5CDD505-2E9C-101B-9397-08002B2CF9AE}" pid="5" name="_dlc_DocIdUrl">
    <vt:lpwstr>https://fsa.share.ed.gov/as/comm/_layouts/DocIdRedir.aspx?ID=ZQHRFS737ZVJ-391-3, ZQHRFS737ZVJ-391-3</vt:lpwstr>
  </property>
</Properties>
</file>