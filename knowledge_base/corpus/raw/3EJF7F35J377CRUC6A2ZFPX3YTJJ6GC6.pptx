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media/image1.wmf" ContentType="image/x-wmf"/>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slideLayouts/slideLayout1.xml" ContentType="application/vnd.openxmlformats-officedocument.presentationml.slideLayout+xml"/>
  <Override PartName="/ppt/slideLayouts/_rels/slideLayout1.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9144000" cy="6858000"/>
  <p:notesSz cx="7008813" cy="9294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B9A2152E-7EDC-47A1-BEE3-659FB6B8CE61}" type="slidenum">
              <a:t>&lt;#&gt;</a:t>
            </a:fld>
          </a:p>
        </p:txBody>
      </p:sp>
      <p:sp>
        <p:nvSpPr>
          <p:cNvPr id="4" name="PlaceHolder 3"/>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wmf"/><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219320" y="380880"/>
            <a:ext cx="7238880" cy="4111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Arial"/>
              </a:rPr>
              <a:t>Click to edit the title text format</a:t>
            </a:r>
            <a:endParaRPr b="0" lang="en-IN" sz="4400" strike="noStrike" u="none">
              <a:solidFill>
                <a:srgbClr val="000000"/>
              </a:solidFill>
              <a:effectLst/>
              <a:uFillTx/>
              <a:latin typeface="Arial"/>
            </a:endParaRPr>
          </a:p>
        </p:txBody>
      </p:sp>
      <p:sp>
        <p:nvSpPr>
          <p:cNvPr id="1"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Click to edit the outline text format</a:t>
            </a:r>
            <a:endParaRPr b="0" lang="en-IN" sz="3200" strike="noStrike" u="none">
              <a:solidFill>
                <a:srgbClr val="000000"/>
              </a:solidFill>
              <a:effectLst/>
              <a:uFillTx/>
              <a:latin typeface="Arial"/>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Second Outline Level</a:t>
            </a:r>
            <a:endParaRPr b="0" lang="en-IN" sz="3200" strike="noStrike" u="none">
              <a:solidFill>
                <a:srgbClr val="000000"/>
              </a:solidFill>
              <a:effectLst/>
              <a:uFillTx/>
              <a:latin typeface="Arial"/>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Third Outline Level</a:t>
            </a:r>
            <a:endParaRPr b="0" lang="en-IN" sz="3200" strike="noStrike" u="none">
              <a:solidFill>
                <a:srgbClr val="000000"/>
              </a:solidFill>
              <a:effectLst/>
              <a:uFillTx/>
              <a:latin typeface="Arial"/>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Fourth Outline Level</a:t>
            </a:r>
            <a:endParaRPr b="0" lang="en-IN" sz="3200" strike="noStrike" u="none">
              <a:solidFill>
                <a:srgbClr val="000000"/>
              </a:solidFill>
              <a:effectLst/>
              <a:uFillTx/>
              <a:latin typeface="Arial"/>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Fifth Outline Level</a:t>
            </a:r>
            <a:endParaRPr b="0" lang="en-IN" sz="3200" strike="noStrike" u="none">
              <a:solidFill>
                <a:srgbClr val="000000"/>
              </a:solidFill>
              <a:effectLst/>
              <a:uFillTx/>
              <a:latin typeface="Arial"/>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Sixth Outline Level</a:t>
            </a:r>
            <a:endParaRPr b="0" lang="en-IN" sz="3200" strike="noStrike" u="none">
              <a:solidFill>
                <a:srgbClr val="000000"/>
              </a:solidFill>
              <a:effectLst/>
              <a:uFillTx/>
              <a:latin typeface="Arial"/>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Seventh Outline Level</a:t>
            </a:r>
            <a:endParaRPr b="0" lang="en-IN" sz="3200" strike="noStrike" u="none">
              <a:solidFill>
                <a:srgbClr val="000000"/>
              </a:solidFill>
              <a:effectLst/>
              <a:uFillTx/>
              <a:latin typeface="Arial"/>
            </a:endParaRPr>
          </a:p>
        </p:txBody>
      </p:sp>
      <p:sp>
        <p:nvSpPr>
          <p:cNvPr id="2"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3"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9EAABC0-14B4-4466-AD8F-8A1A383CA165}"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pic>
        <p:nvPicPr>
          <p:cNvPr id="5" name="Picture 7" descr=""/>
          <p:cNvPicPr/>
          <p:nvPr/>
        </p:nvPicPr>
        <p:blipFill>
          <a:blip r:embed="rId2"/>
          <a:stretch/>
        </p:blipFill>
        <p:spPr>
          <a:xfrm>
            <a:off x="81000" y="95400"/>
            <a:ext cx="1003320" cy="842760"/>
          </a:xfrm>
          <a:prstGeom prst="rect">
            <a:avLst/>
          </a:prstGeom>
          <a:noFill/>
          <a:ln w="0">
            <a:noFill/>
          </a:ln>
        </p:spPr>
      </p:pic>
      <p:sp>
        <p:nvSpPr>
          <p:cNvPr id="6" name="Line 8"/>
          <p:cNvSpPr/>
          <p:nvPr/>
        </p:nvSpPr>
        <p:spPr>
          <a:xfrm>
            <a:off x="65160" y="1062000"/>
            <a:ext cx="9020160" cy="0"/>
          </a:xfrm>
          <a:prstGeom prst="line">
            <a:avLst/>
          </a:prstGeom>
          <a:ln w="38160">
            <a:solidFill>
              <a:srgbClr val="333399"/>
            </a:solidFill>
            <a:miter/>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7" name="Rectangle 9"/>
          <p:cNvSpPr/>
          <p:nvPr/>
        </p:nvSpPr>
        <p:spPr>
          <a:xfrm>
            <a:off x="1523880" y="326880"/>
            <a:ext cx="6096240" cy="571680"/>
          </a:xfrm>
          <a:prstGeom prst="rect">
            <a:avLst/>
          </a:prstGeom>
          <a:noFill/>
          <a:ln w="0">
            <a:noFill/>
          </a:ln>
        </p:spPr>
        <p:style>
          <a:lnRef idx="0"/>
          <a:fillRef idx="0"/>
          <a:effectRef idx="0"/>
          <a:fontRef idx="minor"/>
        </p:style>
        <p:txBody>
          <a:bodyPr lIns="96840" rIns="96840" tIns="48600" bIns="486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nvGrpSpPr>
          <p:cNvPr id="8" name="Group 10"/>
          <p:cNvGrpSpPr/>
          <p:nvPr/>
        </p:nvGrpSpPr>
        <p:grpSpPr>
          <a:xfrm>
            <a:off x="414360" y="6324480"/>
            <a:ext cx="8366400" cy="556560"/>
            <a:chOff x="414360" y="6324480"/>
            <a:chExt cx="8366400" cy="556560"/>
          </a:xfrm>
        </p:grpSpPr>
        <p:grpSp>
          <p:nvGrpSpPr>
            <p:cNvPr id="9" name="Group 11"/>
            <p:cNvGrpSpPr/>
            <p:nvPr/>
          </p:nvGrpSpPr>
          <p:grpSpPr>
            <a:xfrm>
              <a:off x="414360" y="6324480"/>
              <a:ext cx="7993800" cy="487440"/>
              <a:chOff x="414360" y="6324480"/>
              <a:chExt cx="7993800" cy="487440"/>
            </a:xfrm>
          </p:grpSpPr>
          <p:pic>
            <p:nvPicPr>
              <p:cNvPr id="10" name="Picture 12" descr="sprtredsmalle"/>
              <p:cNvPicPr/>
              <p:nvPr/>
            </p:nvPicPr>
            <p:blipFill>
              <a:blip r:embed="rId3">
                <a:lum contrast="42000"/>
              </a:blip>
              <a:srcRect l="4114" t="12567" r="6149" b="39052"/>
              <a:stretch/>
            </p:blipFill>
            <p:spPr>
              <a:xfrm>
                <a:off x="414360" y="6324480"/>
                <a:ext cx="2188800" cy="487440"/>
              </a:xfrm>
              <a:prstGeom prst="rect">
                <a:avLst/>
              </a:prstGeom>
              <a:noFill/>
              <a:ln w="0">
                <a:noFill/>
              </a:ln>
            </p:spPr>
          </p:pic>
          <p:grpSp>
            <p:nvGrpSpPr>
              <p:cNvPr id="11" name="Group 13"/>
              <p:cNvGrpSpPr/>
              <p:nvPr/>
            </p:nvGrpSpPr>
            <p:grpSpPr>
              <a:xfrm>
                <a:off x="2742480" y="6516000"/>
                <a:ext cx="5665680" cy="103680"/>
                <a:chOff x="2742480" y="6516000"/>
                <a:chExt cx="5665680" cy="103680"/>
              </a:xfrm>
            </p:grpSpPr>
            <p:sp>
              <p:nvSpPr>
                <p:cNvPr id="12" name="Line 14"/>
                <p:cNvSpPr/>
                <p:nvPr/>
              </p:nvSpPr>
              <p:spPr>
                <a:xfrm>
                  <a:off x="2806560" y="6516000"/>
                  <a:ext cx="5601600" cy="0"/>
                </a:xfrm>
                <a:prstGeom prst="line">
                  <a:avLst/>
                </a:prstGeom>
                <a:ln w="38160">
                  <a:solidFill>
                    <a:srgbClr val="ff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 name="Line 15"/>
                <p:cNvSpPr/>
                <p:nvPr/>
              </p:nvSpPr>
              <p:spPr>
                <a:xfrm>
                  <a:off x="2766600" y="6568920"/>
                  <a:ext cx="5604840" cy="0"/>
                </a:xfrm>
                <a:prstGeom prst="line">
                  <a:avLst/>
                </a:prstGeom>
                <a:ln w="38160">
                  <a:solidFill>
                    <a:srgbClr val="ff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4" name="Line 16"/>
                <p:cNvSpPr/>
                <p:nvPr/>
              </p:nvSpPr>
              <p:spPr>
                <a:xfrm>
                  <a:off x="2742480" y="6619680"/>
                  <a:ext cx="5601600" cy="0"/>
                </a:xfrm>
                <a:prstGeom prst="line">
                  <a:avLst/>
                </a:prstGeom>
                <a:ln w="38160">
                  <a:solidFill>
                    <a:srgbClr val="ff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sp>
          <p:nvSpPr>
            <p:cNvPr id="15" name="Text Box 17"/>
            <p:cNvSpPr/>
            <p:nvPr/>
          </p:nvSpPr>
          <p:spPr>
            <a:xfrm>
              <a:off x="2606400" y="6573600"/>
              <a:ext cx="6174360" cy="3074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400" strike="noStrike" u="none">
                  <a:solidFill>
                    <a:srgbClr val="0000ff"/>
                  </a:solidFill>
                  <a:effectLst/>
                  <a:uFillTx/>
                  <a:latin typeface="Arial"/>
                </a:rPr>
                <a:t>transitioning unique NASA data and research technologies to the NWS</a:t>
              </a:r>
              <a:endParaRPr b="0" lang="en-IN" sz="1400" strike="noStrike" u="none">
                <a:solidFill>
                  <a:srgbClr val="000000"/>
                </a:solidFill>
                <a:effectLst/>
                <a:uFillTx/>
                <a:latin typeface="Arial"/>
              </a:endParaRPr>
            </a:p>
          </p:txBody>
        </p:sp>
      </p:grpSp>
    </p:spTree>
  </p:cSld>
  <p:clrMap bg1="lt1" tx1="dk1" bg2="lt2" tx2="dk2" accent1="accent1" accent2="accent2" accent3="accent3" accent4="accent4" accent5="accent5" accent6="accent6" hlink="hlink" folHlink="folHlink"/>
  <p:sldLayoutIdLst>
    <p:sldLayoutId id="2147483649"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6.png"/><Relationship Id="rId3"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Slide Number Placeholder 3"/>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1274D96-9414-4F93-88A8-2DA60AC77637}"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17" name="Text Box 42"/>
          <p:cNvSpPr/>
          <p:nvPr/>
        </p:nvSpPr>
        <p:spPr>
          <a:xfrm>
            <a:off x="533520" y="1200240"/>
            <a:ext cx="7848360" cy="4256280"/>
          </a:xfrm>
          <a:prstGeom prst="rect">
            <a:avLst/>
          </a:prstGeom>
          <a:noFill/>
          <a:ln w="0">
            <a:noFill/>
          </a:ln>
        </p:spPr>
        <p:style>
          <a:lnRef idx="0"/>
          <a:fillRef idx="0"/>
          <a:effectRef idx="0"/>
          <a:fontRef idx="minor"/>
        </p:style>
        <p:txBody>
          <a:bodyPr lIns="90000" rIns="90000" tIns="46800" bIns="46800" anchor="t">
            <a:spAutoFit/>
          </a:bodyPr>
          <a:p>
            <a:pPr algn="ct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algn="ct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algn="ct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trike="noStrike" u="none">
                <a:solidFill>
                  <a:srgbClr val="000000"/>
                </a:solidFill>
                <a:effectLst/>
                <a:uFillTx/>
                <a:latin typeface="Arial"/>
              </a:rPr>
              <a:t>SPoRT ADAS:  A Meso-Surface Analysis</a:t>
            </a:r>
            <a:endParaRPr b="0" lang="en-IN" sz="2800" strike="noStrike" u="none">
              <a:solidFill>
                <a:srgbClr val="000000"/>
              </a:solidFill>
              <a:effectLst/>
              <a:uFillTx/>
              <a:latin typeface="Arial"/>
            </a:endParaRPr>
          </a:p>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           </a:t>
            </a:r>
            <a:endParaRPr b="0" lang="en-IN" sz="2400" strike="noStrike" u="none">
              <a:solidFill>
                <a:srgbClr val="000000"/>
              </a:solidFill>
              <a:effectLst/>
              <a:uFillTx/>
              <a:latin typeface="Arial"/>
            </a:endParaRPr>
          </a:p>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                                      </a:t>
            </a:r>
            <a:endParaRPr b="0" lang="en-IN" sz="2400" strike="noStrike" u="none">
              <a:solidFill>
                <a:srgbClr val="000000"/>
              </a:solidFill>
              <a:effectLst/>
              <a:uFillTx/>
              <a:latin typeface="Arial"/>
            </a:endParaRPr>
          </a:p>
          <a:p>
            <a:pPr algn="ct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Science Sharing Session for NWS                                                 May 2008</a:t>
            </a:r>
            <a:endParaRPr b="0" lang="en-IN" sz="2000" strike="noStrike" u="none">
              <a:solidFill>
                <a:srgbClr val="000000"/>
              </a:solidFill>
              <a:effectLst/>
              <a:uFillTx/>
              <a:latin typeface="Arial"/>
            </a:endParaRPr>
          </a:p>
        </p:txBody>
      </p:sp>
      <p:pic>
        <p:nvPicPr>
          <p:cNvPr id="18" name="Picture 43" descr=""/>
          <p:cNvPicPr/>
          <p:nvPr/>
        </p:nvPicPr>
        <p:blipFill>
          <a:blip r:embed="rId1"/>
          <a:stretch/>
        </p:blipFill>
        <p:spPr>
          <a:xfrm>
            <a:off x="7315200" y="233280"/>
            <a:ext cx="1657440" cy="6001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Slide Number Placeholder 3"/>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B1DA113-3016-4469-8F8A-FFF1BD2D869D}"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20" name="Text Box 44"/>
          <p:cNvSpPr/>
          <p:nvPr/>
        </p:nvSpPr>
        <p:spPr>
          <a:xfrm>
            <a:off x="1019160" y="209520"/>
            <a:ext cx="6200640" cy="398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Overview</a:t>
            </a:r>
            <a:endParaRPr b="0" lang="en-IN" sz="2000" strike="noStrike" u="none">
              <a:solidFill>
                <a:srgbClr val="000000"/>
              </a:solidFill>
              <a:effectLst/>
              <a:uFillTx/>
              <a:latin typeface="Arial"/>
            </a:endParaRPr>
          </a:p>
        </p:txBody>
      </p:sp>
      <p:pic>
        <p:nvPicPr>
          <p:cNvPr id="21" name="Picture 45" descr=""/>
          <p:cNvPicPr/>
          <p:nvPr/>
        </p:nvPicPr>
        <p:blipFill>
          <a:blip r:embed="rId1"/>
          <a:stretch/>
        </p:blipFill>
        <p:spPr>
          <a:xfrm>
            <a:off x="7315200" y="233280"/>
            <a:ext cx="1657440" cy="600120"/>
          </a:xfrm>
          <a:prstGeom prst="rect">
            <a:avLst/>
          </a:prstGeom>
          <a:noFill/>
          <a:ln w="0">
            <a:noFill/>
          </a:ln>
        </p:spPr>
      </p:pic>
      <p:sp>
        <p:nvSpPr>
          <p:cNvPr id="22" name="TextBox 5"/>
          <p:cNvSpPr/>
          <p:nvPr/>
        </p:nvSpPr>
        <p:spPr>
          <a:xfrm>
            <a:off x="676440" y="2190600"/>
            <a:ext cx="7800840" cy="2316960"/>
          </a:xfrm>
          <a:prstGeom prst="rect">
            <a:avLst/>
          </a:prstGeom>
          <a:noFill/>
          <a:ln w="0">
            <a:noFill/>
          </a:ln>
        </p:spPr>
        <p:style>
          <a:lnRef idx="0"/>
          <a:fillRef idx="0"/>
          <a:effectRef idx="0"/>
          <a:fontRef idx="minor"/>
        </p:style>
        <p:txBody>
          <a:bodyPr lIns="90000" rIns="90000" tIns="46800" bIns="46800" anchor="t">
            <a:spAutoFit/>
          </a:bodyPr>
          <a:p>
            <a:pPr marL="343080" indent="-343080" algn="ctr">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What is the SPoRT ADAS*?</a:t>
            </a:r>
            <a:endParaRPr b="0" lang="en-IN" sz="2000" strike="noStrike" u="none">
              <a:solidFill>
                <a:srgbClr val="000000"/>
              </a:solidFill>
              <a:effectLst/>
              <a:uFillTx/>
              <a:latin typeface="Arial"/>
            </a:endParaRPr>
          </a:p>
          <a:p>
            <a:pPr marL="343080" indent="-343080" algn="ctr">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What are its uses?</a:t>
            </a:r>
            <a:endParaRPr b="0" lang="en-IN" sz="2000" strike="noStrike" u="none">
              <a:solidFill>
                <a:srgbClr val="000000"/>
              </a:solidFill>
              <a:effectLst/>
              <a:uFillTx/>
              <a:latin typeface="Arial"/>
            </a:endParaRPr>
          </a:p>
          <a:p>
            <a:pPr marL="343080" indent="-343080" algn="ctr">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Accessing product in AWIPS</a:t>
            </a:r>
            <a:endParaRPr b="0" lang="en-IN" sz="2000" strike="noStrike" u="none">
              <a:solidFill>
                <a:srgbClr val="000000"/>
              </a:solidFill>
              <a:effectLst/>
              <a:uFillTx/>
              <a:latin typeface="Arial"/>
            </a:endParaRPr>
          </a:p>
          <a:p>
            <a:pPr marL="343080" indent="-343080" algn="ctr">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Comparison with existing analysis</a:t>
            </a:r>
            <a:endParaRPr b="0" lang="en-IN" sz="2000" strike="noStrike" u="none">
              <a:solidFill>
                <a:srgbClr val="000000"/>
              </a:solidFill>
              <a:effectLst/>
              <a:uFillTx/>
              <a:latin typeface="Arial"/>
            </a:endParaRPr>
          </a:p>
          <a:p>
            <a:pPr marL="343080" indent="-343080" algn="ctr">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Missing product expectations and actions</a:t>
            </a:r>
            <a:endParaRPr b="0" lang="en-IN" sz="2000" strike="noStrike" u="none">
              <a:solidFill>
                <a:srgbClr val="000000"/>
              </a:solidFill>
              <a:effectLst/>
              <a:uFillTx/>
              <a:latin typeface="Arial"/>
            </a:endParaRPr>
          </a:p>
        </p:txBody>
      </p:sp>
      <p:sp>
        <p:nvSpPr>
          <p:cNvPr id="23" name="TextBox 6"/>
          <p:cNvSpPr/>
          <p:nvPr/>
        </p:nvSpPr>
        <p:spPr>
          <a:xfrm>
            <a:off x="351000" y="5908680"/>
            <a:ext cx="7972200" cy="3074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*Advanced Regional Prediction System (ARPS) Data Analysis System (CAPS/OU)</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Slide Number Placeholder 1"/>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28505E8-3B38-479C-AB01-1FF68044BF5A}"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pic>
        <p:nvPicPr>
          <p:cNvPr id="25" name="Picture 45" descr=""/>
          <p:cNvPicPr/>
          <p:nvPr/>
        </p:nvPicPr>
        <p:blipFill>
          <a:blip r:embed="rId1"/>
          <a:stretch/>
        </p:blipFill>
        <p:spPr>
          <a:xfrm>
            <a:off x="7315200" y="233280"/>
            <a:ext cx="1657440" cy="600120"/>
          </a:xfrm>
          <a:prstGeom prst="rect">
            <a:avLst/>
          </a:prstGeom>
          <a:noFill/>
          <a:ln w="0">
            <a:noFill/>
          </a:ln>
        </p:spPr>
      </p:pic>
      <p:sp>
        <p:nvSpPr>
          <p:cNvPr id="26" name="Text Box 44"/>
          <p:cNvSpPr/>
          <p:nvPr/>
        </p:nvSpPr>
        <p:spPr>
          <a:xfrm>
            <a:off x="1019160" y="314280"/>
            <a:ext cx="6200640" cy="398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What is the SPoRT ADAS?</a:t>
            </a:r>
            <a:endParaRPr b="0" lang="en-IN" sz="2000" strike="noStrike" u="none">
              <a:solidFill>
                <a:srgbClr val="000000"/>
              </a:solidFill>
              <a:effectLst/>
              <a:uFillTx/>
              <a:latin typeface="Arial"/>
            </a:endParaRPr>
          </a:p>
        </p:txBody>
      </p:sp>
      <p:sp>
        <p:nvSpPr>
          <p:cNvPr id="27" name="TextBox 9"/>
          <p:cNvSpPr/>
          <p:nvPr/>
        </p:nvSpPr>
        <p:spPr>
          <a:xfrm>
            <a:off x="133200" y="1268280"/>
            <a:ext cx="8629920" cy="4906800"/>
          </a:xfrm>
          <a:prstGeom prst="rect">
            <a:avLst/>
          </a:prstGeom>
          <a:noFill/>
          <a:ln w="0">
            <a:noFill/>
          </a:ln>
        </p:spPr>
        <p:style>
          <a:lnRef idx="0"/>
          <a:fillRef idx="0"/>
          <a:effectRef idx="0"/>
          <a:fontRef idx="minor"/>
        </p:style>
        <p:txBody>
          <a:bodyPr lIns="90000" rIns="90000" tIns="46800" bIns="46800" anchor="t">
            <a:spAutoFit/>
          </a:bodyPr>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Blends surface data into a coherent analysis using ADAS:</a:t>
            </a:r>
            <a:endParaRPr b="0" lang="en-IN" sz="20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Strength in analyzing asynoptic data sets</a:t>
            </a:r>
            <a:endParaRPr b="0" lang="en-IN" sz="18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13-km, 2-h RUC forecast as first-guess</a:t>
            </a:r>
            <a:endParaRPr b="0" lang="en-IN" sz="18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METAR, buoy, Mesonet, SAO</a:t>
            </a:r>
            <a:endParaRPr b="0" lang="en-IN" sz="18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An observation is rejected if it is:</a:t>
            </a:r>
            <a:endParaRPr b="0" lang="en-IN" sz="20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significantly different than neighbors</a:t>
            </a:r>
            <a:endParaRPr b="0" lang="en-IN" sz="18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greatly different than first-guess</a:t>
            </a:r>
            <a:endParaRPr b="0" lang="en-IN" sz="18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blacklisted (user-defined)</a:t>
            </a:r>
            <a:endParaRPr b="0" lang="en-IN" sz="18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2-km resolution captures mesoscale features</a:t>
            </a:r>
            <a:endParaRPr b="0" lang="en-IN" sz="20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Assimilates observations from ±15 minutes from the top of every hour</a:t>
            </a:r>
            <a:endParaRPr b="0" lang="en-IN" sz="20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Available in AWIPS at 40-45 minutes past every hour</a:t>
            </a:r>
            <a:endParaRPr b="0" lang="en-IN" sz="2000" strike="noStrike" u="none">
              <a:solidFill>
                <a:srgbClr val="000000"/>
              </a:solidFill>
              <a:effectLst/>
              <a:uFillTx/>
              <a:latin typeface="Arial"/>
            </a:endParaRPr>
          </a:p>
        </p:txBody>
      </p:sp>
      <p:pic>
        <p:nvPicPr>
          <p:cNvPr id="28" name="Picture 10" descr="ADAStempdomain.png"/>
          <p:cNvPicPr/>
          <p:nvPr/>
        </p:nvPicPr>
        <p:blipFill>
          <a:blip r:embed="rId2"/>
          <a:stretch/>
        </p:blipFill>
        <p:spPr>
          <a:xfrm>
            <a:off x="5291280" y="1738440"/>
            <a:ext cx="3632040" cy="30067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Slide Number Placeholder 1"/>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2D33B95-908E-4646-BDF8-7BFE7EB0815E}"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pic>
        <p:nvPicPr>
          <p:cNvPr id="30" name="Picture 45" descr=""/>
          <p:cNvPicPr/>
          <p:nvPr/>
        </p:nvPicPr>
        <p:blipFill>
          <a:blip r:embed="rId1"/>
          <a:stretch/>
        </p:blipFill>
        <p:spPr>
          <a:xfrm>
            <a:off x="7315200" y="233280"/>
            <a:ext cx="1657440" cy="600120"/>
          </a:xfrm>
          <a:prstGeom prst="rect">
            <a:avLst/>
          </a:prstGeom>
          <a:noFill/>
          <a:ln w="0">
            <a:noFill/>
          </a:ln>
        </p:spPr>
      </p:pic>
      <p:sp>
        <p:nvSpPr>
          <p:cNvPr id="31" name="Text Box 44"/>
          <p:cNvSpPr/>
          <p:nvPr/>
        </p:nvSpPr>
        <p:spPr>
          <a:xfrm>
            <a:off x="1019160" y="314280"/>
            <a:ext cx="6200640" cy="398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SPoRT ADAS Uses</a:t>
            </a:r>
            <a:endParaRPr b="0" lang="en-IN" sz="2000" strike="noStrike" u="none">
              <a:solidFill>
                <a:srgbClr val="000000"/>
              </a:solidFill>
              <a:effectLst/>
              <a:uFillTx/>
              <a:latin typeface="Arial"/>
            </a:endParaRPr>
          </a:p>
        </p:txBody>
      </p:sp>
      <p:sp>
        <p:nvSpPr>
          <p:cNvPr id="32" name="TextBox 10"/>
          <p:cNvSpPr/>
          <p:nvPr/>
        </p:nvSpPr>
        <p:spPr>
          <a:xfrm>
            <a:off x="247680" y="1266840"/>
            <a:ext cx="8629560" cy="4252680"/>
          </a:xfrm>
          <a:prstGeom prst="rect">
            <a:avLst/>
          </a:prstGeom>
          <a:noFill/>
          <a:ln w="0">
            <a:noFill/>
          </a:ln>
        </p:spPr>
        <p:style>
          <a:lnRef idx="0"/>
          <a:fillRef idx="0"/>
          <a:effectRef idx="0"/>
          <a:fontRef idx="minor"/>
        </p:style>
        <p:txBody>
          <a:bodyPr lIns="90000" rIns="90000" tIns="46800" bIns="46800" anchor="t">
            <a:spAutoFit/>
          </a:bodyPr>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Provides an additional high-resolution surface analysis for:</a:t>
            </a:r>
            <a:endParaRPr b="0" lang="en-IN" sz="20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real-time meso-analysis</a:t>
            </a:r>
            <a:endParaRPr b="0" lang="en-IN" sz="18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initializing grids within gridded forecasts</a:t>
            </a:r>
            <a:endParaRPr b="0" lang="en-IN" sz="18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verification of gridded forecasts</a:t>
            </a:r>
            <a:endParaRPr b="0" lang="en-IN" sz="18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Similar to:</a:t>
            </a:r>
            <a:endParaRPr b="0" lang="en-IN" sz="20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LAPS*:  quality control issues at times</a:t>
            </a:r>
            <a:endParaRPr b="0" lang="en-IN" sz="18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MSAS</a:t>
            </a:r>
            <a:r>
              <a:rPr b="0" lang="en-US" sz="1800" strike="noStrike" u="none" baseline="30000">
                <a:solidFill>
                  <a:srgbClr val="000000"/>
                </a:solidFill>
                <a:effectLst/>
                <a:uFillTx/>
                <a:latin typeface="Arial"/>
              </a:rPr>
              <a:t>†</a:t>
            </a:r>
            <a:r>
              <a:rPr b="0" lang="en-US" sz="1800" strike="noStrike" u="none">
                <a:solidFill>
                  <a:srgbClr val="000000"/>
                </a:solidFill>
                <a:effectLst/>
                <a:uFillTx/>
                <a:latin typeface="Arial"/>
              </a:rPr>
              <a:t>:  smooth appearance</a:t>
            </a:r>
            <a:endParaRPr b="0" lang="en-IN" sz="18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RTMA</a:t>
            </a:r>
            <a:r>
              <a:rPr b="0" lang="en-US" sz="1800" strike="noStrike" u="none" baseline="30000">
                <a:solidFill>
                  <a:srgbClr val="000000"/>
                </a:solidFill>
                <a:effectLst/>
                <a:uFillTx/>
                <a:latin typeface="Arial"/>
              </a:rPr>
              <a:t>‡</a:t>
            </a:r>
            <a:r>
              <a:rPr b="0" lang="en-US" sz="1800" strike="noStrike" u="none">
                <a:solidFill>
                  <a:srgbClr val="000000"/>
                </a:solidFill>
                <a:effectLst/>
                <a:uFillTx/>
                <a:latin typeface="Arial"/>
              </a:rPr>
              <a:t>:  quality control issues and smooth appearance</a:t>
            </a:r>
            <a:endParaRPr b="0" lang="en-IN" sz="18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SPoRT ADAS has been most useful in forecasting nighttime temperatures in the elevated regions of NE AL</a:t>
            </a:r>
            <a:endParaRPr b="0" lang="en-IN" sz="2000" strike="noStrike" u="none">
              <a:solidFill>
                <a:srgbClr val="000000"/>
              </a:solidFill>
              <a:effectLst/>
              <a:uFillTx/>
              <a:latin typeface="Arial"/>
            </a:endParaRPr>
          </a:p>
        </p:txBody>
      </p:sp>
      <p:sp>
        <p:nvSpPr>
          <p:cNvPr id="33" name="TextBox 5"/>
          <p:cNvSpPr/>
          <p:nvPr/>
        </p:nvSpPr>
        <p:spPr>
          <a:xfrm>
            <a:off x="351000" y="5549760"/>
            <a:ext cx="7972200" cy="7344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*Local Analysis and Prediction System (NOAA/GSD)</a:t>
            </a:r>
            <a:endParaRPr b="0" lang="en-IN" sz="14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baseline="30000">
                <a:solidFill>
                  <a:srgbClr val="000000"/>
                </a:solidFill>
                <a:effectLst/>
                <a:uFillTx/>
                <a:latin typeface="Arial"/>
              </a:rPr>
              <a:t>†</a:t>
            </a:r>
            <a:r>
              <a:rPr b="0" lang="en-US" sz="1400" strike="noStrike" u="none">
                <a:solidFill>
                  <a:srgbClr val="000000"/>
                </a:solidFill>
                <a:effectLst/>
                <a:uFillTx/>
                <a:latin typeface="Arial"/>
              </a:rPr>
              <a:t>Mesoscale Analysis and Prediction System (MAPS) Surface Assimilation System (NOAA/ESRL)</a:t>
            </a:r>
            <a:endParaRPr b="0" lang="en-IN" sz="14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baseline="30000">
                <a:solidFill>
                  <a:srgbClr val="000000"/>
                </a:solidFill>
                <a:effectLst/>
                <a:uFillTx/>
                <a:latin typeface="Arial"/>
              </a:rPr>
              <a:t>‡</a:t>
            </a:r>
            <a:r>
              <a:rPr b="0" lang="en-US" sz="1400" strike="noStrike" u="none">
                <a:solidFill>
                  <a:srgbClr val="000000"/>
                </a:solidFill>
                <a:effectLst/>
                <a:uFillTx/>
                <a:latin typeface="Arial"/>
              </a:rPr>
              <a:t>Real-Time Mesoscale Analysis (NCEP)</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Slide Number Placeholder 1"/>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14BE750-0C96-4A83-B70D-C6451DC97E6A}"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pic>
        <p:nvPicPr>
          <p:cNvPr id="35" name="Picture 45" descr=""/>
          <p:cNvPicPr/>
          <p:nvPr/>
        </p:nvPicPr>
        <p:blipFill>
          <a:blip r:embed="rId1"/>
          <a:stretch/>
        </p:blipFill>
        <p:spPr>
          <a:xfrm>
            <a:off x="7315200" y="233280"/>
            <a:ext cx="1657440" cy="600120"/>
          </a:xfrm>
          <a:prstGeom prst="rect">
            <a:avLst/>
          </a:prstGeom>
          <a:noFill/>
          <a:ln w="0">
            <a:noFill/>
          </a:ln>
        </p:spPr>
      </p:pic>
      <p:sp>
        <p:nvSpPr>
          <p:cNvPr id="36" name="Text Box 44"/>
          <p:cNvSpPr/>
          <p:nvPr/>
        </p:nvSpPr>
        <p:spPr>
          <a:xfrm>
            <a:off x="1019160" y="314280"/>
            <a:ext cx="6200640" cy="398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Accessing the SPoRT ADAS in AWIPS</a:t>
            </a:r>
            <a:endParaRPr b="0" lang="en-IN" sz="2000" strike="noStrike" u="none">
              <a:solidFill>
                <a:srgbClr val="000000"/>
              </a:solidFill>
              <a:effectLst/>
              <a:uFillTx/>
              <a:latin typeface="Arial"/>
            </a:endParaRPr>
          </a:p>
        </p:txBody>
      </p:sp>
      <p:sp>
        <p:nvSpPr>
          <p:cNvPr id="37" name="TextBox 4"/>
          <p:cNvSpPr/>
          <p:nvPr/>
        </p:nvSpPr>
        <p:spPr>
          <a:xfrm>
            <a:off x="168120" y="1689120"/>
            <a:ext cx="4017960" cy="4154400"/>
          </a:xfrm>
          <a:prstGeom prst="rect">
            <a:avLst/>
          </a:prstGeom>
          <a:noFill/>
          <a:ln w="0">
            <a:noFill/>
          </a:ln>
        </p:spPr>
        <p:style>
          <a:lnRef idx="0"/>
          <a:fillRef idx="0"/>
          <a:effectRef idx="0"/>
          <a:fontRef idx="minor"/>
        </p:style>
        <p:txBody>
          <a:bodyPr lIns="90000" rIns="90000" tIns="46800" bIns="46800" anchor="t">
            <a:spAutoFit/>
          </a:bodyPr>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Located under the “Volume” tab on the menu</a:t>
            </a:r>
            <a:endParaRPr b="0" lang="en-IN" sz="20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Click on “Browser”</a:t>
            </a:r>
            <a:endParaRPr b="0" lang="en-IN" sz="20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Product appears as “ADAS”</a:t>
            </a:r>
            <a:endParaRPr b="0" lang="en-IN" sz="20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Variables available:</a:t>
            </a:r>
            <a:endParaRPr b="0" lang="en-IN" sz="20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2-m temperature</a:t>
            </a:r>
            <a:endParaRPr b="0" lang="en-IN" sz="18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2-m relative humidity</a:t>
            </a:r>
            <a:endParaRPr b="0" lang="en-IN" sz="18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10-m winds</a:t>
            </a:r>
            <a:endParaRPr b="0" lang="en-IN" sz="18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other variables derived from T and RH</a:t>
            </a:r>
            <a:endParaRPr b="0" lang="en-IN" sz="1800" strike="noStrike" u="none">
              <a:solidFill>
                <a:srgbClr val="000000"/>
              </a:solidFill>
              <a:effectLst/>
              <a:uFillTx/>
              <a:latin typeface="Arial"/>
            </a:endParaRPr>
          </a:p>
        </p:txBody>
      </p:sp>
      <p:pic>
        <p:nvPicPr>
          <p:cNvPr id="38" name="Picture 5" descr="adas_browser_fig.png"/>
          <p:cNvPicPr/>
          <p:nvPr/>
        </p:nvPicPr>
        <p:blipFill>
          <a:blip r:embed="rId2"/>
          <a:stretch/>
        </p:blipFill>
        <p:spPr>
          <a:xfrm>
            <a:off x="4216320" y="1878120"/>
            <a:ext cx="4737240" cy="37512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Slide Number Placeholder 1"/>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A8CA257-3AA6-415A-90C0-0B8A66C198C3}"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pic>
        <p:nvPicPr>
          <p:cNvPr id="40" name="Picture 45" descr=""/>
          <p:cNvPicPr/>
          <p:nvPr/>
        </p:nvPicPr>
        <p:blipFill>
          <a:blip r:embed="rId1"/>
          <a:stretch/>
        </p:blipFill>
        <p:spPr>
          <a:xfrm>
            <a:off x="7315200" y="233280"/>
            <a:ext cx="1657440" cy="600120"/>
          </a:xfrm>
          <a:prstGeom prst="rect">
            <a:avLst/>
          </a:prstGeom>
          <a:noFill/>
          <a:ln w="0">
            <a:noFill/>
          </a:ln>
        </p:spPr>
      </p:pic>
      <p:sp>
        <p:nvSpPr>
          <p:cNvPr id="41" name="Text Box 44"/>
          <p:cNvSpPr/>
          <p:nvPr/>
        </p:nvSpPr>
        <p:spPr>
          <a:xfrm>
            <a:off x="1019160" y="314280"/>
            <a:ext cx="6200640" cy="398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Surface Temperature Comparison</a:t>
            </a:r>
            <a:endParaRPr b="0" lang="en-IN" sz="2000" strike="noStrike" u="none">
              <a:solidFill>
                <a:srgbClr val="000000"/>
              </a:solidFill>
              <a:effectLst/>
              <a:uFillTx/>
              <a:latin typeface="Arial"/>
            </a:endParaRPr>
          </a:p>
        </p:txBody>
      </p:sp>
      <p:sp>
        <p:nvSpPr>
          <p:cNvPr id="42" name="TextBox 4"/>
          <p:cNvSpPr/>
          <p:nvPr/>
        </p:nvSpPr>
        <p:spPr>
          <a:xfrm>
            <a:off x="4784760" y="1432080"/>
            <a:ext cx="4092480" cy="4372920"/>
          </a:xfrm>
          <a:prstGeom prst="rect">
            <a:avLst/>
          </a:prstGeom>
          <a:noFill/>
          <a:ln w="0">
            <a:noFill/>
          </a:ln>
        </p:spPr>
        <p:style>
          <a:lnRef idx="0"/>
          <a:fillRef idx="0"/>
          <a:effectRef idx="0"/>
          <a:fontRef idx="minor"/>
        </p:style>
        <p:txBody>
          <a:bodyPr lIns="90000" rIns="90000" tIns="46800" bIns="46800" anchor="t">
            <a:spAutoFit/>
          </a:bodyPr>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May 9, 2008  1700 UTC</a:t>
            </a:r>
            <a:endParaRPr b="0" lang="en-IN" sz="20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Neither analysis shows obvious bulls eyes due to quality control issues</a:t>
            </a:r>
            <a:endParaRPr b="0" lang="en-IN" sz="2000" strike="noStrike" u="none">
              <a:solidFill>
                <a:srgbClr val="000000"/>
              </a:solidFill>
              <a:effectLst/>
              <a:uFillTx/>
              <a:latin typeface="Arial"/>
            </a:endParaRPr>
          </a:p>
          <a:p>
            <a:pPr lvl="1" marL="800280" indent="-343080">
              <a:lnSpc>
                <a:spcPct val="100000"/>
              </a:lnSpc>
              <a:spcBef>
                <a:spcPts val="451"/>
              </a:spcBef>
              <a:spcAft>
                <a:spcPts val="788"/>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One case—may have been no questionable observations</a:t>
            </a:r>
            <a:endParaRPr b="0" lang="en-IN" sz="18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Better resolution of SPoRT ADAS allows it to pick up sharper gradients</a:t>
            </a:r>
            <a:endParaRPr b="0" lang="en-IN" sz="20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Especially evident in the higher terrain of eastern Alabama and western Georgia</a:t>
            </a:r>
            <a:endParaRPr b="0" lang="en-IN" sz="2000" strike="noStrike" u="none">
              <a:solidFill>
                <a:srgbClr val="000000"/>
              </a:solidFill>
              <a:effectLst/>
              <a:uFillTx/>
              <a:latin typeface="Arial"/>
            </a:endParaRPr>
          </a:p>
        </p:txBody>
      </p:sp>
      <p:pic>
        <p:nvPicPr>
          <p:cNvPr id="43" name="Picture 2" descr=""/>
          <p:cNvPicPr/>
          <p:nvPr/>
        </p:nvPicPr>
        <p:blipFill>
          <a:blip r:embed="rId2"/>
          <a:stretch/>
        </p:blipFill>
        <p:spPr>
          <a:xfrm>
            <a:off x="108000" y="1103400"/>
            <a:ext cx="4616280" cy="5216400"/>
          </a:xfrm>
          <a:prstGeom prst="rect">
            <a:avLst/>
          </a:prstGeom>
          <a:noFill/>
          <a:ln w="0">
            <a:noFill/>
          </a:ln>
        </p:spPr>
      </p:pic>
      <p:sp>
        <p:nvSpPr>
          <p:cNvPr id="44" name="TextBox 6"/>
          <p:cNvSpPr/>
          <p:nvPr/>
        </p:nvSpPr>
        <p:spPr>
          <a:xfrm>
            <a:off x="3100320" y="5678640"/>
            <a:ext cx="1614600" cy="64260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00"/>
                </a:solidFill>
                <a:effectLst/>
                <a:uFillTx/>
                <a:latin typeface="Arial"/>
              </a:rPr>
              <a:t>LAPS</a:t>
            </a:r>
            <a:endParaRPr b="0" lang="en-IN" sz="1800" strike="noStrike" u="none">
              <a:solidFill>
                <a:srgbClr val="000000"/>
              </a:solidFill>
              <a:effectLst/>
              <a:uFillTx/>
              <a:latin typeface="Arial"/>
            </a:endParaRPr>
          </a:p>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SPoRT ADAS</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Slide Number Placeholder 1"/>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D679C6A-611D-4B15-A901-A1266CB77C89}"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pic>
        <p:nvPicPr>
          <p:cNvPr id="46" name="Picture 45" descr=""/>
          <p:cNvPicPr/>
          <p:nvPr/>
        </p:nvPicPr>
        <p:blipFill>
          <a:blip r:embed="rId1"/>
          <a:stretch/>
        </p:blipFill>
        <p:spPr>
          <a:xfrm>
            <a:off x="7315200" y="233280"/>
            <a:ext cx="1657440" cy="600120"/>
          </a:xfrm>
          <a:prstGeom prst="rect">
            <a:avLst/>
          </a:prstGeom>
          <a:noFill/>
          <a:ln w="0">
            <a:noFill/>
          </a:ln>
        </p:spPr>
      </p:pic>
      <p:sp>
        <p:nvSpPr>
          <p:cNvPr id="47" name="Text Box 44"/>
          <p:cNvSpPr/>
          <p:nvPr/>
        </p:nvSpPr>
        <p:spPr>
          <a:xfrm>
            <a:off x="1019160" y="314280"/>
            <a:ext cx="6200640" cy="398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Surface Temperature in High Terrain</a:t>
            </a:r>
            <a:endParaRPr b="0" lang="en-IN" sz="2000" strike="noStrike" u="none">
              <a:solidFill>
                <a:srgbClr val="000000"/>
              </a:solidFill>
              <a:effectLst/>
              <a:uFillTx/>
              <a:latin typeface="Arial"/>
            </a:endParaRPr>
          </a:p>
        </p:txBody>
      </p:sp>
      <p:sp>
        <p:nvSpPr>
          <p:cNvPr id="48" name="TextBox 7"/>
          <p:cNvSpPr/>
          <p:nvPr/>
        </p:nvSpPr>
        <p:spPr>
          <a:xfrm>
            <a:off x="190440" y="1192320"/>
            <a:ext cx="8748720" cy="6426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SPoRT ADAS depicts tight gradients associated with terrain features much better than LAPS</a:t>
            </a:r>
            <a:endParaRPr b="0" lang="en-IN" sz="1800" strike="noStrike" u="none">
              <a:solidFill>
                <a:srgbClr val="000000"/>
              </a:solidFill>
              <a:effectLst/>
              <a:uFillTx/>
              <a:latin typeface="Arial"/>
            </a:endParaRPr>
          </a:p>
        </p:txBody>
      </p:sp>
      <p:pic>
        <p:nvPicPr>
          <p:cNvPr id="49" name="Picture 8" descr=""/>
          <p:cNvPicPr/>
          <p:nvPr/>
        </p:nvPicPr>
        <p:blipFill>
          <a:blip r:embed="rId2"/>
          <a:stretch/>
        </p:blipFill>
        <p:spPr>
          <a:xfrm>
            <a:off x="4572000" y="1822320"/>
            <a:ext cx="4572000" cy="4492800"/>
          </a:xfrm>
          <a:prstGeom prst="rect">
            <a:avLst/>
          </a:prstGeom>
          <a:noFill/>
          <a:ln w="0">
            <a:noFill/>
          </a:ln>
        </p:spPr>
      </p:pic>
      <p:pic>
        <p:nvPicPr>
          <p:cNvPr id="50" name="Picture 9" descr=""/>
          <p:cNvPicPr/>
          <p:nvPr/>
        </p:nvPicPr>
        <p:blipFill>
          <a:blip r:embed="rId3"/>
          <a:stretch/>
        </p:blipFill>
        <p:spPr>
          <a:xfrm>
            <a:off x="0" y="1836720"/>
            <a:ext cx="4572000" cy="4492800"/>
          </a:xfrm>
          <a:prstGeom prst="rect">
            <a:avLst/>
          </a:prstGeom>
          <a:noFill/>
          <a:ln w="0">
            <a:noFill/>
          </a:ln>
        </p:spPr>
      </p:pic>
      <p:sp>
        <p:nvSpPr>
          <p:cNvPr id="51" name="Oval 7"/>
          <p:cNvSpPr/>
          <p:nvPr/>
        </p:nvSpPr>
        <p:spPr>
          <a:xfrm rot="2029200">
            <a:off x="1494000" y="3220920"/>
            <a:ext cx="1334880" cy="1657440"/>
          </a:xfrm>
          <a:prstGeom prst="ellipse">
            <a:avLst/>
          </a:prstGeom>
          <a:noFill/>
          <a:ln w="25560">
            <a:solidFill>
              <a:srgbClr val="ff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52" name="Oval 8"/>
          <p:cNvSpPr/>
          <p:nvPr/>
        </p:nvSpPr>
        <p:spPr>
          <a:xfrm rot="2029200">
            <a:off x="6103440" y="3224160"/>
            <a:ext cx="1335240" cy="1657440"/>
          </a:xfrm>
          <a:prstGeom prst="ellipse">
            <a:avLst/>
          </a:prstGeom>
          <a:noFill/>
          <a:ln w="25560">
            <a:solidFill>
              <a:srgbClr val="ff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nodeType="withEffect" fill="hold" presetClass="entr" presetID="1">
                                  <p:stCondLst>
                                    <p:cond delay="0"/>
                                  </p:stCondLst>
                                  <p:childTnLst>
                                    <p:set>
                                      <p:cBhvr>
                                        <p:cTn id="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Slide Number Placeholder 1"/>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FC36A84-7ED7-4192-89DD-56B22B0F389F}"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pic>
        <p:nvPicPr>
          <p:cNvPr id="54" name="Picture 45" descr=""/>
          <p:cNvPicPr/>
          <p:nvPr/>
        </p:nvPicPr>
        <p:blipFill>
          <a:blip r:embed="rId1"/>
          <a:stretch/>
        </p:blipFill>
        <p:spPr>
          <a:xfrm>
            <a:off x="7315200" y="233280"/>
            <a:ext cx="1657440" cy="600120"/>
          </a:xfrm>
          <a:prstGeom prst="rect">
            <a:avLst/>
          </a:prstGeom>
          <a:noFill/>
          <a:ln w="0">
            <a:noFill/>
          </a:ln>
        </p:spPr>
      </p:pic>
      <p:sp>
        <p:nvSpPr>
          <p:cNvPr id="55" name="TextBox 4"/>
          <p:cNvSpPr/>
          <p:nvPr/>
        </p:nvSpPr>
        <p:spPr>
          <a:xfrm>
            <a:off x="247680" y="1987560"/>
            <a:ext cx="8629560" cy="3362040"/>
          </a:xfrm>
          <a:prstGeom prst="rect">
            <a:avLst/>
          </a:prstGeom>
          <a:noFill/>
          <a:ln w="0">
            <a:noFill/>
          </a:ln>
        </p:spPr>
        <p:style>
          <a:lnRef idx="0"/>
          <a:fillRef idx="0"/>
          <a:effectRef idx="0"/>
          <a:fontRef idx="minor"/>
        </p:style>
        <p:txBody>
          <a:bodyPr lIns="90000" rIns="90000" tIns="46800" bIns="46800" anchor="t">
            <a:spAutoFit/>
          </a:bodyPr>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If the file has not arrived by 50 past the hour, there has either been an error in the analysis process or in the transfer of the data from NASA to NWS</a:t>
            </a:r>
            <a:endParaRPr b="0" lang="en-IN" sz="20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Analyses may occasionally be missing due to unavailable RUC files, missing observation files, or corrupted observation files</a:t>
            </a:r>
            <a:endParaRPr b="0" lang="en-IN" sz="20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Outages due to errors in the analysis process may last for several consecutive hours</a:t>
            </a:r>
            <a:endParaRPr b="0" lang="en-IN" sz="20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Contact SPoRT Liaisons Geoffrey Stano and/or Kevin Fuell if a data outage occurs for more than a half day</a:t>
            </a:r>
            <a:endParaRPr b="0" lang="en-IN" sz="2000" strike="noStrike" u="none">
              <a:solidFill>
                <a:srgbClr val="000000"/>
              </a:solidFill>
              <a:effectLst/>
              <a:uFillTx/>
              <a:latin typeface="Arial"/>
            </a:endParaRPr>
          </a:p>
        </p:txBody>
      </p:sp>
      <p:sp>
        <p:nvSpPr>
          <p:cNvPr id="56" name="Text Box 44"/>
          <p:cNvSpPr/>
          <p:nvPr/>
        </p:nvSpPr>
        <p:spPr>
          <a:xfrm>
            <a:off x="1019160" y="314280"/>
            <a:ext cx="6200640" cy="398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Errors and Error Reporting</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Slide Number Placeholder 1"/>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B7D51BB-38CD-4185-91BB-1B2442C03A45}"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pic>
        <p:nvPicPr>
          <p:cNvPr id="58" name="Picture 45" descr=""/>
          <p:cNvPicPr/>
          <p:nvPr/>
        </p:nvPicPr>
        <p:blipFill>
          <a:blip r:embed="rId1"/>
          <a:stretch/>
        </p:blipFill>
        <p:spPr>
          <a:xfrm>
            <a:off x="7315200" y="233280"/>
            <a:ext cx="1657440" cy="600120"/>
          </a:xfrm>
          <a:prstGeom prst="rect">
            <a:avLst/>
          </a:prstGeom>
          <a:noFill/>
          <a:ln w="0">
            <a:noFill/>
          </a:ln>
        </p:spPr>
      </p:pic>
      <p:sp>
        <p:nvSpPr>
          <p:cNvPr id="59" name="Text Box 44"/>
          <p:cNvSpPr/>
          <p:nvPr/>
        </p:nvSpPr>
        <p:spPr>
          <a:xfrm>
            <a:off x="1019160" y="314280"/>
            <a:ext cx="6200640" cy="398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Summary</a:t>
            </a:r>
            <a:endParaRPr b="0" lang="en-IN" sz="2000" strike="noStrike" u="none">
              <a:solidFill>
                <a:srgbClr val="000000"/>
              </a:solidFill>
              <a:effectLst/>
              <a:uFillTx/>
              <a:latin typeface="Arial"/>
            </a:endParaRPr>
          </a:p>
        </p:txBody>
      </p:sp>
      <p:sp>
        <p:nvSpPr>
          <p:cNvPr id="60" name="TextBox 4"/>
          <p:cNvSpPr/>
          <p:nvPr/>
        </p:nvSpPr>
        <p:spPr>
          <a:xfrm>
            <a:off x="247680" y="1623960"/>
            <a:ext cx="8629560" cy="4321080"/>
          </a:xfrm>
          <a:prstGeom prst="rect">
            <a:avLst/>
          </a:prstGeom>
          <a:noFill/>
          <a:ln w="0">
            <a:noFill/>
          </a:ln>
        </p:spPr>
        <p:style>
          <a:lnRef idx="0"/>
          <a:fillRef idx="0"/>
          <a:effectRef idx="0"/>
          <a:fontRef idx="minor"/>
        </p:style>
        <p:txBody>
          <a:bodyPr lIns="90000" rIns="90000" tIns="46800" bIns="46800" anchor="t">
            <a:spAutoFit/>
          </a:bodyPr>
          <a:p>
            <a:pPr marL="343080" indent="-343080">
              <a:spcBef>
                <a:spcPts val="499"/>
              </a:spcBef>
              <a:spcAft>
                <a:spcPts val="876"/>
              </a:spcAft>
              <a:buClr>
                <a:srgbClr val="00206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2060"/>
                </a:solidFill>
                <a:effectLst/>
                <a:uFillTx/>
                <a:latin typeface="Arial"/>
              </a:rPr>
              <a:t>SPoRT ADAS uses good quality control and 2-km resolution to pick up fine-scale features </a:t>
            </a:r>
            <a:r>
              <a:rPr b="0" lang="en-US" sz="2000" strike="noStrike" u="none">
                <a:solidFill>
                  <a:srgbClr val="000000"/>
                </a:solidFill>
                <a:effectLst/>
                <a:uFillTx/>
                <a:latin typeface="Arial"/>
              </a:rPr>
              <a:t>not seen in other surface analyses available in AWIPS</a:t>
            </a:r>
            <a:endParaRPr b="0" lang="en-IN" sz="20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SPoRT ADAS has proven most useful for nighttime temperature over elevated terrain in eastern edge of HUN forecast region</a:t>
            </a:r>
            <a:endParaRPr b="0" lang="en-IN" sz="20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Let’s work together to analyze this product:  feedback on where/when SPoRT ADAS provides better analysis than other available analyses</a:t>
            </a:r>
            <a:endParaRPr b="0" lang="en-IN" sz="2000" strike="noStrike" u="none">
              <a:solidFill>
                <a:srgbClr val="000000"/>
              </a:solidFill>
              <a:effectLst/>
              <a:uFillTx/>
              <a:latin typeface="Arial"/>
            </a:endParaRPr>
          </a:p>
          <a:p>
            <a:pPr marL="343080" indent="-343080">
              <a:spcBef>
                <a:spcPts val="499"/>
              </a:spcBef>
              <a:spcAft>
                <a:spcPts val="876"/>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343080" indent="-343080">
              <a:spcBef>
                <a:spcPts val="499"/>
              </a:spcBef>
              <a:spcAft>
                <a:spcPts val="876"/>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343080" indent="-343080" algn="ctr">
              <a:spcBef>
                <a:spcPts val="499"/>
              </a:spcBef>
              <a:spcAft>
                <a:spcPts val="876"/>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Science Point of Contact:  Brad Zavodsky (Brad.Zavodsky@nasa.gov), 961-7914</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Slide Number Placeholder 1"/>
          <p:cNvSpPr/>
          <p:nvPr/>
        </p:nvSpPr>
        <p:spPr>
          <a:xfrm>
            <a:off x="6553080" y="6245280"/>
            <a:ext cx="2133720" cy="47628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5AB086F-E110-45A4-944A-13C3C8F37930}"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62" name="Rectangle 2"/>
          <p:cNvSpPr/>
          <p:nvPr/>
        </p:nvSpPr>
        <p:spPr>
          <a:xfrm>
            <a:off x="763560" y="3105000"/>
            <a:ext cx="7817040" cy="9169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For more information on the ARPS Data Analysis System (ADAS)</a:t>
            </a:r>
            <a:endParaRPr b="0" lang="en-IN" sz="1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For more information on the MAPS Surface Assimilation System (MSAS)</a:t>
            </a:r>
            <a:endParaRPr b="0" lang="en-IN" sz="1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rPr>
              <a:t>For more information on the Real-Time Mesoscale Analysis (RTMA)</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6973</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2006-09-25T09:08:56Z</dcterms:created>
  <dc:creator>jedlogj</dc:creator>
  <dc:description/>
  <dc:language>en-IN</dc:language>
  <cp:lastModifiedBy> </cp:lastModifiedBy>
  <dcterms:modified xsi:type="dcterms:W3CDTF">2008-05-29T07:48:50Z</dcterms:modified>
  <cp:revision>441</cp:revision>
  <dc:subject/>
  <dc:title>Slide 1</dc:title>
</cp:coreProperties>
</file>