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_rels/notesSlide1.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2.xml.rels" ContentType="application/vnd.openxmlformats-package.relationships+xml"/>
  <Override PartName="/ppt/embeddings/oleObject1.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6858000"/>
  <p:notesSz cx="7315200" cy="96012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p:nvPr/>
        </p:nvSpPr>
        <p:spPr>
          <a:xfrm>
            <a:off x="0" y="0"/>
            <a:ext cx="7315200" cy="9601200"/>
          </a:xfrm>
          <a:prstGeom prst="rect">
            <a:avLst/>
          </a:prstGeom>
          <a:solidFill>
            <a:srgbClr val="ffffff"/>
          </a:solidFill>
          <a:ln w="0">
            <a:noFill/>
          </a:ln>
        </p:spPr>
        <p:txBody>
          <a:bodyPr lIns="90000" rIns="90000" tIns="45000" bIns="45000" anchor="ctr" anchorCtr="1">
            <a:noAutofit/>
          </a:bodyPr>
          <a:p>
            <a:endParaRPr b="0" lang="en-IN" sz="2800" strike="noStrike" u="none">
              <a:solidFill>
                <a:srgbClr val="000000"/>
              </a:solidFill>
              <a:effectLst/>
              <a:uFillTx/>
              <a:latin typeface="Times New Roman"/>
            </a:endParaRPr>
          </a:p>
        </p:txBody>
      </p:sp>
      <p:sp>
        <p:nvSpPr>
          <p:cNvPr id="28" name="PlaceHolder 1"/>
          <p:cNvSpPr>
            <a:spLocks noGrp="1"/>
          </p:cNvSpPr>
          <p:nvPr>
            <p:ph type="hdr"/>
          </p:nvPr>
        </p:nvSpPr>
        <p:spPr>
          <a:xfrm>
            <a:off x="0" y="0"/>
            <a:ext cx="3170160" cy="479520"/>
          </a:xfrm>
          <a:prstGeom prst="rect">
            <a:avLst/>
          </a:prstGeom>
          <a:noFill/>
          <a:ln w="0">
            <a:noFill/>
          </a:ln>
        </p:spPr>
        <p:txBody>
          <a:bodyPr lIns="91440" rIns="91440" tIns="45720" bIns="45720" anchor="t">
            <a:noAutofit/>
          </a:bodyPr>
          <a:p>
            <a:pPr indent="0">
              <a:buNone/>
            </a:pPr>
            <a:endParaRPr b="0" lang="en-IN" sz="2400" strike="noStrike" u="none">
              <a:solidFill>
                <a:srgbClr val="000000"/>
              </a:solidFill>
              <a:effectLst/>
              <a:uFillTx/>
              <a:latin typeface="Times New Roman"/>
            </a:endParaRPr>
          </a:p>
        </p:txBody>
      </p:sp>
      <p:sp>
        <p:nvSpPr>
          <p:cNvPr id="29" name="PlaceHolder 2"/>
          <p:cNvSpPr>
            <a:spLocks noGrp="1"/>
          </p:cNvSpPr>
          <p:nvPr>
            <p:ph type="dt" idx="16"/>
          </p:nvPr>
        </p:nvSpPr>
        <p:spPr>
          <a:xfrm>
            <a:off x="4142880" y="0"/>
            <a:ext cx="3170520" cy="479520"/>
          </a:xfrm>
          <a:prstGeom prst="rect">
            <a:avLst/>
          </a:prstGeom>
          <a:noFill/>
          <a:ln w="0">
            <a:noFill/>
          </a:ln>
        </p:spPr>
        <p:txBody>
          <a:bodyPr lIns="91440" rIns="91440" tIns="45720" bIns="45720" anchor="t">
            <a:noAutofit/>
          </a:bodyPr>
          <a:p>
            <a:pPr indent="0">
              <a:buNone/>
            </a:pPr>
            <a:endParaRPr b="0" lang="en-IN" sz="2400" strike="noStrike" u="none">
              <a:solidFill>
                <a:srgbClr val="000000"/>
              </a:solidFill>
              <a:effectLst/>
              <a:uFillTx/>
              <a:latin typeface="Times New Roman"/>
            </a:endParaRPr>
          </a:p>
        </p:txBody>
      </p:sp>
      <p:sp>
        <p:nvSpPr>
          <p:cNvPr id="30" name="PlaceHolder 3"/>
          <p:cNvSpPr>
            <a:spLocks noGrp="1"/>
          </p:cNvSpPr>
          <p:nvPr>
            <p:ph type="sldImg"/>
          </p:nvPr>
        </p:nvSpPr>
        <p:spPr>
          <a:xfrm>
            <a:off x="1257120" y="720360"/>
            <a:ext cx="4800600" cy="3600360"/>
          </a:xfrm>
          <a:prstGeom prst="rect">
            <a:avLst/>
          </a:prstGeom>
          <a:noFill/>
          <a:ln w="9360">
            <a:solidFill>
              <a:srgbClr val="000000"/>
            </a:solidFill>
            <a:miter/>
          </a:ln>
        </p:spPr>
        <p:txBody>
          <a:bodyPr lIns="90000" rIns="90000" tIns="46800" bIns="4680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move the slide</a:t>
            </a:r>
            <a:endParaRPr b="0" lang="en-IN" sz="4400" strike="noStrike" u="none">
              <a:solidFill>
                <a:srgbClr val="000000"/>
              </a:solidFill>
              <a:effectLst/>
              <a:uFillTx/>
              <a:latin typeface="Times New Roman"/>
            </a:endParaRPr>
          </a:p>
        </p:txBody>
      </p:sp>
      <p:sp>
        <p:nvSpPr>
          <p:cNvPr id="31" name="PlaceHolder 4"/>
          <p:cNvSpPr>
            <a:spLocks noGrp="1"/>
          </p:cNvSpPr>
          <p:nvPr>
            <p:ph type="body"/>
          </p:nvPr>
        </p:nvSpPr>
        <p:spPr>
          <a:xfrm>
            <a:off x="731880" y="4560480"/>
            <a:ext cx="5851440" cy="431964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32" name="PlaceHolder 5"/>
          <p:cNvSpPr>
            <a:spLocks noGrp="1"/>
          </p:cNvSpPr>
          <p:nvPr>
            <p:ph type="ftr" idx="17"/>
          </p:nvPr>
        </p:nvSpPr>
        <p:spPr>
          <a:xfrm>
            <a:off x="0" y="9120240"/>
            <a:ext cx="3170160" cy="479520"/>
          </a:xfrm>
          <a:prstGeom prst="rect">
            <a:avLst/>
          </a:prstGeom>
          <a:noFill/>
          <a:ln w="0">
            <a:noFill/>
          </a:ln>
        </p:spPr>
        <p:txBody>
          <a:bodyPr lIns="91440" rIns="91440" tIns="45720" bIns="45720" anchor="b">
            <a:noAutofit/>
          </a:bodyPr>
          <a:p>
            <a:pPr indent="0">
              <a:buNone/>
            </a:pPr>
            <a:endParaRPr b="0" lang="en-IN" sz="2400" strike="noStrike" u="none">
              <a:solidFill>
                <a:srgbClr val="000000"/>
              </a:solidFill>
              <a:effectLst/>
              <a:uFillTx/>
              <a:latin typeface="Times New Roman"/>
            </a:endParaRPr>
          </a:p>
        </p:txBody>
      </p:sp>
      <p:sp>
        <p:nvSpPr>
          <p:cNvPr id="33" name="PlaceHolder 6"/>
          <p:cNvSpPr>
            <a:spLocks noGrp="1"/>
          </p:cNvSpPr>
          <p:nvPr>
            <p:ph type="sldNum" idx="18"/>
          </p:nvPr>
        </p:nvSpPr>
        <p:spPr>
          <a:xfrm>
            <a:off x="4142880" y="9120240"/>
            <a:ext cx="3170520" cy="479520"/>
          </a:xfrm>
          <a:prstGeom prst="rect">
            <a:avLst/>
          </a:prstGeom>
          <a:noFill/>
          <a:ln w="0">
            <a:noFill/>
          </a:ln>
        </p:spPr>
        <p:txBody>
          <a:bodyPr lIns="91440" rIns="91440" tIns="45720" bIns="4572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D78074C-F57B-4793-B585-E8E8DBE59364}"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257480" y="720720"/>
            <a:ext cx="4800600" cy="3600360"/>
          </a:xfrm>
          <a:prstGeom prst="rect">
            <a:avLst/>
          </a:prstGeom>
          <a:ln w="0">
            <a:noFill/>
          </a:ln>
        </p:spPr>
      </p:sp>
      <p:sp>
        <p:nvSpPr>
          <p:cNvPr id="193"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194"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90A8CCD-22D7-454B-A144-84AFD3D6AF27}"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257480" y="720720"/>
            <a:ext cx="4800600" cy="3600360"/>
          </a:xfrm>
          <a:prstGeom prst="rect">
            <a:avLst/>
          </a:prstGeom>
          <a:ln w="0">
            <a:noFill/>
          </a:ln>
        </p:spPr>
      </p:sp>
      <p:sp>
        <p:nvSpPr>
          <p:cNvPr id="196"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197"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872CEA9-3C58-40E8-BB28-9DA79BECF976}"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1257480" y="720720"/>
            <a:ext cx="4800600" cy="3600360"/>
          </a:xfrm>
          <a:prstGeom prst="rect">
            <a:avLst/>
          </a:prstGeom>
          <a:ln w="0">
            <a:noFill/>
          </a:ln>
        </p:spPr>
      </p:sp>
      <p:sp>
        <p:nvSpPr>
          <p:cNvPr id="199"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00"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E55FBE-37D1-4A37-8837-5E41CAB0EC3F}"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1257480" y="720720"/>
            <a:ext cx="4800600" cy="3600360"/>
          </a:xfrm>
          <a:prstGeom prst="rect">
            <a:avLst/>
          </a:prstGeom>
          <a:ln w="0">
            <a:noFill/>
          </a:ln>
        </p:spPr>
      </p:sp>
      <p:sp>
        <p:nvSpPr>
          <p:cNvPr id="202"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03"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180A30-9B5D-420F-AA80-12C982E391A0}"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1257480" y="720720"/>
            <a:ext cx="4800600" cy="3600360"/>
          </a:xfrm>
          <a:prstGeom prst="rect">
            <a:avLst/>
          </a:prstGeom>
          <a:ln w="0">
            <a:noFill/>
          </a:ln>
        </p:spPr>
      </p:sp>
      <p:sp>
        <p:nvSpPr>
          <p:cNvPr id="205"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06"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3458CD4-2186-46A4-97B5-09C9CBFF14FB}"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1257480" y="720720"/>
            <a:ext cx="4800600" cy="3600360"/>
          </a:xfrm>
          <a:prstGeom prst="rect">
            <a:avLst/>
          </a:prstGeom>
          <a:ln w="0">
            <a:noFill/>
          </a:ln>
        </p:spPr>
      </p:sp>
      <p:sp>
        <p:nvSpPr>
          <p:cNvPr id="208"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09"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FAC4BF-D36D-4692-97C9-AB27F8914E82}"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1257480" y="720720"/>
            <a:ext cx="4800600" cy="3600360"/>
          </a:xfrm>
          <a:prstGeom prst="rect">
            <a:avLst/>
          </a:prstGeom>
          <a:ln w="0">
            <a:noFill/>
          </a:ln>
        </p:spPr>
      </p:sp>
      <p:sp>
        <p:nvSpPr>
          <p:cNvPr id="211"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12"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D4C9B12-7F78-48F5-AC16-6F1A62AE1F85}"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1257480" y="720720"/>
            <a:ext cx="4800600" cy="3600360"/>
          </a:xfrm>
          <a:prstGeom prst="rect">
            <a:avLst/>
          </a:prstGeom>
          <a:ln w="0">
            <a:noFill/>
          </a:ln>
        </p:spPr>
      </p:sp>
      <p:sp>
        <p:nvSpPr>
          <p:cNvPr id="214"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15"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70C4E48-3789-4F59-84BA-9D5F9262A594}"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1257480" y="720720"/>
            <a:ext cx="4800600" cy="3600360"/>
          </a:xfrm>
          <a:prstGeom prst="rect">
            <a:avLst/>
          </a:prstGeom>
          <a:ln w="0">
            <a:noFill/>
          </a:ln>
        </p:spPr>
      </p:sp>
      <p:sp>
        <p:nvSpPr>
          <p:cNvPr id="217" name="PlaceHolder 2"/>
          <p:cNvSpPr>
            <a:spLocks noGrp="1"/>
          </p:cNvSpPr>
          <p:nvPr>
            <p:ph type="body"/>
          </p:nvPr>
        </p:nvSpPr>
        <p:spPr>
          <a:xfrm>
            <a:off x="731880" y="4560480"/>
            <a:ext cx="5851440" cy="43196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218" name="Slide Number Placeholder 3"/>
          <p:cNvSpPr/>
          <p:nvPr/>
        </p:nvSpPr>
        <p:spPr>
          <a:xfrm>
            <a:off x="4143240" y="9120240"/>
            <a:ext cx="3170520" cy="47952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32E981-7A0D-431E-95BC-F7CE0E14F1E4}"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bin"/><Relationship Id="rId3"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bin"/><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bin"/><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6">
    <p:bg>
      <p:bgPr>
        <a:solidFill>
          <a:srgbClr val="0000ff"/>
        </a:solidFill>
      </p:bgPr>
    </p:bg>
    <p:spTree>
      <p:nvGrpSpPr>
        <p:cNvPr id="1" name=""/>
        <p:cNvGrpSpPr/>
        <p:nvPr/>
      </p:nvGrpSpPr>
      <p:grpSpPr>
        <a:xfrm>
          <a:off x="0" y="0"/>
          <a:ext cx="0" cy="0"/>
          <a:chOff x="0" y="0"/>
          <a:chExt cx="0" cy="0"/>
        </a:xfrm>
      </p:grpSpPr>
      <p:graphicFrame>
        <p:nvGraphicFramePr>
          <p:cNvPr id="0" name="Object 18"/>
          <p:cNvGraphicFramePr/>
          <p:nvPr/>
        </p:nvGraphicFramePr>
        <p:xfrm>
          <a:off x="0" y="0"/>
          <a:ext cx="1219320" cy="1219320"/>
        </p:xfrm>
        <a:graphic>
          <a:graphicData uri="http://schemas.openxmlformats.org/presentationml/2006/ole">
            <p:oleObj r:id="rId2" spid="">
              <p:embed/>
              <p:pic>
                <p:nvPicPr>
                  <p:cNvPr id="1" name="Object 18" descr=""/>
                  <p:cNvPicPr/>
                  <p:nvPr/>
                </p:nvPicPr>
                <p:blipFill>
                  <a:blip r:embed="rId3"/>
                  <a:stretch/>
                </p:blipFill>
                <p:spPr>
                  <a:xfrm>
                    <a:off x="0" y="0"/>
                    <a:ext cx="1219320" cy="1219320"/>
                  </a:xfrm>
                  <a:prstGeom prst="rect">
                    <a:avLst/>
                  </a:prstGeom>
                  <a:noFill/>
                  <a:ln w="0">
                    <a:noFill/>
                  </a:ln>
                </p:spPr>
              </p:pic>
            </p:oleObj>
          </a:graphicData>
        </a:graphic>
      </p:graphicFrame>
      <p:sp>
        <p:nvSpPr>
          <p:cNvPr id="2" name="PlaceHolder 1"/>
          <p:cNvSpPr>
            <a:spLocks noGrp="1"/>
          </p:cNvSpPr>
          <p:nvPr>
            <p:ph type="title"/>
          </p:nvPr>
        </p:nvSpPr>
        <p:spPr>
          <a:xfrm>
            <a:off x="1219320" y="609120"/>
            <a:ext cx="72388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3" name="PlaceHolder 2"/>
          <p:cNvSpPr>
            <a:spLocks noGrp="1"/>
          </p:cNvSpPr>
          <p:nvPr>
            <p:ph type="body"/>
          </p:nvPr>
        </p:nvSpPr>
        <p:spPr>
          <a:xfrm>
            <a:off x="1294920" y="1981080"/>
            <a:ext cx="723924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4" name="PlaceHolder 3"/>
          <p:cNvSpPr>
            <a:spLocks noGrp="1"/>
          </p:cNvSpPr>
          <p:nvPr>
            <p:ph type="dt" idx="1"/>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5" name="PlaceHolder 4"/>
          <p:cNvSpPr>
            <a:spLocks noGrp="1"/>
          </p:cNvSpPr>
          <p:nvPr>
            <p:ph type="dt" idx="2"/>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6" name="PlaceHolder 5"/>
          <p:cNvSpPr>
            <a:spLocks noGrp="1"/>
          </p:cNvSpPr>
          <p:nvPr>
            <p:ph type="ftr" idx="3"/>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7" name="PlaceHolder 6"/>
          <p:cNvSpPr>
            <a:spLocks noGrp="1"/>
          </p:cNvSpPr>
          <p:nvPr>
            <p:ph type="ftr" idx="4"/>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8" name="PlaceHolder 7"/>
          <p:cNvSpPr>
            <a:spLocks noGrp="1"/>
          </p:cNvSpPr>
          <p:nvPr>
            <p:ph type="sldNum" idx="5"/>
          </p:nvPr>
        </p:nvSpPr>
        <p:spPr>
          <a:xfrm>
            <a:off x="6553080" y="6248520"/>
            <a:ext cx="190512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1941F07-84E1-4C63-B753-A06A3EB16169}"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7">
    <p:bg>
      <p:bgPr>
        <a:solidFill>
          <a:srgbClr val="0000ff"/>
        </a:solidFill>
      </p:bgPr>
    </p:bg>
    <p:spTree>
      <p:nvGrpSpPr>
        <p:cNvPr id="1" name=""/>
        <p:cNvGrpSpPr/>
        <p:nvPr/>
      </p:nvGrpSpPr>
      <p:grpSpPr>
        <a:xfrm>
          <a:off x="0" y="0"/>
          <a:ext cx="0" cy="0"/>
          <a:chOff x="0" y="0"/>
          <a:chExt cx="0" cy="0"/>
        </a:xfrm>
      </p:grpSpPr>
      <p:graphicFrame>
        <p:nvGraphicFramePr>
          <p:cNvPr id="9" name="Object 18"/>
          <p:cNvGraphicFramePr/>
          <p:nvPr/>
        </p:nvGraphicFramePr>
        <p:xfrm>
          <a:off x="0" y="0"/>
          <a:ext cx="1219320" cy="1219320"/>
        </p:xfrm>
        <a:graphic>
          <a:graphicData uri="http://schemas.openxmlformats.org/presentationml/2006/ole">
            <p:oleObj r:id="rId2" spid="">
              <p:embed/>
              <p:pic>
                <p:nvPicPr>
                  <p:cNvPr id="10" name="Object 18" descr=""/>
                  <p:cNvPicPr/>
                  <p:nvPr/>
                </p:nvPicPr>
                <p:blipFill>
                  <a:blip r:embed="rId3"/>
                  <a:stretch/>
                </p:blipFill>
                <p:spPr>
                  <a:xfrm>
                    <a:off x="0" y="0"/>
                    <a:ext cx="1219320" cy="1219320"/>
                  </a:xfrm>
                  <a:prstGeom prst="rect">
                    <a:avLst/>
                  </a:prstGeom>
                  <a:noFill/>
                  <a:ln w="0">
                    <a:noFill/>
                  </a:ln>
                </p:spPr>
              </p:pic>
            </p:oleObj>
          </a:graphicData>
        </a:graphic>
      </p:graphicFrame>
      <p:sp>
        <p:nvSpPr>
          <p:cNvPr id="11" name="PlaceHolder 1"/>
          <p:cNvSpPr>
            <a:spLocks noGrp="1"/>
          </p:cNvSpPr>
          <p:nvPr>
            <p:ph type="title"/>
          </p:nvPr>
        </p:nvSpPr>
        <p:spPr>
          <a:xfrm>
            <a:off x="1219320" y="609120"/>
            <a:ext cx="72388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12" name="PlaceHolder 2"/>
          <p:cNvSpPr>
            <a:spLocks noGrp="1"/>
          </p:cNvSpPr>
          <p:nvPr>
            <p:ph type="body"/>
          </p:nvPr>
        </p:nvSpPr>
        <p:spPr>
          <a:xfrm>
            <a:off x="1294920" y="1981080"/>
            <a:ext cx="723924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13" name="PlaceHolder 3"/>
          <p:cNvSpPr>
            <a:spLocks noGrp="1"/>
          </p:cNvSpPr>
          <p:nvPr>
            <p:ph type="dt" idx="6"/>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4" name="PlaceHolder 4"/>
          <p:cNvSpPr>
            <a:spLocks noGrp="1"/>
          </p:cNvSpPr>
          <p:nvPr>
            <p:ph type="dt" idx="7"/>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5" name="PlaceHolder 5"/>
          <p:cNvSpPr>
            <a:spLocks noGrp="1"/>
          </p:cNvSpPr>
          <p:nvPr>
            <p:ph type="ftr" idx="8"/>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6" name="PlaceHolder 6"/>
          <p:cNvSpPr>
            <a:spLocks noGrp="1"/>
          </p:cNvSpPr>
          <p:nvPr>
            <p:ph type="ftr" idx="9"/>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7" name="PlaceHolder 7"/>
          <p:cNvSpPr>
            <a:spLocks noGrp="1"/>
          </p:cNvSpPr>
          <p:nvPr>
            <p:ph type="sldNum" idx="10"/>
          </p:nvPr>
        </p:nvSpPr>
        <p:spPr>
          <a:xfrm>
            <a:off x="6553080" y="6248520"/>
            <a:ext cx="190512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CD29789-6E9C-4E08-9C27-5711FAF38D09}"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2">
    <p:bg>
      <p:bgPr>
        <a:solidFill>
          <a:srgbClr val="0000ff"/>
        </a:solidFill>
      </p:bgPr>
    </p:bg>
    <p:spTree>
      <p:nvGrpSpPr>
        <p:cNvPr id="1" name=""/>
        <p:cNvGrpSpPr/>
        <p:nvPr/>
      </p:nvGrpSpPr>
      <p:grpSpPr>
        <a:xfrm>
          <a:off x="0" y="0"/>
          <a:ext cx="0" cy="0"/>
          <a:chOff x="0" y="0"/>
          <a:chExt cx="0" cy="0"/>
        </a:xfrm>
      </p:grpSpPr>
      <p:graphicFrame>
        <p:nvGraphicFramePr>
          <p:cNvPr id="18" name="Object 18"/>
          <p:cNvGraphicFramePr/>
          <p:nvPr/>
        </p:nvGraphicFramePr>
        <p:xfrm>
          <a:off x="0" y="0"/>
          <a:ext cx="1219320" cy="1219320"/>
        </p:xfrm>
        <a:graphic>
          <a:graphicData uri="http://schemas.openxmlformats.org/presentationml/2006/ole">
            <p:oleObj r:id="rId2" spid="">
              <p:embed/>
              <p:pic>
                <p:nvPicPr>
                  <p:cNvPr id="19" name="Object 18" descr=""/>
                  <p:cNvPicPr/>
                  <p:nvPr/>
                </p:nvPicPr>
                <p:blipFill>
                  <a:blip r:embed="rId3"/>
                  <a:stretch/>
                </p:blipFill>
                <p:spPr>
                  <a:xfrm>
                    <a:off x="0" y="0"/>
                    <a:ext cx="1219320" cy="1219320"/>
                  </a:xfrm>
                  <a:prstGeom prst="rect">
                    <a:avLst/>
                  </a:prstGeom>
                  <a:noFill/>
                  <a:ln w="0">
                    <a:noFill/>
                  </a:ln>
                </p:spPr>
              </p:pic>
            </p:oleObj>
          </a:graphicData>
        </a:graphic>
      </p:graphicFrame>
      <p:sp>
        <p:nvSpPr>
          <p:cNvPr id="20" name="PlaceHolder 1"/>
          <p:cNvSpPr>
            <a:spLocks noGrp="1"/>
          </p:cNvSpPr>
          <p:nvPr>
            <p:ph type="title"/>
          </p:nvPr>
        </p:nvSpPr>
        <p:spPr>
          <a:xfrm>
            <a:off x="1219320" y="609120"/>
            <a:ext cx="72388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21" name="PlaceHolder 2"/>
          <p:cNvSpPr>
            <a:spLocks noGrp="1"/>
          </p:cNvSpPr>
          <p:nvPr>
            <p:ph type="body"/>
          </p:nvPr>
        </p:nvSpPr>
        <p:spPr>
          <a:xfrm>
            <a:off x="1294920" y="1981080"/>
            <a:ext cx="7239240" cy="4114800"/>
          </a:xfrm>
          <a:prstGeom prst="rect">
            <a:avLst/>
          </a:prstGeom>
          <a:noFill/>
          <a:ln w="0">
            <a:noFill/>
          </a:ln>
        </p:spPr>
        <p:txBody>
          <a:bodyPr lIns="90000" rIns="90000" tIns="46800" bIns="46800" anchor="t">
            <a:normAutofit lnSpcReduction="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22" name="PlaceHolder 3"/>
          <p:cNvSpPr>
            <a:spLocks noGrp="1"/>
          </p:cNvSpPr>
          <p:nvPr>
            <p:ph type="dt" idx="11"/>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23" name="PlaceHolder 4"/>
          <p:cNvSpPr>
            <a:spLocks noGrp="1"/>
          </p:cNvSpPr>
          <p:nvPr>
            <p:ph type="dt" idx="12"/>
          </p:nvPr>
        </p:nvSpPr>
        <p:spPr>
          <a:xfrm>
            <a:off x="2514600" y="617220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24" name="PlaceHolder 5"/>
          <p:cNvSpPr>
            <a:spLocks noGrp="1"/>
          </p:cNvSpPr>
          <p:nvPr>
            <p:ph type="ftr" idx="13"/>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25" name="PlaceHolder 6"/>
          <p:cNvSpPr>
            <a:spLocks noGrp="1"/>
          </p:cNvSpPr>
          <p:nvPr>
            <p:ph type="ftr" idx="14"/>
          </p:nvPr>
        </p:nvSpPr>
        <p:spPr>
          <a:xfrm>
            <a:off x="380520" y="533160"/>
            <a:ext cx="1295640" cy="66294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26" name="PlaceHolder 7"/>
          <p:cNvSpPr>
            <a:spLocks noGrp="1"/>
          </p:cNvSpPr>
          <p:nvPr>
            <p:ph type="sldNum" idx="15"/>
          </p:nvPr>
        </p:nvSpPr>
        <p:spPr>
          <a:xfrm>
            <a:off x="6553080" y="6248520"/>
            <a:ext cx="190512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45074D3-0BF5-4D90-8EC1-0658225BE374}"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304920"/>
            <a:ext cx="7010640" cy="22096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sng">
                <a:solidFill>
                  <a:srgbClr val="ffff00"/>
                </a:solidFill>
                <a:effectLst/>
                <a:uFillTx/>
                <a:latin typeface="Times New Roman"/>
              </a:rPr>
              <a:t>Madden-Julian Oscillation</a:t>
            </a:r>
            <a:r>
              <a:rPr b="1" lang="en-IN" sz="4400" strike="noStrike" u="none">
                <a:solidFill>
                  <a:srgbClr val="ffff00"/>
                </a:solidFill>
                <a:effectLst/>
                <a:uFillTx/>
                <a:latin typeface="Times New Roman"/>
              </a:rPr>
              <a:t>: Recent Evolution, Current Status and Predictions</a:t>
            </a:r>
            <a:endParaRPr b="0" lang="en-IN" sz="4400" strike="noStrike" u="none">
              <a:solidFill>
                <a:srgbClr val="000000"/>
              </a:solidFill>
              <a:effectLst/>
              <a:uFillTx/>
              <a:latin typeface="Times New Roman"/>
            </a:endParaRPr>
          </a:p>
        </p:txBody>
      </p:sp>
      <p:sp>
        <p:nvSpPr>
          <p:cNvPr id="35" name="Text Box 3"/>
          <p:cNvSpPr/>
          <p:nvPr/>
        </p:nvSpPr>
        <p:spPr>
          <a:xfrm>
            <a:off x="1676520" y="3657600"/>
            <a:ext cx="5817960" cy="137484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imes New Roman"/>
              </a:rPr>
              <a:t>Update prepared by</a:t>
            </a:r>
            <a:endParaRPr b="0" lang="en-IN" sz="28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imes New Roman"/>
              </a:rPr>
              <a:t>Climate Prediction Center / NCEP</a:t>
            </a:r>
            <a:endParaRPr b="0" lang="en-IN" sz="28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imes New Roman"/>
              </a:rPr>
              <a:t> March 30, 2009</a:t>
            </a: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36" name="Text Box 2"/>
          <p:cNvSpPr/>
          <p:nvPr/>
        </p:nvSpPr>
        <p:spPr>
          <a:xfrm>
            <a:off x="3733920" y="182520"/>
            <a:ext cx="149220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Outline</a:t>
            </a:r>
            <a:endParaRPr b="0" lang="en-IN" sz="3200" strike="noStrike" u="none">
              <a:solidFill>
                <a:srgbClr val="000000"/>
              </a:solidFill>
              <a:effectLst/>
              <a:uFillTx/>
              <a:latin typeface="Times New Roman"/>
            </a:endParaRPr>
          </a:p>
        </p:txBody>
      </p:sp>
      <p:sp>
        <p:nvSpPr>
          <p:cNvPr id="37" name="Text Box 3"/>
          <p:cNvSpPr/>
          <p:nvPr/>
        </p:nvSpPr>
        <p:spPr>
          <a:xfrm>
            <a:off x="1600200" y="1295280"/>
            <a:ext cx="6248520" cy="3385800"/>
          </a:xfrm>
          <a:prstGeom prst="rect">
            <a:avLst/>
          </a:prstGeom>
          <a:noFill/>
          <a:ln w="0">
            <a:noFill/>
          </a:ln>
        </p:spPr>
        <p:style>
          <a:lnRef idx="0"/>
          <a:fillRef idx="0"/>
          <a:effectRef idx="0"/>
          <a:fontRef idx="minor"/>
        </p:style>
        <p:txBody>
          <a:bodyPr lIns="90000" rIns="90000" tIns="46800" bIns="46800" anchor="t">
            <a:spAutoFit/>
          </a:bodyPr>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 Overview</a:t>
            </a: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 Recent Evolution and Current Conditions</a:t>
            </a: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 MJO Index Information</a:t>
            </a: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 MJO Index Forecasts</a:t>
            </a: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a:p>
            <a:pPr>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 MJO Composites </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38" name="Text Box 58"/>
          <p:cNvSpPr/>
          <p:nvPr/>
        </p:nvSpPr>
        <p:spPr>
          <a:xfrm>
            <a:off x="3506760" y="228600"/>
            <a:ext cx="185292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Overview</a:t>
            </a:r>
            <a:endParaRPr b="0" lang="en-IN" sz="3200" strike="noStrike" u="none">
              <a:solidFill>
                <a:srgbClr val="000000"/>
              </a:solidFill>
              <a:effectLst/>
              <a:uFillTx/>
              <a:latin typeface="Times New Roman"/>
            </a:endParaRPr>
          </a:p>
        </p:txBody>
      </p:sp>
      <p:sp>
        <p:nvSpPr>
          <p:cNvPr id="39" name="Text Box 6"/>
          <p:cNvSpPr/>
          <p:nvPr/>
        </p:nvSpPr>
        <p:spPr>
          <a:xfrm>
            <a:off x="304920" y="6048360"/>
            <a:ext cx="8169120" cy="581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sng">
                <a:solidFill>
                  <a:srgbClr val="ffffff"/>
                </a:solidFill>
                <a:effectLst/>
                <a:uFillTx/>
                <a:latin typeface="Times New Roman"/>
              </a:rPr>
              <a:t>Additional potential impacts across the global tropics are available at:</a:t>
            </a:r>
            <a:r>
              <a:rPr b="1" lang="en-US" sz="1600" strike="noStrike" u="none">
                <a:solidFill>
                  <a:srgbClr val="ffff00"/>
                </a:solidFill>
                <a:effectLst/>
                <a:uFillTx/>
                <a:latin typeface="Times New Roman"/>
              </a:rPr>
              <a:t> http://www.cpc.ncep.noaa.gov/products/precip/CWlink/ghazards/ghaz.shtml</a:t>
            </a:r>
            <a:endParaRPr b="0" lang="en-IN" sz="1600" strike="noStrike" u="none">
              <a:solidFill>
                <a:srgbClr val="000000"/>
              </a:solidFill>
              <a:effectLst/>
              <a:uFillTx/>
              <a:latin typeface="Times New Roman"/>
            </a:endParaRPr>
          </a:p>
        </p:txBody>
      </p:sp>
      <p:sp>
        <p:nvSpPr>
          <p:cNvPr id="40" name="Rectangle 7"/>
          <p:cNvSpPr/>
          <p:nvPr/>
        </p:nvSpPr>
        <p:spPr>
          <a:xfrm>
            <a:off x="304920" y="6019920"/>
            <a:ext cx="6933960" cy="609480"/>
          </a:xfrm>
          <a:prstGeom prst="rect">
            <a:avLst/>
          </a:prstGeom>
          <a:noFill/>
          <a:ln w="9360">
            <a:solidFill>
              <a:srgbClr val="ffffff"/>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41" name="Text Box 60"/>
          <p:cNvSpPr/>
          <p:nvPr/>
        </p:nvSpPr>
        <p:spPr>
          <a:xfrm>
            <a:off x="533520" y="1490760"/>
            <a:ext cx="8153280" cy="3385800"/>
          </a:xfrm>
          <a:prstGeom prst="rect">
            <a:avLst/>
          </a:prstGeom>
          <a:solidFill>
            <a:srgbClr val="0000ff"/>
          </a:solidFill>
          <a:ln w="0">
            <a:noFill/>
          </a:ln>
        </p:spPr>
        <p:style>
          <a:lnRef idx="0"/>
          <a:fillRef idx="0"/>
          <a:effectRef idx="0"/>
          <a:fontRef idx="minor"/>
        </p:style>
        <p:txBody>
          <a:bodyPr lIns="90000" rIns="90000" tIns="46800" bIns="46800" anchor="t">
            <a:spAutoFit/>
          </a:bodyPr>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imes New Roman"/>
              </a:rPr>
              <a:t> </a:t>
            </a:r>
            <a:r>
              <a:rPr b="1" lang="en-IN" sz="1800" strike="noStrike" u="none">
                <a:solidFill>
                  <a:srgbClr val="ffffff"/>
                </a:solidFill>
                <a:effectLst/>
                <a:uFillTx/>
                <a:latin typeface="Times New Roman"/>
              </a:rPr>
              <a:t>The MJO strengthened during the past week with the enhanced convective phase located in the Western Hemisphere.</a:t>
            </a: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Times New Roman"/>
              </a:rPr>
              <a:t> The MJO is expected to continue during the next 1-2 weeks with the enhanced convective phase shifting to the Indian Ocean by the end of the period. </a:t>
            </a: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Times New Roman"/>
              </a:rPr>
              <a:t> The MJO is anticipated to decrease rainfall across much of the Maritime Continent and increase rainfall for the Gulf of Guinea region of Africa during Week 1 and later central Africa and the Indian Ocean in Week 2. </a:t>
            </a: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marL="114480" indent="-114480">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Times New Roman"/>
              </a:rPr>
              <a:t> For the US, the southern branch of the jet stream is expected to be very active with a southward shifted storm track across the central and eastern US. </a:t>
            </a:r>
            <a:endParaRPr b="0" lang="en-IN" sz="1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42" name="" descr=""/>
          <p:cNvPicPr/>
          <p:nvPr/>
        </p:nvPicPr>
        <p:blipFill>
          <a:blip r:embed="rId1"/>
          <a:stretch/>
        </p:blipFill>
        <p:spPr>
          <a:xfrm>
            <a:off x="2082960" y="685800"/>
            <a:ext cx="6508440" cy="4981680"/>
          </a:xfrm>
          <a:prstGeom prst="rect">
            <a:avLst/>
          </a:prstGeom>
          <a:noFill/>
          <a:ln w="0">
            <a:noFill/>
          </a:ln>
        </p:spPr>
      </p:pic>
      <p:sp>
        <p:nvSpPr>
          <p:cNvPr id="43" name="Text Box 3"/>
          <p:cNvSpPr/>
          <p:nvPr/>
        </p:nvSpPr>
        <p:spPr>
          <a:xfrm>
            <a:off x="1533960" y="104760"/>
            <a:ext cx="715716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850-hPa Vector Wind Anomalies  (m s</a:t>
            </a:r>
            <a:r>
              <a:rPr b="1" lang="en-IN" sz="3200" strike="noStrike" u="sng" baseline="30000">
                <a:solidFill>
                  <a:srgbClr val="ffff00"/>
                </a:solidFill>
                <a:effectLst/>
                <a:uFillTx/>
                <a:latin typeface="Times New Roman"/>
              </a:rPr>
              <a:t>-1</a:t>
            </a:r>
            <a:r>
              <a:rPr b="1" lang="en-IN" sz="3200" strike="noStrike" u="sng">
                <a:solidFill>
                  <a:srgbClr val="ffff00"/>
                </a:solidFill>
                <a:effectLst/>
                <a:uFillTx/>
                <a:latin typeface="Times New Roman"/>
              </a:rPr>
              <a:t>)</a:t>
            </a:r>
            <a:endParaRPr b="0" lang="en-IN" sz="3200" strike="noStrike" u="none">
              <a:solidFill>
                <a:srgbClr val="000000"/>
              </a:solidFill>
              <a:effectLst/>
              <a:uFillTx/>
              <a:latin typeface="Times New Roman"/>
            </a:endParaRPr>
          </a:p>
        </p:txBody>
      </p:sp>
      <p:sp>
        <p:nvSpPr>
          <p:cNvPr id="44" name="Text Box 4"/>
          <p:cNvSpPr/>
          <p:nvPr/>
        </p:nvSpPr>
        <p:spPr>
          <a:xfrm>
            <a:off x="76320" y="1295280"/>
            <a:ext cx="1828800" cy="94788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00"/>
                </a:solidFill>
                <a:effectLst/>
                <a:uFillTx/>
                <a:latin typeface="Times New Roman"/>
              </a:rPr>
              <a:t>Note that shading denotes the magnitude of anomalous wind vectors</a:t>
            </a:r>
            <a:endParaRPr b="0" lang="en-IN" sz="1400" strike="noStrike" u="none">
              <a:solidFill>
                <a:srgbClr val="000000"/>
              </a:solidFill>
              <a:effectLst/>
              <a:uFillTx/>
              <a:latin typeface="Times New Roman"/>
            </a:endParaRPr>
          </a:p>
        </p:txBody>
      </p:sp>
      <p:sp>
        <p:nvSpPr>
          <p:cNvPr id="45" name="Line 166"/>
          <p:cNvSpPr/>
          <p:nvPr/>
        </p:nvSpPr>
        <p:spPr>
          <a:xfrm flipH="1" flipV="1">
            <a:off x="5715000" y="4343040"/>
            <a:ext cx="914400" cy="160020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46" name="Text Box 162"/>
          <p:cNvSpPr/>
          <p:nvPr/>
        </p:nvSpPr>
        <p:spPr>
          <a:xfrm>
            <a:off x="5943600" y="5943600"/>
            <a:ext cx="3048120" cy="73440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Easterly anomalies have decreased during the last five days across the equatorial central Pacific.</a:t>
            </a:r>
            <a:endParaRPr b="0" lang="en-IN" sz="1400" strike="noStrike" u="none">
              <a:solidFill>
                <a:srgbClr val="000000"/>
              </a:solidFill>
              <a:effectLst/>
              <a:uFillTx/>
              <a:latin typeface="Times New Roman"/>
            </a:endParaRPr>
          </a:p>
        </p:txBody>
      </p:sp>
      <p:sp>
        <p:nvSpPr>
          <p:cNvPr id="47" name="Line 166"/>
          <p:cNvSpPr/>
          <p:nvPr/>
        </p:nvSpPr>
        <p:spPr>
          <a:xfrm flipH="1" flipV="1">
            <a:off x="5638320" y="1980720"/>
            <a:ext cx="1219320" cy="396252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48" name="Rectangle 306"/>
          <p:cNvSpPr/>
          <p:nvPr/>
        </p:nvSpPr>
        <p:spPr>
          <a:xfrm>
            <a:off x="5257800" y="1616040"/>
            <a:ext cx="990720" cy="533520"/>
          </a:xfrm>
          <a:prstGeom prst="rect">
            <a:avLst/>
          </a:prstGeom>
          <a:noFill/>
          <a:ln w="255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49" name="Rectangle 317"/>
          <p:cNvSpPr/>
          <p:nvPr/>
        </p:nvSpPr>
        <p:spPr>
          <a:xfrm>
            <a:off x="5257800" y="3962520"/>
            <a:ext cx="990720" cy="457200"/>
          </a:xfrm>
          <a:prstGeom prst="rect">
            <a:avLst/>
          </a:prstGeom>
          <a:noFill/>
          <a:ln w="255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50" name="Rectangle 317"/>
          <p:cNvSpPr/>
          <p:nvPr/>
        </p:nvSpPr>
        <p:spPr>
          <a:xfrm>
            <a:off x="2286000" y="3962520"/>
            <a:ext cx="2209680" cy="533160"/>
          </a:xfrm>
          <a:prstGeom prst="rect">
            <a:avLst/>
          </a:prstGeom>
          <a:noFill/>
          <a:ln w="255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51" name="Line 166"/>
          <p:cNvSpPr/>
          <p:nvPr/>
        </p:nvSpPr>
        <p:spPr>
          <a:xfrm flipV="1">
            <a:off x="1447920" y="4343040"/>
            <a:ext cx="1600200" cy="152388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52" name="Text Box 162"/>
          <p:cNvSpPr/>
          <p:nvPr/>
        </p:nvSpPr>
        <p:spPr>
          <a:xfrm>
            <a:off x="228600" y="5943600"/>
            <a:ext cx="2666880" cy="52092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Easterly anomalies stretch from Africa to western Indonesia.</a:t>
            </a:r>
            <a:endParaRPr b="0" lang="en-IN" sz="1400" strike="noStrike" u="none">
              <a:solidFill>
                <a:srgbClr val="000000"/>
              </a:solidFill>
              <a:effectLst/>
              <a:uFillTx/>
              <a:latin typeface="Times New Roman"/>
            </a:endParaRPr>
          </a:p>
        </p:txBody>
      </p:sp>
      <p:sp>
        <p:nvSpPr>
          <p:cNvPr id="53" name="Rectangle 317"/>
          <p:cNvSpPr/>
          <p:nvPr/>
        </p:nvSpPr>
        <p:spPr>
          <a:xfrm>
            <a:off x="4572000" y="4038480"/>
            <a:ext cx="609480" cy="304920"/>
          </a:xfrm>
          <a:prstGeom prst="rect">
            <a:avLst/>
          </a:prstGeom>
          <a:noFill/>
          <a:ln w="255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54" name="Rectangle 317"/>
          <p:cNvSpPr/>
          <p:nvPr/>
        </p:nvSpPr>
        <p:spPr>
          <a:xfrm>
            <a:off x="4495680" y="1752480"/>
            <a:ext cx="609840" cy="304920"/>
          </a:xfrm>
          <a:prstGeom prst="rect">
            <a:avLst/>
          </a:prstGeom>
          <a:noFill/>
          <a:ln w="255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55" name="Line 166"/>
          <p:cNvSpPr/>
          <p:nvPr/>
        </p:nvSpPr>
        <p:spPr>
          <a:xfrm flipV="1">
            <a:off x="3809880" y="4191120"/>
            <a:ext cx="914400" cy="175248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56" name="Text Box 162"/>
          <p:cNvSpPr/>
          <p:nvPr/>
        </p:nvSpPr>
        <p:spPr>
          <a:xfrm>
            <a:off x="2895480" y="5975280"/>
            <a:ext cx="2286000" cy="73440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Westerly anomalies persist in the far western Pacific Ocean.</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57" name="" descr=""/>
          <p:cNvPicPr/>
          <p:nvPr/>
        </p:nvPicPr>
        <p:blipFill>
          <a:blip r:embed="rId1"/>
          <a:srcRect l="0" t="0" r="0" b="4131"/>
          <a:stretch/>
        </p:blipFill>
        <p:spPr>
          <a:xfrm>
            <a:off x="990720" y="1371600"/>
            <a:ext cx="4698720" cy="4748040"/>
          </a:xfrm>
          <a:prstGeom prst="rect">
            <a:avLst/>
          </a:prstGeom>
          <a:noFill/>
          <a:ln w="0">
            <a:noFill/>
          </a:ln>
        </p:spPr>
      </p:pic>
      <p:sp>
        <p:nvSpPr>
          <p:cNvPr id="58" name="Text Box 2"/>
          <p:cNvSpPr/>
          <p:nvPr/>
        </p:nvSpPr>
        <p:spPr>
          <a:xfrm>
            <a:off x="1600200" y="76320"/>
            <a:ext cx="7238880" cy="581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850-hPa Zonal Wind Anomalies (m s</a:t>
            </a:r>
            <a:r>
              <a:rPr b="1" lang="en-IN" sz="3200" strike="noStrike" u="sng" baseline="30000">
                <a:solidFill>
                  <a:srgbClr val="ffff00"/>
                </a:solidFill>
                <a:effectLst/>
                <a:uFillTx/>
                <a:latin typeface="Times New Roman"/>
              </a:rPr>
              <a:t>-1</a:t>
            </a:r>
            <a:r>
              <a:rPr b="1" lang="en-IN" sz="3200" strike="noStrike" u="sng">
                <a:solidFill>
                  <a:srgbClr val="ffff00"/>
                </a:solidFill>
                <a:effectLst/>
                <a:uFillTx/>
                <a:latin typeface="Times New Roman"/>
              </a:rPr>
              <a:t>)</a:t>
            </a:r>
            <a:endParaRPr b="0" lang="en-IN" sz="3200" strike="noStrike" u="none">
              <a:solidFill>
                <a:srgbClr val="000000"/>
              </a:solidFill>
              <a:effectLst/>
              <a:uFillTx/>
              <a:latin typeface="Times New Roman"/>
            </a:endParaRPr>
          </a:p>
        </p:txBody>
      </p:sp>
      <p:sp>
        <p:nvSpPr>
          <p:cNvPr id="59" name="Text Box 5"/>
          <p:cNvSpPr/>
          <p:nvPr/>
        </p:nvSpPr>
        <p:spPr>
          <a:xfrm>
            <a:off x="2286000" y="6095880"/>
            <a:ext cx="2301840" cy="398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Longitude</a:t>
            </a:r>
            <a:endParaRPr b="0" lang="en-IN" sz="2000" strike="noStrike" u="none">
              <a:solidFill>
                <a:srgbClr val="000000"/>
              </a:solidFill>
              <a:effectLst/>
              <a:uFillTx/>
              <a:latin typeface="Times New Roman"/>
            </a:endParaRPr>
          </a:p>
        </p:txBody>
      </p:sp>
      <p:sp>
        <p:nvSpPr>
          <p:cNvPr id="60" name="Text Box 6"/>
          <p:cNvSpPr/>
          <p:nvPr/>
        </p:nvSpPr>
        <p:spPr>
          <a:xfrm>
            <a:off x="152280" y="2743200"/>
            <a:ext cx="914400" cy="39888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Time</a:t>
            </a:r>
            <a:endParaRPr b="0" lang="en-IN" sz="2000" strike="noStrike" u="none">
              <a:solidFill>
                <a:srgbClr val="000000"/>
              </a:solidFill>
              <a:effectLst/>
              <a:uFillTx/>
              <a:latin typeface="Times New Roman"/>
            </a:endParaRPr>
          </a:p>
        </p:txBody>
      </p:sp>
      <p:sp>
        <p:nvSpPr>
          <p:cNvPr id="61" name="Line 7"/>
          <p:cNvSpPr/>
          <p:nvPr/>
        </p:nvSpPr>
        <p:spPr>
          <a:xfrm>
            <a:off x="609480" y="3200400"/>
            <a:ext cx="0" cy="83808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62" name="Text Box 8"/>
          <p:cNvSpPr/>
          <p:nvPr/>
        </p:nvSpPr>
        <p:spPr>
          <a:xfrm>
            <a:off x="6019920" y="660240"/>
            <a:ext cx="2971800" cy="92088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Westerly anomalies (orange/red shading) represent anomalous west-to-east flow</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Easterly anomalies (blue shading) represent anomalous east-to-west flow</a:t>
            </a:r>
            <a:endParaRPr b="0" lang="en-IN" sz="1200" strike="noStrike" u="none">
              <a:solidFill>
                <a:srgbClr val="000000"/>
              </a:solidFill>
              <a:effectLst/>
              <a:uFillTx/>
              <a:latin typeface="Times New Roman"/>
            </a:endParaRPr>
          </a:p>
        </p:txBody>
      </p:sp>
      <p:sp>
        <p:nvSpPr>
          <p:cNvPr id="63" name="Text Box 164"/>
          <p:cNvSpPr/>
          <p:nvPr/>
        </p:nvSpPr>
        <p:spPr>
          <a:xfrm>
            <a:off x="5867280" y="1752480"/>
            <a:ext cx="3276720" cy="374112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A persistent pattern of westerly (easterly) anomalies stretching from the Indian Ocean to the central Pacific Ocean has been in place since October with a few breaks in late December and mid-January.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The decrease in westerly anomalies across the Indian ocean in mid-January was associated with MJO activity.</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During the second portion of March, westerly anomalies have shifted eastward and winds near the Date Line are close to average. </a:t>
            </a:r>
            <a:endParaRPr b="0" lang="en-IN" sz="1400" strike="noStrike" u="none">
              <a:solidFill>
                <a:srgbClr val="000000"/>
              </a:solidFill>
              <a:effectLst/>
              <a:uFillTx/>
              <a:latin typeface="Times New Roman"/>
            </a:endParaRPr>
          </a:p>
        </p:txBody>
      </p:sp>
      <p:sp>
        <p:nvSpPr>
          <p:cNvPr id="64" name="Line 178"/>
          <p:cNvSpPr/>
          <p:nvPr/>
        </p:nvSpPr>
        <p:spPr>
          <a:xfrm flipH="1">
            <a:off x="4266720" y="2209680"/>
            <a:ext cx="1600200" cy="457200"/>
          </a:xfrm>
          <a:prstGeom prst="line">
            <a:avLst/>
          </a:prstGeom>
          <a:ln w="2844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65" name="Freeform 13"/>
          <p:cNvSpPr/>
          <p:nvPr/>
        </p:nvSpPr>
        <p:spPr>
          <a:xfrm>
            <a:off x="1523880" y="1905120"/>
            <a:ext cx="990720" cy="457200"/>
          </a:xfrm>
          <a:custGeom>
            <a:avLst/>
            <a:gdLst>
              <a:gd name="textAreaLeft" fmla="*/ 0 w 990720"/>
              <a:gd name="textAreaRight" fmla="*/ 991080 w 990720"/>
              <a:gd name="textAreaTop" fmla="*/ 0 h 457200"/>
              <a:gd name="textAreaBottom" fmla="*/ 457560 h 457200"/>
              <a:gd name="GluePoint1X" fmla="*/ 0 w 2304"/>
              <a:gd name="GluePoint1Y" fmla="*/ 0 h 624"/>
              <a:gd name="GluePoint2X" fmla="*/ 2147483647 w 2304"/>
              <a:gd name="GluePoint2Y" fmla="*/ 2147483647 h 624"/>
              <a:gd name="GluePoint3X" fmla="*/ 2147483647 w 2304"/>
              <a:gd name="GluePoint3Y" fmla="*/ 2147483647 h 624"/>
            </a:gdLst>
            <a:ahLst/>
            <a:cxnLst>
              <a:cxn ang="0">
                <a:pos x="GluePoint1X" y="GluePoint1Y"/>
              </a:cxn>
              <a:cxn ang="0">
                <a:pos x="GluePoint2X" y="GluePoint2Y"/>
              </a:cxn>
              <a:cxn ang="0">
                <a:pos x="GluePoint3X" y="GluePoint3Y"/>
              </a:cxn>
            </a:cxnLst>
            <a:rect l="textAreaLeft" t="textAreaTop" r="textAreaRight" b="textAreaBottom"/>
            <a:pathLst>
              <a:path w="2304" h="624">
                <a:moveTo>
                  <a:pt x="0" y="0"/>
                </a:moveTo>
                <a:cubicBezTo>
                  <a:pt x="168" y="116"/>
                  <a:pt x="336" y="232"/>
                  <a:pt x="720" y="336"/>
                </a:cubicBezTo>
                <a:cubicBezTo>
                  <a:pt x="1104" y="440"/>
                  <a:pt x="2040" y="576"/>
                  <a:pt x="2304" y="624"/>
                </a:cubicBezTo>
              </a:path>
            </a:pathLst>
          </a:custGeom>
          <a:noFill/>
          <a:ln w="38160">
            <a:solidFill>
              <a:srgbClr val="000000"/>
            </a:solidFill>
            <a:prstDash val="dash"/>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66" name="AutoShape 173"/>
          <p:cNvSpPr/>
          <p:nvPr/>
        </p:nvSpPr>
        <p:spPr>
          <a:xfrm>
            <a:off x="4038480" y="1905120"/>
            <a:ext cx="228600" cy="3429000"/>
          </a:xfrm>
          <a:custGeom>
            <a:avLst/>
            <a:gdLst>
              <a:gd name="textAreaLeft" fmla="*/ 0 w 228600"/>
              <a:gd name="textAreaRight" fmla="*/ 82440 w 228600"/>
              <a:gd name="textAreaTop" fmla="*/ 73080 h 3429000"/>
              <a:gd name="textAreaBottom" fmla="*/ 3355920 h 342900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67" name="Line 178"/>
          <p:cNvSpPr/>
          <p:nvPr/>
        </p:nvSpPr>
        <p:spPr>
          <a:xfrm flipH="1">
            <a:off x="2133360" y="3809880"/>
            <a:ext cx="3733560" cy="381240"/>
          </a:xfrm>
          <a:prstGeom prst="line">
            <a:avLst/>
          </a:prstGeom>
          <a:ln w="2844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68" name="Freeform 16"/>
          <p:cNvSpPr/>
          <p:nvPr/>
        </p:nvSpPr>
        <p:spPr>
          <a:xfrm>
            <a:off x="1523880" y="4038480"/>
            <a:ext cx="1219320" cy="304920"/>
          </a:xfrm>
          <a:custGeom>
            <a:avLst/>
            <a:gdLst>
              <a:gd name="textAreaLeft" fmla="*/ 0 w 1219320"/>
              <a:gd name="textAreaRight" fmla="*/ 1219680 w 1219320"/>
              <a:gd name="textAreaTop" fmla="*/ 0 h 304920"/>
              <a:gd name="textAreaBottom" fmla="*/ 305280 h 304920"/>
              <a:gd name="GluePoint1X" fmla="*/ 0 w 2304"/>
              <a:gd name="GluePoint1Y" fmla="*/ 0 h 624"/>
              <a:gd name="GluePoint2X" fmla="*/ 2147483647 w 2304"/>
              <a:gd name="GluePoint2Y" fmla="*/ 2147483647 h 624"/>
              <a:gd name="GluePoint3X" fmla="*/ 2147483647 w 2304"/>
              <a:gd name="GluePoint3Y" fmla="*/ 2147483647 h 624"/>
            </a:gdLst>
            <a:ahLst/>
            <a:cxnLst>
              <a:cxn ang="0">
                <a:pos x="GluePoint1X" y="GluePoint1Y"/>
              </a:cxn>
              <a:cxn ang="0">
                <a:pos x="GluePoint2X" y="GluePoint2Y"/>
              </a:cxn>
              <a:cxn ang="0">
                <a:pos x="GluePoint3X" y="GluePoint3Y"/>
              </a:cxn>
            </a:cxnLst>
            <a:rect l="textAreaLeft" t="textAreaTop" r="textAreaRight" b="textAreaBottom"/>
            <a:pathLst>
              <a:path w="2304" h="624">
                <a:moveTo>
                  <a:pt x="0" y="0"/>
                </a:moveTo>
                <a:cubicBezTo>
                  <a:pt x="168" y="116"/>
                  <a:pt x="336" y="232"/>
                  <a:pt x="720" y="336"/>
                </a:cubicBezTo>
                <a:cubicBezTo>
                  <a:pt x="1104" y="440"/>
                  <a:pt x="2040" y="576"/>
                  <a:pt x="2304" y="624"/>
                </a:cubicBezTo>
              </a:path>
            </a:pathLst>
          </a:custGeom>
          <a:noFill/>
          <a:ln w="38160">
            <a:solidFill>
              <a:srgbClr val="000000"/>
            </a:solidFill>
            <a:prstDash val="sysDot"/>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69" name="Line 178"/>
          <p:cNvSpPr/>
          <p:nvPr/>
        </p:nvSpPr>
        <p:spPr>
          <a:xfrm flipH="1">
            <a:off x="3047760" y="5029200"/>
            <a:ext cx="2819160" cy="457200"/>
          </a:xfrm>
          <a:prstGeom prst="line">
            <a:avLst/>
          </a:prstGeom>
          <a:ln w="2844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70" name="" descr=""/>
          <p:cNvPicPr/>
          <p:nvPr/>
        </p:nvPicPr>
        <p:blipFill>
          <a:blip r:embed="rId1"/>
          <a:stretch/>
        </p:blipFill>
        <p:spPr>
          <a:xfrm>
            <a:off x="990720" y="1015920"/>
            <a:ext cx="4698720" cy="5587920"/>
          </a:xfrm>
          <a:prstGeom prst="rect">
            <a:avLst/>
          </a:prstGeom>
          <a:noFill/>
          <a:ln w="0">
            <a:noFill/>
          </a:ln>
        </p:spPr>
      </p:pic>
      <p:sp>
        <p:nvSpPr>
          <p:cNvPr id="71" name="Text Box 2"/>
          <p:cNvSpPr/>
          <p:nvPr/>
        </p:nvSpPr>
        <p:spPr>
          <a:xfrm>
            <a:off x="2132640" y="0"/>
            <a:ext cx="540324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OLR Anomalies: Last 30 days</a:t>
            </a:r>
            <a:endParaRPr b="0" lang="en-IN" sz="3200" strike="noStrike" u="none">
              <a:solidFill>
                <a:srgbClr val="000000"/>
              </a:solidFill>
              <a:effectLst/>
              <a:uFillTx/>
              <a:latin typeface="Times New Roman"/>
            </a:endParaRPr>
          </a:p>
        </p:txBody>
      </p:sp>
      <p:sp>
        <p:nvSpPr>
          <p:cNvPr id="72" name="Text Box 13"/>
          <p:cNvSpPr/>
          <p:nvPr/>
        </p:nvSpPr>
        <p:spPr>
          <a:xfrm>
            <a:off x="6076800" y="609480"/>
            <a:ext cx="2914920" cy="92088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Drier-than-normal conditions, positive OLR anomalies (yellow/red shading) </a:t>
            </a:r>
            <a:endParaRPr b="0" lang="en-IN" sz="1200" strike="noStrike" u="none">
              <a:solidFill>
                <a:srgbClr val="000000"/>
              </a:solidFill>
              <a:effectLst/>
              <a:uFillTx/>
              <a:latin typeface="Times New Roman"/>
            </a:endParaRPr>
          </a:p>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Wetter-than-normal conditions, negative OLR anomalies (blue shading)</a:t>
            </a:r>
            <a:endParaRPr b="0" lang="en-IN" sz="1200" strike="noStrike" u="none">
              <a:solidFill>
                <a:srgbClr val="000000"/>
              </a:solidFill>
              <a:effectLst/>
              <a:uFillTx/>
              <a:latin typeface="Times New Roman"/>
            </a:endParaRPr>
          </a:p>
        </p:txBody>
      </p:sp>
      <p:sp>
        <p:nvSpPr>
          <p:cNvPr id="73" name="Text Box 144"/>
          <p:cNvSpPr/>
          <p:nvPr/>
        </p:nvSpPr>
        <p:spPr>
          <a:xfrm>
            <a:off x="6019920" y="1752480"/>
            <a:ext cx="2895480" cy="4577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During late February and early March convection was enhanced across the Maritime Continent while dry conditions are evident for parts of Brazil.</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During mid March, convection was enhanced near Papua New Guinea while dry conditions dominated northwest Australia.</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Convection shifted eastward during late March to parts of the South Pacific Convergence Zone (SPCZ) while dry conditions continued over Australia and developed over the Indian Ocean.</a:t>
            </a:r>
            <a:endParaRPr b="0" lang="en-IN" sz="1400" strike="noStrike" u="none">
              <a:solidFill>
                <a:srgbClr val="000000"/>
              </a:solidFill>
              <a:effectLst/>
              <a:uFillTx/>
              <a:latin typeface="Times New Roman"/>
            </a:endParaRPr>
          </a:p>
        </p:txBody>
      </p:sp>
      <p:sp>
        <p:nvSpPr>
          <p:cNvPr id="74" name="Oval 158"/>
          <p:cNvSpPr/>
          <p:nvPr/>
        </p:nvSpPr>
        <p:spPr>
          <a:xfrm rot="1661400">
            <a:off x="2075040" y="1793520"/>
            <a:ext cx="990360" cy="600120"/>
          </a:xfrm>
          <a:prstGeom prst="ellipse">
            <a:avLst/>
          </a:prstGeom>
          <a:noFill/>
          <a:ln w="25560">
            <a:solidFill>
              <a:srgbClr val="ff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75" name="Line 126"/>
          <p:cNvSpPr/>
          <p:nvPr/>
        </p:nvSpPr>
        <p:spPr>
          <a:xfrm flipH="1">
            <a:off x="2895120" y="5715000"/>
            <a:ext cx="3124440" cy="76320"/>
          </a:xfrm>
          <a:prstGeom prst="line">
            <a:avLst/>
          </a:prstGeom>
          <a:ln w="34920">
            <a:solidFill>
              <a:srgbClr val="ff3300"/>
            </a:solidFill>
            <a:miter/>
            <a:tailEnd len="med" type="triangle" w="med"/>
          </a:ln>
        </p:spPr>
        <p:style>
          <a:lnRef idx="0"/>
          <a:fillRef idx="0"/>
          <a:effectRef idx="0"/>
          <a:fontRef idx="minor"/>
        </p:style>
        <p:txBody>
          <a:bodyPr lIns="90000" rIns="90000" tIns="29520" bIns="29520" anchor="t">
            <a:noAutofit/>
          </a:bodyPr>
          <a:p>
            <a:endParaRPr b="0" lang="en-IN" sz="2800" strike="noStrike" u="none">
              <a:solidFill>
                <a:srgbClr val="000000"/>
              </a:solidFill>
              <a:effectLst/>
              <a:uFillTx/>
              <a:latin typeface="Times New Roman"/>
            </a:endParaRPr>
          </a:p>
        </p:txBody>
      </p:sp>
      <p:sp>
        <p:nvSpPr>
          <p:cNvPr id="76" name="Oval 194"/>
          <p:cNvSpPr/>
          <p:nvPr/>
        </p:nvSpPr>
        <p:spPr>
          <a:xfrm rot="2103600">
            <a:off x="2566800" y="5819400"/>
            <a:ext cx="849240" cy="324000"/>
          </a:xfrm>
          <a:prstGeom prst="ellipse">
            <a:avLst/>
          </a:prstGeom>
          <a:noFill/>
          <a:ln w="25560">
            <a:solidFill>
              <a:srgbClr val="ff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77" name="Line 126"/>
          <p:cNvSpPr/>
          <p:nvPr/>
        </p:nvSpPr>
        <p:spPr>
          <a:xfrm flipH="1" flipV="1">
            <a:off x="2895120" y="2209320"/>
            <a:ext cx="3124440" cy="22860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78" name="Line 126"/>
          <p:cNvSpPr/>
          <p:nvPr/>
        </p:nvSpPr>
        <p:spPr>
          <a:xfrm flipH="1">
            <a:off x="3200400" y="4038480"/>
            <a:ext cx="2819520" cy="0"/>
          </a:xfrm>
          <a:prstGeom prst="line">
            <a:avLst/>
          </a:prstGeom>
          <a:ln w="34920">
            <a:solidFill>
              <a:srgbClr val="ff33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79" name="Oval 221"/>
          <p:cNvSpPr/>
          <p:nvPr/>
        </p:nvSpPr>
        <p:spPr>
          <a:xfrm rot="1627200">
            <a:off x="1988640" y="3679560"/>
            <a:ext cx="1222560" cy="473040"/>
          </a:xfrm>
          <a:prstGeom prst="ellipse">
            <a:avLst/>
          </a:prstGeom>
          <a:noFill/>
          <a:ln w="25560">
            <a:solidFill>
              <a:srgbClr val="ff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80" name="" descr=""/>
          <p:cNvPicPr/>
          <p:nvPr/>
        </p:nvPicPr>
        <p:blipFill>
          <a:blip r:embed="rId1"/>
          <a:stretch/>
        </p:blipFill>
        <p:spPr>
          <a:xfrm>
            <a:off x="914400" y="1295280"/>
            <a:ext cx="4232160" cy="5105520"/>
          </a:xfrm>
          <a:prstGeom prst="rect">
            <a:avLst/>
          </a:prstGeom>
          <a:noFill/>
          <a:ln w="0">
            <a:noFill/>
          </a:ln>
        </p:spPr>
      </p:pic>
      <p:sp>
        <p:nvSpPr>
          <p:cNvPr id="81" name="Text Box 2"/>
          <p:cNvSpPr/>
          <p:nvPr/>
        </p:nvSpPr>
        <p:spPr>
          <a:xfrm>
            <a:off x="1295280" y="0"/>
            <a:ext cx="7696440" cy="10695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sng">
                <a:solidFill>
                  <a:srgbClr val="ffff00"/>
                </a:solidFill>
                <a:effectLst/>
                <a:uFillTx/>
                <a:latin typeface="Times New Roman"/>
              </a:rPr>
              <a:t>Outgoing Longwave Radiation (OLR) </a:t>
            </a:r>
            <a:endParaRPr b="0" lang="en-IN" sz="32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sng">
                <a:solidFill>
                  <a:srgbClr val="ffff00"/>
                </a:solidFill>
                <a:effectLst/>
                <a:uFillTx/>
                <a:latin typeface="Times New Roman"/>
              </a:rPr>
              <a:t>Anomalies (7.5°S-7.5°N)</a:t>
            </a:r>
            <a:endParaRPr b="0" lang="en-IN" sz="3200" strike="noStrike" u="none">
              <a:solidFill>
                <a:srgbClr val="000000"/>
              </a:solidFill>
              <a:effectLst/>
              <a:uFillTx/>
              <a:latin typeface="Times New Roman"/>
            </a:endParaRPr>
          </a:p>
        </p:txBody>
      </p:sp>
      <p:sp>
        <p:nvSpPr>
          <p:cNvPr id="82" name="Text Box 5"/>
          <p:cNvSpPr/>
          <p:nvPr/>
        </p:nvSpPr>
        <p:spPr>
          <a:xfrm>
            <a:off x="5257800" y="1143000"/>
            <a:ext cx="3733920" cy="119916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Drier-than-normal conditions, positive OLR anomalies (yellow/red shading) </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Wetter-than-normal conditions, negative OLR anomalies (blue shading)</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(Courtesy of the Bureau of Meteorology - Australia)</a:t>
            </a:r>
            <a:endParaRPr b="0" lang="en-IN" sz="1200" strike="noStrike" u="none">
              <a:solidFill>
                <a:srgbClr val="000000"/>
              </a:solidFill>
              <a:effectLst/>
              <a:uFillTx/>
              <a:latin typeface="Times New Roman"/>
            </a:endParaRPr>
          </a:p>
        </p:txBody>
      </p:sp>
      <p:sp>
        <p:nvSpPr>
          <p:cNvPr id="83" name="Text Box 7"/>
          <p:cNvSpPr/>
          <p:nvPr/>
        </p:nvSpPr>
        <p:spPr>
          <a:xfrm>
            <a:off x="0" y="2743200"/>
            <a:ext cx="914400" cy="39888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Time</a:t>
            </a:r>
            <a:endParaRPr b="0" lang="en-IN" sz="2000" strike="noStrike" u="none">
              <a:solidFill>
                <a:srgbClr val="000000"/>
              </a:solidFill>
              <a:effectLst/>
              <a:uFillTx/>
              <a:latin typeface="Times New Roman"/>
            </a:endParaRPr>
          </a:p>
        </p:txBody>
      </p:sp>
      <p:sp>
        <p:nvSpPr>
          <p:cNvPr id="84" name="Line 8"/>
          <p:cNvSpPr/>
          <p:nvPr/>
        </p:nvSpPr>
        <p:spPr>
          <a:xfrm>
            <a:off x="457200" y="3124080"/>
            <a:ext cx="0" cy="83844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85" name="Rectangle 174"/>
          <p:cNvSpPr/>
          <p:nvPr/>
        </p:nvSpPr>
        <p:spPr>
          <a:xfrm>
            <a:off x="2880" y="1080"/>
            <a:ext cx="505080" cy="45972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  &gt;</a:t>
            </a:r>
            <a:endParaRPr b="0" lang="en-IN" sz="2400" strike="noStrike" u="none">
              <a:solidFill>
                <a:srgbClr val="000000"/>
              </a:solidFill>
              <a:effectLst/>
              <a:uFillTx/>
              <a:latin typeface="Times New Roman"/>
            </a:endParaRPr>
          </a:p>
        </p:txBody>
      </p:sp>
      <p:sp>
        <p:nvSpPr>
          <p:cNvPr id="86" name="Text Box 172"/>
          <p:cNvSpPr/>
          <p:nvPr/>
        </p:nvSpPr>
        <p:spPr>
          <a:xfrm>
            <a:off x="5257800" y="2438280"/>
            <a:ext cx="3886200" cy="341640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Moderate MJO activity was evident during October and November as enhanced (suppressed) convection developed across the Indian Ocean and shifted eastward during the period.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During December, anomalous convection was generally stationary and consistent with La Nina conditions.</a:t>
            </a:r>
            <a:r>
              <a:rPr b="0" lang="en-IN" sz="1400" strike="noStrike" u="none">
                <a:solidFill>
                  <a:srgbClr val="ffffff"/>
                </a:solidFill>
                <a:effectLst/>
                <a:uFillTx/>
                <a:latin typeface="Times New Roman"/>
              </a:rPr>
              <a:t>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From mid-January to mid-February, eastward movement of suppressed (enhanced) convection is observed from the Indian Ocean to portions of Indonesia and the western Pacific.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Recently, suppressed convection has developed over the Indian Ocean and Maritime Continent.</a:t>
            </a:r>
            <a:endParaRPr b="0" lang="en-IN" sz="1400" strike="noStrike" u="none">
              <a:solidFill>
                <a:srgbClr val="000000"/>
              </a:solidFill>
              <a:effectLst/>
              <a:uFillTx/>
              <a:latin typeface="Times New Roman"/>
            </a:endParaRPr>
          </a:p>
        </p:txBody>
      </p:sp>
      <p:sp>
        <p:nvSpPr>
          <p:cNvPr id="87" name="Text Box 5"/>
          <p:cNvSpPr/>
          <p:nvPr/>
        </p:nvSpPr>
        <p:spPr>
          <a:xfrm>
            <a:off x="1905120" y="6384960"/>
            <a:ext cx="2301840" cy="398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Longitude</a:t>
            </a:r>
            <a:endParaRPr b="0" lang="en-IN" sz="2000" strike="noStrike" u="none">
              <a:solidFill>
                <a:srgbClr val="000000"/>
              </a:solidFill>
              <a:effectLst/>
              <a:uFillTx/>
              <a:latin typeface="Times New Roman"/>
            </a:endParaRPr>
          </a:p>
        </p:txBody>
      </p:sp>
      <p:sp>
        <p:nvSpPr>
          <p:cNvPr id="88" name="Line 152"/>
          <p:cNvSpPr/>
          <p:nvPr/>
        </p:nvSpPr>
        <p:spPr>
          <a:xfrm flipH="1" flipV="1">
            <a:off x="3352680" y="2438280"/>
            <a:ext cx="1905120" cy="53352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89" name="AutoShape 104" descr="hov"/>
          <p:cNvSpPr/>
          <p:nvPr/>
        </p:nvSpPr>
        <p:spPr>
          <a:xfrm>
            <a:off x="4400640" y="1981080"/>
            <a:ext cx="304560" cy="304920"/>
          </a:xfrm>
          <a:prstGeom prst="rect">
            <a:avLst/>
          </a:prstGeom>
          <a:noFill/>
          <a:ln w="0">
            <a:noFill/>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0" name="Line 166"/>
          <p:cNvSpPr/>
          <p:nvPr/>
        </p:nvSpPr>
        <p:spPr>
          <a:xfrm>
            <a:off x="2165400" y="1805040"/>
            <a:ext cx="762120" cy="45720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1" name="AutoShape 173"/>
          <p:cNvSpPr/>
          <p:nvPr/>
        </p:nvSpPr>
        <p:spPr>
          <a:xfrm>
            <a:off x="2971800" y="1776240"/>
            <a:ext cx="304920" cy="1143000"/>
          </a:xfrm>
          <a:custGeom>
            <a:avLst/>
            <a:gdLst>
              <a:gd name="textAreaLeft" fmla="*/ 0 w 304920"/>
              <a:gd name="textAreaRight" fmla="*/ 110160 w 304920"/>
              <a:gd name="textAreaTop" fmla="*/ 24120 h 1143000"/>
              <a:gd name="textAreaBottom" fmla="*/ 1118880 h 114300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92" name="Line 152"/>
          <p:cNvSpPr/>
          <p:nvPr/>
        </p:nvSpPr>
        <p:spPr>
          <a:xfrm flipH="1" flipV="1">
            <a:off x="3657240" y="3581280"/>
            <a:ext cx="1600200" cy="45720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3" name="Line 166"/>
          <p:cNvSpPr/>
          <p:nvPr/>
        </p:nvSpPr>
        <p:spPr>
          <a:xfrm>
            <a:off x="2052720" y="2454120"/>
            <a:ext cx="685800" cy="38124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4" name="AutoShape 173"/>
          <p:cNvSpPr/>
          <p:nvPr/>
        </p:nvSpPr>
        <p:spPr>
          <a:xfrm>
            <a:off x="3429000" y="2919240"/>
            <a:ext cx="228600" cy="914400"/>
          </a:xfrm>
          <a:custGeom>
            <a:avLst/>
            <a:gdLst>
              <a:gd name="textAreaLeft" fmla="*/ 0 w 228600"/>
              <a:gd name="textAreaRight" fmla="*/ 82440 w 228600"/>
              <a:gd name="textAreaTop" fmla="*/ 19440 h 914400"/>
              <a:gd name="textAreaBottom" fmla="*/ 894960 h 91440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95" name="Line 152"/>
          <p:cNvSpPr/>
          <p:nvPr/>
        </p:nvSpPr>
        <p:spPr>
          <a:xfrm flipH="1" flipV="1">
            <a:off x="3352680" y="4343400"/>
            <a:ext cx="1828800" cy="38088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6" name="Line 165"/>
          <p:cNvSpPr/>
          <p:nvPr/>
        </p:nvSpPr>
        <p:spPr>
          <a:xfrm>
            <a:off x="2209680" y="3809880"/>
            <a:ext cx="685800" cy="457200"/>
          </a:xfrm>
          <a:prstGeom prst="line">
            <a:avLst/>
          </a:prstGeom>
          <a:ln w="31680">
            <a:solidFill>
              <a:srgbClr val="000000"/>
            </a:solidFill>
            <a:prstDash val="sysDot"/>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7" name="Line 166"/>
          <p:cNvSpPr/>
          <p:nvPr/>
        </p:nvSpPr>
        <p:spPr>
          <a:xfrm>
            <a:off x="2066760" y="4114800"/>
            <a:ext cx="600120" cy="38088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8" name="Line 152"/>
          <p:cNvSpPr/>
          <p:nvPr/>
        </p:nvSpPr>
        <p:spPr>
          <a:xfrm flipH="1">
            <a:off x="3200040" y="5518080"/>
            <a:ext cx="2057400" cy="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99" name="AutoShape 173"/>
          <p:cNvSpPr/>
          <p:nvPr/>
        </p:nvSpPr>
        <p:spPr>
          <a:xfrm>
            <a:off x="3124080" y="3886200"/>
            <a:ext cx="228600" cy="762120"/>
          </a:xfrm>
          <a:custGeom>
            <a:avLst/>
            <a:gdLst>
              <a:gd name="textAreaLeft" fmla="*/ 0 w 228600"/>
              <a:gd name="textAreaRight" fmla="*/ 82440 w 228600"/>
              <a:gd name="textAreaTop" fmla="*/ 16200 h 762120"/>
              <a:gd name="textAreaBottom" fmla="*/ 745920 h 76212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100" name="Line 165"/>
          <p:cNvSpPr/>
          <p:nvPr/>
        </p:nvSpPr>
        <p:spPr>
          <a:xfrm>
            <a:off x="2049480" y="2117880"/>
            <a:ext cx="685800" cy="396720"/>
          </a:xfrm>
          <a:prstGeom prst="line">
            <a:avLst/>
          </a:prstGeom>
          <a:ln w="31680">
            <a:solidFill>
              <a:srgbClr val="000000"/>
            </a:solidFill>
            <a:prstDash val="sysDot"/>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01" name="" descr=""/>
          <p:cNvPicPr/>
          <p:nvPr/>
        </p:nvPicPr>
        <p:blipFill>
          <a:blip r:embed="rId1"/>
          <a:srcRect l="7780" t="0" r="7780" b="17938"/>
          <a:stretch/>
        </p:blipFill>
        <p:spPr>
          <a:xfrm>
            <a:off x="1373040" y="1422360"/>
            <a:ext cx="3870360" cy="4951440"/>
          </a:xfrm>
          <a:prstGeom prst="rect">
            <a:avLst/>
          </a:prstGeom>
          <a:noFill/>
          <a:ln w="0">
            <a:noFill/>
          </a:ln>
        </p:spPr>
      </p:pic>
      <p:sp>
        <p:nvSpPr>
          <p:cNvPr id="102" name="Text Box 2"/>
          <p:cNvSpPr/>
          <p:nvPr/>
        </p:nvSpPr>
        <p:spPr>
          <a:xfrm>
            <a:off x="1902600" y="0"/>
            <a:ext cx="4893120" cy="106956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200-hPa Velocity Potential </a:t>
            </a:r>
            <a:endParaRPr b="0" lang="en-IN" sz="3200" strike="noStrike" u="none">
              <a:solidFill>
                <a:srgbClr val="0000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Anomalies (5°S-5°N)</a:t>
            </a:r>
            <a:endParaRPr b="0" lang="en-IN" sz="3200" strike="noStrike" u="none">
              <a:solidFill>
                <a:srgbClr val="000000"/>
              </a:solidFill>
              <a:effectLst/>
              <a:uFillTx/>
              <a:latin typeface="Times New Roman"/>
            </a:endParaRPr>
          </a:p>
        </p:txBody>
      </p:sp>
      <p:sp>
        <p:nvSpPr>
          <p:cNvPr id="103" name="Text Box 5"/>
          <p:cNvSpPr/>
          <p:nvPr/>
        </p:nvSpPr>
        <p:spPr>
          <a:xfrm>
            <a:off x="6934320" y="838080"/>
            <a:ext cx="2057400" cy="274680"/>
          </a:xfrm>
          <a:prstGeom prst="rect">
            <a:avLst/>
          </a:prstGeom>
          <a:solidFill>
            <a:srgbClr val="0000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04" name="Text Box 6"/>
          <p:cNvSpPr/>
          <p:nvPr/>
        </p:nvSpPr>
        <p:spPr>
          <a:xfrm>
            <a:off x="2209680" y="6324480"/>
            <a:ext cx="2301840" cy="398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Longitude</a:t>
            </a:r>
            <a:endParaRPr b="0" lang="en-IN" sz="2000" strike="noStrike" u="none">
              <a:solidFill>
                <a:srgbClr val="000000"/>
              </a:solidFill>
              <a:effectLst/>
              <a:uFillTx/>
              <a:latin typeface="Times New Roman"/>
            </a:endParaRPr>
          </a:p>
        </p:txBody>
      </p:sp>
      <p:sp>
        <p:nvSpPr>
          <p:cNvPr id="105" name="Text Box 7"/>
          <p:cNvSpPr/>
          <p:nvPr/>
        </p:nvSpPr>
        <p:spPr>
          <a:xfrm>
            <a:off x="380880" y="3200400"/>
            <a:ext cx="914400" cy="39888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Time</a:t>
            </a:r>
            <a:endParaRPr b="0" lang="en-IN" sz="2000" strike="noStrike" u="none">
              <a:solidFill>
                <a:srgbClr val="000000"/>
              </a:solidFill>
              <a:effectLst/>
              <a:uFillTx/>
              <a:latin typeface="Times New Roman"/>
            </a:endParaRPr>
          </a:p>
        </p:txBody>
      </p:sp>
      <p:sp>
        <p:nvSpPr>
          <p:cNvPr id="106" name="Line 8"/>
          <p:cNvSpPr/>
          <p:nvPr/>
        </p:nvSpPr>
        <p:spPr>
          <a:xfrm>
            <a:off x="838080" y="3581280"/>
            <a:ext cx="0" cy="83844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07" name="Text Box 19"/>
          <p:cNvSpPr/>
          <p:nvPr/>
        </p:nvSpPr>
        <p:spPr>
          <a:xfrm>
            <a:off x="6781680" y="152280"/>
            <a:ext cx="2286000" cy="128664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sng">
                <a:solidFill>
                  <a:srgbClr val="ffff00"/>
                </a:solidFill>
                <a:effectLst/>
                <a:uFillTx/>
                <a:latin typeface="Times New Roman"/>
              </a:rPr>
              <a:t>Positive</a:t>
            </a:r>
            <a:r>
              <a:rPr b="1" lang="en-IN" sz="1200" strike="noStrike" u="none">
                <a:solidFill>
                  <a:srgbClr val="ffff00"/>
                </a:solidFill>
                <a:effectLst/>
                <a:uFillTx/>
                <a:latin typeface="Times New Roman"/>
              </a:rPr>
              <a:t> anomalies (brown shading) indicate unfavorable conditions for precipitation</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sng">
                <a:solidFill>
                  <a:srgbClr val="ffff00"/>
                </a:solidFill>
                <a:effectLst/>
                <a:uFillTx/>
                <a:latin typeface="Times New Roman"/>
              </a:rPr>
              <a:t>Negative</a:t>
            </a:r>
            <a:r>
              <a:rPr b="1" lang="en-IN" sz="1200" strike="noStrike" u="none">
                <a:solidFill>
                  <a:srgbClr val="ffff00"/>
                </a:solidFill>
                <a:effectLst/>
                <a:uFillTx/>
                <a:latin typeface="Times New Roman"/>
              </a:rPr>
              <a:t> anomalies (green shading) indicate favorable conditions for precipitation</a:t>
            </a:r>
            <a:endParaRPr b="0" lang="en-IN" sz="1200" strike="noStrike" u="none">
              <a:solidFill>
                <a:srgbClr val="000000"/>
              </a:solidFill>
              <a:effectLst/>
              <a:uFillTx/>
              <a:latin typeface="Times New Roman"/>
            </a:endParaRPr>
          </a:p>
        </p:txBody>
      </p:sp>
      <p:sp>
        <p:nvSpPr>
          <p:cNvPr id="108" name="Text Box 128"/>
          <p:cNvSpPr/>
          <p:nvPr/>
        </p:nvSpPr>
        <p:spPr>
          <a:xfrm>
            <a:off x="5410080" y="1870200"/>
            <a:ext cx="3505320" cy="4390560"/>
          </a:xfrm>
          <a:prstGeom prst="rect">
            <a:avLst/>
          </a:prstGeom>
          <a:solidFill>
            <a:srgbClr val="0000ff"/>
          </a:solid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The MJO strengthened in early September and eastward propagation was observed from September through October.</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From mid-November to mid-January, the subseasonal activity organized on a faster time scale and the MJO was weak or incoherent.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Velocity potential anomalies increased as the MJO strengthened and shifted eastward during January to mid-February.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The velocity potential anomalies were weak late February and early March.</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In late March, anomalies have increased indicating the MJO has strengthened once again.</a:t>
            </a:r>
            <a:endParaRPr b="0" lang="en-IN" sz="1400" strike="noStrike" u="none">
              <a:solidFill>
                <a:srgbClr val="000000"/>
              </a:solidFill>
              <a:effectLst/>
              <a:uFillTx/>
              <a:latin typeface="Times New Roman"/>
            </a:endParaRPr>
          </a:p>
        </p:txBody>
      </p:sp>
      <p:sp>
        <p:nvSpPr>
          <p:cNvPr id="109" name="AutoShape 173"/>
          <p:cNvSpPr/>
          <p:nvPr/>
        </p:nvSpPr>
        <p:spPr>
          <a:xfrm>
            <a:off x="4876920" y="2666880"/>
            <a:ext cx="228600" cy="1524240"/>
          </a:xfrm>
          <a:custGeom>
            <a:avLst/>
            <a:gdLst>
              <a:gd name="textAreaLeft" fmla="*/ 0 w 228600"/>
              <a:gd name="textAreaRight" fmla="*/ 82440 w 228600"/>
              <a:gd name="textAreaTop" fmla="*/ 32400 h 1524240"/>
              <a:gd name="textAreaBottom" fmla="*/ 1491840 h 152424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110" name="Freeform 164"/>
          <p:cNvSpPr/>
          <p:nvPr/>
        </p:nvSpPr>
        <p:spPr>
          <a:xfrm rot="10800000">
            <a:off x="3962520" y="1828440"/>
            <a:ext cx="838080" cy="228600"/>
          </a:xfrm>
          <a:custGeom>
            <a:avLst/>
            <a:gdLst>
              <a:gd name="textAreaLeft" fmla="*/ 0 w 838080"/>
              <a:gd name="textAreaRight" fmla="*/ 838440 w 838080"/>
              <a:gd name="textAreaTop" fmla="*/ 0 h 228600"/>
              <a:gd name="textAreaBottom" fmla="*/ 228960 h 228600"/>
              <a:gd name="GluePoint1X" fmla="*/ 0 w 672"/>
              <a:gd name="GluePoint1Y" fmla="*/ 0 h 336"/>
              <a:gd name="GluePoint2X" fmla="*/ 2147483647 w 672"/>
              <a:gd name="GluePoint2Y" fmla="*/ 2147483647 h 336"/>
              <a:gd name="GluePoint3X" fmla="*/ 2147483647 w 672"/>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672" h="336">
                <a:moveTo>
                  <a:pt x="0" y="0"/>
                </a:moveTo>
                <a:cubicBezTo>
                  <a:pt x="160" y="68"/>
                  <a:pt x="320" y="136"/>
                  <a:pt x="432" y="192"/>
                </a:cubicBezTo>
                <a:cubicBezTo>
                  <a:pt x="544" y="248"/>
                  <a:pt x="632" y="312"/>
                  <a:pt x="672" y="336"/>
                </a:cubicBezTo>
              </a:path>
            </a:pathLst>
          </a:custGeom>
          <a:noFill/>
          <a:ln w="38160">
            <a:solidFill>
              <a:srgbClr val="000000"/>
            </a:solidFill>
            <a:prstDash val="sysDot"/>
            <a:round/>
          </a:ln>
        </p:spPr>
        <p:style>
          <a:lnRef idx="0"/>
          <a:fillRef idx="0"/>
          <a:effectRef idx="0"/>
          <a:fontRef idx="minor"/>
        </p:style>
        <p:txBody>
          <a:bodyPr lIns="90000" rIns="90000" tIns="46800" bIns="46800" anchor="t" rot="10800000">
            <a:noAutofit/>
          </a:bodyPr>
          <a:p>
            <a:endParaRPr b="0" lang="en-IN" sz="2800" strike="noStrike" u="none">
              <a:solidFill>
                <a:srgbClr val="000000"/>
              </a:solidFill>
              <a:effectLst/>
              <a:uFillTx/>
              <a:latin typeface="Times New Roman"/>
            </a:endParaRPr>
          </a:p>
        </p:txBody>
      </p:sp>
      <p:sp>
        <p:nvSpPr>
          <p:cNvPr id="111" name="Freeform 181"/>
          <p:cNvSpPr/>
          <p:nvPr/>
        </p:nvSpPr>
        <p:spPr>
          <a:xfrm>
            <a:off x="2971800" y="1828800"/>
            <a:ext cx="1828800" cy="609480"/>
          </a:xfrm>
          <a:custGeom>
            <a:avLst/>
            <a:gdLst>
              <a:gd name="textAreaLeft" fmla="*/ 0 w 1828800"/>
              <a:gd name="textAreaRight" fmla="*/ 1829160 w 1828800"/>
              <a:gd name="textAreaTop" fmla="*/ 0 h 609480"/>
              <a:gd name="textAreaBottom" fmla="*/ 609840 h 609480"/>
              <a:gd name="GluePoint1X" fmla="*/ 0 w 816"/>
              <a:gd name="GluePoint1Y" fmla="*/ 0 h 240"/>
              <a:gd name="GluePoint2X" fmla="*/ 2147483647 w 816"/>
              <a:gd name="GluePoint2Y" fmla="*/ 2147483647 h 240"/>
              <a:gd name="GluePoint3X" fmla="*/ 2147483647 w 816"/>
              <a:gd name="GluePoint3Y" fmla="*/ 2147483647 h 240"/>
            </a:gdLst>
            <a:ahLst/>
            <a:cxnLst>
              <a:cxn ang="0">
                <a:pos x="GluePoint1X" y="GluePoint1Y"/>
              </a:cxn>
              <a:cxn ang="0">
                <a:pos x="GluePoint2X" y="GluePoint2Y"/>
              </a:cxn>
              <a:cxn ang="0">
                <a:pos x="GluePoint3X" y="GluePoint3Y"/>
              </a:cxn>
            </a:cxnLst>
            <a:rect l="textAreaLeft" t="textAreaTop" r="textAreaRight" b="textAreaBottom"/>
            <a:pathLst>
              <a:path w="816" h="240">
                <a:moveTo>
                  <a:pt x="0" y="0"/>
                </a:moveTo>
                <a:cubicBezTo>
                  <a:pt x="100" y="52"/>
                  <a:pt x="200" y="104"/>
                  <a:pt x="336" y="144"/>
                </a:cubicBezTo>
                <a:cubicBezTo>
                  <a:pt x="472" y="184"/>
                  <a:pt x="644" y="212"/>
                  <a:pt x="816" y="240"/>
                </a:cubicBezTo>
              </a:path>
            </a:pathLst>
          </a:custGeom>
          <a:noFill/>
          <a:ln w="38160">
            <a:solidFill>
              <a:srgbClr val="000000"/>
            </a:solidFill>
            <a:prstDash val="dash"/>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12" name="Freeform 206"/>
          <p:cNvSpPr/>
          <p:nvPr/>
        </p:nvSpPr>
        <p:spPr>
          <a:xfrm rot="10800000">
            <a:off x="2057040" y="1981080"/>
            <a:ext cx="1143000" cy="533520"/>
          </a:xfrm>
          <a:custGeom>
            <a:avLst/>
            <a:gdLst>
              <a:gd name="textAreaLeft" fmla="*/ 0 w 1143000"/>
              <a:gd name="textAreaRight" fmla="*/ 1143360 w 1143000"/>
              <a:gd name="textAreaTop" fmla="*/ 0 h 533520"/>
              <a:gd name="textAreaBottom" fmla="*/ 533880 h 533520"/>
              <a:gd name="GluePoint1X" fmla="*/ 0 w 672"/>
              <a:gd name="GluePoint1Y" fmla="*/ 0 h 336"/>
              <a:gd name="GluePoint2X" fmla="*/ 2147483647 w 672"/>
              <a:gd name="GluePoint2Y" fmla="*/ 2147483647 h 336"/>
              <a:gd name="GluePoint3X" fmla="*/ 2147483647 w 672"/>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672" h="336">
                <a:moveTo>
                  <a:pt x="0" y="0"/>
                </a:moveTo>
                <a:cubicBezTo>
                  <a:pt x="160" y="68"/>
                  <a:pt x="320" y="136"/>
                  <a:pt x="432" y="192"/>
                </a:cubicBezTo>
                <a:cubicBezTo>
                  <a:pt x="544" y="248"/>
                  <a:pt x="632" y="312"/>
                  <a:pt x="672" y="336"/>
                </a:cubicBezTo>
              </a:path>
            </a:pathLst>
          </a:custGeom>
          <a:noFill/>
          <a:ln w="38160">
            <a:solidFill>
              <a:srgbClr val="000000"/>
            </a:solidFill>
            <a:prstDash val="sysDot"/>
            <a:round/>
          </a:ln>
        </p:spPr>
        <p:style>
          <a:lnRef idx="0"/>
          <a:fillRef idx="0"/>
          <a:effectRef idx="0"/>
          <a:fontRef idx="minor"/>
        </p:style>
        <p:txBody>
          <a:bodyPr lIns="90000" rIns="90000" tIns="46800" bIns="46800" anchor="t" rot="10800000">
            <a:noAutofit/>
          </a:bodyPr>
          <a:p>
            <a:endParaRPr b="0" lang="en-IN" sz="2800" strike="noStrike" u="none">
              <a:solidFill>
                <a:srgbClr val="000000"/>
              </a:solidFill>
              <a:effectLst/>
              <a:uFillTx/>
              <a:latin typeface="Times New Roman"/>
            </a:endParaRPr>
          </a:p>
        </p:txBody>
      </p:sp>
      <p:sp>
        <p:nvSpPr>
          <p:cNvPr id="113" name="Line 152"/>
          <p:cNvSpPr/>
          <p:nvPr/>
        </p:nvSpPr>
        <p:spPr>
          <a:xfrm flipH="1">
            <a:off x="4723920" y="5181480"/>
            <a:ext cx="685800" cy="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14" name="Freeform 245"/>
          <p:cNvSpPr/>
          <p:nvPr/>
        </p:nvSpPr>
        <p:spPr>
          <a:xfrm rot="10800000">
            <a:off x="3809880" y="4191120"/>
            <a:ext cx="990720" cy="304560"/>
          </a:xfrm>
          <a:custGeom>
            <a:avLst/>
            <a:gdLst>
              <a:gd name="textAreaLeft" fmla="*/ 0 w 990720"/>
              <a:gd name="textAreaRight" fmla="*/ 991080 w 990720"/>
              <a:gd name="textAreaTop" fmla="*/ 0 h 304560"/>
              <a:gd name="textAreaBottom" fmla="*/ 304920 h 304560"/>
              <a:gd name="GluePoint1X" fmla="*/ 0 w 672"/>
              <a:gd name="GluePoint1Y" fmla="*/ 0 h 336"/>
              <a:gd name="GluePoint2X" fmla="*/ 2147483647 w 672"/>
              <a:gd name="GluePoint2Y" fmla="*/ 2147483647 h 336"/>
              <a:gd name="GluePoint3X" fmla="*/ 2147483647 w 672"/>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672" h="336">
                <a:moveTo>
                  <a:pt x="0" y="0"/>
                </a:moveTo>
                <a:cubicBezTo>
                  <a:pt x="160" y="68"/>
                  <a:pt x="320" y="136"/>
                  <a:pt x="432" y="192"/>
                </a:cubicBezTo>
                <a:cubicBezTo>
                  <a:pt x="544" y="248"/>
                  <a:pt x="632" y="312"/>
                  <a:pt x="672" y="336"/>
                </a:cubicBezTo>
              </a:path>
            </a:pathLst>
          </a:custGeom>
          <a:noFill/>
          <a:ln w="38160">
            <a:solidFill>
              <a:srgbClr val="000000"/>
            </a:solidFill>
            <a:prstDash val="sysDot"/>
            <a:round/>
          </a:ln>
        </p:spPr>
        <p:style>
          <a:lnRef idx="0"/>
          <a:fillRef idx="0"/>
          <a:effectRef idx="0"/>
          <a:fontRef idx="minor"/>
        </p:style>
        <p:txBody>
          <a:bodyPr lIns="90000" rIns="90000" tIns="46800" bIns="46800" anchor="t" rot="10800000">
            <a:noAutofit/>
          </a:bodyPr>
          <a:p>
            <a:endParaRPr b="0" lang="en-IN" sz="2800" strike="noStrike" u="none">
              <a:solidFill>
                <a:srgbClr val="000000"/>
              </a:solidFill>
              <a:effectLst/>
              <a:uFillTx/>
              <a:latin typeface="Times New Roman"/>
            </a:endParaRPr>
          </a:p>
        </p:txBody>
      </p:sp>
      <p:sp>
        <p:nvSpPr>
          <p:cNvPr id="115" name="Freeform 246"/>
          <p:cNvSpPr/>
          <p:nvPr/>
        </p:nvSpPr>
        <p:spPr>
          <a:xfrm rot="462600">
            <a:off x="2136240" y="4266720"/>
            <a:ext cx="2664000" cy="381240"/>
          </a:xfrm>
          <a:custGeom>
            <a:avLst/>
            <a:gdLst>
              <a:gd name="textAreaLeft" fmla="*/ 0 w 2664000"/>
              <a:gd name="textAreaRight" fmla="*/ 2664360 w 2664000"/>
              <a:gd name="textAreaTop" fmla="*/ 0 h 381240"/>
              <a:gd name="textAreaBottom" fmla="*/ 381600 h 381240"/>
              <a:gd name="GluePoint1X" fmla="*/ 0 w 960"/>
              <a:gd name="GluePoint1Y" fmla="*/ 0 h 288"/>
              <a:gd name="GluePoint2X" fmla="*/ 2147483647 w 960"/>
              <a:gd name="GluePoint2Y" fmla="*/ 2147483647 h 288"/>
              <a:gd name="GluePoint3X" fmla="*/ 2147483647 w 960"/>
              <a:gd name="GluePoint3Y" fmla="*/ 2147483647 h 288"/>
            </a:gdLst>
            <a:ahLst/>
            <a:cxnLst>
              <a:cxn ang="0">
                <a:pos x="GluePoint1X" y="GluePoint1Y"/>
              </a:cxn>
              <a:cxn ang="0">
                <a:pos x="GluePoint2X" y="GluePoint2Y"/>
              </a:cxn>
              <a:cxn ang="0">
                <a:pos x="GluePoint3X" y="GluePoint3Y"/>
              </a:cxn>
            </a:cxnLst>
            <a:rect l="textAreaLeft" t="textAreaTop" r="textAreaRight" b="textAreaBottom"/>
            <a:pathLst>
              <a:path w="960" h="288">
                <a:moveTo>
                  <a:pt x="0" y="0"/>
                </a:moveTo>
                <a:cubicBezTo>
                  <a:pt x="184" y="72"/>
                  <a:pt x="368" y="144"/>
                  <a:pt x="528" y="192"/>
                </a:cubicBezTo>
                <a:cubicBezTo>
                  <a:pt x="688" y="240"/>
                  <a:pt x="824" y="264"/>
                  <a:pt x="960" y="288"/>
                </a:cubicBezTo>
              </a:path>
            </a:pathLst>
          </a:custGeom>
          <a:noFill/>
          <a:ln w="38160">
            <a:solidFill>
              <a:srgbClr val="000000"/>
            </a:solidFill>
            <a:prstDash val="dash"/>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16" name="Freeform 252"/>
          <p:cNvSpPr/>
          <p:nvPr/>
        </p:nvSpPr>
        <p:spPr>
          <a:xfrm rot="10800000">
            <a:off x="2057400" y="4419360"/>
            <a:ext cx="1828800" cy="533160"/>
          </a:xfrm>
          <a:custGeom>
            <a:avLst/>
            <a:gdLst>
              <a:gd name="textAreaLeft" fmla="*/ 0 w 1828800"/>
              <a:gd name="textAreaRight" fmla="*/ 1829160 w 1828800"/>
              <a:gd name="textAreaTop" fmla="*/ 0 h 533160"/>
              <a:gd name="textAreaBottom" fmla="*/ 533520 h 533160"/>
              <a:gd name="GluePoint1X" fmla="*/ 0 w 672"/>
              <a:gd name="GluePoint1Y" fmla="*/ 0 h 336"/>
              <a:gd name="GluePoint2X" fmla="*/ 2147483647 w 672"/>
              <a:gd name="GluePoint2Y" fmla="*/ 2147483647 h 336"/>
              <a:gd name="GluePoint3X" fmla="*/ 2147483647 w 672"/>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672" h="336">
                <a:moveTo>
                  <a:pt x="0" y="0"/>
                </a:moveTo>
                <a:cubicBezTo>
                  <a:pt x="160" y="68"/>
                  <a:pt x="320" y="136"/>
                  <a:pt x="432" y="192"/>
                </a:cubicBezTo>
                <a:cubicBezTo>
                  <a:pt x="544" y="248"/>
                  <a:pt x="632" y="312"/>
                  <a:pt x="672" y="336"/>
                </a:cubicBezTo>
              </a:path>
            </a:pathLst>
          </a:custGeom>
          <a:noFill/>
          <a:ln w="38160">
            <a:solidFill>
              <a:srgbClr val="000000"/>
            </a:solidFill>
            <a:prstDash val="sysDot"/>
            <a:round/>
          </a:ln>
        </p:spPr>
        <p:style>
          <a:lnRef idx="0"/>
          <a:fillRef idx="0"/>
          <a:effectRef idx="0"/>
          <a:fontRef idx="minor"/>
        </p:style>
        <p:txBody>
          <a:bodyPr lIns="90000" rIns="90000" tIns="46800" bIns="46800" anchor="t" rot="10800000">
            <a:noAutofit/>
          </a:bodyPr>
          <a:p>
            <a:endParaRPr b="0" lang="en-IN" sz="2800" strike="noStrike" u="none">
              <a:solidFill>
                <a:srgbClr val="000000"/>
              </a:solidFill>
              <a:effectLst/>
              <a:uFillTx/>
              <a:latin typeface="Times New Roman"/>
            </a:endParaRPr>
          </a:p>
        </p:txBody>
      </p:sp>
      <p:sp>
        <p:nvSpPr>
          <p:cNvPr id="117" name="Line 152"/>
          <p:cNvSpPr/>
          <p:nvPr/>
        </p:nvSpPr>
        <p:spPr>
          <a:xfrm flipH="1">
            <a:off x="4723920" y="5867280"/>
            <a:ext cx="685800" cy="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18" name="" descr=""/>
          <p:cNvPicPr/>
          <p:nvPr/>
        </p:nvPicPr>
        <p:blipFill>
          <a:blip r:embed="rId1"/>
          <a:stretch/>
        </p:blipFill>
        <p:spPr>
          <a:xfrm>
            <a:off x="1676520" y="1600200"/>
            <a:ext cx="5715000" cy="3124080"/>
          </a:xfrm>
          <a:prstGeom prst="rect">
            <a:avLst/>
          </a:prstGeom>
          <a:noFill/>
          <a:ln w="0">
            <a:noFill/>
          </a:ln>
        </p:spPr>
      </p:pic>
      <p:sp>
        <p:nvSpPr>
          <p:cNvPr id="119" name="Text Box 2"/>
          <p:cNvSpPr/>
          <p:nvPr/>
        </p:nvSpPr>
        <p:spPr>
          <a:xfrm>
            <a:off x="533520" y="0"/>
            <a:ext cx="7010280" cy="10695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IR Temperatures (K) / 200-hPa Velocity Potential Anomalies</a:t>
            </a:r>
            <a:endParaRPr b="0" lang="en-IN" sz="3200" strike="noStrike" u="none">
              <a:solidFill>
                <a:srgbClr val="000000"/>
              </a:solidFill>
              <a:effectLst/>
              <a:uFillTx/>
              <a:latin typeface="Times New Roman"/>
            </a:endParaRPr>
          </a:p>
        </p:txBody>
      </p:sp>
      <p:sp>
        <p:nvSpPr>
          <p:cNvPr id="120" name="Text Box 3"/>
          <p:cNvSpPr/>
          <p:nvPr/>
        </p:nvSpPr>
        <p:spPr>
          <a:xfrm>
            <a:off x="6934320" y="914400"/>
            <a:ext cx="2057400" cy="274680"/>
          </a:xfrm>
          <a:prstGeom prst="rect">
            <a:avLst/>
          </a:prstGeom>
          <a:solidFill>
            <a:srgbClr val="0000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21" name="Text Box 4"/>
          <p:cNvSpPr/>
          <p:nvPr/>
        </p:nvSpPr>
        <p:spPr>
          <a:xfrm>
            <a:off x="6858000" y="76320"/>
            <a:ext cx="2219400" cy="128664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sng">
                <a:solidFill>
                  <a:srgbClr val="ffff00"/>
                </a:solidFill>
                <a:effectLst/>
                <a:uFillTx/>
                <a:latin typeface="Times New Roman"/>
              </a:rPr>
              <a:t>Positive</a:t>
            </a:r>
            <a:r>
              <a:rPr b="1" lang="en-IN" sz="1200" strike="noStrike" u="none">
                <a:solidFill>
                  <a:srgbClr val="ffff00"/>
                </a:solidFill>
                <a:effectLst/>
                <a:uFillTx/>
                <a:latin typeface="Times New Roman"/>
              </a:rPr>
              <a:t> anomalies (brown contours) indicate unfavorable conditions for precipitation</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sng">
                <a:solidFill>
                  <a:srgbClr val="ffff00"/>
                </a:solidFill>
                <a:effectLst/>
                <a:uFillTx/>
                <a:latin typeface="Times New Roman"/>
              </a:rPr>
              <a:t>Negative</a:t>
            </a:r>
            <a:r>
              <a:rPr b="1" lang="en-IN" sz="1200" strike="noStrike" u="none">
                <a:solidFill>
                  <a:srgbClr val="ffff00"/>
                </a:solidFill>
                <a:effectLst/>
                <a:uFillTx/>
                <a:latin typeface="Times New Roman"/>
              </a:rPr>
              <a:t> anomalies (green contours) indicate favorable conditions for precipitation</a:t>
            </a:r>
            <a:endParaRPr b="0" lang="en-IN" sz="1200" strike="noStrike" u="none">
              <a:solidFill>
                <a:srgbClr val="000000"/>
              </a:solidFill>
              <a:effectLst/>
              <a:uFillTx/>
              <a:latin typeface="Times New Roman"/>
            </a:endParaRPr>
          </a:p>
        </p:txBody>
      </p:sp>
      <p:sp>
        <p:nvSpPr>
          <p:cNvPr id="122" name="Text Box 144"/>
          <p:cNvSpPr/>
          <p:nvPr/>
        </p:nvSpPr>
        <p:spPr>
          <a:xfrm>
            <a:off x="1752480" y="4952880"/>
            <a:ext cx="5562720" cy="734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A coherent velocity potential spatial pattern is evident with large-scale anomalous upper-level divergence (convergence) evident over South America/Atlantic Ocean (Indian Ocean/Indonesia).</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23" name="" descr=""/>
          <p:cNvPicPr/>
          <p:nvPr/>
        </p:nvPicPr>
        <p:blipFill>
          <a:blip r:embed="rId1"/>
          <a:stretch/>
        </p:blipFill>
        <p:spPr>
          <a:xfrm>
            <a:off x="317520" y="1270080"/>
            <a:ext cx="5937120" cy="4549680"/>
          </a:xfrm>
          <a:prstGeom prst="rect">
            <a:avLst/>
          </a:prstGeom>
          <a:noFill/>
          <a:ln w="0">
            <a:noFill/>
          </a:ln>
        </p:spPr>
      </p:pic>
      <p:sp>
        <p:nvSpPr>
          <p:cNvPr id="124" name="Text Box 2"/>
          <p:cNvSpPr/>
          <p:nvPr/>
        </p:nvSpPr>
        <p:spPr>
          <a:xfrm>
            <a:off x="1381320" y="30240"/>
            <a:ext cx="705564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200-hPa Vector Wind Anomalies (m s</a:t>
            </a:r>
            <a:r>
              <a:rPr b="1" lang="en-IN" sz="3200" strike="noStrike" u="sng" baseline="30000">
                <a:solidFill>
                  <a:srgbClr val="ffff00"/>
                </a:solidFill>
                <a:effectLst/>
                <a:uFillTx/>
                <a:latin typeface="Times New Roman"/>
              </a:rPr>
              <a:t>-1</a:t>
            </a:r>
            <a:r>
              <a:rPr b="1" lang="en-IN" sz="3200" strike="noStrike" u="sng">
                <a:solidFill>
                  <a:srgbClr val="ffff00"/>
                </a:solidFill>
                <a:effectLst/>
                <a:uFillTx/>
                <a:latin typeface="Times New Roman"/>
              </a:rPr>
              <a:t>)</a:t>
            </a:r>
            <a:endParaRPr b="0" lang="en-IN" sz="3200" strike="noStrike" u="none">
              <a:solidFill>
                <a:srgbClr val="000000"/>
              </a:solidFill>
              <a:effectLst/>
              <a:uFillTx/>
              <a:latin typeface="Times New Roman"/>
            </a:endParaRPr>
          </a:p>
        </p:txBody>
      </p:sp>
      <p:sp>
        <p:nvSpPr>
          <p:cNvPr id="125" name="Text Box 4"/>
          <p:cNvSpPr/>
          <p:nvPr/>
        </p:nvSpPr>
        <p:spPr>
          <a:xfrm>
            <a:off x="6934320" y="685800"/>
            <a:ext cx="2057400" cy="94788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Note that shading denotes the magnitude of anomalous wind vectors</a:t>
            </a:r>
            <a:endParaRPr b="0" lang="en-IN" sz="1400" strike="noStrike" u="none">
              <a:solidFill>
                <a:srgbClr val="000000"/>
              </a:solidFill>
              <a:effectLst/>
              <a:uFillTx/>
              <a:latin typeface="Times New Roman"/>
            </a:endParaRPr>
          </a:p>
        </p:txBody>
      </p:sp>
      <p:sp>
        <p:nvSpPr>
          <p:cNvPr id="126" name="Text Box 150"/>
          <p:cNvSpPr/>
          <p:nvPr/>
        </p:nvSpPr>
        <p:spPr>
          <a:xfrm>
            <a:off x="6400800" y="2486160"/>
            <a:ext cx="2590920" cy="11613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Westerly anomalies continued over the equatorial central Pacific Ocean and relaxed over Central and South America during the last five days.</a:t>
            </a:r>
            <a:endParaRPr b="0" lang="en-IN" sz="1400" strike="noStrike" u="none">
              <a:solidFill>
                <a:srgbClr val="000000"/>
              </a:solidFill>
              <a:effectLst/>
              <a:uFillTx/>
              <a:latin typeface="Times New Roman"/>
            </a:endParaRPr>
          </a:p>
        </p:txBody>
      </p:sp>
      <p:sp>
        <p:nvSpPr>
          <p:cNvPr id="127" name="Line 152"/>
          <p:cNvSpPr/>
          <p:nvPr/>
        </p:nvSpPr>
        <p:spPr>
          <a:xfrm flipH="1">
            <a:off x="5181120" y="3048120"/>
            <a:ext cx="1143000" cy="114300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28" name="Line 152"/>
          <p:cNvSpPr/>
          <p:nvPr/>
        </p:nvSpPr>
        <p:spPr>
          <a:xfrm flipH="1">
            <a:off x="3962160" y="2971800"/>
            <a:ext cx="2361960" cy="1295280"/>
          </a:xfrm>
          <a:prstGeom prst="line">
            <a:avLst/>
          </a:prstGeom>
          <a:ln w="2844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29" name="" descr=""/>
          <p:cNvPicPr/>
          <p:nvPr/>
        </p:nvPicPr>
        <p:blipFill>
          <a:blip r:embed="rId1"/>
          <a:srcRect l="0" t="0" r="0" b="4131"/>
          <a:stretch/>
        </p:blipFill>
        <p:spPr>
          <a:xfrm>
            <a:off x="990720" y="1371600"/>
            <a:ext cx="4698720" cy="4748040"/>
          </a:xfrm>
          <a:prstGeom prst="rect">
            <a:avLst/>
          </a:prstGeom>
          <a:noFill/>
          <a:ln w="0">
            <a:noFill/>
          </a:ln>
        </p:spPr>
      </p:pic>
      <p:sp>
        <p:nvSpPr>
          <p:cNvPr id="130" name="Text Box 2"/>
          <p:cNvSpPr/>
          <p:nvPr/>
        </p:nvSpPr>
        <p:spPr>
          <a:xfrm>
            <a:off x="1447920" y="76320"/>
            <a:ext cx="7238880" cy="581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200-hPa Zonal Wind Anomalies (m s</a:t>
            </a:r>
            <a:r>
              <a:rPr b="1" lang="en-IN" sz="3200" strike="noStrike" u="sng" baseline="30000">
                <a:solidFill>
                  <a:srgbClr val="ffff00"/>
                </a:solidFill>
                <a:effectLst/>
                <a:uFillTx/>
                <a:latin typeface="Times New Roman"/>
              </a:rPr>
              <a:t>-1</a:t>
            </a:r>
            <a:r>
              <a:rPr b="1" lang="en-IN" sz="3200" strike="noStrike" u="sng">
                <a:solidFill>
                  <a:srgbClr val="ffff00"/>
                </a:solidFill>
                <a:effectLst/>
                <a:uFillTx/>
                <a:latin typeface="Times New Roman"/>
              </a:rPr>
              <a:t>)</a:t>
            </a:r>
            <a:endParaRPr b="0" lang="en-IN" sz="3200" strike="noStrike" u="none">
              <a:solidFill>
                <a:srgbClr val="000000"/>
              </a:solidFill>
              <a:effectLst/>
              <a:uFillTx/>
              <a:latin typeface="Times New Roman"/>
            </a:endParaRPr>
          </a:p>
        </p:txBody>
      </p:sp>
      <p:sp>
        <p:nvSpPr>
          <p:cNvPr id="131" name="Text Box 3"/>
          <p:cNvSpPr/>
          <p:nvPr/>
        </p:nvSpPr>
        <p:spPr>
          <a:xfrm>
            <a:off x="2209680" y="6019920"/>
            <a:ext cx="2301840" cy="398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Longitude</a:t>
            </a:r>
            <a:endParaRPr b="0" lang="en-IN" sz="2000" strike="noStrike" u="none">
              <a:solidFill>
                <a:srgbClr val="000000"/>
              </a:solidFill>
              <a:effectLst/>
              <a:uFillTx/>
              <a:latin typeface="Times New Roman"/>
            </a:endParaRPr>
          </a:p>
        </p:txBody>
      </p:sp>
      <p:sp>
        <p:nvSpPr>
          <p:cNvPr id="132" name="Text Box 4"/>
          <p:cNvSpPr/>
          <p:nvPr/>
        </p:nvSpPr>
        <p:spPr>
          <a:xfrm>
            <a:off x="152280" y="2743200"/>
            <a:ext cx="914400" cy="398880"/>
          </a:xfrm>
          <a:prstGeom prst="rect">
            <a:avLst/>
          </a:prstGeom>
          <a:noFill/>
          <a:ln w="0">
            <a:noFill/>
          </a:ln>
        </p:spPr>
        <p:style>
          <a:lnRef idx="0"/>
          <a:fillRef idx="0"/>
          <a:effectRef idx="0"/>
          <a:fontRef idx="minor"/>
        </p:style>
        <p:txBody>
          <a:bodyPr lIns="90000" rIns="90000" tIns="46800" bIns="46800" anchor="t">
            <a:spAutoFit/>
          </a:bodyPr>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Times New Roman"/>
              </a:rPr>
              <a:t>Time</a:t>
            </a:r>
            <a:endParaRPr b="0" lang="en-IN" sz="2000" strike="noStrike" u="none">
              <a:solidFill>
                <a:srgbClr val="000000"/>
              </a:solidFill>
              <a:effectLst/>
              <a:uFillTx/>
              <a:latin typeface="Times New Roman"/>
            </a:endParaRPr>
          </a:p>
        </p:txBody>
      </p:sp>
      <p:sp>
        <p:nvSpPr>
          <p:cNvPr id="133" name="Line 5"/>
          <p:cNvSpPr/>
          <p:nvPr/>
        </p:nvSpPr>
        <p:spPr>
          <a:xfrm>
            <a:off x="609480" y="3200400"/>
            <a:ext cx="0" cy="83808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34" name="Text Box 6"/>
          <p:cNvSpPr/>
          <p:nvPr/>
        </p:nvSpPr>
        <p:spPr>
          <a:xfrm>
            <a:off x="6248520" y="685800"/>
            <a:ext cx="2743200" cy="110376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Westerly anomalies (orange/red shading) represent anomalous west-to-east flow</a:t>
            </a:r>
            <a:endParaRPr b="0" lang="en-IN" sz="1200" strike="noStrike" u="none">
              <a:solidFill>
                <a:srgbClr val="000000"/>
              </a:solidFill>
              <a:effectLst/>
              <a:uFillTx/>
              <a:latin typeface="Times New Roman"/>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00"/>
                </a:solidFill>
                <a:effectLst/>
                <a:uFillTx/>
                <a:latin typeface="Times New Roman"/>
              </a:rPr>
              <a:t>Easterly anomalies (blue shading) represent anomalous east-to-west flow</a:t>
            </a:r>
            <a:endParaRPr b="0" lang="en-IN" sz="1200" strike="noStrike" u="none">
              <a:solidFill>
                <a:srgbClr val="000000"/>
              </a:solidFill>
              <a:effectLst/>
              <a:uFillTx/>
              <a:latin typeface="Times New Roman"/>
            </a:endParaRPr>
          </a:p>
        </p:txBody>
      </p:sp>
      <p:sp>
        <p:nvSpPr>
          <p:cNvPr id="135" name="Text Box 7"/>
          <p:cNvSpPr/>
          <p:nvPr/>
        </p:nvSpPr>
        <p:spPr>
          <a:xfrm>
            <a:off x="6095880" y="1905120"/>
            <a:ext cx="2971800" cy="415008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Westerly and easterly anomalies associated with the MJO activity shifted eastward during October.</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Westerly anomalies strengthened markedly in mid-November near the Date Line and persisted through December. These anomalies are consistent with La Nina conditions. </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Eastward propagation is evident during January associated with MJO activity.</a:t>
            </a: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More recently, easterly anomalies have replaced westerly anomalies just west of the Date Line.</a:t>
            </a:r>
            <a:endParaRPr b="0" lang="en-IN" sz="1400" strike="noStrike" u="none">
              <a:solidFill>
                <a:srgbClr val="000000"/>
              </a:solidFill>
              <a:effectLst/>
              <a:uFillTx/>
              <a:latin typeface="Times New Roman"/>
            </a:endParaRPr>
          </a:p>
        </p:txBody>
      </p:sp>
      <p:sp>
        <p:nvSpPr>
          <p:cNvPr id="136" name="Freeform 182"/>
          <p:cNvSpPr/>
          <p:nvPr/>
        </p:nvSpPr>
        <p:spPr>
          <a:xfrm>
            <a:off x="4267080" y="1676520"/>
            <a:ext cx="990720" cy="228600"/>
          </a:xfrm>
          <a:custGeom>
            <a:avLst/>
            <a:gdLst>
              <a:gd name="textAreaLeft" fmla="*/ 0 w 990720"/>
              <a:gd name="textAreaRight" fmla="*/ 991080 w 990720"/>
              <a:gd name="textAreaTop" fmla="*/ 0 h 228600"/>
              <a:gd name="textAreaBottom" fmla="*/ 228960 h 228600"/>
              <a:gd name="GluePoint1X" fmla="*/ 0 w 1680"/>
              <a:gd name="GluePoint1Y" fmla="*/ 0 h 288"/>
              <a:gd name="GluePoint2X" fmla="*/ 2147483647 w 1680"/>
              <a:gd name="GluePoint2Y" fmla="*/ 2147483647 h 288"/>
              <a:gd name="GluePoint3X" fmla="*/ 2147483647 w 1680"/>
              <a:gd name="GluePoint3Y" fmla="*/ 2147483647 h 288"/>
              <a:gd name="GluePoint4X" fmla="*/ 2147483647 w 1680"/>
              <a:gd name="GluePoint4Y" fmla="*/ 2147483647 h 2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80" h="288">
                <a:moveTo>
                  <a:pt x="0" y="0"/>
                </a:moveTo>
                <a:cubicBezTo>
                  <a:pt x="192" y="52"/>
                  <a:pt x="384" y="104"/>
                  <a:pt x="624" y="144"/>
                </a:cubicBezTo>
                <a:cubicBezTo>
                  <a:pt x="864" y="184"/>
                  <a:pt x="1264" y="216"/>
                  <a:pt x="1440" y="240"/>
                </a:cubicBezTo>
                <a:cubicBezTo>
                  <a:pt x="1616" y="264"/>
                  <a:pt x="1648" y="276"/>
                  <a:pt x="1680" y="288"/>
                </a:cubicBezTo>
              </a:path>
            </a:pathLst>
          </a:custGeom>
          <a:noFill/>
          <a:ln w="38160">
            <a:solidFill>
              <a:srgbClr val="000000"/>
            </a:solidFill>
            <a:prstDash val="dash"/>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37" name="AutoShape 173"/>
          <p:cNvSpPr/>
          <p:nvPr/>
        </p:nvSpPr>
        <p:spPr>
          <a:xfrm>
            <a:off x="5867280" y="1600200"/>
            <a:ext cx="228600" cy="1295280"/>
          </a:xfrm>
          <a:custGeom>
            <a:avLst/>
            <a:gdLst>
              <a:gd name="textAreaLeft" fmla="*/ 0 w 228600"/>
              <a:gd name="textAreaRight" fmla="*/ 82440 w 228600"/>
              <a:gd name="textAreaTop" fmla="*/ 27360 h 1295280"/>
              <a:gd name="textAreaBottom" fmla="*/ 1267920 h 129528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737"/>
                  <a:pt x="10800" y="1473"/>
                </a:cubicBezTo>
                <a:lnTo>
                  <a:pt x="10800" y="9327"/>
                </a:lnTo>
                <a:cubicBezTo>
                  <a:pt x="10800" y="10064"/>
                  <a:pt x="16200" y="10800"/>
                  <a:pt x="21600" y="10800"/>
                </a:cubicBezTo>
                <a:cubicBezTo>
                  <a:pt x="16200" y="10800"/>
                  <a:pt x="10800" y="11537"/>
                  <a:pt x="10800" y="12273"/>
                </a:cubicBezTo>
                <a:lnTo>
                  <a:pt x="10800" y="20127"/>
                </a:lnTo>
                <a:cubicBezTo>
                  <a:pt x="10800" y="20864"/>
                  <a:pt x="5400" y="21600"/>
                  <a:pt x="0" y="21600"/>
                </a:cubicBezTo>
              </a:path>
            </a:pathLst>
          </a:custGeom>
          <a:noFill/>
          <a:ln w="38160">
            <a:solidFill>
              <a:srgbClr val="ff0000"/>
            </a:solidFill>
            <a:miter/>
          </a:ln>
        </p:spPr>
        <p:style>
          <a:lnRef idx="0"/>
          <a:fillRef idx="0"/>
          <a:effectRef idx="0"/>
          <a:fontRef idx="minor"/>
        </p:style>
        <p:txBody>
          <a:bodyPr wrap="none" lIns="90000" rIns="90000" tIns="46800" bIns="46800" anchor="ctr">
            <a:noAutofit/>
          </a:bodyPr>
          <a:p>
            <a:endParaRPr b="0" lang="en-IN" sz="2800" strike="noStrike" u="none">
              <a:solidFill>
                <a:srgbClr val="000000"/>
              </a:solidFill>
              <a:effectLst/>
              <a:uFillTx/>
              <a:latin typeface="Times New Roman"/>
            </a:endParaRPr>
          </a:p>
        </p:txBody>
      </p:sp>
      <p:sp>
        <p:nvSpPr>
          <p:cNvPr id="138" name="Freeform 194"/>
          <p:cNvSpPr/>
          <p:nvPr/>
        </p:nvSpPr>
        <p:spPr>
          <a:xfrm>
            <a:off x="1523880" y="1676520"/>
            <a:ext cx="3733920" cy="685800"/>
          </a:xfrm>
          <a:custGeom>
            <a:avLst/>
            <a:gdLst>
              <a:gd name="textAreaLeft" fmla="*/ 0 w 3733920"/>
              <a:gd name="textAreaRight" fmla="*/ 3734280 w 3733920"/>
              <a:gd name="textAreaTop" fmla="*/ 0 h 685800"/>
              <a:gd name="textAreaBottom" fmla="*/ 686160 h 685800"/>
              <a:gd name="GluePoint1X" fmla="*/ 0 w 1008"/>
              <a:gd name="GluePoint1Y" fmla="*/ 0 h 336"/>
              <a:gd name="GluePoint2X" fmla="*/ 2147483647 w 1008"/>
              <a:gd name="GluePoint2Y" fmla="*/ 2147483647 h 336"/>
              <a:gd name="GluePoint3X" fmla="*/ 2147483647 w 1008"/>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1008" h="336">
                <a:moveTo>
                  <a:pt x="0" y="0"/>
                </a:moveTo>
                <a:cubicBezTo>
                  <a:pt x="156" y="92"/>
                  <a:pt x="312" y="184"/>
                  <a:pt x="480" y="240"/>
                </a:cubicBezTo>
                <a:cubicBezTo>
                  <a:pt x="648" y="296"/>
                  <a:pt x="920" y="320"/>
                  <a:pt x="1008" y="336"/>
                </a:cubicBezTo>
              </a:path>
            </a:pathLst>
          </a:custGeom>
          <a:noFill/>
          <a:ln w="38160">
            <a:solidFill>
              <a:srgbClr val="000000"/>
            </a:solidFill>
            <a:prstDash val="sysDot"/>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39" name="Freeform 197"/>
          <p:cNvSpPr/>
          <p:nvPr/>
        </p:nvSpPr>
        <p:spPr>
          <a:xfrm>
            <a:off x="1523880" y="2157480"/>
            <a:ext cx="1067040" cy="228600"/>
          </a:xfrm>
          <a:custGeom>
            <a:avLst/>
            <a:gdLst>
              <a:gd name="textAreaLeft" fmla="*/ 0 w 1067040"/>
              <a:gd name="textAreaRight" fmla="*/ 1067400 w 1067040"/>
              <a:gd name="textAreaTop" fmla="*/ 0 h 228600"/>
              <a:gd name="textAreaBottom" fmla="*/ 228960 h 228600"/>
              <a:gd name="GluePoint1X" fmla="*/ 0 w 1680"/>
              <a:gd name="GluePoint1Y" fmla="*/ 0 h 288"/>
              <a:gd name="GluePoint2X" fmla="*/ 2147483647 w 1680"/>
              <a:gd name="GluePoint2Y" fmla="*/ 2147483647 h 288"/>
              <a:gd name="GluePoint3X" fmla="*/ 2147483647 w 1680"/>
              <a:gd name="GluePoint3Y" fmla="*/ 2147483647 h 288"/>
              <a:gd name="GluePoint4X" fmla="*/ 2147483647 w 1680"/>
              <a:gd name="GluePoint4Y" fmla="*/ 2147483647 h 2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80" h="288">
                <a:moveTo>
                  <a:pt x="0" y="0"/>
                </a:moveTo>
                <a:cubicBezTo>
                  <a:pt x="192" y="52"/>
                  <a:pt x="384" y="104"/>
                  <a:pt x="624" y="144"/>
                </a:cubicBezTo>
                <a:cubicBezTo>
                  <a:pt x="864" y="184"/>
                  <a:pt x="1264" y="216"/>
                  <a:pt x="1440" y="240"/>
                </a:cubicBezTo>
                <a:cubicBezTo>
                  <a:pt x="1616" y="264"/>
                  <a:pt x="1648" y="276"/>
                  <a:pt x="1680" y="288"/>
                </a:cubicBezTo>
              </a:path>
            </a:pathLst>
          </a:custGeom>
          <a:noFill/>
          <a:ln w="38160">
            <a:solidFill>
              <a:srgbClr val="000000"/>
            </a:solidFill>
            <a:prstDash val="dash"/>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40" name="Line 35"/>
          <p:cNvSpPr/>
          <p:nvPr/>
        </p:nvSpPr>
        <p:spPr>
          <a:xfrm flipH="1" flipV="1">
            <a:off x="4038120" y="3352320"/>
            <a:ext cx="2057400" cy="304920"/>
          </a:xfrm>
          <a:prstGeom prst="line">
            <a:avLst/>
          </a:prstGeom>
          <a:ln w="3168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41" name="Line 237"/>
          <p:cNvSpPr/>
          <p:nvPr/>
        </p:nvSpPr>
        <p:spPr>
          <a:xfrm>
            <a:off x="3886200" y="2590920"/>
            <a:ext cx="0" cy="1371600"/>
          </a:xfrm>
          <a:prstGeom prst="line">
            <a:avLst/>
          </a:prstGeom>
          <a:ln w="38160">
            <a:solidFill>
              <a:srgbClr val="000000"/>
            </a:solidFill>
            <a:prstDash val="sysDot"/>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42" name="Freeform 249"/>
          <p:cNvSpPr/>
          <p:nvPr/>
        </p:nvSpPr>
        <p:spPr>
          <a:xfrm>
            <a:off x="3276720" y="3962520"/>
            <a:ext cx="1904760" cy="533160"/>
          </a:xfrm>
          <a:custGeom>
            <a:avLst/>
            <a:gdLst>
              <a:gd name="textAreaLeft" fmla="*/ 0 w 1904760"/>
              <a:gd name="textAreaRight" fmla="*/ 1905120 w 1904760"/>
              <a:gd name="textAreaTop" fmla="*/ 0 h 533160"/>
              <a:gd name="textAreaBottom" fmla="*/ 533520 h 533160"/>
              <a:gd name="GluePoint1X" fmla="*/ 0 w 1008"/>
              <a:gd name="GluePoint1Y" fmla="*/ 0 h 336"/>
              <a:gd name="GluePoint2X" fmla="*/ 2147483647 w 1008"/>
              <a:gd name="GluePoint2Y" fmla="*/ 2147483647 h 336"/>
              <a:gd name="GluePoint3X" fmla="*/ 2147483647 w 1008"/>
              <a:gd name="GluePoint3Y" fmla="*/ 2147483647 h 336"/>
            </a:gdLst>
            <a:ahLst/>
            <a:cxnLst>
              <a:cxn ang="0">
                <a:pos x="GluePoint1X" y="GluePoint1Y"/>
              </a:cxn>
              <a:cxn ang="0">
                <a:pos x="GluePoint2X" y="GluePoint2Y"/>
              </a:cxn>
              <a:cxn ang="0">
                <a:pos x="GluePoint3X" y="GluePoint3Y"/>
              </a:cxn>
            </a:cxnLst>
            <a:rect l="textAreaLeft" t="textAreaTop" r="textAreaRight" b="textAreaBottom"/>
            <a:pathLst>
              <a:path w="1008" h="336">
                <a:moveTo>
                  <a:pt x="0" y="0"/>
                </a:moveTo>
                <a:cubicBezTo>
                  <a:pt x="156" y="92"/>
                  <a:pt x="312" y="184"/>
                  <a:pt x="480" y="240"/>
                </a:cubicBezTo>
                <a:cubicBezTo>
                  <a:pt x="648" y="296"/>
                  <a:pt x="920" y="320"/>
                  <a:pt x="1008" y="336"/>
                </a:cubicBezTo>
              </a:path>
            </a:pathLst>
          </a:custGeom>
          <a:noFill/>
          <a:ln w="38160">
            <a:solidFill>
              <a:srgbClr val="000000"/>
            </a:solidFill>
            <a:prstDash val="sysDot"/>
            <a:roun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43" name="Line 35"/>
          <p:cNvSpPr/>
          <p:nvPr/>
        </p:nvSpPr>
        <p:spPr>
          <a:xfrm flipH="1" flipV="1">
            <a:off x="5257800" y="4495680"/>
            <a:ext cx="838080" cy="152640"/>
          </a:xfrm>
          <a:prstGeom prst="line">
            <a:avLst/>
          </a:prstGeom>
          <a:ln w="3168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44" name="Line 35"/>
          <p:cNvSpPr/>
          <p:nvPr/>
        </p:nvSpPr>
        <p:spPr>
          <a:xfrm flipH="1">
            <a:off x="3580920" y="5715000"/>
            <a:ext cx="2514600" cy="0"/>
          </a:xfrm>
          <a:prstGeom prst="line">
            <a:avLst/>
          </a:prstGeom>
          <a:ln w="3168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45" name="" descr=""/>
          <p:cNvPicPr/>
          <p:nvPr/>
        </p:nvPicPr>
        <p:blipFill>
          <a:blip r:embed="rId1"/>
          <a:srcRect l="0" t="0" r="0" b="1971"/>
          <a:stretch/>
        </p:blipFill>
        <p:spPr>
          <a:xfrm>
            <a:off x="990720" y="1015920"/>
            <a:ext cx="4698720" cy="5229360"/>
          </a:xfrm>
          <a:prstGeom prst="rect">
            <a:avLst/>
          </a:prstGeom>
          <a:noFill/>
          <a:ln w="0">
            <a:noFill/>
          </a:ln>
        </p:spPr>
      </p:pic>
      <p:sp>
        <p:nvSpPr>
          <p:cNvPr id="146" name="Text Box 2"/>
          <p:cNvSpPr/>
          <p:nvPr/>
        </p:nvSpPr>
        <p:spPr>
          <a:xfrm>
            <a:off x="1371600" y="0"/>
            <a:ext cx="7467480" cy="10695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Weekly Heat Content Evolution</a:t>
            </a:r>
            <a:r>
              <a:rPr b="1" lang="en-IN" sz="3200" strike="noStrike" u="sng">
                <a:solidFill>
                  <a:srgbClr val="ffff99"/>
                </a:solidFill>
                <a:effectLst/>
                <a:uFillTx/>
                <a:latin typeface="Times New Roman"/>
              </a:rPr>
              <a:t> </a:t>
            </a:r>
            <a:br>
              <a:rPr sz="3200"/>
            </a:br>
            <a:r>
              <a:rPr b="1" lang="en-IN" sz="3200" strike="noStrike" u="sng">
                <a:solidFill>
                  <a:srgbClr val="ffff00"/>
                </a:solidFill>
                <a:effectLst/>
                <a:uFillTx/>
                <a:latin typeface="Times New Roman"/>
              </a:rPr>
              <a:t>in the Equatorial Pacific</a:t>
            </a:r>
            <a:endParaRPr b="0" lang="en-IN" sz="3200" strike="noStrike" u="none">
              <a:solidFill>
                <a:srgbClr val="000000"/>
              </a:solidFill>
              <a:effectLst/>
              <a:uFillTx/>
              <a:latin typeface="Times New Roman"/>
            </a:endParaRPr>
          </a:p>
        </p:txBody>
      </p:sp>
      <p:sp>
        <p:nvSpPr>
          <p:cNvPr id="147" name="Text Box 5"/>
          <p:cNvSpPr/>
          <p:nvPr/>
        </p:nvSpPr>
        <p:spPr>
          <a:xfrm>
            <a:off x="1905120" y="6248520"/>
            <a:ext cx="297180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Longitude</a:t>
            </a:r>
            <a:endParaRPr b="0" lang="en-IN" sz="2400" strike="noStrike" u="none">
              <a:solidFill>
                <a:srgbClr val="000000"/>
              </a:solidFill>
              <a:effectLst/>
              <a:uFillTx/>
              <a:latin typeface="Times New Roman"/>
            </a:endParaRPr>
          </a:p>
        </p:txBody>
      </p:sp>
      <p:sp>
        <p:nvSpPr>
          <p:cNvPr id="148" name="Text Box 6"/>
          <p:cNvSpPr/>
          <p:nvPr/>
        </p:nvSpPr>
        <p:spPr>
          <a:xfrm>
            <a:off x="152280" y="2743200"/>
            <a:ext cx="9144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Time</a:t>
            </a:r>
            <a:endParaRPr b="0" lang="en-IN" sz="2400" strike="noStrike" u="none">
              <a:solidFill>
                <a:srgbClr val="000000"/>
              </a:solidFill>
              <a:effectLst/>
              <a:uFillTx/>
              <a:latin typeface="Times New Roman"/>
            </a:endParaRPr>
          </a:p>
        </p:txBody>
      </p:sp>
      <p:sp>
        <p:nvSpPr>
          <p:cNvPr id="149" name="Line 7"/>
          <p:cNvSpPr/>
          <p:nvPr/>
        </p:nvSpPr>
        <p:spPr>
          <a:xfrm>
            <a:off x="609480" y="3200400"/>
            <a:ext cx="0" cy="76212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50" name="Text Box 36"/>
          <p:cNvSpPr/>
          <p:nvPr/>
        </p:nvSpPr>
        <p:spPr>
          <a:xfrm>
            <a:off x="5791320" y="1752480"/>
            <a:ext cx="3200400" cy="3741120"/>
          </a:xfrm>
          <a:prstGeom prst="rect">
            <a:avLst/>
          </a:prstGeom>
          <a:solidFill>
            <a:srgbClr val="0000ff"/>
          </a:solid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ea typeface="Times New Roman"/>
              </a:rPr>
              <a:t>During June and July 2008, positive heat content anomalies encompassed much of the Pacific basin.</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ea typeface="Times New Roman"/>
              </a:rPr>
              <a:t>During August 2008, negative anomalies started to develop east of the Date Line and have increased and expanded eastward. There was a pause in this increase during October as a Kelvin wave shifted eastward.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ea typeface="Times New Roman"/>
              </a:rPr>
              <a:t>During November 2008 – January 2009, negative anomalies increased across the Pacific but became less negative during February.</a:t>
            </a:r>
            <a:endParaRPr b="0" lang="en-IN" sz="1400" strike="noStrike" u="none">
              <a:solidFill>
                <a:srgbClr val="000000"/>
              </a:solidFill>
              <a:effectLst/>
              <a:uFillTx/>
              <a:latin typeface="Times New Roman"/>
            </a:endParaRPr>
          </a:p>
        </p:txBody>
      </p:sp>
      <p:sp>
        <p:nvSpPr>
          <p:cNvPr id="151" name="Line 96"/>
          <p:cNvSpPr/>
          <p:nvPr/>
        </p:nvSpPr>
        <p:spPr>
          <a:xfrm flipH="1">
            <a:off x="4343400" y="2057400"/>
            <a:ext cx="1447920" cy="228600"/>
          </a:xfrm>
          <a:prstGeom prst="line">
            <a:avLst/>
          </a:prstGeom>
          <a:ln w="3168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52" name="Line 112"/>
          <p:cNvSpPr/>
          <p:nvPr/>
        </p:nvSpPr>
        <p:spPr>
          <a:xfrm>
            <a:off x="2209680" y="1752480"/>
            <a:ext cx="1676520" cy="45720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53" name="Line 96"/>
          <p:cNvSpPr/>
          <p:nvPr/>
        </p:nvSpPr>
        <p:spPr>
          <a:xfrm flipH="1">
            <a:off x="3657240" y="3733920"/>
            <a:ext cx="2133720" cy="75960"/>
          </a:xfrm>
          <a:prstGeom prst="line">
            <a:avLst/>
          </a:prstGeom>
          <a:ln w="31680">
            <a:solidFill>
              <a:srgbClr val="ff0000"/>
            </a:solidFill>
            <a:miter/>
            <a:tailEnd len="med" type="triangle" w="med"/>
          </a:ln>
        </p:spPr>
        <p:style>
          <a:lnRef idx="0"/>
          <a:fillRef idx="0"/>
          <a:effectRef idx="0"/>
          <a:fontRef idx="minor"/>
        </p:style>
        <p:txBody>
          <a:bodyPr lIns="90000" rIns="90000" tIns="29160" bIns="29160" anchor="t">
            <a:noAutofit/>
          </a:bodyPr>
          <a:p>
            <a:endParaRPr b="0" lang="en-IN" sz="2800" strike="noStrike" u="none">
              <a:solidFill>
                <a:srgbClr val="000000"/>
              </a:solidFill>
              <a:effectLst/>
              <a:uFillTx/>
              <a:latin typeface="Times New Roman"/>
            </a:endParaRPr>
          </a:p>
        </p:txBody>
      </p:sp>
      <p:sp>
        <p:nvSpPr>
          <p:cNvPr id="154" name="Line 112"/>
          <p:cNvSpPr/>
          <p:nvPr/>
        </p:nvSpPr>
        <p:spPr>
          <a:xfrm>
            <a:off x="2286000" y="3505320"/>
            <a:ext cx="1905120" cy="53316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
        <p:nvSpPr>
          <p:cNvPr id="155" name="Line 96"/>
          <p:cNvSpPr/>
          <p:nvPr/>
        </p:nvSpPr>
        <p:spPr>
          <a:xfrm flipH="1" flipV="1">
            <a:off x="4419720" y="4876560"/>
            <a:ext cx="1371600" cy="75960"/>
          </a:xfrm>
          <a:prstGeom prst="line">
            <a:avLst/>
          </a:prstGeom>
          <a:ln w="31680">
            <a:solidFill>
              <a:srgbClr val="ff0000"/>
            </a:solidFill>
            <a:miter/>
            <a:tailEnd len="med" type="triangle" w="med"/>
          </a:ln>
        </p:spPr>
        <p:style>
          <a:lnRef idx="0"/>
          <a:fillRef idx="0"/>
          <a:effectRef idx="0"/>
          <a:fontRef idx="minor"/>
        </p:style>
        <p:txBody>
          <a:bodyPr lIns="90000" rIns="90000" tIns="29160" bIns="29160" anchor="t">
            <a:noAutofit/>
          </a:bodyPr>
          <a:p>
            <a:endParaRPr b="0" lang="en-IN" sz="2800" strike="noStrike" u="none">
              <a:solidFill>
                <a:srgbClr val="000000"/>
              </a:solidFill>
              <a:effectLst/>
              <a:uFillTx/>
              <a:latin typeface="Times New Roman"/>
            </a:endParaRPr>
          </a:p>
        </p:txBody>
      </p:sp>
      <p:sp>
        <p:nvSpPr>
          <p:cNvPr id="156" name="Line 112"/>
          <p:cNvSpPr/>
          <p:nvPr/>
        </p:nvSpPr>
        <p:spPr>
          <a:xfrm>
            <a:off x="2362320" y="4876920"/>
            <a:ext cx="2152440" cy="609480"/>
          </a:xfrm>
          <a:prstGeom prst="line">
            <a:avLst/>
          </a:prstGeom>
          <a:ln w="31680">
            <a:solidFill>
              <a:srgbClr val="000000"/>
            </a:solidFill>
            <a:prstDash val="dash"/>
            <a:miter/>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57" name="Text Box 2"/>
          <p:cNvSpPr/>
          <p:nvPr/>
        </p:nvSpPr>
        <p:spPr>
          <a:xfrm>
            <a:off x="2284200" y="0"/>
            <a:ext cx="478080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MJO Index -- Information</a:t>
            </a:r>
            <a:endParaRPr b="0" lang="en-IN" sz="3200" strike="noStrike" u="none">
              <a:solidFill>
                <a:srgbClr val="000000"/>
              </a:solidFill>
              <a:effectLst/>
              <a:uFillTx/>
              <a:latin typeface="Times New Roman"/>
            </a:endParaRPr>
          </a:p>
        </p:txBody>
      </p:sp>
      <p:sp>
        <p:nvSpPr>
          <p:cNvPr id="158" name="Text Box 4"/>
          <p:cNvSpPr/>
          <p:nvPr/>
        </p:nvSpPr>
        <p:spPr>
          <a:xfrm>
            <a:off x="533520" y="1371600"/>
            <a:ext cx="8076960" cy="4538880"/>
          </a:xfrm>
          <a:prstGeom prst="rect">
            <a:avLst/>
          </a:prstGeom>
          <a:noFill/>
          <a:ln w="0">
            <a:noFill/>
          </a:ln>
        </p:spPr>
        <p:style>
          <a:lnRef idx="0"/>
          <a:fillRef idx="0"/>
          <a:effectRef idx="0"/>
          <a:fontRef idx="minor"/>
        </p:style>
        <p:txBody>
          <a:bodyPr lIns="90000" rIns="90000" tIns="46800" bIns="46800" anchor="t">
            <a:spAutoFit/>
          </a:bodyPr>
          <a:p>
            <a:pPr>
              <a:spcBef>
                <a:spcPts val="125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ff"/>
                </a:solidFill>
                <a:effectLst/>
                <a:uFillTx/>
                <a:latin typeface="Times New Roman"/>
              </a:rPr>
              <a:t>  </a:t>
            </a:r>
            <a:r>
              <a:rPr b="1" lang="en-US" sz="2000" strike="noStrike" u="none">
                <a:solidFill>
                  <a:srgbClr val="ffffff"/>
                </a:solidFill>
                <a:effectLst/>
                <a:uFillTx/>
                <a:latin typeface="Times New Roman"/>
              </a:rPr>
              <a:t>The MJO index illustrated on the next several slides is the CPC version of the Wheeler and Hendon index (2004, hereafter WH2004). </a:t>
            </a:r>
            <a:endParaRPr b="0" lang="en-IN" sz="2000" strike="noStrike" u="none">
              <a:solidFill>
                <a:srgbClr val="000000"/>
              </a:solidFill>
              <a:effectLst/>
              <a:uFillTx/>
              <a:latin typeface="Times New Roman"/>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Times New Roman"/>
              </a:rPr>
              <a:t>Wheeler M. and H. Hendon, 2004: An All-Season Real-Time Multivariate MJO Index: Development of an Index for Monitoring and Prediction, </a:t>
            </a:r>
            <a:r>
              <a:rPr b="1" i="1" lang="en-US" sz="1800" strike="noStrike" u="none">
                <a:solidFill>
                  <a:srgbClr val="ffff00"/>
                </a:solidFill>
                <a:effectLst/>
                <a:uFillTx/>
                <a:latin typeface="Times New Roman"/>
              </a:rPr>
              <a:t>Monthly Weather Review,</a:t>
            </a:r>
            <a:r>
              <a:rPr b="1" lang="en-US" sz="1800" strike="noStrike" u="none">
                <a:solidFill>
                  <a:srgbClr val="ffff00"/>
                </a:solidFill>
                <a:effectLst/>
                <a:uFillTx/>
                <a:latin typeface="Times New Roman"/>
              </a:rPr>
              <a:t> 132, 1917-1932. </a:t>
            </a:r>
            <a:endParaRPr b="0" lang="en-IN" sz="1800" strike="noStrike" u="none">
              <a:solidFill>
                <a:srgbClr val="000000"/>
              </a:solidFill>
              <a:effectLst/>
              <a:uFillTx/>
              <a:latin typeface="Times New Roman"/>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a:spcBef>
                <a:spcPts val="125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Times New Roman"/>
              </a:rPr>
              <a:t>  The methodology is nearly identical to that described in WH2004 but small deviations from the BMRC figure are possible at times due to differences in input data and methodology. These typically occur during weak MJO periods.</a:t>
            </a:r>
            <a:endParaRPr b="0" lang="en-IN" sz="2000" strike="noStrike" u="none">
              <a:solidFill>
                <a:srgbClr val="000000"/>
              </a:solidFill>
              <a:effectLst/>
              <a:uFillTx/>
              <a:latin typeface="Times New Roman"/>
            </a:endParaRPr>
          </a:p>
          <a:p>
            <a:pPr>
              <a:spcBef>
                <a:spcPts val="125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Times New Roman"/>
              </a:rPr>
              <a:t>  The index is based on a combined Empirical Orthogonal Function (EOF) analysis using fields of near-equatorially-averaged 850-hPa and 200-hPa zonal wind and outgoing longwave radiation (OLR).</a:t>
            </a:r>
            <a:endParaRPr b="0" lang="en-IN" sz="20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59" name="" descr=""/>
          <p:cNvPicPr/>
          <p:nvPr/>
        </p:nvPicPr>
        <p:blipFill>
          <a:blip r:embed="rId1"/>
          <a:stretch/>
        </p:blipFill>
        <p:spPr>
          <a:xfrm>
            <a:off x="190440" y="1270080"/>
            <a:ext cx="4699080" cy="5333760"/>
          </a:xfrm>
          <a:prstGeom prst="rect">
            <a:avLst/>
          </a:prstGeom>
          <a:noFill/>
          <a:ln w="0">
            <a:noFill/>
          </a:ln>
        </p:spPr>
      </p:pic>
      <p:sp>
        <p:nvSpPr>
          <p:cNvPr id="160" name="Text Box 2"/>
          <p:cNvSpPr/>
          <p:nvPr/>
        </p:nvSpPr>
        <p:spPr>
          <a:xfrm>
            <a:off x="1902960" y="0"/>
            <a:ext cx="575280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MJO Index -- Recent Evolution </a:t>
            </a:r>
            <a:endParaRPr b="0" lang="en-IN" sz="3200" strike="noStrike" u="none">
              <a:solidFill>
                <a:srgbClr val="000000"/>
              </a:solidFill>
              <a:effectLst/>
              <a:uFillTx/>
              <a:latin typeface="Times New Roman"/>
            </a:endParaRPr>
          </a:p>
        </p:txBody>
      </p:sp>
      <p:sp>
        <p:nvSpPr>
          <p:cNvPr id="161" name="Text Box 3"/>
          <p:cNvSpPr/>
          <p:nvPr/>
        </p:nvSpPr>
        <p:spPr>
          <a:xfrm>
            <a:off x="5410080" y="4343400"/>
            <a:ext cx="3048120" cy="73440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The MJO index shows moderate activity that has shifted from phase 5 to phase 8 during the past week.</a:t>
            </a:r>
            <a:endParaRPr b="0" lang="en-IN" sz="1400" strike="noStrike" u="none">
              <a:solidFill>
                <a:srgbClr val="000000"/>
              </a:solidFill>
              <a:effectLst/>
              <a:uFillTx/>
              <a:latin typeface="Times New Roman"/>
            </a:endParaRPr>
          </a:p>
        </p:txBody>
      </p:sp>
      <p:sp>
        <p:nvSpPr>
          <p:cNvPr id="162" name="Text Box 14"/>
          <p:cNvSpPr/>
          <p:nvPr/>
        </p:nvSpPr>
        <p:spPr>
          <a:xfrm>
            <a:off x="5029200" y="762120"/>
            <a:ext cx="3962520" cy="2823840"/>
          </a:xfrm>
          <a:prstGeom prst="rect">
            <a:avLst/>
          </a:prstGeom>
          <a:solidFill>
            <a:srgbClr val="ccffff"/>
          </a:solidFill>
          <a:ln w="25560">
            <a:solidFill>
              <a:srgbClr val="000000"/>
            </a:solidFill>
            <a:miter/>
          </a:ln>
        </p:spPr>
        <p:style>
          <a:lnRef idx="0"/>
          <a:fillRef idx="0"/>
          <a:effectRef idx="0"/>
          <a:fontRef idx="minor"/>
        </p:style>
        <p:txBody>
          <a:bodyPr lIns="90000" rIns="90000" tIns="0" bIns="0" anchor="t">
            <a:spAutoFit/>
          </a:bodyPr>
          <a:p>
            <a:pPr>
              <a:spcBef>
                <a:spcPts val="876"/>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Times New Roman"/>
              </a:rPr>
              <a:t> </a:t>
            </a:r>
            <a:r>
              <a:rPr b="1" lang="en-IN" sz="1400" strike="noStrike" u="none">
                <a:solidFill>
                  <a:srgbClr val="000000"/>
                </a:solidFill>
                <a:effectLst/>
                <a:uFillTx/>
                <a:latin typeface="Times New Roman"/>
              </a:rPr>
              <a:t>The axes (RMM1 and RMM2) represent daily values of the principal components from the two leading modes </a:t>
            </a:r>
            <a:endParaRPr b="0" lang="en-IN" sz="1400" strike="noStrike" u="none">
              <a:solidFill>
                <a:srgbClr val="000000"/>
              </a:solidFill>
              <a:effectLst/>
              <a:uFillTx/>
              <a:latin typeface="Times New Roman"/>
            </a:endParaRPr>
          </a:p>
          <a:p>
            <a:pPr>
              <a:spcBef>
                <a:spcPts val="876"/>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Times New Roman"/>
              </a:rPr>
              <a:t> The triangular areas indicate the location of the enhanced phase of the MJO</a:t>
            </a:r>
            <a:endParaRPr b="0" lang="en-IN" sz="1400" strike="noStrike" u="none">
              <a:solidFill>
                <a:srgbClr val="000000"/>
              </a:solidFill>
              <a:effectLst/>
              <a:uFillTx/>
              <a:latin typeface="Times New Roman"/>
            </a:endParaRPr>
          </a:p>
          <a:p>
            <a:pPr>
              <a:spcBef>
                <a:spcPts val="876"/>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Times New Roman"/>
              </a:rPr>
              <a:t> Counter-clockwise motion is indicative of eastward propagation. Large dot most recent observation.</a:t>
            </a:r>
            <a:endParaRPr b="0" lang="en-IN" sz="1400" strike="noStrike" u="none">
              <a:solidFill>
                <a:srgbClr val="000000"/>
              </a:solidFill>
              <a:effectLst/>
              <a:uFillTx/>
              <a:latin typeface="Times New Roman"/>
            </a:endParaRPr>
          </a:p>
          <a:p>
            <a:pPr>
              <a:spcBef>
                <a:spcPts val="876"/>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Times New Roman"/>
              </a:rPr>
              <a:t> Distance from the origin is proportional to MJO strength</a:t>
            </a:r>
            <a:endParaRPr b="0" lang="en-IN" sz="1400" strike="noStrike" u="none">
              <a:solidFill>
                <a:srgbClr val="000000"/>
              </a:solidFill>
              <a:effectLst/>
              <a:uFillTx/>
              <a:latin typeface="Times New Roman"/>
            </a:endParaRPr>
          </a:p>
          <a:p>
            <a:pPr>
              <a:spcBef>
                <a:spcPts val="876"/>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Times New Roman"/>
              </a:rPr>
              <a:t> Line colors distinguish different months</a:t>
            </a:r>
            <a:endParaRPr b="0" lang="en-IN" sz="1400" strike="noStrike" u="none">
              <a:solidFill>
                <a:srgbClr val="000000"/>
              </a:solidFill>
              <a:effectLst/>
              <a:uFillTx/>
              <a:latin typeface="Times New Roman"/>
            </a:endParaRPr>
          </a:p>
        </p:txBody>
      </p:sp>
      <p:sp>
        <p:nvSpPr>
          <p:cNvPr id="163" name="Line 35"/>
          <p:cNvSpPr/>
          <p:nvPr/>
        </p:nvSpPr>
        <p:spPr>
          <a:xfrm flipH="1" flipV="1">
            <a:off x="1828440" y="3733920"/>
            <a:ext cx="3505320" cy="914400"/>
          </a:xfrm>
          <a:prstGeom prst="line">
            <a:avLst/>
          </a:prstGeom>
          <a:ln w="3168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64" name="" descr=""/>
          <p:cNvPicPr/>
          <p:nvPr/>
        </p:nvPicPr>
        <p:blipFill>
          <a:blip r:embed="rId1"/>
          <a:stretch/>
        </p:blipFill>
        <p:spPr>
          <a:xfrm>
            <a:off x="4826160" y="1270080"/>
            <a:ext cx="4203720" cy="4788000"/>
          </a:xfrm>
          <a:prstGeom prst="rect">
            <a:avLst/>
          </a:prstGeom>
          <a:noFill/>
          <a:ln w="0">
            <a:noFill/>
          </a:ln>
        </p:spPr>
      </p:pic>
      <p:pic>
        <p:nvPicPr>
          <p:cNvPr id="165" name="" descr=""/>
          <p:cNvPicPr/>
          <p:nvPr/>
        </p:nvPicPr>
        <p:blipFill>
          <a:blip r:embed="rId2"/>
          <a:srcRect l="1254" t="0" r="1881" b="0"/>
          <a:stretch/>
        </p:blipFill>
        <p:spPr>
          <a:xfrm>
            <a:off x="243000" y="1270080"/>
            <a:ext cx="4071960" cy="4788000"/>
          </a:xfrm>
          <a:prstGeom prst="rect">
            <a:avLst/>
          </a:prstGeom>
          <a:noFill/>
          <a:ln w="0">
            <a:noFill/>
          </a:ln>
        </p:spPr>
      </p:pic>
      <p:sp>
        <p:nvSpPr>
          <p:cNvPr id="166" name="Text Box 2"/>
          <p:cNvSpPr/>
          <p:nvPr/>
        </p:nvSpPr>
        <p:spPr>
          <a:xfrm>
            <a:off x="1370160" y="0"/>
            <a:ext cx="748152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MJO Index – Historical Daily Time Series</a:t>
            </a:r>
            <a:endParaRPr b="0" lang="en-IN" sz="3200" strike="noStrike" u="none">
              <a:solidFill>
                <a:srgbClr val="000000"/>
              </a:solidFill>
              <a:effectLst/>
              <a:uFillTx/>
              <a:latin typeface="Times New Roman"/>
            </a:endParaRPr>
          </a:p>
        </p:txBody>
      </p:sp>
      <p:sp>
        <p:nvSpPr>
          <p:cNvPr id="167" name="Text Box 4"/>
          <p:cNvSpPr/>
          <p:nvPr/>
        </p:nvSpPr>
        <p:spPr>
          <a:xfrm>
            <a:off x="1847880" y="6175440"/>
            <a:ext cx="5838840" cy="82512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00"/>
                </a:solidFill>
                <a:effectLst/>
                <a:uFillTx/>
                <a:latin typeface="Times New Roman"/>
              </a:rPr>
              <a:t>Time series of daily MJO index amplitude from 1995 to present.                                                    Plots put current MJO activity in historical context.</a:t>
            </a:r>
            <a:endParaRPr b="0" lang="en-IN"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68" name="" descr=""/>
          <p:cNvPicPr/>
          <p:nvPr/>
        </p:nvPicPr>
        <p:blipFill>
          <a:blip r:embed="rId1"/>
          <a:stretch/>
        </p:blipFill>
        <p:spPr>
          <a:xfrm>
            <a:off x="4191120" y="1397160"/>
            <a:ext cx="4698720" cy="5333760"/>
          </a:xfrm>
          <a:prstGeom prst="rect">
            <a:avLst/>
          </a:prstGeom>
          <a:noFill/>
          <a:ln w="0">
            <a:noFill/>
          </a:ln>
        </p:spPr>
      </p:pic>
      <p:sp>
        <p:nvSpPr>
          <p:cNvPr id="169" name="Text Box 2"/>
          <p:cNvSpPr/>
          <p:nvPr/>
        </p:nvSpPr>
        <p:spPr>
          <a:xfrm>
            <a:off x="1597320" y="0"/>
            <a:ext cx="680364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Ensemble GFS (GEFS) MJO Forecast</a:t>
            </a:r>
            <a:endParaRPr b="0" lang="en-IN" sz="3200" strike="noStrike" u="none">
              <a:solidFill>
                <a:srgbClr val="000000"/>
              </a:solidFill>
              <a:effectLst/>
              <a:uFillTx/>
              <a:latin typeface="Times New Roman"/>
            </a:endParaRPr>
          </a:p>
        </p:txBody>
      </p:sp>
      <p:sp>
        <p:nvSpPr>
          <p:cNvPr id="170" name="Text Box 3"/>
          <p:cNvSpPr/>
          <p:nvPr/>
        </p:nvSpPr>
        <p:spPr>
          <a:xfrm>
            <a:off x="457200" y="3886200"/>
            <a:ext cx="3048120" cy="947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The GEFS forecasts predict the MJO signal to continue at current strength during Week 1 and then weaken as it shifts to the Indian Ocean in Week 2.</a:t>
            </a:r>
            <a:endParaRPr b="0" lang="en-IN" sz="1400" strike="noStrike" u="none">
              <a:solidFill>
                <a:srgbClr val="000000"/>
              </a:solidFill>
              <a:effectLst/>
              <a:uFillTx/>
              <a:latin typeface="Times New Roman"/>
            </a:endParaRPr>
          </a:p>
        </p:txBody>
      </p:sp>
      <p:sp>
        <p:nvSpPr>
          <p:cNvPr id="171" name="Text Box 5"/>
          <p:cNvSpPr/>
          <p:nvPr/>
        </p:nvSpPr>
        <p:spPr>
          <a:xfrm>
            <a:off x="104760" y="1371600"/>
            <a:ext cx="3857760" cy="127260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RMM1 and RMM2 values for the most recent 40 days and forecasts from the ensemble Global Forecast System (GEFS) for the next 15 days</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sng">
                <a:solidFill>
                  <a:srgbClr val="ffffff"/>
                </a:solidFill>
                <a:effectLst/>
                <a:uFillTx/>
                <a:latin typeface="Times New Roman"/>
              </a:rPr>
              <a:t>light gray shading</a:t>
            </a:r>
            <a:r>
              <a:rPr b="1" lang="en-IN" sz="1400" strike="noStrike" u="none">
                <a:solidFill>
                  <a:srgbClr val="ffffff"/>
                </a:solidFill>
                <a:effectLst/>
                <a:uFillTx/>
                <a:latin typeface="Times New Roman"/>
              </a:rPr>
              <a:t>: 90% of forecasts                     </a:t>
            </a:r>
            <a:r>
              <a:rPr b="1" lang="en-IN" sz="1400" strike="noStrike" u="sng">
                <a:solidFill>
                  <a:srgbClr val="ffffff"/>
                </a:solidFill>
                <a:effectLst/>
                <a:uFillTx/>
                <a:latin typeface="Times New Roman"/>
              </a:rPr>
              <a:t>dark gray shading</a:t>
            </a:r>
            <a:r>
              <a:rPr b="1" lang="en-IN" sz="1400" strike="noStrike" u="none">
                <a:solidFill>
                  <a:srgbClr val="ffffff"/>
                </a:solidFill>
                <a:effectLst/>
                <a:uFillTx/>
                <a:latin typeface="Times New Roman"/>
              </a:rPr>
              <a:t>: 50% of forecasts</a:t>
            </a:r>
            <a:endParaRPr b="0" lang="en-IN" sz="1400" strike="noStrike" u="none">
              <a:solidFill>
                <a:srgbClr val="000000"/>
              </a:solidFill>
              <a:effectLst/>
              <a:uFillTx/>
              <a:latin typeface="Times New Roman"/>
            </a:endParaRPr>
          </a:p>
        </p:txBody>
      </p:sp>
      <p:sp>
        <p:nvSpPr>
          <p:cNvPr id="172" name="Text Box 6"/>
          <p:cNvSpPr/>
          <p:nvPr/>
        </p:nvSpPr>
        <p:spPr>
          <a:xfrm>
            <a:off x="4572000" y="609480"/>
            <a:ext cx="4267080" cy="642600"/>
          </a:xfrm>
          <a:prstGeom prst="rect">
            <a:avLst/>
          </a:prstGeom>
          <a:solidFill>
            <a:srgbClr val="ffffff"/>
          </a:solidFill>
          <a:ln w="25560">
            <a:solidFill>
              <a:srgbClr val="000000"/>
            </a:solidFill>
            <a:miter/>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sng">
                <a:solidFill>
                  <a:srgbClr val="000000"/>
                </a:solidFill>
                <a:effectLst/>
                <a:uFillTx/>
                <a:latin typeface="Times New Roman"/>
              </a:rPr>
              <a:t>Yellow Lines</a:t>
            </a:r>
            <a:r>
              <a:rPr b="1" lang="en-IN" sz="1800" strike="noStrike" u="none">
                <a:solidFill>
                  <a:srgbClr val="000000"/>
                </a:solidFill>
                <a:effectLst/>
                <a:uFillTx/>
                <a:latin typeface="Times New Roman"/>
              </a:rPr>
              <a:t>  – 20 Individual Members             </a:t>
            </a:r>
            <a:r>
              <a:rPr b="1" lang="en-IN" sz="1800" strike="noStrike" u="sng">
                <a:solidFill>
                  <a:srgbClr val="000000"/>
                </a:solidFill>
                <a:effectLst/>
                <a:uFillTx/>
                <a:latin typeface="Times New Roman"/>
              </a:rPr>
              <a:t>Green Line</a:t>
            </a:r>
            <a:r>
              <a:rPr b="1" lang="en-IN" sz="1800" strike="noStrike" u="none">
                <a:solidFill>
                  <a:srgbClr val="000000"/>
                </a:solidFill>
                <a:effectLst/>
                <a:uFillTx/>
                <a:latin typeface="Times New Roman"/>
              </a:rPr>
              <a:t> – Ensemble Mean</a:t>
            </a:r>
            <a:endParaRPr b="0" lang="en-IN" sz="1800" strike="noStrike" u="none">
              <a:solidFill>
                <a:srgbClr val="000000"/>
              </a:solidFill>
              <a:effectLst/>
              <a:uFillTx/>
              <a:latin typeface="Times New Roman"/>
            </a:endParaRPr>
          </a:p>
        </p:txBody>
      </p:sp>
      <p:sp>
        <p:nvSpPr>
          <p:cNvPr id="173" name="Line 35"/>
          <p:cNvSpPr/>
          <p:nvPr/>
        </p:nvSpPr>
        <p:spPr>
          <a:xfrm>
            <a:off x="3581280" y="4419720"/>
            <a:ext cx="1752840" cy="75960"/>
          </a:xfrm>
          <a:prstGeom prst="line">
            <a:avLst/>
          </a:prstGeom>
          <a:ln w="31680">
            <a:solidFill>
              <a:srgbClr val="ff0000"/>
            </a:solidFill>
            <a:miter/>
            <a:tailEnd len="med" type="triangle" w="med"/>
          </a:ln>
        </p:spPr>
        <p:style>
          <a:lnRef idx="0"/>
          <a:fillRef idx="0"/>
          <a:effectRef idx="0"/>
          <a:fontRef idx="minor"/>
        </p:style>
        <p:txBody>
          <a:bodyPr lIns="90000" rIns="90000" tIns="29160" bIns="29160" anchor="t">
            <a:noAutofit/>
          </a:bodyPr>
          <a:p>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74" name="" descr=""/>
          <p:cNvPicPr/>
          <p:nvPr/>
        </p:nvPicPr>
        <p:blipFill>
          <a:blip r:embed="rId1"/>
          <a:stretch/>
        </p:blipFill>
        <p:spPr>
          <a:xfrm>
            <a:off x="4381560" y="1905120"/>
            <a:ext cx="4241880" cy="4787640"/>
          </a:xfrm>
          <a:prstGeom prst="rect">
            <a:avLst/>
          </a:prstGeom>
          <a:noFill/>
          <a:ln w="0">
            <a:noFill/>
          </a:ln>
        </p:spPr>
      </p:pic>
      <p:pic>
        <p:nvPicPr>
          <p:cNvPr id="175" name="" descr=""/>
          <p:cNvPicPr/>
          <p:nvPr/>
        </p:nvPicPr>
        <p:blipFill>
          <a:blip r:embed="rId2"/>
          <a:stretch/>
        </p:blipFill>
        <p:spPr>
          <a:xfrm>
            <a:off x="127080" y="1905120"/>
            <a:ext cx="4102200" cy="3225600"/>
          </a:xfrm>
          <a:prstGeom prst="rect">
            <a:avLst/>
          </a:prstGeom>
          <a:noFill/>
          <a:ln w="0">
            <a:noFill/>
          </a:ln>
        </p:spPr>
      </p:pic>
      <p:sp>
        <p:nvSpPr>
          <p:cNvPr id="176" name="Text Box 3"/>
          <p:cNvSpPr/>
          <p:nvPr/>
        </p:nvSpPr>
        <p:spPr>
          <a:xfrm>
            <a:off x="152280" y="5257800"/>
            <a:ext cx="4038840" cy="94788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Suppressed convection is expected for the Maritime Continent during much of the period while enhanced convection is forecast for much of the Atlantic and Africa.</a:t>
            </a:r>
            <a:endParaRPr b="0" lang="en-IN" sz="1400" strike="noStrike" u="none">
              <a:solidFill>
                <a:srgbClr val="000000"/>
              </a:solidFill>
              <a:effectLst/>
              <a:uFillTx/>
              <a:latin typeface="Times New Roman"/>
            </a:endParaRPr>
          </a:p>
        </p:txBody>
      </p:sp>
      <p:sp>
        <p:nvSpPr>
          <p:cNvPr id="177" name="Text Box 9"/>
          <p:cNvSpPr/>
          <p:nvPr/>
        </p:nvSpPr>
        <p:spPr>
          <a:xfrm>
            <a:off x="1690920" y="30240"/>
            <a:ext cx="646416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Ensemble Mean GFS MJO Forecast</a:t>
            </a:r>
            <a:endParaRPr b="0" lang="en-IN" sz="3200" strike="noStrike" u="none">
              <a:solidFill>
                <a:srgbClr val="000000"/>
              </a:solidFill>
              <a:effectLst/>
              <a:uFillTx/>
              <a:latin typeface="Times New Roman"/>
            </a:endParaRPr>
          </a:p>
        </p:txBody>
      </p:sp>
      <p:sp>
        <p:nvSpPr>
          <p:cNvPr id="178" name="Text Box 10"/>
          <p:cNvSpPr/>
          <p:nvPr/>
        </p:nvSpPr>
        <p:spPr>
          <a:xfrm>
            <a:off x="76320" y="1295280"/>
            <a:ext cx="4114800" cy="30744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Spatial map of OLR anomalies for the next 15 days </a:t>
            </a:r>
            <a:endParaRPr b="0" lang="en-IN" sz="1400" strike="noStrike" u="none">
              <a:solidFill>
                <a:srgbClr val="000000"/>
              </a:solidFill>
              <a:effectLst/>
              <a:uFillTx/>
              <a:latin typeface="Times New Roman"/>
            </a:endParaRPr>
          </a:p>
        </p:txBody>
      </p:sp>
      <p:sp>
        <p:nvSpPr>
          <p:cNvPr id="179" name="Text Box 15"/>
          <p:cNvSpPr/>
          <p:nvPr/>
        </p:nvSpPr>
        <p:spPr>
          <a:xfrm>
            <a:off x="4343400" y="1285920"/>
            <a:ext cx="4572000" cy="52092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Time-longitude section of (7.5</a:t>
            </a:r>
            <a:r>
              <a:rPr b="1" lang="en-IN" sz="1400" strike="noStrike" u="none">
                <a:solidFill>
                  <a:srgbClr val="ffff00"/>
                </a:solidFill>
                <a:effectLst/>
                <a:uFillTx/>
                <a:latin typeface="Times New Roman"/>
                <a:ea typeface="Times New Roman"/>
              </a:rPr>
              <a:t>°</a:t>
            </a:r>
            <a:r>
              <a:rPr b="1" lang="en-IN" sz="1400" strike="noStrike" u="none">
                <a:solidFill>
                  <a:srgbClr val="ffff00"/>
                </a:solidFill>
                <a:effectLst/>
                <a:uFillTx/>
                <a:latin typeface="Times New Roman"/>
              </a:rPr>
              <a:t>S-7.5</a:t>
            </a:r>
            <a:r>
              <a:rPr b="1" lang="en-IN" sz="1400" strike="noStrike" u="none">
                <a:solidFill>
                  <a:srgbClr val="ffff00"/>
                </a:solidFill>
                <a:effectLst/>
                <a:uFillTx/>
                <a:latin typeface="Times New Roman"/>
                <a:ea typeface="Times New Roman"/>
              </a:rPr>
              <a:t>°</a:t>
            </a:r>
            <a:r>
              <a:rPr b="1" lang="en-IN" sz="1400" strike="noStrike" u="none">
                <a:solidFill>
                  <a:srgbClr val="ffff00"/>
                </a:solidFill>
                <a:effectLst/>
                <a:uFillTx/>
                <a:latin typeface="Times New Roman"/>
              </a:rPr>
              <a:t>N) OLR anomalies for the last 180 days and for the next 15 days</a:t>
            </a:r>
            <a:endParaRPr b="0" lang="en-IN" sz="1400" strike="noStrike" u="none">
              <a:solidFill>
                <a:srgbClr val="000000"/>
              </a:solidFill>
              <a:effectLst/>
              <a:uFillTx/>
              <a:latin typeface="Times New Roman"/>
            </a:endParaRPr>
          </a:p>
        </p:txBody>
      </p:sp>
      <p:sp>
        <p:nvSpPr>
          <p:cNvPr id="180" name="Text Box 16"/>
          <p:cNvSpPr/>
          <p:nvPr/>
        </p:nvSpPr>
        <p:spPr>
          <a:xfrm>
            <a:off x="1238400" y="628560"/>
            <a:ext cx="7848360" cy="487800"/>
          </a:xfrm>
          <a:prstGeom prst="rect">
            <a:avLst/>
          </a:prstGeom>
          <a:solidFill>
            <a:srgbClr val="ccffff"/>
          </a:solidFill>
          <a:ln w="25560">
            <a:solidFill>
              <a:srgbClr val="000000"/>
            </a:solidFill>
            <a:miter/>
          </a:ln>
        </p:spPr>
        <p:style>
          <a:lnRef idx="0"/>
          <a:fillRef idx="0"/>
          <a:effectRef idx="0"/>
          <a:fontRef idx="minor"/>
        </p:style>
        <p:txBody>
          <a:bodyPr lIns="90000" rIns="90000" tIns="0" bIns="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Times New Roman"/>
              </a:rPr>
              <a:t>Figures below show MJO associated OLR anomalies only (reconstructed from RMM1 and RMM2) and do not include contributions from other modes (</a:t>
            </a:r>
            <a:r>
              <a:rPr b="1" i="1" lang="en-IN" sz="1600" strike="noStrike" u="none">
                <a:solidFill>
                  <a:srgbClr val="000000"/>
                </a:solidFill>
                <a:effectLst/>
                <a:uFillTx/>
                <a:latin typeface="Times New Roman"/>
              </a:rPr>
              <a:t>i.e</a:t>
            </a:r>
            <a:r>
              <a:rPr b="1" lang="en-IN" sz="1600" strike="noStrike" u="none">
                <a:solidFill>
                  <a:srgbClr val="000000"/>
                </a:solidFill>
                <a:effectLst/>
                <a:uFillTx/>
                <a:latin typeface="Times New Roman"/>
              </a:rPr>
              <a:t>., ENSO, monsoons)</a:t>
            </a:r>
            <a:endParaRPr b="0" lang="en-IN"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pic>
        <p:nvPicPr>
          <p:cNvPr id="181" name="" descr=""/>
          <p:cNvPicPr/>
          <p:nvPr/>
        </p:nvPicPr>
        <p:blipFill>
          <a:blip r:embed="rId1"/>
          <a:stretch/>
        </p:blipFill>
        <p:spPr>
          <a:xfrm>
            <a:off x="3936960" y="1523880"/>
            <a:ext cx="5016600" cy="5016600"/>
          </a:xfrm>
          <a:prstGeom prst="rect">
            <a:avLst/>
          </a:prstGeom>
          <a:noFill/>
          <a:ln w="0">
            <a:noFill/>
          </a:ln>
        </p:spPr>
      </p:pic>
      <p:sp>
        <p:nvSpPr>
          <p:cNvPr id="182" name="Text Box 2"/>
          <p:cNvSpPr/>
          <p:nvPr/>
        </p:nvSpPr>
        <p:spPr>
          <a:xfrm>
            <a:off x="114480" y="2971800"/>
            <a:ext cx="3352680" cy="3366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
        <p:nvSpPr>
          <p:cNvPr id="183" name="Text Box 3"/>
          <p:cNvSpPr/>
          <p:nvPr/>
        </p:nvSpPr>
        <p:spPr>
          <a:xfrm>
            <a:off x="76320" y="1362240"/>
            <a:ext cx="3276360" cy="1059120"/>
          </a:xfrm>
          <a:prstGeom prst="rect">
            <a:avLst/>
          </a:prstGeom>
          <a:noFill/>
          <a:ln w="25560">
            <a:solidFill>
              <a:srgbClr val="ffffff"/>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Spatial map of OLR anomalies and 850-hPa wind vectors for the next 20 days </a:t>
            </a:r>
            <a:endParaRPr b="0" lang="en-IN" sz="1400" strike="noStrike" u="none">
              <a:solidFill>
                <a:srgbClr val="000000"/>
              </a:solidFill>
              <a:effectLst/>
              <a:uFillTx/>
              <a:latin typeface="Times New Roman"/>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00"/>
                </a:solidFill>
                <a:effectLst/>
                <a:uFillTx/>
                <a:latin typeface="Times New Roman"/>
              </a:rPr>
              <a:t>(Courtesy of the Bureau of Meteorology Research Centre - Australia)</a:t>
            </a:r>
            <a:endParaRPr b="0" lang="en-IN" sz="1400" strike="noStrike" u="none">
              <a:solidFill>
                <a:srgbClr val="000000"/>
              </a:solidFill>
              <a:effectLst/>
              <a:uFillTx/>
              <a:latin typeface="Times New Roman"/>
            </a:endParaRPr>
          </a:p>
        </p:txBody>
      </p:sp>
      <p:sp>
        <p:nvSpPr>
          <p:cNvPr id="184" name="Text Box 4"/>
          <p:cNvSpPr/>
          <p:nvPr/>
        </p:nvSpPr>
        <p:spPr>
          <a:xfrm>
            <a:off x="1238400" y="704880"/>
            <a:ext cx="7848360" cy="487800"/>
          </a:xfrm>
          <a:prstGeom prst="rect">
            <a:avLst/>
          </a:prstGeom>
          <a:solidFill>
            <a:srgbClr val="ccffff"/>
          </a:solidFill>
          <a:ln w="25560">
            <a:solidFill>
              <a:srgbClr val="000000"/>
            </a:solidFill>
            <a:miter/>
          </a:ln>
        </p:spPr>
        <p:style>
          <a:lnRef idx="0"/>
          <a:fillRef idx="0"/>
          <a:effectRef idx="0"/>
          <a:fontRef idx="minor"/>
        </p:style>
        <p:txBody>
          <a:bodyPr lIns="90000" rIns="90000" tIns="0" bIns="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Times New Roman"/>
              </a:rPr>
              <a:t>Figure below shows MJO associated OLR anomalies only (reconstructed from RMM1 and RMM2) and do not include contributions from other modes (</a:t>
            </a:r>
            <a:r>
              <a:rPr b="1" i="1" lang="en-IN" sz="1600" strike="noStrike" u="none">
                <a:solidFill>
                  <a:srgbClr val="000000"/>
                </a:solidFill>
                <a:effectLst/>
                <a:uFillTx/>
                <a:latin typeface="Times New Roman"/>
              </a:rPr>
              <a:t>i.e</a:t>
            </a:r>
            <a:r>
              <a:rPr b="1" lang="en-IN" sz="1600" strike="noStrike" u="none">
                <a:solidFill>
                  <a:srgbClr val="000000"/>
                </a:solidFill>
                <a:effectLst/>
                <a:uFillTx/>
                <a:latin typeface="Times New Roman"/>
              </a:rPr>
              <a:t>., ENSO, monsoons)</a:t>
            </a:r>
            <a:endParaRPr b="0" lang="en-IN" sz="1600" strike="noStrike" u="none">
              <a:solidFill>
                <a:srgbClr val="000000"/>
              </a:solidFill>
              <a:effectLst/>
              <a:uFillTx/>
              <a:latin typeface="Times New Roman"/>
            </a:endParaRPr>
          </a:p>
        </p:txBody>
      </p:sp>
      <p:sp>
        <p:nvSpPr>
          <p:cNvPr id="185" name="Text Box 5"/>
          <p:cNvSpPr/>
          <p:nvPr/>
        </p:nvSpPr>
        <p:spPr>
          <a:xfrm>
            <a:off x="2437920" y="0"/>
            <a:ext cx="449712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Statistical MJO Forecast</a:t>
            </a:r>
            <a:endParaRPr b="0" lang="en-IN" sz="3200" strike="noStrike" u="none">
              <a:solidFill>
                <a:srgbClr val="000000"/>
              </a:solidFill>
              <a:effectLst/>
              <a:uFillTx/>
              <a:latin typeface="Times New Roman"/>
            </a:endParaRPr>
          </a:p>
        </p:txBody>
      </p:sp>
      <p:sp>
        <p:nvSpPr>
          <p:cNvPr id="186" name="Text Box 179"/>
          <p:cNvSpPr/>
          <p:nvPr/>
        </p:nvSpPr>
        <p:spPr>
          <a:xfrm>
            <a:off x="228600" y="2685960"/>
            <a:ext cx="2971800" cy="137484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Times New Roman"/>
              </a:rPr>
              <a:t>A statistical MJO forecast indicates suppressed convection shifting across the Maritime Continent during the period with enhanced convection entering the Indian Ocean during Week 2.</a:t>
            </a:r>
            <a:endParaRPr b="0" lang="en-IN"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7" name="Text Box 2"/>
          <p:cNvSpPr/>
          <p:nvPr/>
        </p:nvSpPr>
        <p:spPr>
          <a:xfrm>
            <a:off x="1675080" y="0"/>
            <a:ext cx="621648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00"/>
                </a:solidFill>
                <a:effectLst/>
                <a:uFillTx/>
                <a:latin typeface="Times New Roman"/>
              </a:rPr>
              <a:t>MJO Composites – Global Tropics</a:t>
            </a:r>
            <a:endParaRPr b="0" lang="en-IN" sz="3200" strike="noStrike" u="none">
              <a:solidFill>
                <a:srgbClr val="000000"/>
              </a:solidFill>
              <a:effectLst/>
              <a:uFillTx/>
              <a:latin typeface="Times New Roman"/>
            </a:endParaRPr>
          </a:p>
        </p:txBody>
      </p:sp>
      <p:sp>
        <p:nvSpPr>
          <p:cNvPr id="188" name="Text Box 5"/>
          <p:cNvSpPr/>
          <p:nvPr/>
        </p:nvSpPr>
        <p:spPr>
          <a:xfrm>
            <a:off x="1143000" y="928800"/>
            <a:ext cx="373392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sng">
                <a:solidFill>
                  <a:srgbClr val="ccffff"/>
                </a:solidFill>
                <a:effectLst/>
                <a:uFillTx/>
                <a:latin typeface="Times New Roman"/>
              </a:rPr>
              <a:t>Precipitation Anomalies (Nov-Mar)</a:t>
            </a:r>
            <a:endParaRPr b="0" lang="en-IN" sz="1800" strike="noStrike" u="none">
              <a:solidFill>
                <a:srgbClr val="000000"/>
              </a:solidFill>
              <a:effectLst/>
              <a:uFillTx/>
              <a:latin typeface="Times New Roman"/>
            </a:endParaRPr>
          </a:p>
        </p:txBody>
      </p:sp>
      <p:sp>
        <p:nvSpPr>
          <p:cNvPr id="189" name="Text Box 6"/>
          <p:cNvSpPr/>
          <p:nvPr/>
        </p:nvSpPr>
        <p:spPr>
          <a:xfrm>
            <a:off x="5029200" y="928800"/>
            <a:ext cx="388620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sng">
                <a:solidFill>
                  <a:srgbClr val="ccffff"/>
                </a:solidFill>
                <a:effectLst/>
                <a:uFillTx/>
                <a:latin typeface="Times New Roman"/>
              </a:rPr>
              <a:t>850-hPa Wind Anomalies (Nov-Mar)</a:t>
            </a:r>
            <a:endParaRPr b="0" lang="en-IN" sz="1800" strike="noStrike" u="none">
              <a:solidFill>
                <a:srgbClr val="000000"/>
              </a:solidFill>
              <a:effectLst/>
              <a:uFillTx/>
              <a:latin typeface="Times New Roman"/>
            </a:endParaRPr>
          </a:p>
        </p:txBody>
      </p:sp>
      <p:pic>
        <p:nvPicPr>
          <p:cNvPr id="190" name="Picture 14" descr="plot_850wnd_tvalue_8pan_novmar_tt"/>
          <p:cNvPicPr/>
          <p:nvPr/>
        </p:nvPicPr>
        <p:blipFill>
          <a:blip r:embed="rId1"/>
          <a:stretch/>
        </p:blipFill>
        <p:spPr>
          <a:xfrm>
            <a:off x="4876920" y="1295280"/>
            <a:ext cx="4114800" cy="5486400"/>
          </a:xfrm>
          <a:prstGeom prst="rect">
            <a:avLst/>
          </a:prstGeom>
          <a:noFill/>
          <a:ln w="0">
            <a:noFill/>
          </a:ln>
        </p:spPr>
      </p:pic>
      <p:pic>
        <p:nvPicPr>
          <p:cNvPr id="191" name="Picture 15" descr="plot_pcp_tvalue_8pan_novmar_tt"/>
          <p:cNvPicPr/>
          <p:nvPr/>
        </p:nvPicPr>
        <p:blipFill>
          <a:blip r:embed="rId2"/>
          <a:stretch/>
        </p:blipFill>
        <p:spPr>
          <a:xfrm>
            <a:off x="685800" y="1295280"/>
            <a:ext cx="4114800" cy="54864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2460</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2001-08-31T03:39:36Z</dcterms:created>
  <dc:creator>Vernon E. Kousky</dc:creator>
  <dc:description/>
  <dc:language>en-IN</dc:language>
  <cp:lastModifiedBy>jgottschalck</cp:lastModifiedBy>
  <dcterms:modified xsi:type="dcterms:W3CDTF">2009-03-30T12:59:23Z</dcterms:modified>
  <cp:revision>8842</cp:revision>
  <dc:subject/>
  <dc:title>PowerPoint Presentation</dc:title>
</cp:coreProperties>
</file>