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embeddings/oleObject1.bin" ContentType="application/vnd.openxmlformats-officedocument.oleObject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bl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95280" y="1557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95280" y="1557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95280" y="1557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395280" y="155736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12320" y="155736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12320" y="392148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Media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95280" y="1557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395280" y="1557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95280" y="1557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57240" y="6408720"/>
            <a:ext cx="2107080" cy="459360"/>
            <a:chOff x="57240" y="6408720"/>
            <a:chExt cx="2107080" cy="459360"/>
          </a:xfrm>
        </p:grpSpPr>
        <p:pic>
          <p:nvPicPr>
            <p:cNvPr id="3" name="" descr=""/>
            <p:cNvPicPr/>
            <p:nvPr/>
          </p:nvPicPr>
          <p:blipFill>
            <a:blip r:embed="rId2"/>
            <a:stretch/>
          </p:blipFill>
          <p:spPr>
            <a:xfrm>
              <a:off x="57240" y="6408720"/>
              <a:ext cx="652320" cy="380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" name=""/>
            <p:cNvSpPr/>
            <p:nvPr/>
          </p:nvSpPr>
          <p:spPr>
            <a:xfrm>
              <a:off x="660960" y="6413400"/>
              <a:ext cx="150336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CA" sz="12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Health        Santé</a:t>
              </a:r>
              <a:endPara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CA" sz="12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Canada      Canada</a:t>
              </a:r>
              <a:endPara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image" Target="../media/image4.wmf"/><Relationship Id="rId4" Type="http://schemas.openxmlformats.org/officeDocument/2006/relationships/image" Target="../media/image5.wmf"/><Relationship Id="rId5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.wmf"/><Relationship Id="rId3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50560" y="475920"/>
            <a:ext cx="8605800" cy="158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Furan: Mechanisms of Formation and Levels in Food</a:t>
            </a:r>
            <a:endParaRPr b="0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250920" y="2781360"/>
            <a:ext cx="864216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Don S. Forsyth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Adam Becalski, Valerie Casey, Steve Seaman,Karen Pepper and Samuel Ben Rejeb, Food Research Division, Bureau of Chemical Safety, Food Directorate, Health Canada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-2797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Background</a:t>
            </a:r>
            <a:endParaRPr b="0" lang="en-IN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95280" y="620640"/>
            <a:ext cx="8461440" cy="522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Late March, 2004- Health Canada informed of US FDA investigation of furan in canned and bottled food commodities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Furan has been shown to be carcinogenic in mice and rats, classified as “possibly carcinogenic to humans” (Group 2B) by IARC in 1995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Although furan is used in industrial processes the likely source was considered to be formation during food processing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April, 2004- Health Canada commenced method development for study of mechanism(s) of formation and survey of Canadian food products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Furans in Foods</a:t>
            </a: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95280" y="1557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Furan derivatives have been reported in a wide variety of foods and are a significant flavour and odour component in coffee, cocoa, and various cooked meat products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Furan has been found in coffee, canned beef, sodium caseinate, soy and rapeseed protein and caramel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Possible Mechanisms of Formation</a:t>
            </a: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95280" y="1557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Thermal degradation of carbohydrates (Maillard reaction)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Thermal oxidation of lipid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Decomposition of ascorbic acid or its derivatives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-1526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Effect of Canned Beef Formulation and Processing Time on Furan Levels (Persson and von Sydow 1974)</a:t>
            </a:r>
            <a:endParaRPr b="0" lang="en-IN" sz="2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" name=""/>
          <p:cNvGraphicFramePr/>
          <p:nvPr/>
        </p:nvGraphicFramePr>
        <p:xfrm>
          <a:off x="0" y="990720"/>
          <a:ext cx="9144000" cy="5878440"/>
        </p:xfrm>
        <a:graphic>
          <a:graphicData uri="http://schemas.openxmlformats.org/drawingml/2006/table">
            <a:tbl>
              <a:tblPr/>
              <a:tblGrid>
                <a:gridCol w="5413320"/>
                <a:gridCol w="217440"/>
                <a:gridCol w="1897200"/>
                <a:gridCol w="1616040"/>
              </a:tblGrid>
              <a:tr h="7038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Formulation</a:t>
                      </a:r>
                      <a:endParaRPr b="0" lang="en-IN" sz="2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Processing Time (min at 121</a:t>
                      </a:r>
                      <a:r>
                        <a:rPr b="1" lang="en-IN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°C)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Furan (ng/g)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</a:tr>
              <a:tr h="40572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79.3% beef, 20% H</a:t>
                      </a:r>
                      <a:r>
                        <a:rPr b="0" lang="en-US" sz="1800" strike="noStrike" u="non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O, 0.7% NaCl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930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0752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750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0464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760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0752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960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0608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870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0572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66.3% beef, 13% fat, 20% H</a:t>
                      </a:r>
                      <a:r>
                        <a:rPr b="0" lang="en-US" sz="1800" strike="noStrike" u="non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O, 0.7% NaCl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3700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0788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74.3% beef, 5% carbohydrate, 20% H</a:t>
                      </a:r>
                      <a:r>
                        <a:rPr b="0" lang="en-US" sz="1800" strike="noStrike" u="non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O, 0.7% NaCl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670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68796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61.3% beef, 13% fat, 5% carbohydrate, 20% H</a:t>
                      </a:r>
                      <a:r>
                        <a:rPr b="0" lang="en-US" sz="1800" strike="noStrike" u="non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O, 0.7% NaCl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2800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0608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3900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0464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3700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2660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980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04280"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75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1400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536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Analytical Methods</a:t>
            </a:r>
            <a:endParaRPr b="0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90600" y="1074240"/>
            <a:ext cx="8362800" cy="52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533520" indent="-53352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Two methods were used: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33520" indent="-53352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33520" indent="-533520">
              <a:spcBef>
                <a:spcPts val="700"/>
              </a:spcBef>
              <a:buClr>
                <a:srgbClr val="ffffff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Static Headspace Analysis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-457200"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Mechanism(s) of formation and food survey  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-457200">
              <a:spcBef>
                <a:spcPts val="6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33520" indent="-533520">
              <a:spcBef>
                <a:spcPts val="700"/>
              </a:spcBef>
              <a:buClr>
                <a:srgbClr val="ffffff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MicroExtraction Technique (MET)- A SPME related method developed at Health Canada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-457200"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Food survey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0">
              <a:spcBef>
                <a:spcPts val="601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33520" indent="-53352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Both methods are based on isotope dilution (d</a:t>
            </a:r>
            <a:r>
              <a:rPr b="0" lang="en-CA" sz="2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-furan) gas chromatography-mass spectrometry 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17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Mechanism of Formation Studies</a:t>
            </a:r>
            <a:endParaRPr b="0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95280" y="11714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10 mg of test compound was added to a 1.5 mL vial containing 0.5 mL water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Vials were heated 30 min at 118 </a:t>
            </a: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± 1°C 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Cooled to 4°C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b="0" lang="en-US" sz="3200" strike="noStrike" u="none" baseline="-2500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-furan added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-1004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Formation of furan from ascorbic acid and derivatives</a:t>
            </a:r>
            <a:endParaRPr b="0" lang="en-IN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" name=""/>
          <p:cNvGraphicFramePr/>
          <p:nvPr/>
        </p:nvGraphicFramePr>
        <p:xfrm>
          <a:off x="395280" y="1015920"/>
          <a:ext cx="8229600" cy="4803840"/>
        </p:xfrm>
        <a:graphic>
          <a:graphicData uri="http://schemas.openxmlformats.org/drawingml/2006/table">
            <a:tbl>
              <a:tblPr/>
              <a:tblGrid>
                <a:gridCol w="4356000"/>
                <a:gridCol w="2700360"/>
                <a:gridCol w="1173240"/>
              </a:tblGrid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Reagents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Furan (ng/g)</a:t>
                      </a:r>
                      <a:r>
                        <a:rPr b="1" lang="en-CA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SD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Ascorbic acid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35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11.9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Ascorbic acid + Fe</a:t>
                      </a:r>
                      <a:r>
                        <a:rPr b="0" lang="en-IN" sz="20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+3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38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9.6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Sodium ascorbate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3.4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Sodium ascorbate + Fe</a:t>
                      </a:r>
                      <a:r>
                        <a:rPr b="0" lang="en-US" sz="20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+3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29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8.5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Dehydroascorbic acid 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338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44.5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Dehydroascorbic acid  + Fe</a:t>
                      </a:r>
                      <a:r>
                        <a:rPr b="0" lang="en-US" sz="20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+3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381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99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Isoascorbic acid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379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Sodium isoascorbate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Sodium isoascorbate + Fe</a:t>
                      </a:r>
                      <a:r>
                        <a:rPr b="0" lang="en-US" sz="20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+3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144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3.7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Ascorbyl palmitate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6.8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Ascorbyl palmitate + Fe</a:t>
                      </a:r>
                      <a:r>
                        <a:rPr b="0" lang="en-US" sz="20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+3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4.3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</a:tbl>
          </a:graphicData>
        </a:graphic>
      </p:graphicFrame>
      <p:sp>
        <p:nvSpPr>
          <p:cNvPr id="35" name=""/>
          <p:cNvSpPr/>
          <p:nvPr/>
        </p:nvSpPr>
        <p:spPr>
          <a:xfrm>
            <a:off x="4284720" y="5877000"/>
            <a:ext cx="4427640" cy="9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1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CA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Concentration of furan in 0.5 mL  of reaction mixture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5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Reagent – 10 mg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</a:t>
            </a:r>
            <a:r>
              <a:rPr b="0" lang="en-US" sz="1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+3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– 100 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µ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Each value is an average of 4 experiments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-1004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Formation of furan from fatty acids</a:t>
            </a:r>
            <a:endParaRPr b="0" lang="en-IN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" name=""/>
          <p:cNvGraphicFramePr/>
          <p:nvPr/>
        </p:nvGraphicFramePr>
        <p:xfrm>
          <a:off x="287280" y="1160640"/>
          <a:ext cx="8461440" cy="4248000"/>
        </p:xfrm>
        <a:graphic>
          <a:graphicData uri="http://schemas.openxmlformats.org/drawingml/2006/table">
            <a:tbl>
              <a:tblPr/>
              <a:tblGrid>
                <a:gridCol w="3368880"/>
                <a:gridCol w="2628720"/>
                <a:gridCol w="963720"/>
                <a:gridCol w="1500120"/>
              </a:tblGrid>
              <a:tr h="4712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Reagents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Furan (ng/g)</a:t>
                      </a:r>
                      <a:r>
                        <a:rPr b="1" lang="en-CA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</a:t>
                      </a:r>
                      <a:r>
                        <a:rPr b="1" lang="en-CA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SD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</a:tr>
              <a:tr h="47304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Linoleic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125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716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Linoleic + Fe</a:t>
                      </a:r>
                      <a:r>
                        <a:rPr b="0" lang="en-CA" sz="24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+3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498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185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716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Linolenic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625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7304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Linolenic + Fe</a:t>
                      </a:r>
                      <a:r>
                        <a:rPr b="0" lang="en-CA" sz="24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+3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985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7124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Trilinoleate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78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716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Trilinoleate + Fe</a:t>
                      </a:r>
                      <a:r>
                        <a:rPr b="0" lang="en-CA" sz="24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+3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7304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Trilinolenate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570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716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Trilinolenate +Fe</a:t>
                      </a:r>
                      <a:r>
                        <a:rPr b="0" lang="en-CA" sz="24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+3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463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</a:tbl>
          </a:graphicData>
        </a:graphic>
      </p:graphicFrame>
      <p:sp>
        <p:nvSpPr>
          <p:cNvPr id="38" name=""/>
          <p:cNvSpPr/>
          <p:nvPr/>
        </p:nvSpPr>
        <p:spPr>
          <a:xfrm>
            <a:off x="3887640" y="5454720"/>
            <a:ext cx="5185080" cy="10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16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CA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Concentration of furan in 0.5 mL  of reaction mixture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Reagent – 10 mg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</a:t>
            </a:r>
            <a:r>
              <a:rPr b="0" lang="en-US" sz="16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+3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– 100 µg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16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b</a:t>
            </a:r>
            <a:r>
              <a:rPr b="0" lang="en-CA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number of experiments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582840" y="1231920"/>
            <a:ext cx="350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395280" y="1700280"/>
            <a:ext cx="4572000" cy="2119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pic>
        <p:nvPicPr>
          <p:cNvPr id="41" name="" descr=""/>
          <p:cNvPicPr/>
          <p:nvPr/>
        </p:nvPicPr>
        <p:blipFill>
          <a:blip r:embed="rId2"/>
          <a:stretch/>
        </p:blipFill>
        <p:spPr>
          <a:xfrm>
            <a:off x="395280" y="4156200"/>
            <a:ext cx="4578480" cy="2154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3"/>
          <a:stretch/>
        </p:blipFill>
        <p:spPr>
          <a:xfrm>
            <a:off x="5076720" y="1700280"/>
            <a:ext cx="3454560" cy="212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pic>
        <p:nvPicPr>
          <p:cNvPr id="43" name="" descr=""/>
          <p:cNvPicPr/>
          <p:nvPr/>
        </p:nvPicPr>
        <p:blipFill>
          <a:blip r:embed="rId4"/>
          <a:stretch/>
        </p:blipFill>
        <p:spPr>
          <a:xfrm>
            <a:off x="5110200" y="4138560"/>
            <a:ext cx="3422520" cy="2195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44" name=""/>
          <p:cNvSpPr/>
          <p:nvPr/>
        </p:nvSpPr>
        <p:spPr>
          <a:xfrm>
            <a:off x="468360" y="115920"/>
            <a:ext cx="8229600" cy="11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Chromatograms of: a) linolenic acid reaction and b) furan standard (1 ppm native, 0.25 ppm d</a:t>
            </a:r>
            <a:r>
              <a:rPr b="0" lang="en-US" sz="2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11280" y="3767040"/>
            <a:ext cx="396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Conclusions</a:t>
            </a: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95280" y="1557360"/>
            <a:ext cx="8229600" cy="44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33520" indent="-53352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CA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Two pathways of furan formation were identified in the model systems: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33520" indent="-53352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33520" indent="-53352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Polyunsaturated fatty acids (linoleic, linolenic) via peroxidation and ring closure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33520" indent="-53352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</a:t>
            </a: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Decomposition of ascorbic acid derivatives particularly dehydroascorbic acid and isoascorbic acid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33520" indent="-53352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95360" y="25142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Preliminary Survey Results</a:t>
            </a: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-162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Furan in Baby Foods</a:t>
            </a: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0" name=""/>
          <p:cNvGraphicFramePr/>
          <p:nvPr/>
        </p:nvGraphicFramePr>
        <p:xfrm>
          <a:off x="395280" y="846000"/>
          <a:ext cx="8229600" cy="5073840"/>
        </p:xfrm>
        <a:graphic>
          <a:graphicData uri="http://schemas.openxmlformats.org/drawingml/2006/table">
            <a:tbl>
              <a:tblPr/>
              <a:tblGrid>
                <a:gridCol w="3960720"/>
                <a:gridCol w="1871640"/>
                <a:gridCol w="2397240"/>
              </a:tblGrid>
              <a:tr h="459720">
                <a:tc rowSpan="2"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Sample</a:t>
                      </a:r>
                      <a:endParaRPr b="0" lang="en-IN" sz="2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Furan Concentration (ng/g)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209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MET</a:t>
                      </a:r>
                      <a:r>
                        <a:rPr b="1" lang="en-CA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Headspace</a:t>
                      </a:r>
                      <a:r>
                        <a:rPr b="1" lang="en-CA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Beef with Broth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Banana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Carrot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Vegetable and Chicken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Apple Sauce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Mixed Vegetable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Alphabet Beef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62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Beef Stroganoff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98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103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Chicken and Stars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</a:tbl>
          </a:graphicData>
        </a:graphic>
      </p:graphicFrame>
      <p:sp>
        <p:nvSpPr>
          <p:cNvPr id="51" name=""/>
          <p:cNvSpPr/>
          <p:nvPr/>
        </p:nvSpPr>
        <p:spPr>
          <a:xfrm>
            <a:off x="5364000" y="6049800"/>
            <a:ext cx="3745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CA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Average of two determinations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Furan in Adult Foods</a:t>
            </a: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" name=""/>
          <p:cNvGraphicFramePr/>
          <p:nvPr/>
        </p:nvGraphicFramePr>
        <p:xfrm>
          <a:off x="395280" y="1095480"/>
          <a:ext cx="8229600" cy="4854600"/>
        </p:xfrm>
        <a:graphic>
          <a:graphicData uri="http://schemas.openxmlformats.org/drawingml/2006/table">
            <a:tbl>
              <a:tblPr/>
              <a:tblGrid>
                <a:gridCol w="3960720"/>
                <a:gridCol w="2160720"/>
                <a:gridCol w="2108160"/>
              </a:tblGrid>
              <a:tr h="561600">
                <a:tc rowSpan="2"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7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3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Sample</a:t>
                      </a:r>
                      <a:endParaRPr b="0" lang="en-IN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Furan Concentration (ng/g)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817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MET</a:t>
                      </a:r>
                      <a:r>
                        <a:rPr b="1" lang="en-CA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CA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Headspace</a:t>
                      </a:r>
                      <a:r>
                        <a:rPr b="1" lang="en-CA" sz="24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1d42"/>
                    </a:solidFill>
                  </a:tcPr>
                </a:tc>
              </a:tr>
              <a:tr h="5616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Soups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35-117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34-117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56304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Chili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152-227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157-236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5616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Stew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82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83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5616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Bean products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56304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Canned luncheon meat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7-31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4-28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  <a:tr h="9018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Coffee, fresh brewed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14-52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14-51</a:t>
                      </a:r>
                      <a:endParaRPr b="0" lang="en-IN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2f3bf"/>
                    </a:solidFill>
                  </a:tcPr>
                </a:tc>
              </a:tr>
            </a:tbl>
          </a:graphicData>
        </a:graphic>
      </p:graphicFrame>
      <p:sp>
        <p:nvSpPr>
          <p:cNvPr id="54" name=""/>
          <p:cNvSpPr/>
          <p:nvPr/>
        </p:nvSpPr>
        <p:spPr>
          <a:xfrm>
            <a:off x="5391000" y="6095880"/>
            <a:ext cx="3733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CA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Average of two determinations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CA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Next Steps?</a:t>
            </a:r>
            <a:endParaRPr b="0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971640"/>
            <a:ext cx="8229600" cy="552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Further studies on mechanism(s) of formation using model systems and precursor fortified food matrices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Losses of furan during food processing and cooking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Further surveys of canned and bottled products 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Participate in round robin method validation study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CA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Update health risk assessment as new data becomes available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46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"/>
          <p:cNvGraphicFramePr/>
          <p:nvPr/>
        </p:nvGraphicFramePr>
        <p:xfrm>
          <a:off x="1600200" y="149400"/>
          <a:ext cx="6324480" cy="60530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5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600200" y="149400"/>
                    <a:ext cx="6324480" cy="60530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9" name=""/>
          <p:cNvSpPr/>
          <p:nvPr/>
        </p:nvSpPr>
        <p:spPr>
          <a:xfrm>
            <a:off x="4648320" y="3276720"/>
            <a:ext cx="359064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Thank-you !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3034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2002-07-23T06:34:29Z</dcterms:created>
  <dc:creator>HCWIN2KPC</dc:creator>
  <dc:description/>
  <dc:language>en-IN</dc:language>
  <cp:lastModifiedBy>Jenny Butler</cp:lastModifiedBy>
  <dcterms:modified xsi:type="dcterms:W3CDTF">2004-07-09T14:49:55Z</dcterms:modified>
  <cp:revision>199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r8>1169036600</vt:r8>
  </property>
  <property fmtid="{D5CDD505-2E9C-101B-9397-08002B2CF9AE}" pid="3" name="_AuthorEmail">
    <vt:lpwstr>Henry.Kim@cfsan.fda.gov</vt:lpwstr>
  </property>
  <property fmtid="{D5CDD505-2E9C-101B-9397-08002B2CF9AE}" pid="4" name="_AuthorEmailDisplayName">
    <vt:lpwstr>Kim, Henry</vt:lpwstr>
  </property>
  <property fmtid="{D5CDD505-2E9C-101B-9397-08002B2CF9AE}" pid="5" name="_EmailSubject">
    <vt:lpwstr>Food Adviosry furan meeting slides</vt:lpwstr>
  </property>
</Properties>
</file>