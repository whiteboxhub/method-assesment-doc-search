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media/image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6858000"/>
  <p:notesSz cx="6858000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6858000" cy="929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6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3"/>
          </p:nvPr>
        </p:nvSpPr>
        <p:spPr>
          <a:xfrm>
            <a:off x="3884400" y="0"/>
            <a:ext cx="2971800" cy="46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Img"/>
          </p:nvPr>
        </p:nvSpPr>
        <p:spPr>
          <a:xfrm>
            <a:off x="1104840" y="696960"/>
            <a:ext cx="4648320" cy="34862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Click to move the slide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4"/>
          </p:nvPr>
        </p:nvSpPr>
        <p:spPr>
          <a:xfrm>
            <a:off x="-360" y="8829720"/>
            <a:ext cx="2971800" cy="46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5"/>
          </p:nvPr>
        </p:nvSpPr>
        <p:spPr>
          <a:xfrm>
            <a:off x="3884400" y="8829720"/>
            <a:ext cx="2971800" cy="46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2319E5-7F59-4A74-95F2-CF0E3450F56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"/>
          <p:cNvSpPr/>
          <p:nvPr/>
        </p:nvSpPr>
        <p:spPr>
          <a:xfrm>
            <a:off x="3884760" y="8829720"/>
            <a:ext cx="2971800" cy="46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B4C6B1-E45A-44BA-AE43-72CC842C2DB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110484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28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4680" rIns="4680" tIns="4680" bIns="46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110484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Voting variations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7" descr="votebannernew"/>
          <p:cNvPicPr/>
          <p:nvPr/>
        </p:nvPicPr>
        <p:blipFill>
          <a:blip r:embed="rId2"/>
          <a:stretch/>
        </p:blipFill>
        <p:spPr>
          <a:xfrm>
            <a:off x="304920" y="228600"/>
            <a:ext cx="8458200" cy="99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8" descr="votebannernew"/>
          <p:cNvPicPr/>
          <p:nvPr/>
        </p:nvPicPr>
        <p:blipFill>
          <a:blip r:embed="rId3"/>
          <a:stretch/>
        </p:blipFill>
        <p:spPr>
          <a:xfrm>
            <a:off x="304920" y="228600"/>
            <a:ext cx="8458200" cy="99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Date Placeholder 3"/>
          <p:cNvSpPr/>
          <p:nvPr/>
        </p:nvSpPr>
        <p:spPr>
          <a:xfrm>
            <a:off x="152280" y="6172200"/>
            <a:ext cx="22100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8"/>
          <p:cNvSpPr/>
          <p:nvPr/>
        </p:nvSpPr>
        <p:spPr>
          <a:xfrm>
            <a:off x="6629400" y="6248520"/>
            <a:ext cx="220968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68DA24B3-5854-4A00-B379-560F5319A2DB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137160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Click to edit the title text format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914400" y="23619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19999"/>
          </a:bodyPr>
          <a:p>
            <a:pPr marL="343080" indent="-343080">
              <a:spcBef>
                <a:spcPts val="7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cf01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votebannernew"/>
          <p:cNvPicPr/>
          <p:nvPr/>
        </p:nvPicPr>
        <p:blipFill>
          <a:blip r:embed="rId2"/>
          <a:stretch/>
        </p:blipFill>
        <p:spPr>
          <a:xfrm>
            <a:off x="304920" y="228600"/>
            <a:ext cx="8458200" cy="99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Picture 8" descr="votebannernew"/>
          <p:cNvPicPr/>
          <p:nvPr/>
        </p:nvPicPr>
        <p:blipFill>
          <a:blip r:embed="rId3"/>
          <a:stretch/>
        </p:blipFill>
        <p:spPr>
          <a:xfrm>
            <a:off x="304920" y="228600"/>
            <a:ext cx="8458200" cy="99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137160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Click to edit the title text format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914400" y="23619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19999"/>
          </a:bodyPr>
          <a:p>
            <a:pPr marL="343080" indent="-343080">
              <a:spcBef>
                <a:spcPts val="7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3333cc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cf01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00e4a8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5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1"/>
          </p:nvPr>
        </p:nvSpPr>
        <p:spPr>
          <a:xfrm>
            <a:off x="228600" y="6172200"/>
            <a:ext cx="4038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2"/>
          </p:nvPr>
        </p:nvSpPr>
        <p:spPr>
          <a:xfrm>
            <a:off x="6629040" y="63813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34E49F95-07F7-4EF2-8FD9-1949631A00CB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mailto:cdf@nist.gov" TargetMode="External"/><Relationship Id="rId2" Type="http://schemas.openxmlformats.org/officeDocument/2006/relationships/hyperlink" Target="http://vote.nist.gov/" TargetMode="External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80520" y="1980720"/>
            <a:ext cx="8458200" cy="129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NIST Workshop on a</a:t>
            </a:r>
            <a:br>
              <a:rPr sz="3600"/>
            </a:br>
            <a:r>
              <a:rPr b="1" lang="en-IN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Common Data Format </a:t>
            </a:r>
            <a:br>
              <a:rPr sz="3600"/>
            </a:br>
            <a:r>
              <a:rPr b="1" lang="en-IN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for Electronic Voting Systems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1219320" y="3809880"/>
            <a:ext cx="6858000" cy="198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October 29-30, 2009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indent="0" algn="ctr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indent="0" algn="ctr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National Institute of Standards and Technology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grpSp>
        <p:nvGrpSpPr>
          <p:cNvPr id="21" name="Group 5"/>
          <p:cNvGrpSpPr/>
          <p:nvPr/>
        </p:nvGrpSpPr>
        <p:grpSpPr>
          <a:xfrm>
            <a:off x="4191120" y="6027840"/>
            <a:ext cx="4952880" cy="830160"/>
            <a:chOff x="4191120" y="6027840"/>
            <a:chExt cx="4952880" cy="830160"/>
          </a:xfrm>
        </p:grpSpPr>
        <p:pic>
          <p:nvPicPr>
            <p:cNvPr id="22" name="Picture 4" descr="identright_2line600"/>
            <p:cNvPicPr/>
            <p:nvPr/>
          </p:nvPicPr>
          <p:blipFill>
            <a:blip r:embed="rId1"/>
            <a:stretch/>
          </p:blipFill>
          <p:spPr>
            <a:xfrm>
              <a:off x="4800600" y="6027840"/>
              <a:ext cx="4343400" cy="830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" name="TextBox 4"/>
            <p:cNvSpPr/>
            <p:nvPr/>
          </p:nvSpPr>
          <p:spPr>
            <a:xfrm>
              <a:off x="4191120" y="6629400"/>
              <a:ext cx="4876920" cy="1828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Slide Number Placeholder 7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478514-EABC-44D8-B62C-BD45D659B86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137160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Opening Remarks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85440" y="2514240"/>
            <a:ext cx="792468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Cita Furlani, Director, Information Technology Laboratory, NIST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John Wack, Technical Manager, NIST Voting Program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James Long, Computer Engineer, Election Assistance Commission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98F2B450-CC09-4606-B71E-C79A6DEDDDA5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/>
          </p:nvPr>
        </p:nvSpPr>
        <p:spPr>
          <a:xfrm>
            <a:off x="914400" y="23619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To identify and agree upon a set of requirements for a common data format for voting systems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interoperability of different equipment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auditability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transparency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publishing (communication with consumers of election data, such as media outlets)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integration between polls and registration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99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transition to electronic record-keeping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609480" y="137160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CDF Workshop Goals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0D01E181-0BB6-41BD-8843-91554BF3FEDC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/>
          </p:nvPr>
        </p:nvSpPr>
        <p:spPr>
          <a:xfrm>
            <a:off x="914400" y="23619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Stakeholders include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voters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manufacturers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election officials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consumers of election data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organizations with existing data formats (e.g., OASIS)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academics and others with related work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609480" y="137160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CDF Workshop Goals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270E44D0-29D4-4AF2-A71E-BA5904ACD253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137160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CDF Workshop Conclusions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3619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We will catalog requirements as they are identified and discuss them on Day 2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Panels moderated by Mark Skall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Requirements determined by the end of this workshop will be distributed to you for review and comment, using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sng">
                <a:solidFill>
                  <a:srgbClr val="ff0000"/>
                </a:solidFill>
                <a:effectLst/>
                <a:uFillTx/>
                <a:latin typeface="Tahoma"/>
                <a:hlinkClick r:id="rId1"/>
              </a:rPr>
              <a:t>cdf@nist.gov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 and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sng">
                <a:solidFill>
                  <a:srgbClr val="ff0000"/>
                </a:solidFill>
                <a:effectLst/>
                <a:uFillTx/>
                <a:latin typeface="Tahoma"/>
                <a:hlinkClick r:id="rId2"/>
              </a:rPr>
              <a:t>http://vote.nist.gov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2748AAF3-A830-426F-806A-DD2A138E930F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137160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Workshop Structure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914400" y="23619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Opening Remarks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Four Panels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Election official and State experiences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Common data format research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OASIS EML overview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Manufacturer and integrator panel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Requirements summaries and next steps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BAB6606F-828B-48E4-A2D5-3F7C785E4128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137160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The TGDC’s VVSG 2007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914400" y="23619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Does not identify a specific standard, but encourages formats such as OASIS EML or output of IEEE Voting System Electronic Data Interchange Project 1622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Has mostly SHOULD requirements: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The voting system SHALL use a non-restrictive, publicly-available format with respect to export of report data.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Voting systems SHOULD use a common, consensus-based format for export and interchange of data and reports.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51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The voting system manufacturer SHOULD use a common format for export and interchange of data and reports across its major device categories.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1AC0F021-E876-4C25-B26E-F1EF318F50E2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1676520"/>
            <a:ext cx="914400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Panel 1: Election Officials and State Experiences with Common Data Formats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914400" y="28191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This panel presents state election official experiences dealing with election data and common formats.  The goal of the panel is to discuss and derive requirements for a common data format.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Panel is from 9:45 till 12 noon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Break at 10:15 – 10:30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Each speaker has 20 minutes including questions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2363C28C-9DE5-4738-929B-E6AA393D21BA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0" y="1676520"/>
            <a:ext cx="914400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Panel 1: Election Officials and State Experiences with Common Data Formats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914400" y="28191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Paul Miller, Voting Systems Manager, State of Washington, Office of the Secretary of State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Lowell Finley, Deputy Secretary, Voting Systems Technology &amp; Policy, California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Paul Lux, Supervisor of Elections, Okaloosa County, Florida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Paul Stenbjorn, Information Services Manager, Virginia State Board of Elections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Scott Hilkert, Managing Principal and COO, Catalyst Consulting Group, Inc.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Neal McBurnett, Consultant, ElectionAudits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DDB425C7-97B0-444D-9B65-5981132127E9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167652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Panel 2: Common Data Format Research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914400" y="25905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This panel presents research and other industry conclusions regarding common data formats, including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What data needs to be represented by a CDF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Usability issues with a CDF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A data model for a CDF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400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Points within the election process where data in a CDF is needed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Panel is from 1 PM till 4 PM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Break at 2:15 – 2:45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Each speaker has 30 minutes including questions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C4465597-479F-42B5-933F-2481B6976ADA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167652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Panel 2: Common Data Format Research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914400" y="274284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Andrea Mascher, The University of Iowa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Sharon Laskowski, NIST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David Flater, NIST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John Sebes, Co-Director, Open Source Digital Voting Foundation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Kim Brace, Election Data Services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09B9F856-ED6A-408B-BBFA-5447C3DFB388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167652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Panel 3: OASIS Election Markup Language (EML) Overview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914400" y="274284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This panel presents information about OASIS Election Markup Language (EML).  The goal of this panel is to learn more about EML in light of requirements generated by this workshop.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Panel is from 4 PM till 5:30 PM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Each speaker has 30 minutes including questions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09184D80-9395-47D5-84EF-515044F7A346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167652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Panel 3: OASIS Election Markup Language (EML) Overview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914400" y="274284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John McCarthy, Verified Voting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John Borras (via phone), Chair of OASIS E &amp; VS Technical Committee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David Webber, OASIS / Open Voting Solutions Inc.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4007F3D1-0B4B-4A54-9AB9-5ABC9DDCC24C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1752120"/>
            <a:ext cx="7793280" cy="83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Panel 4: Manufacturer and Integrator Panel Discussion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914400" y="28191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This panel presents manufacturer and integrator information about specific common formats, how common formats affect manufacturers, interoperability issues, and requirements.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Panel is from 9:00 till 11:00 AM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Break at 10:15 – 10:30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Each speaker has 15-20 minutes including questions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6257D185-8C3E-47F1-99BD-F5E06B171CC3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1752120"/>
            <a:ext cx="7793280" cy="83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Panel 4: Manufacturer and Integrator Panel Discussion</a:t>
            </a:r>
            <a:endParaRPr b="0" lang="en-IN" sz="36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14400" y="2819160"/>
            <a:ext cx="7848720" cy="380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Duncan Buell, Department of Computer Science and Engineering, University of South Carolina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Ed Smith, Dominion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Eric Coomer, Sequoia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Parker Abercrombie, Open Voting Consortium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Daemmon Hughes, Overseas Vote Foundation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ahoma"/>
              </a:rPr>
              <a:t>Aaron Strauss, Voting Information Project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DF3714BD-9B7C-4D98-ACBD-911F3B2B31CB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1980720"/>
            <a:ext cx="7793280" cy="83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Requirements Roundtable Discussion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F4DFED8A-06B9-4DC9-B05E-B153FC72924C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137160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Next Steps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 Placeholder 1"/>
          <p:cNvSpPr/>
          <p:nvPr/>
        </p:nvSpPr>
        <p:spPr>
          <a:xfrm>
            <a:off x="6629400" y="6381720"/>
            <a:ext cx="213372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Page </a:t>
            </a:r>
            <a:fld id="{453CE745-5E28-45D8-A89C-8E48A2E59D57}" type="slidenum">
              <a:rPr b="1" lang="en-US" sz="12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1371600"/>
            <a:ext cx="7793280" cy="83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333399"/>
                </a:solidFill>
                <a:effectLst/>
                <a:uFillTx/>
                <a:latin typeface="Tahoma"/>
              </a:rPr>
              <a:t>Adjourn</a:t>
            </a:r>
            <a:endParaRPr b="0" lang="en-IN" sz="4400" strike="noStrike" u="none">
              <a:solidFill>
                <a:srgbClr val="333399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18373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2009-10-28T16:01:17Z</dcterms:created>
  <dc:creator>Sharon Laskowski</dc:creator>
  <dc:description/>
  <dc:language>en-IN</dc:language>
  <cp:lastModifiedBy>home user</cp:lastModifiedBy>
  <dcterms:modified xsi:type="dcterms:W3CDTF">2009-10-28T16:17:33Z</dcterms:modified>
  <cp:revision>1141</cp:revision>
  <dc:subject>dec 12-14, 2007, Austin, SB&amp;AB</dc:subject>
  <dc:title>Next VVSG: chapter 3 </dc:title>
</cp:coreProperties>
</file>