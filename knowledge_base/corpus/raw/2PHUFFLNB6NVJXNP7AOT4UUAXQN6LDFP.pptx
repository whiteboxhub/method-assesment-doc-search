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4.xml" ContentType="application/vnd.openxmlformats-officedocument.presentationml.notesSlide+xml"/>
  <Override PartName="/ppt/notesSlides/notesSlide8.xml" ContentType="application/vnd.openxmlformats-officedocument.presentationml.notesSlide+xml"/>
  <Override PartName="/ppt/notesSlides/_rels/notesSlide4.xml.rels" ContentType="application/vnd.openxmlformats-package.relationships+xml"/>
  <Override PartName="/ppt/notesSlides/_rels/notesSlide8.xml.rels" ContentType="application/vnd.openxmlformats-package.relationships+xml"/>
  <Override PartName="/ppt/notesSlides/_rels/notesSlide10.xml.rels" ContentType="application/vnd.openxmlformats-package.relationships+xml"/>
  <Override PartName="/ppt/notesSlides/_rels/notesSlide14.xml.rels" ContentType="application/vnd.openxmlformats-package.relationships+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embeddings/oleObject1.bin" ContentType="application/vnd.openxmlformats-officedocument.oleObject"/>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12.xml.rels" ContentType="application/vnd.openxmlformats-package.relationships+xml"/>
  <Override PartName="/ppt/slideLayouts/_rels/slideLayout9.xml.rels" ContentType="application/vnd.openxmlformats-package.relationships+xml"/>
  <Override PartName="/ppt/media/image1.jpeg" ContentType="image/jpeg"/>
  <Override PartName="/ppt/media/image17.jpeg" ContentType="image/jpeg"/>
  <Override PartName="/ppt/media/image3.png" ContentType="image/png"/>
  <Override PartName="/ppt/media/image2.png" ContentType="image/png"/>
  <Override PartName="/ppt/media/image4.jpeg" ContentType="image/jpeg"/>
  <Override PartName="/ppt/media/image11.png" ContentType="image/png"/>
  <Override PartName="/ppt/media/image5.jpeg" ContentType="image/jpeg"/>
  <Override PartName="/ppt/media/image7.png" ContentType="image/png"/>
  <Override PartName="/ppt/media/image6.jpeg" ContentType="image/jpeg"/>
  <Override PartName="/ppt/media/image8.jpeg" ContentType="image/jpeg"/>
  <Override PartName="/ppt/media/image9.jpeg" ContentType="image/jpeg"/>
  <Override PartName="/ppt/media/image10.png" ContentType="image/png"/>
  <Override PartName="/ppt/media/image29.jpeg" ContentType="image/jpeg"/>
  <Override PartName="/ppt/media/image12.wmf" ContentType="image/x-wmf"/>
  <Override PartName="/ppt/media/image28.jpeg" ContentType="image/jpeg"/>
  <Override PartName="/ppt/media/image13.jpeg" ContentType="image/jpeg"/>
  <Override PartName="/ppt/media/image19.png" ContentType="image/png"/>
  <Override PartName="/ppt/media/image14.jpeg" ContentType="image/jpeg"/>
  <Override PartName="/ppt/media/image15.jpeg" ContentType="image/jpeg"/>
  <Override PartName="/ppt/media/image16.png" ContentType="image/png"/>
  <Override PartName="/ppt/media/image18.jpeg" ContentType="image/jpeg"/>
  <Override PartName="/ppt/media/image20.png" ContentType="image/png"/>
  <Override PartName="/ppt/media/image21.jpeg" ContentType="image/jpeg"/>
  <Override PartName="/ppt/media/image22.png" ContentType="image/png"/>
  <Override PartName="/ppt/media/image23.jpeg" ContentType="image/jpeg"/>
  <Override PartName="/ppt/media/image24.jpeg" ContentType="image/jpeg"/>
  <Override PartName="/ppt/media/image25.jpeg" ContentType="image/jpeg"/>
  <Override PartName="/ppt/media/image26.jpeg" ContentType="image/jpeg"/>
  <Override PartName="/ppt/media/image27.jpeg" ContentType="image/jpeg"/>
  <Override PartName="/ppt/media/image30.jpeg" ContentType="image/jpeg"/>
  <Override PartName="/ppt/media/image31.jpeg" ContentType="image/jpeg"/>
  <Override PartName="/ppt/media/image32.jpeg" ContentType="image/jpeg"/>
  <Override PartName="/ppt/media/image33.jpeg" ContentType="image/jpeg"/>
  <Override PartName="/ppt/media/image34.jpeg" ContentType="image/jpeg"/>
  <Override PartName="/ppt/media/image35.jpeg" ContentType="image/jpeg"/>
  <Override PartName="/ppt/media/image36.jpeg" ContentType="image/jpeg"/>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9144000" cy="6858000"/>
  <p:notesSz cx="6934200" cy="923448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p:nvPr/>
        </p:nvSpPr>
        <p:spPr>
          <a:xfrm>
            <a:off x="0" y="0"/>
            <a:ext cx="6933600" cy="92340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000000"/>
              </a:solidFill>
              <a:effectLst/>
              <a:uFillTx/>
              <a:latin typeface="Arial"/>
            </a:endParaRPr>
          </a:p>
        </p:txBody>
      </p:sp>
      <p:sp>
        <p:nvSpPr>
          <p:cNvPr id="65" name="PlaceHolder 1"/>
          <p:cNvSpPr>
            <a:spLocks noGrp="1"/>
          </p:cNvSpPr>
          <p:nvPr>
            <p:ph type="hdr"/>
          </p:nvPr>
        </p:nvSpPr>
        <p:spPr>
          <a:xfrm>
            <a:off x="0" y="-360"/>
            <a:ext cx="3005280" cy="461880"/>
          </a:xfrm>
          <a:prstGeom prst="rect">
            <a:avLst/>
          </a:prstGeom>
          <a:noFill/>
          <a:ln w="0">
            <a:noFill/>
          </a:ln>
        </p:spPr>
        <p:txBody>
          <a:bodyPr lIns="92520" rIns="92520" tIns="46080" bIns="46080" anchor="t">
            <a:noAutofit/>
          </a:bodyPr>
          <a:p>
            <a:pPr marL="216000" indent="0">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pPr>
            <a:r>
              <a:rPr b="0" lang="en-US" sz="1200" strike="noStrike" u="none">
                <a:solidFill>
                  <a:srgbClr val="000000"/>
                </a:solidFill>
                <a:effectLst/>
                <a:uFillTx/>
                <a:latin typeface="Times New Roman"/>
              </a:rPr>
              <a:t>&lt;header&gt;</a:t>
            </a:r>
            <a:endParaRPr b="0" lang="en-IN" sz="1200" strike="noStrike" u="none">
              <a:solidFill>
                <a:srgbClr val="000000"/>
              </a:solidFill>
              <a:effectLst/>
              <a:uFillTx/>
              <a:latin typeface="Times New Roman"/>
            </a:endParaRPr>
          </a:p>
        </p:txBody>
      </p:sp>
      <p:sp>
        <p:nvSpPr>
          <p:cNvPr id="66" name="PlaceHolder 2"/>
          <p:cNvSpPr>
            <a:spLocks noGrp="1"/>
          </p:cNvSpPr>
          <p:nvPr>
            <p:ph type="dt" idx="1"/>
          </p:nvPr>
        </p:nvSpPr>
        <p:spPr>
          <a:xfrm>
            <a:off x="3927240" y="-360"/>
            <a:ext cx="3004920" cy="461880"/>
          </a:xfrm>
          <a:prstGeom prst="rect">
            <a:avLst/>
          </a:prstGeom>
          <a:noFill/>
          <a:ln w="0">
            <a:noFill/>
          </a:ln>
        </p:spPr>
        <p:txBody>
          <a:bodyPr lIns="92520" rIns="92520" tIns="46080" bIns="46080" anchor="t">
            <a:noAutofit/>
          </a:bodyPr>
          <a:lstStyle>
            <a:lvl1pPr marL="216000" indent="0" algn="r">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defRPr b="0" lang="en-US" sz="1200" strike="noStrike" u="none">
                <a:solidFill>
                  <a:srgbClr val="000000"/>
                </a:solidFill>
                <a:effectLst/>
                <a:uFillTx/>
                <a:latin typeface="Times New Roman"/>
              </a:defRPr>
            </a:lvl1pPr>
          </a:lstStyle>
          <a:p>
            <a:pPr marL="216000" indent="0" algn="r">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pPr>
            <a:r>
              <a:rPr b="0" lang="en-US" sz="1200" strike="noStrike" u="none">
                <a:solidFill>
                  <a:srgbClr val="000000"/>
                </a:solidFill>
                <a:effectLst/>
                <a:uFillTx/>
                <a:latin typeface="Times New Roman"/>
              </a:rPr>
              <a:t>&lt;date/time&gt;</a:t>
            </a:r>
            <a:endParaRPr b="0" lang="en-IN" sz="1200" strike="noStrike" u="none">
              <a:solidFill>
                <a:srgbClr val="000000"/>
              </a:solidFill>
              <a:effectLst/>
              <a:uFillTx/>
              <a:latin typeface="Times New Roman"/>
            </a:endParaRPr>
          </a:p>
        </p:txBody>
      </p:sp>
      <p:sp>
        <p:nvSpPr>
          <p:cNvPr id="67" name="PlaceHolder 3"/>
          <p:cNvSpPr>
            <a:spLocks noGrp="1"/>
          </p:cNvSpPr>
          <p:nvPr>
            <p:ph type="sldImg"/>
          </p:nvPr>
        </p:nvSpPr>
        <p:spPr>
          <a:xfrm>
            <a:off x="1158840" y="692280"/>
            <a:ext cx="4618080" cy="3463920"/>
          </a:xfrm>
          <a:prstGeom prst="rect">
            <a:avLst/>
          </a:prstGeom>
          <a:solidFill>
            <a:srgbClr val="ffffff"/>
          </a:solid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move the slide</a:t>
            </a:r>
            <a:endParaRPr b="1" lang="en-IN" sz="3200" strike="noStrike" u="none">
              <a:solidFill>
                <a:srgbClr val="ffffff"/>
              </a:solidFill>
              <a:effectLst/>
              <a:uFillTx/>
              <a:latin typeface="Myriad Web"/>
            </a:endParaRPr>
          </a:p>
        </p:txBody>
      </p:sp>
      <p:sp>
        <p:nvSpPr>
          <p:cNvPr id="68" name="PlaceHolder 4"/>
          <p:cNvSpPr>
            <a:spLocks noGrp="1"/>
          </p:cNvSpPr>
          <p:nvPr>
            <p:ph type="body"/>
          </p:nvPr>
        </p:nvSpPr>
        <p:spPr>
          <a:xfrm>
            <a:off x="693720" y="4385880"/>
            <a:ext cx="5546880" cy="4156200"/>
          </a:xfrm>
          <a:prstGeom prst="rect">
            <a:avLst/>
          </a:prstGeom>
          <a:noFill/>
          <a:ln w="0">
            <a:noFill/>
          </a:ln>
        </p:spPr>
        <p:txBody>
          <a:bodyPr lIns="92520" rIns="92520" tIns="46080" bIns="4608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69" name="PlaceHolder 5"/>
          <p:cNvSpPr>
            <a:spLocks noGrp="1"/>
          </p:cNvSpPr>
          <p:nvPr>
            <p:ph type="ftr" idx="2"/>
          </p:nvPr>
        </p:nvSpPr>
        <p:spPr>
          <a:xfrm>
            <a:off x="0" y="8770680"/>
            <a:ext cx="3005280" cy="461880"/>
          </a:xfrm>
          <a:prstGeom prst="rect">
            <a:avLst/>
          </a:prstGeom>
          <a:noFill/>
          <a:ln w="0">
            <a:noFill/>
          </a:ln>
        </p:spPr>
        <p:txBody>
          <a:bodyPr lIns="92520" rIns="92520" tIns="46080" bIns="46080" anchor="b">
            <a:noAutofit/>
          </a:bodyPr>
          <a:lstStyle>
            <a:lvl1pPr marL="216000" indent="0">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defRPr b="0" lang="en-US" sz="1200" strike="noStrike" u="none">
                <a:solidFill>
                  <a:srgbClr val="000000"/>
                </a:solidFill>
                <a:effectLst/>
                <a:uFillTx/>
                <a:latin typeface="Times New Roman"/>
              </a:defRPr>
            </a:lvl1pPr>
          </a:lstStyle>
          <a:p>
            <a:pPr marL="216000" indent="0">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pPr>
            <a:r>
              <a:rPr b="0" lang="en-US" sz="1200" strike="noStrike" u="none">
                <a:solidFill>
                  <a:srgbClr val="000000"/>
                </a:solidFill>
                <a:effectLst/>
                <a:uFillTx/>
                <a:latin typeface="Times New Roman"/>
              </a:rPr>
              <a:t>&lt;footer&gt;</a:t>
            </a:r>
            <a:endParaRPr b="0" lang="en-IN" sz="1200" strike="noStrike" u="none">
              <a:solidFill>
                <a:srgbClr val="000000"/>
              </a:solidFill>
              <a:effectLst/>
              <a:uFillTx/>
              <a:latin typeface="Times New Roman"/>
            </a:endParaRPr>
          </a:p>
        </p:txBody>
      </p:sp>
      <p:sp>
        <p:nvSpPr>
          <p:cNvPr id="70" name="PlaceHolder 6"/>
          <p:cNvSpPr>
            <a:spLocks noGrp="1"/>
          </p:cNvSpPr>
          <p:nvPr>
            <p:ph type="sldNum" idx="3"/>
          </p:nvPr>
        </p:nvSpPr>
        <p:spPr>
          <a:xfrm>
            <a:off x="3927240" y="8770680"/>
            <a:ext cx="3004920" cy="461880"/>
          </a:xfrm>
          <a:prstGeom prst="rect">
            <a:avLst/>
          </a:prstGeom>
          <a:noFill/>
          <a:ln w="0">
            <a:noFill/>
          </a:ln>
        </p:spPr>
        <p:txBody>
          <a:bodyPr lIns="92520" rIns="92520" tIns="46080" bIns="46080" anchor="b">
            <a:noAutofit/>
          </a:bodyPr>
          <a:lstStyle>
            <a:lvl1pPr marL="216000" indent="0" algn="r">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defRPr b="0" lang="en-US" sz="1200" strike="noStrike" u="none">
                <a:solidFill>
                  <a:srgbClr val="000000"/>
                </a:solidFill>
                <a:effectLst/>
                <a:uFillTx/>
                <a:latin typeface="Times New Roman"/>
              </a:defRPr>
            </a:lvl1pPr>
          </a:lstStyle>
          <a:p>
            <a:pPr marL="216000" indent="0" algn="r">
              <a:buNone/>
              <a:tabLst>
                <a:tab algn="l" pos="0"/>
                <a:tab algn="l" pos="923760"/>
                <a:tab algn="l" pos="1847880"/>
                <a:tab algn="l" pos="2771640"/>
                <a:tab algn="l" pos="3695760"/>
                <a:tab algn="l" pos="4619520"/>
                <a:tab algn="l" pos="5543640"/>
                <a:tab algn="l" pos="6467400"/>
                <a:tab algn="l" pos="7391520"/>
                <a:tab algn="l" pos="8315280"/>
                <a:tab algn="l" pos="9239400"/>
                <a:tab algn="l" pos="10163160"/>
              </a:tabLst>
            </a:pPr>
            <a:fld id="{1C8EA42A-E617-4CEF-B9AA-1CDDAA0734AE}"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 name="PlaceHolder 1"/>
          <p:cNvSpPr>
            <a:spLocks noGrp="1"/>
          </p:cNvSpPr>
          <p:nvPr>
            <p:ph type="sldImg"/>
          </p:nvPr>
        </p:nvSpPr>
        <p:spPr>
          <a:xfrm>
            <a:off x="1158840" y="692280"/>
            <a:ext cx="4618080" cy="3463920"/>
          </a:xfrm>
          <a:prstGeom prst="rect">
            <a:avLst/>
          </a:prstGeom>
          <a:ln w="0">
            <a:noFill/>
          </a:ln>
        </p:spPr>
      </p:sp>
      <p:sp>
        <p:nvSpPr>
          <p:cNvPr id="1087" name="PlaceHolder 2"/>
          <p:cNvSpPr>
            <a:spLocks noGrp="1"/>
          </p:cNvSpPr>
          <p:nvPr>
            <p:ph type="body"/>
          </p:nvPr>
        </p:nvSpPr>
        <p:spPr>
          <a:xfrm>
            <a:off x="693720" y="4385880"/>
            <a:ext cx="5546880" cy="4156200"/>
          </a:xfrm>
          <a:prstGeom prst="rect">
            <a:avLst/>
          </a:prstGeom>
          <a:noFill/>
          <a:ln w="0">
            <a:noFill/>
          </a:ln>
        </p:spPr>
        <p:txBody>
          <a:bodyPr lIns="92520" rIns="92520" tIns="46080" bIns="46080" anchor="t">
            <a:noAutofit/>
          </a:bodyPr>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BRDPI</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FY04 (actual) 3.5%</a:t>
            </a:r>
            <a:r>
              <a:rPr b="1" lang="en-IN" sz="1000" strike="noStrike" u="none">
                <a:solidFill>
                  <a:srgbClr val="cc0000"/>
                </a:solidFill>
                <a:effectLst/>
                <a:uFillTx/>
                <a:latin typeface="Arial"/>
              </a:rPr>
              <a:t>	</a:t>
            </a:r>
            <a:endParaRPr b="0" lang="en-IN" sz="1000" strike="noStrike" u="none">
              <a:solidFill>
                <a:srgbClr val="000000"/>
              </a:solidFill>
              <a:effectLst/>
              <a:uFillTx/>
              <a:latin typeface="Arial"/>
            </a:endParaRPr>
          </a:p>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FY05 (est.)     3.3%</a:t>
            </a:r>
            <a:r>
              <a:rPr b="1" lang="en-IN" sz="1000" strike="noStrike" u="none">
                <a:solidFill>
                  <a:srgbClr val="cc0000"/>
                </a:solidFill>
                <a:effectLst/>
                <a:uFillTx/>
                <a:latin typeface="Arial"/>
              </a:rPr>
              <a:t>	</a:t>
            </a:r>
            <a:endParaRPr b="0" lang="en-IN" sz="1000" strike="noStrike" u="none">
              <a:solidFill>
                <a:srgbClr val="000000"/>
              </a:solidFill>
              <a:effectLst/>
              <a:uFillTx/>
              <a:latin typeface="Arial"/>
            </a:endParaRPr>
          </a:p>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FY06 (est.)     3.2%</a:t>
            </a:r>
            <a:r>
              <a:rPr b="1" lang="en-IN" sz="1000" strike="noStrike" u="none">
                <a:solidFill>
                  <a:srgbClr val="cc0000"/>
                </a:solidFill>
                <a:effectLst/>
                <a:uFillTx/>
                <a:latin typeface="Arial"/>
              </a:rPr>
              <a:t>	</a:t>
            </a:r>
            <a:endParaRPr b="0" lang="en-IN" sz="1000" strike="noStrike" u="none">
              <a:solidFill>
                <a:srgbClr val="000000"/>
              </a:solidFill>
              <a:effectLst/>
              <a:uFillTx/>
              <a:latin typeface="Arial"/>
            </a:endParaRPr>
          </a:p>
          <a:p>
            <a:pPr indent="0">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	</a:t>
            </a:r>
            <a:r>
              <a:rPr b="1" lang="en-IN" sz="1000" strike="noStrike" u="none">
                <a:solidFill>
                  <a:srgbClr val="cc0000"/>
                </a:solidFill>
                <a:effectLst/>
                <a:uFillTx/>
                <a:latin typeface="Arial"/>
              </a:rPr>
              <a:t>FY07 (est.)     3.2%</a:t>
            </a:r>
            <a:endParaRPr b="0" lang="en-IN" sz="1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 name="PlaceHolder 1"/>
          <p:cNvSpPr>
            <a:spLocks noGrp="1"/>
          </p:cNvSpPr>
          <p:nvPr>
            <p:ph type="sldImg"/>
          </p:nvPr>
        </p:nvSpPr>
        <p:spPr>
          <a:xfrm>
            <a:off x="1158840" y="692280"/>
            <a:ext cx="4618080" cy="3463920"/>
          </a:xfrm>
          <a:prstGeom prst="rect">
            <a:avLst/>
          </a:prstGeom>
          <a:ln w="0">
            <a:noFill/>
          </a:ln>
        </p:spPr>
      </p:sp>
      <p:sp>
        <p:nvSpPr>
          <p:cNvPr id="1089" name="PlaceHolder 2"/>
          <p:cNvSpPr>
            <a:spLocks noGrp="1"/>
          </p:cNvSpPr>
          <p:nvPr>
            <p:ph type="body"/>
          </p:nvPr>
        </p:nvSpPr>
        <p:spPr>
          <a:xfrm>
            <a:off x="693720" y="4385880"/>
            <a:ext cx="5546880" cy="4156200"/>
          </a:xfrm>
          <a:prstGeom prst="rect">
            <a:avLst/>
          </a:prstGeom>
          <a:noFill/>
          <a:ln w="0">
            <a:noFill/>
          </a:ln>
        </p:spPr>
        <p:txBody>
          <a:bodyPr lIns="92520" rIns="92520" tIns="46080" bIns="4608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7.3% loss does not reflect increased requirements for biodefense and program evaluation (PE) tap.  Biodefense has grown by $530 million since 2003, and is now 6% of NIH budget.  PE tap has grown $100 million from 2003 to 2006.  Purchasing power for NIH non-biodefense net of PE tap has fallen 9.0% since 2003.</a:t>
            </a:r>
            <a:endParaRPr b="0" lang="en-IN" sz="12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1157400" y="692280"/>
            <a:ext cx="4616280" cy="3462120"/>
          </a:xfrm>
          <a:prstGeom prst="rect">
            <a:avLst/>
          </a:prstGeom>
          <a:ln w="0">
            <a:noFill/>
          </a:ln>
        </p:spPr>
      </p:sp>
      <p:sp>
        <p:nvSpPr>
          <p:cNvPr id="1091" name="PlaceHolder 2"/>
          <p:cNvSpPr>
            <a:spLocks noGrp="1"/>
          </p:cNvSpPr>
          <p:nvPr>
            <p:ph type="body"/>
          </p:nvPr>
        </p:nvSpPr>
        <p:spPr>
          <a:xfrm>
            <a:off x="693720" y="4385880"/>
            <a:ext cx="5546880" cy="4156200"/>
          </a:xfrm>
          <a:prstGeom prst="rect">
            <a:avLst/>
          </a:prstGeom>
          <a:noFill/>
          <a:ln w="0">
            <a:noFill/>
          </a:ln>
        </p:spPr>
        <p:txBody>
          <a:bodyPr lIns="92520" rIns="92520" tIns="46080" bIns="4608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	</a:t>
            </a:r>
            <a:endParaRPr b="0" lang="en-IN"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 name="PlaceHolder 1"/>
          <p:cNvSpPr>
            <a:spLocks noGrp="1"/>
          </p:cNvSpPr>
          <p:nvPr>
            <p:ph type="sldImg"/>
          </p:nvPr>
        </p:nvSpPr>
        <p:spPr>
          <a:xfrm>
            <a:off x="1158840" y="692280"/>
            <a:ext cx="4618080" cy="3463920"/>
          </a:xfrm>
          <a:prstGeom prst="rect">
            <a:avLst/>
          </a:prstGeom>
          <a:ln w="0">
            <a:noFill/>
          </a:ln>
        </p:spPr>
      </p:sp>
      <p:sp>
        <p:nvSpPr>
          <p:cNvPr id="1093" name="PlaceHolder 2"/>
          <p:cNvSpPr>
            <a:spLocks noGrp="1"/>
          </p:cNvSpPr>
          <p:nvPr>
            <p:ph type="body"/>
          </p:nvPr>
        </p:nvSpPr>
        <p:spPr>
          <a:xfrm>
            <a:off x="693720" y="4385880"/>
            <a:ext cx="5546880" cy="4156200"/>
          </a:xfrm>
          <a:prstGeom prst="rect">
            <a:avLst/>
          </a:prstGeom>
          <a:noFill/>
          <a:ln w="0">
            <a:noFill/>
          </a:ln>
        </p:spPr>
        <p:txBody>
          <a:bodyPr lIns="92520" rIns="92520" tIns="46080" bIns="46080" anchor="t">
            <a:noAutofit/>
          </a:bodyPr>
          <a:p>
            <a:pPr indent="0">
              <a:spcBef>
                <a:spcPts val="788"/>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FY 2005- 22.3% success rate for applications, but 27.6% for applicants</a:t>
            </a:r>
            <a:endParaRPr b="0" lang="en-IN" sz="1400" strike="noStrike" u="none">
              <a:solidFill>
                <a:srgbClr val="000000"/>
              </a:solidFill>
              <a:effectLst/>
              <a:uFillTx/>
              <a:latin typeface="Arial"/>
            </a:endParaRPr>
          </a:p>
          <a:p>
            <a:pPr indent="0">
              <a:spcBef>
                <a:spcPts val="788"/>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FY 2006- 19.8% for applications, but ~25% for applicants</a:t>
            </a:r>
            <a:endParaRPr b="0" lang="en-IN" sz="14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p:bg>
      <p:bgPr>
        <a:solidFill>
          <a:srgbClr val="2e2f90"/>
        </a:solidFill>
      </p:bgPr>
    </p:bg>
    <p:spTree>
      <p:nvGrpSpPr>
        <p:cNvPr id="1" name=""/>
        <p:cNvGrpSpPr/>
        <p:nvPr/>
      </p:nvGrpSpPr>
      <p:grpSpPr>
        <a:xfrm>
          <a:off x="0" y="0"/>
          <a:ext cx="0" cy="0"/>
          <a:chOff x="0" y="0"/>
          <a:chExt cx="0" cy="0"/>
        </a:xfrm>
      </p:grpSpPr>
      <p:pic>
        <p:nvPicPr>
          <p:cNvPr id="0" name="" descr=""/>
          <p:cNvPicPr/>
          <p:nvPr/>
        </p:nvPicPr>
        <p:blipFill>
          <a:blip r:embed="rId2"/>
          <a:srcRect l="0" t="0" r="2464" b="0"/>
          <a:stretch/>
        </p:blipFill>
        <p:spPr>
          <a:xfrm>
            <a:off x="0" y="0"/>
            <a:ext cx="939960" cy="6858000"/>
          </a:xfrm>
          <a:prstGeom prst="rect">
            <a:avLst/>
          </a:prstGeom>
          <a:noFill/>
          <a:ln w="0">
            <a:noFill/>
          </a:ln>
        </p:spPr>
      </p:pic>
      <p:sp>
        <p:nvSpPr>
          <p:cNvPr id="1"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2"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3" name="" descr=""/>
          <p:cNvPicPr/>
          <p:nvPr/>
        </p:nvPicPr>
        <p:blipFill>
          <a:blip r:embed="rId3"/>
          <a:stretch/>
        </p:blipFill>
        <p:spPr>
          <a:xfrm>
            <a:off x="47520" y="6324480"/>
            <a:ext cx="486000" cy="486000"/>
          </a:xfrm>
          <a:prstGeom prst="rect">
            <a:avLst/>
          </a:prstGeom>
          <a:noFill/>
          <a:ln w="0">
            <a:noFill/>
          </a:ln>
        </p:spPr>
      </p:pic>
      <p:pic>
        <p:nvPicPr>
          <p:cNvPr id="4"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Default">
    <p:bg>
      <p:bgPr>
        <a:solidFill>
          <a:srgbClr val="2e2f90"/>
        </a:solidFill>
      </p:bgPr>
    </p:bg>
    <p:spTree>
      <p:nvGrpSpPr>
        <p:cNvPr id="1" name=""/>
        <p:cNvGrpSpPr/>
        <p:nvPr/>
      </p:nvGrpSpPr>
      <p:grpSpPr>
        <a:xfrm>
          <a:off x="0" y="0"/>
          <a:ext cx="0" cy="0"/>
          <a:chOff x="0" y="0"/>
          <a:chExt cx="0" cy="0"/>
        </a:xfrm>
      </p:grpSpPr>
      <p:pic>
        <p:nvPicPr>
          <p:cNvPr id="5" name="" descr=""/>
          <p:cNvPicPr/>
          <p:nvPr/>
        </p:nvPicPr>
        <p:blipFill>
          <a:blip r:embed="rId2"/>
          <a:srcRect l="0" t="0" r="2464" b="0"/>
          <a:stretch/>
        </p:blipFill>
        <p:spPr>
          <a:xfrm>
            <a:off x="0" y="0"/>
            <a:ext cx="939960" cy="6858000"/>
          </a:xfrm>
          <a:prstGeom prst="rect">
            <a:avLst/>
          </a:prstGeom>
          <a:noFill/>
          <a:ln w="0">
            <a:noFill/>
          </a:ln>
        </p:spPr>
      </p:pic>
      <p:sp>
        <p:nvSpPr>
          <p:cNvPr id="6"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7"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8" name="" descr=""/>
          <p:cNvPicPr/>
          <p:nvPr/>
        </p:nvPicPr>
        <p:blipFill>
          <a:blip r:embed="rId3"/>
          <a:stretch/>
        </p:blipFill>
        <p:spPr>
          <a:xfrm>
            <a:off x="47520" y="6324480"/>
            <a:ext cx="486000" cy="486000"/>
          </a:xfrm>
          <a:prstGeom prst="rect">
            <a:avLst/>
          </a:prstGeom>
          <a:noFill/>
          <a:ln w="0">
            <a:noFill/>
          </a:ln>
        </p:spPr>
      </p:pic>
      <p:pic>
        <p:nvPicPr>
          <p:cNvPr id="9"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2e2f90"/>
        </a:solidFill>
      </p:bgPr>
    </p:bg>
    <p:spTree>
      <p:nvGrpSpPr>
        <p:cNvPr id="1" name=""/>
        <p:cNvGrpSpPr/>
        <p:nvPr/>
      </p:nvGrpSpPr>
      <p:grpSpPr>
        <a:xfrm>
          <a:off x="0" y="0"/>
          <a:ext cx="0" cy="0"/>
          <a:chOff x="0" y="0"/>
          <a:chExt cx="0" cy="0"/>
        </a:xfrm>
      </p:grpSpPr>
      <p:pic>
        <p:nvPicPr>
          <p:cNvPr id="10" name="" descr=""/>
          <p:cNvPicPr/>
          <p:nvPr/>
        </p:nvPicPr>
        <p:blipFill>
          <a:blip r:embed="rId2"/>
          <a:srcRect l="0" t="0" r="2464" b="0"/>
          <a:stretch/>
        </p:blipFill>
        <p:spPr>
          <a:xfrm>
            <a:off x="0" y="0"/>
            <a:ext cx="939960" cy="6858000"/>
          </a:xfrm>
          <a:prstGeom prst="rect">
            <a:avLst/>
          </a:prstGeom>
          <a:noFill/>
          <a:ln w="0">
            <a:noFill/>
          </a:ln>
        </p:spPr>
      </p:pic>
      <p:sp>
        <p:nvSpPr>
          <p:cNvPr id="11"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12"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13" name="" descr=""/>
          <p:cNvPicPr/>
          <p:nvPr/>
        </p:nvPicPr>
        <p:blipFill>
          <a:blip r:embed="rId3"/>
          <a:stretch/>
        </p:blipFill>
        <p:spPr>
          <a:xfrm>
            <a:off x="47520" y="6324480"/>
            <a:ext cx="486000" cy="486000"/>
          </a:xfrm>
          <a:prstGeom prst="rect">
            <a:avLst/>
          </a:prstGeom>
          <a:noFill/>
          <a:ln w="0">
            <a:noFill/>
          </a:ln>
        </p:spPr>
      </p:pic>
      <p:pic>
        <p:nvPicPr>
          <p:cNvPr id="14"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2e2f90"/>
        </a:solidFill>
      </p:bgPr>
    </p:bg>
    <p:spTree>
      <p:nvGrpSpPr>
        <p:cNvPr id="1" name=""/>
        <p:cNvGrpSpPr/>
        <p:nvPr/>
      </p:nvGrpSpPr>
      <p:grpSpPr>
        <a:xfrm>
          <a:off x="0" y="0"/>
          <a:ext cx="0" cy="0"/>
          <a:chOff x="0" y="0"/>
          <a:chExt cx="0" cy="0"/>
        </a:xfrm>
      </p:grpSpPr>
      <p:pic>
        <p:nvPicPr>
          <p:cNvPr id="15" name="" descr=""/>
          <p:cNvPicPr/>
          <p:nvPr/>
        </p:nvPicPr>
        <p:blipFill>
          <a:blip r:embed="rId2"/>
          <a:srcRect l="0" t="0" r="2464" b="0"/>
          <a:stretch/>
        </p:blipFill>
        <p:spPr>
          <a:xfrm>
            <a:off x="0" y="0"/>
            <a:ext cx="939960" cy="6858000"/>
          </a:xfrm>
          <a:prstGeom prst="rect">
            <a:avLst/>
          </a:prstGeom>
          <a:noFill/>
          <a:ln w="0">
            <a:noFill/>
          </a:ln>
        </p:spPr>
      </p:pic>
      <p:sp>
        <p:nvSpPr>
          <p:cNvPr id="16"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17"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18" name="" descr=""/>
          <p:cNvPicPr/>
          <p:nvPr/>
        </p:nvPicPr>
        <p:blipFill>
          <a:blip r:embed="rId3"/>
          <a:stretch/>
        </p:blipFill>
        <p:spPr>
          <a:xfrm>
            <a:off x="47520" y="6324480"/>
            <a:ext cx="486000" cy="486000"/>
          </a:xfrm>
          <a:prstGeom prst="rect">
            <a:avLst/>
          </a:prstGeom>
          <a:noFill/>
          <a:ln w="0">
            <a:noFill/>
          </a:ln>
        </p:spPr>
      </p:pic>
      <p:pic>
        <p:nvPicPr>
          <p:cNvPr id="19"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solidFill>
          <a:srgbClr val="2e2f90"/>
        </a:solidFill>
      </p:bgPr>
    </p:bg>
    <p:spTree>
      <p:nvGrpSpPr>
        <p:cNvPr id="1" name=""/>
        <p:cNvGrpSpPr/>
        <p:nvPr/>
      </p:nvGrpSpPr>
      <p:grpSpPr>
        <a:xfrm>
          <a:off x="0" y="0"/>
          <a:ext cx="0" cy="0"/>
          <a:chOff x="0" y="0"/>
          <a:chExt cx="0" cy="0"/>
        </a:xfrm>
      </p:grpSpPr>
      <p:pic>
        <p:nvPicPr>
          <p:cNvPr id="20" name="" descr=""/>
          <p:cNvPicPr/>
          <p:nvPr/>
        </p:nvPicPr>
        <p:blipFill>
          <a:blip r:embed="rId2"/>
          <a:srcRect l="0" t="0" r="2464" b="0"/>
          <a:stretch/>
        </p:blipFill>
        <p:spPr>
          <a:xfrm>
            <a:off x="0" y="0"/>
            <a:ext cx="939960" cy="6858000"/>
          </a:xfrm>
          <a:prstGeom prst="rect">
            <a:avLst/>
          </a:prstGeom>
          <a:noFill/>
          <a:ln w="0">
            <a:noFill/>
          </a:ln>
        </p:spPr>
      </p:pic>
      <p:sp>
        <p:nvSpPr>
          <p:cNvPr id="21"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22"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23" name="" descr=""/>
          <p:cNvPicPr/>
          <p:nvPr/>
        </p:nvPicPr>
        <p:blipFill>
          <a:blip r:embed="rId3"/>
          <a:stretch/>
        </p:blipFill>
        <p:spPr>
          <a:xfrm>
            <a:off x="47520" y="6324480"/>
            <a:ext cx="486000" cy="486000"/>
          </a:xfrm>
          <a:prstGeom prst="rect">
            <a:avLst/>
          </a:prstGeom>
          <a:noFill/>
          <a:ln w="0">
            <a:noFill/>
          </a:ln>
        </p:spPr>
      </p:pic>
      <p:pic>
        <p:nvPicPr>
          <p:cNvPr id="24"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2e2f90"/>
        </a:solidFill>
      </p:bgPr>
    </p:bg>
    <p:spTree>
      <p:nvGrpSpPr>
        <p:cNvPr id="1" name=""/>
        <p:cNvGrpSpPr/>
        <p:nvPr/>
      </p:nvGrpSpPr>
      <p:grpSpPr>
        <a:xfrm>
          <a:off x="0" y="0"/>
          <a:ext cx="0" cy="0"/>
          <a:chOff x="0" y="0"/>
          <a:chExt cx="0" cy="0"/>
        </a:xfrm>
      </p:grpSpPr>
      <p:pic>
        <p:nvPicPr>
          <p:cNvPr id="25" name="" descr=""/>
          <p:cNvPicPr/>
          <p:nvPr/>
        </p:nvPicPr>
        <p:blipFill>
          <a:blip r:embed="rId2"/>
          <a:srcRect l="0" t="0" r="2464" b="0"/>
          <a:stretch/>
        </p:blipFill>
        <p:spPr>
          <a:xfrm>
            <a:off x="0" y="0"/>
            <a:ext cx="939960" cy="6858000"/>
          </a:xfrm>
          <a:prstGeom prst="rect">
            <a:avLst/>
          </a:prstGeom>
          <a:noFill/>
          <a:ln w="0">
            <a:noFill/>
          </a:ln>
        </p:spPr>
      </p:pic>
      <p:sp>
        <p:nvSpPr>
          <p:cNvPr id="26"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27"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28" name="" descr=""/>
          <p:cNvPicPr/>
          <p:nvPr/>
        </p:nvPicPr>
        <p:blipFill>
          <a:blip r:embed="rId3"/>
          <a:stretch/>
        </p:blipFill>
        <p:spPr>
          <a:xfrm>
            <a:off x="47520" y="6324480"/>
            <a:ext cx="486000" cy="486000"/>
          </a:xfrm>
          <a:prstGeom prst="rect">
            <a:avLst/>
          </a:prstGeom>
          <a:noFill/>
          <a:ln w="0">
            <a:noFill/>
          </a:ln>
        </p:spPr>
      </p:pic>
      <p:pic>
        <p:nvPicPr>
          <p:cNvPr id="29"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Default">
    <p:bg>
      <p:bgPr>
        <a:solidFill>
          <a:srgbClr val="2e2f90"/>
        </a:solidFill>
      </p:bgPr>
    </p:bg>
    <p:spTree>
      <p:nvGrpSpPr>
        <p:cNvPr id="1" name=""/>
        <p:cNvGrpSpPr/>
        <p:nvPr/>
      </p:nvGrpSpPr>
      <p:grpSpPr>
        <a:xfrm>
          <a:off x="0" y="0"/>
          <a:ext cx="0" cy="0"/>
          <a:chOff x="0" y="0"/>
          <a:chExt cx="0" cy="0"/>
        </a:xfrm>
      </p:grpSpPr>
      <p:pic>
        <p:nvPicPr>
          <p:cNvPr id="30" name="" descr=""/>
          <p:cNvPicPr/>
          <p:nvPr/>
        </p:nvPicPr>
        <p:blipFill>
          <a:blip r:embed="rId2"/>
          <a:srcRect l="0" t="0" r="2464" b="0"/>
          <a:stretch/>
        </p:blipFill>
        <p:spPr>
          <a:xfrm>
            <a:off x="0" y="0"/>
            <a:ext cx="939960" cy="6858000"/>
          </a:xfrm>
          <a:prstGeom prst="rect">
            <a:avLst/>
          </a:prstGeom>
          <a:noFill/>
          <a:ln w="0">
            <a:noFill/>
          </a:ln>
        </p:spPr>
      </p:pic>
      <p:sp>
        <p:nvSpPr>
          <p:cNvPr id="31"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32"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33" name="" descr=""/>
          <p:cNvPicPr/>
          <p:nvPr/>
        </p:nvPicPr>
        <p:blipFill>
          <a:blip r:embed="rId3"/>
          <a:stretch/>
        </p:blipFill>
        <p:spPr>
          <a:xfrm>
            <a:off x="47520" y="6324480"/>
            <a:ext cx="486000" cy="486000"/>
          </a:xfrm>
          <a:prstGeom prst="rect">
            <a:avLst/>
          </a:prstGeom>
          <a:noFill/>
          <a:ln w="0">
            <a:noFill/>
          </a:ln>
        </p:spPr>
      </p:pic>
      <p:pic>
        <p:nvPicPr>
          <p:cNvPr id="34"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2e2f90"/>
        </a:solidFill>
      </p:bgPr>
    </p:bg>
    <p:spTree>
      <p:nvGrpSpPr>
        <p:cNvPr id="1" name=""/>
        <p:cNvGrpSpPr/>
        <p:nvPr/>
      </p:nvGrpSpPr>
      <p:grpSpPr>
        <a:xfrm>
          <a:off x="0" y="0"/>
          <a:ext cx="0" cy="0"/>
          <a:chOff x="0" y="0"/>
          <a:chExt cx="0" cy="0"/>
        </a:xfrm>
      </p:grpSpPr>
      <p:pic>
        <p:nvPicPr>
          <p:cNvPr id="35" name="" descr=""/>
          <p:cNvPicPr/>
          <p:nvPr/>
        </p:nvPicPr>
        <p:blipFill>
          <a:blip r:embed="rId2"/>
          <a:srcRect l="0" t="0" r="2464" b="0"/>
          <a:stretch/>
        </p:blipFill>
        <p:spPr>
          <a:xfrm>
            <a:off x="0" y="0"/>
            <a:ext cx="939960" cy="6858000"/>
          </a:xfrm>
          <a:prstGeom prst="rect">
            <a:avLst/>
          </a:prstGeom>
          <a:noFill/>
          <a:ln w="0">
            <a:noFill/>
          </a:ln>
        </p:spPr>
      </p:pic>
      <p:sp>
        <p:nvSpPr>
          <p:cNvPr id="36"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37"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pic>
        <p:nvPicPr>
          <p:cNvPr id="38" name="" descr=""/>
          <p:cNvPicPr/>
          <p:nvPr/>
        </p:nvPicPr>
        <p:blipFill>
          <a:blip r:embed="rId3"/>
          <a:stretch/>
        </p:blipFill>
        <p:spPr>
          <a:xfrm>
            <a:off x="47520" y="6324480"/>
            <a:ext cx="486000" cy="486000"/>
          </a:xfrm>
          <a:prstGeom prst="rect">
            <a:avLst/>
          </a:prstGeom>
          <a:noFill/>
          <a:ln w="0">
            <a:noFill/>
          </a:ln>
        </p:spPr>
      </p:pic>
      <p:pic>
        <p:nvPicPr>
          <p:cNvPr id="39" name="" descr=""/>
          <p:cNvPicPr/>
          <p:nvPr/>
        </p:nvPicPr>
        <p:blipFill>
          <a:blip r:embed="rId4"/>
          <a:stretch/>
        </p:blipFill>
        <p:spPr>
          <a:xfrm>
            <a:off x="76320" y="76320"/>
            <a:ext cx="496800" cy="496800"/>
          </a:xfrm>
          <a:prstGeom prst="rect">
            <a:avLst/>
          </a:prstGeom>
          <a:noFill/>
          <a:ln w="0">
            <a:noFill/>
          </a:ln>
        </p:spPr>
      </p:pic>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2e2f90"/>
        </a:solidFill>
      </p:bgPr>
    </p:bg>
    <p:spTree>
      <p:nvGrpSpPr>
        <p:cNvPr id="1" name=""/>
        <p:cNvGrpSpPr/>
        <p:nvPr/>
      </p:nvGrpSpPr>
      <p:grpSpPr>
        <a:xfrm>
          <a:off x="0" y="0"/>
          <a:ext cx="0" cy="0"/>
          <a:chOff x="0" y="0"/>
          <a:chExt cx="0" cy="0"/>
        </a:xfrm>
      </p:grpSpPr>
      <p:pic>
        <p:nvPicPr>
          <p:cNvPr id="58" name="" descr=""/>
          <p:cNvPicPr/>
          <p:nvPr/>
        </p:nvPicPr>
        <p:blipFill>
          <a:blip r:embed="rId2"/>
          <a:srcRect l="0" t="0" r="2464" b="0"/>
          <a:stretch/>
        </p:blipFill>
        <p:spPr>
          <a:xfrm>
            <a:off x="0" y="0"/>
            <a:ext cx="939960" cy="6858000"/>
          </a:xfrm>
          <a:prstGeom prst="rect">
            <a:avLst/>
          </a:prstGeom>
          <a:noFill/>
          <a:ln w="0">
            <a:noFill/>
          </a:ln>
        </p:spPr>
      </p:pic>
      <p:sp>
        <p:nvSpPr>
          <p:cNvPr id="59"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60"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grpSp>
        <p:nvGrpSpPr>
          <p:cNvPr id="61" name=""/>
          <p:cNvGrpSpPr/>
          <p:nvPr/>
        </p:nvGrpSpPr>
        <p:grpSpPr>
          <a:xfrm>
            <a:off x="212760" y="5522760"/>
            <a:ext cx="496800" cy="1098720"/>
            <a:chOff x="212760" y="5522760"/>
            <a:chExt cx="496800" cy="1098720"/>
          </a:xfrm>
        </p:grpSpPr>
        <p:pic>
          <p:nvPicPr>
            <p:cNvPr id="62" name="" descr=""/>
            <p:cNvPicPr/>
            <p:nvPr/>
          </p:nvPicPr>
          <p:blipFill>
            <a:blip r:embed="rId3"/>
            <a:stretch/>
          </p:blipFill>
          <p:spPr>
            <a:xfrm>
              <a:off x="222120" y="6135840"/>
              <a:ext cx="486000" cy="485640"/>
            </a:xfrm>
            <a:prstGeom prst="rect">
              <a:avLst/>
            </a:prstGeom>
            <a:noFill/>
            <a:ln w="0">
              <a:noFill/>
            </a:ln>
          </p:spPr>
        </p:pic>
        <p:pic>
          <p:nvPicPr>
            <p:cNvPr id="63" name="" descr=""/>
            <p:cNvPicPr/>
            <p:nvPr/>
          </p:nvPicPr>
          <p:blipFill>
            <a:blip r:embed="rId4"/>
            <a:stretch/>
          </p:blipFill>
          <p:spPr>
            <a:xfrm>
              <a:off x="212760" y="5522760"/>
              <a:ext cx="496800" cy="497160"/>
            </a:xfrm>
            <a:prstGeom prst="rect">
              <a:avLst/>
            </a:prstGeom>
            <a:noFill/>
            <a:ln w="0">
              <a:noFill/>
            </a:ln>
          </p:spPr>
        </p:pic>
      </p:gr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bg>
      <p:bgPr>
        <a:solidFill>
          <a:srgbClr val="2e2f90"/>
        </a:solidFill>
      </p:bgPr>
    </p:bg>
    <p:spTree>
      <p:nvGrpSpPr>
        <p:cNvPr id="1" name=""/>
        <p:cNvGrpSpPr/>
        <p:nvPr/>
      </p:nvGrpSpPr>
      <p:grpSpPr>
        <a:xfrm>
          <a:off x="0" y="0"/>
          <a:ext cx="0" cy="0"/>
          <a:chOff x="0" y="0"/>
          <a:chExt cx="0" cy="0"/>
        </a:xfrm>
      </p:grpSpPr>
      <p:pic>
        <p:nvPicPr>
          <p:cNvPr id="46" name="" descr=""/>
          <p:cNvPicPr/>
          <p:nvPr/>
        </p:nvPicPr>
        <p:blipFill>
          <a:blip r:embed="rId2"/>
          <a:srcRect l="0" t="0" r="2464" b="0"/>
          <a:stretch/>
        </p:blipFill>
        <p:spPr>
          <a:xfrm>
            <a:off x="0" y="0"/>
            <a:ext cx="939960" cy="6858000"/>
          </a:xfrm>
          <a:prstGeom prst="rect">
            <a:avLst/>
          </a:prstGeom>
          <a:noFill/>
          <a:ln w="0">
            <a:noFill/>
          </a:ln>
        </p:spPr>
      </p:pic>
      <p:sp>
        <p:nvSpPr>
          <p:cNvPr id="47"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48"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grpSp>
        <p:nvGrpSpPr>
          <p:cNvPr id="49" name=""/>
          <p:cNvGrpSpPr/>
          <p:nvPr/>
        </p:nvGrpSpPr>
        <p:grpSpPr>
          <a:xfrm>
            <a:off x="212760" y="5522760"/>
            <a:ext cx="496800" cy="1098720"/>
            <a:chOff x="212760" y="5522760"/>
            <a:chExt cx="496800" cy="1098720"/>
          </a:xfrm>
        </p:grpSpPr>
        <p:pic>
          <p:nvPicPr>
            <p:cNvPr id="50" name="" descr=""/>
            <p:cNvPicPr/>
            <p:nvPr/>
          </p:nvPicPr>
          <p:blipFill>
            <a:blip r:embed="rId3"/>
            <a:stretch/>
          </p:blipFill>
          <p:spPr>
            <a:xfrm>
              <a:off x="222120" y="6135840"/>
              <a:ext cx="486000" cy="485640"/>
            </a:xfrm>
            <a:prstGeom prst="rect">
              <a:avLst/>
            </a:prstGeom>
            <a:noFill/>
            <a:ln w="0">
              <a:noFill/>
            </a:ln>
          </p:spPr>
        </p:pic>
        <p:pic>
          <p:nvPicPr>
            <p:cNvPr id="51" name="" descr=""/>
            <p:cNvPicPr/>
            <p:nvPr/>
          </p:nvPicPr>
          <p:blipFill>
            <a:blip r:embed="rId4"/>
            <a:stretch/>
          </p:blipFill>
          <p:spPr>
            <a:xfrm>
              <a:off x="212760" y="5522760"/>
              <a:ext cx="496800" cy="497160"/>
            </a:xfrm>
            <a:prstGeom prst="rect">
              <a:avLst/>
            </a:prstGeom>
            <a:noFill/>
            <a:ln w="0">
              <a:noFill/>
            </a:ln>
          </p:spPr>
        </p:pic>
      </p:gr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solidFill>
          <a:srgbClr val="2e2f90"/>
        </a:solidFill>
      </p:bgPr>
    </p:bg>
    <p:spTree>
      <p:nvGrpSpPr>
        <p:cNvPr id="1" name=""/>
        <p:cNvGrpSpPr/>
        <p:nvPr/>
      </p:nvGrpSpPr>
      <p:grpSpPr>
        <a:xfrm>
          <a:off x="0" y="0"/>
          <a:ext cx="0" cy="0"/>
          <a:chOff x="0" y="0"/>
          <a:chExt cx="0" cy="0"/>
        </a:xfrm>
      </p:grpSpPr>
      <p:pic>
        <p:nvPicPr>
          <p:cNvPr id="40" name="" descr=""/>
          <p:cNvPicPr/>
          <p:nvPr/>
        </p:nvPicPr>
        <p:blipFill>
          <a:blip r:embed="rId2"/>
          <a:srcRect l="0" t="0" r="2464" b="0"/>
          <a:stretch/>
        </p:blipFill>
        <p:spPr>
          <a:xfrm>
            <a:off x="0" y="0"/>
            <a:ext cx="939960" cy="6858000"/>
          </a:xfrm>
          <a:prstGeom prst="rect">
            <a:avLst/>
          </a:prstGeom>
          <a:noFill/>
          <a:ln w="0">
            <a:noFill/>
          </a:ln>
        </p:spPr>
      </p:pic>
      <p:sp>
        <p:nvSpPr>
          <p:cNvPr id="41"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42"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grpSp>
        <p:nvGrpSpPr>
          <p:cNvPr id="43" name=""/>
          <p:cNvGrpSpPr/>
          <p:nvPr/>
        </p:nvGrpSpPr>
        <p:grpSpPr>
          <a:xfrm>
            <a:off x="212760" y="5522760"/>
            <a:ext cx="496800" cy="1098720"/>
            <a:chOff x="212760" y="5522760"/>
            <a:chExt cx="496800" cy="1098720"/>
          </a:xfrm>
        </p:grpSpPr>
        <p:pic>
          <p:nvPicPr>
            <p:cNvPr id="44" name="" descr=""/>
            <p:cNvPicPr/>
            <p:nvPr/>
          </p:nvPicPr>
          <p:blipFill>
            <a:blip r:embed="rId3"/>
            <a:stretch/>
          </p:blipFill>
          <p:spPr>
            <a:xfrm>
              <a:off x="222120" y="6135840"/>
              <a:ext cx="486000" cy="485640"/>
            </a:xfrm>
            <a:prstGeom prst="rect">
              <a:avLst/>
            </a:prstGeom>
            <a:noFill/>
            <a:ln w="0">
              <a:noFill/>
            </a:ln>
          </p:spPr>
        </p:pic>
        <p:pic>
          <p:nvPicPr>
            <p:cNvPr id="45" name="" descr=""/>
            <p:cNvPicPr/>
            <p:nvPr/>
          </p:nvPicPr>
          <p:blipFill>
            <a:blip r:embed="rId4"/>
            <a:stretch/>
          </p:blipFill>
          <p:spPr>
            <a:xfrm>
              <a:off x="212760" y="5522760"/>
              <a:ext cx="496800" cy="497160"/>
            </a:xfrm>
            <a:prstGeom prst="rect">
              <a:avLst/>
            </a:prstGeom>
            <a:noFill/>
            <a:ln w="0">
              <a:noFill/>
            </a:ln>
          </p:spPr>
        </p:pic>
      </p:gr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1">
    <p:bg>
      <p:bgPr>
        <a:solidFill>
          <a:srgbClr val="2e2f90"/>
        </a:solidFill>
      </p:bgPr>
    </p:bg>
    <p:spTree>
      <p:nvGrpSpPr>
        <p:cNvPr id="1" name=""/>
        <p:cNvGrpSpPr/>
        <p:nvPr/>
      </p:nvGrpSpPr>
      <p:grpSpPr>
        <a:xfrm>
          <a:off x="0" y="0"/>
          <a:ext cx="0" cy="0"/>
          <a:chOff x="0" y="0"/>
          <a:chExt cx="0" cy="0"/>
        </a:xfrm>
      </p:grpSpPr>
      <p:pic>
        <p:nvPicPr>
          <p:cNvPr id="52" name="" descr=""/>
          <p:cNvPicPr/>
          <p:nvPr/>
        </p:nvPicPr>
        <p:blipFill>
          <a:blip r:embed="rId2"/>
          <a:srcRect l="0" t="0" r="2464" b="0"/>
          <a:stretch/>
        </p:blipFill>
        <p:spPr>
          <a:xfrm>
            <a:off x="0" y="0"/>
            <a:ext cx="939960" cy="6858000"/>
          </a:xfrm>
          <a:prstGeom prst="rect">
            <a:avLst/>
          </a:prstGeom>
          <a:noFill/>
          <a:ln w="0">
            <a:noFill/>
          </a:ln>
        </p:spPr>
      </p:pic>
      <p:sp>
        <p:nvSpPr>
          <p:cNvPr id="53"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Myriad Web"/>
              </a:rPr>
              <a:t>Click to edit the title text format</a:t>
            </a:r>
            <a:endParaRPr b="1" lang="en-IN" sz="3200" strike="noStrike" u="none">
              <a:solidFill>
                <a:srgbClr val="ffffff"/>
              </a:solidFill>
              <a:effectLst/>
              <a:uFillTx/>
              <a:latin typeface="Myriad Web"/>
            </a:endParaRPr>
          </a:p>
        </p:txBody>
      </p:sp>
      <p:sp>
        <p:nvSpPr>
          <p:cNvPr id="54" name="PlaceHolder 2"/>
          <p:cNvSpPr>
            <a:spLocks noGrp="1"/>
          </p:cNvSpPr>
          <p:nvPr>
            <p:ph type="body"/>
          </p:nvPr>
        </p:nvSpPr>
        <p:spPr>
          <a:xfrm>
            <a:off x="1136160" y="1647360"/>
            <a:ext cx="7753320" cy="4964040"/>
          </a:xfrm>
          <a:prstGeom prst="rect">
            <a:avLst/>
          </a:prstGeom>
          <a:noFill/>
          <a:ln w="0">
            <a:noFill/>
          </a:ln>
        </p:spPr>
        <p:txBody>
          <a:bodyPr lIns="90000" rIns="90000" tIns="46800" bIns="46800" anchor="t">
            <a:normAutofit/>
          </a:bodyPr>
          <a:p>
            <a:pPr marL="343080" indent="-34308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Click to edit the outline text format</a:t>
            </a:r>
            <a:endParaRPr b="0" lang="en-IN" sz="2000" strike="noStrike" u="none">
              <a:solidFill>
                <a:srgbClr val="ffffff"/>
              </a:solidFill>
              <a:effectLst/>
              <a:uFillTx/>
              <a:latin typeface="Myriad Web"/>
            </a:endParaRPr>
          </a:p>
          <a:p>
            <a:pPr lvl="1" marL="743040" indent="-28584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Second Outline Level</a:t>
            </a:r>
            <a:endParaRPr b="0" lang="en-IN" sz="2000" strike="noStrike" u="none">
              <a:solidFill>
                <a:srgbClr val="ffffff"/>
              </a:solidFill>
              <a:effectLst/>
              <a:uFillTx/>
              <a:latin typeface="Myriad Web"/>
            </a:endParaRPr>
          </a:p>
          <a:p>
            <a:pPr lvl="2" marL="11430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Third Outline Level</a:t>
            </a:r>
            <a:endParaRPr b="0" lang="en-IN" sz="2000" strike="noStrike" u="none">
              <a:solidFill>
                <a:srgbClr val="ffffff"/>
              </a:solidFill>
              <a:effectLst/>
              <a:uFillTx/>
              <a:latin typeface="Myriad Web"/>
            </a:endParaRPr>
          </a:p>
          <a:p>
            <a:pPr lvl="3" marL="16002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Fourth Outline Level</a:t>
            </a:r>
            <a:endParaRPr b="0" lang="en-IN" sz="2000" strike="noStrike" u="none">
              <a:solidFill>
                <a:srgbClr val="ffffff"/>
              </a:solidFill>
              <a:effectLst/>
              <a:uFillTx/>
              <a:latin typeface="Myriad Web"/>
            </a:endParaRPr>
          </a:p>
          <a:p>
            <a:pPr lvl="4" marL="2057400" indent="-228600">
              <a:spcBef>
                <a:spcPts val="499"/>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Fifth Outline Level</a:t>
            </a:r>
            <a:endParaRPr b="0" lang="en-IN" sz="2000" strike="noStrike" u="none">
              <a:solidFill>
                <a:srgbClr val="ffffff"/>
              </a:solidFill>
              <a:effectLst/>
              <a:uFillTx/>
              <a:latin typeface="Myriad Web"/>
            </a:endParaRPr>
          </a:p>
          <a:p>
            <a:pPr lvl="5"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Sixth Outline Level</a:t>
            </a:r>
            <a:endParaRPr b="0" lang="en-IN" sz="2000" strike="noStrike" u="none">
              <a:solidFill>
                <a:srgbClr val="ffffff"/>
              </a:solidFill>
              <a:effectLst/>
              <a:uFillTx/>
              <a:latin typeface="Myriad Web"/>
            </a:endParaRPr>
          </a:p>
          <a:p>
            <a:pPr lvl="6" marL="2057400" indent="-228600">
              <a:spcBef>
                <a:spcPts val="499"/>
              </a:spcBef>
              <a:buClr>
                <a:srgbClr val="0000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Myriad Web"/>
              </a:rPr>
              <a:t>Seventh Outline Level</a:t>
            </a:r>
            <a:endParaRPr b="0" lang="en-IN" sz="2000" strike="noStrike" u="none">
              <a:solidFill>
                <a:srgbClr val="ffffff"/>
              </a:solidFill>
              <a:effectLst/>
              <a:uFillTx/>
              <a:latin typeface="Myriad Web"/>
            </a:endParaRPr>
          </a:p>
        </p:txBody>
      </p:sp>
      <p:grpSp>
        <p:nvGrpSpPr>
          <p:cNvPr id="55" name=""/>
          <p:cNvGrpSpPr/>
          <p:nvPr/>
        </p:nvGrpSpPr>
        <p:grpSpPr>
          <a:xfrm>
            <a:off x="212760" y="5522760"/>
            <a:ext cx="496800" cy="1098720"/>
            <a:chOff x="212760" y="5522760"/>
            <a:chExt cx="496800" cy="1098720"/>
          </a:xfrm>
        </p:grpSpPr>
        <p:pic>
          <p:nvPicPr>
            <p:cNvPr id="56" name="" descr=""/>
            <p:cNvPicPr/>
            <p:nvPr/>
          </p:nvPicPr>
          <p:blipFill>
            <a:blip r:embed="rId3"/>
            <a:stretch/>
          </p:blipFill>
          <p:spPr>
            <a:xfrm>
              <a:off x="222120" y="6135840"/>
              <a:ext cx="486000" cy="485640"/>
            </a:xfrm>
            <a:prstGeom prst="rect">
              <a:avLst/>
            </a:prstGeom>
            <a:noFill/>
            <a:ln w="0">
              <a:noFill/>
            </a:ln>
          </p:spPr>
        </p:pic>
        <p:pic>
          <p:nvPicPr>
            <p:cNvPr id="57" name="" descr=""/>
            <p:cNvPicPr/>
            <p:nvPr/>
          </p:nvPicPr>
          <p:blipFill>
            <a:blip r:embed="rId4"/>
            <a:stretch/>
          </p:blipFill>
          <p:spPr>
            <a:xfrm>
              <a:off x="212760" y="5522760"/>
              <a:ext cx="496800" cy="497160"/>
            </a:xfrm>
            <a:prstGeom prst="rect">
              <a:avLst/>
            </a:prstGeom>
            <a:noFill/>
            <a:ln w="0">
              <a:noFill/>
            </a:ln>
          </p:spPr>
        </p:pic>
      </p:gr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2.wmf"/><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hyperlink" Target="http://www.ncbi.nlm.nih.gov/" TargetMode="External"/><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hyperlink" Target="http://images.google.com/imgres?imgurl=http://www.berry.edu/provost/interdisciplinary/images/lamp.jpg&amp;imgrefurl=http://www.berry.edu/provost/interdisciplinary/&amp;h=255&amp;w=195&amp;sz=41&amp;tbnid=HW17q-a4K1WoKM:&amp;tbnh=106&amp;tbnw=81&amp;hl=en&amp;start=3&amp;prev=/images%3Fq%3Dinterdisciplinary%26svnum%3D10%26hl%3Den%26lr%3D" TargetMode="External"/><Relationship Id="rId7" Type="http://schemas.openxmlformats.org/officeDocument/2006/relationships/image" Target="../media/image21.jpeg"/><Relationship Id="rId8" Type="http://schemas.openxmlformats.org/officeDocument/2006/relationships/slideLayout" Target="../slideLayouts/slideLayout12.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jpeg"/><Relationship Id="rId5" Type="http://schemas.openxmlformats.org/officeDocument/2006/relationships/slideLayout" Target="../slideLayouts/slideLayout3.xml"/>
</Relationships>
</file>

<file path=ppt/slides/_rels/slide29.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jpeg"/><Relationship Id="rId3" Type="http://schemas.openxmlformats.org/officeDocument/2006/relationships/image" Target="../media/image30.jpeg"/><Relationship Id="rId4" Type="http://schemas.openxmlformats.org/officeDocument/2006/relationships/image" Target="../media/image31.jpeg"/><Relationship Id="rId5" Type="http://schemas.openxmlformats.org/officeDocument/2006/relationships/image" Target="../media/image32.jpeg"/><Relationship Id="rId6" Type="http://schemas.openxmlformats.org/officeDocument/2006/relationships/image" Target="../media/image33.jpeg"/><Relationship Id="rId7" Type="http://schemas.openxmlformats.org/officeDocument/2006/relationships/image" Target="../media/image34.jpeg"/><Relationship Id="rId8" Type="http://schemas.openxmlformats.org/officeDocument/2006/relationships/image" Target="../media/image35.jpeg"/><Relationship Id="rId9" Type="http://schemas.openxmlformats.org/officeDocument/2006/relationships/image" Target="../media/image36.jpeg"/><Relationship Id="rId10"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pic>
        <p:nvPicPr>
          <p:cNvPr id="71" name="" descr=""/>
          <p:cNvPicPr/>
          <p:nvPr/>
        </p:nvPicPr>
        <p:blipFill>
          <a:blip r:embed="rId1"/>
          <a:stretch/>
        </p:blipFill>
        <p:spPr>
          <a:xfrm>
            <a:off x="0" y="0"/>
            <a:ext cx="9144000" cy="6858000"/>
          </a:xfrm>
          <a:prstGeom prst="rect">
            <a:avLst/>
          </a:prstGeom>
          <a:noFill/>
          <a:ln w="0">
            <a:noFill/>
          </a:ln>
        </p:spPr>
      </p:pic>
      <p:sp>
        <p:nvSpPr>
          <p:cNvPr id="72" name=""/>
          <p:cNvSpPr/>
          <p:nvPr/>
        </p:nvSpPr>
        <p:spPr>
          <a:xfrm>
            <a:off x="687240" y="652320"/>
            <a:ext cx="184320" cy="4572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3" name=""/>
          <p:cNvSpPr/>
          <p:nvPr/>
        </p:nvSpPr>
        <p:spPr>
          <a:xfrm>
            <a:off x="533520" y="152280"/>
            <a:ext cx="6705360" cy="144792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74" name=""/>
          <p:cNvSpPr/>
          <p:nvPr/>
        </p:nvSpPr>
        <p:spPr>
          <a:xfrm>
            <a:off x="0" y="0"/>
            <a:ext cx="9144000" cy="6858000"/>
          </a:xfrm>
          <a:prstGeom prst="rect">
            <a:avLst/>
          </a:prstGeom>
          <a:no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p:txBody>
      </p:sp>
      <p:sp>
        <p:nvSpPr>
          <p:cNvPr id="75" name=""/>
          <p:cNvSpPr/>
          <p:nvPr/>
        </p:nvSpPr>
        <p:spPr>
          <a:xfrm>
            <a:off x="152280" y="141120"/>
            <a:ext cx="8783640" cy="2318760"/>
          </a:xfrm>
          <a:prstGeom prst="rect">
            <a:avLst/>
          </a:prstGeom>
          <a:noFill/>
          <a:ln w="0">
            <a:noFill/>
          </a:ln>
        </p:spPr>
        <p:style>
          <a:lnRef idx="0"/>
          <a:fillRef idx="0"/>
          <a:effectRef idx="0"/>
          <a:fontRef idx="minor"/>
        </p:style>
        <p:txBody>
          <a:bodyPr lIns="90000" rIns="90000" tIns="46800" bIns="46800" anchor="t">
            <a:spAutoFit/>
          </a:bodyPr>
          <a:p>
            <a:pPr algn="r">
              <a:tabLst>
                <a:tab algn="l" pos="0"/>
                <a:tab algn="l" pos="314316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NIH at the Crossroads: Strategies for the Future</a:t>
            </a:r>
            <a:endParaRPr b="0" lang="en-IN" sz="3200" strike="noStrike" u="none">
              <a:solidFill>
                <a:srgbClr val="000000"/>
              </a:solidFill>
              <a:effectLst/>
              <a:uFillTx/>
              <a:latin typeface="Arial"/>
            </a:endParaRPr>
          </a:p>
          <a:p>
            <a:pPr>
              <a:tabLst>
                <a:tab algn="l" pos="0"/>
                <a:tab algn="l" pos="314316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algn="r">
              <a:tabLst>
                <a:tab algn="l" pos="0"/>
                <a:tab algn="l" pos="314316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Elias A. Zerhouni, M.D.</a:t>
            </a:r>
            <a:endParaRPr b="0" lang="en-IN" sz="1800" strike="noStrike" u="none">
              <a:solidFill>
                <a:srgbClr val="000000"/>
              </a:solidFill>
              <a:effectLst/>
              <a:uFillTx/>
              <a:latin typeface="Arial"/>
            </a:endParaRPr>
          </a:p>
          <a:p>
            <a:pPr algn="r">
              <a:tabLst>
                <a:tab algn="l" pos="0"/>
                <a:tab algn="l" pos="314316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Director</a:t>
            </a:r>
            <a:endParaRPr b="0" lang="en-IN" sz="1600" strike="noStrike" u="none">
              <a:solidFill>
                <a:srgbClr val="000000"/>
              </a:solidFill>
              <a:effectLst/>
              <a:uFillTx/>
              <a:latin typeface="Arial"/>
            </a:endParaRPr>
          </a:p>
          <a:p>
            <a:pPr algn="r">
              <a:tabLst>
                <a:tab algn="l" pos="0"/>
                <a:tab algn="l" pos="314316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National Institutes of Health</a:t>
            </a:r>
            <a:endParaRPr b="0" lang="en-IN" sz="1600" strike="noStrike" u="none">
              <a:solidFill>
                <a:srgbClr val="000000"/>
              </a:solidFill>
              <a:effectLst/>
              <a:uFillTx/>
              <a:latin typeface="Arial"/>
            </a:endParaRPr>
          </a:p>
          <a:p>
            <a:pPr algn="r">
              <a:tabLst>
                <a:tab algn="l" pos="0"/>
                <a:tab algn="l" pos="314316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grpSp>
        <p:nvGrpSpPr>
          <p:cNvPr id="76" name=""/>
          <p:cNvGrpSpPr/>
          <p:nvPr/>
        </p:nvGrpSpPr>
        <p:grpSpPr>
          <a:xfrm>
            <a:off x="6665760" y="6200640"/>
            <a:ext cx="1095480" cy="496800"/>
            <a:chOff x="6665760" y="6200640"/>
            <a:chExt cx="1095480" cy="496800"/>
          </a:xfrm>
        </p:grpSpPr>
        <p:pic>
          <p:nvPicPr>
            <p:cNvPr id="77" name="" descr=""/>
            <p:cNvPicPr/>
            <p:nvPr/>
          </p:nvPicPr>
          <p:blipFill>
            <a:blip r:embed="rId2"/>
            <a:stretch/>
          </p:blipFill>
          <p:spPr>
            <a:xfrm>
              <a:off x="7275600" y="6203880"/>
              <a:ext cx="485640" cy="485640"/>
            </a:xfrm>
            <a:prstGeom prst="rect">
              <a:avLst/>
            </a:prstGeom>
            <a:noFill/>
            <a:ln w="0">
              <a:noFill/>
            </a:ln>
          </p:spPr>
        </p:pic>
        <p:pic>
          <p:nvPicPr>
            <p:cNvPr id="78" name="" descr=""/>
            <p:cNvPicPr/>
            <p:nvPr/>
          </p:nvPicPr>
          <p:blipFill>
            <a:blip r:embed="rId3"/>
            <a:stretch/>
          </p:blipFill>
          <p:spPr>
            <a:xfrm>
              <a:off x="6665760" y="6200640"/>
              <a:ext cx="496800" cy="496800"/>
            </a:xfrm>
            <a:prstGeom prst="rect">
              <a:avLst/>
            </a:prstGeom>
            <a:noFill/>
            <a:ln w="0">
              <a:noFill/>
            </a:ln>
          </p:spPr>
        </p:pic>
      </p:gr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1231560" y="304920"/>
            <a:ext cx="7289640" cy="65232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NIH Budget Facing a “Perfect Storm” in 2006</a:t>
            </a:r>
            <a:endParaRPr b="1" lang="en-IN" sz="3200" strike="noStrike" u="none">
              <a:solidFill>
                <a:srgbClr val="ffffff"/>
              </a:solidFill>
              <a:effectLst/>
              <a:uFillTx/>
              <a:latin typeface="Myriad Web"/>
            </a:endParaRPr>
          </a:p>
        </p:txBody>
      </p:sp>
      <p:sp>
        <p:nvSpPr>
          <p:cNvPr id="80" name="PlaceHolder 2"/>
          <p:cNvSpPr>
            <a:spLocks noGrp="1"/>
          </p:cNvSpPr>
          <p:nvPr>
            <p:ph/>
          </p:nvPr>
        </p:nvSpPr>
        <p:spPr>
          <a:xfrm>
            <a:off x="4251240" y="1474920"/>
            <a:ext cx="4664160" cy="5364000"/>
          </a:xfrm>
          <a:prstGeom prst="rect">
            <a:avLst/>
          </a:prstGeom>
          <a:noFill/>
          <a:ln w="0">
            <a:noFill/>
          </a:ln>
        </p:spPr>
        <p:txBody>
          <a:bodyPr lIns="90000" rIns="90000" tIns="46800" bIns="46800" anchor="t">
            <a:normAutofit/>
          </a:bodyPr>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Federal &amp; Trade Deficits</a:t>
            </a:r>
            <a:endParaRPr b="0" lang="en-IN" sz="2400" strike="noStrike" u="none">
              <a:solidFill>
                <a:srgbClr val="ffffff"/>
              </a:solidFill>
              <a:effectLst/>
              <a:uFillTx/>
              <a:latin typeface="Myriad Web"/>
            </a:endParaRPr>
          </a:p>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Defense and Homeland Security needs</a:t>
            </a:r>
            <a:endParaRPr b="0" lang="en-IN" sz="2400" strike="noStrike" u="none">
              <a:solidFill>
                <a:srgbClr val="ffffff"/>
              </a:solidFill>
              <a:effectLst/>
              <a:uFillTx/>
              <a:latin typeface="Myriad Web"/>
            </a:endParaRPr>
          </a:p>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Katrina </a:t>
            </a:r>
            <a:endParaRPr b="0" lang="en-IN" sz="2400" strike="noStrike" u="none">
              <a:solidFill>
                <a:srgbClr val="ffffff"/>
              </a:solidFill>
              <a:effectLst/>
              <a:uFillTx/>
              <a:latin typeface="Myriad Web"/>
            </a:endParaRPr>
          </a:p>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Pandemic flu</a:t>
            </a:r>
            <a:endParaRPr b="0" lang="en-IN" sz="2400" strike="noStrike" u="none">
              <a:solidFill>
                <a:srgbClr val="ffffff"/>
              </a:solidFill>
              <a:effectLst/>
              <a:uFillTx/>
              <a:latin typeface="Myriad Web"/>
            </a:endParaRPr>
          </a:p>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Post- Doubling effects</a:t>
            </a:r>
            <a:endParaRPr b="0" lang="en-IN" sz="2400" strike="noStrike" u="none">
              <a:solidFill>
                <a:srgbClr val="ffffff"/>
              </a:solidFill>
              <a:effectLst/>
              <a:uFillTx/>
              <a:latin typeface="Myriad Web"/>
            </a:endParaRPr>
          </a:p>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Physical Sciences focus</a:t>
            </a:r>
            <a:endParaRPr b="0" lang="en-IN" sz="2400" strike="noStrike" u="none">
              <a:solidFill>
                <a:srgbClr val="ffffff"/>
              </a:solidFill>
              <a:effectLst/>
              <a:uFillTx/>
              <a:latin typeface="Myriad Web"/>
            </a:endParaRPr>
          </a:p>
          <a:p>
            <a:pPr lvl="1" marL="743040" indent="-285840">
              <a:lnSpc>
                <a:spcPct val="100000"/>
              </a:lnSpc>
              <a:spcBef>
                <a:spcPts val="10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Biomedical research inflation- 3 to 5%</a:t>
            </a:r>
            <a:endParaRPr b="0" lang="en-IN" sz="2400" strike="noStrike" u="none">
              <a:solidFill>
                <a:srgbClr val="ffffff"/>
              </a:solidFill>
              <a:effectLst/>
              <a:uFillTx/>
              <a:latin typeface="Myriad Web"/>
            </a:endParaRPr>
          </a:p>
          <a:p>
            <a:pPr lvl="1" marL="743040" indent="0">
              <a:lnSpc>
                <a:spcPct val="100000"/>
              </a:lnSpc>
              <a:spcBef>
                <a:spcPts val="10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Myriad Web"/>
            </a:endParaRPr>
          </a:p>
        </p:txBody>
      </p:sp>
      <p:sp>
        <p:nvSpPr>
          <p:cNvPr id="81" name=""/>
          <p:cNvSpPr/>
          <p:nvPr/>
        </p:nvSpPr>
        <p:spPr>
          <a:xfrm>
            <a:off x="442800" y="1546200"/>
            <a:ext cx="8008920" cy="0"/>
          </a:xfrm>
          <a:prstGeom prst="line">
            <a:avLst/>
          </a:prstGeom>
          <a:ln w="57240">
            <a:solidFill>
              <a:srgbClr val="333399"/>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82" name="" descr=""/>
          <p:cNvPicPr/>
          <p:nvPr/>
        </p:nvPicPr>
        <p:blipFill>
          <a:blip r:embed="rId1"/>
          <a:srcRect l="0" t="0" r="0" b="20221"/>
          <a:stretch/>
        </p:blipFill>
        <p:spPr>
          <a:xfrm>
            <a:off x="1209600" y="1967040"/>
            <a:ext cx="3362400" cy="345744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83" name="PlaceHolder 1"/>
          <p:cNvSpPr>
            <a:spLocks noGrp="1"/>
          </p:cNvSpPr>
          <p:nvPr>
            <p:ph/>
          </p:nvPr>
        </p:nvSpPr>
        <p:spPr>
          <a:xfrm>
            <a:off x="1172880" y="1085400"/>
            <a:ext cx="7753320" cy="6008760"/>
          </a:xfrm>
          <a:prstGeom prst="rect">
            <a:avLst/>
          </a:prstGeom>
          <a:noFill/>
          <a:ln w="0">
            <a:noFill/>
          </a:ln>
        </p:spPr>
        <p:txBody>
          <a:bodyPr lIns="90000" rIns="90000" tIns="46800" bIns="46800" anchor="t">
            <a:normAutofit/>
          </a:bodyPr>
          <a:p>
            <a:pPr marL="343080" indent="-343080">
              <a:lnSpc>
                <a:spcPct val="10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600" strike="noStrike" u="none">
                <a:solidFill>
                  <a:srgbClr val="ffffff"/>
                </a:solidFill>
                <a:effectLst/>
                <a:uFillTx/>
                <a:latin typeface="Arial"/>
              </a:rPr>
              <a:t>	</a:t>
            </a:r>
            <a:r>
              <a:rPr b="0" i="1" lang="en-IN" sz="2600" strike="noStrike" u="none">
                <a:solidFill>
                  <a:srgbClr val="ffffff"/>
                </a:solidFill>
                <a:effectLst/>
                <a:uFillTx/>
                <a:latin typeface="Arial"/>
              </a:rPr>
              <a:t>Competition for funds from the NIH and other sponsors, intensifying year by year, now stands at an unprecedented level, and shows no sign of abating. Never before have so many established investigators faced so much uncertainty about their longevity as active scientists. Never before have so many novices faced so many disincentives to entering or continuing a research career.</a:t>
            </a:r>
            <a:endParaRPr b="0" lang="en-IN" sz="2600" strike="noStrike" u="none">
              <a:solidFill>
                <a:srgbClr val="ffffff"/>
              </a:solidFill>
              <a:effectLst/>
              <a:uFillTx/>
              <a:latin typeface="Myriad Web"/>
            </a:endParaRPr>
          </a:p>
          <a:p>
            <a:pPr marL="343080" indent="0">
              <a:lnSpc>
                <a:spcPct val="100000"/>
              </a:lnSpc>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600" strike="noStrike" u="none">
              <a:solidFill>
                <a:srgbClr val="ffffff"/>
              </a:solidFill>
              <a:effectLst/>
              <a:uFillTx/>
              <a:latin typeface="Myriad Web"/>
            </a:endParaRPr>
          </a:p>
          <a:p>
            <a:pPr marL="343080" indent="-343080">
              <a:lnSpc>
                <a:spcPct val="10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	</a:t>
            </a:r>
            <a:endParaRPr b="0" lang="en-IN" sz="2400" strike="noStrike" u="none">
              <a:solidFill>
                <a:srgbClr val="ffffff"/>
              </a:solidFill>
              <a:effectLst/>
              <a:uFillTx/>
              <a:latin typeface="Myriad Web"/>
            </a:endParaRPr>
          </a:p>
        </p:txBody>
      </p:sp>
      <p:sp>
        <p:nvSpPr>
          <p:cNvPr id="84" name=""/>
          <p:cNvSpPr/>
          <p:nvPr/>
        </p:nvSpPr>
        <p:spPr>
          <a:xfrm>
            <a:off x="1576440" y="5343480"/>
            <a:ext cx="7149960" cy="764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ffffff"/>
                </a:solidFill>
                <a:effectLst/>
                <a:uFillTx/>
                <a:latin typeface="Arial"/>
              </a:rPr>
              <a:t>Dr. William F. Raub, NIH Associate Director for Research and Training, strategy paper, </a:t>
            </a:r>
            <a:r>
              <a:rPr b="0" lang="en-US" sz="2200" strike="noStrike" u="none">
                <a:solidFill>
                  <a:srgbClr val="ffcc00"/>
                </a:solidFill>
                <a:effectLst/>
                <a:uFillTx/>
                <a:latin typeface="Arial"/>
              </a:rPr>
              <a:t>1982</a:t>
            </a:r>
            <a:endParaRPr b="0" lang="en-IN" sz="2200" strike="noStrike" u="none">
              <a:solidFill>
                <a:srgbClr val="000000"/>
              </a:solidFill>
              <a:effectLst/>
              <a:uFillTx/>
              <a:latin typeface="Arial"/>
            </a:endParaRPr>
          </a:p>
        </p:txBody>
      </p:sp>
    </p:spTree>
  </p:cSld>
  <p:transition>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1155600" y="228600"/>
            <a:ext cx="7290000" cy="6523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a:rPr>
              <a:t>What Is Really Happening?</a:t>
            </a:r>
            <a:br>
              <a:rPr sz="3200"/>
            </a:br>
            <a:r>
              <a:rPr b="0" lang="en-IN" sz="3200" strike="noStrike" u="none">
                <a:solidFill>
                  <a:srgbClr val="ffffff"/>
                </a:solidFill>
                <a:effectLst/>
                <a:uFillTx/>
                <a:latin typeface="Arial"/>
              </a:rPr>
              <a:t>3 Fundamental Drivers</a:t>
            </a:r>
            <a:endParaRPr b="1" lang="en-IN" sz="3200" strike="noStrike" u="none">
              <a:solidFill>
                <a:srgbClr val="ffffff"/>
              </a:solidFill>
              <a:effectLst/>
              <a:uFillTx/>
              <a:latin typeface="Myriad Web"/>
            </a:endParaRPr>
          </a:p>
        </p:txBody>
      </p:sp>
      <p:sp>
        <p:nvSpPr>
          <p:cNvPr id="86" name="PlaceHolder 2"/>
          <p:cNvSpPr>
            <a:spLocks noGrp="1"/>
          </p:cNvSpPr>
          <p:nvPr>
            <p:ph/>
          </p:nvPr>
        </p:nvSpPr>
        <p:spPr>
          <a:xfrm>
            <a:off x="993240" y="1628640"/>
            <a:ext cx="4448520" cy="5345280"/>
          </a:xfrm>
          <a:prstGeom prst="rect">
            <a:avLst/>
          </a:prstGeom>
          <a:noFill/>
          <a:ln w="0">
            <a:noFill/>
          </a:ln>
        </p:spPr>
        <p:txBody>
          <a:bodyPr lIns="90000" rIns="90000" tIns="46800" bIns="46800" anchor="t">
            <a:normAutofit/>
          </a:bodyPr>
          <a:p>
            <a:pPr marL="343080" indent="-343080">
              <a:lnSpc>
                <a:spcPct val="90000"/>
              </a:lnSpc>
              <a:spcBef>
                <a:spcPts val="1125"/>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Large capacity building throughout U.S. research institutions and increase in number of new faculty</a:t>
            </a:r>
            <a:r>
              <a:rPr b="0" lang="en-IN" sz="2000" strike="noStrike" u="none">
                <a:solidFill>
                  <a:srgbClr val="ffffff"/>
                </a:solidFill>
                <a:effectLst/>
                <a:uFillTx/>
                <a:latin typeface="Arial"/>
              </a:rPr>
              <a:t> </a:t>
            </a:r>
            <a:endParaRPr b="0" lang="en-IN" sz="2000" strike="noStrike" u="none">
              <a:solidFill>
                <a:srgbClr val="ffffff"/>
              </a:solidFill>
              <a:effectLst/>
              <a:uFillTx/>
              <a:latin typeface="Myriad Web"/>
            </a:endParaRPr>
          </a:p>
          <a:p>
            <a:pPr marL="343080" indent="-343080">
              <a:lnSpc>
                <a:spcPct val="90000"/>
              </a:lnSpc>
              <a:spcBef>
                <a:spcPts val="13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Appropriations below inflation after 2003 </a:t>
            </a:r>
            <a:endParaRPr b="0" lang="en-IN" sz="2400" strike="noStrike" u="none">
              <a:solidFill>
                <a:srgbClr val="ffffff"/>
              </a:solidFill>
              <a:effectLst/>
              <a:uFillTx/>
              <a:latin typeface="Myriad Web"/>
            </a:endParaRPr>
          </a:p>
          <a:p>
            <a:pPr lvl="1" marL="743040" indent="-285840">
              <a:lnSpc>
                <a:spcPct val="90000"/>
              </a:lnSpc>
              <a:spcBef>
                <a:spcPts val="1125"/>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Increases of 3 % in ‘04, 2% in ‘05 and 0% in 06</a:t>
            </a:r>
            <a:endParaRPr b="0" lang="en-IN" sz="2000" strike="noStrike" u="none">
              <a:solidFill>
                <a:srgbClr val="ffffff"/>
              </a:solidFill>
              <a:effectLst/>
              <a:uFillTx/>
              <a:latin typeface="Myriad Web"/>
            </a:endParaRPr>
          </a:p>
          <a:p>
            <a:pPr lvl="1" marL="743040" indent="-285840">
              <a:lnSpc>
                <a:spcPct val="90000"/>
              </a:lnSpc>
              <a:spcBef>
                <a:spcPts val="1125"/>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Biomedical Inflation in 2004 was ~ 5%</a:t>
            </a:r>
            <a:endParaRPr b="0" lang="en-IN" sz="2000" strike="noStrike" u="none">
              <a:solidFill>
                <a:srgbClr val="ffffff"/>
              </a:solidFill>
              <a:effectLst/>
              <a:uFillTx/>
              <a:latin typeface="Myriad Web"/>
            </a:endParaRPr>
          </a:p>
          <a:p>
            <a:pPr marL="343080" indent="-343080">
              <a:lnSpc>
                <a:spcPct val="90000"/>
              </a:lnSpc>
              <a:spcBef>
                <a:spcPts val="134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Budget cycling phenomenon </a:t>
            </a:r>
            <a:endParaRPr b="0" lang="en-IN" sz="2400" strike="noStrike" u="none">
              <a:solidFill>
                <a:srgbClr val="ffffff"/>
              </a:solidFill>
              <a:effectLst/>
              <a:uFillTx/>
              <a:latin typeface="Myriad Web"/>
            </a:endParaRPr>
          </a:p>
        </p:txBody>
      </p:sp>
      <p:pic>
        <p:nvPicPr>
          <p:cNvPr id="87" name="" descr=""/>
          <p:cNvPicPr/>
          <p:nvPr/>
        </p:nvPicPr>
        <p:blipFill>
          <a:blip r:embed="rId1"/>
          <a:stretch/>
        </p:blipFill>
        <p:spPr>
          <a:xfrm>
            <a:off x="5506920" y="2112840"/>
            <a:ext cx="3470400" cy="26053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pic>
        <p:nvPicPr>
          <p:cNvPr id="88" name="" descr=""/>
          <p:cNvPicPr/>
          <p:nvPr/>
        </p:nvPicPr>
        <p:blipFill>
          <a:blip r:embed="rId1"/>
          <a:stretch/>
        </p:blipFill>
        <p:spPr>
          <a:xfrm>
            <a:off x="1708200" y="1620720"/>
            <a:ext cx="6211800" cy="4083120"/>
          </a:xfrm>
          <a:prstGeom prst="rect">
            <a:avLst/>
          </a:prstGeom>
          <a:noFill/>
          <a:ln w="0">
            <a:noFill/>
          </a:ln>
        </p:spPr>
      </p:pic>
      <p:sp>
        <p:nvSpPr>
          <p:cNvPr id="89" name=""/>
          <p:cNvSpPr/>
          <p:nvPr/>
        </p:nvSpPr>
        <p:spPr>
          <a:xfrm>
            <a:off x="1295640" y="1523880"/>
            <a:ext cx="406080" cy="337680"/>
          </a:xfrm>
          <a:prstGeom prst="rect">
            <a:avLst/>
          </a:prstGeom>
          <a:noFill/>
          <a:ln w="0">
            <a:noFill/>
          </a:ln>
        </p:spPr>
        <p:style>
          <a:lnRef idx="0"/>
          <a:fillRef idx="0"/>
          <a:effectRef idx="0"/>
          <a:fontRef idx="minor"/>
        </p:style>
        <p:txBody>
          <a:bodyPr wrap="none"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10</a:t>
            </a:r>
            <a:endParaRPr b="0" lang="en-IN" sz="1600" strike="noStrike" u="none">
              <a:solidFill>
                <a:srgbClr val="000000"/>
              </a:solidFill>
              <a:effectLst/>
              <a:uFillTx/>
              <a:latin typeface="Arial"/>
            </a:endParaRPr>
          </a:p>
        </p:txBody>
      </p:sp>
      <p:sp>
        <p:nvSpPr>
          <p:cNvPr id="90" name=""/>
          <p:cNvSpPr/>
          <p:nvPr/>
        </p:nvSpPr>
        <p:spPr>
          <a:xfrm>
            <a:off x="1408320" y="2301840"/>
            <a:ext cx="293400" cy="337680"/>
          </a:xfrm>
          <a:prstGeom prst="rect">
            <a:avLst/>
          </a:prstGeom>
          <a:noFill/>
          <a:ln w="0">
            <a:noFill/>
          </a:ln>
        </p:spPr>
        <p:style>
          <a:lnRef idx="0"/>
          <a:fillRef idx="0"/>
          <a:effectRef idx="0"/>
          <a:fontRef idx="minor"/>
        </p:style>
        <p:txBody>
          <a:bodyPr wrap="none"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8</a:t>
            </a:r>
            <a:endParaRPr b="0" lang="en-IN" sz="1600" strike="noStrike" u="none">
              <a:solidFill>
                <a:srgbClr val="000000"/>
              </a:solidFill>
              <a:effectLst/>
              <a:uFillTx/>
              <a:latin typeface="Arial"/>
            </a:endParaRPr>
          </a:p>
        </p:txBody>
      </p:sp>
      <p:sp>
        <p:nvSpPr>
          <p:cNvPr id="91" name=""/>
          <p:cNvSpPr/>
          <p:nvPr/>
        </p:nvSpPr>
        <p:spPr>
          <a:xfrm>
            <a:off x="1408320" y="3079800"/>
            <a:ext cx="293400" cy="337680"/>
          </a:xfrm>
          <a:prstGeom prst="rect">
            <a:avLst/>
          </a:prstGeom>
          <a:noFill/>
          <a:ln w="0">
            <a:noFill/>
          </a:ln>
        </p:spPr>
        <p:style>
          <a:lnRef idx="0"/>
          <a:fillRef idx="0"/>
          <a:effectRef idx="0"/>
          <a:fontRef idx="minor"/>
        </p:style>
        <p:txBody>
          <a:bodyPr wrap="none"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6</a:t>
            </a:r>
            <a:endParaRPr b="0" lang="en-IN" sz="1600" strike="noStrike" u="none">
              <a:solidFill>
                <a:srgbClr val="000000"/>
              </a:solidFill>
              <a:effectLst/>
              <a:uFillTx/>
              <a:latin typeface="Arial"/>
            </a:endParaRPr>
          </a:p>
        </p:txBody>
      </p:sp>
      <p:sp>
        <p:nvSpPr>
          <p:cNvPr id="92" name=""/>
          <p:cNvSpPr/>
          <p:nvPr/>
        </p:nvSpPr>
        <p:spPr>
          <a:xfrm>
            <a:off x="1408320" y="3871800"/>
            <a:ext cx="293400" cy="337680"/>
          </a:xfrm>
          <a:prstGeom prst="rect">
            <a:avLst/>
          </a:prstGeom>
          <a:noFill/>
          <a:ln w="0">
            <a:noFill/>
          </a:ln>
        </p:spPr>
        <p:style>
          <a:lnRef idx="0"/>
          <a:fillRef idx="0"/>
          <a:effectRef idx="0"/>
          <a:fontRef idx="minor"/>
        </p:style>
        <p:txBody>
          <a:bodyPr wrap="none"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4</a:t>
            </a:r>
            <a:endParaRPr b="0" lang="en-IN" sz="1600" strike="noStrike" u="none">
              <a:solidFill>
                <a:srgbClr val="000000"/>
              </a:solidFill>
              <a:effectLst/>
              <a:uFillTx/>
              <a:latin typeface="Arial"/>
            </a:endParaRPr>
          </a:p>
        </p:txBody>
      </p:sp>
      <p:sp>
        <p:nvSpPr>
          <p:cNvPr id="93" name=""/>
          <p:cNvSpPr/>
          <p:nvPr/>
        </p:nvSpPr>
        <p:spPr>
          <a:xfrm>
            <a:off x="1408320" y="4683240"/>
            <a:ext cx="293400" cy="337680"/>
          </a:xfrm>
          <a:prstGeom prst="rect">
            <a:avLst/>
          </a:prstGeom>
          <a:noFill/>
          <a:ln w="0">
            <a:noFill/>
          </a:ln>
        </p:spPr>
        <p:style>
          <a:lnRef idx="0"/>
          <a:fillRef idx="0"/>
          <a:effectRef idx="0"/>
          <a:fontRef idx="minor"/>
        </p:style>
        <p:txBody>
          <a:bodyPr wrap="none"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2</a:t>
            </a:r>
            <a:endParaRPr b="0" lang="en-IN" sz="1600" strike="noStrike" u="none">
              <a:solidFill>
                <a:srgbClr val="000000"/>
              </a:solidFill>
              <a:effectLst/>
              <a:uFillTx/>
              <a:latin typeface="Arial"/>
            </a:endParaRPr>
          </a:p>
        </p:txBody>
      </p:sp>
      <p:sp>
        <p:nvSpPr>
          <p:cNvPr id="94" name=""/>
          <p:cNvSpPr/>
          <p:nvPr/>
        </p:nvSpPr>
        <p:spPr>
          <a:xfrm>
            <a:off x="1408320" y="5484960"/>
            <a:ext cx="293400" cy="337680"/>
          </a:xfrm>
          <a:prstGeom prst="rect">
            <a:avLst/>
          </a:prstGeom>
          <a:noFill/>
          <a:ln w="0">
            <a:noFill/>
          </a:ln>
        </p:spPr>
        <p:style>
          <a:lnRef idx="0"/>
          <a:fillRef idx="0"/>
          <a:effectRef idx="0"/>
          <a:fontRef idx="minor"/>
        </p:style>
        <p:txBody>
          <a:bodyPr wrap="none" lIns="90000" rIns="90000" tIns="46800" bIns="4680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0</a:t>
            </a:r>
            <a:endParaRPr b="0" lang="en-IN" sz="1600" strike="noStrike" u="none">
              <a:solidFill>
                <a:srgbClr val="000000"/>
              </a:solidFill>
              <a:effectLst/>
              <a:uFillTx/>
              <a:latin typeface="Arial"/>
            </a:endParaRPr>
          </a:p>
        </p:txBody>
      </p:sp>
      <p:sp>
        <p:nvSpPr>
          <p:cNvPr id="95" name=""/>
          <p:cNvSpPr/>
          <p:nvPr/>
        </p:nvSpPr>
        <p:spPr>
          <a:xfrm>
            <a:off x="2176560" y="5780160"/>
            <a:ext cx="1150200" cy="3376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1990-1997</a:t>
            </a:r>
            <a:endParaRPr b="0" lang="en-IN" sz="1600" strike="noStrike" u="none">
              <a:solidFill>
                <a:srgbClr val="000000"/>
              </a:solidFill>
              <a:effectLst/>
              <a:uFillTx/>
              <a:latin typeface="Arial"/>
            </a:endParaRPr>
          </a:p>
        </p:txBody>
      </p:sp>
      <p:sp>
        <p:nvSpPr>
          <p:cNvPr id="96" name=""/>
          <p:cNvSpPr/>
          <p:nvPr/>
        </p:nvSpPr>
        <p:spPr>
          <a:xfrm>
            <a:off x="4240440" y="5780160"/>
            <a:ext cx="1150200" cy="3376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1998-2002</a:t>
            </a:r>
            <a:endParaRPr b="0" lang="en-IN" sz="1600" strike="noStrike" u="none">
              <a:solidFill>
                <a:srgbClr val="000000"/>
              </a:solidFill>
              <a:effectLst/>
              <a:uFillTx/>
              <a:latin typeface="Arial"/>
            </a:endParaRPr>
          </a:p>
        </p:txBody>
      </p:sp>
      <p:sp>
        <p:nvSpPr>
          <p:cNvPr id="97" name=""/>
          <p:cNvSpPr/>
          <p:nvPr/>
        </p:nvSpPr>
        <p:spPr>
          <a:xfrm>
            <a:off x="6297840" y="5780160"/>
            <a:ext cx="1150200" cy="3376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2003-2007</a:t>
            </a:r>
            <a:endParaRPr b="0" lang="en-IN" sz="1600" strike="noStrike" u="none">
              <a:solidFill>
                <a:srgbClr val="000000"/>
              </a:solidFill>
              <a:effectLst/>
              <a:uFillTx/>
              <a:latin typeface="Arial"/>
            </a:endParaRPr>
          </a:p>
        </p:txBody>
      </p:sp>
      <p:sp>
        <p:nvSpPr>
          <p:cNvPr id="98" name=""/>
          <p:cNvSpPr/>
          <p:nvPr/>
        </p:nvSpPr>
        <p:spPr>
          <a:xfrm rot="16200000">
            <a:off x="93600" y="3433320"/>
            <a:ext cx="20480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Dollars (in billions)</a:t>
            </a:r>
            <a:endParaRPr b="0" lang="en-IN" sz="1800" strike="noStrike" u="none">
              <a:solidFill>
                <a:srgbClr val="000000"/>
              </a:solidFill>
              <a:effectLst/>
              <a:uFillTx/>
              <a:latin typeface="Arial"/>
            </a:endParaRPr>
          </a:p>
        </p:txBody>
      </p:sp>
      <p:sp>
        <p:nvSpPr>
          <p:cNvPr id="99" name=""/>
          <p:cNvSpPr/>
          <p:nvPr/>
        </p:nvSpPr>
        <p:spPr>
          <a:xfrm>
            <a:off x="2283480" y="4307040"/>
            <a:ext cx="824400" cy="459720"/>
          </a:xfrm>
          <a:prstGeom prst="rect">
            <a:avLst/>
          </a:prstGeom>
          <a:noFill/>
          <a:ln w="0">
            <a:noFill/>
          </a:ln>
        </p:spPr>
        <p:style>
          <a:lnRef idx="0"/>
          <a:fillRef idx="0"/>
          <a:effectRef idx="0"/>
          <a:fontRef idx="minor"/>
        </p:style>
        <p:txBody>
          <a:bodyPr wrap="none"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3.2B</a:t>
            </a:r>
            <a:endParaRPr b="0" lang="en-IN" sz="2400" strike="noStrike" u="none">
              <a:solidFill>
                <a:srgbClr val="000000"/>
              </a:solidFill>
              <a:effectLst/>
              <a:uFillTx/>
              <a:latin typeface="Arial"/>
            </a:endParaRPr>
          </a:p>
        </p:txBody>
      </p:sp>
      <p:sp>
        <p:nvSpPr>
          <p:cNvPr id="100" name=""/>
          <p:cNvSpPr/>
          <p:nvPr/>
        </p:nvSpPr>
        <p:spPr>
          <a:xfrm>
            <a:off x="4456800" y="3492360"/>
            <a:ext cx="824400" cy="459720"/>
          </a:xfrm>
          <a:prstGeom prst="rect">
            <a:avLst/>
          </a:prstGeom>
          <a:noFill/>
          <a:ln w="0">
            <a:noFill/>
          </a:ln>
        </p:spPr>
        <p:style>
          <a:lnRef idx="0"/>
          <a:fillRef idx="0"/>
          <a:effectRef idx="0"/>
          <a:fontRef idx="minor"/>
        </p:style>
        <p:txBody>
          <a:bodyPr wrap="none"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5.4B</a:t>
            </a:r>
            <a:endParaRPr b="0" lang="en-IN" sz="2400" strike="noStrike" u="none">
              <a:solidFill>
                <a:srgbClr val="000000"/>
              </a:solidFill>
              <a:effectLst/>
              <a:uFillTx/>
              <a:latin typeface="Arial"/>
            </a:endParaRPr>
          </a:p>
        </p:txBody>
      </p:sp>
      <p:sp>
        <p:nvSpPr>
          <p:cNvPr id="101" name=""/>
          <p:cNvSpPr/>
          <p:nvPr/>
        </p:nvSpPr>
        <p:spPr>
          <a:xfrm>
            <a:off x="6453720" y="1779480"/>
            <a:ext cx="824400" cy="459720"/>
          </a:xfrm>
          <a:prstGeom prst="rect">
            <a:avLst/>
          </a:prstGeom>
          <a:noFill/>
          <a:ln w="0">
            <a:noFill/>
          </a:ln>
        </p:spPr>
        <p:style>
          <a:lnRef idx="0"/>
          <a:fillRef idx="0"/>
          <a:effectRef idx="0"/>
          <a:fontRef idx="minor"/>
        </p:style>
        <p:txBody>
          <a:bodyPr wrap="none"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9.5B</a:t>
            </a:r>
            <a:endParaRPr b="0" lang="en-IN" sz="2400" strike="noStrike" u="none">
              <a:solidFill>
                <a:srgbClr val="000000"/>
              </a:solidFill>
              <a:effectLst/>
              <a:uFillTx/>
              <a:latin typeface="Arial"/>
            </a:endParaRPr>
          </a:p>
        </p:txBody>
      </p:sp>
      <p:sp>
        <p:nvSpPr>
          <p:cNvPr id="102" name=""/>
          <p:cNvSpPr/>
          <p:nvPr/>
        </p:nvSpPr>
        <p:spPr>
          <a:xfrm>
            <a:off x="4497480" y="6019920"/>
            <a:ext cx="60876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Year</a:t>
            </a:r>
            <a:endParaRPr b="0" lang="en-IN" sz="1600" strike="noStrike" u="none">
              <a:solidFill>
                <a:srgbClr val="000000"/>
              </a:solidFill>
              <a:effectLst/>
              <a:uFillTx/>
              <a:latin typeface="Arial"/>
            </a:endParaRPr>
          </a:p>
        </p:txBody>
      </p:sp>
      <p:sp>
        <p:nvSpPr>
          <p:cNvPr id="103" name=""/>
          <p:cNvSpPr/>
          <p:nvPr/>
        </p:nvSpPr>
        <p:spPr>
          <a:xfrm>
            <a:off x="954000" y="6329520"/>
            <a:ext cx="7293240" cy="520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ffffff"/>
                </a:solidFill>
                <a:effectLst/>
                <a:uFillTx/>
                <a:latin typeface="Arial"/>
              </a:rPr>
              <a:t>AAMC – Survey of Research Facility Investments (99 of 125 AAMC Member Schools) </a:t>
            </a:r>
            <a:endParaRPr b="0" lang="en-IN" sz="1400" strike="noStrike" u="none">
              <a:solidFill>
                <a:srgbClr val="000000"/>
              </a:solidFill>
              <a:effectLst/>
              <a:uFillTx/>
              <a:latin typeface="Arial"/>
            </a:endParaRPr>
          </a:p>
        </p:txBody>
      </p:sp>
      <p:sp>
        <p:nvSpPr>
          <p:cNvPr id="104" name=""/>
          <p:cNvSpPr/>
          <p:nvPr/>
        </p:nvSpPr>
        <p:spPr>
          <a:xfrm>
            <a:off x="1209960" y="6504120"/>
            <a:ext cx="371736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ffff"/>
                </a:solidFill>
                <a:effectLst/>
                <a:uFillTx/>
                <a:latin typeface="Arial"/>
              </a:rPr>
              <a:t>Data Based on AAMC Faculty Roster</a:t>
            </a:r>
            <a:endParaRPr b="0" lang="en-IN" sz="1600" strike="noStrike" u="none">
              <a:solidFill>
                <a:srgbClr val="000000"/>
              </a:solidFill>
              <a:effectLst/>
              <a:uFillTx/>
              <a:latin typeface="Arial"/>
            </a:endParaRPr>
          </a:p>
        </p:txBody>
      </p:sp>
      <p:grpSp>
        <p:nvGrpSpPr>
          <p:cNvPr id="105" name=""/>
          <p:cNvGrpSpPr/>
          <p:nvPr/>
        </p:nvGrpSpPr>
        <p:grpSpPr>
          <a:xfrm>
            <a:off x="1724040" y="1800360"/>
            <a:ext cx="4336560" cy="1226520"/>
            <a:chOff x="1724040" y="1800360"/>
            <a:chExt cx="4336560" cy="1226520"/>
          </a:xfrm>
        </p:grpSpPr>
        <p:sp>
          <p:nvSpPr>
            <p:cNvPr id="106" name=""/>
            <p:cNvSpPr/>
            <p:nvPr/>
          </p:nvSpPr>
          <p:spPr>
            <a:xfrm>
              <a:off x="1724040" y="1800360"/>
              <a:ext cx="183960" cy="4568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7" name=""/>
            <p:cNvSpPr/>
            <p:nvPr/>
          </p:nvSpPr>
          <p:spPr>
            <a:xfrm>
              <a:off x="5876640" y="2447640"/>
              <a:ext cx="183960" cy="5792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grpSp>
      <p:sp>
        <p:nvSpPr>
          <p:cNvPr id="108" name=""/>
          <p:cNvSpPr/>
          <p:nvPr/>
        </p:nvSpPr>
        <p:spPr>
          <a:xfrm>
            <a:off x="963720" y="6438960"/>
            <a:ext cx="339120" cy="58176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a:rPr>
              <a:t>*</a:t>
            </a:r>
            <a:endParaRPr b="0" lang="en-IN" sz="3200" strike="noStrike" u="none">
              <a:solidFill>
                <a:srgbClr val="000000"/>
              </a:solidFill>
              <a:effectLst/>
              <a:uFillTx/>
              <a:latin typeface="Arial"/>
            </a:endParaRPr>
          </a:p>
        </p:txBody>
      </p:sp>
      <p:sp>
        <p:nvSpPr>
          <p:cNvPr id="109" name=""/>
          <p:cNvSpPr/>
          <p:nvPr/>
        </p:nvSpPr>
        <p:spPr>
          <a:xfrm>
            <a:off x="1074600" y="301680"/>
            <a:ext cx="7726680" cy="106956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Investment in Research Facilities at U.S. Medical Schools</a:t>
            </a:r>
            <a:endParaRPr b="0" lang="en-IN"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2" presetSubtype="8">
                                  <p:stCondLst>
                                    <p:cond delay="0"/>
                                  </p:stCondLst>
                                  <p:childTnLst>
                                    <p:set>
                                      <p:cBhvr>
                                        <p:cTn id="12" dur="1" fill="hold">
                                          <p:stCondLst>
                                            <p:cond delay="0"/>
                                          </p:stCondLst>
                                        </p:cTn>
                                        <p:tgtEl>
                                          <p:spTgt spid="105"/>
                                        </p:tgtEl>
                                        <p:attrNameLst>
                                          <p:attrName>style.visibility</p:attrName>
                                        </p:attrNameLst>
                                      </p:cBhvr>
                                      <p:to>
                                        <p:strVal val="visible"/>
                                      </p:to>
                                    </p:set>
                                    <p:anim calcmode="lin" valueType="num">
                                      <p:cBhvr additive="base">
                                        <p:cTn id="13" dur="500" fill="hold"/>
                                        <p:tgtEl>
                                          <p:spTgt spid="105"/>
                                        </p:tgtEl>
                                        <p:attrNameLst>
                                          <p:attrName>ppt_x</p:attrName>
                                        </p:attrNameLst>
                                      </p:cBhvr>
                                      <p:tavLst>
                                        <p:tav tm="0">
                                          <p:val>
                                            <p:strVal val="0-#ppt_w/2"/>
                                          </p:val>
                                        </p:tav>
                                        <p:tav tm="100000">
                                          <p:val>
                                            <p:strVal val="#ppt_x"/>
                                          </p:val>
                                        </p:tav>
                                      </p:tavLst>
                                    </p:anim>
                                    <p:anim calcmode="lin" valueType="num">
                                      <p:cBhvr additive="base">
                                        <p:cTn id="14" dur="500" fill="hold"/>
                                        <p:tgtEl>
                                          <p:spTgt spid="1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110" name=""/>
          <p:cNvSpPr/>
          <p:nvPr/>
        </p:nvSpPr>
        <p:spPr>
          <a:xfrm>
            <a:off x="787320" y="506520"/>
            <a:ext cx="8228160" cy="5522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New Grant Applications, Applicants and Success Rates </a:t>
            </a:r>
            <a:br>
              <a:rPr sz="2800"/>
            </a:br>
            <a:r>
              <a:rPr b="0" i="1" lang="en-IN" sz="2600" strike="noStrike" u="none">
                <a:solidFill>
                  <a:srgbClr val="ffcc00"/>
                </a:solidFill>
                <a:effectLst/>
                <a:uFillTx/>
                <a:latin typeface="Arial"/>
              </a:rPr>
              <a:t>During and After Doubling Period</a:t>
            </a:r>
            <a:endParaRPr b="0" lang="en-IN" sz="2600" strike="noStrike" u="none">
              <a:solidFill>
                <a:srgbClr val="000000"/>
              </a:solidFill>
              <a:effectLst/>
              <a:uFillTx/>
              <a:latin typeface="Arial"/>
            </a:endParaRPr>
          </a:p>
        </p:txBody>
      </p:sp>
      <p:sp>
        <p:nvSpPr>
          <p:cNvPr id="111" name=""/>
          <p:cNvSpPr/>
          <p:nvPr/>
        </p:nvSpPr>
        <p:spPr>
          <a:xfrm>
            <a:off x="1639800" y="6245280"/>
            <a:ext cx="179748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Success Rates</a:t>
            </a:r>
            <a:endParaRPr b="0" lang="en-IN" sz="2000" strike="noStrike" u="none">
              <a:solidFill>
                <a:srgbClr val="000000"/>
              </a:solidFill>
              <a:effectLst/>
              <a:uFillTx/>
              <a:latin typeface="Arial"/>
            </a:endParaRPr>
          </a:p>
        </p:txBody>
      </p:sp>
      <p:grpSp>
        <p:nvGrpSpPr>
          <p:cNvPr id="112" name=""/>
          <p:cNvGrpSpPr/>
          <p:nvPr/>
        </p:nvGrpSpPr>
        <p:grpSpPr>
          <a:xfrm>
            <a:off x="4064040" y="6326280"/>
            <a:ext cx="647640" cy="135000"/>
            <a:chOff x="4064040" y="6326280"/>
            <a:chExt cx="647640" cy="135000"/>
          </a:xfrm>
        </p:grpSpPr>
        <p:sp>
          <p:nvSpPr>
            <p:cNvPr id="113" name=""/>
            <p:cNvSpPr/>
            <p:nvPr/>
          </p:nvSpPr>
          <p:spPr>
            <a:xfrm>
              <a:off x="4064040" y="6388200"/>
              <a:ext cx="647640" cy="1800"/>
            </a:xfrm>
            <a:prstGeom prst="line">
              <a:avLst/>
            </a:prstGeom>
            <a:ln w="77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14" name=""/>
            <p:cNvSpPr/>
            <p:nvPr/>
          </p:nvSpPr>
          <p:spPr>
            <a:xfrm>
              <a:off x="4335480" y="6326280"/>
              <a:ext cx="130320" cy="13500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115" name=""/>
          <p:cNvSpPr/>
          <p:nvPr/>
        </p:nvSpPr>
        <p:spPr>
          <a:xfrm>
            <a:off x="4787640" y="6245280"/>
            <a:ext cx="152784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Applications</a:t>
            </a:r>
            <a:endParaRPr b="0" lang="en-IN" sz="2000" strike="noStrike" u="none">
              <a:solidFill>
                <a:srgbClr val="000000"/>
              </a:solidFill>
              <a:effectLst/>
              <a:uFillTx/>
              <a:latin typeface="Arial"/>
            </a:endParaRPr>
          </a:p>
        </p:txBody>
      </p:sp>
      <p:sp>
        <p:nvSpPr>
          <p:cNvPr id="116" name=""/>
          <p:cNvSpPr/>
          <p:nvPr/>
        </p:nvSpPr>
        <p:spPr>
          <a:xfrm>
            <a:off x="6546960" y="1482840"/>
            <a:ext cx="1207800" cy="3376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cc00"/>
                </a:solidFill>
                <a:effectLst/>
                <a:uFillTx/>
                <a:latin typeface="Arial"/>
              </a:rPr>
              <a:t>Projected</a:t>
            </a:r>
            <a:endParaRPr b="0" lang="en-IN" sz="1600" strike="noStrike" u="none">
              <a:solidFill>
                <a:srgbClr val="000000"/>
              </a:solidFill>
              <a:effectLst/>
              <a:uFillTx/>
              <a:latin typeface="Arial"/>
            </a:endParaRPr>
          </a:p>
        </p:txBody>
      </p:sp>
      <p:sp>
        <p:nvSpPr>
          <p:cNvPr id="117" name=""/>
          <p:cNvSpPr/>
          <p:nvPr/>
        </p:nvSpPr>
        <p:spPr>
          <a:xfrm flipV="1">
            <a:off x="6603840" y="1875960"/>
            <a:ext cx="0" cy="3333960"/>
          </a:xfrm>
          <a:prstGeom prst="line">
            <a:avLst/>
          </a:prstGeom>
          <a:ln w="57240">
            <a:solidFill>
              <a:srgbClr val="ffcc00"/>
            </a:solidFill>
            <a:prstDash val="sysDot"/>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8" name=""/>
          <p:cNvSpPr/>
          <p:nvPr/>
        </p:nvSpPr>
        <p:spPr>
          <a:xfrm rot="16200000">
            <a:off x="-504000" y="3281760"/>
            <a:ext cx="330156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 Success Rate of Grants Funded</a:t>
            </a:r>
            <a:endParaRPr b="0" lang="en-IN" sz="1600" strike="noStrike" u="none">
              <a:solidFill>
                <a:srgbClr val="000000"/>
              </a:solidFill>
              <a:effectLst/>
              <a:uFillTx/>
              <a:latin typeface="Arial"/>
            </a:endParaRPr>
          </a:p>
        </p:txBody>
      </p:sp>
      <p:sp>
        <p:nvSpPr>
          <p:cNvPr id="119" name=""/>
          <p:cNvSpPr/>
          <p:nvPr/>
        </p:nvSpPr>
        <p:spPr>
          <a:xfrm flipV="1">
            <a:off x="2201760" y="5636880"/>
            <a:ext cx="855720" cy="136440"/>
          </a:xfrm>
          <a:prstGeom prst="line">
            <a:avLst/>
          </a:prstGeom>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0" name=""/>
          <p:cNvSpPr/>
          <p:nvPr/>
        </p:nvSpPr>
        <p:spPr>
          <a:xfrm>
            <a:off x="1906560" y="1581120"/>
            <a:ext cx="1440" cy="3633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1" name=""/>
          <p:cNvSpPr/>
          <p:nvPr/>
        </p:nvSpPr>
        <p:spPr>
          <a:xfrm>
            <a:off x="1863720" y="521496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22" name=""/>
          <p:cNvSpPr/>
          <p:nvPr/>
        </p:nvSpPr>
        <p:spPr>
          <a:xfrm>
            <a:off x="1863720" y="470520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3" name=""/>
          <p:cNvSpPr/>
          <p:nvPr/>
        </p:nvSpPr>
        <p:spPr>
          <a:xfrm>
            <a:off x="1863720" y="4173480"/>
            <a:ext cx="88920" cy="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4" name=""/>
          <p:cNvSpPr/>
          <p:nvPr/>
        </p:nvSpPr>
        <p:spPr>
          <a:xfrm>
            <a:off x="1863720" y="366408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25" name=""/>
          <p:cNvSpPr/>
          <p:nvPr/>
        </p:nvSpPr>
        <p:spPr>
          <a:xfrm>
            <a:off x="1863720" y="313056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26" name=""/>
          <p:cNvSpPr/>
          <p:nvPr/>
        </p:nvSpPr>
        <p:spPr>
          <a:xfrm>
            <a:off x="1863720" y="262260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27" name=""/>
          <p:cNvSpPr/>
          <p:nvPr/>
        </p:nvSpPr>
        <p:spPr>
          <a:xfrm>
            <a:off x="1863720" y="208908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28" name=""/>
          <p:cNvSpPr/>
          <p:nvPr/>
        </p:nvSpPr>
        <p:spPr>
          <a:xfrm>
            <a:off x="1863720" y="15811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29" name=""/>
          <p:cNvSpPr/>
          <p:nvPr/>
        </p:nvSpPr>
        <p:spPr>
          <a:xfrm>
            <a:off x="1906560" y="5229360"/>
            <a:ext cx="587520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30" name=""/>
          <p:cNvSpPr/>
          <p:nvPr/>
        </p:nvSpPr>
        <p:spPr>
          <a:xfrm flipV="1">
            <a:off x="1906560" y="5165280"/>
            <a:ext cx="144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1" name=""/>
          <p:cNvSpPr/>
          <p:nvPr/>
        </p:nvSpPr>
        <p:spPr>
          <a:xfrm flipV="1">
            <a:off x="2490840" y="5165280"/>
            <a:ext cx="144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2" name=""/>
          <p:cNvSpPr/>
          <p:nvPr/>
        </p:nvSpPr>
        <p:spPr>
          <a:xfrm flipV="1">
            <a:off x="307332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3" name=""/>
          <p:cNvSpPr/>
          <p:nvPr/>
        </p:nvSpPr>
        <p:spPr>
          <a:xfrm flipV="1">
            <a:off x="367812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4" name=""/>
          <p:cNvSpPr/>
          <p:nvPr/>
        </p:nvSpPr>
        <p:spPr>
          <a:xfrm flipV="1">
            <a:off x="426240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5" name=""/>
          <p:cNvSpPr/>
          <p:nvPr/>
        </p:nvSpPr>
        <p:spPr>
          <a:xfrm flipV="1">
            <a:off x="484488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6" name=""/>
          <p:cNvSpPr/>
          <p:nvPr/>
        </p:nvSpPr>
        <p:spPr>
          <a:xfrm flipV="1">
            <a:off x="5429160" y="5165280"/>
            <a:ext cx="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7" name=""/>
          <p:cNvSpPr/>
          <p:nvPr/>
        </p:nvSpPr>
        <p:spPr>
          <a:xfrm flipV="1">
            <a:off x="601020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8" name=""/>
          <p:cNvSpPr/>
          <p:nvPr/>
        </p:nvSpPr>
        <p:spPr>
          <a:xfrm flipV="1">
            <a:off x="6616800" y="5165280"/>
            <a:ext cx="144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9" name=""/>
          <p:cNvSpPr/>
          <p:nvPr/>
        </p:nvSpPr>
        <p:spPr>
          <a:xfrm flipV="1">
            <a:off x="719928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0" name=""/>
          <p:cNvSpPr/>
          <p:nvPr/>
        </p:nvSpPr>
        <p:spPr>
          <a:xfrm flipV="1">
            <a:off x="778176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1" name=""/>
          <p:cNvSpPr/>
          <p:nvPr/>
        </p:nvSpPr>
        <p:spPr>
          <a:xfrm>
            <a:off x="7781760" y="1581120"/>
            <a:ext cx="1800" cy="3633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2" name=""/>
          <p:cNvSpPr/>
          <p:nvPr/>
        </p:nvSpPr>
        <p:spPr>
          <a:xfrm>
            <a:off x="7738920" y="521496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43" name=""/>
          <p:cNvSpPr/>
          <p:nvPr/>
        </p:nvSpPr>
        <p:spPr>
          <a:xfrm>
            <a:off x="7738920" y="460836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4" name=""/>
          <p:cNvSpPr/>
          <p:nvPr/>
        </p:nvSpPr>
        <p:spPr>
          <a:xfrm>
            <a:off x="7738920" y="40021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45" name=""/>
          <p:cNvSpPr/>
          <p:nvPr/>
        </p:nvSpPr>
        <p:spPr>
          <a:xfrm>
            <a:off x="7738920" y="33973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46" name=""/>
          <p:cNvSpPr/>
          <p:nvPr/>
        </p:nvSpPr>
        <p:spPr>
          <a:xfrm>
            <a:off x="7738920" y="2792520"/>
            <a:ext cx="88920" cy="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7" name=""/>
          <p:cNvSpPr/>
          <p:nvPr/>
        </p:nvSpPr>
        <p:spPr>
          <a:xfrm>
            <a:off x="7738920" y="218592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148" name=""/>
          <p:cNvSpPr/>
          <p:nvPr/>
        </p:nvSpPr>
        <p:spPr>
          <a:xfrm>
            <a:off x="7738920" y="15811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149" name=""/>
          <p:cNvSpPr/>
          <p:nvPr/>
        </p:nvSpPr>
        <p:spPr>
          <a:xfrm>
            <a:off x="2130480" y="3687840"/>
            <a:ext cx="112680" cy="122040"/>
          </a:xfrm>
          <a:prstGeom prst="ellipse">
            <a:avLst/>
          </a:prstGeom>
          <a:solidFill>
            <a:srgbClr val="ffffff"/>
          </a:solidFill>
          <a:ln w="25560">
            <a:solidFill>
              <a:srgbClr val="ffffff"/>
            </a:solidFill>
            <a:miter/>
          </a:ln>
        </p:spPr>
        <p:style>
          <a:lnRef idx="0"/>
          <a:fillRef idx="0"/>
          <a:effectRef idx="0"/>
          <a:fontRef idx="minor"/>
        </p:style>
        <p:txBody>
          <a:bodyPr lIns="90000" rIns="90000" tIns="39960" bIns="39960" anchor="t">
            <a:noAutofit/>
          </a:bodyPr>
          <a:p>
            <a:endParaRPr b="0" lang="en-IN" sz="1800" strike="noStrike" u="none">
              <a:solidFill>
                <a:srgbClr val="000000"/>
              </a:solidFill>
              <a:effectLst/>
              <a:uFillTx/>
              <a:latin typeface="Arial"/>
            </a:endParaRPr>
          </a:p>
        </p:txBody>
      </p:sp>
      <p:sp>
        <p:nvSpPr>
          <p:cNvPr id="150" name=""/>
          <p:cNvSpPr/>
          <p:nvPr/>
        </p:nvSpPr>
        <p:spPr>
          <a:xfrm>
            <a:off x="2714760" y="354348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1" name=""/>
          <p:cNvSpPr/>
          <p:nvPr/>
        </p:nvSpPr>
        <p:spPr>
          <a:xfrm>
            <a:off x="3321000" y="347040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2" name=""/>
          <p:cNvSpPr/>
          <p:nvPr/>
        </p:nvSpPr>
        <p:spPr>
          <a:xfrm>
            <a:off x="3902040" y="3421080"/>
            <a:ext cx="112680" cy="122400"/>
          </a:xfrm>
          <a:prstGeom prst="ellipse">
            <a:avLst/>
          </a:prstGeom>
          <a:solidFill>
            <a:srgbClr val="ffffff"/>
          </a:solidFill>
          <a:ln w="25560">
            <a:solidFill>
              <a:srgbClr val="ffffff"/>
            </a:solidFill>
            <a:miter/>
          </a:ln>
        </p:spPr>
        <p:style>
          <a:lnRef idx="0"/>
          <a:fillRef idx="0"/>
          <a:effectRef idx="0"/>
          <a:fontRef idx="minor"/>
        </p:style>
        <p:txBody>
          <a:bodyPr lIns="90000" rIns="90000" tIns="40320" bIns="40320" anchor="t">
            <a:noAutofit/>
          </a:bodyPr>
          <a:p>
            <a:endParaRPr b="0" lang="en-IN" sz="1800" strike="noStrike" u="none">
              <a:solidFill>
                <a:srgbClr val="000000"/>
              </a:solidFill>
              <a:effectLst/>
              <a:uFillTx/>
              <a:latin typeface="Arial"/>
            </a:endParaRPr>
          </a:p>
        </p:txBody>
      </p:sp>
      <p:sp>
        <p:nvSpPr>
          <p:cNvPr id="153" name=""/>
          <p:cNvSpPr/>
          <p:nvPr/>
        </p:nvSpPr>
        <p:spPr>
          <a:xfrm>
            <a:off x="4486320" y="332424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4" name=""/>
          <p:cNvSpPr/>
          <p:nvPr/>
        </p:nvSpPr>
        <p:spPr>
          <a:xfrm>
            <a:off x="5070600" y="3033720"/>
            <a:ext cx="1108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5" name=""/>
          <p:cNvSpPr/>
          <p:nvPr/>
        </p:nvSpPr>
        <p:spPr>
          <a:xfrm>
            <a:off x="5653080" y="2671920"/>
            <a:ext cx="11124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6" name=""/>
          <p:cNvSpPr/>
          <p:nvPr/>
        </p:nvSpPr>
        <p:spPr>
          <a:xfrm>
            <a:off x="6257880" y="252576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7" name=""/>
          <p:cNvSpPr/>
          <p:nvPr/>
        </p:nvSpPr>
        <p:spPr>
          <a:xfrm>
            <a:off x="6840360" y="2332080"/>
            <a:ext cx="11304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8" name=""/>
          <p:cNvSpPr/>
          <p:nvPr/>
        </p:nvSpPr>
        <p:spPr>
          <a:xfrm>
            <a:off x="7423200" y="213840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159" name=""/>
          <p:cNvSpPr/>
          <p:nvPr/>
        </p:nvSpPr>
        <p:spPr>
          <a:xfrm>
            <a:off x="1503360" y="5116680"/>
            <a:ext cx="2761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0%</a:t>
            </a:r>
            <a:endParaRPr b="0" lang="en-IN" sz="1500" strike="noStrike" u="none">
              <a:solidFill>
                <a:srgbClr val="000000"/>
              </a:solidFill>
              <a:effectLst/>
              <a:uFillTx/>
              <a:latin typeface="Arial"/>
            </a:endParaRPr>
          </a:p>
        </p:txBody>
      </p:sp>
      <p:sp>
        <p:nvSpPr>
          <p:cNvPr id="160" name=""/>
          <p:cNvSpPr/>
          <p:nvPr/>
        </p:nvSpPr>
        <p:spPr>
          <a:xfrm>
            <a:off x="1503360" y="4608360"/>
            <a:ext cx="2761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5%</a:t>
            </a:r>
            <a:endParaRPr b="0" lang="en-IN" sz="1500" strike="noStrike" u="none">
              <a:solidFill>
                <a:srgbClr val="000000"/>
              </a:solidFill>
              <a:effectLst/>
              <a:uFillTx/>
              <a:latin typeface="Arial"/>
            </a:endParaRPr>
          </a:p>
        </p:txBody>
      </p:sp>
      <p:sp>
        <p:nvSpPr>
          <p:cNvPr id="161" name=""/>
          <p:cNvSpPr/>
          <p:nvPr/>
        </p:nvSpPr>
        <p:spPr>
          <a:xfrm>
            <a:off x="1414800" y="407664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10%</a:t>
            </a:r>
            <a:endParaRPr b="0" lang="en-IN" sz="1500" strike="noStrike" u="none">
              <a:solidFill>
                <a:srgbClr val="000000"/>
              </a:solidFill>
              <a:effectLst/>
              <a:uFillTx/>
              <a:latin typeface="Arial"/>
            </a:endParaRPr>
          </a:p>
        </p:txBody>
      </p:sp>
      <p:sp>
        <p:nvSpPr>
          <p:cNvPr id="162" name=""/>
          <p:cNvSpPr/>
          <p:nvPr/>
        </p:nvSpPr>
        <p:spPr>
          <a:xfrm>
            <a:off x="1414800" y="356724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15%</a:t>
            </a:r>
            <a:endParaRPr b="0" lang="en-IN" sz="1500" strike="noStrike" u="none">
              <a:solidFill>
                <a:srgbClr val="000000"/>
              </a:solidFill>
              <a:effectLst/>
              <a:uFillTx/>
              <a:latin typeface="Arial"/>
            </a:endParaRPr>
          </a:p>
        </p:txBody>
      </p:sp>
      <p:sp>
        <p:nvSpPr>
          <p:cNvPr id="163" name=""/>
          <p:cNvSpPr/>
          <p:nvPr/>
        </p:nvSpPr>
        <p:spPr>
          <a:xfrm>
            <a:off x="1392480" y="303372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20%</a:t>
            </a:r>
            <a:endParaRPr b="0" lang="en-IN" sz="1500" strike="noStrike" u="none">
              <a:solidFill>
                <a:srgbClr val="000000"/>
              </a:solidFill>
              <a:effectLst/>
              <a:uFillTx/>
              <a:latin typeface="Arial"/>
            </a:endParaRPr>
          </a:p>
        </p:txBody>
      </p:sp>
      <p:sp>
        <p:nvSpPr>
          <p:cNvPr id="164" name=""/>
          <p:cNvSpPr/>
          <p:nvPr/>
        </p:nvSpPr>
        <p:spPr>
          <a:xfrm>
            <a:off x="1392480" y="252576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25%</a:t>
            </a:r>
            <a:endParaRPr b="0" lang="en-IN" sz="1500" strike="noStrike" u="none">
              <a:solidFill>
                <a:srgbClr val="000000"/>
              </a:solidFill>
              <a:effectLst/>
              <a:uFillTx/>
              <a:latin typeface="Arial"/>
            </a:endParaRPr>
          </a:p>
        </p:txBody>
      </p:sp>
      <p:sp>
        <p:nvSpPr>
          <p:cNvPr id="165" name=""/>
          <p:cNvSpPr/>
          <p:nvPr/>
        </p:nvSpPr>
        <p:spPr>
          <a:xfrm>
            <a:off x="1392480" y="199224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30%</a:t>
            </a:r>
            <a:endParaRPr b="0" lang="en-IN" sz="1500" strike="noStrike" u="none">
              <a:solidFill>
                <a:srgbClr val="000000"/>
              </a:solidFill>
              <a:effectLst/>
              <a:uFillTx/>
              <a:latin typeface="Arial"/>
            </a:endParaRPr>
          </a:p>
        </p:txBody>
      </p:sp>
      <p:sp>
        <p:nvSpPr>
          <p:cNvPr id="166" name=""/>
          <p:cNvSpPr/>
          <p:nvPr/>
        </p:nvSpPr>
        <p:spPr>
          <a:xfrm>
            <a:off x="1392480" y="148428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35%</a:t>
            </a:r>
            <a:endParaRPr b="0" lang="en-IN" sz="1500" strike="noStrike" u="none">
              <a:solidFill>
                <a:srgbClr val="000000"/>
              </a:solidFill>
              <a:effectLst/>
              <a:uFillTx/>
              <a:latin typeface="Arial"/>
            </a:endParaRPr>
          </a:p>
        </p:txBody>
      </p:sp>
      <p:sp>
        <p:nvSpPr>
          <p:cNvPr id="167" name=""/>
          <p:cNvSpPr/>
          <p:nvPr/>
        </p:nvSpPr>
        <p:spPr>
          <a:xfrm>
            <a:off x="199728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1998</a:t>
            </a:r>
            <a:endParaRPr b="0" lang="en-IN" sz="1700" strike="noStrike" u="none">
              <a:solidFill>
                <a:srgbClr val="000000"/>
              </a:solidFill>
              <a:effectLst/>
              <a:uFillTx/>
              <a:latin typeface="Arial"/>
            </a:endParaRPr>
          </a:p>
        </p:txBody>
      </p:sp>
      <p:sp>
        <p:nvSpPr>
          <p:cNvPr id="168" name=""/>
          <p:cNvSpPr/>
          <p:nvPr/>
        </p:nvSpPr>
        <p:spPr>
          <a:xfrm>
            <a:off x="258156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1999</a:t>
            </a:r>
            <a:endParaRPr b="0" lang="en-IN" sz="1700" strike="noStrike" u="none">
              <a:solidFill>
                <a:srgbClr val="000000"/>
              </a:solidFill>
              <a:effectLst/>
              <a:uFillTx/>
              <a:latin typeface="Arial"/>
            </a:endParaRPr>
          </a:p>
        </p:txBody>
      </p:sp>
      <p:sp>
        <p:nvSpPr>
          <p:cNvPr id="169" name=""/>
          <p:cNvSpPr/>
          <p:nvPr/>
        </p:nvSpPr>
        <p:spPr>
          <a:xfrm>
            <a:off x="31640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2000</a:t>
            </a:r>
            <a:endParaRPr b="0" lang="en-IN" sz="1700" strike="noStrike" u="none">
              <a:solidFill>
                <a:srgbClr val="000000"/>
              </a:solidFill>
              <a:effectLst/>
              <a:uFillTx/>
              <a:latin typeface="Arial"/>
            </a:endParaRPr>
          </a:p>
        </p:txBody>
      </p:sp>
      <p:sp>
        <p:nvSpPr>
          <p:cNvPr id="170" name=""/>
          <p:cNvSpPr/>
          <p:nvPr/>
        </p:nvSpPr>
        <p:spPr>
          <a:xfrm>
            <a:off x="37688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2001</a:t>
            </a:r>
            <a:endParaRPr b="0" lang="en-IN" sz="1700" strike="noStrike" u="none">
              <a:solidFill>
                <a:srgbClr val="000000"/>
              </a:solidFill>
              <a:effectLst/>
              <a:uFillTx/>
              <a:latin typeface="Arial"/>
            </a:endParaRPr>
          </a:p>
        </p:txBody>
      </p:sp>
      <p:sp>
        <p:nvSpPr>
          <p:cNvPr id="171" name=""/>
          <p:cNvSpPr/>
          <p:nvPr/>
        </p:nvSpPr>
        <p:spPr>
          <a:xfrm>
            <a:off x="432936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2002</a:t>
            </a:r>
            <a:endParaRPr b="0" lang="en-IN" sz="1700" strike="noStrike" u="none">
              <a:solidFill>
                <a:srgbClr val="000000"/>
              </a:solidFill>
              <a:effectLst/>
              <a:uFillTx/>
              <a:latin typeface="Arial"/>
            </a:endParaRPr>
          </a:p>
        </p:txBody>
      </p:sp>
      <p:sp>
        <p:nvSpPr>
          <p:cNvPr id="172" name=""/>
          <p:cNvSpPr/>
          <p:nvPr/>
        </p:nvSpPr>
        <p:spPr>
          <a:xfrm>
            <a:off x="49118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2003</a:t>
            </a:r>
            <a:endParaRPr b="0" lang="en-IN" sz="1700" strike="noStrike" u="none">
              <a:solidFill>
                <a:srgbClr val="000000"/>
              </a:solidFill>
              <a:effectLst/>
              <a:uFillTx/>
              <a:latin typeface="Arial"/>
            </a:endParaRPr>
          </a:p>
        </p:txBody>
      </p:sp>
      <p:sp>
        <p:nvSpPr>
          <p:cNvPr id="173" name=""/>
          <p:cNvSpPr/>
          <p:nvPr/>
        </p:nvSpPr>
        <p:spPr>
          <a:xfrm>
            <a:off x="549612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2004</a:t>
            </a:r>
            <a:endParaRPr b="0" lang="en-IN" sz="1700" strike="noStrike" u="none">
              <a:solidFill>
                <a:srgbClr val="000000"/>
              </a:solidFill>
              <a:effectLst/>
              <a:uFillTx/>
              <a:latin typeface="Arial"/>
            </a:endParaRPr>
          </a:p>
        </p:txBody>
      </p:sp>
      <p:sp>
        <p:nvSpPr>
          <p:cNvPr id="174" name=""/>
          <p:cNvSpPr/>
          <p:nvPr/>
        </p:nvSpPr>
        <p:spPr>
          <a:xfrm>
            <a:off x="61232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2005</a:t>
            </a:r>
            <a:endParaRPr b="0" lang="en-IN" sz="1700" strike="noStrike" u="none">
              <a:solidFill>
                <a:srgbClr val="000000"/>
              </a:solidFill>
              <a:effectLst/>
              <a:uFillTx/>
              <a:latin typeface="Arial"/>
            </a:endParaRPr>
          </a:p>
        </p:txBody>
      </p:sp>
      <p:sp>
        <p:nvSpPr>
          <p:cNvPr id="175" name=""/>
          <p:cNvSpPr/>
          <p:nvPr/>
        </p:nvSpPr>
        <p:spPr>
          <a:xfrm>
            <a:off x="668340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2006</a:t>
            </a:r>
            <a:endParaRPr b="0" lang="en-IN" sz="1700" strike="noStrike" u="none">
              <a:solidFill>
                <a:srgbClr val="000000"/>
              </a:solidFill>
              <a:effectLst/>
              <a:uFillTx/>
              <a:latin typeface="Arial"/>
            </a:endParaRPr>
          </a:p>
        </p:txBody>
      </p:sp>
      <p:sp>
        <p:nvSpPr>
          <p:cNvPr id="176" name=""/>
          <p:cNvSpPr/>
          <p:nvPr/>
        </p:nvSpPr>
        <p:spPr>
          <a:xfrm>
            <a:off x="729000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2007</a:t>
            </a:r>
            <a:endParaRPr b="0" lang="en-IN" sz="1700" strike="noStrike" u="none">
              <a:solidFill>
                <a:srgbClr val="000000"/>
              </a:solidFill>
              <a:effectLst/>
              <a:uFillTx/>
              <a:latin typeface="Arial"/>
            </a:endParaRPr>
          </a:p>
        </p:txBody>
      </p:sp>
      <p:sp>
        <p:nvSpPr>
          <p:cNvPr id="177" name=""/>
          <p:cNvSpPr/>
          <p:nvPr/>
        </p:nvSpPr>
        <p:spPr>
          <a:xfrm>
            <a:off x="7916760" y="5116680"/>
            <a:ext cx="106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0</a:t>
            </a:r>
            <a:endParaRPr b="0" lang="en-IN" sz="1500" strike="noStrike" u="none">
              <a:solidFill>
                <a:srgbClr val="000000"/>
              </a:solidFill>
              <a:effectLst/>
              <a:uFillTx/>
              <a:latin typeface="Arial"/>
            </a:endParaRPr>
          </a:p>
        </p:txBody>
      </p:sp>
      <p:sp>
        <p:nvSpPr>
          <p:cNvPr id="178" name=""/>
          <p:cNvSpPr/>
          <p:nvPr/>
        </p:nvSpPr>
        <p:spPr>
          <a:xfrm>
            <a:off x="7917120" y="451152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10,000</a:t>
            </a:r>
            <a:endParaRPr b="0" lang="en-IN" sz="1500" strike="noStrike" u="none">
              <a:solidFill>
                <a:srgbClr val="000000"/>
              </a:solidFill>
              <a:effectLst/>
              <a:uFillTx/>
              <a:latin typeface="Arial"/>
            </a:endParaRPr>
          </a:p>
        </p:txBody>
      </p:sp>
      <p:sp>
        <p:nvSpPr>
          <p:cNvPr id="179" name=""/>
          <p:cNvSpPr/>
          <p:nvPr/>
        </p:nvSpPr>
        <p:spPr>
          <a:xfrm>
            <a:off x="7917120" y="390672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20,000</a:t>
            </a:r>
            <a:endParaRPr b="0" lang="en-IN" sz="1500" strike="noStrike" u="none">
              <a:solidFill>
                <a:srgbClr val="000000"/>
              </a:solidFill>
              <a:effectLst/>
              <a:uFillTx/>
              <a:latin typeface="Arial"/>
            </a:endParaRPr>
          </a:p>
        </p:txBody>
      </p:sp>
      <p:sp>
        <p:nvSpPr>
          <p:cNvPr id="180" name=""/>
          <p:cNvSpPr/>
          <p:nvPr/>
        </p:nvSpPr>
        <p:spPr>
          <a:xfrm>
            <a:off x="7917120" y="330048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30,000</a:t>
            </a:r>
            <a:endParaRPr b="0" lang="en-IN" sz="1500" strike="noStrike" u="none">
              <a:solidFill>
                <a:srgbClr val="000000"/>
              </a:solidFill>
              <a:effectLst/>
              <a:uFillTx/>
              <a:latin typeface="Arial"/>
            </a:endParaRPr>
          </a:p>
        </p:txBody>
      </p:sp>
      <p:sp>
        <p:nvSpPr>
          <p:cNvPr id="181" name=""/>
          <p:cNvSpPr/>
          <p:nvPr/>
        </p:nvSpPr>
        <p:spPr>
          <a:xfrm>
            <a:off x="7917120" y="269568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40,000</a:t>
            </a:r>
            <a:endParaRPr b="0" lang="en-IN" sz="1500" strike="noStrike" u="none">
              <a:solidFill>
                <a:srgbClr val="000000"/>
              </a:solidFill>
              <a:effectLst/>
              <a:uFillTx/>
              <a:latin typeface="Arial"/>
            </a:endParaRPr>
          </a:p>
        </p:txBody>
      </p:sp>
      <p:sp>
        <p:nvSpPr>
          <p:cNvPr id="182" name=""/>
          <p:cNvSpPr/>
          <p:nvPr/>
        </p:nvSpPr>
        <p:spPr>
          <a:xfrm>
            <a:off x="7917120" y="208908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50,000</a:t>
            </a:r>
            <a:endParaRPr b="0" lang="en-IN" sz="1500" strike="noStrike" u="none">
              <a:solidFill>
                <a:srgbClr val="000000"/>
              </a:solidFill>
              <a:effectLst/>
              <a:uFillTx/>
              <a:latin typeface="Arial"/>
            </a:endParaRPr>
          </a:p>
        </p:txBody>
      </p:sp>
      <p:sp>
        <p:nvSpPr>
          <p:cNvPr id="183" name=""/>
          <p:cNvSpPr/>
          <p:nvPr/>
        </p:nvSpPr>
        <p:spPr>
          <a:xfrm>
            <a:off x="7916760" y="1484280"/>
            <a:ext cx="604800" cy="228960"/>
          </a:xfrm>
          <a:prstGeom prst="rect">
            <a:avLst/>
          </a:prstGeom>
          <a:noFill/>
          <a:ln w="0">
            <a:noFill/>
          </a:ln>
        </p:spPr>
        <p:style>
          <a:lnRef idx="0"/>
          <a:fillRef idx="0"/>
          <a:effectRef idx="0"/>
          <a:fontRef idx="minor"/>
        </p:style>
        <p:txBody>
          <a:bodyPr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60,000</a:t>
            </a:r>
            <a:endParaRPr b="0" lang="en-IN" sz="1500" strike="noStrike" u="none">
              <a:solidFill>
                <a:srgbClr val="000000"/>
              </a:solidFill>
              <a:effectLst/>
              <a:uFillTx/>
              <a:latin typeface="Arial"/>
            </a:endParaRPr>
          </a:p>
        </p:txBody>
      </p:sp>
      <p:sp>
        <p:nvSpPr>
          <p:cNvPr id="184" name=""/>
          <p:cNvSpPr/>
          <p:nvPr/>
        </p:nvSpPr>
        <p:spPr>
          <a:xfrm>
            <a:off x="2198520" y="2209680"/>
            <a:ext cx="5292720" cy="1552680"/>
          </a:xfrm>
          <a:custGeom>
            <a:avLst/>
            <a:gdLst/>
            <a:ahLst/>
            <a:rect l="l" t="t" r="r" b="b"/>
            <a:pathLst>
              <a:path w="236" h="64">
                <a:moveTo>
                  <a:pt x="0" y="64"/>
                </a:moveTo>
                <a:lnTo>
                  <a:pt x="26" y="58"/>
                </a:lnTo>
                <a:lnTo>
                  <a:pt x="53" y="55"/>
                </a:lnTo>
                <a:lnTo>
                  <a:pt x="79" y="53"/>
                </a:lnTo>
                <a:lnTo>
                  <a:pt x="105" y="49"/>
                </a:lnTo>
                <a:lnTo>
                  <a:pt x="131" y="37"/>
                </a:lnTo>
                <a:lnTo>
                  <a:pt x="157" y="22"/>
                </a:lnTo>
                <a:lnTo>
                  <a:pt x="184" y="16"/>
                </a:lnTo>
                <a:lnTo>
                  <a:pt x="210" y="8"/>
                </a:lnTo>
                <a:lnTo>
                  <a:pt x="236" y="0"/>
                </a:lnTo>
              </a:path>
            </a:pathLst>
          </a:custGeom>
          <a:noFill/>
          <a:ln w="777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85" name=""/>
          <p:cNvSpPr/>
          <p:nvPr/>
        </p:nvSpPr>
        <p:spPr>
          <a:xfrm>
            <a:off x="7209360" y="1862280"/>
            <a:ext cx="42948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ffffff"/>
                </a:solidFill>
                <a:effectLst/>
                <a:uFillTx/>
                <a:latin typeface="Arial"/>
              </a:rPr>
              <a:t>49,656</a:t>
            </a:r>
            <a:endParaRPr b="0" lang="en-IN" sz="1100" strike="noStrike" u="none">
              <a:solidFill>
                <a:srgbClr val="000000"/>
              </a:solidFill>
              <a:effectLst/>
              <a:uFillTx/>
              <a:latin typeface="Arial"/>
            </a:endParaRPr>
          </a:p>
        </p:txBody>
      </p:sp>
      <p:sp>
        <p:nvSpPr>
          <p:cNvPr id="186" name=""/>
          <p:cNvSpPr/>
          <p:nvPr/>
        </p:nvSpPr>
        <p:spPr>
          <a:xfrm>
            <a:off x="6086880" y="2243160"/>
            <a:ext cx="42948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ffffff"/>
                </a:solidFill>
                <a:effectLst/>
                <a:uFillTx/>
                <a:latin typeface="Arial"/>
              </a:rPr>
              <a:t>43,069</a:t>
            </a:r>
            <a:endParaRPr b="0" lang="en-IN" sz="1100" strike="noStrike" u="none">
              <a:solidFill>
                <a:srgbClr val="000000"/>
              </a:solidFill>
              <a:effectLst/>
              <a:uFillTx/>
              <a:latin typeface="Arial"/>
            </a:endParaRPr>
          </a:p>
        </p:txBody>
      </p:sp>
      <p:grpSp>
        <p:nvGrpSpPr>
          <p:cNvPr id="187" name=""/>
          <p:cNvGrpSpPr/>
          <p:nvPr/>
        </p:nvGrpSpPr>
        <p:grpSpPr>
          <a:xfrm>
            <a:off x="2143080" y="1847880"/>
            <a:ext cx="5446800" cy="1493640"/>
            <a:chOff x="2143080" y="1847880"/>
            <a:chExt cx="5446800" cy="1493640"/>
          </a:xfrm>
        </p:grpSpPr>
        <p:sp>
          <p:nvSpPr>
            <p:cNvPr id="188" name=""/>
            <p:cNvSpPr/>
            <p:nvPr/>
          </p:nvSpPr>
          <p:spPr>
            <a:xfrm>
              <a:off x="2143080" y="1942920"/>
              <a:ext cx="176400" cy="1461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89" name=""/>
            <p:cNvSpPr/>
            <p:nvPr/>
          </p:nvSpPr>
          <p:spPr>
            <a:xfrm>
              <a:off x="2730600" y="1847880"/>
              <a:ext cx="17640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0" name=""/>
            <p:cNvSpPr/>
            <p:nvPr/>
          </p:nvSpPr>
          <p:spPr>
            <a:xfrm>
              <a:off x="3314880" y="184788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1" name=""/>
            <p:cNvSpPr/>
            <p:nvPr/>
          </p:nvSpPr>
          <p:spPr>
            <a:xfrm>
              <a:off x="3902040" y="1847880"/>
              <a:ext cx="17460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2" name=""/>
            <p:cNvSpPr/>
            <p:nvPr/>
          </p:nvSpPr>
          <p:spPr>
            <a:xfrm>
              <a:off x="4486320" y="1942920"/>
              <a:ext cx="176400" cy="1461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3" name=""/>
            <p:cNvSpPr/>
            <p:nvPr/>
          </p:nvSpPr>
          <p:spPr>
            <a:xfrm>
              <a:off x="5070600" y="206532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4" name=""/>
            <p:cNvSpPr/>
            <p:nvPr/>
          </p:nvSpPr>
          <p:spPr>
            <a:xfrm>
              <a:off x="5658120" y="2570040"/>
              <a:ext cx="176040" cy="14472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5" name=""/>
            <p:cNvSpPr/>
            <p:nvPr/>
          </p:nvSpPr>
          <p:spPr>
            <a:xfrm>
              <a:off x="6242040" y="2884320"/>
              <a:ext cx="176400" cy="14472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6" name=""/>
            <p:cNvSpPr/>
            <p:nvPr/>
          </p:nvSpPr>
          <p:spPr>
            <a:xfrm>
              <a:off x="6829560" y="319716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7" name=""/>
            <p:cNvSpPr/>
            <p:nvPr/>
          </p:nvSpPr>
          <p:spPr>
            <a:xfrm>
              <a:off x="7413840" y="319716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198" name=""/>
          <p:cNvSpPr/>
          <p:nvPr/>
        </p:nvSpPr>
        <p:spPr>
          <a:xfrm>
            <a:off x="2525760" y="5014800"/>
            <a:ext cx="766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t>
            </a:r>
            <a:endParaRPr b="0" lang="en-IN" sz="1800" strike="noStrike" u="none">
              <a:solidFill>
                <a:srgbClr val="000000"/>
              </a:solidFill>
              <a:effectLst/>
              <a:uFillTx/>
              <a:latin typeface="Arial"/>
            </a:endParaRPr>
          </a:p>
        </p:txBody>
      </p:sp>
      <p:sp>
        <p:nvSpPr>
          <p:cNvPr id="199" name=""/>
          <p:cNvSpPr/>
          <p:nvPr/>
        </p:nvSpPr>
        <p:spPr>
          <a:xfrm>
            <a:off x="2133720" y="3994200"/>
            <a:ext cx="153720" cy="119160"/>
          </a:xfrm>
          <a:custGeom>
            <a:avLst/>
            <a:gdLst/>
            <a:ahLst/>
            <a:rect l="l" t="t" r="r" b="b"/>
            <a:pathLst>
              <a:path w="67" h="67">
                <a:moveTo>
                  <a:pt x="34" y="0"/>
                </a:moveTo>
                <a:lnTo>
                  <a:pt x="67" y="34"/>
                </a:lnTo>
                <a:lnTo>
                  <a:pt x="34" y="67"/>
                </a:lnTo>
                <a:lnTo>
                  <a:pt x="0" y="34"/>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0" name=""/>
          <p:cNvSpPr/>
          <p:nvPr/>
        </p:nvSpPr>
        <p:spPr>
          <a:xfrm>
            <a:off x="2725560" y="3895560"/>
            <a:ext cx="154080" cy="119160"/>
          </a:xfrm>
          <a:custGeom>
            <a:avLst/>
            <a:gdLst/>
            <a:ahLst/>
            <a:rect l="l" t="t" r="r" b="b"/>
            <a:pathLst>
              <a:path w="67" h="67">
                <a:moveTo>
                  <a:pt x="33" y="0"/>
                </a:moveTo>
                <a:lnTo>
                  <a:pt x="67" y="33"/>
                </a:lnTo>
                <a:lnTo>
                  <a:pt x="33" y="67"/>
                </a:lnTo>
                <a:lnTo>
                  <a:pt x="0" y="33"/>
                </a:lnTo>
                <a:lnTo>
                  <a:pt x="33"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1" name=""/>
          <p:cNvSpPr/>
          <p:nvPr/>
        </p:nvSpPr>
        <p:spPr>
          <a:xfrm>
            <a:off x="3314880" y="3836880"/>
            <a:ext cx="155520" cy="117720"/>
          </a:xfrm>
          <a:custGeom>
            <a:avLst/>
            <a:gdLst/>
            <a:ahLst/>
            <a:rect l="l" t="t" r="r" b="b"/>
            <a:pathLst>
              <a:path w="68" h="67">
                <a:moveTo>
                  <a:pt x="34" y="0"/>
                </a:moveTo>
                <a:lnTo>
                  <a:pt x="68" y="34"/>
                </a:lnTo>
                <a:lnTo>
                  <a:pt x="34" y="67"/>
                </a:lnTo>
                <a:lnTo>
                  <a:pt x="0" y="34"/>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2" name=""/>
          <p:cNvSpPr/>
          <p:nvPr/>
        </p:nvSpPr>
        <p:spPr>
          <a:xfrm>
            <a:off x="3906720" y="381636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3" name=""/>
          <p:cNvSpPr/>
          <p:nvPr/>
        </p:nvSpPr>
        <p:spPr>
          <a:xfrm>
            <a:off x="4498920" y="3736800"/>
            <a:ext cx="152280" cy="119160"/>
          </a:xfrm>
          <a:custGeom>
            <a:avLst/>
            <a:gdLst/>
            <a:ahLst/>
            <a:rect l="l" t="t" r="r" b="b"/>
            <a:pathLst>
              <a:path w="67" h="67">
                <a:moveTo>
                  <a:pt x="34" y="0"/>
                </a:moveTo>
                <a:lnTo>
                  <a:pt x="67"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4" name=""/>
          <p:cNvSpPr/>
          <p:nvPr/>
        </p:nvSpPr>
        <p:spPr>
          <a:xfrm>
            <a:off x="5091120" y="3557520"/>
            <a:ext cx="152280" cy="120600"/>
          </a:xfrm>
          <a:custGeom>
            <a:avLst/>
            <a:gdLst/>
            <a:ahLst/>
            <a:rect l="l" t="t" r="r" b="b"/>
            <a:pathLst>
              <a:path w="67" h="68">
                <a:moveTo>
                  <a:pt x="33" y="0"/>
                </a:moveTo>
                <a:lnTo>
                  <a:pt x="67" y="34"/>
                </a:lnTo>
                <a:lnTo>
                  <a:pt x="33" y="68"/>
                </a:lnTo>
                <a:lnTo>
                  <a:pt x="0" y="34"/>
                </a:lnTo>
                <a:lnTo>
                  <a:pt x="33"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5" name=""/>
          <p:cNvSpPr/>
          <p:nvPr/>
        </p:nvSpPr>
        <p:spPr>
          <a:xfrm>
            <a:off x="5680080" y="334008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6" name=""/>
          <p:cNvSpPr/>
          <p:nvPr/>
        </p:nvSpPr>
        <p:spPr>
          <a:xfrm>
            <a:off x="6272280" y="3260880"/>
            <a:ext cx="155520" cy="11880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7" name=""/>
          <p:cNvSpPr/>
          <p:nvPr/>
        </p:nvSpPr>
        <p:spPr>
          <a:xfrm>
            <a:off x="6918480" y="310824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08" name=""/>
          <p:cNvSpPr/>
          <p:nvPr/>
        </p:nvSpPr>
        <p:spPr>
          <a:xfrm>
            <a:off x="7418520" y="295596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209" name=""/>
          <p:cNvGrpSpPr/>
          <p:nvPr/>
        </p:nvGrpSpPr>
        <p:grpSpPr>
          <a:xfrm>
            <a:off x="2211480" y="3019320"/>
            <a:ext cx="5292360" cy="1020960"/>
            <a:chOff x="2211480" y="3019320"/>
            <a:chExt cx="5292360" cy="1020960"/>
          </a:xfrm>
        </p:grpSpPr>
        <p:sp>
          <p:nvSpPr>
            <p:cNvPr id="210" name=""/>
            <p:cNvSpPr/>
            <p:nvPr/>
          </p:nvSpPr>
          <p:spPr>
            <a:xfrm>
              <a:off x="2211480" y="3305160"/>
              <a:ext cx="4138560" cy="735120"/>
            </a:xfrm>
            <a:custGeom>
              <a:avLst/>
              <a:gdLst/>
              <a:ahLst/>
              <a:rect l="l" t="t" r="r" b="b"/>
              <a:pathLst>
                <a:path w="161" h="37">
                  <a:moveTo>
                    <a:pt x="0" y="37"/>
                  </a:moveTo>
                  <a:lnTo>
                    <a:pt x="23" y="32"/>
                  </a:lnTo>
                  <a:lnTo>
                    <a:pt x="46" y="29"/>
                  </a:lnTo>
                  <a:lnTo>
                    <a:pt x="69" y="28"/>
                  </a:lnTo>
                  <a:lnTo>
                    <a:pt x="92" y="24"/>
                  </a:lnTo>
                  <a:lnTo>
                    <a:pt x="115" y="15"/>
                  </a:lnTo>
                  <a:lnTo>
                    <a:pt x="138" y="4"/>
                  </a:lnTo>
                  <a:lnTo>
                    <a:pt x="161" y="0"/>
                  </a:lnTo>
                </a:path>
              </a:pathLst>
            </a:custGeom>
            <a:noFill/>
            <a:ln w="572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1" name=""/>
            <p:cNvSpPr/>
            <p:nvPr/>
          </p:nvSpPr>
          <p:spPr>
            <a:xfrm flipV="1">
              <a:off x="6357960" y="3163680"/>
              <a:ext cx="623880" cy="145800"/>
            </a:xfrm>
            <a:prstGeom prst="line">
              <a:avLst/>
            </a:prstGeom>
            <a:ln w="57240">
              <a:solidFill>
                <a:srgbClr val="99ff66"/>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2" name=""/>
            <p:cNvSpPr/>
            <p:nvPr/>
          </p:nvSpPr>
          <p:spPr>
            <a:xfrm flipH="1">
              <a:off x="6967080" y="3019320"/>
              <a:ext cx="536760" cy="158760"/>
            </a:xfrm>
            <a:prstGeom prst="line">
              <a:avLst/>
            </a:prstGeom>
            <a:ln w="57240">
              <a:solidFill>
                <a:srgbClr val="99ff66"/>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13" name=""/>
          <p:cNvSpPr/>
          <p:nvPr/>
        </p:nvSpPr>
        <p:spPr>
          <a:xfrm>
            <a:off x="2232000" y="1874880"/>
            <a:ext cx="5270400" cy="1351080"/>
          </a:xfrm>
          <a:custGeom>
            <a:avLst/>
            <a:gdLst/>
            <a:ahLst/>
            <a:rect l="l" t="t" r="r" b="b"/>
            <a:pathLst>
              <a:path w="180" h="56">
                <a:moveTo>
                  <a:pt x="0" y="4"/>
                </a:moveTo>
                <a:lnTo>
                  <a:pt x="20" y="0"/>
                </a:lnTo>
                <a:lnTo>
                  <a:pt x="40" y="0"/>
                </a:lnTo>
                <a:lnTo>
                  <a:pt x="60" y="0"/>
                </a:lnTo>
                <a:lnTo>
                  <a:pt x="80" y="4"/>
                </a:lnTo>
                <a:lnTo>
                  <a:pt x="100" y="9"/>
                </a:lnTo>
                <a:lnTo>
                  <a:pt x="120" y="30"/>
                </a:lnTo>
                <a:lnTo>
                  <a:pt x="140" y="43"/>
                </a:lnTo>
                <a:lnTo>
                  <a:pt x="160" y="56"/>
                </a:lnTo>
                <a:lnTo>
                  <a:pt x="180" y="56"/>
                </a:lnTo>
              </a:path>
            </a:pathLst>
          </a:custGeom>
          <a:noFill/>
          <a:ln w="76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4" name=""/>
          <p:cNvSpPr/>
          <p:nvPr/>
        </p:nvSpPr>
        <p:spPr>
          <a:xfrm>
            <a:off x="1046160" y="6400800"/>
            <a:ext cx="493560" cy="0"/>
          </a:xfrm>
          <a:prstGeom prst="line">
            <a:avLst/>
          </a:prstGeom>
          <a:ln w="5724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5" name=""/>
          <p:cNvSpPr/>
          <p:nvPr/>
        </p:nvSpPr>
        <p:spPr>
          <a:xfrm>
            <a:off x="1244520" y="6345360"/>
            <a:ext cx="155520" cy="118800"/>
          </a:xfrm>
          <a:custGeom>
            <a:avLst/>
            <a:gdLst/>
            <a:ahLst/>
            <a:rect l="l" t="t" r="r" b="b"/>
            <a:pathLst>
              <a:path w="68" h="67">
                <a:moveTo>
                  <a:pt x="34" y="0"/>
                </a:moveTo>
                <a:lnTo>
                  <a:pt x="68" y="33"/>
                </a:lnTo>
                <a:lnTo>
                  <a:pt x="34" y="67"/>
                </a:lnTo>
                <a:lnTo>
                  <a:pt x="0" y="33"/>
                </a:lnTo>
                <a:lnTo>
                  <a:pt x="34" y="0"/>
                </a:lnTo>
                <a:close/>
              </a:path>
            </a:pathLst>
          </a:custGeom>
          <a:solidFill>
            <a:srgbClr val="ff5050"/>
          </a:solidFill>
          <a:ln w="5724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6" name=""/>
          <p:cNvSpPr/>
          <p:nvPr/>
        </p:nvSpPr>
        <p:spPr>
          <a:xfrm>
            <a:off x="7132680" y="6237360"/>
            <a:ext cx="130176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Applicants</a:t>
            </a:r>
            <a:endParaRPr b="0" lang="en-IN" sz="2000" strike="noStrike" u="none">
              <a:solidFill>
                <a:srgbClr val="000000"/>
              </a:solidFill>
              <a:effectLst/>
              <a:uFillTx/>
              <a:latin typeface="Arial"/>
            </a:endParaRPr>
          </a:p>
        </p:txBody>
      </p:sp>
      <p:sp>
        <p:nvSpPr>
          <p:cNvPr id="217" name=""/>
          <p:cNvSpPr/>
          <p:nvPr/>
        </p:nvSpPr>
        <p:spPr>
          <a:xfrm>
            <a:off x="6539040" y="6392880"/>
            <a:ext cx="493560" cy="0"/>
          </a:xfrm>
          <a:prstGeom prst="line">
            <a:avLst/>
          </a:prstGeom>
          <a:ln w="57240">
            <a:solidFill>
              <a:srgbClr val="99ff66"/>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18" name=""/>
          <p:cNvSpPr/>
          <p:nvPr/>
        </p:nvSpPr>
        <p:spPr>
          <a:xfrm>
            <a:off x="6737400" y="6337440"/>
            <a:ext cx="155520" cy="118800"/>
          </a:xfrm>
          <a:custGeom>
            <a:avLst/>
            <a:gdLst/>
            <a:ahLst/>
            <a:rect l="l" t="t" r="r" b="b"/>
            <a:pathLst>
              <a:path w="68" h="67">
                <a:moveTo>
                  <a:pt x="34" y="0"/>
                </a:moveTo>
                <a:lnTo>
                  <a:pt x="68" y="33"/>
                </a:lnTo>
                <a:lnTo>
                  <a:pt x="34" y="67"/>
                </a:lnTo>
                <a:lnTo>
                  <a:pt x="0" y="33"/>
                </a:lnTo>
                <a:lnTo>
                  <a:pt x="34" y="0"/>
                </a:lnTo>
                <a:close/>
              </a:path>
            </a:pathLst>
          </a:custGeom>
          <a:solidFill>
            <a:srgbClr val="99ff66"/>
          </a:solidFill>
          <a:ln w="572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219" name=""/>
          <p:cNvGrpSpPr/>
          <p:nvPr/>
        </p:nvGrpSpPr>
        <p:grpSpPr>
          <a:xfrm>
            <a:off x="2838600" y="3124080"/>
            <a:ext cx="2305080" cy="1242000"/>
            <a:chOff x="2838600" y="3124080"/>
            <a:chExt cx="2305080" cy="1242000"/>
          </a:xfrm>
        </p:grpSpPr>
        <p:sp>
          <p:nvSpPr>
            <p:cNvPr id="220" name=""/>
            <p:cNvSpPr/>
            <p:nvPr/>
          </p:nvSpPr>
          <p:spPr>
            <a:xfrm flipV="1">
              <a:off x="2838600" y="3580920"/>
              <a:ext cx="2305080" cy="57240"/>
            </a:xfrm>
            <a:prstGeom prst="line">
              <a:avLst/>
            </a:prstGeom>
            <a:ln w="57240">
              <a:solidFill>
                <a:srgbClr val="ffcc00"/>
              </a:solidFill>
              <a:miter/>
            </a:ln>
          </p:spPr>
          <p:style>
            <a:lnRef idx="0"/>
            <a:fillRef idx="0"/>
            <a:effectRef idx="0"/>
            <a:fontRef idx="minor"/>
          </p:style>
          <p:txBody>
            <a:bodyPr lIns="90000" rIns="90000" tIns="10440" bIns="10440" anchor="t">
              <a:noAutofit/>
            </a:bodyPr>
            <a:p>
              <a:endParaRPr b="0" lang="en-IN" sz="1800" strike="noStrike" u="none">
                <a:solidFill>
                  <a:srgbClr val="000000"/>
                </a:solidFill>
                <a:effectLst/>
                <a:uFillTx/>
                <a:latin typeface="Arial"/>
              </a:endParaRPr>
            </a:p>
          </p:txBody>
        </p:sp>
        <p:sp>
          <p:nvSpPr>
            <p:cNvPr id="221" name=""/>
            <p:cNvSpPr/>
            <p:nvPr/>
          </p:nvSpPr>
          <p:spPr>
            <a:xfrm>
              <a:off x="5105520" y="3124080"/>
              <a:ext cx="0" cy="438120"/>
            </a:xfrm>
            <a:prstGeom prst="line">
              <a:avLst/>
            </a:prstGeom>
            <a:ln w="5724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2" name=""/>
            <p:cNvSpPr/>
            <p:nvPr/>
          </p:nvSpPr>
          <p:spPr>
            <a:xfrm>
              <a:off x="4178160" y="3664080"/>
              <a:ext cx="395280" cy="407880"/>
            </a:xfrm>
            <a:prstGeom prst="line">
              <a:avLst/>
            </a:prstGeom>
            <a:ln w="9360">
              <a:solidFill>
                <a:srgbClr val="ffcc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223" name=""/>
            <p:cNvGrpSpPr/>
            <p:nvPr/>
          </p:nvGrpSpPr>
          <p:grpSpPr>
            <a:xfrm>
              <a:off x="4178160" y="4052880"/>
              <a:ext cx="833400" cy="313200"/>
              <a:chOff x="4178160" y="4052880"/>
              <a:chExt cx="833400" cy="313200"/>
            </a:xfrm>
          </p:grpSpPr>
          <p:sp>
            <p:nvSpPr>
              <p:cNvPr id="224" name=""/>
              <p:cNvSpPr/>
              <p:nvPr/>
            </p:nvSpPr>
            <p:spPr>
              <a:xfrm>
                <a:off x="4191120" y="4057560"/>
                <a:ext cx="799920" cy="285840"/>
              </a:xfrm>
              <a:prstGeom prst="ellipse">
                <a:avLst/>
              </a:prstGeom>
              <a:solidFill>
                <a:srgbClr val="ffffff"/>
              </a:solidFill>
              <a:ln w="9360">
                <a:solidFill>
                  <a:srgbClr val="ffcc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25" name=""/>
              <p:cNvSpPr/>
              <p:nvPr/>
            </p:nvSpPr>
            <p:spPr>
              <a:xfrm>
                <a:off x="4178160" y="4052880"/>
                <a:ext cx="833400" cy="313200"/>
              </a:xfrm>
              <a:prstGeom prst="rect">
                <a:avLst/>
              </a:prstGeom>
              <a:noFill/>
              <a:ln w="0">
                <a:noFill/>
              </a:ln>
            </p:spPr>
            <p:style>
              <a:lnRef idx="0"/>
              <a:fillRef idx="0"/>
              <a:effectRef idx="0"/>
              <a:fontRef idx="minor"/>
            </p:style>
            <p:txBody>
              <a:bodyPr lIns="90000" rIns="90000" tIns="46800" bIns="46800" anchor="t">
                <a:spAutoFit/>
              </a:bodyPr>
              <a:p>
                <a:pPr>
                  <a:lnSpc>
                    <a:spcPct val="9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+8,303</a:t>
                </a:r>
                <a:endParaRPr b="0" lang="en-IN" sz="1600" strike="noStrike" u="none">
                  <a:solidFill>
                    <a:srgbClr val="000000"/>
                  </a:solidFill>
                  <a:effectLst/>
                  <a:uFillTx/>
                  <a:latin typeface="Arial"/>
                </a:endParaRPr>
              </a:p>
            </p:txBody>
          </p:sp>
        </p:grpSp>
      </p:grpSp>
      <p:grpSp>
        <p:nvGrpSpPr>
          <p:cNvPr id="226" name=""/>
          <p:cNvGrpSpPr/>
          <p:nvPr/>
        </p:nvGrpSpPr>
        <p:grpSpPr>
          <a:xfrm>
            <a:off x="5102280" y="2575080"/>
            <a:ext cx="1757160" cy="1314720"/>
            <a:chOff x="5102280" y="2575080"/>
            <a:chExt cx="1757160" cy="1314720"/>
          </a:xfrm>
        </p:grpSpPr>
        <p:sp>
          <p:nvSpPr>
            <p:cNvPr id="227" name=""/>
            <p:cNvSpPr/>
            <p:nvPr/>
          </p:nvSpPr>
          <p:spPr>
            <a:xfrm>
              <a:off x="5102280" y="3119400"/>
              <a:ext cx="1185840" cy="0"/>
            </a:xfrm>
            <a:prstGeom prst="line">
              <a:avLst/>
            </a:prstGeom>
            <a:ln w="5724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8" name=""/>
            <p:cNvSpPr/>
            <p:nvPr/>
          </p:nvSpPr>
          <p:spPr>
            <a:xfrm>
              <a:off x="6288120" y="2575080"/>
              <a:ext cx="0" cy="544320"/>
            </a:xfrm>
            <a:prstGeom prst="line">
              <a:avLst/>
            </a:prstGeom>
            <a:ln w="5724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29" name=""/>
            <p:cNvSpPr/>
            <p:nvPr/>
          </p:nvSpPr>
          <p:spPr>
            <a:xfrm>
              <a:off x="5694480" y="3187800"/>
              <a:ext cx="395280" cy="407880"/>
            </a:xfrm>
            <a:prstGeom prst="line">
              <a:avLst/>
            </a:prstGeom>
            <a:ln w="9360">
              <a:solidFill>
                <a:srgbClr val="ffcc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230" name=""/>
            <p:cNvGrpSpPr/>
            <p:nvPr/>
          </p:nvGrpSpPr>
          <p:grpSpPr>
            <a:xfrm>
              <a:off x="5948280" y="3576600"/>
              <a:ext cx="911160" cy="313200"/>
              <a:chOff x="5948280" y="3576600"/>
              <a:chExt cx="911160" cy="313200"/>
            </a:xfrm>
          </p:grpSpPr>
          <p:sp>
            <p:nvSpPr>
              <p:cNvPr id="231" name=""/>
              <p:cNvSpPr/>
              <p:nvPr/>
            </p:nvSpPr>
            <p:spPr>
              <a:xfrm>
                <a:off x="5962680" y="3581280"/>
                <a:ext cx="799920" cy="285840"/>
              </a:xfrm>
              <a:prstGeom prst="ellipse">
                <a:avLst/>
              </a:prstGeom>
              <a:solidFill>
                <a:srgbClr val="ffffff"/>
              </a:solidFill>
              <a:ln w="9360">
                <a:solidFill>
                  <a:srgbClr val="ffcc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232" name=""/>
              <p:cNvSpPr/>
              <p:nvPr/>
            </p:nvSpPr>
            <p:spPr>
              <a:xfrm>
                <a:off x="5948280" y="3576600"/>
                <a:ext cx="911160" cy="313200"/>
              </a:xfrm>
              <a:prstGeom prst="rect">
                <a:avLst/>
              </a:prstGeom>
              <a:noFill/>
              <a:ln w="0">
                <a:noFill/>
              </a:ln>
            </p:spPr>
            <p:style>
              <a:lnRef idx="0"/>
              <a:fillRef idx="0"/>
              <a:effectRef idx="0"/>
              <a:fontRef idx="minor"/>
            </p:style>
            <p:txBody>
              <a:bodyPr lIns="90000" rIns="90000" tIns="46800" bIns="46800" anchor="t">
                <a:spAutoFit/>
              </a:bodyPr>
              <a:p>
                <a:pPr>
                  <a:lnSpc>
                    <a:spcPct val="9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+8,359</a:t>
                </a:r>
                <a:endParaRPr b="0" lang="en-IN" sz="1600" strike="noStrike" u="none">
                  <a:solidFill>
                    <a:srgbClr val="000000"/>
                  </a:solidFill>
                  <a:effectLst/>
                  <a:uFillTx/>
                  <a:latin typeface="Arial"/>
                </a:endParaRPr>
              </a:p>
            </p:txBody>
          </p:sp>
        </p:grpSp>
      </p:grpSp>
      <p:sp>
        <p:nvSpPr>
          <p:cNvPr id="233" name=""/>
          <p:cNvSpPr/>
          <p:nvPr/>
        </p:nvSpPr>
        <p:spPr>
          <a:xfrm rot="5400000">
            <a:off x="7102800" y="3330720"/>
            <a:ext cx="326772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Number of Applications/Applicants</a:t>
            </a: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2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234" name=""/>
          <p:cNvSpPr/>
          <p:nvPr/>
        </p:nvSpPr>
        <p:spPr>
          <a:xfrm>
            <a:off x="1639800" y="6245280"/>
            <a:ext cx="179748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Success Rates</a:t>
            </a:r>
            <a:endParaRPr b="0" lang="en-IN" sz="2000" strike="noStrike" u="none">
              <a:solidFill>
                <a:srgbClr val="000000"/>
              </a:solidFill>
              <a:effectLst/>
              <a:uFillTx/>
              <a:latin typeface="Arial"/>
            </a:endParaRPr>
          </a:p>
        </p:txBody>
      </p:sp>
      <p:grpSp>
        <p:nvGrpSpPr>
          <p:cNvPr id="235" name=""/>
          <p:cNvGrpSpPr/>
          <p:nvPr/>
        </p:nvGrpSpPr>
        <p:grpSpPr>
          <a:xfrm>
            <a:off x="4064040" y="6326280"/>
            <a:ext cx="647640" cy="135000"/>
            <a:chOff x="4064040" y="6326280"/>
            <a:chExt cx="647640" cy="135000"/>
          </a:xfrm>
        </p:grpSpPr>
        <p:sp>
          <p:nvSpPr>
            <p:cNvPr id="236" name=""/>
            <p:cNvSpPr/>
            <p:nvPr/>
          </p:nvSpPr>
          <p:spPr>
            <a:xfrm>
              <a:off x="4064040" y="6388200"/>
              <a:ext cx="647640" cy="1800"/>
            </a:xfrm>
            <a:prstGeom prst="line">
              <a:avLst/>
            </a:prstGeom>
            <a:ln w="77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37" name=""/>
            <p:cNvSpPr/>
            <p:nvPr/>
          </p:nvSpPr>
          <p:spPr>
            <a:xfrm>
              <a:off x="4335480" y="6326280"/>
              <a:ext cx="130320" cy="135000"/>
            </a:xfrm>
            <a:prstGeom prst="ellipse">
              <a:avLst/>
            </a:prstGeom>
            <a:solidFill>
              <a:srgbClr val="ffffff"/>
            </a:solidFill>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238" name=""/>
          <p:cNvSpPr/>
          <p:nvPr/>
        </p:nvSpPr>
        <p:spPr>
          <a:xfrm>
            <a:off x="4787640" y="6245280"/>
            <a:ext cx="152784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Applications</a:t>
            </a:r>
            <a:endParaRPr b="0" lang="en-IN" sz="2000" strike="noStrike" u="none">
              <a:solidFill>
                <a:srgbClr val="000000"/>
              </a:solidFill>
              <a:effectLst/>
              <a:uFillTx/>
              <a:latin typeface="Arial"/>
            </a:endParaRPr>
          </a:p>
        </p:txBody>
      </p:sp>
      <p:sp>
        <p:nvSpPr>
          <p:cNvPr id="239" name=""/>
          <p:cNvSpPr/>
          <p:nvPr/>
        </p:nvSpPr>
        <p:spPr>
          <a:xfrm>
            <a:off x="6546960" y="1482840"/>
            <a:ext cx="1207800" cy="3376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cc00"/>
                </a:solidFill>
                <a:effectLst/>
                <a:uFillTx/>
                <a:latin typeface="Arial"/>
              </a:rPr>
              <a:t>Projected</a:t>
            </a:r>
            <a:endParaRPr b="0" lang="en-IN" sz="1600" strike="noStrike" u="none">
              <a:solidFill>
                <a:srgbClr val="000000"/>
              </a:solidFill>
              <a:effectLst/>
              <a:uFillTx/>
              <a:latin typeface="Arial"/>
            </a:endParaRPr>
          </a:p>
        </p:txBody>
      </p:sp>
      <p:sp>
        <p:nvSpPr>
          <p:cNvPr id="240" name=""/>
          <p:cNvSpPr/>
          <p:nvPr/>
        </p:nvSpPr>
        <p:spPr>
          <a:xfrm flipV="1">
            <a:off x="6603840" y="1875960"/>
            <a:ext cx="0" cy="3333960"/>
          </a:xfrm>
          <a:prstGeom prst="line">
            <a:avLst/>
          </a:prstGeom>
          <a:ln w="57240">
            <a:solidFill>
              <a:srgbClr val="ffcc00"/>
            </a:solidFill>
            <a:prstDash val="sysDot"/>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1" name=""/>
          <p:cNvSpPr/>
          <p:nvPr/>
        </p:nvSpPr>
        <p:spPr>
          <a:xfrm rot="5400000">
            <a:off x="7102800" y="3330720"/>
            <a:ext cx="326772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Number of Applications/Applicants</a:t>
            </a:r>
            <a:endParaRPr b="0" lang="en-IN" sz="1600" strike="noStrike" u="none">
              <a:solidFill>
                <a:srgbClr val="000000"/>
              </a:solidFill>
              <a:effectLst/>
              <a:uFillTx/>
              <a:latin typeface="Arial"/>
            </a:endParaRPr>
          </a:p>
        </p:txBody>
      </p:sp>
      <p:sp>
        <p:nvSpPr>
          <p:cNvPr id="242" name=""/>
          <p:cNvSpPr/>
          <p:nvPr/>
        </p:nvSpPr>
        <p:spPr>
          <a:xfrm rot="16200000">
            <a:off x="-504000" y="3281760"/>
            <a:ext cx="330156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Arial"/>
              </a:rPr>
              <a:t>% Success Rate of Grants Funded</a:t>
            </a:r>
            <a:endParaRPr b="0" lang="en-IN" sz="1600" strike="noStrike" u="none">
              <a:solidFill>
                <a:srgbClr val="000000"/>
              </a:solidFill>
              <a:effectLst/>
              <a:uFillTx/>
              <a:latin typeface="Arial"/>
            </a:endParaRPr>
          </a:p>
        </p:txBody>
      </p:sp>
      <p:sp>
        <p:nvSpPr>
          <p:cNvPr id="243" name=""/>
          <p:cNvSpPr/>
          <p:nvPr/>
        </p:nvSpPr>
        <p:spPr>
          <a:xfrm flipV="1">
            <a:off x="2201760" y="5636880"/>
            <a:ext cx="855720" cy="136440"/>
          </a:xfrm>
          <a:prstGeom prst="line">
            <a:avLst/>
          </a:prstGeom>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4" name=""/>
          <p:cNvSpPr/>
          <p:nvPr/>
        </p:nvSpPr>
        <p:spPr>
          <a:xfrm>
            <a:off x="1906560" y="1581120"/>
            <a:ext cx="1440" cy="3633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5" name=""/>
          <p:cNvSpPr/>
          <p:nvPr/>
        </p:nvSpPr>
        <p:spPr>
          <a:xfrm>
            <a:off x="1863720" y="521496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46" name=""/>
          <p:cNvSpPr/>
          <p:nvPr/>
        </p:nvSpPr>
        <p:spPr>
          <a:xfrm>
            <a:off x="1863720" y="470520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47" name=""/>
          <p:cNvSpPr/>
          <p:nvPr/>
        </p:nvSpPr>
        <p:spPr>
          <a:xfrm>
            <a:off x="1863720" y="4173480"/>
            <a:ext cx="88920" cy="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48" name=""/>
          <p:cNvSpPr/>
          <p:nvPr/>
        </p:nvSpPr>
        <p:spPr>
          <a:xfrm>
            <a:off x="1863720" y="366408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49" name=""/>
          <p:cNvSpPr/>
          <p:nvPr/>
        </p:nvSpPr>
        <p:spPr>
          <a:xfrm>
            <a:off x="1863720" y="313056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50" name=""/>
          <p:cNvSpPr/>
          <p:nvPr/>
        </p:nvSpPr>
        <p:spPr>
          <a:xfrm>
            <a:off x="1863720" y="262260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51" name=""/>
          <p:cNvSpPr/>
          <p:nvPr/>
        </p:nvSpPr>
        <p:spPr>
          <a:xfrm>
            <a:off x="1863720" y="208908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52" name=""/>
          <p:cNvSpPr/>
          <p:nvPr/>
        </p:nvSpPr>
        <p:spPr>
          <a:xfrm>
            <a:off x="1863720" y="15811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53" name=""/>
          <p:cNvSpPr/>
          <p:nvPr/>
        </p:nvSpPr>
        <p:spPr>
          <a:xfrm>
            <a:off x="1906560" y="5229360"/>
            <a:ext cx="587520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54" name=""/>
          <p:cNvSpPr/>
          <p:nvPr/>
        </p:nvSpPr>
        <p:spPr>
          <a:xfrm flipV="1">
            <a:off x="1906560" y="5165280"/>
            <a:ext cx="144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5" name=""/>
          <p:cNvSpPr/>
          <p:nvPr/>
        </p:nvSpPr>
        <p:spPr>
          <a:xfrm flipV="1">
            <a:off x="2490840" y="5165280"/>
            <a:ext cx="144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6" name=""/>
          <p:cNvSpPr/>
          <p:nvPr/>
        </p:nvSpPr>
        <p:spPr>
          <a:xfrm flipV="1">
            <a:off x="307332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7" name=""/>
          <p:cNvSpPr/>
          <p:nvPr/>
        </p:nvSpPr>
        <p:spPr>
          <a:xfrm flipV="1">
            <a:off x="367812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8" name=""/>
          <p:cNvSpPr/>
          <p:nvPr/>
        </p:nvSpPr>
        <p:spPr>
          <a:xfrm flipV="1">
            <a:off x="426240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59" name=""/>
          <p:cNvSpPr/>
          <p:nvPr/>
        </p:nvSpPr>
        <p:spPr>
          <a:xfrm flipV="1">
            <a:off x="484488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0" name=""/>
          <p:cNvSpPr/>
          <p:nvPr/>
        </p:nvSpPr>
        <p:spPr>
          <a:xfrm flipV="1">
            <a:off x="5429160" y="5165280"/>
            <a:ext cx="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1" name=""/>
          <p:cNvSpPr/>
          <p:nvPr/>
        </p:nvSpPr>
        <p:spPr>
          <a:xfrm flipV="1">
            <a:off x="601020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2" name=""/>
          <p:cNvSpPr/>
          <p:nvPr/>
        </p:nvSpPr>
        <p:spPr>
          <a:xfrm flipV="1">
            <a:off x="6616800" y="5165280"/>
            <a:ext cx="144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3" name=""/>
          <p:cNvSpPr/>
          <p:nvPr/>
        </p:nvSpPr>
        <p:spPr>
          <a:xfrm flipV="1">
            <a:off x="719928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4" name=""/>
          <p:cNvSpPr/>
          <p:nvPr/>
        </p:nvSpPr>
        <p:spPr>
          <a:xfrm flipV="1">
            <a:off x="7781760" y="5165280"/>
            <a:ext cx="1800" cy="96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5" name=""/>
          <p:cNvSpPr/>
          <p:nvPr/>
        </p:nvSpPr>
        <p:spPr>
          <a:xfrm>
            <a:off x="7781760" y="1581120"/>
            <a:ext cx="1800" cy="363384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66" name=""/>
          <p:cNvSpPr/>
          <p:nvPr/>
        </p:nvSpPr>
        <p:spPr>
          <a:xfrm>
            <a:off x="7738920" y="521496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67" name=""/>
          <p:cNvSpPr/>
          <p:nvPr/>
        </p:nvSpPr>
        <p:spPr>
          <a:xfrm>
            <a:off x="7738920" y="460836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68" name=""/>
          <p:cNvSpPr/>
          <p:nvPr/>
        </p:nvSpPr>
        <p:spPr>
          <a:xfrm>
            <a:off x="7738920" y="40021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69" name=""/>
          <p:cNvSpPr/>
          <p:nvPr/>
        </p:nvSpPr>
        <p:spPr>
          <a:xfrm>
            <a:off x="7738920" y="33973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70" name=""/>
          <p:cNvSpPr/>
          <p:nvPr/>
        </p:nvSpPr>
        <p:spPr>
          <a:xfrm>
            <a:off x="7738920" y="2792520"/>
            <a:ext cx="88920" cy="0"/>
          </a:xfrm>
          <a:prstGeom prst="line">
            <a:avLst/>
          </a:prstGeom>
          <a:ln w="255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271" name=""/>
          <p:cNvSpPr/>
          <p:nvPr/>
        </p:nvSpPr>
        <p:spPr>
          <a:xfrm>
            <a:off x="7738920" y="2185920"/>
            <a:ext cx="88920" cy="1800"/>
          </a:xfrm>
          <a:prstGeom prst="line">
            <a:avLst/>
          </a:prstGeom>
          <a:ln w="255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272" name=""/>
          <p:cNvSpPr/>
          <p:nvPr/>
        </p:nvSpPr>
        <p:spPr>
          <a:xfrm>
            <a:off x="7738920" y="1581120"/>
            <a:ext cx="88920" cy="1440"/>
          </a:xfrm>
          <a:prstGeom prst="line">
            <a:avLst/>
          </a:prstGeom>
          <a:ln w="255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273" name=""/>
          <p:cNvSpPr/>
          <p:nvPr/>
        </p:nvSpPr>
        <p:spPr>
          <a:xfrm>
            <a:off x="2130480" y="3687840"/>
            <a:ext cx="112680" cy="122040"/>
          </a:xfrm>
          <a:prstGeom prst="ellipse">
            <a:avLst/>
          </a:prstGeom>
          <a:solidFill>
            <a:srgbClr val="ffffff"/>
          </a:solidFill>
          <a:ln w="25560">
            <a:solidFill>
              <a:srgbClr val="ffffff"/>
            </a:solidFill>
            <a:miter/>
          </a:ln>
        </p:spPr>
        <p:style>
          <a:lnRef idx="0"/>
          <a:fillRef idx="0"/>
          <a:effectRef idx="0"/>
          <a:fontRef idx="minor"/>
        </p:style>
        <p:txBody>
          <a:bodyPr lIns="90000" rIns="90000" tIns="39960" bIns="39960" anchor="t">
            <a:noAutofit/>
          </a:bodyPr>
          <a:p>
            <a:endParaRPr b="0" lang="en-IN" sz="1800" strike="noStrike" u="none">
              <a:solidFill>
                <a:srgbClr val="000000"/>
              </a:solidFill>
              <a:effectLst/>
              <a:uFillTx/>
              <a:latin typeface="Arial"/>
            </a:endParaRPr>
          </a:p>
        </p:txBody>
      </p:sp>
      <p:sp>
        <p:nvSpPr>
          <p:cNvPr id="274" name=""/>
          <p:cNvSpPr/>
          <p:nvPr/>
        </p:nvSpPr>
        <p:spPr>
          <a:xfrm>
            <a:off x="2714760" y="354348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75" name=""/>
          <p:cNvSpPr/>
          <p:nvPr/>
        </p:nvSpPr>
        <p:spPr>
          <a:xfrm>
            <a:off x="3321000" y="347040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76" name=""/>
          <p:cNvSpPr/>
          <p:nvPr/>
        </p:nvSpPr>
        <p:spPr>
          <a:xfrm>
            <a:off x="3902040" y="3421080"/>
            <a:ext cx="112680" cy="122400"/>
          </a:xfrm>
          <a:prstGeom prst="ellipse">
            <a:avLst/>
          </a:prstGeom>
          <a:solidFill>
            <a:srgbClr val="ffffff"/>
          </a:solidFill>
          <a:ln w="25560">
            <a:solidFill>
              <a:srgbClr val="ffffff"/>
            </a:solidFill>
            <a:miter/>
          </a:ln>
        </p:spPr>
        <p:style>
          <a:lnRef idx="0"/>
          <a:fillRef idx="0"/>
          <a:effectRef idx="0"/>
          <a:fontRef idx="minor"/>
        </p:style>
        <p:txBody>
          <a:bodyPr lIns="90000" rIns="90000" tIns="40320" bIns="40320" anchor="t">
            <a:noAutofit/>
          </a:bodyPr>
          <a:p>
            <a:endParaRPr b="0" lang="en-IN" sz="1800" strike="noStrike" u="none">
              <a:solidFill>
                <a:srgbClr val="000000"/>
              </a:solidFill>
              <a:effectLst/>
              <a:uFillTx/>
              <a:latin typeface="Arial"/>
            </a:endParaRPr>
          </a:p>
        </p:txBody>
      </p:sp>
      <p:sp>
        <p:nvSpPr>
          <p:cNvPr id="277" name=""/>
          <p:cNvSpPr/>
          <p:nvPr/>
        </p:nvSpPr>
        <p:spPr>
          <a:xfrm>
            <a:off x="4486320" y="332424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78" name=""/>
          <p:cNvSpPr/>
          <p:nvPr/>
        </p:nvSpPr>
        <p:spPr>
          <a:xfrm>
            <a:off x="5070600" y="3033720"/>
            <a:ext cx="1108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79" name=""/>
          <p:cNvSpPr/>
          <p:nvPr/>
        </p:nvSpPr>
        <p:spPr>
          <a:xfrm>
            <a:off x="5653080" y="2671920"/>
            <a:ext cx="11124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80" name=""/>
          <p:cNvSpPr/>
          <p:nvPr/>
        </p:nvSpPr>
        <p:spPr>
          <a:xfrm>
            <a:off x="6257880" y="252576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81" name=""/>
          <p:cNvSpPr/>
          <p:nvPr/>
        </p:nvSpPr>
        <p:spPr>
          <a:xfrm>
            <a:off x="6840360" y="2332080"/>
            <a:ext cx="11304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82" name=""/>
          <p:cNvSpPr/>
          <p:nvPr/>
        </p:nvSpPr>
        <p:spPr>
          <a:xfrm>
            <a:off x="7423200" y="2138400"/>
            <a:ext cx="112680" cy="120600"/>
          </a:xfrm>
          <a:prstGeom prst="ellipse">
            <a:avLst/>
          </a:prstGeom>
          <a:solidFill>
            <a:srgbClr val="ffffff"/>
          </a:solidFill>
          <a:ln w="25560">
            <a:solidFill>
              <a:srgbClr val="ffffff"/>
            </a:solidFill>
            <a:miter/>
          </a:ln>
        </p:spPr>
        <p:style>
          <a:lnRef idx="0"/>
          <a:fillRef idx="0"/>
          <a:effectRef idx="0"/>
          <a:fontRef idx="minor"/>
        </p:style>
        <p:txBody>
          <a:bodyPr lIns="90000" rIns="90000" tIns="38520" bIns="38520" anchor="t">
            <a:noAutofit/>
          </a:bodyPr>
          <a:p>
            <a:endParaRPr b="0" lang="en-IN" sz="1800" strike="noStrike" u="none">
              <a:solidFill>
                <a:srgbClr val="000000"/>
              </a:solidFill>
              <a:effectLst/>
              <a:uFillTx/>
              <a:latin typeface="Arial"/>
            </a:endParaRPr>
          </a:p>
        </p:txBody>
      </p:sp>
      <p:sp>
        <p:nvSpPr>
          <p:cNvPr id="283" name=""/>
          <p:cNvSpPr/>
          <p:nvPr/>
        </p:nvSpPr>
        <p:spPr>
          <a:xfrm>
            <a:off x="1503360" y="5116680"/>
            <a:ext cx="2761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0%</a:t>
            </a:r>
            <a:endParaRPr b="0" lang="en-IN" sz="1500" strike="noStrike" u="none">
              <a:solidFill>
                <a:srgbClr val="000000"/>
              </a:solidFill>
              <a:effectLst/>
              <a:uFillTx/>
              <a:latin typeface="Arial"/>
            </a:endParaRPr>
          </a:p>
        </p:txBody>
      </p:sp>
      <p:sp>
        <p:nvSpPr>
          <p:cNvPr id="284" name=""/>
          <p:cNvSpPr/>
          <p:nvPr/>
        </p:nvSpPr>
        <p:spPr>
          <a:xfrm>
            <a:off x="1503360" y="4608360"/>
            <a:ext cx="2761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5%</a:t>
            </a:r>
            <a:endParaRPr b="0" lang="en-IN" sz="1500" strike="noStrike" u="none">
              <a:solidFill>
                <a:srgbClr val="000000"/>
              </a:solidFill>
              <a:effectLst/>
              <a:uFillTx/>
              <a:latin typeface="Arial"/>
            </a:endParaRPr>
          </a:p>
        </p:txBody>
      </p:sp>
      <p:sp>
        <p:nvSpPr>
          <p:cNvPr id="285" name=""/>
          <p:cNvSpPr/>
          <p:nvPr/>
        </p:nvSpPr>
        <p:spPr>
          <a:xfrm>
            <a:off x="1414800" y="407664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10%</a:t>
            </a:r>
            <a:endParaRPr b="0" lang="en-IN" sz="1500" strike="noStrike" u="none">
              <a:solidFill>
                <a:srgbClr val="000000"/>
              </a:solidFill>
              <a:effectLst/>
              <a:uFillTx/>
              <a:latin typeface="Arial"/>
            </a:endParaRPr>
          </a:p>
        </p:txBody>
      </p:sp>
      <p:sp>
        <p:nvSpPr>
          <p:cNvPr id="286" name=""/>
          <p:cNvSpPr/>
          <p:nvPr/>
        </p:nvSpPr>
        <p:spPr>
          <a:xfrm>
            <a:off x="1414800" y="356724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15%</a:t>
            </a:r>
            <a:endParaRPr b="0" lang="en-IN" sz="1500" strike="noStrike" u="none">
              <a:solidFill>
                <a:srgbClr val="000000"/>
              </a:solidFill>
              <a:effectLst/>
              <a:uFillTx/>
              <a:latin typeface="Arial"/>
            </a:endParaRPr>
          </a:p>
        </p:txBody>
      </p:sp>
      <p:sp>
        <p:nvSpPr>
          <p:cNvPr id="287" name=""/>
          <p:cNvSpPr/>
          <p:nvPr/>
        </p:nvSpPr>
        <p:spPr>
          <a:xfrm>
            <a:off x="1392480" y="303372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20%</a:t>
            </a:r>
            <a:endParaRPr b="0" lang="en-IN" sz="1500" strike="noStrike" u="none">
              <a:solidFill>
                <a:srgbClr val="000000"/>
              </a:solidFill>
              <a:effectLst/>
              <a:uFillTx/>
              <a:latin typeface="Arial"/>
            </a:endParaRPr>
          </a:p>
        </p:txBody>
      </p:sp>
      <p:sp>
        <p:nvSpPr>
          <p:cNvPr id="288" name=""/>
          <p:cNvSpPr/>
          <p:nvPr/>
        </p:nvSpPr>
        <p:spPr>
          <a:xfrm>
            <a:off x="1392480" y="252576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25%</a:t>
            </a:r>
            <a:endParaRPr b="0" lang="en-IN" sz="1500" strike="noStrike" u="none">
              <a:solidFill>
                <a:srgbClr val="000000"/>
              </a:solidFill>
              <a:effectLst/>
              <a:uFillTx/>
              <a:latin typeface="Arial"/>
            </a:endParaRPr>
          </a:p>
        </p:txBody>
      </p:sp>
      <p:sp>
        <p:nvSpPr>
          <p:cNvPr id="289" name=""/>
          <p:cNvSpPr/>
          <p:nvPr/>
        </p:nvSpPr>
        <p:spPr>
          <a:xfrm>
            <a:off x="1392480" y="199224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30%</a:t>
            </a:r>
            <a:endParaRPr b="0" lang="en-IN" sz="1500" strike="noStrike" u="none">
              <a:solidFill>
                <a:srgbClr val="000000"/>
              </a:solidFill>
              <a:effectLst/>
              <a:uFillTx/>
              <a:latin typeface="Arial"/>
            </a:endParaRPr>
          </a:p>
        </p:txBody>
      </p:sp>
      <p:sp>
        <p:nvSpPr>
          <p:cNvPr id="290" name=""/>
          <p:cNvSpPr/>
          <p:nvPr/>
        </p:nvSpPr>
        <p:spPr>
          <a:xfrm>
            <a:off x="1392480" y="1484280"/>
            <a:ext cx="3819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35%</a:t>
            </a:r>
            <a:endParaRPr b="0" lang="en-IN" sz="1500" strike="noStrike" u="none">
              <a:solidFill>
                <a:srgbClr val="000000"/>
              </a:solidFill>
              <a:effectLst/>
              <a:uFillTx/>
              <a:latin typeface="Arial"/>
            </a:endParaRPr>
          </a:p>
        </p:txBody>
      </p:sp>
      <p:sp>
        <p:nvSpPr>
          <p:cNvPr id="291" name=""/>
          <p:cNvSpPr/>
          <p:nvPr/>
        </p:nvSpPr>
        <p:spPr>
          <a:xfrm>
            <a:off x="199728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1998</a:t>
            </a:r>
            <a:endParaRPr b="0" lang="en-IN" sz="1700" strike="noStrike" u="none">
              <a:solidFill>
                <a:srgbClr val="000000"/>
              </a:solidFill>
              <a:effectLst/>
              <a:uFillTx/>
              <a:latin typeface="Arial"/>
            </a:endParaRPr>
          </a:p>
        </p:txBody>
      </p:sp>
      <p:sp>
        <p:nvSpPr>
          <p:cNvPr id="292" name=""/>
          <p:cNvSpPr/>
          <p:nvPr/>
        </p:nvSpPr>
        <p:spPr>
          <a:xfrm>
            <a:off x="258156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1999</a:t>
            </a:r>
            <a:endParaRPr b="0" lang="en-IN" sz="1700" strike="noStrike" u="none">
              <a:solidFill>
                <a:srgbClr val="000000"/>
              </a:solidFill>
              <a:effectLst/>
              <a:uFillTx/>
              <a:latin typeface="Arial"/>
            </a:endParaRPr>
          </a:p>
        </p:txBody>
      </p:sp>
      <p:sp>
        <p:nvSpPr>
          <p:cNvPr id="293" name=""/>
          <p:cNvSpPr/>
          <p:nvPr/>
        </p:nvSpPr>
        <p:spPr>
          <a:xfrm>
            <a:off x="31640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2000</a:t>
            </a:r>
            <a:endParaRPr b="0" lang="en-IN" sz="1700" strike="noStrike" u="none">
              <a:solidFill>
                <a:srgbClr val="000000"/>
              </a:solidFill>
              <a:effectLst/>
              <a:uFillTx/>
              <a:latin typeface="Arial"/>
            </a:endParaRPr>
          </a:p>
        </p:txBody>
      </p:sp>
      <p:sp>
        <p:nvSpPr>
          <p:cNvPr id="294" name=""/>
          <p:cNvSpPr/>
          <p:nvPr/>
        </p:nvSpPr>
        <p:spPr>
          <a:xfrm>
            <a:off x="37688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2001</a:t>
            </a:r>
            <a:endParaRPr b="0" lang="en-IN" sz="1700" strike="noStrike" u="none">
              <a:solidFill>
                <a:srgbClr val="000000"/>
              </a:solidFill>
              <a:effectLst/>
              <a:uFillTx/>
              <a:latin typeface="Arial"/>
            </a:endParaRPr>
          </a:p>
        </p:txBody>
      </p:sp>
      <p:sp>
        <p:nvSpPr>
          <p:cNvPr id="295" name=""/>
          <p:cNvSpPr/>
          <p:nvPr/>
        </p:nvSpPr>
        <p:spPr>
          <a:xfrm>
            <a:off x="432936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2002</a:t>
            </a:r>
            <a:endParaRPr b="0" lang="en-IN" sz="1700" strike="noStrike" u="none">
              <a:solidFill>
                <a:srgbClr val="000000"/>
              </a:solidFill>
              <a:effectLst/>
              <a:uFillTx/>
              <a:latin typeface="Arial"/>
            </a:endParaRPr>
          </a:p>
        </p:txBody>
      </p:sp>
      <p:sp>
        <p:nvSpPr>
          <p:cNvPr id="296" name=""/>
          <p:cNvSpPr/>
          <p:nvPr/>
        </p:nvSpPr>
        <p:spPr>
          <a:xfrm>
            <a:off x="49118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2003</a:t>
            </a:r>
            <a:endParaRPr b="0" lang="en-IN" sz="1700" strike="noStrike" u="none">
              <a:solidFill>
                <a:srgbClr val="000000"/>
              </a:solidFill>
              <a:effectLst/>
              <a:uFillTx/>
              <a:latin typeface="Arial"/>
            </a:endParaRPr>
          </a:p>
        </p:txBody>
      </p:sp>
      <p:sp>
        <p:nvSpPr>
          <p:cNvPr id="297" name=""/>
          <p:cNvSpPr/>
          <p:nvPr/>
        </p:nvSpPr>
        <p:spPr>
          <a:xfrm>
            <a:off x="549612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2004</a:t>
            </a:r>
            <a:endParaRPr b="0" lang="en-IN" sz="1700" strike="noStrike" u="none">
              <a:solidFill>
                <a:srgbClr val="000000"/>
              </a:solidFill>
              <a:effectLst/>
              <a:uFillTx/>
              <a:latin typeface="Arial"/>
            </a:endParaRPr>
          </a:p>
        </p:txBody>
      </p:sp>
      <p:sp>
        <p:nvSpPr>
          <p:cNvPr id="298" name=""/>
          <p:cNvSpPr/>
          <p:nvPr/>
        </p:nvSpPr>
        <p:spPr>
          <a:xfrm>
            <a:off x="612324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2005</a:t>
            </a:r>
            <a:endParaRPr b="0" lang="en-IN" sz="1700" strike="noStrike" u="none">
              <a:solidFill>
                <a:srgbClr val="000000"/>
              </a:solidFill>
              <a:effectLst/>
              <a:uFillTx/>
              <a:latin typeface="Arial"/>
            </a:endParaRPr>
          </a:p>
        </p:txBody>
      </p:sp>
      <p:sp>
        <p:nvSpPr>
          <p:cNvPr id="299" name=""/>
          <p:cNvSpPr/>
          <p:nvPr/>
        </p:nvSpPr>
        <p:spPr>
          <a:xfrm>
            <a:off x="668340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2006</a:t>
            </a:r>
            <a:endParaRPr b="0" lang="en-IN" sz="1700" strike="noStrike" u="none">
              <a:solidFill>
                <a:srgbClr val="000000"/>
              </a:solidFill>
              <a:effectLst/>
              <a:uFillTx/>
              <a:latin typeface="Arial"/>
            </a:endParaRPr>
          </a:p>
        </p:txBody>
      </p:sp>
      <p:sp>
        <p:nvSpPr>
          <p:cNvPr id="300" name=""/>
          <p:cNvSpPr/>
          <p:nvPr/>
        </p:nvSpPr>
        <p:spPr>
          <a:xfrm>
            <a:off x="7290000" y="535932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Arial"/>
              </a:rPr>
              <a:t>2007</a:t>
            </a:r>
            <a:endParaRPr b="0" lang="en-IN" sz="1700" strike="noStrike" u="none">
              <a:solidFill>
                <a:srgbClr val="000000"/>
              </a:solidFill>
              <a:effectLst/>
              <a:uFillTx/>
              <a:latin typeface="Arial"/>
            </a:endParaRPr>
          </a:p>
        </p:txBody>
      </p:sp>
      <p:sp>
        <p:nvSpPr>
          <p:cNvPr id="301" name=""/>
          <p:cNvSpPr/>
          <p:nvPr/>
        </p:nvSpPr>
        <p:spPr>
          <a:xfrm>
            <a:off x="7916760" y="5116680"/>
            <a:ext cx="106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0</a:t>
            </a:r>
            <a:endParaRPr b="0" lang="en-IN" sz="1500" strike="noStrike" u="none">
              <a:solidFill>
                <a:srgbClr val="000000"/>
              </a:solidFill>
              <a:effectLst/>
              <a:uFillTx/>
              <a:latin typeface="Arial"/>
            </a:endParaRPr>
          </a:p>
        </p:txBody>
      </p:sp>
      <p:sp>
        <p:nvSpPr>
          <p:cNvPr id="302" name=""/>
          <p:cNvSpPr/>
          <p:nvPr/>
        </p:nvSpPr>
        <p:spPr>
          <a:xfrm>
            <a:off x="7917120" y="451152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10,000</a:t>
            </a:r>
            <a:endParaRPr b="0" lang="en-IN" sz="1500" strike="noStrike" u="none">
              <a:solidFill>
                <a:srgbClr val="000000"/>
              </a:solidFill>
              <a:effectLst/>
              <a:uFillTx/>
              <a:latin typeface="Arial"/>
            </a:endParaRPr>
          </a:p>
        </p:txBody>
      </p:sp>
      <p:sp>
        <p:nvSpPr>
          <p:cNvPr id="303" name=""/>
          <p:cNvSpPr/>
          <p:nvPr/>
        </p:nvSpPr>
        <p:spPr>
          <a:xfrm>
            <a:off x="7917120" y="390672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20,000</a:t>
            </a:r>
            <a:endParaRPr b="0" lang="en-IN" sz="1500" strike="noStrike" u="none">
              <a:solidFill>
                <a:srgbClr val="000000"/>
              </a:solidFill>
              <a:effectLst/>
              <a:uFillTx/>
              <a:latin typeface="Arial"/>
            </a:endParaRPr>
          </a:p>
        </p:txBody>
      </p:sp>
      <p:sp>
        <p:nvSpPr>
          <p:cNvPr id="304" name=""/>
          <p:cNvSpPr/>
          <p:nvPr/>
        </p:nvSpPr>
        <p:spPr>
          <a:xfrm>
            <a:off x="7917120" y="330048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30,000</a:t>
            </a:r>
            <a:endParaRPr b="0" lang="en-IN" sz="1500" strike="noStrike" u="none">
              <a:solidFill>
                <a:srgbClr val="000000"/>
              </a:solidFill>
              <a:effectLst/>
              <a:uFillTx/>
              <a:latin typeface="Arial"/>
            </a:endParaRPr>
          </a:p>
        </p:txBody>
      </p:sp>
      <p:sp>
        <p:nvSpPr>
          <p:cNvPr id="305" name=""/>
          <p:cNvSpPr/>
          <p:nvPr/>
        </p:nvSpPr>
        <p:spPr>
          <a:xfrm>
            <a:off x="7917120" y="269568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40,000</a:t>
            </a:r>
            <a:endParaRPr b="0" lang="en-IN" sz="1500" strike="noStrike" u="none">
              <a:solidFill>
                <a:srgbClr val="000000"/>
              </a:solidFill>
              <a:effectLst/>
              <a:uFillTx/>
              <a:latin typeface="Arial"/>
            </a:endParaRPr>
          </a:p>
        </p:txBody>
      </p:sp>
      <p:sp>
        <p:nvSpPr>
          <p:cNvPr id="306" name=""/>
          <p:cNvSpPr/>
          <p:nvPr/>
        </p:nvSpPr>
        <p:spPr>
          <a:xfrm>
            <a:off x="7917120" y="2089080"/>
            <a:ext cx="58356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50,000</a:t>
            </a:r>
            <a:endParaRPr b="0" lang="en-IN" sz="1500" strike="noStrike" u="none">
              <a:solidFill>
                <a:srgbClr val="000000"/>
              </a:solidFill>
              <a:effectLst/>
              <a:uFillTx/>
              <a:latin typeface="Arial"/>
            </a:endParaRPr>
          </a:p>
        </p:txBody>
      </p:sp>
      <p:sp>
        <p:nvSpPr>
          <p:cNvPr id="307" name=""/>
          <p:cNvSpPr/>
          <p:nvPr/>
        </p:nvSpPr>
        <p:spPr>
          <a:xfrm>
            <a:off x="7916760" y="1484280"/>
            <a:ext cx="604800" cy="228960"/>
          </a:xfrm>
          <a:prstGeom prst="rect">
            <a:avLst/>
          </a:prstGeom>
          <a:noFill/>
          <a:ln w="0">
            <a:noFill/>
          </a:ln>
        </p:spPr>
        <p:style>
          <a:lnRef idx="0"/>
          <a:fillRef idx="0"/>
          <a:effectRef idx="0"/>
          <a:fontRef idx="minor"/>
        </p:style>
        <p:txBody>
          <a:bodyPr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60,000</a:t>
            </a:r>
            <a:endParaRPr b="0" lang="en-IN" sz="1500" strike="noStrike" u="none">
              <a:solidFill>
                <a:srgbClr val="000000"/>
              </a:solidFill>
              <a:effectLst/>
              <a:uFillTx/>
              <a:latin typeface="Arial"/>
            </a:endParaRPr>
          </a:p>
        </p:txBody>
      </p:sp>
      <p:sp>
        <p:nvSpPr>
          <p:cNvPr id="308" name=""/>
          <p:cNvSpPr/>
          <p:nvPr/>
        </p:nvSpPr>
        <p:spPr>
          <a:xfrm>
            <a:off x="2198520" y="2209680"/>
            <a:ext cx="5292720" cy="1552680"/>
          </a:xfrm>
          <a:custGeom>
            <a:avLst/>
            <a:gdLst/>
            <a:ahLst/>
            <a:rect l="l" t="t" r="r" b="b"/>
            <a:pathLst>
              <a:path w="236" h="64">
                <a:moveTo>
                  <a:pt x="0" y="64"/>
                </a:moveTo>
                <a:lnTo>
                  <a:pt x="26" y="58"/>
                </a:lnTo>
                <a:lnTo>
                  <a:pt x="53" y="55"/>
                </a:lnTo>
                <a:lnTo>
                  <a:pt x="79" y="53"/>
                </a:lnTo>
                <a:lnTo>
                  <a:pt x="105" y="49"/>
                </a:lnTo>
                <a:lnTo>
                  <a:pt x="131" y="37"/>
                </a:lnTo>
                <a:lnTo>
                  <a:pt x="157" y="22"/>
                </a:lnTo>
                <a:lnTo>
                  <a:pt x="184" y="16"/>
                </a:lnTo>
                <a:lnTo>
                  <a:pt x="210" y="8"/>
                </a:lnTo>
                <a:lnTo>
                  <a:pt x="236" y="0"/>
                </a:lnTo>
              </a:path>
            </a:pathLst>
          </a:custGeom>
          <a:noFill/>
          <a:ln w="777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09" name=""/>
          <p:cNvSpPr/>
          <p:nvPr/>
        </p:nvSpPr>
        <p:spPr>
          <a:xfrm>
            <a:off x="7209360" y="1862280"/>
            <a:ext cx="42948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ffffff"/>
                </a:solidFill>
                <a:effectLst/>
                <a:uFillTx/>
                <a:latin typeface="Arial"/>
              </a:rPr>
              <a:t>49,656</a:t>
            </a:r>
            <a:endParaRPr b="0" lang="en-IN" sz="1100" strike="noStrike" u="none">
              <a:solidFill>
                <a:srgbClr val="000000"/>
              </a:solidFill>
              <a:effectLst/>
              <a:uFillTx/>
              <a:latin typeface="Arial"/>
            </a:endParaRPr>
          </a:p>
        </p:txBody>
      </p:sp>
      <p:sp>
        <p:nvSpPr>
          <p:cNvPr id="310" name=""/>
          <p:cNvSpPr/>
          <p:nvPr/>
        </p:nvSpPr>
        <p:spPr>
          <a:xfrm>
            <a:off x="6086880" y="2243160"/>
            <a:ext cx="42948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100" strike="noStrike" u="none">
                <a:solidFill>
                  <a:srgbClr val="ffffff"/>
                </a:solidFill>
                <a:effectLst/>
                <a:uFillTx/>
                <a:latin typeface="Arial"/>
              </a:rPr>
              <a:t>43,069</a:t>
            </a:r>
            <a:endParaRPr b="0" lang="en-IN" sz="1100" strike="noStrike" u="none">
              <a:solidFill>
                <a:srgbClr val="000000"/>
              </a:solidFill>
              <a:effectLst/>
              <a:uFillTx/>
              <a:latin typeface="Arial"/>
            </a:endParaRPr>
          </a:p>
        </p:txBody>
      </p:sp>
      <p:grpSp>
        <p:nvGrpSpPr>
          <p:cNvPr id="311" name=""/>
          <p:cNvGrpSpPr/>
          <p:nvPr/>
        </p:nvGrpSpPr>
        <p:grpSpPr>
          <a:xfrm>
            <a:off x="2143080" y="1833480"/>
            <a:ext cx="5446800" cy="1493640"/>
            <a:chOff x="2143080" y="1833480"/>
            <a:chExt cx="5446800" cy="1493640"/>
          </a:xfrm>
        </p:grpSpPr>
        <p:sp>
          <p:nvSpPr>
            <p:cNvPr id="312" name=""/>
            <p:cNvSpPr/>
            <p:nvPr/>
          </p:nvSpPr>
          <p:spPr>
            <a:xfrm>
              <a:off x="2143080" y="1928520"/>
              <a:ext cx="176400" cy="1461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3" name=""/>
            <p:cNvSpPr/>
            <p:nvPr/>
          </p:nvSpPr>
          <p:spPr>
            <a:xfrm>
              <a:off x="2730600" y="1833480"/>
              <a:ext cx="17640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4" name=""/>
            <p:cNvSpPr/>
            <p:nvPr/>
          </p:nvSpPr>
          <p:spPr>
            <a:xfrm>
              <a:off x="3314880" y="183348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5" name=""/>
            <p:cNvSpPr/>
            <p:nvPr/>
          </p:nvSpPr>
          <p:spPr>
            <a:xfrm>
              <a:off x="3902040" y="1833480"/>
              <a:ext cx="17460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6" name=""/>
            <p:cNvSpPr/>
            <p:nvPr/>
          </p:nvSpPr>
          <p:spPr>
            <a:xfrm>
              <a:off x="4486320" y="1928520"/>
              <a:ext cx="176400" cy="1461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7" name=""/>
            <p:cNvSpPr/>
            <p:nvPr/>
          </p:nvSpPr>
          <p:spPr>
            <a:xfrm>
              <a:off x="5070600" y="205092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8" name=""/>
            <p:cNvSpPr/>
            <p:nvPr/>
          </p:nvSpPr>
          <p:spPr>
            <a:xfrm>
              <a:off x="5658120" y="2555640"/>
              <a:ext cx="176040" cy="14472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19" name=""/>
            <p:cNvSpPr/>
            <p:nvPr/>
          </p:nvSpPr>
          <p:spPr>
            <a:xfrm>
              <a:off x="6242040" y="2869920"/>
              <a:ext cx="176400" cy="14472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0" name=""/>
            <p:cNvSpPr/>
            <p:nvPr/>
          </p:nvSpPr>
          <p:spPr>
            <a:xfrm>
              <a:off x="6829560" y="318276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1" name=""/>
            <p:cNvSpPr/>
            <p:nvPr/>
          </p:nvSpPr>
          <p:spPr>
            <a:xfrm>
              <a:off x="7413840" y="3182760"/>
              <a:ext cx="176040" cy="144360"/>
            </a:xfrm>
            <a:custGeom>
              <a:avLst/>
              <a:gdLst/>
              <a:ahLst/>
              <a:rect l="l" t="t" r="r" b="b"/>
              <a:pathLst>
                <a:path w="86" h="86">
                  <a:moveTo>
                    <a:pt x="43" y="0"/>
                  </a:moveTo>
                  <a:lnTo>
                    <a:pt x="86" y="43"/>
                  </a:lnTo>
                  <a:lnTo>
                    <a:pt x="43" y="86"/>
                  </a:lnTo>
                  <a:lnTo>
                    <a:pt x="0" y="43"/>
                  </a:lnTo>
                  <a:lnTo>
                    <a:pt x="43" y="0"/>
                  </a:lnTo>
                  <a:close/>
                </a:path>
              </a:pathLst>
            </a:custGeom>
            <a:solidFill>
              <a:srgbClr val="ff7c80"/>
            </a:solidFill>
            <a:ln w="22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322" name=""/>
          <p:cNvSpPr/>
          <p:nvPr/>
        </p:nvSpPr>
        <p:spPr>
          <a:xfrm>
            <a:off x="2525760" y="5014800"/>
            <a:ext cx="766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t>
            </a:r>
            <a:endParaRPr b="0" lang="en-IN" sz="1800" strike="noStrike" u="none">
              <a:solidFill>
                <a:srgbClr val="000000"/>
              </a:solidFill>
              <a:effectLst/>
              <a:uFillTx/>
              <a:latin typeface="Arial"/>
            </a:endParaRPr>
          </a:p>
        </p:txBody>
      </p:sp>
      <p:sp>
        <p:nvSpPr>
          <p:cNvPr id="323" name=""/>
          <p:cNvSpPr/>
          <p:nvPr/>
        </p:nvSpPr>
        <p:spPr>
          <a:xfrm>
            <a:off x="2133720" y="3994200"/>
            <a:ext cx="153720" cy="119160"/>
          </a:xfrm>
          <a:custGeom>
            <a:avLst/>
            <a:gdLst/>
            <a:ahLst/>
            <a:rect l="l" t="t" r="r" b="b"/>
            <a:pathLst>
              <a:path w="67" h="67">
                <a:moveTo>
                  <a:pt x="34" y="0"/>
                </a:moveTo>
                <a:lnTo>
                  <a:pt x="67" y="34"/>
                </a:lnTo>
                <a:lnTo>
                  <a:pt x="34" y="67"/>
                </a:lnTo>
                <a:lnTo>
                  <a:pt x="0" y="34"/>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4" name=""/>
          <p:cNvSpPr/>
          <p:nvPr/>
        </p:nvSpPr>
        <p:spPr>
          <a:xfrm>
            <a:off x="2725560" y="3895560"/>
            <a:ext cx="154080" cy="119160"/>
          </a:xfrm>
          <a:custGeom>
            <a:avLst/>
            <a:gdLst/>
            <a:ahLst/>
            <a:rect l="l" t="t" r="r" b="b"/>
            <a:pathLst>
              <a:path w="67" h="67">
                <a:moveTo>
                  <a:pt x="33" y="0"/>
                </a:moveTo>
                <a:lnTo>
                  <a:pt x="67" y="33"/>
                </a:lnTo>
                <a:lnTo>
                  <a:pt x="33" y="67"/>
                </a:lnTo>
                <a:lnTo>
                  <a:pt x="0" y="33"/>
                </a:lnTo>
                <a:lnTo>
                  <a:pt x="33"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5" name=""/>
          <p:cNvSpPr/>
          <p:nvPr/>
        </p:nvSpPr>
        <p:spPr>
          <a:xfrm>
            <a:off x="3314880" y="3836880"/>
            <a:ext cx="155520" cy="117720"/>
          </a:xfrm>
          <a:custGeom>
            <a:avLst/>
            <a:gdLst/>
            <a:ahLst/>
            <a:rect l="l" t="t" r="r" b="b"/>
            <a:pathLst>
              <a:path w="68" h="67">
                <a:moveTo>
                  <a:pt x="34" y="0"/>
                </a:moveTo>
                <a:lnTo>
                  <a:pt x="68" y="34"/>
                </a:lnTo>
                <a:lnTo>
                  <a:pt x="34" y="67"/>
                </a:lnTo>
                <a:lnTo>
                  <a:pt x="0" y="34"/>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6" name=""/>
          <p:cNvSpPr/>
          <p:nvPr/>
        </p:nvSpPr>
        <p:spPr>
          <a:xfrm>
            <a:off x="3906720" y="381636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7" name=""/>
          <p:cNvSpPr/>
          <p:nvPr/>
        </p:nvSpPr>
        <p:spPr>
          <a:xfrm>
            <a:off x="4498920" y="3736800"/>
            <a:ext cx="152280" cy="119160"/>
          </a:xfrm>
          <a:custGeom>
            <a:avLst/>
            <a:gdLst/>
            <a:ahLst/>
            <a:rect l="l" t="t" r="r" b="b"/>
            <a:pathLst>
              <a:path w="67" h="67">
                <a:moveTo>
                  <a:pt x="34" y="0"/>
                </a:moveTo>
                <a:lnTo>
                  <a:pt x="67"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8" name=""/>
          <p:cNvSpPr/>
          <p:nvPr/>
        </p:nvSpPr>
        <p:spPr>
          <a:xfrm>
            <a:off x="5091120" y="3557520"/>
            <a:ext cx="152280" cy="120600"/>
          </a:xfrm>
          <a:custGeom>
            <a:avLst/>
            <a:gdLst/>
            <a:ahLst/>
            <a:rect l="l" t="t" r="r" b="b"/>
            <a:pathLst>
              <a:path w="67" h="68">
                <a:moveTo>
                  <a:pt x="33" y="0"/>
                </a:moveTo>
                <a:lnTo>
                  <a:pt x="67" y="34"/>
                </a:lnTo>
                <a:lnTo>
                  <a:pt x="33" y="68"/>
                </a:lnTo>
                <a:lnTo>
                  <a:pt x="0" y="34"/>
                </a:lnTo>
                <a:lnTo>
                  <a:pt x="33"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29" name=""/>
          <p:cNvSpPr/>
          <p:nvPr/>
        </p:nvSpPr>
        <p:spPr>
          <a:xfrm>
            <a:off x="5680080" y="334008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0" name=""/>
          <p:cNvSpPr/>
          <p:nvPr/>
        </p:nvSpPr>
        <p:spPr>
          <a:xfrm>
            <a:off x="6272280" y="3260880"/>
            <a:ext cx="155520" cy="11880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1" name=""/>
          <p:cNvSpPr/>
          <p:nvPr/>
        </p:nvSpPr>
        <p:spPr>
          <a:xfrm>
            <a:off x="6918480" y="310824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2" name=""/>
          <p:cNvSpPr/>
          <p:nvPr/>
        </p:nvSpPr>
        <p:spPr>
          <a:xfrm>
            <a:off x="7418520" y="2955960"/>
            <a:ext cx="155520" cy="119160"/>
          </a:xfrm>
          <a:custGeom>
            <a:avLst/>
            <a:gdLst/>
            <a:ahLst/>
            <a:rect l="l" t="t" r="r" b="b"/>
            <a:pathLst>
              <a:path w="68" h="67">
                <a:moveTo>
                  <a:pt x="34" y="0"/>
                </a:moveTo>
                <a:lnTo>
                  <a:pt x="68" y="33"/>
                </a:lnTo>
                <a:lnTo>
                  <a:pt x="34" y="67"/>
                </a:lnTo>
                <a:lnTo>
                  <a:pt x="0" y="33"/>
                </a:lnTo>
                <a:lnTo>
                  <a:pt x="34" y="0"/>
                </a:lnTo>
                <a:close/>
              </a:path>
            </a:pathLst>
          </a:custGeom>
          <a:solidFill>
            <a:srgbClr val="99ff66"/>
          </a:solidFill>
          <a:ln w="176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33" name=""/>
          <p:cNvGrpSpPr/>
          <p:nvPr/>
        </p:nvGrpSpPr>
        <p:grpSpPr>
          <a:xfrm>
            <a:off x="2211480" y="3019320"/>
            <a:ext cx="5292360" cy="1020960"/>
            <a:chOff x="2211480" y="3019320"/>
            <a:chExt cx="5292360" cy="1020960"/>
          </a:xfrm>
        </p:grpSpPr>
        <p:sp>
          <p:nvSpPr>
            <p:cNvPr id="334" name=""/>
            <p:cNvSpPr/>
            <p:nvPr/>
          </p:nvSpPr>
          <p:spPr>
            <a:xfrm>
              <a:off x="2211480" y="3305160"/>
              <a:ext cx="4138560" cy="735120"/>
            </a:xfrm>
            <a:custGeom>
              <a:avLst/>
              <a:gdLst/>
              <a:ahLst/>
              <a:rect l="l" t="t" r="r" b="b"/>
              <a:pathLst>
                <a:path w="161" h="37">
                  <a:moveTo>
                    <a:pt x="0" y="37"/>
                  </a:moveTo>
                  <a:lnTo>
                    <a:pt x="23" y="32"/>
                  </a:lnTo>
                  <a:lnTo>
                    <a:pt x="46" y="29"/>
                  </a:lnTo>
                  <a:lnTo>
                    <a:pt x="69" y="28"/>
                  </a:lnTo>
                  <a:lnTo>
                    <a:pt x="92" y="24"/>
                  </a:lnTo>
                  <a:lnTo>
                    <a:pt x="115" y="15"/>
                  </a:lnTo>
                  <a:lnTo>
                    <a:pt x="138" y="4"/>
                  </a:lnTo>
                  <a:lnTo>
                    <a:pt x="161" y="0"/>
                  </a:lnTo>
                </a:path>
              </a:pathLst>
            </a:custGeom>
            <a:noFill/>
            <a:ln w="572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5" name=""/>
            <p:cNvSpPr/>
            <p:nvPr/>
          </p:nvSpPr>
          <p:spPr>
            <a:xfrm flipV="1">
              <a:off x="6357960" y="3163680"/>
              <a:ext cx="623880" cy="145800"/>
            </a:xfrm>
            <a:prstGeom prst="line">
              <a:avLst/>
            </a:prstGeom>
            <a:ln w="57240">
              <a:solidFill>
                <a:srgbClr val="99ff66"/>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6" name=""/>
            <p:cNvSpPr/>
            <p:nvPr/>
          </p:nvSpPr>
          <p:spPr>
            <a:xfrm flipH="1">
              <a:off x="6967080" y="3019320"/>
              <a:ext cx="536760" cy="158760"/>
            </a:xfrm>
            <a:prstGeom prst="line">
              <a:avLst/>
            </a:prstGeom>
            <a:ln w="57240">
              <a:solidFill>
                <a:srgbClr val="99ff66"/>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337" name=""/>
          <p:cNvSpPr/>
          <p:nvPr/>
        </p:nvSpPr>
        <p:spPr>
          <a:xfrm>
            <a:off x="2219400" y="1905120"/>
            <a:ext cx="5270400" cy="1350720"/>
          </a:xfrm>
          <a:custGeom>
            <a:avLst/>
            <a:gdLst/>
            <a:ahLst/>
            <a:rect l="l" t="t" r="r" b="b"/>
            <a:pathLst>
              <a:path w="180" h="56">
                <a:moveTo>
                  <a:pt x="0" y="4"/>
                </a:moveTo>
                <a:lnTo>
                  <a:pt x="20" y="0"/>
                </a:lnTo>
                <a:lnTo>
                  <a:pt x="40" y="0"/>
                </a:lnTo>
                <a:lnTo>
                  <a:pt x="60" y="0"/>
                </a:lnTo>
                <a:lnTo>
                  <a:pt x="80" y="4"/>
                </a:lnTo>
                <a:lnTo>
                  <a:pt x="100" y="9"/>
                </a:lnTo>
                <a:lnTo>
                  <a:pt x="120" y="30"/>
                </a:lnTo>
                <a:lnTo>
                  <a:pt x="140" y="43"/>
                </a:lnTo>
                <a:lnTo>
                  <a:pt x="160" y="56"/>
                </a:lnTo>
                <a:lnTo>
                  <a:pt x="180" y="56"/>
                </a:lnTo>
              </a:path>
            </a:pathLst>
          </a:custGeom>
          <a:noFill/>
          <a:ln w="76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8" name=""/>
          <p:cNvSpPr/>
          <p:nvPr/>
        </p:nvSpPr>
        <p:spPr>
          <a:xfrm>
            <a:off x="1046160" y="6400800"/>
            <a:ext cx="493560" cy="0"/>
          </a:xfrm>
          <a:prstGeom prst="line">
            <a:avLst/>
          </a:prstGeom>
          <a:ln w="5724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9" name=""/>
          <p:cNvSpPr/>
          <p:nvPr/>
        </p:nvSpPr>
        <p:spPr>
          <a:xfrm>
            <a:off x="1244520" y="6345360"/>
            <a:ext cx="155520" cy="118800"/>
          </a:xfrm>
          <a:custGeom>
            <a:avLst/>
            <a:gdLst/>
            <a:ahLst/>
            <a:rect l="l" t="t" r="r" b="b"/>
            <a:pathLst>
              <a:path w="68" h="67">
                <a:moveTo>
                  <a:pt x="34" y="0"/>
                </a:moveTo>
                <a:lnTo>
                  <a:pt x="68" y="33"/>
                </a:lnTo>
                <a:lnTo>
                  <a:pt x="34" y="67"/>
                </a:lnTo>
                <a:lnTo>
                  <a:pt x="0" y="33"/>
                </a:lnTo>
                <a:lnTo>
                  <a:pt x="34" y="0"/>
                </a:lnTo>
                <a:close/>
              </a:path>
            </a:pathLst>
          </a:custGeom>
          <a:solidFill>
            <a:srgbClr val="ff5050"/>
          </a:solidFill>
          <a:ln w="5724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0" name=""/>
          <p:cNvSpPr/>
          <p:nvPr/>
        </p:nvSpPr>
        <p:spPr>
          <a:xfrm>
            <a:off x="7132680" y="6237360"/>
            <a:ext cx="130176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Applicants</a:t>
            </a:r>
            <a:endParaRPr b="0" lang="en-IN" sz="2000" strike="noStrike" u="none">
              <a:solidFill>
                <a:srgbClr val="000000"/>
              </a:solidFill>
              <a:effectLst/>
              <a:uFillTx/>
              <a:latin typeface="Arial"/>
            </a:endParaRPr>
          </a:p>
        </p:txBody>
      </p:sp>
      <p:sp>
        <p:nvSpPr>
          <p:cNvPr id="341" name=""/>
          <p:cNvSpPr/>
          <p:nvPr/>
        </p:nvSpPr>
        <p:spPr>
          <a:xfrm>
            <a:off x="6539040" y="6392880"/>
            <a:ext cx="493560" cy="0"/>
          </a:xfrm>
          <a:prstGeom prst="line">
            <a:avLst/>
          </a:prstGeom>
          <a:ln w="57240">
            <a:solidFill>
              <a:srgbClr val="99ff66"/>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2" name=""/>
          <p:cNvSpPr/>
          <p:nvPr/>
        </p:nvSpPr>
        <p:spPr>
          <a:xfrm>
            <a:off x="6737400" y="6337440"/>
            <a:ext cx="155520" cy="118800"/>
          </a:xfrm>
          <a:custGeom>
            <a:avLst/>
            <a:gdLst/>
            <a:ahLst/>
            <a:rect l="l" t="t" r="r" b="b"/>
            <a:pathLst>
              <a:path w="68" h="67">
                <a:moveTo>
                  <a:pt x="34" y="0"/>
                </a:moveTo>
                <a:lnTo>
                  <a:pt x="68" y="33"/>
                </a:lnTo>
                <a:lnTo>
                  <a:pt x="34" y="67"/>
                </a:lnTo>
                <a:lnTo>
                  <a:pt x="0" y="33"/>
                </a:lnTo>
                <a:lnTo>
                  <a:pt x="34" y="0"/>
                </a:lnTo>
                <a:close/>
              </a:path>
            </a:pathLst>
          </a:custGeom>
          <a:solidFill>
            <a:srgbClr val="99ff66"/>
          </a:solidFill>
          <a:ln w="5724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43" name=""/>
          <p:cNvGrpSpPr/>
          <p:nvPr/>
        </p:nvGrpSpPr>
        <p:grpSpPr>
          <a:xfrm>
            <a:off x="2895480" y="3666960"/>
            <a:ext cx="2305080" cy="1242000"/>
            <a:chOff x="2895480" y="3666960"/>
            <a:chExt cx="2305080" cy="1242000"/>
          </a:xfrm>
        </p:grpSpPr>
        <p:sp>
          <p:nvSpPr>
            <p:cNvPr id="344" name=""/>
            <p:cNvSpPr/>
            <p:nvPr/>
          </p:nvSpPr>
          <p:spPr>
            <a:xfrm flipV="1">
              <a:off x="2895480" y="3952440"/>
              <a:ext cx="2305080" cy="57240"/>
            </a:xfrm>
            <a:prstGeom prst="line">
              <a:avLst/>
            </a:prstGeom>
            <a:ln w="57240">
              <a:solidFill>
                <a:srgbClr val="ffcc00"/>
              </a:solidFill>
              <a:miter/>
            </a:ln>
          </p:spPr>
          <p:style>
            <a:lnRef idx="0"/>
            <a:fillRef idx="0"/>
            <a:effectRef idx="0"/>
            <a:fontRef idx="minor"/>
          </p:style>
          <p:txBody>
            <a:bodyPr lIns="90000" rIns="90000" tIns="10440" bIns="10440" anchor="t">
              <a:noAutofit/>
            </a:bodyPr>
            <a:p>
              <a:endParaRPr b="0" lang="en-IN" sz="1800" strike="noStrike" u="none">
                <a:solidFill>
                  <a:srgbClr val="000000"/>
                </a:solidFill>
                <a:effectLst/>
                <a:uFillTx/>
                <a:latin typeface="Arial"/>
              </a:endParaRPr>
            </a:p>
          </p:txBody>
        </p:sp>
        <p:sp>
          <p:nvSpPr>
            <p:cNvPr id="345" name=""/>
            <p:cNvSpPr/>
            <p:nvPr/>
          </p:nvSpPr>
          <p:spPr>
            <a:xfrm>
              <a:off x="5176800" y="3666960"/>
              <a:ext cx="0" cy="277920"/>
            </a:xfrm>
            <a:prstGeom prst="line">
              <a:avLst/>
            </a:prstGeom>
            <a:ln w="5724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6" name=""/>
            <p:cNvSpPr/>
            <p:nvPr/>
          </p:nvSpPr>
          <p:spPr>
            <a:xfrm>
              <a:off x="4373640" y="4119480"/>
              <a:ext cx="395280" cy="408240"/>
            </a:xfrm>
            <a:prstGeom prst="line">
              <a:avLst/>
            </a:prstGeom>
            <a:ln w="9360">
              <a:solidFill>
                <a:srgbClr val="ffcc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47" name=""/>
            <p:cNvGrpSpPr/>
            <p:nvPr/>
          </p:nvGrpSpPr>
          <p:grpSpPr>
            <a:xfrm>
              <a:off x="4249800" y="4595760"/>
              <a:ext cx="833400" cy="313200"/>
              <a:chOff x="4249800" y="4595760"/>
              <a:chExt cx="833400" cy="313200"/>
            </a:xfrm>
          </p:grpSpPr>
          <p:sp>
            <p:nvSpPr>
              <p:cNvPr id="348" name=""/>
              <p:cNvSpPr/>
              <p:nvPr/>
            </p:nvSpPr>
            <p:spPr>
              <a:xfrm>
                <a:off x="4262760" y="4600440"/>
                <a:ext cx="799920" cy="285840"/>
              </a:xfrm>
              <a:prstGeom prst="ellipse">
                <a:avLst/>
              </a:prstGeom>
              <a:solidFill>
                <a:srgbClr val="ffffff"/>
              </a:solidFill>
              <a:ln w="9360">
                <a:solidFill>
                  <a:srgbClr val="ffcc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49" name=""/>
              <p:cNvSpPr/>
              <p:nvPr/>
            </p:nvSpPr>
            <p:spPr>
              <a:xfrm>
                <a:off x="4249800" y="4595760"/>
                <a:ext cx="833400" cy="313200"/>
              </a:xfrm>
              <a:prstGeom prst="rect">
                <a:avLst/>
              </a:prstGeom>
              <a:noFill/>
              <a:ln w="0">
                <a:noFill/>
              </a:ln>
            </p:spPr>
            <p:style>
              <a:lnRef idx="0"/>
              <a:fillRef idx="0"/>
              <a:effectRef idx="0"/>
              <a:fontRef idx="minor"/>
            </p:style>
            <p:txBody>
              <a:bodyPr lIns="90000" rIns="90000" tIns="46800" bIns="46800" anchor="t">
                <a:spAutoFit/>
              </a:bodyPr>
              <a:p>
                <a:pPr>
                  <a:lnSpc>
                    <a:spcPct val="9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+5,334</a:t>
                </a:r>
                <a:endParaRPr b="0" lang="en-IN" sz="1600" strike="noStrike" u="none">
                  <a:solidFill>
                    <a:srgbClr val="000000"/>
                  </a:solidFill>
                  <a:effectLst/>
                  <a:uFillTx/>
                  <a:latin typeface="Arial"/>
                </a:endParaRPr>
              </a:p>
            </p:txBody>
          </p:sp>
        </p:grpSp>
      </p:grpSp>
      <p:grpSp>
        <p:nvGrpSpPr>
          <p:cNvPr id="350" name=""/>
          <p:cNvGrpSpPr/>
          <p:nvPr/>
        </p:nvGrpSpPr>
        <p:grpSpPr>
          <a:xfrm>
            <a:off x="5173560" y="3354480"/>
            <a:ext cx="1757520" cy="1049760"/>
            <a:chOff x="5173560" y="3354480"/>
            <a:chExt cx="1757520" cy="1049760"/>
          </a:xfrm>
        </p:grpSpPr>
        <p:sp>
          <p:nvSpPr>
            <p:cNvPr id="351" name=""/>
            <p:cNvSpPr/>
            <p:nvPr/>
          </p:nvSpPr>
          <p:spPr>
            <a:xfrm>
              <a:off x="5173560" y="3633840"/>
              <a:ext cx="1185840" cy="0"/>
            </a:xfrm>
            <a:prstGeom prst="line">
              <a:avLst/>
            </a:prstGeom>
            <a:ln w="5724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52" name=""/>
            <p:cNvSpPr/>
            <p:nvPr/>
          </p:nvSpPr>
          <p:spPr>
            <a:xfrm>
              <a:off x="5765760" y="3701880"/>
              <a:ext cx="395280" cy="408240"/>
            </a:xfrm>
            <a:prstGeom prst="line">
              <a:avLst/>
            </a:prstGeom>
            <a:ln w="9360">
              <a:solidFill>
                <a:srgbClr val="ffcc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53" name=""/>
            <p:cNvGrpSpPr/>
            <p:nvPr/>
          </p:nvGrpSpPr>
          <p:grpSpPr>
            <a:xfrm>
              <a:off x="6019920" y="4091040"/>
              <a:ext cx="911160" cy="313200"/>
              <a:chOff x="6019920" y="4091040"/>
              <a:chExt cx="911160" cy="313200"/>
            </a:xfrm>
          </p:grpSpPr>
          <p:sp>
            <p:nvSpPr>
              <p:cNvPr id="354" name=""/>
              <p:cNvSpPr/>
              <p:nvPr/>
            </p:nvSpPr>
            <p:spPr>
              <a:xfrm>
                <a:off x="6034320" y="4095720"/>
                <a:ext cx="799920" cy="285840"/>
              </a:xfrm>
              <a:prstGeom prst="ellipse">
                <a:avLst/>
              </a:prstGeom>
              <a:solidFill>
                <a:srgbClr val="ffffff"/>
              </a:solidFill>
              <a:ln w="9360">
                <a:solidFill>
                  <a:srgbClr val="ffcc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355" name=""/>
              <p:cNvSpPr/>
              <p:nvPr/>
            </p:nvSpPr>
            <p:spPr>
              <a:xfrm>
                <a:off x="6019920" y="4091040"/>
                <a:ext cx="911160" cy="313200"/>
              </a:xfrm>
              <a:prstGeom prst="rect">
                <a:avLst/>
              </a:prstGeom>
              <a:noFill/>
              <a:ln w="0">
                <a:noFill/>
              </a:ln>
            </p:spPr>
            <p:style>
              <a:lnRef idx="0"/>
              <a:fillRef idx="0"/>
              <a:effectRef idx="0"/>
              <a:fontRef idx="minor"/>
            </p:style>
            <p:txBody>
              <a:bodyPr lIns="90000" rIns="90000" tIns="46800" bIns="46800" anchor="t">
                <a:spAutoFit/>
              </a:bodyPr>
              <a:p>
                <a:pPr>
                  <a:lnSpc>
                    <a:spcPct val="90000"/>
                  </a:lnSpc>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+5,208</a:t>
                </a:r>
                <a:endParaRPr b="0" lang="en-IN" sz="1600" strike="noStrike" u="none">
                  <a:solidFill>
                    <a:srgbClr val="000000"/>
                  </a:solidFill>
                  <a:effectLst/>
                  <a:uFillTx/>
                  <a:latin typeface="Arial"/>
                </a:endParaRPr>
              </a:p>
            </p:txBody>
          </p:sp>
        </p:grpSp>
        <p:sp>
          <p:nvSpPr>
            <p:cNvPr id="356" name=""/>
            <p:cNvSpPr/>
            <p:nvPr/>
          </p:nvSpPr>
          <p:spPr>
            <a:xfrm>
              <a:off x="6330960" y="3354480"/>
              <a:ext cx="0" cy="277560"/>
            </a:xfrm>
            <a:prstGeom prst="line">
              <a:avLst/>
            </a:prstGeom>
            <a:ln w="5724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357" name=""/>
          <p:cNvSpPr/>
          <p:nvPr/>
        </p:nvSpPr>
        <p:spPr>
          <a:xfrm>
            <a:off x="787320" y="506520"/>
            <a:ext cx="8228160" cy="552240"/>
          </a:xfrm>
          <a:prstGeom prst="rect">
            <a:avLst/>
          </a:pr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New Grant Applications, Applicants and Success Rates </a:t>
            </a:r>
            <a:br>
              <a:rPr sz="2800"/>
            </a:br>
            <a:r>
              <a:rPr b="0" i="1" lang="en-IN" sz="2600" strike="noStrike" u="none">
                <a:solidFill>
                  <a:srgbClr val="ffcc00"/>
                </a:solidFill>
                <a:effectLst/>
                <a:uFillTx/>
                <a:latin typeface="Arial"/>
              </a:rPr>
              <a:t>During and After Doubling Period</a:t>
            </a:r>
            <a:endParaRPr b="0" lang="en-IN"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25" dur="indefinite" restart="never" nodeType="tmRoot">
          <p:childTnLst>
            <p:seq>
              <p:cTn id="26" dur="indefinite" nodeType="mainSeq">
                <p:childTnLst>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34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3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358" name="PlaceHolder 1"/>
          <p:cNvSpPr>
            <a:spLocks noGrp="1"/>
          </p:cNvSpPr>
          <p:nvPr>
            <p:ph type="title"/>
          </p:nvPr>
        </p:nvSpPr>
        <p:spPr>
          <a:xfrm>
            <a:off x="868320" y="228600"/>
            <a:ext cx="8275680" cy="13716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Inflation Eroded Gains in NIH Funding</a:t>
            </a:r>
            <a:br>
              <a:rPr sz="3200"/>
            </a:br>
            <a:r>
              <a:rPr b="1" lang="en-IN" sz="1600" strike="noStrike" u="none">
                <a:solidFill>
                  <a:srgbClr val="ffffff"/>
                </a:solidFill>
                <a:effectLst/>
                <a:uFillTx/>
                <a:latin typeface="Arial"/>
              </a:rPr>
              <a:t>Real and Nominal NIH Funding Levels Since 2003</a:t>
            </a:r>
            <a:r>
              <a:rPr b="1" lang="en-IN" sz="1800" strike="noStrike" u="none">
                <a:solidFill>
                  <a:srgbClr val="ffffff"/>
                </a:solidFill>
                <a:effectLst/>
                <a:uFillTx/>
                <a:latin typeface="Arial"/>
              </a:rPr>
              <a:t> </a:t>
            </a:r>
            <a:br>
              <a:rPr sz="1800"/>
            </a:br>
            <a:endParaRPr b="1" lang="en-IN" sz="1800" strike="noStrike" u="none">
              <a:solidFill>
                <a:srgbClr val="ffffff"/>
              </a:solidFill>
              <a:effectLst/>
              <a:uFillTx/>
              <a:latin typeface="Myriad Web"/>
            </a:endParaRPr>
          </a:p>
        </p:txBody>
      </p:sp>
      <p:sp>
        <p:nvSpPr>
          <p:cNvPr id="359" name=""/>
          <p:cNvSpPr/>
          <p:nvPr/>
        </p:nvSpPr>
        <p:spPr>
          <a:xfrm flipH="1" flipV="1">
            <a:off x="6300720" y="3247560"/>
            <a:ext cx="914400" cy="228600"/>
          </a:xfrm>
          <a:prstGeom prst="line">
            <a:avLst/>
          </a:prstGeom>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60" name=""/>
          <p:cNvSpPr/>
          <p:nvPr/>
        </p:nvSpPr>
        <p:spPr>
          <a:xfrm>
            <a:off x="3060720" y="2495520"/>
            <a:ext cx="2097000" cy="297000"/>
          </a:xfrm>
          <a:prstGeom prst="rect">
            <a:avLst/>
          </a:prstGeom>
          <a:noFill/>
          <a:ln w="0">
            <a:noFill/>
          </a:ln>
        </p:spPr>
        <p:style>
          <a:lnRef idx="0"/>
          <a:fillRef idx="0"/>
          <a:effectRef idx="0"/>
          <a:fontRef idx="minor"/>
        </p:style>
        <p:txBody>
          <a:bodyPr lIns="90000" rIns="90000" tIns="46800" bIns="46800" anchor="t">
            <a:spAutoFit/>
          </a:bodyPr>
          <a:p>
            <a:pPr>
              <a:lnSpc>
                <a:spcPts val="1599"/>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99ff66"/>
                </a:solidFill>
                <a:effectLst/>
                <a:uFillTx/>
                <a:latin typeface="Arial"/>
              </a:rPr>
              <a:t>Nominal funding</a:t>
            </a:r>
            <a:endParaRPr b="0" lang="en-IN" sz="1800" strike="noStrike" u="none">
              <a:solidFill>
                <a:srgbClr val="000000"/>
              </a:solidFill>
              <a:effectLst/>
              <a:uFillTx/>
              <a:latin typeface="Arial"/>
            </a:endParaRPr>
          </a:p>
        </p:txBody>
      </p:sp>
      <p:sp>
        <p:nvSpPr>
          <p:cNvPr id="361" name=""/>
          <p:cNvSpPr/>
          <p:nvPr/>
        </p:nvSpPr>
        <p:spPr>
          <a:xfrm>
            <a:off x="4138560" y="4019400"/>
            <a:ext cx="2362320" cy="297000"/>
          </a:xfrm>
          <a:prstGeom prst="rect">
            <a:avLst/>
          </a:prstGeom>
          <a:noFill/>
          <a:ln w="0">
            <a:noFill/>
          </a:ln>
        </p:spPr>
        <p:style>
          <a:lnRef idx="0"/>
          <a:fillRef idx="0"/>
          <a:effectRef idx="0"/>
          <a:fontRef idx="minor"/>
        </p:style>
        <p:txBody>
          <a:bodyPr lIns="90000" rIns="90000" tIns="46800" bIns="46800" anchor="t">
            <a:spAutoFit/>
          </a:bodyPr>
          <a:p>
            <a:pPr>
              <a:lnSpc>
                <a:spcPts val="1599"/>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5050"/>
                </a:solidFill>
                <a:effectLst/>
                <a:uFillTx/>
                <a:latin typeface="Arial"/>
              </a:rPr>
              <a:t>Adjusted by BRDPI</a:t>
            </a:r>
            <a:endParaRPr b="0" lang="en-IN" sz="1800" strike="noStrike" u="none">
              <a:solidFill>
                <a:srgbClr val="000000"/>
              </a:solidFill>
              <a:effectLst/>
              <a:uFillTx/>
              <a:latin typeface="Arial"/>
            </a:endParaRPr>
          </a:p>
        </p:txBody>
      </p:sp>
      <p:sp>
        <p:nvSpPr>
          <p:cNvPr id="362" name=""/>
          <p:cNvSpPr/>
          <p:nvPr/>
        </p:nvSpPr>
        <p:spPr>
          <a:xfrm>
            <a:off x="1023840" y="6583320"/>
            <a:ext cx="5867640" cy="297000"/>
          </a:xfrm>
          <a:prstGeom prst="rect">
            <a:avLst/>
          </a:prstGeom>
          <a:noFill/>
          <a:ln w="0">
            <a:noFill/>
          </a:ln>
        </p:spPr>
        <p:style>
          <a:lnRef idx="0"/>
          <a:fillRef idx="0"/>
          <a:effectRef idx="0"/>
          <a:fontRef idx="minor"/>
        </p:style>
        <p:txBody>
          <a:bodyPr lIns="90000" rIns="90000" tIns="46800" bIns="46800" anchor="t">
            <a:spAutoFit/>
          </a:bodyPr>
          <a:p>
            <a:pPr>
              <a:lnSpc>
                <a:spcPts val="1599"/>
              </a:lnSpc>
              <a:spcBef>
                <a:spcPts val="8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Arial"/>
              </a:rPr>
              <a:t>Note:  BRDPI is the Biomedical Research and Development Price Index</a:t>
            </a:r>
            <a:endParaRPr b="0" lang="en-IN" sz="1400" strike="noStrike" u="none">
              <a:solidFill>
                <a:srgbClr val="000000"/>
              </a:solidFill>
              <a:effectLst/>
              <a:uFillTx/>
              <a:latin typeface="Arial"/>
            </a:endParaRPr>
          </a:p>
        </p:txBody>
      </p:sp>
      <p:sp>
        <p:nvSpPr>
          <p:cNvPr id="363" name=""/>
          <p:cNvSpPr/>
          <p:nvPr/>
        </p:nvSpPr>
        <p:spPr>
          <a:xfrm>
            <a:off x="6642000" y="5000760"/>
            <a:ext cx="2656080" cy="703080"/>
          </a:xfrm>
          <a:prstGeom prst="rect">
            <a:avLst/>
          </a:prstGeom>
          <a:noFill/>
          <a:ln w="0">
            <a:noFill/>
          </a:ln>
        </p:spPr>
        <p:style>
          <a:lnRef idx="0"/>
          <a:fillRef idx="0"/>
          <a:effectRef idx="0"/>
          <a:fontRef idx="minor"/>
        </p:style>
        <p:txBody>
          <a:bodyPr lIns="90000" rIns="90000" tIns="46800" bIns="46800" anchor="t">
            <a:spAutoFit/>
          </a:bodyPr>
          <a:p>
            <a:pPr>
              <a:lnSpc>
                <a:spcPts val="1599"/>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7.3% loss in purchasing power since 2003</a:t>
            </a:r>
            <a:endParaRPr b="0" lang="en-IN" sz="1800" strike="noStrike" u="none">
              <a:solidFill>
                <a:srgbClr val="000000"/>
              </a:solidFill>
              <a:effectLst/>
              <a:uFillTx/>
              <a:latin typeface="Arial"/>
            </a:endParaRPr>
          </a:p>
        </p:txBody>
      </p:sp>
      <p:sp>
        <p:nvSpPr>
          <p:cNvPr id="364" name=""/>
          <p:cNvSpPr/>
          <p:nvPr/>
        </p:nvSpPr>
        <p:spPr>
          <a:xfrm>
            <a:off x="8282160" y="3857760"/>
            <a:ext cx="0" cy="761760"/>
          </a:xfrm>
          <a:prstGeom prst="line">
            <a:avLst/>
          </a:prstGeom>
          <a:ln w="38160">
            <a:solidFill>
              <a:srgbClr val="ffffff"/>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65" name=""/>
          <p:cNvSpPr/>
          <p:nvPr/>
        </p:nvSpPr>
        <p:spPr>
          <a:xfrm flipH="1">
            <a:off x="7748640" y="4238640"/>
            <a:ext cx="533520" cy="68580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66" name=""/>
          <p:cNvSpPr/>
          <p:nvPr/>
        </p:nvSpPr>
        <p:spPr>
          <a:xfrm>
            <a:off x="1890720" y="2077920"/>
            <a:ext cx="7116840" cy="4070520"/>
          </a:xfrm>
          <a:prstGeom prst="rect">
            <a:avLst/>
          </a:prstGeom>
          <a:no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67" name=""/>
          <p:cNvSpPr/>
          <p:nvPr/>
        </p:nvSpPr>
        <p:spPr>
          <a:xfrm>
            <a:off x="1890720" y="2077920"/>
            <a:ext cx="1440" cy="4070520"/>
          </a:xfrm>
          <a:prstGeom prst="line">
            <a:avLst/>
          </a:prstGeom>
          <a:ln w="1260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68" name=""/>
          <p:cNvSpPr/>
          <p:nvPr/>
        </p:nvSpPr>
        <p:spPr>
          <a:xfrm>
            <a:off x="1809720" y="6148440"/>
            <a:ext cx="8100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69" name=""/>
          <p:cNvSpPr/>
          <p:nvPr/>
        </p:nvSpPr>
        <p:spPr>
          <a:xfrm>
            <a:off x="1809720" y="5640480"/>
            <a:ext cx="8100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70" name=""/>
          <p:cNvSpPr/>
          <p:nvPr/>
        </p:nvSpPr>
        <p:spPr>
          <a:xfrm>
            <a:off x="1809720" y="5133960"/>
            <a:ext cx="8100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71" name=""/>
          <p:cNvSpPr/>
          <p:nvPr/>
        </p:nvSpPr>
        <p:spPr>
          <a:xfrm>
            <a:off x="1809720" y="4626000"/>
            <a:ext cx="8100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72" name=""/>
          <p:cNvSpPr/>
          <p:nvPr/>
        </p:nvSpPr>
        <p:spPr>
          <a:xfrm>
            <a:off x="1809720" y="4119480"/>
            <a:ext cx="81000" cy="1800"/>
          </a:xfrm>
          <a:prstGeom prst="line">
            <a:avLst/>
          </a:prstGeom>
          <a:ln w="1260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73" name=""/>
          <p:cNvSpPr/>
          <p:nvPr/>
        </p:nvSpPr>
        <p:spPr>
          <a:xfrm>
            <a:off x="1809720" y="3598920"/>
            <a:ext cx="8100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74" name=""/>
          <p:cNvSpPr/>
          <p:nvPr/>
        </p:nvSpPr>
        <p:spPr>
          <a:xfrm>
            <a:off x="1809720" y="3092400"/>
            <a:ext cx="81000" cy="1800"/>
          </a:xfrm>
          <a:prstGeom prst="line">
            <a:avLst/>
          </a:prstGeom>
          <a:ln w="1260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75" name=""/>
          <p:cNvSpPr/>
          <p:nvPr/>
        </p:nvSpPr>
        <p:spPr>
          <a:xfrm>
            <a:off x="1809720" y="2584440"/>
            <a:ext cx="8100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76" name=""/>
          <p:cNvSpPr/>
          <p:nvPr/>
        </p:nvSpPr>
        <p:spPr>
          <a:xfrm>
            <a:off x="1809720" y="2077920"/>
            <a:ext cx="81000" cy="1800"/>
          </a:xfrm>
          <a:prstGeom prst="line">
            <a:avLst/>
          </a:prstGeom>
          <a:ln w="1260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77" name=""/>
          <p:cNvSpPr/>
          <p:nvPr/>
        </p:nvSpPr>
        <p:spPr>
          <a:xfrm>
            <a:off x="1890720" y="6148440"/>
            <a:ext cx="7116840" cy="1440"/>
          </a:xfrm>
          <a:prstGeom prst="line">
            <a:avLst/>
          </a:prstGeom>
          <a:ln w="1260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378" name=""/>
          <p:cNvSpPr/>
          <p:nvPr/>
        </p:nvSpPr>
        <p:spPr>
          <a:xfrm flipV="1">
            <a:off x="1890720" y="6148080"/>
            <a:ext cx="1440" cy="60120"/>
          </a:xfrm>
          <a:prstGeom prst="line">
            <a:avLst/>
          </a:prstGeom>
          <a:ln w="12600">
            <a:solidFill>
              <a:srgbClr val="ffffff"/>
            </a:solidFill>
            <a:miter/>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379" name=""/>
          <p:cNvSpPr/>
          <p:nvPr/>
        </p:nvSpPr>
        <p:spPr>
          <a:xfrm flipV="1">
            <a:off x="3316320" y="6148080"/>
            <a:ext cx="1440" cy="60120"/>
          </a:xfrm>
          <a:prstGeom prst="line">
            <a:avLst/>
          </a:prstGeom>
          <a:ln w="12600">
            <a:solidFill>
              <a:srgbClr val="ffffff"/>
            </a:solidFill>
            <a:miter/>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380" name=""/>
          <p:cNvSpPr/>
          <p:nvPr/>
        </p:nvSpPr>
        <p:spPr>
          <a:xfrm flipV="1">
            <a:off x="4743360" y="6148080"/>
            <a:ext cx="1800" cy="60120"/>
          </a:xfrm>
          <a:prstGeom prst="line">
            <a:avLst/>
          </a:prstGeom>
          <a:ln w="12600">
            <a:solidFill>
              <a:srgbClr val="ffffff"/>
            </a:solidFill>
            <a:miter/>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381" name=""/>
          <p:cNvSpPr/>
          <p:nvPr/>
        </p:nvSpPr>
        <p:spPr>
          <a:xfrm flipV="1">
            <a:off x="6156360" y="6148080"/>
            <a:ext cx="1440" cy="60120"/>
          </a:xfrm>
          <a:prstGeom prst="line">
            <a:avLst/>
          </a:prstGeom>
          <a:ln w="12600">
            <a:solidFill>
              <a:srgbClr val="ffffff"/>
            </a:solidFill>
            <a:miter/>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382" name=""/>
          <p:cNvSpPr/>
          <p:nvPr/>
        </p:nvSpPr>
        <p:spPr>
          <a:xfrm flipV="1">
            <a:off x="7581960" y="6148080"/>
            <a:ext cx="1440" cy="60120"/>
          </a:xfrm>
          <a:prstGeom prst="line">
            <a:avLst/>
          </a:prstGeom>
          <a:ln w="12600">
            <a:solidFill>
              <a:srgbClr val="ffffff"/>
            </a:solidFill>
            <a:miter/>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383" name=""/>
          <p:cNvSpPr/>
          <p:nvPr/>
        </p:nvSpPr>
        <p:spPr>
          <a:xfrm flipV="1">
            <a:off x="9007560" y="6148080"/>
            <a:ext cx="1440" cy="60120"/>
          </a:xfrm>
          <a:prstGeom prst="line">
            <a:avLst/>
          </a:prstGeom>
          <a:ln w="12600">
            <a:solidFill>
              <a:srgbClr val="ffffff"/>
            </a:solidFill>
            <a:miter/>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384" name=""/>
          <p:cNvSpPr/>
          <p:nvPr/>
        </p:nvSpPr>
        <p:spPr>
          <a:xfrm>
            <a:off x="2603520" y="2717640"/>
            <a:ext cx="5664240" cy="1014480"/>
          </a:xfrm>
          <a:custGeom>
            <a:avLst/>
            <a:gdLst/>
            <a:ahLst/>
            <a:rect l="l" t="t" r="r" b="b"/>
            <a:pathLst>
              <a:path w="3568" h="639">
                <a:moveTo>
                  <a:pt x="0" y="639"/>
                </a:moveTo>
                <a:lnTo>
                  <a:pt x="898" y="205"/>
                </a:lnTo>
                <a:lnTo>
                  <a:pt x="1797" y="46"/>
                </a:lnTo>
                <a:lnTo>
                  <a:pt x="2687" y="0"/>
                </a:lnTo>
                <a:lnTo>
                  <a:pt x="3568" y="52"/>
                </a:lnTo>
              </a:path>
            </a:pathLst>
          </a:custGeom>
          <a:noFill/>
          <a:ln w="76320">
            <a:solidFill>
              <a:srgbClr val="99ff66"/>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85" name=""/>
          <p:cNvGrpSpPr/>
          <p:nvPr/>
        </p:nvGrpSpPr>
        <p:grpSpPr>
          <a:xfrm>
            <a:off x="2603520" y="3720960"/>
            <a:ext cx="5691240" cy="24120"/>
            <a:chOff x="2603520" y="3720960"/>
            <a:chExt cx="5691240" cy="24120"/>
          </a:xfrm>
        </p:grpSpPr>
        <p:sp>
          <p:nvSpPr>
            <p:cNvPr id="386" name=""/>
            <p:cNvSpPr/>
            <p:nvPr/>
          </p:nvSpPr>
          <p:spPr>
            <a:xfrm>
              <a:off x="260352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grpSp>
          <p:nvGrpSpPr>
            <p:cNvPr id="387" name=""/>
            <p:cNvGrpSpPr/>
            <p:nvPr/>
          </p:nvGrpSpPr>
          <p:grpSpPr>
            <a:xfrm>
              <a:off x="2765520" y="3720960"/>
              <a:ext cx="5529240" cy="24120"/>
              <a:chOff x="2765520" y="3720960"/>
              <a:chExt cx="5529240" cy="24120"/>
            </a:xfrm>
          </p:grpSpPr>
          <p:sp>
            <p:nvSpPr>
              <p:cNvPr id="388" name=""/>
              <p:cNvSpPr/>
              <p:nvPr/>
            </p:nvSpPr>
            <p:spPr>
              <a:xfrm>
                <a:off x="2765520" y="3720960"/>
                <a:ext cx="5364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89" name=""/>
              <p:cNvSpPr/>
              <p:nvPr/>
            </p:nvSpPr>
            <p:spPr>
              <a:xfrm>
                <a:off x="29271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0" name=""/>
              <p:cNvSpPr/>
              <p:nvPr/>
            </p:nvSpPr>
            <p:spPr>
              <a:xfrm>
                <a:off x="308772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1" name=""/>
              <p:cNvSpPr/>
              <p:nvPr/>
            </p:nvSpPr>
            <p:spPr>
              <a:xfrm>
                <a:off x="3249720" y="3720960"/>
                <a:ext cx="5364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2" name=""/>
              <p:cNvSpPr/>
              <p:nvPr/>
            </p:nvSpPr>
            <p:spPr>
              <a:xfrm>
                <a:off x="34113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3" name=""/>
              <p:cNvSpPr/>
              <p:nvPr/>
            </p:nvSpPr>
            <p:spPr>
              <a:xfrm>
                <a:off x="357192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4" name=""/>
              <p:cNvSpPr/>
              <p:nvPr/>
            </p:nvSpPr>
            <p:spPr>
              <a:xfrm>
                <a:off x="37335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5" name=""/>
              <p:cNvSpPr/>
              <p:nvPr/>
            </p:nvSpPr>
            <p:spPr>
              <a:xfrm>
                <a:off x="38955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6" name=""/>
              <p:cNvSpPr/>
              <p:nvPr/>
            </p:nvSpPr>
            <p:spPr>
              <a:xfrm>
                <a:off x="4057560" y="3720960"/>
                <a:ext cx="5256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7" name=""/>
              <p:cNvSpPr/>
              <p:nvPr/>
            </p:nvSpPr>
            <p:spPr>
              <a:xfrm>
                <a:off x="42177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8" name=""/>
              <p:cNvSpPr/>
              <p:nvPr/>
            </p:nvSpPr>
            <p:spPr>
              <a:xfrm>
                <a:off x="43797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399" name=""/>
              <p:cNvSpPr/>
              <p:nvPr/>
            </p:nvSpPr>
            <p:spPr>
              <a:xfrm>
                <a:off x="45417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0" name=""/>
              <p:cNvSpPr/>
              <p:nvPr/>
            </p:nvSpPr>
            <p:spPr>
              <a:xfrm>
                <a:off x="47019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1" name=""/>
              <p:cNvSpPr/>
              <p:nvPr/>
            </p:nvSpPr>
            <p:spPr>
              <a:xfrm>
                <a:off x="48639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2" name=""/>
              <p:cNvSpPr/>
              <p:nvPr/>
            </p:nvSpPr>
            <p:spPr>
              <a:xfrm>
                <a:off x="50259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3" name=""/>
              <p:cNvSpPr/>
              <p:nvPr/>
            </p:nvSpPr>
            <p:spPr>
              <a:xfrm>
                <a:off x="51861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4" name=""/>
              <p:cNvSpPr/>
              <p:nvPr/>
            </p:nvSpPr>
            <p:spPr>
              <a:xfrm>
                <a:off x="53481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5" name=""/>
              <p:cNvSpPr/>
              <p:nvPr/>
            </p:nvSpPr>
            <p:spPr>
              <a:xfrm>
                <a:off x="55101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6" name=""/>
              <p:cNvSpPr/>
              <p:nvPr/>
            </p:nvSpPr>
            <p:spPr>
              <a:xfrm>
                <a:off x="5672160" y="3720960"/>
                <a:ext cx="522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7" name=""/>
              <p:cNvSpPr/>
              <p:nvPr/>
            </p:nvSpPr>
            <p:spPr>
              <a:xfrm>
                <a:off x="58323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8" name=""/>
              <p:cNvSpPr/>
              <p:nvPr/>
            </p:nvSpPr>
            <p:spPr>
              <a:xfrm>
                <a:off x="59943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09" name=""/>
              <p:cNvSpPr/>
              <p:nvPr/>
            </p:nvSpPr>
            <p:spPr>
              <a:xfrm>
                <a:off x="61563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0" name=""/>
              <p:cNvSpPr/>
              <p:nvPr/>
            </p:nvSpPr>
            <p:spPr>
              <a:xfrm>
                <a:off x="63165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1" name=""/>
              <p:cNvSpPr/>
              <p:nvPr/>
            </p:nvSpPr>
            <p:spPr>
              <a:xfrm>
                <a:off x="64785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2" name=""/>
              <p:cNvSpPr/>
              <p:nvPr/>
            </p:nvSpPr>
            <p:spPr>
              <a:xfrm>
                <a:off x="66405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3" name=""/>
              <p:cNvSpPr/>
              <p:nvPr/>
            </p:nvSpPr>
            <p:spPr>
              <a:xfrm>
                <a:off x="68007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4" name=""/>
              <p:cNvSpPr/>
              <p:nvPr/>
            </p:nvSpPr>
            <p:spPr>
              <a:xfrm>
                <a:off x="69627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5" name=""/>
              <p:cNvSpPr/>
              <p:nvPr/>
            </p:nvSpPr>
            <p:spPr>
              <a:xfrm>
                <a:off x="71247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6" name=""/>
              <p:cNvSpPr/>
              <p:nvPr/>
            </p:nvSpPr>
            <p:spPr>
              <a:xfrm>
                <a:off x="7286400" y="3720960"/>
                <a:ext cx="5256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7" name=""/>
              <p:cNvSpPr/>
              <p:nvPr/>
            </p:nvSpPr>
            <p:spPr>
              <a:xfrm>
                <a:off x="74469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8" name=""/>
              <p:cNvSpPr/>
              <p:nvPr/>
            </p:nvSpPr>
            <p:spPr>
              <a:xfrm>
                <a:off x="76089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19" name=""/>
              <p:cNvSpPr/>
              <p:nvPr/>
            </p:nvSpPr>
            <p:spPr>
              <a:xfrm>
                <a:off x="777060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20" name=""/>
              <p:cNvSpPr/>
              <p:nvPr/>
            </p:nvSpPr>
            <p:spPr>
              <a:xfrm>
                <a:off x="79311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21" name=""/>
              <p:cNvSpPr/>
              <p:nvPr/>
            </p:nvSpPr>
            <p:spPr>
              <a:xfrm>
                <a:off x="8093160" y="3720960"/>
                <a:ext cx="5400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sp>
            <p:nvSpPr>
              <p:cNvPr id="422" name=""/>
              <p:cNvSpPr/>
              <p:nvPr/>
            </p:nvSpPr>
            <p:spPr>
              <a:xfrm>
                <a:off x="8254800" y="3720960"/>
                <a:ext cx="39960" cy="24120"/>
              </a:xfrm>
              <a:prstGeom prst="rect">
                <a:avLst/>
              </a:prstGeom>
              <a:solidFill>
                <a:srgbClr val="0000ff"/>
              </a:solidFill>
              <a:ln w="28440">
                <a:solidFill>
                  <a:srgbClr val="ffffff"/>
                </a:solidFill>
                <a:miter/>
              </a:ln>
            </p:spPr>
            <p:style>
              <a:lnRef idx="0"/>
              <a:fillRef idx="0"/>
              <a:effectRef idx="0"/>
              <a:fontRef idx="minor"/>
            </p:style>
            <p:txBody>
              <a:bodyPr lIns="90000" rIns="90000" tIns="-22680" bIns="-22680" anchor="t">
                <a:noAutofit/>
              </a:bodyPr>
              <a:p>
                <a:endParaRPr b="0" lang="en-IN" sz="1800" strike="noStrike" u="none">
                  <a:solidFill>
                    <a:srgbClr val="000000"/>
                  </a:solidFill>
                  <a:effectLst/>
                  <a:uFillTx/>
                  <a:latin typeface="Arial"/>
                </a:endParaRPr>
              </a:p>
            </p:txBody>
          </p:sp>
        </p:grpSp>
      </p:grpSp>
      <p:sp>
        <p:nvSpPr>
          <p:cNvPr id="423" name=""/>
          <p:cNvSpPr/>
          <p:nvPr/>
        </p:nvSpPr>
        <p:spPr>
          <a:xfrm>
            <a:off x="1393560" y="601488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22</a:t>
            </a:r>
            <a:endParaRPr b="0" lang="en-IN" sz="1800" strike="noStrike" u="none">
              <a:solidFill>
                <a:srgbClr val="000000"/>
              </a:solidFill>
              <a:effectLst/>
              <a:uFillTx/>
              <a:latin typeface="Arial"/>
            </a:endParaRPr>
          </a:p>
        </p:txBody>
      </p:sp>
      <p:sp>
        <p:nvSpPr>
          <p:cNvPr id="424" name=""/>
          <p:cNvSpPr/>
          <p:nvPr/>
        </p:nvSpPr>
        <p:spPr>
          <a:xfrm>
            <a:off x="1393560" y="550872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23</a:t>
            </a:r>
            <a:endParaRPr b="0" lang="en-IN" sz="1800" strike="noStrike" u="none">
              <a:solidFill>
                <a:srgbClr val="000000"/>
              </a:solidFill>
              <a:effectLst/>
              <a:uFillTx/>
              <a:latin typeface="Arial"/>
            </a:endParaRPr>
          </a:p>
        </p:txBody>
      </p:sp>
      <p:sp>
        <p:nvSpPr>
          <p:cNvPr id="425" name=""/>
          <p:cNvSpPr/>
          <p:nvPr/>
        </p:nvSpPr>
        <p:spPr>
          <a:xfrm>
            <a:off x="1393560" y="500076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24</a:t>
            </a:r>
            <a:endParaRPr b="0" lang="en-IN" sz="1800" strike="noStrike" u="none">
              <a:solidFill>
                <a:srgbClr val="000000"/>
              </a:solidFill>
              <a:effectLst/>
              <a:uFillTx/>
              <a:latin typeface="Arial"/>
            </a:endParaRPr>
          </a:p>
        </p:txBody>
      </p:sp>
      <p:sp>
        <p:nvSpPr>
          <p:cNvPr id="426" name=""/>
          <p:cNvSpPr/>
          <p:nvPr/>
        </p:nvSpPr>
        <p:spPr>
          <a:xfrm>
            <a:off x="1393560" y="449424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25</a:t>
            </a:r>
            <a:endParaRPr b="0" lang="en-IN" sz="1800" strike="noStrike" u="none">
              <a:solidFill>
                <a:srgbClr val="000000"/>
              </a:solidFill>
              <a:effectLst/>
              <a:uFillTx/>
              <a:latin typeface="Arial"/>
            </a:endParaRPr>
          </a:p>
        </p:txBody>
      </p:sp>
      <p:sp>
        <p:nvSpPr>
          <p:cNvPr id="427" name=""/>
          <p:cNvSpPr/>
          <p:nvPr/>
        </p:nvSpPr>
        <p:spPr>
          <a:xfrm>
            <a:off x="1393560" y="398628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26</a:t>
            </a:r>
            <a:endParaRPr b="0" lang="en-IN" sz="1800" strike="noStrike" u="none">
              <a:solidFill>
                <a:srgbClr val="000000"/>
              </a:solidFill>
              <a:effectLst/>
              <a:uFillTx/>
              <a:latin typeface="Arial"/>
            </a:endParaRPr>
          </a:p>
        </p:txBody>
      </p:sp>
      <p:sp>
        <p:nvSpPr>
          <p:cNvPr id="428" name=""/>
          <p:cNvSpPr/>
          <p:nvPr/>
        </p:nvSpPr>
        <p:spPr>
          <a:xfrm>
            <a:off x="1393560" y="346716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27</a:t>
            </a:r>
            <a:endParaRPr b="0" lang="en-IN" sz="1800" strike="noStrike" u="none">
              <a:solidFill>
                <a:srgbClr val="000000"/>
              </a:solidFill>
              <a:effectLst/>
              <a:uFillTx/>
              <a:latin typeface="Arial"/>
            </a:endParaRPr>
          </a:p>
        </p:txBody>
      </p:sp>
      <p:sp>
        <p:nvSpPr>
          <p:cNvPr id="429" name=""/>
          <p:cNvSpPr/>
          <p:nvPr/>
        </p:nvSpPr>
        <p:spPr>
          <a:xfrm>
            <a:off x="1393560" y="295920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28</a:t>
            </a:r>
            <a:endParaRPr b="0" lang="en-IN" sz="1800" strike="noStrike" u="none">
              <a:solidFill>
                <a:srgbClr val="000000"/>
              </a:solidFill>
              <a:effectLst/>
              <a:uFillTx/>
              <a:latin typeface="Arial"/>
            </a:endParaRPr>
          </a:p>
        </p:txBody>
      </p:sp>
      <p:sp>
        <p:nvSpPr>
          <p:cNvPr id="430" name=""/>
          <p:cNvSpPr/>
          <p:nvPr/>
        </p:nvSpPr>
        <p:spPr>
          <a:xfrm>
            <a:off x="1393560" y="245268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29</a:t>
            </a:r>
            <a:endParaRPr b="0" lang="en-IN" sz="1800" strike="noStrike" u="none">
              <a:solidFill>
                <a:srgbClr val="000000"/>
              </a:solidFill>
              <a:effectLst/>
              <a:uFillTx/>
              <a:latin typeface="Arial"/>
            </a:endParaRPr>
          </a:p>
        </p:txBody>
      </p:sp>
      <p:sp>
        <p:nvSpPr>
          <p:cNvPr id="431" name=""/>
          <p:cNvSpPr/>
          <p:nvPr/>
        </p:nvSpPr>
        <p:spPr>
          <a:xfrm>
            <a:off x="1393560" y="1944720"/>
            <a:ext cx="2548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30</a:t>
            </a:r>
            <a:endParaRPr b="0" lang="en-IN" sz="1800" strike="noStrike" u="none">
              <a:solidFill>
                <a:srgbClr val="000000"/>
              </a:solidFill>
              <a:effectLst/>
              <a:uFillTx/>
              <a:latin typeface="Arial"/>
            </a:endParaRPr>
          </a:p>
        </p:txBody>
      </p:sp>
      <p:sp>
        <p:nvSpPr>
          <p:cNvPr id="432" name=""/>
          <p:cNvSpPr/>
          <p:nvPr/>
        </p:nvSpPr>
        <p:spPr>
          <a:xfrm>
            <a:off x="2200320" y="6227640"/>
            <a:ext cx="7207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FY 2003</a:t>
            </a:r>
            <a:endParaRPr b="0" lang="en-IN" sz="1500" strike="noStrike" u="none">
              <a:solidFill>
                <a:srgbClr val="000000"/>
              </a:solidFill>
              <a:effectLst/>
              <a:uFillTx/>
              <a:latin typeface="Arial"/>
            </a:endParaRPr>
          </a:p>
        </p:txBody>
      </p:sp>
      <p:sp>
        <p:nvSpPr>
          <p:cNvPr id="433" name=""/>
          <p:cNvSpPr/>
          <p:nvPr/>
        </p:nvSpPr>
        <p:spPr>
          <a:xfrm>
            <a:off x="3625920" y="6227640"/>
            <a:ext cx="7207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FY 2004</a:t>
            </a:r>
            <a:endParaRPr b="0" lang="en-IN" sz="1500" strike="noStrike" u="none">
              <a:solidFill>
                <a:srgbClr val="000000"/>
              </a:solidFill>
              <a:effectLst/>
              <a:uFillTx/>
              <a:latin typeface="Arial"/>
            </a:endParaRPr>
          </a:p>
        </p:txBody>
      </p:sp>
      <p:sp>
        <p:nvSpPr>
          <p:cNvPr id="434" name=""/>
          <p:cNvSpPr/>
          <p:nvPr/>
        </p:nvSpPr>
        <p:spPr>
          <a:xfrm>
            <a:off x="5052960" y="6227640"/>
            <a:ext cx="72072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FY 2005</a:t>
            </a:r>
            <a:endParaRPr b="0" lang="en-IN" sz="1500" strike="noStrike" u="none">
              <a:solidFill>
                <a:srgbClr val="000000"/>
              </a:solidFill>
              <a:effectLst/>
              <a:uFillTx/>
              <a:latin typeface="Arial"/>
            </a:endParaRPr>
          </a:p>
        </p:txBody>
      </p:sp>
      <p:sp>
        <p:nvSpPr>
          <p:cNvPr id="435" name=""/>
          <p:cNvSpPr/>
          <p:nvPr/>
        </p:nvSpPr>
        <p:spPr>
          <a:xfrm>
            <a:off x="6492960" y="6227640"/>
            <a:ext cx="66780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FY2006</a:t>
            </a:r>
            <a:endParaRPr b="0" lang="en-IN" sz="1500" strike="noStrike" u="none">
              <a:solidFill>
                <a:srgbClr val="000000"/>
              </a:solidFill>
              <a:effectLst/>
              <a:uFillTx/>
              <a:latin typeface="Arial"/>
            </a:endParaRPr>
          </a:p>
        </p:txBody>
      </p:sp>
      <p:sp>
        <p:nvSpPr>
          <p:cNvPr id="436" name=""/>
          <p:cNvSpPr/>
          <p:nvPr/>
        </p:nvSpPr>
        <p:spPr>
          <a:xfrm>
            <a:off x="7918560" y="6227640"/>
            <a:ext cx="667800" cy="2289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500" strike="noStrike" u="none">
                <a:solidFill>
                  <a:srgbClr val="ffffff"/>
                </a:solidFill>
                <a:effectLst/>
                <a:uFillTx/>
                <a:latin typeface="Arial"/>
              </a:rPr>
              <a:t>FY2007</a:t>
            </a:r>
            <a:endParaRPr b="0" lang="en-IN" sz="1500" strike="noStrike" u="none">
              <a:solidFill>
                <a:srgbClr val="000000"/>
              </a:solidFill>
              <a:effectLst/>
              <a:uFillTx/>
              <a:latin typeface="Arial"/>
            </a:endParaRPr>
          </a:p>
        </p:txBody>
      </p:sp>
      <p:sp>
        <p:nvSpPr>
          <p:cNvPr id="437" name=""/>
          <p:cNvSpPr/>
          <p:nvPr/>
        </p:nvSpPr>
        <p:spPr>
          <a:xfrm rot="16200000">
            <a:off x="5400" y="3939840"/>
            <a:ext cx="216432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Billions of Dollars</a:t>
            </a:r>
            <a:endParaRPr b="0" lang="en-IN" sz="2000" strike="noStrike" u="none">
              <a:solidFill>
                <a:srgbClr val="000000"/>
              </a:solidFill>
              <a:effectLst/>
              <a:uFillTx/>
              <a:latin typeface="Arial"/>
            </a:endParaRPr>
          </a:p>
        </p:txBody>
      </p:sp>
      <p:grpSp>
        <p:nvGrpSpPr>
          <p:cNvPr id="438" name=""/>
          <p:cNvGrpSpPr/>
          <p:nvPr/>
        </p:nvGrpSpPr>
        <p:grpSpPr>
          <a:xfrm>
            <a:off x="2224080" y="5051160"/>
            <a:ext cx="3507840" cy="670320"/>
            <a:chOff x="2224080" y="5051160"/>
            <a:chExt cx="3507840" cy="670320"/>
          </a:xfrm>
        </p:grpSpPr>
        <p:sp>
          <p:nvSpPr>
            <p:cNvPr id="439" name=""/>
            <p:cNvSpPr/>
            <p:nvPr/>
          </p:nvSpPr>
          <p:spPr>
            <a:xfrm>
              <a:off x="3962880" y="5051160"/>
              <a:ext cx="57672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FY 2003</a:t>
              </a:r>
              <a:endParaRPr b="0" lang="en-IN" sz="1200" strike="noStrike" u="none">
                <a:solidFill>
                  <a:srgbClr val="000000"/>
                </a:solidFill>
                <a:effectLst/>
                <a:uFillTx/>
                <a:latin typeface="Arial"/>
              </a:endParaRPr>
            </a:p>
          </p:txBody>
        </p:sp>
        <p:sp>
          <p:nvSpPr>
            <p:cNvPr id="440" name=""/>
            <p:cNvSpPr/>
            <p:nvPr/>
          </p:nvSpPr>
          <p:spPr>
            <a:xfrm>
              <a:off x="4558320" y="5051160"/>
              <a:ext cx="57672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FY 2007</a:t>
              </a:r>
              <a:endParaRPr b="0" lang="en-IN" sz="1200" strike="noStrike" u="none">
                <a:solidFill>
                  <a:srgbClr val="000000"/>
                </a:solidFill>
                <a:effectLst/>
                <a:uFillTx/>
                <a:latin typeface="Arial"/>
              </a:endParaRPr>
            </a:p>
          </p:txBody>
        </p:sp>
        <p:sp>
          <p:nvSpPr>
            <p:cNvPr id="441" name=""/>
            <p:cNvSpPr/>
            <p:nvPr/>
          </p:nvSpPr>
          <p:spPr>
            <a:xfrm>
              <a:off x="5231520" y="5051160"/>
              <a:ext cx="50040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 Chg.</a:t>
              </a:r>
              <a:endParaRPr b="0" lang="en-IN" sz="1200" strike="noStrike" u="none">
                <a:solidFill>
                  <a:srgbClr val="000000"/>
                </a:solidFill>
                <a:effectLst/>
                <a:uFillTx/>
                <a:latin typeface="Arial"/>
              </a:endParaRPr>
            </a:p>
          </p:txBody>
        </p:sp>
        <p:sp>
          <p:nvSpPr>
            <p:cNvPr id="442" name=""/>
            <p:cNvSpPr/>
            <p:nvPr/>
          </p:nvSpPr>
          <p:spPr>
            <a:xfrm>
              <a:off x="2224080" y="5293440"/>
              <a:ext cx="1457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NIH Nominal Funding</a:t>
              </a:r>
              <a:endParaRPr b="0" lang="en-IN" sz="1200" strike="noStrike" u="none">
                <a:solidFill>
                  <a:srgbClr val="000000"/>
                </a:solidFill>
                <a:effectLst/>
                <a:uFillTx/>
                <a:latin typeface="Arial"/>
              </a:endParaRPr>
            </a:p>
          </p:txBody>
        </p:sp>
        <p:sp>
          <p:nvSpPr>
            <p:cNvPr id="443" name=""/>
            <p:cNvSpPr/>
            <p:nvPr/>
          </p:nvSpPr>
          <p:spPr>
            <a:xfrm>
              <a:off x="4235400" y="5293440"/>
              <a:ext cx="2973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26.7</a:t>
              </a:r>
              <a:endParaRPr b="0" lang="en-IN" sz="1200" strike="noStrike" u="none">
                <a:solidFill>
                  <a:srgbClr val="000000"/>
                </a:solidFill>
                <a:effectLst/>
                <a:uFillTx/>
                <a:latin typeface="Arial"/>
              </a:endParaRPr>
            </a:p>
          </p:txBody>
        </p:sp>
        <p:sp>
          <p:nvSpPr>
            <p:cNvPr id="444" name=""/>
            <p:cNvSpPr/>
            <p:nvPr/>
          </p:nvSpPr>
          <p:spPr>
            <a:xfrm>
              <a:off x="4830840" y="5293440"/>
              <a:ext cx="2973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28.2</a:t>
              </a:r>
              <a:endParaRPr b="0" lang="en-IN" sz="1200" strike="noStrike" u="none">
                <a:solidFill>
                  <a:srgbClr val="000000"/>
                </a:solidFill>
                <a:effectLst/>
                <a:uFillTx/>
                <a:latin typeface="Arial"/>
              </a:endParaRPr>
            </a:p>
          </p:txBody>
        </p:sp>
        <p:sp>
          <p:nvSpPr>
            <p:cNvPr id="445" name=""/>
            <p:cNvSpPr/>
            <p:nvPr/>
          </p:nvSpPr>
          <p:spPr>
            <a:xfrm>
              <a:off x="5378400" y="5293440"/>
              <a:ext cx="34812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5.5%</a:t>
              </a:r>
              <a:endParaRPr b="0" lang="en-IN" sz="1200" strike="noStrike" u="none">
                <a:solidFill>
                  <a:srgbClr val="000000"/>
                </a:solidFill>
                <a:effectLst/>
                <a:uFillTx/>
                <a:latin typeface="Arial"/>
              </a:endParaRPr>
            </a:p>
          </p:txBody>
        </p:sp>
        <p:sp>
          <p:nvSpPr>
            <p:cNvPr id="446" name=""/>
            <p:cNvSpPr/>
            <p:nvPr/>
          </p:nvSpPr>
          <p:spPr>
            <a:xfrm>
              <a:off x="2225160" y="5538240"/>
              <a:ext cx="13053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Adjusted by BRDPI</a:t>
              </a:r>
              <a:endParaRPr b="0" lang="en-IN" sz="1200" strike="noStrike" u="none">
                <a:solidFill>
                  <a:srgbClr val="000000"/>
                </a:solidFill>
                <a:effectLst/>
                <a:uFillTx/>
                <a:latin typeface="Arial"/>
              </a:endParaRPr>
            </a:p>
          </p:txBody>
        </p:sp>
        <p:sp>
          <p:nvSpPr>
            <p:cNvPr id="447" name=""/>
            <p:cNvSpPr/>
            <p:nvPr/>
          </p:nvSpPr>
          <p:spPr>
            <a:xfrm>
              <a:off x="4235400" y="5538240"/>
              <a:ext cx="2973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26.7</a:t>
              </a:r>
              <a:endParaRPr b="0" lang="en-IN" sz="1200" strike="noStrike" u="none">
                <a:solidFill>
                  <a:srgbClr val="000000"/>
                </a:solidFill>
                <a:effectLst/>
                <a:uFillTx/>
                <a:latin typeface="Arial"/>
              </a:endParaRPr>
            </a:p>
          </p:txBody>
        </p:sp>
        <p:sp>
          <p:nvSpPr>
            <p:cNvPr id="448" name=""/>
            <p:cNvSpPr/>
            <p:nvPr/>
          </p:nvSpPr>
          <p:spPr>
            <a:xfrm>
              <a:off x="4830840" y="5538240"/>
              <a:ext cx="29736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24.8</a:t>
              </a:r>
              <a:endParaRPr b="0" lang="en-IN" sz="1200" strike="noStrike" u="none">
                <a:solidFill>
                  <a:srgbClr val="000000"/>
                </a:solidFill>
                <a:effectLst/>
                <a:uFillTx/>
                <a:latin typeface="Arial"/>
              </a:endParaRPr>
            </a:p>
          </p:txBody>
        </p:sp>
        <p:sp>
          <p:nvSpPr>
            <p:cNvPr id="449" name=""/>
            <p:cNvSpPr/>
            <p:nvPr/>
          </p:nvSpPr>
          <p:spPr>
            <a:xfrm>
              <a:off x="5329800" y="5538240"/>
              <a:ext cx="39888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-7.3%</a:t>
              </a:r>
              <a:endParaRPr b="0" lang="en-IN" sz="1200" strike="noStrike" u="none">
                <a:solidFill>
                  <a:srgbClr val="000000"/>
                </a:solidFill>
                <a:effectLst/>
                <a:uFillTx/>
                <a:latin typeface="Arial"/>
              </a:endParaRPr>
            </a:p>
          </p:txBody>
        </p:sp>
      </p:grpSp>
      <p:sp>
        <p:nvSpPr>
          <p:cNvPr id="450" name=""/>
          <p:cNvSpPr/>
          <p:nvPr/>
        </p:nvSpPr>
        <p:spPr>
          <a:xfrm>
            <a:off x="2603520" y="3527280"/>
            <a:ext cx="5691240" cy="1208160"/>
          </a:xfrm>
          <a:custGeom>
            <a:avLst/>
            <a:gdLst/>
            <a:ahLst/>
            <a:rect l="l" t="t" r="r" b="b"/>
            <a:pathLst>
              <a:path w="423" h="100">
                <a:moveTo>
                  <a:pt x="0" y="17"/>
                </a:moveTo>
                <a:lnTo>
                  <a:pt x="106" y="0"/>
                </a:lnTo>
                <a:lnTo>
                  <a:pt x="212" y="17"/>
                </a:lnTo>
                <a:lnTo>
                  <a:pt x="317" y="46"/>
                </a:lnTo>
                <a:lnTo>
                  <a:pt x="423" y="100"/>
                </a:lnTo>
              </a:path>
            </a:pathLst>
          </a:custGeom>
          <a:noFill/>
          <a:ln w="76320">
            <a:solidFill>
              <a:srgbClr val="ff505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451" name="PlaceHolder 1"/>
          <p:cNvSpPr>
            <a:spLocks noGrp="1"/>
          </p:cNvSpPr>
          <p:nvPr>
            <p:ph type="title"/>
          </p:nvPr>
        </p:nvSpPr>
        <p:spPr>
          <a:xfrm>
            <a:off x="425520" y="283680"/>
            <a:ext cx="9051840" cy="65268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The Budget Cycling Phenomenon:</a:t>
            </a:r>
            <a:br>
              <a:rPr sz="2800"/>
            </a:br>
            <a:r>
              <a:rPr b="0" i="1" lang="en-IN" sz="2800" strike="noStrike" u="none">
                <a:solidFill>
                  <a:srgbClr val="ffcc00"/>
                </a:solidFill>
                <a:effectLst/>
                <a:uFillTx/>
                <a:latin typeface="Arial"/>
              </a:rPr>
              <a:t>What Funds are Available in any One Year? </a:t>
            </a:r>
            <a:endParaRPr b="1" lang="en-IN" sz="2800" strike="noStrike" u="none">
              <a:solidFill>
                <a:srgbClr val="ffffff"/>
              </a:solidFill>
              <a:effectLst/>
              <a:uFillTx/>
              <a:latin typeface="Myriad Web"/>
            </a:endParaRPr>
          </a:p>
        </p:txBody>
      </p:sp>
      <p:sp>
        <p:nvSpPr>
          <p:cNvPr id="452" name=""/>
          <p:cNvSpPr/>
          <p:nvPr/>
        </p:nvSpPr>
        <p:spPr>
          <a:xfrm>
            <a:off x="3614760" y="3411360"/>
            <a:ext cx="942840" cy="2727360"/>
          </a:xfrm>
          <a:prstGeom prst="rect">
            <a:avLst/>
          </a:prstGeom>
          <a:gradFill rotWithShape="0">
            <a:gsLst>
              <a:gs pos="0">
                <a:srgbClr val="282828"/>
              </a:gs>
              <a:gs pos="50000">
                <a:srgbClr val="c0c0c0"/>
              </a:gs>
              <a:gs pos="100000">
                <a:srgbClr val="282828"/>
              </a:gs>
            </a:gsLst>
            <a:lin ang="10800000"/>
          </a:gra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53" name=""/>
          <p:cNvSpPr/>
          <p:nvPr/>
        </p:nvSpPr>
        <p:spPr>
          <a:xfrm>
            <a:off x="3629160" y="2481120"/>
            <a:ext cx="928440" cy="944640"/>
          </a:xfrm>
          <a:prstGeom prst="rect">
            <a:avLst/>
          </a:prstGeom>
          <a:gradFill rotWithShape="0">
            <a:gsLst>
              <a:gs pos="0">
                <a:srgbClr val="cc3300"/>
              </a:gs>
              <a:gs pos="50000">
                <a:srgbClr val="ffcc00"/>
              </a:gs>
              <a:gs pos="100000">
                <a:srgbClr val="cc3300"/>
              </a:gs>
            </a:gsLst>
            <a:lin ang="10800000"/>
          </a:gradFill>
          <a:ln w="9360">
            <a:solidFill>
              <a:srgbClr val="cc33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54" name=""/>
          <p:cNvSpPr/>
          <p:nvPr/>
        </p:nvSpPr>
        <p:spPr>
          <a:xfrm>
            <a:off x="3614760" y="2235240"/>
            <a:ext cx="957240" cy="245880"/>
          </a:xfrm>
          <a:prstGeom prst="rect">
            <a:avLst/>
          </a:prstGeom>
          <a:gradFill rotWithShape="0">
            <a:gsLst>
              <a:gs pos="0">
                <a:srgbClr val="009999"/>
              </a:gs>
              <a:gs pos="50000">
                <a:srgbClr val="ccffff"/>
              </a:gs>
              <a:gs pos="100000">
                <a:srgbClr val="009999"/>
              </a:gs>
            </a:gsLst>
            <a:lin ang="10800000"/>
          </a:gradFill>
          <a:ln w="9360">
            <a:solidFill>
              <a:srgbClr val="009999"/>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55" name=""/>
          <p:cNvSpPr/>
          <p:nvPr/>
        </p:nvSpPr>
        <p:spPr>
          <a:xfrm>
            <a:off x="2686680" y="6146640"/>
            <a:ext cx="297468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Arial"/>
              </a:rPr>
              <a:t>NIH Appropriations</a:t>
            </a:r>
            <a:endParaRPr b="0" lang="en-IN" sz="2400" strike="noStrike" u="none">
              <a:solidFill>
                <a:srgbClr val="000000"/>
              </a:solidFill>
              <a:effectLst/>
              <a:uFillTx/>
              <a:latin typeface="Arial"/>
            </a:endParaRPr>
          </a:p>
        </p:txBody>
      </p:sp>
      <p:sp>
        <p:nvSpPr>
          <p:cNvPr id="456" name=""/>
          <p:cNvSpPr/>
          <p:nvPr/>
        </p:nvSpPr>
        <p:spPr>
          <a:xfrm>
            <a:off x="1170720" y="4772160"/>
            <a:ext cx="218916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Committed Funds</a:t>
            </a:r>
            <a:endParaRPr b="0" lang="en-IN" sz="2000" strike="noStrike" u="none">
              <a:solidFill>
                <a:srgbClr val="000000"/>
              </a:solidFill>
              <a:effectLst/>
              <a:uFillTx/>
              <a:latin typeface="Arial"/>
            </a:endParaRPr>
          </a:p>
        </p:txBody>
      </p:sp>
      <p:sp>
        <p:nvSpPr>
          <p:cNvPr id="457" name=""/>
          <p:cNvSpPr/>
          <p:nvPr/>
        </p:nvSpPr>
        <p:spPr>
          <a:xfrm>
            <a:off x="927720" y="2790720"/>
            <a:ext cx="245808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Uncommitted Funds</a:t>
            </a:r>
            <a:endParaRPr b="0" lang="en-IN" sz="2000" strike="noStrike" u="none">
              <a:solidFill>
                <a:srgbClr val="000000"/>
              </a:solidFill>
              <a:effectLst/>
              <a:uFillTx/>
              <a:latin typeface="Arial"/>
            </a:endParaRPr>
          </a:p>
        </p:txBody>
      </p:sp>
      <p:sp>
        <p:nvSpPr>
          <p:cNvPr id="458" name=""/>
          <p:cNvSpPr/>
          <p:nvPr/>
        </p:nvSpPr>
        <p:spPr>
          <a:xfrm>
            <a:off x="1387440" y="2187720"/>
            <a:ext cx="216072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Budget Increase</a:t>
            </a:r>
            <a:endParaRPr b="0" lang="en-IN" sz="2000" strike="noStrike" u="none">
              <a:solidFill>
                <a:srgbClr val="000000"/>
              </a:solidFill>
              <a:effectLst/>
              <a:uFillTx/>
              <a:latin typeface="Arial"/>
            </a:endParaRPr>
          </a:p>
        </p:txBody>
      </p:sp>
      <p:sp>
        <p:nvSpPr>
          <p:cNvPr id="459" name=""/>
          <p:cNvSpPr/>
          <p:nvPr/>
        </p:nvSpPr>
        <p:spPr>
          <a:xfrm>
            <a:off x="5692680" y="2946240"/>
            <a:ext cx="2656440" cy="642600"/>
          </a:xfrm>
          <a:prstGeom prst="rect">
            <a:avLst/>
          </a:prstGeom>
          <a:noFill/>
          <a:ln w="0">
            <a:noFill/>
          </a:ln>
        </p:spPr>
        <p:style>
          <a:lnRef idx="0"/>
          <a:fillRef idx="0"/>
          <a:effectRef idx="0"/>
          <a:fontRef idx="minor"/>
        </p:style>
        <p:txBody>
          <a:bodyPr wrap="none" lIns="90000" rIns="90000" tIns="46800" bIns="4680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From ending grants </a:t>
            </a:r>
            <a:endParaRPr b="0" lang="en-IN" sz="2000" strike="noStrike" u="none">
              <a:solidFill>
                <a:srgbClr val="000000"/>
              </a:solidFill>
              <a:effectLst/>
              <a:uFillTx/>
              <a:latin typeface="Arial"/>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started 4-5 years ago </a:t>
            </a:r>
            <a:endParaRPr b="0" lang="en-IN" sz="2000" strike="noStrike" u="none">
              <a:solidFill>
                <a:srgbClr val="000000"/>
              </a:solidFill>
              <a:effectLst/>
              <a:uFillTx/>
              <a:latin typeface="Arial"/>
            </a:endParaRPr>
          </a:p>
        </p:txBody>
      </p:sp>
      <p:sp>
        <p:nvSpPr>
          <p:cNvPr id="460" name=""/>
          <p:cNvSpPr/>
          <p:nvPr/>
        </p:nvSpPr>
        <p:spPr>
          <a:xfrm>
            <a:off x="5692320" y="2090880"/>
            <a:ext cx="2556720" cy="642600"/>
          </a:xfrm>
          <a:prstGeom prst="rect">
            <a:avLst/>
          </a:prstGeom>
          <a:noFill/>
          <a:ln w="0">
            <a:noFill/>
          </a:ln>
        </p:spPr>
        <p:style>
          <a:lnRef idx="0"/>
          <a:fillRef idx="0"/>
          <a:effectRef idx="0"/>
          <a:fontRef idx="minor"/>
        </p:style>
        <p:txBody>
          <a:bodyPr wrap="none" lIns="90000" rIns="90000" tIns="46800" bIns="4680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From current year to </a:t>
            </a:r>
            <a:endParaRPr b="0" lang="en-IN" sz="2000" strike="noStrike" u="none">
              <a:solidFill>
                <a:srgbClr val="000000"/>
              </a:solidFill>
              <a:effectLst/>
              <a:uFillTx/>
              <a:latin typeface="Arial"/>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previous year</a:t>
            </a:r>
            <a:endParaRPr b="0" lang="en-IN" sz="2000" strike="noStrike" u="none">
              <a:solidFill>
                <a:srgbClr val="000000"/>
              </a:solidFill>
              <a:effectLst/>
              <a:uFillTx/>
              <a:latin typeface="Arial"/>
            </a:endParaRPr>
          </a:p>
        </p:txBody>
      </p:sp>
      <p:sp>
        <p:nvSpPr>
          <p:cNvPr id="461" name=""/>
          <p:cNvSpPr/>
          <p:nvPr/>
        </p:nvSpPr>
        <p:spPr>
          <a:xfrm>
            <a:off x="5695560" y="4716360"/>
            <a:ext cx="217548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Continuing grants</a:t>
            </a:r>
            <a:endParaRPr b="0" lang="en-IN" sz="2000" strike="noStrike" u="none">
              <a:solidFill>
                <a:srgbClr val="000000"/>
              </a:solidFill>
              <a:effectLst/>
              <a:uFillTx/>
              <a:latin typeface="Arial"/>
            </a:endParaRPr>
          </a:p>
        </p:txBody>
      </p:sp>
      <p:sp>
        <p:nvSpPr>
          <p:cNvPr id="462" name=""/>
          <p:cNvSpPr/>
          <p:nvPr/>
        </p:nvSpPr>
        <p:spPr>
          <a:xfrm>
            <a:off x="5000760" y="2957400"/>
            <a:ext cx="519120" cy="466920"/>
          </a:xfrm>
          <a:prstGeom prst="rightArrow">
            <a:avLst>
              <a:gd name="adj1" fmla="val 50000"/>
              <a:gd name="adj2" fmla="val 27795"/>
            </a:avLst>
          </a:prstGeom>
          <a:gradFill rotWithShape="0">
            <a:gsLst>
              <a:gs pos="0">
                <a:srgbClr val="ff9900">
                  <a:alpha val="90196"/>
                </a:srgbClr>
              </a:gs>
              <a:gs pos="50000">
                <a:srgbClr val="feba54"/>
              </a:gs>
              <a:gs pos="100000">
                <a:srgbClr val="ff9900">
                  <a:alpha val="90196"/>
                </a:srgbClr>
              </a:gs>
            </a:gsLst>
            <a:lin ang="5400000"/>
          </a:gra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63" name=""/>
          <p:cNvSpPr/>
          <p:nvPr/>
        </p:nvSpPr>
        <p:spPr>
          <a:xfrm>
            <a:off x="5019840" y="4691160"/>
            <a:ext cx="519120" cy="409320"/>
          </a:xfrm>
          <a:prstGeom prst="rightArrow">
            <a:avLst>
              <a:gd name="adj1" fmla="val 50000"/>
              <a:gd name="adj2" fmla="val 31706"/>
            </a:avLst>
          </a:prstGeom>
          <a:gradFill rotWithShape="0">
            <a:gsLst>
              <a:gs pos="0">
                <a:srgbClr val="3b3b3b"/>
              </a:gs>
              <a:gs pos="50000">
                <a:srgbClr val="808080"/>
              </a:gs>
              <a:gs pos="100000">
                <a:srgbClr val="3b3b3b"/>
              </a:gs>
            </a:gsLst>
            <a:lin ang="5400000"/>
          </a:gra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64" name=""/>
          <p:cNvSpPr/>
          <p:nvPr/>
        </p:nvSpPr>
        <p:spPr>
          <a:xfrm>
            <a:off x="4803840" y="2249640"/>
            <a:ext cx="203040" cy="3846240"/>
          </a:xfrm>
          <a:custGeom>
            <a:avLst/>
            <a:gdLst>
              <a:gd name="textAreaLeft" fmla="*/ 0 w 203040"/>
              <a:gd name="textAreaRight" fmla="*/ 73440 w 203040"/>
              <a:gd name="textAreaTop" fmla="*/ 100080 h 3846240"/>
              <a:gd name="textAreaBottom" fmla="*/ 3746160 h 384624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9360">
            <a:solidFill>
              <a:srgbClr val="ffff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465" name=""/>
          <p:cNvSpPr/>
          <p:nvPr/>
        </p:nvSpPr>
        <p:spPr>
          <a:xfrm>
            <a:off x="5019840" y="2176560"/>
            <a:ext cx="519120" cy="466560"/>
          </a:xfrm>
          <a:prstGeom prst="rightArrow">
            <a:avLst>
              <a:gd name="adj1" fmla="val 50000"/>
              <a:gd name="adj2" fmla="val 27816"/>
            </a:avLst>
          </a:prstGeom>
          <a:solidFill>
            <a:srgbClr val="bbe0e3"/>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466" name="PlaceHolder 1"/>
          <p:cNvSpPr>
            <a:spLocks noGrp="1"/>
          </p:cNvSpPr>
          <p:nvPr>
            <p:ph type="title"/>
          </p:nvPr>
        </p:nvSpPr>
        <p:spPr>
          <a:xfrm>
            <a:off x="609120" y="343080"/>
            <a:ext cx="8534520" cy="83808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NIH Congressional Appropriations </a:t>
            </a:r>
            <a:br>
              <a:rPr sz="3200"/>
            </a:br>
            <a:endParaRPr b="1" lang="en-IN" sz="3200" strike="noStrike" u="none">
              <a:solidFill>
                <a:srgbClr val="ffffff"/>
              </a:solidFill>
              <a:effectLst/>
              <a:uFillTx/>
              <a:latin typeface="Myriad Web"/>
            </a:endParaRPr>
          </a:p>
        </p:txBody>
      </p:sp>
      <p:sp>
        <p:nvSpPr>
          <p:cNvPr id="467" name=""/>
          <p:cNvSpPr/>
          <p:nvPr/>
        </p:nvSpPr>
        <p:spPr>
          <a:xfrm rot="16200000">
            <a:off x="7920" y="3396960"/>
            <a:ext cx="221004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Billions of Dollars</a:t>
            </a:r>
            <a:endParaRPr b="0" lang="en-IN" sz="1800" strike="noStrike" u="none">
              <a:solidFill>
                <a:srgbClr val="000000"/>
              </a:solidFill>
              <a:effectLst/>
              <a:uFillTx/>
              <a:latin typeface="Arial"/>
            </a:endParaRPr>
          </a:p>
        </p:txBody>
      </p:sp>
      <p:sp>
        <p:nvSpPr>
          <p:cNvPr id="468" name=""/>
          <p:cNvSpPr/>
          <p:nvPr/>
        </p:nvSpPr>
        <p:spPr>
          <a:xfrm>
            <a:off x="2071800" y="5943600"/>
            <a:ext cx="1440" cy="380880"/>
          </a:xfrm>
          <a:prstGeom prst="line">
            <a:avLst/>
          </a:prstGeom>
          <a:ln w="38160">
            <a:solidFill>
              <a:srgbClr val="ffcc00"/>
            </a:solidFill>
            <a:miter/>
            <a:head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69" name=""/>
          <p:cNvSpPr/>
          <p:nvPr/>
        </p:nvSpPr>
        <p:spPr>
          <a:xfrm>
            <a:off x="2071800" y="6324480"/>
            <a:ext cx="3352680" cy="1800"/>
          </a:xfrm>
          <a:prstGeom prst="line">
            <a:avLst/>
          </a:prstGeom>
          <a:ln w="38160">
            <a:solidFill>
              <a:srgbClr val="ffcc00"/>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470" name=""/>
          <p:cNvSpPr/>
          <p:nvPr/>
        </p:nvSpPr>
        <p:spPr>
          <a:xfrm>
            <a:off x="5424480" y="5943600"/>
            <a:ext cx="1440" cy="380880"/>
          </a:xfrm>
          <a:prstGeom prst="line">
            <a:avLst/>
          </a:prstGeom>
          <a:ln w="38160">
            <a:solidFill>
              <a:srgbClr val="ffcc00"/>
            </a:solidFill>
            <a:miter/>
            <a:head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1" name=""/>
          <p:cNvSpPr/>
          <p:nvPr/>
        </p:nvSpPr>
        <p:spPr>
          <a:xfrm>
            <a:off x="2224080" y="5943600"/>
            <a:ext cx="3048120" cy="36828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cc00"/>
                </a:solidFill>
                <a:effectLst/>
                <a:uFillTx/>
                <a:latin typeface="Arial"/>
              </a:rPr>
              <a:t>DOUBLING</a:t>
            </a:r>
            <a:endParaRPr b="0" lang="en-IN" sz="1800" strike="noStrike" u="none">
              <a:solidFill>
                <a:srgbClr val="000000"/>
              </a:solidFill>
              <a:effectLst/>
              <a:uFillTx/>
              <a:latin typeface="Arial"/>
            </a:endParaRPr>
          </a:p>
        </p:txBody>
      </p:sp>
      <p:sp>
        <p:nvSpPr>
          <p:cNvPr id="472" name=""/>
          <p:cNvSpPr/>
          <p:nvPr/>
        </p:nvSpPr>
        <p:spPr>
          <a:xfrm>
            <a:off x="1897200" y="4984920"/>
            <a:ext cx="7111800" cy="239400"/>
          </a:xfrm>
          <a:custGeom>
            <a:avLst/>
            <a:gdLst/>
            <a:ahLst/>
            <a:rect l="l" t="t" r="r" b="b"/>
            <a:pathLst>
              <a:path w="4480" h="151">
                <a:moveTo>
                  <a:pt x="0" y="151"/>
                </a:moveTo>
                <a:lnTo>
                  <a:pt x="242" y="0"/>
                </a:lnTo>
                <a:lnTo>
                  <a:pt x="4480" y="0"/>
                </a:lnTo>
                <a:lnTo>
                  <a:pt x="4238" y="151"/>
                </a:lnTo>
                <a:lnTo>
                  <a:pt x="0" y="151"/>
                </a:lnTo>
                <a:close/>
              </a:path>
            </a:pathLst>
          </a:custGeom>
          <a:solidFill>
            <a:srgbClr val="80808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3" name=""/>
          <p:cNvSpPr/>
          <p:nvPr/>
        </p:nvSpPr>
        <p:spPr>
          <a:xfrm>
            <a:off x="1897200" y="4984920"/>
            <a:ext cx="7111800" cy="239400"/>
          </a:xfrm>
          <a:custGeom>
            <a:avLst/>
            <a:gdLst/>
            <a:ahLst/>
            <a:rect l="l" t="t" r="r" b="b"/>
            <a:pathLst>
              <a:path w="890" h="36">
                <a:moveTo>
                  <a:pt x="0" y="36"/>
                </a:moveTo>
                <a:lnTo>
                  <a:pt x="48" y="0"/>
                </a:lnTo>
                <a:lnTo>
                  <a:pt x="890"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4" name=""/>
          <p:cNvSpPr/>
          <p:nvPr/>
        </p:nvSpPr>
        <p:spPr>
          <a:xfrm>
            <a:off x="1897200" y="4419720"/>
            <a:ext cx="7111800" cy="245880"/>
          </a:xfrm>
          <a:custGeom>
            <a:avLst/>
            <a:gdLst/>
            <a:ahLst/>
            <a:rect l="l" t="t" r="r" b="b"/>
            <a:pathLst>
              <a:path w="890" h="37">
                <a:moveTo>
                  <a:pt x="0" y="37"/>
                </a:moveTo>
                <a:lnTo>
                  <a:pt x="48" y="0"/>
                </a:lnTo>
                <a:lnTo>
                  <a:pt x="890" y="0"/>
                </a:lnTo>
              </a:path>
            </a:pathLst>
          </a:custGeom>
          <a:noFill/>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5" name=""/>
          <p:cNvSpPr/>
          <p:nvPr/>
        </p:nvSpPr>
        <p:spPr>
          <a:xfrm>
            <a:off x="1897200" y="3862440"/>
            <a:ext cx="7111800" cy="237960"/>
          </a:xfrm>
          <a:custGeom>
            <a:avLst/>
            <a:gdLst/>
            <a:ahLst/>
            <a:rect l="l" t="t" r="r" b="b"/>
            <a:pathLst>
              <a:path w="890" h="36">
                <a:moveTo>
                  <a:pt x="0" y="36"/>
                </a:moveTo>
                <a:lnTo>
                  <a:pt x="48" y="0"/>
                </a:lnTo>
                <a:lnTo>
                  <a:pt x="890" y="0"/>
                </a:lnTo>
              </a:path>
            </a:pathLst>
          </a:custGeom>
          <a:noFill/>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6" name=""/>
          <p:cNvSpPr/>
          <p:nvPr/>
        </p:nvSpPr>
        <p:spPr>
          <a:xfrm>
            <a:off x="1897200" y="3303720"/>
            <a:ext cx="7111800" cy="239760"/>
          </a:xfrm>
          <a:custGeom>
            <a:avLst/>
            <a:gdLst/>
            <a:ahLst/>
            <a:rect l="l" t="t" r="r" b="b"/>
            <a:pathLst>
              <a:path w="890" h="36">
                <a:moveTo>
                  <a:pt x="0" y="36"/>
                </a:moveTo>
                <a:lnTo>
                  <a:pt x="48" y="0"/>
                </a:lnTo>
                <a:lnTo>
                  <a:pt x="890" y="0"/>
                </a:lnTo>
              </a:path>
            </a:pathLst>
          </a:custGeom>
          <a:noFill/>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7" name=""/>
          <p:cNvSpPr/>
          <p:nvPr/>
        </p:nvSpPr>
        <p:spPr>
          <a:xfrm>
            <a:off x="1897200" y="2744640"/>
            <a:ext cx="7111800" cy="239760"/>
          </a:xfrm>
          <a:custGeom>
            <a:avLst/>
            <a:gdLst/>
            <a:ahLst/>
            <a:rect l="l" t="t" r="r" b="b"/>
            <a:pathLst>
              <a:path w="890" h="36">
                <a:moveTo>
                  <a:pt x="0" y="36"/>
                </a:moveTo>
                <a:lnTo>
                  <a:pt x="48" y="0"/>
                </a:lnTo>
                <a:lnTo>
                  <a:pt x="890" y="0"/>
                </a:lnTo>
              </a:path>
            </a:pathLst>
          </a:custGeom>
          <a:noFill/>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8" name=""/>
          <p:cNvSpPr/>
          <p:nvPr/>
        </p:nvSpPr>
        <p:spPr>
          <a:xfrm>
            <a:off x="1897200" y="2181240"/>
            <a:ext cx="7111800" cy="244440"/>
          </a:xfrm>
          <a:custGeom>
            <a:avLst/>
            <a:gdLst/>
            <a:ahLst/>
            <a:rect l="l" t="t" r="r" b="b"/>
            <a:pathLst>
              <a:path w="890" h="37">
                <a:moveTo>
                  <a:pt x="0" y="37"/>
                </a:moveTo>
                <a:lnTo>
                  <a:pt x="48" y="0"/>
                </a:lnTo>
                <a:lnTo>
                  <a:pt x="890" y="0"/>
                </a:lnTo>
              </a:path>
            </a:pathLst>
          </a:custGeom>
          <a:noFill/>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79" name=""/>
          <p:cNvSpPr/>
          <p:nvPr/>
        </p:nvSpPr>
        <p:spPr>
          <a:xfrm>
            <a:off x="1897200" y="1622520"/>
            <a:ext cx="7111800" cy="239760"/>
          </a:xfrm>
          <a:custGeom>
            <a:avLst/>
            <a:gdLst/>
            <a:ahLst/>
            <a:rect l="l" t="t" r="r" b="b"/>
            <a:pathLst>
              <a:path w="890" h="36">
                <a:moveTo>
                  <a:pt x="0" y="36"/>
                </a:moveTo>
                <a:lnTo>
                  <a:pt x="48" y="0"/>
                </a:lnTo>
                <a:lnTo>
                  <a:pt x="890"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0" name=""/>
          <p:cNvSpPr/>
          <p:nvPr/>
        </p:nvSpPr>
        <p:spPr>
          <a:xfrm>
            <a:off x="1897200" y="4984920"/>
            <a:ext cx="7111800" cy="239400"/>
          </a:xfrm>
          <a:custGeom>
            <a:avLst/>
            <a:gdLst/>
            <a:ahLst/>
            <a:rect l="l" t="t" r="r" b="b"/>
            <a:pathLst>
              <a:path w="4480" h="151">
                <a:moveTo>
                  <a:pt x="4480" y="0"/>
                </a:moveTo>
                <a:lnTo>
                  <a:pt x="4238" y="151"/>
                </a:lnTo>
                <a:lnTo>
                  <a:pt x="0" y="151"/>
                </a:lnTo>
                <a:lnTo>
                  <a:pt x="242" y="0"/>
                </a:lnTo>
                <a:lnTo>
                  <a:pt x="4480" y="0"/>
                </a:lnTo>
                <a:close/>
              </a:path>
            </a:pathLst>
          </a:custGeom>
          <a:noFill/>
          <a:ln w="792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1" name=""/>
          <p:cNvSpPr/>
          <p:nvPr/>
        </p:nvSpPr>
        <p:spPr>
          <a:xfrm>
            <a:off x="1897200" y="1622520"/>
            <a:ext cx="384120" cy="3601800"/>
          </a:xfrm>
          <a:custGeom>
            <a:avLst/>
            <a:gdLst/>
            <a:ahLst/>
            <a:rect l="l" t="t" r="r" b="b"/>
            <a:pathLst>
              <a:path w="242" h="2269">
                <a:moveTo>
                  <a:pt x="0" y="2269"/>
                </a:moveTo>
                <a:lnTo>
                  <a:pt x="0" y="151"/>
                </a:lnTo>
                <a:lnTo>
                  <a:pt x="242" y="0"/>
                </a:lnTo>
                <a:lnTo>
                  <a:pt x="242" y="2118"/>
                </a:lnTo>
                <a:lnTo>
                  <a:pt x="0" y="2269"/>
                </a:lnTo>
                <a:close/>
              </a:path>
            </a:pathLst>
          </a:custGeom>
          <a:noFill/>
          <a:ln w="792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2" name=""/>
          <p:cNvSpPr/>
          <p:nvPr/>
        </p:nvSpPr>
        <p:spPr>
          <a:xfrm>
            <a:off x="2281320" y="1622520"/>
            <a:ext cx="6727680" cy="3362400"/>
          </a:xfrm>
          <a:prstGeom prst="rect">
            <a:avLst/>
          </a:prstGeom>
          <a:noFill/>
          <a:ln w="792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3" name=""/>
          <p:cNvSpPr/>
          <p:nvPr/>
        </p:nvSpPr>
        <p:spPr>
          <a:xfrm>
            <a:off x="2135160" y="3616200"/>
            <a:ext cx="447840" cy="153540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4" name=""/>
          <p:cNvSpPr/>
          <p:nvPr/>
        </p:nvSpPr>
        <p:spPr>
          <a:xfrm>
            <a:off x="2139840" y="362916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$13.7</a:t>
            </a:r>
            <a:endParaRPr b="0" lang="en-IN" sz="1400" strike="noStrike" u="none">
              <a:solidFill>
                <a:srgbClr val="000000"/>
              </a:solidFill>
              <a:effectLst/>
              <a:uFillTx/>
              <a:latin typeface="Arial"/>
            </a:endParaRPr>
          </a:p>
        </p:txBody>
      </p:sp>
      <p:sp>
        <p:nvSpPr>
          <p:cNvPr id="485" name=""/>
          <p:cNvSpPr/>
          <p:nvPr/>
        </p:nvSpPr>
        <p:spPr>
          <a:xfrm>
            <a:off x="2806560" y="3403440"/>
            <a:ext cx="455760" cy="174816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6" name=""/>
          <p:cNvSpPr/>
          <p:nvPr/>
        </p:nvSpPr>
        <p:spPr>
          <a:xfrm>
            <a:off x="2803320" y="345600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$15.6</a:t>
            </a:r>
            <a:endParaRPr b="0" lang="en-IN" sz="1400" strike="noStrike" u="none">
              <a:solidFill>
                <a:srgbClr val="000000"/>
              </a:solidFill>
              <a:effectLst/>
              <a:uFillTx/>
              <a:latin typeface="Arial"/>
            </a:endParaRPr>
          </a:p>
        </p:txBody>
      </p:sp>
      <p:sp>
        <p:nvSpPr>
          <p:cNvPr id="487" name=""/>
          <p:cNvSpPr/>
          <p:nvPr/>
        </p:nvSpPr>
        <p:spPr>
          <a:xfrm>
            <a:off x="3486240" y="3157560"/>
            <a:ext cx="446040" cy="199404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88" name=""/>
          <p:cNvSpPr/>
          <p:nvPr/>
        </p:nvSpPr>
        <p:spPr>
          <a:xfrm>
            <a:off x="3473280" y="319716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$17.8</a:t>
            </a:r>
            <a:endParaRPr b="0" lang="en-IN" sz="1400" strike="noStrike" u="none">
              <a:solidFill>
                <a:srgbClr val="000000"/>
              </a:solidFill>
              <a:effectLst/>
              <a:uFillTx/>
              <a:latin typeface="Arial"/>
            </a:endParaRPr>
          </a:p>
        </p:txBody>
      </p:sp>
      <p:sp>
        <p:nvSpPr>
          <p:cNvPr id="489" name=""/>
          <p:cNvSpPr/>
          <p:nvPr/>
        </p:nvSpPr>
        <p:spPr>
          <a:xfrm>
            <a:off x="4141800" y="2859120"/>
            <a:ext cx="447840" cy="229248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0" name=""/>
          <p:cNvSpPr/>
          <p:nvPr/>
        </p:nvSpPr>
        <p:spPr>
          <a:xfrm>
            <a:off x="4130640" y="291780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$20.5</a:t>
            </a:r>
            <a:endParaRPr b="0" lang="en-IN" sz="1400" strike="noStrike" u="none">
              <a:solidFill>
                <a:srgbClr val="000000"/>
              </a:solidFill>
              <a:effectLst/>
              <a:uFillTx/>
              <a:latin typeface="Arial"/>
            </a:endParaRPr>
          </a:p>
        </p:txBody>
      </p:sp>
      <p:sp>
        <p:nvSpPr>
          <p:cNvPr id="491" name=""/>
          <p:cNvSpPr/>
          <p:nvPr/>
        </p:nvSpPr>
        <p:spPr>
          <a:xfrm>
            <a:off x="4827600" y="2540160"/>
            <a:ext cx="447840" cy="261144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2" name=""/>
          <p:cNvSpPr/>
          <p:nvPr/>
        </p:nvSpPr>
        <p:spPr>
          <a:xfrm>
            <a:off x="4816440" y="260496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$23.3</a:t>
            </a:r>
            <a:endParaRPr b="0" lang="en-IN" sz="1400" strike="noStrike" u="none">
              <a:solidFill>
                <a:srgbClr val="000000"/>
              </a:solidFill>
              <a:effectLst/>
              <a:uFillTx/>
              <a:latin typeface="Arial"/>
            </a:endParaRPr>
          </a:p>
        </p:txBody>
      </p:sp>
      <p:sp>
        <p:nvSpPr>
          <p:cNvPr id="493" name=""/>
          <p:cNvSpPr/>
          <p:nvPr/>
        </p:nvSpPr>
        <p:spPr>
          <a:xfrm>
            <a:off x="5499000" y="2114640"/>
            <a:ext cx="455760" cy="303696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4" name=""/>
          <p:cNvSpPr/>
          <p:nvPr/>
        </p:nvSpPr>
        <p:spPr>
          <a:xfrm>
            <a:off x="5479920" y="219384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$27.1</a:t>
            </a:r>
            <a:endParaRPr b="0" lang="en-IN" sz="1400" strike="noStrike" u="none">
              <a:solidFill>
                <a:srgbClr val="000000"/>
              </a:solidFill>
              <a:effectLst/>
              <a:uFillTx/>
              <a:latin typeface="Arial"/>
            </a:endParaRPr>
          </a:p>
        </p:txBody>
      </p:sp>
      <p:sp>
        <p:nvSpPr>
          <p:cNvPr id="495" name=""/>
          <p:cNvSpPr/>
          <p:nvPr/>
        </p:nvSpPr>
        <p:spPr>
          <a:xfrm>
            <a:off x="6178680" y="2014560"/>
            <a:ext cx="447480" cy="313704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6" name=""/>
          <p:cNvSpPr/>
          <p:nvPr/>
        </p:nvSpPr>
        <p:spPr>
          <a:xfrm>
            <a:off x="6167160" y="206064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$28.0</a:t>
            </a:r>
            <a:endParaRPr b="0" lang="en-IN" sz="1400" strike="noStrike" u="none">
              <a:solidFill>
                <a:srgbClr val="000000"/>
              </a:solidFill>
              <a:effectLst/>
              <a:uFillTx/>
              <a:latin typeface="Arial"/>
            </a:endParaRPr>
          </a:p>
        </p:txBody>
      </p:sp>
      <p:sp>
        <p:nvSpPr>
          <p:cNvPr id="497" name=""/>
          <p:cNvSpPr/>
          <p:nvPr/>
        </p:nvSpPr>
        <p:spPr>
          <a:xfrm>
            <a:off x="6850080" y="1941480"/>
            <a:ext cx="446040" cy="321012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98" name=""/>
          <p:cNvSpPr/>
          <p:nvPr/>
        </p:nvSpPr>
        <p:spPr>
          <a:xfrm>
            <a:off x="6822720" y="199404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$28.6</a:t>
            </a:r>
            <a:endParaRPr b="0" lang="en-IN" sz="1400" strike="noStrike" u="none">
              <a:solidFill>
                <a:srgbClr val="000000"/>
              </a:solidFill>
              <a:effectLst/>
              <a:uFillTx/>
              <a:latin typeface="Arial"/>
            </a:endParaRPr>
          </a:p>
        </p:txBody>
      </p:sp>
      <p:sp>
        <p:nvSpPr>
          <p:cNvPr id="499" name=""/>
          <p:cNvSpPr/>
          <p:nvPr/>
        </p:nvSpPr>
        <p:spPr>
          <a:xfrm>
            <a:off x="7520040" y="1947960"/>
            <a:ext cx="447480" cy="320364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00" name=""/>
          <p:cNvSpPr/>
          <p:nvPr/>
        </p:nvSpPr>
        <p:spPr>
          <a:xfrm>
            <a:off x="7510320" y="201456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$28.6</a:t>
            </a:r>
            <a:endParaRPr b="0" lang="en-IN" sz="1400" strike="noStrike" u="none">
              <a:solidFill>
                <a:srgbClr val="000000"/>
              </a:solidFill>
              <a:effectLst/>
              <a:uFillTx/>
              <a:latin typeface="Arial"/>
            </a:endParaRPr>
          </a:p>
        </p:txBody>
      </p:sp>
      <p:sp>
        <p:nvSpPr>
          <p:cNvPr id="501" name=""/>
          <p:cNvSpPr/>
          <p:nvPr/>
        </p:nvSpPr>
        <p:spPr>
          <a:xfrm>
            <a:off x="8199360" y="1947960"/>
            <a:ext cx="447840" cy="3203640"/>
          </a:xfrm>
          <a:prstGeom prst="rect">
            <a:avLst/>
          </a:prstGeom>
          <a:solidFill>
            <a:srgbClr val="ffcc0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02" name=""/>
          <p:cNvSpPr/>
          <p:nvPr/>
        </p:nvSpPr>
        <p:spPr>
          <a:xfrm>
            <a:off x="8188200" y="2000160"/>
            <a:ext cx="446760" cy="2138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400" strike="noStrike" u="none">
                <a:solidFill>
                  <a:srgbClr val="000000"/>
                </a:solidFill>
                <a:effectLst/>
                <a:uFillTx/>
                <a:latin typeface="Arial"/>
              </a:rPr>
              <a:t>$28.6</a:t>
            </a:r>
            <a:endParaRPr b="0" lang="en-IN" sz="1400" strike="noStrike" u="none">
              <a:solidFill>
                <a:srgbClr val="000000"/>
              </a:solidFill>
              <a:effectLst/>
              <a:uFillTx/>
              <a:latin typeface="Arial"/>
            </a:endParaRPr>
          </a:p>
        </p:txBody>
      </p:sp>
      <p:sp>
        <p:nvSpPr>
          <p:cNvPr id="503" name=""/>
          <p:cNvSpPr/>
          <p:nvPr/>
        </p:nvSpPr>
        <p:spPr>
          <a:xfrm flipV="1">
            <a:off x="1897200" y="1861920"/>
            <a:ext cx="1440" cy="3362040"/>
          </a:xfrm>
          <a:prstGeom prst="line">
            <a:avLst/>
          </a:prstGeom>
          <a:ln w="237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04" name=""/>
          <p:cNvSpPr/>
          <p:nvPr/>
        </p:nvSpPr>
        <p:spPr>
          <a:xfrm flipH="1">
            <a:off x="1825200" y="5224320"/>
            <a:ext cx="71640" cy="1800"/>
          </a:xfrm>
          <a:prstGeom prst="line">
            <a:avLst/>
          </a:prstGeom>
          <a:ln w="23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5" name=""/>
          <p:cNvSpPr/>
          <p:nvPr/>
        </p:nvSpPr>
        <p:spPr>
          <a:xfrm flipH="1">
            <a:off x="1825200" y="4665600"/>
            <a:ext cx="71640" cy="1800"/>
          </a:xfrm>
          <a:prstGeom prst="line">
            <a:avLst/>
          </a:prstGeom>
          <a:ln w="23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6" name=""/>
          <p:cNvSpPr/>
          <p:nvPr/>
        </p:nvSpPr>
        <p:spPr>
          <a:xfrm flipH="1">
            <a:off x="1825200" y="4100400"/>
            <a:ext cx="71640" cy="1800"/>
          </a:xfrm>
          <a:prstGeom prst="line">
            <a:avLst/>
          </a:prstGeom>
          <a:ln w="23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7" name=""/>
          <p:cNvSpPr/>
          <p:nvPr/>
        </p:nvSpPr>
        <p:spPr>
          <a:xfrm flipH="1">
            <a:off x="1825200" y="3543480"/>
            <a:ext cx="71640" cy="1440"/>
          </a:xfrm>
          <a:prstGeom prst="line">
            <a:avLst/>
          </a:prstGeom>
          <a:ln w="237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508" name=""/>
          <p:cNvSpPr/>
          <p:nvPr/>
        </p:nvSpPr>
        <p:spPr>
          <a:xfrm flipH="1">
            <a:off x="1825200" y="2984400"/>
            <a:ext cx="71640" cy="1800"/>
          </a:xfrm>
          <a:prstGeom prst="line">
            <a:avLst/>
          </a:prstGeom>
          <a:ln w="23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09" name=""/>
          <p:cNvSpPr/>
          <p:nvPr/>
        </p:nvSpPr>
        <p:spPr>
          <a:xfrm flipH="1">
            <a:off x="1825200" y="2425680"/>
            <a:ext cx="71640" cy="1440"/>
          </a:xfrm>
          <a:prstGeom prst="line">
            <a:avLst/>
          </a:prstGeom>
          <a:ln w="237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510" name=""/>
          <p:cNvSpPr/>
          <p:nvPr/>
        </p:nvSpPr>
        <p:spPr>
          <a:xfrm flipH="1">
            <a:off x="1825200" y="1862280"/>
            <a:ext cx="71640" cy="1440"/>
          </a:xfrm>
          <a:prstGeom prst="line">
            <a:avLst/>
          </a:prstGeom>
          <a:ln w="23760">
            <a:solidFill>
              <a:srgbClr val="ffffff"/>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511" name=""/>
          <p:cNvSpPr/>
          <p:nvPr/>
        </p:nvSpPr>
        <p:spPr>
          <a:xfrm>
            <a:off x="1496880" y="5103720"/>
            <a:ext cx="24156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$0</a:t>
            </a:r>
            <a:endParaRPr b="0" lang="en-IN" sz="1700" strike="noStrike" u="none">
              <a:solidFill>
                <a:srgbClr val="000000"/>
              </a:solidFill>
              <a:effectLst/>
              <a:uFillTx/>
              <a:latin typeface="Arial"/>
            </a:endParaRPr>
          </a:p>
        </p:txBody>
      </p:sp>
      <p:sp>
        <p:nvSpPr>
          <p:cNvPr id="512" name=""/>
          <p:cNvSpPr/>
          <p:nvPr/>
        </p:nvSpPr>
        <p:spPr>
          <a:xfrm>
            <a:off x="1496880" y="4546440"/>
            <a:ext cx="24156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$5</a:t>
            </a:r>
            <a:endParaRPr b="0" lang="en-IN" sz="1700" strike="noStrike" u="none">
              <a:solidFill>
                <a:srgbClr val="000000"/>
              </a:solidFill>
              <a:effectLst/>
              <a:uFillTx/>
              <a:latin typeface="Arial"/>
            </a:endParaRPr>
          </a:p>
        </p:txBody>
      </p:sp>
      <p:sp>
        <p:nvSpPr>
          <p:cNvPr id="513" name=""/>
          <p:cNvSpPr/>
          <p:nvPr/>
        </p:nvSpPr>
        <p:spPr>
          <a:xfrm>
            <a:off x="1353960" y="3981600"/>
            <a:ext cx="3618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$10</a:t>
            </a:r>
            <a:endParaRPr b="0" lang="en-IN" sz="1700" strike="noStrike" u="none">
              <a:solidFill>
                <a:srgbClr val="000000"/>
              </a:solidFill>
              <a:effectLst/>
              <a:uFillTx/>
              <a:latin typeface="Arial"/>
            </a:endParaRPr>
          </a:p>
        </p:txBody>
      </p:sp>
      <p:sp>
        <p:nvSpPr>
          <p:cNvPr id="514" name=""/>
          <p:cNvSpPr/>
          <p:nvPr/>
        </p:nvSpPr>
        <p:spPr>
          <a:xfrm>
            <a:off x="1353960" y="3422520"/>
            <a:ext cx="3618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$15</a:t>
            </a:r>
            <a:endParaRPr b="0" lang="en-IN" sz="1700" strike="noStrike" u="none">
              <a:solidFill>
                <a:srgbClr val="000000"/>
              </a:solidFill>
              <a:effectLst/>
              <a:uFillTx/>
              <a:latin typeface="Arial"/>
            </a:endParaRPr>
          </a:p>
        </p:txBody>
      </p:sp>
      <p:sp>
        <p:nvSpPr>
          <p:cNvPr id="515" name=""/>
          <p:cNvSpPr/>
          <p:nvPr/>
        </p:nvSpPr>
        <p:spPr>
          <a:xfrm>
            <a:off x="1353960" y="2865600"/>
            <a:ext cx="3618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a:t>
            </a:r>
            <a:endParaRPr b="0" lang="en-IN" sz="1700" strike="noStrike" u="none">
              <a:solidFill>
                <a:srgbClr val="000000"/>
              </a:solidFill>
              <a:effectLst/>
              <a:uFillTx/>
              <a:latin typeface="Arial"/>
            </a:endParaRPr>
          </a:p>
        </p:txBody>
      </p:sp>
      <p:sp>
        <p:nvSpPr>
          <p:cNvPr id="516" name=""/>
          <p:cNvSpPr/>
          <p:nvPr/>
        </p:nvSpPr>
        <p:spPr>
          <a:xfrm>
            <a:off x="1353960" y="2306520"/>
            <a:ext cx="3618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$25</a:t>
            </a:r>
            <a:endParaRPr b="0" lang="en-IN" sz="1700" strike="noStrike" u="none">
              <a:solidFill>
                <a:srgbClr val="000000"/>
              </a:solidFill>
              <a:effectLst/>
              <a:uFillTx/>
              <a:latin typeface="Arial"/>
            </a:endParaRPr>
          </a:p>
        </p:txBody>
      </p:sp>
      <p:sp>
        <p:nvSpPr>
          <p:cNvPr id="517" name=""/>
          <p:cNvSpPr/>
          <p:nvPr/>
        </p:nvSpPr>
        <p:spPr>
          <a:xfrm>
            <a:off x="1353960" y="1741320"/>
            <a:ext cx="3618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$30</a:t>
            </a:r>
            <a:endParaRPr b="0" lang="en-IN" sz="1700" strike="noStrike" u="none">
              <a:solidFill>
                <a:srgbClr val="000000"/>
              </a:solidFill>
              <a:effectLst/>
              <a:uFillTx/>
              <a:latin typeface="Arial"/>
            </a:endParaRPr>
          </a:p>
        </p:txBody>
      </p:sp>
      <p:sp>
        <p:nvSpPr>
          <p:cNvPr id="518" name=""/>
          <p:cNvSpPr/>
          <p:nvPr/>
        </p:nvSpPr>
        <p:spPr>
          <a:xfrm>
            <a:off x="1897200" y="5224320"/>
            <a:ext cx="6727680" cy="1800"/>
          </a:xfrm>
          <a:prstGeom prst="line">
            <a:avLst/>
          </a:prstGeom>
          <a:ln w="2376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19" name=""/>
          <p:cNvSpPr/>
          <p:nvPr/>
        </p:nvSpPr>
        <p:spPr>
          <a:xfrm>
            <a:off x="1897200" y="5224320"/>
            <a:ext cx="144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0" name=""/>
          <p:cNvSpPr/>
          <p:nvPr/>
        </p:nvSpPr>
        <p:spPr>
          <a:xfrm>
            <a:off x="2568600" y="5224320"/>
            <a:ext cx="144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1" name=""/>
          <p:cNvSpPr/>
          <p:nvPr/>
        </p:nvSpPr>
        <p:spPr>
          <a:xfrm>
            <a:off x="3240000" y="5224320"/>
            <a:ext cx="180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2" name=""/>
          <p:cNvSpPr/>
          <p:nvPr/>
        </p:nvSpPr>
        <p:spPr>
          <a:xfrm>
            <a:off x="3909960" y="5224320"/>
            <a:ext cx="180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3" name=""/>
          <p:cNvSpPr/>
          <p:nvPr/>
        </p:nvSpPr>
        <p:spPr>
          <a:xfrm>
            <a:off x="4589640" y="5224320"/>
            <a:ext cx="144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4" name=""/>
          <p:cNvSpPr/>
          <p:nvPr/>
        </p:nvSpPr>
        <p:spPr>
          <a:xfrm>
            <a:off x="5261040" y="5224320"/>
            <a:ext cx="144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5" name=""/>
          <p:cNvSpPr/>
          <p:nvPr/>
        </p:nvSpPr>
        <p:spPr>
          <a:xfrm>
            <a:off x="5932440" y="5224320"/>
            <a:ext cx="180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6" name=""/>
          <p:cNvSpPr/>
          <p:nvPr/>
        </p:nvSpPr>
        <p:spPr>
          <a:xfrm>
            <a:off x="6611760" y="5224320"/>
            <a:ext cx="180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7" name=""/>
          <p:cNvSpPr/>
          <p:nvPr/>
        </p:nvSpPr>
        <p:spPr>
          <a:xfrm>
            <a:off x="7281720" y="5224320"/>
            <a:ext cx="180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8" name=""/>
          <p:cNvSpPr/>
          <p:nvPr/>
        </p:nvSpPr>
        <p:spPr>
          <a:xfrm>
            <a:off x="7953480" y="5224320"/>
            <a:ext cx="144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29" name=""/>
          <p:cNvSpPr/>
          <p:nvPr/>
        </p:nvSpPr>
        <p:spPr>
          <a:xfrm>
            <a:off x="8624880" y="5224320"/>
            <a:ext cx="1440" cy="60480"/>
          </a:xfrm>
          <a:prstGeom prst="line">
            <a:avLst/>
          </a:prstGeom>
          <a:ln w="23760">
            <a:solidFill>
              <a:srgbClr val="ffffff"/>
            </a:solidFill>
            <a:miter/>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530" name=""/>
          <p:cNvSpPr/>
          <p:nvPr/>
        </p:nvSpPr>
        <p:spPr>
          <a:xfrm>
            <a:off x="207288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31" name=""/>
          <p:cNvSpPr/>
          <p:nvPr/>
        </p:nvSpPr>
        <p:spPr>
          <a:xfrm>
            <a:off x="194472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1998</a:t>
            </a:r>
            <a:endParaRPr b="0" lang="en-IN" sz="1700" strike="noStrike" u="none">
              <a:solidFill>
                <a:srgbClr val="000000"/>
              </a:solidFill>
              <a:effectLst/>
              <a:uFillTx/>
              <a:latin typeface="Arial"/>
            </a:endParaRPr>
          </a:p>
        </p:txBody>
      </p:sp>
      <p:sp>
        <p:nvSpPr>
          <p:cNvPr id="532" name=""/>
          <p:cNvSpPr/>
          <p:nvPr/>
        </p:nvSpPr>
        <p:spPr>
          <a:xfrm>
            <a:off x="274428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33" name=""/>
          <p:cNvSpPr/>
          <p:nvPr/>
        </p:nvSpPr>
        <p:spPr>
          <a:xfrm>
            <a:off x="261648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1999</a:t>
            </a:r>
            <a:endParaRPr b="0" lang="en-IN" sz="1700" strike="noStrike" u="none">
              <a:solidFill>
                <a:srgbClr val="000000"/>
              </a:solidFill>
              <a:effectLst/>
              <a:uFillTx/>
              <a:latin typeface="Arial"/>
            </a:endParaRPr>
          </a:p>
        </p:txBody>
      </p:sp>
      <p:sp>
        <p:nvSpPr>
          <p:cNvPr id="534" name=""/>
          <p:cNvSpPr/>
          <p:nvPr/>
        </p:nvSpPr>
        <p:spPr>
          <a:xfrm>
            <a:off x="341424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35" name=""/>
          <p:cNvSpPr/>
          <p:nvPr/>
        </p:nvSpPr>
        <p:spPr>
          <a:xfrm>
            <a:off x="328788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2000</a:t>
            </a:r>
            <a:endParaRPr b="0" lang="en-IN" sz="1700" strike="noStrike" u="none">
              <a:solidFill>
                <a:srgbClr val="000000"/>
              </a:solidFill>
              <a:effectLst/>
              <a:uFillTx/>
              <a:latin typeface="Arial"/>
            </a:endParaRPr>
          </a:p>
        </p:txBody>
      </p:sp>
      <p:sp>
        <p:nvSpPr>
          <p:cNvPr id="536" name=""/>
          <p:cNvSpPr/>
          <p:nvPr/>
        </p:nvSpPr>
        <p:spPr>
          <a:xfrm>
            <a:off x="409392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37" name=""/>
          <p:cNvSpPr/>
          <p:nvPr/>
        </p:nvSpPr>
        <p:spPr>
          <a:xfrm>
            <a:off x="396720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2001</a:t>
            </a:r>
            <a:endParaRPr b="0" lang="en-IN" sz="1700" strike="noStrike" u="none">
              <a:solidFill>
                <a:srgbClr val="000000"/>
              </a:solidFill>
              <a:effectLst/>
              <a:uFillTx/>
              <a:latin typeface="Arial"/>
            </a:endParaRPr>
          </a:p>
        </p:txBody>
      </p:sp>
      <p:sp>
        <p:nvSpPr>
          <p:cNvPr id="538" name=""/>
          <p:cNvSpPr/>
          <p:nvPr/>
        </p:nvSpPr>
        <p:spPr>
          <a:xfrm>
            <a:off x="476532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39" name=""/>
          <p:cNvSpPr/>
          <p:nvPr/>
        </p:nvSpPr>
        <p:spPr>
          <a:xfrm>
            <a:off x="463716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2002</a:t>
            </a:r>
            <a:endParaRPr b="0" lang="en-IN" sz="1700" strike="noStrike" u="none">
              <a:solidFill>
                <a:srgbClr val="000000"/>
              </a:solidFill>
              <a:effectLst/>
              <a:uFillTx/>
              <a:latin typeface="Arial"/>
            </a:endParaRPr>
          </a:p>
        </p:txBody>
      </p:sp>
      <p:sp>
        <p:nvSpPr>
          <p:cNvPr id="540" name=""/>
          <p:cNvSpPr/>
          <p:nvPr/>
        </p:nvSpPr>
        <p:spPr>
          <a:xfrm>
            <a:off x="543672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41" name=""/>
          <p:cNvSpPr/>
          <p:nvPr/>
        </p:nvSpPr>
        <p:spPr>
          <a:xfrm>
            <a:off x="530892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2003</a:t>
            </a:r>
            <a:endParaRPr b="0" lang="en-IN" sz="1700" strike="noStrike" u="none">
              <a:solidFill>
                <a:srgbClr val="000000"/>
              </a:solidFill>
              <a:effectLst/>
              <a:uFillTx/>
              <a:latin typeface="Arial"/>
            </a:endParaRPr>
          </a:p>
        </p:txBody>
      </p:sp>
      <p:sp>
        <p:nvSpPr>
          <p:cNvPr id="542" name=""/>
          <p:cNvSpPr/>
          <p:nvPr/>
        </p:nvSpPr>
        <p:spPr>
          <a:xfrm>
            <a:off x="610848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43" name=""/>
          <p:cNvSpPr/>
          <p:nvPr/>
        </p:nvSpPr>
        <p:spPr>
          <a:xfrm>
            <a:off x="598032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2004</a:t>
            </a:r>
            <a:endParaRPr b="0" lang="en-IN" sz="1700" strike="noStrike" u="none">
              <a:solidFill>
                <a:srgbClr val="000000"/>
              </a:solidFill>
              <a:effectLst/>
              <a:uFillTx/>
              <a:latin typeface="Arial"/>
            </a:endParaRPr>
          </a:p>
        </p:txBody>
      </p:sp>
      <p:sp>
        <p:nvSpPr>
          <p:cNvPr id="544" name=""/>
          <p:cNvSpPr/>
          <p:nvPr/>
        </p:nvSpPr>
        <p:spPr>
          <a:xfrm>
            <a:off x="678636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45" name=""/>
          <p:cNvSpPr/>
          <p:nvPr/>
        </p:nvSpPr>
        <p:spPr>
          <a:xfrm>
            <a:off x="665964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2005</a:t>
            </a:r>
            <a:endParaRPr b="0" lang="en-IN" sz="1700" strike="noStrike" u="none">
              <a:solidFill>
                <a:srgbClr val="000000"/>
              </a:solidFill>
              <a:effectLst/>
              <a:uFillTx/>
              <a:latin typeface="Arial"/>
            </a:endParaRPr>
          </a:p>
        </p:txBody>
      </p:sp>
      <p:sp>
        <p:nvSpPr>
          <p:cNvPr id="546" name=""/>
          <p:cNvSpPr/>
          <p:nvPr/>
        </p:nvSpPr>
        <p:spPr>
          <a:xfrm>
            <a:off x="745776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47" name=""/>
          <p:cNvSpPr/>
          <p:nvPr/>
        </p:nvSpPr>
        <p:spPr>
          <a:xfrm>
            <a:off x="733140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2006</a:t>
            </a:r>
            <a:endParaRPr b="0" lang="en-IN" sz="1700" strike="noStrike" u="none">
              <a:solidFill>
                <a:srgbClr val="000000"/>
              </a:solidFill>
              <a:effectLst/>
              <a:uFillTx/>
              <a:latin typeface="Arial"/>
            </a:endParaRPr>
          </a:p>
        </p:txBody>
      </p:sp>
      <p:sp>
        <p:nvSpPr>
          <p:cNvPr id="548" name=""/>
          <p:cNvSpPr/>
          <p:nvPr/>
        </p:nvSpPr>
        <p:spPr>
          <a:xfrm>
            <a:off x="8129160" y="5241960"/>
            <a:ext cx="27720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FY</a:t>
            </a:r>
            <a:endParaRPr b="0" lang="en-IN" sz="1700" strike="noStrike" u="none">
              <a:solidFill>
                <a:srgbClr val="000000"/>
              </a:solidFill>
              <a:effectLst/>
              <a:uFillTx/>
              <a:latin typeface="Arial"/>
            </a:endParaRPr>
          </a:p>
        </p:txBody>
      </p:sp>
      <p:sp>
        <p:nvSpPr>
          <p:cNvPr id="549" name=""/>
          <p:cNvSpPr/>
          <p:nvPr/>
        </p:nvSpPr>
        <p:spPr>
          <a:xfrm>
            <a:off x="8001360" y="5500800"/>
            <a:ext cx="482040" cy="25956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700" strike="noStrike" u="none">
                <a:solidFill>
                  <a:srgbClr val="ffffff"/>
                </a:solidFill>
                <a:effectLst/>
                <a:uFillTx/>
                <a:latin typeface="Arial"/>
              </a:rPr>
              <a:t>2007</a:t>
            </a:r>
            <a:endParaRPr b="0" lang="en-IN" sz="1700" strike="noStrike" u="none">
              <a:solidFill>
                <a:srgbClr val="000000"/>
              </a:solidFill>
              <a:effectLst/>
              <a:uFillTx/>
              <a:latin typeface="Arial"/>
            </a:endParaRPr>
          </a:p>
        </p:txBody>
      </p:sp>
      <p:sp>
        <p:nvSpPr>
          <p:cNvPr id="550" name=""/>
          <p:cNvSpPr/>
          <p:nvPr/>
        </p:nvSpPr>
        <p:spPr>
          <a:xfrm>
            <a:off x="8244000" y="2590920"/>
            <a:ext cx="380880" cy="45972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Arial"/>
              </a:rPr>
              <a:t>?</a:t>
            </a:r>
            <a:endParaRPr b="0" lang="en-IN" sz="2400" strike="noStrike" u="none">
              <a:solidFill>
                <a:srgbClr val="000000"/>
              </a:solidFill>
              <a:effectLst/>
              <a:uFillTx/>
              <a:latin typeface="Arial"/>
            </a:endParaRPr>
          </a:p>
        </p:txBody>
      </p:sp>
      <p:sp>
        <p:nvSpPr>
          <p:cNvPr id="551" name=""/>
          <p:cNvSpPr/>
          <p:nvPr/>
        </p:nvSpPr>
        <p:spPr>
          <a:xfrm>
            <a:off x="4321080" y="2746440"/>
            <a:ext cx="4257720" cy="1038240"/>
          </a:xfrm>
          <a:custGeom>
            <a:avLst/>
            <a:gdLst>
              <a:gd name="textAreaLeft" fmla="*/ 744840 w 4257720"/>
              <a:gd name="textAreaRight" fmla="*/ 3087000 w 4257720"/>
              <a:gd name="textAreaTop" fmla="*/ 138960 h 1038240"/>
              <a:gd name="textAreaBottom" fmla="*/ 899280 h 1038240"/>
              <a:gd name="GluePoint1X" fmla="*/ 17 w 21600"/>
              <a:gd name="GluePoint1Y" fmla="*/ 0 h 21600"/>
              <a:gd name="GluePoint2X" fmla="*/ 16 w 21600"/>
              <a:gd name="GluePoint2Y" fmla="*/ 22 h 21600"/>
              <a:gd name="GluePoint3X" fmla="*/ 12 w 21600"/>
              <a:gd name="GluePoint3Y" fmla="*/ 2 h 21600"/>
              <a:gd name="GluePoint4X" fmla="*/ 8 w 21600"/>
              <a:gd name="GluePoint4Y" fmla="*/ 22 h 21600"/>
              <a:gd name="GluePoint5X" fmla="*/ 14 w 21600"/>
              <a:gd name="GluePoint5Y" fmla="*/ 2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21600"/>
                </a:moveTo>
                <a:arcTo wR="7560" hR="21600" stAng="10800000" swAng="5400000"/>
                <a:lnTo>
                  <a:pt x="11880" y="0"/>
                </a:lnTo>
                <a:arcTo wR="7560" hR="21600" stAng="-5400000" swAng="2682637"/>
                <a:lnTo>
                  <a:pt x="21168" y="14400"/>
                </a:lnTo>
                <a:lnTo>
                  <a:pt x="17280" y="21600"/>
                </a:lnTo>
                <a:lnTo>
                  <a:pt x="12528" y="14400"/>
                </a:lnTo>
                <a:lnTo>
                  <a:pt x="14688" y="14400"/>
                </a:lnTo>
                <a:arcTo wR="7560" hR="21600" stAng="-2717363" swAng="-2325203"/>
                <a:lnTo>
                  <a:pt x="9720" y="900"/>
                </a:lnTo>
                <a:arcTo wR="7560" hR="21600" stAng="-5757435" swAng="-5042565"/>
                <a:close/>
              </a:path>
              <a:path fill="darkenLess" w="21600" h="21600">
                <a:moveTo>
                  <a:pt x="0" y="21600"/>
                </a:moveTo>
                <a:arcTo wR="7560" hR="21600" stAng="10800000" swAng="5400000"/>
                <a:lnTo>
                  <a:pt x="7560" y="0"/>
                </a:lnTo>
                <a:arcTo wR="7560" hR="21600" stAng="-5400000" swAng="357435"/>
                <a:lnTo>
                  <a:pt x="9720" y="900"/>
                </a:lnTo>
                <a:arcTo wR="7560" hR="21600" stAng="-5757435" swAng="-5042565"/>
                <a:close/>
              </a:path>
            </a:pathLst>
          </a:custGeom>
          <a:solidFill>
            <a:srgbClr val="ccffff"/>
          </a:solidFill>
          <a:ln w="9360">
            <a:solidFill>
              <a:srgbClr val="66cc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552" name=""/>
          <p:cNvSpPr/>
          <p:nvPr/>
        </p:nvSpPr>
        <p:spPr>
          <a:xfrm flipV="1">
            <a:off x="4886280" y="4037040"/>
            <a:ext cx="4257720" cy="1038240"/>
          </a:xfrm>
          <a:custGeom>
            <a:avLst/>
            <a:gdLst>
              <a:gd name="textAreaLeft" fmla="*/ 744840 w 4257720"/>
              <a:gd name="textAreaRight" fmla="*/ 3087000 w 4257720"/>
              <a:gd name="textAreaTop" fmla="*/ 138960 h 1038240"/>
              <a:gd name="textAreaBottom" fmla="*/ 899280 h 1038240"/>
              <a:gd name="GluePoint1X" fmla="*/ 17 w 21600"/>
              <a:gd name="GluePoint1Y" fmla="*/ 0 h 21600"/>
              <a:gd name="GluePoint2X" fmla="*/ 16 w 21600"/>
              <a:gd name="GluePoint2Y" fmla="*/ 22 h 21600"/>
              <a:gd name="GluePoint3X" fmla="*/ 12 w 21600"/>
              <a:gd name="GluePoint3Y" fmla="*/ 2 h 21600"/>
              <a:gd name="GluePoint4X" fmla="*/ 8 w 21600"/>
              <a:gd name="GluePoint4Y" fmla="*/ 22 h 21600"/>
              <a:gd name="GluePoint5X" fmla="*/ 14 w 21600"/>
              <a:gd name="GluePoint5Y" fmla="*/ 2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21600"/>
                </a:moveTo>
                <a:arcTo wR="7560" hR="21600" stAng="10800000" swAng="5400000"/>
                <a:lnTo>
                  <a:pt x="11880" y="0"/>
                </a:lnTo>
                <a:arcTo wR="7560" hR="21600" stAng="-5400000" swAng="2682637"/>
                <a:lnTo>
                  <a:pt x="21168" y="14400"/>
                </a:lnTo>
                <a:lnTo>
                  <a:pt x="17280" y="21600"/>
                </a:lnTo>
                <a:lnTo>
                  <a:pt x="12528" y="14400"/>
                </a:lnTo>
                <a:lnTo>
                  <a:pt x="14688" y="14400"/>
                </a:lnTo>
                <a:arcTo wR="7560" hR="21600" stAng="-2717363" swAng="-2325203"/>
                <a:lnTo>
                  <a:pt x="9720" y="900"/>
                </a:lnTo>
                <a:arcTo wR="7560" hR="21600" stAng="-5757435" swAng="-5042565"/>
                <a:close/>
              </a:path>
              <a:path fill="darkenLess" w="21600" h="21600">
                <a:moveTo>
                  <a:pt x="0" y="21600"/>
                </a:moveTo>
                <a:arcTo wR="7560" hR="21600" stAng="10800000" swAng="5400000"/>
                <a:lnTo>
                  <a:pt x="7560" y="0"/>
                </a:lnTo>
                <a:arcTo wR="7560" hR="21600" stAng="-5400000" swAng="357435"/>
                <a:lnTo>
                  <a:pt x="9720" y="900"/>
                </a:lnTo>
                <a:arcTo wR="7560" hR="21600" stAng="-5757435" swAng="-5042565"/>
                <a:close/>
              </a:path>
            </a:pathLst>
          </a:custGeom>
          <a:solidFill>
            <a:srgbClr val="ccffff"/>
          </a:solidFill>
          <a:ln w="9360">
            <a:solidFill>
              <a:srgbClr val="66cc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35" dur="indefinite" restart="never" nodeType="tmRoot">
          <p:childTnLst>
            <p:seq>
              <p:cTn id="36" dur="indefinite" nodeType="mainSeq">
                <p:childTnLst>
                  <p:par>
                    <p:cTn id="37" fill="hold">
                      <p:stCondLst>
                        <p:cond delay="indefinite"/>
                      </p:stCondLst>
                      <p:childTnLst>
                        <p:par>
                          <p:cTn id="38" fill="hold">
                            <p:stCondLst>
                              <p:cond delay="0"/>
                            </p:stCondLst>
                            <p:childTnLst>
                              <p:par>
                                <p:cTn id="39" nodeType="clickEffect" fill="hold" presetClass="entr" presetID="22" presetSubtype="8">
                                  <p:stCondLst>
                                    <p:cond delay="0"/>
                                  </p:stCondLst>
                                  <p:childTnLst>
                                    <p:set>
                                      <p:cBhvr>
                                        <p:cTn id="40" dur="1" fill="hold">
                                          <p:stCondLst>
                                            <p:cond delay="0"/>
                                          </p:stCondLst>
                                        </p:cTn>
                                        <p:tgtEl>
                                          <p:spTgt spid="551"/>
                                        </p:tgtEl>
                                        <p:attrNameLst>
                                          <p:attrName>style.visibility</p:attrName>
                                        </p:attrNameLst>
                                      </p:cBhvr>
                                      <p:to>
                                        <p:strVal val="visible"/>
                                      </p:to>
                                    </p:set>
                                    <p:animEffect filter="wipe(left)" transition="in">
                                      <p:cBhvr additive="repl">
                                        <p:cTn id="41" dur="500"/>
                                        <p:tgtEl>
                                          <p:spTgt spid="551"/>
                                        </p:tgtEl>
                                      </p:cBhvr>
                                    </p:animEffect>
                                  </p:childTnLst>
                                </p:cTn>
                              </p:par>
                            </p:childTnLst>
                          </p:cTn>
                        </p:par>
                      </p:childTnLst>
                    </p:cTn>
                  </p:par>
                  <p:par>
                    <p:cTn id="42" fill="hold">
                      <p:stCondLst>
                        <p:cond delay="indefinite"/>
                      </p:stCondLst>
                      <p:childTnLst>
                        <p:par>
                          <p:cTn id="43" fill="hold">
                            <p:stCondLst>
                              <p:cond delay="0"/>
                            </p:stCondLst>
                            <p:childTnLst>
                              <p:par>
                                <p:cTn id="44" nodeType="clickEffect" fill="hold" presetClass="entr" presetID="22" presetSubtype="8">
                                  <p:stCondLst>
                                    <p:cond delay="0"/>
                                  </p:stCondLst>
                                  <p:childTnLst>
                                    <p:set>
                                      <p:cBhvr>
                                        <p:cTn id="45" dur="1" fill="hold">
                                          <p:stCondLst>
                                            <p:cond delay="0"/>
                                          </p:stCondLst>
                                        </p:cTn>
                                        <p:tgtEl>
                                          <p:spTgt spid="552"/>
                                        </p:tgtEl>
                                        <p:attrNameLst>
                                          <p:attrName>style.visibility</p:attrName>
                                        </p:attrNameLst>
                                      </p:cBhvr>
                                      <p:to>
                                        <p:strVal val="visible"/>
                                      </p:to>
                                    </p:set>
                                    <p:animEffect filter="wipe(left)" transition="in">
                                      <p:cBhvr additive="repl">
                                        <p:cTn id="46" dur="500"/>
                                        <p:tgtEl>
                                          <p:spTgt spid="5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553" name="PlaceHolder 1"/>
          <p:cNvSpPr>
            <a:spLocks noGrp="1"/>
          </p:cNvSpPr>
          <p:nvPr>
            <p:ph type="title"/>
          </p:nvPr>
        </p:nvSpPr>
        <p:spPr>
          <a:xfrm>
            <a:off x="1262160" y="-500400"/>
            <a:ext cx="7772400" cy="3632040"/>
          </a:xfrm>
          <a:prstGeom prst="rect">
            <a:avLst/>
          </a:prstGeom>
          <a:noFill/>
          <a:ln w="0">
            <a:noFill/>
          </a:ln>
        </p:spPr>
        <p:txBody>
          <a:bodyPr lIns="90000" rIns="90000" tIns="46800" bIns="46800" anchor="ctr">
            <a:noAutofit/>
          </a:bodyPr>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sng">
                <a:solidFill>
                  <a:srgbClr val="ffffff"/>
                </a:solidFill>
                <a:effectLst/>
                <a:uFillTx/>
                <a:latin typeface="Arial"/>
              </a:rPr>
              <a:t>The Bottom Line: </a:t>
            </a:r>
            <a:br>
              <a:rPr sz="2800"/>
            </a:br>
            <a:r>
              <a:rPr b="0" i="1" lang="en-IN" sz="2800" strike="noStrike" u="none">
                <a:solidFill>
                  <a:srgbClr val="ffffff"/>
                </a:solidFill>
                <a:effectLst/>
                <a:uFillTx/>
                <a:latin typeface="Arial"/>
              </a:rPr>
              <a:t>Demand for Grants </a:t>
            </a:r>
            <a:r>
              <a:rPr b="0" i="1" lang="en-IN" sz="2800" strike="noStrike" u="none">
                <a:solidFill>
                  <a:srgbClr val="ffcc00"/>
                </a:solidFill>
                <a:effectLst/>
                <a:uFillTx/>
                <a:latin typeface="Arial"/>
              </a:rPr>
              <a:t>“Took Off”</a:t>
            </a:r>
            <a:r>
              <a:rPr b="0" i="1" lang="en-IN" sz="2800" strike="noStrike" u="none">
                <a:solidFill>
                  <a:srgbClr val="ffffff"/>
                </a:solidFill>
                <a:effectLst/>
                <a:uFillTx/>
                <a:latin typeface="Arial"/>
              </a:rPr>
              <a:t> Just as NIH Budget Was </a:t>
            </a:r>
            <a:r>
              <a:rPr b="0" i="1" lang="en-IN" sz="2800" strike="noStrike" u="none">
                <a:solidFill>
                  <a:srgbClr val="ffcc00"/>
                </a:solidFill>
                <a:effectLst/>
                <a:uFillTx/>
                <a:latin typeface="Arial"/>
              </a:rPr>
              <a:t>“Landing!”</a:t>
            </a:r>
            <a:r>
              <a:rPr b="0" i="1" lang="en-IN" sz="2800" strike="noStrike" u="none">
                <a:solidFill>
                  <a:srgbClr val="ffffff"/>
                </a:solidFill>
                <a:effectLst/>
                <a:uFillTx/>
                <a:latin typeface="Arial"/>
              </a:rPr>
              <a:t> </a:t>
            </a:r>
            <a:br>
              <a:rPr sz="2800"/>
            </a:br>
            <a:br>
              <a:rPr sz="2800"/>
            </a:br>
            <a:endParaRPr b="1" lang="en-IN" sz="2800" strike="noStrike" u="none">
              <a:solidFill>
                <a:srgbClr val="ffffff"/>
              </a:solidFill>
              <a:effectLst/>
              <a:uFillTx/>
              <a:latin typeface="Myriad Web"/>
            </a:endParaRPr>
          </a:p>
        </p:txBody>
      </p:sp>
      <p:sp>
        <p:nvSpPr>
          <p:cNvPr id="554" name=""/>
          <p:cNvSpPr/>
          <p:nvPr/>
        </p:nvSpPr>
        <p:spPr>
          <a:xfrm>
            <a:off x="4908600" y="1603440"/>
            <a:ext cx="3984480" cy="4308480"/>
          </a:xfrm>
          <a:prstGeom prst="rect">
            <a:avLst/>
          </a:prstGeom>
          <a:noFill/>
          <a:ln w="0">
            <a:noFill/>
          </a:ln>
        </p:spPr>
        <p:style>
          <a:lnRef idx="0"/>
          <a:fillRef idx="0"/>
          <a:effectRef idx="0"/>
          <a:fontRef idx="minor"/>
        </p:style>
        <p:txBody>
          <a:bodyPr lIns="90000" rIns="90000" tIns="46800" bIns="46800" anchor="t">
            <a:spAutoFit/>
          </a:bodyPr>
          <a:p>
            <a:pPr marL="174600" indent="-174600">
              <a:spcBef>
                <a:spcPts val="1012"/>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Arial"/>
              </a:rPr>
              <a:t>Post doubling “boom” in applications has led  to demand/supply imbalance</a:t>
            </a:r>
            <a:endParaRPr b="0" lang="en-IN" sz="1800" strike="noStrike" u="none">
              <a:solidFill>
                <a:srgbClr val="000000"/>
              </a:solidFill>
              <a:effectLst/>
              <a:uFillTx/>
              <a:latin typeface="Arial"/>
            </a:endParaRPr>
          </a:p>
          <a:p>
            <a:pPr marL="174600" indent="-174600">
              <a:spcBef>
                <a:spcPts val="1012"/>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Arial"/>
              </a:rPr>
              <a:t>NIH managed well despite small increases in 2004 (2.9%) and 2005 (2%) but flat 2006 made it difficult to adjust</a:t>
            </a:r>
            <a:endParaRPr b="0" lang="en-IN" sz="1800" strike="noStrike" u="none">
              <a:solidFill>
                <a:srgbClr val="000000"/>
              </a:solidFill>
              <a:effectLst/>
              <a:uFillTx/>
              <a:latin typeface="Arial"/>
            </a:endParaRPr>
          </a:p>
          <a:p>
            <a:pPr marL="174600" indent="-174600">
              <a:spcBef>
                <a:spcPts val="1012"/>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Arial"/>
              </a:rPr>
              <a:t>~80% of success rate drop is due to increased demand for grants </a:t>
            </a:r>
            <a:endParaRPr b="0" lang="en-IN" sz="1800" strike="noStrike" u="none">
              <a:solidFill>
                <a:srgbClr val="000000"/>
              </a:solidFill>
              <a:effectLst/>
              <a:uFillTx/>
              <a:latin typeface="Arial"/>
            </a:endParaRPr>
          </a:p>
          <a:p>
            <a:pPr marL="174600" indent="-174600">
              <a:spcBef>
                <a:spcPts val="1012"/>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Arial"/>
              </a:rPr>
              <a:t>~20% of drop is due to increased costs of grant and inflation effects.</a:t>
            </a:r>
            <a:endParaRPr b="0" lang="en-IN" sz="1800" strike="noStrike" u="none">
              <a:solidFill>
                <a:srgbClr val="000000"/>
              </a:solidFill>
              <a:effectLst/>
              <a:uFillTx/>
              <a:latin typeface="Arial"/>
            </a:endParaRPr>
          </a:p>
          <a:p>
            <a:pPr marL="174600" indent="-174600">
              <a:spcBef>
                <a:spcPts val="1349"/>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Arial"/>
              </a:rPr>
              <a:t>Budget cycling effect will improve demand vs supply of grants in 2007</a:t>
            </a:r>
            <a:r>
              <a:rPr b="0" lang="en-US" sz="2400" strike="noStrike" u="none">
                <a:solidFill>
                  <a:srgbClr val="ffffff"/>
                </a:solidFill>
                <a:effectLst/>
                <a:uFillTx/>
                <a:latin typeface="Arial"/>
              </a:rPr>
              <a:t> </a:t>
            </a:r>
            <a:endParaRPr b="0" lang="en-IN" sz="2400" strike="noStrike" u="none">
              <a:solidFill>
                <a:srgbClr val="000000"/>
              </a:solidFill>
              <a:effectLst/>
              <a:uFillTx/>
              <a:latin typeface="Arial"/>
            </a:endParaRPr>
          </a:p>
        </p:txBody>
      </p:sp>
      <p:grpSp>
        <p:nvGrpSpPr>
          <p:cNvPr id="555" name=""/>
          <p:cNvGrpSpPr/>
          <p:nvPr/>
        </p:nvGrpSpPr>
        <p:grpSpPr>
          <a:xfrm>
            <a:off x="1173240" y="3513240"/>
            <a:ext cx="2657520" cy="1768320"/>
            <a:chOff x="1173240" y="3513240"/>
            <a:chExt cx="2657520" cy="1768320"/>
          </a:xfrm>
        </p:grpSpPr>
        <p:pic>
          <p:nvPicPr>
            <p:cNvPr id="556" name="" descr=""/>
            <p:cNvPicPr/>
            <p:nvPr/>
          </p:nvPicPr>
          <p:blipFill>
            <a:blip r:embed="rId1"/>
            <a:stretch/>
          </p:blipFill>
          <p:spPr>
            <a:xfrm>
              <a:off x="1187640" y="3524040"/>
              <a:ext cx="2643120" cy="1755360"/>
            </a:xfrm>
            <a:prstGeom prst="rect">
              <a:avLst/>
            </a:prstGeom>
            <a:noFill/>
            <a:ln w="0">
              <a:noFill/>
            </a:ln>
          </p:spPr>
        </p:pic>
        <p:sp>
          <p:nvSpPr>
            <p:cNvPr id="557" name=""/>
            <p:cNvSpPr/>
            <p:nvPr/>
          </p:nvSpPr>
          <p:spPr>
            <a:xfrm>
              <a:off x="1173240" y="3513240"/>
              <a:ext cx="2641680" cy="1768320"/>
            </a:xfrm>
            <a:prstGeom prst="rect">
              <a:avLst/>
            </a:prstGeom>
            <a:noFill/>
            <a:ln w="38160">
              <a:solidFill>
                <a:srgbClr val="ffcc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grpSp>
        <p:nvGrpSpPr>
          <p:cNvPr id="558" name=""/>
          <p:cNvGrpSpPr/>
          <p:nvPr/>
        </p:nvGrpSpPr>
        <p:grpSpPr>
          <a:xfrm>
            <a:off x="2101680" y="1987560"/>
            <a:ext cx="2293920" cy="1730160"/>
            <a:chOff x="2101680" y="1987560"/>
            <a:chExt cx="2293920" cy="1730160"/>
          </a:xfrm>
        </p:grpSpPr>
        <p:pic>
          <p:nvPicPr>
            <p:cNvPr id="559" name="" descr=""/>
            <p:cNvPicPr/>
            <p:nvPr/>
          </p:nvPicPr>
          <p:blipFill>
            <a:blip r:embed="rId2"/>
            <a:stretch/>
          </p:blipFill>
          <p:spPr>
            <a:xfrm>
              <a:off x="2101680" y="1987560"/>
              <a:ext cx="2293920" cy="1720800"/>
            </a:xfrm>
            <a:prstGeom prst="rect">
              <a:avLst/>
            </a:prstGeom>
            <a:noFill/>
            <a:ln w="0">
              <a:noFill/>
            </a:ln>
          </p:spPr>
        </p:pic>
        <p:sp>
          <p:nvSpPr>
            <p:cNvPr id="560" name=""/>
            <p:cNvSpPr/>
            <p:nvPr/>
          </p:nvSpPr>
          <p:spPr>
            <a:xfrm>
              <a:off x="2117520" y="1987560"/>
              <a:ext cx="2278080" cy="1730160"/>
            </a:xfrm>
            <a:prstGeom prst="rect">
              <a:avLst/>
            </a:prstGeom>
            <a:noFill/>
            <a:ln w="38160">
              <a:solidFill>
                <a:srgbClr val="ffcc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sp>
        <p:nvSpPr>
          <p:cNvPr id="561" name=""/>
          <p:cNvSpPr/>
          <p:nvPr/>
        </p:nvSpPr>
        <p:spPr>
          <a:xfrm>
            <a:off x="2203200" y="2082960"/>
            <a:ext cx="14133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Applications</a:t>
            </a:r>
            <a:endParaRPr b="0" lang="en-IN" sz="1800" strike="noStrike" u="none">
              <a:solidFill>
                <a:srgbClr val="000000"/>
              </a:solidFill>
              <a:effectLst/>
              <a:uFillTx/>
              <a:latin typeface="Arial"/>
            </a:endParaRPr>
          </a:p>
        </p:txBody>
      </p:sp>
      <p:sp>
        <p:nvSpPr>
          <p:cNvPr id="562" name=""/>
          <p:cNvSpPr/>
          <p:nvPr/>
        </p:nvSpPr>
        <p:spPr>
          <a:xfrm>
            <a:off x="2406240" y="3795840"/>
            <a:ext cx="9054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Arial"/>
              </a:rPr>
              <a:t>Budget</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563" name="PlaceHolder 1"/>
          <p:cNvSpPr>
            <a:spLocks noGrp="1"/>
          </p:cNvSpPr>
          <p:nvPr>
            <p:ph type="title"/>
          </p:nvPr>
        </p:nvSpPr>
        <p:spPr>
          <a:xfrm>
            <a:off x="712800" y="2928600"/>
            <a:ext cx="8431200" cy="118116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 The Question on Everyone’s Mind:</a:t>
            </a:r>
            <a:br>
              <a:rPr sz="3600"/>
            </a:br>
            <a:r>
              <a:rPr b="0" i="1" lang="en-IN" sz="4400" strike="noStrike" u="none">
                <a:solidFill>
                  <a:srgbClr val="ffcc00"/>
                </a:solidFill>
                <a:effectLst/>
                <a:uFillTx/>
                <a:latin typeface="Arial"/>
              </a:rPr>
              <a:t>What are MY chances </a:t>
            </a:r>
            <a:br>
              <a:rPr sz="4400"/>
            </a:br>
            <a:r>
              <a:rPr b="0" i="1" lang="en-IN" sz="4400" strike="noStrike" u="none">
                <a:solidFill>
                  <a:srgbClr val="ffcc00"/>
                </a:solidFill>
                <a:effectLst/>
                <a:uFillTx/>
                <a:latin typeface="Arial"/>
              </a:rPr>
              <a:t>of being funded?</a:t>
            </a:r>
            <a:endParaRPr b="1" lang="en-IN" sz="4400" strike="noStrike" u="none">
              <a:solidFill>
                <a:srgbClr val="ffffff"/>
              </a:solidFill>
              <a:effectLst/>
              <a:uFillTx/>
              <a:latin typeface="Myriad Web"/>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564" name="PlaceHolder 1"/>
          <p:cNvSpPr>
            <a:spLocks noGrp="1"/>
          </p:cNvSpPr>
          <p:nvPr>
            <p:ph type="title"/>
          </p:nvPr>
        </p:nvSpPr>
        <p:spPr>
          <a:xfrm>
            <a:off x="993600" y="227160"/>
            <a:ext cx="7485120" cy="6523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000" strike="noStrike" u="none">
                <a:solidFill>
                  <a:srgbClr val="ffffff"/>
                </a:solidFill>
                <a:effectLst/>
                <a:uFillTx/>
                <a:latin typeface="Arial"/>
              </a:rPr>
              <a:t>Payline Is Not Funding Cut-off Line</a:t>
            </a:r>
            <a:endParaRPr b="1" lang="en-IN" sz="3000" strike="noStrike" u="none">
              <a:solidFill>
                <a:srgbClr val="ffffff"/>
              </a:solidFill>
              <a:effectLst/>
              <a:uFillTx/>
              <a:latin typeface="Myriad Web"/>
            </a:endParaRPr>
          </a:p>
        </p:txBody>
      </p:sp>
      <p:sp>
        <p:nvSpPr>
          <p:cNvPr id="565" name=""/>
          <p:cNvSpPr/>
          <p:nvPr/>
        </p:nvSpPr>
        <p:spPr>
          <a:xfrm>
            <a:off x="2387520" y="5195880"/>
            <a:ext cx="3078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0</a:t>
            </a:r>
            <a:endParaRPr b="0" lang="en-IN" sz="1800" strike="noStrike" u="none">
              <a:solidFill>
                <a:srgbClr val="000000"/>
              </a:solidFill>
              <a:effectLst/>
              <a:uFillTx/>
              <a:latin typeface="Arial"/>
            </a:endParaRPr>
          </a:p>
        </p:txBody>
      </p:sp>
      <p:sp>
        <p:nvSpPr>
          <p:cNvPr id="566" name=""/>
          <p:cNvSpPr/>
          <p:nvPr/>
        </p:nvSpPr>
        <p:spPr>
          <a:xfrm>
            <a:off x="3627360" y="519588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10</a:t>
            </a:r>
            <a:endParaRPr b="0" lang="en-IN" sz="1800" strike="noStrike" u="none">
              <a:solidFill>
                <a:srgbClr val="000000"/>
              </a:solidFill>
              <a:effectLst/>
              <a:uFillTx/>
              <a:latin typeface="Arial"/>
            </a:endParaRPr>
          </a:p>
        </p:txBody>
      </p:sp>
      <p:sp>
        <p:nvSpPr>
          <p:cNvPr id="567" name=""/>
          <p:cNvSpPr/>
          <p:nvPr/>
        </p:nvSpPr>
        <p:spPr>
          <a:xfrm>
            <a:off x="4995720" y="519588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20</a:t>
            </a:r>
            <a:endParaRPr b="0" lang="en-IN" sz="1800" strike="noStrike" u="none">
              <a:solidFill>
                <a:srgbClr val="000000"/>
              </a:solidFill>
              <a:effectLst/>
              <a:uFillTx/>
              <a:latin typeface="Arial"/>
            </a:endParaRPr>
          </a:p>
        </p:txBody>
      </p:sp>
      <p:sp>
        <p:nvSpPr>
          <p:cNvPr id="568" name=""/>
          <p:cNvSpPr/>
          <p:nvPr/>
        </p:nvSpPr>
        <p:spPr>
          <a:xfrm>
            <a:off x="6362640" y="519588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30</a:t>
            </a:r>
            <a:endParaRPr b="0" lang="en-IN" sz="1800" strike="noStrike" u="none">
              <a:solidFill>
                <a:srgbClr val="000000"/>
              </a:solidFill>
              <a:effectLst/>
              <a:uFillTx/>
              <a:latin typeface="Arial"/>
            </a:endParaRPr>
          </a:p>
        </p:txBody>
      </p:sp>
      <p:sp>
        <p:nvSpPr>
          <p:cNvPr id="569" name=""/>
          <p:cNvSpPr/>
          <p:nvPr/>
        </p:nvSpPr>
        <p:spPr>
          <a:xfrm>
            <a:off x="7731000" y="519588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40</a:t>
            </a:r>
            <a:endParaRPr b="0" lang="en-IN" sz="1800" strike="noStrike" u="none">
              <a:solidFill>
                <a:srgbClr val="000000"/>
              </a:solidFill>
              <a:effectLst/>
              <a:uFillTx/>
              <a:latin typeface="Arial"/>
            </a:endParaRPr>
          </a:p>
        </p:txBody>
      </p:sp>
      <p:sp>
        <p:nvSpPr>
          <p:cNvPr id="570" name=""/>
          <p:cNvSpPr/>
          <p:nvPr/>
        </p:nvSpPr>
        <p:spPr>
          <a:xfrm>
            <a:off x="1884240" y="2027160"/>
            <a:ext cx="5619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100</a:t>
            </a:r>
            <a:endParaRPr b="0" lang="en-IN" sz="1800" strike="noStrike" u="none">
              <a:solidFill>
                <a:srgbClr val="000000"/>
              </a:solidFill>
              <a:effectLst/>
              <a:uFillTx/>
              <a:latin typeface="Arial"/>
            </a:endParaRPr>
          </a:p>
        </p:txBody>
      </p:sp>
      <p:sp>
        <p:nvSpPr>
          <p:cNvPr id="571" name=""/>
          <p:cNvSpPr/>
          <p:nvPr/>
        </p:nvSpPr>
        <p:spPr>
          <a:xfrm>
            <a:off x="2138400" y="4951440"/>
            <a:ext cx="3078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0</a:t>
            </a:r>
            <a:endParaRPr b="0" lang="en-IN" sz="1800" strike="noStrike" u="none">
              <a:solidFill>
                <a:srgbClr val="000000"/>
              </a:solidFill>
              <a:effectLst/>
              <a:uFillTx/>
              <a:latin typeface="Arial"/>
            </a:endParaRPr>
          </a:p>
        </p:txBody>
      </p:sp>
      <p:sp>
        <p:nvSpPr>
          <p:cNvPr id="572" name=""/>
          <p:cNvSpPr/>
          <p:nvPr/>
        </p:nvSpPr>
        <p:spPr>
          <a:xfrm>
            <a:off x="2327400" y="2013120"/>
            <a:ext cx="2566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a:t>
            </a:r>
            <a:endParaRPr b="0" lang="en-IN" sz="1800" strike="noStrike" u="none">
              <a:solidFill>
                <a:srgbClr val="000000"/>
              </a:solidFill>
              <a:effectLst/>
              <a:uFillTx/>
              <a:latin typeface="Arial"/>
            </a:endParaRPr>
          </a:p>
        </p:txBody>
      </p:sp>
      <p:grpSp>
        <p:nvGrpSpPr>
          <p:cNvPr id="573" name=""/>
          <p:cNvGrpSpPr/>
          <p:nvPr/>
        </p:nvGrpSpPr>
        <p:grpSpPr>
          <a:xfrm>
            <a:off x="2011320" y="2751120"/>
            <a:ext cx="572400" cy="382320"/>
            <a:chOff x="2011320" y="2751120"/>
            <a:chExt cx="572400" cy="382320"/>
          </a:xfrm>
        </p:grpSpPr>
        <p:sp>
          <p:nvSpPr>
            <p:cNvPr id="574" name=""/>
            <p:cNvSpPr/>
            <p:nvPr/>
          </p:nvSpPr>
          <p:spPr>
            <a:xfrm>
              <a:off x="2011320" y="276516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75</a:t>
              </a:r>
              <a:endParaRPr b="0" lang="en-IN" sz="1800" strike="noStrike" u="none">
                <a:solidFill>
                  <a:srgbClr val="000000"/>
                </a:solidFill>
                <a:effectLst/>
                <a:uFillTx/>
                <a:latin typeface="Arial"/>
              </a:endParaRPr>
            </a:p>
          </p:txBody>
        </p:sp>
        <p:sp>
          <p:nvSpPr>
            <p:cNvPr id="575" name=""/>
            <p:cNvSpPr/>
            <p:nvPr/>
          </p:nvSpPr>
          <p:spPr>
            <a:xfrm>
              <a:off x="2327040" y="2751120"/>
              <a:ext cx="2566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a:t>
              </a:r>
              <a:endParaRPr b="0" lang="en-IN" sz="1800" strike="noStrike" u="none">
                <a:solidFill>
                  <a:srgbClr val="000000"/>
                </a:solidFill>
                <a:effectLst/>
                <a:uFillTx/>
                <a:latin typeface="Arial"/>
              </a:endParaRPr>
            </a:p>
          </p:txBody>
        </p:sp>
      </p:grpSp>
      <p:grpSp>
        <p:nvGrpSpPr>
          <p:cNvPr id="576" name=""/>
          <p:cNvGrpSpPr/>
          <p:nvPr/>
        </p:nvGrpSpPr>
        <p:grpSpPr>
          <a:xfrm>
            <a:off x="2011320" y="3489480"/>
            <a:ext cx="572400" cy="368280"/>
            <a:chOff x="2011320" y="3489480"/>
            <a:chExt cx="572400" cy="368280"/>
          </a:xfrm>
        </p:grpSpPr>
        <p:sp>
          <p:nvSpPr>
            <p:cNvPr id="577" name=""/>
            <p:cNvSpPr/>
            <p:nvPr/>
          </p:nvSpPr>
          <p:spPr>
            <a:xfrm>
              <a:off x="2011320" y="348948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50</a:t>
              </a:r>
              <a:endParaRPr b="0" lang="en-IN" sz="1800" strike="noStrike" u="none">
                <a:solidFill>
                  <a:srgbClr val="000000"/>
                </a:solidFill>
                <a:effectLst/>
                <a:uFillTx/>
                <a:latin typeface="Arial"/>
              </a:endParaRPr>
            </a:p>
          </p:txBody>
        </p:sp>
        <p:sp>
          <p:nvSpPr>
            <p:cNvPr id="578" name=""/>
            <p:cNvSpPr/>
            <p:nvPr/>
          </p:nvSpPr>
          <p:spPr>
            <a:xfrm>
              <a:off x="2327040" y="3489480"/>
              <a:ext cx="2566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a:t>
              </a:r>
              <a:endParaRPr b="0" lang="en-IN" sz="1800" strike="noStrike" u="none">
                <a:solidFill>
                  <a:srgbClr val="000000"/>
                </a:solidFill>
                <a:effectLst/>
                <a:uFillTx/>
                <a:latin typeface="Arial"/>
              </a:endParaRPr>
            </a:p>
          </p:txBody>
        </p:sp>
      </p:grpSp>
      <p:grpSp>
        <p:nvGrpSpPr>
          <p:cNvPr id="579" name=""/>
          <p:cNvGrpSpPr/>
          <p:nvPr/>
        </p:nvGrpSpPr>
        <p:grpSpPr>
          <a:xfrm>
            <a:off x="2011320" y="4213080"/>
            <a:ext cx="572400" cy="382320"/>
            <a:chOff x="2011320" y="4213080"/>
            <a:chExt cx="572400" cy="382320"/>
          </a:xfrm>
        </p:grpSpPr>
        <p:sp>
          <p:nvSpPr>
            <p:cNvPr id="580" name=""/>
            <p:cNvSpPr/>
            <p:nvPr/>
          </p:nvSpPr>
          <p:spPr>
            <a:xfrm>
              <a:off x="2011320" y="4213080"/>
              <a:ext cx="434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25</a:t>
              </a:r>
              <a:endParaRPr b="0" lang="en-IN" sz="1800" strike="noStrike" u="none">
                <a:solidFill>
                  <a:srgbClr val="000000"/>
                </a:solidFill>
                <a:effectLst/>
                <a:uFillTx/>
                <a:latin typeface="Arial"/>
              </a:endParaRPr>
            </a:p>
          </p:txBody>
        </p:sp>
        <p:sp>
          <p:nvSpPr>
            <p:cNvPr id="581" name=""/>
            <p:cNvSpPr/>
            <p:nvPr/>
          </p:nvSpPr>
          <p:spPr>
            <a:xfrm>
              <a:off x="2327040" y="4227120"/>
              <a:ext cx="2566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a:t>
              </a:r>
              <a:endParaRPr b="0" lang="en-IN" sz="1800" strike="noStrike" u="none">
                <a:solidFill>
                  <a:srgbClr val="000000"/>
                </a:solidFill>
                <a:effectLst/>
                <a:uFillTx/>
                <a:latin typeface="Arial"/>
              </a:endParaRPr>
            </a:p>
          </p:txBody>
        </p:sp>
      </p:grpSp>
      <p:sp>
        <p:nvSpPr>
          <p:cNvPr id="582" name=""/>
          <p:cNvSpPr/>
          <p:nvPr/>
        </p:nvSpPr>
        <p:spPr>
          <a:xfrm>
            <a:off x="2481120" y="2236680"/>
            <a:ext cx="5748480" cy="1800"/>
          </a:xfrm>
          <a:prstGeom prst="line">
            <a:avLst/>
          </a:prstGeom>
          <a:ln w="28440">
            <a:solidFill>
              <a:srgbClr val="ffffff"/>
            </a:solidFill>
            <a:prstDash val="sysDot"/>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583" name=""/>
          <p:cNvSpPr/>
          <p:nvPr/>
        </p:nvSpPr>
        <p:spPr>
          <a:xfrm>
            <a:off x="2475000" y="2298600"/>
            <a:ext cx="4705200" cy="2880000"/>
          </a:xfrm>
          <a:custGeom>
            <a:avLst/>
            <a:gdLst/>
            <a:ahLst/>
            <a:rect l="l" t="t" r="r" b="b"/>
            <a:pathLst>
              <a:path w="2964" h="1814">
                <a:moveTo>
                  <a:pt x="4" y="32"/>
                </a:moveTo>
                <a:lnTo>
                  <a:pt x="148" y="8"/>
                </a:lnTo>
                <a:lnTo>
                  <a:pt x="280" y="8"/>
                </a:lnTo>
                <a:lnTo>
                  <a:pt x="376" y="28"/>
                </a:lnTo>
                <a:lnTo>
                  <a:pt x="608" y="12"/>
                </a:lnTo>
                <a:lnTo>
                  <a:pt x="820" y="0"/>
                </a:lnTo>
                <a:lnTo>
                  <a:pt x="948" y="8"/>
                </a:lnTo>
                <a:lnTo>
                  <a:pt x="1063" y="16"/>
                </a:lnTo>
                <a:lnTo>
                  <a:pt x="1159" y="58"/>
                </a:lnTo>
                <a:lnTo>
                  <a:pt x="1385" y="161"/>
                </a:lnTo>
                <a:lnTo>
                  <a:pt x="1431" y="289"/>
                </a:lnTo>
                <a:lnTo>
                  <a:pt x="1522" y="518"/>
                </a:lnTo>
                <a:lnTo>
                  <a:pt x="1586" y="746"/>
                </a:lnTo>
                <a:lnTo>
                  <a:pt x="1751" y="1075"/>
                </a:lnTo>
                <a:lnTo>
                  <a:pt x="1824" y="1158"/>
                </a:lnTo>
                <a:lnTo>
                  <a:pt x="1879" y="1222"/>
                </a:lnTo>
                <a:lnTo>
                  <a:pt x="1924" y="1322"/>
                </a:lnTo>
                <a:lnTo>
                  <a:pt x="2080" y="1469"/>
                </a:lnTo>
                <a:lnTo>
                  <a:pt x="2244" y="1597"/>
                </a:lnTo>
                <a:lnTo>
                  <a:pt x="2446" y="1670"/>
                </a:lnTo>
                <a:lnTo>
                  <a:pt x="2656" y="1706"/>
                </a:lnTo>
                <a:lnTo>
                  <a:pt x="2796" y="1762"/>
                </a:lnTo>
                <a:lnTo>
                  <a:pt x="2904" y="1798"/>
                </a:lnTo>
                <a:lnTo>
                  <a:pt x="2964" y="1814"/>
                </a:lnTo>
                <a:lnTo>
                  <a:pt x="0" y="1814"/>
                </a:lnTo>
                <a:lnTo>
                  <a:pt x="4" y="32"/>
                </a:lnTo>
                <a:close/>
              </a:path>
            </a:pathLst>
          </a:custGeom>
          <a:blipFill rotWithShape="0">
            <a:blip r:embed="rId1"/>
            <a:srcRect/>
            <a:tile tx="0" ty="0" sx="100000" sy="100000" algn="ctr"/>
          </a:blipFill>
          <a:ln w="9360">
            <a:solidFill>
              <a:srgbClr val="000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84" name=""/>
          <p:cNvSpPr/>
          <p:nvPr/>
        </p:nvSpPr>
        <p:spPr>
          <a:xfrm>
            <a:off x="4230360" y="5522760"/>
            <a:ext cx="18579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Percentile Score</a:t>
            </a:r>
            <a:endParaRPr b="0" lang="en-IN" sz="1800" strike="noStrike" u="none">
              <a:solidFill>
                <a:srgbClr val="000000"/>
              </a:solidFill>
              <a:effectLst/>
              <a:uFillTx/>
              <a:latin typeface="Arial"/>
            </a:endParaRPr>
          </a:p>
        </p:txBody>
      </p:sp>
      <p:sp>
        <p:nvSpPr>
          <p:cNvPr id="585" name=""/>
          <p:cNvSpPr/>
          <p:nvPr/>
        </p:nvSpPr>
        <p:spPr>
          <a:xfrm rot="16200000">
            <a:off x="556560" y="3530160"/>
            <a:ext cx="2404440" cy="368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Percent R01s Funded</a:t>
            </a:r>
            <a:endParaRPr b="0" lang="en-IN" sz="1800" strike="noStrike" u="none">
              <a:solidFill>
                <a:srgbClr val="000000"/>
              </a:solidFill>
              <a:effectLst/>
              <a:uFillTx/>
              <a:latin typeface="Arial"/>
            </a:endParaRPr>
          </a:p>
        </p:txBody>
      </p:sp>
      <p:grpSp>
        <p:nvGrpSpPr>
          <p:cNvPr id="586" name=""/>
          <p:cNvGrpSpPr/>
          <p:nvPr/>
        </p:nvGrpSpPr>
        <p:grpSpPr>
          <a:xfrm>
            <a:off x="1325520" y="1204920"/>
            <a:ext cx="3116520" cy="3976560"/>
            <a:chOff x="1325520" y="1204920"/>
            <a:chExt cx="3116520" cy="3976560"/>
          </a:xfrm>
        </p:grpSpPr>
        <p:sp>
          <p:nvSpPr>
            <p:cNvPr id="587" name=""/>
            <p:cNvSpPr/>
            <p:nvPr/>
          </p:nvSpPr>
          <p:spPr>
            <a:xfrm>
              <a:off x="2492280" y="2293920"/>
              <a:ext cx="1790640" cy="2887560"/>
            </a:xfrm>
            <a:custGeom>
              <a:avLst/>
              <a:gdLst/>
              <a:ahLst/>
              <a:rect l="l" t="t" r="r" b="b"/>
              <a:pathLst>
                <a:path w="1128" h="1819">
                  <a:moveTo>
                    <a:pt x="4" y="24"/>
                  </a:moveTo>
                  <a:lnTo>
                    <a:pt x="120" y="5"/>
                  </a:lnTo>
                  <a:lnTo>
                    <a:pt x="268" y="0"/>
                  </a:lnTo>
                  <a:lnTo>
                    <a:pt x="398" y="24"/>
                  </a:lnTo>
                  <a:lnTo>
                    <a:pt x="465" y="19"/>
                  </a:lnTo>
                  <a:lnTo>
                    <a:pt x="676" y="0"/>
                  </a:lnTo>
                  <a:lnTo>
                    <a:pt x="792" y="5"/>
                  </a:lnTo>
                  <a:lnTo>
                    <a:pt x="916" y="14"/>
                  </a:lnTo>
                  <a:lnTo>
                    <a:pt x="1051" y="19"/>
                  </a:lnTo>
                  <a:lnTo>
                    <a:pt x="1128" y="48"/>
                  </a:lnTo>
                  <a:lnTo>
                    <a:pt x="1128" y="1819"/>
                  </a:lnTo>
                  <a:lnTo>
                    <a:pt x="0" y="1819"/>
                  </a:lnTo>
                  <a:lnTo>
                    <a:pt x="4" y="24"/>
                  </a:lnTo>
                  <a:close/>
                </a:path>
              </a:pathLst>
            </a:custGeom>
            <a:blipFill rotWithShape="0">
              <a:blip r:embed="rId2"/>
              <a:srcRect/>
              <a:tile tx="0" ty="0" sx="100000" sy="100000" algn="ctr"/>
            </a:blipFill>
            <a:ln w="9360">
              <a:solidFill>
                <a:srgbClr val="000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88" name=""/>
            <p:cNvSpPr/>
            <p:nvPr/>
          </p:nvSpPr>
          <p:spPr>
            <a:xfrm>
              <a:off x="1325520" y="1204920"/>
              <a:ext cx="3116520" cy="642600"/>
            </a:xfrm>
            <a:prstGeom prst="rect">
              <a:avLst/>
            </a:prstGeom>
            <a:noFill/>
            <a:ln w="0">
              <a:noFill/>
            </a:ln>
          </p:spPr>
          <p:style>
            <a:lnRef idx="0"/>
            <a:fillRef idx="0"/>
            <a:effectRef idx="0"/>
            <a:fontRef idx="minor"/>
          </p:style>
          <p:txBody>
            <a:bodyPr wrap="none" lIns="90000" rIns="90000" tIns="46800" bIns="4680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Arial"/>
                </a:rPr>
                <a:t>&gt;99% of grants under the </a:t>
              </a:r>
              <a:endParaRPr b="0" lang="en-IN" sz="2000" strike="noStrike" u="none">
                <a:solidFill>
                  <a:srgbClr val="000000"/>
                </a:solidFill>
                <a:effectLst/>
                <a:uFillTx/>
                <a:latin typeface="Arial"/>
              </a:endParaRPr>
            </a:p>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Arial"/>
                </a:rPr>
                <a:t>payline are funded</a:t>
              </a:r>
              <a:endParaRPr b="0" lang="en-IN" sz="2000" strike="noStrike" u="none">
                <a:solidFill>
                  <a:srgbClr val="000000"/>
                </a:solidFill>
                <a:effectLst/>
                <a:uFillTx/>
                <a:latin typeface="Arial"/>
              </a:endParaRPr>
            </a:p>
          </p:txBody>
        </p:sp>
        <p:sp>
          <p:nvSpPr>
            <p:cNvPr id="589" name=""/>
            <p:cNvSpPr/>
            <p:nvPr/>
          </p:nvSpPr>
          <p:spPr>
            <a:xfrm>
              <a:off x="2781360" y="1854360"/>
              <a:ext cx="507960" cy="94752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sp>
        <p:nvSpPr>
          <p:cNvPr id="590" name=""/>
          <p:cNvSpPr/>
          <p:nvPr/>
        </p:nvSpPr>
        <p:spPr>
          <a:xfrm>
            <a:off x="2490840" y="2308320"/>
            <a:ext cx="5824440" cy="2852640"/>
          </a:xfrm>
          <a:custGeom>
            <a:avLst/>
            <a:gdLst/>
            <a:ahLst/>
            <a:rect l="l" t="t" r="r" b="b"/>
            <a:pathLst>
              <a:path w="3669" h="1797">
                <a:moveTo>
                  <a:pt x="0" y="18"/>
                </a:moveTo>
                <a:cubicBezTo>
                  <a:pt x="90" y="9"/>
                  <a:pt x="180" y="0"/>
                  <a:pt x="247" y="0"/>
                </a:cubicBezTo>
                <a:cubicBezTo>
                  <a:pt x="314" y="0"/>
                  <a:pt x="346" y="16"/>
                  <a:pt x="402" y="18"/>
                </a:cubicBezTo>
                <a:cubicBezTo>
                  <a:pt x="458" y="20"/>
                  <a:pt x="530" y="12"/>
                  <a:pt x="585" y="9"/>
                </a:cubicBezTo>
                <a:cubicBezTo>
                  <a:pt x="640" y="6"/>
                  <a:pt x="671" y="0"/>
                  <a:pt x="732" y="0"/>
                </a:cubicBezTo>
                <a:cubicBezTo>
                  <a:pt x="793" y="0"/>
                  <a:pt x="892" y="5"/>
                  <a:pt x="951" y="9"/>
                </a:cubicBezTo>
                <a:cubicBezTo>
                  <a:pt x="1010" y="13"/>
                  <a:pt x="1036" y="7"/>
                  <a:pt x="1089" y="22"/>
                </a:cubicBezTo>
                <a:cubicBezTo>
                  <a:pt x="1142" y="37"/>
                  <a:pt x="1222" y="76"/>
                  <a:pt x="1269" y="100"/>
                </a:cubicBezTo>
                <a:cubicBezTo>
                  <a:pt x="1316" y="124"/>
                  <a:pt x="1351" y="127"/>
                  <a:pt x="1375" y="164"/>
                </a:cubicBezTo>
                <a:cubicBezTo>
                  <a:pt x="1399" y="201"/>
                  <a:pt x="1388" y="261"/>
                  <a:pt x="1412" y="320"/>
                </a:cubicBezTo>
                <a:cubicBezTo>
                  <a:pt x="1436" y="379"/>
                  <a:pt x="1492" y="453"/>
                  <a:pt x="1521" y="521"/>
                </a:cubicBezTo>
                <a:cubicBezTo>
                  <a:pt x="1550" y="589"/>
                  <a:pt x="1551" y="649"/>
                  <a:pt x="1585" y="731"/>
                </a:cubicBezTo>
                <a:cubicBezTo>
                  <a:pt x="1619" y="813"/>
                  <a:pt x="1676" y="937"/>
                  <a:pt x="1722" y="1015"/>
                </a:cubicBezTo>
                <a:cubicBezTo>
                  <a:pt x="1768" y="1093"/>
                  <a:pt x="1826" y="1147"/>
                  <a:pt x="1860" y="1197"/>
                </a:cubicBezTo>
                <a:cubicBezTo>
                  <a:pt x="1894" y="1247"/>
                  <a:pt x="1868" y="1255"/>
                  <a:pt x="1924" y="1316"/>
                </a:cubicBezTo>
                <a:cubicBezTo>
                  <a:pt x="1980" y="1377"/>
                  <a:pt x="2099" y="1502"/>
                  <a:pt x="2198" y="1563"/>
                </a:cubicBezTo>
                <a:cubicBezTo>
                  <a:pt x="2297" y="1624"/>
                  <a:pt x="2439" y="1659"/>
                  <a:pt x="2518" y="1682"/>
                </a:cubicBezTo>
                <a:cubicBezTo>
                  <a:pt x="2597" y="1705"/>
                  <a:pt x="2605" y="1683"/>
                  <a:pt x="2670" y="1700"/>
                </a:cubicBezTo>
                <a:cubicBezTo>
                  <a:pt x="2735" y="1717"/>
                  <a:pt x="2824" y="1769"/>
                  <a:pt x="2908" y="1783"/>
                </a:cubicBezTo>
                <a:cubicBezTo>
                  <a:pt x="2992" y="1797"/>
                  <a:pt x="3077" y="1782"/>
                  <a:pt x="3173" y="1783"/>
                </a:cubicBezTo>
                <a:cubicBezTo>
                  <a:pt x="3269" y="1784"/>
                  <a:pt x="3401" y="1790"/>
                  <a:pt x="3484" y="1792"/>
                </a:cubicBezTo>
                <a:cubicBezTo>
                  <a:pt x="3567" y="1794"/>
                  <a:pt x="3631" y="1792"/>
                  <a:pt x="3669" y="1792"/>
                </a:cubicBezTo>
              </a:path>
            </a:pathLst>
          </a:custGeom>
          <a:noFill/>
          <a:ln w="76320">
            <a:solidFill>
              <a:srgbClr val="ffcc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91" name=""/>
          <p:cNvSpPr/>
          <p:nvPr/>
        </p:nvSpPr>
        <p:spPr>
          <a:xfrm>
            <a:off x="2433600" y="5181480"/>
            <a:ext cx="5862600" cy="1800"/>
          </a:xfrm>
          <a:prstGeom prst="line">
            <a:avLst/>
          </a:prstGeom>
          <a:ln w="28440">
            <a:solidFill>
              <a:srgbClr val="ffffff"/>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grpSp>
        <p:nvGrpSpPr>
          <p:cNvPr id="592" name=""/>
          <p:cNvGrpSpPr/>
          <p:nvPr/>
        </p:nvGrpSpPr>
        <p:grpSpPr>
          <a:xfrm>
            <a:off x="4889520" y="2801880"/>
            <a:ext cx="3725280" cy="982800"/>
            <a:chOff x="4889520" y="2801880"/>
            <a:chExt cx="3725280" cy="982800"/>
          </a:xfrm>
        </p:grpSpPr>
        <p:sp>
          <p:nvSpPr>
            <p:cNvPr id="593" name=""/>
            <p:cNvSpPr/>
            <p:nvPr/>
          </p:nvSpPr>
          <p:spPr>
            <a:xfrm flipV="1">
              <a:off x="4889520" y="3048120"/>
              <a:ext cx="1600200" cy="736560"/>
            </a:xfrm>
            <a:prstGeom prst="line">
              <a:avLst/>
            </a:prstGeom>
            <a:ln w="381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94" name=""/>
            <p:cNvSpPr/>
            <p:nvPr/>
          </p:nvSpPr>
          <p:spPr>
            <a:xfrm>
              <a:off x="6451560" y="2801880"/>
              <a:ext cx="2163240" cy="716040"/>
            </a:xfrm>
            <a:prstGeom prst="rect">
              <a:avLst/>
            </a:prstGeom>
            <a:noFill/>
            <a:ln w="0">
              <a:noFill/>
            </a:ln>
          </p:spPr>
          <p:style>
            <a:lnRef idx="0"/>
            <a:fillRef idx="0"/>
            <a:effectRef idx="0"/>
            <a:fontRef idx="minor"/>
          </p:style>
          <p:txBody>
            <a:bodyPr wrap="none" lIns="90000" rIns="90000" tIns="46800" bIns="46800" anchor="t">
              <a:spAutoFit/>
            </a:bodyPr>
            <a:p>
              <a:pPr>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cc00"/>
                  </a:solidFill>
                  <a:effectLst/>
                  <a:uFillTx/>
                  <a:latin typeface="Arial"/>
                </a:rPr>
                <a:t>Success Rate</a:t>
              </a:r>
              <a:endParaRPr b="0" lang="en-IN" sz="2400" strike="noStrike" u="none">
                <a:solidFill>
                  <a:srgbClr val="000000"/>
                </a:solidFill>
                <a:effectLst/>
                <a:uFillTx/>
                <a:latin typeface="Arial"/>
              </a:endParaRPr>
            </a:p>
            <a:p>
              <a:pPr>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cc00"/>
                  </a:solidFill>
                  <a:effectLst/>
                  <a:uFillTx/>
                  <a:latin typeface="Arial"/>
                </a:rPr>
                <a:t>per </a:t>
              </a:r>
              <a:r>
                <a:rPr b="0" i="1" lang="en-IN" sz="2400" strike="noStrike" u="sng">
                  <a:solidFill>
                    <a:srgbClr val="ffcc00"/>
                  </a:solidFill>
                  <a:effectLst/>
                  <a:uFillTx/>
                  <a:latin typeface="Arial"/>
                </a:rPr>
                <a:t>application</a:t>
              </a:r>
              <a:endParaRPr b="0" lang="en-IN" sz="2400" strike="noStrike" u="none">
                <a:solidFill>
                  <a:srgbClr val="000000"/>
                </a:solidFill>
                <a:effectLst/>
                <a:uFillTx/>
                <a:latin typeface="Arial"/>
              </a:endParaRPr>
            </a:p>
          </p:txBody>
        </p:sp>
      </p:grpSp>
      <p:sp>
        <p:nvSpPr>
          <p:cNvPr id="595" name=""/>
          <p:cNvSpPr/>
          <p:nvPr/>
        </p:nvSpPr>
        <p:spPr>
          <a:xfrm>
            <a:off x="2490840" y="2176560"/>
            <a:ext cx="1440" cy="3047760"/>
          </a:xfrm>
          <a:prstGeom prst="line">
            <a:avLst/>
          </a:prstGeom>
          <a:ln w="2844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596" name=""/>
          <p:cNvGrpSpPr/>
          <p:nvPr/>
        </p:nvGrpSpPr>
        <p:grpSpPr>
          <a:xfrm>
            <a:off x="4286160" y="1611360"/>
            <a:ext cx="1289880" cy="3722760"/>
            <a:chOff x="4286160" y="1611360"/>
            <a:chExt cx="1289880" cy="3722760"/>
          </a:xfrm>
        </p:grpSpPr>
        <p:sp>
          <p:nvSpPr>
            <p:cNvPr id="597" name=""/>
            <p:cNvSpPr/>
            <p:nvPr/>
          </p:nvSpPr>
          <p:spPr>
            <a:xfrm>
              <a:off x="4286160" y="1981080"/>
              <a:ext cx="1800" cy="3353040"/>
            </a:xfrm>
            <a:prstGeom prst="line">
              <a:avLst/>
            </a:prstGeom>
            <a:ln w="7632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98" name=""/>
            <p:cNvSpPr/>
            <p:nvPr/>
          </p:nvSpPr>
          <p:spPr>
            <a:xfrm>
              <a:off x="4311000" y="1611360"/>
              <a:ext cx="12650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5050"/>
                  </a:solidFill>
                  <a:effectLst/>
                  <a:uFillTx/>
                  <a:latin typeface="Arial"/>
                </a:rPr>
                <a:t>Payline </a:t>
              </a:r>
              <a:endParaRPr b="0" lang="en-IN" sz="2400" strike="noStrike" u="none">
                <a:solidFill>
                  <a:srgbClr val="000000"/>
                </a:solidFill>
                <a:effectLst/>
                <a:uFillTx/>
                <a:latin typeface="Arial"/>
              </a:endParaRPr>
            </a:p>
          </p:txBody>
        </p:sp>
      </p:grpSp>
    </p:spTree>
  </p:cSld>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5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58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22" presetSubtype="1">
                                  <p:stCondLst>
                                    <p:cond delay="0"/>
                                  </p:stCondLst>
                                  <p:childTnLst>
                                    <p:set>
                                      <p:cBhvr>
                                        <p:cTn id="60" dur="1" fill="hold">
                                          <p:stCondLst>
                                            <p:cond delay="0"/>
                                          </p:stCondLst>
                                        </p:cTn>
                                        <p:tgtEl>
                                          <p:spTgt spid="583"/>
                                        </p:tgtEl>
                                        <p:attrNameLst>
                                          <p:attrName>style.visibility</p:attrName>
                                        </p:attrNameLst>
                                      </p:cBhvr>
                                      <p:to>
                                        <p:strVal val="visible"/>
                                      </p:to>
                                    </p:set>
                                    <p:animEffect filter="wipe(up)" transition="in">
                                      <p:cBhvr additive="repl">
                                        <p:cTn id="61" dur="500"/>
                                        <p:tgtEl>
                                          <p:spTgt spid="583"/>
                                        </p:tgtEl>
                                      </p:cBhvr>
                                    </p:animEffect>
                                  </p:childTnLst>
                                </p:cTn>
                              </p:par>
                              <p:set>
                                <p:cBhvr>
                                  <p:cTn id="62" dur="1" fill="hold">
                                    <p:stCondLst>
                                      <p:cond delay="0"/>
                                    </p:stCondLst>
                                  </p:cTn>
                                  <p:tgtEl>
                                    <p:spTgt spid="586"/>
                                  </p:tgtEl>
                                  <p:attrNameLst>
                                    <p:attrName>style.visibility</p:attrName>
                                  </p:attrNameLst>
                                </p:cBhvr>
                                <p:to>
                                  <p:strVal val="hidden"/>
                                </p:to>
                              </p:set>
                            </p:childTnLst>
                          </p:cTn>
                        </p:par>
                      </p:childTnLst>
                    </p:cTn>
                  </p:par>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5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599" name=""/>
          <p:cNvSpPr/>
          <p:nvPr/>
        </p:nvSpPr>
        <p:spPr>
          <a:xfrm>
            <a:off x="2222640" y="1841400"/>
            <a:ext cx="2880" cy="360072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00" name=""/>
          <p:cNvSpPr/>
          <p:nvPr/>
        </p:nvSpPr>
        <p:spPr>
          <a:xfrm>
            <a:off x="2065320" y="5442120"/>
            <a:ext cx="15732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601" name=""/>
          <p:cNvSpPr/>
          <p:nvPr/>
        </p:nvSpPr>
        <p:spPr>
          <a:xfrm>
            <a:off x="2065320" y="4994280"/>
            <a:ext cx="157320" cy="3240"/>
          </a:xfrm>
          <a:prstGeom prst="line">
            <a:avLst/>
          </a:prstGeom>
          <a:ln w="0">
            <a:solidFill>
              <a:srgbClr val="ffffff"/>
            </a:solidFill>
          </a:ln>
        </p:spPr>
        <p:style>
          <a:lnRef idx="0"/>
          <a:fillRef idx="0"/>
          <a:effectRef idx="0"/>
          <a:fontRef idx="minor"/>
        </p:style>
        <p:txBody>
          <a:bodyPr lIns="90000" rIns="90000" tIns="-43560" bIns="-43560" anchor="t">
            <a:noAutofit/>
          </a:bodyPr>
          <a:p>
            <a:endParaRPr b="0" lang="en-IN" sz="1800" strike="noStrike" u="none">
              <a:solidFill>
                <a:srgbClr val="000000"/>
              </a:solidFill>
              <a:effectLst/>
              <a:uFillTx/>
              <a:latin typeface="Arial"/>
            </a:endParaRPr>
          </a:p>
        </p:txBody>
      </p:sp>
      <p:sp>
        <p:nvSpPr>
          <p:cNvPr id="602" name=""/>
          <p:cNvSpPr/>
          <p:nvPr/>
        </p:nvSpPr>
        <p:spPr>
          <a:xfrm>
            <a:off x="2065320" y="4548240"/>
            <a:ext cx="15732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603" name=""/>
          <p:cNvSpPr/>
          <p:nvPr/>
        </p:nvSpPr>
        <p:spPr>
          <a:xfrm>
            <a:off x="2065320" y="4102200"/>
            <a:ext cx="15732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604" name=""/>
          <p:cNvSpPr/>
          <p:nvPr/>
        </p:nvSpPr>
        <p:spPr>
          <a:xfrm>
            <a:off x="2065320" y="3656160"/>
            <a:ext cx="15732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605" name=""/>
          <p:cNvSpPr/>
          <p:nvPr/>
        </p:nvSpPr>
        <p:spPr>
          <a:xfrm>
            <a:off x="2065320" y="3179880"/>
            <a:ext cx="157320" cy="2880"/>
          </a:xfrm>
          <a:prstGeom prst="line">
            <a:avLst/>
          </a:prstGeom>
          <a:ln w="0">
            <a:solidFill>
              <a:srgbClr val="ffffff"/>
            </a:solidFill>
          </a:ln>
        </p:spPr>
        <p:style>
          <a:lnRef idx="0"/>
          <a:fillRef idx="0"/>
          <a:effectRef idx="0"/>
          <a:fontRef idx="minor"/>
        </p:style>
        <p:txBody>
          <a:bodyPr lIns="90000" rIns="90000" tIns="-43920" bIns="-43920" anchor="t">
            <a:noAutofit/>
          </a:bodyPr>
          <a:p>
            <a:endParaRPr b="0" lang="en-IN" sz="1800" strike="noStrike" u="none">
              <a:solidFill>
                <a:srgbClr val="000000"/>
              </a:solidFill>
              <a:effectLst/>
              <a:uFillTx/>
              <a:latin typeface="Arial"/>
            </a:endParaRPr>
          </a:p>
        </p:txBody>
      </p:sp>
      <p:sp>
        <p:nvSpPr>
          <p:cNvPr id="606" name=""/>
          <p:cNvSpPr/>
          <p:nvPr/>
        </p:nvSpPr>
        <p:spPr>
          <a:xfrm>
            <a:off x="2065320" y="2733840"/>
            <a:ext cx="15732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607" name=""/>
          <p:cNvSpPr/>
          <p:nvPr/>
        </p:nvSpPr>
        <p:spPr>
          <a:xfrm>
            <a:off x="2065320" y="2287440"/>
            <a:ext cx="15732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08" name=""/>
          <p:cNvSpPr/>
          <p:nvPr/>
        </p:nvSpPr>
        <p:spPr>
          <a:xfrm>
            <a:off x="2065320" y="1841400"/>
            <a:ext cx="15732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609" name=""/>
          <p:cNvSpPr/>
          <p:nvPr/>
        </p:nvSpPr>
        <p:spPr>
          <a:xfrm>
            <a:off x="2222640" y="5442120"/>
            <a:ext cx="624024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610" name=""/>
          <p:cNvSpPr/>
          <p:nvPr/>
        </p:nvSpPr>
        <p:spPr>
          <a:xfrm flipV="1">
            <a:off x="2222640" y="5442120"/>
            <a:ext cx="288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1" name=""/>
          <p:cNvSpPr/>
          <p:nvPr/>
        </p:nvSpPr>
        <p:spPr>
          <a:xfrm flipV="1">
            <a:off x="2776680" y="5442120"/>
            <a:ext cx="14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2" name=""/>
          <p:cNvSpPr/>
          <p:nvPr/>
        </p:nvSpPr>
        <p:spPr>
          <a:xfrm flipV="1">
            <a:off x="3370320" y="5442120"/>
            <a:ext cx="14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3" name=""/>
          <p:cNvSpPr/>
          <p:nvPr/>
        </p:nvSpPr>
        <p:spPr>
          <a:xfrm flipV="1">
            <a:off x="3922560" y="5442120"/>
            <a:ext cx="32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4" name=""/>
          <p:cNvSpPr/>
          <p:nvPr/>
        </p:nvSpPr>
        <p:spPr>
          <a:xfrm flipV="1">
            <a:off x="4475160" y="5442120"/>
            <a:ext cx="32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5" name=""/>
          <p:cNvSpPr/>
          <p:nvPr/>
        </p:nvSpPr>
        <p:spPr>
          <a:xfrm flipV="1">
            <a:off x="5067360" y="5442120"/>
            <a:ext cx="14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6" name=""/>
          <p:cNvSpPr/>
          <p:nvPr/>
        </p:nvSpPr>
        <p:spPr>
          <a:xfrm flipV="1">
            <a:off x="5619600" y="5442120"/>
            <a:ext cx="32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7" name=""/>
          <p:cNvSpPr/>
          <p:nvPr/>
        </p:nvSpPr>
        <p:spPr>
          <a:xfrm flipV="1">
            <a:off x="6213600" y="5442120"/>
            <a:ext cx="288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8" name=""/>
          <p:cNvSpPr/>
          <p:nvPr/>
        </p:nvSpPr>
        <p:spPr>
          <a:xfrm flipV="1">
            <a:off x="6765840" y="5442120"/>
            <a:ext cx="32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19" name=""/>
          <p:cNvSpPr/>
          <p:nvPr/>
        </p:nvSpPr>
        <p:spPr>
          <a:xfrm flipV="1">
            <a:off x="7319880" y="5442120"/>
            <a:ext cx="180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0" name=""/>
          <p:cNvSpPr/>
          <p:nvPr/>
        </p:nvSpPr>
        <p:spPr>
          <a:xfrm flipV="1">
            <a:off x="7910640" y="5442120"/>
            <a:ext cx="288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1" name=""/>
          <p:cNvSpPr/>
          <p:nvPr/>
        </p:nvSpPr>
        <p:spPr>
          <a:xfrm flipV="1">
            <a:off x="8462880" y="5442120"/>
            <a:ext cx="3240" cy="1108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2" name=""/>
          <p:cNvSpPr/>
          <p:nvPr/>
        </p:nvSpPr>
        <p:spPr>
          <a:xfrm>
            <a:off x="2498760" y="2203560"/>
            <a:ext cx="5688000" cy="809640"/>
          </a:xfrm>
          <a:custGeom>
            <a:avLst/>
            <a:gdLst/>
            <a:ahLst/>
            <a:rect l="l" t="t" r="r" b="b"/>
            <a:pathLst>
              <a:path w="144" h="29">
                <a:moveTo>
                  <a:pt x="0" y="21"/>
                </a:moveTo>
                <a:lnTo>
                  <a:pt x="15" y="17"/>
                </a:lnTo>
                <a:lnTo>
                  <a:pt x="29" y="6"/>
                </a:lnTo>
                <a:lnTo>
                  <a:pt x="43" y="5"/>
                </a:lnTo>
                <a:lnTo>
                  <a:pt x="58" y="0"/>
                </a:lnTo>
                <a:lnTo>
                  <a:pt x="72" y="1"/>
                </a:lnTo>
                <a:lnTo>
                  <a:pt x="86" y="1"/>
                </a:lnTo>
                <a:lnTo>
                  <a:pt x="101" y="5"/>
                </a:lnTo>
                <a:lnTo>
                  <a:pt x="115" y="5"/>
                </a:lnTo>
                <a:lnTo>
                  <a:pt x="129" y="20"/>
                </a:lnTo>
                <a:lnTo>
                  <a:pt x="144" y="29"/>
                </a:lnTo>
              </a:path>
            </a:pathLst>
          </a:custGeom>
          <a:noFill/>
          <a:ln w="5724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3" name=""/>
          <p:cNvSpPr/>
          <p:nvPr/>
        </p:nvSpPr>
        <p:spPr>
          <a:xfrm>
            <a:off x="2498760" y="2565360"/>
            <a:ext cx="5688000" cy="836640"/>
          </a:xfrm>
          <a:custGeom>
            <a:avLst/>
            <a:gdLst/>
            <a:ahLst/>
            <a:rect l="l" t="t" r="r" b="b"/>
            <a:pathLst>
              <a:path w="144" h="30">
                <a:moveTo>
                  <a:pt x="0" y="19"/>
                </a:moveTo>
                <a:lnTo>
                  <a:pt x="15" y="15"/>
                </a:lnTo>
                <a:lnTo>
                  <a:pt x="29" y="6"/>
                </a:lnTo>
                <a:lnTo>
                  <a:pt x="43" y="3"/>
                </a:lnTo>
                <a:lnTo>
                  <a:pt x="58" y="0"/>
                </a:lnTo>
                <a:lnTo>
                  <a:pt x="72" y="0"/>
                </a:lnTo>
                <a:lnTo>
                  <a:pt x="86" y="1"/>
                </a:lnTo>
                <a:lnTo>
                  <a:pt x="101" y="4"/>
                </a:lnTo>
                <a:lnTo>
                  <a:pt x="115" y="6"/>
                </a:lnTo>
                <a:lnTo>
                  <a:pt x="129" y="21"/>
                </a:lnTo>
                <a:lnTo>
                  <a:pt x="144" y="30"/>
                </a:lnTo>
              </a:path>
            </a:pathLst>
          </a:custGeom>
          <a:noFill/>
          <a:ln w="57240">
            <a:solidFill>
              <a:srgbClr val="ffcc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4" name=""/>
          <p:cNvSpPr/>
          <p:nvPr/>
        </p:nvSpPr>
        <p:spPr>
          <a:xfrm>
            <a:off x="2382840" y="2705040"/>
            <a:ext cx="236520" cy="168480"/>
          </a:xfrm>
          <a:custGeom>
            <a:avLst/>
            <a:gdLst/>
            <a:ahLst/>
            <a:rect l="l" t="t" r="r" b="b"/>
            <a:pathLst>
              <a:path w="87" h="88">
                <a:moveTo>
                  <a:pt x="43" y="0"/>
                </a:moveTo>
                <a:lnTo>
                  <a:pt x="87" y="44"/>
                </a:lnTo>
                <a:lnTo>
                  <a:pt x="43" y="88"/>
                </a:lnTo>
                <a:lnTo>
                  <a:pt x="0" y="44"/>
                </a:lnTo>
                <a:lnTo>
                  <a:pt x="43"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5" name=""/>
          <p:cNvSpPr/>
          <p:nvPr/>
        </p:nvSpPr>
        <p:spPr>
          <a:xfrm>
            <a:off x="2973240" y="2593800"/>
            <a:ext cx="239760" cy="167040"/>
          </a:xfrm>
          <a:custGeom>
            <a:avLst/>
            <a:gdLst/>
            <a:ahLst/>
            <a:rect l="l" t="t" r="r" b="b"/>
            <a:pathLst>
              <a:path w="88" h="87">
                <a:moveTo>
                  <a:pt x="44" y="0"/>
                </a:moveTo>
                <a:lnTo>
                  <a:pt x="88" y="44"/>
                </a:lnTo>
                <a:lnTo>
                  <a:pt x="44" y="87"/>
                </a:lnTo>
                <a:lnTo>
                  <a:pt x="0" y="44"/>
                </a:lnTo>
                <a:lnTo>
                  <a:pt x="44"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6" name=""/>
          <p:cNvSpPr/>
          <p:nvPr/>
        </p:nvSpPr>
        <p:spPr>
          <a:xfrm>
            <a:off x="3527280" y="2287440"/>
            <a:ext cx="238320" cy="166680"/>
          </a:xfrm>
          <a:custGeom>
            <a:avLst/>
            <a:gdLst/>
            <a:ahLst/>
            <a:rect l="l" t="t" r="r" b="b"/>
            <a:pathLst>
              <a:path w="88" h="87">
                <a:moveTo>
                  <a:pt x="44" y="0"/>
                </a:moveTo>
                <a:lnTo>
                  <a:pt x="88" y="44"/>
                </a:lnTo>
                <a:lnTo>
                  <a:pt x="44" y="87"/>
                </a:lnTo>
                <a:lnTo>
                  <a:pt x="0" y="44"/>
                </a:lnTo>
                <a:lnTo>
                  <a:pt x="44"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7" name=""/>
          <p:cNvSpPr/>
          <p:nvPr/>
        </p:nvSpPr>
        <p:spPr>
          <a:xfrm>
            <a:off x="4079880" y="2259000"/>
            <a:ext cx="237960" cy="168120"/>
          </a:xfrm>
          <a:custGeom>
            <a:avLst/>
            <a:gdLst/>
            <a:ahLst/>
            <a:rect l="l" t="t" r="r" b="b"/>
            <a:pathLst>
              <a:path w="88" h="88">
                <a:moveTo>
                  <a:pt x="44" y="0"/>
                </a:moveTo>
                <a:lnTo>
                  <a:pt x="88" y="44"/>
                </a:lnTo>
                <a:lnTo>
                  <a:pt x="44" y="88"/>
                </a:lnTo>
                <a:lnTo>
                  <a:pt x="0" y="44"/>
                </a:lnTo>
                <a:lnTo>
                  <a:pt x="44"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8" name=""/>
          <p:cNvSpPr/>
          <p:nvPr/>
        </p:nvSpPr>
        <p:spPr>
          <a:xfrm>
            <a:off x="4673520" y="2119320"/>
            <a:ext cx="236520" cy="168120"/>
          </a:xfrm>
          <a:custGeom>
            <a:avLst/>
            <a:gdLst/>
            <a:ahLst/>
            <a:rect l="l" t="t" r="r" b="b"/>
            <a:pathLst>
              <a:path w="87" h="88">
                <a:moveTo>
                  <a:pt x="43" y="0"/>
                </a:moveTo>
                <a:lnTo>
                  <a:pt x="87" y="44"/>
                </a:lnTo>
                <a:lnTo>
                  <a:pt x="43" y="88"/>
                </a:lnTo>
                <a:lnTo>
                  <a:pt x="0" y="44"/>
                </a:lnTo>
                <a:lnTo>
                  <a:pt x="43"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29" name=""/>
          <p:cNvSpPr/>
          <p:nvPr/>
        </p:nvSpPr>
        <p:spPr>
          <a:xfrm>
            <a:off x="5226120" y="2147760"/>
            <a:ext cx="236520" cy="166680"/>
          </a:xfrm>
          <a:custGeom>
            <a:avLst/>
            <a:gdLst/>
            <a:ahLst/>
            <a:rect l="l" t="t" r="r" b="b"/>
            <a:pathLst>
              <a:path w="87" h="87">
                <a:moveTo>
                  <a:pt x="43" y="0"/>
                </a:moveTo>
                <a:lnTo>
                  <a:pt x="87" y="44"/>
                </a:lnTo>
                <a:lnTo>
                  <a:pt x="43" y="87"/>
                </a:lnTo>
                <a:lnTo>
                  <a:pt x="0" y="44"/>
                </a:lnTo>
                <a:lnTo>
                  <a:pt x="43"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0" name=""/>
          <p:cNvSpPr/>
          <p:nvPr/>
        </p:nvSpPr>
        <p:spPr>
          <a:xfrm>
            <a:off x="5780160" y="2147760"/>
            <a:ext cx="234720" cy="166680"/>
          </a:xfrm>
          <a:custGeom>
            <a:avLst/>
            <a:gdLst/>
            <a:ahLst/>
            <a:rect l="l" t="t" r="r" b="b"/>
            <a:pathLst>
              <a:path w="87" h="87">
                <a:moveTo>
                  <a:pt x="43" y="0"/>
                </a:moveTo>
                <a:lnTo>
                  <a:pt x="87" y="44"/>
                </a:lnTo>
                <a:lnTo>
                  <a:pt x="43" y="87"/>
                </a:lnTo>
                <a:lnTo>
                  <a:pt x="0" y="44"/>
                </a:lnTo>
                <a:lnTo>
                  <a:pt x="43"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1" name=""/>
          <p:cNvSpPr/>
          <p:nvPr/>
        </p:nvSpPr>
        <p:spPr>
          <a:xfrm>
            <a:off x="6370560" y="2259000"/>
            <a:ext cx="238320" cy="168120"/>
          </a:xfrm>
          <a:custGeom>
            <a:avLst/>
            <a:gdLst/>
            <a:ahLst/>
            <a:rect l="l" t="t" r="r" b="b"/>
            <a:pathLst>
              <a:path w="88" h="88">
                <a:moveTo>
                  <a:pt x="44" y="0"/>
                </a:moveTo>
                <a:lnTo>
                  <a:pt x="88" y="44"/>
                </a:lnTo>
                <a:lnTo>
                  <a:pt x="44" y="88"/>
                </a:lnTo>
                <a:lnTo>
                  <a:pt x="0" y="44"/>
                </a:lnTo>
                <a:lnTo>
                  <a:pt x="44"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2" name=""/>
          <p:cNvSpPr/>
          <p:nvPr/>
        </p:nvSpPr>
        <p:spPr>
          <a:xfrm>
            <a:off x="6923160" y="2259000"/>
            <a:ext cx="239760" cy="168120"/>
          </a:xfrm>
          <a:custGeom>
            <a:avLst/>
            <a:gdLst/>
            <a:ahLst/>
            <a:rect l="l" t="t" r="r" b="b"/>
            <a:pathLst>
              <a:path w="88" h="88">
                <a:moveTo>
                  <a:pt x="44" y="0"/>
                </a:moveTo>
                <a:lnTo>
                  <a:pt x="88" y="44"/>
                </a:lnTo>
                <a:lnTo>
                  <a:pt x="44" y="88"/>
                </a:lnTo>
                <a:lnTo>
                  <a:pt x="0" y="44"/>
                </a:lnTo>
                <a:lnTo>
                  <a:pt x="44"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3" name=""/>
          <p:cNvSpPr/>
          <p:nvPr/>
        </p:nvSpPr>
        <p:spPr>
          <a:xfrm>
            <a:off x="7477200" y="2678040"/>
            <a:ext cx="237960" cy="166680"/>
          </a:xfrm>
          <a:custGeom>
            <a:avLst/>
            <a:gdLst/>
            <a:ahLst/>
            <a:rect l="l" t="t" r="r" b="b"/>
            <a:pathLst>
              <a:path w="88" h="87">
                <a:moveTo>
                  <a:pt x="44" y="0"/>
                </a:moveTo>
                <a:lnTo>
                  <a:pt x="88" y="43"/>
                </a:lnTo>
                <a:lnTo>
                  <a:pt x="44" y="87"/>
                </a:lnTo>
                <a:lnTo>
                  <a:pt x="0" y="43"/>
                </a:lnTo>
                <a:lnTo>
                  <a:pt x="44"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4" name=""/>
          <p:cNvSpPr/>
          <p:nvPr/>
        </p:nvSpPr>
        <p:spPr>
          <a:xfrm>
            <a:off x="8070840" y="2928960"/>
            <a:ext cx="235080" cy="166680"/>
          </a:xfrm>
          <a:custGeom>
            <a:avLst/>
            <a:gdLst/>
            <a:ahLst/>
            <a:rect l="l" t="t" r="r" b="b"/>
            <a:pathLst>
              <a:path w="87" h="87">
                <a:moveTo>
                  <a:pt x="43" y="0"/>
                </a:moveTo>
                <a:lnTo>
                  <a:pt x="87" y="44"/>
                </a:lnTo>
                <a:lnTo>
                  <a:pt x="43" y="87"/>
                </a:lnTo>
                <a:lnTo>
                  <a:pt x="0" y="44"/>
                </a:lnTo>
                <a:lnTo>
                  <a:pt x="43" y="0"/>
                </a:lnTo>
                <a:close/>
              </a:path>
            </a:pathLst>
          </a:custGeom>
          <a:solidFill>
            <a:srgbClr val="ccffcc"/>
          </a:solidFill>
          <a:ln w="23760">
            <a:solidFill>
              <a:srgbClr val="ccffcc"/>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5" name=""/>
          <p:cNvSpPr/>
          <p:nvPr/>
        </p:nvSpPr>
        <p:spPr>
          <a:xfrm>
            <a:off x="2382840" y="3013200"/>
            <a:ext cx="195120" cy="1378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6" name=""/>
          <p:cNvSpPr/>
          <p:nvPr/>
        </p:nvSpPr>
        <p:spPr>
          <a:xfrm>
            <a:off x="2973240" y="2900520"/>
            <a:ext cx="19872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7" name=""/>
          <p:cNvSpPr/>
          <p:nvPr/>
        </p:nvSpPr>
        <p:spPr>
          <a:xfrm>
            <a:off x="3527280" y="2649600"/>
            <a:ext cx="19692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8" name=""/>
          <p:cNvSpPr/>
          <p:nvPr/>
        </p:nvSpPr>
        <p:spPr>
          <a:xfrm>
            <a:off x="4079880" y="2565360"/>
            <a:ext cx="19836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39" name=""/>
          <p:cNvSpPr/>
          <p:nvPr/>
        </p:nvSpPr>
        <p:spPr>
          <a:xfrm>
            <a:off x="4673520" y="2482920"/>
            <a:ext cx="19548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0" name=""/>
          <p:cNvSpPr/>
          <p:nvPr/>
        </p:nvSpPr>
        <p:spPr>
          <a:xfrm>
            <a:off x="5226120" y="2482920"/>
            <a:ext cx="19512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1" name=""/>
          <p:cNvSpPr/>
          <p:nvPr/>
        </p:nvSpPr>
        <p:spPr>
          <a:xfrm>
            <a:off x="5780160" y="2509920"/>
            <a:ext cx="19512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2" name=""/>
          <p:cNvSpPr/>
          <p:nvPr/>
        </p:nvSpPr>
        <p:spPr>
          <a:xfrm>
            <a:off x="6370560" y="2593800"/>
            <a:ext cx="198360" cy="14004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3" name=""/>
          <p:cNvSpPr/>
          <p:nvPr/>
        </p:nvSpPr>
        <p:spPr>
          <a:xfrm>
            <a:off x="6923160" y="2649600"/>
            <a:ext cx="19836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4" name=""/>
          <p:cNvSpPr/>
          <p:nvPr/>
        </p:nvSpPr>
        <p:spPr>
          <a:xfrm>
            <a:off x="7477200" y="3068640"/>
            <a:ext cx="196920" cy="13968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5" name=""/>
          <p:cNvSpPr/>
          <p:nvPr/>
        </p:nvSpPr>
        <p:spPr>
          <a:xfrm>
            <a:off x="8070840" y="3319560"/>
            <a:ext cx="195120" cy="141120"/>
          </a:xfrm>
          <a:prstGeom prst="rect">
            <a:avLst/>
          </a:prstGeom>
          <a:solidFill>
            <a:srgbClr val="ffcc00"/>
          </a:solidFill>
          <a:ln w="23760">
            <a:solidFill>
              <a:srgbClr val="ffcc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46" name=""/>
          <p:cNvSpPr/>
          <p:nvPr/>
        </p:nvSpPr>
        <p:spPr>
          <a:xfrm>
            <a:off x="1699920" y="5278320"/>
            <a:ext cx="3312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0%</a:t>
            </a:r>
            <a:endParaRPr b="0" lang="en-IN" sz="1800" strike="noStrike" u="none">
              <a:solidFill>
                <a:srgbClr val="000000"/>
              </a:solidFill>
              <a:effectLst/>
              <a:uFillTx/>
              <a:latin typeface="Arial"/>
            </a:endParaRPr>
          </a:p>
        </p:txBody>
      </p:sp>
      <p:sp>
        <p:nvSpPr>
          <p:cNvPr id="647" name=""/>
          <p:cNvSpPr/>
          <p:nvPr/>
        </p:nvSpPr>
        <p:spPr>
          <a:xfrm>
            <a:off x="1699920" y="4832280"/>
            <a:ext cx="3312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5%</a:t>
            </a:r>
            <a:endParaRPr b="0" lang="en-IN" sz="1800" strike="noStrike" u="none">
              <a:solidFill>
                <a:srgbClr val="000000"/>
              </a:solidFill>
              <a:effectLst/>
              <a:uFillTx/>
              <a:latin typeface="Arial"/>
            </a:endParaRPr>
          </a:p>
        </p:txBody>
      </p:sp>
      <p:sp>
        <p:nvSpPr>
          <p:cNvPr id="648" name=""/>
          <p:cNvSpPr/>
          <p:nvPr/>
        </p:nvSpPr>
        <p:spPr>
          <a:xfrm>
            <a:off x="1579320" y="438624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10%</a:t>
            </a:r>
            <a:endParaRPr b="0" lang="en-IN" sz="1800" strike="noStrike" u="none">
              <a:solidFill>
                <a:srgbClr val="000000"/>
              </a:solidFill>
              <a:effectLst/>
              <a:uFillTx/>
              <a:latin typeface="Arial"/>
            </a:endParaRPr>
          </a:p>
        </p:txBody>
      </p:sp>
      <p:sp>
        <p:nvSpPr>
          <p:cNvPr id="649" name=""/>
          <p:cNvSpPr/>
          <p:nvPr/>
        </p:nvSpPr>
        <p:spPr>
          <a:xfrm>
            <a:off x="1579320" y="393876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15%</a:t>
            </a:r>
            <a:endParaRPr b="0" lang="en-IN" sz="1800" strike="noStrike" u="none">
              <a:solidFill>
                <a:srgbClr val="000000"/>
              </a:solidFill>
              <a:effectLst/>
              <a:uFillTx/>
              <a:latin typeface="Arial"/>
            </a:endParaRPr>
          </a:p>
        </p:txBody>
      </p:sp>
      <p:sp>
        <p:nvSpPr>
          <p:cNvPr id="650" name=""/>
          <p:cNvSpPr/>
          <p:nvPr/>
        </p:nvSpPr>
        <p:spPr>
          <a:xfrm>
            <a:off x="1579320" y="349236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20%</a:t>
            </a:r>
            <a:endParaRPr b="0" lang="en-IN" sz="1800" strike="noStrike" u="none">
              <a:solidFill>
                <a:srgbClr val="000000"/>
              </a:solidFill>
              <a:effectLst/>
              <a:uFillTx/>
              <a:latin typeface="Arial"/>
            </a:endParaRPr>
          </a:p>
        </p:txBody>
      </p:sp>
      <p:sp>
        <p:nvSpPr>
          <p:cNvPr id="651" name=""/>
          <p:cNvSpPr/>
          <p:nvPr/>
        </p:nvSpPr>
        <p:spPr>
          <a:xfrm>
            <a:off x="1579320" y="301788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25%</a:t>
            </a:r>
            <a:endParaRPr b="0" lang="en-IN" sz="1800" strike="noStrike" u="none">
              <a:solidFill>
                <a:srgbClr val="000000"/>
              </a:solidFill>
              <a:effectLst/>
              <a:uFillTx/>
              <a:latin typeface="Arial"/>
            </a:endParaRPr>
          </a:p>
        </p:txBody>
      </p:sp>
      <p:sp>
        <p:nvSpPr>
          <p:cNvPr id="652" name=""/>
          <p:cNvSpPr/>
          <p:nvPr/>
        </p:nvSpPr>
        <p:spPr>
          <a:xfrm>
            <a:off x="1579320" y="257184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30%</a:t>
            </a:r>
            <a:endParaRPr b="0" lang="en-IN" sz="1800" strike="noStrike" u="none">
              <a:solidFill>
                <a:srgbClr val="000000"/>
              </a:solidFill>
              <a:effectLst/>
              <a:uFillTx/>
              <a:latin typeface="Arial"/>
            </a:endParaRPr>
          </a:p>
        </p:txBody>
      </p:sp>
      <p:sp>
        <p:nvSpPr>
          <p:cNvPr id="653" name=""/>
          <p:cNvSpPr/>
          <p:nvPr/>
        </p:nvSpPr>
        <p:spPr>
          <a:xfrm>
            <a:off x="1579320" y="212400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35%</a:t>
            </a:r>
            <a:endParaRPr b="0" lang="en-IN" sz="1800" strike="noStrike" u="none">
              <a:solidFill>
                <a:srgbClr val="000000"/>
              </a:solidFill>
              <a:effectLst/>
              <a:uFillTx/>
              <a:latin typeface="Arial"/>
            </a:endParaRPr>
          </a:p>
        </p:txBody>
      </p:sp>
      <p:sp>
        <p:nvSpPr>
          <p:cNvPr id="654" name=""/>
          <p:cNvSpPr/>
          <p:nvPr/>
        </p:nvSpPr>
        <p:spPr>
          <a:xfrm>
            <a:off x="1579320" y="1677960"/>
            <a:ext cx="45828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40%</a:t>
            </a:r>
            <a:endParaRPr b="0" lang="en-IN" sz="1800" strike="noStrike" u="none">
              <a:solidFill>
                <a:srgbClr val="000000"/>
              </a:solidFill>
              <a:effectLst/>
              <a:uFillTx/>
              <a:latin typeface="Arial"/>
            </a:endParaRPr>
          </a:p>
        </p:txBody>
      </p:sp>
      <p:sp>
        <p:nvSpPr>
          <p:cNvPr id="655" name=""/>
          <p:cNvSpPr/>
          <p:nvPr/>
        </p:nvSpPr>
        <p:spPr>
          <a:xfrm rot="18900000">
            <a:off x="2164680" y="5606280"/>
            <a:ext cx="5094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1995</a:t>
            </a:r>
            <a:endParaRPr b="0" lang="en-IN" sz="1800" strike="noStrike" u="none">
              <a:solidFill>
                <a:srgbClr val="000000"/>
              </a:solidFill>
              <a:effectLst/>
              <a:uFillTx/>
              <a:latin typeface="Arial"/>
            </a:endParaRPr>
          </a:p>
        </p:txBody>
      </p:sp>
      <p:sp>
        <p:nvSpPr>
          <p:cNvPr id="656" name=""/>
          <p:cNvSpPr/>
          <p:nvPr/>
        </p:nvSpPr>
        <p:spPr>
          <a:xfrm rot="18900000">
            <a:off x="3314160" y="5606280"/>
            <a:ext cx="5094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1997</a:t>
            </a:r>
            <a:endParaRPr b="0" lang="en-IN" sz="1800" strike="noStrike" u="none">
              <a:solidFill>
                <a:srgbClr val="000000"/>
              </a:solidFill>
              <a:effectLst/>
              <a:uFillTx/>
              <a:latin typeface="Arial"/>
            </a:endParaRPr>
          </a:p>
        </p:txBody>
      </p:sp>
      <p:sp>
        <p:nvSpPr>
          <p:cNvPr id="657" name=""/>
          <p:cNvSpPr/>
          <p:nvPr/>
        </p:nvSpPr>
        <p:spPr>
          <a:xfrm rot="18900000">
            <a:off x="4455360" y="5606280"/>
            <a:ext cx="5094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1999</a:t>
            </a:r>
            <a:endParaRPr b="0" lang="en-IN" sz="1800" strike="noStrike" u="none">
              <a:solidFill>
                <a:srgbClr val="000000"/>
              </a:solidFill>
              <a:effectLst/>
              <a:uFillTx/>
              <a:latin typeface="Arial"/>
            </a:endParaRPr>
          </a:p>
        </p:txBody>
      </p:sp>
      <p:sp>
        <p:nvSpPr>
          <p:cNvPr id="658" name=""/>
          <p:cNvSpPr/>
          <p:nvPr/>
        </p:nvSpPr>
        <p:spPr>
          <a:xfrm rot="18900000">
            <a:off x="5558760" y="5606280"/>
            <a:ext cx="5094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2001</a:t>
            </a:r>
            <a:endParaRPr b="0" lang="en-IN" sz="1800" strike="noStrike" u="none">
              <a:solidFill>
                <a:srgbClr val="000000"/>
              </a:solidFill>
              <a:effectLst/>
              <a:uFillTx/>
              <a:latin typeface="Arial"/>
            </a:endParaRPr>
          </a:p>
        </p:txBody>
      </p:sp>
      <p:sp>
        <p:nvSpPr>
          <p:cNvPr id="659" name=""/>
          <p:cNvSpPr/>
          <p:nvPr/>
        </p:nvSpPr>
        <p:spPr>
          <a:xfrm rot="18900000">
            <a:off x="6707880" y="5606640"/>
            <a:ext cx="5094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2003</a:t>
            </a:r>
            <a:endParaRPr b="0" lang="en-IN" sz="1800" strike="noStrike" u="none">
              <a:solidFill>
                <a:srgbClr val="000000"/>
              </a:solidFill>
              <a:effectLst/>
              <a:uFillTx/>
              <a:latin typeface="Arial"/>
            </a:endParaRPr>
          </a:p>
        </p:txBody>
      </p:sp>
      <p:sp>
        <p:nvSpPr>
          <p:cNvPr id="660" name=""/>
          <p:cNvSpPr/>
          <p:nvPr/>
        </p:nvSpPr>
        <p:spPr>
          <a:xfrm rot="18900000">
            <a:off x="7857360" y="5606280"/>
            <a:ext cx="509400" cy="2746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2005</a:t>
            </a:r>
            <a:endParaRPr b="0" lang="en-IN" sz="1800" strike="noStrike" u="none">
              <a:solidFill>
                <a:srgbClr val="000000"/>
              </a:solidFill>
              <a:effectLst/>
              <a:uFillTx/>
              <a:latin typeface="Arial"/>
            </a:endParaRPr>
          </a:p>
        </p:txBody>
      </p:sp>
      <p:sp>
        <p:nvSpPr>
          <p:cNvPr id="661" name=""/>
          <p:cNvSpPr/>
          <p:nvPr/>
        </p:nvSpPr>
        <p:spPr>
          <a:xfrm>
            <a:off x="2386800" y="1808280"/>
            <a:ext cx="104760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ccffcc"/>
                </a:solidFill>
                <a:effectLst/>
                <a:uFillTx/>
                <a:latin typeface="Arial"/>
              </a:rPr>
              <a:t>Applicant</a:t>
            </a:r>
            <a:endParaRPr b="0" lang="en-IN" sz="2000" strike="noStrike" u="none">
              <a:solidFill>
                <a:srgbClr val="000000"/>
              </a:solidFill>
              <a:effectLst/>
              <a:uFillTx/>
              <a:latin typeface="Arial"/>
            </a:endParaRPr>
          </a:p>
        </p:txBody>
      </p:sp>
      <p:sp>
        <p:nvSpPr>
          <p:cNvPr id="662" name=""/>
          <p:cNvSpPr/>
          <p:nvPr/>
        </p:nvSpPr>
        <p:spPr>
          <a:xfrm>
            <a:off x="2386800" y="3335400"/>
            <a:ext cx="1373040" cy="3052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00"/>
                </a:solidFill>
                <a:effectLst/>
                <a:uFillTx/>
                <a:latin typeface="Arial"/>
              </a:rPr>
              <a:t>Applications</a:t>
            </a:r>
            <a:endParaRPr b="0" lang="en-IN" sz="2000" strike="noStrike" u="none">
              <a:solidFill>
                <a:srgbClr val="000000"/>
              </a:solidFill>
              <a:effectLst/>
              <a:uFillTx/>
              <a:latin typeface="Arial"/>
            </a:endParaRPr>
          </a:p>
        </p:txBody>
      </p:sp>
      <p:sp>
        <p:nvSpPr>
          <p:cNvPr id="663" name=""/>
          <p:cNvSpPr/>
          <p:nvPr/>
        </p:nvSpPr>
        <p:spPr>
          <a:xfrm rot="16200000">
            <a:off x="-510120" y="3268440"/>
            <a:ext cx="36496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Success Rate for R01 Equivalents</a:t>
            </a:r>
            <a:endParaRPr b="0" lang="en-IN" sz="1800" strike="noStrike" u="none">
              <a:solidFill>
                <a:srgbClr val="000000"/>
              </a:solidFill>
              <a:effectLst/>
              <a:uFillTx/>
              <a:latin typeface="Arial"/>
            </a:endParaRPr>
          </a:p>
        </p:txBody>
      </p:sp>
      <p:sp>
        <p:nvSpPr>
          <p:cNvPr id="664" name=""/>
          <p:cNvSpPr/>
          <p:nvPr/>
        </p:nvSpPr>
        <p:spPr>
          <a:xfrm>
            <a:off x="4383000" y="5987880"/>
            <a:ext cx="13240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Arial"/>
              </a:rPr>
              <a:t>Fiscal Year</a:t>
            </a:r>
            <a:endParaRPr b="0" lang="en-IN" sz="1800" strike="noStrike" u="none">
              <a:solidFill>
                <a:srgbClr val="000000"/>
              </a:solidFill>
              <a:effectLst/>
              <a:uFillTx/>
              <a:latin typeface="Arial"/>
            </a:endParaRPr>
          </a:p>
        </p:txBody>
      </p:sp>
      <p:sp>
        <p:nvSpPr>
          <p:cNvPr id="665" name=""/>
          <p:cNvSpPr/>
          <p:nvPr/>
        </p:nvSpPr>
        <p:spPr>
          <a:xfrm>
            <a:off x="876240" y="6203880"/>
            <a:ext cx="4104000" cy="8262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ffffff"/>
                </a:solidFill>
                <a:effectLst/>
                <a:uFillTx/>
                <a:latin typeface="Myriad Web"/>
              </a:rPr>
              <a:t>Success Rate files as of May 3, 2006.  Program srf_indiv_060103_rfm</a:t>
            </a:r>
            <a:endParaRPr b="0" lang="en-IN" sz="1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trike="noStrike" u="none">
                <a:solidFill>
                  <a:srgbClr val="ffffff"/>
                </a:solidFill>
                <a:effectLst/>
                <a:uFillTx/>
                <a:latin typeface="Myriad Web"/>
              </a:rPr>
              <a:t>Individuals are determined using the pi_profile_person_id in IMPAC-II</a:t>
            </a:r>
            <a:endParaRPr b="0" lang="en-IN" sz="1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000000"/>
              </a:solidFill>
              <a:effectLst/>
              <a:uFillTx/>
              <a:latin typeface="Arial"/>
            </a:endParaRPr>
          </a:p>
        </p:txBody>
      </p:sp>
      <p:sp>
        <p:nvSpPr>
          <p:cNvPr id="666" name=""/>
          <p:cNvSpPr/>
          <p:nvPr/>
        </p:nvSpPr>
        <p:spPr>
          <a:xfrm>
            <a:off x="836640" y="115920"/>
            <a:ext cx="8307360" cy="106956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Arial"/>
              </a:rPr>
              <a:t>Success Rate </a:t>
            </a:r>
            <a:r>
              <a:rPr b="0" lang="en-IN" sz="3200" strike="noStrike" u="sng">
                <a:solidFill>
                  <a:srgbClr val="ffcc00"/>
                </a:solidFill>
                <a:effectLst/>
                <a:uFillTx/>
                <a:latin typeface="Arial"/>
              </a:rPr>
              <a:t>per Application</a:t>
            </a:r>
            <a:r>
              <a:rPr b="0" lang="en-IN" sz="3200" strike="noStrike" u="none">
                <a:solidFill>
                  <a:srgbClr val="ffffff"/>
                </a:solidFill>
                <a:effectLst/>
                <a:uFillTx/>
                <a:latin typeface="Arial"/>
              </a:rPr>
              <a:t> Understates Funding Rate </a:t>
            </a:r>
            <a:r>
              <a:rPr b="0" lang="en-IN" sz="3200" strike="noStrike" u="sng">
                <a:solidFill>
                  <a:srgbClr val="ccffcc"/>
                </a:solidFill>
                <a:effectLst/>
                <a:uFillTx/>
                <a:latin typeface="Arial"/>
              </a:rPr>
              <a:t>per Applicant</a:t>
            </a:r>
            <a:endParaRPr b="0" lang="en-IN" sz="3200" strike="noStrike" u="none">
              <a:solidFill>
                <a:srgbClr val="000000"/>
              </a:solidFill>
              <a:effectLst/>
              <a:uFillTx/>
              <a:latin typeface="Arial"/>
            </a:endParaRPr>
          </a:p>
        </p:txBody>
      </p:sp>
      <p:grpSp>
        <p:nvGrpSpPr>
          <p:cNvPr id="667" name=""/>
          <p:cNvGrpSpPr/>
          <p:nvPr/>
        </p:nvGrpSpPr>
        <p:grpSpPr>
          <a:xfrm>
            <a:off x="7707600" y="2178000"/>
            <a:ext cx="970920" cy="2003760"/>
            <a:chOff x="7707600" y="2178000"/>
            <a:chExt cx="970920" cy="2003760"/>
          </a:xfrm>
        </p:grpSpPr>
        <p:sp>
          <p:nvSpPr>
            <p:cNvPr id="668" name=""/>
            <p:cNvSpPr/>
            <p:nvPr/>
          </p:nvSpPr>
          <p:spPr>
            <a:xfrm>
              <a:off x="7776000" y="3782880"/>
              <a:ext cx="90252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cc00"/>
                  </a:solidFill>
                  <a:effectLst/>
                  <a:uFillTx/>
                  <a:latin typeface="Arial"/>
                </a:rPr>
                <a:t>22.3%</a:t>
              </a:r>
              <a:endParaRPr b="0" lang="en-IN" sz="2000" strike="noStrike" u="none">
                <a:solidFill>
                  <a:srgbClr val="000000"/>
                </a:solidFill>
                <a:effectLst/>
                <a:uFillTx/>
                <a:latin typeface="Arial"/>
              </a:endParaRPr>
            </a:p>
          </p:txBody>
        </p:sp>
        <p:sp>
          <p:nvSpPr>
            <p:cNvPr id="669" name=""/>
            <p:cNvSpPr/>
            <p:nvPr/>
          </p:nvSpPr>
          <p:spPr>
            <a:xfrm>
              <a:off x="7707600" y="2178000"/>
              <a:ext cx="90252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ccffff"/>
                  </a:solidFill>
                  <a:effectLst/>
                  <a:uFillTx/>
                  <a:latin typeface="Arial"/>
                </a:rPr>
                <a:t>27.6%</a:t>
              </a:r>
              <a:endParaRPr b="0" lang="en-IN" sz="2000" strike="noStrike" u="none">
                <a:solidFill>
                  <a:srgbClr val="000000"/>
                </a:solidFill>
                <a:effectLst/>
                <a:uFillTx/>
                <a:latin typeface="Arial"/>
              </a:endParaRPr>
            </a:p>
          </p:txBody>
        </p:sp>
        <p:sp>
          <p:nvSpPr>
            <p:cNvPr id="670" name=""/>
            <p:cNvSpPr/>
            <p:nvPr/>
          </p:nvSpPr>
          <p:spPr>
            <a:xfrm>
              <a:off x="7867800" y="2670120"/>
              <a:ext cx="566640" cy="1030320"/>
            </a:xfrm>
            <a:prstGeom prst="ellipse">
              <a:avLst/>
            </a:prstGeom>
            <a:noFill/>
            <a:ln w="9360">
              <a:solidFill>
                <a:srgbClr val="ffff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grpSp>
    </p:spTree>
  </p:cSld>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6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671" name="PlaceHolder 1"/>
          <p:cNvSpPr>
            <a:spLocks noGrp="1"/>
          </p:cNvSpPr>
          <p:nvPr>
            <p:ph type="title"/>
          </p:nvPr>
        </p:nvSpPr>
        <p:spPr>
          <a:xfrm>
            <a:off x="2025360" y="2130120"/>
            <a:ext cx="6087960" cy="146988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Common Misperceptions</a:t>
            </a:r>
            <a:endParaRPr b="1" lang="en-IN" sz="3600" strike="noStrike" u="none">
              <a:solidFill>
                <a:srgbClr val="ffffff"/>
              </a:solidFill>
              <a:effectLst/>
              <a:uFillTx/>
              <a:latin typeface="Myriad Web"/>
            </a:endParaRPr>
          </a:p>
        </p:txBody>
      </p:sp>
    </p:spTree>
  </p:cSld>
  <p:transition>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672" name=""/>
          <p:cNvSpPr/>
          <p:nvPr/>
        </p:nvSpPr>
        <p:spPr>
          <a:xfrm>
            <a:off x="2041560" y="1447920"/>
            <a:ext cx="5200560" cy="52200"/>
          </a:xfrm>
          <a:prstGeom prst="rect">
            <a:avLst/>
          </a:prstGeom>
          <a:solidFill>
            <a:srgbClr val="5e9eff"/>
          </a:solidFill>
          <a:ln w="0">
            <a:noFill/>
          </a:ln>
        </p:spPr>
        <p:style>
          <a:lnRef idx="0"/>
          <a:fillRef idx="0"/>
          <a:effectRef idx="0"/>
          <a:fontRef idx="minor"/>
        </p:style>
        <p:txBody>
          <a:bodyPr lIns="90000" rIns="90000" tIns="5400" bIns="5400" anchor="t">
            <a:noAutofit/>
          </a:bodyPr>
          <a:p>
            <a:endParaRPr b="0" lang="en-IN" sz="1800" strike="noStrike" u="none">
              <a:solidFill>
                <a:srgbClr val="000000"/>
              </a:solidFill>
              <a:effectLst/>
              <a:uFillTx/>
              <a:latin typeface="Arial"/>
            </a:endParaRPr>
          </a:p>
        </p:txBody>
      </p:sp>
      <p:sp>
        <p:nvSpPr>
          <p:cNvPr id="673" name=""/>
          <p:cNvSpPr/>
          <p:nvPr/>
        </p:nvSpPr>
        <p:spPr>
          <a:xfrm>
            <a:off x="2041560" y="1500120"/>
            <a:ext cx="5200560" cy="76320"/>
          </a:xfrm>
          <a:prstGeom prst="rect">
            <a:avLst/>
          </a:prstGeom>
          <a:solidFill>
            <a:srgbClr val="609fff"/>
          </a:solidFill>
          <a:ln w="0">
            <a:noFill/>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674" name=""/>
          <p:cNvSpPr/>
          <p:nvPr/>
        </p:nvSpPr>
        <p:spPr>
          <a:xfrm>
            <a:off x="2041560" y="1576440"/>
            <a:ext cx="5200560" cy="63360"/>
          </a:xfrm>
          <a:prstGeom prst="rect">
            <a:avLst/>
          </a:prstGeom>
          <a:solidFill>
            <a:srgbClr val="61a1ff"/>
          </a:solidFill>
          <a:ln w="0">
            <a:noFill/>
          </a:ln>
        </p:spPr>
        <p:style>
          <a:lnRef idx="0"/>
          <a:fillRef idx="0"/>
          <a:effectRef idx="0"/>
          <a:fontRef idx="minor"/>
        </p:style>
        <p:txBody>
          <a:bodyPr lIns="90000" rIns="90000" tIns="16560" bIns="16560" anchor="t">
            <a:noAutofit/>
          </a:bodyPr>
          <a:p>
            <a:endParaRPr b="0" lang="en-IN" sz="1800" strike="noStrike" u="none">
              <a:solidFill>
                <a:srgbClr val="000000"/>
              </a:solidFill>
              <a:effectLst/>
              <a:uFillTx/>
              <a:latin typeface="Arial"/>
            </a:endParaRPr>
          </a:p>
        </p:txBody>
      </p:sp>
      <p:sp>
        <p:nvSpPr>
          <p:cNvPr id="675" name=""/>
          <p:cNvSpPr/>
          <p:nvPr/>
        </p:nvSpPr>
        <p:spPr>
          <a:xfrm>
            <a:off x="2041560" y="1639800"/>
            <a:ext cx="5200560" cy="65160"/>
          </a:xfrm>
          <a:prstGeom prst="rect">
            <a:avLst/>
          </a:prstGeom>
          <a:solidFill>
            <a:srgbClr val="63a2ff"/>
          </a:solidFill>
          <a:ln w="0">
            <a:noFill/>
          </a:ln>
        </p:spPr>
        <p:style>
          <a:lnRef idx="0"/>
          <a:fillRef idx="0"/>
          <a:effectRef idx="0"/>
          <a:fontRef idx="minor"/>
        </p:style>
        <p:txBody>
          <a:bodyPr lIns="90000" rIns="90000" tIns="18360" bIns="18360" anchor="t">
            <a:noAutofit/>
          </a:bodyPr>
          <a:p>
            <a:endParaRPr b="0" lang="en-IN" sz="1800" strike="noStrike" u="none">
              <a:solidFill>
                <a:srgbClr val="000000"/>
              </a:solidFill>
              <a:effectLst/>
              <a:uFillTx/>
              <a:latin typeface="Arial"/>
            </a:endParaRPr>
          </a:p>
        </p:txBody>
      </p:sp>
      <p:sp>
        <p:nvSpPr>
          <p:cNvPr id="676" name=""/>
          <p:cNvSpPr/>
          <p:nvPr/>
        </p:nvSpPr>
        <p:spPr>
          <a:xfrm>
            <a:off x="2041560" y="1704960"/>
            <a:ext cx="5200560" cy="74520"/>
          </a:xfrm>
          <a:prstGeom prst="rect">
            <a:avLst/>
          </a:prstGeom>
          <a:solidFill>
            <a:srgbClr val="64a4ff"/>
          </a:solidFill>
          <a:ln w="0">
            <a:noFill/>
          </a:ln>
        </p:spPr>
        <p:style>
          <a:lnRef idx="0"/>
          <a:fillRef idx="0"/>
          <a:effectRef idx="0"/>
          <a:fontRef idx="minor"/>
        </p:style>
        <p:txBody>
          <a:bodyPr lIns="90000" rIns="90000" tIns="27720" bIns="27720" anchor="t">
            <a:noAutofit/>
          </a:bodyPr>
          <a:p>
            <a:endParaRPr b="0" lang="en-IN" sz="1800" strike="noStrike" u="none">
              <a:solidFill>
                <a:srgbClr val="000000"/>
              </a:solidFill>
              <a:effectLst/>
              <a:uFillTx/>
              <a:latin typeface="Arial"/>
            </a:endParaRPr>
          </a:p>
        </p:txBody>
      </p:sp>
      <p:sp>
        <p:nvSpPr>
          <p:cNvPr id="677" name=""/>
          <p:cNvSpPr/>
          <p:nvPr/>
        </p:nvSpPr>
        <p:spPr>
          <a:xfrm>
            <a:off x="2041560" y="1779480"/>
            <a:ext cx="5200560" cy="74880"/>
          </a:xfrm>
          <a:prstGeom prst="rect">
            <a:avLst/>
          </a:prstGeom>
          <a:solidFill>
            <a:srgbClr val="66a5ff"/>
          </a:solidFill>
          <a:ln w="0">
            <a:noFill/>
          </a:ln>
        </p:spPr>
        <p:style>
          <a:lnRef idx="0"/>
          <a:fillRef idx="0"/>
          <a:effectRef idx="0"/>
          <a:fontRef idx="minor"/>
        </p:style>
        <p:txBody>
          <a:bodyPr lIns="90000" rIns="90000" tIns="28080" bIns="28080" anchor="t">
            <a:noAutofit/>
          </a:bodyPr>
          <a:p>
            <a:endParaRPr b="0" lang="en-IN" sz="1800" strike="noStrike" u="none">
              <a:solidFill>
                <a:srgbClr val="000000"/>
              </a:solidFill>
              <a:effectLst/>
              <a:uFillTx/>
              <a:latin typeface="Arial"/>
            </a:endParaRPr>
          </a:p>
        </p:txBody>
      </p:sp>
      <p:sp>
        <p:nvSpPr>
          <p:cNvPr id="678" name=""/>
          <p:cNvSpPr/>
          <p:nvPr/>
        </p:nvSpPr>
        <p:spPr>
          <a:xfrm>
            <a:off x="2041560" y="1854360"/>
            <a:ext cx="5200560" cy="85680"/>
          </a:xfrm>
          <a:prstGeom prst="rect">
            <a:avLst/>
          </a:prstGeom>
          <a:solidFill>
            <a:srgbClr val="68a7ff"/>
          </a:solidFill>
          <a:ln w="0">
            <a:noFill/>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679" name=""/>
          <p:cNvSpPr/>
          <p:nvPr/>
        </p:nvSpPr>
        <p:spPr>
          <a:xfrm>
            <a:off x="2041560" y="1940040"/>
            <a:ext cx="5200560" cy="54000"/>
          </a:xfrm>
          <a:prstGeom prst="rect">
            <a:avLst/>
          </a:prstGeom>
          <a:solidFill>
            <a:srgbClr val="69a9ff"/>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680" name=""/>
          <p:cNvSpPr/>
          <p:nvPr/>
        </p:nvSpPr>
        <p:spPr>
          <a:xfrm>
            <a:off x="2041560" y="1994040"/>
            <a:ext cx="5200560" cy="96840"/>
          </a:xfrm>
          <a:prstGeom prst="rect">
            <a:avLst/>
          </a:prstGeom>
          <a:solidFill>
            <a:srgbClr val="6baa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81" name=""/>
          <p:cNvSpPr/>
          <p:nvPr/>
        </p:nvSpPr>
        <p:spPr>
          <a:xfrm>
            <a:off x="2041560" y="2090880"/>
            <a:ext cx="5200560" cy="85680"/>
          </a:xfrm>
          <a:prstGeom prst="rect">
            <a:avLst/>
          </a:prstGeom>
          <a:solidFill>
            <a:srgbClr val="6dacff"/>
          </a:solidFill>
          <a:ln w="0">
            <a:noFill/>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682" name=""/>
          <p:cNvSpPr/>
          <p:nvPr/>
        </p:nvSpPr>
        <p:spPr>
          <a:xfrm>
            <a:off x="2041560" y="2176560"/>
            <a:ext cx="5200560" cy="52200"/>
          </a:xfrm>
          <a:prstGeom prst="rect">
            <a:avLst/>
          </a:prstGeom>
          <a:solidFill>
            <a:srgbClr val="6fadff"/>
          </a:solidFill>
          <a:ln w="0">
            <a:noFill/>
          </a:ln>
        </p:spPr>
        <p:style>
          <a:lnRef idx="0"/>
          <a:fillRef idx="0"/>
          <a:effectRef idx="0"/>
          <a:fontRef idx="minor"/>
        </p:style>
        <p:txBody>
          <a:bodyPr lIns="90000" rIns="90000" tIns="5400" bIns="5400" anchor="t">
            <a:noAutofit/>
          </a:bodyPr>
          <a:p>
            <a:endParaRPr b="0" lang="en-IN" sz="1800" strike="noStrike" u="none">
              <a:solidFill>
                <a:srgbClr val="000000"/>
              </a:solidFill>
              <a:effectLst/>
              <a:uFillTx/>
              <a:latin typeface="Arial"/>
            </a:endParaRPr>
          </a:p>
        </p:txBody>
      </p:sp>
      <p:sp>
        <p:nvSpPr>
          <p:cNvPr id="683" name=""/>
          <p:cNvSpPr/>
          <p:nvPr/>
        </p:nvSpPr>
        <p:spPr>
          <a:xfrm>
            <a:off x="2041560" y="2228760"/>
            <a:ext cx="5200560" cy="85680"/>
          </a:xfrm>
          <a:prstGeom prst="rect">
            <a:avLst/>
          </a:prstGeom>
          <a:solidFill>
            <a:srgbClr val="70afff"/>
          </a:solidFill>
          <a:ln w="0">
            <a:noFill/>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684" name=""/>
          <p:cNvSpPr/>
          <p:nvPr/>
        </p:nvSpPr>
        <p:spPr>
          <a:xfrm>
            <a:off x="2041560" y="2314440"/>
            <a:ext cx="5200560" cy="65160"/>
          </a:xfrm>
          <a:prstGeom prst="rect">
            <a:avLst/>
          </a:prstGeom>
          <a:solidFill>
            <a:srgbClr val="72b0ff"/>
          </a:solidFill>
          <a:ln w="0">
            <a:noFill/>
          </a:ln>
        </p:spPr>
        <p:style>
          <a:lnRef idx="0"/>
          <a:fillRef idx="0"/>
          <a:effectRef idx="0"/>
          <a:fontRef idx="minor"/>
        </p:style>
        <p:txBody>
          <a:bodyPr lIns="90000" rIns="90000" tIns="18360" bIns="18360" anchor="t">
            <a:noAutofit/>
          </a:bodyPr>
          <a:p>
            <a:endParaRPr b="0" lang="en-IN" sz="1800" strike="noStrike" u="none">
              <a:solidFill>
                <a:srgbClr val="000000"/>
              </a:solidFill>
              <a:effectLst/>
              <a:uFillTx/>
              <a:latin typeface="Arial"/>
            </a:endParaRPr>
          </a:p>
        </p:txBody>
      </p:sp>
      <p:sp>
        <p:nvSpPr>
          <p:cNvPr id="685" name=""/>
          <p:cNvSpPr/>
          <p:nvPr/>
        </p:nvSpPr>
        <p:spPr>
          <a:xfrm>
            <a:off x="2041560" y="2379600"/>
            <a:ext cx="5200560" cy="63720"/>
          </a:xfrm>
          <a:prstGeom prst="rect">
            <a:avLst/>
          </a:prstGeom>
          <a:solidFill>
            <a:srgbClr val="73b2ff"/>
          </a:solidFill>
          <a:ln w="0">
            <a:noFill/>
          </a:ln>
        </p:spPr>
        <p:style>
          <a:lnRef idx="0"/>
          <a:fillRef idx="0"/>
          <a:effectRef idx="0"/>
          <a:fontRef idx="minor"/>
        </p:style>
        <p:txBody>
          <a:bodyPr lIns="90000" rIns="90000" tIns="16920" bIns="16920" anchor="t">
            <a:noAutofit/>
          </a:bodyPr>
          <a:p>
            <a:endParaRPr b="0" lang="en-IN" sz="1800" strike="noStrike" u="none">
              <a:solidFill>
                <a:srgbClr val="000000"/>
              </a:solidFill>
              <a:effectLst/>
              <a:uFillTx/>
              <a:latin typeface="Arial"/>
            </a:endParaRPr>
          </a:p>
        </p:txBody>
      </p:sp>
      <p:sp>
        <p:nvSpPr>
          <p:cNvPr id="686" name=""/>
          <p:cNvSpPr/>
          <p:nvPr/>
        </p:nvSpPr>
        <p:spPr>
          <a:xfrm>
            <a:off x="2041560" y="2443320"/>
            <a:ext cx="5200560" cy="75960"/>
          </a:xfrm>
          <a:prstGeom prst="rect">
            <a:avLst/>
          </a:prstGeom>
          <a:solidFill>
            <a:srgbClr val="75b3ff"/>
          </a:solidFill>
          <a:ln w="0">
            <a:noFill/>
          </a:ln>
        </p:spPr>
        <p:style>
          <a:lnRef idx="0"/>
          <a:fillRef idx="0"/>
          <a:effectRef idx="0"/>
          <a:fontRef idx="minor"/>
        </p:style>
        <p:txBody>
          <a:bodyPr lIns="90000" rIns="90000" tIns="29160" bIns="29160" anchor="t">
            <a:noAutofit/>
          </a:bodyPr>
          <a:p>
            <a:endParaRPr b="0" lang="en-IN" sz="1800" strike="noStrike" u="none">
              <a:solidFill>
                <a:srgbClr val="000000"/>
              </a:solidFill>
              <a:effectLst/>
              <a:uFillTx/>
              <a:latin typeface="Arial"/>
            </a:endParaRPr>
          </a:p>
        </p:txBody>
      </p:sp>
      <p:sp>
        <p:nvSpPr>
          <p:cNvPr id="687" name=""/>
          <p:cNvSpPr/>
          <p:nvPr/>
        </p:nvSpPr>
        <p:spPr>
          <a:xfrm>
            <a:off x="2041560" y="2519280"/>
            <a:ext cx="5200560" cy="42840"/>
          </a:xfrm>
          <a:prstGeom prst="rect">
            <a:avLst/>
          </a:prstGeom>
          <a:solidFill>
            <a:srgbClr val="76b5ff"/>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688" name=""/>
          <p:cNvSpPr/>
          <p:nvPr/>
        </p:nvSpPr>
        <p:spPr>
          <a:xfrm>
            <a:off x="2041560" y="2562120"/>
            <a:ext cx="5200560" cy="106560"/>
          </a:xfrm>
          <a:prstGeom prst="rect">
            <a:avLst/>
          </a:prstGeom>
          <a:solidFill>
            <a:srgbClr val="78b6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689" name=""/>
          <p:cNvSpPr/>
          <p:nvPr/>
        </p:nvSpPr>
        <p:spPr>
          <a:xfrm>
            <a:off x="2041560" y="2668680"/>
            <a:ext cx="5200560" cy="85680"/>
          </a:xfrm>
          <a:prstGeom prst="rect">
            <a:avLst/>
          </a:prstGeom>
          <a:solidFill>
            <a:srgbClr val="7ab8ff"/>
          </a:solidFill>
          <a:ln w="0">
            <a:noFill/>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690" name=""/>
          <p:cNvSpPr/>
          <p:nvPr/>
        </p:nvSpPr>
        <p:spPr>
          <a:xfrm>
            <a:off x="2041560" y="2754360"/>
            <a:ext cx="5200560" cy="65160"/>
          </a:xfrm>
          <a:prstGeom prst="rect">
            <a:avLst/>
          </a:prstGeom>
          <a:solidFill>
            <a:srgbClr val="7cb9ff"/>
          </a:solidFill>
          <a:ln w="0">
            <a:noFill/>
          </a:ln>
        </p:spPr>
        <p:style>
          <a:lnRef idx="0"/>
          <a:fillRef idx="0"/>
          <a:effectRef idx="0"/>
          <a:fontRef idx="minor"/>
        </p:style>
        <p:txBody>
          <a:bodyPr lIns="90000" rIns="90000" tIns="18360" bIns="18360" anchor="t">
            <a:noAutofit/>
          </a:bodyPr>
          <a:p>
            <a:endParaRPr b="0" lang="en-IN" sz="1800" strike="noStrike" u="none">
              <a:solidFill>
                <a:srgbClr val="000000"/>
              </a:solidFill>
              <a:effectLst/>
              <a:uFillTx/>
              <a:latin typeface="Arial"/>
            </a:endParaRPr>
          </a:p>
        </p:txBody>
      </p:sp>
      <p:sp>
        <p:nvSpPr>
          <p:cNvPr id="691" name=""/>
          <p:cNvSpPr/>
          <p:nvPr/>
        </p:nvSpPr>
        <p:spPr>
          <a:xfrm>
            <a:off x="2041560" y="2819520"/>
            <a:ext cx="5200560" cy="63360"/>
          </a:xfrm>
          <a:prstGeom prst="rect">
            <a:avLst/>
          </a:prstGeom>
          <a:solidFill>
            <a:srgbClr val="7dbbff"/>
          </a:solidFill>
          <a:ln w="0">
            <a:noFill/>
          </a:ln>
        </p:spPr>
        <p:style>
          <a:lnRef idx="0"/>
          <a:fillRef idx="0"/>
          <a:effectRef idx="0"/>
          <a:fontRef idx="minor"/>
        </p:style>
        <p:txBody>
          <a:bodyPr lIns="90000" rIns="90000" tIns="16560" bIns="16560" anchor="t">
            <a:noAutofit/>
          </a:bodyPr>
          <a:p>
            <a:endParaRPr b="0" lang="en-IN" sz="1800" strike="noStrike" u="none">
              <a:solidFill>
                <a:srgbClr val="000000"/>
              </a:solidFill>
              <a:effectLst/>
              <a:uFillTx/>
              <a:latin typeface="Arial"/>
            </a:endParaRPr>
          </a:p>
        </p:txBody>
      </p:sp>
      <p:sp>
        <p:nvSpPr>
          <p:cNvPr id="692" name=""/>
          <p:cNvSpPr/>
          <p:nvPr/>
        </p:nvSpPr>
        <p:spPr>
          <a:xfrm>
            <a:off x="2041560" y="2882880"/>
            <a:ext cx="5200560" cy="74520"/>
          </a:xfrm>
          <a:prstGeom prst="rect">
            <a:avLst/>
          </a:prstGeom>
          <a:solidFill>
            <a:srgbClr val="7fbcff"/>
          </a:solidFill>
          <a:ln w="0">
            <a:noFill/>
          </a:ln>
        </p:spPr>
        <p:style>
          <a:lnRef idx="0"/>
          <a:fillRef idx="0"/>
          <a:effectRef idx="0"/>
          <a:fontRef idx="minor"/>
        </p:style>
        <p:txBody>
          <a:bodyPr lIns="90000" rIns="90000" tIns="27720" bIns="27720" anchor="t">
            <a:noAutofit/>
          </a:bodyPr>
          <a:p>
            <a:endParaRPr b="0" lang="en-IN" sz="1800" strike="noStrike" u="none">
              <a:solidFill>
                <a:srgbClr val="000000"/>
              </a:solidFill>
              <a:effectLst/>
              <a:uFillTx/>
              <a:latin typeface="Arial"/>
            </a:endParaRPr>
          </a:p>
        </p:txBody>
      </p:sp>
      <p:sp>
        <p:nvSpPr>
          <p:cNvPr id="693" name=""/>
          <p:cNvSpPr/>
          <p:nvPr/>
        </p:nvSpPr>
        <p:spPr>
          <a:xfrm>
            <a:off x="2041560" y="2957400"/>
            <a:ext cx="5200560" cy="65160"/>
          </a:xfrm>
          <a:prstGeom prst="rect">
            <a:avLst/>
          </a:prstGeom>
          <a:solidFill>
            <a:srgbClr val="80beff"/>
          </a:solidFill>
          <a:ln w="0">
            <a:noFill/>
          </a:ln>
        </p:spPr>
        <p:style>
          <a:lnRef idx="0"/>
          <a:fillRef idx="0"/>
          <a:effectRef idx="0"/>
          <a:fontRef idx="minor"/>
        </p:style>
        <p:txBody>
          <a:bodyPr lIns="90000" rIns="90000" tIns="18360" bIns="18360" anchor="t">
            <a:noAutofit/>
          </a:bodyPr>
          <a:p>
            <a:endParaRPr b="0" lang="en-IN" sz="1800" strike="noStrike" u="none">
              <a:solidFill>
                <a:srgbClr val="000000"/>
              </a:solidFill>
              <a:effectLst/>
              <a:uFillTx/>
              <a:latin typeface="Arial"/>
            </a:endParaRPr>
          </a:p>
        </p:txBody>
      </p:sp>
      <p:sp>
        <p:nvSpPr>
          <p:cNvPr id="694" name=""/>
          <p:cNvSpPr/>
          <p:nvPr/>
        </p:nvSpPr>
        <p:spPr>
          <a:xfrm>
            <a:off x="2041560" y="3022560"/>
            <a:ext cx="5200560" cy="85680"/>
          </a:xfrm>
          <a:prstGeom prst="rect">
            <a:avLst/>
          </a:prstGeom>
          <a:solidFill>
            <a:srgbClr val="82bfff"/>
          </a:solidFill>
          <a:ln w="0">
            <a:noFill/>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695" name=""/>
          <p:cNvSpPr/>
          <p:nvPr/>
        </p:nvSpPr>
        <p:spPr>
          <a:xfrm>
            <a:off x="2041560" y="3108240"/>
            <a:ext cx="5200560" cy="85680"/>
          </a:xfrm>
          <a:prstGeom prst="rect">
            <a:avLst/>
          </a:prstGeom>
          <a:solidFill>
            <a:srgbClr val="84c1ff"/>
          </a:solidFill>
          <a:ln w="0">
            <a:noFill/>
          </a:ln>
        </p:spPr>
        <p:style>
          <a:lnRef idx="0"/>
          <a:fillRef idx="0"/>
          <a:effectRef idx="0"/>
          <a:fontRef idx="minor"/>
        </p:style>
        <p:txBody>
          <a:bodyPr lIns="90000" rIns="90000" tIns="38880" bIns="38880" anchor="t">
            <a:noAutofit/>
          </a:bodyPr>
          <a:p>
            <a:endParaRPr b="0" lang="en-IN" sz="1800" strike="noStrike" u="none">
              <a:solidFill>
                <a:srgbClr val="000000"/>
              </a:solidFill>
              <a:effectLst/>
              <a:uFillTx/>
              <a:latin typeface="Arial"/>
            </a:endParaRPr>
          </a:p>
        </p:txBody>
      </p:sp>
      <p:sp>
        <p:nvSpPr>
          <p:cNvPr id="696" name=""/>
          <p:cNvSpPr/>
          <p:nvPr/>
        </p:nvSpPr>
        <p:spPr>
          <a:xfrm>
            <a:off x="2041560" y="3193920"/>
            <a:ext cx="5200560" cy="32040"/>
          </a:xfrm>
          <a:prstGeom prst="rect">
            <a:avLst/>
          </a:prstGeom>
          <a:solidFill>
            <a:srgbClr val="86c2ff"/>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697" name=""/>
          <p:cNvSpPr/>
          <p:nvPr/>
        </p:nvSpPr>
        <p:spPr>
          <a:xfrm>
            <a:off x="2041560" y="3225960"/>
            <a:ext cx="5200560" cy="31680"/>
          </a:xfrm>
          <a:prstGeom prst="rect">
            <a:avLst/>
          </a:prstGeom>
          <a:solidFill>
            <a:srgbClr val="88c3fe"/>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698" name=""/>
          <p:cNvSpPr/>
          <p:nvPr/>
        </p:nvSpPr>
        <p:spPr>
          <a:xfrm>
            <a:off x="2041560" y="3257640"/>
            <a:ext cx="5200560" cy="54000"/>
          </a:xfrm>
          <a:prstGeom prst="rect">
            <a:avLst/>
          </a:prstGeom>
          <a:solidFill>
            <a:srgbClr val="8ac3fe"/>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699" name=""/>
          <p:cNvSpPr/>
          <p:nvPr/>
        </p:nvSpPr>
        <p:spPr>
          <a:xfrm>
            <a:off x="2041560" y="3311640"/>
            <a:ext cx="5200560" cy="31680"/>
          </a:xfrm>
          <a:prstGeom prst="rect">
            <a:avLst/>
          </a:prstGeom>
          <a:solidFill>
            <a:srgbClr val="8cc4fd"/>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00" name=""/>
          <p:cNvSpPr/>
          <p:nvPr/>
        </p:nvSpPr>
        <p:spPr>
          <a:xfrm>
            <a:off x="2041560" y="3343320"/>
            <a:ext cx="5200560" cy="42840"/>
          </a:xfrm>
          <a:prstGeom prst="rect">
            <a:avLst/>
          </a:prstGeom>
          <a:solidFill>
            <a:srgbClr val="8ec5fc"/>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01" name=""/>
          <p:cNvSpPr/>
          <p:nvPr/>
        </p:nvSpPr>
        <p:spPr>
          <a:xfrm>
            <a:off x="2041560" y="3386160"/>
            <a:ext cx="5200560" cy="42840"/>
          </a:xfrm>
          <a:prstGeom prst="rect">
            <a:avLst/>
          </a:prstGeom>
          <a:solidFill>
            <a:srgbClr val="90c6fb"/>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02" name=""/>
          <p:cNvSpPr/>
          <p:nvPr/>
        </p:nvSpPr>
        <p:spPr>
          <a:xfrm>
            <a:off x="2041560" y="3429000"/>
            <a:ext cx="5200560" cy="42840"/>
          </a:xfrm>
          <a:prstGeom prst="rect">
            <a:avLst/>
          </a:prstGeom>
          <a:solidFill>
            <a:srgbClr val="92c6fb"/>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03" name=""/>
          <p:cNvSpPr/>
          <p:nvPr/>
        </p:nvSpPr>
        <p:spPr>
          <a:xfrm>
            <a:off x="2041560" y="3471840"/>
            <a:ext cx="5200560" cy="31680"/>
          </a:xfrm>
          <a:prstGeom prst="rect">
            <a:avLst/>
          </a:prstGeom>
          <a:solidFill>
            <a:srgbClr val="94c7fa"/>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04" name=""/>
          <p:cNvSpPr/>
          <p:nvPr/>
        </p:nvSpPr>
        <p:spPr>
          <a:xfrm>
            <a:off x="2041560" y="3503520"/>
            <a:ext cx="5200560" cy="42840"/>
          </a:xfrm>
          <a:prstGeom prst="rect">
            <a:avLst/>
          </a:prstGeom>
          <a:solidFill>
            <a:srgbClr val="96c7fa"/>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05" name=""/>
          <p:cNvSpPr/>
          <p:nvPr/>
        </p:nvSpPr>
        <p:spPr>
          <a:xfrm>
            <a:off x="2041560" y="3546360"/>
            <a:ext cx="5200560" cy="42840"/>
          </a:xfrm>
          <a:prstGeom prst="rect">
            <a:avLst/>
          </a:prstGeom>
          <a:solidFill>
            <a:srgbClr val="98c8f9"/>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06" name=""/>
          <p:cNvSpPr/>
          <p:nvPr/>
        </p:nvSpPr>
        <p:spPr>
          <a:xfrm>
            <a:off x="2041560" y="3589200"/>
            <a:ext cx="5200560" cy="33480"/>
          </a:xfrm>
          <a:prstGeom prst="rect">
            <a:avLst/>
          </a:prstGeom>
          <a:solidFill>
            <a:srgbClr val="9ac9f8"/>
          </a:solidFill>
          <a:ln w="0">
            <a:noFill/>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707" name=""/>
          <p:cNvSpPr/>
          <p:nvPr/>
        </p:nvSpPr>
        <p:spPr>
          <a:xfrm>
            <a:off x="2041560" y="3622680"/>
            <a:ext cx="5200560" cy="52560"/>
          </a:xfrm>
          <a:prstGeom prst="rect">
            <a:avLst/>
          </a:prstGeom>
          <a:solidFill>
            <a:srgbClr val="9cc9f8"/>
          </a:solidFill>
          <a:ln w="0">
            <a:noFill/>
          </a:ln>
        </p:spPr>
        <p:style>
          <a:lnRef idx="0"/>
          <a:fillRef idx="0"/>
          <a:effectRef idx="0"/>
          <a:fontRef idx="minor"/>
        </p:style>
        <p:txBody>
          <a:bodyPr lIns="90000" rIns="90000" tIns="5760" bIns="5760" anchor="t">
            <a:noAutofit/>
          </a:bodyPr>
          <a:p>
            <a:endParaRPr b="0" lang="en-IN" sz="1800" strike="noStrike" u="none">
              <a:solidFill>
                <a:srgbClr val="000000"/>
              </a:solidFill>
              <a:effectLst/>
              <a:uFillTx/>
              <a:latin typeface="Arial"/>
            </a:endParaRPr>
          </a:p>
        </p:txBody>
      </p:sp>
      <p:sp>
        <p:nvSpPr>
          <p:cNvPr id="708" name=""/>
          <p:cNvSpPr/>
          <p:nvPr/>
        </p:nvSpPr>
        <p:spPr>
          <a:xfrm>
            <a:off x="2041560" y="3675240"/>
            <a:ext cx="5200560" cy="33120"/>
          </a:xfrm>
          <a:prstGeom prst="rect">
            <a:avLst/>
          </a:prstGeom>
          <a:solidFill>
            <a:srgbClr val="9ecaf7"/>
          </a:solidFill>
          <a:ln w="0">
            <a:noFill/>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709" name=""/>
          <p:cNvSpPr/>
          <p:nvPr/>
        </p:nvSpPr>
        <p:spPr>
          <a:xfrm>
            <a:off x="2041560" y="3708360"/>
            <a:ext cx="5200560" cy="52560"/>
          </a:xfrm>
          <a:prstGeom prst="rect">
            <a:avLst/>
          </a:prstGeom>
          <a:solidFill>
            <a:srgbClr val="a0caf7"/>
          </a:solidFill>
          <a:ln w="0">
            <a:noFill/>
          </a:ln>
        </p:spPr>
        <p:style>
          <a:lnRef idx="0"/>
          <a:fillRef idx="0"/>
          <a:effectRef idx="0"/>
          <a:fontRef idx="minor"/>
        </p:style>
        <p:txBody>
          <a:bodyPr lIns="90000" rIns="90000" tIns="5760" bIns="5760" anchor="t">
            <a:noAutofit/>
          </a:bodyPr>
          <a:p>
            <a:endParaRPr b="0" lang="en-IN" sz="1800" strike="noStrike" u="none">
              <a:solidFill>
                <a:srgbClr val="000000"/>
              </a:solidFill>
              <a:effectLst/>
              <a:uFillTx/>
              <a:latin typeface="Arial"/>
            </a:endParaRPr>
          </a:p>
        </p:txBody>
      </p:sp>
      <p:sp>
        <p:nvSpPr>
          <p:cNvPr id="710" name=""/>
          <p:cNvSpPr/>
          <p:nvPr/>
        </p:nvSpPr>
        <p:spPr>
          <a:xfrm>
            <a:off x="2041560" y="3760920"/>
            <a:ext cx="5200560" cy="33120"/>
          </a:xfrm>
          <a:prstGeom prst="rect">
            <a:avLst/>
          </a:prstGeom>
          <a:solidFill>
            <a:srgbClr val="a2cbf6"/>
          </a:solidFill>
          <a:ln w="0">
            <a:noFill/>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711" name=""/>
          <p:cNvSpPr/>
          <p:nvPr/>
        </p:nvSpPr>
        <p:spPr>
          <a:xfrm>
            <a:off x="2041560" y="3794040"/>
            <a:ext cx="5200560" cy="52560"/>
          </a:xfrm>
          <a:prstGeom prst="rect">
            <a:avLst/>
          </a:prstGeom>
          <a:solidFill>
            <a:srgbClr val="a4ccf5"/>
          </a:solidFill>
          <a:ln w="0">
            <a:noFill/>
          </a:ln>
        </p:spPr>
        <p:style>
          <a:lnRef idx="0"/>
          <a:fillRef idx="0"/>
          <a:effectRef idx="0"/>
          <a:fontRef idx="minor"/>
        </p:style>
        <p:txBody>
          <a:bodyPr lIns="90000" rIns="90000" tIns="5760" bIns="5760" anchor="t">
            <a:noAutofit/>
          </a:bodyPr>
          <a:p>
            <a:endParaRPr b="0" lang="en-IN" sz="1800" strike="noStrike" u="none">
              <a:solidFill>
                <a:srgbClr val="000000"/>
              </a:solidFill>
              <a:effectLst/>
              <a:uFillTx/>
              <a:latin typeface="Arial"/>
            </a:endParaRPr>
          </a:p>
        </p:txBody>
      </p:sp>
      <p:sp>
        <p:nvSpPr>
          <p:cNvPr id="712" name=""/>
          <p:cNvSpPr/>
          <p:nvPr/>
        </p:nvSpPr>
        <p:spPr>
          <a:xfrm>
            <a:off x="2041560" y="3846600"/>
            <a:ext cx="5200560" cy="33120"/>
          </a:xfrm>
          <a:prstGeom prst="rect">
            <a:avLst/>
          </a:prstGeom>
          <a:solidFill>
            <a:srgbClr val="a6cdf4"/>
          </a:solidFill>
          <a:ln w="0">
            <a:noFill/>
          </a:ln>
        </p:spPr>
        <p:style>
          <a:lnRef idx="0"/>
          <a:fillRef idx="0"/>
          <a:effectRef idx="0"/>
          <a:fontRef idx="minor"/>
        </p:style>
        <p:txBody>
          <a:bodyPr lIns="90000" rIns="90000" tIns="-13680" bIns="-13680" anchor="t">
            <a:noAutofit/>
          </a:bodyPr>
          <a:p>
            <a:endParaRPr b="0" lang="en-IN" sz="1800" strike="noStrike" u="none">
              <a:solidFill>
                <a:srgbClr val="000000"/>
              </a:solidFill>
              <a:effectLst/>
              <a:uFillTx/>
              <a:latin typeface="Arial"/>
            </a:endParaRPr>
          </a:p>
        </p:txBody>
      </p:sp>
      <p:sp>
        <p:nvSpPr>
          <p:cNvPr id="713" name=""/>
          <p:cNvSpPr/>
          <p:nvPr/>
        </p:nvSpPr>
        <p:spPr>
          <a:xfrm>
            <a:off x="2041560" y="3879720"/>
            <a:ext cx="5200560" cy="32040"/>
          </a:xfrm>
          <a:prstGeom prst="rect">
            <a:avLst/>
          </a:prstGeom>
          <a:solidFill>
            <a:srgbClr val="a8cdf4"/>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714" name=""/>
          <p:cNvSpPr/>
          <p:nvPr/>
        </p:nvSpPr>
        <p:spPr>
          <a:xfrm>
            <a:off x="2041560" y="3911760"/>
            <a:ext cx="5200560" cy="53640"/>
          </a:xfrm>
          <a:prstGeom prst="rect">
            <a:avLst/>
          </a:prstGeom>
          <a:solidFill>
            <a:srgbClr val="aacef3"/>
          </a:solidFill>
          <a:ln w="0">
            <a:noFill/>
          </a:ln>
        </p:spPr>
        <p:style>
          <a:lnRef idx="0"/>
          <a:fillRef idx="0"/>
          <a:effectRef idx="0"/>
          <a:fontRef idx="minor"/>
        </p:style>
        <p:txBody>
          <a:bodyPr lIns="90000" rIns="90000" tIns="6840" bIns="6840" anchor="t">
            <a:noAutofit/>
          </a:bodyPr>
          <a:p>
            <a:endParaRPr b="0" lang="en-IN" sz="1800" strike="noStrike" u="none">
              <a:solidFill>
                <a:srgbClr val="000000"/>
              </a:solidFill>
              <a:effectLst/>
              <a:uFillTx/>
              <a:latin typeface="Arial"/>
            </a:endParaRPr>
          </a:p>
        </p:txBody>
      </p:sp>
      <p:sp>
        <p:nvSpPr>
          <p:cNvPr id="715" name=""/>
          <p:cNvSpPr/>
          <p:nvPr/>
        </p:nvSpPr>
        <p:spPr>
          <a:xfrm>
            <a:off x="2041560" y="3965400"/>
            <a:ext cx="5200560" cy="32040"/>
          </a:xfrm>
          <a:prstGeom prst="rect">
            <a:avLst/>
          </a:prstGeom>
          <a:solidFill>
            <a:srgbClr val="accef3"/>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716" name=""/>
          <p:cNvSpPr/>
          <p:nvPr/>
        </p:nvSpPr>
        <p:spPr>
          <a:xfrm>
            <a:off x="2041560" y="3997440"/>
            <a:ext cx="5200560" cy="54000"/>
          </a:xfrm>
          <a:prstGeom prst="rect">
            <a:avLst/>
          </a:prstGeom>
          <a:solidFill>
            <a:srgbClr val="aecff2"/>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17" name=""/>
          <p:cNvSpPr/>
          <p:nvPr/>
        </p:nvSpPr>
        <p:spPr>
          <a:xfrm>
            <a:off x="2041560" y="4051440"/>
            <a:ext cx="5200560" cy="31680"/>
          </a:xfrm>
          <a:prstGeom prst="rect">
            <a:avLst/>
          </a:prstGeom>
          <a:solidFill>
            <a:srgbClr val="b0d0f1"/>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18" name=""/>
          <p:cNvSpPr/>
          <p:nvPr/>
        </p:nvSpPr>
        <p:spPr>
          <a:xfrm>
            <a:off x="2041560" y="4083120"/>
            <a:ext cx="5200560" cy="42840"/>
          </a:xfrm>
          <a:prstGeom prst="rect">
            <a:avLst/>
          </a:prstGeom>
          <a:solidFill>
            <a:srgbClr val="b2d0f1"/>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19" name=""/>
          <p:cNvSpPr/>
          <p:nvPr/>
        </p:nvSpPr>
        <p:spPr>
          <a:xfrm>
            <a:off x="2041560" y="4125960"/>
            <a:ext cx="5200560" cy="42840"/>
          </a:xfrm>
          <a:prstGeom prst="rect">
            <a:avLst/>
          </a:prstGeom>
          <a:solidFill>
            <a:srgbClr val="b4d1f0"/>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20" name=""/>
          <p:cNvSpPr/>
          <p:nvPr/>
        </p:nvSpPr>
        <p:spPr>
          <a:xfrm>
            <a:off x="2041560" y="4168800"/>
            <a:ext cx="5200560" cy="31680"/>
          </a:xfrm>
          <a:prstGeom prst="rect">
            <a:avLst/>
          </a:prstGeom>
          <a:solidFill>
            <a:srgbClr val="b6d2ef"/>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21" name=""/>
          <p:cNvSpPr/>
          <p:nvPr/>
        </p:nvSpPr>
        <p:spPr>
          <a:xfrm>
            <a:off x="2041560" y="4200480"/>
            <a:ext cx="5200560" cy="42840"/>
          </a:xfrm>
          <a:prstGeom prst="rect">
            <a:avLst/>
          </a:prstGeom>
          <a:solidFill>
            <a:srgbClr val="b8d2ef"/>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22" name=""/>
          <p:cNvSpPr/>
          <p:nvPr/>
        </p:nvSpPr>
        <p:spPr>
          <a:xfrm>
            <a:off x="2041560" y="4243320"/>
            <a:ext cx="5200560" cy="42840"/>
          </a:xfrm>
          <a:prstGeom prst="rect">
            <a:avLst/>
          </a:prstGeom>
          <a:solidFill>
            <a:srgbClr val="bad3ee"/>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23" name=""/>
          <p:cNvSpPr/>
          <p:nvPr/>
        </p:nvSpPr>
        <p:spPr>
          <a:xfrm>
            <a:off x="2041560" y="4286160"/>
            <a:ext cx="5200560" cy="42840"/>
          </a:xfrm>
          <a:prstGeom prst="rect">
            <a:avLst/>
          </a:prstGeom>
          <a:solidFill>
            <a:srgbClr val="bcd3ee"/>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24" name=""/>
          <p:cNvSpPr/>
          <p:nvPr/>
        </p:nvSpPr>
        <p:spPr>
          <a:xfrm>
            <a:off x="2041560" y="4329000"/>
            <a:ext cx="5200560" cy="32040"/>
          </a:xfrm>
          <a:prstGeom prst="rect">
            <a:avLst/>
          </a:prstGeom>
          <a:solidFill>
            <a:srgbClr val="bed4ed"/>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725" name=""/>
          <p:cNvSpPr/>
          <p:nvPr/>
        </p:nvSpPr>
        <p:spPr>
          <a:xfrm>
            <a:off x="2041560" y="4361040"/>
            <a:ext cx="5200560" cy="53640"/>
          </a:xfrm>
          <a:prstGeom prst="rect">
            <a:avLst/>
          </a:prstGeom>
          <a:solidFill>
            <a:srgbClr val="c0d5ec"/>
          </a:solidFill>
          <a:ln w="0">
            <a:noFill/>
          </a:ln>
        </p:spPr>
        <p:style>
          <a:lnRef idx="0"/>
          <a:fillRef idx="0"/>
          <a:effectRef idx="0"/>
          <a:fontRef idx="minor"/>
        </p:style>
        <p:txBody>
          <a:bodyPr lIns="90000" rIns="90000" tIns="6840" bIns="6840" anchor="t">
            <a:noAutofit/>
          </a:bodyPr>
          <a:p>
            <a:endParaRPr b="0" lang="en-IN" sz="1800" strike="noStrike" u="none">
              <a:solidFill>
                <a:srgbClr val="000000"/>
              </a:solidFill>
              <a:effectLst/>
              <a:uFillTx/>
              <a:latin typeface="Arial"/>
            </a:endParaRPr>
          </a:p>
        </p:txBody>
      </p:sp>
      <p:sp>
        <p:nvSpPr>
          <p:cNvPr id="726" name=""/>
          <p:cNvSpPr/>
          <p:nvPr/>
        </p:nvSpPr>
        <p:spPr>
          <a:xfrm>
            <a:off x="2041560" y="4414680"/>
            <a:ext cx="5200560" cy="32040"/>
          </a:xfrm>
          <a:prstGeom prst="rect">
            <a:avLst/>
          </a:prstGeom>
          <a:solidFill>
            <a:srgbClr val="c2d5ec"/>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727" name=""/>
          <p:cNvSpPr/>
          <p:nvPr/>
        </p:nvSpPr>
        <p:spPr>
          <a:xfrm>
            <a:off x="2041560" y="4446720"/>
            <a:ext cx="5200560" cy="54000"/>
          </a:xfrm>
          <a:prstGeom prst="rect">
            <a:avLst/>
          </a:prstGeom>
          <a:solidFill>
            <a:srgbClr val="c4d6eb"/>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28" name=""/>
          <p:cNvSpPr/>
          <p:nvPr/>
        </p:nvSpPr>
        <p:spPr>
          <a:xfrm>
            <a:off x="2041560" y="4500720"/>
            <a:ext cx="5200560" cy="31680"/>
          </a:xfrm>
          <a:prstGeom prst="rect">
            <a:avLst/>
          </a:prstGeom>
          <a:solidFill>
            <a:srgbClr val="c6d7ec"/>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29" name=""/>
          <p:cNvSpPr/>
          <p:nvPr/>
        </p:nvSpPr>
        <p:spPr>
          <a:xfrm>
            <a:off x="2041560" y="4532400"/>
            <a:ext cx="5200560" cy="54000"/>
          </a:xfrm>
          <a:prstGeom prst="rect">
            <a:avLst/>
          </a:prstGeom>
          <a:solidFill>
            <a:srgbClr val="c8d7ec"/>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30" name=""/>
          <p:cNvSpPr/>
          <p:nvPr/>
        </p:nvSpPr>
        <p:spPr>
          <a:xfrm>
            <a:off x="2041560" y="4586400"/>
            <a:ext cx="5200560" cy="31680"/>
          </a:xfrm>
          <a:prstGeom prst="rect">
            <a:avLst/>
          </a:prstGeom>
          <a:solidFill>
            <a:srgbClr val="cad8ed"/>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31" name=""/>
          <p:cNvSpPr/>
          <p:nvPr/>
        </p:nvSpPr>
        <p:spPr>
          <a:xfrm>
            <a:off x="2041560" y="4618080"/>
            <a:ext cx="5200560" cy="54000"/>
          </a:xfrm>
          <a:prstGeom prst="rect">
            <a:avLst/>
          </a:prstGeom>
          <a:solidFill>
            <a:srgbClr val="ccd9ed"/>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32" name=""/>
          <p:cNvSpPr/>
          <p:nvPr/>
        </p:nvSpPr>
        <p:spPr>
          <a:xfrm>
            <a:off x="2041560" y="4672080"/>
            <a:ext cx="5200560" cy="42840"/>
          </a:xfrm>
          <a:prstGeom prst="rect">
            <a:avLst/>
          </a:prstGeom>
          <a:solidFill>
            <a:srgbClr val="cedaee"/>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33" name=""/>
          <p:cNvSpPr/>
          <p:nvPr/>
        </p:nvSpPr>
        <p:spPr>
          <a:xfrm>
            <a:off x="2041560" y="4714920"/>
            <a:ext cx="5200560" cy="42840"/>
          </a:xfrm>
          <a:prstGeom prst="rect">
            <a:avLst/>
          </a:prstGeom>
          <a:solidFill>
            <a:srgbClr val="d0daee"/>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34" name=""/>
          <p:cNvSpPr/>
          <p:nvPr/>
        </p:nvSpPr>
        <p:spPr>
          <a:xfrm>
            <a:off x="2041560" y="4757760"/>
            <a:ext cx="5200560" cy="42840"/>
          </a:xfrm>
          <a:prstGeom prst="rect">
            <a:avLst/>
          </a:prstGeom>
          <a:solidFill>
            <a:srgbClr val="d2dbee"/>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35" name=""/>
          <p:cNvSpPr/>
          <p:nvPr/>
        </p:nvSpPr>
        <p:spPr>
          <a:xfrm>
            <a:off x="2041560" y="4800600"/>
            <a:ext cx="5200560" cy="31680"/>
          </a:xfrm>
          <a:prstGeom prst="rect">
            <a:avLst/>
          </a:prstGeom>
          <a:solidFill>
            <a:srgbClr val="d4dcef"/>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36" name=""/>
          <p:cNvSpPr/>
          <p:nvPr/>
        </p:nvSpPr>
        <p:spPr>
          <a:xfrm>
            <a:off x="2041560" y="4832280"/>
            <a:ext cx="5200560" cy="54000"/>
          </a:xfrm>
          <a:prstGeom prst="rect">
            <a:avLst/>
          </a:prstGeom>
          <a:solidFill>
            <a:srgbClr val="d6dcef"/>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37" name=""/>
          <p:cNvSpPr/>
          <p:nvPr/>
        </p:nvSpPr>
        <p:spPr>
          <a:xfrm>
            <a:off x="2041560" y="4886280"/>
            <a:ext cx="5200560" cy="54000"/>
          </a:xfrm>
          <a:prstGeom prst="rect">
            <a:avLst/>
          </a:prstGeom>
          <a:solidFill>
            <a:srgbClr val="d8ddf0"/>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38" name=""/>
          <p:cNvSpPr/>
          <p:nvPr/>
        </p:nvSpPr>
        <p:spPr>
          <a:xfrm>
            <a:off x="2041560" y="4940280"/>
            <a:ext cx="5200560" cy="31680"/>
          </a:xfrm>
          <a:prstGeom prst="rect">
            <a:avLst/>
          </a:prstGeom>
          <a:solidFill>
            <a:srgbClr val="dadef1"/>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39" name=""/>
          <p:cNvSpPr/>
          <p:nvPr/>
        </p:nvSpPr>
        <p:spPr>
          <a:xfrm>
            <a:off x="2041560" y="4971960"/>
            <a:ext cx="5200560" cy="54000"/>
          </a:xfrm>
          <a:prstGeom prst="rect">
            <a:avLst/>
          </a:prstGeom>
          <a:solidFill>
            <a:srgbClr val="dcdef1"/>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40" name=""/>
          <p:cNvSpPr/>
          <p:nvPr/>
        </p:nvSpPr>
        <p:spPr>
          <a:xfrm>
            <a:off x="2041560" y="5025960"/>
            <a:ext cx="5200560" cy="31680"/>
          </a:xfrm>
          <a:prstGeom prst="rect">
            <a:avLst/>
          </a:prstGeom>
          <a:solidFill>
            <a:srgbClr val="dedff2"/>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41" name=""/>
          <p:cNvSpPr/>
          <p:nvPr/>
        </p:nvSpPr>
        <p:spPr>
          <a:xfrm>
            <a:off x="2041560" y="5057640"/>
            <a:ext cx="5200560" cy="54000"/>
          </a:xfrm>
          <a:prstGeom prst="rect">
            <a:avLst/>
          </a:prstGeom>
          <a:solidFill>
            <a:srgbClr val="e0e0f2"/>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42" name=""/>
          <p:cNvSpPr/>
          <p:nvPr/>
        </p:nvSpPr>
        <p:spPr>
          <a:xfrm>
            <a:off x="2041560" y="5111640"/>
            <a:ext cx="5200560" cy="42840"/>
          </a:xfrm>
          <a:prstGeom prst="rect">
            <a:avLst/>
          </a:prstGeom>
          <a:solidFill>
            <a:srgbClr val="e2e1f3"/>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43" name=""/>
          <p:cNvSpPr/>
          <p:nvPr/>
        </p:nvSpPr>
        <p:spPr>
          <a:xfrm>
            <a:off x="2041560" y="5154480"/>
            <a:ext cx="5200560" cy="32040"/>
          </a:xfrm>
          <a:prstGeom prst="rect">
            <a:avLst/>
          </a:prstGeom>
          <a:solidFill>
            <a:srgbClr val="e4e1f3"/>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744" name=""/>
          <p:cNvSpPr/>
          <p:nvPr/>
        </p:nvSpPr>
        <p:spPr>
          <a:xfrm>
            <a:off x="2041560" y="5186520"/>
            <a:ext cx="5200560" cy="53640"/>
          </a:xfrm>
          <a:prstGeom prst="rect">
            <a:avLst/>
          </a:prstGeom>
          <a:solidFill>
            <a:srgbClr val="e6e2f4"/>
          </a:solidFill>
          <a:ln w="0">
            <a:noFill/>
          </a:ln>
        </p:spPr>
        <p:style>
          <a:lnRef idx="0"/>
          <a:fillRef idx="0"/>
          <a:effectRef idx="0"/>
          <a:fontRef idx="minor"/>
        </p:style>
        <p:txBody>
          <a:bodyPr lIns="90000" rIns="90000" tIns="6840" bIns="6840" anchor="t">
            <a:noAutofit/>
          </a:bodyPr>
          <a:p>
            <a:endParaRPr b="0" lang="en-IN" sz="1800" strike="noStrike" u="none">
              <a:solidFill>
                <a:srgbClr val="000000"/>
              </a:solidFill>
              <a:effectLst/>
              <a:uFillTx/>
              <a:latin typeface="Arial"/>
            </a:endParaRPr>
          </a:p>
        </p:txBody>
      </p:sp>
      <p:sp>
        <p:nvSpPr>
          <p:cNvPr id="745" name=""/>
          <p:cNvSpPr/>
          <p:nvPr/>
        </p:nvSpPr>
        <p:spPr>
          <a:xfrm>
            <a:off x="2041560" y="5240160"/>
            <a:ext cx="5200560" cy="54000"/>
          </a:xfrm>
          <a:prstGeom prst="rect">
            <a:avLst/>
          </a:prstGeom>
          <a:solidFill>
            <a:srgbClr val="e8e3f4"/>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46" name=""/>
          <p:cNvSpPr/>
          <p:nvPr/>
        </p:nvSpPr>
        <p:spPr>
          <a:xfrm>
            <a:off x="2041560" y="5294160"/>
            <a:ext cx="5200560" cy="32040"/>
          </a:xfrm>
          <a:prstGeom prst="rect">
            <a:avLst/>
          </a:prstGeom>
          <a:solidFill>
            <a:srgbClr val="eae4f5"/>
          </a:solidFill>
          <a:ln w="0">
            <a:noFill/>
          </a:ln>
        </p:spPr>
        <p:style>
          <a:lnRef idx="0"/>
          <a:fillRef idx="0"/>
          <a:effectRef idx="0"/>
          <a:fontRef idx="minor"/>
        </p:style>
        <p:txBody>
          <a:bodyPr lIns="90000" rIns="90000" tIns="-14760" bIns="-14760" anchor="t">
            <a:noAutofit/>
          </a:bodyPr>
          <a:p>
            <a:endParaRPr b="0" lang="en-IN" sz="1800" strike="noStrike" u="none">
              <a:solidFill>
                <a:srgbClr val="000000"/>
              </a:solidFill>
              <a:effectLst/>
              <a:uFillTx/>
              <a:latin typeface="Arial"/>
            </a:endParaRPr>
          </a:p>
        </p:txBody>
      </p:sp>
      <p:sp>
        <p:nvSpPr>
          <p:cNvPr id="747" name=""/>
          <p:cNvSpPr/>
          <p:nvPr/>
        </p:nvSpPr>
        <p:spPr>
          <a:xfrm>
            <a:off x="2041560" y="5326200"/>
            <a:ext cx="5200560" cy="54000"/>
          </a:xfrm>
          <a:prstGeom prst="rect">
            <a:avLst/>
          </a:prstGeom>
          <a:solidFill>
            <a:srgbClr val="ece4f5"/>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48" name=""/>
          <p:cNvSpPr/>
          <p:nvPr/>
        </p:nvSpPr>
        <p:spPr>
          <a:xfrm>
            <a:off x="2041560" y="5380200"/>
            <a:ext cx="5200560" cy="31680"/>
          </a:xfrm>
          <a:prstGeom prst="rect">
            <a:avLst/>
          </a:prstGeom>
          <a:solidFill>
            <a:srgbClr val="eee5f6"/>
          </a:solidFill>
          <a:ln w="0">
            <a:no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49" name=""/>
          <p:cNvSpPr/>
          <p:nvPr/>
        </p:nvSpPr>
        <p:spPr>
          <a:xfrm>
            <a:off x="2041560" y="5411880"/>
            <a:ext cx="5200560" cy="52200"/>
          </a:xfrm>
          <a:prstGeom prst="rect">
            <a:avLst/>
          </a:prstGeom>
          <a:solidFill>
            <a:srgbClr val="f0e6f6"/>
          </a:solidFill>
          <a:ln w="0">
            <a:noFill/>
          </a:ln>
        </p:spPr>
        <p:style>
          <a:lnRef idx="0"/>
          <a:fillRef idx="0"/>
          <a:effectRef idx="0"/>
          <a:fontRef idx="minor"/>
        </p:style>
        <p:txBody>
          <a:bodyPr lIns="90000" rIns="90000" tIns="5400" bIns="5400" anchor="t">
            <a:noAutofit/>
          </a:bodyPr>
          <a:p>
            <a:endParaRPr b="0" lang="en-IN" sz="1800" strike="noStrike" u="none">
              <a:solidFill>
                <a:srgbClr val="000000"/>
              </a:solidFill>
              <a:effectLst/>
              <a:uFillTx/>
              <a:latin typeface="Arial"/>
            </a:endParaRPr>
          </a:p>
        </p:txBody>
      </p:sp>
      <p:sp>
        <p:nvSpPr>
          <p:cNvPr id="750" name=""/>
          <p:cNvSpPr/>
          <p:nvPr/>
        </p:nvSpPr>
        <p:spPr>
          <a:xfrm>
            <a:off x="2041560" y="5464080"/>
            <a:ext cx="5200560" cy="42840"/>
          </a:xfrm>
          <a:prstGeom prst="rect">
            <a:avLst/>
          </a:prstGeom>
          <a:solidFill>
            <a:srgbClr val="f2e6f7"/>
          </a:soli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751" name=""/>
          <p:cNvSpPr/>
          <p:nvPr/>
        </p:nvSpPr>
        <p:spPr>
          <a:xfrm>
            <a:off x="2041560" y="5506920"/>
            <a:ext cx="5200560" cy="33480"/>
          </a:xfrm>
          <a:prstGeom prst="rect">
            <a:avLst/>
          </a:prstGeom>
          <a:solidFill>
            <a:srgbClr val="f4e7f7"/>
          </a:solidFill>
          <a:ln w="0">
            <a:noFill/>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752" name=""/>
          <p:cNvSpPr/>
          <p:nvPr/>
        </p:nvSpPr>
        <p:spPr>
          <a:xfrm>
            <a:off x="2041560" y="5540400"/>
            <a:ext cx="5200560" cy="52200"/>
          </a:xfrm>
          <a:prstGeom prst="rect">
            <a:avLst/>
          </a:prstGeom>
          <a:solidFill>
            <a:srgbClr val="f6e8f8"/>
          </a:solidFill>
          <a:ln w="0">
            <a:noFill/>
          </a:ln>
        </p:spPr>
        <p:style>
          <a:lnRef idx="0"/>
          <a:fillRef idx="0"/>
          <a:effectRef idx="0"/>
          <a:fontRef idx="minor"/>
        </p:style>
        <p:txBody>
          <a:bodyPr lIns="90000" rIns="90000" tIns="5400" bIns="5400" anchor="t">
            <a:noAutofit/>
          </a:bodyPr>
          <a:p>
            <a:endParaRPr b="0" lang="en-IN" sz="1800" strike="noStrike" u="none">
              <a:solidFill>
                <a:srgbClr val="000000"/>
              </a:solidFill>
              <a:effectLst/>
              <a:uFillTx/>
              <a:latin typeface="Arial"/>
            </a:endParaRPr>
          </a:p>
        </p:txBody>
      </p:sp>
      <p:sp>
        <p:nvSpPr>
          <p:cNvPr id="753" name=""/>
          <p:cNvSpPr/>
          <p:nvPr/>
        </p:nvSpPr>
        <p:spPr>
          <a:xfrm>
            <a:off x="2041560" y="5592600"/>
            <a:ext cx="5200560" cy="33480"/>
          </a:xfrm>
          <a:prstGeom prst="rect">
            <a:avLst/>
          </a:prstGeom>
          <a:solidFill>
            <a:srgbClr val="f8e9f8"/>
          </a:solidFill>
          <a:ln w="0">
            <a:noFill/>
          </a:ln>
        </p:spPr>
        <p:style>
          <a:lnRef idx="0"/>
          <a:fillRef idx="0"/>
          <a:effectRef idx="0"/>
          <a:fontRef idx="minor"/>
        </p:style>
        <p:txBody>
          <a:bodyPr lIns="90000" rIns="90000" tIns="-13320" bIns="-13320" anchor="t">
            <a:noAutofit/>
          </a:bodyPr>
          <a:p>
            <a:endParaRPr b="0" lang="en-IN" sz="1800" strike="noStrike" u="none">
              <a:solidFill>
                <a:srgbClr val="000000"/>
              </a:solidFill>
              <a:effectLst/>
              <a:uFillTx/>
              <a:latin typeface="Arial"/>
            </a:endParaRPr>
          </a:p>
        </p:txBody>
      </p:sp>
      <p:sp>
        <p:nvSpPr>
          <p:cNvPr id="754" name=""/>
          <p:cNvSpPr/>
          <p:nvPr/>
        </p:nvSpPr>
        <p:spPr>
          <a:xfrm>
            <a:off x="2041560" y="5626080"/>
            <a:ext cx="5200560" cy="52560"/>
          </a:xfrm>
          <a:prstGeom prst="rect">
            <a:avLst/>
          </a:prstGeom>
          <a:solidFill>
            <a:srgbClr val="fae9f9"/>
          </a:solidFill>
          <a:ln w="0">
            <a:noFill/>
          </a:ln>
        </p:spPr>
        <p:style>
          <a:lnRef idx="0"/>
          <a:fillRef idx="0"/>
          <a:effectRef idx="0"/>
          <a:fontRef idx="minor"/>
        </p:style>
        <p:txBody>
          <a:bodyPr lIns="90000" rIns="90000" tIns="5760" bIns="5760" anchor="t">
            <a:noAutofit/>
          </a:bodyPr>
          <a:p>
            <a:endParaRPr b="0" lang="en-IN" sz="1800" strike="noStrike" u="none">
              <a:solidFill>
                <a:srgbClr val="000000"/>
              </a:solidFill>
              <a:effectLst/>
              <a:uFillTx/>
              <a:latin typeface="Arial"/>
            </a:endParaRPr>
          </a:p>
        </p:txBody>
      </p:sp>
      <p:sp>
        <p:nvSpPr>
          <p:cNvPr id="755" name=""/>
          <p:cNvSpPr/>
          <p:nvPr/>
        </p:nvSpPr>
        <p:spPr>
          <a:xfrm>
            <a:off x="2041560" y="5678640"/>
            <a:ext cx="5200560" cy="54000"/>
          </a:xfrm>
          <a:prstGeom prst="rect">
            <a:avLst/>
          </a:prstGeom>
          <a:solidFill>
            <a:srgbClr val="fceaf9"/>
          </a:solidFill>
          <a:ln w="0">
            <a:noFill/>
          </a:ln>
        </p:spPr>
        <p:style>
          <a:lnRef idx="0"/>
          <a:fillRef idx="0"/>
          <a:effectRef idx="0"/>
          <a:fontRef idx="minor"/>
        </p:style>
        <p:txBody>
          <a:bodyPr lIns="90000" rIns="90000" tIns="7200" bIns="7200" anchor="t">
            <a:noAutofit/>
          </a:bodyPr>
          <a:p>
            <a:endParaRPr b="0" lang="en-IN" sz="1800" strike="noStrike" u="none">
              <a:solidFill>
                <a:srgbClr val="000000"/>
              </a:solidFill>
              <a:effectLst/>
              <a:uFillTx/>
              <a:latin typeface="Arial"/>
            </a:endParaRPr>
          </a:p>
        </p:txBody>
      </p:sp>
      <p:sp>
        <p:nvSpPr>
          <p:cNvPr id="756" name=""/>
          <p:cNvSpPr/>
          <p:nvPr/>
        </p:nvSpPr>
        <p:spPr>
          <a:xfrm>
            <a:off x="2041560" y="5732640"/>
            <a:ext cx="5200560" cy="21960"/>
          </a:xfrm>
          <a:prstGeom prst="rect">
            <a:avLst/>
          </a:prstGeom>
          <a:solidFill>
            <a:srgbClr val="ffebfa"/>
          </a:solidFill>
          <a:ln w="9360">
            <a:solidFill>
              <a:srgbClr val="ffffff"/>
            </a:solidFill>
            <a:miter/>
          </a:ln>
        </p:spPr>
        <p:style>
          <a:lnRef idx="0"/>
          <a:fillRef idx="0"/>
          <a:effectRef idx="0"/>
          <a:fontRef idx="minor"/>
        </p:style>
        <p:txBody>
          <a:bodyPr lIns="90000" rIns="90000" tIns="-24840" bIns="-24840" anchor="t">
            <a:noAutofit/>
          </a:bodyPr>
          <a:p>
            <a:endParaRPr b="0" lang="en-IN" sz="1800" strike="noStrike" u="none">
              <a:solidFill>
                <a:srgbClr val="000000"/>
              </a:solidFill>
              <a:effectLst/>
              <a:uFillTx/>
              <a:latin typeface="Arial"/>
            </a:endParaRPr>
          </a:p>
        </p:txBody>
      </p:sp>
      <p:sp>
        <p:nvSpPr>
          <p:cNvPr id="757" name=""/>
          <p:cNvSpPr/>
          <p:nvPr/>
        </p:nvSpPr>
        <p:spPr>
          <a:xfrm>
            <a:off x="2041560" y="1447920"/>
            <a:ext cx="5200560" cy="4306680"/>
          </a:xfrm>
          <a:prstGeom prst="rect">
            <a:avLst/>
          </a:prstGeom>
          <a:no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58" name=""/>
          <p:cNvSpPr/>
          <p:nvPr/>
        </p:nvSpPr>
        <p:spPr>
          <a:xfrm>
            <a:off x="2041560" y="5037120"/>
            <a:ext cx="5200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59" name=""/>
          <p:cNvSpPr/>
          <p:nvPr/>
        </p:nvSpPr>
        <p:spPr>
          <a:xfrm>
            <a:off x="2041560" y="4317840"/>
            <a:ext cx="5200560" cy="1800"/>
          </a:xfrm>
          <a:prstGeom prst="line">
            <a:avLst/>
          </a:prstGeom>
          <a:ln w="0">
            <a:solidFill>
              <a:srgbClr val="000000"/>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60" name=""/>
          <p:cNvSpPr/>
          <p:nvPr/>
        </p:nvSpPr>
        <p:spPr>
          <a:xfrm>
            <a:off x="2041560" y="3600360"/>
            <a:ext cx="5200560" cy="1800"/>
          </a:xfrm>
          <a:prstGeom prst="line">
            <a:avLst/>
          </a:prstGeom>
          <a:ln w="0">
            <a:solidFill>
              <a:srgbClr val="000000"/>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61" name=""/>
          <p:cNvSpPr/>
          <p:nvPr/>
        </p:nvSpPr>
        <p:spPr>
          <a:xfrm>
            <a:off x="2041560" y="2882880"/>
            <a:ext cx="5200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62" name=""/>
          <p:cNvSpPr/>
          <p:nvPr/>
        </p:nvSpPr>
        <p:spPr>
          <a:xfrm>
            <a:off x="2041560" y="2165400"/>
            <a:ext cx="5200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63" name=""/>
          <p:cNvSpPr/>
          <p:nvPr/>
        </p:nvSpPr>
        <p:spPr>
          <a:xfrm>
            <a:off x="2041560" y="1447920"/>
            <a:ext cx="5200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64" name=""/>
          <p:cNvSpPr/>
          <p:nvPr/>
        </p:nvSpPr>
        <p:spPr>
          <a:xfrm>
            <a:off x="2041560" y="1447920"/>
            <a:ext cx="5200560" cy="4306680"/>
          </a:xfrm>
          <a:prstGeom prst="rect">
            <a:avLst/>
          </a:prstGeom>
          <a:noFill/>
          <a:ln w="1116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65" name=""/>
          <p:cNvSpPr/>
          <p:nvPr/>
        </p:nvSpPr>
        <p:spPr>
          <a:xfrm>
            <a:off x="2041560" y="1447920"/>
            <a:ext cx="1440" cy="430668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66" name=""/>
          <p:cNvSpPr/>
          <p:nvPr/>
        </p:nvSpPr>
        <p:spPr>
          <a:xfrm>
            <a:off x="2009880" y="5754600"/>
            <a:ext cx="3168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67" name=""/>
          <p:cNvSpPr/>
          <p:nvPr/>
        </p:nvSpPr>
        <p:spPr>
          <a:xfrm>
            <a:off x="2009880" y="5037120"/>
            <a:ext cx="316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68" name=""/>
          <p:cNvSpPr/>
          <p:nvPr/>
        </p:nvSpPr>
        <p:spPr>
          <a:xfrm>
            <a:off x="2009880" y="4317840"/>
            <a:ext cx="3168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69" name=""/>
          <p:cNvSpPr/>
          <p:nvPr/>
        </p:nvSpPr>
        <p:spPr>
          <a:xfrm>
            <a:off x="2009880" y="3600360"/>
            <a:ext cx="3168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70" name=""/>
          <p:cNvSpPr/>
          <p:nvPr/>
        </p:nvSpPr>
        <p:spPr>
          <a:xfrm>
            <a:off x="2009880" y="2882880"/>
            <a:ext cx="316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71" name=""/>
          <p:cNvSpPr/>
          <p:nvPr/>
        </p:nvSpPr>
        <p:spPr>
          <a:xfrm>
            <a:off x="2009880" y="2165400"/>
            <a:ext cx="316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72" name=""/>
          <p:cNvSpPr/>
          <p:nvPr/>
        </p:nvSpPr>
        <p:spPr>
          <a:xfrm>
            <a:off x="2009880" y="1447920"/>
            <a:ext cx="316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773" name=""/>
          <p:cNvSpPr/>
          <p:nvPr/>
        </p:nvSpPr>
        <p:spPr>
          <a:xfrm>
            <a:off x="2041560" y="5754600"/>
            <a:ext cx="520056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774" name=""/>
          <p:cNvSpPr/>
          <p:nvPr/>
        </p:nvSpPr>
        <p:spPr>
          <a:xfrm flipV="1">
            <a:off x="2041560" y="5754600"/>
            <a:ext cx="144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75" name=""/>
          <p:cNvSpPr/>
          <p:nvPr/>
        </p:nvSpPr>
        <p:spPr>
          <a:xfrm flipV="1">
            <a:off x="2560680" y="5754600"/>
            <a:ext cx="144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76" name=""/>
          <p:cNvSpPr/>
          <p:nvPr/>
        </p:nvSpPr>
        <p:spPr>
          <a:xfrm flipV="1">
            <a:off x="3079800" y="5754600"/>
            <a:ext cx="144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77" name=""/>
          <p:cNvSpPr/>
          <p:nvPr/>
        </p:nvSpPr>
        <p:spPr>
          <a:xfrm flipV="1">
            <a:off x="359712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78" name=""/>
          <p:cNvSpPr/>
          <p:nvPr/>
        </p:nvSpPr>
        <p:spPr>
          <a:xfrm flipV="1">
            <a:off x="411624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79" name=""/>
          <p:cNvSpPr/>
          <p:nvPr/>
        </p:nvSpPr>
        <p:spPr>
          <a:xfrm flipV="1">
            <a:off x="464652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80" name=""/>
          <p:cNvSpPr/>
          <p:nvPr/>
        </p:nvSpPr>
        <p:spPr>
          <a:xfrm flipV="1">
            <a:off x="516564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81" name=""/>
          <p:cNvSpPr/>
          <p:nvPr/>
        </p:nvSpPr>
        <p:spPr>
          <a:xfrm flipV="1">
            <a:off x="568476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82" name=""/>
          <p:cNvSpPr/>
          <p:nvPr/>
        </p:nvSpPr>
        <p:spPr>
          <a:xfrm flipV="1">
            <a:off x="620388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83" name=""/>
          <p:cNvSpPr/>
          <p:nvPr/>
        </p:nvSpPr>
        <p:spPr>
          <a:xfrm flipV="1">
            <a:off x="672300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84" name=""/>
          <p:cNvSpPr/>
          <p:nvPr/>
        </p:nvSpPr>
        <p:spPr>
          <a:xfrm flipV="1">
            <a:off x="7242120" y="5754600"/>
            <a:ext cx="1800" cy="31680"/>
          </a:xfrm>
          <a:prstGeom prst="line">
            <a:avLst/>
          </a:prstGeom>
          <a:ln w="0">
            <a:solidFill>
              <a:srgbClr val="ffffff"/>
            </a:solidFill>
          </a:ln>
        </p:spPr>
        <p:style>
          <a:lnRef idx="0"/>
          <a:fillRef idx="0"/>
          <a:effectRef idx="0"/>
          <a:fontRef idx="minor"/>
        </p:style>
        <p:txBody>
          <a:bodyPr lIns="90000" rIns="90000" tIns="-15120" bIns="-15120" anchor="t">
            <a:noAutofit/>
          </a:bodyPr>
          <a:p>
            <a:endParaRPr b="0" lang="en-IN" sz="1800" strike="noStrike" u="none">
              <a:solidFill>
                <a:srgbClr val="000000"/>
              </a:solidFill>
              <a:effectLst/>
              <a:uFillTx/>
              <a:latin typeface="Arial"/>
            </a:endParaRPr>
          </a:p>
        </p:txBody>
      </p:sp>
      <p:sp>
        <p:nvSpPr>
          <p:cNvPr id="785" name=""/>
          <p:cNvSpPr/>
          <p:nvPr/>
        </p:nvSpPr>
        <p:spPr>
          <a:xfrm>
            <a:off x="2305080" y="1693800"/>
            <a:ext cx="4672080" cy="320760"/>
          </a:xfrm>
          <a:custGeom>
            <a:avLst/>
            <a:gdLst/>
            <a:ahLst/>
            <a:rect l="l" t="t" r="r" b="b"/>
            <a:pathLst>
              <a:path w="441" h="30">
                <a:moveTo>
                  <a:pt x="0" y="18"/>
                </a:moveTo>
                <a:lnTo>
                  <a:pt x="49" y="9"/>
                </a:lnTo>
                <a:lnTo>
                  <a:pt x="98" y="1"/>
                </a:lnTo>
                <a:lnTo>
                  <a:pt x="147" y="0"/>
                </a:lnTo>
                <a:lnTo>
                  <a:pt x="196" y="9"/>
                </a:lnTo>
                <a:lnTo>
                  <a:pt x="245" y="30"/>
                </a:lnTo>
                <a:lnTo>
                  <a:pt x="294" y="24"/>
                </a:lnTo>
                <a:lnTo>
                  <a:pt x="343" y="9"/>
                </a:lnTo>
                <a:lnTo>
                  <a:pt x="392" y="5"/>
                </a:lnTo>
                <a:lnTo>
                  <a:pt x="441" y="3"/>
                </a:lnTo>
              </a:path>
            </a:pathLst>
          </a:custGeom>
          <a:noFill/>
          <a:ln w="3168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86" name=""/>
          <p:cNvSpPr/>
          <p:nvPr/>
        </p:nvSpPr>
        <p:spPr>
          <a:xfrm>
            <a:off x="2305080" y="2637000"/>
            <a:ext cx="4672080" cy="352440"/>
          </a:xfrm>
          <a:custGeom>
            <a:avLst/>
            <a:gdLst/>
            <a:ahLst/>
            <a:rect l="l" t="t" r="r" b="b"/>
            <a:pathLst>
              <a:path w="441" h="33">
                <a:moveTo>
                  <a:pt x="0" y="20"/>
                </a:moveTo>
                <a:lnTo>
                  <a:pt x="49" y="28"/>
                </a:lnTo>
                <a:lnTo>
                  <a:pt x="98" y="33"/>
                </a:lnTo>
                <a:lnTo>
                  <a:pt x="147" y="33"/>
                </a:lnTo>
                <a:lnTo>
                  <a:pt x="196" y="24"/>
                </a:lnTo>
                <a:lnTo>
                  <a:pt x="245" y="17"/>
                </a:lnTo>
                <a:lnTo>
                  <a:pt x="294" y="0"/>
                </a:lnTo>
                <a:lnTo>
                  <a:pt x="343" y="16"/>
                </a:lnTo>
                <a:lnTo>
                  <a:pt x="392" y="16"/>
                </a:lnTo>
                <a:lnTo>
                  <a:pt x="441" y="17"/>
                </a:lnTo>
              </a:path>
            </a:pathLst>
          </a:custGeom>
          <a:noFill/>
          <a:ln w="31680">
            <a:solidFill>
              <a:srgbClr val="ff0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87" name=""/>
          <p:cNvSpPr/>
          <p:nvPr/>
        </p:nvSpPr>
        <p:spPr>
          <a:xfrm>
            <a:off x="2305080" y="5251320"/>
            <a:ext cx="4672080" cy="277920"/>
          </a:xfrm>
          <a:custGeom>
            <a:avLst/>
            <a:gdLst/>
            <a:ahLst/>
            <a:rect l="l" t="t" r="r" b="b"/>
            <a:pathLst>
              <a:path w="441" h="26">
                <a:moveTo>
                  <a:pt x="0" y="9"/>
                </a:moveTo>
                <a:lnTo>
                  <a:pt x="49" y="10"/>
                </a:lnTo>
                <a:lnTo>
                  <a:pt x="98" y="12"/>
                </a:lnTo>
                <a:lnTo>
                  <a:pt x="147" y="15"/>
                </a:lnTo>
                <a:lnTo>
                  <a:pt x="196" y="13"/>
                </a:lnTo>
                <a:lnTo>
                  <a:pt x="245" y="0"/>
                </a:lnTo>
                <a:lnTo>
                  <a:pt x="294" y="23"/>
                </a:lnTo>
                <a:lnTo>
                  <a:pt x="343" y="22"/>
                </a:lnTo>
                <a:lnTo>
                  <a:pt x="392" y="26"/>
                </a:lnTo>
                <a:lnTo>
                  <a:pt x="441" y="26"/>
                </a:lnTo>
              </a:path>
            </a:pathLst>
          </a:custGeom>
          <a:noFill/>
          <a:ln w="3168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88" name=""/>
          <p:cNvSpPr/>
          <p:nvPr/>
        </p:nvSpPr>
        <p:spPr>
          <a:xfrm>
            <a:off x="2252520" y="1833480"/>
            <a:ext cx="106560" cy="106560"/>
          </a:xfrm>
          <a:custGeom>
            <a:avLst/>
            <a:gdLst/>
            <a:ahLst/>
            <a:rect l="l" t="t" r="r" b="b"/>
            <a:pathLst>
              <a:path w="67" h="67">
                <a:moveTo>
                  <a:pt x="33" y="0"/>
                </a:moveTo>
                <a:lnTo>
                  <a:pt x="67" y="33"/>
                </a:lnTo>
                <a:lnTo>
                  <a:pt x="33" y="67"/>
                </a:lnTo>
                <a:lnTo>
                  <a:pt x="0" y="33"/>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89" name=""/>
          <p:cNvSpPr/>
          <p:nvPr/>
        </p:nvSpPr>
        <p:spPr>
          <a:xfrm>
            <a:off x="2771640" y="1736640"/>
            <a:ext cx="106560" cy="106560"/>
          </a:xfrm>
          <a:custGeom>
            <a:avLst/>
            <a:gdLst/>
            <a:ahLst/>
            <a:rect l="l" t="t" r="r" b="b"/>
            <a:pathLst>
              <a:path w="67" h="67">
                <a:moveTo>
                  <a:pt x="33" y="0"/>
                </a:moveTo>
                <a:lnTo>
                  <a:pt x="67" y="34"/>
                </a:lnTo>
                <a:lnTo>
                  <a:pt x="33" y="67"/>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0" name=""/>
          <p:cNvSpPr/>
          <p:nvPr/>
        </p:nvSpPr>
        <p:spPr>
          <a:xfrm>
            <a:off x="3290760" y="1650960"/>
            <a:ext cx="106560" cy="106560"/>
          </a:xfrm>
          <a:custGeom>
            <a:avLst/>
            <a:gdLst/>
            <a:ahLst/>
            <a:rect l="l" t="t" r="r" b="b"/>
            <a:pathLst>
              <a:path w="67" h="67">
                <a:moveTo>
                  <a:pt x="33" y="0"/>
                </a:moveTo>
                <a:lnTo>
                  <a:pt x="67" y="34"/>
                </a:lnTo>
                <a:lnTo>
                  <a:pt x="33" y="67"/>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1" name=""/>
          <p:cNvSpPr/>
          <p:nvPr/>
        </p:nvSpPr>
        <p:spPr>
          <a:xfrm>
            <a:off x="3809880" y="1639800"/>
            <a:ext cx="106560" cy="108000"/>
          </a:xfrm>
          <a:custGeom>
            <a:avLst/>
            <a:gdLst/>
            <a:ahLst/>
            <a:rect l="l" t="t" r="r" b="b"/>
            <a:pathLst>
              <a:path w="67" h="68">
                <a:moveTo>
                  <a:pt x="33" y="0"/>
                </a:moveTo>
                <a:lnTo>
                  <a:pt x="67" y="34"/>
                </a:lnTo>
                <a:lnTo>
                  <a:pt x="33" y="68"/>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2" name=""/>
          <p:cNvSpPr/>
          <p:nvPr/>
        </p:nvSpPr>
        <p:spPr>
          <a:xfrm>
            <a:off x="4329000" y="1736640"/>
            <a:ext cx="106560" cy="106560"/>
          </a:xfrm>
          <a:custGeom>
            <a:avLst/>
            <a:gdLst/>
            <a:ahLst/>
            <a:rect l="l" t="t" r="r" b="b"/>
            <a:pathLst>
              <a:path w="67" h="67">
                <a:moveTo>
                  <a:pt x="33" y="0"/>
                </a:moveTo>
                <a:lnTo>
                  <a:pt x="67" y="34"/>
                </a:lnTo>
                <a:lnTo>
                  <a:pt x="33" y="67"/>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3" name=""/>
          <p:cNvSpPr/>
          <p:nvPr/>
        </p:nvSpPr>
        <p:spPr>
          <a:xfrm>
            <a:off x="4848120" y="1962000"/>
            <a:ext cx="106560" cy="106560"/>
          </a:xfrm>
          <a:custGeom>
            <a:avLst/>
            <a:gdLst/>
            <a:ahLst/>
            <a:rect l="l" t="t" r="r" b="b"/>
            <a:pathLst>
              <a:path w="67" h="67">
                <a:moveTo>
                  <a:pt x="33" y="0"/>
                </a:moveTo>
                <a:lnTo>
                  <a:pt x="67" y="33"/>
                </a:lnTo>
                <a:lnTo>
                  <a:pt x="33" y="67"/>
                </a:lnTo>
                <a:lnTo>
                  <a:pt x="0" y="33"/>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4" name=""/>
          <p:cNvSpPr/>
          <p:nvPr/>
        </p:nvSpPr>
        <p:spPr>
          <a:xfrm>
            <a:off x="5367240" y="1897200"/>
            <a:ext cx="106560" cy="107640"/>
          </a:xfrm>
          <a:custGeom>
            <a:avLst/>
            <a:gdLst/>
            <a:ahLst/>
            <a:rect l="l" t="t" r="r" b="b"/>
            <a:pathLst>
              <a:path w="67" h="68">
                <a:moveTo>
                  <a:pt x="33" y="0"/>
                </a:moveTo>
                <a:lnTo>
                  <a:pt x="67" y="34"/>
                </a:lnTo>
                <a:lnTo>
                  <a:pt x="33" y="68"/>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5" name=""/>
          <p:cNvSpPr/>
          <p:nvPr/>
        </p:nvSpPr>
        <p:spPr>
          <a:xfrm>
            <a:off x="5886360" y="1736640"/>
            <a:ext cx="104760" cy="106560"/>
          </a:xfrm>
          <a:custGeom>
            <a:avLst/>
            <a:gdLst/>
            <a:ahLst/>
            <a:rect l="l" t="t" r="r" b="b"/>
            <a:pathLst>
              <a:path w="66" h="67">
                <a:moveTo>
                  <a:pt x="33" y="0"/>
                </a:moveTo>
                <a:lnTo>
                  <a:pt x="66" y="34"/>
                </a:lnTo>
                <a:lnTo>
                  <a:pt x="33" y="67"/>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6" name=""/>
          <p:cNvSpPr/>
          <p:nvPr/>
        </p:nvSpPr>
        <p:spPr>
          <a:xfrm>
            <a:off x="6405480" y="1693800"/>
            <a:ext cx="104760" cy="106560"/>
          </a:xfrm>
          <a:custGeom>
            <a:avLst/>
            <a:gdLst/>
            <a:ahLst/>
            <a:rect l="l" t="t" r="r" b="b"/>
            <a:pathLst>
              <a:path w="66" h="67">
                <a:moveTo>
                  <a:pt x="33" y="0"/>
                </a:moveTo>
                <a:lnTo>
                  <a:pt x="66" y="34"/>
                </a:lnTo>
                <a:lnTo>
                  <a:pt x="33" y="67"/>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7" name=""/>
          <p:cNvSpPr/>
          <p:nvPr/>
        </p:nvSpPr>
        <p:spPr>
          <a:xfrm>
            <a:off x="6924600" y="1671480"/>
            <a:ext cx="104760" cy="108000"/>
          </a:xfrm>
          <a:custGeom>
            <a:avLst/>
            <a:gdLst/>
            <a:ahLst/>
            <a:rect l="l" t="t" r="r" b="b"/>
            <a:pathLst>
              <a:path w="66" h="68">
                <a:moveTo>
                  <a:pt x="33" y="0"/>
                </a:moveTo>
                <a:lnTo>
                  <a:pt x="66" y="34"/>
                </a:lnTo>
                <a:lnTo>
                  <a:pt x="33" y="68"/>
                </a:lnTo>
                <a:lnTo>
                  <a:pt x="0" y="34"/>
                </a:lnTo>
                <a:lnTo>
                  <a:pt x="33" y="0"/>
                </a:lnTo>
                <a:close/>
              </a:path>
            </a:pathLst>
          </a:custGeom>
          <a:solidFill>
            <a:srgbClr val="000080"/>
          </a:solidFill>
          <a:ln w="11160">
            <a:solidFill>
              <a:srgbClr val="00008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8" name=""/>
          <p:cNvSpPr/>
          <p:nvPr/>
        </p:nvSpPr>
        <p:spPr>
          <a:xfrm>
            <a:off x="2252520" y="279720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99" name=""/>
          <p:cNvSpPr/>
          <p:nvPr/>
        </p:nvSpPr>
        <p:spPr>
          <a:xfrm>
            <a:off x="2771640" y="288288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0" name=""/>
          <p:cNvSpPr/>
          <p:nvPr/>
        </p:nvSpPr>
        <p:spPr>
          <a:xfrm>
            <a:off x="3290760" y="2936880"/>
            <a:ext cx="95400" cy="9540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1" name=""/>
          <p:cNvSpPr/>
          <p:nvPr/>
        </p:nvSpPr>
        <p:spPr>
          <a:xfrm>
            <a:off x="3809880" y="2936880"/>
            <a:ext cx="95400" cy="9540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2" name=""/>
          <p:cNvSpPr/>
          <p:nvPr/>
        </p:nvSpPr>
        <p:spPr>
          <a:xfrm>
            <a:off x="4329000" y="284004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3" name=""/>
          <p:cNvSpPr/>
          <p:nvPr/>
        </p:nvSpPr>
        <p:spPr>
          <a:xfrm>
            <a:off x="4848120" y="276552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4" name=""/>
          <p:cNvSpPr/>
          <p:nvPr/>
        </p:nvSpPr>
        <p:spPr>
          <a:xfrm>
            <a:off x="5367240" y="258300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5" name=""/>
          <p:cNvSpPr/>
          <p:nvPr/>
        </p:nvSpPr>
        <p:spPr>
          <a:xfrm>
            <a:off x="5886360" y="275436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6" name=""/>
          <p:cNvSpPr/>
          <p:nvPr/>
        </p:nvSpPr>
        <p:spPr>
          <a:xfrm>
            <a:off x="6405480" y="275436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7" name=""/>
          <p:cNvSpPr/>
          <p:nvPr/>
        </p:nvSpPr>
        <p:spPr>
          <a:xfrm>
            <a:off x="6924600" y="2765520"/>
            <a:ext cx="95400" cy="96840"/>
          </a:xfrm>
          <a:prstGeom prst="rect">
            <a:avLst/>
          </a:prstGeom>
          <a:solidFill>
            <a:srgbClr val="ff0000"/>
          </a:solidFill>
          <a:ln w="11160">
            <a:solidFill>
              <a:srgbClr val="ff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8" name=""/>
          <p:cNvSpPr/>
          <p:nvPr/>
        </p:nvSpPr>
        <p:spPr>
          <a:xfrm>
            <a:off x="2252520" y="5294160"/>
            <a:ext cx="106560" cy="106560"/>
          </a:xfrm>
          <a:custGeom>
            <a:avLst/>
            <a:gdLst/>
            <a:ahLst/>
            <a:rect l="l" t="t" r="r" b="b"/>
            <a:pathLst>
              <a:path w="67" h="67">
                <a:moveTo>
                  <a:pt x="33" y="0"/>
                </a:moveTo>
                <a:lnTo>
                  <a:pt x="67" y="67"/>
                </a:lnTo>
                <a:lnTo>
                  <a:pt x="0" y="67"/>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09" name=""/>
          <p:cNvSpPr/>
          <p:nvPr/>
        </p:nvSpPr>
        <p:spPr>
          <a:xfrm>
            <a:off x="2771640" y="5303880"/>
            <a:ext cx="106560" cy="108000"/>
          </a:xfrm>
          <a:custGeom>
            <a:avLst/>
            <a:gdLst/>
            <a:ahLst/>
            <a:rect l="l" t="t" r="r" b="b"/>
            <a:pathLst>
              <a:path w="67" h="68">
                <a:moveTo>
                  <a:pt x="33" y="0"/>
                </a:moveTo>
                <a:lnTo>
                  <a:pt x="67" y="68"/>
                </a:lnTo>
                <a:lnTo>
                  <a:pt x="0" y="68"/>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0" name=""/>
          <p:cNvSpPr/>
          <p:nvPr/>
        </p:nvSpPr>
        <p:spPr>
          <a:xfrm>
            <a:off x="3290760" y="5326200"/>
            <a:ext cx="106560" cy="106200"/>
          </a:xfrm>
          <a:custGeom>
            <a:avLst/>
            <a:gdLst/>
            <a:ahLst/>
            <a:rect l="l" t="t" r="r" b="b"/>
            <a:pathLst>
              <a:path w="67" h="67">
                <a:moveTo>
                  <a:pt x="33" y="0"/>
                </a:moveTo>
                <a:lnTo>
                  <a:pt x="67" y="67"/>
                </a:lnTo>
                <a:lnTo>
                  <a:pt x="0" y="67"/>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1" name=""/>
          <p:cNvSpPr/>
          <p:nvPr/>
        </p:nvSpPr>
        <p:spPr>
          <a:xfrm>
            <a:off x="3809880" y="5357880"/>
            <a:ext cx="106560" cy="106200"/>
          </a:xfrm>
          <a:custGeom>
            <a:avLst/>
            <a:gdLst/>
            <a:ahLst/>
            <a:rect l="l" t="t" r="r" b="b"/>
            <a:pathLst>
              <a:path w="67" h="67">
                <a:moveTo>
                  <a:pt x="33" y="0"/>
                </a:moveTo>
                <a:lnTo>
                  <a:pt x="67" y="67"/>
                </a:lnTo>
                <a:lnTo>
                  <a:pt x="0" y="67"/>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2" name=""/>
          <p:cNvSpPr/>
          <p:nvPr/>
        </p:nvSpPr>
        <p:spPr>
          <a:xfrm>
            <a:off x="4329000" y="5337000"/>
            <a:ext cx="106560" cy="106560"/>
          </a:xfrm>
          <a:custGeom>
            <a:avLst/>
            <a:gdLst/>
            <a:ahLst/>
            <a:rect l="l" t="t" r="r" b="b"/>
            <a:pathLst>
              <a:path w="67" h="67">
                <a:moveTo>
                  <a:pt x="33" y="0"/>
                </a:moveTo>
                <a:lnTo>
                  <a:pt x="67" y="67"/>
                </a:lnTo>
                <a:lnTo>
                  <a:pt x="0" y="67"/>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3" name=""/>
          <p:cNvSpPr/>
          <p:nvPr/>
        </p:nvSpPr>
        <p:spPr>
          <a:xfrm>
            <a:off x="4848120" y="5197320"/>
            <a:ext cx="106560" cy="106560"/>
          </a:xfrm>
          <a:custGeom>
            <a:avLst/>
            <a:gdLst/>
            <a:ahLst/>
            <a:rect l="l" t="t" r="r" b="b"/>
            <a:pathLst>
              <a:path w="67" h="67">
                <a:moveTo>
                  <a:pt x="33" y="0"/>
                </a:moveTo>
                <a:lnTo>
                  <a:pt x="67" y="67"/>
                </a:lnTo>
                <a:lnTo>
                  <a:pt x="0" y="67"/>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4" name=""/>
          <p:cNvSpPr/>
          <p:nvPr/>
        </p:nvSpPr>
        <p:spPr>
          <a:xfrm>
            <a:off x="5367240" y="5443560"/>
            <a:ext cx="106560" cy="106200"/>
          </a:xfrm>
          <a:custGeom>
            <a:avLst/>
            <a:gdLst/>
            <a:ahLst/>
            <a:rect l="l" t="t" r="r" b="b"/>
            <a:pathLst>
              <a:path w="67" h="67">
                <a:moveTo>
                  <a:pt x="33" y="0"/>
                </a:moveTo>
                <a:lnTo>
                  <a:pt x="67" y="67"/>
                </a:lnTo>
                <a:lnTo>
                  <a:pt x="0" y="67"/>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5" name=""/>
          <p:cNvSpPr/>
          <p:nvPr/>
        </p:nvSpPr>
        <p:spPr>
          <a:xfrm>
            <a:off x="5886360" y="5432400"/>
            <a:ext cx="104760" cy="108000"/>
          </a:xfrm>
          <a:custGeom>
            <a:avLst/>
            <a:gdLst/>
            <a:ahLst/>
            <a:rect l="l" t="t" r="r" b="b"/>
            <a:pathLst>
              <a:path w="66" h="68">
                <a:moveTo>
                  <a:pt x="33" y="0"/>
                </a:moveTo>
                <a:lnTo>
                  <a:pt x="66" y="68"/>
                </a:lnTo>
                <a:lnTo>
                  <a:pt x="0" y="68"/>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6" name=""/>
          <p:cNvSpPr/>
          <p:nvPr/>
        </p:nvSpPr>
        <p:spPr>
          <a:xfrm>
            <a:off x="6405480" y="5475240"/>
            <a:ext cx="104760" cy="108000"/>
          </a:xfrm>
          <a:custGeom>
            <a:avLst/>
            <a:gdLst/>
            <a:ahLst/>
            <a:rect l="l" t="t" r="r" b="b"/>
            <a:pathLst>
              <a:path w="66" h="68">
                <a:moveTo>
                  <a:pt x="33" y="0"/>
                </a:moveTo>
                <a:lnTo>
                  <a:pt x="66" y="68"/>
                </a:lnTo>
                <a:lnTo>
                  <a:pt x="0" y="68"/>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7" name=""/>
          <p:cNvSpPr/>
          <p:nvPr/>
        </p:nvSpPr>
        <p:spPr>
          <a:xfrm>
            <a:off x="6924600" y="5475240"/>
            <a:ext cx="104760" cy="108000"/>
          </a:xfrm>
          <a:custGeom>
            <a:avLst/>
            <a:gdLst/>
            <a:ahLst/>
            <a:rect l="l" t="t" r="r" b="b"/>
            <a:pathLst>
              <a:path w="66" h="68">
                <a:moveTo>
                  <a:pt x="33" y="0"/>
                </a:moveTo>
                <a:lnTo>
                  <a:pt x="66" y="68"/>
                </a:lnTo>
                <a:lnTo>
                  <a:pt x="0" y="68"/>
                </a:lnTo>
                <a:lnTo>
                  <a:pt x="33" y="0"/>
                </a:lnTo>
                <a:close/>
              </a:path>
            </a:pathLst>
          </a:custGeom>
          <a:solidFill>
            <a:srgbClr val="008000"/>
          </a:solidFill>
          <a:ln w="11160">
            <a:solidFill>
              <a:srgbClr val="008000"/>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18" name=""/>
          <p:cNvSpPr/>
          <p:nvPr/>
        </p:nvSpPr>
        <p:spPr>
          <a:xfrm>
            <a:off x="3809160" y="17524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56.6%</a:t>
            </a:r>
            <a:endParaRPr b="0" lang="en-IN" sz="1000" strike="noStrike" u="none">
              <a:solidFill>
                <a:srgbClr val="000000"/>
              </a:solidFill>
              <a:effectLst/>
              <a:uFillTx/>
              <a:latin typeface="Arial"/>
            </a:endParaRPr>
          </a:p>
        </p:txBody>
      </p:sp>
      <p:sp>
        <p:nvSpPr>
          <p:cNvPr id="819" name=""/>
          <p:cNvSpPr/>
          <p:nvPr/>
        </p:nvSpPr>
        <p:spPr>
          <a:xfrm>
            <a:off x="2284920" y="162864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53.9%</a:t>
            </a:r>
            <a:endParaRPr b="0" lang="en-IN" sz="1000" strike="noStrike" u="none">
              <a:solidFill>
                <a:srgbClr val="000000"/>
              </a:solidFill>
              <a:effectLst/>
              <a:uFillTx/>
              <a:latin typeface="Arial"/>
            </a:endParaRPr>
          </a:p>
        </p:txBody>
      </p:sp>
      <p:sp>
        <p:nvSpPr>
          <p:cNvPr id="820" name=""/>
          <p:cNvSpPr/>
          <p:nvPr/>
        </p:nvSpPr>
        <p:spPr>
          <a:xfrm>
            <a:off x="2818440" y="15652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55.2%</a:t>
            </a:r>
            <a:endParaRPr b="0" lang="en-IN" sz="1000" strike="noStrike" u="none">
              <a:solidFill>
                <a:srgbClr val="000000"/>
              </a:solidFill>
              <a:effectLst/>
              <a:uFillTx/>
              <a:latin typeface="Arial"/>
            </a:endParaRPr>
          </a:p>
        </p:txBody>
      </p:sp>
      <p:sp>
        <p:nvSpPr>
          <p:cNvPr id="821" name=""/>
          <p:cNvSpPr/>
          <p:nvPr/>
        </p:nvSpPr>
        <p:spPr>
          <a:xfrm>
            <a:off x="3351960" y="14986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56.4%</a:t>
            </a:r>
            <a:endParaRPr b="0" lang="en-IN" sz="1000" strike="noStrike" u="none">
              <a:solidFill>
                <a:srgbClr val="000000"/>
              </a:solidFill>
              <a:effectLst/>
              <a:uFillTx/>
              <a:latin typeface="Arial"/>
            </a:endParaRPr>
          </a:p>
        </p:txBody>
      </p:sp>
      <p:sp>
        <p:nvSpPr>
          <p:cNvPr id="822" name=""/>
          <p:cNvSpPr/>
          <p:nvPr/>
        </p:nvSpPr>
        <p:spPr>
          <a:xfrm>
            <a:off x="4953600" y="177012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52.1%</a:t>
            </a:r>
            <a:endParaRPr b="0" lang="en-IN" sz="1000" strike="noStrike" u="none">
              <a:solidFill>
                <a:srgbClr val="000000"/>
              </a:solidFill>
              <a:effectLst/>
              <a:uFillTx/>
              <a:latin typeface="Arial"/>
            </a:endParaRPr>
          </a:p>
        </p:txBody>
      </p:sp>
      <p:sp>
        <p:nvSpPr>
          <p:cNvPr id="823" name=""/>
          <p:cNvSpPr/>
          <p:nvPr/>
        </p:nvSpPr>
        <p:spPr>
          <a:xfrm>
            <a:off x="5482080" y="19828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53.0%</a:t>
            </a:r>
            <a:endParaRPr b="0" lang="en-IN" sz="1000" strike="noStrike" u="none">
              <a:solidFill>
                <a:srgbClr val="000000"/>
              </a:solidFill>
              <a:effectLst/>
              <a:uFillTx/>
              <a:latin typeface="Arial"/>
            </a:endParaRPr>
          </a:p>
        </p:txBody>
      </p:sp>
      <p:sp>
        <p:nvSpPr>
          <p:cNvPr id="824" name=""/>
          <p:cNvSpPr/>
          <p:nvPr/>
        </p:nvSpPr>
        <p:spPr>
          <a:xfrm>
            <a:off x="5866560" y="158436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55.2%</a:t>
            </a:r>
            <a:endParaRPr b="0" lang="en-IN" sz="1000" strike="noStrike" u="none">
              <a:solidFill>
                <a:srgbClr val="000000"/>
              </a:solidFill>
              <a:effectLst/>
              <a:uFillTx/>
              <a:latin typeface="Arial"/>
            </a:endParaRPr>
          </a:p>
        </p:txBody>
      </p:sp>
      <p:sp>
        <p:nvSpPr>
          <p:cNvPr id="825" name=""/>
          <p:cNvSpPr/>
          <p:nvPr/>
        </p:nvSpPr>
        <p:spPr>
          <a:xfrm>
            <a:off x="6399720" y="155412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55.8%</a:t>
            </a:r>
            <a:endParaRPr b="0" lang="en-IN" sz="1000" strike="noStrike" u="none">
              <a:solidFill>
                <a:srgbClr val="000000"/>
              </a:solidFill>
              <a:effectLst/>
              <a:uFillTx/>
              <a:latin typeface="Arial"/>
            </a:endParaRPr>
          </a:p>
        </p:txBody>
      </p:sp>
      <p:sp>
        <p:nvSpPr>
          <p:cNvPr id="826" name=""/>
          <p:cNvSpPr/>
          <p:nvPr/>
        </p:nvSpPr>
        <p:spPr>
          <a:xfrm>
            <a:off x="4342320" y="160020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55.2%</a:t>
            </a:r>
            <a:endParaRPr b="0" lang="en-IN" sz="1000" strike="noStrike" u="none">
              <a:solidFill>
                <a:srgbClr val="000000"/>
              </a:solidFill>
              <a:effectLst/>
              <a:uFillTx/>
              <a:latin typeface="Arial"/>
            </a:endParaRPr>
          </a:p>
        </p:txBody>
      </p:sp>
      <p:sp>
        <p:nvSpPr>
          <p:cNvPr id="827" name=""/>
          <p:cNvSpPr/>
          <p:nvPr/>
        </p:nvSpPr>
        <p:spPr>
          <a:xfrm>
            <a:off x="6876000" y="18334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56.1%</a:t>
            </a:r>
            <a:endParaRPr b="0" lang="en-IN" sz="1000" strike="noStrike" u="none">
              <a:solidFill>
                <a:srgbClr val="000000"/>
              </a:solidFill>
              <a:effectLst/>
              <a:uFillTx/>
              <a:latin typeface="Arial"/>
            </a:endParaRPr>
          </a:p>
        </p:txBody>
      </p:sp>
      <p:sp>
        <p:nvSpPr>
          <p:cNvPr id="828" name=""/>
          <p:cNvSpPr/>
          <p:nvPr/>
        </p:nvSpPr>
        <p:spPr>
          <a:xfrm>
            <a:off x="2284920" y="259092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40.5%</a:t>
            </a:r>
            <a:endParaRPr b="0" lang="en-IN" sz="1000" strike="noStrike" u="none">
              <a:solidFill>
                <a:srgbClr val="000000"/>
              </a:solidFill>
              <a:effectLst/>
              <a:uFillTx/>
              <a:latin typeface="Arial"/>
            </a:endParaRPr>
          </a:p>
        </p:txBody>
      </p:sp>
      <p:sp>
        <p:nvSpPr>
          <p:cNvPr id="829" name=""/>
          <p:cNvSpPr/>
          <p:nvPr/>
        </p:nvSpPr>
        <p:spPr>
          <a:xfrm>
            <a:off x="2818440" y="270036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39.2%</a:t>
            </a:r>
            <a:endParaRPr b="0" lang="en-IN" sz="1000" strike="noStrike" u="none">
              <a:solidFill>
                <a:srgbClr val="000000"/>
              </a:solidFill>
              <a:effectLst/>
              <a:uFillTx/>
              <a:latin typeface="Arial"/>
            </a:endParaRPr>
          </a:p>
        </p:txBody>
      </p:sp>
      <p:sp>
        <p:nvSpPr>
          <p:cNvPr id="830" name=""/>
          <p:cNvSpPr/>
          <p:nvPr/>
        </p:nvSpPr>
        <p:spPr>
          <a:xfrm>
            <a:off x="3275640" y="306540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38.4%</a:t>
            </a:r>
            <a:endParaRPr b="0" lang="en-IN" sz="1000" strike="noStrike" u="none">
              <a:solidFill>
                <a:srgbClr val="000000"/>
              </a:solidFill>
              <a:effectLst/>
              <a:uFillTx/>
              <a:latin typeface="Arial"/>
            </a:endParaRPr>
          </a:p>
        </p:txBody>
      </p:sp>
      <p:sp>
        <p:nvSpPr>
          <p:cNvPr id="831" name=""/>
          <p:cNvSpPr/>
          <p:nvPr/>
        </p:nvSpPr>
        <p:spPr>
          <a:xfrm>
            <a:off x="3809160" y="30322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38.5%</a:t>
            </a:r>
            <a:endParaRPr b="0" lang="en-IN" sz="1000" strike="noStrike" u="none">
              <a:solidFill>
                <a:srgbClr val="000000"/>
              </a:solidFill>
              <a:effectLst/>
              <a:uFillTx/>
              <a:latin typeface="Arial"/>
            </a:endParaRPr>
          </a:p>
        </p:txBody>
      </p:sp>
      <p:sp>
        <p:nvSpPr>
          <p:cNvPr id="832" name=""/>
          <p:cNvSpPr/>
          <p:nvPr/>
        </p:nvSpPr>
        <p:spPr>
          <a:xfrm>
            <a:off x="4342320" y="26686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39.8%</a:t>
            </a:r>
            <a:endParaRPr b="0" lang="en-IN" sz="1000" strike="noStrike" u="none">
              <a:solidFill>
                <a:srgbClr val="000000"/>
              </a:solidFill>
              <a:effectLst/>
              <a:uFillTx/>
              <a:latin typeface="Arial"/>
            </a:endParaRPr>
          </a:p>
        </p:txBody>
      </p:sp>
      <p:sp>
        <p:nvSpPr>
          <p:cNvPr id="833" name=""/>
          <p:cNvSpPr/>
          <p:nvPr/>
        </p:nvSpPr>
        <p:spPr>
          <a:xfrm>
            <a:off x="4953600" y="292572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40.8%</a:t>
            </a:r>
            <a:endParaRPr b="0" lang="en-IN" sz="1000" strike="noStrike" u="none">
              <a:solidFill>
                <a:srgbClr val="000000"/>
              </a:solidFill>
              <a:effectLst/>
              <a:uFillTx/>
              <a:latin typeface="Arial"/>
            </a:endParaRPr>
          </a:p>
        </p:txBody>
      </p:sp>
      <p:sp>
        <p:nvSpPr>
          <p:cNvPr id="834" name=""/>
          <p:cNvSpPr/>
          <p:nvPr/>
        </p:nvSpPr>
        <p:spPr>
          <a:xfrm>
            <a:off x="5482080" y="241128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43.5%</a:t>
            </a:r>
            <a:endParaRPr b="0" lang="en-IN" sz="1000" strike="noStrike" u="none">
              <a:solidFill>
                <a:srgbClr val="000000"/>
              </a:solidFill>
              <a:effectLst/>
              <a:uFillTx/>
              <a:latin typeface="Arial"/>
            </a:endParaRPr>
          </a:p>
        </p:txBody>
      </p:sp>
      <p:sp>
        <p:nvSpPr>
          <p:cNvPr id="835" name=""/>
          <p:cNvSpPr/>
          <p:nvPr/>
        </p:nvSpPr>
        <p:spPr>
          <a:xfrm>
            <a:off x="5866560" y="256716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41.0%</a:t>
            </a:r>
            <a:endParaRPr b="0" lang="en-IN" sz="1000" strike="noStrike" u="none">
              <a:solidFill>
                <a:srgbClr val="000000"/>
              </a:solidFill>
              <a:effectLst/>
              <a:uFillTx/>
              <a:latin typeface="Arial"/>
            </a:endParaRPr>
          </a:p>
        </p:txBody>
      </p:sp>
      <p:sp>
        <p:nvSpPr>
          <p:cNvPr id="836" name=""/>
          <p:cNvSpPr/>
          <p:nvPr/>
        </p:nvSpPr>
        <p:spPr>
          <a:xfrm>
            <a:off x="6399720" y="259092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41.0%</a:t>
            </a:r>
            <a:endParaRPr b="0" lang="en-IN" sz="1000" strike="noStrike" u="none">
              <a:solidFill>
                <a:srgbClr val="000000"/>
              </a:solidFill>
              <a:effectLst/>
              <a:uFillTx/>
              <a:latin typeface="Arial"/>
            </a:endParaRPr>
          </a:p>
        </p:txBody>
      </p:sp>
      <p:sp>
        <p:nvSpPr>
          <p:cNvPr id="837" name=""/>
          <p:cNvSpPr/>
          <p:nvPr/>
        </p:nvSpPr>
        <p:spPr>
          <a:xfrm>
            <a:off x="6876000" y="2583000"/>
            <a:ext cx="3592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40.8%</a:t>
            </a:r>
            <a:endParaRPr b="0" lang="en-IN" sz="1000" strike="noStrike" u="none">
              <a:solidFill>
                <a:srgbClr val="000000"/>
              </a:solidFill>
              <a:effectLst/>
              <a:uFillTx/>
              <a:latin typeface="Arial"/>
            </a:endParaRPr>
          </a:p>
        </p:txBody>
      </p:sp>
      <p:sp>
        <p:nvSpPr>
          <p:cNvPr id="838" name=""/>
          <p:cNvSpPr/>
          <p:nvPr/>
        </p:nvSpPr>
        <p:spPr>
          <a:xfrm>
            <a:off x="4314240" y="512748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5.0%</a:t>
            </a:r>
            <a:endParaRPr b="0" lang="en-IN" sz="1000" strike="noStrike" u="none">
              <a:solidFill>
                <a:srgbClr val="000000"/>
              </a:solidFill>
              <a:effectLst/>
              <a:uFillTx/>
              <a:latin typeface="Arial"/>
            </a:endParaRPr>
          </a:p>
        </p:txBody>
      </p:sp>
      <p:sp>
        <p:nvSpPr>
          <p:cNvPr id="839" name=""/>
          <p:cNvSpPr/>
          <p:nvPr/>
        </p:nvSpPr>
        <p:spPr>
          <a:xfrm>
            <a:off x="4858560" y="503856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7.0%</a:t>
            </a:r>
            <a:endParaRPr b="0" lang="en-IN" sz="1000" strike="noStrike" u="none">
              <a:solidFill>
                <a:srgbClr val="000000"/>
              </a:solidFill>
              <a:effectLst/>
              <a:uFillTx/>
              <a:latin typeface="Arial"/>
            </a:endParaRPr>
          </a:p>
        </p:txBody>
      </p:sp>
      <p:sp>
        <p:nvSpPr>
          <p:cNvPr id="840" name=""/>
          <p:cNvSpPr/>
          <p:nvPr/>
        </p:nvSpPr>
        <p:spPr>
          <a:xfrm>
            <a:off x="5900040" y="526896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3.7%</a:t>
            </a:r>
            <a:endParaRPr b="0" lang="en-IN" sz="1000" strike="noStrike" u="none">
              <a:solidFill>
                <a:srgbClr val="000000"/>
              </a:solidFill>
              <a:effectLst/>
              <a:uFillTx/>
              <a:latin typeface="Arial"/>
            </a:endParaRPr>
          </a:p>
        </p:txBody>
      </p:sp>
      <p:sp>
        <p:nvSpPr>
          <p:cNvPr id="841" name=""/>
          <p:cNvSpPr/>
          <p:nvPr/>
        </p:nvSpPr>
        <p:spPr>
          <a:xfrm>
            <a:off x="2283840" y="511488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5.7%</a:t>
            </a:r>
            <a:endParaRPr b="0" lang="en-IN" sz="1000" strike="noStrike" u="none">
              <a:solidFill>
                <a:srgbClr val="000000"/>
              </a:solidFill>
              <a:effectLst/>
              <a:uFillTx/>
              <a:latin typeface="Arial"/>
            </a:endParaRPr>
          </a:p>
        </p:txBody>
      </p:sp>
      <p:sp>
        <p:nvSpPr>
          <p:cNvPr id="842" name=""/>
          <p:cNvSpPr/>
          <p:nvPr/>
        </p:nvSpPr>
        <p:spPr>
          <a:xfrm>
            <a:off x="2799720" y="513252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5.5%</a:t>
            </a:r>
            <a:endParaRPr b="0" lang="en-IN" sz="1000" strike="noStrike" u="none">
              <a:solidFill>
                <a:srgbClr val="000000"/>
              </a:solidFill>
              <a:effectLst/>
              <a:uFillTx/>
              <a:latin typeface="Arial"/>
            </a:endParaRPr>
          </a:p>
        </p:txBody>
      </p:sp>
      <p:sp>
        <p:nvSpPr>
          <p:cNvPr id="843" name=""/>
          <p:cNvSpPr/>
          <p:nvPr/>
        </p:nvSpPr>
        <p:spPr>
          <a:xfrm>
            <a:off x="3295080" y="515772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5.2%</a:t>
            </a:r>
            <a:endParaRPr b="0" lang="en-IN" sz="1000" strike="noStrike" u="none">
              <a:solidFill>
                <a:srgbClr val="000000"/>
              </a:solidFill>
              <a:effectLst/>
              <a:uFillTx/>
              <a:latin typeface="Arial"/>
            </a:endParaRPr>
          </a:p>
        </p:txBody>
      </p:sp>
      <p:sp>
        <p:nvSpPr>
          <p:cNvPr id="844" name=""/>
          <p:cNvSpPr/>
          <p:nvPr/>
        </p:nvSpPr>
        <p:spPr>
          <a:xfrm>
            <a:off x="3809160" y="516564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4.8%</a:t>
            </a:r>
            <a:endParaRPr b="0" lang="en-IN" sz="1000" strike="noStrike" u="none">
              <a:solidFill>
                <a:srgbClr val="000000"/>
              </a:solidFill>
              <a:effectLst/>
              <a:uFillTx/>
              <a:latin typeface="Arial"/>
            </a:endParaRPr>
          </a:p>
        </p:txBody>
      </p:sp>
      <p:sp>
        <p:nvSpPr>
          <p:cNvPr id="845" name=""/>
          <p:cNvSpPr/>
          <p:nvPr/>
        </p:nvSpPr>
        <p:spPr>
          <a:xfrm>
            <a:off x="5365080" y="555768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3.6%</a:t>
            </a:r>
            <a:endParaRPr b="0" lang="en-IN" sz="1000" strike="noStrike" u="none">
              <a:solidFill>
                <a:srgbClr val="000000"/>
              </a:solidFill>
              <a:effectLst/>
              <a:uFillTx/>
              <a:latin typeface="Arial"/>
            </a:endParaRPr>
          </a:p>
        </p:txBody>
      </p:sp>
      <p:sp>
        <p:nvSpPr>
          <p:cNvPr id="846" name=""/>
          <p:cNvSpPr/>
          <p:nvPr/>
        </p:nvSpPr>
        <p:spPr>
          <a:xfrm>
            <a:off x="6423840" y="529416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3.1%</a:t>
            </a:r>
            <a:endParaRPr b="0" lang="en-IN" sz="1000" strike="noStrike" u="none">
              <a:solidFill>
                <a:srgbClr val="000000"/>
              </a:solidFill>
              <a:effectLst/>
              <a:uFillTx/>
              <a:latin typeface="Arial"/>
            </a:endParaRPr>
          </a:p>
        </p:txBody>
      </p:sp>
      <p:sp>
        <p:nvSpPr>
          <p:cNvPr id="847" name=""/>
          <p:cNvSpPr/>
          <p:nvPr/>
        </p:nvSpPr>
        <p:spPr>
          <a:xfrm>
            <a:off x="6933600" y="5303880"/>
            <a:ext cx="289080" cy="1530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000" strike="noStrike" u="none">
                <a:solidFill>
                  <a:srgbClr val="000000"/>
                </a:solidFill>
                <a:effectLst/>
                <a:uFillTx/>
                <a:latin typeface="Arial"/>
              </a:rPr>
              <a:t>3.1%</a:t>
            </a:r>
            <a:endParaRPr b="0" lang="en-IN" sz="1000" strike="noStrike" u="none">
              <a:solidFill>
                <a:srgbClr val="000000"/>
              </a:solidFill>
              <a:effectLst/>
              <a:uFillTx/>
              <a:latin typeface="Arial"/>
            </a:endParaRPr>
          </a:p>
        </p:txBody>
      </p:sp>
      <p:sp>
        <p:nvSpPr>
          <p:cNvPr id="848" name=""/>
          <p:cNvSpPr/>
          <p:nvPr/>
        </p:nvSpPr>
        <p:spPr>
          <a:xfrm>
            <a:off x="1690200" y="5678640"/>
            <a:ext cx="26136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0.0%</a:t>
            </a:r>
            <a:endParaRPr b="0" lang="en-IN" sz="900" strike="noStrike" u="none">
              <a:solidFill>
                <a:srgbClr val="000000"/>
              </a:solidFill>
              <a:effectLst/>
              <a:uFillTx/>
              <a:latin typeface="Arial"/>
            </a:endParaRPr>
          </a:p>
        </p:txBody>
      </p:sp>
      <p:sp>
        <p:nvSpPr>
          <p:cNvPr id="849" name=""/>
          <p:cNvSpPr/>
          <p:nvPr/>
        </p:nvSpPr>
        <p:spPr>
          <a:xfrm>
            <a:off x="1626840" y="4960800"/>
            <a:ext cx="32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10.0%</a:t>
            </a:r>
            <a:endParaRPr b="0" lang="en-IN" sz="900" strike="noStrike" u="none">
              <a:solidFill>
                <a:srgbClr val="000000"/>
              </a:solidFill>
              <a:effectLst/>
              <a:uFillTx/>
              <a:latin typeface="Arial"/>
            </a:endParaRPr>
          </a:p>
        </p:txBody>
      </p:sp>
      <p:sp>
        <p:nvSpPr>
          <p:cNvPr id="850" name=""/>
          <p:cNvSpPr/>
          <p:nvPr/>
        </p:nvSpPr>
        <p:spPr>
          <a:xfrm>
            <a:off x="1626840" y="4243320"/>
            <a:ext cx="32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20.0%</a:t>
            </a:r>
            <a:endParaRPr b="0" lang="en-IN" sz="900" strike="noStrike" u="none">
              <a:solidFill>
                <a:srgbClr val="000000"/>
              </a:solidFill>
              <a:effectLst/>
              <a:uFillTx/>
              <a:latin typeface="Arial"/>
            </a:endParaRPr>
          </a:p>
        </p:txBody>
      </p:sp>
      <p:sp>
        <p:nvSpPr>
          <p:cNvPr id="851" name=""/>
          <p:cNvSpPr/>
          <p:nvPr/>
        </p:nvSpPr>
        <p:spPr>
          <a:xfrm>
            <a:off x="1626840" y="3525840"/>
            <a:ext cx="32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30.0%</a:t>
            </a:r>
            <a:endParaRPr b="0" lang="en-IN" sz="900" strike="noStrike" u="none">
              <a:solidFill>
                <a:srgbClr val="000000"/>
              </a:solidFill>
              <a:effectLst/>
              <a:uFillTx/>
              <a:latin typeface="Arial"/>
            </a:endParaRPr>
          </a:p>
        </p:txBody>
      </p:sp>
      <p:sp>
        <p:nvSpPr>
          <p:cNvPr id="852" name=""/>
          <p:cNvSpPr/>
          <p:nvPr/>
        </p:nvSpPr>
        <p:spPr>
          <a:xfrm>
            <a:off x="1626840" y="2808360"/>
            <a:ext cx="32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40.0%</a:t>
            </a:r>
            <a:endParaRPr b="0" lang="en-IN" sz="900" strike="noStrike" u="none">
              <a:solidFill>
                <a:srgbClr val="000000"/>
              </a:solidFill>
              <a:effectLst/>
              <a:uFillTx/>
              <a:latin typeface="Arial"/>
            </a:endParaRPr>
          </a:p>
        </p:txBody>
      </p:sp>
      <p:sp>
        <p:nvSpPr>
          <p:cNvPr id="853" name=""/>
          <p:cNvSpPr/>
          <p:nvPr/>
        </p:nvSpPr>
        <p:spPr>
          <a:xfrm>
            <a:off x="1626840" y="2090880"/>
            <a:ext cx="32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50.0%</a:t>
            </a:r>
            <a:endParaRPr b="0" lang="en-IN" sz="900" strike="noStrike" u="none">
              <a:solidFill>
                <a:srgbClr val="000000"/>
              </a:solidFill>
              <a:effectLst/>
              <a:uFillTx/>
              <a:latin typeface="Arial"/>
            </a:endParaRPr>
          </a:p>
        </p:txBody>
      </p:sp>
      <p:sp>
        <p:nvSpPr>
          <p:cNvPr id="854" name=""/>
          <p:cNvSpPr/>
          <p:nvPr/>
        </p:nvSpPr>
        <p:spPr>
          <a:xfrm>
            <a:off x="1626840" y="1371600"/>
            <a:ext cx="324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60.0%</a:t>
            </a:r>
            <a:endParaRPr b="0" lang="en-IN" sz="900" strike="noStrike" u="none">
              <a:solidFill>
                <a:srgbClr val="000000"/>
              </a:solidFill>
              <a:effectLst/>
              <a:uFillTx/>
              <a:latin typeface="Arial"/>
            </a:endParaRPr>
          </a:p>
        </p:txBody>
      </p:sp>
      <p:sp>
        <p:nvSpPr>
          <p:cNvPr id="855" name=""/>
          <p:cNvSpPr/>
          <p:nvPr/>
        </p:nvSpPr>
        <p:spPr>
          <a:xfrm>
            <a:off x="209340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1998</a:t>
            </a:r>
            <a:endParaRPr b="0" lang="en-IN" sz="900" strike="noStrike" u="none">
              <a:solidFill>
                <a:srgbClr val="000000"/>
              </a:solidFill>
              <a:effectLst/>
              <a:uFillTx/>
              <a:latin typeface="Arial"/>
            </a:endParaRPr>
          </a:p>
        </p:txBody>
      </p:sp>
      <p:sp>
        <p:nvSpPr>
          <p:cNvPr id="856" name=""/>
          <p:cNvSpPr/>
          <p:nvPr/>
        </p:nvSpPr>
        <p:spPr>
          <a:xfrm>
            <a:off x="261252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1999</a:t>
            </a:r>
            <a:endParaRPr b="0" lang="en-IN" sz="900" strike="noStrike" u="none">
              <a:solidFill>
                <a:srgbClr val="000000"/>
              </a:solidFill>
              <a:effectLst/>
              <a:uFillTx/>
              <a:latin typeface="Arial"/>
            </a:endParaRPr>
          </a:p>
        </p:txBody>
      </p:sp>
      <p:sp>
        <p:nvSpPr>
          <p:cNvPr id="857" name=""/>
          <p:cNvSpPr/>
          <p:nvPr/>
        </p:nvSpPr>
        <p:spPr>
          <a:xfrm>
            <a:off x="313164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2000</a:t>
            </a:r>
            <a:endParaRPr b="0" lang="en-IN" sz="900" strike="noStrike" u="none">
              <a:solidFill>
                <a:srgbClr val="000000"/>
              </a:solidFill>
              <a:effectLst/>
              <a:uFillTx/>
              <a:latin typeface="Arial"/>
            </a:endParaRPr>
          </a:p>
        </p:txBody>
      </p:sp>
      <p:sp>
        <p:nvSpPr>
          <p:cNvPr id="858" name=""/>
          <p:cNvSpPr/>
          <p:nvPr/>
        </p:nvSpPr>
        <p:spPr>
          <a:xfrm>
            <a:off x="3630240" y="5850000"/>
            <a:ext cx="46440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2001</a:t>
            </a:r>
            <a:endParaRPr b="0" lang="en-IN" sz="900" strike="noStrike" u="none">
              <a:solidFill>
                <a:srgbClr val="000000"/>
              </a:solidFill>
              <a:effectLst/>
              <a:uFillTx/>
              <a:latin typeface="Arial"/>
            </a:endParaRPr>
          </a:p>
        </p:txBody>
      </p:sp>
      <p:sp>
        <p:nvSpPr>
          <p:cNvPr id="859" name=""/>
          <p:cNvSpPr/>
          <p:nvPr/>
        </p:nvSpPr>
        <p:spPr>
          <a:xfrm>
            <a:off x="416988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2002</a:t>
            </a:r>
            <a:endParaRPr b="0" lang="en-IN" sz="900" strike="noStrike" u="none">
              <a:solidFill>
                <a:srgbClr val="000000"/>
              </a:solidFill>
              <a:effectLst/>
              <a:uFillTx/>
              <a:latin typeface="Arial"/>
            </a:endParaRPr>
          </a:p>
        </p:txBody>
      </p:sp>
      <p:sp>
        <p:nvSpPr>
          <p:cNvPr id="860" name=""/>
          <p:cNvSpPr/>
          <p:nvPr/>
        </p:nvSpPr>
        <p:spPr>
          <a:xfrm>
            <a:off x="468900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2003</a:t>
            </a:r>
            <a:endParaRPr b="0" lang="en-IN" sz="900" strike="noStrike" u="none">
              <a:solidFill>
                <a:srgbClr val="000000"/>
              </a:solidFill>
              <a:effectLst/>
              <a:uFillTx/>
              <a:latin typeface="Arial"/>
            </a:endParaRPr>
          </a:p>
        </p:txBody>
      </p:sp>
      <p:sp>
        <p:nvSpPr>
          <p:cNvPr id="861" name=""/>
          <p:cNvSpPr/>
          <p:nvPr/>
        </p:nvSpPr>
        <p:spPr>
          <a:xfrm>
            <a:off x="520812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2004</a:t>
            </a:r>
            <a:endParaRPr b="0" lang="en-IN" sz="900" strike="noStrike" u="none">
              <a:solidFill>
                <a:srgbClr val="000000"/>
              </a:solidFill>
              <a:effectLst/>
              <a:uFillTx/>
              <a:latin typeface="Arial"/>
            </a:endParaRPr>
          </a:p>
        </p:txBody>
      </p:sp>
      <p:sp>
        <p:nvSpPr>
          <p:cNvPr id="862" name=""/>
          <p:cNvSpPr/>
          <p:nvPr/>
        </p:nvSpPr>
        <p:spPr>
          <a:xfrm>
            <a:off x="572724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2005</a:t>
            </a:r>
            <a:endParaRPr b="0" lang="en-IN" sz="900" strike="noStrike" u="none">
              <a:solidFill>
                <a:srgbClr val="000000"/>
              </a:solidFill>
              <a:effectLst/>
              <a:uFillTx/>
              <a:latin typeface="Arial"/>
            </a:endParaRPr>
          </a:p>
        </p:txBody>
      </p:sp>
      <p:sp>
        <p:nvSpPr>
          <p:cNvPr id="863" name=""/>
          <p:cNvSpPr/>
          <p:nvPr/>
        </p:nvSpPr>
        <p:spPr>
          <a:xfrm>
            <a:off x="624636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2006</a:t>
            </a:r>
            <a:endParaRPr b="0" lang="en-IN" sz="900" strike="noStrike" u="none">
              <a:solidFill>
                <a:srgbClr val="000000"/>
              </a:solidFill>
              <a:effectLst/>
              <a:uFillTx/>
              <a:latin typeface="Arial"/>
            </a:endParaRPr>
          </a:p>
        </p:txBody>
      </p:sp>
      <p:sp>
        <p:nvSpPr>
          <p:cNvPr id="864" name=""/>
          <p:cNvSpPr/>
          <p:nvPr/>
        </p:nvSpPr>
        <p:spPr>
          <a:xfrm>
            <a:off x="6765480" y="5850000"/>
            <a:ext cx="432720" cy="1378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00" strike="noStrike" u="none">
                <a:solidFill>
                  <a:srgbClr val="ffffff"/>
                </a:solidFill>
                <a:effectLst/>
                <a:uFillTx/>
                <a:latin typeface="Arial"/>
              </a:rPr>
              <a:t>FY 2007</a:t>
            </a:r>
            <a:endParaRPr b="0" lang="en-IN" sz="900" strike="noStrike" u="none">
              <a:solidFill>
                <a:srgbClr val="000000"/>
              </a:solidFill>
              <a:effectLst/>
              <a:uFillTx/>
              <a:latin typeface="Arial"/>
            </a:endParaRPr>
          </a:p>
        </p:txBody>
      </p:sp>
      <p:sp>
        <p:nvSpPr>
          <p:cNvPr id="865" name=""/>
          <p:cNvSpPr/>
          <p:nvPr/>
        </p:nvSpPr>
        <p:spPr>
          <a:xfrm>
            <a:off x="2295360" y="6161040"/>
            <a:ext cx="4935600" cy="257400"/>
          </a:xfrm>
          <a:prstGeom prst="rect">
            <a:avLst/>
          </a:prstGeom>
          <a:gradFill rotWithShape="0">
            <a:gsLst>
              <a:gs pos="0">
                <a:srgbClr val="99ccff"/>
              </a:gs>
              <a:gs pos="100000">
                <a:srgbClr val="fff3ff"/>
              </a:gs>
            </a:gsLst>
            <a:lin ang="5400000"/>
          </a:gradFill>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66" name=""/>
          <p:cNvSpPr/>
          <p:nvPr/>
        </p:nvSpPr>
        <p:spPr>
          <a:xfrm>
            <a:off x="2538360" y="6278400"/>
            <a:ext cx="297000" cy="1800"/>
          </a:xfrm>
          <a:prstGeom prst="line">
            <a:avLst/>
          </a:prstGeom>
          <a:ln w="31680">
            <a:solidFill>
              <a:srgbClr val="000080"/>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67" name=""/>
          <p:cNvSpPr/>
          <p:nvPr/>
        </p:nvSpPr>
        <p:spPr>
          <a:xfrm>
            <a:off x="2644920" y="6235560"/>
            <a:ext cx="83880" cy="86040"/>
          </a:xfrm>
          <a:custGeom>
            <a:avLst/>
            <a:gdLst/>
            <a:ahLst/>
            <a:rect l="l" t="t" r="r" b="b"/>
            <a:pathLst>
              <a:path w="53" h="54">
                <a:moveTo>
                  <a:pt x="27" y="0"/>
                </a:moveTo>
                <a:lnTo>
                  <a:pt x="53" y="27"/>
                </a:lnTo>
                <a:lnTo>
                  <a:pt x="27" y="54"/>
                </a:lnTo>
                <a:lnTo>
                  <a:pt x="0" y="27"/>
                </a:lnTo>
                <a:lnTo>
                  <a:pt x="27" y="0"/>
                </a:lnTo>
                <a:close/>
              </a:path>
            </a:pathLst>
          </a:custGeom>
          <a:solidFill>
            <a:srgbClr val="000080"/>
          </a:solidFill>
          <a:ln w="11160">
            <a:solidFill>
              <a:srgbClr val="000080"/>
            </a:solidFill>
            <a:round/>
          </a:ln>
        </p:spPr>
        <p:style>
          <a:lnRef idx="0"/>
          <a:fillRef idx="0"/>
          <a:effectRef idx="0"/>
          <a:fontRef idx="minor"/>
        </p:style>
        <p:txBody>
          <a:bodyPr lIns="90000" rIns="90000" tIns="39240" bIns="39240" anchor="t">
            <a:noAutofit/>
          </a:bodyPr>
          <a:p>
            <a:endParaRPr b="0" lang="en-IN" sz="1800" strike="noStrike" u="none">
              <a:solidFill>
                <a:srgbClr val="000000"/>
              </a:solidFill>
              <a:effectLst/>
              <a:uFillTx/>
              <a:latin typeface="Arial"/>
            </a:endParaRPr>
          </a:p>
        </p:txBody>
      </p:sp>
      <p:sp>
        <p:nvSpPr>
          <p:cNvPr id="868" name=""/>
          <p:cNvSpPr/>
          <p:nvPr/>
        </p:nvSpPr>
        <p:spPr>
          <a:xfrm>
            <a:off x="2865240" y="6192720"/>
            <a:ext cx="104508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100" strike="noStrike" u="none">
                <a:solidFill>
                  <a:srgbClr val="000000"/>
                </a:solidFill>
                <a:effectLst/>
                <a:uFillTx/>
                <a:latin typeface="Arial"/>
              </a:rPr>
              <a:t>Basic Research</a:t>
            </a:r>
            <a:endParaRPr b="0" lang="en-IN" sz="1100" strike="noStrike" u="none">
              <a:solidFill>
                <a:srgbClr val="000000"/>
              </a:solidFill>
              <a:effectLst/>
              <a:uFillTx/>
              <a:latin typeface="Arial"/>
            </a:endParaRPr>
          </a:p>
        </p:txBody>
      </p:sp>
      <p:sp>
        <p:nvSpPr>
          <p:cNvPr id="869" name=""/>
          <p:cNvSpPr/>
          <p:nvPr/>
        </p:nvSpPr>
        <p:spPr>
          <a:xfrm>
            <a:off x="4349880" y="6278400"/>
            <a:ext cx="296640" cy="1800"/>
          </a:xfrm>
          <a:prstGeom prst="line">
            <a:avLst/>
          </a:prstGeom>
          <a:ln w="31680">
            <a:solidFill>
              <a:srgbClr val="ff0000"/>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70" name=""/>
          <p:cNvSpPr/>
          <p:nvPr/>
        </p:nvSpPr>
        <p:spPr>
          <a:xfrm>
            <a:off x="4456080" y="6235560"/>
            <a:ext cx="74520" cy="76320"/>
          </a:xfrm>
          <a:prstGeom prst="rect">
            <a:avLst/>
          </a:prstGeom>
          <a:solidFill>
            <a:srgbClr val="ff0000"/>
          </a:solidFill>
          <a:ln w="11160">
            <a:solidFill>
              <a:srgbClr val="ff0000"/>
            </a:solidFill>
            <a:miter/>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871" name=""/>
          <p:cNvSpPr/>
          <p:nvPr/>
        </p:nvSpPr>
        <p:spPr>
          <a:xfrm>
            <a:off x="4676400" y="6192720"/>
            <a:ext cx="118512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100" strike="noStrike" u="none">
                <a:solidFill>
                  <a:srgbClr val="000000"/>
                </a:solidFill>
                <a:effectLst/>
                <a:uFillTx/>
                <a:latin typeface="Arial"/>
              </a:rPr>
              <a:t>Applied Research</a:t>
            </a:r>
            <a:endParaRPr b="0" lang="en-IN" sz="1100" strike="noStrike" u="none">
              <a:solidFill>
                <a:srgbClr val="000000"/>
              </a:solidFill>
              <a:effectLst/>
              <a:uFillTx/>
              <a:latin typeface="Arial"/>
            </a:endParaRPr>
          </a:p>
        </p:txBody>
      </p:sp>
      <p:sp>
        <p:nvSpPr>
          <p:cNvPr id="872" name=""/>
          <p:cNvSpPr/>
          <p:nvPr/>
        </p:nvSpPr>
        <p:spPr>
          <a:xfrm>
            <a:off x="6319800" y="6278400"/>
            <a:ext cx="297000" cy="1800"/>
          </a:xfrm>
          <a:prstGeom prst="line">
            <a:avLst/>
          </a:prstGeom>
          <a:ln w="31680">
            <a:solidFill>
              <a:srgbClr val="008000"/>
            </a:solidFill>
            <a:miter/>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73" name=""/>
          <p:cNvSpPr/>
          <p:nvPr/>
        </p:nvSpPr>
        <p:spPr>
          <a:xfrm>
            <a:off x="6426360" y="6235560"/>
            <a:ext cx="83880" cy="86040"/>
          </a:xfrm>
          <a:custGeom>
            <a:avLst/>
            <a:gdLst/>
            <a:ahLst/>
            <a:rect l="l" t="t" r="r" b="b"/>
            <a:pathLst>
              <a:path w="53" h="54">
                <a:moveTo>
                  <a:pt x="27" y="0"/>
                </a:moveTo>
                <a:lnTo>
                  <a:pt x="53" y="54"/>
                </a:lnTo>
                <a:lnTo>
                  <a:pt x="0" y="54"/>
                </a:lnTo>
                <a:lnTo>
                  <a:pt x="27" y="0"/>
                </a:lnTo>
                <a:close/>
              </a:path>
            </a:pathLst>
          </a:custGeom>
          <a:solidFill>
            <a:srgbClr val="008000"/>
          </a:solidFill>
          <a:ln w="11160">
            <a:solidFill>
              <a:srgbClr val="008000"/>
            </a:solidFill>
            <a:round/>
          </a:ln>
        </p:spPr>
        <p:style>
          <a:lnRef idx="0"/>
          <a:fillRef idx="0"/>
          <a:effectRef idx="0"/>
          <a:fontRef idx="minor"/>
        </p:style>
        <p:txBody>
          <a:bodyPr lIns="90000" rIns="90000" tIns="39240" bIns="39240" anchor="t">
            <a:noAutofit/>
          </a:bodyPr>
          <a:p>
            <a:endParaRPr b="0" lang="en-IN" sz="1800" strike="noStrike" u="none">
              <a:solidFill>
                <a:srgbClr val="000000"/>
              </a:solidFill>
              <a:effectLst/>
              <a:uFillTx/>
              <a:latin typeface="Arial"/>
            </a:endParaRPr>
          </a:p>
        </p:txBody>
      </p:sp>
      <p:sp>
        <p:nvSpPr>
          <p:cNvPr id="874" name=""/>
          <p:cNvSpPr/>
          <p:nvPr/>
        </p:nvSpPr>
        <p:spPr>
          <a:xfrm>
            <a:off x="6647040" y="6192720"/>
            <a:ext cx="374760" cy="16812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100" strike="noStrike" u="none">
                <a:solidFill>
                  <a:srgbClr val="000000"/>
                </a:solidFill>
                <a:effectLst/>
                <a:uFillTx/>
                <a:latin typeface="Arial"/>
              </a:rPr>
              <a:t>Other</a:t>
            </a:r>
            <a:endParaRPr b="0" lang="en-IN" sz="1100" strike="noStrike" u="none">
              <a:solidFill>
                <a:srgbClr val="000000"/>
              </a:solidFill>
              <a:effectLst/>
              <a:uFillTx/>
              <a:latin typeface="Arial"/>
            </a:endParaRPr>
          </a:p>
        </p:txBody>
      </p:sp>
      <p:sp>
        <p:nvSpPr>
          <p:cNvPr id="875" name=""/>
          <p:cNvSpPr/>
          <p:nvPr/>
        </p:nvSpPr>
        <p:spPr>
          <a:xfrm>
            <a:off x="1131840" y="185760"/>
            <a:ext cx="7477200" cy="9478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Common Misperception: NIH is Over-emphasizing Applied Research</a:t>
            </a:r>
            <a:endParaRPr b="0" lang="en-IN" sz="2800" strike="noStrike" u="none">
              <a:solidFill>
                <a:srgbClr val="000000"/>
              </a:solidFill>
              <a:effectLst/>
              <a:uFillTx/>
              <a:latin typeface="Arial"/>
            </a:endParaRPr>
          </a:p>
        </p:txBody>
      </p:sp>
      <p:sp>
        <p:nvSpPr>
          <p:cNvPr id="876" name=""/>
          <p:cNvSpPr/>
          <p:nvPr/>
        </p:nvSpPr>
        <p:spPr>
          <a:xfrm>
            <a:off x="4572000" y="3848040"/>
            <a:ext cx="609480" cy="1143000"/>
          </a:xfrm>
          <a:prstGeom prst="downArrow">
            <a:avLst>
              <a:gd name="adj1" fmla="val 50000"/>
              <a:gd name="adj2" fmla="val 46884"/>
            </a:avLst>
          </a:prstGeom>
          <a:gradFill rotWithShape="0">
            <a:gsLst>
              <a:gs pos="0">
                <a:srgbClr val="ffff99"/>
              </a:gs>
              <a:gs pos="100000">
                <a:srgbClr val="ff9933"/>
              </a:gs>
            </a:gsLst>
            <a:lin ang="5400000"/>
          </a:gradFill>
          <a:ln w="9360">
            <a:solidFill>
              <a:srgbClr val="ff33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877" name=""/>
          <p:cNvSpPr/>
          <p:nvPr/>
        </p:nvSpPr>
        <p:spPr>
          <a:xfrm>
            <a:off x="960480" y="0"/>
            <a:ext cx="7954920" cy="155736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trike="noStrike" u="none">
                <a:solidFill>
                  <a:srgbClr val="ffffff"/>
                </a:solidFill>
                <a:effectLst/>
                <a:uFillTx/>
                <a:latin typeface="Arial"/>
              </a:rPr>
              <a:t>Common Misperception: NIH Shifting Towards Solicited Research</a:t>
            </a:r>
            <a:r>
              <a:rPr b="1" lang="en-US" sz="3200" strike="noStrike" u="none">
                <a:solidFill>
                  <a:srgbClr val="000000"/>
                </a:solidFill>
                <a:effectLst/>
                <a:uFillTx/>
                <a:latin typeface="Arial"/>
              </a:rPr>
              <a:t> </a:t>
            </a:r>
            <a:r>
              <a:rPr b="1" lang="en-US" sz="3200" strike="noStrike" u="none">
                <a:solidFill>
                  <a:srgbClr val="ffffff"/>
                </a:solidFill>
                <a:effectLst/>
                <a:uFillTx/>
                <a:latin typeface="Arial"/>
              </a:rPr>
              <a:t>with too many RFAs</a:t>
            </a:r>
            <a:endParaRPr b="0" lang="en-IN" sz="3200" strike="noStrike" u="none">
              <a:solidFill>
                <a:srgbClr val="000000"/>
              </a:solidFill>
              <a:effectLst/>
              <a:uFillTx/>
              <a:latin typeface="Arial"/>
            </a:endParaRPr>
          </a:p>
        </p:txBody>
      </p:sp>
      <p:sp>
        <p:nvSpPr>
          <p:cNvPr id="878" name=""/>
          <p:cNvSpPr/>
          <p:nvPr/>
        </p:nvSpPr>
        <p:spPr>
          <a:xfrm>
            <a:off x="1755720" y="1730520"/>
            <a:ext cx="6958080" cy="3727440"/>
          </a:xfrm>
          <a:prstGeom prst="rect">
            <a:avLst/>
          </a:prstGeom>
          <a:no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79" name=""/>
          <p:cNvSpPr/>
          <p:nvPr/>
        </p:nvSpPr>
        <p:spPr>
          <a:xfrm>
            <a:off x="1755720" y="5084640"/>
            <a:ext cx="6958080" cy="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80" name=""/>
          <p:cNvSpPr/>
          <p:nvPr/>
        </p:nvSpPr>
        <p:spPr>
          <a:xfrm>
            <a:off x="1755720" y="4711680"/>
            <a:ext cx="69580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81" name=""/>
          <p:cNvSpPr/>
          <p:nvPr/>
        </p:nvSpPr>
        <p:spPr>
          <a:xfrm>
            <a:off x="1755720" y="4338720"/>
            <a:ext cx="69580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82" name=""/>
          <p:cNvSpPr/>
          <p:nvPr/>
        </p:nvSpPr>
        <p:spPr>
          <a:xfrm>
            <a:off x="1755720" y="3967200"/>
            <a:ext cx="6958080" cy="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83" name=""/>
          <p:cNvSpPr/>
          <p:nvPr/>
        </p:nvSpPr>
        <p:spPr>
          <a:xfrm>
            <a:off x="1755720" y="3592440"/>
            <a:ext cx="695808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84" name=""/>
          <p:cNvSpPr/>
          <p:nvPr/>
        </p:nvSpPr>
        <p:spPr>
          <a:xfrm>
            <a:off x="1755720" y="3220920"/>
            <a:ext cx="6958080" cy="1800"/>
          </a:xfrm>
          <a:prstGeom prst="line">
            <a:avLst/>
          </a:prstGeom>
          <a:ln w="0">
            <a:solidFill>
              <a:srgbClr val="ffffff"/>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85" name=""/>
          <p:cNvSpPr/>
          <p:nvPr/>
        </p:nvSpPr>
        <p:spPr>
          <a:xfrm>
            <a:off x="1755720" y="2849400"/>
            <a:ext cx="6958080" cy="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86" name=""/>
          <p:cNvSpPr/>
          <p:nvPr/>
        </p:nvSpPr>
        <p:spPr>
          <a:xfrm>
            <a:off x="1755720" y="2475000"/>
            <a:ext cx="69580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87" name=""/>
          <p:cNvSpPr/>
          <p:nvPr/>
        </p:nvSpPr>
        <p:spPr>
          <a:xfrm>
            <a:off x="1755720" y="2103480"/>
            <a:ext cx="69580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88" name=""/>
          <p:cNvSpPr/>
          <p:nvPr/>
        </p:nvSpPr>
        <p:spPr>
          <a:xfrm>
            <a:off x="1755720" y="1730520"/>
            <a:ext cx="695808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89" name=""/>
          <p:cNvSpPr/>
          <p:nvPr/>
        </p:nvSpPr>
        <p:spPr>
          <a:xfrm>
            <a:off x="1755720" y="1730520"/>
            <a:ext cx="6958080" cy="3727440"/>
          </a:xfrm>
          <a:prstGeom prst="rect">
            <a:avLst/>
          </a:prstGeom>
          <a:noFill/>
          <a:ln w="9360">
            <a:solidFill>
              <a:srgbClr val="80808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90" name=""/>
          <p:cNvSpPr/>
          <p:nvPr/>
        </p:nvSpPr>
        <p:spPr>
          <a:xfrm>
            <a:off x="1755720" y="1730520"/>
            <a:ext cx="1800" cy="3727440"/>
          </a:xfrm>
          <a:prstGeom prst="line">
            <a:avLst/>
          </a:prstGeom>
          <a:ln w="0">
            <a:solidFill>
              <a:srgbClr val="ffffff"/>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91" name=""/>
          <p:cNvSpPr/>
          <p:nvPr/>
        </p:nvSpPr>
        <p:spPr>
          <a:xfrm>
            <a:off x="1601640" y="5457960"/>
            <a:ext cx="2556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92" name=""/>
          <p:cNvSpPr/>
          <p:nvPr/>
        </p:nvSpPr>
        <p:spPr>
          <a:xfrm>
            <a:off x="1601640" y="5084640"/>
            <a:ext cx="25560" cy="0"/>
          </a:xfrm>
          <a:prstGeom prst="line">
            <a:avLst/>
          </a:prstGeom>
          <a:ln w="0">
            <a:solidFill>
              <a:srgbClr val="000000"/>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93" name=""/>
          <p:cNvSpPr/>
          <p:nvPr/>
        </p:nvSpPr>
        <p:spPr>
          <a:xfrm>
            <a:off x="1601640" y="4711680"/>
            <a:ext cx="25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94" name=""/>
          <p:cNvSpPr/>
          <p:nvPr/>
        </p:nvSpPr>
        <p:spPr>
          <a:xfrm>
            <a:off x="1601640" y="4338720"/>
            <a:ext cx="25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895" name=""/>
          <p:cNvSpPr/>
          <p:nvPr/>
        </p:nvSpPr>
        <p:spPr>
          <a:xfrm>
            <a:off x="1601640" y="3967200"/>
            <a:ext cx="25560" cy="0"/>
          </a:xfrm>
          <a:prstGeom prst="line">
            <a:avLst/>
          </a:prstGeom>
          <a:ln w="0">
            <a:solidFill>
              <a:srgbClr val="000000"/>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96" name=""/>
          <p:cNvSpPr/>
          <p:nvPr/>
        </p:nvSpPr>
        <p:spPr>
          <a:xfrm>
            <a:off x="1601640" y="3592440"/>
            <a:ext cx="25560" cy="1800"/>
          </a:xfrm>
          <a:prstGeom prst="line">
            <a:avLst/>
          </a:prstGeom>
          <a:ln w="0">
            <a:solidFill>
              <a:srgbClr val="000000"/>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97" name=""/>
          <p:cNvSpPr/>
          <p:nvPr/>
        </p:nvSpPr>
        <p:spPr>
          <a:xfrm>
            <a:off x="1601640" y="3220920"/>
            <a:ext cx="25560" cy="1800"/>
          </a:xfrm>
          <a:prstGeom prst="line">
            <a:avLst/>
          </a:prstGeom>
          <a:ln w="0">
            <a:solidFill>
              <a:srgbClr val="000000"/>
            </a:solidFill>
          </a:ln>
        </p:spPr>
        <p:style>
          <a:lnRef idx="0"/>
          <a:fillRef idx="0"/>
          <a:effectRef idx="0"/>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898" name=""/>
          <p:cNvSpPr/>
          <p:nvPr/>
        </p:nvSpPr>
        <p:spPr>
          <a:xfrm>
            <a:off x="1601640" y="2849400"/>
            <a:ext cx="25560" cy="0"/>
          </a:xfrm>
          <a:prstGeom prst="line">
            <a:avLst/>
          </a:prstGeom>
          <a:ln w="0">
            <a:solidFill>
              <a:srgbClr val="000000"/>
            </a:solid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99" name=""/>
          <p:cNvSpPr/>
          <p:nvPr/>
        </p:nvSpPr>
        <p:spPr>
          <a:xfrm>
            <a:off x="1601640" y="2475000"/>
            <a:ext cx="25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900" name=""/>
          <p:cNvSpPr/>
          <p:nvPr/>
        </p:nvSpPr>
        <p:spPr>
          <a:xfrm>
            <a:off x="1601640" y="2103480"/>
            <a:ext cx="25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901" name=""/>
          <p:cNvSpPr/>
          <p:nvPr/>
        </p:nvSpPr>
        <p:spPr>
          <a:xfrm>
            <a:off x="1601640" y="1730520"/>
            <a:ext cx="25560" cy="1440"/>
          </a:xfrm>
          <a:prstGeom prst="line">
            <a:avLst/>
          </a:prstGeom>
          <a:ln w="0">
            <a:solidFill>
              <a:srgbClr val="000000"/>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902" name=""/>
          <p:cNvSpPr/>
          <p:nvPr/>
        </p:nvSpPr>
        <p:spPr>
          <a:xfrm>
            <a:off x="1755720" y="5457960"/>
            <a:ext cx="6958080" cy="1440"/>
          </a:xfrm>
          <a:prstGeom prst="line">
            <a:avLst/>
          </a:prstGeom>
          <a:ln w="0">
            <a:solidFill>
              <a:srgbClr val="ffffff"/>
            </a:solidFill>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903" name=""/>
          <p:cNvSpPr/>
          <p:nvPr/>
        </p:nvSpPr>
        <p:spPr>
          <a:xfrm flipV="1">
            <a:off x="1627200" y="5457600"/>
            <a:ext cx="144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04" name=""/>
          <p:cNvSpPr/>
          <p:nvPr/>
        </p:nvSpPr>
        <p:spPr>
          <a:xfrm flipV="1">
            <a:off x="2913120" y="5457600"/>
            <a:ext cx="144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05" name=""/>
          <p:cNvSpPr/>
          <p:nvPr/>
        </p:nvSpPr>
        <p:spPr>
          <a:xfrm flipV="1">
            <a:off x="4078440" y="5457600"/>
            <a:ext cx="144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06" name=""/>
          <p:cNvSpPr/>
          <p:nvPr/>
        </p:nvSpPr>
        <p:spPr>
          <a:xfrm flipV="1">
            <a:off x="5235480" y="5457600"/>
            <a:ext cx="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07" name=""/>
          <p:cNvSpPr/>
          <p:nvPr/>
        </p:nvSpPr>
        <p:spPr>
          <a:xfrm flipV="1">
            <a:off x="6392880" y="5457600"/>
            <a:ext cx="144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08" name=""/>
          <p:cNvSpPr/>
          <p:nvPr/>
        </p:nvSpPr>
        <p:spPr>
          <a:xfrm flipV="1">
            <a:off x="7556400" y="5457600"/>
            <a:ext cx="180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09" name=""/>
          <p:cNvSpPr/>
          <p:nvPr/>
        </p:nvSpPr>
        <p:spPr>
          <a:xfrm flipV="1">
            <a:off x="8713800" y="5457600"/>
            <a:ext cx="1440" cy="34920"/>
          </a:xfrm>
          <a:prstGeom prst="line">
            <a:avLst/>
          </a:prstGeom>
          <a:ln w="0">
            <a:solidFill>
              <a:srgbClr val="ffffff"/>
            </a:solidFill>
          </a:ln>
        </p:spPr>
        <p:style>
          <a:lnRef idx="0"/>
          <a:fillRef idx="0"/>
          <a:effectRef idx="0"/>
          <a:fontRef idx="minor"/>
        </p:style>
        <p:txBody>
          <a:bodyPr lIns="90000" rIns="90000" tIns="-11880" bIns="-11880" anchor="t">
            <a:noAutofit/>
          </a:bodyPr>
          <a:p>
            <a:endParaRPr b="0" lang="en-IN" sz="1800" strike="noStrike" u="none">
              <a:solidFill>
                <a:srgbClr val="000000"/>
              </a:solidFill>
              <a:effectLst/>
              <a:uFillTx/>
              <a:latin typeface="Arial"/>
            </a:endParaRPr>
          </a:p>
        </p:txBody>
      </p:sp>
      <p:sp>
        <p:nvSpPr>
          <p:cNvPr id="910" name=""/>
          <p:cNvSpPr/>
          <p:nvPr/>
        </p:nvSpPr>
        <p:spPr>
          <a:xfrm>
            <a:off x="2335320" y="1946160"/>
            <a:ext cx="5800680" cy="71640"/>
          </a:xfrm>
          <a:custGeom>
            <a:avLst/>
            <a:gdLst/>
            <a:ahLst/>
            <a:rect l="l" t="t" r="r" b="b"/>
            <a:pathLst>
              <a:path w="692" h="6">
                <a:moveTo>
                  <a:pt x="0" y="6"/>
                </a:moveTo>
                <a:lnTo>
                  <a:pt x="69" y="5"/>
                </a:lnTo>
                <a:lnTo>
                  <a:pt x="139" y="2"/>
                </a:lnTo>
                <a:lnTo>
                  <a:pt x="208" y="0"/>
                </a:lnTo>
                <a:lnTo>
                  <a:pt x="277" y="0"/>
                </a:lnTo>
                <a:lnTo>
                  <a:pt x="346" y="1"/>
                </a:lnTo>
                <a:lnTo>
                  <a:pt x="415" y="2"/>
                </a:lnTo>
                <a:lnTo>
                  <a:pt x="484" y="3"/>
                </a:lnTo>
                <a:lnTo>
                  <a:pt x="554" y="4"/>
                </a:lnTo>
                <a:lnTo>
                  <a:pt x="623" y="4"/>
                </a:lnTo>
                <a:lnTo>
                  <a:pt x="692" y="2"/>
                </a:lnTo>
              </a:path>
            </a:pathLst>
          </a:custGeom>
          <a:noFill/>
          <a:ln w="57240">
            <a:solidFill>
              <a:srgbClr val="99ff99"/>
            </a:solidFill>
            <a:round/>
          </a:ln>
        </p:spPr>
        <p:style>
          <a:lnRef idx="0"/>
          <a:fillRef idx="0"/>
          <a:effectRef idx="0"/>
          <a:fontRef idx="minor"/>
        </p:style>
        <p:txBody>
          <a:bodyPr lIns="90000" rIns="90000" tIns="24840" bIns="24840" anchor="t">
            <a:noAutofit/>
          </a:bodyPr>
          <a:p>
            <a:endParaRPr b="0" lang="en-IN" sz="1800" strike="noStrike" u="none">
              <a:solidFill>
                <a:srgbClr val="000000"/>
              </a:solidFill>
              <a:effectLst/>
              <a:uFillTx/>
              <a:latin typeface="Arial"/>
            </a:endParaRPr>
          </a:p>
        </p:txBody>
      </p:sp>
      <p:sp>
        <p:nvSpPr>
          <p:cNvPr id="911" name=""/>
          <p:cNvSpPr/>
          <p:nvPr/>
        </p:nvSpPr>
        <p:spPr>
          <a:xfrm>
            <a:off x="2335320" y="5168880"/>
            <a:ext cx="5800680" cy="71280"/>
          </a:xfrm>
          <a:custGeom>
            <a:avLst/>
            <a:gdLst/>
            <a:ahLst/>
            <a:rect l="l" t="t" r="r" b="b"/>
            <a:pathLst>
              <a:path w="692" h="6">
                <a:moveTo>
                  <a:pt x="0" y="0"/>
                </a:moveTo>
                <a:lnTo>
                  <a:pt x="69" y="1"/>
                </a:lnTo>
                <a:lnTo>
                  <a:pt x="139" y="4"/>
                </a:lnTo>
                <a:lnTo>
                  <a:pt x="208" y="6"/>
                </a:lnTo>
                <a:lnTo>
                  <a:pt x="277" y="6"/>
                </a:lnTo>
                <a:lnTo>
                  <a:pt x="346" y="5"/>
                </a:lnTo>
                <a:lnTo>
                  <a:pt x="415" y="4"/>
                </a:lnTo>
                <a:lnTo>
                  <a:pt x="484" y="3"/>
                </a:lnTo>
                <a:lnTo>
                  <a:pt x="554" y="2"/>
                </a:lnTo>
                <a:lnTo>
                  <a:pt x="623" y="2"/>
                </a:lnTo>
                <a:lnTo>
                  <a:pt x="692" y="4"/>
                </a:lnTo>
              </a:path>
            </a:pathLst>
          </a:custGeom>
          <a:noFill/>
          <a:ln w="57240">
            <a:solidFill>
              <a:srgbClr val="ff5050"/>
            </a:solidFill>
            <a:round/>
          </a:ln>
        </p:spPr>
        <p:style>
          <a:lnRef idx="0"/>
          <a:fillRef idx="0"/>
          <a:effectRef idx="0"/>
          <a:fontRef idx="minor"/>
        </p:style>
        <p:txBody>
          <a:bodyPr lIns="90000" rIns="90000" tIns="24480" bIns="24480" anchor="t">
            <a:noAutofit/>
          </a:bodyPr>
          <a:p>
            <a:endParaRPr b="0" lang="en-IN" sz="1800" strike="noStrike" u="none">
              <a:solidFill>
                <a:srgbClr val="000000"/>
              </a:solidFill>
              <a:effectLst/>
              <a:uFillTx/>
              <a:latin typeface="Arial"/>
            </a:endParaRPr>
          </a:p>
        </p:txBody>
      </p:sp>
      <p:sp>
        <p:nvSpPr>
          <p:cNvPr id="912" name=""/>
          <p:cNvSpPr/>
          <p:nvPr/>
        </p:nvSpPr>
        <p:spPr>
          <a:xfrm>
            <a:off x="2284560" y="1946160"/>
            <a:ext cx="99720" cy="144720"/>
          </a:xfrm>
          <a:custGeom>
            <a:avLst/>
            <a:gdLst/>
            <a:ahLst/>
            <a:rect l="l" t="t" r="r" b="b"/>
            <a:pathLst>
              <a:path w="73" h="105">
                <a:moveTo>
                  <a:pt x="37" y="0"/>
                </a:moveTo>
                <a:lnTo>
                  <a:pt x="73" y="52"/>
                </a:lnTo>
                <a:lnTo>
                  <a:pt x="37" y="105"/>
                </a:lnTo>
                <a:lnTo>
                  <a:pt x="0" y="52"/>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3" name=""/>
          <p:cNvSpPr/>
          <p:nvPr/>
        </p:nvSpPr>
        <p:spPr>
          <a:xfrm>
            <a:off x="2862360" y="1935000"/>
            <a:ext cx="101520" cy="142920"/>
          </a:xfrm>
          <a:custGeom>
            <a:avLst/>
            <a:gdLst/>
            <a:ahLst/>
            <a:rect l="l" t="t" r="r" b="b"/>
            <a:pathLst>
              <a:path w="74" h="105">
                <a:moveTo>
                  <a:pt x="37" y="0"/>
                </a:moveTo>
                <a:lnTo>
                  <a:pt x="74" y="53"/>
                </a:lnTo>
                <a:lnTo>
                  <a:pt x="37" y="105"/>
                </a:lnTo>
                <a:lnTo>
                  <a:pt x="0" y="53"/>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4" name=""/>
          <p:cNvSpPr/>
          <p:nvPr/>
        </p:nvSpPr>
        <p:spPr>
          <a:xfrm>
            <a:off x="3449520" y="1898640"/>
            <a:ext cx="100080" cy="144360"/>
          </a:xfrm>
          <a:custGeom>
            <a:avLst/>
            <a:gdLst/>
            <a:ahLst/>
            <a:rect l="l" t="t" r="r" b="b"/>
            <a:pathLst>
              <a:path w="73" h="105">
                <a:moveTo>
                  <a:pt x="36" y="0"/>
                </a:moveTo>
                <a:lnTo>
                  <a:pt x="73" y="52"/>
                </a:lnTo>
                <a:lnTo>
                  <a:pt x="36" y="105"/>
                </a:lnTo>
                <a:lnTo>
                  <a:pt x="0" y="52"/>
                </a:lnTo>
                <a:lnTo>
                  <a:pt x="36"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5" name=""/>
          <p:cNvSpPr/>
          <p:nvPr/>
        </p:nvSpPr>
        <p:spPr>
          <a:xfrm>
            <a:off x="4027320" y="1874880"/>
            <a:ext cx="100080" cy="142920"/>
          </a:xfrm>
          <a:custGeom>
            <a:avLst/>
            <a:gdLst/>
            <a:ahLst/>
            <a:rect l="l" t="t" r="r" b="b"/>
            <a:pathLst>
              <a:path w="73" h="105">
                <a:moveTo>
                  <a:pt x="37" y="0"/>
                </a:moveTo>
                <a:lnTo>
                  <a:pt x="73" y="53"/>
                </a:lnTo>
                <a:lnTo>
                  <a:pt x="37" y="105"/>
                </a:lnTo>
                <a:lnTo>
                  <a:pt x="0" y="53"/>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6" name=""/>
          <p:cNvSpPr/>
          <p:nvPr/>
        </p:nvSpPr>
        <p:spPr>
          <a:xfrm>
            <a:off x="4605480" y="1874880"/>
            <a:ext cx="101520" cy="142920"/>
          </a:xfrm>
          <a:custGeom>
            <a:avLst/>
            <a:gdLst/>
            <a:ahLst/>
            <a:rect l="l" t="t" r="r" b="b"/>
            <a:pathLst>
              <a:path w="73" h="105">
                <a:moveTo>
                  <a:pt x="37" y="0"/>
                </a:moveTo>
                <a:lnTo>
                  <a:pt x="73" y="53"/>
                </a:lnTo>
                <a:lnTo>
                  <a:pt x="37" y="105"/>
                </a:lnTo>
                <a:lnTo>
                  <a:pt x="0" y="53"/>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7" name=""/>
          <p:cNvSpPr/>
          <p:nvPr/>
        </p:nvSpPr>
        <p:spPr>
          <a:xfrm>
            <a:off x="5184720" y="1886040"/>
            <a:ext cx="101520" cy="144360"/>
          </a:xfrm>
          <a:custGeom>
            <a:avLst/>
            <a:gdLst/>
            <a:ahLst/>
            <a:rect l="l" t="t" r="r" b="b"/>
            <a:pathLst>
              <a:path w="73" h="105">
                <a:moveTo>
                  <a:pt x="36" y="0"/>
                </a:moveTo>
                <a:lnTo>
                  <a:pt x="73" y="53"/>
                </a:lnTo>
                <a:lnTo>
                  <a:pt x="36" y="105"/>
                </a:lnTo>
                <a:lnTo>
                  <a:pt x="0" y="53"/>
                </a:lnTo>
                <a:lnTo>
                  <a:pt x="36"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8" name=""/>
          <p:cNvSpPr/>
          <p:nvPr/>
        </p:nvSpPr>
        <p:spPr>
          <a:xfrm>
            <a:off x="5764320" y="1898640"/>
            <a:ext cx="100080" cy="144360"/>
          </a:xfrm>
          <a:custGeom>
            <a:avLst/>
            <a:gdLst/>
            <a:ahLst/>
            <a:rect l="l" t="t" r="r" b="b"/>
            <a:pathLst>
              <a:path w="73" h="105">
                <a:moveTo>
                  <a:pt x="36" y="0"/>
                </a:moveTo>
                <a:lnTo>
                  <a:pt x="73" y="52"/>
                </a:lnTo>
                <a:lnTo>
                  <a:pt x="36" y="105"/>
                </a:lnTo>
                <a:lnTo>
                  <a:pt x="0" y="52"/>
                </a:lnTo>
                <a:lnTo>
                  <a:pt x="36"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19" name=""/>
          <p:cNvSpPr/>
          <p:nvPr/>
        </p:nvSpPr>
        <p:spPr>
          <a:xfrm>
            <a:off x="6342120" y="1911240"/>
            <a:ext cx="100080" cy="144720"/>
          </a:xfrm>
          <a:custGeom>
            <a:avLst/>
            <a:gdLst/>
            <a:ahLst/>
            <a:rect l="l" t="t" r="r" b="b"/>
            <a:pathLst>
              <a:path w="73" h="105">
                <a:moveTo>
                  <a:pt x="37" y="0"/>
                </a:moveTo>
                <a:lnTo>
                  <a:pt x="73" y="52"/>
                </a:lnTo>
                <a:lnTo>
                  <a:pt x="37" y="105"/>
                </a:lnTo>
                <a:lnTo>
                  <a:pt x="0" y="52"/>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0" name=""/>
          <p:cNvSpPr/>
          <p:nvPr/>
        </p:nvSpPr>
        <p:spPr>
          <a:xfrm>
            <a:off x="6927840" y="1922400"/>
            <a:ext cx="101520" cy="144360"/>
          </a:xfrm>
          <a:custGeom>
            <a:avLst/>
            <a:gdLst/>
            <a:ahLst/>
            <a:rect l="l" t="t" r="r" b="b"/>
            <a:pathLst>
              <a:path w="74" h="105">
                <a:moveTo>
                  <a:pt x="37" y="0"/>
                </a:moveTo>
                <a:lnTo>
                  <a:pt x="74" y="53"/>
                </a:lnTo>
                <a:lnTo>
                  <a:pt x="37" y="105"/>
                </a:lnTo>
                <a:lnTo>
                  <a:pt x="0" y="53"/>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1" name=""/>
          <p:cNvSpPr/>
          <p:nvPr/>
        </p:nvSpPr>
        <p:spPr>
          <a:xfrm>
            <a:off x="7507440" y="1922400"/>
            <a:ext cx="99720" cy="144360"/>
          </a:xfrm>
          <a:custGeom>
            <a:avLst/>
            <a:gdLst/>
            <a:ahLst/>
            <a:rect l="l" t="t" r="r" b="b"/>
            <a:pathLst>
              <a:path w="73" h="105">
                <a:moveTo>
                  <a:pt x="36" y="0"/>
                </a:moveTo>
                <a:lnTo>
                  <a:pt x="73" y="53"/>
                </a:lnTo>
                <a:lnTo>
                  <a:pt x="36" y="105"/>
                </a:lnTo>
                <a:lnTo>
                  <a:pt x="0" y="53"/>
                </a:lnTo>
                <a:lnTo>
                  <a:pt x="36"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2" name=""/>
          <p:cNvSpPr/>
          <p:nvPr/>
        </p:nvSpPr>
        <p:spPr>
          <a:xfrm>
            <a:off x="8085240" y="1898640"/>
            <a:ext cx="100080" cy="144360"/>
          </a:xfrm>
          <a:custGeom>
            <a:avLst/>
            <a:gdLst/>
            <a:ahLst/>
            <a:rect l="l" t="t" r="r" b="b"/>
            <a:pathLst>
              <a:path w="73" h="105">
                <a:moveTo>
                  <a:pt x="37" y="0"/>
                </a:moveTo>
                <a:lnTo>
                  <a:pt x="73" y="52"/>
                </a:lnTo>
                <a:lnTo>
                  <a:pt x="37" y="105"/>
                </a:lnTo>
                <a:lnTo>
                  <a:pt x="0" y="52"/>
                </a:lnTo>
                <a:lnTo>
                  <a:pt x="37"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3" name=""/>
          <p:cNvSpPr/>
          <p:nvPr/>
        </p:nvSpPr>
        <p:spPr>
          <a:xfrm>
            <a:off x="2284560" y="5095800"/>
            <a:ext cx="918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4" name=""/>
          <p:cNvSpPr/>
          <p:nvPr/>
        </p:nvSpPr>
        <p:spPr>
          <a:xfrm>
            <a:off x="2862360" y="5108400"/>
            <a:ext cx="918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5" name=""/>
          <p:cNvSpPr/>
          <p:nvPr/>
        </p:nvSpPr>
        <p:spPr>
          <a:xfrm>
            <a:off x="3449520" y="5145120"/>
            <a:ext cx="9216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6" name=""/>
          <p:cNvSpPr/>
          <p:nvPr/>
        </p:nvSpPr>
        <p:spPr>
          <a:xfrm>
            <a:off x="4027320" y="5168880"/>
            <a:ext cx="9216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7" name=""/>
          <p:cNvSpPr/>
          <p:nvPr/>
        </p:nvSpPr>
        <p:spPr>
          <a:xfrm>
            <a:off x="4605480" y="5168880"/>
            <a:ext cx="918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8" name=""/>
          <p:cNvSpPr/>
          <p:nvPr/>
        </p:nvSpPr>
        <p:spPr>
          <a:xfrm>
            <a:off x="5184720" y="5156280"/>
            <a:ext cx="9216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9" name=""/>
          <p:cNvSpPr/>
          <p:nvPr/>
        </p:nvSpPr>
        <p:spPr>
          <a:xfrm>
            <a:off x="5764320" y="5145120"/>
            <a:ext cx="9036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0" name=""/>
          <p:cNvSpPr/>
          <p:nvPr/>
        </p:nvSpPr>
        <p:spPr>
          <a:xfrm>
            <a:off x="6342120" y="5132520"/>
            <a:ext cx="92160" cy="13320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1" name=""/>
          <p:cNvSpPr/>
          <p:nvPr/>
        </p:nvSpPr>
        <p:spPr>
          <a:xfrm>
            <a:off x="6927840" y="5121360"/>
            <a:ext cx="936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2" name=""/>
          <p:cNvSpPr/>
          <p:nvPr/>
        </p:nvSpPr>
        <p:spPr>
          <a:xfrm>
            <a:off x="7507440" y="5121360"/>
            <a:ext cx="918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3" name=""/>
          <p:cNvSpPr/>
          <p:nvPr/>
        </p:nvSpPr>
        <p:spPr>
          <a:xfrm>
            <a:off x="8085240" y="5145120"/>
            <a:ext cx="918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4" name=""/>
          <p:cNvSpPr/>
          <p:nvPr/>
        </p:nvSpPr>
        <p:spPr>
          <a:xfrm>
            <a:off x="1426320" y="5372280"/>
            <a:ext cx="2210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0%</a:t>
            </a:r>
            <a:endParaRPr b="0" lang="en-IN" sz="1200" strike="noStrike" u="none">
              <a:solidFill>
                <a:srgbClr val="000000"/>
              </a:solidFill>
              <a:effectLst/>
              <a:uFillTx/>
              <a:latin typeface="Arial"/>
            </a:endParaRPr>
          </a:p>
        </p:txBody>
      </p:sp>
      <p:sp>
        <p:nvSpPr>
          <p:cNvPr id="935" name=""/>
          <p:cNvSpPr/>
          <p:nvPr/>
        </p:nvSpPr>
        <p:spPr>
          <a:xfrm>
            <a:off x="1375200" y="500076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10%</a:t>
            </a:r>
            <a:endParaRPr b="0" lang="en-IN" sz="1200" strike="noStrike" u="none">
              <a:solidFill>
                <a:srgbClr val="000000"/>
              </a:solidFill>
              <a:effectLst/>
              <a:uFillTx/>
              <a:latin typeface="Arial"/>
            </a:endParaRPr>
          </a:p>
        </p:txBody>
      </p:sp>
      <p:sp>
        <p:nvSpPr>
          <p:cNvPr id="936" name=""/>
          <p:cNvSpPr/>
          <p:nvPr/>
        </p:nvSpPr>
        <p:spPr>
          <a:xfrm>
            <a:off x="1375200" y="462744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20%</a:t>
            </a:r>
            <a:endParaRPr b="0" lang="en-IN" sz="1200" strike="noStrike" u="none">
              <a:solidFill>
                <a:srgbClr val="000000"/>
              </a:solidFill>
              <a:effectLst/>
              <a:uFillTx/>
              <a:latin typeface="Arial"/>
            </a:endParaRPr>
          </a:p>
        </p:txBody>
      </p:sp>
      <p:sp>
        <p:nvSpPr>
          <p:cNvPr id="937" name=""/>
          <p:cNvSpPr/>
          <p:nvPr/>
        </p:nvSpPr>
        <p:spPr>
          <a:xfrm>
            <a:off x="1375200" y="425448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30%</a:t>
            </a:r>
            <a:endParaRPr b="0" lang="en-IN" sz="1200" strike="noStrike" u="none">
              <a:solidFill>
                <a:srgbClr val="000000"/>
              </a:solidFill>
              <a:effectLst/>
              <a:uFillTx/>
              <a:latin typeface="Arial"/>
            </a:endParaRPr>
          </a:p>
        </p:txBody>
      </p:sp>
      <p:sp>
        <p:nvSpPr>
          <p:cNvPr id="938" name=""/>
          <p:cNvSpPr/>
          <p:nvPr/>
        </p:nvSpPr>
        <p:spPr>
          <a:xfrm>
            <a:off x="1375200" y="388296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40%</a:t>
            </a:r>
            <a:endParaRPr b="0" lang="en-IN" sz="1200" strike="noStrike" u="none">
              <a:solidFill>
                <a:srgbClr val="000000"/>
              </a:solidFill>
              <a:effectLst/>
              <a:uFillTx/>
              <a:latin typeface="Arial"/>
            </a:endParaRPr>
          </a:p>
        </p:txBody>
      </p:sp>
      <p:sp>
        <p:nvSpPr>
          <p:cNvPr id="939" name=""/>
          <p:cNvSpPr/>
          <p:nvPr/>
        </p:nvSpPr>
        <p:spPr>
          <a:xfrm>
            <a:off x="1375200" y="351000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50%</a:t>
            </a:r>
            <a:endParaRPr b="0" lang="en-IN" sz="1200" strike="noStrike" u="none">
              <a:solidFill>
                <a:srgbClr val="000000"/>
              </a:solidFill>
              <a:effectLst/>
              <a:uFillTx/>
              <a:latin typeface="Arial"/>
            </a:endParaRPr>
          </a:p>
        </p:txBody>
      </p:sp>
      <p:sp>
        <p:nvSpPr>
          <p:cNvPr id="940" name=""/>
          <p:cNvSpPr/>
          <p:nvPr/>
        </p:nvSpPr>
        <p:spPr>
          <a:xfrm>
            <a:off x="1375200" y="313704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60%</a:t>
            </a:r>
            <a:endParaRPr b="0" lang="en-IN" sz="1200" strike="noStrike" u="none">
              <a:solidFill>
                <a:srgbClr val="000000"/>
              </a:solidFill>
              <a:effectLst/>
              <a:uFillTx/>
              <a:latin typeface="Arial"/>
            </a:endParaRPr>
          </a:p>
        </p:txBody>
      </p:sp>
      <p:sp>
        <p:nvSpPr>
          <p:cNvPr id="941" name=""/>
          <p:cNvSpPr/>
          <p:nvPr/>
        </p:nvSpPr>
        <p:spPr>
          <a:xfrm>
            <a:off x="1375200" y="276372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70%</a:t>
            </a:r>
            <a:endParaRPr b="0" lang="en-IN" sz="1200" strike="noStrike" u="none">
              <a:solidFill>
                <a:srgbClr val="000000"/>
              </a:solidFill>
              <a:effectLst/>
              <a:uFillTx/>
              <a:latin typeface="Arial"/>
            </a:endParaRPr>
          </a:p>
        </p:txBody>
      </p:sp>
      <p:sp>
        <p:nvSpPr>
          <p:cNvPr id="942" name=""/>
          <p:cNvSpPr/>
          <p:nvPr/>
        </p:nvSpPr>
        <p:spPr>
          <a:xfrm>
            <a:off x="1375200" y="239220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80%</a:t>
            </a:r>
            <a:endParaRPr b="0" lang="en-IN" sz="1200" strike="noStrike" u="none">
              <a:solidFill>
                <a:srgbClr val="000000"/>
              </a:solidFill>
              <a:effectLst/>
              <a:uFillTx/>
              <a:latin typeface="Arial"/>
            </a:endParaRPr>
          </a:p>
        </p:txBody>
      </p:sp>
      <p:sp>
        <p:nvSpPr>
          <p:cNvPr id="943" name=""/>
          <p:cNvSpPr/>
          <p:nvPr/>
        </p:nvSpPr>
        <p:spPr>
          <a:xfrm>
            <a:off x="1375200" y="2017800"/>
            <a:ext cx="3056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90%</a:t>
            </a:r>
            <a:endParaRPr b="0" lang="en-IN" sz="1200" strike="noStrike" u="none">
              <a:solidFill>
                <a:srgbClr val="000000"/>
              </a:solidFill>
              <a:effectLst/>
              <a:uFillTx/>
              <a:latin typeface="Arial"/>
            </a:endParaRPr>
          </a:p>
        </p:txBody>
      </p:sp>
      <p:sp>
        <p:nvSpPr>
          <p:cNvPr id="944" name=""/>
          <p:cNvSpPr/>
          <p:nvPr/>
        </p:nvSpPr>
        <p:spPr>
          <a:xfrm>
            <a:off x="1325880" y="1646280"/>
            <a:ext cx="39060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100%</a:t>
            </a:r>
            <a:endParaRPr b="0" lang="en-IN" sz="1200" strike="noStrike" u="none">
              <a:solidFill>
                <a:srgbClr val="000000"/>
              </a:solidFill>
              <a:effectLst/>
              <a:uFillTx/>
              <a:latin typeface="Arial"/>
            </a:endParaRPr>
          </a:p>
        </p:txBody>
      </p:sp>
      <p:sp>
        <p:nvSpPr>
          <p:cNvPr id="945" name=""/>
          <p:cNvSpPr/>
          <p:nvPr/>
        </p:nvSpPr>
        <p:spPr>
          <a:xfrm>
            <a:off x="165420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1994</a:t>
            </a:r>
            <a:endParaRPr b="0" lang="en-IN" sz="1200" strike="noStrike" u="none">
              <a:solidFill>
                <a:srgbClr val="000000"/>
              </a:solidFill>
              <a:effectLst/>
              <a:uFillTx/>
              <a:latin typeface="Arial"/>
            </a:endParaRPr>
          </a:p>
        </p:txBody>
      </p:sp>
      <p:sp>
        <p:nvSpPr>
          <p:cNvPr id="946" name=""/>
          <p:cNvSpPr/>
          <p:nvPr/>
        </p:nvSpPr>
        <p:spPr>
          <a:xfrm>
            <a:off x="281160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1996</a:t>
            </a:r>
            <a:endParaRPr b="0" lang="en-IN" sz="1200" strike="noStrike" u="none">
              <a:solidFill>
                <a:srgbClr val="000000"/>
              </a:solidFill>
              <a:effectLst/>
              <a:uFillTx/>
              <a:latin typeface="Arial"/>
            </a:endParaRPr>
          </a:p>
        </p:txBody>
      </p:sp>
      <p:sp>
        <p:nvSpPr>
          <p:cNvPr id="947" name=""/>
          <p:cNvSpPr/>
          <p:nvPr/>
        </p:nvSpPr>
        <p:spPr>
          <a:xfrm>
            <a:off x="397512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1998</a:t>
            </a:r>
            <a:endParaRPr b="0" lang="en-IN" sz="1200" strike="noStrike" u="none">
              <a:solidFill>
                <a:srgbClr val="000000"/>
              </a:solidFill>
              <a:effectLst/>
              <a:uFillTx/>
              <a:latin typeface="Arial"/>
            </a:endParaRPr>
          </a:p>
        </p:txBody>
      </p:sp>
      <p:sp>
        <p:nvSpPr>
          <p:cNvPr id="948" name=""/>
          <p:cNvSpPr/>
          <p:nvPr/>
        </p:nvSpPr>
        <p:spPr>
          <a:xfrm>
            <a:off x="513396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2000</a:t>
            </a:r>
            <a:endParaRPr b="0" lang="en-IN" sz="1200" strike="noStrike" u="none">
              <a:solidFill>
                <a:srgbClr val="000000"/>
              </a:solidFill>
              <a:effectLst/>
              <a:uFillTx/>
              <a:latin typeface="Arial"/>
            </a:endParaRPr>
          </a:p>
        </p:txBody>
      </p:sp>
      <p:sp>
        <p:nvSpPr>
          <p:cNvPr id="949" name=""/>
          <p:cNvSpPr/>
          <p:nvPr/>
        </p:nvSpPr>
        <p:spPr>
          <a:xfrm>
            <a:off x="629136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2002</a:t>
            </a:r>
            <a:endParaRPr b="0" lang="en-IN" sz="1200" strike="noStrike" u="none">
              <a:solidFill>
                <a:srgbClr val="000000"/>
              </a:solidFill>
              <a:effectLst/>
              <a:uFillTx/>
              <a:latin typeface="Arial"/>
            </a:endParaRPr>
          </a:p>
        </p:txBody>
      </p:sp>
      <p:sp>
        <p:nvSpPr>
          <p:cNvPr id="950" name=""/>
          <p:cNvSpPr/>
          <p:nvPr/>
        </p:nvSpPr>
        <p:spPr>
          <a:xfrm>
            <a:off x="745488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2004</a:t>
            </a:r>
            <a:endParaRPr b="0" lang="en-IN" sz="1200" strike="noStrike" u="none">
              <a:solidFill>
                <a:srgbClr val="000000"/>
              </a:solidFill>
              <a:effectLst/>
              <a:uFillTx/>
              <a:latin typeface="Arial"/>
            </a:endParaRPr>
          </a:p>
        </p:txBody>
      </p:sp>
      <p:sp>
        <p:nvSpPr>
          <p:cNvPr id="951" name=""/>
          <p:cNvSpPr/>
          <p:nvPr/>
        </p:nvSpPr>
        <p:spPr>
          <a:xfrm>
            <a:off x="8612280" y="5565600"/>
            <a:ext cx="339840" cy="18324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ffffff"/>
                </a:solidFill>
                <a:effectLst/>
                <a:uFillTx/>
                <a:latin typeface="Arial"/>
              </a:rPr>
              <a:t>2006</a:t>
            </a:r>
            <a:endParaRPr b="0" lang="en-IN" sz="1200" strike="noStrike" u="none">
              <a:solidFill>
                <a:srgbClr val="000000"/>
              </a:solidFill>
              <a:effectLst/>
              <a:uFillTx/>
              <a:latin typeface="Arial"/>
            </a:endParaRPr>
          </a:p>
        </p:txBody>
      </p:sp>
      <p:sp>
        <p:nvSpPr>
          <p:cNvPr id="952" name=""/>
          <p:cNvSpPr/>
          <p:nvPr/>
        </p:nvSpPr>
        <p:spPr>
          <a:xfrm>
            <a:off x="4615560" y="5902200"/>
            <a:ext cx="1071360" cy="2440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ffff"/>
                </a:solidFill>
                <a:effectLst/>
                <a:uFillTx/>
                <a:latin typeface="Arial"/>
              </a:rPr>
              <a:t>Fiscal Year</a:t>
            </a:r>
            <a:endParaRPr b="0" lang="en-IN" sz="1600" strike="noStrike" u="none">
              <a:solidFill>
                <a:srgbClr val="000000"/>
              </a:solidFill>
              <a:effectLst/>
              <a:uFillTx/>
              <a:latin typeface="Arial"/>
            </a:endParaRPr>
          </a:p>
        </p:txBody>
      </p:sp>
      <p:sp>
        <p:nvSpPr>
          <p:cNvPr id="953" name=""/>
          <p:cNvSpPr/>
          <p:nvPr/>
        </p:nvSpPr>
        <p:spPr>
          <a:xfrm rot="16200000">
            <a:off x="98640" y="3264840"/>
            <a:ext cx="2107080" cy="24408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ffffff"/>
                </a:solidFill>
                <a:effectLst/>
                <a:uFillTx/>
                <a:latin typeface="Arial"/>
              </a:rPr>
              <a:t>Percentage of Grants </a:t>
            </a:r>
            <a:endParaRPr b="0" lang="en-IN" sz="1600" strike="noStrike" u="none">
              <a:solidFill>
                <a:srgbClr val="000000"/>
              </a:solidFill>
              <a:effectLst/>
              <a:uFillTx/>
              <a:latin typeface="Arial"/>
            </a:endParaRPr>
          </a:p>
        </p:txBody>
      </p:sp>
      <p:sp>
        <p:nvSpPr>
          <p:cNvPr id="954" name=""/>
          <p:cNvSpPr/>
          <p:nvPr/>
        </p:nvSpPr>
        <p:spPr>
          <a:xfrm>
            <a:off x="3610080" y="3413160"/>
            <a:ext cx="266760" cy="1440"/>
          </a:xfrm>
          <a:prstGeom prst="line">
            <a:avLst/>
          </a:prstGeom>
          <a:ln w="28440">
            <a:solidFill>
              <a:srgbClr val="99ff99"/>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955" name=""/>
          <p:cNvSpPr/>
          <p:nvPr/>
        </p:nvSpPr>
        <p:spPr>
          <a:xfrm>
            <a:off x="3692520" y="3341520"/>
            <a:ext cx="100080" cy="144720"/>
          </a:xfrm>
          <a:custGeom>
            <a:avLst/>
            <a:gdLst/>
            <a:ahLst/>
            <a:rect l="l" t="t" r="r" b="b"/>
            <a:pathLst>
              <a:path w="73" h="105">
                <a:moveTo>
                  <a:pt x="36" y="0"/>
                </a:moveTo>
                <a:lnTo>
                  <a:pt x="73" y="52"/>
                </a:lnTo>
                <a:lnTo>
                  <a:pt x="36" y="105"/>
                </a:lnTo>
                <a:lnTo>
                  <a:pt x="0" y="52"/>
                </a:lnTo>
                <a:lnTo>
                  <a:pt x="36" y="0"/>
                </a:lnTo>
                <a:close/>
              </a:path>
            </a:pathLst>
          </a:custGeom>
          <a:solidFill>
            <a:srgbClr val="99ff99"/>
          </a:solidFill>
          <a:ln w="9360">
            <a:solidFill>
              <a:srgbClr val="99ff99"/>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56" name=""/>
          <p:cNvSpPr/>
          <p:nvPr/>
        </p:nvSpPr>
        <p:spPr>
          <a:xfrm>
            <a:off x="3915720" y="3281400"/>
            <a:ext cx="1305000" cy="3204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100" strike="noStrike" u="none">
                <a:solidFill>
                  <a:srgbClr val="ffffff"/>
                </a:solidFill>
                <a:effectLst/>
                <a:uFillTx/>
                <a:latin typeface="Arial"/>
              </a:rPr>
              <a:t>Unsolicited</a:t>
            </a:r>
            <a:endParaRPr b="0" lang="en-IN" sz="2100" strike="noStrike" u="none">
              <a:solidFill>
                <a:srgbClr val="000000"/>
              </a:solidFill>
              <a:effectLst/>
              <a:uFillTx/>
              <a:latin typeface="Arial"/>
            </a:endParaRPr>
          </a:p>
        </p:txBody>
      </p:sp>
      <p:sp>
        <p:nvSpPr>
          <p:cNvPr id="957" name=""/>
          <p:cNvSpPr/>
          <p:nvPr/>
        </p:nvSpPr>
        <p:spPr>
          <a:xfrm>
            <a:off x="5494320" y="3413160"/>
            <a:ext cx="270000" cy="1440"/>
          </a:xfrm>
          <a:prstGeom prst="line">
            <a:avLst/>
          </a:prstGeom>
          <a:ln w="57240">
            <a:solidFill>
              <a:srgbClr val="ff5050"/>
            </a:solidFill>
            <a:miter/>
          </a:ln>
        </p:spPr>
        <p:style>
          <a:lnRef idx="0"/>
          <a:fillRef idx="0"/>
          <a:effectRef idx="0"/>
          <a:fontRef idx="minor"/>
        </p:style>
        <p:txBody>
          <a:bodyPr lIns="90000" rIns="90000" tIns="-45360" bIns="-45360" anchor="t">
            <a:noAutofit/>
          </a:bodyPr>
          <a:p>
            <a:endParaRPr b="0" lang="en-IN" sz="1800" strike="noStrike" u="none">
              <a:solidFill>
                <a:srgbClr val="000000"/>
              </a:solidFill>
              <a:effectLst/>
              <a:uFillTx/>
              <a:latin typeface="Arial"/>
            </a:endParaRPr>
          </a:p>
        </p:txBody>
      </p:sp>
      <p:sp>
        <p:nvSpPr>
          <p:cNvPr id="958" name=""/>
          <p:cNvSpPr/>
          <p:nvPr/>
        </p:nvSpPr>
        <p:spPr>
          <a:xfrm>
            <a:off x="5578560" y="3341520"/>
            <a:ext cx="93600" cy="131760"/>
          </a:xfrm>
          <a:prstGeom prst="rect">
            <a:avLst/>
          </a:prstGeom>
          <a:solidFill>
            <a:srgbClr val="ff5050"/>
          </a:solidFill>
          <a:ln w="9360">
            <a:solidFill>
              <a:srgbClr val="ff505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59" name=""/>
          <p:cNvSpPr/>
          <p:nvPr/>
        </p:nvSpPr>
        <p:spPr>
          <a:xfrm>
            <a:off x="5802120" y="3281400"/>
            <a:ext cx="1008720" cy="320400"/>
          </a:xfrm>
          <a:prstGeom prst="rect">
            <a:avLst/>
          </a:prstGeom>
          <a:noFill/>
          <a:ln w="0">
            <a:noFill/>
          </a:ln>
        </p:spPr>
        <p:style>
          <a:lnRef idx="0"/>
          <a:fillRef idx="0"/>
          <a:effectRef idx="0"/>
          <a:fontRef idx="minor"/>
        </p:style>
        <p:txBody>
          <a:bodyPr wrap="none" lIns="0" rIns="0" tIns="0" bIns="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100" strike="noStrike" u="none">
                <a:solidFill>
                  <a:srgbClr val="ffffff"/>
                </a:solidFill>
                <a:effectLst/>
                <a:uFillTx/>
                <a:latin typeface="Arial"/>
              </a:rPr>
              <a:t>Solicited</a:t>
            </a:r>
            <a:endParaRPr b="0" lang="en-IN" sz="2100" strike="noStrike" u="none">
              <a:solidFill>
                <a:srgbClr val="000000"/>
              </a:solidFill>
              <a:effectLst/>
              <a:uFillTx/>
              <a:latin typeface="Arial"/>
            </a:endParaRPr>
          </a:p>
        </p:txBody>
      </p:sp>
      <p:sp>
        <p:nvSpPr>
          <p:cNvPr id="960" name=""/>
          <p:cNvSpPr/>
          <p:nvPr/>
        </p:nvSpPr>
        <p:spPr>
          <a:xfrm>
            <a:off x="2071440" y="2155680"/>
            <a:ext cx="6382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91%</a:t>
            </a:r>
            <a:endParaRPr b="0" lang="en-IN" sz="1800" strike="noStrike" u="none">
              <a:solidFill>
                <a:srgbClr val="000000"/>
              </a:solidFill>
              <a:effectLst/>
              <a:uFillTx/>
              <a:latin typeface="Arial"/>
            </a:endParaRPr>
          </a:p>
        </p:txBody>
      </p:sp>
      <p:sp>
        <p:nvSpPr>
          <p:cNvPr id="961" name=""/>
          <p:cNvSpPr/>
          <p:nvPr/>
        </p:nvSpPr>
        <p:spPr>
          <a:xfrm>
            <a:off x="7862760" y="2097000"/>
            <a:ext cx="6382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93%</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962" name=""/>
          <p:cNvSpPr/>
          <p:nvPr/>
        </p:nvSpPr>
        <p:spPr>
          <a:xfrm>
            <a:off x="949320" y="228600"/>
            <a:ext cx="8194680" cy="828720"/>
          </a:xfrm>
          <a:prstGeom prst="rect">
            <a:avLst/>
          </a:prstGeom>
          <a:noFill/>
          <a:ln w="0">
            <a:noFill/>
          </a:ln>
        </p:spPr>
        <p:style>
          <a:lnRef idx="0"/>
          <a:fillRef idx="0"/>
          <a:effectRef idx="0"/>
          <a:fontRef idx="minor"/>
        </p:style>
        <p:txBody>
          <a:bodyPr lIns="90360" rIns="90360" tIns="44280" bIns="44280" anchor="ctr">
            <a:noAutofit/>
          </a:bodyPr>
          <a:p>
            <a:pPr algn="ctr">
              <a:lnSpc>
                <a:spcPct val="12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Common Misperception: NIH Roadmap is Shifting Major Funds Away from Grant Pool</a:t>
            </a:r>
            <a:endParaRPr b="0" lang="en-IN" sz="2800" strike="noStrike" u="none">
              <a:solidFill>
                <a:srgbClr val="000000"/>
              </a:solidFill>
              <a:effectLst/>
              <a:uFillTx/>
              <a:latin typeface="Arial"/>
            </a:endParaRPr>
          </a:p>
        </p:txBody>
      </p:sp>
      <p:cxnSp>
        <p:nvCxnSpPr>
          <p:cNvPr id="963" name=""/>
          <p:cNvCxnSpPr/>
          <p:nvPr/>
        </p:nvCxnSpPr>
        <p:spPr>
          <a:xfrm flipH="1">
            <a:off x="-127440" y="3152520"/>
            <a:ext cx="1334160" cy="1569240"/>
          </a:xfrm>
          <a:prstGeom prst="straightConnector1">
            <a:avLst/>
          </a:prstGeom>
          <a:ln w="0">
            <a:noFill/>
          </a:ln>
        </p:spPr>
      </p:cxnSp>
      <p:cxnSp>
        <p:nvCxnSpPr>
          <p:cNvPr id="964" name=""/>
          <p:cNvCxnSpPr/>
          <p:nvPr/>
        </p:nvCxnSpPr>
        <p:spPr>
          <a:xfrm flipH="1">
            <a:off x="-127440" y="3152520"/>
            <a:ext cx="1334160" cy="1569240"/>
          </a:xfrm>
          <a:prstGeom prst="straightConnector1">
            <a:avLst/>
          </a:prstGeom>
          <a:ln w="0">
            <a:noFill/>
          </a:ln>
        </p:spPr>
      </p:cxnSp>
      <p:sp>
        <p:nvSpPr>
          <p:cNvPr id="965" name=""/>
          <p:cNvSpPr/>
          <p:nvPr/>
        </p:nvSpPr>
        <p:spPr>
          <a:xfrm>
            <a:off x="-1270080" y="6324480"/>
            <a:ext cx="914400" cy="914400"/>
          </a:xfrm>
          <a:prstGeom prst="rect">
            <a:avLst/>
          </a:prstGeom>
          <a:noFill/>
          <a:ln w="0">
            <a:noFill/>
          </a:ln>
        </p:spPr>
        <p:style>
          <a:lnRef idx="0"/>
          <a:fillRef idx="0"/>
          <a:effectRef idx="0"/>
          <a:fontRef idx="minor"/>
        </p:style>
        <p:txBody>
          <a:bodyPr wrap="none" lIns="90000" rIns="90000" tIns="46800" bIns="46800" anchor="ctr">
            <a:spAutoFit/>
          </a:bodyPr>
          <a:p>
            <a:endParaRPr b="0" lang="en-IN" sz="1800" strike="noStrike" u="none">
              <a:solidFill>
                <a:srgbClr val="000000"/>
              </a:solidFill>
              <a:effectLst/>
              <a:uFillTx/>
              <a:latin typeface="Arial"/>
            </a:endParaRPr>
          </a:p>
        </p:txBody>
      </p:sp>
      <p:sp>
        <p:nvSpPr>
          <p:cNvPr id="966" name=""/>
          <p:cNvSpPr/>
          <p:nvPr/>
        </p:nvSpPr>
        <p:spPr>
          <a:xfrm>
            <a:off x="3216240" y="6248520"/>
            <a:ext cx="380880" cy="152280"/>
          </a:xfrm>
          <a:prstGeom prst="rect">
            <a:avLst/>
          </a:prstGeom>
          <a:noFill/>
          <a:ln w="0">
            <a:noFill/>
          </a:ln>
        </p:spPr>
        <p:style>
          <a:lnRef idx="0"/>
          <a:fillRef idx="0"/>
          <a:effectRef idx="0"/>
          <a:fontRef idx="minor"/>
        </p:style>
        <p:txBody>
          <a:bodyPr wrap="none" lIns="90000" rIns="90000" tIns="46800" bIns="46800" anchor="ctr">
            <a:spAutoFit/>
          </a:bodyPr>
          <a:p>
            <a:endParaRPr b="0" lang="en-IN" sz="1800" strike="noStrike" u="none">
              <a:solidFill>
                <a:srgbClr val="000000"/>
              </a:solidFill>
              <a:effectLst/>
              <a:uFillTx/>
              <a:latin typeface="Arial"/>
            </a:endParaRPr>
          </a:p>
        </p:txBody>
      </p:sp>
      <p:sp>
        <p:nvSpPr>
          <p:cNvPr id="967" name=""/>
          <p:cNvSpPr/>
          <p:nvPr/>
        </p:nvSpPr>
        <p:spPr>
          <a:xfrm>
            <a:off x="3216240" y="6248520"/>
            <a:ext cx="380880" cy="152280"/>
          </a:xfrm>
          <a:prstGeom prst="rect">
            <a:avLst/>
          </a:prstGeom>
          <a:noFill/>
          <a:ln w="0">
            <a:noFill/>
          </a:ln>
        </p:spPr>
        <p:style>
          <a:lnRef idx="0"/>
          <a:fillRef idx="0"/>
          <a:effectRef idx="0"/>
          <a:fontRef idx="minor"/>
        </p:style>
        <p:txBody>
          <a:bodyPr wrap="none" lIns="90000" rIns="90000" tIns="46800" bIns="46800" anchor="ctr">
            <a:spAutoFit/>
          </a:bodyPr>
          <a:p>
            <a:endParaRPr b="0" lang="en-IN" sz="1800" strike="noStrike" u="none">
              <a:solidFill>
                <a:srgbClr val="000000"/>
              </a:solidFill>
              <a:effectLst/>
              <a:uFillTx/>
              <a:latin typeface="Arial"/>
            </a:endParaRPr>
          </a:p>
        </p:txBody>
      </p:sp>
      <p:graphicFrame>
        <p:nvGraphicFramePr>
          <p:cNvPr id="968" name=""/>
          <p:cNvGraphicFramePr/>
          <p:nvPr/>
        </p:nvGraphicFramePr>
        <p:xfrm>
          <a:off x="880920" y="1471680"/>
          <a:ext cx="4302360" cy="4381560"/>
        </p:xfrm>
        <a:graphic>
          <a:graphicData uri="http://schemas.openxmlformats.org/presentationml/2006/ole">
            <p:oleObj r:id="rId1" spid="">
              <p:embed/>
              <p:pic>
                <p:nvPicPr>
                  <p:cNvPr id="969" name="" descr=""/>
                  <p:cNvPicPr/>
                  <p:nvPr/>
                </p:nvPicPr>
                <p:blipFill>
                  <a:blip r:embed="rId2"/>
                  <a:stretch/>
                </p:blipFill>
                <p:spPr>
                  <a:xfrm>
                    <a:off x="880920" y="1471680"/>
                    <a:ext cx="4302360" cy="4381560"/>
                  </a:xfrm>
                  <a:prstGeom prst="rect">
                    <a:avLst/>
                  </a:prstGeom>
                  <a:noFill/>
                  <a:ln w="0">
                    <a:noFill/>
                  </a:ln>
                </p:spPr>
              </p:pic>
            </p:oleObj>
          </a:graphicData>
        </a:graphic>
      </p:graphicFrame>
      <p:sp>
        <p:nvSpPr>
          <p:cNvPr id="970" name=""/>
          <p:cNvSpPr/>
          <p:nvPr/>
        </p:nvSpPr>
        <p:spPr>
          <a:xfrm flipH="1">
            <a:off x="2373120" y="1604880"/>
            <a:ext cx="75960" cy="228600"/>
          </a:xfrm>
          <a:prstGeom prst="line">
            <a:avLst/>
          </a:prstGeom>
          <a:ln w="0">
            <a:noFill/>
          </a:ln>
        </p:spPr>
        <p:style>
          <a:lnRef idx="0"/>
          <a:fillRef idx="0"/>
          <a:effectRef idx="0"/>
          <a:fontRef idx="minor"/>
        </p:style>
        <p:txBody>
          <a:bodyPr lIns="90000" rIns="90000" tIns="46800" bIns="46800" anchor="t" anchorCtr="1">
            <a:noAutofit/>
          </a:bodyPr>
          <a:p>
            <a:endParaRPr b="0" lang="en-IN" sz="1800" strike="noStrike" u="none">
              <a:solidFill>
                <a:srgbClr val="000000"/>
              </a:solidFill>
              <a:effectLst/>
              <a:uFillTx/>
              <a:latin typeface="Arial"/>
            </a:endParaRPr>
          </a:p>
        </p:txBody>
      </p:sp>
      <p:sp>
        <p:nvSpPr>
          <p:cNvPr id="971" name=""/>
          <p:cNvSpPr/>
          <p:nvPr/>
        </p:nvSpPr>
        <p:spPr>
          <a:xfrm>
            <a:off x="961920" y="5019840"/>
            <a:ext cx="1825560" cy="644040"/>
          </a:xfrm>
          <a:prstGeom prst="rect">
            <a:avLst/>
          </a:prstGeom>
          <a:noFill/>
          <a:ln w="0">
            <a:noFill/>
          </a:ln>
        </p:spPr>
        <p:style>
          <a:lnRef idx="0"/>
          <a:fillRef idx="0"/>
          <a:effectRef idx="0"/>
          <a:fontRef idx="minor"/>
        </p:style>
        <p:txBody>
          <a:bodyPr lIns="90000" rIns="90000" tIns="46800" bIns="46800" anchor="t">
            <a:spAutoFit/>
          </a:bodyPr>
          <a:p>
            <a:pPr algn="ctr">
              <a:lnSpc>
                <a:spcPct val="85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Roadmap</a:t>
            </a:r>
            <a:endParaRPr b="0" lang="en-IN" sz="2000" strike="noStrike" u="none">
              <a:solidFill>
                <a:srgbClr val="000000"/>
              </a:solidFill>
              <a:effectLst/>
              <a:uFillTx/>
              <a:latin typeface="Arial"/>
            </a:endParaRPr>
          </a:p>
          <a:p>
            <a:pPr algn="ctr">
              <a:lnSpc>
                <a:spcPct val="85000"/>
              </a:lnSpc>
              <a:spcBef>
                <a:spcPts val="2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0.8%</a:t>
            </a:r>
            <a:endParaRPr b="0" lang="en-IN" sz="2000" strike="noStrike" u="none">
              <a:solidFill>
                <a:srgbClr val="000000"/>
              </a:solidFill>
              <a:effectLst/>
              <a:uFillTx/>
              <a:latin typeface="Arial"/>
            </a:endParaRPr>
          </a:p>
        </p:txBody>
      </p:sp>
      <p:sp>
        <p:nvSpPr>
          <p:cNvPr id="972" name=""/>
          <p:cNvSpPr/>
          <p:nvPr/>
        </p:nvSpPr>
        <p:spPr>
          <a:xfrm>
            <a:off x="1871640" y="1909800"/>
            <a:ext cx="2552760" cy="70380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Non-Roadmap</a:t>
            </a: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99.2%</a:t>
            </a:r>
            <a:endParaRPr b="0" lang="en-IN" sz="2000" strike="noStrike" u="none">
              <a:solidFill>
                <a:srgbClr val="000000"/>
              </a:solidFill>
              <a:effectLst/>
              <a:uFillTx/>
              <a:latin typeface="Arial"/>
            </a:endParaRPr>
          </a:p>
        </p:txBody>
      </p:sp>
      <p:sp>
        <p:nvSpPr>
          <p:cNvPr id="973" name=""/>
          <p:cNvSpPr/>
          <p:nvPr/>
        </p:nvSpPr>
        <p:spPr>
          <a:xfrm>
            <a:off x="3216240" y="5381640"/>
            <a:ext cx="76320" cy="76320"/>
          </a:xfrm>
          <a:prstGeom prst="rect">
            <a:avLst/>
          </a:prstGeom>
          <a:noFill/>
          <a:ln w="0">
            <a:noFill/>
          </a:ln>
        </p:spPr>
        <p:style>
          <a:lnRef idx="0"/>
          <a:fillRef idx="0"/>
          <a:effectRef idx="0"/>
          <a:fontRef idx="minor"/>
        </p:style>
        <p:txBody>
          <a:bodyPr wrap="none" lIns="90000" rIns="90000" tIns="29520" bIns="29520" anchor="ctr">
            <a:spAutoFit/>
          </a:bodyPr>
          <a:p>
            <a:endParaRPr b="0" lang="en-IN" sz="1800" strike="noStrike" u="none">
              <a:solidFill>
                <a:srgbClr val="000000"/>
              </a:solidFill>
              <a:effectLst/>
              <a:uFillTx/>
              <a:latin typeface="Arial"/>
            </a:endParaRPr>
          </a:p>
        </p:txBody>
      </p:sp>
      <p:sp>
        <p:nvSpPr>
          <p:cNvPr id="974" name=""/>
          <p:cNvSpPr/>
          <p:nvPr/>
        </p:nvSpPr>
        <p:spPr>
          <a:xfrm flipV="1">
            <a:off x="2085840" y="4328640"/>
            <a:ext cx="1000440" cy="614520"/>
          </a:xfrm>
          <a:prstGeom prst="line">
            <a:avLst/>
          </a:prstGeom>
          <a:ln w="57240">
            <a:solidFill>
              <a:srgbClr val="ffffff"/>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75" name=""/>
          <p:cNvSpPr/>
          <p:nvPr/>
        </p:nvSpPr>
        <p:spPr>
          <a:xfrm>
            <a:off x="874800" y="1303200"/>
            <a:ext cx="3894120" cy="398880"/>
          </a:xfrm>
          <a:prstGeom prst="rect">
            <a:avLst/>
          </a:prstGeom>
          <a:noFill/>
          <a:ln w="0">
            <a:noFill/>
          </a:ln>
        </p:spPr>
        <p:style>
          <a:lnRef idx="0"/>
          <a:fillRef idx="0"/>
          <a:effectRef idx="0"/>
          <a:fontRef idx="minor"/>
        </p:style>
        <p:txBody>
          <a:bodyPr lIns="90000" rIns="90000" tIns="46800" bIns="46800" anchor="t">
            <a:spAutoFit/>
          </a:bodyPr>
          <a:p>
            <a:pPr>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ffffff"/>
                </a:solidFill>
                <a:effectLst/>
                <a:uFillTx/>
                <a:latin typeface="Arial"/>
              </a:rPr>
              <a:t>FY2005 Request = $28.757B</a:t>
            </a:r>
            <a:endParaRPr b="0" lang="en-IN" sz="2000" strike="noStrike" u="none">
              <a:solidFill>
                <a:srgbClr val="000000"/>
              </a:solidFill>
              <a:effectLst/>
              <a:uFillTx/>
              <a:latin typeface="Arial"/>
            </a:endParaRPr>
          </a:p>
        </p:txBody>
      </p:sp>
      <p:grpSp>
        <p:nvGrpSpPr>
          <p:cNvPr id="976" name=""/>
          <p:cNvGrpSpPr/>
          <p:nvPr/>
        </p:nvGrpSpPr>
        <p:grpSpPr>
          <a:xfrm>
            <a:off x="3162240" y="4362480"/>
            <a:ext cx="2190600" cy="1942920"/>
            <a:chOff x="3162240" y="4362480"/>
            <a:chExt cx="2190600" cy="1942920"/>
          </a:xfrm>
        </p:grpSpPr>
        <p:sp>
          <p:nvSpPr>
            <p:cNvPr id="977" name=""/>
            <p:cNvSpPr/>
            <p:nvPr/>
          </p:nvSpPr>
          <p:spPr>
            <a:xfrm>
              <a:off x="3873960" y="4993920"/>
              <a:ext cx="1478880" cy="1311480"/>
            </a:xfrm>
            <a:prstGeom prst="ellipse">
              <a:avLst/>
            </a:prstGeom>
            <a:solidFill>
              <a:srgbClr val="ccccff"/>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978" name=""/>
            <p:cNvSpPr/>
            <p:nvPr/>
          </p:nvSpPr>
          <p:spPr>
            <a:xfrm>
              <a:off x="3162240" y="4993920"/>
              <a:ext cx="1424160" cy="1311480"/>
            </a:xfrm>
            <a:prstGeom prst="ellipse">
              <a:avLst/>
            </a:prstGeom>
            <a:solidFill>
              <a:srgbClr val="ccccff"/>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979" name=""/>
            <p:cNvSpPr/>
            <p:nvPr/>
          </p:nvSpPr>
          <p:spPr>
            <a:xfrm>
              <a:off x="3545280" y="4362480"/>
              <a:ext cx="1424160" cy="1311480"/>
            </a:xfrm>
            <a:prstGeom prst="ellipse">
              <a:avLst/>
            </a:prstGeom>
            <a:solidFill>
              <a:srgbClr val="ccccff"/>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980" name="_s25606"/>
            <p:cNvSpPr/>
            <p:nvPr/>
          </p:nvSpPr>
          <p:spPr>
            <a:xfrm>
              <a:off x="3624120" y="4448520"/>
              <a:ext cx="1254960" cy="1142280"/>
            </a:xfrm>
            <a:prstGeom prst="ellipse">
              <a:avLst/>
            </a:prstGeom>
            <a:blipFill rotWithShape="0">
              <a:blip r:embed="rId3"/>
              <a:srcRect/>
              <a:stretch/>
            </a:blipFill>
            <a:ln w="4680">
              <a:solidFill>
                <a:srgbClr val="ffffff"/>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981" name="_s25610"/>
            <p:cNvSpPr/>
            <p:nvPr/>
          </p:nvSpPr>
          <p:spPr>
            <a:xfrm>
              <a:off x="4022640" y="5072760"/>
              <a:ext cx="1254960" cy="1142280"/>
            </a:xfrm>
            <a:prstGeom prst="ellipse">
              <a:avLst/>
            </a:prstGeom>
            <a:blipFill rotWithShape="0">
              <a:blip r:embed="rId4"/>
              <a:srcRect/>
              <a:stretch/>
            </a:blipFill>
            <a:ln w="4680">
              <a:solidFill>
                <a:srgbClr val="ffffff"/>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982" name="_s25608"/>
            <p:cNvSpPr/>
            <p:nvPr/>
          </p:nvSpPr>
          <p:spPr>
            <a:xfrm>
              <a:off x="3252240" y="5081760"/>
              <a:ext cx="1255320" cy="1142280"/>
            </a:xfrm>
            <a:prstGeom prst="ellipse">
              <a:avLst/>
            </a:prstGeom>
            <a:blipFill rotWithShape="0">
              <a:blip r:embed="rId5"/>
              <a:srcRect/>
              <a:stretch/>
            </a:blipFill>
            <a:ln w="4680">
              <a:solidFill>
                <a:srgbClr val="ffffff"/>
              </a:solidFill>
              <a:miter/>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pic>
          <p:nvPicPr>
            <p:cNvPr id="983" name="" descr=""/>
            <p:cNvPicPr/>
            <p:nvPr/>
          </p:nvPicPr>
          <p:blipFill>
            <a:blip r:embed="rId6"/>
            <a:stretch/>
          </p:blipFill>
          <p:spPr>
            <a:xfrm>
              <a:off x="4059000" y="5120280"/>
              <a:ext cx="467640" cy="429840"/>
            </a:xfrm>
            <a:prstGeom prst="rect">
              <a:avLst/>
            </a:prstGeom>
            <a:noFill/>
            <a:ln w="0">
              <a:noFill/>
            </a:ln>
            <a:effectLst>
              <a:outerShdw dist="17819" dir="2700000" blurRad="0" rotWithShape="0">
                <a:srgbClr val="000000"/>
              </a:outerShdw>
            </a:effectLst>
          </p:spPr>
        </p:pic>
        <p:sp>
          <p:nvSpPr>
            <p:cNvPr id="984" name="_s25608"/>
            <p:cNvSpPr/>
            <p:nvPr/>
          </p:nvSpPr>
          <p:spPr>
            <a:xfrm>
              <a:off x="3252240" y="5072760"/>
              <a:ext cx="1255320" cy="1142280"/>
            </a:xfrm>
            <a:prstGeom prst="ellipse">
              <a:avLst/>
            </a:prstGeom>
            <a:noFill/>
            <a:ln w="0">
              <a:noFill/>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985" name="_s25610"/>
            <p:cNvSpPr/>
            <p:nvPr/>
          </p:nvSpPr>
          <p:spPr>
            <a:xfrm>
              <a:off x="4022640" y="5081760"/>
              <a:ext cx="1254960" cy="1142280"/>
            </a:xfrm>
            <a:prstGeom prst="ellipse">
              <a:avLst/>
            </a:prstGeom>
            <a:noFill/>
            <a:ln w="0">
              <a:noFill/>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986" name="_s25606"/>
            <p:cNvSpPr/>
            <p:nvPr/>
          </p:nvSpPr>
          <p:spPr>
            <a:xfrm>
              <a:off x="3624120" y="4457520"/>
              <a:ext cx="1254960" cy="1142280"/>
            </a:xfrm>
            <a:prstGeom prst="ellipse">
              <a:avLst/>
            </a:prstGeom>
            <a:noFill/>
            <a:ln w="0">
              <a:noFill/>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grpSp>
      <p:sp>
        <p:nvSpPr>
          <p:cNvPr id="987" name=""/>
          <p:cNvSpPr/>
          <p:nvPr/>
        </p:nvSpPr>
        <p:spPr>
          <a:xfrm>
            <a:off x="5010120" y="1698480"/>
            <a:ext cx="3809880" cy="3751560"/>
          </a:xfrm>
          <a:prstGeom prst="rect">
            <a:avLst/>
          </a:prstGeom>
          <a:noFill/>
          <a:ln w="0">
            <a:noFill/>
          </a:ln>
        </p:spPr>
        <p:style>
          <a:lnRef idx="0"/>
          <a:fillRef idx="0"/>
          <a:effectRef idx="0"/>
          <a:fontRef idx="minor"/>
        </p:style>
        <p:txBody>
          <a:bodyPr lIns="90000" rIns="90000" tIns="46800" bIns="46800" anchor="t">
            <a:spAutoFit/>
          </a:bodyPr>
          <a:p>
            <a:pPr marL="343080" indent="-343080">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Developed to increase   synergy across NIH</a:t>
            </a:r>
            <a:endParaRPr b="0" lang="en-IN" sz="2400" strike="noStrike" u="none">
              <a:solidFill>
                <a:srgbClr val="000000"/>
              </a:solidFill>
              <a:effectLst/>
              <a:uFillTx/>
              <a:latin typeface="Arial"/>
            </a:endParaRPr>
          </a:p>
          <a:p>
            <a:pPr marL="343080" indent="-343080">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Not a single initiative but over 345 individual awards in FY 2005, 133 institutions, 33 states:</a:t>
            </a:r>
            <a:endParaRPr b="0" lang="en-IN" sz="2400" strike="noStrike" u="none">
              <a:solidFill>
                <a:srgbClr val="000000"/>
              </a:solidFill>
              <a:effectLst/>
              <a:uFillTx/>
              <a:latin typeface="Arial"/>
            </a:endParaRPr>
          </a:p>
          <a:p>
            <a:pPr lvl="1" marL="685800" indent="57240">
              <a:lnSpc>
                <a:spcPct val="100000"/>
              </a:lnSpc>
              <a:buClr>
                <a:srgbClr val="ffcc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 40% basic</a:t>
            </a:r>
            <a:endParaRPr b="0" lang="en-IN" sz="2400" strike="noStrike" u="none">
              <a:solidFill>
                <a:srgbClr val="000000"/>
              </a:solidFill>
              <a:effectLst/>
              <a:uFillTx/>
              <a:latin typeface="Arial"/>
            </a:endParaRPr>
          </a:p>
          <a:p>
            <a:pPr lvl="1" marL="685800" indent="57240">
              <a:lnSpc>
                <a:spcPct val="100000"/>
              </a:lnSpc>
              <a:buClr>
                <a:srgbClr val="ffcc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 40% translational</a:t>
            </a:r>
            <a:endParaRPr b="0" lang="en-IN" sz="2400" strike="noStrike" u="none">
              <a:solidFill>
                <a:srgbClr val="000000"/>
              </a:solidFill>
              <a:effectLst/>
              <a:uFillTx/>
              <a:latin typeface="Arial"/>
            </a:endParaRPr>
          </a:p>
          <a:p>
            <a:pPr lvl="1" marL="685800" indent="57240">
              <a:lnSpc>
                <a:spcPct val="100000"/>
              </a:lnSpc>
              <a:buClr>
                <a:srgbClr val="ffcc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 20% high risk</a:t>
            </a:r>
            <a:endParaRPr b="0" lang="en-IN" sz="2400" strike="noStrike" u="none">
              <a:solidFill>
                <a:srgbClr val="000000"/>
              </a:solidFill>
              <a:effectLst/>
              <a:uFillTx/>
              <a:latin typeface="Arial"/>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988" name="PlaceHolder 1"/>
          <p:cNvSpPr>
            <a:spLocks noGrp="1"/>
          </p:cNvSpPr>
          <p:nvPr>
            <p:ph type="title"/>
          </p:nvPr>
        </p:nvSpPr>
        <p:spPr>
          <a:xfrm>
            <a:off x="1079280" y="579600"/>
            <a:ext cx="7289640" cy="6523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Myriad Web"/>
              </a:rPr>
              <a:t>But Roadmap takes resources away from Us!</a:t>
            </a:r>
            <a:endParaRPr b="1" lang="en-IN" sz="3600" strike="noStrike" u="none">
              <a:solidFill>
                <a:srgbClr val="ffffff"/>
              </a:solidFill>
              <a:effectLst/>
              <a:uFillTx/>
              <a:latin typeface="Myriad Web"/>
            </a:endParaRPr>
          </a:p>
        </p:txBody>
      </p:sp>
      <p:sp>
        <p:nvSpPr>
          <p:cNvPr id="989" name="PlaceHolder 2"/>
          <p:cNvSpPr>
            <a:spLocks noGrp="1"/>
          </p:cNvSpPr>
          <p:nvPr>
            <p:ph/>
          </p:nvPr>
        </p:nvSpPr>
        <p:spPr>
          <a:xfrm>
            <a:off x="1136160" y="1647360"/>
            <a:ext cx="7753320" cy="4964040"/>
          </a:xfrm>
          <a:prstGeom prst="rect">
            <a:avLst/>
          </a:prstGeom>
          <a:noFill/>
          <a:ln w="0">
            <a:noFill/>
          </a:ln>
        </p:spPr>
        <p:txBody>
          <a:bodyPr lIns="90000" rIns="90000" tIns="46800" bIns="46800" anchor="t">
            <a:normAutofit/>
          </a:bodyPr>
          <a:p>
            <a:pPr marL="343080" indent="-343080">
              <a:lnSpc>
                <a:spcPct val="90000"/>
              </a:lnSpc>
              <a:spcBef>
                <a:spcPts val="700"/>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Myriad Web"/>
              </a:rPr>
              <a:t>Because NCI is the largest institute we contribute the most and it is a tax on Cancer Research!</a:t>
            </a:r>
            <a:endParaRPr b="0" lang="en-IN" sz="2800" strike="noStrike" u="none">
              <a:solidFill>
                <a:srgbClr val="ffffff"/>
              </a:solidFill>
              <a:effectLst/>
              <a:uFillTx/>
              <a:latin typeface="Myriad Web"/>
            </a:endParaRPr>
          </a:p>
          <a:p>
            <a:pPr marL="343080" indent="-343080">
              <a:lnSpc>
                <a:spcPct val="90000"/>
              </a:lnSpc>
              <a:spcBef>
                <a:spcPts val="700"/>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Myriad Web"/>
              </a:rPr>
              <a:t>Both NIH and NCI have analyzed that issue and found that NCI grantees have consistently received more than NCI contributed to the Roadmap</a:t>
            </a:r>
            <a:endParaRPr b="0" lang="en-IN" sz="2800" strike="noStrike" u="none">
              <a:solidFill>
                <a:srgbClr val="ffffff"/>
              </a:solidFill>
              <a:effectLst/>
              <a:uFillTx/>
              <a:latin typeface="Myriad Web"/>
            </a:endParaRPr>
          </a:p>
          <a:p>
            <a:pPr marL="343080" indent="-343080">
              <a:lnSpc>
                <a:spcPct val="90000"/>
              </a:lnSpc>
              <a:spcBef>
                <a:spcPts val="700"/>
              </a:spcBef>
              <a:buClr>
                <a:srgbClr val="ffd700"/>
              </a:buClr>
              <a:buFont typeface="Myriad Web"/>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Myriad Web"/>
              </a:rPr>
              <a:t>This is not including cancer research performed by non NCI grantees</a:t>
            </a:r>
            <a:endParaRPr b="0" lang="en-IN" sz="2800" strike="noStrike" u="none">
              <a:solidFill>
                <a:srgbClr val="ffffff"/>
              </a:solidFill>
              <a:effectLst/>
              <a:uFillTx/>
              <a:latin typeface="Myriad Web"/>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990" name="PlaceHolder 1"/>
          <p:cNvSpPr>
            <a:spLocks noGrp="1"/>
          </p:cNvSpPr>
          <p:nvPr>
            <p:ph type="title"/>
          </p:nvPr>
        </p:nvSpPr>
        <p:spPr>
          <a:xfrm>
            <a:off x="1166760" y="482760"/>
            <a:ext cx="7221600" cy="39816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400" strike="noStrike" u="none">
                <a:solidFill>
                  <a:srgbClr val="ffffff"/>
                </a:solidFill>
                <a:effectLst/>
                <a:uFillTx/>
                <a:latin typeface="Myriad Web"/>
              </a:rPr>
              <a:t>FY 2005 Roadmap Awards</a:t>
            </a:r>
            <a:br>
              <a:rPr sz="4400"/>
            </a:br>
            <a:r>
              <a:rPr b="1" lang="en-IN" sz="4400" strike="noStrike" u="none">
                <a:solidFill>
                  <a:srgbClr val="ffffff"/>
                </a:solidFill>
                <a:effectLst/>
                <a:uFillTx/>
                <a:latin typeface="Myriad Web"/>
              </a:rPr>
              <a:t>to NCI Grantees</a:t>
            </a:r>
            <a:endParaRPr b="1" lang="en-IN" sz="4400" strike="noStrike" u="none">
              <a:solidFill>
                <a:srgbClr val="ffffff"/>
              </a:solidFill>
              <a:effectLst/>
              <a:uFillTx/>
              <a:latin typeface="Myriad Web"/>
            </a:endParaRPr>
          </a:p>
        </p:txBody>
      </p:sp>
      <p:graphicFrame>
        <p:nvGraphicFramePr>
          <p:cNvPr id="991" name=""/>
          <p:cNvGraphicFramePr/>
          <p:nvPr/>
        </p:nvGraphicFramePr>
        <p:xfrm>
          <a:off x="1279440" y="1647720"/>
          <a:ext cx="7539120" cy="3810240"/>
        </p:xfrm>
        <a:graphic>
          <a:graphicData uri="http://schemas.openxmlformats.org/drawingml/2006/table">
            <a:tbl>
              <a:tblPr/>
              <a:tblGrid>
                <a:gridCol w="3303720"/>
                <a:gridCol w="2108160"/>
                <a:gridCol w="2127240"/>
              </a:tblGrid>
              <a:tr h="704880">
                <a:tc>
                  <a:txBody>
                    <a:bodyPr lIns="90000" rIns="90000" tIns="46800" bIns="46800" anchor="ctr" anchorCtr="1">
                      <a:noAutofit/>
                    </a:bodyPr>
                    <a:p>
                      <a:pP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txBody>
                  <a:tcPr anchor="ctr" marL="90000" marR="90000">
                    <a:lnL w="1368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solidFill>
                      <a:srgbClr val="808080"/>
                    </a:solidFill>
                  </a:tcPr>
                </a:tc>
                <a:tc>
                  <a:txBody>
                    <a:bodyPr lIns="90000" rIns="90000" tIns="46800" bIns="46800" anchor="ctr" anchorCtr="1">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Total Number</a:t>
                      </a:r>
                      <a:endParaRPr b="0" lang="en-IN" sz="1800" strike="noStrike" u="none">
                        <a:solidFill>
                          <a:srgbClr val="000000"/>
                        </a:solidFill>
                        <a:effectLst/>
                        <a:uFillTx/>
                        <a:latin typeface="Arial"/>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of Awards</a:t>
                      </a:r>
                      <a:endParaRPr b="0" lang="en-IN" sz="1800" strike="noStrike" u="none">
                        <a:solidFill>
                          <a:srgbClr val="000000"/>
                        </a:solidFill>
                        <a:effectLst/>
                        <a:uFillTx/>
                        <a:latin typeface="Arial"/>
                      </a:endParaRPr>
                    </a:p>
                  </a:txBody>
                  <a:tcPr anchor="ctr" marL="90000" marR="900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Total Amount</a:t>
                      </a:r>
                      <a:endParaRPr b="0" lang="en-IN" sz="1800" strike="noStrike" u="none">
                        <a:solidFill>
                          <a:srgbClr val="000000"/>
                        </a:solidFill>
                        <a:effectLst/>
                        <a:uFillTx/>
                        <a:latin typeface="Arial"/>
                      </a:endParaRPr>
                    </a:p>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of Awards</a:t>
                      </a:r>
                      <a:endParaRPr b="0" lang="en-IN" sz="1800" strike="noStrike" u="none">
                        <a:solidFill>
                          <a:srgbClr val="000000"/>
                        </a:solidFill>
                        <a:effectLst/>
                        <a:uFillTx/>
                        <a:latin typeface="Arial"/>
                      </a:endParaRPr>
                    </a:p>
                  </a:txBody>
                  <a:tcPr anchor="ctr" marL="90000" marR="90000">
                    <a:lnL w="5760">
                      <a:solidFill>
                        <a:srgbClr val="000000"/>
                      </a:solidFill>
                      <a:prstDash val="solid"/>
                    </a:lnL>
                    <a:lnR w="13680">
                      <a:solidFill>
                        <a:srgbClr val="000000"/>
                      </a:solidFill>
                      <a:prstDash val="solid"/>
                    </a:lnR>
                    <a:lnT w="13680">
                      <a:solidFill>
                        <a:srgbClr val="000000"/>
                      </a:solidFill>
                      <a:prstDash val="solid"/>
                    </a:lnT>
                    <a:lnB w="5760">
                      <a:solidFill>
                        <a:srgbClr val="000000"/>
                      </a:solidFill>
                      <a:prstDash val="solid"/>
                    </a:lnB>
                    <a:solidFill>
                      <a:srgbClr val="ffffff"/>
                    </a:solidFill>
                  </a:tcPr>
                </a:tc>
              </a:tr>
              <a:tr h="635040">
                <a:tc>
                  <a:txBody>
                    <a:bodyPr lIns="90000" rIns="90000" tIns="46800" bIns="46800" anchor="ctr" anchorCtr="1">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Total 2005 Roadmap</a:t>
                      </a:r>
                      <a:endParaRPr b="0" lang="en-IN" sz="1800" strike="noStrike" u="none">
                        <a:solidFill>
                          <a:srgbClr val="000000"/>
                        </a:solidFill>
                        <a:effectLst/>
                        <a:uFillTx/>
                        <a:latin typeface="Arial"/>
                      </a:endParaRPr>
                    </a:p>
                  </a:txBody>
                  <a:tcPr anchor="ctr"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352</a:t>
                      </a:r>
                      <a:endParaRPr b="0" lang="en-IN" sz="1800" strike="noStrike" u="none">
                        <a:solidFill>
                          <a:srgbClr val="000000"/>
                        </a:solidFill>
                        <a:effectLst/>
                        <a:uFillTx/>
                        <a:latin typeface="Arial"/>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$240M</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solidFill>
                      <a:srgbClr val="ffffff"/>
                    </a:solidFill>
                  </a:tcPr>
                </a:tc>
              </a:tr>
              <a:tr h="635040">
                <a:tc>
                  <a:txBody>
                    <a:bodyPr lIns="90000" rIns="90000" tIns="46800" bIns="46800" anchor="ctr" anchorCtr="1">
                      <a:noAutofit/>
                    </a:bodyPr>
                    <a:p>
                      <a:pP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TOTAL (NCI grantees)</a:t>
                      </a:r>
                      <a:endParaRPr b="0" lang="en-IN" sz="1800" strike="noStrike" u="none">
                        <a:solidFill>
                          <a:srgbClr val="000000"/>
                        </a:solidFill>
                        <a:effectLst/>
                        <a:uFillTx/>
                        <a:latin typeface="Arial"/>
                      </a:endParaRPr>
                    </a:p>
                  </a:txBody>
                  <a:tcPr anchor="ctr"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53 (15%)</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$42.1M (18%)</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solidFill>
                      <a:srgbClr val="ffffff"/>
                    </a:solidFill>
                  </a:tcPr>
                </a:tc>
              </a:tr>
              <a:tr h="635040">
                <a:tc>
                  <a:txBody>
                    <a:bodyPr lIns="90000" rIns="90000" tIns="46800" bIns="46800" anchor="ctr" anchorCtr="1">
                      <a:noAutofit/>
                    </a:bodyPr>
                    <a:p>
                      <a:pPr algn="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Pathways to Discovery</a:t>
                      </a:r>
                      <a:endParaRPr b="0" lang="en-IN" sz="1800" strike="noStrike" u="none">
                        <a:solidFill>
                          <a:srgbClr val="000000"/>
                        </a:solidFill>
                        <a:effectLst/>
                        <a:uFillTx/>
                        <a:latin typeface="Arial"/>
                      </a:endParaRPr>
                    </a:p>
                  </a:txBody>
                  <a:tcPr anchor="ctr"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30</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$28.8M</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solidFill>
                      <a:srgbClr val="ffffff"/>
                    </a:solidFill>
                  </a:tcPr>
                </a:tc>
              </a:tr>
              <a:tr h="635040">
                <a:tc>
                  <a:txBody>
                    <a:bodyPr lIns="90000" rIns="90000" tIns="46800" bIns="46800" anchor="ctr" anchorCtr="1">
                      <a:noAutofit/>
                    </a:bodyPr>
                    <a:p>
                      <a:pPr algn="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Research Teams</a:t>
                      </a:r>
                      <a:endParaRPr b="0" lang="en-IN" sz="1800" strike="noStrike" u="none">
                        <a:solidFill>
                          <a:srgbClr val="000000"/>
                        </a:solidFill>
                        <a:effectLst/>
                        <a:uFillTx/>
                        <a:latin typeface="Arial"/>
                      </a:endParaRPr>
                    </a:p>
                  </a:txBody>
                  <a:tcPr anchor="ctr" marL="90000" marR="900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17</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$8.2M</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solidFill>
                      <a:srgbClr val="ffffff"/>
                    </a:solidFill>
                  </a:tcPr>
                </a:tc>
              </a:tr>
              <a:tr h="565200">
                <a:tc>
                  <a:txBody>
                    <a:bodyPr lIns="90000" rIns="90000" tIns="46800" bIns="46800" anchor="ctr" anchorCtr="1">
                      <a:noAutofit/>
                    </a:bodyPr>
                    <a:p>
                      <a:pPr algn="r">
                        <a:lnSpc>
                          <a:spcPct val="100000"/>
                        </a:lnSpc>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Myriad Web"/>
                        </a:rPr>
                        <a:t>Clinical Research</a:t>
                      </a:r>
                      <a:endParaRPr b="0" lang="en-IN" sz="1800" strike="noStrike" u="none">
                        <a:solidFill>
                          <a:srgbClr val="000000"/>
                        </a:solidFill>
                        <a:effectLst/>
                        <a:uFillTx/>
                        <a:latin typeface="Arial"/>
                      </a:endParaRPr>
                    </a:p>
                  </a:txBody>
                  <a:tcPr anchor="ctr" marL="90000" marR="900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6</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solidFill>
                      <a:srgbClr val="ffffff"/>
                    </a:solidFill>
                  </a:tcPr>
                </a:tc>
                <a:tc>
                  <a:txBody>
                    <a:bodyPr lIns="90000" rIns="90000" tIns="46800" bIns="46800" anchor="ctr" anchorCtr="1">
                      <a:noAutofit/>
                    </a:bodyPr>
                    <a:p>
                      <a:pPr algn="ctr">
                        <a:lnSpc>
                          <a:spcPct val="100000"/>
                        </a:lnSpc>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Myriad Web"/>
                        </a:rPr>
                        <a:t>$5.1M</a:t>
                      </a:r>
                      <a:endParaRPr b="0" lang="en-IN" sz="2000" strike="noStrike" u="none">
                        <a:solidFill>
                          <a:srgbClr val="000000"/>
                        </a:solidFill>
                        <a:effectLst/>
                        <a:uFillTx/>
                        <a:latin typeface="Arial"/>
                      </a:endParaRPr>
                    </a:p>
                  </a:txBody>
                  <a:tcPr anchor="ctr" marL="90000" marR="900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solidFill>
                      <a:srgbClr val="ffffff"/>
                    </a:solidFill>
                  </a:tcPr>
                </a:tc>
              </a:tr>
            </a:tbl>
          </a:graphicData>
        </a:graphic>
      </p:graphicFrame>
      <p:sp>
        <p:nvSpPr>
          <p:cNvPr id="992" name=""/>
          <p:cNvSpPr/>
          <p:nvPr/>
        </p:nvSpPr>
        <p:spPr>
          <a:xfrm>
            <a:off x="1257480" y="5937120"/>
            <a:ext cx="7315200" cy="923400"/>
          </a:xfrm>
          <a:prstGeom prst="rect">
            <a:avLst/>
          </a:prstGeom>
          <a:noFill/>
          <a:ln w="0">
            <a:noFill/>
          </a:ln>
        </p:spPr>
        <p:style>
          <a:lnRef idx="0"/>
          <a:fillRef idx="0"/>
          <a:effectRef idx="0"/>
          <a:fontRef idx="minor"/>
        </p:style>
        <p:txBody>
          <a:bodyPr lIns="90000" rIns="90000" tIns="46800" bIns="46800" anchor="t">
            <a:spAutoFit/>
          </a:bodyPr>
          <a:p>
            <a:pPr algn="ctr">
              <a:lnSpc>
                <a:spcPct val="8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3200" strike="noStrike" u="none">
                <a:solidFill>
                  <a:srgbClr val="ffffff"/>
                </a:solidFill>
                <a:effectLst/>
                <a:uFillTx/>
                <a:latin typeface="Arial"/>
              </a:rPr>
              <a:t>NCI 2005 Investment in Roadmap = $30.5M (13%)</a:t>
            </a:r>
            <a:endParaRPr b="0" lang="en-IN" sz="3200" strike="noStrike" u="none">
              <a:solidFill>
                <a:srgbClr val="000000"/>
              </a:solidFill>
              <a:effectLst/>
              <a:uFillTx/>
              <a:latin typeface="Arial"/>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2e2f90"/>
        </a:solidFill>
      </p:bgPr>
    </p:bg>
    <p:spTree>
      <p:nvGrpSpPr>
        <p:cNvPr id="1" name=""/>
        <p:cNvGrpSpPr/>
        <p:nvPr/>
      </p:nvGrpSpPr>
      <p:grpSpPr>
        <a:xfrm>
          <a:off x="0" y="0"/>
          <a:ext cx="0" cy="0"/>
          <a:chOff x="0" y="0"/>
          <a:chExt cx="0" cy="0"/>
        </a:xfrm>
      </p:grpSpPr>
      <p:sp>
        <p:nvSpPr>
          <p:cNvPr id="993" name="PlaceHolder 1"/>
          <p:cNvSpPr>
            <a:spLocks noGrp="1"/>
          </p:cNvSpPr>
          <p:nvPr>
            <p:ph type="title"/>
          </p:nvPr>
        </p:nvSpPr>
        <p:spPr>
          <a:xfrm>
            <a:off x="1136520" y="140760"/>
            <a:ext cx="7290000" cy="65268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NCI and </a:t>
            </a:r>
            <a:r>
              <a:rPr b="1" i="1" lang="en-IN" sz="3200" strike="noStrike" u="none">
                <a:solidFill>
                  <a:srgbClr val="ffffff"/>
                </a:solidFill>
                <a:effectLst/>
                <a:uFillTx/>
                <a:latin typeface="Arial"/>
              </a:rPr>
              <a:t>Trans</a:t>
            </a:r>
            <a:r>
              <a:rPr b="1" lang="en-IN" sz="3200" strike="noStrike" u="none">
                <a:solidFill>
                  <a:srgbClr val="ffffff"/>
                </a:solidFill>
                <a:effectLst/>
                <a:uFillTx/>
                <a:latin typeface="Arial"/>
              </a:rPr>
              <a:t>-NIH Initiatives </a:t>
            </a:r>
            <a:endParaRPr b="1" lang="en-IN" sz="3200" strike="noStrike" u="none">
              <a:solidFill>
                <a:srgbClr val="ffffff"/>
              </a:solidFill>
              <a:effectLst/>
              <a:uFillTx/>
              <a:latin typeface="Myriad Web"/>
            </a:endParaRPr>
          </a:p>
        </p:txBody>
      </p:sp>
      <p:pic>
        <p:nvPicPr>
          <p:cNvPr id="994" name="" descr=""/>
          <p:cNvPicPr/>
          <p:nvPr/>
        </p:nvPicPr>
        <p:blipFill>
          <a:blip r:embed="rId1"/>
          <a:srcRect l="4044" t="0" r="4409" b="1704"/>
          <a:stretch/>
        </p:blipFill>
        <p:spPr>
          <a:xfrm>
            <a:off x="2843280" y="1660680"/>
            <a:ext cx="1861920" cy="2449440"/>
          </a:xfrm>
          <a:prstGeom prst="rect">
            <a:avLst/>
          </a:prstGeom>
          <a:noFill/>
          <a:ln w="0">
            <a:noFill/>
          </a:ln>
        </p:spPr>
      </p:pic>
      <p:pic>
        <p:nvPicPr>
          <p:cNvPr id="995" name="" descr=""/>
          <p:cNvPicPr/>
          <p:nvPr/>
        </p:nvPicPr>
        <p:blipFill>
          <a:blip r:embed="rId2"/>
          <a:stretch/>
        </p:blipFill>
        <p:spPr>
          <a:xfrm>
            <a:off x="1054080" y="1460520"/>
            <a:ext cx="1695600" cy="1535040"/>
          </a:xfrm>
          <a:prstGeom prst="rect">
            <a:avLst/>
          </a:prstGeom>
          <a:noFill/>
          <a:ln w="25560">
            <a:solidFill>
              <a:srgbClr val="ffffff"/>
            </a:solidFill>
            <a:miter/>
          </a:ln>
        </p:spPr>
      </p:pic>
      <p:pic>
        <p:nvPicPr>
          <p:cNvPr id="996" name="" descr="NCBI Logo">
            <a:hlinkClick r:id="rId3"/>
          </p:cNvPr>
          <p:cNvPicPr/>
          <p:nvPr/>
        </p:nvPicPr>
        <p:blipFill>
          <a:blip r:embed="rId4"/>
          <a:stretch/>
        </p:blipFill>
        <p:spPr>
          <a:xfrm>
            <a:off x="1239840" y="3129120"/>
            <a:ext cx="1400040" cy="985680"/>
          </a:xfrm>
          <a:prstGeom prst="rect">
            <a:avLst/>
          </a:prstGeom>
          <a:noFill/>
          <a:ln w="0">
            <a:noFill/>
          </a:ln>
        </p:spPr>
      </p:pic>
      <p:pic>
        <p:nvPicPr>
          <p:cNvPr id="997" name="" descr="Picture of a molecule and DTP logo (DTP)"/>
          <p:cNvPicPr/>
          <p:nvPr/>
        </p:nvPicPr>
        <p:blipFill>
          <a:blip r:embed="rId5"/>
          <a:srcRect l="2257" t="0" r="56056" b="1927"/>
          <a:stretch/>
        </p:blipFill>
        <p:spPr>
          <a:xfrm>
            <a:off x="2770200" y="4303800"/>
            <a:ext cx="1879560" cy="1506600"/>
          </a:xfrm>
          <a:prstGeom prst="rect">
            <a:avLst/>
          </a:prstGeom>
          <a:noFill/>
          <a:ln w="9360">
            <a:solidFill>
              <a:srgbClr val="ffcc00"/>
            </a:solidFill>
            <a:miter/>
          </a:ln>
        </p:spPr>
      </p:pic>
      <p:pic>
        <p:nvPicPr>
          <p:cNvPr id="998" name="" descr="">
            <a:hlinkClick r:id="rId6"/>
          </p:cNvPr>
          <p:cNvPicPr/>
          <p:nvPr/>
        </p:nvPicPr>
        <p:blipFill>
          <a:blip r:embed="rId7"/>
          <a:stretch/>
        </p:blipFill>
        <p:spPr>
          <a:xfrm>
            <a:off x="1338120" y="4275000"/>
            <a:ext cx="1227240" cy="1633680"/>
          </a:xfrm>
          <a:prstGeom prst="rect">
            <a:avLst/>
          </a:prstGeom>
          <a:noFill/>
          <a:ln w="0">
            <a:noFill/>
          </a:ln>
        </p:spPr>
      </p:pic>
      <p:sp>
        <p:nvSpPr>
          <p:cNvPr id="999" name=""/>
          <p:cNvSpPr/>
          <p:nvPr/>
        </p:nvSpPr>
        <p:spPr>
          <a:xfrm>
            <a:off x="5775480" y="1655640"/>
            <a:ext cx="2679480" cy="366840"/>
          </a:xfrm>
          <a:prstGeom prst="rect">
            <a:avLst/>
          </a:prstGeom>
          <a:noFill/>
          <a:ln w="0">
            <a:noFill/>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00" name=""/>
          <p:cNvSpPr/>
          <p:nvPr/>
        </p:nvSpPr>
        <p:spPr>
          <a:xfrm>
            <a:off x="4765680" y="1046160"/>
            <a:ext cx="4378320" cy="6160680"/>
          </a:xfrm>
          <a:prstGeom prst="rect">
            <a:avLst/>
          </a:prstGeom>
          <a:noFill/>
          <a:ln w="0">
            <a:noFill/>
          </a:ln>
        </p:spPr>
        <p:style>
          <a:lnRef idx="0"/>
          <a:fillRef idx="0"/>
          <a:effectRef idx="0"/>
          <a:fontRef idx="minor"/>
        </p:style>
        <p:txBody>
          <a:bodyPr lIns="90000" rIns="90000" tIns="46800" bIns="46800" anchor="t">
            <a:spAutoFit/>
          </a:bodyPr>
          <a:p>
            <a:pPr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Lucida Sans"/>
              </a:rPr>
              <a:t>Re-engineering the Clinical</a:t>
            </a:r>
            <a:endParaRPr b="0" lang="en-IN"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Lucida Sans"/>
              </a:rPr>
              <a:t>Research Enterprise</a:t>
            </a:r>
            <a:endParaRPr b="0" lang="en-IN" sz="2000" strike="noStrike" u="none">
              <a:solidFill>
                <a:srgbClr val="000000"/>
              </a:solidFill>
              <a:effectLst/>
              <a:uFillTx/>
              <a:latin typeface="Arial"/>
            </a:endParaRPr>
          </a:p>
          <a:p>
            <a:pPr lvl="1" marL="457200"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Clinical Research Networks and</a:t>
            </a:r>
            <a:endParaRPr b="0" lang="en-IN" sz="1800" strike="noStrike" u="none">
              <a:solidFill>
                <a:srgbClr val="000000"/>
              </a:solidFill>
              <a:effectLst/>
              <a:uFillTx/>
              <a:latin typeface="Arial"/>
            </a:endParaRPr>
          </a:p>
          <a:p>
            <a:pPr lvl="1" marL="457200" indent="1713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NECTAR</a:t>
            </a:r>
            <a:endParaRPr b="0" lang="en-IN" sz="1800" strike="noStrike" u="none">
              <a:solidFill>
                <a:srgbClr val="000000"/>
              </a:solidFill>
              <a:effectLst/>
              <a:uFillTx/>
              <a:latin typeface="Arial"/>
            </a:endParaRPr>
          </a:p>
          <a:p>
            <a:pPr lvl="1" marL="457200"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PROMIS</a:t>
            </a:r>
            <a:endParaRPr b="0" lang="en-IN" sz="1800" strike="noStrike" u="none">
              <a:solidFill>
                <a:srgbClr val="000000"/>
              </a:solidFill>
              <a:effectLst/>
              <a:uFillTx/>
              <a:latin typeface="Arial"/>
            </a:endParaRPr>
          </a:p>
          <a:p>
            <a:pPr lvl="1" marL="457200"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Translational Research Core</a:t>
            </a:r>
            <a:endParaRPr b="0" lang="en-IN" sz="1800" strike="noStrike" u="none">
              <a:solidFill>
                <a:srgbClr val="000000"/>
              </a:solidFill>
              <a:effectLst/>
              <a:uFillTx/>
              <a:latin typeface="Arial"/>
            </a:endParaRPr>
          </a:p>
          <a:p>
            <a:pPr lvl="1" marL="457200" indent="1713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Service</a:t>
            </a:r>
            <a:endParaRPr b="0" lang="en-IN" sz="1800" strike="noStrike" u="none">
              <a:solidFill>
                <a:srgbClr val="000000"/>
              </a:solidFill>
              <a:effectLst/>
              <a:uFillTx/>
              <a:latin typeface="Arial"/>
            </a:endParaRPr>
          </a:p>
          <a:p>
            <a:pPr lvl="1" marL="457200" indent="1713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Lucida Sans"/>
              </a:rPr>
              <a:t>New Pathways to Discovery</a:t>
            </a:r>
            <a:endParaRPr b="0" lang="en-IN" sz="2000" strike="noStrike" u="none">
              <a:solidFill>
                <a:srgbClr val="000000"/>
              </a:solidFill>
              <a:effectLst/>
              <a:uFillTx/>
              <a:latin typeface="Arial"/>
            </a:endParaRPr>
          </a:p>
          <a:p>
            <a:pPr lvl="1" marL="457200"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Molecular Libraries and Imaging</a:t>
            </a:r>
            <a:endParaRPr b="0" lang="en-IN" sz="1800" strike="noStrike" u="none">
              <a:solidFill>
                <a:srgbClr val="000000"/>
              </a:solidFill>
              <a:effectLst/>
              <a:uFillTx/>
              <a:latin typeface="Arial"/>
            </a:endParaRPr>
          </a:p>
          <a:p>
            <a:pPr lvl="1" marL="457200"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Nanomedicine</a:t>
            </a:r>
            <a:endParaRPr b="0" lang="en-IN" sz="1800" strike="noStrike" u="none">
              <a:solidFill>
                <a:srgbClr val="000000"/>
              </a:solidFill>
              <a:effectLst/>
              <a:uFillTx/>
              <a:latin typeface="Arial"/>
            </a:endParaRPr>
          </a:p>
          <a:p>
            <a:pPr lvl="1" marL="457200"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Bioinformatics and Computation</a:t>
            </a:r>
            <a:endParaRPr b="0" lang="en-IN" sz="1800" strike="noStrike" u="none">
              <a:solidFill>
                <a:srgbClr val="000000"/>
              </a:solidFill>
              <a:effectLst/>
              <a:uFillTx/>
              <a:latin typeface="Arial"/>
            </a:endParaRPr>
          </a:p>
          <a:p>
            <a:pPr lvl="1" marL="457200" indent="1713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Lucida Sans"/>
              </a:rPr>
              <a:t>Biology</a:t>
            </a:r>
            <a:endParaRPr b="0" lang="en-IN" sz="1800" strike="noStrike" u="none">
              <a:solidFill>
                <a:srgbClr val="000000"/>
              </a:solidFill>
              <a:effectLst/>
              <a:uFillTx/>
              <a:latin typeface="Arial"/>
            </a:endParaRPr>
          </a:p>
          <a:p>
            <a:pPr lvl="1" marL="457200" indent="1713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a:p>
            <a:pPr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Lucida Sans"/>
              </a:rPr>
              <a:t>Research Teams of the Future</a:t>
            </a:r>
            <a:endParaRPr b="0" lang="en-IN"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Lucida Sans"/>
              </a:rPr>
              <a:t>Strategic Plan for NIH Obesity</a:t>
            </a:r>
            <a:endParaRPr b="0" lang="en-IN"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ffffff"/>
                </a:solidFill>
                <a:effectLst/>
                <a:uFillTx/>
                <a:latin typeface="Lucida Sans"/>
              </a:rPr>
              <a:t>Research</a:t>
            </a:r>
            <a:endParaRPr b="0" lang="en-IN" sz="20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indent="171360">
              <a:lnSpc>
                <a:spcPct val="100000"/>
              </a:lnSpc>
              <a:buClr>
                <a:srgbClr val="ffcc00"/>
              </a:buClr>
              <a:buFont typeface="Lucida Sans"/>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lvl="1" marL="457200" indent="17136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p:txBody>
      </p:sp>
    </p:spTree>
  </p:cSld>
  <p:transition>
    <p:fade/>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1001" name="PlaceHolder 1"/>
          <p:cNvSpPr>
            <a:spLocks noGrp="1"/>
          </p:cNvSpPr>
          <p:nvPr>
            <p:ph type="title"/>
          </p:nvPr>
        </p:nvSpPr>
        <p:spPr>
          <a:xfrm>
            <a:off x="914400" y="2492280"/>
            <a:ext cx="8229600" cy="13716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Where Do We Go From Here?</a:t>
            </a:r>
            <a:br>
              <a:rPr sz="3600"/>
            </a:br>
            <a:br>
              <a:rPr sz="3600"/>
            </a:br>
            <a:endParaRPr b="1" lang="en-IN" sz="3600" strike="noStrike" u="none">
              <a:solidFill>
                <a:srgbClr val="ffffff"/>
              </a:solidFill>
              <a:effectLst/>
              <a:uFillTx/>
              <a:latin typeface="Myriad Web"/>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1002" name="PlaceHolder 1"/>
          <p:cNvSpPr>
            <a:spLocks noGrp="1"/>
          </p:cNvSpPr>
          <p:nvPr>
            <p:ph type="title"/>
          </p:nvPr>
        </p:nvSpPr>
        <p:spPr>
          <a:xfrm>
            <a:off x="1080720" y="-360"/>
            <a:ext cx="7815240" cy="134316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ffff"/>
                </a:solidFill>
                <a:effectLst/>
                <a:uFillTx/>
                <a:latin typeface="Arial"/>
              </a:rPr>
              <a:t>NIH Must Develop Adaptive Strategies: </a:t>
            </a:r>
            <a:br>
              <a:rPr sz="2800"/>
            </a:br>
            <a:r>
              <a:rPr b="1" lang="en-IN" sz="2800" strike="noStrike" u="none">
                <a:solidFill>
                  <a:srgbClr val="ffffff"/>
                </a:solidFill>
                <a:effectLst/>
                <a:uFillTx/>
                <a:latin typeface="Arial"/>
              </a:rPr>
              <a:t>Key Principles</a:t>
            </a:r>
            <a:endParaRPr b="1" lang="en-IN" sz="2800" strike="noStrike" u="none">
              <a:solidFill>
                <a:srgbClr val="ffffff"/>
              </a:solidFill>
              <a:effectLst/>
              <a:uFillTx/>
              <a:latin typeface="Myriad Web"/>
            </a:endParaRPr>
          </a:p>
        </p:txBody>
      </p:sp>
      <p:sp>
        <p:nvSpPr>
          <p:cNvPr id="1003" name="PlaceHolder 2"/>
          <p:cNvSpPr>
            <a:spLocks noGrp="1"/>
          </p:cNvSpPr>
          <p:nvPr>
            <p:ph/>
          </p:nvPr>
        </p:nvSpPr>
        <p:spPr>
          <a:xfrm>
            <a:off x="974520" y="1217160"/>
            <a:ext cx="7902360" cy="5351400"/>
          </a:xfrm>
          <a:prstGeom prst="rect">
            <a:avLst/>
          </a:prstGeom>
          <a:noFill/>
          <a:ln w="0">
            <a:noFill/>
          </a:ln>
        </p:spPr>
        <p:txBody>
          <a:bodyPr lIns="90000" rIns="90000" tIns="46800" bIns="46800" anchor="t">
            <a:normAutofit/>
          </a:bodyPr>
          <a:p>
            <a:pPr marL="343080" indent="-343080">
              <a:lnSpc>
                <a:spcPct val="85000"/>
              </a:lnSpc>
              <a:spcBef>
                <a:spcPts val="11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Myriad Web"/>
            </a:endParaRPr>
          </a:p>
          <a:p>
            <a:pPr lvl="1" marL="743040" indent="-285840">
              <a:lnSpc>
                <a:spcPct val="85000"/>
              </a:lnSpc>
              <a:spcBef>
                <a:spcPts val="1301"/>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ffffff"/>
                </a:solidFill>
                <a:effectLst/>
                <a:uFillTx/>
                <a:latin typeface="Arial"/>
              </a:rPr>
              <a:t>Protect core values and mission:</a:t>
            </a:r>
            <a:r>
              <a:rPr b="0" lang="en-US" sz="2600" strike="noStrike" u="none">
                <a:solidFill>
                  <a:srgbClr val="ffcc00"/>
                </a:solidFill>
                <a:effectLst/>
                <a:uFillTx/>
                <a:latin typeface="Arial"/>
              </a:rPr>
              <a:t> </a:t>
            </a:r>
            <a:r>
              <a:rPr b="0" i="1" lang="en-US" sz="2600" strike="noStrike" u="none">
                <a:solidFill>
                  <a:srgbClr val="ffcc00"/>
                </a:solidFill>
                <a:effectLst/>
                <a:uFillTx/>
                <a:latin typeface="Arial"/>
              </a:rPr>
              <a:t>Discovery and New Knowledge </a:t>
            </a:r>
            <a:endParaRPr b="0" lang="en-IN" sz="2600" strike="noStrike" u="none">
              <a:solidFill>
                <a:srgbClr val="ffffff"/>
              </a:solidFill>
              <a:effectLst/>
              <a:uFillTx/>
              <a:latin typeface="Myriad Web"/>
            </a:endParaRPr>
          </a:p>
          <a:p>
            <a:pPr lvl="1" marL="743040" indent="-285840">
              <a:lnSpc>
                <a:spcPct val="85000"/>
              </a:lnSpc>
              <a:spcBef>
                <a:spcPts val="1301"/>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ffffff"/>
                </a:solidFill>
                <a:effectLst/>
                <a:uFillTx/>
                <a:latin typeface="Arial"/>
              </a:rPr>
              <a:t>Protect the future: New Investigators</a:t>
            </a:r>
            <a:endParaRPr b="0" lang="en-IN" sz="2600" strike="noStrike" u="none">
              <a:solidFill>
                <a:srgbClr val="ffffff"/>
              </a:solidFill>
              <a:effectLst/>
              <a:uFillTx/>
              <a:latin typeface="Myriad Web"/>
            </a:endParaRPr>
          </a:p>
          <a:p>
            <a:pPr lvl="2" marL="1143000" indent="-228600">
              <a:lnSpc>
                <a:spcPct val="85000"/>
              </a:lnSpc>
              <a:spcBef>
                <a:spcPts val="1001"/>
              </a:spcBef>
              <a:buClr>
                <a:srgbClr val="ffd7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Arial"/>
              </a:rPr>
              <a:t>Pathway to Independence Program</a:t>
            </a:r>
            <a:endParaRPr b="0" lang="en-IN" sz="2000" strike="noStrike" u="none">
              <a:solidFill>
                <a:srgbClr val="ffffff"/>
              </a:solidFill>
              <a:effectLst/>
              <a:uFillTx/>
              <a:latin typeface="Myriad Web"/>
            </a:endParaRPr>
          </a:p>
          <a:p>
            <a:pPr lvl="2" marL="1143000" indent="-228600">
              <a:lnSpc>
                <a:spcPct val="85000"/>
              </a:lnSpc>
              <a:spcBef>
                <a:spcPts val="1001"/>
              </a:spcBef>
              <a:buClr>
                <a:srgbClr val="ffd7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Arial"/>
              </a:rPr>
              <a:t>Institutes and Centers efforts to assist new investigators</a:t>
            </a:r>
            <a:endParaRPr b="0" lang="en-IN" sz="2000" strike="noStrike" u="none">
              <a:solidFill>
                <a:srgbClr val="ffffff"/>
              </a:solidFill>
              <a:effectLst/>
              <a:uFillTx/>
              <a:latin typeface="Myriad Web"/>
            </a:endParaRPr>
          </a:p>
          <a:p>
            <a:pPr lvl="1" marL="743040" indent="-285840">
              <a:lnSpc>
                <a:spcPct val="85000"/>
              </a:lnSpc>
              <a:spcBef>
                <a:spcPts val="1301"/>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trike="noStrike" u="none">
                <a:solidFill>
                  <a:srgbClr val="ffffff"/>
                </a:solidFill>
                <a:effectLst/>
                <a:uFillTx/>
                <a:latin typeface="Arial"/>
              </a:rPr>
              <a:t>Manage the key drivers</a:t>
            </a:r>
            <a:endParaRPr b="0" lang="en-IN" sz="2600" strike="noStrike" u="none">
              <a:solidFill>
                <a:srgbClr val="ffffff"/>
              </a:solidFill>
              <a:effectLst/>
              <a:uFillTx/>
              <a:latin typeface="Myriad Web"/>
            </a:endParaRPr>
          </a:p>
          <a:p>
            <a:pPr lvl="2" marL="1143000" indent="-228600">
              <a:lnSpc>
                <a:spcPct val="85000"/>
              </a:lnSpc>
              <a:spcBef>
                <a:spcPts val="1001"/>
              </a:spcBef>
              <a:buClr>
                <a:srgbClr val="ffd7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Arial"/>
              </a:rPr>
              <a:t>Supply/demand of grants</a:t>
            </a:r>
            <a:endParaRPr b="0" lang="en-IN" sz="2000" strike="noStrike" u="none">
              <a:solidFill>
                <a:srgbClr val="ffffff"/>
              </a:solidFill>
              <a:effectLst/>
              <a:uFillTx/>
              <a:latin typeface="Myriad Web"/>
            </a:endParaRPr>
          </a:p>
          <a:p>
            <a:pPr lvl="1" marL="743040" indent="-285840">
              <a:lnSpc>
                <a:spcPct val="85000"/>
              </a:lnSpc>
              <a:spcBef>
                <a:spcPts val="119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rPr>
              <a:t>Proactive communications</a:t>
            </a:r>
            <a:endParaRPr b="0" lang="en-IN" sz="2400" strike="noStrike" u="none">
              <a:solidFill>
                <a:srgbClr val="ffffff"/>
              </a:solidFill>
              <a:effectLst/>
              <a:uFillTx/>
              <a:latin typeface="Myriad Web"/>
            </a:endParaRPr>
          </a:p>
          <a:p>
            <a:pPr lvl="2" marL="1143000" indent="-228600">
              <a:lnSpc>
                <a:spcPct val="85000"/>
              </a:lnSpc>
              <a:spcBef>
                <a:spcPts val="1001"/>
              </a:spcBef>
              <a:buClr>
                <a:srgbClr val="ffd700"/>
              </a:buClr>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ffffff"/>
                </a:solidFill>
                <a:effectLst/>
                <a:uFillTx/>
                <a:latin typeface="Arial"/>
              </a:rPr>
              <a:t>A unified message about value of NIH’s investment and need for sustainability</a:t>
            </a:r>
            <a:r>
              <a:rPr b="0" lang="en-US" sz="2000" strike="noStrike" u="none">
                <a:solidFill>
                  <a:srgbClr val="ffffff"/>
                </a:solidFill>
                <a:effectLst/>
                <a:uFillTx/>
                <a:latin typeface="Arial"/>
              </a:rPr>
              <a:t> </a:t>
            </a:r>
            <a:endParaRPr b="0" lang="en-IN" sz="2000" strike="noStrike" u="none">
              <a:solidFill>
                <a:srgbClr val="ffffff"/>
              </a:solidFill>
              <a:effectLst/>
              <a:uFillTx/>
              <a:latin typeface="Myriad Web"/>
            </a:endParaRPr>
          </a:p>
          <a:p>
            <a:pPr lvl="1" marL="743040" indent="-285840">
              <a:lnSpc>
                <a:spcPct val="85000"/>
              </a:lnSpc>
              <a:spcBef>
                <a:spcPts val="1199"/>
              </a:spcBef>
              <a:buClr>
                <a:srgbClr val="ffd7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rPr>
              <a:t>Promote NIH’s vision for the future</a:t>
            </a:r>
            <a:endParaRPr b="0" lang="en-IN" sz="2400" strike="noStrike" u="none">
              <a:solidFill>
                <a:srgbClr val="ffffff"/>
              </a:solidFill>
              <a:effectLst/>
              <a:uFillTx/>
              <a:latin typeface="Myriad Web"/>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pic>
        <p:nvPicPr>
          <p:cNvPr id="1004" name="" descr="U.S Cancer Deaths"/>
          <p:cNvPicPr/>
          <p:nvPr/>
        </p:nvPicPr>
        <p:blipFill>
          <a:blip r:embed="rId1"/>
          <a:srcRect l="0" t="0" r="0" b="1377"/>
          <a:stretch/>
        </p:blipFill>
        <p:spPr>
          <a:xfrm>
            <a:off x="1252440" y="1596960"/>
            <a:ext cx="2640240" cy="2514600"/>
          </a:xfrm>
          <a:prstGeom prst="rect">
            <a:avLst/>
          </a:prstGeom>
          <a:noFill/>
          <a:ln w="0">
            <a:noFill/>
          </a:ln>
        </p:spPr>
      </p:pic>
      <p:sp>
        <p:nvSpPr>
          <p:cNvPr id="1005" name=""/>
          <p:cNvSpPr/>
          <p:nvPr/>
        </p:nvSpPr>
        <p:spPr>
          <a:xfrm>
            <a:off x="1260360" y="4243320"/>
            <a:ext cx="2630520" cy="236844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06" name=""/>
          <p:cNvSpPr/>
          <p:nvPr/>
        </p:nvSpPr>
        <p:spPr>
          <a:xfrm>
            <a:off x="1276200" y="4249800"/>
            <a:ext cx="3035520" cy="3682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000000"/>
                </a:solidFill>
                <a:effectLst/>
                <a:uFillTx/>
                <a:latin typeface="Arial"/>
              </a:rPr>
              <a:t>Survivorship</a:t>
            </a:r>
            <a:endParaRPr b="0" lang="en-IN" sz="1800" strike="noStrike" u="none">
              <a:solidFill>
                <a:srgbClr val="000000"/>
              </a:solidFill>
              <a:effectLst/>
              <a:uFillTx/>
              <a:latin typeface="Arial"/>
            </a:endParaRPr>
          </a:p>
        </p:txBody>
      </p:sp>
      <p:sp>
        <p:nvSpPr>
          <p:cNvPr id="1007" name=""/>
          <p:cNvSpPr/>
          <p:nvPr/>
        </p:nvSpPr>
        <p:spPr>
          <a:xfrm rot="16200000">
            <a:off x="608040" y="5313600"/>
            <a:ext cx="17694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Millions of People</a:t>
            </a:r>
            <a:endParaRPr b="0" lang="en-IN" sz="1600" strike="noStrike" u="none">
              <a:solidFill>
                <a:srgbClr val="000000"/>
              </a:solidFill>
              <a:effectLst/>
              <a:uFillTx/>
              <a:latin typeface="Arial"/>
            </a:endParaRPr>
          </a:p>
        </p:txBody>
      </p:sp>
      <p:sp>
        <p:nvSpPr>
          <p:cNvPr id="1008" name=""/>
          <p:cNvSpPr/>
          <p:nvPr/>
        </p:nvSpPr>
        <p:spPr>
          <a:xfrm>
            <a:off x="1908000" y="4591080"/>
            <a:ext cx="1721160" cy="1681200"/>
          </a:xfrm>
          <a:custGeom>
            <a:avLst/>
            <a:gdLst/>
            <a:ahLst/>
            <a:rect l="l" t="t" r="r" b="b"/>
            <a:pathLst>
              <a:path w="2400" h="1776">
                <a:moveTo>
                  <a:pt x="0" y="0"/>
                </a:moveTo>
                <a:lnTo>
                  <a:pt x="0" y="1776"/>
                </a:lnTo>
                <a:lnTo>
                  <a:pt x="2400" y="1776"/>
                </a:lnTo>
              </a:path>
            </a:pathLst>
          </a:custGeom>
          <a:noFill/>
          <a:ln w="12600">
            <a:solidFill>
              <a:srgbClr val="000000"/>
            </a:solidFill>
            <a:round/>
          </a:ln>
          <a:effectLst>
            <a:outerShdw dist="17819" dir="2700000" blurRad="0" rotWithShape="0">
              <a:srgbClr val="808080"/>
            </a:outerShdw>
          </a:effectLst>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09" name=""/>
          <p:cNvSpPr/>
          <p:nvPr/>
        </p:nvSpPr>
        <p:spPr>
          <a:xfrm>
            <a:off x="2011320" y="4591080"/>
            <a:ext cx="1514520" cy="1123920"/>
          </a:xfrm>
          <a:custGeom>
            <a:avLst/>
            <a:gdLst/>
            <a:ahLst/>
            <a:rect l="l" t="t" r="r" b="b"/>
            <a:pathLst>
              <a:path w="2112" h="1200">
                <a:moveTo>
                  <a:pt x="0" y="1200"/>
                </a:moveTo>
                <a:lnTo>
                  <a:pt x="720" y="1008"/>
                </a:lnTo>
                <a:lnTo>
                  <a:pt x="1440" y="576"/>
                </a:lnTo>
                <a:lnTo>
                  <a:pt x="2112" y="0"/>
                </a:lnTo>
              </a:path>
            </a:pathLst>
          </a:custGeom>
          <a:noFill/>
          <a:ln w="114480">
            <a:solidFill>
              <a:srgbClr val="cc0000"/>
            </a:solidFill>
            <a:round/>
          </a:ln>
          <a:effectLst>
            <a:outerShdw dist="17819" dir="2700000" blurRad="0" rotWithShape="0">
              <a:srgbClr val="808080"/>
            </a:outerShdw>
          </a:effectLst>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10" name=""/>
          <p:cNvSpPr/>
          <p:nvPr/>
        </p:nvSpPr>
        <p:spPr>
          <a:xfrm>
            <a:off x="1755720" y="6284880"/>
            <a:ext cx="57744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1971</a:t>
            </a:r>
            <a:endParaRPr b="0" lang="en-IN" sz="1400" strike="noStrike" u="none">
              <a:solidFill>
                <a:srgbClr val="000000"/>
              </a:solidFill>
              <a:effectLst/>
              <a:uFillTx/>
              <a:latin typeface="Arial"/>
            </a:endParaRPr>
          </a:p>
        </p:txBody>
      </p:sp>
      <p:sp>
        <p:nvSpPr>
          <p:cNvPr id="1011" name=""/>
          <p:cNvSpPr/>
          <p:nvPr/>
        </p:nvSpPr>
        <p:spPr>
          <a:xfrm>
            <a:off x="2249640" y="6286680"/>
            <a:ext cx="57744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1986</a:t>
            </a:r>
            <a:endParaRPr b="0" lang="en-IN" sz="1400" strike="noStrike" u="none">
              <a:solidFill>
                <a:srgbClr val="000000"/>
              </a:solidFill>
              <a:effectLst/>
              <a:uFillTx/>
              <a:latin typeface="Arial"/>
            </a:endParaRPr>
          </a:p>
        </p:txBody>
      </p:sp>
      <p:sp>
        <p:nvSpPr>
          <p:cNvPr id="1012" name=""/>
          <p:cNvSpPr/>
          <p:nvPr/>
        </p:nvSpPr>
        <p:spPr>
          <a:xfrm>
            <a:off x="2739960" y="6286680"/>
            <a:ext cx="57744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1990</a:t>
            </a:r>
            <a:endParaRPr b="0" lang="en-IN" sz="1400" strike="noStrike" u="none">
              <a:solidFill>
                <a:srgbClr val="000000"/>
              </a:solidFill>
              <a:effectLst/>
              <a:uFillTx/>
              <a:latin typeface="Arial"/>
            </a:endParaRPr>
          </a:p>
        </p:txBody>
      </p:sp>
      <p:sp>
        <p:nvSpPr>
          <p:cNvPr id="1013" name=""/>
          <p:cNvSpPr/>
          <p:nvPr/>
        </p:nvSpPr>
        <p:spPr>
          <a:xfrm>
            <a:off x="3232080" y="6286680"/>
            <a:ext cx="577440" cy="3074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000000"/>
                </a:solidFill>
                <a:effectLst/>
                <a:uFillTx/>
                <a:latin typeface="Arial"/>
              </a:rPr>
              <a:t>2003</a:t>
            </a:r>
            <a:endParaRPr b="0" lang="en-IN" sz="1400" strike="noStrike" u="none">
              <a:solidFill>
                <a:srgbClr val="000000"/>
              </a:solidFill>
              <a:effectLst/>
              <a:uFillTx/>
              <a:latin typeface="Arial"/>
            </a:endParaRPr>
          </a:p>
        </p:txBody>
      </p:sp>
      <p:sp>
        <p:nvSpPr>
          <p:cNvPr id="1014" name=""/>
          <p:cNvSpPr/>
          <p:nvPr/>
        </p:nvSpPr>
        <p:spPr>
          <a:xfrm>
            <a:off x="1683000" y="4559400"/>
            <a:ext cx="2934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9</a:t>
            </a:r>
            <a:endParaRPr b="0" lang="en-IN" sz="1600" strike="noStrike" u="none">
              <a:solidFill>
                <a:srgbClr val="000000"/>
              </a:solidFill>
              <a:effectLst/>
              <a:uFillTx/>
              <a:latin typeface="Arial"/>
            </a:endParaRPr>
          </a:p>
        </p:txBody>
      </p:sp>
      <p:sp>
        <p:nvSpPr>
          <p:cNvPr id="1015" name=""/>
          <p:cNvSpPr/>
          <p:nvPr/>
        </p:nvSpPr>
        <p:spPr>
          <a:xfrm>
            <a:off x="1683000" y="5078520"/>
            <a:ext cx="2934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6</a:t>
            </a:r>
            <a:endParaRPr b="0" lang="en-IN" sz="1600" strike="noStrike" u="none">
              <a:solidFill>
                <a:srgbClr val="000000"/>
              </a:solidFill>
              <a:effectLst/>
              <a:uFillTx/>
              <a:latin typeface="Arial"/>
            </a:endParaRPr>
          </a:p>
        </p:txBody>
      </p:sp>
      <p:sp>
        <p:nvSpPr>
          <p:cNvPr id="1016" name=""/>
          <p:cNvSpPr/>
          <p:nvPr/>
        </p:nvSpPr>
        <p:spPr>
          <a:xfrm>
            <a:off x="1683000" y="5597640"/>
            <a:ext cx="29340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Arial"/>
              </a:rPr>
              <a:t>3</a:t>
            </a:r>
            <a:endParaRPr b="0" lang="en-IN" sz="1600" strike="noStrike" u="none">
              <a:solidFill>
                <a:srgbClr val="000000"/>
              </a:solidFill>
              <a:effectLst/>
              <a:uFillTx/>
              <a:latin typeface="Arial"/>
            </a:endParaRPr>
          </a:p>
        </p:txBody>
      </p:sp>
      <p:sp>
        <p:nvSpPr>
          <p:cNvPr id="1017" name=""/>
          <p:cNvSpPr/>
          <p:nvPr/>
        </p:nvSpPr>
        <p:spPr>
          <a:xfrm>
            <a:off x="1681200" y="6118200"/>
            <a:ext cx="183960" cy="3366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18" name=""/>
          <p:cNvSpPr/>
          <p:nvPr/>
        </p:nvSpPr>
        <p:spPr>
          <a:xfrm>
            <a:off x="2470320" y="455760"/>
            <a:ext cx="4649760" cy="642600"/>
          </a:xfrm>
          <a:prstGeom prst="rect">
            <a:avLst/>
          </a:prstGeom>
          <a:noFill/>
          <a:ln w="0">
            <a:noFill/>
          </a:ln>
        </p:spPr>
        <p:style>
          <a:lnRef idx="0"/>
          <a:fillRef idx="0"/>
          <a:effectRef idx="0"/>
          <a:fontRef idx="minor"/>
        </p:style>
        <p:txBody>
          <a:bodyPr lIns="90000" rIns="90000" tIns="46800" bIns="46800" anchor="t">
            <a:spAutoFit/>
          </a:bodyPr>
          <a:p>
            <a:pPr algn="ctr">
              <a:spcBef>
                <a:spcPts val="22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Cancer</a:t>
            </a:r>
            <a:endParaRPr b="0" lang="en-IN" sz="3600" strike="noStrike" u="none">
              <a:solidFill>
                <a:srgbClr val="000000"/>
              </a:solidFill>
              <a:effectLst/>
              <a:uFillTx/>
              <a:latin typeface="Arial"/>
            </a:endParaRPr>
          </a:p>
        </p:txBody>
      </p:sp>
      <p:sp>
        <p:nvSpPr>
          <p:cNvPr id="1019" name=""/>
          <p:cNvSpPr/>
          <p:nvPr/>
        </p:nvSpPr>
        <p:spPr>
          <a:xfrm>
            <a:off x="4087800" y="1486080"/>
            <a:ext cx="4870440" cy="4906080"/>
          </a:xfrm>
          <a:prstGeom prst="rect">
            <a:avLst/>
          </a:prstGeom>
          <a:noFill/>
          <a:ln w="0">
            <a:noFill/>
          </a:ln>
        </p:spPr>
        <p:style>
          <a:lnRef idx="0"/>
          <a:fillRef idx="0"/>
          <a:effectRef idx="0"/>
          <a:fontRef idx="minor"/>
        </p:style>
        <p:txBody>
          <a:bodyPr lIns="90000" rIns="90000" tIns="46800" bIns="46800" anchor="t">
            <a:spAutoFit/>
          </a:bodyPr>
          <a:p>
            <a:pPr marL="174600" indent="-174600">
              <a:lnSpc>
                <a:spcPct val="95000"/>
              </a:lnSpc>
              <a:spcBef>
                <a:spcPts val="1950"/>
              </a:spcBef>
              <a:buClr>
                <a:srgbClr val="ffd5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rPr>
              <a:t>For the first time in recorded history, annual cancer deaths in the United States have fallen</a:t>
            </a:r>
            <a:endParaRPr b="0" lang="en-IN" sz="2400" strike="noStrike" u="none">
              <a:solidFill>
                <a:srgbClr val="000000"/>
              </a:solidFill>
              <a:effectLst/>
              <a:uFillTx/>
              <a:latin typeface="Arial"/>
            </a:endParaRPr>
          </a:p>
          <a:p>
            <a:pPr marL="174600" indent="-174600">
              <a:lnSpc>
                <a:spcPct val="95000"/>
              </a:lnSpc>
              <a:spcBef>
                <a:spcPts val="1950"/>
              </a:spcBef>
              <a:buClr>
                <a:srgbClr val="ffd5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ea typeface="ＭＳ Ｐゴシック"/>
              </a:rPr>
              <a:t>10 million survivors</a:t>
            </a:r>
            <a:endParaRPr b="0" lang="en-IN" sz="2400" strike="noStrike" u="none">
              <a:solidFill>
                <a:srgbClr val="000000"/>
              </a:solidFill>
              <a:effectLst/>
              <a:uFillTx/>
              <a:latin typeface="Arial"/>
            </a:endParaRPr>
          </a:p>
          <a:p>
            <a:pPr marL="174600" indent="-174600">
              <a:lnSpc>
                <a:spcPct val="95000"/>
              </a:lnSpc>
              <a:spcBef>
                <a:spcPts val="1950"/>
              </a:spcBef>
              <a:buClr>
                <a:srgbClr val="ffd5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rPr>
              <a:t>Improved effectiveness of early detection and screening</a:t>
            </a:r>
            <a:endParaRPr b="0" lang="en-IN" sz="2400" strike="noStrike" u="none">
              <a:solidFill>
                <a:srgbClr val="000000"/>
              </a:solidFill>
              <a:effectLst/>
              <a:uFillTx/>
              <a:latin typeface="Arial"/>
            </a:endParaRPr>
          </a:p>
          <a:p>
            <a:pPr marL="174600" indent="-174600">
              <a:lnSpc>
                <a:spcPct val="95000"/>
              </a:lnSpc>
              <a:spcBef>
                <a:spcPts val="1950"/>
              </a:spcBef>
              <a:buClr>
                <a:srgbClr val="ffd5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rPr>
              <a:t>Thanks to the doubling, new targeted, minimally invasive treatments for cancer multiplied</a:t>
            </a:r>
            <a:endParaRPr b="0" lang="en-IN" sz="2400" strike="noStrike" u="none">
              <a:solidFill>
                <a:srgbClr val="000000"/>
              </a:solidFill>
              <a:effectLst/>
              <a:uFillTx/>
              <a:latin typeface="Arial"/>
            </a:endParaRPr>
          </a:p>
          <a:p>
            <a:pPr marL="174600" indent="-174600">
              <a:lnSpc>
                <a:spcPct val="95000"/>
              </a:lnSpc>
              <a:spcBef>
                <a:spcPts val="1950"/>
              </a:spcBef>
              <a:buClr>
                <a:srgbClr val="ffd5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ffff"/>
                </a:solidFill>
                <a:effectLst/>
                <a:uFillTx/>
                <a:latin typeface="Arial"/>
              </a:rPr>
              <a:t>New drugs developed for cancer prevention</a:t>
            </a:r>
            <a:endParaRPr b="0" lang="en-IN" sz="2400" strike="noStrike" u="none">
              <a:solidFill>
                <a:srgbClr val="000000"/>
              </a:solidFill>
              <a:effectLst/>
              <a:uFillTx/>
              <a:latin typeface="Arial"/>
            </a:endParaRPr>
          </a:p>
        </p:txBody>
      </p:sp>
      <p:grpSp>
        <p:nvGrpSpPr>
          <p:cNvPr id="1020" name=""/>
          <p:cNvGrpSpPr/>
          <p:nvPr/>
        </p:nvGrpSpPr>
        <p:grpSpPr>
          <a:xfrm>
            <a:off x="3811680" y="3886200"/>
            <a:ext cx="2444760" cy="1523880"/>
            <a:chOff x="3811680" y="3886200"/>
            <a:chExt cx="2444760" cy="1523880"/>
          </a:xfrm>
        </p:grpSpPr>
        <p:sp>
          <p:nvSpPr>
            <p:cNvPr id="1021" name=""/>
            <p:cNvSpPr/>
            <p:nvPr/>
          </p:nvSpPr>
          <p:spPr>
            <a:xfrm>
              <a:off x="3811680" y="3886200"/>
              <a:ext cx="2444760" cy="1523880"/>
            </a:xfrm>
            <a:prstGeom prst="ellipse">
              <a:avLst/>
            </a:prstGeom>
            <a:solidFill>
              <a:srgbClr val="ffcc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22" name=""/>
            <p:cNvSpPr/>
            <p:nvPr/>
          </p:nvSpPr>
          <p:spPr>
            <a:xfrm>
              <a:off x="3834000" y="4103640"/>
              <a:ext cx="2381040" cy="1285200"/>
            </a:xfrm>
            <a:prstGeom prst="rect">
              <a:avLst/>
            </a:prstGeom>
            <a:noFill/>
            <a:ln w="0">
              <a:noFill/>
            </a:ln>
          </p:spPr>
          <p:style>
            <a:lnRef idx="0"/>
            <a:fillRef idx="0"/>
            <a:effectRef idx="0"/>
            <a:fontRef idx="minor"/>
          </p:style>
          <p:txBody>
            <a:bodyPr lIns="90000" rIns="90000" tIns="46800" bIns="46800" anchor="t">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333399"/>
                  </a:solidFill>
                  <a:effectLst/>
                  <a:uFillTx/>
                  <a:latin typeface="Arial"/>
                </a:rPr>
                <a:t>30-year investment</a:t>
              </a:r>
              <a:endParaRPr b="0" lang="en-IN" sz="16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333399"/>
                  </a:solidFill>
                  <a:effectLst/>
                  <a:uFillTx/>
                  <a:latin typeface="Arial"/>
                </a:rPr>
                <a:t>per American:</a:t>
              </a:r>
              <a:endParaRPr b="0" lang="en-IN" sz="16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~$260</a:t>
              </a:r>
              <a:endParaRPr b="0" lang="en-IN" sz="28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800" strike="noStrike" u="none">
                  <a:solidFill>
                    <a:srgbClr val="333399"/>
                  </a:solidFill>
                  <a:effectLst/>
                  <a:uFillTx/>
                  <a:latin typeface="Arial"/>
                </a:rPr>
                <a:t>Total</a:t>
              </a:r>
              <a:endParaRPr b="0" lang="en-IN" sz="1800" strike="noStrike" u="none">
                <a:solidFill>
                  <a:srgbClr val="000000"/>
                </a:solidFill>
                <a:effectLst/>
                <a:uFillTx/>
                <a:latin typeface="Arial"/>
              </a:endParaRPr>
            </a:p>
          </p:txBody>
        </p:sp>
      </p:grpSp>
      <p:grpSp>
        <p:nvGrpSpPr>
          <p:cNvPr id="1023" name=""/>
          <p:cNvGrpSpPr/>
          <p:nvPr/>
        </p:nvGrpSpPr>
        <p:grpSpPr>
          <a:xfrm>
            <a:off x="3811680" y="2057400"/>
            <a:ext cx="2444760" cy="1523880"/>
            <a:chOff x="3811680" y="2057400"/>
            <a:chExt cx="2444760" cy="1523880"/>
          </a:xfrm>
        </p:grpSpPr>
        <p:sp>
          <p:nvSpPr>
            <p:cNvPr id="1024" name=""/>
            <p:cNvSpPr/>
            <p:nvPr/>
          </p:nvSpPr>
          <p:spPr>
            <a:xfrm>
              <a:off x="3811680" y="2057400"/>
              <a:ext cx="2444760" cy="1523880"/>
            </a:xfrm>
            <a:prstGeom prst="ellipse">
              <a:avLst/>
            </a:prstGeom>
            <a:solidFill>
              <a:srgbClr val="ffcc00"/>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25" name=""/>
            <p:cNvSpPr/>
            <p:nvPr/>
          </p:nvSpPr>
          <p:spPr>
            <a:xfrm>
              <a:off x="4066200" y="2284560"/>
              <a:ext cx="1972080" cy="1163520"/>
            </a:xfrm>
            <a:prstGeom prst="rect">
              <a:avLst/>
            </a:prstGeom>
            <a:noFill/>
            <a:ln w="0">
              <a:noFill/>
            </a:ln>
          </p:spPr>
          <p:style>
            <a:lnRef idx="0"/>
            <a:fillRef idx="0"/>
            <a:effectRef idx="0"/>
            <a:fontRef idx="minor"/>
          </p:style>
          <p:txBody>
            <a:bodyPr wrap="none" lIns="90000" rIns="90000" tIns="46800" bIns="46800" anchor="t">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333399"/>
                  </a:solidFill>
                  <a:effectLst/>
                  <a:uFillTx/>
                  <a:latin typeface="Arial"/>
                </a:rPr>
                <a:t>Average investment</a:t>
              </a:r>
              <a:endParaRPr b="0" lang="en-IN" sz="16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333399"/>
                  </a:solidFill>
                  <a:effectLst/>
                  <a:uFillTx/>
                  <a:latin typeface="Arial"/>
                </a:rPr>
                <a:t>per American</a:t>
              </a:r>
              <a:endParaRPr b="0" lang="en-IN" sz="16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~$8.60</a:t>
              </a:r>
              <a:endParaRPr b="0" lang="en-IN" sz="2800" strike="noStrike" u="none">
                <a:solidFill>
                  <a:srgbClr val="000000"/>
                </a:solidFill>
                <a:effectLst/>
                <a:uFillTx/>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1800" strike="noStrike" u="none">
                  <a:solidFill>
                    <a:srgbClr val="333399"/>
                  </a:solidFill>
                  <a:effectLst/>
                  <a:uFillTx/>
                  <a:latin typeface="Arial"/>
                </a:rPr>
                <a:t>per year</a:t>
              </a:r>
              <a:endParaRPr b="0" lang="en-IN" sz="1800" strike="noStrike" u="none">
                <a:solidFill>
                  <a:srgbClr val="000000"/>
                </a:solidFill>
                <a:effectLst/>
                <a:uFillTx/>
                <a:latin typeface="Arial"/>
              </a:endParaRPr>
            </a:p>
          </p:txBody>
        </p:sp>
      </p:grpSp>
    </p:spTree>
  </p:cSld>
  <p:timing>
    <p:tnLst>
      <p:par>
        <p:cTn id="73" dur="indefinite" restart="never" nodeType="tmRoot">
          <p:childTnLst>
            <p:seq>
              <p:cTn id="74" dur="indefinite" nodeType="mainSeq">
                <p:childTnLst>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10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10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1026" name="PlaceHolder 1"/>
          <p:cNvSpPr>
            <a:spLocks noGrp="1"/>
          </p:cNvSpPr>
          <p:nvPr>
            <p:ph type="title"/>
          </p:nvPr>
        </p:nvSpPr>
        <p:spPr>
          <a:xfrm>
            <a:off x="1233000" y="306360"/>
            <a:ext cx="7550280" cy="65232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000" strike="noStrike" u="none">
                <a:solidFill>
                  <a:srgbClr val="ffffff"/>
                </a:solidFill>
                <a:effectLst/>
                <a:uFillTx/>
                <a:latin typeface="Arial"/>
              </a:rPr>
              <a:t>Balanced National Biomedical Research Portfolio</a:t>
            </a:r>
            <a:endParaRPr b="1" lang="en-IN" sz="3000" strike="noStrike" u="none">
              <a:solidFill>
                <a:srgbClr val="ffffff"/>
              </a:solidFill>
              <a:effectLst/>
              <a:uFillTx/>
              <a:latin typeface="Myriad Web"/>
            </a:endParaRPr>
          </a:p>
        </p:txBody>
      </p:sp>
      <p:sp>
        <p:nvSpPr>
          <p:cNvPr id="1027" name=""/>
          <p:cNvSpPr/>
          <p:nvPr/>
        </p:nvSpPr>
        <p:spPr>
          <a:xfrm>
            <a:off x="1165320" y="3456000"/>
            <a:ext cx="904680" cy="1353960"/>
          </a:xfrm>
          <a:custGeom>
            <a:avLst/>
            <a:gdLst/>
            <a:ahLst/>
            <a:rect l="l" t="t" r="r" b="b"/>
            <a:pathLst>
              <a:path w="854" h="1464">
                <a:moveTo>
                  <a:pt x="854" y="183"/>
                </a:moveTo>
                <a:lnTo>
                  <a:pt x="115" y="1464"/>
                </a:lnTo>
                <a:lnTo>
                  <a:pt x="0" y="888"/>
                </a:lnTo>
                <a:lnTo>
                  <a:pt x="677" y="0"/>
                </a:lnTo>
                <a:lnTo>
                  <a:pt x="854" y="183"/>
                </a:lnTo>
                <a:close/>
              </a:path>
            </a:pathLst>
          </a:custGeom>
          <a:solidFill>
            <a:srgbClr val="c0c0c0"/>
          </a:soli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28" name=""/>
          <p:cNvSpPr/>
          <p:nvPr/>
        </p:nvSpPr>
        <p:spPr>
          <a:xfrm>
            <a:off x="2654280" y="1839960"/>
            <a:ext cx="1317600" cy="968400"/>
          </a:xfrm>
          <a:prstGeom prst="triangle">
            <a:avLst>
              <a:gd name="adj" fmla="val 50000"/>
            </a:avLst>
          </a:prstGeom>
          <a:gradFill rotWithShape="0">
            <a:gsLst>
              <a:gs pos="0">
                <a:srgbClr val="ffcc00"/>
              </a:gs>
              <a:gs pos="100000">
                <a:srgbClr val="ff6600"/>
              </a:gs>
            </a:gsLst>
            <a:lin ang="5400000"/>
          </a:gradFill>
          <a:ln w="9360">
            <a:solidFill>
              <a:srgbClr val="ffffff"/>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29" name=""/>
          <p:cNvSpPr/>
          <p:nvPr/>
        </p:nvSpPr>
        <p:spPr>
          <a:xfrm>
            <a:off x="2092320" y="2824200"/>
            <a:ext cx="2427120" cy="795240"/>
          </a:xfrm>
          <a:custGeom>
            <a:avLst/>
            <a:gdLst/>
            <a:ahLst/>
            <a:rect l="l" t="t" r="r" b="b"/>
            <a:pathLst>
              <a:path w="2127" h="850">
                <a:moveTo>
                  <a:pt x="487" y="6"/>
                </a:moveTo>
                <a:lnTo>
                  <a:pt x="451" y="68"/>
                </a:lnTo>
                <a:lnTo>
                  <a:pt x="374" y="202"/>
                </a:lnTo>
                <a:lnTo>
                  <a:pt x="180" y="538"/>
                </a:lnTo>
                <a:lnTo>
                  <a:pt x="31" y="797"/>
                </a:lnTo>
                <a:lnTo>
                  <a:pt x="0" y="850"/>
                </a:lnTo>
                <a:lnTo>
                  <a:pt x="2127" y="850"/>
                </a:lnTo>
                <a:lnTo>
                  <a:pt x="2063" y="740"/>
                </a:lnTo>
                <a:lnTo>
                  <a:pt x="1995" y="622"/>
                </a:lnTo>
                <a:lnTo>
                  <a:pt x="1927" y="505"/>
                </a:lnTo>
                <a:lnTo>
                  <a:pt x="1833" y="342"/>
                </a:lnTo>
                <a:lnTo>
                  <a:pt x="1787" y="263"/>
                </a:lnTo>
                <a:lnTo>
                  <a:pt x="1691" y="97"/>
                </a:lnTo>
                <a:lnTo>
                  <a:pt x="1647" y="21"/>
                </a:lnTo>
                <a:lnTo>
                  <a:pt x="1635" y="0"/>
                </a:lnTo>
                <a:lnTo>
                  <a:pt x="487" y="6"/>
                </a:lnTo>
                <a:close/>
              </a:path>
            </a:pathLst>
          </a:custGeom>
          <a:gradFill rotWithShape="0">
            <a:gsLst>
              <a:gs pos="0">
                <a:srgbClr val="ffcc00"/>
              </a:gs>
              <a:gs pos="100000">
                <a:srgbClr val="ff6600"/>
              </a:gs>
            </a:gsLst>
            <a:lin ang="5400000"/>
          </a:gra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0" name=""/>
          <p:cNvSpPr/>
          <p:nvPr/>
        </p:nvSpPr>
        <p:spPr>
          <a:xfrm>
            <a:off x="1247760" y="3633840"/>
            <a:ext cx="4119480" cy="1212840"/>
          </a:xfrm>
          <a:custGeom>
            <a:avLst/>
            <a:gdLst/>
            <a:ahLst/>
            <a:rect l="l" t="t" r="r" b="b"/>
            <a:pathLst>
              <a:path w="3609" h="1297">
                <a:moveTo>
                  <a:pt x="739" y="0"/>
                </a:moveTo>
                <a:lnTo>
                  <a:pt x="1176" y="9"/>
                </a:lnTo>
                <a:lnTo>
                  <a:pt x="2044" y="9"/>
                </a:lnTo>
                <a:lnTo>
                  <a:pt x="2654" y="9"/>
                </a:lnTo>
                <a:lnTo>
                  <a:pt x="2865" y="9"/>
                </a:lnTo>
                <a:lnTo>
                  <a:pt x="3019" y="276"/>
                </a:lnTo>
                <a:lnTo>
                  <a:pt x="3316" y="790"/>
                </a:lnTo>
                <a:lnTo>
                  <a:pt x="3542" y="1181"/>
                </a:lnTo>
                <a:lnTo>
                  <a:pt x="3609" y="1297"/>
                </a:lnTo>
                <a:lnTo>
                  <a:pt x="2092" y="1297"/>
                </a:lnTo>
                <a:lnTo>
                  <a:pt x="0" y="1297"/>
                </a:lnTo>
                <a:lnTo>
                  <a:pt x="122" y="1085"/>
                </a:lnTo>
                <a:lnTo>
                  <a:pt x="321" y="741"/>
                </a:lnTo>
                <a:lnTo>
                  <a:pt x="465" y="492"/>
                </a:lnTo>
                <a:lnTo>
                  <a:pt x="638" y="193"/>
                </a:lnTo>
                <a:lnTo>
                  <a:pt x="710" y="68"/>
                </a:lnTo>
                <a:lnTo>
                  <a:pt x="746" y="5"/>
                </a:lnTo>
              </a:path>
            </a:pathLst>
          </a:custGeom>
          <a:gradFill rotWithShape="0">
            <a:gsLst>
              <a:gs pos="0">
                <a:srgbClr val="ffcc00"/>
              </a:gs>
              <a:gs pos="100000">
                <a:srgbClr val="ff6600"/>
              </a:gs>
            </a:gsLst>
            <a:lin ang="5400000"/>
          </a:gra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1" name=""/>
          <p:cNvSpPr/>
          <p:nvPr/>
        </p:nvSpPr>
        <p:spPr>
          <a:xfrm>
            <a:off x="2523960" y="1857240"/>
            <a:ext cx="773280" cy="943200"/>
          </a:xfrm>
          <a:custGeom>
            <a:avLst/>
            <a:gdLst/>
            <a:ahLst/>
            <a:rect l="l" t="t" r="r" b="b"/>
            <a:pathLst>
              <a:path w="678" h="1008">
                <a:moveTo>
                  <a:pt x="678" y="0"/>
                </a:moveTo>
                <a:lnTo>
                  <a:pt x="438" y="324"/>
                </a:lnTo>
                <a:lnTo>
                  <a:pt x="180" y="660"/>
                </a:lnTo>
                <a:lnTo>
                  <a:pt x="0" y="906"/>
                </a:lnTo>
                <a:lnTo>
                  <a:pt x="114" y="1008"/>
                </a:lnTo>
                <a:lnTo>
                  <a:pt x="258" y="744"/>
                </a:lnTo>
                <a:lnTo>
                  <a:pt x="444" y="420"/>
                </a:lnTo>
                <a:lnTo>
                  <a:pt x="594" y="150"/>
                </a:lnTo>
                <a:lnTo>
                  <a:pt x="678" y="0"/>
                </a:lnTo>
                <a:close/>
              </a:path>
            </a:pathLst>
          </a:custGeom>
          <a:solidFill>
            <a:srgbClr val="c0c0c0"/>
          </a:soli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2" name=""/>
          <p:cNvSpPr/>
          <p:nvPr/>
        </p:nvSpPr>
        <p:spPr>
          <a:xfrm>
            <a:off x="1884240" y="2730600"/>
            <a:ext cx="741600" cy="866520"/>
          </a:xfrm>
          <a:custGeom>
            <a:avLst/>
            <a:gdLst/>
            <a:ahLst/>
            <a:rect l="l" t="t" r="r" b="b"/>
            <a:pathLst>
              <a:path w="649" h="926">
                <a:moveTo>
                  <a:pt x="649" y="110"/>
                </a:moveTo>
                <a:lnTo>
                  <a:pt x="178" y="926"/>
                </a:lnTo>
                <a:lnTo>
                  <a:pt x="0" y="748"/>
                </a:lnTo>
                <a:lnTo>
                  <a:pt x="538" y="0"/>
                </a:lnTo>
                <a:lnTo>
                  <a:pt x="649" y="110"/>
                </a:lnTo>
                <a:close/>
              </a:path>
            </a:pathLst>
          </a:custGeom>
          <a:solidFill>
            <a:srgbClr val="c0c0c0"/>
          </a:soli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3" name=""/>
          <p:cNvSpPr/>
          <p:nvPr/>
        </p:nvSpPr>
        <p:spPr>
          <a:xfrm>
            <a:off x="1705680" y="3833640"/>
            <a:ext cx="3137400" cy="100872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Basic Research</a:t>
            </a: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and</a:t>
            </a: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Technology Development</a:t>
            </a:r>
            <a:endParaRPr b="0" lang="en-IN" sz="2000" strike="noStrike" u="none">
              <a:solidFill>
                <a:srgbClr val="000000"/>
              </a:solidFill>
              <a:effectLst/>
              <a:uFillTx/>
              <a:latin typeface="Arial"/>
            </a:endParaRPr>
          </a:p>
        </p:txBody>
      </p:sp>
      <p:sp>
        <p:nvSpPr>
          <p:cNvPr id="1034" name=""/>
          <p:cNvSpPr/>
          <p:nvPr/>
        </p:nvSpPr>
        <p:spPr>
          <a:xfrm>
            <a:off x="2493360" y="2892600"/>
            <a:ext cx="1637640" cy="70380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Translational</a:t>
            </a:r>
            <a:endParaRPr b="0" lang="en-IN" sz="20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 Research</a:t>
            </a:r>
            <a:endParaRPr b="0" lang="en-IN" sz="2000" strike="noStrike" u="none">
              <a:solidFill>
                <a:srgbClr val="000000"/>
              </a:solidFill>
              <a:effectLst/>
              <a:uFillTx/>
              <a:latin typeface="Arial"/>
            </a:endParaRPr>
          </a:p>
        </p:txBody>
      </p:sp>
      <p:sp>
        <p:nvSpPr>
          <p:cNvPr id="1035" name=""/>
          <p:cNvSpPr/>
          <p:nvPr/>
        </p:nvSpPr>
        <p:spPr>
          <a:xfrm>
            <a:off x="2761560" y="2290680"/>
            <a:ext cx="1095120" cy="45972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Clinical </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Applications</a:t>
            </a:r>
            <a:endParaRPr b="0" lang="en-IN" sz="1200" strike="noStrike" u="none">
              <a:solidFill>
                <a:srgbClr val="000000"/>
              </a:solidFill>
              <a:effectLst/>
              <a:uFillTx/>
              <a:latin typeface="Arial"/>
            </a:endParaRPr>
          </a:p>
        </p:txBody>
      </p:sp>
      <p:sp>
        <p:nvSpPr>
          <p:cNvPr id="1036" name=""/>
          <p:cNvSpPr/>
          <p:nvPr/>
        </p:nvSpPr>
        <p:spPr>
          <a:xfrm rot="10800000">
            <a:off x="7940520" y="2144880"/>
            <a:ext cx="827280" cy="1280880"/>
          </a:xfrm>
          <a:custGeom>
            <a:avLst/>
            <a:gdLst/>
            <a:ahLst/>
            <a:rect l="l" t="t" r="r" b="b"/>
            <a:pathLst>
              <a:path w="854" h="1464">
                <a:moveTo>
                  <a:pt x="854" y="183"/>
                </a:moveTo>
                <a:lnTo>
                  <a:pt x="115" y="1464"/>
                </a:lnTo>
                <a:lnTo>
                  <a:pt x="0" y="888"/>
                </a:lnTo>
                <a:lnTo>
                  <a:pt x="677" y="0"/>
                </a:lnTo>
                <a:lnTo>
                  <a:pt x="854" y="183"/>
                </a:lnTo>
                <a:close/>
              </a:path>
            </a:pathLst>
          </a:custGeom>
          <a:solidFill>
            <a:srgbClr val="c0c0c0"/>
          </a:soli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7" name=""/>
          <p:cNvSpPr/>
          <p:nvPr/>
        </p:nvSpPr>
        <p:spPr>
          <a:xfrm rot="10800000">
            <a:off x="6202080" y="4037040"/>
            <a:ext cx="1204920" cy="915840"/>
          </a:xfrm>
          <a:prstGeom prst="triangle">
            <a:avLst>
              <a:gd name="adj" fmla="val 50000"/>
            </a:avLst>
          </a:prstGeom>
          <a:gradFill rotWithShape="0">
            <a:gsLst>
              <a:gs pos="0">
                <a:srgbClr val="009900"/>
              </a:gs>
              <a:gs pos="100000">
                <a:srgbClr val="ccff99"/>
              </a:gs>
            </a:gsLst>
            <a:lin ang="16200000"/>
          </a:gradFill>
          <a:ln w="9360">
            <a:solidFill>
              <a:srgbClr val="ffffff"/>
            </a:solidFill>
            <a:miter/>
          </a:ln>
        </p:spPr>
        <p:style>
          <a:lnRef idx="0"/>
          <a:fillRef idx="0"/>
          <a:effectRef idx="0"/>
          <a:fontRef idx="minor"/>
        </p:style>
        <p:txBody>
          <a:bodyPr wrap="none" lIns="90000" rIns="90000" tIns="46800" bIns="46800" anchor="ctr" rot="10800000">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38" name=""/>
          <p:cNvSpPr/>
          <p:nvPr/>
        </p:nvSpPr>
        <p:spPr>
          <a:xfrm rot="10800000">
            <a:off x="5702040" y="3271680"/>
            <a:ext cx="2219400" cy="750960"/>
          </a:xfrm>
          <a:custGeom>
            <a:avLst/>
            <a:gdLst/>
            <a:ahLst/>
            <a:rect l="l" t="t" r="r" b="b"/>
            <a:pathLst>
              <a:path w="2127" h="850">
                <a:moveTo>
                  <a:pt x="487" y="6"/>
                </a:moveTo>
                <a:lnTo>
                  <a:pt x="451" y="68"/>
                </a:lnTo>
                <a:lnTo>
                  <a:pt x="374" y="202"/>
                </a:lnTo>
                <a:lnTo>
                  <a:pt x="180" y="538"/>
                </a:lnTo>
                <a:lnTo>
                  <a:pt x="31" y="797"/>
                </a:lnTo>
                <a:lnTo>
                  <a:pt x="0" y="850"/>
                </a:lnTo>
                <a:lnTo>
                  <a:pt x="2127" y="850"/>
                </a:lnTo>
                <a:lnTo>
                  <a:pt x="2063" y="740"/>
                </a:lnTo>
                <a:lnTo>
                  <a:pt x="1995" y="622"/>
                </a:lnTo>
                <a:lnTo>
                  <a:pt x="1927" y="505"/>
                </a:lnTo>
                <a:lnTo>
                  <a:pt x="1833" y="342"/>
                </a:lnTo>
                <a:lnTo>
                  <a:pt x="1787" y="263"/>
                </a:lnTo>
                <a:lnTo>
                  <a:pt x="1691" y="97"/>
                </a:lnTo>
                <a:lnTo>
                  <a:pt x="1647" y="21"/>
                </a:lnTo>
                <a:lnTo>
                  <a:pt x="1635" y="0"/>
                </a:lnTo>
                <a:lnTo>
                  <a:pt x="487" y="6"/>
                </a:lnTo>
                <a:close/>
              </a:path>
            </a:pathLst>
          </a:custGeom>
          <a:gradFill rotWithShape="0">
            <a:gsLst>
              <a:gs pos="0">
                <a:srgbClr val="009900"/>
              </a:gs>
              <a:gs pos="100000">
                <a:srgbClr val="ccff99"/>
              </a:gs>
            </a:gsLst>
            <a:lin ang="16200000"/>
          </a:gra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39" name=""/>
          <p:cNvSpPr/>
          <p:nvPr/>
        </p:nvSpPr>
        <p:spPr>
          <a:xfrm rot="10800000">
            <a:off x="4927320" y="2112840"/>
            <a:ext cx="3763800" cy="1146240"/>
          </a:xfrm>
          <a:custGeom>
            <a:avLst/>
            <a:gdLst/>
            <a:ahLst/>
            <a:rect l="l" t="t" r="r" b="b"/>
            <a:pathLst>
              <a:path w="3609" h="1297">
                <a:moveTo>
                  <a:pt x="739" y="0"/>
                </a:moveTo>
                <a:lnTo>
                  <a:pt x="1176" y="9"/>
                </a:lnTo>
                <a:lnTo>
                  <a:pt x="2044" y="9"/>
                </a:lnTo>
                <a:lnTo>
                  <a:pt x="2654" y="9"/>
                </a:lnTo>
                <a:lnTo>
                  <a:pt x="2865" y="9"/>
                </a:lnTo>
                <a:lnTo>
                  <a:pt x="3019" y="276"/>
                </a:lnTo>
                <a:lnTo>
                  <a:pt x="3316" y="790"/>
                </a:lnTo>
                <a:lnTo>
                  <a:pt x="3542" y="1181"/>
                </a:lnTo>
                <a:lnTo>
                  <a:pt x="3609" y="1297"/>
                </a:lnTo>
                <a:lnTo>
                  <a:pt x="2092" y="1297"/>
                </a:lnTo>
                <a:lnTo>
                  <a:pt x="0" y="1297"/>
                </a:lnTo>
                <a:lnTo>
                  <a:pt x="122" y="1085"/>
                </a:lnTo>
                <a:lnTo>
                  <a:pt x="321" y="741"/>
                </a:lnTo>
                <a:lnTo>
                  <a:pt x="465" y="492"/>
                </a:lnTo>
                <a:lnTo>
                  <a:pt x="638" y="193"/>
                </a:lnTo>
                <a:lnTo>
                  <a:pt x="710" y="68"/>
                </a:lnTo>
                <a:lnTo>
                  <a:pt x="746" y="5"/>
                </a:lnTo>
              </a:path>
            </a:pathLst>
          </a:custGeom>
          <a:gradFill rotWithShape="0">
            <a:gsLst>
              <a:gs pos="0">
                <a:srgbClr val="009900"/>
              </a:gs>
              <a:gs pos="100000">
                <a:srgbClr val="ccff99"/>
              </a:gs>
            </a:gsLst>
            <a:lin ang="16200000"/>
          </a:gra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40" name=""/>
          <p:cNvSpPr/>
          <p:nvPr/>
        </p:nvSpPr>
        <p:spPr>
          <a:xfrm rot="10800000">
            <a:off x="6819480" y="4046400"/>
            <a:ext cx="708120" cy="890640"/>
          </a:xfrm>
          <a:custGeom>
            <a:avLst/>
            <a:gdLst/>
            <a:ahLst/>
            <a:rect l="l" t="t" r="r" b="b"/>
            <a:pathLst>
              <a:path w="678" h="1008">
                <a:moveTo>
                  <a:pt x="678" y="0"/>
                </a:moveTo>
                <a:lnTo>
                  <a:pt x="438" y="324"/>
                </a:lnTo>
                <a:lnTo>
                  <a:pt x="180" y="660"/>
                </a:lnTo>
                <a:lnTo>
                  <a:pt x="0" y="906"/>
                </a:lnTo>
                <a:lnTo>
                  <a:pt x="114" y="1008"/>
                </a:lnTo>
                <a:lnTo>
                  <a:pt x="258" y="744"/>
                </a:lnTo>
                <a:lnTo>
                  <a:pt x="444" y="420"/>
                </a:lnTo>
                <a:lnTo>
                  <a:pt x="594" y="150"/>
                </a:lnTo>
                <a:lnTo>
                  <a:pt x="678" y="0"/>
                </a:lnTo>
                <a:close/>
              </a:path>
            </a:pathLst>
          </a:custGeom>
          <a:solidFill>
            <a:srgbClr val="c0c0c0"/>
          </a:soli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41" name=""/>
          <p:cNvSpPr/>
          <p:nvPr/>
        </p:nvSpPr>
        <p:spPr>
          <a:xfrm rot="10800000">
            <a:off x="7434360" y="3294000"/>
            <a:ext cx="676080" cy="819360"/>
          </a:xfrm>
          <a:custGeom>
            <a:avLst/>
            <a:gdLst/>
            <a:ahLst/>
            <a:rect l="l" t="t" r="r" b="b"/>
            <a:pathLst>
              <a:path w="649" h="926">
                <a:moveTo>
                  <a:pt x="649" y="110"/>
                </a:moveTo>
                <a:lnTo>
                  <a:pt x="178" y="926"/>
                </a:lnTo>
                <a:lnTo>
                  <a:pt x="0" y="748"/>
                </a:lnTo>
                <a:lnTo>
                  <a:pt x="538" y="0"/>
                </a:lnTo>
                <a:lnTo>
                  <a:pt x="649" y="110"/>
                </a:lnTo>
                <a:close/>
              </a:path>
            </a:pathLst>
          </a:custGeom>
          <a:solidFill>
            <a:srgbClr val="c0c0c0"/>
          </a:solidFill>
          <a:ln w="9360">
            <a:solidFill>
              <a:srgbClr val="ffffff"/>
            </a:solidFill>
            <a:roun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042" name=""/>
          <p:cNvSpPr/>
          <p:nvPr/>
        </p:nvSpPr>
        <p:spPr>
          <a:xfrm rot="10800000">
            <a:off x="6752880" y="2536560"/>
            <a:ext cx="183960" cy="336600"/>
          </a:xfrm>
          <a:prstGeom prst="rect">
            <a:avLst/>
          </a:prstGeom>
          <a:noFill/>
          <a:ln w="0">
            <a:noFill/>
          </a:ln>
        </p:spPr>
        <p:style>
          <a:lnRef idx="0"/>
          <a:fillRef idx="0"/>
          <a:effectRef idx="0"/>
          <a:fontRef idx="minor"/>
        </p:style>
        <p:txBody>
          <a:bodyPr wrap="none" lIns="90000" rIns="90000" tIns="46800" bIns="46800" anchor="t" rot="10800000">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43" name=""/>
          <p:cNvSpPr/>
          <p:nvPr/>
        </p:nvSpPr>
        <p:spPr>
          <a:xfrm rot="10800000">
            <a:off x="6717960" y="3428640"/>
            <a:ext cx="183960" cy="336600"/>
          </a:xfrm>
          <a:prstGeom prst="rect">
            <a:avLst/>
          </a:prstGeom>
          <a:noFill/>
          <a:ln w="0">
            <a:noFill/>
          </a:ln>
        </p:spPr>
        <p:style>
          <a:lnRef idx="0"/>
          <a:fillRef idx="0"/>
          <a:effectRef idx="0"/>
          <a:fontRef idx="minor"/>
        </p:style>
        <p:txBody>
          <a:bodyPr wrap="none" lIns="90000" rIns="90000" tIns="46800" bIns="46800" anchor="t" rot="10800000">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44" name=""/>
          <p:cNvSpPr/>
          <p:nvPr/>
        </p:nvSpPr>
        <p:spPr>
          <a:xfrm rot="10800000">
            <a:off x="6716520" y="4080960"/>
            <a:ext cx="183960" cy="304920"/>
          </a:xfrm>
          <a:prstGeom prst="rect">
            <a:avLst/>
          </a:prstGeom>
          <a:noFill/>
          <a:ln w="0">
            <a:noFill/>
          </a:ln>
        </p:spPr>
        <p:style>
          <a:lnRef idx="0"/>
          <a:fillRef idx="0"/>
          <a:effectRef idx="0"/>
          <a:fontRef idx="minor"/>
        </p:style>
        <p:txBody>
          <a:bodyPr wrap="none" lIns="90000" rIns="90000" tIns="46800" bIns="46800" anchor="t" rot="10800000">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45" name=""/>
          <p:cNvSpPr/>
          <p:nvPr/>
        </p:nvSpPr>
        <p:spPr>
          <a:xfrm>
            <a:off x="5466960" y="2365200"/>
            <a:ext cx="268380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Clinical Applications</a:t>
            </a:r>
            <a:endParaRPr b="0" lang="en-IN" sz="2000" strike="noStrike" u="none">
              <a:solidFill>
                <a:srgbClr val="000000"/>
              </a:solidFill>
              <a:effectLst/>
              <a:uFillTx/>
              <a:latin typeface="Arial"/>
            </a:endParaRPr>
          </a:p>
        </p:txBody>
      </p:sp>
      <p:sp>
        <p:nvSpPr>
          <p:cNvPr id="1046" name=""/>
          <p:cNvSpPr/>
          <p:nvPr/>
        </p:nvSpPr>
        <p:spPr>
          <a:xfrm>
            <a:off x="5916600" y="3360600"/>
            <a:ext cx="1677960" cy="58140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600" strike="noStrike" u="none">
                <a:solidFill>
                  <a:srgbClr val="000000"/>
                </a:solidFill>
                <a:effectLst/>
                <a:uFillTx/>
                <a:latin typeface="Arial"/>
              </a:rPr>
              <a:t>Translational Research</a:t>
            </a:r>
            <a:endParaRPr b="0" lang="en-IN" sz="1600" strike="noStrike" u="none">
              <a:solidFill>
                <a:srgbClr val="000000"/>
              </a:solidFill>
              <a:effectLst/>
              <a:uFillTx/>
              <a:latin typeface="Arial"/>
            </a:endParaRPr>
          </a:p>
        </p:txBody>
      </p:sp>
      <p:sp>
        <p:nvSpPr>
          <p:cNvPr id="1047" name=""/>
          <p:cNvSpPr/>
          <p:nvPr/>
        </p:nvSpPr>
        <p:spPr>
          <a:xfrm>
            <a:off x="6180120" y="4027320"/>
            <a:ext cx="1247760" cy="4597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Basic </a:t>
            </a:r>
            <a:endParaRPr b="0" lang="en-IN" sz="1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Research</a:t>
            </a:r>
            <a:endParaRPr b="0" lang="en-IN" sz="1200" strike="noStrike" u="none">
              <a:solidFill>
                <a:srgbClr val="000000"/>
              </a:solidFill>
              <a:effectLst/>
              <a:uFillTx/>
              <a:latin typeface="Arial"/>
            </a:endParaRPr>
          </a:p>
        </p:txBody>
      </p:sp>
      <p:sp>
        <p:nvSpPr>
          <p:cNvPr id="1048" name=""/>
          <p:cNvSpPr/>
          <p:nvPr/>
        </p:nvSpPr>
        <p:spPr>
          <a:xfrm>
            <a:off x="1649520" y="5100480"/>
            <a:ext cx="183960" cy="3668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49" name=""/>
          <p:cNvSpPr/>
          <p:nvPr/>
        </p:nvSpPr>
        <p:spPr>
          <a:xfrm>
            <a:off x="3029040" y="5000760"/>
            <a:ext cx="70560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NIH</a:t>
            </a:r>
            <a:endParaRPr b="0" lang="en-IN" sz="2400" strike="noStrike" u="none">
              <a:solidFill>
                <a:srgbClr val="000000"/>
              </a:solidFill>
              <a:effectLst/>
              <a:uFillTx/>
              <a:latin typeface="Arial"/>
            </a:endParaRPr>
          </a:p>
        </p:txBody>
      </p:sp>
      <p:sp>
        <p:nvSpPr>
          <p:cNvPr id="1050" name=""/>
          <p:cNvSpPr/>
          <p:nvPr/>
        </p:nvSpPr>
        <p:spPr>
          <a:xfrm>
            <a:off x="6424560" y="4941720"/>
            <a:ext cx="184320" cy="36684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51" name=""/>
          <p:cNvSpPr/>
          <p:nvPr/>
        </p:nvSpPr>
        <p:spPr>
          <a:xfrm>
            <a:off x="5766120" y="4967280"/>
            <a:ext cx="2094840" cy="459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Arial"/>
              </a:rPr>
              <a:t>Private Sector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1052" name="PlaceHolder 1"/>
          <p:cNvSpPr>
            <a:spLocks noGrp="1"/>
          </p:cNvSpPr>
          <p:nvPr>
            <p:ph type="title"/>
          </p:nvPr>
        </p:nvSpPr>
        <p:spPr>
          <a:xfrm>
            <a:off x="1136520" y="355320"/>
            <a:ext cx="7290000" cy="25380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Protecting the Future:</a:t>
            </a:r>
            <a:br>
              <a:rPr sz="3200"/>
            </a:br>
            <a:r>
              <a:rPr b="1" lang="en-IN" sz="3200" strike="noStrike" u="none">
                <a:solidFill>
                  <a:srgbClr val="ffffff"/>
                </a:solidFill>
                <a:effectLst/>
                <a:uFillTx/>
                <a:latin typeface="Arial"/>
              </a:rPr>
              <a:t>Pathway to Independence Award</a:t>
            </a:r>
            <a:endParaRPr b="1" lang="en-IN" sz="3200" strike="noStrike" u="none">
              <a:solidFill>
                <a:srgbClr val="ffffff"/>
              </a:solidFill>
              <a:effectLst/>
              <a:uFillTx/>
              <a:latin typeface="Myriad Web"/>
            </a:endParaRPr>
          </a:p>
        </p:txBody>
      </p:sp>
      <p:sp>
        <p:nvSpPr>
          <p:cNvPr id="1053" name=""/>
          <p:cNvSpPr/>
          <p:nvPr/>
        </p:nvSpPr>
        <p:spPr>
          <a:xfrm>
            <a:off x="1523880" y="1828800"/>
            <a:ext cx="6477120" cy="36684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054" name=""/>
          <p:cNvSpPr/>
          <p:nvPr/>
        </p:nvSpPr>
        <p:spPr>
          <a:xfrm>
            <a:off x="1139760" y="2703600"/>
            <a:ext cx="548640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cc00"/>
                </a:solidFill>
                <a:effectLst/>
                <a:uFillTx/>
                <a:latin typeface="Arial"/>
              </a:rPr>
              <a:t>Enhanced Support for New Investigators- PATHWAY TO INDEPENDENCE AWARD</a:t>
            </a:r>
            <a:endParaRPr b="0" lang="en-IN" sz="1800" strike="noStrike" u="none">
              <a:solidFill>
                <a:srgbClr val="000000"/>
              </a:solidFill>
              <a:effectLst/>
              <a:uFillTx/>
              <a:latin typeface="Arial"/>
            </a:endParaRPr>
          </a:p>
        </p:txBody>
      </p:sp>
      <p:pic>
        <p:nvPicPr>
          <p:cNvPr id="1055" name="" descr=""/>
          <p:cNvPicPr/>
          <p:nvPr/>
        </p:nvPicPr>
        <p:blipFill>
          <a:blip r:embed="rId1"/>
          <a:srcRect l="0" t="0" r="15022" b="0"/>
          <a:stretch/>
        </p:blipFill>
        <p:spPr>
          <a:xfrm>
            <a:off x="1006560" y="1104840"/>
            <a:ext cx="7553160" cy="1371600"/>
          </a:xfrm>
          <a:prstGeom prst="rect">
            <a:avLst/>
          </a:prstGeom>
          <a:noFill/>
          <a:ln w="0">
            <a:noFill/>
          </a:ln>
        </p:spPr>
      </p:pic>
      <p:sp>
        <p:nvSpPr>
          <p:cNvPr id="1056" name=""/>
          <p:cNvSpPr/>
          <p:nvPr/>
        </p:nvSpPr>
        <p:spPr>
          <a:xfrm>
            <a:off x="819000" y="3505320"/>
            <a:ext cx="8321760" cy="1860480"/>
          </a:xfrm>
          <a:prstGeom prst="rect">
            <a:avLst/>
          </a:prstGeom>
          <a:noFill/>
          <a:ln w="0">
            <a:noFill/>
          </a:ln>
        </p:spPr>
        <p:style>
          <a:lnRef idx="0"/>
          <a:fillRef idx="0"/>
          <a:effectRef idx="0"/>
          <a:fontRef idx="minor"/>
        </p:style>
        <p:txBody>
          <a:bodyPr lIns="45720" rIns="45720" tIns="46800" bIns="46800" anchor="t">
            <a:spAutoFit/>
          </a:bodyPr>
          <a:p>
            <a:pPr lvl="1" marL="798480" indent="-226800">
              <a:lnSpc>
                <a:spcPct val="95000"/>
              </a:lnSpc>
              <a:spcBef>
                <a:spcPts val="1250"/>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Five years of support consisting of two phases</a:t>
            </a:r>
            <a:endParaRPr b="0" lang="en-IN" sz="2000" strike="noStrike" u="none">
              <a:solidFill>
                <a:srgbClr val="000000"/>
              </a:solidFill>
              <a:effectLst/>
              <a:uFillTx/>
              <a:latin typeface="Arial"/>
            </a:endParaRPr>
          </a:p>
          <a:p>
            <a:pPr lvl="1" marL="798480" indent="-226800">
              <a:lnSpc>
                <a:spcPct val="95000"/>
              </a:lnSpc>
              <a:spcBef>
                <a:spcPts val="1250"/>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Phase I provides 1-2 years of mentored support for advanced post doctoral fellows- 90k per year</a:t>
            </a:r>
            <a:endParaRPr b="0" lang="en-IN" sz="2000" strike="noStrike" u="none">
              <a:solidFill>
                <a:srgbClr val="000000"/>
              </a:solidFill>
              <a:effectLst/>
              <a:uFillTx/>
              <a:latin typeface="Arial"/>
            </a:endParaRPr>
          </a:p>
          <a:p>
            <a:pPr lvl="1" marL="798480" indent="-226800">
              <a:lnSpc>
                <a:spcPct val="95000"/>
              </a:lnSpc>
              <a:spcBef>
                <a:spcPts val="1250"/>
              </a:spcBef>
              <a:buClr>
                <a:srgbClr val="ffcc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Arial"/>
              </a:rPr>
              <a:t>Phase II provides up to 3 years of independent RO1 equivalent research support- 250k per year</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sp>
        <p:nvSpPr>
          <p:cNvPr id="105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600" strike="noStrike" u="none">
                <a:solidFill>
                  <a:srgbClr val="ffffff"/>
                </a:solidFill>
                <a:effectLst/>
                <a:uFillTx/>
                <a:latin typeface="Arial"/>
              </a:rPr>
              <a:t>Central Themes in NIH Communications:</a:t>
            </a:r>
            <a:br>
              <a:rPr sz="3600"/>
            </a:br>
            <a:r>
              <a:rPr b="0" i="1" lang="en-IN" sz="3600" strike="noStrike" u="none">
                <a:solidFill>
                  <a:srgbClr val="ffcc00"/>
                </a:solidFill>
                <a:effectLst/>
                <a:uFillTx/>
                <a:latin typeface="Arial"/>
              </a:rPr>
              <a:t>A Vision for the Future</a:t>
            </a:r>
            <a:br>
              <a:rPr sz="2800"/>
            </a:br>
            <a:endParaRPr b="1" lang="en-IN" sz="3600" strike="noStrike" u="none">
              <a:solidFill>
                <a:srgbClr val="ffffff"/>
              </a:solidFill>
              <a:effectLst/>
              <a:uFillTx/>
              <a:latin typeface="Myriad Web"/>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pic>
        <p:nvPicPr>
          <p:cNvPr id="1058" name="" descr=""/>
          <p:cNvPicPr/>
          <p:nvPr/>
        </p:nvPicPr>
        <p:blipFill>
          <a:blip r:embed="rId1"/>
          <a:srcRect l="0" t="629" r="1318" b="0"/>
          <a:stretch/>
        </p:blipFill>
        <p:spPr>
          <a:xfrm>
            <a:off x="939960" y="1336680"/>
            <a:ext cx="8204040" cy="5521320"/>
          </a:xfrm>
          <a:prstGeom prst="rect">
            <a:avLst/>
          </a:prstGeom>
          <a:noFill/>
          <a:ln w="0">
            <a:noFill/>
          </a:ln>
        </p:spPr>
      </p:pic>
      <p:sp>
        <p:nvSpPr>
          <p:cNvPr id="1059" name=""/>
          <p:cNvSpPr/>
          <p:nvPr/>
        </p:nvSpPr>
        <p:spPr>
          <a:xfrm>
            <a:off x="542880" y="141120"/>
            <a:ext cx="8709120" cy="1175040"/>
          </a:xfrm>
          <a:prstGeom prst="rect">
            <a:avLst/>
          </a:prstGeom>
          <a:noFill/>
          <a:ln w="0">
            <a:noFill/>
          </a:ln>
        </p:spPr>
        <p:style>
          <a:lnRef idx="0"/>
          <a:fillRef idx="0"/>
          <a:effectRef idx="0"/>
          <a:fontRef idx="minor"/>
        </p:style>
        <p:txBody>
          <a:bodyPr lIns="90000" rIns="90000" tIns="46800" bIns="46800" anchor="t">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ffff"/>
                </a:solidFill>
                <a:effectLst/>
                <a:uFillTx/>
                <a:latin typeface="Arial"/>
              </a:rPr>
              <a:t>The Future Paradigm: </a:t>
            </a:r>
            <a:endParaRPr b="0" lang="en-IN" sz="32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600" strike="noStrike" u="none">
                <a:solidFill>
                  <a:srgbClr val="ffffff"/>
                </a:solidFill>
                <a:effectLst/>
                <a:uFillTx/>
                <a:latin typeface="Arial"/>
              </a:rPr>
              <a:t>Transform Medicine from Curative to Preemptive</a:t>
            </a:r>
            <a:endParaRPr b="0" lang="en-IN" sz="2600" strike="noStrike" u="none">
              <a:solidFill>
                <a:srgbClr val="000000"/>
              </a:solidFill>
              <a:effectLst/>
              <a:uFillTx/>
              <a:latin typeface="Arial"/>
            </a:endParaRPr>
          </a:p>
        </p:txBody>
      </p:sp>
      <p:sp>
        <p:nvSpPr>
          <p:cNvPr id="1060" name=""/>
          <p:cNvSpPr/>
          <p:nvPr/>
        </p:nvSpPr>
        <p:spPr>
          <a:xfrm>
            <a:off x="6810480" y="3970440"/>
            <a:ext cx="2314440" cy="520920"/>
          </a:xfrm>
          <a:prstGeom prst="rect">
            <a:avLst/>
          </a:prstGeom>
          <a:noFill/>
          <a:ln w="0">
            <a:noFill/>
          </a:ln>
        </p:spPr>
        <p:style>
          <a:lnRef idx="0"/>
          <a:fillRef idx="0"/>
          <a:effectRef idx="0"/>
          <a:fontRef idx="minor"/>
        </p:style>
        <p:txBody>
          <a:bodyPr lIns="90000" rIns="90000" tIns="46800" bIns="4680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00"/>
                </a:solidFill>
                <a:effectLst/>
                <a:uFillTx/>
                <a:latin typeface="Arial"/>
              </a:rPr>
              <a:t>Preemptive</a:t>
            </a:r>
            <a:endParaRPr b="0" lang="en-IN" sz="2800" strike="noStrike" u="none">
              <a:solidFill>
                <a:srgbClr val="000000"/>
              </a:solidFill>
              <a:effectLst/>
              <a:uFillTx/>
              <a:latin typeface="Arial"/>
            </a:endParaRPr>
          </a:p>
        </p:txBody>
      </p:sp>
      <p:sp>
        <p:nvSpPr>
          <p:cNvPr id="1061" name=""/>
          <p:cNvSpPr/>
          <p:nvPr/>
        </p:nvSpPr>
        <p:spPr>
          <a:xfrm>
            <a:off x="3763800" y="3963960"/>
            <a:ext cx="2602080" cy="5209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00"/>
                </a:solidFill>
                <a:effectLst/>
                <a:uFillTx/>
                <a:latin typeface="Arial"/>
              </a:rPr>
              <a:t>Personalized</a:t>
            </a:r>
            <a:endParaRPr b="0" lang="en-IN" sz="2800" strike="noStrike" u="none">
              <a:solidFill>
                <a:srgbClr val="000000"/>
              </a:solidFill>
              <a:effectLst/>
              <a:uFillTx/>
              <a:latin typeface="Arial"/>
            </a:endParaRPr>
          </a:p>
        </p:txBody>
      </p:sp>
      <p:pic>
        <p:nvPicPr>
          <p:cNvPr id="1062" name="" descr=""/>
          <p:cNvPicPr/>
          <p:nvPr/>
        </p:nvPicPr>
        <p:blipFill>
          <a:blip r:embed="rId2"/>
          <a:stretch/>
        </p:blipFill>
        <p:spPr>
          <a:xfrm>
            <a:off x="3933720" y="1589040"/>
            <a:ext cx="2340000" cy="2340000"/>
          </a:xfrm>
          <a:prstGeom prst="rect">
            <a:avLst/>
          </a:prstGeom>
          <a:noFill/>
          <a:ln w="0">
            <a:noFill/>
          </a:ln>
        </p:spPr>
      </p:pic>
      <p:sp>
        <p:nvSpPr>
          <p:cNvPr id="1063" name=""/>
          <p:cNvSpPr/>
          <p:nvPr/>
        </p:nvSpPr>
        <p:spPr>
          <a:xfrm>
            <a:off x="1063800" y="3906720"/>
            <a:ext cx="2331720" cy="520920"/>
          </a:xfrm>
          <a:prstGeom prst="rect">
            <a:avLst/>
          </a:prstGeom>
          <a:noFill/>
          <a:ln w="0">
            <a:noFill/>
          </a:ln>
        </p:spPr>
        <p:style>
          <a:lnRef idx="0"/>
          <a:fillRef idx="0"/>
          <a:effectRef idx="0"/>
          <a:fontRef idx="minor"/>
        </p:style>
        <p:txBody>
          <a:bodyPr lIns="90000" rIns="90000" tIns="46800" bIns="46800" anchor="t">
            <a:spAutoFit/>
          </a:bodyPr>
          <a:p>
            <a:pPr algn="ctr">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cc00"/>
                </a:solidFill>
                <a:effectLst/>
                <a:uFillTx/>
                <a:latin typeface="Arial"/>
              </a:rPr>
              <a:t>Predictive</a:t>
            </a:r>
            <a:endParaRPr b="0" lang="en-IN" sz="2800" strike="noStrike" u="none">
              <a:solidFill>
                <a:srgbClr val="000000"/>
              </a:solidFill>
              <a:effectLst/>
              <a:uFillTx/>
              <a:latin typeface="Arial"/>
            </a:endParaRPr>
          </a:p>
        </p:txBody>
      </p:sp>
      <p:pic>
        <p:nvPicPr>
          <p:cNvPr id="1064" name="" descr=""/>
          <p:cNvPicPr/>
          <p:nvPr/>
        </p:nvPicPr>
        <p:blipFill>
          <a:blip r:embed="rId3"/>
          <a:srcRect l="7325" t="0" r="8533" b="0"/>
          <a:stretch/>
        </p:blipFill>
        <p:spPr>
          <a:xfrm>
            <a:off x="1008000" y="1589040"/>
            <a:ext cx="2443320" cy="2336760"/>
          </a:xfrm>
          <a:prstGeom prst="rect">
            <a:avLst/>
          </a:prstGeom>
          <a:noFill/>
          <a:ln w="0">
            <a:noFill/>
          </a:ln>
        </p:spPr>
      </p:pic>
      <p:pic>
        <p:nvPicPr>
          <p:cNvPr id="1065" name="" descr=""/>
          <p:cNvPicPr/>
          <p:nvPr/>
        </p:nvPicPr>
        <p:blipFill>
          <a:blip r:embed="rId4"/>
          <a:stretch/>
        </p:blipFill>
        <p:spPr>
          <a:xfrm>
            <a:off x="6716880" y="1589040"/>
            <a:ext cx="2330280" cy="2330640"/>
          </a:xfrm>
          <a:prstGeom prst="rect">
            <a:avLst/>
          </a:prstGeom>
          <a:noFill/>
          <a:ln w="0">
            <a:noFill/>
          </a:ln>
        </p:spPr>
      </p:pic>
      <p:grpSp>
        <p:nvGrpSpPr>
          <p:cNvPr id="1066" name=""/>
          <p:cNvGrpSpPr/>
          <p:nvPr/>
        </p:nvGrpSpPr>
        <p:grpSpPr>
          <a:xfrm>
            <a:off x="3241800" y="4254480"/>
            <a:ext cx="3643200" cy="1440"/>
            <a:chOff x="3241800" y="4254480"/>
            <a:chExt cx="3643200" cy="1440"/>
          </a:xfrm>
        </p:grpSpPr>
        <p:sp>
          <p:nvSpPr>
            <p:cNvPr id="1067" name=""/>
            <p:cNvSpPr/>
            <p:nvPr/>
          </p:nvSpPr>
          <p:spPr>
            <a:xfrm>
              <a:off x="3241800" y="4254480"/>
              <a:ext cx="630000" cy="0"/>
            </a:xfrm>
            <a:prstGeom prst="line">
              <a:avLst/>
            </a:prstGeom>
            <a:ln w="572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1068" name=""/>
            <p:cNvSpPr/>
            <p:nvPr/>
          </p:nvSpPr>
          <p:spPr>
            <a:xfrm>
              <a:off x="6254640" y="4255920"/>
              <a:ext cx="630360" cy="0"/>
            </a:xfrm>
            <a:prstGeom prst="line">
              <a:avLst/>
            </a:prstGeom>
            <a:ln w="572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grpSp>
      <p:grpSp>
        <p:nvGrpSpPr>
          <p:cNvPr id="1069" name=""/>
          <p:cNvGrpSpPr/>
          <p:nvPr/>
        </p:nvGrpSpPr>
        <p:grpSpPr>
          <a:xfrm>
            <a:off x="2612880" y="4597560"/>
            <a:ext cx="5105160" cy="1781640"/>
            <a:chOff x="2612880" y="4597560"/>
            <a:chExt cx="5105160" cy="1781640"/>
          </a:xfrm>
        </p:grpSpPr>
        <p:sp>
          <p:nvSpPr>
            <p:cNvPr id="1070" name=""/>
            <p:cNvSpPr/>
            <p:nvPr/>
          </p:nvSpPr>
          <p:spPr>
            <a:xfrm>
              <a:off x="3540960" y="5614920"/>
              <a:ext cx="3288960" cy="76428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4400" strike="noStrike" u="none">
                  <a:solidFill>
                    <a:srgbClr val="ffcc00"/>
                  </a:solidFill>
                  <a:effectLst/>
                  <a:uFillTx/>
                  <a:latin typeface="Arial"/>
                </a:rPr>
                <a:t>Participatory</a:t>
              </a:r>
              <a:endParaRPr b="0" lang="en-IN" sz="4400" strike="noStrike" u="none">
                <a:solidFill>
                  <a:srgbClr val="000000"/>
                </a:solidFill>
                <a:effectLst/>
                <a:uFillTx/>
                <a:latin typeface="Arial"/>
              </a:endParaRPr>
            </a:p>
          </p:txBody>
        </p:sp>
        <p:grpSp>
          <p:nvGrpSpPr>
            <p:cNvPr id="1071" name=""/>
            <p:cNvGrpSpPr/>
            <p:nvPr/>
          </p:nvGrpSpPr>
          <p:grpSpPr>
            <a:xfrm>
              <a:off x="2612880" y="4597560"/>
              <a:ext cx="5105160" cy="914400"/>
              <a:chOff x="2612880" y="4597560"/>
              <a:chExt cx="5105160" cy="914400"/>
            </a:xfrm>
          </p:grpSpPr>
          <p:sp>
            <p:nvSpPr>
              <p:cNvPr id="1072" name=""/>
              <p:cNvSpPr/>
              <p:nvPr/>
            </p:nvSpPr>
            <p:spPr>
              <a:xfrm>
                <a:off x="2612880" y="4615560"/>
                <a:ext cx="668520" cy="800280"/>
              </a:xfrm>
              <a:prstGeom prst="line">
                <a:avLst/>
              </a:prstGeom>
              <a:ln w="572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1073" name=""/>
              <p:cNvSpPr/>
              <p:nvPr/>
            </p:nvSpPr>
            <p:spPr>
              <a:xfrm>
                <a:off x="5127480" y="4597560"/>
                <a:ext cx="20880" cy="914400"/>
              </a:xfrm>
              <a:prstGeom prst="line">
                <a:avLst/>
              </a:prstGeom>
              <a:ln w="572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sp>
            <p:nvSpPr>
              <p:cNvPr id="1074" name=""/>
              <p:cNvSpPr/>
              <p:nvPr/>
            </p:nvSpPr>
            <p:spPr>
              <a:xfrm flipH="1">
                <a:off x="7110000" y="4653720"/>
                <a:ext cx="608040" cy="762120"/>
              </a:xfrm>
              <a:prstGeom prst="line">
                <a:avLst/>
              </a:prstGeom>
              <a:ln w="57240">
                <a:solidFill>
                  <a:srgbClr val="ffffff"/>
                </a:solidFill>
                <a:miter/>
                <a:headEnd len="med" type="triangle" w="med"/>
                <a:tailEnd len="med" type="triangle" w="med"/>
              </a:ln>
            </p:spPr>
            <p:style>
              <a:lnRef idx="0"/>
              <a:fillRef idx="0"/>
              <a:effectRef idx="0"/>
              <a:fontRef idx="minor"/>
            </p:style>
            <p:txBody>
              <a:bodyPr lIns="90000" rIns="90000" tIns="46800" bIns="46800" anchor="ctr">
                <a:noAutofit/>
              </a:bodyPr>
              <a:p>
                <a:endParaRPr b="0" lang="en-IN" sz="1800" strike="noStrike" u="none">
                  <a:solidFill>
                    <a:srgbClr val="000000"/>
                  </a:solidFill>
                  <a:effectLst/>
                  <a:uFillTx/>
                  <a:latin typeface="Arial"/>
                </a:endParaRPr>
              </a:p>
            </p:txBody>
          </p:sp>
        </p:grpSp>
      </p:grpSp>
    </p:spTree>
  </p:cSld>
  <p:timing>
    <p:tnLst>
      <p:par>
        <p:cTn id="83" dur="indefinite" restart="never" nodeType="tmRoot">
          <p:childTnLst>
            <p:seq>
              <p:cTn id="84" dur="indefinite" nodeType="mainSeq">
                <p:childTnLst>
                  <p:par>
                    <p:cTn id="85" fill="hold">
                      <p:stCondLst>
                        <p:cond delay="indefinite"/>
                      </p:stCondLst>
                      <p:childTnLst>
                        <p:par>
                          <p:cTn id="86" fill="hold">
                            <p:stCondLst>
                              <p:cond delay="0"/>
                            </p:stCondLst>
                            <p:childTnLst>
                              <p:par>
                                <p:cTn id="87" nodeType="clickEffect" fill="hold" presetClass="entr" presetID="55">
                                  <p:stCondLst>
                                    <p:cond delay="0"/>
                                  </p:stCondLst>
                                  <p:childTnLst>
                                    <p:set>
                                      <p:cBhvr>
                                        <p:cTn id="88" dur="1" fill="hold">
                                          <p:stCondLst>
                                            <p:cond delay="0"/>
                                          </p:stCondLst>
                                        </p:cTn>
                                        <p:tgtEl>
                                          <p:spTgt spid="1066"/>
                                        </p:tgtEl>
                                        <p:attrNameLst>
                                          <p:attrName>style.visibility</p:attrName>
                                        </p:attrNameLst>
                                      </p:cBhvr>
                                      <p:to>
                                        <p:strVal val="visible"/>
                                      </p:to>
                                    </p:set>
                                    <p:anim calcmode="lin" valueType="num">
                                      <p:cBhvr additive="repl">
                                        <p:cTn id="89" dur="1000" fill="hold"/>
                                        <p:tgtEl>
                                          <p:spTgt spid="1066"/>
                                        </p:tgtEl>
                                        <p:attrNameLst>
                                          <p:attrName>ppt_w</p:attrName>
                                        </p:attrNameLst>
                                      </p:cBhvr>
                                      <p:tavLst>
                                        <p:tav tm="0">
                                          <p:val>
                                            <p:strVal val="#ppt_w*0.70"/>
                                          </p:val>
                                        </p:tav>
                                        <p:tav tm="100000">
                                          <p:val>
                                            <p:strVal val="#ppt_w"/>
                                          </p:val>
                                        </p:tav>
                                      </p:tavLst>
                                    </p:anim>
                                    <p:anim calcmode="lin" valueType="num">
                                      <p:cBhvr additive="repl">
                                        <p:cTn id="90" dur="1000" fill="hold"/>
                                        <p:tgtEl>
                                          <p:spTgt spid="1066"/>
                                        </p:tgtEl>
                                        <p:attrNameLst>
                                          <p:attrName>ppt_h</p:attrName>
                                        </p:attrNameLst>
                                      </p:cBhvr>
                                      <p:tavLst>
                                        <p:tav tm="0">
                                          <p:val>
                                            <p:strVal val="#ppt_h"/>
                                          </p:val>
                                        </p:tav>
                                        <p:tav tm="100000">
                                          <p:val>
                                            <p:strVal val="#ppt_h"/>
                                          </p:val>
                                        </p:tav>
                                      </p:tavLst>
                                    </p:anim>
                                    <p:animEffect filter="fade" transition="in">
                                      <p:cBhvr additive="repl">
                                        <p:cTn id="91" dur="1000"/>
                                        <p:tgtEl>
                                          <p:spTgt spid="1066"/>
                                        </p:tgtEl>
                                      </p:cBhvr>
                                    </p:animEffect>
                                  </p:childTnLst>
                                </p:cTn>
                              </p:par>
                            </p:childTnLst>
                          </p:cTn>
                        </p:par>
                      </p:childTnLst>
                    </p:cTn>
                  </p:par>
                  <p:par>
                    <p:cTn id="92" fill="hold">
                      <p:stCondLst>
                        <p:cond delay="indefinite"/>
                      </p:stCondLst>
                      <p:childTnLst>
                        <p:par>
                          <p:cTn id="93" fill="hold">
                            <p:stCondLst>
                              <p:cond delay="0"/>
                            </p:stCondLst>
                            <p:childTnLst>
                              <p:par>
                                <p:cTn id="94" nodeType="clickEffect" fill="hold" presetClass="entr" presetID="22" presetSubtype="1">
                                  <p:stCondLst>
                                    <p:cond delay="0"/>
                                  </p:stCondLst>
                                  <p:childTnLst>
                                    <p:set>
                                      <p:cBhvr>
                                        <p:cTn id="95" dur="1" fill="hold">
                                          <p:stCondLst>
                                            <p:cond delay="0"/>
                                          </p:stCondLst>
                                        </p:cTn>
                                        <p:tgtEl>
                                          <p:spTgt spid="1069"/>
                                        </p:tgtEl>
                                        <p:attrNameLst>
                                          <p:attrName>style.visibility</p:attrName>
                                        </p:attrNameLst>
                                      </p:cBhvr>
                                      <p:to>
                                        <p:strVal val="visible"/>
                                      </p:to>
                                    </p:set>
                                    <p:animEffect filter="wipe(up)" transition="in">
                                      <p:cBhvr additive="repl">
                                        <p:cTn id="96" dur="500"/>
                                        <p:tgtEl>
                                          <p:spTgt spid="10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e2f90"/>
        </a:solidFill>
      </p:bgPr>
    </p:bg>
    <p:spTree>
      <p:nvGrpSpPr>
        <p:cNvPr id="1" name=""/>
        <p:cNvGrpSpPr/>
        <p:nvPr/>
      </p:nvGrpSpPr>
      <p:grpSpPr>
        <a:xfrm>
          <a:off x="0" y="0"/>
          <a:ext cx="0" cy="0"/>
          <a:chOff x="0" y="0"/>
          <a:chExt cx="0" cy="0"/>
        </a:xfrm>
      </p:grpSpPr>
      <p:pic>
        <p:nvPicPr>
          <p:cNvPr id="1075" name="" descr=""/>
          <p:cNvPicPr/>
          <p:nvPr/>
        </p:nvPicPr>
        <p:blipFill>
          <a:blip r:embed="rId1"/>
          <a:srcRect l="10278" t="0" r="0" b="0"/>
          <a:stretch/>
        </p:blipFill>
        <p:spPr>
          <a:xfrm>
            <a:off x="939960" y="0"/>
            <a:ext cx="8204040" cy="6858000"/>
          </a:xfrm>
          <a:prstGeom prst="rect">
            <a:avLst/>
          </a:prstGeom>
          <a:noFill/>
          <a:ln w="0">
            <a:noFill/>
          </a:ln>
        </p:spPr>
      </p:pic>
      <p:sp>
        <p:nvSpPr>
          <p:cNvPr id="1076" name=""/>
          <p:cNvSpPr/>
          <p:nvPr/>
        </p:nvSpPr>
        <p:spPr>
          <a:xfrm>
            <a:off x="1082520" y="2978280"/>
            <a:ext cx="2874960" cy="882360"/>
          </a:xfrm>
          <a:prstGeom prst="rect">
            <a:avLst/>
          </a:prstGeom>
          <a:noFill/>
          <a:ln w="0">
            <a:noFill/>
          </a:ln>
        </p:spPr>
        <p:style>
          <a:lnRef idx="0"/>
          <a:fillRef idx="0"/>
          <a:effectRef idx="0"/>
          <a:fontRef idx="minor"/>
        </p:style>
        <p:txBody>
          <a:bodyPr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9600"/>
            </a:br>
            <a:r>
              <a:rPr b="1" lang="en-IN" sz="9600" strike="noStrike" u="none">
                <a:solidFill>
                  <a:srgbClr val="ffffff"/>
                </a:solidFill>
                <a:effectLst/>
                <a:uFillTx/>
                <a:latin typeface="Arial"/>
              </a:rPr>
              <a:t>NIH</a:t>
            </a:r>
            <a:br>
              <a:rPr sz="9600"/>
            </a:br>
            <a:endParaRPr b="0" lang="en-IN" sz="9600" strike="noStrike" u="none">
              <a:solidFill>
                <a:srgbClr val="000000"/>
              </a:solidFill>
              <a:effectLst/>
              <a:uFillTx/>
              <a:latin typeface="Arial"/>
            </a:endParaRPr>
          </a:p>
        </p:txBody>
      </p:sp>
      <p:sp>
        <p:nvSpPr>
          <p:cNvPr id="1077" name=""/>
          <p:cNvSpPr/>
          <p:nvPr/>
        </p:nvSpPr>
        <p:spPr>
          <a:xfrm>
            <a:off x="3284640" y="2898720"/>
            <a:ext cx="5715000" cy="972360"/>
          </a:xfrm>
          <a:prstGeom prst="rect">
            <a:avLst/>
          </a:prstGeom>
          <a:noFill/>
          <a:ln w="0">
            <a:noFill/>
          </a:ln>
        </p:spPr>
        <p:style>
          <a:lnRef idx="0"/>
          <a:fillRef idx="0"/>
          <a:effectRef idx="0"/>
          <a:fontRef idx="minor"/>
        </p:style>
        <p:txBody>
          <a:bodyPr lIns="90000" rIns="90000" tIns="46800" bIns="46800" anchor="t">
            <a:spAutoFit/>
          </a:bodyPr>
          <a:p>
            <a:pPr>
              <a:lnSpc>
                <a:spcPct val="9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3200" strike="noStrike" u="none">
                <a:solidFill>
                  <a:srgbClr val="ffffff"/>
                </a:solidFill>
                <a:effectLst/>
                <a:uFillTx/>
                <a:latin typeface="Arial"/>
              </a:rPr>
              <a:t>Transforming medicine and health through discovery</a:t>
            </a:r>
            <a:endParaRPr b="0" lang="en-IN" sz="3200" strike="noStrike" u="none">
              <a:solidFill>
                <a:srgbClr val="000000"/>
              </a:solidFill>
              <a:effectLst/>
              <a:uFillTx/>
              <a:latin typeface="Arial"/>
            </a:endParaRPr>
          </a:p>
        </p:txBody>
      </p:sp>
      <p:pic>
        <p:nvPicPr>
          <p:cNvPr id="1078" name="" descr=""/>
          <p:cNvPicPr/>
          <p:nvPr/>
        </p:nvPicPr>
        <p:blipFill>
          <a:blip r:embed="rId2"/>
          <a:stretch/>
        </p:blipFill>
        <p:spPr>
          <a:xfrm>
            <a:off x="1254240" y="4935600"/>
            <a:ext cx="1676160" cy="1676160"/>
          </a:xfrm>
          <a:prstGeom prst="rect">
            <a:avLst/>
          </a:prstGeom>
          <a:noFill/>
          <a:ln w="0">
            <a:noFill/>
          </a:ln>
        </p:spPr>
      </p:pic>
      <p:pic>
        <p:nvPicPr>
          <p:cNvPr id="1079" name="" descr=""/>
          <p:cNvPicPr/>
          <p:nvPr/>
        </p:nvPicPr>
        <p:blipFill>
          <a:blip r:embed="rId3"/>
          <a:stretch/>
        </p:blipFill>
        <p:spPr>
          <a:xfrm>
            <a:off x="7162920" y="628560"/>
            <a:ext cx="1676160" cy="1676520"/>
          </a:xfrm>
          <a:prstGeom prst="rect">
            <a:avLst/>
          </a:prstGeom>
          <a:noFill/>
          <a:ln w="0">
            <a:noFill/>
          </a:ln>
        </p:spPr>
      </p:pic>
      <p:pic>
        <p:nvPicPr>
          <p:cNvPr id="1080" name="" descr=""/>
          <p:cNvPicPr/>
          <p:nvPr/>
        </p:nvPicPr>
        <p:blipFill>
          <a:blip r:embed="rId4"/>
          <a:stretch/>
        </p:blipFill>
        <p:spPr>
          <a:xfrm>
            <a:off x="1254240" y="628560"/>
            <a:ext cx="1676160" cy="1676520"/>
          </a:xfrm>
          <a:prstGeom prst="rect">
            <a:avLst/>
          </a:prstGeom>
          <a:noFill/>
          <a:ln w="0">
            <a:noFill/>
          </a:ln>
        </p:spPr>
      </p:pic>
      <p:pic>
        <p:nvPicPr>
          <p:cNvPr id="1081" name="" descr=""/>
          <p:cNvPicPr/>
          <p:nvPr/>
        </p:nvPicPr>
        <p:blipFill>
          <a:blip r:embed="rId5"/>
          <a:stretch/>
        </p:blipFill>
        <p:spPr>
          <a:xfrm>
            <a:off x="5208480" y="628560"/>
            <a:ext cx="1676520" cy="1673280"/>
          </a:xfrm>
          <a:prstGeom prst="rect">
            <a:avLst/>
          </a:prstGeom>
          <a:noFill/>
          <a:ln w="0">
            <a:noFill/>
          </a:ln>
        </p:spPr>
      </p:pic>
      <p:pic>
        <p:nvPicPr>
          <p:cNvPr id="1082" name="" descr=""/>
          <p:cNvPicPr/>
          <p:nvPr/>
        </p:nvPicPr>
        <p:blipFill>
          <a:blip r:embed="rId6"/>
          <a:stretch/>
        </p:blipFill>
        <p:spPr>
          <a:xfrm>
            <a:off x="5208480" y="4935600"/>
            <a:ext cx="1676520" cy="1676160"/>
          </a:xfrm>
          <a:prstGeom prst="rect">
            <a:avLst/>
          </a:prstGeom>
          <a:noFill/>
          <a:ln w="0">
            <a:noFill/>
          </a:ln>
        </p:spPr>
      </p:pic>
      <p:pic>
        <p:nvPicPr>
          <p:cNvPr id="1083" name="" descr=""/>
          <p:cNvPicPr/>
          <p:nvPr/>
        </p:nvPicPr>
        <p:blipFill>
          <a:blip r:embed="rId7"/>
          <a:stretch/>
        </p:blipFill>
        <p:spPr>
          <a:xfrm>
            <a:off x="3235320" y="4935600"/>
            <a:ext cx="1676520" cy="1676160"/>
          </a:xfrm>
          <a:prstGeom prst="rect">
            <a:avLst/>
          </a:prstGeom>
          <a:noFill/>
          <a:ln w="0">
            <a:noFill/>
          </a:ln>
        </p:spPr>
      </p:pic>
      <p:pic>
        <p:nvPicPr>
          <p:cNvPr id="1084" name="" descr=""/>
          <p:cNvPicPr/>
          <p:nvPr/>
        </p:nvPicPr>
        <p:blipFill>
          <a:blip r:embed="rId8"/>
          <a:stretch/>
        </p:blipFill>
        <p:spPr>
          <a:xfrm>
            <a:off x="7162920" y="4935600"/>
            <a:ext cx="1676160" cy="1676160"/>
          </a:xfrm>
          <a:prstGeom prst="rect">
            <a:avLst/>
          </a:prstGeom>
          <a:noFill/>
          <a:ln w="0">
            <a:noFill/>
          </a:ln>
        </p:spPr>
      </p:pic>
      <p:pic>
        <p:nvPicPr>
          <p:cNvPr id="1085" name="" descr=""/>
          <p:cNvPicPr/>
          <p:nvPr/>
        </p:nvPicPr>
        <p:blipFill>
          <a:blip r:embed="rId9"/>
          <a:srcRect l="15455" t="0" r="10078" b="5353"/>
          <a:stretch/>
        </p:blipFill>
        <p:spPr>
          <a:xfrm>
            <a:off x="3067200" y="639720"/>
            <a:ext cx="1960560" cy="1646280"/>
          </a:xfrm>
          <a:prstGeom prst="rect">
            <a:avLst/>
          </a:prstGeom>
          <a:noFill/>
          <a:ln w="0">
            <a:noFill/>
          </a:ln>
        </p:spPr>
      </p:pic>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5447</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2006-04-17T09:56:19Z</dcterms:created>
  <dc:creator>zerhoune</dc:creator>
  <dc:description/>
  <dc:language>en-IN</dc:language>
  <cp:lastModifiedBy>zerhoune</cp:lastModifiedBy>
  <dcterms:modified xsi:type="dcterms:W3CDTF">2006-06-14T07:43:53Z</dcterms:modified>
  <cp:revision>200</cp:revision>
  <dc:subject/>
  <dc:title>Slide 1</dc:title>
</cp:coreProperties>
</file>