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media/image1.png" ContentType="image/png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6858000"/>
  <p:notesSz cx="7008813" cy="9294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7009200" cy="9295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038400" cy="465120"/>
          </a:xfrm>
          <a:prstGeom prst="rect">
            <a:avLst/>
          </a:prstGeom>
          <a:noFill/>
          <a:ln w="0">
            <a:noFill/>
          </a:ln>
        </p:spPr>
        <p:txBody>
          <a:bodyPr lIns="19440" rIns="19440" tIns="0" bIns="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3971880" y="0"/>
            <a:ext cx="3038400" cy="465120"/>
          </a:xfrm>
          <a:prstGeom prst="rect">
            <a:avLst/>
          </a:prstGeom>
          <a:noFill/>
          <a:ln w="0">
            <a:noFill/>
          </a:ln>
        </p:spPr>
        <p:txBody>
          <a:bodyPr lIns="19440" rIns="19440" tIns="0" bIns="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Img"/>
          </p:nvPr>
        </p:nvSpPr>
        <p:spPr>
          <a:xfrm>
            <a:off x="1190160" y="703440"/>
            <a:ext cx="4630680" cy="347328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1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934560" y="4416120"/>
            <a:ext cx="5140440" cy="4182840"/>
          </a:xfrm>
          <a:prstGeom prst="rect">
            <a:avLst/>
          </a:prstGeom>
          <a:noFill/>
          <a:ln w="0">
            <a:noFill/>
          </a:ln>
        </p:spPr>
        <p:txBody>
          <a:bodyPr lIns="93960" rIns="9396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2"/>
          </p:nvPr>
        </p:nvSpPr>
        <p:spPr>
          <a:xfrm>
            <a:off x="0" y="8831160"/>
            <a:ext cx="3038400" cy="465120"/>
          </a:xfrm>
          <a:prstGeom prst="rect">
            <a:avLst/>
          </a:prstGeom>
          <a:noFill/>
          <a:ln w="0">
            <a:noFill/>
          </a:ln>
        </p:spPr>
        <p:txBody>
          <a:bodyPr lIns="19440" rIns="19440" tIns="0" bIns="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3"/>
          </p:nvPr>
        </p:nvSpPr>
        <p:spPr>
          <a:xfrm>
            <a:off x="3971880" y="8831160"/>
            <a:ext cx="3038400" cy="465120"/>
          </a:xfrm>
          <a:prstGeom prst="rect">
            <a:avLst/>
          </a:prstGeom>
          <a:noFill/>
          <a:ln w="0">
            <a:noFill/>
          </a:ln>
        </p:spPr>
        <p:txBody>
          <a:bodyPr lIns="19440" rIns="19440" tIns="0" bIns="0" anchor="b">
            <a:noAutofit/>
          </a:bodyPr>
          <a:lstStyle>
            <a:lvl1pPr indent="0" algn="r">
              <a:buNone/>
              <a:tabLst>
                <a:tab algn="l" pos="0"/>
                <a:tab algn="l" pos="932040"/>
                <a:tab algn="l" pos="1863720"/>
                <a:tab algn="l" pos="2795760"/>
                <a:tab algn="l" pos="3727440"/>
                <a:tab algn="l" pos="4659480"/>
                <a:tab algn="l" pos="5591160"/>
                <a:tab algn="l" pos="6523200"/>
                <a:tab algn="l" pos="7454880"/>
                <a:tab algn="l" pos="8386920"/>
                <a:tab algn="l" pos="9318600"/>
                <a:tab algn="l" pos="10250640"/>
              </a:tabLst>
              <a:defRPr b="0" i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32040"/>
                <a:tab algn="l" pos="1863720"/>
                <a:tab algn="l" pos="2795760"/>
                <a:tab algn="l" pos="3727440"/>
                <a:tab algn="l" pos="4659480"/>
                <a:tab algn="l" pos="5591160"/>
                <a:tab algn="l" pos="6523200"/>
                <a:tab algn="l" pos="7454880"/>
                <a:tab algn="l" pos="8386920"/>
                <a:tab algn="l" pos="9318600"/>
                <a:tab algn="l" pos="10250640"/>
              </a:tabLst>
            </a:pPr>
            <a:fld id="{CF2EEF69-21B6-4C01-85ED-B06D96D34A6B}" type="slidenum">
              <a:rPr b="0" i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"/>
          <p:cNvSpPr/>
          <p:nvPr/>
        </p:nvSpPr>
        <p:spPr>
          <a:xfrm>
            <a:off x="3971880" y="8831160"/>
            <a:ext cx="303840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440" rIns="19440" tIns="0" bIns="0" anchor="b">
            <a:noAutofit/>
          </a:bodyPr>
          <a:p>
            <a:pPr algn="r">
              <a:tabLst>
                <a:tab algn="l" pos="0"/>
                <a:tab algn="l" pos="932040"/>
                <a:tab algn="l" pos="1863720"/>
                <a:tab algn="l" pos="2795760"/>
                <a:tab algn="l" pos="3727440"/>
                <a:tab algn="l" pos="4659480"/>
                <a:tab algn="l" pos="5591160"/>
                <a:tab algn="l" pos="6523200"/>
                <a:tab algn="l" pos="7454880"/>
                <a:tab algn="l" pos="8386920"/>
                <a:tab algn="l" pos="9318600"/>
                <a:tab algn="l" pos="10250640"/>
              </a:tabLst>
            </a:pPr>
            <a:fld id="{3ABA5B10-E070-4FD8-8297-9B6C87CCC6A0}" type="slidenum">
              <a:rPr b="0" i="1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sldImg"/>
          </p:nvPr>
        </p:nvSpPr>
        <p:spPr>
          <a:xfrm>
            <a:off x="1143000" y="762120"/>
            <a:ext cx="4648320" cy="3485880"/>
          </a:xfrm>
          <a:prstGeom prst="rect">
            <a:avLst/>
          </a:prstGeom>
          <a:ln w="0">
            <a:noFill/>
          </a:ln>
        </p:spPr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1640" y="76320"/>
            <a:ext cx="4267080" cy="83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371600"/>
            <a:ext cx="7772400" cy="464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15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15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15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15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1500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1500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1500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7"/>
          <p:cNvSpPr/>
          <p:nvPr/>
        </p:nvSpPr>
        <p:spPr>
          <a:xfrm>
            <a:off x="8476920" y="6629400"/>
            <a:ext cx="6058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fld id="{2D471118-1E59-4A52-A4D7-2A7AF70AA307}" type="slidenum"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13" descr="HRgold129"/>
          <p:cNvPicPr/>
          <p:nvPr/>
        </p:nvPicPr>
        <p:blipFill>
          <a:blip r:embed="rId2"/>
          <a:stretch/>
        </p:blipFill>
        <p:spPr>
          <a:xfrm>
            <a:off x="152280" y="152280"/>
            <a:ext cx="762120" cy="4287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19920" y="-360"/>
            <a:ext cx="3124080" cy="60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Absence Types </a:t>
            </a:r>
            <a:endParaRPr b="1" lang="en-IN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" name=""/>
          <p:cNvGraphicFramePr/>
          <p:nvPr/>
        </p:nvGraphicFramePr>
        <p:xfrm>
          <a:off x="0" y="784080"/>
          <a:ext cx="3301920" cy="5845320"/>
        </p:xfrm>
        <a:graphic>
          <a:graphicData uri="http://schemas.openxmlformats.org/drawingml/2006/table">
            <a:tbl>
              <a:tblPr/>
              <a:tblGrid>
                <a:gridCol w="468360"/>
                <a:gridCol w="2833560"/>
              </a:tblGrid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9000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Shared Leave Other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9001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Shared Lv FMLA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9002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Shared Lv FMLA SrvcMem Care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9003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Vacation Leave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9004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Vacation Leave FMLA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9005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Vacation Lv Union Neg/Bus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9006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Vac Lv in lieu of Sick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9007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Vac Lv Inclem Weather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9008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Vac Lv On Time Loss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9009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Vac Lv Child/Elder Care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9010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Assault Lv On Time Loss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9011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Vac LV FMLA SrvcMem Care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9012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Vac LV Mil Spouse Lv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9013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Misc Lv Life Giving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9015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Comp Tim Mil Spouse Lv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9016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Comp Time Incl Weather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9017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Comp Time Child/Elder Cre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9019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Exchange Time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9020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Exchange Tm Union Neg/Bus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9021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Inclement Weather  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9022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Misc Lv Interview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9023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Misc Lv Jury Duty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9024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Time Loss Injury Lv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9025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LWOP On Time Loss  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9029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LWOP Mil Spouse Lv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9030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LWOP Inclem. Weather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9031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LWOP Military Leave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9032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LWOP Parental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9033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LWOP Other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9034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LWOP Unauthorized  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9035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LWOP Child/Elder Care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9036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LWOP Union Negotiations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9037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LWOP Education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9038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LWOP FMLA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9039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LWOP Govtl Service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9040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LWOP Reasonable Accomm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="2057400" y="785880"/>
          <a:ext cx="2743200" cy="5165640"/>
        </p:xfrm>
        <a:graphic>
          <a:graphicData uri="http://schemas.openxmlformats.org/drawingml/2006/table">
            <a:tbl>
              <a:tblPr/>
              <a:tblGrid>
                <a:gridCol w="714240"/>
                <a:gridCol w="2028960"/>
              </a:tblGrid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9041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LWOP Reduction in Force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9042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LWOP FMLA SrvcMem Care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9043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Military Leave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9044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Non Oper/Emerg Cond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9045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Misc Lv Civ Duty NonRep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9046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Pers Hol Union Neg/Bus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9047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Personal Holiday Shift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9048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Sick Leave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9049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Sick Leave FMLA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9050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Sick Leave Bereavement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9051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Sick Lv Contagious/Jeop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9053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Sick Lv Mil Spouse Lv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9052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Sick Lv FMLA SrvcMem Care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9054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Sick Lv Rel/Hsehld Member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9056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Sick Lv Sel Ill/Inj/Dis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9057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Sick Lv Inclem Weather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9058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Sick Lv Parental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9060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Sick Lv Prev Care Self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9061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Sick Lv Child/Elder Care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9062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Sick Lv On Time Loss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9063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Misc Lv State Exam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9065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Suspension w/Pay NRep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9066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Suspension without Pay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9069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 Time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9070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Hol Cred Taken (WSP/WSF)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9071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Hol Cred Tkn Mil Spouse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9072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Holiday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9073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Pers Hol On Time Loss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9074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Pers Hol FMLA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9075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Sick Lv Prev Care Rel/H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9076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Temp Disability (WSP)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9077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Settl Leave Taken (WSP)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"/>
          <p:cNvGraphicFramePr/>
          <p:nvPr/>
        </p:nvGraphicFramePr>
        <p:xfrm>
          <a:off x="3962520" y="754200"/>
          <a:ext cx="3047760" cy="5921280"/>
        </p:xfrm>
        <a:graphic>
          <a:graphicData uri="http://schemas.openxmlformats.org/drawingml/2006/table">
            <a:tbl>
              <a:tblPr/>
              <a:tblGrid>
                <a:gridCol w="987480"/>
                <a:gridCol w="2060280"/>
              </a:tblGrid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9078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Shared Lv Military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9100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Bereavement Leave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9101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LWOP Bereavement LV 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9102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 Time Bereav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9103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Vac Lv Bereav NonRep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9104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Pers Hol Bereav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9108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Recog Lv Mil Spouse LV NR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9109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Recog LVFMLA SrvcMmCar NR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9110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Recognition Leave NonRep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9111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Recognition Lv NRep FMLA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9112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R&amp;R Lv (AGR/DNR/DOT/MIL)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9115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Exchng Tm Mil Spouse Lv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9116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Exchng Tm FMLA SrvcMm Care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9117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Exchange Tm Fam Care Act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024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9118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Exchange Time FMLA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9119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Exch Time in lieu of Sick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9120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Misc Lv Court NtWrkRel NR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9123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Vac Lv Parental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9124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Vac Lv Family Care Act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9125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Pers Hol FMLA SrvcMem Care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9126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Pers Hol Mil Spouse Lv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9143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Pers Hol Parental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9144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Pers Hol Family Care Act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9145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Pers Hol Child/Elder Care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9153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 Time Parental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9154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 Time Family Care Act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9169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 Time in lieu of Sick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9170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 Time Union Neg/Bus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9174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Sick Leave Family Care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9184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LWOP Family Care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9188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LWOP Industrial (L&amp;I)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9201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Shared Lv FMLA     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9204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Vacation Leave FMLA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9206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Vac Lv in lieu of Sick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9209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Vac Lv Child/Elder Care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27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9211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Recogn Lv NRep FMLA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Rectangle 4"/>
          <p:cNvSpPr/>
          <p:nvPr/>
        </p:nvSpPr>
        <p:spPr>
          <a:xfrm>
            <a:off x="4457880" y="3319560"/>
            <a:ext cx="914400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Rectangle 5"/>
          <p:cNvSpPr/>
          <p:nvPr/>
        </p:nvSpPr>
        <p:spPr>
          <a:xfrm>
            <a:off x="4462560" y="3319560"/>
            <a:ext cx="914400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Box 5068"/>
          <p:cNvSpPr/>
          <p:nvPr/>
        </p:nvSpPr>
        <p:spPr>
          <a:xfrm>
            <a:off x="7010280" y="1219320"/>
            <a:ext cx="160020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" name=""/>
          <p:cNvGraphicFramePr/>
          <p:nvPr/>
        </p:nvGraphicFramePr>
        <p:xfrm>
          <a:off x="6781680" y="739800"/>
          <a:ext cx="2362320" cy="5584680"/>
        </p:xfrm>
        <a:graphic>
          <a:graphicData uri="http://schemas.openxmlformats.org/drawingml/2006/table">
            <a:tbl>
              <a:tblPr/>
              <a:tblGrid>
                <a:gridCol w="646200"/>
                <a:gridCol w="1716120"/>
              </a:tblGrid>
              <a:tr h="2037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9217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 Time Child/Eld Cre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37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9218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Exchange Time FMLA 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23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9219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Exch Time lieu of Sick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41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9223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Vac Lv Parental    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37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9224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Vac Lv Family Care Act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37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9227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Exchang Tm Fam Care Act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23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9232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LWOP Parental      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37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9233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LWOP Other         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37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9235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LWOP Child/Elder Care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41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9238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LWOP FMLA          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37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9243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Pers Hol Parental  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23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9244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Pers Hol Fam Care Act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37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9245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Pers Hol Child/Eld Care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37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9248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Sick Leave         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41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9249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Sick Leave FMLA    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024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9253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 Time Parental 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23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9254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Sick Lv Rel/Hsehld Memb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37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9258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Sick Lv Parental   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37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9261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Sick Lv Child/Eld Care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37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9264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 Time Fam Care Act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41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9269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Comp Time lieu of Sick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19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9274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Pers Hol FMLA      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41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9276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Temp Disability (WSP)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37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9284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Sick Leave Family Care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376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9294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LWOP Family Care        U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232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9300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Sick Lv Pool NonREp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97640"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 algn="r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9301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b">
                      <a:noAutofit/>
                    </a:bodyPr>
                    <a:p>
                      <a:pPr marL="343080" indent="-343080">
                        <a:lnSpc>
                          <a:spcPct val="5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Uniform serv Shared Leave</a:t>
                      </a:r>
                      <a:endParaRPr b="0" lang="en-IN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Text Box 5182"/>
          <p:cNvSpPr/>
          <p:nvPr/>
        </p:nvSpPr>
        <p:spPr>
          <a:xfrm>
            <a:off x="0" y="6629400"/>
            <a:ext cx="152388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March 2009</a:t>
            </a:r>
            <a:endParaRPr b="0" lang="en-IN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1144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2004-09-14T12:32:56Z</dcterms:created>
  <dc:creator>DOP</dc:creator>
  <dc:description/>
  <cp:keywords/>
  <dc:language>en-IN</dc:language>
  <cp:lastModifiedBy>MargareA</cp:lastModifiedBy>
  <dcterms:modified xsi:type="dcterms:W3CDTF">2009-03-20T09:48:25Z</dcterms:modified>
  <cp:revision>63</cp:revision>
  <dc:subject/>
  <dc:title>Time Absence Types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tegory1">
    <vt:lpwstr/>
  </property>
  <property fmtid="{D5CDD505-2E9C-101B-9397-08002B2CF9AE}" pid="3" name="Category1_Current">
    <vt:lpwstr/>
  </property>
  <property fmtid="{D5CDD505-2E9C-101B-9397-08002B2CF9AE}" pid="4" name="Category1_Name">
    <vt:lpwstr>Processes</vt:lpwstr>
  </property>
  <property fmtid="{D5CDD505-2E9C-101B-9397-08002B2CF9AE}" pid="5" name="Category2">
    <vt:lpwstr/>
  </property>
  <property fmtid="{D5CDD505-2E9C-101B-9397-08002B2CF9AE}" pid="6" name="Category2_Current">
    <vt:lpwstr/>
  </property>
  <property fmtid="{D5CDD505-2E9C-101B-9397-08002B2CF9AE}" pid="7" name="Category2_Name">
    <vt:lpwstr>Sub-Processes</vt:lpwstr>
  </property>
  <property fmtid="{D5CDD505-2E9C-101B-9397-08002B2CF9AE}" pid="8" name="Category3">
    <vt:lpwstr/>
  </property>
  <property fmtid="{D5CDD505-2E9C-101B-9397-08002B2CF9AE}" pid="9" name="Category3_Name">
    <vt:lpwstr>Activities</vt:lpwstr>
  </property>
  <property fmtid="{D5CDD505-2E9C-101B-9397-08002B2CF9AE}" pid="10" name="Category4">
    <vt:lpwstr/>
  </property>
  <property fmtid="{D5CDD505-2E9C-101B-9397-08002B2CF9AE}" pid="11" name="Category4_Name">
    <vt:lpwstr>Decentralized HRMS Roles</vt:lpwstr>
  </property>
  <property fmtid="{D5CDD505-2E9C-101B-9397-08002B2CF9AE}" pid="12" name="Category5">
    <vt:lpwstr/>
  </property>
  <property fmtid="{D5CDD505-2E9C-101B-9397-08002B2CF9AE}" pid="13" name="Category5_Name">
    <vt:lpwstr>Centralized HRMS Roles</vt:lpwstr>
  </property>
  <property fmtid="{D5CDD505-2E9C-101B-9397-08002B2CF9AE}" pid="14" name="Category6">
    <vt:lpwstr/>
  </property>
  <property fmtid="{D5CDD505-2E9C-101B-9397-08002B2CF9AE}" pid="15" name="Category6_Name">
    <vt:lpwstr/>
  </property>
  <property fmtid="{D5CDD505-2E9C-101B-9397-08002B2CF9AE}" pid="16" name="Category7">
    <vt:lpwstr/>
  </property>
  <property fmtid="{D5CDD505-2E9C-101B-9397-08002B2CF9AE}" pid="17" name="Category7_Name">
    <vt:lpwstr/>
  </property>
  <property fmtid="{D5CDD505-2E9C-101B-9397-08002B2CF9AE}" pid="18" name="Category8">
    <vt:lpwstr/>
  </property>
  <property fmtid="{D5CDD505-2E9C-101B-9397-08002B2CF9AE}" pid="19" name="Category8_Name">
    <vt:lpwstr/>
  </property>
  <property fmtid="{D5CDD505-2E9C-101B-9397-08002B2CF9AE}" pid="20" name="ContentType">
    <vt:lpwstr>Document</vt:lpwstr>
  </property>
  <property fmtid="{D5CDD505-2E9C-101B-9397-08002B2CF9AE}" pid="21" name="DocType_Name">
    <vt:lpwstr>Job Aid</vt:lpwstr>
  </property>
  <property fmtid="{D5CDD505-2E9C-101B-9397-08002B2CF9AE}" pid="22" name="DocType_Number">
    <vt:lpwstr>11005</vt:lpwstr>
  </property>
  <property fmtid="{D5CDD505-2E9C-101B-9397-08002B2CF9AE}" pid="23" name="Doc_Initialized">
    <vt:bool>0</vt:bool>
  </property>
  <property fmtid="{D5CDD505-2E9C-101B-9397-08002B2CF9AE}" pid="24" name="Document_ID">
    <vt:lpwstr>1748</vt:lpwstr>
  </property>
  <property fmtid="{D5CDD505-2E9C-101B-9397-08002B2CF9AE}" pid="25" name="Document_Language">
    <vt:lpwstr>0</vt:lpwstr>
  </property>
  <property fmtid="{D5CDD505-2E9C-101B-9397-08002B2CF9AE}" pid="26" name="Document_Name">
    <vt:lpwstr>Time Absence Types</vt:lpwstr>
  </property>
  <property fmtid="{D5CDD505-2E9C-101B-9397-08002B2CF9AE}" pid="27" name="Document_Owner">
    <vt:lpwstr>Department of Personnel</vt:lpwstr>
  </property>
  <property fmtid="{D5CDD505-2E9C-101B-9397-08002B2CF9AE}" pid="28" name="Document_Sections">
    <vt:lpwstr>00</vt:lpwstr>
  </property>
  <property fmtid="{D5CDD505-2E9C-101B-9397-08002B2CF9AE}" pid="29" name="Document_Subject">
    <vt:lpwstr/>
  </property>
  <property fmtid="{D5CDD505-2E9C-101B-9397-08002B2CF9AE}" pid="30" name="First_Page">
    <vt:lpwstr>1</vt:lpwstr>
  </property>
  <property fmtid="{D5CDD505-2E9C-101B-9397-08002B2CF9AE}" pid="31" name="Footer_Text">
    <vt:lpwstr>State of Washington HRMS Implementation Project</vt:lpwstr>
  </property>
  <property fmtid="{D5CDD505-2E9C-101B-9397-08002B2CF9AE}" pid="32" name="GUID">
    <vt:lpwstr>784b13a5-72eb-4d4d-b854-14746bf450ea</vt:lpwstr>
  </property>
  <property fmtid="{D5CDD505-2E9C-101B-9397-08002B2CF9AE}" pid="33" name="Header_Text">
    <vt:lpwstr>HRMS Implementation Training Documents</vt:lpwstr>
  </property>
  <property fmtid="{D5CDD505-2E9C-101B-9397-08002B2CF9AE}" pid="34" name="Last_Filename">
    <vt:lpwstr>Time Absence Types.ppt</vt:lpwstr>
  </property>
  <property fmtid="{D5CDD505-2E9C-101B-9397-08002B2CF9AE}" pid="35" name="New_Doc">
    <vt:bool>0</vt:bool>
  </property>
  <property fmtid="{D5CDD505-2E9C-101B-9397-08002B2CF9AE}" pid="36" name="Num_Pages">
    <vt:lpwstr>1</vt:lpwstr>
  </property>
  <property fmtid="{D5CDD505-2E9C-101B-9397-08002B2CF9AE}" pid="37" name="Publication_Date">
    <vt:lpwstr/>
  </property>
  <property fmtid="{D5CDD505-2E9C-101B-9397-08002B2CF9AE}" pid="38" name="Reference_Number">
    <vt:lpwstr/>
  </property>
  <property fmtid="{D5CDD505-2E9C-101B-9397-08002B2CF9AE}" pid="39" name="Roles">
    <vt:lpwstr/>
  </property>
  <property fmtid="{D5CDD505-2E9C-101B-9397-08002B2CF9AE}" pid="40" name="Single_Doc">
    <vt:bool>1</vt:bool>
  </property>
  <property fmtid="{D5CDD505-2E9C-101B-9397-08002B2CF9AE}" pid="41" name="Solution">
    <vt:lpwstr/>
  </property>
  <property fmtid="{D5CDD505-2E9C-101B-9397-08002B2CF9AE}" pid="42" name="Status">
    <vt:lpwstr/>
  </property>
  <property fmtid="{D5CDD505-2E9C-101B-9397-08002B2CF9AE}" pid="43" name="Step_Anchors">
    <vt:lpwstr>2</vt:lpwstr>
  </property>
  <property fmtid="{D5CDD505-2E9C-101B-9397-08002B2CF9AE}" pid="44" name="Template_Name">
    <vt:lpwstr/>
  </property>
  <property fmtid="{D5CDD505-2E9C-101B-9397-08002B2CF9AE}" pid="45" name="Template_Version">
    <vt:lpwstr>5.0</vt:lpwstr>
  </property>
  <property fmtid="{D5CDD505-2E9C-101B-9397-08002B2CF9AE}" pid="46" name="Track_Changes">
    <vt:lpwstr/>
  </property>
  <property fmtid="{D5CDD505-2E9C-101B-9397-08002B2CF9AE}" pid="47" name="Transaction_Code">
    <vt:lpwstr/>
  </property>
  <property fmtid="{D5CDD505-2E9C-101B-9397-08002B2CF9AE}" pid="48" name="Version_Name">
    <vt:lpwstr>Testing Team Draft Script</vt:lpwstr>
  </property>
  <property fmtid="{D5CDD505-2E9C-101B-9397-08002B2CF9AE}" pid="49" name="Version_Number">
    <vt:lpwstr>7</vt:lpwstr>
  </property>
</Properties>
</file>