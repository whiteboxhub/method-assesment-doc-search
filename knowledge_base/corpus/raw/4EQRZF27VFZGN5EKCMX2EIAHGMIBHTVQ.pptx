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Times New Roman"/>
            </a:endParaRPr>
          </a:p>
        </p:txBody>
      </p:sp>
      <p:sp>
        <p:nvSpPr>
          <p:cNvPr id="6" name="PlaceHolder 2"/>
          <p:cNvSpPr>
            <a:spLocks noGrp="1"/>
          </p:cNvSpPr>
          <p:nvPr>
            <p:ph type="subTitle"/>
          </p:nvPr>
        </p:nvSpPr>
        <p:spPr>
          <a:xfrm>
            <a:off x="685800" y="1981080"/>
            <a:ext cx="7772400" cy="4114800"/>
          </a:xfrm>
          <a:prstGeom prst="rect">
            <a:avLst/>
          </a:prstGeom>
          <a:noFill/>
          <a:ln w="0">
            <a:noFill/>
          </a:ln>
        </p:spPr>
        <p:txBody>
          <a:bodyPr lIns="0" rIns="0" tIns="0" bIns="0" anchor="ctr">
            <a:sp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2239C94-ED52-4DEB-9154-230EEDCAD2B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Times New Roman"/>
            </a:endParaRPr>
          </a:p>
        </p:txBody>
      </p:sp>
      <p:sp>
        <p:nvSpPr>
          <p:cNvPr id="8" name="PlaceHolder 2"/>
          <p:cNvSpPr>
            <a:spLocks noGrp="1"/>
          </p:cNvSpPr>
          <p:nvPr>
            <p:ph/>
          </p:nvPr>
        </p:nvSpPr>
        <p:spPr>
          <a:xfrm>
            <a:off x="685800" y="1981080"/>
            <a:ext cx="777240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996117F-8205-4B6A-BD4B-CF632D5F1DD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Times New Roman"/>
            </a:endParaRPr>
          </a:p>
        </p:txBody>
      </p:sp>
      <p:sp>
        <p:nvSpPr>
          <p:cNvPr id="10" name="PlaceHolder 2"/>
          <p:cNvSpPr>
            <a:spLocks noGrp="1"/>
          </p:cNvSpPr>
          <p:nvPr>
            <p:ph/>
          </p:nvPr>
        </p:nvSpPr>
        <p:spPr>
          <a:xfrm>
            <a:off x="685800" y="1981080"/>
            <a:ext cx="379260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11" name="PlaceHolder 3"/>
          <p:cNvSpPr>
            <a:spLocks noGrp="1"/>
          </p:cNvSpPr>
          <p:nvPr>
            <p:ph/>
          </p:nvPr>
        </p:nvSpPr>
        <p:spPr>
          <a:xfrm>
            <a:off x="4668480" y="1981080"/>
            <a:ext cx="379260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1BB6316-B83B-4F4B-98F0-75660D4505B2}" type="slidenum">
              <a:t>&lt;#&gt;</a:t>
            </a:fld>
          </a:p>
        </p:txBody>
      </p:sp>
      <p:sp>
        <p:nvSpPr>
          <p:cNvPr id="7" name="PlaceHolder 6"/>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1" name="PlaceHolder 2"/>
          <p:cNvSpPr>
            <a:spLocks noGrp="1"/>
          </p:cNvSpPr>
          <p:nvPr>
            <p:ph type="body"/>
          </p:nvPr>
        </p:nvSpPr>
        <p:spPr>
          <a:xfrm>
            <a:off x="685800" y="198108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2" name="PlaceHolder 3"/>
          <p:cNvSpPr>
            <a:spLocks noGrp="1"/>
          </p:cNvSpPr>
          <p:nvPr>
            <p:ph type="dt" idx="1"/>
          </p:nvPr>
        </p:nvSpPr>
        <p:spPr>
          <a:xfrm>
            <a:off x="685800" y="6248520"/>
            <a:ext cx="1905120" cy="45720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3"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655308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D9AC2C3-4938-4638-AB47-FEE1E3B7C2E2}"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762120" y="762120"/>
            <a:ext cx="7696080" cy="2286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1992 Analgesic Guidance </a:t>
            </a:r>
            <a:br>
              <a:rPr sz="4400"/>
            </a:br>
            <a:r>
              <a:rPr b="1" lang="en-IN" sz="4400" strike="noStrike" u="none">
                <a:solidFill>
                  <a:srgbClr val="000000"/>
                </a:solidFill>
                <a:effectLst/>
                <a:uFillTx/>
                <a:latin typeface="Times New Roman"/>
              </a:rPr>
              <a:t>and </a:t>
            </a:r>
            <a:br>
              <a:rPr sz="4400"/>
            </a:br>
            <a:r>
              <a:rPr b="1" lang="en-IN" sz="4400" strike="noStrike" u="none">
                <a:solidFill>
                  <a:srgbClr val="000000"/>
                </a:solidFill>
                <a:effectLst/>
                <a:uFillTx/>
                <a:latin typeface="Times New Roman"/>
              </a:rPr>
              <a:t>Current Issues</a:t>
            </a:r>
            <a:endParaRPr b="0" lang="en-IN" sz="4400" strike="noStrike" u="none">
              <a:solidFill>
                <a:srgbClr val="000000"/>
              </a:solidFill>
              <a:effectLst/>
              <a:uFillTx/>
              <a:latin typeface="Times New Roman"/>
            </a:endParaRPr>
          </a:p>
        </p:txBody>
      </p:sp>
      <p:sp>
        <p:nvSpPr>
          <p:cNvPr id="13" name="PlaceHolder 2"/>
          <p:cNvSpPr>
            <a:spLocks noGrp="1"/>
          </p:cNvSpPr>
          <p:nvPr>
            <p:ph type="subTitle"/>
          </p:nvPr>
        </p:nvSpPr>
        <p:spPr>
          <a:xfrm>
            <a:off x="1371600" y="3962160"/>
            <a:ext cx="6400800" cy="1904760"/>
          </a:xfrm>
          <a:prstGeom prst="rect">
            <a:avLst/>
          </a:prstGeom>
          <a:noFill/>
          <a:ln w="0">
            <a:noFill/>
          </a:ln>
        </p:spPr>
        <p:txBody>
          <a:bodyPr lIns="90000" rIns="90000" tIns="46800" bIns="46800" anchor="t">
            <a:no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Christina Fang, M.D.</a:t>
            </a:r>
            <a:endParaRPr b="0" lang="en-IN" sz="3200" strike="noStrike" u="none">
              <a:solidFill>
                <a:srgbClr val="000000"/>
              </a:solidFill>
              <a:effectLst/>
              <a:uFillTx/>
              <a:latin typeface="Times New Roman"/>
            </a:endParaRPr>
          </a:p>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DAAODP/ODEV/CDER/FDA</a:t>
            </a:r>
            <a:endParaRPr b="0" lang="en-IN" sz="3200" strike="noStrike" u="none">
              <a:solidFill>
                <a:srgbClr val="000000"/>
              </a:solidFill>
              <a:effectLst/>
              <a:uFillTx/>
              <a:latin typeface="Times New Roman"/>
            </a:endParaRPr>
          </a:p>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July 29, 2002</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8303D236-F1BC-4D79-BC1E-634D441ED175}"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304560"/>
            <a:ext cx="7772400" cy="10666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Introduction</a:t>
            </a:r>
            <a:endParaRPr b="0" lang="en-IN" sz="4400" strike="noStrike" u="none">
              <a:solidFill>
                <a:srgbClr val="000000"/>
              </a:solidFill>
              <a:effectLst/>
              <a:uFillTx/>
              <a:latin typeface="Times New Roman"/>
            </a:endParaRPr>
          </a:p>
        </p:txBody>
      </p:sp>
      <p:sp>
        <p:nvSpPr>
          <p:cNvPr id="15" name="PlaceHolder 2"/>
          <p:cNvSpPr>
            <a:spLocks noGrp="1"/>
          </p:cNvSpPr>
          <p:nvPr>
            <p:ph/>
          </p:nvPr>
        </p:nvSpPr>
        <p:spPr>
          <a:xfrm>
            <a:off x="304920" y="1523520"/>
            <a:ext cx="8534160" cy="495324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1992 Guideline for the Clinical Evaluation of Analgesic Drugs</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Guidance to analgesic development and research</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Focus on NSAIDs and opioids</a:t>
            </a:r>
            <a:endParaRPr b="0" lang="en-IN" sz="2800" strike="noStrike" u="none">
              <a:solidFill>
                <a:srgbClr val="000000"/>
              </a:solidFill>
              <a:effectLst/>
              <a:uFillTx/>
              <a:latin typeface="Times New Roman"/>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to resolve major issues</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Emerging new molecular entities</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Growth of knowledge about analgesics and analgesia</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3BD46B04-E086-4FDB-8158-311E1EBAA6D3}"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85800" y="533160"/>
            <a:ext cx="7772400" cy="16002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Major areas for improvement in 1992 Guidance document</a:t>
            </a:r>
            <a:endParaRPr b="0" lang="en-IN" sz="4400" strike="noStrike" u="none">
              <a:solidFill>
                <a:srgbClr val="000000"/>
              </a:solidFill>
              <a:effectLst/>
              <a:uFillTx/>
              <a:latin typeface="Times New Roman"/>
            </a:endParaRPr>
          </a:p>
        </p:txBody>
      </p:sp>
      <p:sp>
        <p:nvSpPr>
          <p:cNvPr id="17" name="PlaceHolder 2"/>
          <p:cNvSpPr>
            <a:spLocks noGrp="1"/>
          </p:cNvSpPr>
          <p:nvPr>
            <p:ph/>
          </p:nvPr>
        </p:nvSpPr>
        <p:spPr>
          <a:xfrm>
            <a:off x="685800" y="2895120"/>
            <a:ext cx="4038480" cy="29718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Indications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Chronic studies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Pain models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Dosing</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Efficacy parameters</a:t>
            </a: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18" name="PlaceHolder 3"/>
          <p:cNvSpPr>
            <a:spLocks noGrp="1"/>
          </p:cNvSpPr>
          <p:nvPr>
            <p:ph/>
          </p:nvPr>
        </p:nvSpPr>
        <p:spPr>
          <a:xfrm>
            <a:off x="4952880" y="2895120"/>
            <a:ext cx="3733920" cy="29718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Study controls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Effect/sample size</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Safety</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Opioid sparing</a:t>
            </a:r>
            <a:endParaRPr b="0" lang="en-IN" sz="3200" strike="noStrike" u="none">
              <a:solidFill>
                <a:srgbClr val="000000"/>
              </a:solidFill>
              <a:effectLst/>
              <a:uFillTx/>
              <a:latin typeface="Times New Roman"/>
            </a:endParaRPr>
          </a:p>
        </p:txBody>
      </p:sp>
      <p:sp>
        <p:nvSpPr>
          <p:cNvPr id="5" name="PlaceHolder 4"/>
          <p:cNvSpPr>
            <a:spLocks noGrp="1"/>
          </p:cNvSpPr>
          <p:nvPr>
            <p:ph type="sldNum" idx="3"/>
          </p:nvPr>
        </p:nvSpPr>
        <p:spPr/>
        <p:txBody>
          <a:bodyPr/>
          <a:p>
            <a:fld id="{E7322F36-EB1C-4857-9C4B-8498F5D35EEE}"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609120"/>
            <a:ext cx="77724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Indications</a:t>
            </a:r>
            <a:endParaRPr b="0" lang="en-IN" sz="4400" strike="noStrike" u="none">
              <a:solidFill>
                <a:srgbClr val="000000"/>
              </a:solidFill>
              <a:effectLst/>
              <a:uFillTx/>
              <a:latin typeface="Times New Roman"/>
            </a:endParaRPr>
          </a:p>
        </p:txBody>
      </p:sp>
      <p:sp>
        <p:nvSpPr>
          <p:cNvPr id="20" name="PlaceHolder 2"/>
          <p:cNvSpPr>
            <a:spLocks noGrp="1"/>
          </p:cNvSpPr>
          <p:nvPr>
            <p:ph/>
          </p:nvPr>
        </p:nvSpPr>
        <p:spPr>
          <a:xfrm>
            <a:off x="533160" y="1676520"/>
            <a:ext cx="8305560" cy="4572000"/>
          </a:xfrm>
          <a:prstGeom prst="rect">
            <a:avLst/>
          </a:prstGeom>
          <a:noFill/>
          <a:ln w="0">
            <a:noFill/>
          </a:ln>
        </p:spPr>
        <p:txBody>
          <a:bodyPr lIns="90000" rIns="90000" tIns="46800" bIns="46800" anchor="t">
            <a:normAutofit fontScale="85000"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For the management of pain</a:t>
            </a:r>
            <a:endParaRPr b="0" lang="en-IN" sz="3200" strike="noStrike" u="none">
              <a:solidFill>
                <a:srgbClr val="000000"/>
              </a:solidFill>
              <a:effectLst/>
              <a:uFillTx/>
              <a:latin typeface="Times New Roman"/>
            </a:endParaRPr>
          </a:p>
          <a:p>
            <a:pPr marL="343080" indent="0">
              <a:lnSpc>
                <a:spcPts val="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Evidence for pain of several different etiologies will justify “general purpose” analgesic labeling.</a:t>
            </a:r>
            <a:endParaRPr b="0" lang="en-IN" sz="3200" strike="noStrike" u="none">
              <a:solidFill>
                <a:srgbClr val="000000"/>
              </a:solidFill>
              <a:effectLst/>
              <a:uFillTx/>
              <a:latin typeface="Times New Roman"/>
            </a:endParaRPr>
          </a:p>
          <a:p>
            <a:pPr marL="343080" indent="0">
              <a:lnSpc>
                <a:spcPct val="3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Inclusion of specific labeling indications for preoperative medication, for support of anesthesia, for obstetrical analgesia, or for dysmenorrhea requires specific studies.</a:t>
            </a: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36511363-FB78-4A05-8D3D-E05D6AFB16AD}"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380520"/>
            <a:ext cx="77724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Indications - Current issues</a:t>
            </a:r>
            <a:endParaRPr b="0" lang="en-IN" sz="4400" strike="noStrike" u="none">
              <a:solidFill>
                <a:srgbClr val="000000"/>
              </a:solidFill>
              <a:effectLst/>
              <a:uFillTx/>
              <a:latin typeface="Times New Roman"/>
            </a:endParaRPr>
          </a:p>
        </p:txBody>
      </p:sp>
      <p:sp>
        <p:nvSpPr>
          <p:cNvPr id="22" name="PlaceHolder 2"/>
          <p:cNvSpPr>
            <a:spLocks noGrp="1"/>
          </p:cNvSpPr>
          <p:nvPr>
            <p:ph/>
          </p:nvPr>
        </p:nvSpPr>
        <p:spPr>
          <a:xfrm>
            <a:off x="304920" y="1371240"/>
            <a:ext cx="8686800" cy="487692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General versus specific indications</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The number of acute and chronic pain models</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Representative sub populations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Major types of pain</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Guidance to practitioners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Minimizing unsafe and ineffective off-label use</a:t>
            </a:r>
            <a:endParaRPr b="0" lang="en-IN" sz="2800" strike="noStrike" u="none">
              <a:solidFill>
                <a:srgbClr val="000000"/>
              </a:solidFill>
              <a:effectLst/>
              <a:uFillTx/>
              <a:latin typeface="Times New Roman"/>
            </a:endParaRPr>
          </a:p>
          <a:p>
            <a:pPr marL="343080" indent="-343080">
              <a:lnSpc>
                <a:spcPct val="12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Specific indications</a:t>
            </a:r>
            <a:r>
              <a:rPr b="0" lang="en-IN" sz="3200" strike="noStrike" u="none">
                <a:solidFill>
                  <a:srgbClr val="000000"/>
                </a:solidFill>
                <a:effectLst/>
                <a:uFillTx/>
                <a:latin typeface="Times New Roman"/>
              </a:rPr>
              <a:t> </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Unable to study all due to lack of model sensitivity</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Requires unique pharmacodynamic activities</a:t>
            </a:r>
            <a:endParaRPr b="0" lang="en-IN" sz="2800" strike="noStrike" u="none">
              <a:solidFill>
                <a:srgbClr val="000000"/>
              </a:solidFill>
              <a:effectLst/>
              <a:uFillTx/>
              <a:latin typeface="Times New Roman"/>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4230BB21-5E71-4507-A38F-7AACE9D2C201}"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457200"/>
            <a:ext cx="777240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Indications - Current issues</a:t>
            </a:r>
            <a:endParaRPr b="0" lang="en-IN" sz="4400" strike="noStrike" u="none">
              <a:solidFill>
                <a:srgbClr val="000000"/>
              </a:solidFill>
              <a:effectLst/>
              <a:uFillTx/>
              <a:latin typeface="Times New Roman"/>
            </a:endParaRPr>
          </a:p>
        </p:txBody>
      </p:sp>
      <p:sp>
        <p:nvSpPr>
          <p:cNvPr id="24" name="PlaceHolder 2"/>
          <p:cNvSpPr>
            <a:spLocks noGrp="1"/>
          </p:cNvSpPr>
          <p:nvPr>
            <p:ph/>
          </p:nvPr>
        </p:nvSpPr>
        <p:spPr>
          <a:xfrm>
            <a:off x="457200" y="1599840"/>
            <a:ext cx="8305920" cy="4724280"/>
          </a:xfrm>
          <a:prstGeom prst="rect">
            <a:avLst/>
          </a:prstGeom>
          <a:noFill/>
          <a:ln w="0">
            <a:noFill/>
          </a:ln>
        </p:spPr>
        <p:txBody>
          <a:bodyPr lIns="90000" rIns="90000" tIns="46800" bIns="46800" anchor="t">
            <a:normAutofit/>
          </a:bodyPr>
          <a:p>
            <a:pPr marL="343080" indent="-343080">
              <a:lnSpc>
                <a:spcPct val="14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Acute versus chronic indication</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Need to study short-term and long-term efficacy</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Regulatory requirement: model, replication, and length of study</a:t>
            </a:r>
            <a:endParaRPr b="0" lang="en-IN" sz="2800" strike="noStrike" u="none">
              <a:solidFill>
                <a:srgbClr val="000000"/>
              </a:solidFill>
              <a:effectLst/>
              <a:uFillTx/>
              <a:latin typeface="Times New Roman"/>
            </a:endParaRPr>
          </a:p>
          <a:p>
            <a:pPr marL="343080" indent="-343080">
              <a:lnSpc>
                <a:spcPct val="15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Short-term multiple dose study</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Initial dosing regimen</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Loading dose if necessary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Optimal dosing interval</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A65ECA6C-D25D-4499-BAED-FD4DF4915889}"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
          <p:cNvSpPr txBox="1"/>
          <p:nvPr/>
        </p:nvSpPr>
        <p:spPr>
          <a:xfrm>
            <a:off x="6553080" y="6248520"/>
            <a:ext cx="1905120" cy="457200"/>
          </a:xfrm>
          <a:prstGeom prst="rect">
            <a:avLst/>
          </a:prstGeom>
          <a:noFill/>
          <a:ln w="0">
            <a:noFill/>
          </a:ln>
        </p:spPr>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EF1E68-3EE3-4D9B-8C04-3E3F031619C8}"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
        <p:nvSpPr>
          <p:cNvPr id="26" name=""/>
          <p:cNvSpPr txBox="1"/>
          <p:nvPr/>
        </p:nvSpPr>
        <p:spPr>
          <a:xfrm>
            <a:off x="3124080" y="6248520"/>
            <a:ext cx="2895840" cy="457200"/>
          </a:xfrm>
          <a:prstGeom prst="rect">
            <a:avLst/>
          </a:prstGeom>
          <a:noFill/>
          <a:ln w="0">
            <a:noFill/>
          </a:ln>
        </p:spPr>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7" name=""/>
          <p:cNvSpPr txBox="1"/>
          <p:nvPr/>
        </p:nvSpPr>
        <p:spPr>
          <a:xfrm>
            <a:off x="685800" y="6248520"/>
            <a:ext cx="1905120" cy="457200"/>
          </a:xfrm>
          <a:prstGeom prst="rect">
            <a:avLst/>
          </a:prstGeom>
          <a:noFill/>
          <a:ln w="0">
            <a:noFill/>
          </a:ln>
        </p:spPr>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28" name="PlaceHolder 1"/>
          <p:cNvSpPr>
            <a:spLocks noGrp="1"/>
          </p:cNvSpPr>
          <p:nvPr>
            <p:ph type="title"/>
          </p:nvPr>
        </p:nvSpPr>
        <p:spPr>
          <a:xfrm>
            <a:off x="685800" y="762120"/>
            <a:ext cx="7772400" cy="12189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Chronic studies</a:t>
            </a:r>
            <a:endParaRPr b="0" lang="en-IN" sz="4400" strike="noStrike" u="none">
              <a:solidFill>
                <a:srgbClr val="000000"/>
              </a:solidFill>
              <a:effectLst/>
              <a:uFillTx/>
              <a:latin typeface="Times New Roman"/>
            </a:endParaRPr>
          </a:p>
        </p:txBody>
      </p:sp>
      <p:sp>
        <p:nvSpPr>
          <p:cNvPr id="29" name="PlaceHolder 2"/>
          <p:cNvSpPr>
            <a:spLocks noGrp="1"/>
          </p:cNvSpPr>
          <p:nvPr>
            <p:ph type="subTitle"/>
          </p:nvPr>
        </p:nvSpPr>
        <p:spPr>
          <a:xfrm>
            <a:off x="990360" y="2361960"/>
            <a:ext cx="7543800" cy="3429000"/>
          </a:xfrm>
          <a:prstGeom prst="rect">
            <a:avLst/>
          </a:prstGeom>
          <a:noFill/>
          <a:ln w="0">
            <a:noFill/>
          </a:ln>
        </p:spPr>
        <p:txBody>
          <a:bodyPr lIns="90000" rIns="90000" tIns="46800" bIns="46800" anchor="t">
            <a:noAutofit/>
          </a:bodyPr>
          <a:p>
            <a:pPr indent="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The focus of the multiple-dose studies of more than 2 to 3 days in duration is to provide documentation of “clinical acceptability” and safety of the test drug rather than providing pivotal proof of efficacy.</a:t>
            </a:r>
            <a:endParaRPr b="0" lang="en-IN" sz="3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228600" y="533520"/>
            <a:ext cx="8610480" cy="8380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Chronic studies - </a:t>
            </a:r>
            <a:r>
              <a:rPr b="1" lang="en-IN" sz="4400" strike="noStrike" u="none">
                <a:solidFill>
                  <a:srgbClr val="000000"/>
                </a:solidFill>
                <a:effectLst/>
                <a:uFillTx/>
                <a:latin typeface="Times New Roman"/>
              </a:rPr>
              <a:t>Current issues</a:t>
            </a:r>
            <a:endParaRPr b="0" lang="en-IN" sz="4400" strike="noStrike" u="none">
              <a:solidFill>
                <a:srgbClr val="000000"/>
              </a:solidFill>
              <a:effectLst/>
              <a:uFillTx/>
              <a:latin typeface="Times New Roman"/>
            </a:endParaRPr>
          </a:p>
        </p:txBody>
      </p:sp>
      <p:sp>
        <p:nvSpPr>
          <p:cNvPr id="31" name="PlaceHolder 2"/>
          <p:cNvSpPr>
            <a:spLocks noGrp="1"/>
          </p:cNvSpPr>
          <p:nvPr>
            <p:ph/>
          </p:nvPr>
        </p:nvSpPr>
        <p:spPr>
          <a:xfrm>
            <a:off x="685800" y="1676520"/>
            <a:ext cx="8153280" cy="45720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Length of long-term studies </a:t>
            </a:r>
            <a:endParaRPr b="0" lang="en-IN" sz="3200" strike="noStrike" u="none">
              <a:solidFill>
                <a:srgbClr val="000000"/>
              </a:solidFill>
              <a:effectLst/>
              <a:uFillTx/>
              <a:latin typeface="Times New Roman"/>
            </a:endParaRPr>
          </a:p>
          <a:p>
            <a:pPr marL="343080" indent="-343080">
              <a:lnSpc>
                <a:spcPct val="14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Pivotal proof of efficacy</a:t>
            </a:r>
            <a:endParaRPr b="0" lang="en-IN" sz="3200" strike="noStrike" u="none">
              <a:solidFill>
                <a:srgbClr val="000000"/>
              </a:solidFill>
              <a:effectLst/>
              <a:uFillTx/>
              <a:latin typeface="Times New Roman"/>
            </a:endParaRPr>
          </a:p>
          <a:p>
            <a:pPr marL="343080" indent="-343080">
              <a:lnSpc>
                <a:spcPct val="12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Value for drugs with delayed onset </a:t>
            </a:r>
            <a:endParaRPr b="0" lang="en-IN" sz="3200" strike="noStrike" u="none">
              <a:solidFill>
                <a:srgbClr val="000000"/>
              </a:solidFill>
              <a:effectLst/>
              <a:uFillTx/>
              <a:latin typeface="Times New Roman"/>
            </a:endParaRPr>
          </a:p>
          <a:p>
            <a:pPr marL="343080" indent="-343080">
              <a:lnSpc>
                <a:spcPct val="13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Off-label use for chronic pain as a problem</a:t>
            </a:r>
            <a:endParaRPr b="0" lang="en-IN" sz="3200" strike="noStrike" u="none">
              <a:solidFill>
                <a:srgbClr val="000000"/>
              </a:solidFill>
              <a:effectLst/>
              <a:uFillTx/>
              <a:latin typeface="Times New Roman"/>
            </a:endParaRPr>
          </a:p>
          <a:p>
            <a:pPr marL="343080" indent="-343080">
              <a:lnSpc>
                <a:spcPct val="12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Useful information for product labeling</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Long-term benefit/risk ratio</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Durability effect</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D94CBC13-0C49-4735-9838-24AC65C4B918}"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762120"/>
            <a:ext cx="777240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a:t>
            </a:r>
            <a:r>
              <a:rPr b="1" lang="en-IN" sz="4400" strike="noStrike" u="none">
                <a:solidFill>
                  <a:srgbClr val="000000"/>
                </a:solidFill>
                <a:effectLst/>
                <a:uFillTx/>
                <a:latin typeface="Times New Roman"/>
              </a:rPr>
              <a:t>Pain models</a:t>
            </a:r>
            <a:endParaRPr b="0" lang="en-IN" sz="4400" strike="noStrike" u="none">
              <a:solidFill>
                <a:srgbClr val="000000"/>
              </a:solidFill>
              <a:effectLst/>
              <a:uFillTx/>
              <a:latin typeface="Times New Roman"/>
            </a:endParaRPr>
          </a:p>
        </p:txBody>
      </p:sp>
      <p:sp>
        <p:nvSpPr>
          <p:cNvPr id="33" name="PlaceHolder 2"/>
          <p:cNvSpPr>
            <a:spLocks noGrp="1"/>
          </p:cNvSpPr>
          <p:nvPr>
            <p:ph/>
          </p:nvPr>
        </p:nvSpPr>
        <p:spPr>
          <a:xfrm>
            <a:off x="457200" y="2057400"/>
            <a:ext cx="8153280" cy="4038480"/>
          </a:xfrm>
          <a:prstGeom prst="rect">
            <a:avLst/>
          </a:prstGeom>
          <a:noFill/>
          <a:ln w="0">
            <a:noFill/>
          </a:ln>
        </p:spPr>
        <p:txBody>
          <a:bodyPr lIns="90000" rIns="90000" tIns="46800" bIns="46800" anchor="t">
            <a:normAutofit/>
          </a:bodyPr>
          <a:p>
            <a:pPr marL="343080" indent="-343080">
              <a:lnSpc>
                <a:spcPct val="11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000000"/>
                </a:solidFill>
                <a:effectLst/>
                <a:uFillTx/>
                <a:latin typeface="Times New Roman"/>
              </a:rPr>
              <a:t>The selection of pain model depends on strength of analgesia, route of administration, model sensitivities, active control, and mechanism of action. </a:t>
            </a:r>
            <a:endParaRPr b="0" lang="en-IN" sz="3200" strike="noStrike" u="none">
              <a:solidFill>
                <a:srgbClr val="000000"/>
              </a:solidFill>
              <a:effectLst/>
              <a:uFillTx/>
              <a:latin typeface="Times New Roman"/>
            </a:endParaRPr>
          </a:p>
          <a:p>
            <a:pPr marL="343080" indent="0">
              <a:lnSpc>
                <a:spcPct val="11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000000"/>
                </a:solidFill>
                <a:effectLst/>
                <a:uFillTx/>
                <a:latin typeface="Times New Roman"/>
              </a:rPr>
              <a:t>The initial phase II studies should explore a  wide enough range of pain models.</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F39FDC7C-B1D0-4CEE-9929-531A77411340}"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838080"/>
            <a:ext cx="777240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Pain models - Current issues</a:t>
            </a:r>
            <a:endParaRPr b="0" lang="en-IN" sz="4400" strike="noStrike" u="none">
              <a:solidFill>
                <a:srgbClr val="000000"/>
              </a:solidFill>
              <a:effectLst/>
              <a:uFillTx/>
              <a:latin typeface="Times New Roman"/>
            </a:endParaRPr>
          </a:p>
        </p:txBody>
      </p:sp>
      <p:sp>
        <p:nvSpPr>
          <p:cNvPr id="35" name="PlaceHolder 2"/>
          <p:cNvSpPr>
            <a:spLocks noGrp="1"/>
          </p:cNvSpPr>
          <p:nvPr>
            <p:ph/>
          </p:nvPr>
        </p:nvSpPr>
        <p:spPr>
          <a:xfrm>
            <a:off x="304920" y="2285640"/>
            <a:ext cx="8534160" cy="380988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for more acute and chronic pain models</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Limited models for acute pain</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Limited models for chronic pain</a:t>
            </a:r>
            <a:endParaRPr b="0" lang="en-IN" sz="2800" strike="noStrike" u="none">
              <a:solidFill>
                <a:srgbClr val="000000"/>
              </a:solidFill>
              <a:effectLst/>
              <a:uFillTx/>
              <a:latin typeface="Times New Roman"/>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for models to study the worst pain</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Dosing regimen</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Concomitant/rescue analgesics</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90D06340-D6FF-4C6A-87CD-C8F119E75F24}"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685800" y="457200"/>
            <a:ext cx="7772400" cy="8380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a:t>
            </a:r>
            <a:r>
              <a:rPr b="1" lang="en-IN" sz="4400" strike="noStrike" u="none">
                <a:solidFill>
                  <a:srgbClr val="000000"/>
                </a:solidFill>
                <a:effectLst/>
                <a:uFillTx/>
                <a:latin typeface="Times New Roman"/>
              </a:rPr>
              <a:t>Dosing</a:t>
            </a:r>
            <a:endParaRPr b="0" lang="en-IN" sz="4400" strike="noStrike" u="none">
              <a:solidFill>
                <a:srgbClr val="000000"/>
              </a:solidFill>
              <a:effectLst/>
              <a:uFillTx/>
              <a:latin typeface="Times New Roman"/>
            </a:endParaRPr>
          </a:p>
        </p:txBody>
      </p:sp>
      <p:sp>
        <p:nvSpPr>
          <p:cNvPr id="37" name="PlaceHolder 2"/>
          <p:cNvSpPr>
            <a:spLocks noGrp="1"/>
          </p:cNvSpPr>
          <p:nvPr>
            <p:ph/>
          </p:nvPr>
        </p:nvSpPr>
        <p:spPr>
          <a:xfrm>
            <a:off x="685800" y="1676520"/>
            <a:ext cx="7772400" cy="45720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Phase II studies “should explore the entire dose-response curve of the test drug and should be the basis for selecting the dose used in later phase II and phase III studies.”</a:t>
            </a:r>
            <a:endParaRPr b="0" lang="en-IN" sz="3200" strike="noStrike" u="none">
              <a:solidFill>
                <a:srgbClr val="000000"/>
              </a:solidFill>
              <a:effectLst/>
              <a:uFillTx/>
              <a:latin typeface="Times New Roman"/>
            </a:endParaRPr>
          </a:p>
          <a:p>
            <a:pPr marL="3430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lnSpc>
                <a:spcPct val="9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Phase III studies are “intended to assess the effectiveness of the recommended dosage schedule under conditions of use.”</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9560CA21-9E19-4D6F-B932-7500EF92D022}"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62120" y="762120"/>
            <a:ext cx="769608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Dosing - Current issues</a:t>
            </a:r>
            <a:endParaRPr b="0" lang="en-IN" sz="4400" strike="noStrike" u="none">
              <a:solidFill>
                <a:srgbClr val="000000"/>
              </a:solidFill>
              <a:effectLst/>
              <a:uFillTx/>
              <a:latin typeface="Times New Roman"/>
            </a:endParaRPr>
          </a:p>
        </p:txBody>
      </p:sp>
      <p:sp>
        <p:nvSpPr>
          <p:cNvPr id="39" name="PlaceHolder 2"/>
          <p:cNvSpPr>
            <a:spLocks noGrp="1"/>
          </p:cNvSpPr>
          <p:nvPr>
            <p:ph/>
          </p:nvPr>
        </p:nvSpPr>
        <p:spPr>
          <a:xfrm>
            <a:off x="761760" y="2133720"/>
            <a:ext cx="7924680" cy="3962160"/>
          </a:xfrm>
          <a:prstGeom prst="rect">
            <a:avLst/>
          </a:prstGeom>
          <a:noFill/>
          <a:ln w="0">
            <a:noFill/>
          </a:ln>
        </p:spPr>
        <p:txBody>
          <a:bodyPr lIns="90000" rIns="90000" tIns="46800" bIns="46800" anchor="t">
            <a:normAutofit fontScale="92500" lnSpcReduction="9999"/>
          </a:bodyPr>
          <a:p>
            <a:pPr marL="343080" indent="-343080">
              <a:spcBef>
                <a:spcPts val="10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Dose levels and dosing intervals</a:t>
            </a:r>
            <a:r>
              <a:rPr b="1" lang="en-IN" sz="4000" strike="noStrike" u="none">
                <a:solidFill>
                  <a:srgbClr val="000000"/>
                </a:solidFill>
                <a:effectLst/>
                <a:uFillTx/>
                <a:latin typeface="Times New Roman"/>
              </a:rPr>
              <a:t> </a:t>
            </a:r>
            <a:endParaRPr b="0" lang="en-IN" sz="40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Dosage obtained from acute setting may not apply to chronic use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Dosing for optimal benefit/risk ratio versus dosing for convenience</a:t>
            </a:r>
            <a:endParaRPr b="0" lang="en-IN" sz="2800" strike="noStrike" u="none">
              <a:solidFill>
                <a:srgbClr val="000000"/>
              </a:solidFill>
              <a:effectLst/>
              <a:uFillTx/>
              <a:latin typeface="Times New Roman"/>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marL="343080" indent="-343080">
              <a:lnSpc>
                <a:spcPct val="7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Fixed dosing for establishing efficacy</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Clinical practice versus clinical trials</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F394A7B9-252C-436D-9FB3-8D74BF12A082}"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52280" y="609480"/>
            <a:ext cx="883944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a:t>
            </a:r>
            <a:r>
              <a:rPr b="1" lang="en-IN" sz="4400" strike="noStrike" u="none">
                <a:solidFill>
                  <a:srgbClr val="000000"/>
                </a:solidFill>
                <a:effectLst/>
                <a:uFillTx/>
                <a:latin typeface="Times New Roman"/>
              </a:rPr>
              <a:t>Efficacy parameters</a:t>
            </a:r>
            <a:endParaRPr b="0" lang="en-IN" sz="4400" strike="noStrike" u="none">
              <a:solidFill>
                <a:srgbClr val="000000"/>
              </a:solidFill>
              <a:effectLst/>
              <a:uFillTx/>
              <a:latin typeface="Times New Roman"/>
            </a:endParaRPr>
          </a:p>
        </p:txBody>
      </p:sp>
      <p:sp>
        <p:nvSpPr>
          <p:cNvPr id="41" name="PlaceHolder 2"/>
          <p:cNvSpPr>
            <a:spLocks noGrp="1"/>
          </p:cNvSpPr>
          <p:nvPr>
            <p:ph/>
          </p:nvPr>
        </p:nvSpPr>
        <p:spPr>
          <a:xfrm>
            <a:off x="380880" y="1904760"/>
            <a:ext cx="8382240" cy="426708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000000"/>
                </a:solidFill>
                <a:effectLst/>
                <a:uFillTx/>
                <a:latin typeface="Times New Roman"/>
              </a:rPr>
              <a:t>“The development program for an analgesic should collect data to describe adequately onset of effect, peak effect, and duration of effect.  There are many ways to collect data on these measures of efficacy.”</a:t>
            </a:r>
            <a:r>
              <a:rPr b="1" i="1" lang="en-US" sz="3200" strike="noStrike" u="none">
                <a:solidFill>
                  <a:srgbClr val="000000"/>
                </a:solidFill>
                <a:effectLst/>
                <a:uFillTx/>
                <a:latin typeface="Times New Roman"/>
              </a:rPr>
              <a:t> </a:t>
            </a: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000000"/>
                </a:solidFill>
                <a:effectLst/>
                <a:uFillTx/>
                <a:latin typeface="Times New Roman"/>
              </a:rPr>
              <a:t>There is a long list of measured and derived parameters.</a:t>
            </a:r>
            <a:r>
              <a:rPr b="1" lang="en-US" sz="3200" strike="noStrike" u="none">
                <a:solidFill>
                  <a:srgbClr val="000000"/>
                </a:solidFill>
                <a:effectLst/>
                <a:uFillTx/>
                <a:latin typeface="Times New Roman"/>
              </a:rPr>
              <a:t>	</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B51CC139-EA94-4AA4-9364-1AE9E73ABC53}"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52280" y="533520"/>
            <a:ext cx="8839440" cy="7617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Efficacy parameters-Current issues</a:t>
            </a:r>
            <a:endParaRPr b="0" lang="en-IN" sz="4400" strike="noStrike" u="none">
              <a:solidFill>
                <a:srgbClr val="000000"/>
              </a:solidFill>
              <a:effectLst/>
              <a:uFillTx/>
              <a:latin typeface="Times New Roman"/>
            </a:endParaRPr>
          </a:p>
        </p:txBody>
      </p:sp>
      <p:sp>
        <p:nvSpPr>
          <p:cNvPr id="43" name="PlaceHolder 2"/>
          <p:cNvSpPr>
            <a:spLocks noGrp="1"/>
          </p:cNvSpPr>
          <p:nvPr>
            <p:ph/>
          </p:nvPr>
        </p:nvSpPr>
        <p:spPr>
          <a:xfrm>
            <a:off x="685800" y="1828440"/>
            <a:ext cx="7772400" cy="43434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Choice of efficacy parameters </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Minimize bias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Time course of effect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Dosing recommendations</a:t>
            </a:r>
            <a:endParaRPr b="0" lang="en-IN" sz="2800" strike="noStrike" u="none">
              <a:solidFill>
                <a:srgbClr val="000000"/>
              </a:solidFill>
              <a:effectLst/>
              <a:uFillTx/>
              <a:latin typeface="Times New Roman"/>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Pain curves, onset, and duration </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Valid and reliable tools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Acute and chronic settings</a:t>
            </a:r>
            <a:r>
              <a:rPr b="0" lang="en-IN" sz="2800" strike="noStrike" u="none">
                <a:solidFill>
                  <a:srgbClr val="000000"/>
                </a:solidFill>
                <a:effectLst/>
                <a:uFillTx/>
                <a:latin typeface="Times New Roman"/>
              </a:rPr>
              <a:t> </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9FC2FECC-3CD4-4357-A1E3-B1183B411F8C}"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228600" y="838080"/>
            <a:ext cx="8763120" cy="9907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Efficacy parameters-Current issues</a:t>
            </a:r>
            <a:endParaRPr b="0" lang="en-IN" sz="4400" strike="noStrike" u="none">
              <a:solidFill>
                <a:srgbClr val="000000"/>
              </a:solidFill>
              <a:effectLst/>
              <a:uFillTx/>
              <a:latin typeface="Times New Roman"/>
            </a:endParaRPr>
          </a:p>
        </p:txBody>
      </p:sp>
      <p:sp>
        <p:nvSpPr>
          <p:cNvPr id="45" name="PlaceHolder 2"/>
          <p:cNvSpPr>
            <a:spLocks noGrp="1"/>
          </p:cNvSpPr>
          <p:nvPr>
            <p:ph/>
          </p:nvPr>
        </p:nvSpPr>
        <p:spPr>
          <a:xfrm>
            <a:off x="761760" y="2514600"/>
            <a:ext cx="7924680" cy="358128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Chronic pain evaluation</a:t>
            </a:r>
            <a:endParaRPr b="0" lang="en-IN" sz="3200" strike="noStrike" u="none">
              <a:solidFill>
                <a:srgbClr val="000000"/>
              </a:solidFill>
              <a:effectLst/>
              <a:uFillTx/>
              <a:latin typeface="Times New Roman"/>
            </a:endParaRPr>
          </a:p>
          <a:p>
            <a:pPr lvl="1" marL="743040" indent="-285840">
              <a:lnSpc>
                <a:spcPct val="12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Pain-related functional status</a:t>
            </a:r>
            <a:endParaRPr b="0" lang="en-IN" sz="2800" strike="noStrike" u="none">
              <a:solidFill>
                <a:srgbClr val="000000"/>
              </a:solidFill>
              <a:effectLst/>
              <a:uFillTx/>
              <a:latin typeface="Times New Roman"/>
            </a:endParaRPr>
          </a:p>
          <a:p>
            <a:pPr lvl="1" marL="743040" indent="-285840">
              <a:lnSpc>
                <a:spcPct val="15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Patient global satisfaction</a:t>
            </a:r>
            <a:endParaRPr b="0" lang="en-IN" sz="2800" strike="noStrike" u="none">
              <a:solidFill>
                <a:srgbClr val="000000"/>
              </a:solidFill>
              <a:effectLst/>
              <a:uFillTx/>
              <a:latin typeface="Times New Roman"/>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	</a:t>
            </a:r>
            <a:r>
              <a:rPr b="1" lang="en-IN" sz="2800" strike="noStrike" u="none">
                <a:solidFill>
                  <a:srgbClr val="000000"/>
                </a:solidFill>
                <a:effectLst/>
                <a:uFillTx/>
                <a:latin typeface="Times New Roman"/>
              </a:rPr>
              <a:t>	</a:t>
            </a:r>
            <a:r>
              <a:rPr b="1" lang="en-IN" sz="2800" strike="noStrike" u="none">
                <a:solidFill>
                  <a:srgbClr val="000000"/>
                </a:solidFill>
                <a:effectLst/>
                <a:uFillTx/>
                <a:latin typeface="Times New Roman"/>
              </a:rPr>
              <a:t>(both positive and negative experiences)</a:t>
            </a:r>
            <a:endParaRPr b="0" lang="en-IN" sz="2800" strike="noStrike" u="none">
              <a:solidFill>
                <a:srgbClr val="000000"/>
              </a:solidFill>
              <a:effectLst/>
              <a:uFillTx/>
              <a:latin typeface="Times New Roman"/>
            </a:endParaRPr>
          </a:p>
          <a:p>
            <a:pPr lvl="1" marL="743040" indent="-285840">
              <a:lnSpc>
                <a:spcPct val="17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Primary versus supportive evidence</a:t>
            </a:r>
            <a:endParaRPr b="0" lang="en-IN" sz="2800" strike="noStrike" u="none">
              <a:solidFill>
                <a:srgbClr val="000000"/>
              </a:solidFill>
              <a:effectLst/>
              <a:uFillTx/>
              <a:latin typeface="Times New Roman"/>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   </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07A90746-A3E5-4F4A-B7E6-DA5841B38B25}"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914400"/>
            <a:ext cx="7772400" cy="8380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Study </a:t>
            </a:r>
            <a:r>
              <a:rPr b="1" lang="en-IN" sz="4400" strike="noStrike" u="none">
                <a:solidFill>
                  <a:srgbClr val="000000"/>
                </a:solidFill>
                <a:effectLst/>
                <a:uFillTx/>
                <a:latin typeface="Times New Roman"/>
              </a:rPr>
              <a:t>Controls</a:t>
            </a:r>
            <a:endParaRPr b="0" lang="en-IN" sz="4400" strike="noStrike" u="none">
              <a:solidFill>
                <a:srgbClr val="000000"/>
              </a:solidFill>
              <a:effectLst/>
              <a:uFillTx/>
              <a:latin typeface="Times New Roman"/>
            </a:endParaRPr>
          </a:p>
        </p:txBody>
      </p:sp>
      <p:sp>
        <p:nvSpPr>
          <p:cNvPr id="47" name="PlaceHolder 2"/>
          <p:cNvSpPr>
            <a:spLocks noGrp="1"/>
          </p:cNvSpPr>
          <p:nvPr>
            <p:ph/>
          </p:nvPr>
        </p:nvSpPr>
        <p:spPr>
          <a:xfrm>
            <a:off x="304920" y="2514600"/>
            <a:ext cx="8610480" cy="3733920"/>
          </a:xfrm>
          <a:prstGeom prst="rect">
            <a:avLst/>
          </a:prstGeom>
          <a:noFill/>
          <a:ln w="0">
            <a:noFill/>
          </a:ln>
        </p:spPr>
        <p:txBody>
          <a:bodyPr lIns="90000" rIns="90000" tIns="46800" bIns="46800" anchor="t">
            <a:normAutofit/>
          </a:bodyPr>
          <a:p>
            <a:pPr marL="343080" indent="-343080">
              <a:lnSpc>
                <a:spcPct val="9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Single-dose study: placebo and active control</a:t>
            </a:r>
            <a:endParaRPr b="0" lang="en-IN" sz="3200" strike="noStrike" u="none">
              <a:solidFill>
                <a:srgbClr val="000000"/>
              </a:solidFill>
              <a:effectLst/>
              <a:uFillTx/>
              <a:latin typeface="Times New Roman"/>
            </a:endParaRPr>
          </a:p>
          <a:p>
            <a:pPr marL="3430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Short-term multiple-dose study: active control or placebo control with rescue</a:t>
            </a:r>
            <a:endParaRPr b="0" lang="en-IN" sz="3200" strike="noStrike" u="none">
              <a:solidFill>
                <a:srgbClr val="000000"/>
              </a:solidFill>
              <a:effectLst/>
              <a:uFillTx/>
              <a:latin typeface="Times New Roman"/>
            </a:endParaRPr>
          </a:p>
          <a:p>
            <a:pPr marL="343080" indent="0">
              <a:lnSpc>
                <a:spcPct val="11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lnSpc>
                <a:spcPct val="11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Long-term multiple-dose study: active control</a:t>
            </a:r>
            <a:r>
              <a:rPr b="0" lang="en-IN" sz="3200" strike="noStrike" u="none">
                <a:solidFill>
                  <a:srgbClr val="000000"/>
                </a:solidFill>
                <a:effectLst/>
                <a:uFillTx/>
                <a:latin typeface="Times New Roman"/>
              </a:rPr>
              <a:t> </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4554D3CE-093D-44EC-9C8B-FB2A2549BC45}"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609480"/>
            <a:ext cx="7772400" cy="60984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Study controls - Current issues</a:t>
            </a:r>
            <a:endParaRPr b="0" lang="en-IN" sz="4400" strike="noStrike" u="none">
              <a:solidFill>
                <a:srgbClr val="000000"/>
              </a:solidFill>
              <a:effectLst/>
              <a:uFillTx/>
              <a:latin typeface="Times New Roman"/>
            </a:endParaRPr>
          </a:p>
        </p:txBody>
      </p:sp>
      <p:sp>
        <p:nvSpPr>
          <p:cNvPr id="49" name="PlaceHolder 2"/>
          <p:cNvSpPr>
            <a:spLocks noGrp="1"/>
          </p:cNvSpPr>
          <p:nvPr>
            <p:ph/>
          </p:nvPr>
        </p:nvSpPr>
        <p:spPr>
          <a:xfrm>
            <a:off x="533520" y="1523880"/>
            <a:ext cx="8153280" cy="4572000"/>
          </a:xfrm>
          <a:prstGeom prst="rect">
            <a:avLst/>
          </a:prstGeom>
          <a:noFill/>
          <a:ln w="0">
            <a:noFill/>
          </a:ln>
        </p:spPr>
        <p:txBody>
          <a:bodyPr lIns="90000" rIns="90000" tIns="46800" bIns="46800" anchor="t">
            <a:normAutofit lnSpcReduction="9999"/>
          </a:bodyPr>
          <a:p>
            <a:pPr marL="343080" indent="-343080">
              <a:lnSpc>
                <a:spcPct val="11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for adequate control in both acute and chronic analgesic studies</a:t>
            </a:r>
            <a:endParaRPr b="0" lang="en-IN" sz="3200" strike="noStrike" u="none">
              <a:solidFill>
                <a:srgbClr val="000000"/>
              </a:solidFill>
              <a:effectLst/>
              <a:uFillTx/>
              <a:latin typeface="Times New Roman"/>
            </a:endParaRPr>
          </a:p>
          <a:p>
            <a:pPr marL="343080" indent="-343080">
              <a:lnSpc>
                <a:spcPct val="11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High placebo response in analgesia trials</a:t>
            </a:r>
            <a:endParaRPr b="0" lang="en-IN" sz="3200" strike="noStrike" u="none">
              <a:solidFill>
                <a:srgbClr val="000000"/>
              </a:solidFill>
              <a:effectLst/>
              <a:uFillTx/>
              <a:latin typeface="Times New Roman"/>
            </a:endParaRPr>
          </a:p>
          <a:p>
            <a:pPr marL="343080" indent="-343080">
              <a:lnSpc>
                <a:spcPct val="11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Superiority versus equivalence design </a:t>
            </a:r>
            <a:endParaRPr b="0" lang="en-IN" sz="3200" strike="noStrike" u="none">
              <a:solidFill>
                <a:srgbClr val="000000"/>
              </a:solidFill>
              <a:effectLst/>
              <a:uFillTx/>
              <a:latin typeface="Times New Roman"/>
            </a:endParaRPr>
          </a:p>
          <a:p>
            <a:pPr marL="343080" indent="-343080">
              <a:lnSpc>
                <a:spcPct val="14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Special considerations for chronic studies</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Differential dropout rates</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How to keep blinding intact if different safety profiles </a:t>
            </a:r>
            <a:endParaRPr b="0" lang="en-IN" sz="28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6F9AA43C-95F9-4FBC-AE4F-5492F72D3241}"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6840" y="609120"/>
            <a:ext cx="80010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a:t>
            </a:r>
            <a:r>
              <a:rPr b="1" lang="en-IN" sz="4400" strike="noStrike" u="none">
                <a:solidFill>
                  <a:srgbClr val="000000"/>
                </a:solidFill>
                <a:effectLst/>
                <a:uFillTx/>
                <a:latin typeface="Times New Roman"/>
              </a:rPr>
              <a:t>Effect/sample size</a:t>
            </a:r>
            <a:endParaRPr b="0" lang="en-IN" sz="4400" strike="noStrike" u="none">
              <a:solidFill>
                <a:srgbClr val="000000"/>
              </a:solidFill>
              <a:effectLst/>
              <a:uFillTx/>
              <a:latin typeface="Times New Roman"/>
            </a:endParaRPr>
          </a:p>
        </p:txBody>
      </p:sp>
      <p:sp>
        <p:nvSpPr>
          <p:cNvPr id="51" name="PlaceHolder 2"/>
          <p:cNvSpPr>
            <a:spLocks noGrp="1"/>
          </p:cNvSpPr>
          <p:nvPr>
            <p:ph/>
          </p:nvPr>
        </p:nvSpPr>
        <p:spPr>
          <a:xfrm>
            <a:off x="685800" y="1981080"/>
            <a:ext cx="7772400" cy="4114800"/>
          </a:xfrm>
          <a:prstGeom prst="rect">
            <a:avLst/>
          </a:prstGeom>
          <a:noFill/>
          <a:ln w="0">
            <a:noFill/>
          </a:ln>
        </p:spPr>
        <p:txBody>
          <a:bodyPr lIns="90000" rIns="90000" tIns="46800" bIns="46800" anchor="t">
            <a:normAutofit fontScale="92500"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Calculation of sample size “depends on the variance, the magnitude of difference to be detected, and the desired power.”  </a:t>
            </a: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Special consideration should be given to the “validity and the implications of the clinical significance of the differences or similarities to be detected.”</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64D58317-C215-4774-9E3B-3AD832E608F3}"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151920" y="914400"/>
            <a:ext cx="853452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Effect/sample size - Current issues</a:t>
            </a:r>
            <a:endParaRPr b="0" lang="en-IN" sz="4400" strike="noStrike" u="none">
              <a:solidFill>
                <a:srgbClr val="000000"/>
              </a:solidFill>
              <a:effectLst/>
              <a:uFillTx/>
              <a:latin typeface="Times New Roman"/>
            </a:endParaRPr>
          </a:p>
        </p:txBody>
      </p:sp>
      <p:sp>
        <p:nvSpPr>
          <p:cNvPr id="53" name="PlaceHolder 2"/>
          <p:cNvSpPr>
            <a:spLocks noGrp="1"/>
          </p:cNvSpPr>
          <p:nvPr>
            <p:ph/>
          </p:nvPr>
        </p:nvSpPr>
        <p:spPr>
          <a:xfrm>
            <a:off x="1066680" y="2285640"/>
            <a:ext cx="7391520" cy="396252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Clinically meaningful effect size</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Debate on definition</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No consensus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Approach</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Data base</a:t>
            </a:r>
            <a:endParaRPr b="0" lang="en-IN" sz="2800" strike="noStrike" u="none">
              <a:solidFill>
                <a:srgbClr val="000000"/>
              </a:solidFill>
              <a:effectLst/>
              <a:uFillTx/>
              <a:latin typeface="Times New Roman"/>
            </a:endParaRPr>
          </a:p>
          <a:p>
            <a:pPr marL="343080" indent="0">
              <a:lnSpc>
                <a:spcPct val="90000"/>
              </a:lnSpc>
              <a:spcBef>
                <a:spcPts val="9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600" strike="noStrike" u="none">
              <a:solidFill>
                <a:srgbClr val="000000"/>
              </a:solidFill>
              <a:effectLst/>
              <a:uFillTx/>
              <a:latin typeface="Times New Roman"/>
            </a:endParaRPr>
          </a:p>
          <a:p>
            <a:pPr marL="343080" indent="-343080">
              <a:lnSpc>
                <a:spcPct val="4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Sample size</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672E28F7-B6C6-4CA3-91E9-256A857E636B}"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609480"/>
            <a:ext cx="7772400" cy="9907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92 Guidance - Safety</a:t>
            </a:r>
            <a:endParaRPr b="0" lang="en-IN" sz="4400" strike="noStrike" u="none">
              <a:solidFill>
                <a:srgbClr val="000000"/>
              </a:solidFill>
              <a:effectLst/>
              <a:uFillTx/>
              <a:latin typeface="Times New Roman"/>
            </a:endParaRPr>
          </a:p>
        </p:txBody>
      </p:sp>
      <p:sp>
        <p:nvSpPr>
          <p:cNvPr id="55" name="PlaceHolder 2"/>
          <p:cNvSpPr>
            <a:spLocks noGrp="1"/>
          </p:cNvSpPr>
          <p:nvPr>
            <p:ph/>
          </p:nvPr>
        </p:nvSpPr>
        <p:spPr>
          <a:xfrm>
            <a:off x="380520" y="1904760"/>
            <a:ext cx="8610840" cy="4190760"/>
          </a:xfrm>
          <a:prstGeom prst="rect">
            <a:avLst/>
          </a:prstGeom>
          <a:noFill/>
          <a:ln w="0">
            <a:noFill/>
          </a:ln>
        </p:spPr>
        <p:txBody>
          <a:bodyPr lIns="90000" rIns="90000" tIns="46800" bIns="46800" anchor="t">
            <a:normAutofit/>
          </a:bodyPr>
          <a:p>
            <a:pPr marL="343080" indent="-343080">
              <a:lnSpc>
                <a:spcPct val="12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Peripherally acting or NSAID oral analgesics: regular dosing for at least 6 months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Centrally acting oral analgesics: regular dosing for at least 1 month, continuing for at least 3 month if feasible</a:t>
            </a:r>
            <a:endParaRPr b="0" lang="en-IN" sz="3200" strike="noStrike" u="none">
              <a:solidFill>
                <a:srgbClr val="000000"/>
              </a:solidFill>
              <a:effectLst/>
              <a:uFillTx/>
              <a:latin typeface="Times New Roman"/>
            </a:endParaRPr>
          </a:p>
          <a:p>
            <a:pPr marL="343080" indent="-343080">
              <a:lnSpc>
                <a:spcPct val="11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Oral combination analgesics: regular dosing for at least 1 month</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80EB4F26-D1BE-4638-95BD-F2A70CBA2A2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85800" y="685440"/>
            <a:ext cx="77724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Safety - Current issues</a:t>
            </a:r>
            <a:endParaRPr b="0" lang="en-IN" sz="4400" strike="noStrike" u="none">
              <a:solidFill>
                <a:srgbClr val="000000"/>
              </a:solidFill>
              <a:effectLst/>
              <a:uFillTx/>
              <a:latin typeface="Times New Roman"/>
            </a:endParaRPr>
          </a:p>
        </p:txBody>
      </p:sp>
      <p:sp>
        <p:nvSpPr>
          <p:cNvPr id="57" name="PlaceHolder 2"/>
          <p:cNvSpPr>
            <a:spLocks noGrp="1"/>
          </p:cNvSpPr>
          <p:nvPr>
            <p:ph/>
          </p:nvPr>
        </p:nvSpPr>
        <p:spPr>
          <a:xfrm>
            <a:off x="456840" y="1676520"/>
            <a:ext cx="8458200" cy="45720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Extent of exposure and adverse events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to study the maximum dosing proposed</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ICH guidelines for chronic pain</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Minimum number of subjects</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Minimum length of exposure</a:t>
            </a:r>
            <a:endParaRPr b="0" lang="en-IN" sz="28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Representative study population </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Special population with high risks </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Large safety trial if serious concerns</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A21E2EE7-3315-4960-BF16-F5050A15FC44}"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152280" y="380880"/>
            <a:ext cx="8763120" cy="9907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Opioid sparing - Current issues</a:t>
            </a:r>
            <a:endParaRPr b="0" lang="en-IN" sz="4400" strike="noStrike" u="none">
              <a:solidFill>
                <a:srgbClr val="000000"/>
              </a:solidFill>
              <a:effectLst/>
              <a:uFillTx/>
              <a:latin typeface="Times New Roman"/>
            </a:endParaRPr>
          </a:p>
        </p:txBody>
      </p:sp>
      <p:sp>
        <p:nvSpPr>
          <p:cNvPr id="59" name="PlaceHolder 2"/>
          <p:cNvSpPr>
            <a:spLocks noGrp="1"/>
          </p:cNvSpPr>
          <p:nvPr>
            <p:ph/>
          </p:nvPr>
        </p:nvSpPr>
        <p:spPr>
          <a:xfrm>
            <a:off x="609120" y="1676520"/>
            <a:ext cx="8077320" cy="449568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Clinical relevance of opioid sparing</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Extent of dose sparing to be clinically meaningful </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Concurrent analgesics </a:t>
            </a:r>
            <a:endParaRPr b="0" lang="en-IN" sz="32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Standardization </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Data analysis combining pain data and rescue</a:t>
            </a:r>
            <a:endParaRPr b="0" lang="en-IN" sz="28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Adjuvant analgesics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How to evaluate efficacy and safety</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0C5D3BF5-A0A6-47BB-A820-2FA6EC3A78E8}"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685800" y="761760"/>
            <a:ext cx="7772400" cy="6858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000000"/>
                </a:solidFill>
                <a:effectLst/>
                <a:uFillTx/>
                <a:latin typeface="Times New Roman"/>
              </a:rPr>
              <a:t>Conclusions</a:t>
            </a:r>
            <a:endParaRPr b="0" lang="en-IN" sz="4400" strike="noStrike" u="none">
              <a:solidFill>
                <a:srgbClr val="000000"/>
              </a:solidFill>
              <a:effectLst/>
              <a:uFillTx/>
              <a:latin typeface="Times New Roman"/>
            </a:endParaRPr>
          </a:p>
        </p:txBody>
      </p:sp>
      <p:sp>
        <p:nvSpPr>
          <p:cNvPr id="61" name="PlaceHolder 2"/>
          <p:cNvSpPr>
            <a:spLocks noGrp="1"/>
          </p:cNvSpPr>
          <p:nvPr>
            <p:ph/>
          </p:nvPr>
        </p:nvSpPr>
        <p:spPr>
          <a:xfrm>
            <a:off x="609480" y="1980720"/>
            <a:ext cx="7772400" cy="3962520"/>
          </a:xfrm>
          <a:prstGeom prst="rect">
            <a:avLst/>
          </a:prstGeom>
          <a:noFill/>
          <a:ln w="0">
            <a:noFill/>
          </a:ln>
        </p:spPr>
        <p:txBody>
          <a:bodyPr lIns="90000" rIns="90000" tIns="46800" bIns="46800" anchor="t">
            <a:normAutofit fontScale="77500" lnSpcReduction="1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Many issues to be resolved</a:t>
            </a:r>
            <a:endParaRPr b="0" lang="en-IN" sz="3200" strike="noStrike" u="none">
              <a:solidFill>
                <a:srgbClr val="000000"/>
              </a:solidFill>
              <a:effectLst/>
              <a:uFillTx/>
              <a:latin typeface="Times New Roman"/>
            </a:endParaRPr>
          </a:p>
          <a:p>
            <a:pPr marL="343080" indent="0">
              <a:lnSpc>
                <a:spcPts val="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for updating 92 Guidance document</a:t>
            </a:r>
            <a:endParaRPr b="0" lang="en-IN" sz="3200" strike="noStrike" u="none">
              <a:solidFill>
                <a:srgbClr val="000000"/>
              </a:solidFill>
              <a:effectLst/>
              <a:uFillTx/>
              <a:latin typeface="Times New Roman"/>
            </a:endParaRPr>
          </a:p>
          <a:p>
            <a:pPr marL="343080" indent="0">
              <a:lnSpc>
                <a:spcPts val="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for proposals for future analgesic research</a:t>
            </a:r>
            <a:endParaRPr b="0" lang="en-IN" sz="3200" strike="noStrike" u="none">
              <a:solidFill>
                <a:srgbClr val="000000"/>
              </a:solidFill>
              <a:effectLst/>
              <a:uFillTx/>
              <a:latin typeface="Times New Roman"/>
            </a:endParaRPr>
          </a:p>
          <a:p>
            <a:pPr marL="343080" indent="0">
              <a:lnSpc>
                <a:spcPts val="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Need for consensus among researchers, drug sponsors, and regulatory agency</a:t>
            </a:r>
            <a:endParaRPr b="0" lang="en-IN" sz="3200" strike="noStrike" u="none">
              <a:solidFill>
                <a:srgbClr val="000000"/>
              </a:solidFill>
              <a:effectLst/>
              <a:uFillTx/>
              <a:latin typeface="Times New Roman"/>
            </a:endParaRPr>
          </a:p>
        </p:txBody>
      </p:sp>
      <p:sp>
        <p:nvSpPr>
          <p:cNvPr id="4" name="PlaceHolder 3"/>
          <p:cNvSpPr>
            <a:spLocks noGrp="1"/>
          </p:cNvSpPr>
          <p:nvPr>
            <p:ph type="sldNum" idx="3"/>
          </p:nvPr>
        </p:nvSpPr>
        <p:spPr/>
        <p:txBody>
          <a:bodyPr/>
          <a:p>
            <a:fld id="{BD493F77-1C09-4805-AE5C-4919F291B5F5}" type="slidenum">
              <a:t>23</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1691</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2002-07-17T06:57:40Z</dcterms:created>
  <dc:creator>CDER User</dc:creator>
  <dc:description/>
  <dc:language>en-IN</dc:language>
  <cp:lastModifiedBy>FDA.CDER</cp:lastModifiedBy>
  <cp:lastPrinted>2002-07-28T20:23:41Z</cp:lastPrinted>
  <dcterms:modified xsi:type="dcterms:W3CDTF">2002-07-29T04:49:36Z</dcterms:modified>
  <cp:revision>36</cp:revision>
  <dc:subject/>
  <dc:title>Indications-92 Guideline</dc:title>
</cp:coreProperties>
</file>