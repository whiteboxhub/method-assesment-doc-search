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notesSlides/_rels/notesSlide4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jpeg" ContentType="image/jpe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move the slide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FA352548-B946-40DB-B96D-E385FF6E28D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 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2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D2621BA0-3903-4136-90B1-145491A91CA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9"/>
          <p:cNvSpPr/>
          <p:nvPr/>
        </p:nvSpPr>
        <p:spPr>
          <a:xfrm>
            <a:off x="0" y="-12600"/>
            <a:ext cx="9153360" cy="984240"/>
          </a:xfrm>
          <a:prstGeom prst="rect">
            <a:avLst/>
          </a:prstGeom>
          <a:solidFill>
            <a:srgbClr val="10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18800" y="990720"/>
            <a:ext cx="8915400" cy="555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17375e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4f6228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953735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604a7b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12600" y="6559560"/>
            <a:ext cx="1733760" cy="28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August 15,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1733040" y="6546960"/>
            <a:ext cx="567396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Presenter’s Na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5A6138FA-357A-4FA2-A248-E20155E3E38F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2" descr="C:\Documents and Settings\sgeer\My Documents\MAP\MAP-LOGO.png"/>
          <p:cNvPicPr/>
          <p:nvPr/>
        </p:nvPicPr>
        <p:blipFill>
          <a:blip r:embed="rId2"/>
          <a:stretch/>
        </p:blipFill>
        <p:spPr>
          <a:xfrm>
            <a:off x="8294760" y="-9360"/>
            <a:ext cx="857160" cy="97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Rectangle 10"/>
          <p:cNvSpPr/>
          <p:nvPr/>
        </p:nvSpPr>
        <p:spPr>
          <a:xfrm>
            <a:off x="0" y="0"/>
            <a:ext cx="1243080" cy="977760"/>
          </a:xfrm>
          <a:prstGeom prst="rect">
            <a:avLst/>
          </a:prstGeom>
          <a:noFill/>
          <a:ln w="0">
            <a:noFill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traight Connector 15"/>
          <p:cNvSpPr/>
          <p:nvPr/>
        </p:nvSpPr>
        <p:spPr>
          <a:xfrm>
            <a:off x="12600" y="6546960"/>
            <a:ext cx="9126720" cy="0"/>
          </a:xfrm>
          <a:prstGeom prst="line">
            <a:avLst/>
          </a:prstGeom>
          <a:ln w="25560">
            <a:solidFill>
              <a:srgbClr val="17375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traight Connector 11"/>
          <p:cNvSpPr/>
          <p:nvPr/>
        </p:nvSpPr>
        <p:spPr>
          <a:xfrm>
            <a:off x="0" y="990720"/>
            <a:ext cx="9153360" cy="0"/>
          </a:xfrm>
          <a:prstGeom prst="line">
            <a:avLst/>
          </a:prstGeom>
          <a:ln w="25560">
            <a:solidFill>
              <a:srgbClr val="17375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-12600"/>
            <a:ext cx="9153360" cy="984240"/>
          </a:xfrm>
          <a:prstGeom prst="rect">
            <a:avLst/>
          </a:prstGeom>
          <a:solidFill>
            <a:srgbClr val="10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2" descr="C:\Documents and Settings\sgeer\My Documents\MAP\MAP-LOGO.png"/>
          <p:cNvPicPr/>
          <p:nvPr/>
        </p:nvPicPr>
        <p:blipFill>
          <a:blip r:embed="rId2"/>
          <a:stretch/>
        </p:blipFill>
        <p:spPr>
          <a:xfrm>
            <a:off x="8294760" y="-9360"/>
            <a:ext cx="857160" cy="97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0"/>
            <a:ext cx="1243080" cy="977760"/>
          </a:xfrm>
          <a:prstGeom prst="rect">
            <a:avLst/>
          </a:prstGeom>
          <a:noFill/>
          <a:ln w="0">
            <a:noFill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traight Connector 15"/>
          <p:cNvSpPr/>
          <p:nvPr/>
        </p:nvSpPr>
        <p:spPr>
          <a:xfrm>
            <a:off x="12600" y="6546960"/>
            <a:ext cx="9126720" cy="0"/>
          </a:xfrm>
          <a:prstGeom prst="line">
            <a:avLst/>
          </a:prstGeom>
          <a:ln w="25560">
            <a:solidFill>
              <a:srgbClr val="17375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traight Connector 11"/>
          <p:cNvSpPr/>
          <p:nvPr/>
        </p:nvSpPr>
        <p:spPr>
          <a:xfrm>
            <a:off x="0" y="990720"/>
            <a:ext cx="9153360" cy="0"/>
          </a:xfrm>
          <a:prstGeom prst="line">
            <a:avLst/>
          </a:prstGeom>
          <a:ln w="25560">
            <a:solidFill>
              <a:srgbClr val="17375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18800" y="990720"/>
            <a:ext cx="8915400" cy="555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17375e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4f6228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953735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604a7b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4"/>
          </p:nvPr>
        </p:nvSpPr>
        <p:spPr>
          <a:xfrm>
            <a:off x="1728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August 15,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5"/>
          </p:nvPr>
        </p:nvSpPr>
        <p:spPr>
          <a:xfrm>
            <a:off x="1733040" y="6546960"/>
            <a:ext cx="567396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Presenter’s Na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6"/>
          </p:nvPr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A46144B0-0344-410A-95CF-667E91E19E2D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85800" y="1296720"/>
            <a:ext cx="7772400" cy="288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Opportunities for Experiments Based on Stored Muon Beams at Fermilab</a:t>
            </a:r>
            <a:br>
              <a:rPr sz="3200"/>
            </a:br>
            <a:r>
              <a:rPr b="0" lang="en-US" sz="3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(in next ~5-10 years, for ~3-20M$)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2730600" y="4495320"/>
            <a:ext cx="3543120" cy="175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0000"/>
              </a:lnSpc>
              <a:spcBef>
                <a:spcPts val="675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i="1" lang="en-US" sz="2700" strike="noStrike" u="none">
                <a:solidFill>
                  <a:srgbClr val="984807"/>
                </a:solidFill>
                <a:effectLst/>
                <a:uFillTx/>
                <a:latin typeface="Arial"/>
              </a:rPr>
              <a:t>Milorad Popovic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675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675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i="1" lang="en-US" sz="2700" strike="noStrike" u="none">
                <a:solidFill>
                  <a:srgbClr val="984807"/>
                </a:solidFill>
                <a:effectLst/>
                <a:uFillTx/>
                <a:latin typeface="Arial"/>
              </a:rPr>
              <a:t>MAP Meeting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675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i="1" lang="en-US" sz="2700" strike="noStrike" u="none">
                <a:solidFill>
                  <a:srgbClr val="984807"/>
                </a:solidFill>
                <a:effectLst/>
                <a:uFillTx/>
                <a:latin typeface="Arial"/>
              </a:rPr>
              <a:t>May, 2015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Picture 4" descr=""/>
          <p:cNvPicPr/>
          <p:nvPr/>
        </p:nvPicPr>
        <p:blipFill>
          <a:blip r:embed="rId1"/>
          <a:stretch/>
        </p:blipFill>
        <p:spPr>
          <a:xfrm>
            <a:off x="0" y="4175280"/>
            <a:ext cx="2730600" cy="23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6" descr=""/>
          <p:cNvPicPr/>
          <p:nvPr/>
        </p:nvPicPr>
        <p:blipFill>
          <a:blip r:embed="rId2"/>
          <a:stretch/>
        </p:blipFill>
        <p:spPr>
          <a:xfrm>
            <a:off x="6273720" y="4038480"/>
            <a:ext cx="2870280" cy="250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 to get 100k events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32F739CF-6AA4-4EB9-BFAD-4303E91AAC87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Rectangle 1"/>
          <p:cNvSpPr/>
          <p:nvPr/>
        </p:nvSpPr>
        <p:spPr>
          <a:xfrm>
            <a:off x="119160" y="1527120"/>
            <a:ext cx="8780400" cy="43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next year or two there will be stored muon beam at ~3 GeV/c in the storage ring with ~60 meters long straits (Debuncher ring as g-2 delay beam line).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There will be ~400 CC neutrino events in some imaginary 100 ton detector, 10 meters downstream from the one ring’s straits, running for 10^7 sec Booster at 3 Hz, 8 GeV beam(5x10^12 protons per pulse) and storing muons for 100 turns.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Numbers in point 2., are g-2 beam , and are just to establish reference point.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Running (two Booster batches stacked) 120 GeV beam from MI on the same target and using ICARAUS (600 ton) detector for 2x10^7 seconds (Fermilab year) will create 40000 CC neutrino events.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this is for investment of ~10M$ in building to house detector and willingness to move ICARUS detector in suggested location!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Motivation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8800" y="990720"/>
            <a:ext cx="8915400" cy="5556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Measure neutrino cross-section with better than 10% precision 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Take advantage of the existing accelerator complex configuration providing beam to the New Muon g-2 Experiment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Utilize existing detectors (MicroBooNE, ICARUS)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Minimize initial investment. Providing a suitable building to house the detector would be the only investment required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Describe possible improvements in collecting and storing muons that would allow cross-section measurements with a precision of a few percent with a modest additional investment.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a suitable test facility for future NF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4E268FD8-9F93-4DB8-90B9-415857362514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9" descr="Screen shot 2013-10-25 at 5.26.17 AM.png"/>
          <p:cNvPicPr/>
          <p:nvPr/>
        </p:nvPicPr>
        <p:blipFill>
          <a:blip r:embed="rId1"/>
          <a:stretch/>
        </p:blipFill>
        <p:spPr>
          <a:xfrm>
            <a:off x="0" y="914400"/>
            <a:ext cx="9144000" cy="574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Slide Number Placeholder 3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8C5A5DBC-AEC9-4A63-85C9-E65B58DCAFFA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Box 8"/>
          <p:cNvSpPr/>
          <p:nvPr/>
        </p:nvSpPr>
        <p:spPr>
          <a:xfrm>
            <a:off x="380880" y="127080"/>
            <a:ext cx="8458200" cy="5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Muon Campus = Mu2e + g-2 + ??? 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1"/>
          <p:cNvSpPr/>
          <p:nvPr/>
        </p:nvSpPr>
        <p:spPr>
          <a:xfrm>
            <a:off x="3026520" y="4513320"/>
            <a:ext cx="752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Mu2e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ectangle 2"/>
          <p:cNvSpPr/>
          <p:nvPr/>
        </p:nvSpPr>
        <p:spPr>
          <a:xfrm>
            <a:off x="4284720" y="3414600"/>
            <a:ext cx="57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g-2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ight Arrow 5"/>
          <p:cNvSpPr/>
          <p:nvPr/>
        </p:nvSpPr>
        <p:spPr>
          <a:xfrm rot="11182200">
            <a:off x="7745040" y="3319560"/>
            <a:ext cx="878040" cy="296640"/>
          </a:xfrm>
          <a:prstGeom prst="rightArrow">
            <a:avLst>
              <a:gd name="adj1" fmla="val 50000"/>
              <a:gd name="adj2" fmla="val 50045"/>
            </a:avLst>
          </a:prstGeom>
          <a:solidFill>
            <a:srgbClr val="ff0000"/>
          </a:solidFill>
          <a:ln w="9360">
            <a:solidFill>
              <a:srgbClr val="4a7ebb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7752240" y="3270240"/>
            <a:ext cx="968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SymbolMono BT"/>
                <a:ea typeface="SymbolMono BT"/>
              </a:rPr>
              <a:t>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7"/>
          <p:cNvSpPr/>
          <p:nvPr/>
        </p:nvSpPr>
        <p:spPr>
          <a:xfrm rot="2591400">
            <a:off x="6702480" y="5367240"/>
            <a:ext cx="450720" cy="162000"/>
          </a:xfrm>
          <a:prstGeom prst="rect">
            <a:avLst/>
          </a:prstGeom>
          <a:solidFill>
            <a:srgbClr val="ffff00"/>
          </a:solidFill>
          <a:ln w="9360">
            <a:solidFill>
              <a:srgbClr val="4a7ebb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ight Arrow 10"/>
          <p:cNvSpPr/>
          <p:nvPr/>
        </p:nvSpPr>
        <p:spPr>
          <a:xfrm rot="2580600">
            <a:off x="5292360" y="4640040"/>
            <a:ext cx="1649520" cy="168120"/>
          </a:xfrm>
          <a:prstGeom prst="rightArrow">
            <a:avLst>
              <a:gd name="adj1" fmla="val 50000"/>
              <a:gd name="adj2" fmla="val 50057"/>
            </a:avLst>
          </a:prstGeom>
          <a:solidFill>
            <a:srgbClr val="ff0000"/>
          </a:solidFill>
          <a:ln w="9360">
            <a:solidFill>
              <a:srgbClr val="4a7ebb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11"/>
          <p:cNvSpPr/>
          <p:nvPr/>
        </p:nvSpPr>
        <p:spPr>
          <a:xfrm>
            <a:off x="6681240" y="5235480"/>
            <a:ext cx="409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ymbolMono BT"/>
                <a:ea typeface="SymbolMono BT"/>
              </a:rPr>
              <a:t>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Proton Beam Like for g-2,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but with g-2 off 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53C4C0BE-840E-40CD-ACC7-249A40C393E9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"/>
          <p:cNvSpPr/>
          <p:nvPr/>
        </p:nvSpPr>
        <p:spPr>
          <a:xfrm>
            <a:off x="805320" y="1852560"/>
            <a:ext cx="553644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5x10</a:t>
            </a:r>
            <a:r>
              <a:rPr b="0" lang="en-US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12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protons in a Booster pulse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Hz, 8 GeV Booster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Muons are stored for ~100 turns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Running time 10</a:t>
            </a:r>
            <a:r>
              <a:rPr b="0" lang="en-US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Sec (1 year)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100 ton detector, 10 meters downstream from ring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1592280" y="3710160"/>
            <a:ext cx="44334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~ 400 CC neutrino events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588960" y="4538520"/>
            <a:ext cx="79390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for about the cost of  moving an existing detector (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SymbolMono BT"/>
                <a:ea typeface="SymbolMono BT"/>
              </a:rPr>
              <a:t>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BooNE??, 60T) and building a new detector housing (about 3M$)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Looking in the near future ( cost~$3M) 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D06DF80C-098D-4891-9F40-2154BE89ECC6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844920" y="1852560"/>
            <a:ext cx="617904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1x10</a:t>
            </a:r>
            <a:r>
              <a:rPr b="0" lang="en-US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protons from MI (two Booster pulses slip stacked)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~1 Hz, 120 GeV  MI ( every 1.33 sec)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Muons are stored for ~100 turns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Running time 1year(2x10</a:t>
            </a:r>
            <a:r>
              <a:rPr b="0" lang="en-US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Sec)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100 ton detector, 10 meters downstream from ring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-81720" y="3643200"/>
            <a:ext cx="9151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  ~ 2/3/1.33*120/8*2x400        6000 CC neutrino events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ight Arrow 1"/>
          <p:cNvSpPr/>
          <p:nvPr/>
        </p:nvSpPr>
        <p:spPr>
          <a:xfrm>
            <a:off x="4030560" y="3819600"/>
            <a:ext cx="638280" cy="169920"/>
          </a:xfrm>
          <a:prstGeom prst="rightArrow">
            <a:avLst>
              <a:gd name="adj1" fmla="val 50000"/>
              <a:gd name="adj2" fmla="val 49893"/>
            </a:avLst>
          </a:prstGeom>
          <a:solidFill>
            <a:srgbClr val="4f81bd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8160" bIns="38160" anchor="t">
            <a:normAutofit fontScale="25000" lnSpcReduction="19999"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1157400" y="4784760"/>
            <a:ext cx="66736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 in 10 bins even if detector is only 50% efficient, cross section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 be measured with error less then 10%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Looking Into the Future ( cost~$10M) 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B93BDEA6-FCE9-4E8C-8E85-5C5A7B7C3AB9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119160" y="1371600"/>
            <a:ext cx="851508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1x10</a:t>
            </a:r>
            <a:r>
              <a:rPr b="0" lang="en-US" sz="24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protons from MI (two Booster pulses, slip stacked)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~1 Hz, 120 GeV  MI (1.33 sec)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Running time 1year(2x10</a:t>
            </a:r>
            <a:r>
              <a:rPr b="0" lang="en-US" sz="24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Sec)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Fermilab year is ~2x10</a:t>
            </a:r>
            <a:r>
              <a:rPr b="0" lang="en-US" sz="12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Sec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Larger detector,  ~500 ton detector( x5)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ICARUS is 600 ton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1344960" y="4240080"/>
            <a:ext cx="53935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3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~30000 CC neutrino events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Looking Into the Future ( cost~$??) 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1BBC5724-0217-4D7A-8676-10290DE4DDE6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119160" y="1371600"/>
            <a:ext cx="8515080" cy="36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1x10</a:t>
            </a:r>
            <a:r>
              <a:rPr b="0" lang="en-US" sz="24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protons from MI (two Booster pulses, slip stacked)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Hz, 120 GeV  MI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New Li lens r = 2 cm to increase collection of pi’s ( x1.5)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CERN has made this size Lens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Make ring to be racetrack (x1.5x2)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a suitable test facility for future NF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Running time 1year(2x10</a:t>
            </a:r>
            <a:r>
              <a:rPr b="0" lang="en-US" sz="24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Sec)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Fermilab year is ~210</a:t>
            </a:r>
            <a:r>
              <a:rPr b="0" lang="en-US" sz="12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Sec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Larger detector,  ~500 ton detector( x5)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ICARUS is 600 ton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1568520" y="5442120"/>
            <a:ext cx="51670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3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~100k CC neutrino events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Questions ?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651905CB-C0A0-443E-93D0-A79EE9854254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119160" y="2305080"/>
            <a:ext cx="8677080" cy="30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End and New Beginning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way to the nuSTORM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(everything is used in upgrade)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Questions ?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5A1603E7-4ACD-499A-AD55-371C03A3ABAF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4" descr=""/>
          <p:cNvPicPr/>
          <p:nvPr/>
        </p:nvPicPr>
        <p:blipFill>
          <a:blip r:embed="rId1"/>
          <a:srcRect l="1159" t="8140" r="4329" b="0"/>
          <a:stretch/>
        </p:blipFill>
        <p:spPr>
          <a:xfrm>
            <a:off x="4680" y="-12600"/>
            <a:ext cx="9139320" cy="68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ounded Rectangle 1"/>
          <p:cNvSpPr/>
          <p:nvPr/>
        </p:nvSpPr>
        <p:spPr>
          <a:xfrm rot="1567200">
            <a:off x="2732040" y="2354400"/>
            <a:ext cx="469800" cy="838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160" bIns="29160" anchor="t">
            <a:normAutofit fontScale="62500" lnSpcReduction="19999"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traight Connector 3"/>
          <p:cNvSpPr/>
          <p:nvPr/>
        </p:nvSpPr>
        <p:spPr>
          <a:xfrm flipH="1" flipV="1">
            <a:off x="2869920" y="2360160"/>
            <a:ext cx="5405400" cy="2583000"/>
          </a:xfrm>
          <a:prstGeom prst="line">
            <a:avLst/>
          </a:prstGeom>
          <a:ln w="9360">
            <a:solidFill>
              <a:srgbClr val="00b0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8"/>
          <p:cNvSpPr/>
          <p:nvPr/>
        </p:nvSpPr>
        <p:spPr>
          <a:xfrm rot="20149200">
            <a:off x="2862000" y="1979280"/>
            <a:ext cx="469800" cy="8424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rmAutofit fontScale="62500" lnSpcReduction="19999"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traight Connector 6"/>
          <p:cNvSpPr/>
          <p:nvPr/>
        </p:nvSpPr>
        <p:spPr>
          <a:xfrm flipH="1">
            <a:off x="2870280" y="414360"/>
            <a:ext cx="3679920" cy="173340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"/>
          <p:cNvSpPr/>
          <p:nvPr/>
        </p:nvSpPr>
        <p:spPr>
          <a:xfrm>
            <a:off x="3976200" y="1898640"/>
            <a:ext cx="484452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nuSTORM can be moved to Muon Campus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and there are two options. Depending what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distance needed to far detector we can use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CDF or D0 Building to house far detector.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If Far Detector is in CDF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E141F324-B06A-4312-9589-7BC7298F7374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2" descr="C:\Users\popovic\Desktop\ap0-2.jpg"/>
          <p:cNvPicPr/>
          <p:nvPr/>
        </p:nvPicPr>
        <p:blipFill>
          <a:blip r:embed="rId1"/>
          <a:stretch/>
        </p:blipFill>
        <p:spPr>
          <a:xfrm>
            <a:off x="17640" y="984240"/>
            <a:ext cx="9164520" cy="535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ectangle 1"/>
          <p:cNvSpPr/>
          <p:nvPr/>
        </p:nvSpPr>
        <p:spPr>
          <a:xfrm rot="20284800">
            <a:off x="1288800" y="2538000"/>
            <a:ext cx="320400" cy="15228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55000" lnSpcReduction="19999"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2"/>
          <p:cNvSpPr/>
          <p:nvPr/>
        </p:nvSpPr>
        <p:spPr>
          <a:xfrm rot="20522400">
            <a:off x="1730160" y="2180880"/>
            <a:ext cx="2165040" cy="220680"/>
          </a:xfrm>
          <a:prstGeom prst="roundRect">
            <a:avLst>
              <a:gd name="adj" fmla="val 16667"/>
            </a:avLst>
          </a:prstGeom>
          <a:noFill/>
          <a:ln w="414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reeform 4"/>
          <p:cNvSpPr/>
          <p:nvPr/>
        </p:nvSpPr>
        <p:spPr>
          <a:xfrm>
            <a:off x="1633680" y="2655720"/>
            <a:ext cx="1622160" cy="1835280"/>
          </a:xfrm>
          <a:custGeom>
            <a:avLst/>
            <a:gdLst>
              <a:gd name="GluePoint1X" fmla="*/ 1624382 w 1621936"/>
              <a:gd name="GluePoint1Y" fmla="*/ 1370123 h 1945843"/>
              <a:gd name="GluePoint2X" fmla="*/ 1404595 w 1621936"/>
              <a:gd name="GluePoint2Y" fmla="*/ 1112580 h 1945843"/>
              <a:gd name="GluePoint3X" fmla="*/ 1052936 w 1621936"/>
              <a:gd name="GluePoint3Y" fmla="*/ 911698 h 1945843"/>
              <a:gd name="GluePoint4X" fmla="*/ 210418 w 1621936"/>
              <a:gd name="GluePoint4Y" fmla="*/ 458425 h 1945843"/>
              <a:gd name="GluePoint5X" fmla="*/ 27263 w 1621936"/>
              <a:gd name="GluePoint5Y" fmla="*/ 314201 h 1945843"/>
              <a:gd name="GluePoint6X" fmla="*/ 5287 w 1621936"/>
              <a:gd name="GluePoint6Y" fmla="*/ 200882 h 1945843"/>
              <a:gd name="GluePoint7X" fmla="*/ 71219 w 1621936"/>
              <a:gd name="GluePoint7Y" fmla="*/ 92715 h 1945843"/>
              <a:gd name="GluePoint8X" fmla="*/ 137156 w 1621936"/>
              <a:gd name="GluePoint8Y" fmla="*/ 46358 h 1945843"/>
              <a:gd name="GluePoint9X" fmla="*/ 239724 w 1621936"/>
              <a:gd name="GluePoint9Y" fmla="*/ 15453 h 1945843"/>
              <a:gd name="GluePoint10X" fmla="*/ 239724 w 1621936"/>
              <a:gd name="GluePoint10Y" fmla="*/ 15453 h 1945843"/>
              <a:gd name="GluePoint11X" fmla="*/ 210418 w 1621936"/>
              <a:gd name="GluePoint11Y" fmla="*/ 0 h 1945843"/>
              <a:gd name="GluePoint12X" fmla="*/ 210418 w 1621936"/>
              <a:gd name="GluePoint12Y" fmla="*/ 0 h 1945843"/>
              <a:gd name="GluePoint13X" fmla="*/ 225073 w 1621936"/>
              <a:gd name="GluePoint13Y" fmla="*/ 10301 h 19458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l" t="t" r="r" b="b"/>
            <a:pathLst>
              <a:path w="1621936" h="1945843">
                <a:moveTo>
                  <a:pt x="1621936" y="1945843"/>
                </a:moveTo>
                <a:cubicBezTo>
                  <a:pt x="1559756" y="1817217"/>
                  <a:pt x="1497577" y="1688592"/>
                  <a:pt x="1402480" y="1580083"/>
                </a:cubicBezTo>
                <a:cubicBezTo>
                  <a:pt x="1307383" y="1471574"/>
                  <a:pt x="1250080" y="1449628"/>
                  <a:pt x="1051351" y="1294790"/>
                </a:cubicBezTo>
                <a:cubicBezTo>
                  <a:pt x="852622" y="1139952"/>
                  <a:pt x="380791" y="792480"/>
                  <a:pt x="210103" y="651053"/>
                </a:cubicBezTo>
                <a:cubicBezTo>
                  <a:pt x="39415" y="509626"/>
                  <a:pt x="61361" y="507187"/>
                  <a:pt x="27223" y="446227"/>
                </a:cubicBezTo>
                <a:cubicBezTo>
                  <a:pt x="-6915" y="385267"/>
                  <a:pt x="-2038" y="337718"/>
                  <a:pt x="5277" y="285293"/>
                </a:cubicBezTo>
                <a:cubicBezTo>
                  <a:pt x="12592" y="232867"/>
                  <a:pt x="49168" y="168250"/>
                  <a:pt x="71114" y="131674"/>
                </a:cubicBezTo>
                <a:cubicBezTo>
                  <a:pt x="93060" y="95098"/>
                  <a:pt x="108909" y="84125"/>
                  <a:pt x="136951" y="65837"/>
                </a:cubicBezTo>
                <a:cubicBezTo>
                  <a:pt x="164993" y="47549"/>
                  <a:pt x="239364" y="21946"/>
                  <a:pt x="239364" y="21946"/>
                </a:cubicBezTo>
                <a:lnTo>
                  <a:pt x="210103" y="0"/>
                </a:lnTo>
                <a:lnTo>
                  <a:pt x="224733" y="14630"/>
                </a:lnTo>
              </a:path>
            </a:pathLst>
          </a:custGeom>
          <a:noFill/>
          <a:ln w="38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5"/>
          <p:cNvSpPr/>
          <p:nvPr/>
        </p:nvSpPr>
        <p:spPr>
          <a:xfrm rot="20037000">
            <a:off x="3211560" y="4490640"/>
            <a:ext cx="190440" cy="293760"/>
          </a:xfrm>
          <a:prstGeom prst="rect">
            <a:avLst/>
          </a:prstGeom>
          <a:solidFill>
            <a:srgbClr val="ff0000"/>
          </a:solidFill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85000" lnSpcReduction="9999"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5027400" y="1916280"/>
            <a:ext cx="41580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In this case A0 and CDF buildings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can be used for detectors. Distance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To CDF is 1.5 km. Blue box is near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detector used initially. The red lines are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nuSTORM upgrades.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Freeform 12"/>
          <p:cNvSpPr/>
          <p:nvPr/>
        </p:nvSpPr>
        <p:spPr>
          <a:xfrm rot="202800">
            <a:off x="1660680" y="2025360"/>
            <a:ext cx="1869840" cy="1869840"/>
          </a:xfrm>
          <a:custGeom>
            <a:avLst/>
            <a:gdLst>
              <a:gd name="GluePoint1X" fmla="*/ 256451 w 1870613"/>
              <a:gd name="GluePoint1Y" fmla="*/ 1538601 h 1784506"/>
              <a:gd name="GluePoint2X" fmla="*/ 51921 w 1870613"/>
              <a:gd name="GluePoint2Y" fmla="*/ 1325489 h 1784506"/>
              <a:gd name="GluePoint3X" fmla="*/ 15400 w 1870613"/>
              <a:gd name="GluePoint3Y" fmla="*/ 1170497 h 1784506"/>
              <a:gd name="GluePoint4X" fmla="*/ 789 w 1870613"/>
              <a:gd name="GluePoint4Y" fmla="*/ 976757 h 1784506"/>
              <a:gd name="GluePoint5X" fmla="*/ 37310 w 1870613"/>
              <a:gd name="GluePoint5Y" fmla="*/ 802394 h 1784506"/>
              <a:gd name="GluePoint6X" fmla="*/ 124968 w 1870613"/>
              <a:gd name="GluePoint6Y" fmla="*/ 676463 h 1784506"/>
              <a:gd name="GluePoint7X" fmla="*/ 227236 w 1870613"/>
              <a:gd name="GluePoint7Y" fmla="*/ 589281 h 1784506"/>
              <a:gd name="GluePoint8X" fmla="*/ 1403288 w 1870613"/>
              <a:gd name="GluePoint8Y" fmla="*/ 56498 h 1784506"/>
              <a:gd name="GluePoint9X" fmla="*/ 1615124 w 1870613"/>
              <a:gd name="GluePoint9Y" fmla="*/ 17750 h 1784506"/>
              <a:gd name="GluePoint10X" fmla="*/ 1710085 w 1870613"/>
              <a:gd name="GluePoint10Y" fmla="*/ 75874 h 1784506"/>
              <a:gd name="GluePoint11X" fmla="*/ 1797741 w 1870613"/>
              <a:gd name="GluePoint11Y" fmla="*/ 114622 h 1784506"/>
              <a:gd name="GluePoint12X" fmla="*/ 1834265 w 1870613"/>
              <a:gd name="GluePoint12Y" fmla="*/ 230864 h 1784506"/>
              <a:gd name="GluePoint13X" fmla="*/ 1856179 w 1870613"/>
              <a:gd name="GluePoint13Y" fmla="*/ 366482 h 1784506"/>
              <a:gd name="GluePoint14X" fmla="*/ 1848874 w 1870613"/>
              <a:gd name="GluePoint14Y" fmla="*/ 473037 h 1784506"/>
              <a:gd name="GluePoint15X" fmla="*/ 1637039 w 1870613"/>
              <a:gd name="GluePoint15Y" fmla="*/ 2061696 h 1784506"/>
              <a:gd name="GluePoint16X" fmla="*/ 1542076 w 1870613"/>
              <a:gd name="GluePoint16Y" fmla="*/ 2245751 h 1784506"/>
              <a:gd name="GluePoint17X" fmla="*/ 1461725 w 1870613"/>
              <a:gd name="GluePoint17Y" fmla="*/ 2342618 h 1784506"/>
              <a:gd name="GluePoint18X" fmla="*/ 1322935 w 1870613"/>
              <a:gd name="GluePoint18Y" fmla="*/ 2361992 h 1784506"/>
              <a:gd name="GluePoint19X" fmla="*/ 1213368 w 1870613"/>
              <a:gd name="GluePoint19Y" fmla="*/ 2323246 h 1784506"/>
              <a:gd name="GluePoint20X" fmla="*/ 1154929 w 1870613"/>
              <a:gd name="GluePoint20Y" fmla="*/ 2294185 h 1784506"/>
              <a:gd name="GluePoint21X" fmla="*/ 1067274 w 1870613"/>
              <a:gd name="GluePoint21Y" fmla="*/ 2255437 h 1784506"/>
              <a:gd name="GluePoint22X" fmla="*/ 256451 w 1870613"/>
              <a:gd name="GluePoint22Y" fmla="*/ 1538601 h 178450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l" t="t" r="r" b="b"/>
            <a:pathLst>
              <a:path w="1870613" h="1784506">
                <a:moveTo>
                  <a:pt x="256821" y="1161891"/>
                </a:moveTo>
                <a:cubicBezTo>
                  <a:pt x="87352" y="1044848"/>
                  <a:pt x="92229" y="1047287"/>
                  <a:pt x="51996" y="1000957"/>
                </a:cubicBezTo>
                <a:cubicBezTo>
                  <a:pt x="11762" y="954627"/>
                  <a:pt x="23954" y="927804"/>
                  <a:pt x="15420" y="883913"/>
                </a:cubicBezTo>
                <a:cubicBezTo>
                  <a:pt x="6885" y="840022"/>
                  <a:pt x="-2868" y="783938"/>
                  <a:pt x="789" y="737609"/>
                </a:cubicBezTo>
                <a:cubicBezTo>
                  <a:pt x="4446" y="691280"/>
                  <a:pt x="16639" y="643731"/>
                  <a:pt x="37365" y="605936"/>
                </a:cubicBezTo>
                <a:cubicBezTo>
                  <a:pt x="58091" y="568141"/>
                  <a:pt x="93449" y="537661"/>
                  <a:pt x="125148" y="510838"/>
                </a:cubicBezTo>
                <a:cubicBezTo>
                  <a:pt x="156847" y="484015"/>
                  <a:pt x="14201" y="523030"/>
                  <a:pt x="227561" y="445001"/>
                </a:cubicBezTo>
                <a:cubicBezTo>
                  <a:pt x="440921" y="366972"/>
                  <a:pt x="1173660" y="114598"/>
                  <a:pt x="1405308" y="42665"/>
                </a:cubicBezTo>
                <a:cubicBezTo>
                  <a:pt x="1636956" y="-29268"/>
                  <a:pt x="1566243" y="10966"/>
                  <a:pt x="1617449" y="13404"/>
                </a:cubicBezTo>
                <a:cubicBezTo>
                  <a:pt x="1668655" y="15843"/>
                  <a:pt x="1682066" y="45104"/>
                  <a:pt x="1712546" y="57296"/>
                </a:cubicBezTo>
                <a:cubicBezTo>
                  <a:pt x="1743026" y="69488"/>
                  <a:pt x="1779602" y="67050"/>
                  <a:pt x="1800328" y="86557"/>
                </a:cubicBezTo>
                <a:cubicBezTo>
                  <a:pt x="1821055" y="106064"/>
                  <a:pt x="1827151" y="142640"/>
                  <a:pt x="1836905" y="174339"/>
                </a:cubicBezTo>
                <a:cubicBezTo>
                  <a:pt x="1846659" y="206038"/>
                  <a:pt x="1856412" y="246272"/>
                  <a:pt x="1858850" y="276752"/>
                </a:cubicBezTo>
                <a:cubicBezTo>
                  <a:pt x="1861288" y="307232"/>
                  <a:pt x="1888111" y="143859"/>
                  <a:pt x="1851535" y="357219"/>
                </a:cubicBezTo>
                <a:cubicBezTo>
                  <a:pt x="1814959" y="570579"/>
                  <a:pt x="1690601" y="1333798"/>
                  <a:pt x="1639394" y="1556912"/>
                </a:cubicBezTo>
                <a:cubicBezTo>
                  <a:pt x="1588188" y="1780026"/>
                  <a:pt x="1573557" y="1660544"/>
                  <a:pt x="1544296" y="1695901"/>
                </a:cubicBezTo>
                <a:cubicBezTo>
                  <a:pt x="1515035" y="1731258"/>
                  <a:pt x="1500406" y="1754423"/>
                  <a:pt x="1463830" y="1769053"/>
                </a:cubicBezTo>
                <a:cubicBezTo>
                  <a:pt x="1427254" y="1783683"/>
                  <a:pt x="1366293" y="1786121"/>
                  <a:pt x="1324840" y="1783683"/>
                </a:cubicBezTo>
                <a:cubicBezTo>
                  <a:pt x="1283387" y="1781245"/>
                  <a:pt x="1237058" y="1767833"/>
                  <a:pt x="1215113" y="1754422"/>
                </a:cubicBezTo>
                <a:cubicBezTo>
                  <a:pt x="1193168" y="1741011"/>
                  <a:pt x="1182194" y="1733696"/>
                  <a:pt x="1156591" y="1732477"/>
                </a:cubicBezTo>
                <a:cubicBezTo>
                  <a:pt x="1111481" y="1732477"/>
                  <a:pt x="1218771" y="1798314"/>
                  <a:pt x="1068809" y="1703216"/>
                </a:cubicBezTo>
                <a:cubicBezTo>
                  <a:pt x="918847" y="1608118"/>
                  <a:pt x="426290" y="1278934"/>
                  <a:pt x="256821" y="1161891"/>
                </a:cubicBezTo>
                <a:close/>
              </a:path>
            </a:pathLst>
          </a:custGeom>
          <a:noFill/>
          <a:ln w="4428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"/>
          <p:cNvSpPr/>
          <p:nvPr/>
        </p:nvSpPr>
        <p:spPr>
          <a:xfrm>
            <a:off x="3299400" y="4011480"/>
            <a:ext cx="13622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New Target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Station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If Far Detector is in D0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6ED799F5-EB35-457C-BB9E-D621BF821DB5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2" descr="C:\Users\popovic\Desktop\ap0-2.jpg"/>
          <p:cNvPicPr/>
          <p:nvPr/>
        </p:nvPicPr>
        <p:blipFill>
          <a:blip r:embed="rId1"/>
          <a:stretch/>
        </p:blipFill>
        <p:spPr>
          <a:xfrm>
            <a:off x="-20520" y="984240"/>
            <a:ext cx="9164520" cy="535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Rectangle 1"/>
          <p:cNvSpPr/>
          <p:nvPr/>
        </p:nvSpPr>
        <p:spPr>
          <a:xfrm rot="2257800">
            <a:off x="2668320" y="3836880"/>
            <a:ext cx="320760" cy="15408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77500" lnSpcReduction="19999"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2"/>
          <p:cNvSpPr/>
          <p:nvPr/>
        </p:nvSpPr>
        <p:spPr>
          <a:xfrm rot="2135400">
            <a:off x="593280" y="3151080"/>
            <a:ext cx="2165400" cy="220680"/>
          </a:xfrm>
          <a:prstGeom prst="roundRect">
            <a:avLst>
              <a:gd name="adj" fmla="val 16667"/>
            </a:avLst>
          </a:prstGeom>
          <a:noFill/>
          <a:ln w="414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5"/>
          <p:cNvSpPr/>
          <p:nvPr/>
        </p:nvSpPr>
        <p:spPr>
          <a:xfrm rot="20037000">
            <a:off x="3211560" y="4490640"/>
            <a:ext cx="190440" cy="293760"/>
          </a:xfrm>
          <a:prstGeom prst="rect">
            <a:avLst/>
          </a:prstGeom>
          <a:solidFill>
            <a:srgbClr val="ff0000"/>
          </a:solidFill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85000" lnSpcReduction="9999"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4081320" y="2081160"/>
            <a:ext cx="44881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Distance to D0 is 1.1 km. Blue box is near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detector used initially. The red lines are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nuSTORM upgrades.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reeform 7"/>
          <p:cNvSpPr/>
          <p:nvPr/>
        </p:nvSpPr>
        <p:spPr>
          <a:xfrm>
            <a:off x="2516040" y="3986280"/>
            <a:ext cx="687600" cy="512640"/>
          </a:xfrm>
          <a:custGeom>
            <a:avLst/>
            <a:gdLst>
              <a:gd name="GluePoint1X" fmla="*/ 686419 w 687629"/>
              <a:gd name="GluePoint1Y" fmla="*/ 515564 h 512064"/>
              <a:gd name="GluePoint2X" fmla="*/ 547675 w 687629"/>
              <a:gd name="GluePoint2Y" fmla="*/ 309338 h 512064"/>
              <a:gd name="GluePoint3X" fmla="*/ 277487 w 687629"/>
              <a:gd name="GluePoint3Y" fmla="*/ 147304 h 512064"/>
              <a:gd name="GluePoint4X" fmla="*/ 0 w 687629"/>
              <a:gd name="GluePoint4Y" fmla="*/ 0 h 5120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687629" h="512064">
                <a:moveTo>
                  <a:pt x="687629" y="512064"/>
                </a:moveTo>
                <a:cubicBezTo>
                  <a:pt x="652272" y="440131"/>
                  <a:pt x="616915" y="368198"/>
                  <a:pt x="548640" y="307238"/>
                </a:cubicBezTo>
                <a:cubicBezTo>
                  <a:pt x="480365" y="246278"/>
                  <a:pt x="369417" y="197510"/>
                  <a:pt x="277977" y="146304"/>
                </a:cubicBezTo>
                <a:cubicBezTo>
                  <a:pt x="186537" y="95098"/>
                  <a:pt x="93268" y="47549"/>
                  <a:pt x="0" y="0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Freeform 8"/>
          <p:cNvSpPr/>
          <p:nvPr/>
        </p:nvSpPr>
        <p:spPr>
          <a:xfrm>
            <a:off x="1660680" y="2025720"/>
            <a:ext cx="1869840" cy="1869840"/>
          </a:xfrm>
          <a:custGeom>
            <a:avLst/>
            <a:gdLst>
              <a:gd name="GluePoint1X" fmla="*/ 256451 w 1870613"/>
              <a:gd name="GluePoint1Y" fmla="*/ 1538601 h 1784506"/>
              <a:gd name="GluePoint2X" fmla="*/ 51921 w 1870613"/>
              <a:gd name="GluePoint2Y" fmla="*/ 1325489 h 1784506"/>
              <a:gd name="GluePoint3X" fmla="*/ 15400 w 1870613"/>
              <a:gd name="GluePoint3Y" fmla="*/ 1170497 h 1784506"/>
              <a:gd name="GluePoint4X" fmla="*/ 789 w 1870613"/>
              <a:gd name="GluePoint4Y" fmla="*/ 976757 h 1784506"/>
              <a:gd name="GluePoint5X" fmla="*/ 37310 w 1870613"/>
              <a:gd name="GluePoint5Y" fmla="*/ 802394 h 1784506"/>
              <a:gd name="GluePoint6X" fmla="*/ 124968 w 1870613"/>
              <a:gd name="GluePoint6Y" fmla="*/ 676463 h 1784506"/>
              <a:gd name="GluePoint7X" fmla="*/ 227236 w 1870613"/>
              <a:gd name="GluePoint7Y" fmla="*/ 589281 h 1784506"/>
              <a:gd name="GluePoint8X" fmla="*/ 1403288 w 1870613"/>
              <a:gd name="GluePoint8Y" fmla="*/ 56498 h 1784506"/>
              <a:gd name="GluePoint9X" fmla="*/ 1615124 w 1870613"/>
              <a:gd name="GluePoint9Y" fmla="*/ 17750 h 1784506"/>
              <a:gd name="GluePoint10X" fmla="*/ 1710085 w 1870613"/>
              <a:gd name="GluePoint10Y" fmla="*/ 75874 h 1784506"/>
              <a:gd name="GluePoint11X" fmla="*/ 1797741 w 1870613"/>
              <a:gd name="GluePoint11Y" fmla="*/ 114622 h 1784506"/>
              <a:gd name="GluePoint12X" fmla="*/ 1834265 w 1870613"/>
              <a:gd name="GluePoint12Y" fmla="*/ 230864 h 1784506"/>
              <a:gd name="GluePoint13X" fmla="*/ 1856179 w 1870613"/>
              <a:gd name="GluePoint13Y" fmla="*/ 366482 h 1784506"/>
              <a:gd name="GluePoint14X" fmla="*/ 1848874 w 1870613"/>
              <a:gd name="GluePoint14Y" fmla="*/ 473037 h 1784506"/>
              <a:gd name="GluePoint15X" fmla="*/ 1637039 w 1870613"/>
              <a:gd name="GluePoint15Y" fmla="*/ 2061696 h 1784506"/>
              <a:gd name="GluePoint16X" fmla="*/ 1542076 w 1870613"/>
              <a:gd name="GluePoint16Y" fmla="*/ 2245751 h 1784506"/>
              <a:gd name="GluePoint17X" fmla="*/ 1461725 w 1870613"/>
              <a:gd name="GluePoint17Y" fmla="*/ 2342618 h 1784506"/>
              <a:gd name="GluePoint18X" fmla="*/ 1322935 w 1870613"/>
              <a:gd name="GluePoint18Y" fmla="*/ 2361992 h 1784506"/>
              <a:gd name="GluePoint19X" fmla="*/ 1213368 w 1870613"/>
              <a:gd name="GluePoint19Y" fmla="*/ 2323246 h 1784506"/>
              <a:gd name="GluePoint20X" fmla="*/ 1154929 w 1870613"/>
              <a:gd name="GluePoint20Y" fmla="*/ 2294185 h 1784506"/>
              <a:gd name="GluePoint21X" fmla="*/ 1067274 w 1870613"/>
              <a:gd name="GluePoint21Y" fmla="*/ 2255437 h 1784506"/>
              <a:gd name="GluePoint22X" fmla="*/ 256451 w 1870613"/>
              <a:gd name="GluePoint22Y" fmla="*/ 1538601 h 178450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l" t="t" r="r" b="b"/>
            <a:pathLst>
              <a:path w="1870613" h="1784506">
                <a:moveTo>
                  <a:pt x="256821" y="1161891"/>
                </a:moveTo>
                <a:cubicBezTo>
                  <a:pt x="87352" y="1044848"/>
                  <a:pt x="92229" y="1047287"/>
                  <a:pt x="51996" y="1000957"/>
                </a:cubicBezTo>
                <a:cubicBezTo>
                  <a:pt x="11762" y="954627"/>
                  <a:pt x="23954" y="927804"/>
                  <a:pt x="15420" y="883913"/>
                </a:cubicBezTo>
                <a:cubicBezTo>
                  <a:pt x="6885" y="840022"/>
                  <a:pt x="-2868" y="783938"/>
                  <a:pt x="789" y="737609"/>
                </a:cubicBezTo>
                <a:cubicBezTo>
                  <a:pt x="4446" y="691280"/>
                  <a:pt x="16639" y="643731"/>
                  <a:pt x="37365" y="605936"/>
                </a:cubicBezTo>
                <a:cubicBezTo>
                  <a:pt x="58091" y="568141"/>
                  <a:pt x="93449" y="537661"/>
                  <a:pt x="125148" y="510838"/>
                </a:cubicBezTo>
                <a:cubicBezTo>
                  <a:pt x="156847" y="484015"/>
                  <a:pt x="14201" y="523030"/>
                  <a:pt x="227561" y="445001"/>
                </a:cubicBezTo>
                <a:cubicBezTo>
                  <a:pt x="440921" y="366972"/>
                  <a:pt x="1173660" y="114598"/>
                  <a:pt x="1405308" y="42665"/>
                </a:cubicBezTo>
                <a:cubicBezTo>
                  <a:pt x="1636956" y="-29268"/>
                  <a:pt x="1566243" y="10966"/>
                  <a:pt x="1617449" y="13404"/>
                </a:cubicBezTo>
                <a:cubicBezTo>
                  <a:pt x="1668655" y="15843"/>
                  <a:pt x="1682066" y="45104"/>
                  <a:pt x="1712546" y="57296"/>
                </a:cubicBezTo>
                <a:cubicBezTo>
                  <a:pt x="1743026" y="69488"/>
                  <a:pt x="1779602" y="67050"/>
                  <a:pt x="1800328" y="86557"/>
                </a:cubicBezTo>
                <a:cubicBezTo>
                  <a:pt x="1821055" y="106064"/>
                  <a:pt x="1827151" y="142640"/>
                  <a:pt x="1836905" y="174339"/>
                </a:cubicBezTo>
                <a:cubicBezTo>
                  <a:pt x="1846659" y="206038"/>
                  <a:pt x="1856412" y="246272"/>
                  <a:pt x="1858850" y="276752"/>
                </a:cubicBezTo>
                <a:cubicBezTo>
                  <a:pt x="1861288" y="307232"/>
                  <a:pt x="1888111" y="143859"/>
                  <a:pt x="1851535" y="357219"/>
                </a:cubicBezTo>
                <a:cubicBezTo>
                  <a:pt x="1814959" y="570579"/>
                  <a:pt x="1690601" y="1333798"/>
                  <a:pt x="1639394" y="1556912"/>
                </a:cubicBezTo>
                <a:cubicBezTo>
                  <a:pt x="1588188" y="1780026"/>
                  <a:pt x="1573557" y="1660544"/>
                  <a:pt x="1544296" y="1695901"/>
                </a:cubicBezTo>
                <a:cubicBezTo>
                  <a:pt x="1515035" y="1731258"/>
                  <a:pt x="1500406" y="1754423"/>
                  <a:pt x="1463830" y="1769053"/>
                </a:cubicBezTo>
                <a:cubicBezTo>
                  <a:pt x="1427254" y="1783683"/>
                  <a:pt x="1366293" y="1786121"/>
                  <a:pt x="1324840" y="1783683"/>
                </a:cubicBezTo>
                <a:cubicBezTo>
                  <a:pt x="1283387" y="1781245"/>
                  <a:pt x="1237058" y="1767833"/>
                  <a:pt x="1215113" y="1754422"/>
                </a:cubicBezTo>
                <a:cubicBezTo>
                  <a:pt x="1193168" y="1741011"/>
                  <a:pt x="1182194" y="1733696"/>
                  <a:pt x="1156591" y="1732477"/>
                </a:cubicBezTo>
                <a:cubicBezTo>
                  <a:pt x="1111481" y="1732477"/>
                  <a:pt x="1218771" y="1798314"/>
                  <a:pt x="1068809" y="1703216"/>
                </a:cubicBezTo>
                <a:cubicBezTo>
                  <a:pt x="918847" y="1608118"/>
                  <a:pt x="426290" y="1278934"/>
                  <a:pt x="256821" y="1161891"/>
                </a:cubicBezTo>
                <a:close/>
              </a:path>
            </a:pathLst>
          </a:custGeom>
          <a:noFill/>
          <a:ln w="4428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18800" y="-3600"/>
            <a:ext cx="8150040" cy="9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Questions ?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Date Placeholder 3"/>
          <p:cNvSpPr/>
          <p:nvPr/>
        </p:nvSpPr>
        <p:spPr>
          <a:xfrm>
            <a:off x="17640" y="6556320"/>
            <a:ext cx="17319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December 5, 2014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lide Number Placeholder 5"/>
          <p:cNvSpPr/>
          <p:nvPr/>
        </p:nvSpPr>
        <p:spPr>
          <a:xfrm>
            <a:off x="7407360" y="6546960"/>
            <a:ext cx="17366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0D9F8FFC-5607-4698-8990-C7D68F976977}" type="slidenum">
              <a:rPr b="0" lang="en-US" sz="1200" strike="noStrike" u="none">
                <a:solidFill>
                  <a:srgbClr val="17375e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"/>
          <p:cNvSpPr/>
          <p:nvPr/>
        </p:nvSpPr>
        <p:spPr>
          <a:xfrm>
            <a:off x="3156840" y="1660680"/>
            <a:ext cx="3357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May be there is more to all this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5325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2012-06-15T07:46:19Z</dcterms:created>
  <dc:creator>Mark Palmer</dc:creator>
  <dc:description/>
  <dc:language>en-IN</dc:language>
  <cp:lastModifiedBy>Milorad Popovic x4478 08840N</cp:lastModifiedBy>
  <dcterms:modified xsi:type="dcterms:W3CDTF">2015-05-29T11:47:44Z</dcterms:modified>
  <cp:revision>137</cp:revision>
  <dc:subject/>
  <dc:title>PowerPoint Presentation</dc:title>
</cp:coreProperties>
</file>