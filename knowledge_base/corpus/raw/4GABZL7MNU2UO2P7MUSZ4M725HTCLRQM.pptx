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media/image1.png" ContentType="image/png"/>
  <Override PartName="/ppt/media/image2.wmf" ContentType="image/x-wmf"/>
  <Override PartName="/ppt/media/image3.jpeg" ContentType="image/jpeg"/>
  <Override PartName="/ppt/media/image4.jpeg" ContentType="image/jpeg"/>
  <Override PartName="/ppt/media/image5.jpeg" ContentType="image/jpeg"/>
  <Override PartName="/ppt/media/image7.png" ContentType="image/png"/>
  <Override PartName="/ppt/media/image6.jpeg" ContentType="image/jpeg"/>
  <Override PartName="/ppt/media/image8.png" ContentType="image/png"/>
  <Override PartName="/ppt/media/image9.wmf" ContentType="image/x-wmf"/>
  <Override PartName="/ppt/media/image10.wmf" ContentType="image/x-wmf"/>
  <Override PartName="/ppt/media/image11.wmf" ContentType="image/x-wmf"/>
  <Override PartName="/ppt/media/image12.jpeg" ContentType="image/jpeg"/>
  <Override PartName="/ppt/media/image13.png" ContentType="image/png"/>
  <Override PartName="/ppt/media/image14.jpeg" ContentType="image/jpeg"/>
  <Override PartName="/ppt/media/image15.png" ContentType="image/pn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9144000" cy="6858000"/>
  <p:notesSz cx="6997700" cy="92694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wmf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eg"/><Relationship Id="rId7" Type="http://schemas.openxmlformats.org/officeDocument/2006/relationships/image" Target="../media/image6.jpeg"/><Relationship Id="rId8" Type="http://schemas.openxmlformats.org/officeDocument/2006/relationships/hyperlink" Target="http://www.epa.gov/cgi-bin/epalink?target=http://www.epa.gov/&amp;logname=epahome&amp;referrer=seal" TargetMode="External"/><Relationship Id="rId9" Type="http://schemas.openxmlformats.org/officeDocument/2006/relationships/image" Target="../media/image7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wmf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eg"/><Relationship Id="rId7" Type="http://schemas.openxmlformats.org/officeDocument/2006/relationships/image" Target="../media/image6.jpeg"/><Relationship Id="rId8" Type="http://schemas.openxmlformats.org/officeDocument/2006/relationships/hyperlink" Target="http://www.epa.gov/cgi-bin/epalink?target=http://www.epa.gov/&amp;logname=epahome&amp;referrer=seal" TargetMode="External"/><Relationship Id="rId9" Type="http://schemas.openxmlformats.org/officeDocument/2006/relationships/image" Target="../media/image7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wmf"/><Relationship Id="rId4" Type="http://schemas.openxmlformats.org/officeDocument/2006/relationships/image" Target="../media/image3.jpeg"/><Relationship Id="rId5" Type="http://schemas.openxmlformats.org/officeDocument/2006/relationships/image" Target="../media/image5.jpeg"/><Relationship Id="rId6" Type="http://schemas.openxmlformats.org/officeDocument/2006/relationships/image" Target="../media/image6.jpeg"/><Relationship Id="rId7" Type="http://schemas.openxmlformats.org/officeDocument/2006/relationships/hyperlink" Target="http://www.epa.gov/cgi-bin/epalink?target=http://www.epa.gov/&amp;logname=epahome&amp;referrer=seal" TargetMode="External"/><Relationship Id="rId8" Type="http://schemas.openxmlformats.org/officeDocument/2006/relationships/image" Target="../media/image7.png"/><Relationship Id="rId9" Type="http://schemas.openxmlformats.org/officeDocument/2006/relationships/image" Target="../media/image4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wmf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eg"/><Relationship Id="rId7" Type="http://schemas.openxmlformats.org/officeDocument/2006/relationships/image" Target="../media/image6.jpeg"/><Relationship Id="rId8" Type="http://schemas.openxmlformats.org/officeDocument/2006/relationships/image" Target="../media/image7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bg>
      <p:bgPr>
        <a:gradFill rotWithShape="0">
          <a:gsLst>
            <a:gs pos="0">
              <a:srgbClr val="99ccff"/>
            </a:gs>
            <a:gs pos="100000">
              <a:srgbClr val="c0dff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2286000" y="609480"/>
            <a:ext cx="5791320" cy="579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" name="" descr=""/>
          <p:cNvPicPr/>
          <p:nvPr/>
        </p:nvPicPr>
        <p:blipFill>
          <a:blip r:embed="rId3">
            <a:alphaModFix amt="20000"/>
          </a:blip>
          <a:srcRect l="19041" t="10635" r="19062" b="14989"/>
          <a:stretch/>
        </p:blipFill>
        <p:spPr>
          <a:xfrm>
            <a:off x="0" y="0"/>
            <a:ext cx="1523880" cy="1295280"/>
          </a:xfrm>
          <a:prstGeom prst="rect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</p:pic>
      <p:sp>
        <p:nvSpPr>
          <p:cNvPr id="2" name=""/>
          <p:cNvSpPr/>
          <p:nvPr/>
        </p:nvSpPr>
        <p:spPr>
          <a:xfrm>
            <a:off x="0" y="1295280"/>
            <a:ext cx="1523880" cy="129564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0" y="2590920"/>
            <a:ext cx="1523880" cy="144756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"/>
          <p:cNvSpPr/>
          <p:nvPr/>
        </p:nvSpPr>
        <p:spPr>
          <a:xfrm>
            <a:off x="0" y="4038480"/>
            <a:ext cx="1523880" cy="137160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"/>
          <p:cNvSpPr/>
          <p:nvPr/>
        </p:nvSpPr>
        <p:spPr>
          <a:xfrm>
            <a:off x="0" y="5410080"/>
            <a:ext cx="1523880" cy="144792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" name=""/>
          <p:cNvCxnSpPr/>
          <p:nvPr/>
        </p:nvCxnSpPr>
        <p:spPr>
          <a:xfrm>
            <a:off x="3543120" y="37800"/>
            <a:ext cx="108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</a:ln>
        </p:spPr>
      </p:cxnSp>
      <p:pic>
        <p:nvPicPr>
          <p:cNvPr id="7" name="" descr="United States Environmental Protection Agency">
            <a:hlinkClick r:id="rId8"/>
          </p:cNvPr>
          <p:cNvPicPr/>
          <p:nvPr/>
        </p:nvPicPr>
        <p:blipFill>
          <a:blip r:embed="rId9"/>
          <a:stretch/>
        </p:blipFill>
        <p:spPr>
          <a:xfrm>
            <a:off x="7924680" y="5673600"/>
            <a:ext cx="1219320" cy="118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"/>
          <p:cNvSpPr/>
          <p:nvPr/>
        </p:nvSpPr>
        <p:spPr>
          <a:xfrm>
            <a:off x="1523880" y="0"/>
            <a:ext cx="6858000" cy="762120"/>
          </a:xfrm>
          <a:prstGeom prst="rect">
            <a:avLst/>
          </a:prstGeom>
          <a:solidFill>
            <a:srgbClr val="ffffff">
              <a:alpha val="37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1523880" y="0"/>
            <a:ext cx="0" cy="685800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 flipH="1" flipV="1" rot="16200000">
            <a:off x="5314680" y="-3639240"/>
            <a:ext cx="36720" cy="76201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757575">
                  <a:alpha val="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 flipH="1" rot="16200000">
            <a:off x="5314320" y="-3031200"/>
            <a:ext cx="36720" cy="76201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757575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body"/>
          </p:nvPr>
        </p:nvSpPr>
        <p:spPr>
          <a:xfrm>
            <a:off x="1752480" y="1600200"/>
            <a:ext cx="693432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Click to edit the outline text format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1" marL="743040" indent="-28584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Second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2" marL="1143000" indent="-22860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Third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3" marL="1600200" indent="-22860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Fourth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4" marL="2057400" indent="-22860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Fifth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Sixth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Seventh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1"/>
          </p:nvPr>
        </p:nvSpPr>
        <p:spPr>
          <a:xfrm>
            <a:off x="4266720" y="638136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43B4528-7D48-4F32-80E0-19088F8E6B9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1523880" y="152280"/>
            <a:ext cx="7620120" cy="990720"/>
          </a:xfrm>
          <a:prstGeom prst="rect">
            <a:avLst/>
          </a:prstGeom>
          <a:solidFill>
            <a:srgbClr val="ffffff">
              <a:alpha val="37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title"/>
          </p:nvPr>
        </p:nvSpPr>
        <p:spPr>
          <a:xfrm>
            <a:off x="1371240" y="0"/>
            <a:ext cx="7162920" cy="79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Click to edit the title text format</a:t>
            </a:r>
            <a:endParaRPr b="0" lang="en-IN" sz="44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gradFill rotWithShape="0">
          <a:gsLst>
            <a:gs pos="0">
              <a:srgbClr val="99ccff"/>
            </a:gs>
            <a:gs pos="100000">
              <a:srgbClr val="c0dff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" descr=""/>
          <p:cNvPicPr/>
          <p:nvPr/>
        </p:nvPicPr>
        <p:blipFill>
          <a:blip r:embed="rId2"/>
          <a:stretch/>
        </p:blipFill>
        <p:spPr>
          <a:xfrm>
            <a:off x="2286000" y="609480"/>
            <a:ext cx="5791320" cy="579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" descr=""/>
          <p:cNvPicPr/>
          <p:nvPr/>
        </p:nvPicPr>
        <p:blipFill>
          <a:blip r:embed="rId3">
            <a:alphaModFix amt="20000"/>
          </a:blip>
          <a:srcRect l="19041" t="10635" r="19062" b="14989"/>
          <a:stretch/>
        </p:blipFill>
        <p:spPr>
          <a:xfrm>
            <a:off x="0" y="0"/>
            <a:ext cx="1523880" cy="1295280"/>
          </a:xfrm>
          <a:prstGeom prst="rect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</p:pic>
      <p:sp>
        <p:nvSpPr>
          <p:cNvPr id="2" name=""/>
          <p:cNvSpPr/>
          <p:nvPr/>
        </p:nvSpPr>
        <p:spPr>
          <a:xfrm>
            <a:off x="0" y="1295280"/>
            <a:ext cx="1523880" cy="129564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0" y="2590920"/>
            <a:ext cx="1523880" cy="144756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"/>
          <p:cNvSpPr/>
          <p:nvPr/>
        </p:nvSpPr>
        <p:spPr>
          <a:xfrm>
            <a:off x="0" y="4038480"/>
            <a:ext cx="1523880" cy="137160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"/>
          <p:cNvSpPr/>
          <p:nvPr/>
        </p:nvSpPr>
        <p:spPr>
          <a:xfrm>
            <a:off x="0" y="5410080"/>
            <a:ext cx="1523880" cy="144792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" name=""/>
          <p:cNvCxnSpPr/>
          <p:nvPr/>
        </p:nvCxnSpPr>
        <p:spPr>
          <a:xfrm>
            <a:off x="3543120" y="37800"/>
            <a:ext cx="108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</a:ln>
        </p:spPr>
      </p:cxnSp>
      <p:pic>
        <p:nvPicPr>
          <p:cNvPr id="19" name="" descr="United States Environmental Protection Agency">
            <a:hlinkClick r:id="rId8"/>
          </p:cNvPr>
          <p:cNvPicPr/>
          <p:nvPr/>
        </p:nvPicPr>
        <p:blipFill>
          <a:blip r:embed="rId9"/>
          <a:stretch/>
        </p:blipFill>
        <p:spPr>
          <a:xfrm>
            <a:off x="7924680" y="5673600"/>
            <a:ext cx="1219320" cy="118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"/>
          <p:cNvSpPr/>
          <p:nvPr/>
        </p:nvSpPr>
        <p:spPr>
          <a:xfrm>
            <a:off x="1523880" y="0"/>
            <a:ext cx="6858000" cy="762120"/>
          </a:xfrm>
          <a:prstGeom prst="rect">
            <a:avLst/>
          </a:prstGeom>
          <a:solidFill>
            <a:srgbClr val="ffffff">
              <a:alpha val="37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1523880" y="0"/>
            <a:ext cx="0" cy="685800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 flipH="1" flipV="1" rot="16200000">
            <a:off x="5314680" y="-3639240"/>
            <a:ext cx="36720" cy="76201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757575">
                  <a:alpha val="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 flipH="1" rot="16200000">
            <a:off x="5314320" y="-3031200"/>
            <a:ext cx="36720" cy="76201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757575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body"/>
          </p:nvPr>
        </p:nvSpPr>
        <p:spPr>
          <a:xfrm>
            <a:off x="1752480" y="1600200"/>
            <a:ext cx="693432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Click to edit the outline text format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1" marL="743040" indent="-28584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Second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2" marL="1143000" indent="-22860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Third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3" marL="1600200" indent="-22860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Fourth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4" marL="2057400" indent="-22860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Fifth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Sixth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Seventh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ldNum" idx="2"/>
          </p:nvPr>
        </p:nvSpPr>
        <p:spPr>
          <a:xfrm>
            <a:off x="4266720" y="638136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2D52C42-509B-41B4-8F08-BE258440325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1523880" y="152280"/>
            <a:ext cx="7620120" cy="990720"/>
          </a:xfrm>
          <a:prstGeom prst="rect">
            <a:avLst/>
          </a:prstGeom>
          <a:solidFill>
            <a:srgbClr val="ffffff">
              <a:alpha val="37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title"/>
          </p:nvPr>
        </p:nvSpPr>
        <p:spPr>
          <a:xfrm>
            <a:off x="1371240" y="0"/>
            <a:ext cx="7162920" cy="79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Click to edit the title text format</a:t>
            </a:r>
            <a:endParaRPr b="0" lang="en-IN" sz="44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1">
    <p:bg>
      <p:bgPr>
        <a:gradFill rotWithShape="0">
          <a:gsLst>
            <a:gs pos="0">
              <a:srgbClr val="99ccff"/>
            </a:gs>
            <a:gs pos="100000">
              <a:srgbClr val="c0dff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" descr=""/>
          <p:cNvPicPr/>
          <p:nvPr/>
        </p:nvPicPr>
        <p:blipFill>
          <a:blip r:embed="rId2"/>
          <a:stretch/>
        </p:blipFill>
        <p:spPr>
          <a:xfrm>
            <a:off x="76320" y="1295280"/>
            <a:ext cx="5486400" cy="548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"/>
          <p:cNvSpPr/>
          <p:nvPr/>
        </p:nvSpPr>
        <p:spPr>
          <a:xfrm>
            <a:off x="762120" y="762120"/>
            <a:ext cx="7696080" cy="2895480"/>
          </a:xfrm>
          <a:prstGeom prst="rect">
            <a:avLst/>
          </a:prstGeom>
          <a:solidFill>
            <a:srgbClr val="ffffff">
              <a:alpha val="37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" name="" descr=""/>
          <p:cNvPicPr/>
          <p:nvPr/>
        </p:nvPicPr>
        <p:blipFill>
          <a:blip r:embed="rId3">
            <a:alphaModFix amt="20000"/>
          </a:blip>
          <a:srcRect l="19041" t="10635" r="19062" b="14989"/>
          <a:stretch/>
        </p:blipFill>
        <p:spPr>
          <a:xfrm>
            <a:off x="2895480" y="304920"/>
            <a:ext cx="1524240" cy="1295280"/>
          </a:xfrm>
          <a:prstGeom prst="rect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</p:pic>
      <p:sp>
        <p:nvSpPr>
          <p:cNvPr id="27" name=""/>
          <p:cNvSpPr/>
          <p:nvPr/>
        </p:nvSpPr>
        <p:spPr>
          <a:xfrm>
            <a:off x="7162920" y="762120"/>
            <a:ext cx="1523880" cy="129528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0" y="4572000"/>
            <a:ext cx="1371600" cy="137160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4495680" y="5410080"/>
            <a:ext cx="1524240" cy="144792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2895480" y="2057400"/>
            <a:ext cx="6248520" cy="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 flipV="1">
            <a:off x="7162920" y="-360"/>
            <a:ext cx="0" cy="205740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8458200" y="2057400"/>
            <a:ext cx="0" cy="335268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 flipH="1">
            <a:off x="1371600" y="5410080"/>
            <a:ext cx="7772400" cy="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1371600" y="4572000"/>
            <a:ext cx="0" cy="228600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 flipH="1">
            <a:off x="-360" y="304920"/>
            <a:ext cx="4419720" cy="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" name="" descr="United States Environmental Protection Agency">
            <a:hlinkClick r:id="rId7"/>
          </p:cNvPr>
          <p:cNvPicPr/>
          <p:nvPr/>
        </p:nvPicPr>
        <p:blipFill>
          <a:blip r:embed="rId8"/>
          <a:stretch/>
        </p:blipFill>
        <p:spPr>
          <a:xfrm>
            <a:off x="7924680" y="5673600"/>
            <a:ext cx="1219320" cy="118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"/>
          <p:cNvSpPr/>
          <p:nvPr/>
        </p:nvSpPr>
        <p:spPr>
          <a:xfrm>
            <a:off x="1219320" y="2057400"/>
            <a:ext cx="1676160" cy="1600200"/>
          </a:xfrm>
          <a:prstGeom prst="rect">
            <a:avLst/>
          </a:pr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 flipV="1">
            <a:off x="2895480" y="0"/>
            <a:ext cx="0" cy="365760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 flipH="1">
            <a:off x="-360" y="3657600"/>
            <a:ext cx="8458200" cy="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2895480" y="2057040"/>
            <a:ext cx="5562720" cy="1600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200" strike="noStrike" u="none">
                <a:solidFill>
                  <a:srgbClr val="333399"/>
                </a:solidFill>
                <a:effectLst/>
                <a:uFillTx/>
                <a:latin typeface="Sylfaen"/>
              </a:rPr>
              <a:t>Click to edit the title text format</a:t>
            </a:r>
            <a:endParaRPr b="0" lang="en-IN" sz="4200" strike="noStrike" u="none">
              <a:solidFill>
                <a:srgbClr val="333399"/>
              </a:solidFill>
              <a:effectLst/>
              <a:uFillTx/>
              <a:latin typeface="Sylfae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4167d3"/>
                </a:solidFill>
                <a:effectLst/>
                <a:uFillTx/>
                <a:latin typeface="Sylfaen"/>
              </a:rPr>
              <a:t>Click to edit the outline text format</a:t>
            </a:r>
            <a:endParaRPr b="0" lang="en-IN" sz="2800" strike="noStrike" u="none">
              <a:solidFill>
                <a:srgbClr val="4167d3"/>
              </a:solidFill>
              <a:effectLst/>
              <a:uFillTx/>
              <a:latin typeface="Sylfaen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Second Outline Level</a:t>
            </a:r>
            <a:endParaRPr b="0" lang="en-IN" sz="2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2" marL="914400" algn="ctr">
              <a:spcBef>
                <a:spcPts val="601"/>
              </a:spcBef>
              <a:buClr>
                <a:srgbClr val="333399"/>
              </a:buClr>
              <a:buFont typeface="Wingdings" charset="2"/>
              <a:buChar char="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Third Outline Level</a:t>
            </a:r>
            <a:endParaRPr b="0" lang="en-IN" sz="24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3" marL="1371600" algn="ctr">
              <a:spcBef>
                <a:spcPts val="4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Fourth Outline Level</a:t>
            </a:r>
            <a:endParaRPr b="0" lang="en-IN" sz="20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4" marL="1828800" algn="ctr">
              <a:spcBef>
                <a:spcPts val="4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Fifth Outline Level</a:t>
            </a:r>
            <a:endParaRPr b="0" lang="en-IN" sz="20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Sixth Outline Level</a:t>
            </a:r>
            <a:endParaRPr b="0" lang="en-IN" sz="20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Seventh Outline Level</a:t>
            </a:r>
            <a:endParaRPr b="0" lang="en-IN" sz="20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2">
    <p:bg>
      <p:bgPr>
        <a:gradFill rotWithShape="0">
          <a:gsLst>
            <a:gs pos="0">
              <a:srgbClr val="99ccff"/>
            </a:gs>
            <a:gs pos="100000">
              <a:srgbClr val="c0dff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" descr=""/>
          <p:cNvPicPr/>
          <p:nvPr/>
        </p:nvPicPr>
        <p:blipFill>
          <a:blip r:embed="rId2"/>
          <a:stretch/>
        </p:blipFill>
        <p:spPr>
          <a:xfrm>
            <a:off x="2286000" y="609480"/>
            <a:ext cx="5791320" cy="579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" descr=""/>
          <p:cNvPicPr/>
          <p:nvPr/>
        </p:nvPicPr>
        <p:blipFill>
          <a:blip r:embed="rId3">
            <a:alphaModFix amt="20000"/>
          </a:blip>
          <a:srcRect l="19041" t="10635" r="19062" b="14989"/>
          <a:stretch/>
        </p:blipFill>
        <p:spPr>
          <a:xfrm>
            <a:off x="0" y="0"/>
            <a:ext cx="1523880" cy="1295280"/>
          </a:xfrm>
          <a:prstGeom prst="rect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</p:pic>
      <p:sp>
        <p:nvSpPr>
          <p:cNvPr id="44" name=""/>
          <p:cNvSpPr/>
          <p:nvPr/>
        </p:nvSpPr>
        <p:spPr>
          <a:xfrm>
            <a:off x="0" y="1295280"/>
            <a:ext cx="1523880" cy="129564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0" y="2590920"/>
            <a:ext cx="1523880" cy="144756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0" y="4038480"/>
            <a:ext cx="1523880" cy="137160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0" y="5410080"/>
            <a:ext cx="1523880" cy="144792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8" name=""/>
          <p:cNvCxnSpPr/>
          <p:nvPr/>
        </p:nvCxnSpPr>
        <p:spPr>
          <a:xfrm>
            <a:off x="3543120" y="190080"/>
            <a:ext cx="108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</a:ln>
        </p:spPr>
      </p:cxnSp>
      <p:pic>
        <p:nvPicPr>
          <p:cNvPr id="49" name="" descr="United States Environmental Protection Agency"/>
          <p:cNvPicPr/>
          <p:nvPr/>
        </p:nvPicPr>
        <p:blipFill>
          <a:blip r:embed="rId8"/>
          <a:stretch/>
        </p:blipFill>
        <p:spPr>
          <a:xfrm>
            <a:off x="7924680" y="5673600"/>
            <a:ext cx="1219320" cy="118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"/>
          <p:cNvSpPr/>
          <p:nvPr/>
        </p:nvSpPr>
        <p:spPr>
          <a:xfrm>
            <a:off x="1523880" y="0"/>
            <a:ext cx="6858000" cy="1371600"/>
          </a:xfrm>
          <a:prstGeom prst="rect">
            <a:avLst/>
          </a:prstGeom>
          <a:solidFill>
            <a:srgbClr val="ffffff">
              <a:alpha val="37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1523880" y="0"/>
            <a:ext cx="0" cy="685800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 flipH="1" flipV="1" rot="16200000">
            <a:off x="4553640" y="-4401000"/>
            <a:ext cx="36720" cy="9144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757575">
                  <a:alpha val="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 flipH="1" rot="16200000">
            <a:off x="5314680" y="-2419920"/>
            <a:ext cx="36360" cy="76201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757575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1"/>
          <p:cNvSpPr>
            <a:spLocks noGrp="1"/>
          </p:cNvSpPr>
          <p:nvPr>
            <p:ph type="body"/>
          </p:nvPr>
        </p:nvSpPr>
        <p:spPr>
          <a:xfrm>
            <a:off x="1752480" y="1722600"/>
            <a:ext cx="693432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Click to edit the outline text format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1" marL="743040" indent="-28584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Second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2" marL="1143000" indent="-22860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Third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3" marL="1600200" indent="-22860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Fourth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4" marL="2057400" indent="-22860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Fifth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Sixth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Seventh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ldNum" idx="3"/>
          </p:nvPr>
        </p:nvSpPr>
        <p:spPr>
          <a:xfrm>
            <a:off x="4266720" y="660996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AE7254E-D1B6-4E60-8113-722D97B81B5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1523880" y="152280"/>
            <a:ext cx="7620120" cy="1524240"/>
          </a:xfrm>
          <a:prstGeom prst="rect">
            <a:avLst/>
          </a:prstGeom>
          <a:solidFill>
            <a:srgbClr val="ffffff">
              <a:alpha val="37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title"/>
          </p:nvPr>
        </p:nvSpPr>
        <p:spPr>
          <a:xfrm>
            <a:off x="1523880" y="151920"/>
            <a:ext cx="6858000" cy="1219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Click to edit the title text format</a:t>
            </a:r>
            <a:endParaRPr b="0" lang="en-IN" sz="4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3">
    <p:bg>
      <p:bgPr>
        <a:gradFill rotWithShape="0">
          <a:gsLst>
            <a:gs pos="0">
              <a:srgbClr val="99ccff"/>
            </a:gs>
            <a:gs pos="100000">
              <a:srgbClr val="c0dff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/>
          <p:nvPr/>
        </p:nvSpPr>
        <p:spPr>
          <a:xfrm>
            <a:off x="1523880" y="152280"/>
            <a:ext cx="7620120" cy="990720"/>
          </a:xfrm>
          <a:prstGeom prst="rect">
            <a:avLst/>
          </a:prstGeom>
          <a:solidFill>
            <a:srgbClr val="ffffff">
              <a:alpha val="37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" name=""/>
          <p:cNvCxnSpPr/>
          <p:nvPr/>
        </p:nvCxnSpPr>
        <p:spPr>
          <a:xfrm>
            <a:off x="3543120" y="37800"/>
            <a:ext cx="108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</a:ln>
        </p:spPr>
      </p:cxnSp>
      <p:pic>
        <p:nvPicPr>
          <p:cNvPr id="68" name="" descr="United States Environmental Protection Agency"/>
          <p:cNvPicPr/>
          <p:nvPr/>
        </p:nvPicPr>
        <p:blipFill>
          <a:blip r:embed="rId2"/>
          <a:stretch/>
        </p:blipFill>
        <p:spPr>
          <a:xfrm>
            <a:off x="7924680" y="5673600"/>
            <a:ext cx="1219320" cy="118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"/>
          <p:cNvSpPr/>
          <p:nvPr/>
        </p:nvSpPr>
        <p:spPr>
          <a:xfrm>
            <a:off x="1219320" y="0"/>
            <a:ext cx="7162560" cy="762120"/>
          </a:xfrm>
          <a:prstGeom prst="rect">
            <a:avLst/>
          </a:prstGeom>
          <a:solidFill>
            <a:srgbClr val="ffffff">
              <a:alpha val="37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 flipH="1" flipV="1" rot="16200000">
            <a:off x="5314680" y="-3639240"/>
            <a:ext cx="36720" cy="76201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757575">
                  <a:alpha val="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 flipH="1" rot="16200000">
            <a:off x="5162400" y="-3181680"/>
            <a:ext cx="36360" cy="792468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757575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 type="body"/>
          </p:nvPr>
        </p:nvSpPr>
        <p:spPr>
          <a:xfrm>
            <a:off x="1752480" y="1600200"/>
            <a:ext cx="693432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Click to edit the outline text format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1" marL="743040" indent="-28584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Second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2" marL="1143000" indent="-22860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Third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3" marL="1600200" indent="-22860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Fourth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4" marL="2057400" indent="-22860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Fifth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Sixth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Seventh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sldNum" idx="5"/>
          </p:nvPr>
        </p:nvSpPr>
        <p:spPr>
          <a:xfrm>
            <a:off x="4266720" y="638136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8CB37DF-94D7-49A2-95A0-5137D50A38A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title"/>
          </p:nvPr>
        </p:nvSpPr>
        <p:spPr>
          <a:xfrm>
            <a:off x="1371240" y="17640"/>
            <a:ext cx="7162920" cy="79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Click to edit the title text format</a:t>
            </a:r>
            <a:endParaRPr b="0" lang="en-IN" sz="44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3">
    <p:bg>
      <p:bgPr>
        <a:gradFill rotWithShape="0">
          <a:gsLst>
            <a:gs pos="0">
              <a:srgbClr val="99ccff"/>
            </a:gs>
            <a:gs pos="100000">
              <a:srgbClr val="c0dff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/>
          <p:nvPr/>
        </p:nvSpPr>
        <p:spPr>
          <a:xfrm>
            <a:off x="1523880" y="152280"/>
            <a:ext cx="7620120" cy="990720"/>
          </a:xfrm>
          <a:prstGeom prst="rect">
            <a:avLst/>
          </a:prstGeom>
          <a:solidFill>
            <a:srgbClr val="ffffff">
              <a:alpha val="37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9" name=""/>
          <p:cNvCxnSpPr/>
          <p:nvPr/>
        </p:nvCxnSpPr>
        <p:spPr>
          <a:xfrm>
            <a:off x="3543120" y="37800"/>
            <a:ext cx="108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</a:ln>
        </p:spPr>
      </p:cxnSp>
      <p:pic>
        <p:nvPicPr>
          <p:cNvPr id="60" name="" descr="United States Environmental Protection Agency"/>
          <p:cNvPicPr/>
          <p:nvPr/>
        </p:nvPicPr>
        <p:blipFill>
          <a:blip r:embed="rId2"/>
          <a:stretch/>
        </p:blipFill>
        <p:spPr>
          <a:xfrm>
            <a:off x="7924680" y="5673600"/>
            <a:ext cx="1219320" cy="118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"/>
          <p:cNvSpPr/>
          <p:nvPr/>
        </p:nvSpPr>
        <p:spPr>
          <a:xfrm>
            <a:off x="1219320" y="0"/>
            <a:ext cx="7162560" cy="762120"/>
          </a:xfrm>
          <a:prstGeom prst="rect">
            <a:avLst/>
          </a:prstGeom>
          <a:solidFill>
            <a:srgbClr val="ffffff">
              <a:alpha val="37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 flipH="1" flipV="1" rot="16200000">
            <a:off x="5314680" y="-3639240"/>
            <a:ext cx="36720" cy="76201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757575">
                  <a:alpha val="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 flipH="1" rot="16200000">
            <a:off x="5162400" y="-3181680"/>
            <a:ext cx="36360" cy="792468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757575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body"/>
          </p:nvPr>
        </p:nvSpPr>
        <p:spPr>
          <a:xfrm>
            <a:off x="1752480" y="1600200"/>
            <a:ext cx="693432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Click to edit the outline text format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1" marL="743040" indent="-28584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Second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2" marL="1143000" indent="-22860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Third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3" marL="1600200" indent="-22860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Fourth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4" marL="2057400" indent="-22860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Fifth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Sixth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Seventh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ldNum" idx="4"/>
          </p:nvPr>
        </p:nvSpPr>
        <p:spPr>
          <a:xfrm>
            <a:off x="4266720" y="638136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F69096B-E42E-438F-96FE-BCD041EDFC0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title"/>
          </p:nvPr>
        </p:nvSpPr>
        <p:spPr>
          <a:xfrm>
            <a:off x="1371240" y="17640"/>
            <a:ext cx="7162920" cy="79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Click to edit the title text format</a:t>
            </a:r>
            <a:endParaRPr b="0" lang="en-IN" sz="44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4">
    <p:bg>
      <p:bgPr>
        <a:gradFill rotWithShape="0">
          <a:gsLst>
            <a:gs pos="0">
              <a:srgbClr val="99ccff"/>
            </a:gs>
            <a:gs pos="100000">
              <a:srgbClr val="c0dff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"/>
          <p:cNvSpPr/>
          <p:nvPr/>
        </p:nvSpPr>
        <p:spPr>
          <a:xfrm>
            <a:off x="1523880" y="152280"/>
            <a:ext cx="7620120" cy="1524240"/>
          </a:xfrm>
          <a:prstGeom prst="rect">
            <a:avLst/>
          </a:prstGeom>
          <a:solidFill>
            <a:srgbClr val="ffffff">
              <a:alpha val="37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3" name=""/>
          <p:cNvCxnSpPr/>
          <p:nvPr/>
        </p:nvCxnSpPr>
        <p:spPr>
          <a:xfrm>
            <a:off x="3543120" y="190080"/>
            <a:ext cx="108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</a:ln>
        </p:spPr>
      </p:cxnSp>
      <p:pic>
        <p:nvPicPr>
          <p:cNvPr id="74" name="" descr="United States Environmental Protection Agency"/>
          <p:cNvPicPr/>
          <p:nvPr/>
        </p:nvPicPr>
        <p:blipFill>
          <a:blip r:embed="rId2"/>
          <a:stretch/>
        </p:blipFill>
        <p:spPr>
          <a:xfrm>
            <a:off x="7924680" y="5673600"/>
            <a:ext cx="1219320" cy="118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"/>
          <p:cNvSpPr/>
          <p:nvPr/>
        </p:nvSpPr>
        <p:spPr>
          <a:xfrm>
            <a:off x="1143000" y="0"/>
            <a:ext cx="7238880" cy="1371600"/>
          </a:xfrm>
          <a:prstGeom prst="rect">
            <a:avLst/>
          </a:prstGeom>
          <a:solidFill>
            <a:srgbClr val="ffffff">
              <a:alpha val="37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 flipH="1" flipV="1" rot="16200000">
            <a:off x="4553640" y="-4401000"/>
            <a:ext cx="36720" cy="9144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757575">
                  <a:alpha val="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 flipH="1" rot="16200000">
            <a:off x="5124240" y="-2611800"/>
            <a:ext cx="36360" cy="8001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757575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1"/>
          <p:cNvSpPr>
            <a:spLocks noGrp="1"/>
          </p:cNvSpPr>
          <p:nvPr>
            <p:ph type="body"/>
          </p:nvPr>
        </p:nvSpPr>
        <p:spPr>
          <a:xfrm>
            <a:off x="1752480" y="1722600"/>
            <a:ext cx="693432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Click to edit the outline text format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1" marL="743040" indent="-28584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Second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2" marL="1143000" indent="-22860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Third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3" marL="1600200" indent="-22860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Fourth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4" marL="2057400" indent="-22860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Fifth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Sixth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Seventh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ldNum" idx="6"/>
          </p:nvPr>
        </p:nvSpPr>
        <p:spPr>
          <a:xfrm>
            <a:off x="4266720" y="640044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31E70AF-0A12-4D04-903F-850FFBE6061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title"/>
          </p:nvPr>
        </p:nvSpPr>
        <p:spPr>
          <a:xfrm>
            <a:off x="1523880" y="127080"/>
            <a:ext cx="6858000" cy="1218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Click to edit the title text format</a:t>
            </a:r>
            <a:endParaRPr b="0" lang="en-IN" sz="4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chart" preserve="1">
  <p:cSld name="Title4">
    <p:bg>
      <p:bgPr>
        <a:gradFill rotWithShape="0">
          <a:gsLst>
            <a:gs pos="0">
              <a:srgbClr val="99ccff"/>
            </a:gs>
            <a:gs pos="100000">
              <a:srgbClr val="c0dff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"/>
          <p:cNvSpPr/>
          <p:nvPr/>
        </p:nvSpPr>
        <p:spPr>
          <a:xfrm>
            <a:off x="1523880" y="152280"/>
            <a:ext cx="7620120" cy="1524240"/>
          </a:xfrm>
          <a:prstGeom prst="rect">
            <a:avLst/>
          </a:prstGeom>
          <a:solidFill>
            <a:srgbClr val="ffffff">
              <a:alpha val="37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1" name=""/>
          <p:cNvCxnSpPr/>
          <p:nvPr/>
        </p:nvCxnSpPr>
        <p:spPr>
          <a:xfrm>
            <a:off x="3543120" y="190080"/>
            <a:ext cx="108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</a:ln>
        </p:spPr>
      </p:cxnSp>
      <p:pic>
        <p:nvPicPr>
          <p:cNvPr id="82" name="" descr="United States Environmental Protection Agency"/>
          <p:cNvPicPr/>
          <p:nvPr/>
        </p:nvPicPr>
        <p:blipFill>
          <a:blip r:embed="rId2"/>
          <a:stretch/>
        </p:blipFill>
        <p:spPr>
          <a:xfrm>
            <a:off x="7924680" y="5673600"/>
            <a:ext cx="1219320" cy="118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"/>
          <p:cNvSpPr/>
          <p:nvPr/>
        </p:nvSpPr>
        <p:spPr>
          <a:xfrm>
            <a:off x="1143000" y="0"/>
            <a:ext cx="7238880" cy="1371600"/>
          </a:xfrm>
          <a:prstGeom prst="rect">
            <a:avLst/>
          </a:prstGeom>
          <a:solidFill>
            <a:srgbClr val="ffffff">
              <a:alpha val="37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 flipH="1" flipV="1" rot="16200000">
            <a:off x="4553640" y="-4401000"/>
            <a:ext cx="36720" cy="9144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757575">
                  <a:alpha val="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 flipH="1" rot="16200000">
            <a:off x="5124240" y="-2611800"/>
            <a:ext cx="36360" cy="8001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757575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1"/>
          <p:cNvSpPr>
            <a:spLocks noGrp="1"/>
          </p:cNvSpPr>
          <p:nvPr>
            <p:ph type="body"/>
          </p:nvPr>
        </p:nvSpPr>
        <p:spPr>
          <a:xfrm>
            <a:off x="1752480" y="1722600"/>
            <a:ext cx="693432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Click to edit the outline text format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1" marL="743040" indent="-28584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Second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2" marL="1143000" indent="-22860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Third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3" marL="1600200" indent="-22860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Fourth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4" marL="2057400" indent="-22860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Fifth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Sixth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Seventh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ldNum" idx="7"/>
          </p:nvPr>
        </p:nvSpPr>
        <p:spPr>
          <a:xfrm>
            <a:off x="4266720" y="640044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B99929E-0353-4F5F-ADB2-DE4A826E199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title"/>
          </p:nvPr>
        </p:nvSpPr>
        <p:spPr>
          <a:xfrm>
            <a:off x="1523880" y="127080"/>
            <a:ext cx="6858000" cy="1218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Click to edit the title text format</a:t>
            </a:r>
            <a:endParaRPr b="0" lang="en-IN" sz="4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wmf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wmf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wmf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3.jpeg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jpeg"/><Relationship Id="rId6" Type="http://schemas.openxmlformats.org/officeDocument/2006/relationships/image" Target="../media/image4.jpeg"/><Relationship Id="rId7" Type="http://schemas.openxmlformats.org/officeDocument/2006/relationships/image" Target="../media/image6.jpeg"/><Relationship Id="rId8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6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99ccff"/>
            </a:gs>
            <a:gs pos="100000">
              <a:srgbClr val="c0dff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"/>
          <p:cNvSpPr/>
          <p:nvPr/>
        </p:nvSpPr>
        <p:spPr>
          <a:xfrm>
            <a:off x="5715000" y="3657600"/>
            <a:ext cx="2743200" cy="1752480"/>
          </a:xfrm>
          <a:prstGeom prst="rect">
            <a:avLst/>
          </a:prstGeom>
          <a:solidFill>
            <a:srgbClr val="ffffff">
              <a:alpha val="37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2895480" y="2209680"/>
            <a:ext cx="5562720" cy="144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200" strike="noStrike" u="none">
                <a:solidFill>
                  <a:srgbClr val="333399"/>
                </a:solidFill>
                <a:effectLst/>
                <a:uFillTx/>
                <a:latin typeface="Sylfaen"/>
              </a:rPr>
              <a:t>Water Quality Trading &amp; EPA </a:t>
            </a:r>
            <a:endParaRPr b="0" lang="en-IN" sz="4200" strike="noStrike" u="none">
              <a:solidFill>
                <a:srgbClr val="333399"/>
              </a:solidFill>
              <a:effectLst/>
              <a:uFillTx/>
              <a:latin typeface="Sylfaen"/>
            </a:endParaRPr>
          </a:p>
        </p:txBody>
      </p:sp>
      <p:sp>
        <p:nvSpPr>
          <p:cNvPr id="88" name=""/>
          <p:cNvSpPr/>
          <p:nvPr/>
        </p:nvSpPr>
        <p:spPr>
          <a:xfrm>
            <a:off x="5715000" y="3630600"/>
            <a:ext cx="2741760" cy="186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4167d3"/>
                </a:solidFill>
                <a:effectLst/>
                <a:uFillTx/>
                <a:latin typeface="Sylfaen"/>
              </a:rPr>
              <a:t>Ginny Kibler 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5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4167d3"/>
                </a:solidFill>
                <a:effectLst/>
                <a:uFillTx/>
                <a:latin typeface="Sylfaen"/>
              </a:rPr>
              <a:t>April 30, 2007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4167d3"/>
                </a:solidFill>
                <a:effectLst/>
                <a:uFillTx/>
                <a:latin typeface="Sylfaen"/>
              </a:rPr>
              <a:t>EPA Office of Water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 flipV="1">
            <a:off x="5715000" y="3657600"/>
            <a:ext cx="0" cy="175248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99ccff"/>
            </a:gs>
            <a:gs pos="100000">
              <a:srgbClr val="c0dff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371240" y="46080"/>
            <a:ext cx="7162920" cy="79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TOPICS</a:t>
            </a:r>
            <a:endParaRPr b="0" lang="en-IN" sz="44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1752480" y="1600200"/>
            <a:ext cx="693432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CLEAN WATER ACT FROM A TRADING PERSPECTIVE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EPA NATIONAL WATER QUALITY TRADING POLICY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WQT NATIONAL PICTURE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99ccff"/>
            </a:gs>
            <a:gs pos="100000">
              <a:srgbClr val="c0dff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523520" y="399960"/>
            <a:ext cx="6782040" cy="74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Clean Water Act Components</a:t>
            </a:r>
            <a:endParaRPr b="0" lang="en-IN" sz="4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  <p:sp>
        <p:nvSpPr>
          <p:cNvPr id="93" name=""/>
          <p:cNvSpPr/>
          <p:nvPr/>
        </p:nvSpPr>
        <p:spPr>
          <a:xfrm>
            <a:off x="1600200" y="1600200"/>
            <a:ext cx="6781680" cy="45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333399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1752480" y="1676520"/>
            <a:ext cx="693432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Water Quality Standards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Total Maximum Daily Loads (TMDL)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NPDES Permit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99ccff"/>
            </a:gs>
            <a:gs pos="100000">
              <a:srgbClr val="c0dff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952880" y="1752120"/>
            <a:ext cx="2516400" cy="1035000"/>
          </a:xfrm>
          <a:prstGeom prst="rect">
            <a:avLst/>
          </a:prstGeom>
          <a:solidFill>
            <a:srgbClr val="800080"/>
          </a:solidFill>
          <a:ln w="38160">
            <a:solidFill>
              <a:srgbClr val="333399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100" strike="noStrike" u="none">
                <a:solidFill>
                  <a:srgbClr val="ffffff"/>
                </a:solidFill>
                <a:effectLst/>
                <a:uFillTx/>
                <a:latin typeface="Futura Md BT"/>
              </a:rPr>
              <a:t>WQS</a:t>
            </a:r>
            <a:br>
              <a:rPr sz="2100"/>
            </a:br>
            <a:r>
              <a:rPr b="0" lang="en-IN" sz="2100" strike="noStrike" u="none">
                <a:solidFill>
                  <a:srgbClr val="ffffff"/>
                </a:solidFill>
                <a:effectLst/>
                <a:uFillTx/>
                <a:latin typeface="Futura Md BT"/>
              </a:rPr>
              <a:t>water body specific</a:t>
            </a:r>
            <a:endParaRPr b="0" lang="en-IN" sz="21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  <p:sp>
        <p:nvSpPr>
          <p:cNvPr id="96" name=""/>
          <p:cNvSpPr/>
          <p:nvPr/>
        </p:nvSpPr>
        <p:spPr>
          <a:xfrm>
            <a:off x="3505320" y="2895480"/>
            <a:ext cx="1523880" cy="642600"/>
          </a:xfrm>
          <a:prstGeom prst="rect">
            <a:avLst/>
          </a:prstGeom>
          <a:solidFill>
            <a:srgbClr val="800080"/>
          </a:solidFill>
          <a:ln w="2556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Designated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Uses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5791320" y="2895480"/>
            <a:ext cx="914400" cy="368280"/>
          </a:xfrm>
          <a:prstGeom prst="rect">
            <a:avLst/>
          </a:prstGeom>
          <a:solidFill>
            <a:srgbClr val="800080"/>
          </a:solidFill>
          <a:ln w="2556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WQC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7467480" y="2895480"/>
            <a:ext cx="1676520" cy="642600"/>
          </a:xfrm>
          <a:prstGeom prst="rect">
            <a:avLst/>
          </a:prstGeom>
          <a:solidFill>
            <a:srgbClr val="800080"/>
          </a:solidFill>
          <a:ln w="2556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Anti-degradation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228600" y="2133720"/>
            <a:ext cx="2971800" cy="1981080"/>
          </a:xfrm>
          <a:prstGeom prst="rect">
            <a:avLst/>
          </a:prstGeom>
          <a:solidFill>
            <a:srgbClr val="009999"/>
          </a:solidFill>
          <a:ln w="3816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Secondary Treatment Standards or Effluent Limitations Guidelines</a:t>
            </a:r>
            <a:br>
              <a:rPr sz="2000"/>
            </a:b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(ELGs)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1143000" y="4952880"/>
            <a:ext cx="1295280" cy="398880"/>
          </a:xfrm>
          <a:prstGeom prst="rect">
            <a:avLst/>
          </a:prstGeom>
          <a:solidFill>
            <a:srgbClr val="bbe0e3"/>
          </a:solidFill>
          <a:ln w="2556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TBELs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3962520" y="3962520"/>
            <a:ext cx="1295280" cy="368280"/>
          </a:xfrm>
          <a:prstGeom prst="rect">
            <a:avLst/>
          </a:prstGeom>
          <a:solidFill>
            <a:srgbClr val="77c2e9"/>
          </a:solidFill>
          <a:ln w="2556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800080"/>
                </a:solidFill>
                <a:effectLst/>
                <a:uFillTx/>
                <a:latin typeface="Tahoma"/>
              </a:rPr>
              <a:t>TMDLs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6858000" y="4648320"/>
            <a:ext cx="1447920" cy="368280"/>
          </a:xfrm>
          <a:prstGeom prst="rect">
            <a:avLst/>
          </a:prstGeom>
          <a:solidFill>
            <a:srgbClr val="bbe0e3"/>
          </a:solidFill>
          <a:ln w="2556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WQBELS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4724280" y="6095880"/>
            <a:ext cx="1219320" cy="368280"/>
          </a:xfrm>
          <a:prstGeom prst="rect">
            <a:avLst/>
          </a:prstGeom>
          <a:solidFill>
            <a:srgbClr val="808080"/>
          </a:solidFill>
          <a:ln w="2556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Permit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4" name=""/>
          <p:cNvCxnSpPr>
            <a:endCxn id="101" idx="0"/>
          </p:cNvCxnSpPr>
          <p:nvPr/>
        </p:nvCxnSpPr>
        <p:spPr>
          <a:xfrm flipH="1">
            <a:off x="4609440" y="3276360"/>
            <a:ext cx="1639080" cy="673200"/>
          </a:xfrm>
          <a:prstGeom prst="straightConnector1">
            <a:avLst/>
          </a:prstGeom>
          <a:ln w="25560">
            <a:solidFill>
              <a:srgbClr val="009999"/>
            </a:solidFill>
            <a:miter/>
            <a:tailEnd len="lg" type="stealth" w="lg"/>
          </a:ln>
        </p:spPr>
      </p:cxnSp>
      <p:cxnSp>
        <p:nvCxnSpPr>
          <p:cNvPr id="105" name=""/>
          <p:cNvCxnSpPr>
            <a:stCxn id="102" idx="2"/>
            <a:endCxn id="103" idx="3"/>
          </p:cNvCxnSpPr>
          <p:nvPr/>
        </p:nvCxnSpPr>
        <p:spPr>
          <a:xfrm flipH="1">
            <a:off x="5955840" y="5052960"/>
            <a:ext cx="1626480" cy="1240560"/>
          </a:xfrm>
          <a:prstGeom prst="straightConnector1">
            <a:avLst/>
          </a:prstGeom>
          <a:ln w="25560">
            <a:solidFill>
              <a:srgbClr val="ff0066"/>
            </a:solidFill>
            <a:miter/>
            <a:tailEnd len="lg" type="stealth" w="lg"/>
          </a:ln>
        </p:spPr>
      </p:cxnSp>
      <p:cxnSp>
        <p:nvCxnSpPr>
          <p:cNvPr id="106" name=""/>
          <p:cNvCxnSpPr>
            <a:stCxn id="99" idx="2"/>
          </p:cNvCxnSpPr>
          <p:nvPr/>
        </p:nvCxnSpPr>
        <p:spPr>
          <a:xfrm>
            <a:off x="1714320" y="4133880"/>
            <a:ext cx="1080" cy="807120"/>
          </a:xfrm>
          <a:prstGeom prst="straightConnector1">
            <a:avLst/>
          </a:prstGeom>
          <a:ln w="25560">
            <a:solidFill>
              <a:srgbClr val="ff0000"/>
            </a:solidFill>
            <a:miter/>
            <a:tailEnd len="lg" type="stealth" w="lg"/>
          </a:ln>
        </p:spPr>
      </p:cxnSp>
      <p:cxnSp>
        <p:nvCxnSpPr>
          <p:cNvPr id="107" name=""/>
          <p:cNvCxnSpPr>
            <a:stCxn id="100" idx="2"/>
            <a:endCxn id="103" idx="1"/>
          </p:cNvCxnSpPr>
          <p:nvPr/>
        </p:nvCxnSpPr>
        <p:spPr>
          <a:xfrm>
            <a:off x="1790640" y="5387760"/>
            <a:ext cx="2921760" cy="905400"/>
          </a:xfrm>
          <a:prstGeom prst="straightConnector1">
            <a:avLst/>
          </a:prstGeom>
          <a:ln w="25560">
            <a:solidFill>
              <a:srgbClr val="ff0000"/>
            </a:solidFill>
            <a:miter/>
            <a:tailEnd len="lg" type="stealth" w="lg"/>
          </a:ln>
        </p:spPr>
      </p:cxnSp>
      <p:sp>
        <p:nvSpPr>
          <p:cNvPr id="108" name=""/>
          <p:cNvSpPr/>
          <p:nvPr/>
        </p:nvSpPr>
        <p:spPr>
          <a:xfrm>
            <a:off x="1523880" y="152280"/>
            <a:ext cx="6821640" cy="13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Where Trading fits within the CWA</a:t>
            </a:r>
            <a:endParaRPr b="0" lang="en-IN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9" name=""/>
          <p:cNvCxnSpPr>
            <a:stCxn id="97" idx="2"/>
            <a:endCxn id="102" idx="0"/>
          </p:cNvCxnSpPr>
          <p:nvPr/>
        </p:nvCxnSpPr>
        <p:spPr>
          <a:xfrm>
            <a:off x="6248520" y="3300480"/>
            <a:ext cx="1334160" cy="1335600"/>
          </a:xfrm>
          <a:prstGeom prst="straightConnector1">
            <a:avLst/>
          </a:prstGeom>
          <a:ln w="25560">
            <a:solidFill>
              <a:srgbClr val="009999"/>
            </a:solidFill>
            <a:miter/>
            <a:tailEnd len="med" type="triangle" w="med"/>
          </a:ln>
        </p:spPr>
      </p:cxnSp>
      <p:sp>
        <p:nvSpPr>
          <p:cNvPr id="110" name=""/>
          <p:cNvSpPr/>
          <p:nvPr/>
        </p:nvSpPr>
        <p:spPr>
          <a:xfrm>
            <a:off x="5638680" y="4267080"/>
            <a:ext cx="914400" cy="381240"/>
          </a:xfrm>
          <a:prstGeom prst="rect">
            <a:avLst/>
          </a:prstGeom>
          <a:solidFill>
            <a:srgbClr val="77c2e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WLA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4114800" y="5029200"/>
            <a:ext cx="914400" cy="304920"/>
          </a:xfrm>
          <a:prstGeom prst="rect">
            <a:avLst/>
          </a:prstGeom>
          <a:solidFill>
            <a:srgbClr val="77c2e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LA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572000" y="4343400"/>
            <a:ext cx="0" cy="685800"/>
          </a:xfrm>
          <a:prstGeom prst="line">
            <a:avLst/>
          </a:prstGeom>
          <a:ln w="9360">
            <a:solidFill>
              <a:srgbClr val="ff0066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5257800" y="4343400"/>
            <a:ext cx="380880" cy="228600"/>
          </a:xfrm>
          <a:prstGeom prst="line">
            <a:avLst/>
          </a:prstGeom>
          <a:ln w="9360">
            <a:solidFill>
              <a:srgbClr val="ff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6477120" y="4648320"/>
            <a:ext cx="380880" cy="228600"/>
          </a:xfrm>
          <a:prstGeom prst="line">
            <a:avLst/>
          </a:prstGeom>
          <a:ln w="9360">
            <a:solidFill>
              <a:srgbClr val="ff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 flipV="1">
            <a:off x="3352680" y="1142640"/>
            <a:ext cx="0" cy="487692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99ccff"/>
            </a:gs>
            <a:gs pos="100000">
              <a:srgbClr val="c0dff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2895480" y="2057040"/>
            <a:ext cx="5562720" cy="1600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333399"/>
                </a:solidFill>
                <a:effectLst/>
                <a:uFillTx/>
                <a:latin typeface="Sylfaen"/>
              </a:rPr>
              <a:t>EPA’s 2003 National WQ Trading Policy</a:t>
            </a:r>
            <a:endParaRPr b="0" lang="en-IN" sz="4400" strike="noStrike" u="none">
              <a:solidFill>
                <a:srgbClr val="333399"/>
              </a:solidFill>
              <a:effectLst/>
              <a:uFillTx/>
              <a:latin typeface="Sylfae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99ccff"/>
            </a:gs>
            <a:gs pos="100000">
              <a:srgbClr val="c0dff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"/>
          <p:cNvGrpSpPr/>
          <p:nvPr/>
        </p:nvGrpSpPr>
        <p:grpSpPr>
          <a:xfrm>
            <a:off x="2286000" y="4267080"/>
            <a:ext cx="4419360" cy="1068120"/>
            <a:chOff x="2286000" y="4267080"/>
            <a:chExt cx="4419360" cy="1068120"/>
          </a:xfrm>
        </p:grpSpPr>
        <p:sp>
          <p:nvSpPr>
            <p:cNvPr id="118" name=""/>
            <p:cNvSpPr/>
            <p:nvPr/>
          </p:nvSpPr>
          <p:spPr>
            <a:xfrm>
              <a:off x="2286000" y="4267080"/>
              <a:ext cx="4413240" cy="1066680"/>
            </a:xfrm>
            <a:prstGeom prst="rect">
              <a:avLst/>
            </a:prstGeom>
            <a:solidFill>
              <a:srgbClr val="ffff00">
                <a:alpha val="3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3600" strike="noStrike" u="none">
                  <a:solidFill>
                    <a:srgbClr val="008000"/>
                  </a:solidFill>
                  <a:effectLst/>
                  <a:uFillTx/>
                  <a:latin typeface="Arial"/>
                </a:rPr>
                <a:t>Credits available </a:t>
              </a:r>
              <a:endParaRPr b="0" lang="en-IN" sz="3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3600" strike="noStrike" u="none">
                  <a:solidFill>
                    <a:srgbClr val="008000"/>
                  </a:solidFill>
                  <a:effectLst/>
                  <a:uFillTx/>
                  <a:latin typeface="Arial"/>
                </a:rPr>
                <a:t>for sale</a:t>
              </a:r>
              <a:endParaRPr b="0" lang="en-IN" sz="3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"/>
            <p:cNvSpPr/>
            <p:nvPr/>
          </p:nvSpPr>
          <p:spPr>
            <a:xfrm>
              <a:off x="2286000" y="5333760"/>
              <a:ext cx="4419360" cy="1440"/>
            </a:xfrm>
            <a:prstGeom prst="line">
              <a:avLst/>
            </a:prstGeom>
            <a:ln w="76320">
              <a:solidFill>
                <a:srgbClr val="008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523880" y="228240"/>
            <a:ext cx="693432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PS Baseline &amp; Discharge Limits</a:t>
            </a:r>
            <a:endParaRPr b="0" lang="en-IN" sz="4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  <p:sp>
        <p:nvSpPr>
          <p:cNvPr id="121" name=""/>
          <p:cNvSpPr/>
          <p:nvPr/>
        </p:nvSpPr>
        <p:spPr>
          <a:xfrm>
            <a:off x="2286000" y="6324480"/>
            <a:ext cx="4495680" cy="0"/>
          </a:xfrm>
          <a:prstGeom prst="line">
            <a:avLst/>
          </a:prstGeom>
          <a:ln w="7632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2" name=""/>
          <p:cNvGrpSpPr/>
          <p:nvPr/>
        </p:nvGrpSpPr>
        <p:grpSpPr>
          <a:xfrm>
            <a:off x="2286000" y="3200400"/>
            <a:ext cx="4419720" cy="1068480"/>
            <a:chOff x="2286000" y="3200400"/>
            <a:chExt cx="4419720" cy="1068480"/>
          </a:xfrm>
        </p:grpSpPr>
        <p:sp>
          <p:nvSpPr>
            <p:cNvPr id="123" name=""/>
            <p:cNvSpPr/>
            <p:nvPr/>
          </p:nvSpPr>
          <p:spPr>
            <a:xfrm>
              <a:off x="2286000" y="3200400"/>
              <a:ext cx="4413240" cy="1066680"/>
            </a:xfrm>
            <a:prstGeom prst="rect">
              <a:avLst/>
            </a:prstGeom>
            <a:solidFill>
              <a:srgbClr val="800080">
                <a:alpha val="4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3600" strike="noStrike" u="none">
                  <a:solidFill>
                    <a:srgbClr val="800080"/>
                  </a:solidFill>
                  <a:effectLst/>
                  <a:uFillTx/>
                  <a:latin typeface="Arial"/>
                </a:rPr>
                <a:t>Credits to be Bought</a:t>
              </a:r>
              <a:endParaRPr b="0" lang="en-IN" sz="3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"/>
            <p:cNvSpPr/>
            <p:nvPr/>
          </p:nvSpPr>
          <p:spPr>
            <a:xfrm>
              <a:off x="2286000" y="3200400"/>
              <a:ext cx="4419720" cy="1440"/>
            </a:xfrm>
            <a:prstGeom prst="line">
              <a:avLst/>
            </a:prstGeom>
            <a:ln w="76320">
              <a:solidFill>
                <a:srgbClr val="800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"/>
            <p:cNvSpPr/>
            <p:nvPr/>
          </p:nvSpPr>
          <p:spPr>
            <a:xfrm>
              <a:off x="2286000" y="4267080"/>
              <a:ext cx="4419720" cy="1800"/>
            </a:xfrm>
            <a:prstGeom prst="line">
              <a:avLst/>
            </a:prstGeom>
            <a:ln w="7632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6" name=""/>
          <p:cNvSpPr/>
          <p:nvPr/>
        </p:nvSpPr>
        <p:spPr>
          <a:xfrm>
            <a:off x="7162920" y="3551400"/>
            <a:ext cx="1981080" cy="1557360"/>
          </a:xfrm>
          <a:prstGeom prst="rect">
            <a:avLst/>
          </a:prstGeom>
          <a:solidFill>
            <a:srgbClr val="c0c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Baseline for Buyer &amp; Seller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7" name=""/>
          <p:cNvCxnSpPr>
            <a:stCxn id="126" idx="1"/>
            <a:endCxn id="125" idx="0"/>
          </p:cNvCxnSpPr>
          <p:nvPr/>
        </p:nvCxnSpPr>
        <p:spPr>
          <a:xfrm flipH="1" flipV="1">
            <a:off x="6705360" y="4306320"/>
            <a:ext cx="457920" cy="22680"/>
          </a:xfrm>
          <a:prstGeom prst="straightConnector1">
            <a:avLst/>
          </a:prstGeom>
          <a:ln w="38160">
            <a:solidFill>
              <a:srgbClr val="000000"/>
            </a:solidFill>
            <a:miter/>
            <a:tailEnd len="lg" type="triangle" w="lg"/>
          </a:ln>
        </p:spPr>
      </p:cxnSp>
      <p:sp>
        <p:nvSpPr>
          <p:cNvPr id="128" name=""/>
          <p:cNvSpPr/>
          <p:nvPr/>
        </p:nvSpPr>
        <p:spPr>
          <a:xfrm>
            <a:off x="0" y="2133720"/>
            <a:ext cx="1905120" cy="1801800"/>
          </a:xfrm>
          <a:prstGeom prst="rect">
            <a:avLst/>
          </a:prstGeom>
          <a:solidFill>
            <a:srgbClr val="d29d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800080"/>
                </a:solidFill>
                <a:effectLst/>
                <a:uFillTx/>
                <a:latin typeface="Arial"/>
              </a:rPr>
              <a:t>Minimum Control Level for Buyer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9" name=""/>
          <p:cNvCxnSpPr>
            <a:stCxn id="128" idx="3"/>
          </p:cNvCxnSpPr>
          <p:nvPr/>
        </p:nvCxnSpPr>
        <p:spPr>
          <a:xfrm>
            <a:off x="1905120" y="3033360"/>
            <a:ext cx="381600" cy="167040"/>
          </a:xfrm>
          <a:prstGeom prst="straightConnector1">
            <a:avLst/>
          </a:prstGeom>
          <a:ln w="38160">
            <a:solidFill>
              <a:srgbClr val="000000"/>
            </a:solidFill>
            <a:miter/>
            <a:tailEnd len="lg" type="triangle" w="lg"/>
          </a:ln>
        </p:spPr>
      </p:cxnSp>
      <p:sp>
        <p:nvSpPr>
          <p:cNvPr id="130" name=""/>
          <p:cNvSpPr/>
          <p:nvPr/>
        </p:nvSpPr>
        <p:spPr>
          <a:xfrm>
            <a:off x="2286000" y="1828800"/>
            <a:ext cx="0" cy="4495680"/>
          </a:xfrm>
          <a:prstGeom prst="line">
            <a:avLst/>
          </a:prstGeom>
          <a:ln w="7632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1" name=""/>
          <p:cNvCxnSpPr>
            <a:stCxn id="132" idx="3"/>
            <a:endCxn id="119" idx="0"/>
          </p:cNvCxnSpPr>
          <p:nvPr/>
        </p:nvCxnSpPr>
        <p:spPr>
          <a:xfrm flipV="1">
            <a:off x="1828800" y="5295240"/>
            <a:ext cx="457920" cy="283320"/>
          </a:xfrm>
          <a:prstGeom prst="straightConnector1">
            <a:avLst/>
          </a:prstGeom>
          <a:ln w="38160">
            <a:solidFill>
              <a:srgbClr val="000000"/>
            </a:solidFill>
            <a:miter/>
            <a:tailEnd len="lg" type="triangle" w="lg"/>
          </a:ln>
        </p:spPr>
      </p:cxnSp>
      <p:sp>
        <p:nvSpPr>
          <p:cNvPr id="132" name=""/>
          <p:cNvSpPr/>
          <p:nvPr/>
        </p:nvSpPr>
        <p:spPr>
          <a:xfrm>
            <a:off x="0" y="4800600"/>
            <a:ext cx="1828800" cy="1557360"/>
          </a:xfrm>
          <a:prstGeom prst="rect">
            <a:avLst/>
          </a:prstGeom>
          <a:solidFill>
            <a:srgbClr val="ffff00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8000"/>
                </a:solidFill>
                <a:effectLst/>
                <a:uFillTx/>
                <a:latin typeface="Arial"/>
              </a:rPr>
              <a:t>Trading Limit for Seller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 flipH="1">
            <a:off x="2209680" y="5105520"/>
            <a:ext cx="76320" cy="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99ccff"/>
            </a:gs>
            <a:gs pos="100000">
              <a:srgbClr val="c0dff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1371240" y="0"/>
            <a:ext cx="7162920" cy="79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NPS Seller Baseline</a:t>
            </a:r>
            <a:endParaRPr b="0" lang="en-IN" sz="44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1752480" y="1600200"/>
            <a:ext cx="693432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TMDL – must first meet load allocation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1" marL="743040" indent="-285840">
              <a:spcBef>
                <a:spcPts val="700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Means NPS must 1</a:t>
            </a:r>
            <a:r>
              <a:rPr b="0" lang="en-US" sz="2800" strike="noStrike" u="none" baseline="30000">
                <a:solidFill>
                  <a:srgbClr val="333399"/>
                </a:solidFill>
                <a:effectLst/>
                <a:uFillTx/>
                <a:latin typeface="Futura Md BT"/>
              </a:rPr>
              <a:t>st</a:t>
            </a:r>
            <a:r>
              <a:rPr b="0" lang="en-US" sz="2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 meet its portion of LA before it can generate credits</a:t>
            </a:r>
            <a:endParaRPr b="0" lang="en-IN" sz="2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1" marL="743040" indent="-28584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PreTMDL/no TMDL 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1" marL="743040" indent="-285840">
              <a:spcBef>
                <a:spcPts val="700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State and local regulations</a:t>
            </a:r>
            <a:endParaRPr b="0" lang="en-IN" sz="2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99ccff"/>
            </a:gs>
            <a:gs pos="100000">
              <a:srgbClr val="c0dff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1523880" y="351000"/>
            <a:ext cx="6858000" cy="79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What pollutants are “tradable”?</a:t>
            </a:r>
            <a:endParaRPr b="0" lang="en-IN" sz="40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1523520" y="1676520"/>
            <a:ext cx="7620120" cy="495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National Policy allows trades for:</a:t>
            </a:r>
            <a:endParaRPr b="0" lang="en-IN" sz="2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2" marL="1143000" indent="-228600">
              <a:lnSpc>
                <a:spcPct val="90000"/>
              </a:lnSpc>
              <a:spcBef>
                <a:spcPts val="700"/>
              </a:spcBef>
              <a:buClr>
                <a:srgbClr val="333399"/>
              </a:buClr>
              <a:buFont typeface="Wingdings" charset="2"/>
              <a:buChar char="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Total Nitrogen</a:t>
            </a:r>
            <a:endParaRPr b="0" lang="en-IN" sz="2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2" marL="1143000" indent="-228600">
              <a:lnSpc>
                <a:spcPct val="90000"/>
              </a:lnSpc>
              <a:spcBef>
                <a:spcPts val="700"/>
              </a:spcBef>
              <a:buClr>
                <a:srgbClr val="333399"/>
              </a:buClr>
              <a:buFont typeface="Wingdings" charset="2"/>
              <a:buChar char="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Total Phosphorus</a:t>
            </a:r>
            <a:endParaRPr b="0" lang="en-IN" sz="2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2" marL="1143000" indent="-228600">
              <a:lnSpc>
                <a:spcPct val="90000"/>
              </a:lnSpc>
              <a:spcBef>
                <a:spcPts val="700"/>
              </a:spcBef>
              <a:buClr>
                <a:srgbClr val="333399"/>
              </a:buClr>
              <a:buFont typeface="Wingdings" charset="2"/>
              <a:buChar char="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Sediment</a:t>
            </a:r>
            <a:endParaRPr b="0" lang="en-IN" sz="2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2" marL="1143000" indent="-228600">
              <a:lnSpc>
                <a:spcPct val="90000"/>
              </a:lnSpc>
              <a:spcBef>
                <a:spcPts val="700"/>
              </a:spcBef>
              <a:buClr>
                <a:srgbClr val="333399"/>
              </a:buClr>
              <a:buFont typeface="Wingdings" charset="2"/>
              <a:buChar char="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Cross-pollutant trading</a:t>
            </a:r>
            <a:endParaRPr b="0" lang="en-IN" sz="2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2" marL="1143000" indent="-228600">
              <a:lnSpc>
                <a:spcPct val="90000"/>
              </a:lnSpc>
              <a:spcBef>
                <a:spcPts val="700"/>
              </a:spcBef>
              <a:buClr>
                <a:srgbClr val="333399"/>
              </a:buClr>
              <a:buFont typeface="Wingdings" charset="2"/>
              <a:buChar char="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Other pollutants?</a:t>
            </a:r>
            <a:endParaRPr b="0" lang="en-IN" sz="2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National Policy does not support trades for:</a:t>
            </a:r>
            <a:endParaRPr b="0" lang="en-IN" sz="2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2" marL="1143000" indent="-228600">
              <a:lnSpc>
                <a:spcPct val="90000"/>
              </a:lnSpc>
              <a:spcBef>
                <a:spcPts val="700"/>
              </a:spcBef>
              <a:buClr>
                <a:srgbClr val="333399"/>
              </a:buClr>
              <a:buFont typeface="Wingdings" charset="2"/>
              <a:buChar char="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Persistent bioaccumulative toxics (PBTs)</a:t>
            </a:r>
            <a:endParaRPr b="0" lang="en-IN" sz="2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Except on a pilot basis</a:t>
            </a:r>
            <a:endParaRPr b="0" lang="en-IN" sz="20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  <p:pic>
        <p:nvPicPr>
          <p:cNvPr id="138" name="" descr=""/>
          <p:cNvPicPr/>
          <p:nvPr/>
        </p:nvPicPr>
        <p:blipFill>
          <a:blip r:embed="rId1"/>
          <a:stretch/>
        </p:blipFill>
        <p:spPr>
          <a:xfrm>
            <a:off x="6781680" y="2057400"/>
            <a:ext cx="2362320" cy="16207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99ccff"/>
            </a:gs>
            <a:gs pos="100000">
              <a:srgbClr val="c0dff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" descr=""/>
          <p:cNvPicPr/>
          <p:nvPr/>
        </p:nvPicPr>
        <p:blipFill>
          <a:blip r:embed="rId1"/>
          <a:stretch/>
        </p:blipFill>
        <p:spPr>
          <a:xfrm>
            <a:off x="6934320" y="1981080"/>
            <a:ext cx="1962000" cy="3544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1371240" y="46080"/>
            <a:ext cx="7162920" cy="79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When can trading occur?</a:t>
            </a:r>
            <a:endParaRPr b="0" lang="en-IN" sz="4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1752480" y="1600200"/>
            <a:ext cx="47484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Trading in unimpaired waters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Trading in Impaired Waters with TMDL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Trading in Impaired Waters without TMDL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Pretreatment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Intra-plant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0">
              <a:lnSpc>
                <a:spcPct val="90000"/>
              </a:lnSpc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99ccff"/>
            </a:gs>
            <a:gs pos="100000">
              <a:srgbClr val="c0dff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1523880" y="304920"/>
            <a:ext cx="6858000" cy="79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When can trading NOT occur?</a:t>
            </a:r>
            <a:endParaRPr b="0" lang="en-IN" sz="3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1523520" y="1599840"/>
            <a:ext cx="7256520" cy="413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85000" lnSpcReduction="9999"/>
          </a:bodyPr>
          <a:p>
            <a:pPr marL="343080" indent="-343080">
              <a:spcBef>
                <a:spcPts val="700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Trading cannot be used to meet technology-based effluent limitations</a:t>
            </a:r>
            <a:endParaRPr b="0" lang="en-IN" sz="2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spcBef>
                <a:spcPts val="700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Trades cannot result in nonattainment of an applicable water quality standard. </a:t>
            </a:r>
            <a:endParaRPr b="0" lang="en-IN" sz="2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spcBef>
                <a:spcPts val="700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Trading may not adversely affect water quality at an intake for drinking water supply</a:t>
            </a:r>
            <a:endParaRPr b="0" lang="en-IN" sz="2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spcBef>
                <a:spcPts val="700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Trading cannot allow a discharger to exceed a cap established under a TMDL</a:t>
            </a:r>
            <a:endParaRPr b="0" lang="en-IN" sz="2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99ccff"/>
            </a:gs>
            <a:gs pos="100000">
              <a:srgbClr val="c0dff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1371240" y="76320"/>
            <a:ext cx="7162920" cy="79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Anti-backsliding</a:t>
            </a:r>
            <a:endParaRPr b="0" lang="en-IN" sz="40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1523520" y="1294920"/>
            <a:ext cx="7162920" cy="4830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CWA prohibits the relaxation of permit effluent limits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609480" indent="0"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609480" indent="-60948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Trading Policy: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1" marL="990720" indent="-533520">
              <a:spcBef>
                <a:spcPts val="700"/>
              </a:spcBef>
              <a:buClr>
                <a:srgbClr val="333399"/>
              </a:buClr>
              <a:buFont typeface="Wingdings" charset="2"/>
              <a:buChar char="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Anti-backsliding will be satisfied when a PS increases its discharge through trading:</a:t>
            </a:r>
            <a:endParaRPr b="0" lang="en-IN" sz="2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2" marL="1371600" indent="-457200">
              <a:spcBef>
                <a:spcPts val="601"/>
              </a:spcBef>
              <a:buClr>
                <a:srgbClr val="333399"/>
              </a:buClr>
              <a:buFont typeface="Wingdings" charset="2"/>
              <a:buChar char="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In accordance with an NPDES permit</a:t>
            </a:r>
            <a:r>
              <a:rPr b="0" lang="en-IN" sz="24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	</a:t>
            </a:r>
            <a:endParaRPr b="0" lang="en-IN" sz="24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2" marL="1371600" indent="-457200">
              <a:spcBef>
                <a:spcPts val="601"/>
              </a:spcBef>
              <a:buClr>
                <a:srgbClr val="333399"/>
              </a:buClr>
              <a:buFont typeface="Wingdings" charset="2"/>
              <a:buChar char="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Consistent with TMDL</a:t>
            </a:r>
            <a:endParaRPr b="0" lang="en-IN" sz="24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99ccff"/>
            </a:gs>
            <a:gs pos="100000">
              <a:srgbClr val="c0dff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1371240" y="46080"/>
            <a:ext cx="7162920" cy="79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Antidegradation</a:t>
            </a:r>
            <a:endParaRPr b="0" lang="en-IN" sz="40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1752480" y="1599840"/>
            <a:ext cx="6934320" cy="4373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lvl="1" marL="743040" indent="-285840">
              <a:spcBef>
                <a:spcPts val="700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CWA requires that once a designated use is achieved it will be maintained</a:t>
            </a:r>
            <a:endParaRPr b="0" lang="en-IN" sz="2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EPA DOES NOT SUPPORT ANY TRADING ACTIVITY THAT WOULD CAUSE IMPAIRMENT TO AN EXISTING OR DESIGNATED USE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spcBef>
                <a:spcPts val="33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99ccff"/>
            </a:gs>
            <a:gs pos="100000">
              <a:srgbClr val="c0dff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1523880" y="151920"/>
            <a:ext cx="6858000" cy="1219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Common Elements of a </a:t>
            </a:r>
            <a:br>
              <a:rPr sz="3800"/>
            </a:br>
            <a:r>
              <a:rPr b="0" lang="en-IN" sz="3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Credible Trading Program</a:t>
            </a:r>
            <a:endParaRPr b="0" lang="en-IN" sz="3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1676160" y="1905120"/>
            <a:ext cx="701028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lnSpc>
                <a:spcPct val="65000"/>
              </a:lnSpc>
              <a:spcBef>
                <a:spcPts val="700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Legal Authority</a:t>
            </a:r>
            <a:endParaRPr b="0" lang="en-IN" sz="2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0">
              <a:lnSpc>
                <a:spcPct val="65000"/>
              </a:lnSpc>
              <a:spcBef>
                <a:spcPts val="45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lnSpc>
                <a:spcPct val="65000"/>
              </a:lnSpc>
              <a:spcBef>
                <a:spcPts val="700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Unit of trade</a:t>
            </a:r>
            <a:endParaRPr b="0" lang="en-IN" sz="2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0">
              <a:lnSpc>
                <a:spcPct val="65000"/>
              </a:lnSpc>
              <a:spcBef>
                <a:spcPts val="45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lnSpc>
                <a:spcPct val="65000"/>
              </a:lnSpc>
              <a:spcBef>
                <a:spcPts val="700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Timing of Credits</a:t>
            </a:r>
            <a:endParaRPr b="0" lang="en-IN" sz="2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0">
              <a:lnSpc>
                <a:spcPct val="65000"/>
              </a:lnSpc>
              <a:spcBef>
                <a:spcPts val="45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lnSpc>
                <a:spcPct val="65000"/>
              </a:lnSpc>
              <a:spcBef>
                <a:spcPts val="700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Managing Uncertainty</a:t>
            </a:r>
            <a:endParaRPr b="0" lang="en-IN" sz="2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0">
              <a:lnSpc>
                <a:spcPct val="65000"/>
              </a:lnSpc>
              <a:spcBef>
                <a:spcPts val="45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lnSpc>
                <a:spcPct val="65000"/>
              </a:lnSpc>
              <a:spcBef>
                <a:spcPts val="700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Compliance and Enforcement</a:t>
            </a:r>
            <a:endParaRPr b="0" lang="en-IN" sz="2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0">
              <a:lnSpc>
                <a:spcPct val="65000"/>
              </a:lnSpc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1" marL="743040" indent="-285840">
              <a:lnSpc>
                <a:spcPct val="65000"/>
              </a:lnSpc>
              <a:spcBef>
                <a:spcPts val="601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Record-keeping</a:t>
            </a:r>
            <a:endParaRPr b="0" lang="en-IN" sz="24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1" marL="743040" indent="-285840">
              <a:lnSpc>
                <a:spcPct val="65000"/>
              </a:lnSpc>
              <a:spcBef>
                <a:spcPts val="601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Certifications</a:t>
            </a:r>
            <a:endParaRPr b="0" lang="en-IN" sz="24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1" marL="743040" indent="-285840">
              <a:lnSpc>
                <a:spcPct val="65000"/>
              </a:lnSpc>
              <a:spcBef>
                <a:spcPts val="601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Monitoring</a:t>
            </a:r>
            <a:endParaRPr b="0" lang="en-IN" sz="24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1" marL="743040" indent="-285840">
              <a:lnSpc>
                <a:spcPct val="65000"/>
              </a:lnSpc>
              <a:spcBef>
                <a:spcPts val="601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Reporting</a:t>
            </a:r>
            <a:endParaRPr b="0" lang="en-IN" sz="24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1" marL="743040" indent="-285840">
              <a:lnSpc>
                <a:spcPct val="65000"/>
              </a:lnSpc>
              <a:spcBef>
                <a:spcPts val="601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Inspections</a:t>
            </a:r>
            <a:endParaRPr b="0" lang="en-IN" sz="24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lnSpc>
                <a:spcPct val="65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1" marL="743040" indent="0">
              <a:lnSpc>
                <a:spcPct val="65000"/>
              </a:lnSpc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0">
              <a:lnSpc>
                <a:spcPct val="65000"/>
              </a:lnSpc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0">
              <a:lnSpc>
                <a:spcPct val="65000"/>
              </a:lnSpc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  <p:pic>
        <p:nvPicPr>
          <p:cNvPr id="150" name="" descr=""/>
          <p:cNvPicPr/>
          <p:nvPr/>
        </p:nvPicPr>
        <p:blipFill>
          <a:blip r:embed="rId1"/>
          <a:stretch/>
        </p:blipFill>
        <p:spPr>
          <a:xfrm>
            <a:off x="7162920" y="1828800"/>
            <a:ext cx="1671480" cy="1779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99ccff"/>
            </a:gs>
            <a:gs pos="100000">
              <a:srgbClr val="c0dff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1523880" y="151920"/>
            <a:ext cx="6858000" cy="1219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Common Elements of a </a:t>
            </a:r>
            <a:br>
              <a:rPr sz="3800"/>
            </a:br>
            <a:r>
              <a:rPr b="0" lang="en-IN" sz="3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Credible Trading Program</a:t>
            </a:r>
            <a:endParaRPr b="0" lang="en-IN" sz="3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1752480" y="1828800"/>
            <a:ext cx="693432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Public Notice</a:t>
            </a:r>
            <a:endParaRPr b="0" lang="en-IN" sz="2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1" marL="743040" indent="-285840">
              <a:spcBef>
                <a:spcPts val="601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TMDL process</a:t>
            </a:r>
            <a:endParaRPr b="0" lang="en-IN" sz="24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1" marL="743040" indent="-285840">
              <a:spcBef>
                <a:spcPts val="601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Permits process</a:t>
            </a:r>
            <a:endParaRPr b="0" lang="en-IN" sz="24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1" marL="743040" indent="-285840">
              <a:spcBef>
                <a:spcPts val="601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Public website</a:t>
            </a:r>
            <a:endParaRPr b="0" lang="en-IN" sz="24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spcBef>
                <a:spcPts val="700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Program Evaluations </a:t>
            </a:r>
            <a:endParaRPr b="0" lang="en-IN" sz="2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	</a:t>
            </a:r>
            <a:r>
              <a:rPr b="0" lang="en-IN" sz="2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  “However beautiful the strategy, you should occasionally look at the results.”</a:t>
            </a:r>
            <a:endParaRPr b="0" lang="en-IN" sz="2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1" marL="743040" indent="-28584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	</a:t>
            </a:r>
            <a:r>
              <a:rPr b="0" i="1" lang="en-IN" sz="24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	</a:t>
            </a:r>
            <a:r>
              <a:rPr b="0" i="1" lang="en-IN" sz="24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Winston Churchill, 1874-1965</a:t>
            </a:r>
            <a:endParaRPr b="0" lang="en-IN" sz="24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gradFill rotWithShape="0">
          <a:gsLst>
            <a:gs pos="0">
              <a:srgbClr val="99ccff"/>
            </a:gs>
            <a:gs pos="100000">
              <a:srgbClr val="c0dff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"/>
          <p:cNvSpPr/>
          <p:nvPr/>
        </p:nvSpPr>
        <p:spPr>
          <a:xfrm>
            <a:off x="3809880" y="-609480"/>
            <a:ext cx="3962520" cy="8381880"/>
          </a:xfrm>
          <a:custGeom>
            <a:avLst/>
            <a:gdLst/>
            <a:ahLst/>
            <a:rect l="l" t="t" r="r" b="b"/>
            <a:pathLst>
              <a:path w="2528" h="4776">
                <a:moveTo>
                  <a:pt x="2448" y="176"/>
                </a:moveTo>
                <a:cubicBezTo>
                  <a:pt x="2376" y="224"/>
                  <a:pt x="1928" y="416"/>
                  <a:pt x="1824" y="512"/>
                </a:cubicBezTo>
                <a:cubicBezTo>
                  <a:pt x="1720" y="608"/>
                  <a:pt x="1728" y="632"/>
                  <a:pt x="1824" y="752"/>
                </a:cubicBezTo>
                <a:cubicBezTo>
                  <a:pt x="1920" y="872"/>
                  <a:pt x="2352" y="1056"/>
                  <a:pt x="2400" y="1232"/>
                </a:cubicBezTo>
                <a:cubicBezTo>
                  <a:pt x="2448" y="1408"/>
                  <a:pt x="2376" y="1552"/>
                  <a:pt x="2112" y="1808"/>
                </a:cubicBezTo>
                <a:cubicBezTo>
                  <a:pt x="1848" y="2064"/>
                  <a:pt x="896" y="2392"/>
                  <a:pt x="816" y="2768"/>
                </a:cubicBezTo>
                <a:cubicBezTo>
                  <a:pt x="736" y="3144"/>
                  <a:pt x="1520" y="3744"/>
                  <a:pt x="1632" y="4064"/>
                </a:cubicBezTo>
                <a:cubicBezTo>
                  <a:pt x="1744" y="4384"/>
                  <a:pt x="1624" y="4600"/>
                  <a:pt x="1488" y="4688"/>
                </a:cubicBezTo>
                <a:cubicBezTo>
                  <a:pt x="1352" y="4776"/>
                  <a:pt x="896" y="4672"/>
                  <a:pt x="816" y="4592"/>
                </a:cubicBezTo>
                <a:cubicBezTo>
                  <a:pt x="736" y="4512"/>
                  <a:pt x="1128" y="4488"/>
                  <a:pt x="1008" y="4208"/>
                </a:cubicBezTo>
                <a:cubicBezTo>
                  <a:pt x="888" y="3928"/>
                  <a:pt x="0" y="3352"/>
                  <a:pt x="96" y="2912"/>
                </a:cubicBezTo>
                <a:cubicBezTo>
                  <a:pt x="192" y="2472"/>
                  <a:pt x="1424" y="1944"/>
                  <a:pt x="1584" y="1568"/>
                </a:cubicBezTo>
                <a:cubicBezTo>
                  <a:pt x="1744" y="1192"/>
                  <a:pt x="1048" y="904"/>
                  <a:pt x="1056" y="656"/>
                </a:cubicBezTo>
                <a:cubicBezTo>
                  <a:pt x="1064" y="408"/>
                  <a:pt x="1408" y="160"/>
                  <a:pt x="1632" y="80"/>
                </a:cubicBezTo>
                <a:cubicBezTo>
                  <a:pt x="1856" y="0"/>
                  <a:pt x="2272" y="152"/>
                  <a:pt x="2400" y="176"/>
                </a:cubicBezTo>
                <a:cubicBezTo>
                  <a:pt x="2528" y="200"/>
                  <a:pt x="2424" y="216"/>
                  <a:pt x="2400" y="224"/>
                </a:cubicBezTo>
                <a:cubicBezTo>
                  <a:pt x="2376" y="232"/>
                  <a:pt x="2248" y="232"/>
                  <a:pt x="2256" y="224"/>
                </a:cubicBezTo>
                <a:cubicBezTo>
                  <a:pt x="2264" y="216"/>
                  <a:pt x="2520" y="128"/>
                  <a:pt x="2448" y="176"/>
                </a:cubicBezTo>
                <a:close/>
              </a:path>
            </a:pathLst>
          </a:custGeom>
          <a:solidFill>
            <a:srgbClr val="06072a"/>
          </a:solidFill>
          <a:ln w="38160">
            <a:solidFill>
              <a:srgbClr val="1326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152280" y="136440"/>
            <a:ext cx="502920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Trading Scenarios: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7238880" y="304920"/>
            <a:ext cx="1600200" cy="149544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3809880" y="1828800"/>
            <a:ext cx="1524240" cy="136368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2209680" y="3124080"/>
            <a:ext cx="1676520" cy="1500480"/>
          </a:xfrm>
          <a:prstGeom prst="ellipse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4952880" y="304920"/>
            <a:ext cx="1524240" cy="1423800"/>
          </a:xfrm>
          <a:prstGeom prst="ellipse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6324480" y="2514600"/>
            <a:ext cx="1600200" cy="1432080"/>
          </a:xfrm>
          <a:prstGeom prst="ellipse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2895480" y="5181480"/>
            <a:ext cx="1600200" cy="1432080"/>
          </a:xfrm>
          <a:prstGeom prst="ellipse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5486400" y="4495680"/>
            <a:ext cx="1676520" cy="1500480"/>
          </a:xfrm>
          <a:prstGeom prst="ellipse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99ccff"/>
            </a:gs>
            <a:gs pos="100000">
              <a:srgbClr val="c0dff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1523880" y="228240"/>
            <a:ext cx="693432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Formula for Water Quality Trading:</a:t>
            </a:r>
            <a:endParaRPr b="0" lang="en-IN" sz="40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1752480" y="1722600"/>
            <a:ext cx="693432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2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0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Trading is: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0"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1" marL="743040" indent="-285840">
              <a:spcBef>
                <a:spcPts val="700"/>
              </a:spcBef>
              <a:buClr>
                <a:srgbClr val="cc3300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cc3300"/>
                </a:solidFill>
                <a:effectLst/>
                <a:uFillTx/>
                <a:latin typeface="Futura Md BT"/>
              </a:rPr>
              <a:t>DRIVEN</a:t>
            </a:r>
            <a:r>
              <a:rPr b="0" lang="en-IN" sz="2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 by regulation</a:t>
            </a:r>
            <a:endParaRPr b="0" lang="en-IN" sz="2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1" marL="743040" indent="-285840">
              <a:spcBef>
                <a:spcPts val="700"/>
              </a:spcBef>
              <a:buClr>
                <a:srgbClr val="993300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993300"/>
                </a:solidFill>
                <a:effectLst/>
                <a:uFillTx/>
                <a:latin typeface="Futura Md BT"/>
              </a:rPr>
              <a:t>MOTIVATED</a:t>
            </a:r>
            <a:r>
              <a:rPr b="0" lang="en-IN" sz="2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 by economics</a:t>
            </a:r>
            <a:endParaRPr b="0" lang="en-IN" sz="2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1" marL="743040" indent="-285840">
              <a:spcBef>
                <a:spcPts val="700"/>
              </a:spcBef>
              <a:buClr>
                <a:srgbClr val="008000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8000"/>
                </a:solidFill>
                <a:effectLst/>
                <a:uFillTx/>
                <a:latin typeface="Futura Md BT"/>
              </a:rPr>
              <a:t>GOVERNED</a:t>
            </a:r>
            <a:r>
              <a:rPr b="0" lang="en-IN" sz="2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 by local trading rules</a:t>
            </a:r>
            <a:endParaRPr b="0" lang="en-IN" sz="2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1" marL="743040" indent="-285840">
              <a:spcBef>
                <a:spcPts val="700"/>
              </a:spcBef>
              <a:buClr>
                <a:srgbClr val="80298f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80298f"/>
                </a:solidFill>
                <a:effectLst/>
                <a:uFillTx/>
                <a:latin typeface="Futura Md BT"/>
              </a:rPr>
              <a:t>BUILT</a:t>
            </a:r>
            <a:r>
              <a:rPr b="0" lang="en-IN" sz="2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 on trust</a:t>
            </a:r>
            <a:endParaRPr b="0" lang="en-IN" sz="2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 algn="ctr">
              <a:lnSpc>
                <a:spcPct val="7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6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TRADING WILL </a:t>
            </a:r>
            <a:r>
              <a:rPr b="0" lang="en-IN" sz="3600" strike="noStrike" u="sng">
                <a:solidFill>
                  <a:srgbClr val="333399"/>
                </a:solidFill>
                <a:effectLst/>
                <a:uFillTx/>
                <a:latin typeface="Futura Md BT"/>
              </a:rPr>
              <a:t>NOT</a:t>
            </a:r>
            <a:r>
              <a:rPr b="0" lang="en-IN" sz="36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 BE</a:t>
            </a:r>
            <a:endParaRPr b="0" lang="en-IN" sz="36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 algn="ctr">
              <a:lnSpc>
                <a:spcPct val="7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6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VIABLE EVERYWHERE</a:t>
            </a:r>
            <a:endParaRPr b="0" lang="en-IN" sz="36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99ccff"/>
            </a:gs>
            <a:gs pos="100000">
              <a:srgbClr val="c0dff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1523880" y="151920"/>
            <a:ext cx="6858000" cy="1219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Keys to Success</a:t>
            </a:r>
            <a:br>
              <a:rPr sz="4200"/>
            </a:br>
            <a:r>
              <a:rPr b="0" lang="en-IN" sz="2800" strike="noStrike" u="none">
                <a:solidFill>
                  <a:srgbClr val="ff33cc"/>
                </a:solidFill>
                <a:effectLst/>
                <a:uFillTx/>
                <a:latin typeface="Futura Md BT"/>
              </a:rPr>
              <a:t>WQT programs should strive to be:</a:t>
            </a:r>
            <a:endParaRPr b="0" lang="en-IN" sz="2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1828800" y="1828800"/>
            <a:ext cx="6934320" cy="457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6600cc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6600cc"/>
                </a:solidFill>
                <a:effectLst/>
                <a:uFillTx/>
                <a:latin typeface="Futura Md BT"/>
              </a:rPr>
              <a:t>T</a:t>
            </a:r>
            <a:r>
              <a:rPr b="0" lang="en-IN" sz="2400" strike="noStrike" u="none">
                <a:solidFill>
                  <a:srgbClr val="6600cc"/>
                </a:solidFill>
                <a:effectLst/>
                <a:uFillTx/>
                <a:latin typeface="Futura Md BT"/>
              </a:rPr>
              <a:t>ransparent</a:t>
            </a:r>
            <a:endParaRPr b="0" lang="en-IN" sz="24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Keep the public informed at every step of the process</a:t>
            </a:r>
            <a:endParaRPr b="0" lang="en-IN" sz="1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ff0000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0000"/>
                </a:solidFill>
                <a:effectLst/>
                <a:uFillTx/>
                <a:latin typeface="Futura Md BT"/>
              </a:rPr>
              <a:t>R</a:t>
            </a:r>
            <a:r>
              <a:rPr b="0" lang="en-IN" sz="2400" strike="noStrike" u="none">
                <a:solidFill>
                  <a:srgbClr val="ff0000"/>
                </a:solidFill>
                <a:effectLst/>
                <a:uFillTx/>
                <a:latin typeface="Futura Md BT"/>
              </a:rPr>
              <a:t>eal </a:t>
            </a:r>
            <a:endParaRPr b="0" lang="en-IN" sz="24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Show pollutant reductions and water quality improvement</a:t>
            </a:r>
            <a:endParaRPr b="0" lang="en-IN" sz="1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009900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9900"/>
                </a:solidFill>
                <a:effectLst/>
                <a:uFillTx/>
                <a:latin typeface="Futura Md BT"/>
              </a:rPr>
              <a:t>A</a:t>
            </a:r>
            <a:r>
              <a:rPr b="0" lang="en-IN" sz="2400" strike="noStrike" u="none">
                <a:solidFill>
                  <a:srgbClr val="009900"/>
                </a:solidFill>
                <a:effectLst/>
                <a:uFillTx/>
                <a:latin typeface="Futura Md BT"/>
              </a:rPr>
              <a:t>ccountable</a:t>
            </a:r>
            <a:endParaRPr b="0" lang="en-IN" sz="24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Manage the program effectively</a:t>
            </a:r>
            <a:endParaRPr b="0" lang="en-IN" sz="1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 algn="ctr">
              <a:lnSpc>
                <a:spcPct val="8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lnSpc>
                <a:spcPct val="80000"/>
              </a:lnSpc>
              <a:buClr>
                <a:srgbClr val="0000ff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ff"/>
                </a:solidFill>
                <a:effectLst/>
                <a:uFillTx/>
                <a:latin typeface="Futura Md BT"/>
              </a:rPr>
              <a:t>D</a:t>
            </a:r>
            <a:r>
              <a:rPr b="0" lang="en-IN" sz="2400" strike="noStrike" u="none">
                <a:solidFill>
                  <a:srgbClr val="0000ff"/>
                </a:solidFill>
                <a:effectLst/>
                <a:uFillTx/>
                <a:latin typeface="Futura Md BT"/>
              </a:rPr>
              <a:t>efensible</a:t>
            </a:r>
            <a:endParaRPr b="0" lang="en-IN" sz="24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1" marL="743040" indent="-285840">
              <a:lnSpc>
                <a:spcPct val="80000"/>
              </a:lnSpc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Base the program on sound science and protocol</a:t>
            </a:r>
            <a:endParaRPr b="0" lang="en-IN" sz="1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fc5408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c5408"/>
                </a:solidFill>
                <a:effectLst/>
                <a:uFillTx/>
                <a:latin typeface="Futura Md BT"/>
              </a:rPr>
              <a:t>E</a:t>
            </a:r>
            <a:r>
              <a:rPr b="0" lang="en-IN" sz="2400" strike="noStrike" u="none">
                <a:solidFill>
                  <a:srgbClr val="fc5408"/>
                </a:solidFill>
                <a:effectLst/>
                <a:uFillTx/>
                <a:latin typeface="Futura Md BT"/>
              </a:rPr>
              <a:t>nforceable</a:t>
            </a:r>
            <a:endParaRPr b="0" lang="en-IN" sz="24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1" marL="743040" indent="-285840">
              <a:lnSpc>
                <a:spcPct val="80000"/>
              </a:lnSpc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Establish responsibility for meeting water </a:t>
            </a:r>
            <a:endParaRPr b="0" lang="en-IN" sz="1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lvl="1" marL="743040" indent="-285840">
              <a:lnSpc>
                <a:spcPct val="8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	</a:t>
            </a:r>
            <a:r>
              <a:rPr b="0" lang="en-IN" sz="18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quality standards</a:t>
            </a:r>
            <a:endParaRPr b="0" lang="en-IN" sz="18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99ccff"/>
            </a:gs>
            <a:gs pos="100000">
              <a:srgbClr val="c0dff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2895480" y="2057040"/>
            <a:ext cx="5562720" cy="1600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600" strike="noStrike" u="none">
                <a:solidFill>
                  <a:srgbClr val="333399"/>
                </a:solidFill>
                <a:effectLst/>
                <a:uFillTx/>
                <a:latin typeface="Sylfaen"/>
              </a:rPr>
              <a:t>National Picture:</a:t>
            </a:r>
            <a:br>
              <a:rPr sz="4600"/>
            </a:br>
            <a:r>
              <a:rPr b="1" lang="en-US" sz="3500" strike="noStrike" u="none">
                <a:solidFill>
                  <a:srgbClr val="333399"/>
                </a:solidFill>
                <a:effectLst/>
                <a:uFillTx/>
                <a:latin typeface="Sylfaen"/>
              </a:rPr>
              <a:t>State WQT Regs &amp; Programs</a:t>
            </a:r>
            <a:endParaRPr b="0" lang="en-IN" sz="3500" strike="noStrike" u="none">
              <a:solidFill>
                <a:srgbClr val="333399"/>
              </a:solidFill>
              <a:effectLst/>
              <a:uFillTx/>
              <a:latin typeface="Sylfae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99ccff"/>
            </a:gs>
            <a:gs pos="100000">
              <a:srgbClr val="c0dff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1371240" y="0"/>
            <a:ext cx="7162920" cy="79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Timeline</a:t>
            </a:r>
            <a:endParaRPr b="0" lang="en-IN" sz="44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3048120" y="1295280"/>
            <a:ext cx="5867280" cy="55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343080" indent="-343080">
              <a:lnSpc>
                <a:spcPct val="90000"/>
              </a:lnSpc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6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Connecticut legislation and rules</a:t>
            </a:r>
            <a:endParaRPr b="0" lang="en-IN" sz="26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lnSpc>
                <a:spcPct val="90000"/>
              </a:lnSpc>
              <a:spcBef>
                <a:spcPts val="649"/>
              </a:spcBef>
              <a:spcAft>
                <a:spcPts val="1463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6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Michigan rules</a:t>
            </a:r>
            <a:endParaRPr b="0" lang="en-IN" sz="26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lnSpc>
                <a:spcPct val="90000"/>
              </a:lnSpc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600" strike="noStrike" u="none">
                <a:solidFill>
                  <a:srgbClr val="6600cc"/>
                </a:solidFill>
                <a:effectLst/>
                <a:uFillTx/>
                <a:latin typeface="Futura Md BT"/>
              </a:rPr>
              <a:t>EPA policy</a:t>
            </a:r>
            <a:r>
              <a:rPr b="0" lang="en-IN" sz="26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 </a:t>
            </a:r>
            <a:endParaRPr b="0" lang="en-IN" sz="26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lnSpc>
                <a:spcPct val="90000"/>
              </a:lnSpc>
              <a:spcBef>
                <a:spcPts val="649"/>
              </a:spcBef>
              <a:spcAft>
                <a:spcPts val="1463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6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Idaho guidance</a:t>
            </a:r>
            <a:endParaRPr b="0" lang="en-IN" sz="26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lnSpc>
                <a:spcPct val="90000"/>
              </a:lnSpc>
              <a:spcBef>
                <a:spcPts val="649"/>
              </a:spcBef>
              <a:spcAft>
                <a:spcPts val="1463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6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Colorado policy</a:t>
            </a:r>
            <a:endParaRPr b="0" lang="en-IN" sz="26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lnSpc>
                <a:spcPct val="90000"/>
              </a:lnSpc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6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Oregon policy</a:t>
            </a:r>
            <a:endParaRPr b="0" lang="en-IN" sz="26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lnSpc>
                <a:spcPct val="90000"/>
              </a:lnSpc>
              <a:spcBef>
                <a:spcPts val="649"/>
              </a:spcBef>
              <a:spcAft>
                <a:spcPts val="1463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6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Virginia legislation</a:t>
            </a:r>
            <a:endParaRPr b="0" lang="en-IN" sz="26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lnSpc>
                <a:spcPct val="90000"/>
              </a:lnSpc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6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Ohio rules</a:t>
            </a:r>
            <a:endParaRPr b="0" lang="en-IN" sz="26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lnSpc>
                <a:spcPct val="90000"/>
              </a:lnSpc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6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Virginia rules</a:t>
            </a:r>
            <a:endParaRPr b="0" lang="en-IN" sz="26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lnSpc>
                <a:spcPct val="90000"/>
              </a:lnSpc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6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Florida report</a:t>
            </a:r>
            <a:endParaRPr b="0" lang="en-IN" sz="26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lnSpc>
                <a:spcPct val="90000"/>
              </a:lnSpc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6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Pennsylvania policy</a:t>
            </a:r>
            <a:endParaRPr b="0" lang="en-IN" sz="26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  <p:sp>
        <p:nvSpPr>
          <p:cNvPr id="169" name=""/>
          <p:cNvSpPr/>
          <p:nvPr/>
        </p:nvSpPr>
        <p:spPr>
          <a:xfrm>
            <a:off x="2895480" y="1219320"/>
            <a:ext cx="76320" cy="5486400"/>
          </a:xfrm>
          <a:prstGeom prst="rect">
            <a:avLst/>
          </a:prstGeom>
          <a:gradFill rotWithShape="0">
            <a:gsLst>
              <a:gs pos="0">
                <a:srgbClr val="993366"/>
              </a:gs>
              <a:gs pos="100000">
                <a:srgbClr val="cc6699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2819520" y="1371600"/>
            <a:ext cx="228600" cy="228600"/>
          </a:xfrm>
          <a:prstGeom prst="ellipse">
            <a:avLst/>
          </a:prstGeom>
          <a:gradFill rotWithShape="0">
            <a:gsLst>
              <a:gs pos="0">
                <a:srgbClr val="ffccff"/>
              </a:gs>
              <a:gs pos="100000">
                <a:srgbClr val="cc0066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1219320" y="1295280"/>
            <a:ext cx="1600200" cy="44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343080" indent="-343080" algn="r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16491"/>
                </a:solidFill>
                <a:effectLst/>
                <a:uFillTx/>
                <a:latin typeface="Futura Md BT"/>
              </a:rPr>
              <a:t>2002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r">
              <a:lnSpc>
                <a:spcPct val="90000"/>
              </a:lnSpc>
              <a:spcBef>
                <a:spcPts val="7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r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16491"/>
                </a:solidFill>
                <a:effectLst/>
                <a:uFillTx/>
                <a:latin typeface="Futura Md BT"/>
              </a:rPr>
              <a:t>2003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r">
              <a:lnSpc>
                <a:spcPct val="90000"/>
              </a:lnSpc>
              <a:spcBef>
                <a:spcPts val="6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r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16491"/>
                </a:solidFill>
                <a:effectLst/>
                <a:uFillTx/>
                <a:latin typeface="Futura Md BT"/>
              </a:rPr>
              <a:t>2004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r">
              <a:lnSpc>
                <a:spcPct val="90000"/>
              </a:lnSpc>
              <a:spcBef>
                <a:spcPts val="2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r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16491"/>
                </a:solidFill>
                <a:effectLst/>
                <a:uFillTx/>
                <a:latin typeface="Futura Md BT"/>
              </a:rPr>
              <a:t>2005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r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r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16491"/>
                </a:solidFill>
                <a:effectLst/>
                <a:uFillTx/>
                <a:latin typeface="Futura Md BT"/>
              </a:rPr>
              <a:t>2006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2819520" y="2362320"/>
            <a:ext cx="228600" cy="228600"/>
          </a:xfrm>
          <a:prstGeom prst="ellipse">
            <a:avLst/>
          </a:prstGeom>
          <a:gradFill rotWithShape="0">
            <a:gsLst>
              <a:gs pos="0">
                <a:srgbClr val="ffccff"/>
              </a:gs>
              <a:gs pos="100000">
                <a:srgbClr val="cc0066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2819520" y="3276720"/>
            <a:ext cx="228600" cy="228600"/>
          </a:xfrm>
          <a:prstGeom prst="ellipse">
            <a:avLst/>
          </a:prstGeom>
          <a:gradFill rotWithShape="0">
            <a:gsLst>
              <a:gs pos="0">
                <a:srgbClr val="ffccff"/>
              </a:gs>
              <a:gs pos="100000">
                <a:srgbClr val="cc0066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2819520" y="3886200"/>
            <a:ext cx="228600" cy="228600"/>
          </a:xfrm>
          <a:prstGeom prst="ellipse">
            <a:avLst/>
          </a:prstGeom>
          <a:gradFill rotWithShape="0">
            <a:gsLst>
              <a:gs pos="0">
                <a:srgbClr val="ffccff"/>
              </a:gs>
              <a:gs pos="100000">
                <a:srgbClr val="cc0066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2819520" y="4876920"/>
            <a:ext cx="228600" cy="228600"/>
          </a:xfrm>
          <a:prstGeom prst="ellipse">
            <a:avLst/>
          </a:prstGeom>
          <a:gradFill rotWithShape="0">
            <a:gsLst>
              <a:gs pos="0">
                <a:srgbClr val="ffccff"/>
              </a:gs>
              <a:gs pos="100000">
                <a:srgbClr val="cc0066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99ccff"/>
            </a:gs>
            <a:gs pos="100000">
              <a:srgbClr val="c0dff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1371240" y="0"/>
            <a:ext cx="7162920" cy="79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Who can trade?</a:t>
            </a:r>
            <a:endParaRPr b="0" lang="en-IN" sz="44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  <p:grpSp>
        <p:nvGrpSpPr>
          <p:cNvPr id="177" name=""/>
          <p:cNvGrpSpPr/>
          <p:nvPr/>
        </p:nvGrpSpPr>
        <p:grpSpPr>
          <a:xfrm>
            <a:off x="1676520" y="4495320"/>
            <a:ext cx="7162560" cy="152640"/>
            <a:chOff x="1676520" y="4495320"/>
            <a:chExt cx="7162560" cy="152640"/>
          </a:xfrm>
        </p:grpSpPr>
        <p:sp>
          <p:nvSpPr>
            <p:cNvPr id="178" name=""/>
            <p:cNvSpPr/>
            <p:nvPr/>
          </p:nvSpPr>
          <p:spPr>
            <a:xfrm>
              <a:off x="1676520" y="4495680"/>
              <a:ext cx="3581280" cy="152280"/>
            </a:xfrm>
            <a:prstGeom prst="rect">
              <a:avLst/>
            </a:prstGeom>
            <a:gradFill rotWithShape="0">
              <a:gsLst>
                <a:gs pos="0">
                  <a:srgbClr val="009999"/>
                </a:gs>
                <a:gs pos="100000">
                  <a:srgbClr val="ffff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" name=""/>
            <p:cNvSpPr/>
            <p:nvPr/>
          </p:nvSpPr>
          <p:spPr>
            <a:xfrm rot="10800000">
              <a:off x="5257800" y="4495320"/>
              <a:ext cx="3581280" cy="152280"/>
            </a:xfrm>
            <a:prstGeom prst="rect">
              <a:avLst/>
            </a:prstGeom>
            <a:gradFill rotWithShape="0">
              <a:gsLst>
                <a:gs pos="0">
                  <a:srgbClr val="009999"/>
                </a:gs>
                <a:gs pos="100000">
                  <a:srgbClr val="0000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0" name=""/>
          <p:cNvSpPr/>
          <p:nvPr/>
        </p:nvSpPr>
        <p:spPr>
          <a:xfrm>
            <a:off x="1444680" y="4098960"/>
            <a:ext cx="206064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PS only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3260880" y="3733920"/>
            <a:ext cx="192060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58b008"/>
                </a:solidFill>
                <a:effectLst/>
                <a:uFillTx/>
                <a:latin typeface="Arial Black"/>
              </a:rPr>
              <a:t>NPS as last resort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5486400" y="3733920"/>
            <a:ext cx="167796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889a"/>
                </a:solidFill>
                <a:effectLst/>
                <a:uFillTx/>
                <a:latin typeface="Arial Black"/>
              </a:rPr>
              <a:t>NPS as seller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7189920" y="3505320"/>
            <a:ext cx="195408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ff"/>
                </a:solidFill>
                <a:effectLst/>
                <a:uFillTx/>
                <a:latin typeface="Arial Black"/>
              </a:rPr>
              <a:t>NPS as buyer &amp; seller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1549440" y="4784760"/>
            <a:ext cx="18777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Connecticut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3605400" y="4784760"/>
            <a:ext cx="12553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58b008"/>
                </a:solidFill>
                <a:effectLst/>
                <a:uFillTx/>
                <a:latin typeface="Arial Black"/>
              </a:rPr>
              <a:t>Virginia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5257800" y="4784760"/>
            <a:ext cx="2057400" cy="19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889a"/>
                </a:solidFill>
                <a:effectLst/>
                <a:uFillTx/>
                <a:latin typeface="Arial Black"/>
              </a:rPr>
              <a:t>Florida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889a"/>
                </a:solidFill>
                <a:effectLst/>
                <a:uFillTx/>
                <a:latin typeface="Arial Black"/>
              </a:rPr>
              <a:t>Idaho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889a"/>
                </a:solidFill>
                <a:effectLst/>
                <a:uFillTx/>
                <a:latin typeface="Arial Black"/>
              </a:rPr>
              <a:t>Michigan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889a"/>
                </a:solidFill>
                <a:effectLst/>
                <a:uFillTx/>
                <a:latin typeface="Arial Black"/>
              </a:rPr>
              <a:t>Ohio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889a"/>
                </a:solidFill>
                <a:effectLst/>
                <a:uFillTx/>
                <a:latin typeface="Arial Black"/>
              </a:rPr>
              <a:t>Oregon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889a"/>
                </a:solidFill>
                <a:effectLst/>
                <a:uFillTx/>
                <a:latin typeface="Arial Black"/>
              </a:rPr>
              <a:t>Pennsylvania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7189920" y="4784760"/>
            <a:ext cx="19540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ff"/>
                </a:solidFill>
                <a:effectLst/>
                <a:uFillTx/>
                <a:latin typeface="Arial Black"/>
              </a:rPr>
              <a:t>Colorado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1752480" y="1371240"/>
            <a:ext cx="6934320" cy="243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Point sources can buy and sell in all programs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>
              <a:spcBef>
                <a:spcPts val="799"/>
              </a:spcBef>
              <a:buClr>
                <a:srgbClr val="333399"/>
              </a:buClr>
              <a:buFont typeface="Wingdings" charset="2"/>
              <a:buChar char="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8 out of 9 state programs include trades involving NPS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99ccff"/>
            </a:gs>
            <a:gs pos="100000">
              <a:srgbClr val="c0dff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1371240" y="17640"/>
            <a:ext cx="7162920" cy="79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Status of WQT in US</a:t>
            </a:r>
            <a:endParaRPr b="0" lang="en-IN" sz="44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1752480" y="1600200"/>
            <a:ext cx="693432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  <p:pic>
        <p:nvPicPr>
          <p:cNvPr id="191" name="" descr=""/>
          <p:cNvPicPr/>
          <p:nvPr/>
        </p:nvPicPr>
        <p:blipFill>
          <a:blip r:embed="rId1"/>
          <a:stretch/>
        </p:blipFill>
        <p:spPr>
          <a:xfrm>
            <a:off x="533520" y="692280"/>
            <a:ext cx="8229600" cy="6165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99ccff"/>
            </a:gs>
            <a:gs pos="100000">
              <a:srgbClr val="c0dff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1523520" y="46080"/>
            <a:ext cx="7162920" cy="79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Contact</a:t>
            </a:r>
            <a:endParaRPr b="0" lang="en-IN" sz="44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2438280" y="3581280"/>
            <a:ext cx="5562720" cy="1905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USEPA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Kibler.virginia@epa.gov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  <a:p>
            <a:pPr marL="343080" indent="-34308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202-564-0596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Futura Md BT"/>
            </a:endParaRPr>
          </a:p>
        </p:txBody>
      </p:sp>
      <p:sp>
        <p:nvSpPr>
          <p:cNvPr id="194" name=""/>
          <p:cNvSpPr/>
          <p:nvPr/>
        </p:nvSpPr>
        <p:spPr>
          <a:xfrm>
            <a:off x="3137040" y="1828800"/>
            <a:ext cx="3957120" cy="167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Ginny Kibler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Office of Wastewater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333399"/>
                </a:solidFill>
                <a:effectLst/>
                <a:uFillTx/>
                <a:latin typeface="Futura Md BT"/>
              </a:rPr>
              <a:t> Management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2250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2005-04-08T11:45:42Z</dcterms:created>
  <dc:creator>EPAUser</dc:creator>
  <dc:description/>
  <dc:language>en-IN</dc:language>
  <cp:lastModifiedBy>Anne Henderson</cp:lastModifiedBy>
  <dcterms:modified xsi:type="dcterms:W3CDTF">2007-07-16T10:58:48Z</dcterms:modified>
  <cp:revision>56</cp:revision>
  <dc:subject/>
  <dc:title> State Farm Bureaus &amp; Water Quality Trading  April 13, 2004 EPA Office of Water</dc:title>
</cp:coreProperties>
</file>